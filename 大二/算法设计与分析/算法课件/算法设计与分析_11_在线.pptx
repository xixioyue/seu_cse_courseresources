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1"/>
    <p:sldMasterId id="2147483661" r:id="rId2"/>
  </p:sldMasterIdLst>
  <p:notesMasterIdLst>
    <p:notesMasterId r:id="rId34"/>
  </p:notesMasterIdLst>
  <p:handoutMasterIdLst>
    <p:handoutMasterId r:id="rId35"/>
  </p:handoutMasterIdLst>
  <p:sldIdLst>
    <p:sldId id="286" r:id="rId3"/>
    <p:sldId id="277" r:id="rId4"/>
    <p:sldId id="296" r:id="rId5"/>
    <p:sldId id="287" r:id="rId6"/>
    <p:sldId id="311" r:id="rId7"/>
    <p:sldId id="324" r:id="rId8"/>
    <p:sldId id="325" r:id="rId9"/>
    <p:sldId id="315" r:id="rId10"/>
    <p:sldId id="316" r:id="rId11"/>
    <p:sldId id="333" r:id="rId12"/>
    <p:sldId id="326" r:id="rId13"/>
    <p:sldId id="328" r:id="rId14"/>
    <p:sldId id="329" r:id="rId15"/>
    <p:sldId id="330" r:id="rId16"/>
    <p:sldId id="331" r:id="rId17"/>
    <p:sldId id="332" r:id="rId18"/>
    <p:sldId id="318" r:id="rId19"/>
    <p:sldId id="319" r:id="rId20"/>
    <p:sldId id="320" r:id="rId21"/>
    <p:sldId id="321" r:id="rId22"/>
    <p:sldId id="322" r:id="rId23"/>
    <p:sldId id="323" r:id="rId24"/>
    <p:sldId id="339" r:id="rId25"/>
    <p:sldId id="334" r:id="rId26"/>
    <p:sldId id="335" r:id="rId27"/>
    <p:sldId id="338" r:id="rId28"/>
    <p:sldId id="288" r:id="rId29"/>
    <p:sldId id="289" r:id="rId30"/>
    <p:sldId id="290" r:id="rId31"/>
    <p:sldId id="291" r:id="rId32"/>
    <p:sldId id="295" r:id="rId33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00A8"/>
    <a:srgbClr val="660066"/>
    <a:srgbClr val="339933"/>
    <a:srgbClr val="003366"/>
    <a:srgbClr val="CCFF66"/>
    <a:srgbClr val="CCFFCC"/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867" autoAdjust="0"/>
    <p:restoredTop sz="92398" autoAdjust="0"/>
  </p:normalViewPr>
  <p:slideViewPr>
    <p:cSldViewPr>
      <p:cViewPr varScale="1">
        <p:scale>
          <a:sx n="116" d="100"/>
          <a:sy n="116" d="100"/>
        </p:scale>
        <p:origin x="1740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5420"/>
    </p:cViewPr>
  </p:sorterViewPr>
  <p:notesViewPr>
    <p:cSldViewPr>
      <p:cViewPr varScale="1">
        <p:scale>
          <a:sx n="86" d="100"/>
          <a:sy n="86" d="100"/>
        </p:scale>
        <p:origin x="-3894" y="-90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tableStyles" Target="tableStyle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theme" Target="theme/theme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viewProps" Target="view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4983CCC5-86F3-4930-B4DA-8136FE63C6C9}" type="datetimeFigureOut">
              <a:rPr lang="zh-CN" altLang="en-US"/>
              <a:t>2023/12/19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B8D0EA48-5ED8-475C-824D-BCAD6F948D95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53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27853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482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sp>
      <p:sp>
        <p:nvSpPr>
          <p:cNvPr id="27853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27853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7853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D649336-58DB-4A2C-A514-83F2AD1F4EA5}" type="slidenum">
              <a:rPr lang="zh-CN" altLang="en-US"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为什么是</a:t>
            </a:r>
            <a:r>
              <a:rPr lang="en-US" altLang="zh-CN"/>
              <a:t>(r-1)/(i-1)</a:t>
            </a:r>
            <a:r>
              <a:rPr lang="zh-CN" altLang="en-US"/>
              <a:t>，因为前面</a:t>
            </a:r>
            <a:r>
              <a:rPr lang="en-US" altLang="zh-CN"/>
              <a:t>i-1</a:t>
            </a:r>
            <a:r>
              <a:rPr lang="zh-CN" altLang="en-US"/>
              <a:t>个数中最大值落在前面</a:t>
            </a:r>
            <a:r>
              <a:rPr lang="en-US" altLang="zh-CN"/>
              <a:t>r-1</a:t>
            </a:r>
            <a:r>
              <a:rPr lang="zh-CN" altLang="en-US"/>
              <a:t>个中，不在</a:t>
            </a:r>
            <a:r>
              <a:rPr lang="en-US" altLang="zh-CN"/>
              <a:t>r</a:t>
            </a:r>
            <a:r>
              <a:rPr lang="zh-CN" altLang="en-US"/>
              <a:t>至</a:t>
            </a:r>
            <a:r>
              <a:rPr lang="en-US" altLang="zh-CN"/>
              <a:t>i-1</a:t>
            </a:r>
            <a:r>
              <a:rPr lang="zh-CN" altLang="en-US"/>
              <a:t>中，所以是</a:t>
            </a:r>
            <a:r>
              <a:rPr lang="en-US" altLang="zh-CN"/>
              <a:t>(r-1)/(i-1)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0D649336-58DB-4A2C-A514-83F2AD1F4EA5}" type="slidenum">
              <a:rPr lang="zh-CN" altLang="en-US" smtClean="0"/>
              <a:t>12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3350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4"/>
          <p:cNvGrpSpPr/>
          <p:nvPr/>
        </p:nvGrpSpPr>
        <p:grpSpPr bwMode="auto">
          <a:xfrm>
            <a:off x="0" y="0"/>
            <a:ext cx="9144000" cy="6858000"/>
            <a:chOff x="0" y="0"/>
            <a:chExt cx="5760" cy="4320"/>
          </a:xfrm>
        </p:grpSpPr>
        <p:sp>
          <p:nvSpPr>
            <p:cNvPr id="5" name="Rectangle 2"/>
            <p:cNvSpPr>
              <a:spLocks noChangeArrowheads="1"/>
            </p:cNvSpPr>
            <p:nvPr/>
          </p:nvSpPr>
          <p:spPr bwMode="hidden">
            <a:xfrm>
              <a:off x="0" y="0"/>
              <a:ext cx="2208" cy="4320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6" name="Rectangle 6"/>
            <p:cNvSpPr>
              <a:spLocks noChangeArrowheads="1"/>
            </p:cNvSpPr>
            <p:nvPr/>
          </p:nvSpPr>
          <p:spPr bwMode="hidden">
            <a:xfrm>
              <a:off x="1081" y="1065"/>
              <a:ext cx="4679" cy="1596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grpSp>
          <p:nvGrpSpPr>
            <p:cNvPr id="7" name="Group 22"/>
            <p:cNvGrpSpPr/>
            <p:nvPr/>
          </p:nvGrpSpPr>
          <p:grpSpPr bwMode="auto">
            <a:xfrm>
              <a:off x="0" y="672"/>
              <a:ext cx="1806" cy="1989"/>
              <a:chOff x="0" y="672"/>
              <a:chExt cx="1806" cy="1989"/>
            </a:xfrm>
          </p:grpSpPr>
          <p:sp>
            <p:nvSpPr>
              <p:cNvPr id="8" name="Rectangle 7"/>
              <p:cNvSpPr>
                <a:spLocks noChangeArrowheads="1"/>
              </p:cNvSpPr>
              <p:nvPr userDrawn="1"/>
            </p:nvSpPr>
            <p:spPr bwMode="auto">
              <a:xfrm>
                <a:off x="361" y="2257"/>
                <a:ext cx="363" cy="404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9" name="Rectangle 8"/>
              <p:cNvSpPr>
                <a:spLocks noChangeArrowheads="1"/>
              </p:cNvSpPr>
              <p:nvPr userDrawn="1"/>
            </p:nvSpPr>
            <p:spPr bwMode="auto">
              <a:xfrm>
                <a:off x="1081" y="1065"/>
                <a:ext cx="362" cy="405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0" name="Rectangle 9"/>
              <p:cNvSpPr>
                <a:spLocks noChangeArrowheads="1"/>
              </p:cNvSpPr>
              <p:nvPr userDrawn="1"/>
            </p:nvSpPr>
            <p:spPr bwMode="auto">
              <a:xfrm>
                <a:off x="1437" y="672"/>
                <a:ext cx="369" cy="400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1" name="Rectangle 10"/>
              <p:cNvSpPr>
                <a:spLocks noChangeArrowheads="1"/>
              </p:cNvSpPr>
              <p:nvPr userDrawn="1"/>
            </p:nvSpPr>
            <p:spPr bwMode="auto">
              <a:xfrm>
                <a:off x="719" y="2257"/>
                <a:ext cx="368" cy="404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2" name="Rectangle 11"/>
              <p:cNvSpPr>
                <a:spLocks noChangeArrowheads="1"/>
              </p:cNvSpPr>
              <p:nvPr userDrawn="1"/>
            </p:nvSpPr>
            <p:spPr bwMode="auto">
              <a:xfrm>
                <a:off x="1437" y="1065"/>
                <a:ext cx="369" cy="405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3" name="Rectangle 12"/>
              <p:cNvSpPr>
                <a:spLocks noChangeArrowheads="1"/>
              </p:cNvSpPr>
              <p:nvPr userDrawn="1"/>
            </p:nvSpPr>
            <p:spPr bwMode="auto">
              <a:xfrm>
                <a:off x="719" y="1464"/>
                <a:ext cx="368" cy="399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4" name="Rectangle 13"/>
              <p:cNvSpPr>
                <a:spLocks noChangeArrowheads="1"/>
              </p:cNvSpPr>
              <p:nvPr userDrawn="1"/>
            </p:nvSpPr>
            <p:spPr bwMode="auto">
              <a:xfrm>
                <a:off x="0" y="1464"/>
                <a:ext cx="367" cy="399"/>
              </a:xfrm>
              <a:prstGeom prst="rect">
                <a:avLst/>
              </a:prstGeom>
              <a:solidFill>
                <a:schemeClr val="bg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5" name="Rectangle 14"/>
              <p:cNvSpPr>
                <a:spLocks noChangeArrowheads="1"/>
              </p:cNvSpPr>
              <p:nvPr userDrawn="1"/>
            </p:nvSpPr>
            <p:spPr bwMode="auto">
              <a:xfrm>
                <a:off x="1081" y="1464"/>
                <a:ext cx="362" cy="399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6" name="Rectangle 15"/>
              <p:cNvSpPr>
                <a:spLocks noChangeArrowheads="1"/>
              </p:cNvSpPr>
              <p:nvPr userDrawn="1"/>
            </p:nvSpPr>
            <p:spPr bwMode="auto">
              <a:xfrm>
                <a:off x="361" y="1857"/>
                <a:ext cx="363" cy="406"/>
              </a:xfrm>
              <a:prstGeom prst="rect">
                <a:avLst/>
              </a:prstGeom>
              <a:solidFill>
                <a:schemeClr val="folHlink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  <p:sp>
            <p:nvSpPr>
              <p:cNvPr id="17" name="Rectangle 16"/>
              <p:cNvSpPr>
                <a:spLocks noChangeArrowheads="1"/>
              </p:cNvSpPr>
              <p:nvPr userDrawn="1"/>
            </p:nvSpPr>
            <p:spPr bwMode="auto">
              <a:xfrm>
                <a:off x="719" y="1857"/>
                <a:ext cx="368" cy="406"/>
              </a:xfrm>
              <a:prstGeom prst="rect">
                <a:avLst/>
              </a:prstGeom>
              <a:solidFill>
                <a:schemeClr val="accent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zh-CN" altLang="en-US" sz="2400">
                  <a:latin typeface="Times New Roman" panose="02020603050405020304" pitchFamily="18" charset="0"/>
                </a:endParaRPr>
              </a:p>
            </p:txBody>
          </p:sp>
        </p:grpSp>
      </p:grpSp>
      <p:sp>
        <p:nvSpPr>
          <p:cNvPr id="39953" name="Rectangle 17"/>
          <p:cNvSpPr>
            <a:spLocks noGrp="1" noChangeArrowheads="1"/>
          </p:cNvSpPr>
          <p:nvPr>
            <p:ph type="ctrTitle"/>
          </p:nvPr>
        </p:nvSpPr>
        <p:spPr>
          <a:xfrm>
            <a:off x="2971800" y="1828800"/>
            <a:ext cx="6019800" cy="2209800"/>
          </a:xfrm>
        </p:spPr>
        <p:txBody>
          <a:bodyPr/>
          <a:lstStyle>
            <a:lvl1pPr>
              <a:defRPr sz="4600">
                <a:solidFill>
                  <a:srgbClr val="FFFFFF"/>
                </a:solidFill>
              </a:defRPr>
            </a:lvl1pPr>
          </a:lstStyle>
          <a:p>
            <a:pPr lvl="0"/>
            <a:r>
              <a:rPr lang="zh-CN" altLang="en-US" noProof="0" dirty="0"/>
              <a:t>单击此处编辑母版标题样式</a:t>
            </a:r>
          </a:p>
        </p:txBody>
      </p:sp>
      <p:sp>
        <p:nvSpPr>
          <p:cNvPr id="39954" name="Rectangle 18"/>
          <p:cNvSpPr>
            <a:spLocks noGrp="1" noChangeArrowheads="1"/>
          </p:cNvSpPr>
          <p:nvPr>
            <p:ph type="subTitle" idx="1"/>
          </p:nvPr>
        </p:nvSpPr>
        <p:spPr>
          <a:xfrm>
            <a:off x="2971800" y="4267200"/>
            <a:ext cx="6019800" cy="1752600"/>
          </a:xfrm>
        </p:spPr>
        <p:txBody>
          <a:bodyPr/>
          <a:lstStyle>
            <a:lvl1pPr marL="0" indent="0">
              <a:buFont typeface="Wingdings" panose="05000000000000000000" pitchFamily="2" charset="2"/>
              <a:buNone/>
              <a:defRPr sz="3000"/>
            </a:lvl1pPr>
          </a:lstStyle>
          <a:p>
            <a:pPr lvl="0"/>
            <a:r>
              <a:rPr lang="zh-CN" altLang="en-US" noProof="0"/>
              <a:t>单击此处编辑母版副标题样式</a:t>
            </a:r>
          </a:p>
        </p:txBody>
      </p:sp>
      <p:sp>
        <p:nvSpPr>
          <p:cNvPr id="18" name="Rectangle 3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2484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9" name="Rectangle 4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" name="Rectangle 5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2987675" y="6308725"/>
            <a:ext cx="2133600" cy="457200"/>
          </a:xfrm>
        </p:spPr>
        <p:txBody>
          <a:bodyPr/>
          <a:lstStyle>
            <a:lvl1pPr>
              <a:defRPr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0AEB4698-B8DB-437D-A72F-79E963AC2888}" type="slidenum">
              <a:rPr lang="en-US" altLang="zh-CN"/>
              <a:t>‹#›</a:t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3000" baseline="0">
                <a:solidFill>
                  <a:schemeClr val="tx1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1pPr>
            <a:lvl2pPr>
              <a:defRPr sz="2600" baseline="0">
                <a:solidFill>
                  <a:srgbClr val="0000A8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2pPr>
            <a:lvl3pPr>
              <a:defRPr sz="2300" baseline="0">
                <a:solidFill>
                  <a:schemeClr val="bg2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3pPr>
            <a:lvl4pPr>
              <a:defRPr baseline="0">
                <a:solidFill>
                  <a:srgbClr val="C00000"/>
                </a:solidFill>
                <a:latin typeface="Arial" panose="020B0604020202020204" pitchFamily="34" charset="0"/>
                <a:ea typeface="黑体" panose="02010609060101010101" pitchFamily="49" charset="-122"/>
              </a:defRPr>
            </a:lvl4pPr>
            <a:lvl5pPr>
              <a:defRPr baseline="0">
                <a:latin typeface="Arial" panose="020B0604020202020204" pitchFamily="34" charset="0"/>
                <a:ea typeface="黑体" panose="02010609060101010101" pitchFamily="49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E6C03A-3073-401C-B837-061925A82BB2}" type="slidenum">
              <a:rPr lang="en-US" altLang="zh-CN"/>
              <a:t>‹#›</a:t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1A1BF9-52A6-4013-A43A-751A8425BA20}" type="slidenum">
              <a:rPr lang="en-US" altLang="zh-CN"/>
              <a:t>‹#›</a:t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484313"/>
            <a:ext cx="40386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484313"/>
            <a:ext cx="4038600" cy="47529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49F1A7D-1F63-4B89-8DC4-C738F58AF122}" type="slidenum">
              <a:rPr lang="en-US" altLang="zh-CN"/>
              <a:t>‹#›</a:t>
            </a:fld>
            <a:endParaRPr lang="en-US" altLang="zh-CN" dirty="0"/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5EB48B2-4D1C-45B9-9848-D47D570717DE}" type="slidenum">
              <a:rPr lang="en-US" altLang="zh-CN"/>
              <a:t>‹#›</a:t>
            </a:fld>
            <a:endParaRPr lang="en-US" altLang="zh-CN" dirty="0"/>
          </a:p>
        </p:txBody>
      </p:sp>
      <p:sp>
        <p:nvSpPr>
          <p:cNvPr id="9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D4D1EC4-2614-4F9E-A769-62D082C185DB}" type="slidenum">
              <a:rPr lang="en-US" altLang="zh-CN"/>
              <a:t>‹#›</a:t>
            </a:fld>
            <a:endParaRPr lang="en-US" altLang="zh-CN" dirty="0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232F55C-006F-4F76-95B1-5623E00EC138}" type="slidenum">
              <a:rPr lang="en-US" altLang="zh-CN"/>
              <a:t>‹#›</a:t>
            </a:fld>
            <a:endParaRPr lang="en-US" altLang="zh-CN" dirty="0"/>
          </a:p>
        </p:txBody>
      </p:sp>
      <p:sp>
        <p:nvSpPr>
          <p:cNvPr id="4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7911F1-6F5E-4B3B-92F6-002D744C979D}" type="slidenum">
              <a:rPr lang="en-US" altLang="zh-CN"/>
              <a:t>‹#›</a:t>
            </a:fld>
            <a:endParaRPr lang="en-US" altLang="zh-CN" dirty="0"/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F78AA7-693C-4FF7-83DC-7A426B683855}" type="slidenum">
              <a:rPr lang="en-US" altLang="zh-CN"/>
              <a:t>‹#›</a:t>
            </a:fld>
            <a:endParaRPr lang="en-US" altLang="zh-CN" dirty="0"/>
          </a:p>
        </p:txBody>
      </p:sp>
      <p:sp>
        <p:nvSpPr>
          <p:cNvPr id="7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76E1B8-0929-44C3-A2D6-F90DEC31D1DE}" type="slidenum">
              <a:rPr lang="en-US" altLang="zh-CN"/>
              <a:t>‹#›</a:t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457200"/>
            <a:ext cx="2057400" cy="578008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457200"/>
            <a:ext cx="6019800" cy="578008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1D97344-BF8B-411A-8C37-5524D9E96C7D}" type="slidenum">
              <a:rPr lang="en-US" altLang="zh-CN"/>
              <a:t>‹#›</a:t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dgm" preserve="1">
  <p:cSld name="标题和图示或组织结构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0636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SmartArt 占位符 2"/>
          <p:cNvSpPr>
            <a:spLocks noGrp="1"/>
          </p:cNvSpPr>
          <p:nvPr>
            <p:ph type="pic" idx="1"/>
          </p:nvPr>
        </p:nvSpPr>
        <p:spPr>
          <a:xfrm>
            <a:off x="457200" y="1484313"/>
            <a:ext cx="8229600" cy="4752975"/>
          </a:xfr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3E580A-F19A-465C-93C7-460F6608EF71}" type="slidenum">
              <a:rPr lang="en-US" altLang="zh-CN"/>
              <a:t>‹#›</a:t>
            </a:fld>
            <a:endParaRPr lang="en-US" altLang="zh-CN" dirty="0"/>
          </a:p>
        </p:txBody>
      </p:sp>
      <p:sp>
        <p:nvSpPr>
          <p:cNvPr id="6" name="Rectangle 17"/>
          <p:cNvSpPr>
            <a:spLocks noGrp="1" noChangeArrowheads="1"/>
          </p:cNvSpPr>
          <p:nvPr>
            <p:ph type="dt" sz="half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051E090-A4F8-4FCA-A060-2F6DD3C03F81}" type="datetimeFigureOut">
              <a:rPr lang="zh-CN" altLang="en-US"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9D411C-4242-416B-8DE9-EB4039463D7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686EC-D099-4372-BDD9-829E58E9472F}" type="datetimeFigureOut">
              <a:rPr lang="zh-CN" altLang="en-US"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C424DA9-208B-43E8-967B-080BBF2467D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E7BAF2-1327-4969-A6F0-E2F0EB18D6A5}" type="datetimeFigureOut">
              <a:rPr lang="zh-CN" altLang="en-US"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8392BB-9F00-4281-8DF2-7539A32DE85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04BFF3D-9272-4EA0-B621-809FFF106DC9}" type="datetimeFigureOut">
              <a:rPr lang="zh-CN" altLang="en-US"/>
              <a:t>2023/12/19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7300FED-3FCF-416E-A710-E1D08CCAF41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C281068-A6A7-40BA-AA51-9CE1E7FB103D}" type="datetimeFigureOut">
              <a:rPr lang="zh-CN" altLang="en-US"/>
              <a:t>2023/12/19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E56E54-46E6-4D0E-BAB5-7C81DCF5D725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4200B1-7CE9-4E03-974C-3D2C9CF08633}" type="datetimeFigureOut">
              <a:rPr lang="zh-CN" altLang="en-US"/>
              <a:t>2023/12/19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A4B600-6BBE-4D9E-8827-53588239764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F1DD764-0E3E-4350-9825-04C34050A9A1}" type="datetimeFigureOut">
              <a:rPr lang="zh-CN" altLang="en-US"/>
              <a:t>2023/12/19</a:t>
            </a:fld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65DF58-CD75-4FC7-9039-C4B424AD609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CE423E9-2F86-4BBB-A8E4-AED299374AA4}" type="datetimeFigureOut">
              <a:rPr lang="zh-CN" altLang="en-US"/>
              <a:t>2023/12/19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D2AABA0-EEF2-4F79-AF85-D1D2C5852D9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B98C9A-BDE2-4BF5-8AEE-B1CB72B63FF3}" type="datetimeFigureOut">
              <a:rPr lang="zh-CN" altLang="en-US"/>
              <a:t>2023/12/19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B76CE0-A9E1-4689-8D3E-1078A01564E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C924B9-AC47-41FD-BB83-1E08B998B4C8}" type="datetimeFigureOut">
              <a:rPr lang="zh-CN" altLang="en-US"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AE11340-A4AF-466A-9F84-BE901AABC08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8C1FB0-0586-4020-80FA-AF0E6D23BE7F}" type="datetimeFigureOut">
              <a:rPr lang="zh-CN" altLang="en-US"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1B4D320-C711-4AC7-B92C-5584F52B93F2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5" name="Rectangle 3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ctr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6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696075" y="6248400"/>
            <a:ext cx="2133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2000" b="1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defRPr>
            </a:lvl1pPr>
          </a:lstStyle>
          <a:p>
            <a:pPr>
              <a:defRPr/>
            </a:pPr>
            <a:fld id="{5CCA33BB-C97C-478A-8B6B-6E2EDE14E7F6}" type="slidenum">
              <a:rPr lang="en-US" altLang="zh-CN"/>
              <a:t>‹#›</a:t>
            </a:fld>
            <a:endParaRPr lang="en-US" altLang="zh-CN" dirty="0"/>
          </a:p>
        </p:txBody>
      </p:sp>
      <p:grpSp>
        <p:nvGrpSpPr>
          <p:cNvPr id="1028" name="Group 35"/>
          <p:cNvGrpSpPr/>
          <p:nvPr/>
        </p:nvGrpSpPr>
        <p:grpSpPr bwMode="auto">
          <a:xfrm>
            <a:off x="0" y="0"/>
            <a:ext cx="9144000" cy="546100"/>
            <a:chOff x="0" y="0"/>
            <a:chExt cx="5760" cy="344"/>
          </a:xfrm>
        </p:grpSpPr>
        <p:sp>
          <p:nvSpPr>
            <p:cNvPr id="1032" name="Rectangle 5"/>
            <p:cNvSpPr>
              <a:spLocks noChangeArrowheads="1"/>
            </p:cNvSpPr>
            <p:nvPr/>
          </p:nvSpPr>
          <p:spPr bwMode="auto">
            <a:xfrm>
              <a:off x="0" y="0"/>
              <a:ext cx="180" cy="336"/>
            </a:xfrm>
            <a:prstGeom prst="rect">
              <a:avLst/>
            </a:prstGeom>
            <a:gradFill rotWithShape="0">
              <a:gsLst>
                <a:gs pos="0">
                  <a:schemeClr val="folHlink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3" name="Rectangle 6"/>
            <p:cNvSpPr>
              <a:spLocks noChangeArrowheads="1"/>
            </p:cNvSpPr>
            <p:nvPr/>
          </p:nvSpPr>
          <p:spPr bwMode="auto">
            <a:xfrm>
              <a:off x="260" y="85"/>
              <a:ext cx="5500" cy="173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4" name="Rectangle 7"/>
            <p:cNvSpPr>
              <a:spLocks noChangeArrowheads="1"/>
            </p:cNvSpPr>
            <p:nvPr/>
          </p:nvSpPr>
          <p:spPr bwMode="auto">
            <a:xfrm>
              <a:off x="258" y="85"/>
              <a:ext cx="87" cy="89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5" name="Rectangle 8"/>
            <p:cNvSpPr>
              <a:spLocks noChangeArrowheads="1"/>
            </p:cNvSpPr>
            <p:nvPr/>
          </p:nvSpPr>
          <p:spPr bwMode="auto">
            <a:xfrm>
              <a:off x="345" y="0"/>
              <a:ext cx="88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6" name="Rectangle 9"/>
            <p:cNvSpPr>
              <a:spLocks noChangeArrowheads="1"/>
            </p:cNvSpPr>
            <p:nvPr/>
          </p:nvSpPr>
          <p:spPr bwMode="auto">
            <a:xfrm>
              <a:off x="345" y="85"/>
              <a:ext cx="88" cy="89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37" name="Rectangle 10"/>
            <p:cNvSpPr>
              <a:spLocks noChangeArrowheads="1"/>
            </p:cNvSpPr>
            <p:nvPr/>
          </p:nvSpPr>
          <p:spPr bwMode="auto">
            <a:xfrm>
              <a:off x="173" y="173"/>
              <a:ext cx="86" cy="87"/>
            </a:xfrm>
            <a:prstGeom prst="rect">
              <a:avLst/>
            </a:prstGeom>
            <a:solidFill>
              <a:schemeClr val="fol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hlink"/>
                </a:solidFill>
              </a:endParaRPr>
            </a:p>
          </p:txBody>
        </p:sp>
        <p:sp>
          <p:nvSpPr>
            <p:cNvPr id="1038" name="Rectangle 11"/>
            <p:cNvSpPr>
              <a:spLocks noChangeArrowheads="1"/>
            </p:cNvSpPr>
            <p:nvPr/>
          </p:nvSpPr>
          <p:spPr bwMode="auto">
            <a:xfrm>
              <a:off x="83" y="86"/>
              <a:ext cx="89" cy="87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 sz="2400">
                <a:latin typeface="Times New Roman" panose="02020603050405020304" pitchFamily="18" charset="0"/>
              </a:endParaRPr>
            </a:p>
          </p:txBody>
        </p:sp>
        <p:sp>
          <p:nvSpPr>
            <p:cNvPr id="1039" name="Rectangle 12"/>
            <p:cNvSpPr>
              <a:spLocks noChangeArrowheads="1"/>
            </p:cNvSpPr>
            <p:nvPr/>
          </p:nvSpPr>
          <p:spPr bwMode="auto">
            <a:xfrm>
              <a:off x="258" y="171"/>
              <a:ext cx="87" cy="87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  <p:sp>
          <p:nvSpPr>
            <p:cNvPr id="1040" name="Rectangle 13"/>
            <p:cNvSpPr>
              <a:spLocks noChangeArrowheads="1"/>
            </p:cNvSpPr>
            <p:nvPr/>
          </p:nvSpPr>
          <p:spPr bwMode="auto">
            <a:xfrm>
              <a:off x="173" y="258"/>
              <a:ext cx="86" cy="86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zh-CN" altLang="en-US">
                <a:solidFill>
                  <a:schemeClr val="accent2"/>
                </a:solidFill>
              </a:endParaRPr>
            </a:p>
          </p:txBody>
        </p:sp>
      </p:grpSp>
      <p:sp>
        <p:nvSpPr>
          <p:cNvPr id="1029" name="Rectangle 14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457200"/>
            <a:ext cx="8229600" cy="1063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30" name="Rectangle 1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484313"/>
            <a:ext cx="8229600" cy="47529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8929" name="Rectangle 17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anose="02010509060101010101" pitchFamily="49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anose="02010509060101010101" pitchFamily="49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anose="02010509060101010101" pitchFamily="49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anose="02010509060101010101" pitchFamily="49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anose="02010509060101010101" pitchFamily="49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anose="02010509060101010101" pitchFamily="49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anose="02010509060101010101" pitchFamily="49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000" b="1">
          <a:solidFill>
            <a:srgbClr val="CC0000"/>
          </a:solidFill>
          <a:latin typeface="Arial" panose="020B0604020202020204" pitchFamily="34" charset="0"/>
          <a:ea typeface="隶书" panose="02010509060101010101" pitchFamily="49" charset="-122"/>
        </a:defRPr>
      </a:lvl9pPr>
    </p:titleStyle>
    <p:bodyStyle>
      <a:lvl1pPr marL="342900" indent="-34290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rgbClr val="660066"/>
        </a:buClr>
        <a:buSzPct val="55000"/>
        <a:buFont typeface="Wingdings" panose="05000000000000000000" pitchFamily="2" charset="2"/>
        <a:buChar char="n"/>
        <a:defRPr sz="2800" b="1">
          <a:solidFill>
            <a:schemeClr val="bg2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rgbClr val="006600"/>
        </a:buClr>
        <a:buSzPct val="55000"/>
        <a:buFont typeface="Wingdings" panose="05000000000000000000" pitchFamily="2" charset="2"/>
        <a:buChar char="r"/>
        <a:defRPr sz="2800" b="1">
          <a:solidFill>
            <a:schemeClr val="bg2"/>
          </a:solidFill>
          <a:latin typeface="Times New Roman" panose="02020603050405020304" pitchFamily="18" charset="0"/>
          <a:ea typeface="+mn-ea"/>
        </a:defRPr>
      </a:lvl2pPr>
      <a:lvl3pPr marL="1143000" indent="-22860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rgbClr val="FF0000"/>
        </a:buClr>
        <a:buSzPct val="65000"/>
        <a:buFont typeface="Wingdings" panose="05000000000000000000" pitchFamily="2" charset="2"/>
        <a:buChar char="Ø"/>
        <a:defRPr sz="2800" b="1">
          <a:solidFill>
            <a:schemeClr val="bg2"/>
          </a:solidFill>
          <a:latin typeface="Times New Roman" panose="02020603050405020304" pitchFamily="18" charset="0"/>
          <a:ea typeface="+mn-ea"/>
        </a:defRPr>
      </a:lvl3pPr>
      <a:lvl4pPr marL="1600200" indent="-228600" algn="l" rtl="0" eaLnBrk="0" fontAlgn="base" hangingPunct="0">
        <a:lnSpc>
          <a:spcPct val="105000"/>
        </a:lnSpc>
        <a:spcBef>
          <a:spcPct val="15000"/>
        </a:spcBef>
        <a:spcAft>
          <a:spcPct val="0"/>
        </a:spcAft>
        <a:buClr>
          <a:schemeClr val="accent2"/>
        </a:buClr>
        <a:buSzPct val="70000"/>
        <a:buFont typeface="Wingdings" panose="05000000000000000000" pitchFamily="2" charset="2"/>
        <a:buChar char="¨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bg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宋体" panose="02010600030101010101" pitchFamily="2" charset="-122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2051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7BAF7AE8-7FB0-4406-90AB-6887A4CACEFE}" type="datetimeFigureOut">
              <a:rPr lang="zh-CN" altLang="en-US"/>
              <a:t>2023/12/19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0D8CD665-E0F7-4569-8194-B257B5EB7313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microsoft.com/office/2007/relationships/hdphoto" Target="../media/hdphoto1.wdp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oleObject" Target="../embeddings/oleObject1.bin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wmf"/><Relationship Id="rId4" Type="http://schemas.openxmlformats.org/officeDocument/2006/relationships/oleObject" Target="../embeddings/oleObject2.bin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232025" y="4545013"/>
            <a:ext cx="6759575" cy="1474787"/>
          </a:xfrm>
        </p:spPr>
        <p:txBody>
          <a:bodyPr/>
          <a:lstStyle/>
          <a:p>
            <a:pPr algn="r" eaLnBrk="1" hangingPunct="1"/>
            <a:r>
              <a:rPr lang="zh-CN" altLang="en-US" sz="3600">
                <a:latin typeface="仿宋_GB2312" panose="02010609030101010101" pitchFamily="49" charset="-122"/>
              </a:rPr>
              <a:t>东南大学计算机学院 方效林</a:t>
            </a:r>
            <a:endParaRPr lang="en-US" altLang="zh-CN" sz="3600">
              <a:latin typeface="仿宋_GB2312" panose="02010609030101010101" pitchFamily="49" charset="-122"/>
            </a:endParaRPr>
          </a:p>
        </p:txBody>
      </p:sp>
      <p:sp>
        <p:nvSpPr>
          <p:cNvPr id="9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92388" y="1808163"/>
            <a:ext cx="6343650" cy="2209800"/>
          </a:xfrm>
        </p:spPr>
        <p:txBody>
          <a:bodyPr/>
          <a:lstStyle/>
          <a:p>
            <a:pPr eaLnBrk="1" hangingPunct="1">
              <a:defRPr/>
            </a:pPr>
            <a:r>
              <a:rPr lang="zh-CN" altLang="en-US" sz="5400" dirty="0">
                <a:latin typeface="+mj-ea"/>
              </a:rPr>
              <a:t>在线算法</a:t>
            </a:r>
            <a:endParaRPr lang="en-US" altLang="zh-CN" sz="5400" dirty="0">
              <a:latin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本章内容</a:t>
            </a:r>
          </a:p>
        </p:txBody>
      </p:sp>
      <p:sp>
        <p:nvSpPr>
          <p:cNvPr id="819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在线算法基本概念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摘麦穗问题</a:t>
            </a:r>
          </a:p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牛寻路问题</a:t>
            </a:r>
          </a:p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滑雪橇租赁问题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页面调度问题</a:t>
            </a:r>
            <a:endParaRPr lang="en-US" altLang="zh-CN" dirty="0">
              <a:latin typeface="Arial" panose="020B0604020202020204" pitchFamily="34" charset="0"/>
              <a:ea typeface="黑体" panose="02010609060101010101" pitchFamily="49" charset="-122"/>
            </a:endParaRPr>
          </a:p>
        </p:txBody>
      </p:sp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  <a:t>2</a:t>
            </a:fld>
            <a:endParaRPr lang="en-US" altLang="zh-CN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在线算法基本概念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前面介绍的算法</a:t>
            </a:r>
            <a:endParaRPr lang="en-US" altLang="zh-CN" dirty="0"/>
          </a:p>
          <a:p>
            <a:pPr lvl="1"/>
            <a:r>
              <a:rPr lang="zh-CN" altLang="en-US" dirty="0"/>
              <a:t>在算法执行之前整个输入数据</a:t>
            </a:r>
            <a:endParaRPr lang="en-US" altLang="zh-CN" dirty="0"/>
          </a:p>
          <a:p>
            <a:r>
              <a:rPr lang="zh-CN" altLang="en-US" dirty="0"/>
              <a:t>实际应用存在不满足上述条件的情况</a:t>
            </a:r>
            <a:endParaRPr lang="en-US" altLang="zh-CN" dirty="0"/>
          </a:p>
          <a:p>
            <a:pPr lvl="1" algn="just"/>
            <a:r>
              <a:rPr lang="zh-CN" altLang="en-US" dirty="0"/>
              <a:t>磁盘调度问题</a:t>
            </a:r>
          </a:p>
          <a:p>
            <a:pPr lvl="1" algn="just"/>
            <a:r>
              <a:rPr lang="zh-CN" altLang="en-US" dirty="0"/>
              <a:t>操作系统的页面调度问题</a:t>
            </a:r>
          </a:p>
          <a:p>
            <a:pPr lvl="1" algn="just"/>
            <a:r>
              <a:rPr lang="en-US" altLang="zh-CN" dirty="0"/>
              <a:t>Data streams</a:t>
            </a:r>
          </a:p>
          <a:p>
            <a:pPr lvl="1"/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  <a:t>3</a:t>
            </a:fld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在线算法基本概念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195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竞争比</a:t>
                </a:r>
                <a:endParaRPr lang="en-US" altLang="zh-CN" dirty="0">
                  <a:latin typeface="Arial" panose="020B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设在线算法代价为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𝑨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，离线最优算法代价为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𝑶𝑷𝑻</m:t>
                    </m:r>
                    <m:r>
                      <a:rPr lang="en-US" altLang="zh-CN" i="1">
                        <a:latin typeface="Cambria Math" panose="02040503050406030204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，</a:t>
                </a:r>
                <a:endParaRPr lang="en-US" altLang="zh-CN" dirty="0">
                  <a:latin typeface="Arial" panose="020B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若存在非负常数 </a:t>
                </a:r>
                <a14:m>
                  <m:oMath xmlns:m="http://schemas.openxmlformats.org/officeDocument/2006/math">
                    <m:r>
                      <a:rPr lang="zh-CN" altLang="en-US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𝜶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 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和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𝒄</m:t>
                    </m:r>
                    <m:r>
                      <a:rPr lang="en-US" altLang="zh-CN" i="1">
                        <a:latin typeface="Cambria Math" panose="02040503050406030204"/>
                        <a:ea typeface="黑体" panose="02010609060101010101" pitchFamily="49" charset="-122"/>
                      </a:rPr>
                      <m:t> 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，使得</a:t>
                </a:r>
                <a14:m>
                  <m:oMath xmlns:m="http://schemas.openxmlformats.org/officeDocument/2006/math">
                    <m:r>
                      <a:rPr lang="en-US" altLang="zh-CN" i="1">
                        <a:latin typeface="Cambria Math" panose="02040503050406030204"/>
                        <a:ea typeface="黑体" panose="02010609060101010101" pitchFamily="49" charset="-122"/>
                      </a:rPr>
                      <m:t>𝑨</m:t>
                    </m:r>
                    <m:r>
                      <a:rPr lang="en-US" altLang="zh-CN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≤</m:t>
                    </m:r>
                    <m:r>
                      <a:rPr lang="zh-CN" altLang="en-US" i="1">
                        <a:latin typeface="Cambria Math" panose="02040503050406030204"/>
                        <a:ea typeface="黑体" panose="02010609060101010101" pitchFamily="49" charset="-122"/>
                      </a:rPr>
                      <m:t>𝜶</m:t>
                    </m:r>
                    <m:r>
                      <a:rPr lang="zh-CN" altLang="en-US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∙</m:t>
                    </m:r>
                    <m:r>
                      <a:rPr lang="en-US" altLang="zh-CN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𝑶𝑷𝑻</m:t>
                    </m:r>
                    <m:r>
                      <a:rPr lang="en-US" altLang="zh-CN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+</m:t>
                    </m:r>
                    <m:r>
                      <a:rPr lang="en-US" altLang="zh-CN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𝒄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，则称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/>
                        <a:ea typeface="黑体" panose="02010609060101010101" pitchFamily="49" charset="-122"/>
                      </a:rPr>
                      <m:t>𝜶</m:t>
                    </m:r>
                  </m:oMath>
                </a14:m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 为该在线算法的竞争比 </a:t>
                </a:r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(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/>
                        <a:ea typeface="黑体" panose="02010609060101010101" pitchFamily="49" charset="-122"/>
                      </a:rPr>
                      <m:t>𝜶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-competitive)</a:t>
                </a:r>
              </a:p>
              <a:p>
                <a:pPr lvl="1"/>
                <a:r>
                  <a:rPr lang="zh-CN" altLang="en-US" dirty="0"/>
                  <a:t>当在线算法的竞争比不可能再改进时， 称其为最优在线算法</a:t>
                </a:r>
                <a:endParaRPr lang="en-US" altLang="zh-CN" dirty="0">
                  <a:latin typeface="Arial" panose="020B0604020202020204" pitchFamily="34" charset="0"/>
                  <a:ea typeface="黑体" panose="02010609060101010101" pitchFamily="49" charset="-122"/>
                </a:endParaRPr>
              </a:p>
            </p:txBody>
          </p:sp>
        </mc:Choice>
        <mc:Fallback xmlns="">
          <p:sp>
            <p:nvSpPr>
              <p:cNvPr id="8195" name="内容占位符 2"/>
              <p:cNvSpPr>
                <a:spLocks noRot="true" noChangeAspect="true" noMove="true" noResize="true" noEditPoints="true" noAdjustHandles="true" noChangeArrowheads="true" noChangeShapeType="true" noTextEdit="true"/>
              </p:cNvSpPr>
              <p:nvPr>
                <p:ph idx="1"/>
              </p:nvPr>
            </p:nvSpPr>
            <p:spPr>
              <a:blipFill rotWithShape="true">
                <a:blip r:embed="rId2"/>
                <a:stretch>
                  <a:fillRect t="-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196" name="灯片编号占位符 3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  <a:t>4</a:t>
            </a:fld>
            <a:endParaRPr lang="en-US" altLang="zh-CN" dirty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ja-JP" altLang="en-US" dirty="0"/>
              <a:t>摘麦穗问题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苏格拉底带弟子们来到一片麦田，让他们在田间小路走过，每人选摘一支最大的麦穗，不能走回头路，且只能摘一枝。</a:t>
            </a:r>
            <a:endParaRPr lang="en-US" altLang="zh-CN" dirty="0"/>
          </a:p>
          <a:p>
            <a:pPr marL="0" indent="0" algn="r">
              <a:buNone/>
            </a:pPr>
            <a:r>
              <a:rPr lang="en-US" altLang="zh-CN" sz="2400" dirty="0"/>
              <a:t>——《</a:t>
            </a:r>
            <a:r>
              <a:rPr lang="zh-CN" altLang="en-US" sz="2400" dirty="0"/>
              <a:t>最大的麦穗</a:t>
            </a:r>
            <a:r>
              <a:rPr lang="en-US" altLang="zh-CN" sz="2400" dirty="0"/>
              <a:t>》</a:t>
            </a:r>
            <a:r>
              <a:rPr lang="zh-CN" altLang="en-US" sz="2400" dirty="0"/>
              <a:t>苏教版小学语文</a:t>
            </a:r>
            <a:endParaRPr lang="en-US" altLang="zh-CN" sz="2400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0073" y="3487946"/>
            <a:ext cx="3004869" cy="1908000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7884" y="3452008"/>
            <a:ext cx="2073360" cy="1908000"/>
          </a:xfrm>
          <a:prstGeom prst="rect">
            <a:avLst/>
          </a:prstGeom>
        </p:spPr>
      </p:pic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1925" y="3455150"/>
            <a:ext cx="2862000" cy="1908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9282" y="5481228"/>
            <a:ext cx="23633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哪个企业的工作Offer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568080" y="5481228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进哪位老师实验室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265812" y="5481228"/>
            <a:ext cx="2160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latin typeface="Microsoft YaHei" panose="020B0503020204020204" pitchFamily="34" charset="-122"/>
                <a:ea typeface="Microsoft YaHei" panose="020B0503020204020204" pitchFamily="34" charset="-122"/>
              </a:rPr>
              <a:t>选择和谁深入交往</a:t>
            </a:r>
            <a:endParaRPr lang="en-US" dirty="0"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  <p:sp>
        <p:nvSpPr>
          <p:cNvPr id="16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696075" y="6248400"/>
            <a:ext cx="2133600" cy="45720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  <a:t>5</a:t>
            </a:fld>
            <a:endParaRPr lang="en-US" altLang="zh-CN" dirty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摘麦穗的真谛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时光不会倒流，人生只是单行线。不论是升学、就业，追求爱情、建立婚姻等等，我们眼前都晃动着许多的麦穗，这时需要拥有一双慧眼，从众多的麦穗中择其大者而取之。</a:t>
            </a:r>
            <a:endParaRPr lang="en-US" altLang="zh-CN" dirty="0"/>
          </a:p>
          <a:p>
            <a:endParaRPr lang="en-US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03544" y="3392996"/>
            <a:ext cx="1476164" cy="2658226"/>
          </a:xfrm>
          <a:prstGeom prst="rect">
            <a:avLst/>
          </a:prstGeom>
        </p:spPr>
      </p:pic>
      <p:sp>
        <p:nvSpPr>
          <p:cNvPr id="8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696075" y="6248400"/>
            <a:ext cx="2133600" cy="45720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  <a:t>6</a:t>
            </a:fld>
            <a:endParaRPr lang="en-US" altLang="zh-CN" dirty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摘麦穗问题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假设田间小路旁边一共有 </a:t>
            </a:r>
            <a:r>
              <a:rPr lang="en-US" altLang="en-US" i="1" dirty="0"/>
              <a:t>n </a:t>
            </a:r>
            <a:r>
              <a:rPr lang="en-US" altLang="en-US" dirty="0"/>
              <a:t>只麦穗可以选择，最大麦穗出现在任何位置的概率均等，问如何摘下最大的麦穗？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离线算法</a:t>
            </a:r>
            <a:r>
              <a:rPr lang="en-US" altLang="en-US" dirty="0"/>
              <a:t>知道所有麦穗的情况，可以准确无误地摘下最大的麦穗，</a:t>
            </a:r>
            <a:r>
              <a:rPr lang="zh-CN" altLang="en-US" dirty="0"/>
              <a:t>正确率</a:t>
            </a:r>
            <a:r>
              <a:rPr lang="en-US" altLang="zh-CN" dirty="0"/>
              <a:t>100%</a:t>
            </a:r>
          </a:p>
          <a:p>
            <a:r>
              <a:rPr lang="en-US" altLang="en-US" dirty="0">
                <a:solidFill>
                  <a:srgbClr val="FF0000"/>
                </a:solidFill>
              </a:rPr>
              <a:t>在线算法</a:t>
            </a:r>
            <a:r>
              <a:rPr lang="en-US" altLang="en-US" dirty="0"/>
              <a:t>仅知道走过的路旁的麦穗，该怎么选择？正确概率是多少？</a:t>
            </a:r>
            <a:endParaRPr lang="en-US" altLang="zh-CN" dirty="0"/>
          </a:p>
          <a:p>
            <a:endParaRPr lang="en-US" dirty="0"/>
          </a:p>
        </p:txBody>
      </p:sp>
      <p:sp>
        <p:nvSpPr>
          <p:cNvPr id="7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696075" y="6248400"/>
            <a:ext cx="2133600" cy="45720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  <a:t>7</a:t>
            </a:fld>
            <a:endParaRPr lang="en-US" altLang="zh-CN" dirty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摘麦穗问题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-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在线算法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cs typeface="Times New Roman" panose="02020603050405020304" pitchFamily="18" charset="0"/>
              </a:rPr>
              <a:t>在线算法</a:t>
            </a:r>
            <a:r>
              <a:rPr lang="en-US" altLang="zh-CN" sz="2800" dirty="0"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cs typeface="Times New Roman" panose="02020603050405020304" pitchFamily="18" charset="0"/>
              </a:rPr>
              <a:t>的做法：</a:t>
            </a:r>
            <a:endParaRPr lang="en-US" altLang="zh-CN" sz="2800" dirty="0">
              <a:cs typeface="Times New Roman" panose="02020603050405020304" pitchFamily="18" charset="0"/>
            </a:endParaRPr>
          </a:p>
          <a:p>
            <a:pPr lvl="1">
              <a:spcBef>
                <a:spcPct val="50000"/>
              </a:spcBef>
            </a:pPr>
            <a:r>
              <a:rPr lang="en-US" altLang="en-US" sz="2400" dirty="0">
                <a:cs typeface="Times New Roman" panose="02020603050405020304" pitchFamily="18" charset="0"/>
              </a:rPr>
              <a:t>边走边观察前一半的麦穗</a:t>
            </a:r>
            <a:r>
              <a:rPr lang="zh-CN" altLang="en-US" sz="2400" dirty="0">
                <a:cs typeface="Times New Roman" panose="02020603050405020304" pitchFamily="18" charset="0"/>
              </a:rPr>
              <a:t>，记下最大的麦穗，过半后，摘下第一个更大的麦穗。</a:t>
            </a:r>
            <a:endParaRPr lang="en-US" altLang="he-IL" sz="2400" dirty="0">
              <a:cs typeface="Times New Roman" panose="02020603050405020304" pitchFamily="18" charset="0"/>
            </a:endParaRPr>
          </a:p>
          <a:p>
            <a:pPr>
              <a:spcBef>
                <a:spcPct val="50000"/>
              </a:spcBef>
            </a:pPr>
            <a:r>
              <a:rPr lang="zh-CN" altLang="en-US" sz="2800" b="1" dirty="0">
                <a:cs typeface="Times New Roman" panose="02020603050405020304" pitchFamily="18" charset="0"/>
              </a:rPr>
              <a:t>定理</a:t>
            </a:r>
            <a:r>
              <a:rPr lang="en-US" altLang="he-IL" sz="2800" b="1" dirty="0">
                <a:cs typeface="Times New Roman" panose="02020603050405020304" pitchFamily="18" charset="0"/>
              </a:rPr>
              <a:t>:</a:t>
            </a:r>
            <a:r>
              <a:rPr lang="en-US" altLang="he-IL" sz="2800" dirty="0">
                <a:cs typeface="Times New Roman" panose="02020603050405020304" pitchFamily="18" charset="0"/>
              </a:rPr>
              <a:t> </a:t>
            </a:r>
            <a:r>
              <a:rPr lang="zh-CN" altLang="en-US" sz="2800" dirty="0">
                <a:cs typeface="Times New Roman" panose="02020603050405020304" pitchFamily="18" charset="0"/>
              </a:rPr>
              <a:t>算法</a:t>
            </a:r>
            <a:r>
              <a:rPr lang="en-US" altLang="zh-CN" sz="2800" dirty="0">
                <a:cs typeface="Times New Roman" panose="02020603050405020304" pitchFamily="18" charset="0"/>
              </a:rPr>
              <a:t>A</a:t>
            </a:r>
            <a:r>
              <a:rPr lang="zh-CN" altLang="en-US" sz="2800" dirty="0">
                <a:cs typeface="Times New Roman" panose="02020603050405020304" pitchFamily="18" charset="0"/>
              </a:rPr>
              <a:t>有</a:t>
            </a:r>
            <a:r>
              <a:rPr lang="en-US" altLang="en-US" sz="2800" dirty="0">
                <a:cs typeface="Times New Roman" panose="02020603050405020304" pitchFamily="18" charset="0"/>
              </a:rPr>
              <a:t>至少</a:t>
            </a:r>
            <a:r>
              <a:rPr lang="en-US" altLang="he-IL" sz="2800" dirty="0">
                <a:cs typeface="Times New Roman" panose="02020603050405020304" pitchFamily="18" charset="0"/>
              </a:rPr>
              <a:t>25%</a:t>
            </a:r>
            <a:r>
              <a:rPr lang="zh-CN" altLang="en-US" sz="2800" dirty="0">
                <a:cs typeface="Times New Roman" panose="02020603050405020304" pitchFamily="18" charset="0"/>
              </a:rPr>
              <a:t>的概率可以摘到最大的麦穗。</a:t>
            </a:r>
            <a:endParaRPr lang="en-US" altLang="he-IL" sz="2800" dirty="0">
              <a:cs typeface="Times New Roman" panose="02020603050405020304" pitchFamily="18" charset="0"/>
            </a:endParaRPr>
          </a:p>
        </p:txBody>
      </p:sp>
      <p:sp>
        <p:nvSpPr>
          <p:cNvPr id="7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696075" y="6248400"/>
            <a:ext cx="2133600" cy="45720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  <a:t>8</a:t>
            </a:fld>
            <a:endParaRPr lang="en-US" altLang="zh-CN" dirty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摘麦穗问题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-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在线算法证明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800" dirty="0"/>
              <a:t>证明：</a:t>
            </a:r>
            <a:endParaRPr lang="en-US" altLang="zh-CN" sz="2800" dirty="0"/>
          </a:p>
          <a:p>
            <a:pPr>
              <a:spcBef>
                <a:spcPct val="50000"/>
              </a:spcBef>
              <a:buNone/>
            </a:pPr>
            <a:r>
              <a:rPr lang="en-US" altLang="he-IL" sz="2800" dirty="0"/>
              <a:t>		</a:t>
            </a:r>
            <a:r>
              <a:rPr lang="en-US" altLang="he-IL" sz="2800" i="1" dirty="0"/>
              <a:t>Y</a:t>
            </a:r>
            <a:r>
              <a:rPr lang="en-US" altLang="he-IL" sz="2800" baseline="-25000" dirty="0"/>
              <a:t>1</a:t>
            </a:r>
            <a:r>
              <a:rPr lang="en-US" altLang="he-IL" sz="2800" dirty="0"/>
              <a:t> – </a:t>
            </a:r>
            <a:r>
              <a:rPr lang="zh-CN" altLang="en-US" sz="2800" dirty="0"/>
              <a:t>最大麦穗</a:t>
            </a:r>
            <a:r>
              <a:rPr lang="en-US" altLang="he-IL" sz="2800" dirty="0"/>
              <a:t>.</a:t>
            </a:r>
          </a:p>
          <a:p>
            <a:pPr>
              <a:spcBef>
                <a:spcPct val="50000"/>
              </a:spcBef>
              <a:buNone/>
            </a:pPr>
            <a:r>
              <a:rPr lang="en-US" altLang="he-IL" sz="2800" dirty="0"/>
              <a:t>		</a:t>
            </a:r>
            <a:r>
              <a:rPr lang="en-US" altLang="he-IL" sz="2800" i="1" dirty="0"/>
              <a:t>Y</a:t>
            </a:r>
            <a:r>
              <a:rPr lang="en-US" altLang="he-IL" sz="2800" baseline="-25000" dirty="0"/>
              <a:t>2</a:t>
            </a:r>
            <a:r>
              <a:rPr lang="en-US" altLang="he-IL" sz="2800" dirty="0"/>
              <a:t> – </a:t>
            </a:r>
            <a:r>
              <a:rPr lang="zh-CN" altLang="en-US" sz="2800" dirty="0"/>
              <a:t>第二大麦穗</a:t>
            </a:r>
            <a:r>
              <a:rPr lang="en-US" altLang="he-IL" sz="2800" dirty="0"/>
              <a:t>.</a:t>
            </a:r>
          </a:p>
          <a:p>
            <a:r>
              <a:rPr lang="zh-CN" altLang="en-US" sz="2800" dirty="0"/>
              <a:t>观察概率树</a:t>
            </a:r>
            <a:endParaRPr lang="en-US" sz="2800" dirty="0"/>
          </a:p>
        </p:txBody>
      </p:sp>
      <p:sp>
        <p:nvSpPr>
          <p:cNvPr id="6" name="Line 3"/>
          <p:cNvSpPr>
            <a:spLocks noChangeShapeType="1"/>
          </p:cNvSpPr>
          <p:nvPr/>
        </p:nvSpPr>
        <p:spPr bwMode="auto">
          <a:xfrm flipH="1">
            <a:off x="3463925" y="3679825"/>
            <a:ext cx="11430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000"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7" name="Line 4"/>
          <p:cNvSpPr>
            <a:spLocks noChangeShapeType="1"/>
          </p:cNvSpPr>
          <p:nvPr/>
        </p:nvSpPr>
        <p:spPr bwMode="auto">
          <a:xfrm>
            <a:off x="4606925" y="3679825"/>
            <a:ext cx="685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000"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4987925" y="3756025"/>
            <a:ext cx="9556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e-IL" altLang="en-US" sz="200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1/2</a:t>
            </a:r>
          </a:p>
        </p:txBody>
      </p:sp>
      <p:sp>
        <p:nvSpPr>
          <p:cNvPr id="9" name="Line 7"/>
          <p:cNvSpPr>
            <a:spLocks noChangeShapeType="1"/>
          </p:cNvSpPr>
          <p:nvPr/>
        </p:nvSpPr>
        <p:spPr bwMode="auto">
          <a:xfrm>
            <a:off x="3463925" y="4518025"/>
            <a:ext cx="533400" cy="762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000"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0" name="Line 8"/>
          <p:cNvSpPr>
            <a:spLocks noChangeShapeType="1"/>
          </p:cNvSpPr>
          <p:nvPr/>
        </p:nvSpPr>
        <p:spPr bwMode="auto">
          <a:xfrm flipH="1">
            <a:off x="2778125" y="4518025"/>
            <a:ext cx="685800" cy="838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 sz="2000"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1" name="Text Box 9"/>
          <p:cNvSpPr txBox="1">
            <a:spLocks noChangeArrowheads="1"/>
          </p:cNvSpPr>
          <p:nvPr/>
        </p:nvSpPr>
        <p:spPr bwMode="auto">
          <a:xfrm>
            <a:off x="3733800" y="4533900"/>
            <a:ext cx="8382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e-IL" altLang="en-US" sz="200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1/2</a:t>
            </a:r>
          </a:p>
        </p:txBody>
      </p:sp>
      <p:sp>
        <p:nvSpPr>
          <p:cNvPr id="12" name="Text Box 10"/>
          <p:cNvSpPr txBox="1">
            <a:spLocks noChangeArrowheads="1"/>
          </p:cNvSpPr>
          <p:nvPr/>
        </p:nvSpPr>
        <p:spPr bwMode="auto">
          <a:xfrm>
            <a:off x="2549525" y="4610100"/>
            <a:ext cx="685800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e-IL" altLang="en-US" sz="200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1/2</a:t>
            </a:r>
          </a:p>
        </p:txBody>
      </p:sp>
      <p:sp>
        <p:nvSpPr>
          <p:cNvPr id="13" name="Text Box 11"/>
          <p:cNvSpPr txBox="1">
            <a:spLocks noChangeArrowheads="1"/>
          </p:cNvSpPr>
          <p:nvPr/>
        </p:nvSpPr>
        <p:spPr bwMode="auto">
          <a:xfrm>
            <a:off x="4572000" y="4441825"/>
            <a:ext cx="28606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he-IL" sz="2000" i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Y</a:t>
            </a:r>
            <a:r>
              <a:rPr lang="en-US" altLang="he-IL" sz="2000" baseline="-250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2</a:t>
            </a:r>
            <a:r>
              <a:rPr lang="en-US" altLang="he-IL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在后一半路程</a:t>
            </a:r>
            <a:endParaRPr lang="en-US" altLang="he-IL" sz="20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3540125" y="5280025"/>
            <a:ext cx="28606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he-IL" sz="2000" i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Y</a:t>
            </a:r>
            <a:r>
              <a:rPr lang="en-US" altLang="he-IL" sz="2000" i="1" baseline="-250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</a:t>
            </a:r>
            <a:r>
              <a:rPr lang="en-US" altLang="he-IL" sz="2000" i="1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</a:t>
            </a:r>
            <a:r>
              <a:rPr lang="zh-CN" altLang="en-US" sz="2000" dirty="0">
                <a:solidFill>
                  <a:srgbClr val="FF0000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在后一半路程</a:t>
            </a:r>
            <a:endParaRPr lang="en-US" altLang="he-IL" sz="2000" dirty="0">
              <a:solidFill>
                <a:srgbClr val="FF0000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5" name="Text Box 13"/>
          <p:cNvSpPr txBox="1">
            <a:spLocks noChangeArrowheads="1"/>
          </p:cNvSpPr>
          <p:nvPr/>
        </p:nvSpPr>
        <p:spPr bwMode="auto">
          <a:xfrm>
            <a:off x="1066800" y="5600700"/>
            <a:ext cx="239712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he-IL" sz="2000" i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Y</a:t>
            </a:r>
            <a:r>
              <a:rPr lang="en-US" altLang="he-IL" sz="2000" baseline="-250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</a:t>
            </a:r>
            <a:r>
              <a:rPr lang="en-US" altLang="he-IL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在前一半路程</a:t>
            </a:r>
            <a:endParaRPr lang="en-US" altLang="he-IL" sz="20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6" name="Text Box 14"/>
          <p:cNvSpPr txBox="1">
            <a:spLocks noChangeArrowheads="1"/>
          </p:cNvSpPr>
          <p:nvPr/>
        </p:nvSpPr>
        <p:spPr bwMode="auto">
          <a:xfrm>
            <a:off x="3575050" y="3681413"/>
            <a:ext cx="9556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he-IL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1/2</a:t>
            </a:r>
          </a:p>
        </p:txBody>
      </p:sp>
      <p:sp>
        <p:nvSpPr>
          <p:cNvPr id="17" name="Text Box 15"/>
          <p:cNvSpPr txBox="1">
            <a:spLocks noChangeArrowheads="1"/>
          </p:cNvSpPr>
          <p:nvPr/>
        </p:nvSpPr>
        <p:spPr bwMode="auto">
          <a:xfrm>
            <a:off x="1025525" y="4114800"/>
            <a:ext cx="2860675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he-IL" sz="2000" i="1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Y</a:t>
            </a:r>
            <a:r>
              <a:rPr lang="en-US" altLang="he-IL" sz="2000" baseline="-250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2</a:t>
            </a:r>
            <a:r>
              <a:rPr lang="en-US" altLang="he-IL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 </a:t>
            </a:r>
            <a:r>
              <a:rPr lang="zh-CN" altLang="en-US" sz="2000" dirty="0">
                <a:latin typeface="Microsoft YaHei" panose="020B0503020204020204" pitchFamily="34" charset="-122"/>
                <a:ea typeface="Microsoft YaHei" panose="020B0503020204020204" pitchFamily="34" charset="-122"/>
                <a:cs typeface="Microsoft YaHei" panose="020B0503020204020204" pitchFamily="34" charset="-122"/>
              </a:rPr>
              <a:t>在前一半路程</a:t>
            </a:r>
            <a:endParaRPr lang="en-US" altLang="he-IL" sz="2000" dirty="0">
              <a:latin typeface="Microsoft YaHei" panose="020B0503020204020204" pitchFamily="34" charset="-122"/>
              <a:ea typeface="Microsoft YaHei" panose="020B0503020204020204" pitchFamily="34" charset="-122"/>
              <a:cs typeface="Microsoft YaHei" panose="020B0503020204020204" pitchFamily="34" charset="-122"/>
            </a:endParaRPr>
          </a:p>
        </p:txBody>
      </p:sp>
      <p:sp>
        <p:nvSpPr>
          <p:cNvPr id="19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696075" y="6248400"/>
            <a:ext cx="2133600" cy="45720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  <a:t>9</a:t>
            </a:fld>
            <a:endParaRPr lang="en-US" altLang="zh-CN" dirty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摘麦穗问题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zh-CN" altLang="en-US" sz="2800" dirty="0">
                    <a:cs typeface="Times New Roman" panose="02020603050405020304" pitchFamily="18" charset="0"/>
                  </a:rPr>
                  <a:t>摘下最大的麦穗 </a:t>
                </a:r>
                <a:r>
                  <a:rPr lang="zh-CN" altLang="en-US" sz="2800" dirty="0">
                    <a:cs typeface="Times New Roman" panose="02020603050405020304" pitchFamily="18" charset="0"/>
                    <a:sym typeface="Wingdings" panose="05000000000000000000"/>
                  </a:rPr>
                  <a:t> </a:t>
                </a:r>
                <a:r>
                  <a:rPr lang="zh-CN" altLang="en-US" sz="2800" dirty="0">
                    <a:cs typeface="Times New Roman" panose="02020603050405020304" pitchFamily="18" charset="0"/>
                  </a:rPr>
                  <a:t>第二大麦穗在前一半路程且最大麦穗在后一半路程</a:t>
                </a:r>
                <a:endParaRPr lang="en-US" altLang="zh-CN" sz="2800" dirty="0">
                  <a:cs typeface="Times New Roman" panose="02020603050405020304" pitchFamily="18" charset="0"/>
                </a:endParaRPr>
              </a:p>
              <a:p>
                <a:pPr lvl="1"/>
                <a:r>
                  <a:rPr lang="zh-CN" altLang="en-US" sz="2400" dirty="0">
                    <a:cs typeface="Times New Roman" panose="02020603050405020304" pitchFamily="18" charset="0"/>
                  </a:rPr>
                  <a:t>如果这样，我们在前一半路程记下第二大麦穗，在后一半路程选择更大的麦穗，摘下最大麦穗</a:t>
                </a:r>
                <a:endParaRPr lang="en-US" altLang="zh-CN" sz="2400" dirty="0">
                  <a:cs typeface="Times New Roman" panose="02020603050405020304" pitchFamily="18" charset="0"/>
                </a:endParaRPr>
              </a:p>
              <a:p>
                <a:r>
                  <a:rPr lang="zh-CN" altLang="en-US" sz="2800" dirty="0">
                    <a:cs typeface="Times New Roman" panose="02020603050405020304" pitchFamily="18" charset="0"/>
                  </a:rPr>
                  <a:t>发生的概率：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MS Gothic" panose="020B0609070205080204" charset="-128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MS Gothic" panose="020B0609070205080204" charset="-128"/>
                            <a:cs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×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sz="2800" i="1">
                            <a:latin typeface="Cambria Math" panose="02040503050406030204" pitchFamily="18" charset="0"/>
                            <a:ea typeface="Cambria Math" panose="02040503050406030204" pitchFamily="18" charset="0"/>
                            <a:cs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=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25</m:t>
                    </m:r>
                    <m:r>
                      <a:rPr lang="en-US" altLang="zh-CN" sz="2800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Cambria Math" panose="02040503050406030204" pitchFamily="18" charset="0"/>
                      </a:rPr>
                      <m:t>%</m:t>
                    </m:r>
                  </m:oMath>
                </a14:m>
                <a:endParaRPr lang="en-US" sz="2800" dirty="0"/>
              </a:p>
              <a:p>
                <a:r>
                  <a:rPr lang="zh-CN" altLang="en-US" sz="2800" dirty="0"/>
                  <a:t>思考：</a:t>
                </a:r>
                <a:r>
                  <a:rPr lang="en-US" altLang="en-US" sz="2800" dirty="0"/>
                  <a:t>分析得是否准确，</a:t>
                </a:r>
                <a:r>
                  <a:rPr lang="zh-CN" altLang="en-US" sz="2800" dirty="0"/>
                  <a:t>是否还可以提高？</a:t>
                </a:r>
                <a:endParaRPr lang="en-US" sz="2800" dirty="0"/>
              </a:p>
              <a:p>
                <a:endParaRPr lang="en-US" sz="280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true" noChangeAspect="true" noMove="true" noResize="true" noEditPoints="true" noAdjustHandles="true" noChangeArrowheads="true" noChangeShapeType="true" noTextEdit="true"/>
              </p:cNvSpPr>
              <p:nvPr>
                <p:ph idx="1"/>
              </p:nvPr>
            </p:nvSpPr>
            <p:spPr>
              <a:blipFill rotWithShape="true">
                <a:blip r:embed="rId2"/>
                <a:stretch>
                  <a:fillRect t="-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Group 6"/>
          <p:cNvGrpSpPr/>
          <p:nvPr/>
        </p:nvGrpSpPr>
        <p:grpSpPr>
          <a:xfrm>
            <a:off x="1367644" y="3969060"/>
            <a:ext cx="5844516" cy="996439"/>
            <a:chOff x="1100138" y="2540574"/>
            <a:chExt cx="5844516" cy="996439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138" y="3002239"/>
              <a:ext cx="276976" cy="498770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0799" y="3056245"/>
              <a:ext cx="216995" cy="390758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1460" y="3002239"/>
              <a:ext cx="276976" cy="49877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2121" y="3092249"/>
              <a:ext cx="177008" cy="318750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2782" y="2966235"/>
              <a:ext cx="316964" cy="570778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3443" y="3056245"/>
              <a:ext cx="216995" cy="390758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4104" y="3002239"/>
              <a:ext cx="276976" cy="498770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4765" y="2966235"/>
              <a:ext cx="316964" cy="570778"/>
            </a:xfrm>
            <a:prstGeom prst="rect">
              <a:avLst/>
            </a:prstGeom>
          </p:spPr>
        </p:pic>
        <p:pic>
          <p:nvPicPr>
            <p:cNvPr id="16" name="Picture 1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85428" y="3002239"/>
              <a:ext cx="276976" cy="498770"/>
            </a:xfrm>
            <a:prstGeom prst="rect">
              <a:avLst/>
            </a:prstGeom>
          </p:spPr>
        </p:pic>
        <p:sp>
          <p:nvSpPr>
            <p:cNvPr id="17" name="TextBox 16"/>
            <p:cNvSpPr txBox="1"/>
            <p:nvPr/>
          </p:nvSpPr>
          <p:spPr>
            <a:xfrm>
              <a:off x="3800438" y="2540574"/>
              <a:ext cx="314421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5400" dirty="0">
                  <a:solidFill>
                    <a:srgbClr val="DD5100"/>
                  </a:solidFill>
                </a:rPr>
                <a:t>…………</a:t>
              </a:r>
              <a:endParaRPr lang="en-US" sz="5400" dirty="0">
                <a:solidFill>
                  <a:srgbClr val="DD5100"/>
                </a:solidFill>
              </a:endParaRPr>
            </a:p>
          </p:txBody>
        </p:sp>
      </p:grpSp>
      <p:sp>
        <p:nvSpPr>
          <p:cNvPr id="18" name="Oval 17"/>
          <p:cNvSpPr/>
          <p:nvPr/>
        </p:nvSpPr>
        <p:spPr>
          <a:xfrm>
            <a:off x="5291234" y="4505992"/>
            <a:ext cx="252000" cy="252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696075" y="6248400"/>
            <a:ext cx="2133600" cy="45720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  <a:t>10</a:t>
            </a:fld>
            <a:endParaRPr lang="en-US" altLang="zh-CN" dirty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概率是多少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>
                <a:cs typeface="Times New Roman" panose="02020603050405020304" pitchFamily="18" charset="0"/>
              </a:rPr>
              <a:t>边走边观察前 </a:t>
            </a:r>
            <a:r>
              <a:rPr lang="en-US" altLang="en-US" i="1" dirty="0">
                <a:cs typeface="Times New Roman" panose="02020603050405020304" pitchFamily="18" charset="0"/>
              </a:rPr>
              <a:t>r</a:t>
            </a:r>
            <a:r>
              <a:rPr lang="en-US" altLang="en-US" dirty="0">
                <a:cs typeface="Times New Roman" panose="02020603050405020304" pitchFamily="18" charset="0"/>
              </a:rPr>
              <a:t>-1 只麦穗</a:t>
            </a:r>
            <a:r>
              <a:rPr lang="zh-CN" altLang="en-US" dirty="0">
                <a:cs typeface="Times New Roman" panose="02020603050405020304" pitchFamily="18" charset="0"/>
              </a:rPr>
              <a:t>，记下最大</a:t>
            </a:r>
            <a:r>
              <a:rPr lang="en-US" altLang="en-US" dirty="0">
                <a:cs typeface="Times New Roman" panose="02020603050405020304" pitchFamily="18" charset="0"/>
              </a:rPr>
              <a:t>的</a:t>
            </a:r>
            <a:r>
              <a:rPr lang="zh-CN" altLang="en-US" dirty="0">
                <a:cs typeface="Times New Roman" panose="02020603050405020304" pitchFamily="18" charset="0"/>
              </a:rPr>
              <a:t>，</a:t>
            </a:r>
            <a:r>
              <a:rPr lang="en-US" altLang="en-US" dirty="0">
                <a:cs typeface="Times New Roman" panose="02020603050405020304" pitchFamily="18" charset="0"/>
              </a:rPr>
              <a:t>从第 </a:t>
            </a:r>
            <a:r>
              <a:rPr lang="en-US" altLang="en-US" i="1" dirty="0">
                <a:cs typeface="Times New Roman" panose="02020603050405020304" pitchFamily="18" charset="0"/>
              </a:rPr>
              <a:t>r</a:t>
            </a:r>
            <a:r>
              <a:rPr lang="en-US" altLang="en-US" dirty="0">
                <a:cs typeface="Times New Roman" panose="02020603050405020304" pitchFamily="18" charset="0"/>
              </a:rPr>
              <a:t> 只麦穗开始</a:t>
            </a:r>
            <a:r>
              <a:rPr lang="zh-CN" altLang="en-US" dirty="0">
                <a:cs typeface="Times New Roman" panose="02020603050405020304" pitchFamily="18" charset="0"/>
              </a:rPr>
              <a:t>，摘下第一个更大的麦穗</a:t>
            </a:r>
            <a:r>
              <a:rPr lang="en-US" altLang="en-US" dirty="0">
                <a:cs typeface="Times New Roman" panose="02020603050405020304" pitchFamily="18" charset="0"/>
              </a:rPr>
              <a:t>。</a:t>
            </a:r>
          </a:p>
          <a:p>
            <a:r>
              <a:rPr lang="en-US" altLang="en-US" dirty="0"/>
              <a:t>问：摘下的是最大麦穗的概率是多少？</a:t>
            </a:r>
            <a:endParaRPr lang="en-US" dirty="0"/>
          </a:p>
        </p:txBody>
      </p:sp>
      <p:grpSp>
        <p:nvGrpSpPr>
          <p:cNvPr id="19" name="Group 18"/>
          <p:cNvGrpSpPr/>
          <p:nvPr/>
        </p:nvGrpSpPr>
        <p:grpSpPr>
          <a:xfrm>
            <a:off x="1259632" y="3248980"/>
            <a:ext cx="5844516" cy="996439"/>
            <a:chOff x="1100138" y="2540574"/>
            <a:chExt cx="5844516" cy="996439"/>
          </a:xfrm>
        </p:grpSpPr>
        <p:pic>
          <p:nvPicPr>
            <p:cNvPr id="20" name="Picture 19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138" y="3002239"/>
              <a:ext cx="276976" cy="498770"/>
            </a:xfrm>
            <a:prstGeom prst="rect">
              <a:avLst/>
            </a:prstGeom>
          </p:spPr>
        </p:pic>
        <p:pic>
          <p:nvPicPr>
            <p:cNvPr id="21" name="Picture 20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0799" y="3056245"/>
              <a:ext cx="216995" cy="390758"/>
            </a:xfrm>
            <a:prstGeom prst="rect">
              <a:avLst/>
            </a:prstGeom>
          </p:spPr>
        </p:pic>
        <p:pic>
          <p:nvPicPr>
            <p:cNvPr id="22" name="Picture 21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1460" y="3002239"/>
              <a:ext cx="276976" cy="498770"/>
            </a:xfrm>
            <a:prstGeom prst="rect">
              <a:avLst/>
            </a:prstGeom>
          </p:spPr>
        </p:pic>
        <p:pic>
          <p:nvPicPr>
            <p:cNvPr id="23" name="Picture 22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2121" y="3092249"/>
              <a:ext cx="177008" cy="318750"/>
            </a:xfrm>
            <a:prstGeom prst="rect">
              <a:avLst/>
            </a:prstGeom>
          </p:spPr>
        </p:pic>
        <p:pic>
          <p:nvPicPr>
            <p:cNvPr id="24" name="Picture 23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2782" y="2966235"/>
              <a:ext cx="316964" cy="570778"/>
            </a:xfrm>
            <a:prstGeom prst="rect">
              <a:avLst/>
            </a:prstGeom>
          </p:spPr>
        </p:pic>
        <p:pic>
          <p:nvPicPr>
            <p:cNvPr id="25" name="Picture 2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3443" y="3056245"/>
              <a:ext cx="216995" cy="390758"/>
            </a:xfrm>
            <a:prstGeom prst="rect">
              <a:avLst/>
            </a:prstGeom>
          </p:spPr>
        </p:pic>
        <p:pic>
          <p:nvPicPr>
            <p:cNvPr id="26" name="Picture 25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4104" y="3002239"/>
              <a:ext cx="276976" cy="498770"/>
            </a:xfrm>
            <a:prstGeom prst="rect">
              <a:avLst/>
            </a:prstGeom>
          </p:spPr>
        </p:pic>
        <p:pic>
          <p:nvPicPr>
            <p:cNvPr id="27" name="Picture 26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4765" y="2966235"/>
              <a:ext cx="316964" cy="570778"/>
            </a:xfrm>
            <a:prstGeom prst="rect">
              <a:avLst/>
            </a:prstGeom>
          </p:spPr>
        </p:pic>
        <p:pic>
          <p:nvPicPr>
            <p:cNvPr id="28" name="Picture 27"/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85428" y="3002239"/>
              <a:ext cx="276976" cy="498770"/>
            </a:xfrm>
            <a:prstGeom prst="rect">
              <a:avLst/>
            </a:prstGeom>
          </p:spPr>
        </p:pic>
        <p:sp>
          <p:nvSpPr>
            <p:cNvPr id="29" name="TextBox 28"/>
            <p:cNvSpPr txBox="1"/>
            <p:nvPr/>
          </p:nvSpPr>
          <p:spPr>
            <a:xfrm>
              <a:off x="3800438" y="2540574"/>
              <a:ext cx="314421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5400" dirty="0">
                  <a:solidFill>
                    <a:srgbClr val="DD5100"/>
                  </a:solidFill>
                </a:rPr>
                <a:t>…………</a:t>
              </a:r>
              <a:endParaRPr lang="en-US" sz="5400" dirty="0">
                <a:solidFill>
                  <a:srgbClr val="DD5100"/>
                </a:solidFill>
              </a:endParaRPr>
            </a:p>
          </p:txBody>
        </p:sp>
      </p:grpSp>
      <p:sp>
        <p:nvSpPr>
          <p:cNvPr id="30" name="Left Brace 29"/>
          <p:cNvSpPr/>
          <p:nvPr/>
        </p:nvSpPr>
        <p:spPr>
          <a:xfrm rot="5400000">
            <a:off x="2399240" y="2154467"/>
            <a:ext cx="360041" cy="2608299"/>
          </a:xfrm>
          <a:prstGeom prst="leftBrace">
            <a:avLst>
              <a:gd name="adj1" fmla="val 19246"/>
              <a:gd name="adj2" fmla="val 43034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/>
          <p:cNvSpPr txBox="1"/>
          <p:nvPr/>
        </p:nvSpPr>
        <p:spPr>
          <a:xfrm>
            <a:off x="2064060" y="2931912"/>
            <a:ext cx="1096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前 </a:t>
            </a:r>
            <a:r>
              <a:rPr lang="en-US" altLang="en-US" i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-1 只</a:t>
            </a:r>
            <a:endParaRPr lang="en-US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4048693" y="3934739"/>
            <a:ext cx="303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i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r</a:t>
            </a:r>
            <a:endParaRPr lang="en-US" i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960360" y="3960030"/>
            <a:ext cx="303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i="1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</a:t>
            </a:r>
            <a:endParaRPr lang="en-US" i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39" name="Oval 38"/>
          <p:cNvSpPr/>
          <p:nvPr/>
        </p:nvSpPr>
        <p:spPr>
          <a:xfrm>
            <a:off x="4932040" y="3813399"/>
            <a:ext cx="252000" cy="252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696075" y="6248400"/>
            <a:ext cx="2133600" cy="45720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  <a:t>11</a:t>
            </a:fld>
            <a:endParaRPr lang="en-US" altLang="zh-CN" dirty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概率计算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观察前 </a:t>
            </a:r>
            <a:r>
              <a:rPr lang="en-US" altLang="en-US" i="1" dirty="0"/>
              <a:t>r</a:t>
            </a:r>
            <a:r>
              <a:rPr lang="en-US" altLang="en-US" dirty="0"/>
              <a:t>-1 只麦穗后摘下最大麦穗的概率</a:t>
            </a:r>
            <a:r>
              <a:rPr lang="en-US" altLang="en-US" i="1" dirty="0" err="1"/>
              <a:t>P</a:t>
            </a:r>
            <a:r>
              <a:rPr lang="en-US" altLang="en-US" i="1" baseline="-25000" dirty="0" err="1"/>
              <a:t>r</a:t>
            </a:r>
            <a:r>
              <a:rPr lang="en-US" altLang="en-US" dirty="0"/>
              <a:t> </a:t>
            </a:r>
            <a:endParaRPr lang="en-US" dirty="0"/>
          </a:p>
        </p:txBody>
      </p:sp>
      <p:grpSp>
        <p:nvGrpSpPr>
          <p:cNvPr id="30" name="Group 29"/>
          <p:cNvGrpSpPr/>
          <p:nvPr/>
        </p:nvGrpSpPr>
        <p:grpSpPr>
          <a:xfrm>
            <a:off x="1100138" y="2540574"/>
            <a:ext cx="5844516" cy="996439"/>
            <a:chOff x="1100138" y="2540574"/>
            <a:chExt cx="5844516" cy="996439"/>
          </a:xfrm>
        </p:grpSpPr>
        <p:pic>
          <p:nvPicPr>
            <p:cNvPr id="7" name="Picture 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100138" y="3002239"/>
              <a:ext cx="276976" cy="498770"/>
            </a:xfrm>
            <a:prstGeom prst="rect">
              <a:avLst/>
            </a:prstGeom>
          </p:spPr>
        </p:pic>
        <p:pic>
          <p:nvPicPr>
            <p:cNvPr id="8" name="Picture 7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10799" y="3056245"/>
              <a:ext cx="216995" cy="390758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21460" y="3002239"/>
              <a:ext cx="276976" cy="498770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32121" y="3092249"/>
              <a:ext cx="177008" cy="318750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342782" y="2966235"/>
              <a:ext cx="316964" cy="570778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653443" y="3056245"/>
              <a:ext cx="216995" cy="390758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64104" y="3002239"/>
              <a:ext cx="276976" cy="498770"/>
            </a:xfrm>
            <a:prstGeom prst="rect">
              <a:avLst/>
            </a:prstGeom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274765" y="2966235"/>
              <a:ext cx="316964" cy="570778"/>
            </a:xfrm>
            <a:prstGeom prst="rect">
              <a:avLst/>
            </a:prstGeom>
          </p:spPr>
        </p:pic>
        <p:pic>
          <p:nvPicPr>
            <p:cNvPr id="15" name="Picture 14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585428" y="3002239"/>
              <a:ext cx="276976" cy="498770"/>
            </a:xfrm>
            <a:prstGeom prst="rect">
              <a:avLst/>
            </a:prstGeom>
          </p:spPr>
        </p:pic>
        <p:sp>
          <p:nvSpPr>
            <p:cNvPr id="16" name="TextBox 15"/>
            <p:cNvSpPr txBox="1"/>
            <p:nvPr/>
          </p:nvSpPr>
          <p:spPr>
            <a:xfrm>
              <a:off x="3800438" y="2540574"/>
              <a:ext cx="3144216" cy="9233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en-US" sz="5400" dirty="0">
                  <a:solidFill>
                    <a:srgbClr val="DD5100"/>
                  </a:solidFill>
                </a:rPr>
                <a:t>…………</a:t>
              </a:r>
              <a:endParaRPr lang="en-US" sz="5400" dirty="0">
                <a:solidFill>
                  <a:srgbClr val="DD5100"/>
                </a:solidFill>
              </a:endParaRPr>
            </a:p>
          </p:txBody>
        </p:sp>
      </p:grpSp>
      <p:sp>
        <p:nvSpPr>
          <p:cNvPr id="17" name="Left Brace 16"/>
          <p:cNvSpPr/>
          <p:nvPr/>
        </p:nvSpPr>
        <p:spPr>
          <a:xfrm rot="5400000">
            <a:off x="2239746" y="1446061"/>
            <a:ext cx="360041" cy="2608299"/>
          </a:xfrm>
          <a:prstGeom prst="leftBrace">
            <a:avLst>
              <a:gd name="adj1" fmla="val 19246"/>
              <a:gd name="adj2" fmla="val 43034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TextBox 17"/>
          <p:cNvSpPr txBox="1"/>
          <p:nvPr/>
        </p:nvSpPr>
        <p:spPr>
          <a:xfrm>
            <a:off x="1904566" y="2223506"/>
            <a:ext cx="1096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前 </a:t>
            </a:r>
            <a:r>
              <a:rPr lang="en-US" altLang="en-US" i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r</a:t>
            </a:r>
            <a:r>
              <a:rPr lang="en-US" alt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-1 只</a:t>
            </a:r>
            <a:endParaRPr lang="en-US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096184" y="3736542"/>
            <a:ext cx="8298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第2大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889199" y="3226333"/>
            <a:ext cx="303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i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r</a:t>
            </a:r>
            <a:endParaRPr lang="en-US" i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800866" y="3251624"/>
            <a:ext cx="303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i="1" dirty="0" err="1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</a:t>
            </a:r>
            <a:endParaRPr lang="en-US" i="1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2" name="Left Brace 21"/>
          <p:cNvSpPr/>
          <p:nvPr/>
        </p:nvSpPr>
        <p:spPr>
          <a:xfrm rot="5400000">
            <a:off x="2686975" y="885533"/>
            <a:ext cx="478206" cy="3620925"/>
          </a:xfrm>
          <a:prstGeom prst="leftBrace">
            <a:avLst>
              <a:gd name="adj1" fmla="val 19246"/>
              <a:gd name="adj2" fmla="val 24400"/>
            </a:avLst>
          </a:prstGeom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3403028" y="2145585"/>
            <a:ext cx="10960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前 </a:t>
            </a:r>
            <a:r>
              <a:rPr lang="en-US" altLang="en-US" i="1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en-US" dirty="0"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-1 只</a:t>
            </a:r>
            <a:endParaRPr lang="en-US" dirty="0"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cxnSp>
        <p:nvCxnSpPr>
          <p:cNvPr id="24" name="Straight Arrow Connector 23"/>
          <p:cNvCxnSpPr>
            <a:stCxn id="22" idx="0"/>
          </p:cNvCxnSpPr>
          <p:nvPr/>
        </p:nvCxnSpPr>
        <p:spPr>
          <a:xfrm flipH="1" flipV="1">
            <a:off x="2461807" y="3437250"/>
            <a:ext cx="49324" cy="299292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4945250" y="2811327"/>
            <a:ext cx="367769" cy="30981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189555" y="2498008"/>
            <a:ext cx="1219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摘下第</a:t>
            </a:r>
            <a:r>
              <a:rPr lang="en-US" altLang="en-US" dirty="0" err="1">
                <a:solidFill>
                  <a:srgbClr val="FF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i</a:t>
            </a:r>
            <a:r>
              <a:rPr lang="en-US" altLang="en-US" dirty="0">
                <a:solidFill>
                  <a:srgbClr val="FF0000"/>
                </a:solidFill>
                <a:latin typeface="Times New Roman" panose="02020603050405020304" pitchFamily="18" charset="0"/>
                <a:ea typeface="Microsoft YaHei" panose="020B0503020204020204" pitchFamily="34" charset="-122"/>
                <a:cs typeface="Times New Roman" panose="02020603050405020304" pitchFamily="18" charset="0"/>
              </a:rPr>
              <a:t>只</a:t>
            </a:r>
            <a:endParaRPr lang="en-US" dirty="0">
              <a:solidFill>
                <a:srgbClr val="FF0000"/>
              </a:solidFill>
              <a:latin typeface="Times New Roman" panose="02020603050405020304" pitchFamily="18" charset="0"/>
              <a:ea typeface="Microsoft YaHei" panose="020B0503020204020204" pitchFamily="34" charset="-122"/>
              <a:cs typeface="Times New Roman" panose="02020603050405020304" pitchFamily="18" charset="0"/>
            </a:endParaRPr>
          </a:p>
        </p:txBody>
      </p:sp>
      <p:sp>
        <p:nvSpPr>
          <p:cNvPr id="27" name="Oval 26"/>
          <p:cNvSpPr/>
          <p:nvPr/>
        </p:nvSpPr>
        <p:spPr>
          <a:xfrm>
            <a:off x="4772546" y="3104993"/>
            <a:ext cx="252000" cy="252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Oval 27"/>
          <p:cNvSpPr/>
          <p:nvPr/>
        </p:nvSpPr>
        <p:spPr>
          <a:xfrm>
            <a:off x="2280751" y="3100549"/>
            <a:ext cx="324000" cy="324000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9" name="TextBox 28"/>
              <p:cNvSpPr txBox="1"/>
              <p:nvPr/>
            </p:nvSpPr>
            <p:spPr>
              <a:xfrm>
                <a:off x="1820218" y="4109548"/>
                <a:ext cx="5039350" cy="160479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righ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sSubPr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</m:sSub>
                      <m:r>
                        <a:rPr lang="en-US" altLang="en-US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</m:nary>
                      <m:r>
                        <a:rPr lang="en-US" altLang="en-US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  <m:t>选</m:t>
                              </m:r>
                              <m:r>
                                <a:rPr lang="en-US" altLang="en-US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  <m:t>中</m:t>
                              </m:r>
                              <m:r>
                                <a:rPr lang="en-US" altLang="en-US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  <m:t>第</m:t>
                              </m:r>
                              <m:r>
                                <a:rPr lang="en-US" altLang="en-US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en-US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  <m:t>只</m:t>
                              </m:r>
                            </m:e>
                          </m:d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  <m:t>×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en-US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  <m:t>第</m:t>
                              </m:r>
                              <m:r>
                                <a:rPr lang="en-US" altLang="en-US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en-US" i="1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  <m:t>只</m:t>
                              </m:r>
                              <m:r>
                                <a:rPr lang="en-US" altLang="en-US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  <m:t>最大</m:t>
                              </m:r>
                            </m:e>
                          </m:d>
                        </m:e>
                      </m:nary>
                      <m:r>
                        <a:rPr lang="en-US" altLang="en-US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  <m:t>𝑟</m:t>
                              </m:r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den>
                          </m:f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  <m:t>×</m:t>
                          </m:r>
                          <m:f>
                            <m:f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  <m:r>
                        <a:rPr lang="en-US" altLang="en-US" b="0" i="1" smtClean="0">
                          <a:latin typeface="Cambria Math" panose="02040503050406030204" pitchFamily="18" charset="0"/>
                          <a:ea typeface="Microsoft YaHei" panose="020B0503020204020204" pitchFamily="34" charset="-122"/>
                          <a:cs typeface="Times New Roman" panose="020206030504050203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fPr>
                        <m:num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  <m:t>−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den>
                      </m:f>
                      <m:nary>
                        <m:naryPr>
                          <m:chr m:val="∑"/>
                          <m:ctrlP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</m:ctrlPr>
                        </m:naryPr>
                        <m:sub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  <m:t>𝑖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  <m:t>=</m:t>
                          </m:r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  <m:t>𝑟</m:t>
                          </m:r>
                        </m:sub>
                        <m:sup>
                          <m:r>
                            <a:rPr lang="en-US" altLang="en-US" b="0" i="1" smtClean="0">
                              <a:latin typeface="Cambria Math" panose="02040503050406030204" pitchFamily="18" charset="0"/>
                              <a:ea typeface="Microsoft YaHei" panose="020B0503020204020204" pitchFamily="34" charset="-122"/>
                              <a:cs typeface="Times New Roman" panose="02020603050405020304" pitchFamily="18" charset="0"/>
                            </a:rPr>
                            <m:t>𝑛</m:t>
                          </m:r>
                        </m:sup>
                        <m:e>
                          <m:f>
                            <m:fPr>
                              <m:ctrlPr>
                                <a:rPr lang="en-US" altLang="en-US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  <m:t>𝑖</m:t>
                              </m:r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  <m:t>−</m:t>
                              </m:r>
                              <m:r>
                                <a:rPr lang="en-US" altLang="en-US" b="0" i="1" smtClean="0">
                                  <a:latin typeface="Cambria Math" panose="02040503050406030204" pitchFamily="18" charset="0"/>
                                  <a:ea typeface="Microsoft YaHei" panose="020B0503020204020204" pitchFamily="34" charset="-122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dirty="0">
                  <a:latin typeface="Times New Roman" panose="02020603050405020304" pitchFamily="18" charset="0"/>
                  <a:ea typeface="Microsoft YaHei" panose="020B0503020204020204" pitchFamily="34" charset="-122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29" name="TextBox 28"/>
              <p:cNvSpPr txBox="true"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1820218" y="4109548"/>
                <a:ext cx="5039350" cy="1604798"/>
              </a:xfrm>
              <a:prstGeom prst="rect">
                <a:avLst/>
              </a:prstGeom>
              <a:blipFill rotWithShape="true">
                <a:blip r:embed="rId7"/>
                <a:stretch>
                  <a:fillRect l="-6" t="-29" r="6" b="38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1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696075" y="6248400"/>
            <a:ext cx="2133600" cy="45720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  <a:t>12</a:t>
            </a:fld>
            <a:endParaRPr lang="en-US" altLang="zh-CN" dirty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牛寻路问题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有一条很长很长的栅栏，栅栏上只有一个缺口</a:t>
            </a:r>
            <a:endParaRPr lang="en-US" altLang="zh-CN" dirty="0"/>
          </a:p>
          <a:p>
            <a:r>
              <a:rPr lang="zh-CN" altLang="en-US" dirty="0"/>
              <a:t>一头牛想从缺口穿过栅栏，但是牛不知道缺口在哪</a:t>
            </a:r>
            <a:endParaRPr lang="en-US" dirty="0"/>
          </a:p>
          <a:p>
            <a:r>
              <a:rPr lang="zh-CN" altLang="en-US" dirty="0"/>
              <a:t>这头牛如何快速找到缺口位置？</a:t>
            </a:r>
            <a:endParaRPr lang="en-US" dirty="0"/>
          </a:p>
          <a:p>
            <a:endParaRPr lang="en-US" dirty="0"/>
          </a:p>
        </p:txBody>
      </p:sp>
      <p:grpSp>
        <p:nvGrpSpPr>
          <p:cNvPr id="14" name="Group 13"/>
          <p:cNvGrpSpPr/>
          <p:nvPr/>
        </p:nvGrpSpPr>
        <p:grpSpPr>
          <a:xfrm>
            <a:off x="251520" y="4207021"/>
            <a:ext cx="8568952" cy="770151"/>
            <a:chOff x="251520" y="4135013"/>
            <a:chExt cx="8568952" cy="770151"/>
          </a:xfrm>
        </p:grpSpPr>
        <p:pic>
          <p:nvPicPr>
            <p:cNvPr id="8" name="Picture 7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25" t="27951" r="9051" b="26900"/>
            <a:stretch>
              <a:fillRect/>
            </a:stretch>
          </p:blipFill>
          <p:spPr>
            <a:xfrm>
              <a:off x="3311860" y="4135013"/>
              <a:ext cx="1404156" cy="769156"/>
            </a:xfrm>
            <a:prstGeom prst="rect">
              <a:avLst/>
            </a:prstGeom>
          </p:spPr>
        </p:pic>
        <p:pic>
          <p:nvPicPr>
            <p:cNvPr id="9" name="Picture 8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25" t="27951" r="9051" b="26900"/>
            <a:stretch>
              <a:fillRect/>
            </a:stretch>
          </p:blipFill>
          <p:spPr>
            <a:xfrm>
              <a:off x="4715820" y="4135013"/>
              <a:ext cx="1404156" cy="769156"/>
            </a:xfrm>
            <a:prstGeom prst="rect">
              <a:avLst/>
            </a:prstGeom>
          </p:spPr>
        </p:pic>
        <p:pic>
          <p:nvPicPr>
            <p:cNvPr id="10" name="Picture 9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25" t="27951" r="9051" b="26900"/>
            <a:stretch>
              <a:fillRect/>
            </a:stretch>
          </p:blipFill>
          <p:spPr>
            <a:xfrm>
              <a:off x="6110665" y="4135013"/>
              <a:ext cx="1404156" cy="769156"/>
            </a:xfrm>
            <a:prstGeom prst="rect">
              <a:avLst/>
            </a:prstGeom>
          </p:spPr>
        </p:pic>
        <p:pic>
          <p:nvPicPr>
            <p:cNvPr id="11" name="Picture 10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25" t="27951" r="9051" b="26900"/>
            <a:stretch>
              <a:fillRect/>
            </a:stretch>
          </p:blipFill>
          <p:spPr>
            <a:xfrm>
              <a:off x="7416316" y="4136008"/>
              <a:ext cx="1404156" cy="769156"/>
            </a:xfrm>
            <a:prstGeom prst="rect">
              <a:avLst/>
            </a:prstGeom>
          </p:spPr>
        </p:pic>
        <p:pic>
          <p:nvPicPr>
            <p:cNvPr id="12" name="Picture 11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25" t="27951" r="9051" b="26900"/>
            <a:stretch>
              <a:fillRect/>
            </a:stretch>
          </p:blipFill>
          <p:spPr>
            <a:xfrm>
              <a:off x="251520" y="4135013"/>
              <a:ext cx="1404156" cy="769156"/>
            </a:xfrm>
            <a:prstGeom prst="rect">
              <a:avLst/>
            </a:prstGeom>
          </p:spPr>
        </p:pic>
        <p:pic>
          <p:nvPicPr>
            <p:cNvPr id="13" name="Picture 12"/>
            <p:cNvPicPr>
              <a:picLocks noChangeAspect="1"/>
            </p:cNvPicPr>
            <p:nvPr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8525" t="27951" r="9051" b="26900"/>
            <a:stretch>
              <a:fillRect/>
            </a:stretch>
          </p:blipFill>
          <p:spPr>
            <a:xfrm>
              <a:off x="1439652" y="4135013"/>
              <a:ext cx="1404156" cy="769156"/>
            </a:xfrm>
            <a:prstGeom prst="rect">
              <a:avLst/>
            </a:prstGeom>
          </p:spPr>
        </p:pic>
      </p:grp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2167" b="97000" l="438" r="98248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3068" y="4207021"/>
            <a:ext cx="1149316" cy="100915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7126660" y="3861048"/>
            <a:ext cx="75770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000" b="1" dirty="0">
                <a:solidFill>
                  <a:srgbClr val="FF0000"/>
                </a:solidFill>
                <a:latin typeface="SimHei" panose="02010609060101010101" pitchFamily="49" charset="-122"/>
                <a:ea typeface="SimHei" panose="02010609060101010101" pitchFamily="49" charset="-122"/>
              </a:rPr>
              <a:t>？？</a:t>
            </a:r>
            <a:endParaRPr lang="en-US" sz="2000" b="1" dirty="0">
              <a:solidFill>
                <a:srgbClr val="FF0000"/>
              </a:solidFill>
              <a:latin typeface="SimHei" panose="02010609060101010101" pitchFamily="49" charset="-122"/>
              <a:ea typeface="SimHei" panose="02010609060101010101" pitchFamily="49" charset="-122"/>
            </a:endParaRPr>
          </a:p>
        </p:txBody>
      </p:sp>
      <p:sp>
        <p:nvSpPr>
          <p:cNvPr id="18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696075" y="6248400"/>
            <a:ext cx="2133600" cy="45720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  <a:t>13</a:t>
            </a:fld>
            <a:endParaRPr lang="en-US" altLang="zh-CN" dirty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牛寻路问题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令</a:t>
            </a:r>
            <a:r>
              <a:rPr lang="en-US" dirty="0"/>
              <a:t> </a:t>
            </a:r>
            <a:r>
              <a:rPr lang="en-US" i="1" dirty="0">
                <a:solidFill>
                  <a:srgbClr val="C00000"/>
                </a:solidFill>
              </a:rPr>
              <a:t>d</a:t>
            </a:r>
            <a:r>
              <a:rPr lang="en-US" dirty="0"/>
              <a:t>=1,</a:t>
            </a:r>
            <a:r>
              <a:rPr lang="en-US" dirty="0">
                <a:solidFill>
                  <a:srgbClr val="C00000"/>
                </a:solidFill>
              </a:rPr>
              <a:t>side</a:t>
            </a:r>
            <a:r>
              <a:rPr lang="en-US" dirty="0"/>
              <a:t>=Right</a:t>
            </a:r>
            <a:r>
              <a:rPr lang="zh-CN" altLang="en-US" dirty="0"/>
              <a:t>表示牛将向右走</a:t>
            </a:r>
            <a:r>
              <a:rPr lang="en-US" altLang="zh-CN" i="1" dirty="0"/>
              <a:t>d</a:t>
            </a:r>
            <a:r>
              <a:rPr lang="en-US" altLang="zh-CN" dirty="0"/>
              <a:t>=1</a:t>
            </a:r>
            <a:r>
              <a:rPr lang="zh-CN" altLang="en-US" dirty="0"/>
              <a:t>距离 </a:t>
            </a:r>
            <a:endParaRPr lang="en-US" dirty="0"/>
          </a:p>
          <a:p>
            <a:r>
              <a:rPr lang="en-US" dirty="0"/>
              <a:t>Repeat until </a:t>
            </a:r>
            <a:r>
              <a:rPr lang="zh-CN" altLang="en-US" dirty="0"/>
              <a:t>找到缺口</a:t>
            </a:r>
            <a:r>
              <a:rPr lang="en-US" dirty="0"/>
              <a:t>:</a:t>
            </a:r>
          </a:p>
          <a:p>
            <a:pPr lvl="1"/>
            <a:r>
              <a:rPr lang="zh-CN" altLang="en-US" dirty="0"/>
              <a:t>向</a:t>
            </a:r>
            <a:r>
              <a:rPr lang="en-US" altLang="zh-CN" i="1" dirty="0">
                <a:solidFill>
                  <a:srgbClr val="C00000"/>
                </a:solidFill>
              </a:rPr>
              <a:t>side</a:t>
            </a:r>
            <a:r>
              <a:rPr lang="zh-CN" altLang="en-US" dirty="0"/>
              <a:t>方向走</a:t>
            </a:r>
            <a:r>
              <a:rPr lang="en-US" dirty="0"/>
              <a:t> </a:t>
            </a:r>
            <a:r>
              <a:rPr lang="en-US" i="1" dirty="0">
                <a:solidFill>
                  <a:srgbClr val="C00000"/>
                </a:solidFill>
              </a:rPr>
              <a:t>d</a:t>
            </a:r>
            <a:r>
              <a:rPr lang="en-US" dirty="0"/>
              <a:t> </a:t>
            </a:r>
            <a:r>
              <a:rPr lang="zh-CN" altLang="en-US" dirty="0"/>
              <a:t>距离</a:t>
            </a:r>
            <a:endParaRPr lang="en-US" altLang="zh-CN" dirty="0"/>
          </a:p>
          <a:p>
            <a:pPr lvl="1"/>
            <a:r>
              <a:rPr lang="zh-CN" altLang="en-US" dirty="0">
                <a:solidFill>
                  <a:schemeClr val="bg2"/>
                </a:solidFill>
              </a:rPr>
              <a:t>若发现缺口：则终止</a:t>
            </a:r>
            <a:endParaRPr lang="en-US" dirty="0">
              <a:solidFill>
                <a:schemeClr val="bg2"/>
              </a:solidFill>
            </a:endParaRPr>
          </a:p>
          <a:p>
            <a:pPr lvl="1"/>
            <a:r>
              <a:rPr lang="zh-CN" altLang="en-US" dirty="0"/>
              <a:t>若没有发现缺口：回到原点，</a:t>
            </a:r>
            <a:r>
              <a:rPr lang="zh-CN" altLang="en-US" dirty="0">
                <a:solidFill>
                  <a:schemeClr val="bg2"/>
                </a:solidFill>
              </a:rPr>
              <a:t>令</a:t>
            </a:r>
            <a:r>
              <a:rPr lang="en-US" altLang="zh-CN" i="1" dirty="0">
                <a:solidFill>
                  <a:srgbClr val="C00000"/>
                </a:solidFill>
              </a:rPr>
              <a:t>d =2* d</a:t>
            </a:r>
            <a:r>
              <a:rPr lang="zh-CN" altLang="en-US" i="1" dirty="0">
                <a:solidFill>
                  <a:srgbClr val="C00000"/>
                </a:solidFill>
              </a:rPr>
              <a:t>，</a:t>
            </a:r>
            <a:r>
              <a:rPr lang="en-US" altLang="zh-CN" i="1" dirty="0">
                <a:solidFill>
                  <a:srgbClr val="C00000"/>
                </a:solidFill>
              </a:rPr>
              <a:t>side</a:t>
            </a:r>
            <a:r>
              <a:rPr lang="zh-CN" altLang="en-US" dirty="0">
                <a:solidFill>
                  <a:schemeClr val="bg2"/>
                </a:solidFill>
              </a:rPr>
              <a:t>设为相反方向</a:t>
            </a:r>
            <a:endParaRPr lang="en-US" dirty="0">
              <a:solidFill>
                <a:schemeClr val="bg2"/>
              </a:solidFill>
            </a:endParaRPr>
          </a:p>
          <a:p>
            <a:endParaRPr lang="en-US" dirty="0"/>
          </a:p>
        </p:txBody>
      </p:sp>
      <p:sp>
        <p:nvSpPr>
          <p:cNvPr id="7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696075" y="6248400"/>
            <a:ext cx="2133600" cy="45720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  <a:t>14</a:t>
            </a:fld>
            <a:endParaRPr lang="en-US" altLang="zh-CN" dirty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牛寻路问题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什么时候最坏情况发生</a:t>
            </a:r>
            <a:r>
              <a:rPr lang="en-US" dirty="0"/>
              <a:t>?</a:t>
            </a:r>
          </a:p>
          <a:p>
            <a:r>
              <a:rPr lang="zh-CN" altLang="en-US" dirty="0"/>
              <a:t>当差一点点</a:t>
            </a:r>
            <a:r>
              <a:rPr lang="en-US" altLang="zh-CN" dirty="0"/>
              <a:t>(</a:t>
            </a:r>
            <a:r>
              <a:rPr lang="zh-CN" altLang="en-US" dirty="0"/>
              <a:t>比如差</a:t>
            </a:r>
            <a:r>
              <a:rPr lang="el-GR" altLang="zh-CN" dirty="0">
                <a:solidFill>
                  <a:srgbClr val="C00000"/>
                </a:solidFill>
              </a:rPr>
              <a:t>ε</a:t>
            </a:r>
            <a:r>
              <a:rPr lang="zh-CN" altLang="en-US" dirty="0"/>
              <a:t>距离</a:t>
            </a:r>
            <a:r>
              <a:rPr lang="en-US" altLang="zh-CN" dirty="0"/>
              <a:t>)</a:t>
            </a:r>
            <a:r>
              <a:rPr lang="zh-CN" altLang="en-US" dirty="0"/>
              <a:t>就到达缺口了，但是此时刚调转方向时发生最坏情况。</a:t>
            </a:r>
            <a:endParaRPr lang="en-US" dirty="0"/>
          </a:p>
          <a:p>
            <a:r>
              <a:rPr lang="zh-CN" altLang="en-US" dirty="0"/>
              <a:t>令进行了</a:t>
            </a:r>
            <a:r>
              <a:rPr lang="en-US" altLang="zh-CN" dirty="0" err="1"/>
              <a:t>i</a:t>
            </a:r>
            <a:r>
              <a:rPr lang="zh-CN" altLang="en-US" dirty="0"/>
              <a:t>次</a:t>
            </a:r>
            <a:r>
              <a:rPr lang="en-US" altLang="zh-CN" dirty="0"/>
              <a:t>d</a:t>
            </a:r>
            <a:r>
              <a:rPr lang="zh-CN" altLang="en-US" dirty="0"/>
              <a:t>翻倍，最优解仅仅需要走</a:t>
            </a:r>
            <a:r>
              <a:rPr lang="en-US" altLang="zh-CN" dirty="0">
                <a:solidFill>
                  <a:srgbClr val="C00000"/>
                </a:solidFill>
              </a:rPr>
              <a:t>2</a:t>
            </a:r>
            <a:r>
              <a:rPr lang="en-US" altLang="zh-CN" i="1" baseline="30000" dirty="0">
                <a:solidFill>
                  <a:srgbClr val="C00000"/>
                </a:solidFill>
              </a:rPr>
              <a:t>i</a:t>
            </a:r>
            <a:r>
              <a:rPr lang="en-US" altLang="zh-CN" dirty="0">
                <a:solidFill>
                  <a:srgbClr val="C00000"/>
                </a:solidFill>
              </a:rPr>
              <a:t>+</a:t>
            </a:r>
            <a:r>
              <a:rPr lang="el-GR" altLang="zh-CN" dirty="0">
                <a:solidFill>
                  <a:srgbClr val="C00000"/>
                </a:solidFill>
              </a:rPr>
              <a:t>ε </a:t>
            </a:r>
            <a:r>
              <a:rPr lang="zh-CN" altLang="en-US" dirty="0"/>
              <a:t>就找到缺口</a:t>
            </a:r>
            <a:endParaRPr lang="en-US" dirty="0"/>
          </a:p>
        </p:txBody>
      </p:sp>
      <p:sp>
        <p:nvSpPr>
          <p:cNvPr id="7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696075" y="6248400"/>
            <a:ext cx="2133600" cy="45720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  <a:t>15</a:t>
            </a:fld>
            <a:endParaRPr lang="en-US" altLang="zh-CN" dirty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/>
              <a:t>牛寻路问题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但是在线算法需要走过的距离为：</a:t>
            </a:r>
            <a:endParaRPr lang="en-US" dirty="0"/>
          </a:p>
          <a:p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7704" y="1916832"/>
            <a:ext cx="4364929" cy="3524622"/>
          </a:xfrm>
          <a:prstGeom prst="rect">
            <a:avLst/>
          </a:prstGeom>
        </p:spPr>
      </p:pic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696075" y="6248400"/>
            <a:ext cx="2133600" cy="45720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  <a:t>16</a:t>
            </a:fld>
            <a:endParaRPr lang="en-US" altLang="zh-CN" dirty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滑雪橇租赁问题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寒假，班长带我们全班同学去雪山滑雪，可以一直玩到冰雪融化。山上有个划雪橇店，</a:t>
            </a:r>
            <a:r>
              <a:rPr lang="zh-CN" altLang="en-US" dirty="0">
                <a:solidFill>
                  <a:srgbClr val="C00000"/>
                </a:solidFill>
              </a:rPr>
              <a:t>租雪橇一天</a:t>
            </a:r>
            <a:r>
              <a:rPr lang="en-US" altLang="zh-CN" dirty="0">
                <a:solidFill>
                  <a:srgbClr val="C00000"/>
                </a:solidFill>
              </a:rPr>
              <a:t>1</a:t>
            </a:r>
            <a:r>
              <a:rPr lang="zh-CN" altLang="en-US" dirty="0">
                <a:solidFill>
                  <a:srgbClr val="C00000"/>
                </a:solidFill>
              </a:rPr>
              <a:t>块钱</a:t>
            </a:r>
            <a:r>
              <a:rPr lang="zh-CN" altLang="en-US" dirty="0"/>
              <a:t>，</a:t>
            </a:r>
            <a:r>
              <a:rPr lang="zh-CN" altLang="en-US" dirty="0">
                <a:solidFill>
                  <a:srgbClr val="C00000"/>
                </a:solidFill>
              </a:rPr>
              <a:t>买要</a:t>
            </a:r>
            <a:r>
              <a:rPr lang="en-US" altLang="zh-CN" dirty="0">
                <a:solidFill>
                  <a:srgbClr val="C00000"/>
                </a:solidFill>
              </a:rPr>
              <a:t>T</a:t>
            </a:r>
            <a:r>
              <a:rPr lang="zh-CN" altLang="en-US" dirty="0">
                <a:solidFill>
                  <a:srgbClr val="C00000"/>
                </a:solidFill>
              </a:rPr>
              <a:t>块钱</a:t>
            </a:r>
            <a:r>
              <a:rPr lang="zh-CN" altLang="en-US" dirty="0"/>
              <a:t>。你不知道什么时候雪融化，每天早晨你决定租还是买。</a:t>
            </a:r>
            <a:endParaRPr lang="en-US" altLang="zh-CN" dirty="0"/>
          </a:p>
          <a:p>
            <a:r>
              <a:rPr lang="zh-CN" altLang="en-US" dirty="0"/>
              <a:t>问：如何决策支出最小？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63788" y="3717032"/>
            <a:ext cx="3204356" cy="2596633"/>
          </a:xfrm>
          <a:prstGeom prst="rect">
            <a:avLst/>
          </a:prstGeom>
        </p:spPr>
      </p:pic>
      <p:sp>
        <p:nvSpPr>
          <p:cNvPr id="9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696075" y="6248400"/>
            <a:ext cx="2133600" cy="45720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  <a:t>17</a:t>
            </a:fld>
            <a:endParaRPr lang="en-US" altLang="zh-CN" dirty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滑雪橇租赁问题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-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算法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离线算法：一开始就知道哪一天雪融化</a:t>
            </a:r>
            <a:endParaRPr lang="en-US" altLang="zh-CN" dirty="0"/>
          </a:p>
          <a:p>
            <a:pPr lvl="1"/>
            <a:r>
              <a:rPr lang="zh-CN" altLang="en-US" dirty="0"/>
              <a:t>如果剩余天数</a:t>
            </a:r>
            <a:r>
              <a:rPr lang="en-US" altLang="zh-CN" dirty="0"/>
              <a:t>&lt;T</a:t>
            </a:r>
            <a:r>
              <a:rPr lang="zh-CN" altLang="en-US" dirty="0"/>
              <a:t>，每天租；</a:t>
            </a:r>
            <a:endParaRPr lang="en-US" altLang="zh-CN" dirty="0"/>
          </a:p>
          <a:p>
            <a:pPr lvl="1"/>
            <a:r>
              <a:rPr lang="zh-CN" altLang="en-US" dirty="0"/>
              <a:t>否则，一开始就买</a:t>
            </a:r>
            <a:endParaRPr lang="en-US" altLang="zh-CN" dirty="0"/>
          </a:p>
          <a:p>
            <a:pPr lvl="1"/>
            <a:endParaRPr lang="en-US" altLang="zh-CN" dirty="0"/>
          </a:p>
          <a:p>
            <a:r>
              <a:rPr lang="zh-CN" altLang="en-US" dirty="0"/>
              <a:t>在线算法</a:t>
            </a:r>
            <a:endParaRPr lang="en-US" altLang="zh-CN" dirty="0"/>
          </a:p>
          <a:p>
            <a:pPr lvl="1"/>
            <a:r>
              <a:rPr lang="zh-CN" altLang="en-US" dirty="0"/>
              <a:t>在前</a:t>
            </a:r>
            <a:r>
              <a:rPr lang="en-US" altLang="zh-CN" dirty="0"/>
              <a:t>k</a:t>
            </a:r>
            <a:r>
              <a:rPr lang="zh-CN" altLang="en-US" dirty="0"/>
              <a:t>天租雪橇，第</a:t>
            </a:r>
            <a:r>
              <a:rPr lang="en-US" altLang="zh-CN" dirty="0"/>
              <a:t>k+1</a:t>
            </a:r>
            <a:r>
              <a:rPr lang="zh-CN" altLang="en-US" dirty="0"/>
              <a:t>天买下雪橇</a:t>
            </a:r>
            <a:endParaRPr lang="en-US" altLang="zh-CN" dirty="0"/>
          </a:p>
          <a:p>
            <a:pPr lvl="1"/>
            <a:r>
              <a:rPr lang="zh-CN" altLang="en-US" dirty="0"/>
              <a:t>需要确定</a:t>
            </a:r>
            <a:r>
              <a:rPr lang="en-US" altLang="zh-CN" dirty="0"/>
              <a:t>k</a:t>
            </a:r>
            <a:r>
              <a:rPr lang="zh-CN" altLang="en-US" dirty="0"/>
              <a:t>的大小，使得开支最小</a:t>
            </a:r>
            <a:endParaRPr lang="en-US" altLang="zh-CN" dirty="0"/>
          </a:p>
        </p:txBody>
      </p:sp>
      <p:sp>
        <p:nvSpPr>
          <p:cNvPr id="7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696075" y="6248400"/>
            <a:ext cx="2133600" cy="45720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  <a:t>18</a:t>
            </a:fld>
            <a:endParaRPr lang="en-US" altLang="zh-CN" dirty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滑雪橇租赁问题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-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在线算法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土豪在线算法</a:t>
            </a:r>
            <a:endParaRPr lang="en-US" altLang="zh-CN" dirty="0"/>
          </a:p>
          <a:p>
            <a:pPr lvl="1"/>
            <a:r>
              <a:rPr lang="zh-CN" altLang="en-US" dirty="0"/>
              <a:t>第一天就买划雪橇</a:t>
            </a:r>
            <a:endParaRPr lang="en-US" altLang="zh-CN" dirty="0"/>
          </a:p>
          <a:p>
            <a:r>
              <a:rPr lang="zh-CN" altLang="en-US" b="1" dirty="0"/>
              <a:t>结论</a:t>
            </a:r>
            <a:r>
              <a:rPr lang="zh-CN" altLang="en-US" dirty="0"/>
              <a:t>：该策略具有</a:t>
            </a:r>
            <a:r>
              <a:rPr lang="en-US" altLang="he-IL" i="1" dirty="0">
                <a:cs typeface="Times New Roman" panose="02020603050405020304" pitchFamily="18" charset="0"/>
              </a:rPr>
              <a:t>T-Competitive</a:t>
            </a:r>
            <a:endParaRPr lang="en-US" dirty="0"/>
          </a:p>
        </p:txBody>
      </p:sp>
      <p:sp>
        <p:nvSpPr>
          <p:cNvPr id="7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696075" y="6248400"/>
            <a:ext cx="2133600" cy="45720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  <a:t>19</a:t>
            </a:fld>
            <a:endParaRPr lang="en-US" altLang="zh-CN" dirty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滑雪橇租赁问题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-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在线算法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假设</a:t>
                </a:r>
                <a:r>
                  <a:rPr lang="en-US" altLang="zh-CN" dirty="0"/>
                  <a:t>L</a:t>
                </a:r>
                <a:r>
                  <a:rPr lang="zh-CN" altLang="en-US" dirty="0"/>
                  <a:t>天后雪融化</a:t>
                </a:r>
                <a:endParaRPr lang="en-US" altLang="zh-CN" dirty="0"/>
              </a:p>
              <a:p>
                <a:r>
                  <a:rPr lang="zh-CN" altLang="en-US" dirty="0"/>
                  <a:t>当</a:t>
                </a:r>
                <a:r>
                  <a:rPr lang="en-US" altLang="zh-CN" dirty="0"/>
                  <a:t>L=1</a:t>
                </a:r>
                <a:r>
                  <a:rPr lang="zh-CN" altLang="en-US" dirty="0"/>
                  <a:t>时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最优离线算法</a:t>
                </a:r>
                <a:r>
                  <a:rPr lang="en-US" altLang="zh-CN" dirty="0"/>
                  <a:t>C</a:t>
                </a:r>
                <a:r>
                  <a:rPr lang="en-US" altLang="zh-CN" baseline="-25000" dirty="0"/>
                  <a:t>OPT</a:t>
                </a:r>
                <a:r>
                  <a:rPr lang="en-US" altLang="zh-CN" dirty="0"/>
                  <a:t>(1)=1</a:t>
                </a:r>
              </a:p>
              <a:p>
                <a:pPr lvl="1"/>
                <a:r>
                  <a:rPr lang="zh-CN" altLang="en-US" dirty="0"/>
                  <a:t>土豪在线算法</a:t>
                </a:r>
                <a:r>
                  <a:rPr lang="en-US" altLang="zh-CN" dirty="0"/>
                  <a:t>C</a:t>
                </a:r>
                <a:r>
                  <a:rPr lang="en-US" altLang="zh-CN" baseline="-25000" dirty="0"/>
                  <a:t>ON </a:t>
                </a:r>
                <a:r>
                  <a:rPr lang="en-US" altLang="zh-CN" dirty="0"/>
                  <a:t>(1)=T</a:t>
                </a:r>
              </a:p>
              <a:p>
                <a:r>
                  <a:rPr lang="zh-CN" altLang="en-US" dirty="0"/>
                  <a:t>这是最坏情况，因为</a:t>
                </a:r>
                <a:r>
                  <a:rPr lang="en-US" altLang="zh-CN" dirty="0"/>
                  <a:t>L&gt;1</a:t>
                </a:r>
                <a:r>
                  <a:rPr lang="zh-CN" altLang="en-US" dirty="0"/>
                  <a:t>时</a:t>
                </a:r>
                <a:endParaRPr lang="en-US" altLang="zh-CN" dirty="0"/>
              </a:p>
              <a:p>
                <a:pPr lvl="1"/>
                <a:r>
                  <a:rPr lang="en-US" altLang="zh-CN" dirty="0"/>
                  <a:t>C</a:t>
                </a:r>
                <a:r>
                  <a:rPr lang="en-US" altLang="zh-CN" baseline="-25000" dirty="0"/>
                  <a:t>OPT</a:t>
                </a:r>
                <a:r>
                  <a:rPr lang="en-US" altLang="zh-CN" dirty="0"/>
                  <a:t>(k)&gt;1</a:t>
                </a:r>
                <a:r>
                  <a:rPr lang="zh-CN" altLang="en-US" dirty="0"/>
                  <a:t> 而 </a:t>
                </a:r>
                <a:r>
                  <a:rPr lang="en-US" altLang="zh-CN" dirty="0"/>
                  <a:t>C</a:t>
                </a:r>
                <a:r>
                  <a:rPr lang="en-US" altLang="zh-CN" baseline="-25000" dirty="0"/>
                  <a:t>ON </a:t>
                </a:r>
                <a:r>
                  <a:rPr lang="en-US" altLang="zh-CN" dirty="0"/>
                  <a:t>(k)=T</a:t>
                </a:r>
              </a:p>
              <a:p>
                <a:r>
                  <a:rPr lang="zh-CN" altLang="en-US" dirty="0"/>
                  <a:t>所以，我们有</a:t>
                </a:r>
                <a:endParaRPr lang="en-US" altLang="zh-CN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∀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𝑂𝑁</m:t>
                          </m:r>
                        </m:sub>
                      </m:sSub>
                      <m:d>
                        <m:d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𝑘</m:t>
                          </m:r>
                        </m:e>
                      </m:d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𝑇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  <a:cs typeface="Cambria Math" panose="02040503050406030204" pitchFamily="18" charset="0"/>
                        </a:rPr>
                        <m:t>∙</m:t>
                      </m:r>
                      <m:sSub>
                        <m:sSubPr>
                          <m:ctrlP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e>
                        <m:sub>
                          <m:r>
                            <a:rPr lang="en-US" altLang="zh-CN" b="0" i="1" smtClean="0">
                              <a:latin typeface="Cambria Math" panose="02040503050406030204" pitchFamily="18" charset="0"/>
                            </a:rPr>
                            <m:t>𝑂𝑃𝑇</m:t>
                          </m:r>
                        </m:sub>
                      </m:sSub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𝑘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altLang="zh-CN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true" noChangeAspect="true" noMove="true" noResize="true" noEditPoints="true" noAdjustHandles="true" noChangeArrowheads="true" noChangeShapeType="true" noTextEdit="true"/>
              </p:cNvSpPr>
              <p:nvPr>
                <p:ph idx="1"/>
              </p:nvPr>
            </p:nvSpPr>
            <p:spPr>
              <a:blipFill rotWithShape="true">
                <a:blip r:embed="rId2"/>
                <a:stretch>
                  <a:fillRect t="-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696075" y="6248400"/>
            <a:ext cx="2133600" cy="45720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  <a:t>20</a:t>
            </a:fld>
            <a:endParaRPr lang="en-US" altLang="zh-CN" dirty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滑雪橇租赁问题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-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在线</a:t>
            </a:r>
            <a:r>
              <a:rPr lang="en-US" altLang="en-US" dirty="0">
                <a:latin typeface="Arial" panose="020B0604020202020204" pitchFamily="34" charset="0"/>
                <a:ea typeface="黑体" panose="02010609060101010101" pitchFamily="49" charset="-122"/>
              </a:rPr>
              <a:t>策略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租滑雪橇直到第</a:t>
            </a:r>
            <a:r>
              <a:rPr lang="en-US" altLang="zh-CN" dirty="0"/>
              <a:t>T+1</a:t>
            </a:r>
            <a:r>
              <a:rPr lang="zh-CN" altLang="en-US" dirty="0"/>
              <a:t>天，买下雪橇</a:t>
            </a:r>
            <a:endParaRPr lang="en-US" altLang="zh-CN" dirty="0"/>
          </a:p>
          <a:p>
            <a:r>
              <a:rPr lang="zh-CN" altLang="en-US" b="1" dirty="0"/>
              <a:t>结论</a:t>
            </a:r>
            <a:r>
              <a:rPr lang="zh-CN" altLang="en-US" dirty="0"/>
              <a:t>：该策略具有</a:t>
            </a:r>
            <a:r>
              <a:rPr lang="en-US" altLang="zh-CN" dirty="0"/>
              <a:t>2</a:t>
            </a:r>
            <a:r>
              <a:rPr lang="en-US" altLang="he-IL" i="1" dirty="0">
                <a:cs typeface="Times New Roman" panose="02020603050405020304" pitchFamily="18" charset="0"/>
              </a:rPr>
              <a:t>-Competitive</a:t>
            </a:r>
            <a:endParaRPr lang="en-US" dirty="0"/>
          </a:p>
          <a:p>
            <a:endParaRPr lang="en-US" dirty="0"/>
          </a:p>
        </p:txBody>
      </p:sp>
      <p:sp>
        <p:nvSpPr>
          <p:cNvPr id="7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696075" y="6248400"/>
            <a:ext cx="2133600" cy="45720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  <a:t>21</a:t>
            </a:fld>
            <a:endParaRPr lang="en-US" altLang="zh-CN" dirty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滑雪橇租赁问题</a:t>
            </a:r>
            <a:r>
              <a:rPr lang="en-US" altLang="zh-CN" dirty="0">
                <a:latin typeface="Arial" panose="020B0604020202020204" pitchFamily="34" charset="0"/>
                <a:ea typeface="黑体" panose="02010609060101010101" pitchFamily="49" charset="-122"/>
              </a:rPr>
              <a:t>-</a:t>
            </a:r>
            <a:r>
              <a:rPr lang="zh-CN" altLang="en-US" dirty="0">
                <a:latin typeface="Arial" panose="020B0604020202020204" pitchFamily="34" charset="0"/>
                <a:ea typeface="黑体" panose="02010609060101010101" pitchFamily="49" charset="-122"/>
              </a:rPr>
              <a:t>在线</a:t>
            </a:r>
            <a:r>
              <a:rPr lang="en-US" altLang="en-US" dirty="0">
                <a:latin typeface="Arial" panose="020B0604020202020204" pitchFamily="34" charset="0"/>
                <a:ea typeface="黑体" panose="02010609060101010101" pitchFamily="49" charset="-122"/>
              </a:rPr>
              <a:t>策略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zh-CN" altLang="en-US" dirty="0"/>
              <a:t>在第</a:t>
            </a:r>
            <a:r>
              <a:rPr lang="en-US" altLang="zh-CN" dirty="0"/>
              <a:t>T+1</a:t>
            </a:r>
            <a:r>
              <a:rPr lang="zh-CN" altLang="en-US" dirty="0"/>
              <a:t>天买下雪橇具有</a:t>
            </a:r>
            <a:r>
              <a:rPr lang="en-US" altLang="zh-CN" dirty="0"/>
              <a:t>2</a:t>
            </a:r>
            <a:r>
              <a:rPr lang="zh-CN" altLang="en-US" dirty="0"/>
              <a:t>倍</a:t>
            </a:r>
            <a:r>
              <a:rPr lang="zh-CN" altLang="en-US" dirty="0">
                <a:cs typeface="Times New Roman" panose="02020603050405020304" pitchFamily="18" charset="0"/>
              </a:rPr>
              <a:t>竞争比</a:t>
            </a:r>
            <a:endParaRPr lang="en-US" altLang="zh-CN" dirty="0">
              <a:cs typeface="Times New Roman" panose="02020603050405020304" pitchFamily="18" charset="0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r>
              <a:rPr lang="zh-CN" altLang="en-US" dirty="0"/>
              <a:t>证明：</a:t>
            </a:r>
            <a:r>
              <a:rPr lang="en-US" altLang="zh-CN" dirty="0"/>
              <a:t>	</a:t>
            </a:r>
            <a:r>
              <a:rPr lang="en-US" altLang="he-IL" sz="2000" b="1" i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 &lt; T:</a:t>
            </a:r>
            <a:r>
              <a:rPr lang="en-US" altLang="he-IL" sz="2000" i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en-US" sz="2000" i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</a:t>
            </a:r>
            <a:r>
              <a:rPr lang="en-US" altLang="he-IL" sz="2000" i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he-IL" sz="2000" i="1" baseline="-25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ON</a:t>
            </a:r>
            <a:r>
              <a:rPr lang="en-US" altLang="he-IL" sz="2000" i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= C</a:t>
            </a:r>
            <a:r>
              <a:rPr lang="en-US" altLang="he-IL" sz="2000" i="1" baseline="-25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OPT</a:t>
            </a:r>
            <a:r>
              <a:rPr lang="en-US" altLang="he-IL" sz="2000" i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he-IL" sz="2000" i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		</a:t>
            </a:r>
            <a:r>
              <a:rPr lang="en-US" altLang="he-IL" sz="2000" b="1" i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L    T:</a:t>
            </a:r>
            <a:r>
              <a:rPr lang="zh-CN" altLang="en-US" sz="2000" i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    </a:t>
            </a:r>
            <a:r>
              <a:rPr lang="en-US" altLang="he-IL" sz="2000" i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he-IL" sz="2000" i="1" baseline="-25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ON</a:t>
            </a:r>
            <a:r>
              <a:rPr lang="en-US" altLang="he-IL" sz="2000" i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= 2T </a:t>
            </a:r>
            <a:endParaRPr lang="en-US" altLang="he-IL" sz="20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0" lvl="0" indent="0" eaLnBrk="1" hangingPunct="1">
              <a:spcBef>
                <a:spcPct val="50000"/>
              </a:spcBef>
              <a:buNone/>
            </a:pPr>
            <a:r>
              <a:rPr lang="en-US" altLang="he-IL" sz="2000" i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			 </a:t>
            </a:r>
            <a:r>
              <a:rPr lang="zh-CN" altLang="en-US" sz="2000" i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 </a:t>
            </a:r>
            <a:r>
              <a:rPr lang="en-US" altLang="he-IL" sz="2000" i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C</a:t>
            </a:r>
            <a:r>
              <a:rPr lang="en-US" altLang="he-IL" sz="2000" i="1" baseline="-25000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OPT</a:t>
            </a:r>
            <a:r>
              <a:rPr lang="en-US" altLang="he-IL" sz="2000" i="1" dirty="0">
                <a:solidFill>
                  <a:prstClr val="black"/>
                </a:solidFill>
                <a:latin typeface="Arial" panose="020B0604020202020204" pitchFamily="34" charset="0"/>
                <a:ea typeface="宋体" panose="02010600030101010101" pitchFamily="2" charset="-122"/>
                <a:cs typeface="Times New Roman" panose="02020603050405020304" pitchFamily="18" charset="0"/>
              </a:rPr>
              <a:t> = T</a:t>
            </a:r>
            <a:endParaRPr lang="en-US" altLang="he-IL" sz="2000" dirty="0">
              <a:solidFill>
                <a:prstClr val="black"/>
              </a:solidFill>
              <a:latin typeface="Arial" panose="020B0604020202020204" pitchFamily="34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342900" lvl="1" indent="-342900">
              <a:buFont typeface="Arial" panose="020B0604020202020204" pitchFamily="34" charset="0"/>
              <a:buChar char="•"/>
            </a:pPr>
            <a:endParaRPr lang="en-US" altLang="zh-CN" dirty="0"/>
          </a:p>
        </p:txBody>
      </p:sp>
      <p:graphicFrame>
        <p:nvGraphicFramePr>
          <p:cNvPr id="6" name="Object 3"/>
          <p:cNvGraphicFramePr>
            <a:graphicFrameLocks noChangeAspect="1"/>
          </p:cNvGraphicFramePr>
          <p:nvPr/>
        </p:nvGraphicFramePr>
        <p:xfrm>
          <a:off x="2555776" y="2276872"/>
          <a:ext cx="271463" cy="336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4300" imgH="139700" progId="Equation.3">
                  <p:embed/>
                </p:oleObj>
              </mc:Choice>
              <mc:Fallback>
                <p:oleObj name="Equation" r:id="rId2" imgW="114300" imgH="139700" progId="Equation.3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55776" y="2276872"/>
                        <a:ext cx="271463" cy="336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AutoShape 4"/>
          <p:cNvSpPr>
            <a:spLocks noChangeArrowheads="1"/>
          </p:cNvSpPr>
          <p:nvPr/>
        </p:nvSpPr>
        <p:spPr bwMode="auto">
          <a:xfrm rot="5400000">
            <a:off x="3867311" y="3408387"/>
            <a:ext cx="648866" cy="472480"/>
          </a:xfrm>
          <a:custGeom>
            <a:avLst/>
            <a:gdLst>
              <a:gd name="G0" fmla="+- 16200 0 0"/>
              <a:gd name="G1" fmla="+- 5400 0 0"/>
              <a:gd name="G2" fmla="+- 21600 0 5400"/>
              <a:gd name="G3" fmla="+- 10800 0 5400"/>
              <a:gd name="G4" fmla="+- 21600 0 16200"/>
              <a:gd name="G5" fmla="*/ G4 G3 10800"/>
              <a:gd name="G6" fmla="+- 21600 0 G5"/>
              <a:gd name="T0" fmla="*/ 16200 w 21600"/>
              <a:gd name="T1" fmla="*/ 0 h 21600"/>
              <a:gd name="T2" fmla="*/ 0 w 21600"/>
              <a:gd name="T3" fmla="*/ 10800 h 21600"/>
              <a:gd name="T4" fmla="*/ 16200 w 21600"/>
              <a:gd name="T5" fmla="*/ 21600 h 21600"/>
              <a:gd name="T6" fmla="*/ 21600 w 21600"/>
              <a:gd name="T7" fmla="*/ 10800 h 21600"/>
              <a:gd name="T8" fmla="*/ 17694720 60000 65536"/>
              <a:gd name="T9" fmla="*/ 11796480 60000 65536"/>
              <a:gd name="T10" fmla="*/ 5898240 60000 65536"/>
              <a:gd name="T11" fmla="*/ 0 60000 65536"/>
              <a:gd name="T12" fmla="*/ 3375 w 21600"/>
              <a:gd name="T13" fmla="*/ G1 h 21600"/>
              <a:gd name="T14" fmla="*/ G6 w 21600"/>
              <a:gd name="T15" fmla="*/ G2 h 21600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600" h="21600">
                <a:moveTo>
                  <a:pt x="16200" y="0"/>
                </a:moveTo>
                <a:lnTo>
                  <a:pt x="16200" y="5400"/>
                </a:lnTo>
                <a:lnTo>
                  <a:pt x="3375" y="5400"/>
                </a:lnTo>
                <a:lnTo>
                  <a:pt x="3375" y="16200"/>
                </a:lnTo>
                <a:lnTo>
                  <a:pt x="16200" y="16200"/>
                </a:lnTo>
                <a:lnTo>
                  <a:pt x="16200" y="21600"/>
                </a:lnTo>
                <a:lnTo>
                  <a:pt x="21600" y="10800"/>
                </a:lnTo>
                <a:close/>
              </a:path>
              <a:path w="21600" h="21600">
                <a:moveTo>
                  <a:pt x="1350" y="5400"/>
                </a:moveTo>
                <a:lnTo>
                  <a:pt x="1350" y="16200"/>
                </a:lnTo>
                <a:lnTo>
                  <a:pt x="2700" y="16200"/>
                </a:lnTo>
                <a:lnTo>
                  <a:pt x="2700" y="5400"/>
                </a:lnTo>
                <a:close/>
              </a:path>
              <a:path w="21600" h="21600">
                <a:moveTo>
                  <a:pt x="0" y="5400"/>
                </a:moveTo>
                <a:lnTo>
                  <a:pt x="0" y="16200"/>
                </a:lnTo>
                <a:lnTo>
                  <a:pt x="675" y="16200"/>
                </a:lnTo>
                <a:lnTo>
                  <a:pt x="675" y="5400"/>
                </a:lnTo>
                <a:close/>
              </a:path>
            </a:pathLst>
          </a:custGeom>
          <a:noFill/>
          <a:ln w="9525">
            <a:solidFill>
              <a:schemeClr val="tx1"/>
            </a:solidFill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en-US"/>
          </a:p>
        </p:txBody>
      </p:sp>
      <p:graphicFrame>
        <p:nvGraphicFramePr>
          <p:cNvPr id="8" name="Object 5"/>
          <p:cNvGraphicFramePr>
            <a:graphicFrameLocks noChangeAspect="1"/>
          </p:cNvGraphicFramePr>
          <p:nvPr/>
        </p:nvGraphicFramePr>
        <p:xfrm>
          <a:off x="2350089" y="4172376"/>
          <a:ext cx="3857625" cy="696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13865" imgH="317500" progId="Equation.3">
                  <p:embed/>
                </p:oleObj>
              </mc:Choice>
              <mc:Fallback>
                <p:oleObj name="Equation" r:id="rId4" imgW="1713865" imgH="317500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50089" y="4172376"/>
                        <a:ext cx="3857625" cy="696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blurRad="63500" dist="38099" dir="2700000" algn="ctr" rotWithShape="0">
                                <a:srgbClr val="000000">
                                  <a:alpha val="74998"/>
                                </a:srgbClr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7136401" y="4934376"/>
            <a:ext cx="152400" cy="152400"/>
          </a:xfrm>
          <a:prstGeom prst="rect">
            <a:avLst/>
          </a:prstGeom>
          <a:solidFill>
            <a:srgbClr val="000000"/>
          </a:solidFill>
          <a:ln w="9525">
            <a:solidFill>
              <a:schemeClr val="tx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6207714" y="2613422"/>
            <a:ext cx="2218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最坏的情况发生在第</a:t>
            </a:r>
            <a:r>
              <a:rPr lang="en-US" altLang="zh-CN" dirty="0"/>
              <a:t>T+1</a:t>
            </a:r>
            <a:r>
              <a:rPr lang="zh-CN" altLang="en-US" dirty="0"/>
              <a:t>天是最后一天</a:t>
            </a:r>
            <a:endParaRPr lang="en-US" dirty="0"/>
          </a:p>
        </p:txBody>
      </p:sp>
      <p:sp>
        <p:nvSpPr>
          <p:cNvPr id="11" name="Rectangle 10"/>
          <p:cNvSpPr/>
          <p:nvPr/>
        </p:nvSpPr>
        <p:spPr>
          <a:xfrm>
            <a:off x="5586002" y="4045748"/>
            <a:ext cx="602209" cy="8917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696075" y="6248400"/>
            <a:ext cx="2133600" cy="45720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  <a:t>22</a:t>
            </a:fld>
            <a:endParaRPr lang="en-US" altLang="zh-CN" dirty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开拓思维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如果有多家滑雪橇商店，每一家的租赁价格和购买价格各不相同。</a:t>
            </a:r>
          </a:p>
          <a:p>
            <a:r>
              <a:rPr lang="en-US" altLang="en-US" dirty="0"/>
              <a:t>决策何时从哪家买？</a:t>
            </a:r>
            <a:endParaRPr lang="en-US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76056" y="2614820"/>
            <a:ext cx="3096343" cy="4201220"/>
          </a:xfrm>
          <a:prstGeom prst="rect">
            <a:avLst/>
          </a:prstGeom>
          <a:ln w="19050">
            <a:solidFill>
              <a:schemeClr val="tx1"/>
            </a:solidFill>
          </a:ln>
        </p:spPr>
      </p:pic>
      <p:sp>
        <p:nvSpPr>
          <p:cNvPr id="9" name="TextBox 8"/>
          <p:cNvSpPr txBox="1"/>
          <p:nvPr/>
        </p:nvSpPr>
        <p:spPr>
          <a:xfrm>
            <a:off x="4968044" y="2168860"/>
            <a:ext cx="327636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b="1" i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SIGMETRICS 2014</a:t>
            </a:r>
            <a:endParaRPr lang="en-US" sz="2800" b="1" i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696075" y="6248400"/>
            <a:ext cx="2133600" cy="45720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  <a:t>23</a:t>
            </a:fld>
            <a:endParaRPr lang="en-US" altLang="zh-CN" dirty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公交还是走路？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东大九龙湖地铁站到学校</a:t>
            </a:r>
            <a:r>
              <a:rPr lang="ja-JP" altLang="en-US" dirty="0"/>
              <a:t>内梅园宿舍</a:t>
            </a:r>
            <a:r>
              <a:rPr lang="en-US" altLang="en-US" dirty="0"/>
              <a:t>，可以坐</a:t>
            </a:r>
            <a:r>
              <a:rPr lang="ja-JP" altLang="en-US" dirty="0"/>
              <a:t>接驳车</a:t>
            </a:r>
            <a:r>
              <a:rPr lang="en-US" altLang="en-US" dirty="0"/>
              <a:t>也可以走路，坐</a:t>
            </a:r>
            <a:r>
              <a:rPr lang="ja-JP" altLang="en-US" dirty="0"/>
              <a:t>接驳车</a:t>
            </a:r>
            <a:r>
              <a:rPr lang="en-US" altLang="en-US" dirty="0"/>
              <a:t>需要B</a:t>
            </a:r>
            <a:r>
              <a:rPr lang="en-US" altLang="zh-CN" dirty="0"/>
              <a:t>=10</a:t>
            </a:r>
            <a:r>
              <a:rPr lang="en-US" altLang="en-US" dirty="0"/>
              <a:t>分钟，走路需要F</a:t>
            </a:r>
            <a:r>
              <a:rPr lang="en-US" altLang="zh-CN" dirty="0"/>
              <a:t>=30</a:t>
            </a:r>
            <a:r>
              <a:rPr lang="en-US" altLang="en-US" dirty="0"/>
              <a:t>分钟。</a:t>
            </a:r>
            <a:r>
              <a:rPr lang="ja-JP" altLang="en-US" dirty="0"/>
              <a:t>假设</a:t>
            </a:r>
            <a:r>
              <a:rPr lang="en-US" altLang="en-US" dirty="0"/>
              <a:t>等</a:t>
            </a:r>
            <a:r>
              <a:rPr lang="ja-JP" altLang="en-US" dirty="0"/>
              <a:t>接驳</a:t>
            </a:r>
            <a:r>
              <a:rPr lang="en-US" altLang="en-US" dirty="0"/>
              <a:t>车的时间不可预测。</a:t>
            </a:r>
          </a:p>
          <a:p>
            <a:r>
              <a:rPr lang="en-US" altLang="en-US" dirty="0"/>
              <a:t>问：如何回学校</a:t>
            </a:r>
            <a:r>
              <a:rPr lang="ja-JP" altLang="en-US" dirty="0"/>
              <a:t>用时最短</a:t>
            </a:r>
            <a:r>
              <a:rPr lang="en-US" altLang="en-US" dirty="0"/>
              <a:t>？</a:t>
            </a:r>
            <a:endParaRPr lang="en-US" dirty="0"/>
          </a:p>
        </p:txBody>
      </p:sp>
      <p:sp>
        <p:nvSpPr>
          <p:cNvPr id="7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696075" y="6248400"/>
            <a:ext cx="2133600" cy="45720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  <a:t>24</a:t>
            </a:fld>
            <a:endParaRPr lang="en-US" altLang="zh-CN" dirty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/>
              <a:t>离线策略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en-US" dirty="0"/>
              <a:t>如已知</a:t>
            </a:r>
            <a:r>
              <a:rPr lang="ja-JP" altLang="en-US" dirty="0"/>
              <a:t>接驳</a:t>
            </a:r>
            <a:r>
              <a:rPr lang="en-US" altLang="en-US" dirty="0"/>
              <a:t>车F-B</a:t>
            </a:r>
            <a:r>
              <a:rPr lang="en-US" altLang="zh-CN" dirty="0"/>
              <a:t>=20</a:t>
            </a:r>
            <a:r>
              <a:rPr lang="en-US" altLang="en-US" dirty="0"/>
              <a:t>分钟内到达，最好等车</a:t>
            </a:r>
          </a:p>
          <a:p>
            <a:r>
              <a:rPr lang="en-US" altLang="en-US" dirty="0"/>
              <a:t>如已知</a:t>
            </a:r>
            <a:r>
              <a:rPr lang="ja-JP" altLang="en-US" dirty="0"/>
              <a:t>接驳</a:t>
            </a:r>
            <a:r>
              <a:rPr lang="en-US" altLang="en-US" dirty="0"/>
              <a:t>车F-B</a:t>
            </a:r>
            <a:r>
              <a:rPr lang="en-US" altLang="zh-CN" dirty="0"/>
              <a:t>=20</a:t>
            </a:r>
            <a:r>
              <a:rPr lang="en-US" altLang="en-US" dirty="0"/>
              <a:t>分钟后到达，最好走路</a:t>
            </a:r>
          </a:p>
          <a:p>
            <a:endParaRPr lang="en-US" dirty="0"/>
          </a:p>
          <a:p>
            <a:r>
              <a:rPr lang="en-US" altLang="en-US" dirty="0"/>
              <a:t>但是，如果完全不知道呢？</a:t>
            </a:r>
            <a:endParaRPr lang="en-US" dirty="0"/>
          </a:p>
        </p:txBody>
      </p:sp>
      <p:sp>
        <p:nvSpPr>
          <p:cNvPr id="7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696075" y="6248400"/>
            <a:ext cx="2133600" cy="45720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  <a:t>25</a:t>
            </a:fld>
            <a:endParaRPr lang="en-US" altLang="zh-CN" dirty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dirty="0"/>
              <a:t>在线策略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en-US" dirty="0"/>
                  <a:t>你决定：先等</a:t>
                </a:r>
                <a:r>
                  <a:rPr lang="ja-JP" altLang="en-US" dirty="0"/>
                  <a:t>车</a:t>
                </a:r>
                <a:r>
                  <a:rPr lang="en-US" altLang="en-US" dirty="0"/>
                  <a:t>F-B</a:t>
                </a:r>
                <a:r>
                  <a:rPr lang="en-US" altLang="zh-CN" dirty="0"/>
                  <a:t>=20</a:t>
                </a:r>
                <a:r>
                  <a:rPr lang="en-US" altLang="en-US" dirty="0"/>
                  <a:t>分钟，如果没等到，你就走回学校。</a:t>
                </a:r>
              </a:p>
              <a:p>
                <a:r>
                  <a:rPr lang="en-US" altLang="en-US" dirty="0"/>
                  <a:t>分析你的策略：</a:t>
                </a:r>
              </a:p>
              <a:p>
                <a:pPr lvl="1"/>
                <a:r>
                  <a:rPr lang="en-US" altLang="en-US" dirty="0"/>
                  <a:t>情况1：</a:t>
                </a:r>
                <a:r>
                  <a:rPr lang="ja-JP" altLang="en-US" dirty="0"/>
                  <a:t>车</a:t>
                </a:r>
                <a:r>
                  <a:rPr lang="en-US" altLang="en-US" dirty="0"/>
                  <a:t>F-B</a:t>
                </a:r>
                <a:r>
                  <a:rPr lang="en-US" altLang="zh-CN" dirty="0"/>
                  <a:t>=20</a:t>
                </a:r>
                <a:r>
                  <a:rPr lang="en-US" altLang="en-US" dirty="0"/>
                  <a:t>分钟内到，乘车回，策略最优</a:t>
                </a:r>
              </a:p>
              <a:p>
                <a:pPr lvl="1"/>
                <a:r>
                  <a:rPr lang="en-US" altLang="en-US" dirty="0"/>
                  <a:t>情况2：等F-B</a:t>
                </a:r>
                <a:r>
                  <a:rPr lang="en-US" altLang="zh-CN" dirty="0"/>
                  <a:t>=20</a:t>
                </a:r>
                <a:r>
                  <a:rPr lang="en-US" altLang="en-US" dirty="0"/>
                  <a:t>分钟后，走回学校，你用2F-B</a:t>
                </a:r>
                <a:r>
                  <a:rPr lang="en-US" altLang="zh-CN" dirty="0"/>
                  <a:t>=50</a:t>
                </a:r>
                <a:r>
                  <a:rPr lang="en-US" altLang="en-US" dirty="0"/>
                  <a:t>分钟，最优解OPT用F</a:t>
                </a:r>
                <a:r>
                  <a:rPr lang="en-US" altLang="zh-CN" dirty="0"/>
                  <a:t>=30</a:t>
                </a:r>
                <a:r>
                  <a:rPr lang="zh-CN" altLang="en-US" dirty="0"/>
                  <a:t>分钟</a:t>
                </a:r>
                <a:r>
                  <a:rPr lang="en-US" altLang="en-US" dirty="0"/>
                  <a:t>。比例为</a:t>
                </a:r>
                <a14:m>
                  <m:oMath xmlns:m="http://schemas.openxmlformats.org/officeDocument/2006/math">
                    <m:r>
                      <a:rPr lang="en-US" altLang="en-US" i="1">
                        <a:latin typeface="Cambria Math" panose="02040503050406030204" pitchFamily="18" charset="0"/>
                      </a:rPr>
                      <m:t>2</m:t>
                    </m:r>
                    <m:r>
                      <a:rPr lang="en-US" altLang="en-US" i="1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alt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𝐵</m:t>
                        </m:r>
                      </m:num>
                      <m:den>
                        <m:r>
                          <a:rPr lang="en-US" altLang="en-US" b="0" i="1" smtClean="0">
                            <a:latin typeface="Cambria Math" panose="02040503050406030204" pitchFamily="18" charset="0"/>
                          </a:rPr>
                          <m:t>𝐹</m:t>
                        </m:r>
                      </m:den>
                    </m:f>
                  </m:oMath>
                </a14:m>
                <a:endParaRPr lang="en-US" altLang="en-US" dirty="0"/>
              </a:p>
              <a:p>
                <a:pPr lvl="2"/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Rot="true" noChangeAspect="true" noMove="true" noResize="true" noEditPoints="true" noAdjustHandles="true" noChangeArrowheads="true" noChangeShapeType="true" noTextEdit="true"/>
              </p:cNvSpPr>
              <p:nvPr>
                <p:ph idx="1"/>
              </p:nvPr>
            </p:nvSpPr>
            <p:spPr>
              <a:blipFill rotWithShape="true">
                <a:blip r:embed="rId2"/>
                <a:stretch>
                  <a:fillRect t="-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灯片编号占位符 3"/>
          <p:cNvSpPr>
            <a:spLocks noGrp="1"/>
          </p:cNvSpPr>
          <p:nvPr>
            <p:ph type="sldNum" sz="quarter" idx="11"/>
          </p:nvPr>
        </p:nvSpPr>
        <p:spPr>
          <a:xfrm>
            <a:off x="6696075" y="6248400"/>
            <a:ext cx="2133600" cy="457200"/>
          </a:xfrm>
          <a:noFill/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eaLnBrk="1" hangingPunct="1"/>
            <a:fld id="{166F650B-5347-4F36-8304-1500CA3F90AB}" type="slidenum">
              <a:rPr lang="en-US" altLang="zh-CN" smtClean="0">
                <a:solidFill>
                  <a:srgbClr val="006600"/>
                </a:solidFill>
                <a:latin typeface="Courier New" panose="02070309020205020404" pitchFamily="49" charset="0"/>
                <a:ea typeface="华文新魏" panose="02010800040101010101" pitchFamily="2" charset="-122"/>
              </a:rPr>
              <a:t>26</a:t>
            </a:fld>
            <a:endParaRPr lang="en-US" altLang="zh-CN" dirty="0">
              <a:solidFill>
                <a:srgbClr val="006600"/>
              </a:solidFill>
              <a:latin typeface="Courier New" panose="02070309020205020404" pitchFamily="49" charset="0"/>
              <a:ea typeface="华文新魏" panose="0201080004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页面调度问题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zh-CN" altLang="en-US" dirty="0"/>
                  <a:t>问题：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高速缓存可放</a:t>
                </a:r>
                <a:r>
                  <a:rPr lang="en-US" altLang="zh-CN" dirty="0"/>
                  <a:t>k</a:t>
                </a:r>
                <a:r>
                  <a:rPr lang="zh-CN" altLang="en-US" dirty="0"/>
                  <a:t>个页面；低速内存有多个页面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给定一个页面请求序列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/>
                      </a:rPr>
                      <m:t>&lt;</m:t>
                    </m:r>
                    <m:sSub>
                      <m:sSubPr>
                        <m:ctrlPr>
                          <a:rPr lang="en-US" altLang="zh-CN" b="1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𝒑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𝒑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𝟐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/>
                      </a:rPr>
                      <m:t>,</m:t>
                    </m:r>
                    <m:r>
                      <a:rPr lang="en-US" altLang="zh-CN" b="1" i="1" smtClean="0">
                        <a:latin typeface="Cambria Math" panose="02040503050406030204"/>
                        <a:ea typeface="Cambria Math" panose="02040503050406030204"/>
                      </a:rPr>
                      <m:t>⋯,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𝒑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𝒏</m:t>
                        </m:r>
                      </m:sub>
                    </m:sSub>
                    <m:r>
                      <a:rPr lang="en-US" altLang="zh-CN" b="1" i="1" smtClean="0">
                        <a:latin typeface="Cambria Math" panose="02040503050406030204"/>
                      </a:rPr>
                      <m:t>&gt;</m:t>
                    </m:r>
                  </m:oMath>
                </a14:m>
                <a:r>
                  <a:rPr lang="zh-CN" altLang="en-US" dirty="0"/>
                  <a:t>，当高速缓存占满的情况下，在高速缓存出现页面缺失时，选择哪个页面与低速内存页面交换，使得遇到缺失的次数最少</a:t>
                </a:r>
              </a:p>
            </p:txBody>
          </p:sp>
        </mc:Choice>
        <mc:Fallback xmlns="">
          <p:sp>
            <p:nvSpPr>
              <p:cNvPr id="3" name="内容占位符 2"/>
              <p:cNvSpPr>
                <a:spLocks noRot="true" noChangeAspect="true" noMove="true" noResize="true" noEditPoints="true" noAdjustHandles="true" noChangeArrowheads="true" noChangeShapeType="true" noTextEdit="true"/>
              </p:cNvSpPr>
              <p:nvPr>
                <p:ph idx="1"/>
              </p:nvPr>
            </p:nvSpPr>
            <p:spPr>
              <a:blipFill rotWithShape="true">
                <a:blip r:embed="rId2"/>
                <a:stretch>
                  <a:fillRect t="-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  <a:t>27</a:t>
            </a:fld>
            <a:endParaRPr lang="en-US" altLang="zh-C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页面调度问题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LIFO(Last In First Out,</a:t>
                </a:r>
                <a:r>
                  <a:rPr lang="zh-CN" altLang="en-US" dirty="0"/>
                  <a:t>后进先出法</a:t>
                </a:r>
                <a:r>
                  <a:rPr lang="en-US" altLang="zh-CN" dirty="0"/>
                  <a:t>)</a:t>
                </a:r>
              </a:p>
              <a:p>
                <a:pPr lvl="1"/>
                <a:r>
                  <a:rPr lang="zh-CN" altLang="en-US" dirty="0"/>
                  <a:t>将最后放入高速缓存的页面交换出去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该方法不是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/>
                        <a:ea typeface="黑体" panose="02010609060101010101" pitchFamily="49" charset="-122"/>
                      </a:rPr>
                      <m:t>𝜶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-competitive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算法</a:t>
                </a:r>
                <a:endParaRPr lang="en-US" altLang="zh-CN" dirty="0">
                  <a:latin typeface="Arial" panose="020B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例如页面请求序列为</a:t>
                </a:r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&lt;</a:t>
                </a:r>
                <a:r>
                  <a:rPr lang="en-US" altLang="zh-CN" dirty="0" err="1">
                    <a:latin typeface="Arial" panose="020B0604020202020204" pitchFamily="34" charset="0"/>
                    <a:ea typeface="黑体" panose="02010609060101010101" pitchFamily="49" charset="-122"/>
                  </a:rPr>
                  <a:t>a,b,a,b,a,b</a:t>
                </a:r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&gt;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，</a:t>
                </a:r>
                <a:endParaRPr lang="en-US" altLang="zh-CN" dirty="0">
                  <a:latin typeface="Arial" panose="020B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假设高速缓存中页面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𝒙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 panose="02040503050406030204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𝒙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 panose="02040503050406030204"/>
                      </a:rPr>
                      <m:t>,</m:t>
                    </m:r>
                    <m:r>
                      <a:rPr lang="en-US" altLang="zh-CN" i="1">
                        <a:latin typeface="Cambria Math" panose="02040503050406030204"/>
                        <a:ea typeface="Cambria Math" panose="02040503050406030204"/>
                      </a:rPr>
                      <m:t>⋯,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𝒙</m:t>
                        </m:r>
                      </m:e>
                      <m:sub>
                        <m:r>
                          <a:rPr lang="en-US" altLang="zh-CN" b="1" i="1" smtClean="0">
                            <a:latin typeface="Cambria Math" panose="02040503050406030204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不含</a:t>
                </a:r>
                <a:r>
                  <a:rPr lang="en-US" altLang="zh-CN" dirty="0" err="1">
                    <a:latin typeface="Arial" panose="020B0604020202020204" pitchFamily="34" charset="0"/>
                    <a:ea typeface="黑体" panose="02010609060101010101" pitchFamily="49" charset="-122"/>
                  </a:rPr>
                  <a:t>a,b</a:t>
                </a:r>
                <a:endParaRPr lang="en-US" altLang="zh-CN" dirty="0">
                  <a:latin typeface="Arial" panose="020B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LIFO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中，每次</a:t>
                </a:r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a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被交换进马上又被交换出，</a:t>
                </a:r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b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也一样</a:t>
                </a:r>
                <a:endParaRPr lang="en-US" altLang="zh-CN" dirty="0">
                  <a:latin typeface="Arial" panose="020B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最优解</a:t>
                </a:r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OPT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里只需将</a:t>
                </a:r>
                <a:r>
                  <a:rPr lang="en-US" altLang="zh-CN" dirty="0" err="1">
                    <a:latin typeface="Arial" panose="020B0604020202020204" pitchFamily="34" charset="0"/>
                    <a:ea typeface="黑体" panose="02010609060101010101" pitchFamily="49" charset="-122"/>
                  </a:rPr>
                  <a:t>a,b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与高速缓存中</a:t>
                </a:r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2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页面交换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true" noChangeAspect="true" noMove="true" noResize="true" noEditPoints="true" noAdjustHandles="true" noChangeArrowheads="true" noChangeShapeType="true" noTextEdit="true"/>
              </p:cNvSpPr>
              <p:nvPr>
                <p:ph idx="1"/>
              </p:nvPr>
            </p:nvSpPr>
            <p:spPr>
              <a:blipFill rotWithShape="true">
                <a:blip r:embed="rId2"/>
                <a:stretch>
                  <a:fillRect t="-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  <a:t>28</a:t>
            </a:fld>
            <a:endParaRPr lang="en-US" altLang="zh-C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页面调度问题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LFU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(Least Frequently Used,</a:t>
                </a:r>
                <a:r>
                  <a:rPr lang="zh-CN" altLang="en-US" dirty="0"/>
                  <a:t>最少访问法</a:t>
                </a:r>
                <a:r>
                  <a:rPr lang="en-US" altLang="zh-CN" dirty="0"/>
                  <a:t>)</a:t>
                </a:r>
              </a:p>
              <a:p>
                <a:pPr lvl="1"/>
                <a:r>
                  <a:rPr lang="zh-CN" altLang="en-US" dirty="0"/>
                  <a:t>将高速缓存中访问次数最少的页面交换出去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该方法不是 </a:t>
                </a:r>
                <a14:m>
                  <m:oMath xmlns:m="http://schemas.openxmlformats.org/officeDocument/2006/math">
                    <m:r>
                      <a:rPr lang="zh-CN" altLang="en-US" i="1">
                        <a:latin typeface="Cambria Math" panose="02040503050406030204"/>
                        <a:ea typeface="黑体" panose="02010609060101010101" pitchFamily="49" charset="-122"/>
                      </a:rPr>
                      <m:t>𝜶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-competitive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算法</a:t>
                </a:r>
                <a:endParaRPr lang="en-US" altLang="zh-CN" dirty="0">
                  <a:latin typeface="Arial" panose="020B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例如页面请求序列为</a:t>
                </a:r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&lt;</a:t>
                </a:r>
                <a:r>
                  <a:rPr lang="en-US" altLang="zh-CN" dirty="0" err="1">
                    <a:latin typeface="Arial" panose="020B0604020202020204" pitchFamily="34" charset="0"/>
                    <a:ea typeface="黑体" panose="02010609060101010101" pitchFamily="49" charset="-122"/>
                  </a:rPr>
                  <a:t>a,b,a,b,a,b</a:t>
                </a:r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&gt;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，</a:t>
                </a:r>
                <a:endParaRPr lang="en-US" altLang="zh-CN" dirty="0">
                  <a:latin typeface="Arial" panose="020B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假设高速缓存中页面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𝒙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/>
                          </a:rPr>
                          <m:t>𝟏</m:t>
                        </m:r>
                      </m:sub>
                    </m:sSub>
                    <m:r>
                      <a:rPr lang="en-US" altLang="zh-CN" i="1">
                        <a:latin typeface="Cambria Math" panose="02040503050406030204"/>
                      </a:rPr>
                      <m:t>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𝒙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/>
                          </a:rPr>
                          <m:t>𝟐</m:t>
                        </m:r>
                      </m:sub>
                    </m:sSub>
                    <m:r>
                      <a:rPr lang="en-US" altLang="zh-CN" i="1">
                        <a:latin typeface="Cambria Math" panose="02040503050406030204"/>
                      </a:rPr>
                      <m:t>,</m:t>
                    </m:r>
                    <m:r>
                      <a:rPr lang="en-US" altLang="zh-CN" i="1">
                        <a:latin typeface="Cambria Math" panose="02040503050406030204"/>
                        <a:ea typeface="Cambria Math" panose="02040503050406030204"/>
                      </a:rPr>
                      <m:t>⋯,</m:t>
                    </m:r>
                    <m:sSub>
                      <m:sSubPr>
                        <m:ctrlPr>
                          <a:rPr lang="en-US" altLang="zh-C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i="1">
                            <a:latin typeface="Cambria Math" panose="02040503050406030204"/>
                          </a:rPr>
                          <m:t>𝒙</m:t>
                        </m:r>
                      </m:e>
                      <m:sub>
                        <m:r>
                          <a:rPr lang="en-US" altLang="zh-CN" i="1">
                            <a:latin typeface="Cambria Math" panose="02040503050406030204"/>
                          </a:rPr>
                          <m:t>𝒌</m:t>
                        </m:r>
                      </m:sub>
                    </m:sSub>
                  </m:oMath>
                </a14:m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访问次数均大于</a:t>
                </a:r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1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，且不含</a:t>
                </a:r>
                <a:r>
                  <a:rPr lang="en-US" altLang="zh-CN" dirty="0" err="1">
                    <a:latin typeface="Arial" panose="020B0604020202020204" pitchFamily="34" charset="0"/>
                    <a:ea typeface="黑体" panose="02010609060101010101" pitchFamily="49" charset="-122"/>
                  </a:rPr>
                  <a:t>a,b</a:t>
                </a:r>
                <a:endParaRPr lang="en-US" altLang="zh-CN" dirty="0">
                  <a:latin typeface="Arial" panose="020B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LFU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中，每次</a:t>
                </a:r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a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被交换进马上又被交换出，</a:t>
                </a:r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b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也一样</a:t>
                </a:r>
                <a:endParaRPr lang="en-US" altLang="zh-CN" dirty="0">
                  <a:latin typeface="Arial" panose="020B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最优解</a:t>
                </a:r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OPT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里只需将</a:t>
                </a:r>
                <a:r>
                  <a:rPr lang="en-US" altLang="zh-CN" dirty="0" err="1">
                    <a:latin typeface="Arial" panose="020B0604020202020204" pitchFamily="34" charset="0"/>
                    <a:ea typeface="黑体" panose="02010609060101010101" pitchFamily="49" charset="-122"/>
                  </a:rPr>
                  <a:t>a,b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与高速缓存中</a:t>
                </a:r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2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页面交换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true" noChangeAspect="true" noMove="true" noResize="true" noEditPoints="true" noAdjustHandles="true" noChangeArrowheads="true" noChangeShapeType="true" noTextEdit="true"/>
              </p:cNvSpPr>
              <p:nvPr>
                <p:ph idx="1"/>
              </p:nvPr>
            </p:nvSpPr>
            <p:spPr>
              <a:blipFill rotWithShape="true">
                <a:blip r:embed="rId2"/>
                <a:stretch>
                  <a:fillRect t="-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灯片编号占位符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3E6C03A-3073-401C-B837-061925A82BB2}" type="slidenum">
              <a:rPr lang="en-US" altLang="zh-CN" smtClean="0"/>
              <a:t>29</a:t>
            </a:fld>
            <a:endParaRPr lang="en-US" altLang="zh-C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页面调度问题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LRU</a:t>
            </a:r>
            <a:r>
              <a:rPr lang="zh-CN" altLang="en-US" dirty="0"/>
              <a:t> </a:t>
            </a:r>
            <a:r>
              <a:rPr lang="en-US" altLang="zh-CN" dirty="0"/>
              <a:t>(Least Recently Used,</a:t>
            </a:r>
            <a:r>
              <a:rPr lang="zh-CN" altLang="en-US" dirty="0"/>
              <a:t>最旧访问法</a:t>
            </a:r>
            <a:r>
              <a:rPr lang="en-US" altLang="zh-CN" dirty="0"/>
              <a:t>)</a:t>
            </a:r>
          </a:p>
          <a:p>
            <a:pPr lvl="1"/>
            <a:r>
              <a:rPr lang="zh-CN" altLang="en-US" dirty="0"/>
              <a:t>将高速缓存中最早访问的页面交换出去</a:t>
            </a:r>
            <a:endParaRPr lang="en-US" altLang="zh-CN" dirty="0"/>
          </a:p>
          <a:p>
            <a:pPr lvl="1"/>
            <a:r>
              <a:rPr lang="en-US" altLang="zh-CN" dirty="0"/>
              <a:t>k=3</a:t>
            </a:r>
            <a:r>
              <a:rPr lang="zh-CN" altLang="en-US" dirty="0"/>
              <a:t>，页面请求序列</a:t>
            </a:r>
            <a:r>
              <a:rPr lang="en-US" altLang="zh-CN" dirty="0"/>
              <a:t>&lt;4,3,4,2,3,1,4,2&gt;</a:t>
            </a:r>
            <a:r>
              <a:rPr lang="zh-CN" altLang="en-US" dirty="0"/>
              <a:t>，</a:t>
            </a:r>
            <a:r>
              <a:rPr lang="en-US" altLang="zh-CN" dirty="0"/>
              <a:t>LRU</a:t>
            </a:r>
            <a:r>
              <a:rPr lang="zh-CN" altLang="en-US" dirty="0"/>
              <a:t>过程</a:t>
            </a:r>
            <a:endParaRPr lang="en-US" altLang="zh-CN" dirty="0"/>
          </a:p>
          <a:p>
            <a:pPr lvl="1"/>
            <a:r>
              <a:rPr lang="en-US" altLang="zh-CN" dirty="0"/>
              <a:t>4</a:t>
            </a:r>
          </a:p>
          <a:p>
            <a:pPr lvl="1"/>
            <a:r>
              <a:rPr lang="en-US" altLang="zh-CN" dirty="0"/>
              <a:t>4 3</a:t>
            </a:r>
          </a:p>
          <a:p>
            <a:pPr lvl="1"/>
            <a:r>
              <a:rPr lang="en-US" altLang="zh-CN" dirty="0"/>
              <a:t>3 4</a:t>
            </a:r>
          </a:p>
          <a:p>
            <a:pPr lvl="1"/>
            <a:r>
              <a:rPr lang="en-US" altLang="zh-CN" dirty="0"/>
              <a:t>3 4 2</a:t>
            </a:r>
          </a:p>
          <a:p>
            <a:pPr lvl="1"/>
            <a:r>
              <a:rPr lang="en-US" altLang="zh-CN" dirty="0"/>
              <a:t>4 2 3</a:t>
            </a:r>
          </a:p>
          <a:p>
            <a:pPr lvl="1"/>
            <a:r>
              <a:rPr lang="en-US" altLang="zh-CN" dirty="0"/>
              <a:t>2 3 1</a:t>
            </a:r>
          </a:p>
          <a:p>
            <a:pPr lvl="1"/>
            <a:r>
              <a:rPr lang="en-US" altLang="zh-CN" dirty="0"/>
              <a:t>3 1 4</a:t>
            </a:r>
          </a:p>
          <a:p>
            <a:pPr lvl="1"/>
            <a:r>
              <a:rPr lang="en-US" altLang="zh-CN" dirty="0"/>
              <a:t>1 4 2</a:t>
            </a:r>
          </a:p>
          <a:p>
            <a:pPr lvl="1"/>
            <a:endParaRPr lang="en-US" altLang="zh-C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页面调度问题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/>
                  <a:t>LRU</a:t>
                </a:r>
                <a:r>
                  <a:rPr lang="zh-CN" altLang="en-US" dirty="0"/>
                  <a:t> </a:t>
                </a:r>
                <a:r>
                  <a:rPr lang="en-US" altLang="zh-CN" dirty="0"/>
                  <a:t>(Least Recently Used,</a:t>
                </a:r>
                <a:r>
                  <a:rPr lang="zh-CN" altLang="en-US" dirty="0"/>
                  <a:t>最旧访问法</a:t>
                </a:r>
                <a:r>
                  <a:rPr lang="en-US" altLang="zh-CN" dirty="0"/>
                  <a:t>)</a:t>
                </a:r>
              </a:p>
              <a:p>
                <a:pPr lvl="1"/>
                <a:r>
                  <a:rPr lang="zh-CN" altLang="en-US" dirty="0"/>
                  <a:t>将高速缓存中最早访问的页面交换出去</a:t>
                </a:r>
                <a:endParaRPr lang="en-US" altLang="zh-CN" dirty="0"/>
              </a:p>
              <a:p>
                <a:pPr lvl="1"/>
                <a:r>
                  <a:rPr lang="zh-CN" altLang="en-US" dirty="0"/>
                  <a:t>该方法是 </a:t>
                </a:r>
                <a14:m>
                  <m:oMath xmlns:m="http://schemas.openxmlformats.org/officeDocument/2006/math">
                    <m:r>
                      <a:rPr lang="en-US" altLang="zh-CN" b="1" i="1" smtClean="0">
                        <a:latin typeface="Cambria Math" panose="02040503050406030204"/>
                        <a:ea typeface="黑体" panose="02010609060101010101" pitchFamily="49" charset="-122"/>
                      </a:rPr>
                      <m:t>𝒌</m:t>
                    </m:r>
                  </m:oMath>
                </a14:m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-competitive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算法</a:t>
                </a:r>
                <a:endParaRPr lang="en-US" altLang="zh-CN" dirty="0">
                  <a:latin typeface="Arial" panose="020B0604020202020204" pitchFamily="34" charset="0"/>
                  <a:ea typeface="黑体" panose="02010609060101010101" pitchFamily="49" charset="-122"/>
                </a:endParaRPr>
              </a:p>
              <a:p>
                <a:pPr lvl="1"/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证明：</a:t>
                </a:r>
                <a:endParaRPr lang="en-US" altLang="zh-CN" dirty="0">
                  <a:latin typeface="Arial" panose="020B0604020202020204" pitchFamily="34" charset="0"/>
                  <a:ea typeface="黑体" panose="02010609060101010101" pitchFamily="49" charset="-122"/>
                </a:endParaRPr>
              </a:p>
              <a:p>
                <a:pPr lvl="2"/>
                <a:r>
                  <a:rPr lang="zh-CN" altLang="en-US" sz="2000" dirty="0"/>
                  <a:t>将</a:t>
                </a:r>
                <a:r>
                  <a:rPr lang="en-US" altLang="zh-CN" sz="2000" dirty="0"/>
                  <a:t>LRU</a:t>
                </a:r>
                <a:r>
                  <a:rPr lang="zh-CN" altLang="en-US" sz="2000" dirty="0"/>
                  <a:t>算法调度过程分为多个阶段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/>
                      </a:rPr>
                      <m:t>&lt;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𝒔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/>
                          </a:rPr>
                          <m:t>𝟏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/>
                      </a:rPr>
                      <m:t>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𝒔</m:t>
                        </m:r>
                      </m:e>
                      <m:sub>
                        <m:r>
                          <a:rPr lang="en-US" altLang="zh-CN" sz="2000" i="1">
                            <a:latin typeface="Cambria Math" panose="02040503050406030204"/>
                          </a:rPr>
                          <m:t>𝟐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/>
                      </a:rPr>
                      <m:t>,</m:t>
                    </m:r>
                    <m:r>
                      <a:rPr lang="en-US" altLang="zh-CN" sz="2000" i="1">
                        <a:latin typeface="Cambria Math" panose="02040503050406030204"/>
                        <a:ea typeface="Cambria Math" panose="02040503050406030204"/>
                      </a:rPr>
                      <m:t>⋯,</m:t>
                    </m:r>
                    <m:sSub>
                      <m:sSubPr>
                        <m:ctrlPr>
                          <a:rPr lang="en-US" altLang="zh-CN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𝒔</m:t>
                        </m:r>
                      </m:e>
                      <m:sub>
                        <m:r>
                          <a:rPr lang="en-US" altLang="zh-CN" sz="2000" b="1" i="1" smtClean="0">
                            <a:latin typeface="Cambria Math" panose="02040503050406030204"/>
                          </a:rPr>
                          <m:t>𝒎</m:t>
                        </m:r>
                      </m:sub>
                    </m:sSub>
                    <m:r>
                      <a:rPr lang="en-US" altLang="zh-CN" sz="2000" i="1">
                        <a:latin typeface="Cambria Math" panose="02040503050406030204"/>
                      </a:rPr>
                      <m:t>&gt; </m:t>
                    </m:r>
                  </m:oMath>
                </a14:m>
                <a:r>
                  <a:rPr lang="zh-CN" altLang="en-US" sz="2000" dirty="0"/>
                  <a:t>，第</a:t>
                </a:r>
                <a:r>
                  <a:rPr lang="en-US" altLang="zh-CN" sz="2000" dirty="0"/>
                  <a:t>1</a:t>
                </a:r>
                <a:r>
                  <a:rPr lang="zh-CN" altLang="en-US" sz="2000" dirty="0"/>
                  <a:t>个阶段页面缺失数不多于</a:t>
                </a:r>
                <a:r>
                  <a:rPr lang="en-US" altLang="zh-CN" sz="2000" dirty="0"/>
                  <a:t>k</a:t>
                </a:r>
                <a:r>
                  <a:rPr lang="zh-CN" altLang="en-US" sz="2000" dirty="0"/>
                  <a:t>，后面所有阶段页面缺失数等于</a:t>
                </a:r>
                <a:r>
                  <a:rPr lang="en-US" altLang="zh-CN" sz="2000" dirty="0"/>
                  <a:t>k</a:t>
                </a:r>
              </a:p>
              <a:p>
                <a:pPr lvl="2"/>
                <a:r>
                  <a:rPr lang="zh-CN" altLang="en-US" sz="2000" dirty="0"/>
                  <a:t>只要证明</a:t>
                </a:r>
                <a:r>
                  <a:rPr lang="en-US" altLang="zh-CN" sz="2000" dirty="0"/>
                  <a:t>OPT</a:t>
                </a:r>
                <a:r>
                  <a:rPr lang="zh-CN" altLang="en-US" sz="2000" dirty="0"/>
                  <a:t>中每一阶段至少需要交换</a:t>
                </a:r>
                <a:r>
                  <a:rPr lang="en-US" altLang="zh-CN" sz="2000" dirty="0"/>
                  <a:t>1</a:t>
                </a:r>
                <a:r>
                  <a:rPr lang="zh-CN" altLang="en-US" sz="2000" dirty="0"/>
                  <a:t>次，就可得证明</a:t>
                </a:r>
                <a14:m>
                  <m:oMath xmlns:m="http://schemas.openxmlformats.org/officeDocument/2006/math">
                    <m:r>
                      <a:rPr lang="en-US" altLang="zh-CN" sz="2000" i="1">
                        <a:latin typeface="Cambria Math" panose="02040503050406030204"/>
                        <a:ea typeface="黑体" panose="02010609060101010101" pitchFamily="49" charset="-122"/>
                      </a:rPr>
                      <m:t>𝒌</m:t>
                    </m:r>
                  </m:oMath>
                </a14:m>
                <a:r>
                  <a:rPr lang="en-US" altLang="zh-CN" sz="2000" dirty="0">
                    <a:latin typeface="Arial" panose="020B0604020202020204" pitchFamily="34" charset="0"/>
                    <a:ea typeface="黑体" panose="02010609060101010101" pitchFamily="49" charset="-122"/>
                  </a:rPr>
                  <a:t>-competitive</a:t>
                </a:r>
              </a:p>
              <a:p>
                <a:pPr lvl="3"/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否则的话，第</a:t>
                </a:r>
                <a:r>
                  <a:rPr lang="en-US" altLang="zh-CN" dirty="0" err="1">
                    <a:latin typeface="Arial" panose="020B0604020202020204" pitchFamily="34" charset="0"/>
                    <a:ea typeface="黑体" panose="02010609060101010101" pitchFamily="49" charset="-122"/>
                  </a:rPr>
                  <a:t>i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阶段，</a:t>
                </a:r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OPT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所有页面都在</a:t>
                </a:r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cache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中，则</a:t>
                </a:r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LRU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不可能缺失数等于</a:t>
                </a:r>
                <a:r>
                  <a:rPr lang="en-US" altLang="zh-CN" dirty="0">
                    <a:latin typeface="Arial" panose="020B0604020202020204" pitchFamily="34" charset="0"/>
                    <a:ea typeface="黑体" panose="02010609060101010101" pitchFamily="49" charset="-122"/>
                  </a:rPr>
                  <a:t>k</a:t>
                </a:r>
                <a:r>
                  <a:rPr lang="zh-CN" altLang="en-US" dirty="0">
                    <a:latin typeface="Arial" panose="020B0604020202020204" pitchFamily="34" charset="0"/>
                    <a:ea typeface="黑体" panose="02010609060101010101" pitchFamily="49" charset="-122"/>
                  </a:rPr>
                  <a:t>次</a:t>
                </a:r>
                <a:endParaRPr lang="en-US" altLang="zh-CN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Rot="true" noChangeAspect="true" noMove="true" noResize="true" noEditPoints="true" noAdjustHandles="true" noChangeArrowheads="true" noChangeShapeType="true" noTextEdit="true"/>
              </p:cNvSpPr>
              <p:nvPr>
                <p:ph idx="1"/>
              </p:nvPr>
            </p:nvSpPr>
            <p:spPr>
              <a:blipFill rotWithShape="true">
                <a:blip r:embed="rId2"/>
                <a:stretch>
                  <a:fillRect t="-7" b="7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287524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68245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8966" y="5773395"/>
            <a:ext cx="180020" cy="369332"/>
          </a:xfrm>
          <a:prstGeom prst="rect">
            <a:avLst/>
          </a:prstGeom>
          <a:solidFill>
            <a:srgbClr val="0066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8986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08244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188965" y="5773395"/>
            <a:ext cx="180020" cy="369332"/>
          </a:xfrm>
          <a:prstGeom prst="rect">
            <a:avLst/>
          </a:prstGeom>
          <a:solidFill>
            <a:srgbClr val="0066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369686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49706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736772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917493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98214" y="5773395"/>
            <a:ext cx="180020" cy="369332"/>
          </a:xfrm>
          <a:prstGeom prst="rect">
            <a:avLst/>
          </a:prstGeom>
          <a:solidFill>
            <a:srgbClr val="0066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278234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55276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635997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816718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996738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84588" y="5773395"/>
            <a:ext cx="180020" cy="369332"/>
          </a:xfrm>
          <a:prstGeom prst="rect">
            <a:avLst/>
          </a:prstGeom>
          <a:solidFill>
            <a:srgbClr val="0066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365309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546030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726050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905926" y="5773395"/>
            <a:ext cx="180020" cy="369332"/>
          </a:xfrm>
          <a:prstGeom prst="rect">
            <a:avLst/>
          </a:prstGeom>
          <a:solidFill>
            <a:srgbClr val="0066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086647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267368" y="5773395"/>
            <a:ext cx="180020" cy="369332"/>
          </a:xfrm>
          <a:prstGeom prst="rect">
            <a:avLst/>
          </a:prstGeom>
          <a:solidFill>
            <a:srgbClr val="0066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447388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624604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805325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986046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166066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345324" y="5773395"/>
            <a:ext cx="180020" cy="369332"/>
          </a:xfrm>
          <a:prstGeom prst="rect">
            <a:avLst/>
          </a:prstGeom>
          <a:solidFill>
            <a:srgbClr val="0066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526045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5706766" y="5773395"/>
            <a:ext cx="180020" cy="369332"/>
          </a:xfrm>
          <a:prstGeom prst="rect">
            <a:avLst/>
          </a:prstGeom>
          <a:solidFill>
            <a:srgbClr val="0066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5886786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074553" y="5773395"/>
            <a:ext cx="180020" cy="369332"/>
          </a:xfrm>
          <a:prstGeom prst="rect">
            <a:avLst/>
          </a:prstGeom>
          <a:solidFill>
            <a:srgbClr val="0066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254573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435294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615314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792356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973077" y="5773395"/>
            <a:ext cx="180020" cy="369332"/>
          </a:xfrm>
          <a:prstGeom prst="rect">
            <a:avLst/>
          </a:prstGeom>
          <a:solidFill>
            <a:srgbClr val="0066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153798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333818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7521668" y="5773395"/>
            <a:ext cx="180020" cy="369332"/>
          </a:xfrm>
          <a:prstGeom prst="rect">
            <a:avLst/>
          </a:prstGeom>
          <a:solidFill>
            <a:srgbClr val="0066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702389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883110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8063130" y="5773395"/>
            <a:ext cx="180020" cy="369332"/>
          </a:xfrm>
          <a:prstGeom prst="rect">
            <a:avLst/>
          </a:prstGeom>
          <a:solidFill>
            <a:srgbClr val="0066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8243006" y="5773395"/>
            <a:ext cx="180020" cy="369332"/>
          </a:xfrm>
          <a:prstGeom prst="rect">
            <a:avLst/>
          </a:prstGeom>
          <a:solidFill>
            <a:srgbClr val="0066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423727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8604448" y="5773395"/>
            <a:ext cx="180020" cy="369332"/>
          </a:xfrm>
          <a:prstGeom prst="rect">
            <a:avLst/>
          </a:prstGeom>
          <a:solidFill>
            <a:srgbClr val="006600"/>
          </a:solidFill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8784468" y="5773395"/>
            <a:ext cx="180020" cy="369332"/>
          </a:xfrm>
          <a:prstGeom prst="rect">
            <a:avLst/>
          </a:prstGeom>
          <a:noFill/>
          <a:ln w="1270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pPr eaLnBrk="1" hangingPunct="1">
              <a:buFont typeface="Wingdings" panose="05000000000000000000" pitchFamily="2" charset="2"/>
              <a:buNone/>
            </a:pPr>
            <a:endParaRPr lang="zh-CN" altLang="en-US" b="1" dirty="0">
              <a:solidFill>
                <a:srgbClr val="000099"/>
              </a:solidFill>
              <a:ea typeface="黑体" panose="02010609060101010101" pitchFamily="49" charset="-122"/>
            </a:endParaRPr>
          </a:p>
        </p:txBody>
      </p:sp>
      <p:cxnSp>
        <p:nvCxnSpPr>
          <p:cNvPr id="54" name="直接连接符 53"/>
          <p:cNvCxnSpPr/>
          <p:nvPr/>
        </p:nvCxnSpPr>
        <p:spPr bwMode="auto">
          <a:xfrm>
            <a:off x="1549706" y="5553236"/>
            <a:ext cx="0" cy="792088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连接符 54"/>
          <p:cNvCxnSpPr/>
          <p:nvPr/>
        </p:nvCxnSpPr>
        <p:spPr bwMode="auto">
          <a:xfrm>
            <a:off x="4627408" y="5553236"/>
            <a:ext cx="0" cy="792088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连接符 55"/>
          <p:cNvCxnSpPr/>
          <p:nvPr/>
        </p:nvCxnSpPr>
        <p:spPr bwMode="auto">
          <a:xfrm>
            <a:off x="7333818" y="5562017"/>
            <a:ext cx="0" cy="792088"/>
          </a:xfrm>
          <a:prstGeom prst="line">
            <a:avLst/>
          </a:prstGeom>
          <a:ln w="38100">
            <a:solidFill>
              <a:srgbClr val="FF0000"/>
            </a:solidFill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矩形 56"/>
              <p:cNvSpPr/>
              <p:nvPr/>
            </p:nvSpPr>
            <p:spPr>
              <a:xfrm>
                <a:off x="2951820" y="6066073"/>
                <a:ext cx="4715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/>
                            </a:rPr>
                            <m:t>𝒔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/>
                            </a:rPr>
                            <m:t>𝟐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57" name="矩形 56"/>
              <p:cNvSpPr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2951820" y="6066073"/>
                <a:ext cx="471539" cy="369332"/>
              </a:xfrm>
              <a:prstGeom prst="rect">
                <a:avLst/>
              </a:prstGeom>
              <a:blipFill rotWithShape="true">
                <a:blip r:embed="rId3"/>
                <a:stretch>
                  <a:fillRect l="-72" t="-150" r="16" b="8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矩形 57"/>
              <p:cNvSpPr/>
              <p:nvPr/>
            </p:nvSpPr>
            <p:spPr>
              <a:xfrm>
                <a:off x="771633" y="6066073"/>
                <a:ext cx="4747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/>
                            </a:rPr>
                            <m:t>𝒔</m:t>
                          </m:r>
                        </m:e>
                        <m:sub>
                          <m:r>
                            <a:rPr lang="en-US" altLang="zh-CN" b="1" i="1">
                              <a:latin typeface="Cambria Math" panose="02040503050406030204"/>
                            </a:rPr>
                            <m:t>𝟏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58" name="矩形 57"/>
              <p:cNvSpPr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771633" y="6066073"/>
                <a:ext cx="474745" cy="369332"/>
              </a:xfrm>
              <a:prstGeom prst="rect">
                <a:avLst/>
              </a:prstGeom>
              <a:blipFill rotWithShape="true">
                <a:blip r:embed="rId4"/>
                <a:stretch>
                  <a:fillRect l="-23" t="-150" r="107" b="8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矩形 58"/>
              <p:cNvSpPr/>
              <p:nvPr/>
            </p:nvSpPr>
            <p:spPr>
              <a:xfrm>
                <a:off x="5760132" y="6066073"/>
                <a:ext cx="471539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/>
                            </a:rPr>
                            <m:t>𝒔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/>
                            </a:rPr>
                            <m:t>𝟑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59" name="矩形 58"/>
              <p:cNvSpPr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5760132" y="6066073"/>
                <a:ext cx="471539" cy="369332"/>
              </a:xfrm>
              <a:prstGeom prst="rect">
                <a:avLst/>
              </a:prstGeom>
              <a:blipFill rotWithShape="true">
                <a:blip r:embed="rId5"/>
                <a:stretch>
                  <a:fillRect l="-10" t="-150" r="88" b="8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矩形 59"/>
              <p:cNvSpPr/>
              <p:nvPr/>
            </p:nvSpPr>
            <p:spPr>
              <a:xfrm>
                <a:off x="7992380" y="6066073"/>
                <a:ext cx="474745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altLang="zh-CN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altLang="zh-CN" b="1" i="1">
                              <a:latin typeface="Cambria Math" panose="02040503050406030204"/>
                            </a:rPr>
                            <m:t>𝒔</m:t>
                          </m:r>
                        </m:e>
                        <m:sub>
                          <m:r>
                            <a:rPr lang="en-US" altLang="zh-CN" b="1" i="1" smtClean="0">
                              <a:latin typeface="Cambria Math" panose="02040503050406030204"/>
                            </a:rPr>
                            <m:t>𝟒</m:t>
                          </m:r>
                        </m:sub>
                      </m:sSub>
                    </m:oMath>
                  </m:oMathPara>
                </a14:m>
                <a:endParaRPr lang="zh-CN" altLang="en-US" b="1" dirty="0"/>
              </a:p>
            </p:txBody>
          </p:sp>
        </mc:Choice>
        <mc:Fallback xmlns="">
          <p:sp>
            <p:nvSpPr>
              <p:cNvPr id="60" name="矩形 59"/>
              <p:cNvSpPr>
                <a:spLocks noRot="true" noChangeAspect="true" noMove="true" noResize="true" noEditPoints="true" noAdjustHandles="true" noChangeArrowheads="true" noChangeShapeType="true" noTextEdit="true"/>
              </p:cNvSpPr>
              <p:nvPr/>
            </p:nvSpPr>
            <p:spPr>
              <a:xfrm>
                <a:off x="7992380" y="6066073"/>
                <a:ext cx="474745" cy="369332"/>
              </a:xfrm>
              <a:prstGeom prst="rect">
                <a:avLst/>
              </a:prstGeom>
              <a:blipFill rotWithShape="true">
                <a:blip r:embed="rId6"/>
                <a:stretch>
                  <a:fillRect l="-57" t="-150" r="7" b="85"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theme/theme1.xml><?xml version="1.0" encoding="utf-8"?>
<a:theme xmlns:a="http://schemas.openxmlformats.org/drawingml/2006/main" name="Pixel">
  <a:themeElements>
    <a:clrScheme name="自定义 1">
      <a:dk1>
        <a:srgbClr val="000000"/>
      </a:dk1>
      <a:lt1>
        <a:srgbClr val="FFFFFF"/>
      </a:lt1>
      <a:dk2>
        <a:srgbClr val="000000"/>
      </a:dk2>
      <a:lt2>
        <a:srgbClr val="00007D"/>
      </a:lt2>
      <a:accent1>
        <a:srgbClr val="9999FF"/>
      </a:accent1>
      <a:accent2>
        <a:srgbClr val="9999CC"/>
      </a:accent2>
      <a:accent3>
        <a:srgbClr val="FFFFFF"/>
      </a:accent3>
      <a:accent4>
        <a:srgbClr val="000000"/>
      </a:accent4>
      <a:accent5>
        <a:srgbClr val="CACAFF"/>
      </a:accent5>
      <a:accent6>
        <a:srgbClr val="8A8AB9"/>
      </a:accent6>
      <a:hlink>
        <a:srgbClr val="666699"/>
      </a:hlink>
      <a:folHlink>
        <a:srgbClr val="CCCCE6"/>
      </a:folHlink>
    </a:clrScheme>
    <a:fontScheme name="自定义 1">
      <a:majorFont>
        <a:latin typeface="Arial"/>
        <a:ea typeface="隶书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>
          <a:solidFill>
            <a:srgbClr val="000000"/>
          </a:solidFill>
          <a:miter lim="800000"/>
        </a:ln>
      </a:spPr>
      <a:bodyPr lIns="18000" tIns="10800" rIns="18000" bIns="10800" rtlCol="0" anchor="ctr"/>
      <a:lstStyle>
        <a:defPPr algn="ctr" eaLnBrk="1" hangingPunct="1">
          <a:lnSpc>
            <a:spcPct val="96000"/>
          </a:lnSpc>
          <a:spcBef>
            <a:spcPct val="0"/>
          </a:spcBef>
          <a:buClrTx/>
          <a:buFontTx/>
          <a:buNone/>
          <a:defRPr b="1" dirty="0">
            <a:solidFill>
              <a:srgbClr val="000099"/>
            </a:solidFill>
            <a:ea typeface="黑体" panose="02010609060101010101" pitchFamily="49" charset="-122"/>
          </a:defRPr>
        </a:defPPr>
      </a:lstStyle>
    </a:spDef>
    <a:lnDef>
      <a:spPr bwMode="auto">
        <a:ln w="19050">
          <a:solidFill>
            <a:srgbClr val="006600"/>
          </a:solidFill>
          <a:tailEnd type="arrow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  <a:ln w="25400">
          <a:noFill/>
        </a:ln>
      </a:spPr>
      <a:bodyPr wrap="none" rtlCol="0">
        <a:spAutoFit/>
      </a:bodyPr>
      <a:lstStyle>
        <a:defPPr eaLnBrk="1" hangingPunct="1">
          <a:buFont typeface="Wingdings" panose="05000000000000000000" pitchFamily="2" charset="2"/>
          <a:buNone/>
          <a:defRPr b="1" dirty="0" smtClean="0">
            <a:solidFill>
              <a:srgbClr val="000099"/>
            </a:solidFill>
            <a:ea typeface="黑体" panose="02010609060101010101" pitchFamily="49" charset="-122"/>
          </a:defRPr>
        </a:defPPr>
      </a:lstStyle>
    </a:txDef>
  </a:objectDefaults>
  <a:extraClrSchemeLst>
    <a:extraClrScheme>
      <a:clrScheme name="Pixel 1">
        <a:dk1>
          <a:srgbClr val="0066FF"/>
        </a:dk1>
        <a:lt1>
          <a:srgbClr val="FFFFFF"/>
        </a:lt1>
        <a:dk2>
          <a:srgbClr val="000066"/>
        </a:dk2>
        <a:lt2>
          <a:srgbClr val="FFFFFF"/>
        </a:lt2>
        <a:accent1>
          <a:srgbClr val="6699FF"/>
        </a:accent1>
        <a:accent2>
          <a:srgbClr val="3333FF"/>
        </a:accent2>
        <a:accent3>
          <a:srgbClr val="AAAAB8"/>
        </a:accent3>
        <a:accent4>
          <a:srgbClr val="DADADA"/>
        </a:accent4>
        <a:accent5>
          <a:srgbClr val="B8CAFF"/>
        </a:accent5>
        <a:accent6>
          <a:srgbClr val="2D2DE7"/>
        </a:accent6>
        <a:hlink>
          <a:srgbClr val="FFCC00"/>
        </a:hlink>
        <a:folHlink>
          <a:srgbClr val="00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2">
        <a:dk1>
          <a:srgbClr val="009999"/>
        </a:dk1>
        <a:lt1>
          <a:srgbClr val="FFFFFF"/>
        </a:lt1>
        <a:dk2>
          <a:srgbClr val="334B49"/>
        </a:dk2>
        <a:lt2>
          <a:srgbClr val="FFFFFF"/>
        </a:lt2>
        <a:accent1>
          <a:srgbClr val="33CCCC"/>
        </a:accent1>
        <a:accent2>
          <a:srgbClr val="008080"/>
        </a:accent2>
        <a:accent3>
          <a:srgbClr val="ADB1B1"/>
        </a:accent3>
        <a:accent4>
          <a:srgbClr val="DADADA"/>
        </a:accent4>
        <a:accent5>
          <a:srgbClr val="ADE2E2"/>
        </a:accent5>
        <a:accent6>
          <a:srgbClr val="007373"/>
        </a:accent6>
        <a:hlink>
          <a:srgbClr val="FFCC00"/>
        </a:hlink>
        <a:folHlink>
          <a:srgbClr val="0066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3">
        <a:dk1>
          <a:srgbClr val="006699"/>
        </a:dk1>
        <a:lt1>
          <a:srgbClr val="FFFFFF"/>
        </a:lt1>
        <a:dk2>
          <a:srgbClr val="333399"/>
        </a:dk2>
        <a:lt2>
          <a:srgbClr val="FFFFFF"/>
        </a:lt2>
        <a:accent1>
          <a:srgbClr val="0099CC"/>
        </a:accent1>
        <a:accent2>
          <a:srgbClr val="0386AF"/>
        </a:accent2>
        <a:accent3>
          <a:srgbClr val="ADADCA"/>
        </a:accent3>
        <a:accent4>
          <a:srgbClr val="DADADA"/>
        </a:accent4>
        <a:accent5>
          <a:srgbClr val="AACAE2"/>
        </a:accent5>
        <a:accent6>
          <a:srgbClr val="02799E"/>
        </a:accent6>
        <a:hlink>
          <a:srgbClr val="FFCC00"/>
        </a:hlink>
        <a:folHlink>
          <a:srgbClr val="6699FF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4">
        <a:dk1>
          <a:srgbClr val="008080"/>
        </a:dk1>
        <a:lt1>
          <a:srgbClr val="FFFFFF"/>
        </a:lt1>
        <a:dk2>
          <a:srgbClr val="2F978D"/>
        </a:dk2>
        <a:lt2>
          <a:srgbClr val="FFFFFF"/>
        </a:lt2>
        <a:accent1>
          <a:srgbClr val="0099FF"/>
        </a:accent1>
        <a:accent2>
          <a:srgbClr val="009999"/>
        </a:accent2>
        <a:accent3>
          <a:srgbClr val="ADC9C5"/>
        </a:accent3>
        <a:accent4>
          <a:srgbClr val="DADADA"/>
        </a:accent4>
        <a:accent5>
          <a:srgbClr val="AACAFF"/>
        </a:accent5>
        <a:accent6>
          <a:srgbClr val="008A8A"/>
        </a:accent6>
        <a:hlink>
          <a:srgbClr val="FFFFCC"/>
        </a:hlink>
        <a:folHlink>
          <a:srgbClr val="70CAC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5">
        <a:dk1>
          <a:srgbClr val="822504"/>
        </a:dk1>
        <a:lt1>
          <a:srgbClr val="FFFFFF"/>
        </a:lt1>
        <a:dk2>
          <a:srgbClr val="330000"/>
        </a:dk2>
        <a:lt2>
          <a:srgbClr val="FFFFFF"/>
        </a:lt2>
        <a:accent1>
          <a:srgbClr val="FF9900"/>
        </a:accent1>
        <a:accent2>
          <a:srgbClr val="9E2A06"/>
        </a:accent2>
        <a:accent3>
          <a:srgbClr val="ADAAAA"/>
        </a:accent3>
        <a:accent4>
          <a:srgbClr val="DADADA"/>
        </a:accent4>
        <a:accent5>
          <a:srgbClr val="FFCAAA"/>
        </a:accent5>
        <a:accent6>
          <a:srgbClr val="8F2505"/>
        </a:accent6>
        <a:hlink>
          <a:srgbClr val="FF3300"/>
        </a:hlink>
        <a:folHlink>
          <a:srgbClr val="7C070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6">
        <a:dk1>
          <a:srgbClr val="336600"/>
        </a:dk1>
        <a:lt1>
          <a:srgbClr val="FFFFFF"/>
        </a:lt1>
        <a:dk2>
          <a:srgbClr val="4A7911"/>
        </a:dk2>
        <a:lt2>
          <a:srgbClr val="FFFFFF"/>
        </a:lt2>
        <a:accent1>
          <a:srgbClr val="666633"/>
        </a:accent1>
        <a:accent2>
          <a:srgbClr val="669900"/>
        </a:accent2>
        <a:accent3>
          <a:srgbClr val="B1BEAA"/>
        </a:accent3>
        <a:accent4>
          <a:srgbClr val="DADADA"/>
        </a:accent4>
        <a:accent5>
          <a:srgbClr val="B8B8AD"/>
        </a:accent5>
        <a:accent6>
          <a:srgbClr val="5C8A00"/>
        </a:accent6>
        <a:hlink>
          <a:srgbClr val="FFCC00"/>
        </a:hlink>
        <a:folHlink>
          <a:srgbClr val="99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ixel 7">
        <a:dk1>
          <a:srgbClr val="000000"/>
        </a:dk1>
        <a:lt1>
          <a:srgbClr val="FFFFFF"/>
        </a:lt1>
        <a:dk2>
          <a:srgbClr val="000000"/>
        </a:dk2>
        <a:lt2>
          <a:srgbClr val="CC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6633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8">
        <a:dk1>
          <a:srgbClr val="003300"/>
        </a:dk1>
        <a:lt1>
          <a:srgbClr val="FFFFFF"/>
        </a:lt1>
        <a:dk2>
          <a:srgbClr val="000000"/>
        </a:dk2>
        <a:lt2>
          <a:srgbClr val="336600"/>
        </a:lt2>
        <a:accent1>
          <a:srgbClr val="CCCC00"/>
        </a:accent1>
        <a:accent2>
          <a:srgbClr val="669900"/>
        </a:accent2>
        <a:accent3>
          <a:srgbClr val="FFFFFF"/>
        </a:accent3>
        <a:accent4>
          <a:srgbClr val="002A00"/>
        </a:accent4>
        <a:accent5>
          <a:srgbClr val="E2E2AA"/>
        </a:accent5>
        <a:accent6>
          <a:srgbClr val="5C8A00"/>
        </a:accent6>
        <a:hlink>
          <a:srgbClr val="3333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9">
        <a:dk1>
          <a:srgbClr val="000000"/>
        </a:dk1>
        <a:lt1>
          <a:srgbClr val="FFFFFF"/>
        </a:lt1>
        <a:dk2>
          <a:srgbClr val="000000"/>
        </a:dk2>
        <a:lt2>
          <a:srgbClr val="440044"/>
        </a:lt2>
        <a:accent1>
          <a:srgbClr val="FFCCCC"/>
        </a:accent1>
        <a:accent2>
          <a:srgbClr val="790571"/>
        </a:accent2>
        <a:accent3>
          <a:srgbClr val="FFFFFF"/>
        </a:accent3>
        <a:accent4>
          <a:srgbClr val="000000"/>
        </a:accent4>
        <a:accent5>
          <a:srgbClr val="FFE2E2"/>
        </a:accent5>
        <a:accent6>
          <a:srgbClr val="6D0466"/>
        </a:accent6>
        <a:hlink>
          <a:srgbClr val="993366"/>
        </a:hlink>
        <a:folHlink>
          <a:srgbClr val="9F839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0">
        <a:dk1>
          <a:srgbClr val="000000"/>
        </a:dk1>
        <a:lt1>
          <a:srgbClr val="FFFFFF"/>
        </a:lt1>
        <a:dk2>
          <a:srgbClr val="000000"/>
        </a:dk2>
        <a:lt2>
          <a:srgbClr val="FF9900"/>
        </a:lt2>
        <a:accent1>
          <a:srgbClr val="FFCC99"/>
        </a:accent1>
        <a:accent2>
          <a:srgbClr val="FBA313"/>
        </a:accent2>
        <a:accent3>
          <a:srgbClr val="FFFFFF"/>
        </a:accent3>
        <a:accent4>
          <a:srgbClr val="000000"/>
        </a:accent4>
        <a:accent5>
          <a:srgbClr val="FFE2CA"/>
        </a:accent5>
        <a:accent6>
          <a:srgbClr val="E39310"/>
        </a:accent6>
        <a:hlink>
          <a:srgbClr val="CC3300"/>
        </a:hlink>
        <a:folHlink>
          <a:srgbClr val="FCC66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1">
        <a:dk1>
          <a:srgbClr val="000000"/>
        </a:dk1>
        <a:lt1>
          <a:srgbClr val="FFFFFF"/>
        </a:lt1>
        <a:dk2>
          <a:srgbClr val="000000"/>
        </a:dk2>
        <a:lt2>
          <a:srgbClr val="779F92"/>
        </a:lt2>
        <a:accent1>
          <a:srgbClr val="33CCCC"/>
        </a:accent1>
        <a:accent2>
          <a:srgbClr val="9DC2D7"/>
        </a:accent2>
        <a:accent3>
          <a:srgbClr val="FFFFFF"/>
        </a:accent3>
        <a:accent4>
          <a:srgbClr val="000000"/>
        </a:accent4>
        <a:accent5>
          <a:srgbClr val="ADE2E2"/>
        </a:accent5>
        <a:accent6>
          <a:srgbClr val="8EB0C3"/>
        </a:accent6>
        <a:hlink>
          <a:srgbClr val="006666"/>
        </a:hlink>
        <a:folHlink>
          <a:srgbClr val="CC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2">
        <a:dk1>
          <a:srgbClr val="000000"/>
        </a:dk1>
        <a:lt1>
          <a:srgbClr val="FFFFFF"/>
        </a:lt1>
        <a:dk2>
          <a:srgbClr val="000000"/>
        </a:dk2>
        <a:lt2>
          <a:srgbClr val="00007D"/>
        </a:lt2>
        <a:accent1>
          <a:srgbClr val="9999FF"/>
        </a:accent1>
        <a:accent2>
          <a:srgbClr val="9999CC"/>
        </a:accent2>
        <a:accent3>
          <a:srgbClr val="FFFFFF"/>
        </a:accent3>
        <a:accent4>
          <a:srgbClr val="000000"/>
        </a:accent4>
        <a:accent5>
          <a:srgbClr val="CACAFF"/>
        </a:accent5>
        <a:accent6>
          <a:srgbClr val="8A8AB9"/>
        </a:accent6>
        <a:hlink>
          <a:srgbClr val="666699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3">
        <a:dk1>
          <a:srgbClr val="000099"/>
        </a:dk1>
        <a:lt1>
          <a:srgbClr val="FFFFFF"/>
        </a:lt1>
        <a:dk2>
          <a:srgbClr val="CC0000"/>
        </a:dk2>
        <a:lt2>
          <a:srgbClr val="808080"/>
        </a:lt2>
        <a:accent1>
          <a:srgbClr val="FFFF66"/>
        </a:accent1>
        <a:accent2>
          <a:srgbClr val="000099"/>
        </a:accent2>
        <a:accent3>
          <a:srgbClr val="FFFFFF"/>
        </a:accent3>
        <a:accent4>
          <a:srgbClr val="000082"/>
        </a:accent4>
        <a:accent5>
          <a:srgbClr val="FFFFB8"/>
        </a:accent5>
        <a:accent6>
          <a:srgbClr val="00008A"/>
        </a:accent6>
        <a:hlink>
          <a:srgbClr val="CC0000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ixel 14">
        <a:dk1>
          <a:srgbClr val="000099"/>
        </a:dk1>
        <a:lt1>
          <a:srgbClr val="FFFFFF"/>
        </a:lt1>
        <a:dk2>
          <a:srgbClr val="CC0000"/>
        </a:dk2>
        <a:lt2>
          <a:srgbClr val="0033CC"/>
        </a:lt2>
        <a:accent1>
          <a:srgbClr val="FFFF66"/>
        </a:accent1>
        <a:accent2>
          <a:srgbClr val="000099"/>
        </a:accent2>
        <a:accent3>
          <a:srgbClr val="FFFFFF"/>
        </a:accent3>
        <a:accent4>
          <a:srgbClr val="000082"/>
        </a:accent4>
        <a:accent5>
          <a:srgbClr val="FFFFB8"/>
        </a:accent5>
        <a:accent6>
          <a:srgbClr val="00008A"/>
        </a:accent6>
        <a:hlink>
          <a:srgbClr val="CC0000"/>
        </a:hlink>
        <a:folHlink>
          <a:srgbClr val="CCCCE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1583</Words>
  <Application>Microsoft Office PowerPoint</Application>
  <PresentationFormat>全屏显示(4:3)</PresentationFormat>
  <Paragraphs>213</Paragraphs>
  <Slides>31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2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31</vt:i4>
      </vt:variant>
    </vt:vector>
  </HeadingPairs>
  <TitlesOfParts>
    <vt:vector size="44" baseType="lpstr">
      <vt:lpstr>仿宋_GB2312</vt:lpstr>
      <vt:lpstr>SimHei</vt:lpstr>
      <vt:lpstr>隶书</vt:lpstr>
      <vt:lpstr>Microsoft YaHei</vt:lpstr>
      <vt:lpstr>Arial</vt:lpstr>
      <vt:lpstr>Calibri</vt:lpstr>
      <vt:lpstr>Cambria Math</vt:lpstr>
      <vt:lpstr>Courier New</vt:lpstr>
      <vt:lpstr>Times New Roman</vt:lpstr>
      <vt:lpstr>Wingdings</vt:lpstr>
      <vt:lpstr>Pixel</vt:lpstr>
      <vt:lpstr>自定义设计方案</vt:lpstr>
      <vt:lpstr>Equation</vt:lpstr>
      <vt:lpstr>在线算法</vt:lpstr>
      <vt:lpstr>本章内容</vt:lpstr>
      <vt:lpstr>在线算法基本概念</vt:lpstr>
      <vt:lpstr>在线算法基本概念</vt:lpstr>
      <vt:lpstr>摘麦穗问题</vt:lpstr>
      <vt:lpstr>摘麦穗的真谛</vt:lpstr>
      <vt:lpstr>摘麦穗问题</vt:lpstr>
      <vt:lpstr>摘麦穗问题-在线算法</vt:lpstr>
      <vt:lpstr>摘麦穗问题-在线算法证明</vt:lpstr>
      <vt:lpstr>摘麦穗问题</vt:lpstr>
      <vt:lpstr>概率是多少</vt:lpstr>
      <vt:lpstr>概率计算</vt:lpstr>
      <vt:lpstr>牛寻路问题</vt:lpstr>
      <vt:lpstr>牛寻路问题</vt:lpstr>
      <vt:lpstr>牛寻路问题</vt:lpstr>
      <vt:lpstr>牛寻路问题</vt:lpstr>
      <vt:lpstr>滑雪橇租赁问题</vt:lpstr>
      <vt:lpstr>滑雪橇租赁问题-算法</vt:lpstr>
      <vt:lpstr>滑雪橇租赁问题-在线算法</vt:lpstr>
      <vt:lpstr>滑雪橇租赁问题-在线算法</vt:lpstr>
      <vt:lpstr>滑雪橇租赁问题-在线策略</vt:lpstr>
      <vt:lpstr>滑雪橇租赁问题-在线策略</vt:lpstr>
      <vt:lpstr>开拓思维</vt:lpstr>
      <vt:lpstr>公交还是走路？</vt:lpstr>
      <vt:lpstr>离线策略</vt:lpstr>
      <vt:lpstr>在线策略</vt:lpstr>
      <vt:lpstr>页面调度问题</vt:lpstr>
      <vt:lpstr>页面调度问题</vt:lpstr>
      <vt:lpstr>页面调度问题</vt:lpstr>
      <vt:lpstr>页面调度问题</vt:lpstr>
      <vt:lpstr>页面调度问题</vt:lpstr>
    </vt:vector>
  </TitlesOfParts>
  <Company>计算机系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100</dc:title>
  <dc:creator>清华大学</dc:creator>
  <cp:lastModifiedBy>xl f</cp:lastModifiedBy>
  <cp:revision>1404</cp:revision>
  <cp:lastPrinted>2020-11-30T08:58:50Z</cp:lastPrinted>
  <dcterms:created xsi:type="dcterms:W3CDTF">2020-11-30T08:58:50Z</dcterms:created>
  <dcterms:modified xsi:type="dcterms:W3CDTF">2023-12-19T15:27:06Z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6</vt:i4>
  </property>
  <property fmtid="{D5CDD505-2E9C-101B-9397-08002B2CF9AE}" pid="3" name="KSOProductBuildVer">
    <vt:lpwstr>1033-11.1.0.9719</vt:lpwstr>
  </property>
</Properties>
</file>