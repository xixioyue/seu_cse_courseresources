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61" r:id="rId3"/>
  </p:sldMasterIdLst>
  <p:notesMasterIdLst>
    <p:notesMasterId r:id="rId19"/>
  </p:notesMasterIdLst>
  <p:handoutMasterIdLst>
    <p:handoutMasterId r:id="rId34"/>
  </p:handoutMasterIdLst>
  <p:sldIdLst>
    <p:sldId id="286" r:id="rId4"/>
    <p:sldId id="277" r:id="rId5"/>
    <p:sldId id="287" r:id="rId6"/>
    <p:sldId id="291" r:id="rId7"/>
    <p:sldId id="288" r:id="rId8"/>
    <p:sldId id="290" r:id="rId9"/>
    <p:sldId id="293" r:id="rId10"/>
    <p:sldId id="292" r:id="rId11"/>
    <p:sldId id="289" r:id="rId12"/>
    <p:sldId id="294" r:id="rId13"/>
    <p:sldId id="310" r:id="rId14"/>
    <p:sldId id="309" r:id="rId15"/>
    <p:sldId id="311" r:id="rId16"/>
    <p:sldId id="312" r:id="rId17"/>
    <p:sldId id="313" r:id="rId18"/>
    <p:sldId id="314" r:id="rId20"/>
    <p:sldId id="295" r:id="rId21"/>
    <p:sldId id="299" r:id="rId22"/>
    <p:sldId id="296" r:id="rId23"/>
    <p:sldId id="300" r:id="rId24"/>
    <p:sldId id="302" r:id="rId25"/>
    <p:sldId id="303" r:id="rId26"/>
    <p:sldId id="297" r:id="rId27"/>
    <p:sldId id="304" r:id="rId28"/>
    <p:sldId id="305" r:id="rId29"/>
    <p:sldId id="298" r:id="rId30"/>
    <p:sldId id="307" r:id="rId31"/>
    <p:sldId id="306" r:id="rId32"/>
    <p:sldId id="308" r:id="rId3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80604020202020204" pitchFamily="34" charset="0"/>
        <a:ea typeface="SimSun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80604020202020204" pitchFamily="34" charset="0"/>
        <a:ea typeface="SimSun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80604020202020204" pitchFamily="34" charset="0"/>
        <a:ea typeface="SimSun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80604020202020204" pitchFamily="34" charset="0"/>
        <a:ea typeface="SimSun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80604020202020204" pitchFamily="34" charset="0"/>
        <a:ea typeface="SimSun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80604020202020204" pitchFamily="34" charset="0"/>
        <a:ea typeface="SimSun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80604020202020204" pitchFamily="34" charset="0"/>
        <a:ea typeface="SimSun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80604020202020204" pitchFamily="34" charset="0"/>
        <a:ea typeface="SimSun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80604020202020204" pitchFamily="34" charset="0"/>
        <a:ea typeface="SimSun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00"/>
    <a:srgbClr val="0000A8"/>
    <a:srgbClr val="660066"/>
    <a:srgbClr val="339933"/>
    <a:srgbClr val="003366"/>
    <a:srgbClr val="CCFF66"/>
    <a:srgbClr val="CCFFCC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67" autoAdjust="0"/>
    <p:restoredTop sz="87111" autoAdjust="0"/>
  </p:normalViewPr>
  <p:slideViewPr>
    <p:cSldViewPr>
      <p:cViewPr varScale="1">
        <p:scale>
          <a:sx n="100" d="100"/>
          <a:sy n="100" d="100"/>
        </p:scale>
        <p:origin x="2190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5420"/>
    </p:cViewPr>
  </p:sorterViewPr>
  <p:notesViewPr>
    <p:cSldViewPr>
      <p:cViewPr varScale="1">
        <p:scale>
          <a:sx n="86" d="100"/>
          <a:sy n="86" d="100"/>
        </p:scale>
        <p:origin x="-3894" y="-90"/>
      </p:cViewPr>
      <p:guideLst>
        <p:guide orient="horz" pos="2880"/>
        <p:guide pos="2160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7" Type="http://schemas.openxmlformats.org/officeDocument/2006/relationships/tableStyles" Target="tableStyles.xml"/><Relationship Id="rId36" Type="http://schemas.openxmlformats.org/officeDocument/2006/relationships/viewProps" Target="viewProps.xml"/><Relationship Id="rId35" Type="http://schemas.openxmlformats.org/officeDocument/2006/relationships/presProps" Target="presProps.xml"/><Relationship Id="rId34" Type="http://schemas.openxmlformats.org/officeDocument/2006/relationships/handoutMaster" Target="handoutMasters/handoutMaster1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notesMaster" Target="notesMasters/notesMaster1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8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80604020202020204" pitchFamily="34" charset="0"/>
              </a:defRPr>
            </a:lvl1pPr>
          </a:lstStyle>
          <a:p>
            <a:pPr>
              <a:defRPr/>
            </a:pPr>
            <a:fld id="{4983CCC5-86F3-4930-B4DA-8136FE63C6C9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8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80604020202020204" pitchFamily="34" charset="0"/>
              </a:defRPr>
            </a:lvl1pPr>
          </a:lstStyle>
          <a:p>
            <a:pPr>
              <a:defRPr/>
            </a:pPr>
            <a:fld id="{B8D0EA48-5ED8-475C-824D-BCAD6F948D95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200">
                <a:latin typeface="Arial" panose="0208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785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latin typeface="Arial" panose="02080604020202020204" pitchFamily="34" charset="0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348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785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 smtClean="0"/>
              <a:t>单击此处编辑母版文本样式</a:t>
            </a:r>
            <a:endParaRPr lang="zh-CN" altLang="en-US" noProof="0" smtClean="0"/>
          </a:p>
          <a:p>
            <a:pPr lvl="1"/>
            <a:r>
              <a:rPr lang="zh-CN" altLang="en-US" noProof="0" smtClean="0"/>
              <a:t>第二级</a:t>
            </a:r>
            <a:endParaRPr lang="zh-CN" altLang="en-US" noProof="0" smtClean="0"/>
          </a:p>
          <a:p>
            <a:pPr lvl="2"/>
            <a:r>
              <a:rPr lang="zh-CN" altLang="en-US" noProof="0" smtClean="0"/>
              <a:t>第三级</a:t>
            </a:r>
            <a:endParaRPr lang="zh-CN" altLang="en-US" noProof="0" smtClean="0"/>
          </a:p>
          <a:p>
            <a:pPr lvl="3"/>
            <a:r>
              <a:rPr lang="zh-CN" altLang="en-US" noProof="0" smtClean="0"/>
              <a:t>第四级</a:t>
            </a:r>
            <a:endParaRPr lang="zh-CN" altLang="en-US" noProof="0" smtClean="0"/>
          </a:p>
          <a:p>
            <a:pPr lvl="4"/>
            <a:r>
              <a:rPr lang="zh-CN" altLang="en-US" noProof="0" smtClean="0"/>
              <a:t>第五级</a:t>
            </a:r>
            <a:endParaRPr lang="zh-CN" altLang="en-US" noProof="0" smtClean="0"/>
          </a:p>
        </p:txBody>
      </p:sp>
      <p:sp>
        <p:nvSpPr>
          <p:cNvPr id="2785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latin typeface="Arial" panose="02080604020202020204" pitchFamily="34" charset="0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2785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Arial" panose="02080604020202020204" pitchFamily="34" charset="0"/>
              </a:defRPr>
            </a:lvl1pPr>
          </a:lstStyle>
          <a:p>
            <a:pPr>
              <a:defRPr/>
            </a:pPr>
            <a:fld id="{0D649336-58DB-4A2C-A514-83F2AD1F4EA5}" type="slidenum">
              <a:rPr lang="zh-CN" altLang="en-US"/>
            </a:fld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80604020202020204" pitchFamily="34" charset="0"/>
        <a:ea typeface="SimSun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80604020202020204" pitchFamily="34" charset="0"/>
        <a:ea typeface="SimSun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80604020202020204" pitchFamily="34" charset="0"/>
        <a:ea typeface="SimSun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80604020202020204" pitchFamily="34" charset="0"/>
        <a:ea typeface="SimSun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80604020202020204" pitchFamily="34" charset="0"/>
        <a:ea typeface="SimSun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针对第</a:t>
                </a:r>
                <a:r>
                  <a:rPr lang="en-US" altLang="zh-CN" dirty="0" smtClean="0"/>
                  <a:t>4</a:t>
                </a:r>
                <a:r>
                  <a:rPr lang="zh-CN" altLang="en-US" dirty="0" smtClean="0"/>
                  <a:t>种情况，</a:t>
                </a:r>
                <a:r>
                  <a:rPr lang="en-US" altLang="zh-CN" dirty="0" err="1" smtClean="0"/>
                  <a:t>Ci</a:t>
                </a:r>
                <a:r>
                  <a:rPr lang="zh-CN" altLang="en-US" dirty="0" smtClean="0"/>
                  <a:t>可满足，必然有一个变量</a:t>
                </a:r>
                <a:r>
                  <a:rPr lang="en-US" altLang="zh-CN" dirty="0" err="1" smtClean="0"/>
                  <a:t>xij</a:t>
                </a:r>
                <a:r>
                  <a:rPr lang="zh-CN" altLang="en-US" dirty="0" smtClean="0"/>
                  <a:t>为</a:t>
                </a:r>
                <a:r>
                  <a:rPr lang="en-US" altLang="zh-CN" dirty="0" smtClean="0"/>
                  <a:t>1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若是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2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12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  <m:r>
                          <a:rPr lang="en-US" altLang="zh-CN" sz="12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𝟏</m:t>
                        </m:r>
                      </m:sub>
                    </m:sSub>
                    <m:r>
                      <a:rPr lang="en-US" altLang="zh-CN" sz="1200" i="1">
                        <a:latin typeface="Cambria Math" panose="02040503050406030204"/>
                        <a:ea typeface="Cambria Math" panose="02040503050406030204"/>
                      </a:rPr>
                      <m:t>∨</m:t>
                    </m:r>
                    <m:sSub>
                      <m:sSubPr>
                        <m:ctrlPr>
                          <a:rPr lang="en-US" altLang="zh-CN" sz="1200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2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12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  <m:r>
                          <a:rPr lang="en-US" altLang="zh-CN" sz="12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dirty="0" smtClean="0"/>
                  <a:t>为</a:t>
                </a:r>
                <a:r>
                  <a:rPr lang="en-US" altLang="zh-CN" dirty="0" smtClean="0"/>
                  <a:t>1</a:t>
                </a:r>
                <a:r>
                  <a:rPr lang="zh-CN" altLang="en-US" dirty="0" smtClean="0"/>
                  <a:t>，则令</a:t>
                </a:r>
                <a:r>
                  <a:rPr lang="en-US" altLang="zh-CN" dirty="0" smtClean="0"/>
                  <a:t>3CNF-SAT</a:t>
                </a:r>
                <a:r>
                  <a:rPr lang="zh-CN" altLang="en-US" dirty="0" smtClean="0"/>
                  <a:t>中每个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2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𝒚</m:t>
                        </m:r>
                      </m:e>
                      <m:sub>
                        <m:r>
                          <a:rPr lang="en-US" altLang="zh-CN" sz="12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  <m:r>
                          <a:rPr lang="en-US" altLang="zh-CN" sz="1200" b="0" i="1" smtClean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𝑗</m:t>
                        </m:r>
                      </m:sub>
                    </m:sSub>
                    <m:r>
                      <a:rPr lang="en-US" altLang="zh-CN" sz="1200" b="0" i="1" smtClean="0">
                        <a:latin typeface="Cambria Math" panose="02040503050406030204"/>
                        <a:ea typeface="黑体" panose="02010609060101010101" pitchFamily="49" charset="-122"/>
                      </a:rPr>
                      <m:t>=</m:t>
                    </m:r>
                    <m:r>
                      <a:rPr lang="en-US" altLang="zh-CN" sz="1200" b="0" i="1" smtClean="0">
                        <a:latin typeface="Cambria Math" panose="02040503050406030204"/>
                        <a:ea typeface="黑体" panose="02010609060101010101" pitchFamily="49" charset="-122"/>
                      </a:rPr>
                      <m:t>0</m:t>
                    </m:r>
                  </m:oMath>
                </a14:m>
                <a:r>
                  <a:rPr lang="zh-CN" altLang="en-US" dirty="0" smtClean="0"/>
                  <a:t>，此时后面每个子句都有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CN" sz="1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sz="1200" i="1" dirty="0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𝒚</m:t>
                            </m:r>
                          </m:e>
                        </m:acc>
                      </m:e>
                      <m:sub>
                        <m:r>
                          <a:rPr lang="en-US" altLang="zh-CN" sz="1200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  <m:r>
                          <a:rPr lang="en-US" altLang="zh-CN" sz="1200" b="0" i="1" dirty="0" smtClean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𝑗</m:t>
                        </m:r>
                      </m:sub>
                    </m:sSub>
                    <m:r>
                      <a:rPr lang="en-US" altLang="zh-CN" sz="1200" b="0" i="1" dirty="0" smtClean="0">
                        <a:latin typeface="Cambria Math" panose="02040503050406030204"/>
                        <a:ea typeface="黑体" panose="02010609060101010101" pitchFamily="49" charset="-122"/>
                      </a:rPr>
                      <m:t>=</m:t>
                    </m:r>
                    <m:r>
                      <a:rPr lang="en-US" altLang="zh-CN" sz="1200" b="0" i="1" dirty="0" smtClean="0">
                        <a:latin typeface="Cambria Math" panose="02040503050406030204"/>
                        <a:ea typeface="黑体" panose="02010609060101010101" pitchFamily="49" charset="-122"/>
                      </a:rPr>
                      <m:t>1</m:t>
                    </m:r>
                  </m:oMath>
                </a14:m>
                <a:r>
                  <a:rPr lang="zh-CN" altLang="en-US" sz="1200" b="0" dirty="0" smtClean="0">
                    <a:ea typeface="黑体" panose="02010609060101010101" pitchFamily="49" charset="-122"/>
                  </a:rPr>
                  <a:t>，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zh-CN" altLang="en-US" dirty="0" smtClean="0">
                        <a:latin typeface="Cambria Math" panose="02040503050406030204" pitchFamily="18" charset="0"/>
                      </a:rPr>
                      <m:t>即每个子句为</m:t>
                    </m:r>
                    <m:r>
                      <m:rPr>
                        <m:nor/>
                      </m:rPr>
                      <a:rPr lang="en-US" altLang="zh-CN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sz="1200" b="0" dirty="0" smtClean="0">
                    <a:ea typeface="黑体" panose="02010609060101010101" pitchFamily="49" charset="-122"/>
                  </a:rPr>
                  <a:t>；</a:t>
                </a:r>
                <a:endParaRPr lang="en-US" altLang="zh-CN" sz="1200" b="0" dirty="0" smtClean="0">
                  <a:ea typeface="黑体" panose="02010609060101010101" pitchFamily="49" charset="-122"/>
                </a:endParaRPr>
              </a:p>
              <a:p>
                <a:r>
                  <a:rPr lang="zh-CN" altLang="en-US" dirty="0" smtClean="0"/>
                  <a:t>若是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2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12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  <m:r>
                          <a:rPr lang="en-US" altLang="zh-CN" sz="12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(|</m:t>
                        </m:r>
                        <m:sSub>
                          <m:sSubPr>
                            <m:ctrlPr>
                              <a:rPr lang="en-US" altLang="zh-CN" sz="1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200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𝑪</m:t>
                            </m:r>
                          </m:e>
                          <m:sub>
                            <m:r>
                              <a:rPr lang="en-US" altLang="zh-CN" sz="1200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𝒊</m:t>
                            </m:r>
                          </m:sub>
                        </m:sSub>
                        <m:r>
                          <a:rPr lang="en-US" altLang="zh-CN" sz="12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|−</m:t>
                        </m:r>
                        <m:r>
                          <a:rPr lang="en-US" altLang="zh-CN" sz="12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𝟏</m:t>
                        </m:r>
                        <m:r>
                          <a:rPr lang="en-US" altLang="zh-CN" sz="12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)</m:t>
                        </m:r>
                      </m:sub>
                    </m:sSub>
                    <m:r>
                      <a:rPr lang="en-US" altLang="zh-CN" sz="1200" i="1">
                        <a:latin typeface="Cambria Math" panose="02040503050406030204"/>
                        <a:ea typeface="Cambria Math" panose="02040503050406030204"/>
                      </a:rPr>
                      <m:t>∨</m:t>
                    </m:r>
                    <m:sSub>
                      <m:sSubPr>
                        <m:ctrlPr>
                          <a:rPr lang="en-US" altLang="zh-CN" sz="1200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2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12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  <m:r>
                          <a:rPr lang="en-US" altLang="zh-CN" sz="12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|</m:t>
                        </m:r>
                        <m:sSub>
                          <m:sSubPr>
                            <m:ctrlPr>
                              <a:rPr lang="en-US" altLang="zh-CN" sz="1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200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𝑪</m:t>
                            </m:r>
                          </m:e>
                          <m:sub>
                            <m:r>
                              <a:rPr lang="en-US" altLang="zh-CN" sz="1200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𝒊</m:t>
                            </m:r>
                          </m:sub>
                        </m:sSub>
                        <m:r>
                          <a:rPr lang="en-US" altLang="zh-CN" sz="12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|</m:t>
                        </m:r>
                      </m:sub>
                    </m:sSub>
                  </m:oMath>
                </a14:m>
                <a:r>
                  <a:rPr lang="zh-CN" altLang="en-US" dirty="0" smtClean="0"/>
                  <a:t>为</a:t>
                </a:r>
                <a:r>
                  <a:rPr lang="en-US" altLang="zh-CN" dirty="0" smtClean="0"/>
                  <a:t>1</a:t>
                </a:r>
                <a:r>
                  <a:rPr lang="zh-CN" altLang="en-US" dirty="0" smtClean="0"/>
                  <a:t>，则令</a:t>
                </a:r>
                <a:r>
                  <a:rPr lang="en-US" altLang="zh-CN" dirty="0" smtClean="0"/>
                  <a:t>3CNF-SAT</a:t>
                </a:r>
                <a:r>
                  <a:rPr lang="zh-CN" altLang="en-US" dirty="0" smtClean="0"/>
                  <a:t>中每个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CN" sz="1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sz="1200" i="1" dirty="0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𝒚</m:t>
                            </m:r>
                          </m:e>
                        </m:acc>
                      </m:e>
                      <m:sub>
                        <m:r>
                          <a:rPr lang="en-US" altLang="zh-CN" sz="1200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  <m:r>
                          <a:rPr lang="en-US" altLang="zh-CN" sz="1200" b="0" i="1" dirty="0" smtClean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𝑗</m:t>
                        </m:r>
                      </m:sub>
                    </m:sSub>
                    <m:r>
                      <a:rPr lang="en-US" altLang="zh-CN" sz="1200" b="0" i="1" dirty="0" smtClean="0">
                        <a:latin typeface="Cambria Math" panose="02040503050406030204"/>
                        <a:ea typeface="黑体" panose="02010609060101010101" pitchFamily="49" charset="-122"/>
                      </a:rPr>
                      <m:t>=</m:t>
                    </m:r>
                  </m:oMath>
                </a14:m>
                <a:r>
                  <a:rPr lang="en-US" altLang="zh-CN" dirty="0" smtClean="0"/>
                  <a:t>0</a:t>
                </a:r>
                <a:r>
                  <a:rPr lang="zh-CN" altLang="en-US" dirty="0" smtClean="0"/>
                  <a:t>，此时前面每个子句都有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2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𝒚</m:t>
                        </m:r>
                      </m:e>
                      <m:sub>
                        <m:r>
                          <a:rPr lang="en-US" altLang="zh-CN" sz="12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  <m:r>
                          <a:rPr lang="en-US" altLang="zh-CN" sz="1200" b="0" i="1" smtClean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𝑗</m:t>
                        </m:r>
                      </m:sub>
                    </m:sSub>
                    <m:r>
                      <a:rPr lang="en-US" altLang="zh-CN" sz="1200" b="0" i="1" smtClean="0">
                        <a:latin typeface="Cambria Math" panose="02040503050406030204"/>
                        <a:ea typeface="黑体" panose="02010609060101010101" pitchFamily="49" charset="-122"/>
                      </a:rPr>
                      <m:t>=</m:t>
                    </m:r>
                    <m:r>
                      <a:rPr lang="en-US" altLang="zh-CN" sz="1200" b="0" i="1" smtClean="0">
                        <a:latin typeface="Cambria Math" panose="02040503050406030204"/>
                        <a:ea typeface="黑体" panose="02010609060101010101" pitchFamily="49" charset="-122"/>
                      </a:rPr>
                      <m:t>1</m:t>
                    </m:r>
                  </m:oMath>
                </a14:m>
                <a:r>
                  <a:rPr lang="zh-CN" altLang="en-US" dirty="0" smtClean="0"/>
                  <a:t>，即每个子句为</a:t>
                </a:r>
                <a:r>
                  <a:rPr lang="en-US" altLang="zh-CN" dirty="0" smtClean="0"/>
                  <a:t>1</a:t>
                </a:r>
                <a:r>
                  <a:rPr lang="zh-CN" altLang="en-US" dirty="0" smtClean="0"/>
                  <a:t>；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否则中间某个</a:t>
                </a:r>
                <a:r>
                  <a:rPr lang="en-US" altLang="zh-CN" dirty="0" err="1" smtClean="0"/>
                  <a:t>xij</a:t>
                </a:r>
                <a:r>
                  <a:rPr lang="zh-CN" altLang="en-US" dirty="0" smtClean="0"/>
                  <a:t>为</a:t>
                </a:r>
                <a:r>
                  <a:rPr lang="en-US" altLang="zh-CN" dirty="0" smtClean="0"/>
                  <a:t>1</a:t>
                </a:r>
                <a:r>
                  <a:rPr lang="zh-CN" altLang="en-US" dirty="0" smtClean="0"/>
                  <a:t>，则令</a:t>
                </a:r>
                <a:r>
                  <a:rPr lang="en-US" altLang="zh-CN" dirty="0" smtClean="0"/>
                  <a:t>j</a:t>
                </a:r>
                <a:r>
                  <a:rPr lang="zh-CN" altLang="en-US" dirty="0" smtClean="0"/>
                  <a:t>之前的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CN" sz="1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sz="1200" i="1" dirty="0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𝒚</m:t>
                            </m:r>
                          </m:e>
                        </m:acc>
                      </m:e>
                      <m:sub>
                        <m:r>
                          <a:rPr lang="en-US" altLang="zh-CN" sz="1200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  <m:r>
                          <a:rPr lang="en-US" altLang="zh-CN" sz="1200" b="0" i="1" dirty="0" smtClean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𝑘</m:t>
                        </m:r>
                      </m:sub>
                    </m:sSub>
                    <m:r>
                      <a:rPr lang="en-US" altLang="zh-CN" sz="1200" b="0" i="1" dirty="0" smtClean="0">
                        <a:latin typeface="Cambria Math" panose="02040503050406030204"/>
                        <a:ea typeface="黑体" panose="02010609060101010101" pitchFamily="49" charset="-122"/>
                      </a:rPr>
                      <m:t>=</m:t>
                    </m:r>
                  </m:oMath>
                </a14:m>
                <a:r>
                  <a:rPr lang="en-US" altLang="zh-CN" dirty="0" smtClean="0"/>
                  <a:t>0,</a:t>
                </a:r>
                <a:r>
                  <a:rPr lang="zh-CN" altLang="en-US" dirty="0" smtClean="0"/>
                  <a:t>而</a:t>
                </a:r>
                <a:r>
                  <a:rPr lang="en-US" altLang="zh-CN" dirty="0" smtClean="0"/>
                  <a:t>j</a:t>
                </a:r>
                <a:r>
                  <a:rPr lang="zh-CN" altLang="en-US" dirty="0" smtClean="0"/>
                  <a:t>之后的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2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𝒚</m:t>
                        </m:r>
                      </m:e>
                      <m:sub>
                        <m:r>
                          <a:rPr lang="en-US" altLang="zh-CN" sz="12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  <m:r>
                          <a:rPr lang="en-US" altLang="zh-CN" sz="1200" b="0" i="1" smtClean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𝑘</m:t>
                        </m:r>
                      </m:sub>
                    </m:sSub>
                    <m:r>
                      <a:rPr lang="en-US" altLang="zh-CN" sz="1200" b="0" i="1" smtClean="0">
                        <a:latin typeface="Cambria Math" panose="02040503050406030204"/>
                        <a:ea typeface="黑体" panose="02010609060101010101" pitchFamily="49" charset="-122"/>
                      </a:rPr>
                      <m:t>=</m:t>
                    </m:r>
                    <m:r>
                      <a:rPr lang="en-US" altLang="zh-CN" sz="1200" b="0" i="1" smtClean="0">
                        <a:latin typeface="Cambria Math" panose="02040503050406030204"/>
                        <a:ea typeface="黑体" panose="02010609060101010101" pitchFamily="49" charset="-122"/>
                      </a:rPr>
                      <m:t>0</m:t>
                    </m:r>
                  </m:oMath>
                </a14:m>
                <a:r>
                  <a:rPr lang="zh-CN" altLang="en-US" dirty="0" smtClean="0"/>
                  <a:t>，这样每个子句都为</a:t>
                </a:r>
                <a:r>
                  <a:rPr lang="en-US" altLang="zh-CN" dirty="0" smtClean="0"/>
                  <a:t>1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3" name="备注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649336-58DB-4A2C-A514-83F2AD1F4EA5}" type="slidenum">
              <a:rPr lang="zh-CN" altLang="en-US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针对第</a:t>
                </a:r>
                <a:r>
                  <a:rPr lang="en-US" altLang="zh-CN" dirty="0" smtClean="0"/>
                  <a:t>4</a:t>
                </a:r>
                <a:r>
                  <a:rPr lang="zh-CN" altLang="en-US" dirty="0" smtClean="0"/>
                  <a:t>种情况，必然有一个变量</a:t>
                </a:r>
                <a:r>
                  <a:rPr lang="en-US" altLang="zh-CN" dirty="0" err="1" smtClean="0"/>
                  <a:t>xij</a:t>
                </a:r>
                <a:r>
                  <a:rPr lang="zh-CN" altLang="en-US" dirty="0" smtClean="0"/>
                  <a:t>为</a:t>
                </a:r>
                <a:r>
                  <a:rPr lang="en-US" altLang="zh-CN" dirty="0" smtClean="0"/>
                  <a:t>1</a:t>
                </a:r>
                <a:r>
                  <a:rPr lang="zh-CN" altLang="en-US" dirty="0" smtClean="0"/>
                  <a:t>。否则，假设所有</a:t>
                </a:r>
                <a:r>
                  <a:rPr lang="en-US" altLang="zh-CN" dirty="0" err="1" smtClean="0"/>
                  <a:t>xij</a:t>
                </a:r>
                <a:r>
                  <a:rPr lang="zh-CN" altLang="en-US" dirty="0" smtClean="0"/>
                  <a:t>都为</a:t>
                </a:r>
                <a:r>
                  <a:rPr lang="en-US" altLang="zh-CN" dirty="0" smtClean="0"/>
                  <a:t>0</a:t>
                </a:r>
                <a:r>
                  <a:rPr lang="zh-CN" altLang="en-US" dirty="0" smtClean="0"/>
                  <a:t>，则第</a:t>
                </a:r>
                <a:r>
                  <a:rPr lang="en-US" altLang="zh-CN" dirty="0" smtClean="0"/>
                  <a:t>1</a:t>
                </a:r>
                <a:r>
                  <a:rPr lang="zh-CN" altLang="en-US" dirty="0" smtClean="0"/>
                  <a:t>个子句中</a:t>
                </a:r>
                <a:r>
                  <a:rPr lang="en-US" altLang="zh-CN" dirty="0" smtClean="0"/>
                  <a:t>yi1</a:t>
                </a:r>
                <a:r>
                  <a:rPr lang="zh-CN" altLang="en-US" dirty="0" smtClean="0"/>
                  <a:t>必须为</a:t>
                </a:r>
                <a:r>
                  <a:rPr lang="en-US" altLang="zh-CN" dirty="0" smtClean="0"/>
                  <a:t>1</a:t>
                </a:r>
                <a:r>
                  <a:rPr lang="zh-CN" altLang="en-US" dirty="0" smtClean="0"/>
                  <a:t>，第</a:t>
                </a:r>
                <a:r>
                  <a:rPr lang="en-US" altLang="zh-CN" dirty="0" smtClean="0"/>
                  <a:t>2</a:t>
                </a:r>
                <a:r>
                  <a:rPr lang="zh-CN" altLang="en-US" dirty="0" smtClean="0"/>
                  <a:t>个子句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b="1" i="1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CN" sz="1200" b="1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sz="1200" b="1" i="1" dirty="0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𝒚</m:t>
                            </m:r>
                          </m:e>
                        </m:acc>
                      </m:e>
                      <m:sub>
                        <m:r>
                          <a:rPr lang="en-US" altLang="zh-CN" sz="1200" b="1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  <m:r>
                          <a:rPr lang="en-US" altLang="zh-CN" sz="1200" b="1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dirty="0" smtClean="0"/>
                  <a:t>=0,</a:t>
                </a:r>
                <a:r>
                  <a:rPr lang="zh-CN" altLang="en-US" dirty="0" smtClean="0"/>
                  <a:t>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2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𝒚</m:t>
                        </m:r>
                      </m:e>
                      <m:sub>
                        <m:r>
                          <a:rPr lang="en-US" altLang="zh-CN" sz="12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  <m:r>
                          <a:rPr lang="en-US" altLang="zh-CN" sz="12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dirty="0" smtClean="0"/>
                  <a:t>必须为</a:t>
                </a:r>
                <a:r>
                  <a:rPr lang="en-US" altLang="zh-CN" dirty="0" smtClean="0"/>
                  <a:t>1</a:t>
                </a:r>
                <a:r>
                  <a:rPr lang="zh-CN" altLang="en-US" dirty="0" smtClean="0"/>
                  <a:t>，以此类推，得到最后一个子句为</a:t>
                </a:r>
                <a:r>
                  <a:rPr lang="en-US" altLang="zh-CN" dirty="0" smtClean="0"/>
                  <a:t>0</a:t>
                </a:r>
                <a:r>
                  <a:rPr lang="zh-CN" altLang="en-US" smtClean="0"/>
                  <a:t>，矛盾。</a:t>
                </a:r>
                <a:endParaRPr lang="en-US" altLang="zh-CN" dirty="0" smtClean="0"/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3" name="备注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649336-58DB-4A2C-A514-83F2AD1F4EA5}" type="slidenum">
              <a:rPr lang="zh-CN" altLang="en-US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649336-58DB-4A2C-A514-83F2AD1F4EA5}" type="slidenum">
              <a:rPr lang="zh-CN" altLang="en-US" smtClean="0"/>
            </a:fld>
            <a:endParaRPr lang="en-US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4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2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" name="Rectangle 6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7" name="Group 22"/>
            <p:cNvGrpSpPr/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7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" name="Rectangle 8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" name="Rectangle 9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" name="Rectangle 10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" name="Rectangle 11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" name="Rectangle 12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" name="Rectangle 13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" name="Rectangle 14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" name="Rectangle 15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" name="Rectangle 16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39953" name="Rectangle 17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460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noProof="0" dirty="0" smtClean="0"/>
              <a:t>单击此处编辑母版标题样式</a:t>
            </a:r>
            <a:endParaRPr lang="zh-CN" altLang="en-US" noProof="0" dirty="0" smtClean="0"/>
          </a:p>
        </p:txBody>
      </p:sp>
      <p:sp>
        <p:nvSpPr>
          <p:cNvPr id="39954" name="Rectangle 18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3000"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zh-CN" altLang="en-US" noProof="0" smtClean="0"/>
          </a:p>
        </p:txBody>
      </p:sp>
      <p:sp>
        <p:nvSpPr>
          <p:cNvPr id="18" name="Rectangle 3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19" name="Rectangle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20" name="Rectangle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2987675" y="6308725"/>
            <a:ext cx="2133600" cy="457200"/>
          </a:xfrm>
        </p:spPr>
        <p:txBody>
          <a:bodyPr/>
          <a:lstStyle>
            <a:lvl1pPr>
              <a:defRPr>
                <a:ea typeface="SimSun" panose="02010600030101010101" pitchFamily="2" charset="-122"/>
              </a:defRPr>
            </a:lvl1pPr>
          </a:lstStyle>
          <a:p>
            <a:pPr>
              <a:defRPr/>
            </a:pPr>
            <a:fld id="{0AEB4698-B8DB-437D-A72F-79E963AC2888}" type="slidenum">
              <a:rPr lang="en-US" altLang="zh-CN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000" baseline="0">
                <a:solidFill>
                  <a:schemeClr val="tx1"/>
                </a:solidFill>
                <a:latin typeface="Arial" panose="02080604020202020204" pitchFamily="34" charset="0"/>
                <a:ea typeface="黑体" panose="02010609060101010101" pitchFamily="49" charset="-122"/>
              </a:defRPr>
            </a:lvl1pPr>
            <a:lvl2pPr>
              <a:defRPr sz="2600" baseline="0">
                <a:solidFill>
                  <a:srgbClr val="0000A8"/>
                </a:solidFill>
                <a:latin typeface="Arial" panose="02080604020202020204" pitchFamily="34" charset="0"/>
                <a:ea typeface="黑体" panose="02010609060101010101" pitchFamily="49" charset="-122"/>
              </a:defRPr>
            </a:lvl2pPr>
            <a:lvl3pPr>
              <a:defRPr sz="2300" baseline="0">
                <a:solidFill>
                  <a:schemeClr val="bg2"/>
                </a:solidFill>
                <a:latin typeface="Arial" panose="02080604020202020204" pitchFamily="34" charset="0"/>
                <a:ea typeface="黑体" panose="02010609060101010101" pitchFamily="49" charset="-122"/>
              </a:defRPr>
            </a:lvl3pPr>
            <a:lvl4pPr>
              <a:defRPr baseline="0">
                <a:solidFill>
                  <a:srgbClr val="C00000"/>
                </a:solidFill>
                <a:latin typeface="Arial" panose="02080604020202020204" pitchFamily="34" charset="0"/>
                <a:ea typeface="黑体" panose="02010609060101010101" pitchFamily="49" charset="-122"/>
              </a:defRPr>
            </a:lvl4pPr>
            <a:lvl5pPr>
              <a:defRPr baseline="0">
                <a:latin typeface="Arial" panose="02080604020202020204" pitchFamily="34" charset="0"/>
                <a:ea typeface="黑体" panose="02010609060101010101" pitchFamily="49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E6C03A-3073-401C-B837-061925A82BB2}" type="slidenum">
              <a:rPr lang="en-US" altLang="zh-CN"/>
            </a:fld>
            <a:endParaRPr lang="en-US" altLang="zh-CN" dirty="0"/>
          </a:p>
        </p:txBody>
      </p:sp>
      <p:sp>
        <p:nvSpPr>
          <p:cNvPr id="6" name="Rectangle 17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1A1BF9-52A6-4013-A43A-751A8425BA20}" type="slidenum">
              <a:rPr lang="en-US" altLang="zh-CN"/>
            </a:fld>
            <a:endParaRPr lang="en-US" altLang="zh-CN" dirty="0"/>
          </a:p>
        </p:txBody>
      </p:sp>
      <p:sp>
        <p:nvSpPr>
          <p:cNvPr id="6" name="Rectangle 17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484313"/>
            <a:ext cx="4038600" cy="4752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84313"/>
            <a:ext cx="4038600" cy="4752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9F1A7D-1F63-4B89-8DC4-C738F58AF122}" type="slidenum">
              <a:rPr lang="en-US" altLang="zh-CN"/>
            </a:fld>
            <a:endParaRPr lang="en-US" altLang="zh-CN" dirty="0"/>
          </a:p>
        </p:txBody>
      </p:sp>
      <p:sp>
        <p:nvSpPr>
          <p:cNvPr id="7" name="Rectangle 17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EB48B2-4D1C-45B9-9848-D47D570717DE}" type="slidenum">
              <a:rPr lang="en-US" altLang="zh-CN"/>
            </a:fld>
            <a:endParaRPr lang="en-US" altLang="zh-CN" dirty="0"/>
          </a:p>
        </p:txBody>
      </p:sp>
      <p:sp>
        <p:nvSpPr>
          <p:cNvPr id="9" name="Rectangle 17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4D1EC4-2614-4F9E-A769-62D082C185DB}" type="slidenum">
              <a:rPr lang="en-US" altLang="zh-CN"/>
            </a:fld>
            <a:endParaRPr lang="en-US" altLang="zh-CN" dirty="0"/>
          </a:p>
        </p:txBody>
      </p:sp>
      <p:sp>
        <p:nvSpPr>
          <p:cNvPr id="5" name="Rectangle 17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32F55C-006F-4F76-95B1-5623E00EC138}" type="slidenum">
              <a:rPr lang="en-US" altLang="zh-CN"/>
            </a:fld>
            <a:endParaRPr lang="en-US" altLang="zh-CN" dirty="0"/>
          </a:p>
        </p:txBody>
      </p:sp>
      <p:sp>
        <p:nvSpPr>
          <p:cNvPr id="4" name="Rectangle 17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7911F1-6F5E-4B3B-92F6-002D744C979D}" type="slidenum">
              <a:rPr lang="en-US" altLang="zh-CN"/>
            </a:fld>
            <a:endParaRPr lang="en-US" altLang="zh-CN" dirty="0"/>
          </a:p>
        </p:txBody>
      </p:sp>
      <p:sp>
        <p:nvSpPr>
          <p:cNvPr id="7" name="Rectangle 17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F78AA7-693C-4FF7-83DC-7A426B683855}" type="slidenum">
              <a:rPr lang="en-US" altLang="zh-CN"/>
            </a:fld>
            <a:endParaRPr lang="en-US" altLang="zh-CN" dirty="0"/>
          </a:p>
        </p:txBody>
      </p:sp>
      <p:sp>
        <p:nvSpPr>
          <p:cNvPr id="7" name="Rectangle 17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76E1B8-0929-44C3-A2D6-F90DEC31D1DE}" type="slidenum">
              <a:rPr lang="en-US" altLang="zh-CN"/>
            </a:fld>
            <a:endParaRPr lang="en-US" altLang="zh-CN" dirty="0"/>
          </a:p>
        </p:txBody>
      </p:sp>
      <p:sp>
        <p:nvSpPr>
          <p:cNvPr id="6" name="Rectangle 17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78008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78008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D97344-BF8B-411A-8C37-5524D9E96C7D}" type="slidenum">
              <a:rPr lang="en-US" altLang="zh-CN"/>
            </a:fld>
            <a:endParaRPr lang="en-US" altLang="zh-CN" dirty="0"/>
          </a:p>
        </p:txBody>
      </p:sp>
      <p:sp>
        <p:nvSpPr>
          <p:cNvPr id="6" name="Rectangle 17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0636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SmartArt 占位符 2"/>
          <p:cNvSpPr>
            <a:spLocks noGrp="1"/>
          </p:cNvSpPr>
          <p:nvPr>
            <p:ph type="pic" idx="1"/>
          </p:nvPr>
        </p:nvSpPr>
        <p:spPr>
          <a:xfrm>
            <a:off x="457200" y="1484313"/>
            <a:ext cx="8229600" cy="4752975"/>
          </a:xfrm>
        </p:spPr>
        <p:txBody>
          <a:bodyPr/>
          <a:lstStyle/>
          <a:p>
            <a:pPr lvl="0"/>
            <a:endParaRPr lang="zh-CN" altLang="en-US" noProof="0" smtClean="0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3E580A-F19A-465C-93C7-460F6608EF71}" type="slidenum">
              <a:rPr lang="en-US" altLang="zh-CN"/>
            </a:fld>
            <a:endParaRPr lang="en-US" altLang="zh-CN" dirty="0"/>
          </a:p>
        </p:txBody>
      </p:sp>
      <p:sp>
        <p:nvSpPr>
          <p:cNvPr id="6" name="Rectangle 17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51E090-A4F8-4FCA-A060-2F6DD3C03F81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9D411C-4242-416B-8DE9-EB4039463D7E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8686EC-D099-4372-BDD9-829E58E9472F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424DA9-208B-43E8-967B-080BBF2467DB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E7BAF2-1327-4969-A6F0-E2F0EB18D6A5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8392BB-9F00-4281-8DF2-7539A32DE85B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4BFF3D-9272-4EA0-B621-809FFF106DC9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00FED-3FCF-416E-A710-E1D08CCAF41B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281068-A6A7-40BA-AA51-9CE1E7FB103D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E56E54-46E6-4D0E-BAB5-7C81DCF5D725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4200B1-7CE9-4E03-974C-3D2C9CF08633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A4B600-6BBE-4D9E-8827-53588239764E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1DD764-0E3E-4350-9825-04C34050A9A1}" type="datetimeFigureOut">
              <a:rPr lang="zh-CN" altLang="en-US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65DF58-CD75-4FC7-9039-C4B424AD609C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E423E9-2F86-4BBB-A8E4-AED299374AA4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2AABA0-EEF2-4F79-AF85-D1D2C5852D9C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B98C9A-BDE2-4BF5-8AEE-B1CB72B63FF3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B76CE0-A9E1-4689-8D3E-1078A01564E7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C924B9-AC47-41FD-BB83-1E08B998B4C8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E11340-A4AF-466A-9F84-BE901AABC08A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8C1FB0-0586-4020-80FA-AF0E6D23BE7F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B4D320-C711-4AC7-B92C-5584F52B93F2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ctr">
              <a:defRPr sz="1200">
                <a:latin typeface="Arial" panose="02080604020202020204" pitchFamily="34" charset="0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38916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696075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defRPr sz="2000" b="1">
                <a:solidFill>
                  <a:srgbClr val="006600"/>
                </a:solidFill>
                <a:latin typeface="Courier New" panose="02070309020205020404" pitchFamily="49" charset="0"/>
                <a:ea typeface="华文新魏" panose="02010800040101010101" pitchFamily="2" charset="-122"/>
              </a:defRPr>
            </a:lvl1pPr>
          </a:lstStyle>
          <a:p>
            <a:pPr>
              <a:defRPr/>
            </a:pPr>
            <a:fld id="{5CCA33BB-C97C-478A-8B6B-6E2EDE14E7F6}" type="slidenum">
              <a:rPr lang="en-US" altLang="zh-CN"/>
            </a:fld>
            <a:endParaRPr lang="en-US" altLang="zh-CN" dirty="0"/>
          </a:p>
        </p:txBody>
      </p:sp>
      <p:grpSp>
        <p:nvGrpSpPr>
          <p:cNvPr id="1028" name="Group 35"/>
          <p:cNvGrpSpPr/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2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033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034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hlink"/>
                </a:solidFill>
              </a:endParaRPr>
            </a:p>
          </p:txBody>
        </p:sp>
        <p:sp>
          <p:nvSpPr>
            <p:cNvPr id="1035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hlink"/>
                </a:solidFill>
              </a:endParaRPr>
            </a:p>
          </p:txBody>
        </p:sp>
        <p:sp>
          <p:nvSpPr>
            <p:cNvPr id="1036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accent2"/>
                </a:solidFill>
              </a:endParaRPr>
            </a:p>
          </p:txBody>
        </p:sp>
        <p:sp>
          <p:nvSpPr>
            <p:cNvPr id="1037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hlink"/>
                </a:solidFill>
              </a:endParaRPr>
            </a:p>
          </p:txBody>
        </p:sp>
        <p:sp>
          <p:nvSpPr>
            <p:cNvPr id="1038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039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accent2"/>
                </a:solidFill>
              </a:endParaRPr>
            </a:p>
          </p:txBody>
        </p:sp>
        <p:sp>
          <p:nvSpPr>
            <p:cNvPr id="1040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accent2"/>
                </a:solidFill>
              </a:endParaRPr>
            </a:p>
          </p:txBody>
        </p:sp>
      </p:grpSp>
      <p:sp>
        <p:nvSpPr>
          <p:cNvPr id="1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063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484313"/>
            <a:ext cx="8229600" cy="4752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38929" name="Rectangle 1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latin typeface="Arial" panose="02080604020202020204" pitchFamily="34" charset="0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CC00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CC0000"/>
          </a:solidFill>
          <a:latin typeface="Arial" panose="02080604020202020204" pitchFamily="34" charset="0"/>
          <a:ea typeface="隶书" panose="020105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CC0000"/>
          </a:solidFill>
          <a:latin typeface="Arial" panose="02080604020202020204" pitchFamily="34" charset="0"/>
          <a:ea typeface="隶书" panose="020105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CC0000"/>
          </a:solidFill>
          <a:latin typeface="Arial" panose="02080604020202020204" pitchFamily="34" charset="0"/>
          <a:ea typeface="隶书" panose="020105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CC0000"/>
          </a:solidFill>
          <a:latin typeface="Arial" panose="02080604020202020204" pitchFamily="34" charset="0"/>
          <a:ea typeface="隶书" panose="02010509060101010101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000" b="1">
          <a:solidFill>
            <a:srgbClr val="CC0000"/>
          </a:solidFill>
          <a:latin typeface="Arial" panose="02080604020202020204" pitchFamily="34" charset="0"/>
          <a:ea typeface="隶书" panose="02010509060101010101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000" b="1">
          <a:solidFill>
            <a:srgbClr val="CC0000"/>
          </a:solidFill>
          <a:latin typeface="Arial" panose="02080604020202020204" pitchFamily="34" charset="0"/>
          <a:ea typeface="隶书" panose="02010509060101010101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000" b="1">
          <a:solidFill>
            <a:srgbClr val="CC0000"/>
          </a:solidFill>
          <a:latin typeface="Arial" panose="02080604020202020204" pitchFamily="34" charset="0"/>
          <a:ea typeface="隶书" panose="02010509060101010101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000" b="1">
          <a:solidFill>
            <a:srgbClr val="CC0000"/>
          </a:solidFill>
          <a:latin typeface="Arial" panose="02080604020202020204" pitchFamily="34" charset="0"/>
          <a:ea typeface="隶书" panose="02010509060101010101" pitchFamily="49" charset="-122"/>
        </a:defRPr>
      </a:lvl9pPr>
    </p:titleStyle>
    <p:bodyStyle>
      <a:lvl1pPr marL="342900" indent="-342900" algn="l" rtl="0" eaLnBrk="0" fontAlgn="base" hangingPunct="0">
        <a:lnSpc>
          <a:spcPct val="105000"/>
        </a:lnSpc>
        <a:spcBef>
          <a:spcPct val="15000"/>
        </a:spcBef>
        <a:spcAft>
          <a:spcPct val="0"/>
        </a:spcAft>
        <a:buClr>
          <a:srgbClr val="660066"/>
        </a:buClr>
        <a:buSzPct val="55000"/>
        <a:buFont typeface="Wingdings" panose="05000000000000000000" pitchFamily="2" charset="2"/>
        <a:buChar char="n"/>
        <a:defRPr sz="2800" b="1">
          <a:solidFill>
            <a:schemeClr val="bg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lnSpc>
          <a:spcPct val="105000"/>
        </a:lnSpc>
        <a:spcBef>
          <a:spcPct val="15000"/>
        </a:spcBef>
        <a:spcAft>
          <a:spcPct val="0"/>
        </a:spcAft>
        <a:buClr>
          <a:srgbClr val="006600"/>
        </a:buClr>
        <a:buSzPct val="55000"/>
        <a:buFont typeface="Wingdings" panose="05000000000000000000" pitchFamily="2" charset="2"/>
        <a:buChar char="r"/>
        <a:defRPr sz="2800" b="1">
          <a:solidFill>
            <a:schemeClr val="bg2"/>
          </a:solidFill>
          <a:latin typeface="Times New Roman" panose="02020603050405020304" pitchFamily="18" charset="0"/>
          <a:ea typeface="+mn-ea"/>
        </a:defRPr>
      </a:lvl2pPr>
      <a:lvl3pPr marL="1143000" indent="-228600" algn="l" rtl="0" eaLnBrk="0" fontAlgn="base" hangingPunct="0">
        <a:lnSpc>
          <a:spcPct val="105000"/>
        </a:lnSpc>
        <a:spcBef>
          <a:spcPct val="15000"/>
        </a:spcBef>
        <a:spcAft>
          <a:spcPct val="0"/>
        </a:spcAft>
        <a:buClr>
          <a:srgbClr val="FF0000"/>
        </a:buClr>
        <a:buSzPct val="65000"/>
        <a:buFont typeface="Wingdings" panose="05000000000000000000" pitchFamily="2" charset="2"/>
        <a:buChar char="Ø"/>
        <a:defRPr sz="2800" b="1">
          <a:solidFill>
            <a:schemeClr val="bg2"/>
          </a:solidFill>
          <a:latin typeface="Times New Roman" panose="02020603050405020304" pitchFamily="18" charset="0"/>
          <a:ea typeface="+mn-ea"/>
        </a:defRPr>
      </a:lvl3pPr>
      <a:lvl4pPr marL="1600200" indent="-228600" algn="l" rtl="0" eaLnBrk="0" fontAlgn="base" hangingPunct="0">
        <a:lnSpc>
          <a:spcPct val="105000"/>
        </a:lnSpc>
        <a:spcBef>
          <a:spcPct val="15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  <a:ea typeface="SimSun" panose="02010600030101010101" pitchFamily="2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SimSun" panose="02010600030101010101" pitchFamily="2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SimSun" panose="02010600030101010101" pitchFamily="2" charset="-122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SimSun" panose="02010600030101010101" pitchFamily="2" charset="-122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SimSun" panose="02010600030101010101" pitchFamily="2" charset="-122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SimSun" panose="02010600030101010101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2051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80604020202020204" pitchFamily="34" charset="0"/>
              </a:defRPr>
            </a:lvl1pPr>
          </a:lstStyle>
          <a:p>
            <a:pPr>
              <a:defRPr/>
            </a:pPr>
            <a:fld id="{7BAF7AE8-7FB0-4406-90AB-6887A4CACEFE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8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80604020202020204" pitchFamily="34" charset="0"/>
              </a:defRPr>
            </a:lvl1pPr>
          </a:lstStyle>
          <a:p>
            <a:pPr>
              <a:defRPr/>
            </a:pPr>
            <a:fld id="{0D8CD665-E0F7-4569-8194-B257B5EB7313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8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8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8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9.png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9.png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19.png"/><Relationship Id="rId7" Type="http://schemas.openxmlformats.org/officeDocument/2006/relationships/image" Target="../media/image18.png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29.png"/><Relationship Id="rId7" Type="http://schemas.openxmlformats.org/officeDocument/2006/relationships/image" Target="../media/image28.png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0" Type="http://schemas.openxmlformats.org/officeDocument/2006/relationships/notesSlide" Target="../notesSlides/notesSlide3.xml"/><Relationship Id="rId1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29.png"/><Relationship Id="rId7" Type="http://schemas.openxmlformats.org/officeDocument/2006/relationships/image" Target="../media/image28.png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30.png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29.png"/><Relationship Id="rId7" Type="http://schemas.openxmlformats.org/officeDocument/2006/relationships/image" Target="../media/image28.png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3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2.png"/></Relationships>
</file>

<file path=ppt/slides/_rels/slide2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3.png"/><Relationship Id="rId3" Type="http://schemas.openxmlformats.org/officeDocument/2006/relationships/image" Target="../media/image38.png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3.png"/><Relationship Id="rId3" Type="http://schemas.openxmlformats.org/officeDocument/2006/relationships/image" Target="../media/image39.png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232025" y="4545013"/>
            <a:ext cx="6759575" cy="1474787"/>
          </a:xfrm>
        </p:spPr>
        <p:txBody>
          <a:bodyPr/>
          <a:lstStyle/>
          <a:p>
            <a:pPr algn="r" eaLnBrk="1" hangingPunct="1"/>
            <a:r>
              <a:rPr lang="zh-CN" altLang="en-US" sz="3600" smtClean="0">
                <a:latin typeface="仿宋_GB2312" panose="02010609030101010101" pitchFamily="49" charset="-122"/>
              </a:rPr>
              <a:t>东南大学计算机学院 方效林</a:t>
            </a:r>
            <a:endParaRPr lang="en-US" altLang="zh-CN" sz="3600" dirty="0" smtClean="0">
              <a:latin typeface="仿宋_GB2312" panose="02010609030101010101" pitchFamily="49" charset="-122"/>
            </a:endParaRPr>
          </a:p>
        </p:txBody>
      </p:sp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592388" y="1808163"/>
            <a:ext cx="6343650" cy="22098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5400" dirty="0" smtClean="0"/>
              <a:t>NP</a:t>
            </a:r>
            <a:r>
              <a:rPr lang="zh-CN" altLang="en-US" sz="5400" dirty="0" smtClean="0"/>
              <a:t>完</a:t>
            </a:r>
            <a:r>
              <a:rPr lang="zh-CN" altLang="en-US" sz="5400" dirty="0" smtClean="0">
                <a:latin typeface="+mj-ea"/>
              </a:rPr>
              <a:t>全问题</a:t>
            </a:r>
            <a:endParaRPr lang="en-US" altLang="zh-CN" sz="5400" dirty="0" smtClean="0">
              <a:latin typeface="+mj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本章内容</a:t>
            </a:r>
            <a:endParaRPr lang="zh-CN" altLang="en-US" dirty="0" smtClean="0"/>
          </a:p>
        </p:txBody>
      </p:sp>
      <p:sp>
        <p:nvSpPr>
          <p:cNvPr id="819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>
                <a:latin typeface="Arial" panose="02080604020202020204" pitchFamily="34" charset="0"/>
                <a:ea typeface="黑体" panose="02010609060101010101" pitchFamily="49" charset="-122"/>
              </a:rPr>
              <a:t>NP</a:t>
            </a:r>
            <a:r>
              <a:rPr lang="zh-CN" altLang="en-US" dirty="0" smtClean="0">
                <a:latin typeface="Arial" panose="02080604020202020204" pitchFamily="34" charset="0"/>
                <a:ea typeface="黑体" panose="02010609060101010101" pitchFamily="49" charset="-122"/>
              </a:rPr>
              <a:t>问题</a:t>
            </a:r>
            <a:endParaRPr lang="en-US" altLang="zh-CN" dirty="0" smtClean="0">
              <a:latin typeface="Arial" panose="02080604020202020204" pitchFamily="34" charset="0"/>
              <a:ea typeface="黑体" panose="02010609060101010101" pitchFamily="49" charset="-122"/>
            </a:endParaRPr>
          </a:p>
          <a:p>
            <a:r>
              <a:rPr lang="en-US" altLang="zh-CN" dirty="0" smtClean="0">
                <a:latin typeface="Arial" panose="02080604020202020204" pitchFamily="34" charset="0"/>
                <a:ea typeface="黑体" panose="02010609060101010101" pitchFamily="49" charset="-122"/>
              </a:rPr>
              <a:t>NP</a:t>
            </a:r>
            <a:r>
              <a:rPr lang="zh-CN" altLang="en-US" dirty="0" smtClean="0">
                <a:latin typeface="Arial" panose="02080604020202020204" pitchFamily="34" charset="0"/>
                <a:ea typeface="黑体" panose="02010609060101010101" pitchFamily="49" charset="-122"/>
              </a:rPr>
              <a:t>完全问题</a:t>
            </a:r>
            <a:endParaRPr lang="en-US" altLang="zh-CN" dirty="0" smtClean="0">
              <a:latin typeface="Arial" panose="02080604020202020204" pitchFamily="34" charset="0"/>
              <a:ea typeface="黑体" panose="02010609060101010101" pitchFamily="49" charset="-122"/>
            </a:endParaRPr>
          </a:p>
          <a:p>
            <a:r>
              <a:rPr lang="en-US" altLang="zh-CN" dirty="0" smtClean="0">
                <a:latin typeface="Arial" panose="02080604020202020204" pitchFamily="34" charset="0"/>
                <a:ea typeface="黑体" panose="02010609060101010101" pitchFamily="49" charset="-122"/>
              </a:rPr>
              <a:t>NP</a:t>
            </a:r>
            <a:r>
              <a:rPr lang="zh-CN" altLang="en-US" dirty="0" smtClean="0">
                <a:latin typeface="Arial" panose="02080604020202020204" pitchFamily="34" charset="0"/>
                <a:ea typeface="黑体" panose="02010609060101010101" pitchFamily="49" charset="-122"/>
              </a:rPr>
              <a:t>完全问题证明方法</a:t>
            </a:r>
            <a:endParaRPr lang="zh-CN" altLang="zh-CN" dirty="0"/>
          </a:p>
          <a:p>
            <a:endParaRPr lang="zh-CN" altLang="en-US" dirty="0" smtClean="0">
              <a:latin typeface="Arial" panose="0208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8196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8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8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8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8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8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fld id="{166F650B-5347-4F36-8304-1500CA3F90AB}" type="slidenum">
              <a:rPr lang="en-US" altLang="zh-CN" smtClean="0">
                <a:solidFill>
                  <a:srgbClr val="006600"/>
                </a:solidFill>
                <a:latin typeface="Courier New" panose="02070309020205020404" pitchFamily="49" charset="0"/>
                <a:ea typeface="华文新魏" panose="02010800040101010101" pitchFamily="2" charset="-122"/>
              </a:rPr>
            </a:fld>
            <a:endParaRPr lang="en-US" altLang="zh-CN" dirty="0" smtClean="0">
              <a:solidFill>
                <a:srgbClr val="006600"/>
              </a:solidFill>
              <a:latin typeface="Courier New" panose="02070309020205020404" pitchFamily="49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NP</a:t>
            </a:r>
            <a:r>
              <a:rPr lang="zh-CN" altLang="en-US" dirty="0" smtClean="0"/>
              <a:t>问题</a:t>
            </a:r>
            <a:endParaRPr lang="zh-CN" altLang="en-US" dirty="0" smtClean="0"/>
          </a:p>
        </p:txBody>
      </p:sp>
      <p:sp>
        <p:nvSpPr>
          <p:cNvPr id="819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>
                <a:latin typeface="Arial" panose="02080604020202020204" pitchFamily="34" charset="0"/>
                <a:ea typeface="黑体" panose="02010609060101010101" pitchFamily="49" charset="-122"/>
              </a:rPr>
              <a:t>P</a:t>
            </a:r>
            <a:r>
              <a:rPr lang="zh-CN" altLang="en-US" dirty="0" smtClean="0">
                <a:latin typeface="Arial" panose="02080604020202020204" pitchFamily="34" charset="0"/>
                <a:ea typeface="黑体" panose="02010609060101010101" pitchFamily="49" charset="-122"/>
              </a:rPr>
              <a:t>问题 </a:t>
            </a:r>
            <a:r>
              <a:rPr lang="en-US" altLang="zh-CN" dirty="0" smtClean="0">
                <a:latin typeface="Arial" panose="02080604020202020204" pitchFamily="34" charset="0"/>
                <a:ea typeface="黑体" panose="02010609060101010101" pitchFamily="49" charset="-122"/>
              </a:rPr>
              <a:t>(Polynomial)</a:t>
            </a:r>
            <a:endParaRPr lang="en-US" altLang="zh-CN" dirty="0">
              <a:latin typeface="Arial" panose="02080604020202020204" pitchFamily="34" charset="0"/>
              <a:ea typeface="黑体" panose="02010609060101010101" pitchFamily="49" charset="-122"/>
            </a:endParaRPr>
          </a:p>
          <a:p>
            <a:pPr lvl="1"/>
            <a:r>
              <a:rPr lang="zh-CN" altLang="en-US" dirty="0" smtClean="0">
                <a:latin typeface="Arial" panose="02080604020202020204" pitchFamily="34" charset="0"/>
                <a:ea typeface="黑体" panose="02010609060101010101" pitchFamily="49" charset="-122"/>
              </a:rPr>
              <a:t>多项式时间可解的问题</a:t>
            </a:r>
            <a:endParaRPr lang="en-US" altLang="zh-CN" dirty="0" smtClean="0">
              <a:latin typeface="Arial" panose="02080604020202020204" pitchFamily="34" charset="0"/>
              <a:ea typeface="黑体" panose="02010609060101010101" pitchFamily="49" charset="-122"/>
            </a:endParaRPr>
          </a:p>
          <a:p>
            <a:pPr lvl="2"/>
            <a:r>
              <a:rPr lang="zh-CN" altLang="en-US" dirty="0" smtClean="0">
                <a:latin typeface="Arial" panose="02080604020202020204" pitchFamily="34" charset="0"/>
                <a:ea typeface="黑体" panose="02010609060101010101" pitchFamily="49" charset="-122"/>
              </a:rPr>
              <a:t>多项式时间：</a:t>
            </a:r>
            <a:r>
              <a:rPr lang="en-US" altLang="zh-CN" dirty="0" smtClean="0">
                <a:latin typeface="Arial" panose="02080604020202020204" pitchFamily="34" charset="0"/>
                <a:ea typeface="黑体" panose="02010609060101010101" pitchFamily="49" charset="-122"/>
              </a:rPr>
              <a:t>O(n), O(</a:t>
            </a:r>
            <a:r>
              <a:rPr lang="en-US" altLang="zh-CN" dirty="0" err="1" smtClean="0">
                <a:latin typeface="Arial" panose="02080604020202020204" pitchFamily="34" charset="0"/>
                <a:ea typeface="黑体" panose="02010609060101010101" pitchFamily="49" charset="-122"/>
              </a:rPr>
              <a:t>logn</a:t>
            </a:r>
            <a:r>
              <a:rPr lang="en-US" altLang="zh-CN" dirty="0" smtClean="0">
                <a:latin typeface="Arial" panose="02080604020202020204" pitchFamily="34" charset="0"/>
                <a:ea typeface="黑体" panose="02010609060101010101" pitchFamily="49" charset="-122"/>
              </a:rPr>
              <a:t>), O(</a:t>
            </a:r>
            <a:r>
              <a:rPr lang="en-US" altLang="zh-CN" dirty="0" err="1" smtClean="0">
                <a:latin typeface="Arial" panose="02080604020202020204" pitchFamily="34" charset="0"/>
                <a:ea typeface="黑体" panose="02010609060101010101" pitchFamily="49" charset="-122"/>
              </a:rPr>
              <a:t>n</a:t>
            </a:r>
            <a:r>
              <a:rPr lang="en-US" altLang="zh-CN" baseline="30000" dirty="0" err="1" smtClean="0">
                <a:latin typeface="Arial" panose="02080604020202020204" pitchFamily="34" charset="0"/>
                <a:ea typeface="黑体" panose="02010609060101010101" pitchFamily="49" charset="-122"/>
              </a:rPr>
              <a:t>c</a:t>
            </a:r>
            <a:r>
              <a:rPr lang="en-US" altLang="zh-CN" dirty="0" smtClean="0">
                <a:latin typeface="Arial" panose="02080604020202020204" pitchFamily="34" charset="0"/>
                <a:ea typeface="黑体" panose="02010609060101010101" pitchFamily="49" charset="-122"/>
              </a:rPr>
              <a:t>)</a:t>
            </a:r>
            <a:endParaRPr lang="en-US" altLang="zh-CN" dirty="0" smtClean="0">
              <a:latin typeface="Arial" panose="02080604020202020204" pitchFamily="34" charset="0"/>
              <a:ea typeface="黑体" panose="02010609060101010101" pitchFamily="49" charset="-122"/>
            </a:endParaRPr>
          </a:p>
          <a:p>
            <a:pPr lvl="2"/>
            <a:r>
              <a:rPr lang="zh-CN" altLang="en-US" dirty="0" smtClean="0">
                <a:latin typeface="Arial" panose="02080604020202020204" pitchFamily="34" charset="0"/>
                <a:ea typeface="黑体" panose="02010609060101010101" pitchFamily="49" charset="-122"/>
              </a:rPr>
              <a:t>非多项式时间：</a:t>
            </a:r>
            <a:r>
              <a:rPr lang="en-US" altLang="zh-CN" dirty="0" smtClean="0">
                <a:latin typeface="Arial" panose="02080604020202020204" pitchFamily="34" charset="0"/>
                <a:ea typeface="黑体" panose="02010609060101010101" pitchFamily="49" charset="-122"/>
              </a:rPr>
              <a:t>O(2</a:t>
            </a:r>
            <a:r>
              <a:rPr lang="en-US" altLang="zh-CN" baseline="30000" dirty="0" smtClean="0">
                <a:latin typeface="Arial" panose="02080604020202020204" pitchFamily="34" charset="0"/>
                <a:ea typeface="黑体" panose="02010609060101010101" pitchFamily="49" charset="-122"/>
              </a:rPr>
              <a:t>n</a:t>
            </a:r>
            <a:r>
              <a:rPr lang="en-US" altLang="zh-CN" dirty="0" smtClean="0">
                <a:latin typeface="Arial" panose="02080604020202020204" pitchFamily="34" charset="0"/>
                <a:ea typeface="黑体" panose="02010609060101010101" pitchFamily="49" charset="-122"/>
              </a:rPr>
              <a:t>), O(n!)</a:t>
            </a:r>
            <a:endParaRPr lang="en-US" altLang="zh-CN" dirty="0" smtClean="0">
              <a:latin typeface="Arial" panose="02080604020202020204" pitchFamily="34" charset="0"/>
              <a:ea typeface="黑体" panose="02010609060101010101" pitchFamily="49" charset="-122"/>
            </a:endParaRPr>
          </a:p>
          <a:p>
            <a:r>
              <a:rPr lang="en-US" altLang="zh-CN" dirty="0" smtClean="0">
                <a:latin typeface="Arial" panose="02080604020202020204" pitchFamily="34" charset="0"/>
                <a:ea typeface="黑体" panose="02010609060101010101" pitchFamily="49" charset="-122"/>
              </a:rPr>
              <a:t>NP</a:t>
            </a:r>
            <a:r>
              <a:rPr lang="zh-CN" altLang="en-US" dirty="0">
                <a:latin typeface="Arial" panose="02080604020202020204" pitchFamily="34" charset="0"/>
                <a:ea typeface="黑体" panose="02010609060101010101" pitchFamily="49" charset="-122"/>
              </a:rPr>
              <a:t>问题 </a:t>
            </a:r>
            <a:r>
              <a:rPr lang="en-US" altLang="zh-CN" dirty="0">
                <a:latin typeface="Arial" panose="02080604020202020204" pitchFamily="34" charset="0"/>
                <a:ea typeface="黑体" panose="02010609060101010101" pitchFamily="49" charset="-122"/>
              </a:rPr>
              <a:t>(Non-Deterministic Polynomial)</a:t>
            </a:r>
            <a:endParaRPr lang="en-US" altLang="zh-CN" dirty="0">
              <a:latin typeface="Arial" panose="02080604020202020204" pitchFamily="34" charset="0"/>
              <a:ea typeface="黑体" panose="02010609060101010101" pitchFamily="49" charset="-122"/>
            </a:endParaRPr>
          </a:p>
          <a:p>
            <a:pPr lvl="1"/>
            <a:r>
              <a:rPr lang="zh-CN" altLang="en-US" dirty="0" smtClean="0">
                <a:latin typeface="Arial" panose="02080604020202020204" pitchFamily="34" charset="0"/>
                <a:ea typeface="黑体" panose="02010609060101010101" pitchFamily="49" charset="-122"/>
              </a:rPr>
              <a:t>多项式时间可验证一个解的问题</a:t>
            </a:r>
            <a:endParaRPr lang="zh-CN" altLang="zh-CN" dirty="0">
              <a:latin typeface="Arial" panose="02080604020202020204" pitchFamily="34" charset="0"/>
              <a:ea typeface="黑体" panose="02010609060101010101" pitchFamily="49" charset="-122"/>
            </a:endParaRPr>
          </a:p>
          <a:p>
            <a:endParaRPr lang="zh-CN" altLang="en-US" dirty="0" smtClean="0">
              <a:latin typeface="Arial" panose="0208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8196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8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8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8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8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8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fld id="{166F650B-5347-4F36-8304-1500CA3F90AB}" type="slidenum">
              <a:rPr lang="en-US" altLang="zh-CN" smtClean="0">
                <a:solidFill>
                  <a:srgbClr val="006600"/>
                </a:solidFill>
                <a:latin typeface="Courier New" panose="02070309020205020404" pitchFamily="49" charset="0"/>
                <a:ea typeface="华文新魏" panose="02010800040101010101" pitchFamily="2" charset="-122"/>
              </a:rPr>
            </a:fld>
            <a:endParaRPr lang="en-US" altLang="zh-CN" smtClean="0">
              <a:solidFill>
                <a:srgbClr val="006600"/>
              </a:solidFill>
              <a:latin typeface="Courier New" panose="02070309020205020404" pitchFamily="49" charset="0"/>
              <a:ea typeface="华文新魏" panose="02010800040101010101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32038" y="4690591"/>
            <a:ext cx="7648373" cy="5847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>
            <a:noFill/>
          </a:ln>
        </p:spPr>
        <p:txBody>
          <a:bodyPr wrap="square" rtlCol="0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3200" b="1" dirty="0" smtClean="0">
                <a:solidFill>
                  <a:srgbClr val="FF0000"/>
                </a:solidFill>
                <a:ea typeface="黑体" panose="02010609060101010101" pitchFamily="49" charset="-122"/>
              </a:rPr>
              <a:t>所有</a:t>
            </a:r>
            <a:r>
              <a:rPr lang="en-US" altLang="zh-CN" sz="3200" b="1" dirty="0" smtClean="0">
                <a:solidFill>
                  <a:srgbClr val="FF0000"/>
                </a:solidFill>
                <a:ea typeface="黑体" panose="02010609060101010101" pitchFamily="49" charset="-122"/>
              </a:rPr>
              <a:t>NP</a:t>
            </a:r>
            <a:r>
              <a:rPr lang="zh-CN" altLang="en-US" sz="3200" b="1" dirty="0" smtClean="0">
                <a:solidFill>
                  <a:srgbClr val="FF0000"/>
                </a:solidFill>
                <a:ea typeface="黑体" panose="02010609060101010101" pitchFamily="49" charset="-122"/>
              </a:rPr>
              <a:t>问题都是判定问题，回答</a:t>
            </a:r>
            <a:r>
              <a:rPr lang="en-US" altLang="zh-CN" sz="3200" b="1" dirty="0" smtClean="0">
                <a:solidFill>
                  <a:srgbClr val="FF0000"/>
                </a:solidFill>
                <a:ea typeface="黑体" panose="02010609060101010101" pitchFamily="49" charset="-122"/>
              </a:rPr>
              <a:t>yes</a:t>
            </a:r>
            <a:r>
              <a:rPr lang="zh-CN" altLang="en-US" sz="3200" b="1" dirty="0" smtClean="0">
                <a:solidFill>
                  <a:srgbClr val="FF0000"/>
                </a:solidFill>
                <a:ea typeface="黑体" panose="02010609060101010101" pitchFamily="49" charset="-122"/>
              </a:rPr>
              <a:t>或</a:t>
            </a:r>
            <a:r>
              <a:rPr lang="en-US" altLang="zh-CN" sz="3200" b="1" dirty="0" smtClean="0">
                <a:solidFill>
                  <a:srgbClr val="FF0000"/>
                </a:solidFill>
                <a:ea typeface="黑体" panose="02010609060101010101" pitchFamily="49" charset="-122"/>
              </a:rPr>
              <a:t>no</a:t>
            </a:r>
            <a:endParaRPr lang="zh-CN" altLang="en-US" sz="3200" b="1" dirty="0" smtClean="0">
              <a:solidFill>
                <a:srgbClr val="FF0000"/>
              </a:solidFill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NP</a:t>
            </a:r>
            <a:r>
              <a:rPr lang="zh-CN" altLang="en-US" dirty="0" smtClean="0"/>
              <a:t>问题</a:t>
            </a:r>
            <a:endParaRPr lang="zh-CN" altLang="en-US" dirty="0" smtClean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195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484313"/>
                <a:ext cx="8229600" cy="5113039"/>
              </a:xfrm>
            </p:spPr>
            <p:txBody>
              <a:bodyPr/>
              <a:lstStyle/>
              <a:p>
                <a:r>
                  <a:rPr lang="en-US" altLang="zh-CN" dirty="0">
                    <a:latin typeface="Arial" panose="02080604020202020204" pitchFamily="34" charset="0"/>
                    <a:ea typeface="黑体" panose="02010609060101010101" pitchFamily="49" charset="-122"/>
                  </a:rPr>
                  <a:t>3CNF-SAT</a:t>
                </a:r>
                <a:r>
                  <a:rPr lang="zh-CN" altLang="en-US" dirty="0">
                    <a:latin typeface="Arial" panose="02080604020202020204" pitchFamily="34" charset="0"/>
                    <a:ea typeface="黑体" panose="02010609060101010101" pitchFamily="49" charset="-122"/>
                  </a:rPr>
                  <a:t>问题</a:t>
                </a:r>
                <a:endParaRPr lang="en-US" altLang="zh-CN" dirty="0">
                  <a:latin typeface="Arial" panose="02080604020202020204" pitchFamily="34" charset="0"/>
                  <a:ea typeface="黑体" panose="02010609060101010101" pitchFamily="49" charset="-122"/>
                </a:endParaRPr>
              </a:p>
              <a:p>
                <a:pPr lvl="1"/>
                <a:r>
                  <a:rPr lang="zh-CN" altLang="en-US" dirty="0">
                    <a:latin typeface="Arial" panose="02080604020202020204" pitchFamily="34" charset="0"/>
                    <a:ea typeface="黑体" panose="02010609060101010101" pitchFamily="49" charset="-122"/>
                  </a:rPr>
                  <a:t>给定</a:t>
                </a:r>
                <a:r>
                  <a:rPr lang="en-US" altLang="zh-CN" dirty="0">
                    <a:latin typeface="Arial" panose="02080604020202020204" pitchFamily="34" charset="0"/>
                    <a:ea typeface="黑体" panose="02010609060101010101" pitchFamily="49" charset="-122"/>
                  </a:rPr>
                  <a:t>n</a:t>
                </a:r>
                <a:r>
                  <a:rPr lang="zh-CN" altLang="en-US" dirty="0">
                    <a:latin typeface="Arial" panose="02080604020202020204" pitchFamily="34" charset="0"/>
                    <a:ea typeface="黑体" panose="02010609060101010101" pitchFamily="49" charset="-122"/>
                  </a:rPr>
                  <a:t>个布尔变</a:t>
                </a:r>
                <a:r>
                  <a:rPr lang="zh-CN" altLang="en-US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元</a:t>
                </a:r>
                <a:r>
                  <a:rPr lang="zh-CN" altLang="en-US" dirty="0">
                    <a:latin typeface="Arial" panose="02080604020202020204" pitchFamily="34" charset="0"/>
                    <a:ea typeface="黑体" panose="02010609060101010101" pitchFamily="49" charset="-122"/>
                  </a:rPr>
                  <a:t>，</a:t>
                </a:r>
                <a:r>
                  <a:rPr lang="zh-CN" altLang="en-US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子句</a:t>
                </a:r>
                <a:r>
                  <a:rPr lang="zh-CN" altLang="en-US" dirty="0">
                    <a:latin typeface="Arial" panose="02080604020202020204" pitchFamily="34" charset="0"/>
                    <a:ea typeface="黑体" panose="02010609060101010101" pitchFamily="49" charset="-122"/>
                  </a:rPr>
                  <a:t>是</a:t>
                </a:r>
                <a:r>
                  <a:rPr lang="en-US" altLang="zh-CN" dirty="0">
                    <a:latin typeface="Arial" panose="02080604020202020204" pitchFamily="34" charset="0"/>
                    <a:ea typeface="黑体" panose="02010609060101010101" pitchFamily="49" charset="-122"/>
                  </a:rPr>
                  <a:t>3</a:t>
                </a:r>
                <a:r>
                  <a:rPr lang="zh-CN" altLang="en-US" dirty="0">
                    <a:latin typeface="Arial" panose="02080604020202020204" pitchFamily="34" charset="0"/>
                    <a:ea typeface="黑体" panose="02010609060101010101" pitchFamily="49" charset="-122"/>
                  </a:rPr>
                  <a:t>个文字</a:t>
                </a:r>
                <a:r>
                  <a:rPr lang="en-US" altLang="zh-CN" dirty="0">
                    <a:latin typeface="Arial" panose="02080604020202020204" pitchFamily="34" charset="0"/>
                    <a:ea typeface="黑体" panose="02010609060101010101" pitchFamily="49" charset="-122"/>
                  </a:rPr>
                  <a:t>(</a:t>
                </a:r>
                <a:r>
                  <a:rPr lang="zh-CN" altLang="en-US" dirty="0">
                    <a:latin typeface="Arial" panose="02080604020202020204" pitchFamily="34" charset="0"/>
                    <a:ea typeface="黑体" panose="02010609060101010101" pitchFamily="49" charset="-122"/>
                  </a:rPr>
                  <a:t>变元或变元的非</a:t>
                </a:r>
                <a:r>
                  <a:rPr lang="en-US" altLang="zh-CN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) </a:t>
                </a:r>
                <a:r>
                  <a:rPr lang="zh-CN" altLang="en-US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的</a:t>
                </a:r>
                <a:r>
                  <a:rPr lang="zh-CN" altLang="en-US" dirty="0">
                    <a:latin typeface="Arial" panose="02080604020202020204" pitchFamily="34" charset="0"/>
                    <a:ea typeface="黑体" panose="02010609060101010101" pitchFamily="49" charset="-122"/>
                  </a:rPr>
                  <a:t>析取操作</a:t>
                </a:r>
                <a:endParaRPr lang="en-US" altLang="zh-CN" dirty="0">
                  <a:latin typeface="Arial" panose="02080604020202020204" pitchFamily="34" charset="0"/>
                  <a:ea typeface="黑体" panose="02010609060101010101" pitchFamily="49" charset="-122"/>
                </a:endParaRPr>
              </a:p>
              <a:p>
                <a:pPr lvl="2"/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/>
                        <a:ea typeface="黑体" panose="02010609060101010101" pitchFamily="49" charset="-122"/>
                      </a:rPr>
                      <m:t>(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i="1" dirty="0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𝒙</m:t>
                            </m:r>
                          </m:e>
                        </m:acc>
                      </m:e>
                      <m:sub>
                        <m:r>
                          <a:rPr lang="en-US" altLang="zh-CN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𝟏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/>
                        <a:ea typeface="黑体" panose="02010609060101010101" pitchFamily="49" charset="-122"/>
                      </a:rPr>
                      <m:t>∨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𝟐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/>
                        <a:ea typeface="黑体" panose="02010609060101010101" pitchFamily="49" charset="-122"/>
                      </a:rPr>
                      <m:t>∨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𝟑</m:t>
                        </m:r>
                      </m:sub>
                    </m:sSub>
                    <m:r>
                      <a:rPr lang="en-US" altLang="zh-CN" dirty="0">
                        <a:latin typeface="Cambria Math" panose="02040503050406030204"/>
                        <a:ea typeface="黑体" panose="02010609060101010101" pitchFamily="49" charset="-122"/>
                      </a:rPr>
                      <m:t>)</m:t>
                    </m:r>
                  </m:oMath>
                </a14:m>
                <a:endParaRPr lang="en-US" altLang="zh-CN" dirty="0">
                  <a:latin typeface="Arial" panose="02080604020202020204" pitchFamily="34" charset="0"/>
                  <a:ea typeface="黑体" panose="02010609060101010101" pitchFamily="49" charset="-122"/>
                </a:endParaRPr>
              </a:p>
              <a:p>
                <a:pPr lvl="1"/>
                <a:r>
                  <a:rPr lang="zh-CN" altLang="en-US" dirty="0">
                    <a:latin typeface="Arial" panose="02080604020202020204" pitchFamily="34" charset="0"/>
                    <a:ea typeface="黑体" panose="02010609060101010101" pitchFamily="49" charset="-122"/>
                  </a:rPr>
                  <a:t>给定</a:t>
                </a:r>
                <a:r>
                  <a:rPr lang="en-US" altLang="zh-CN" dirty="0">
                    <a:latin typeface="Arial" panose="02080604020202020204" pitchFamily="34" charset="0"/>
                    <a:ea typeface="黑体" panose="02010609060101010101" pitchFamily="49" charset="-122"/>
                  </a:rPr>
                  <a:t>m</a:t>
                </a:r>
                <a:r>
                  <a:rPr lang="zh-CN" altLang="en-US" dirty="0">
                    <a:latin typeface="Arial" panose="02080604020202020204" pitchFamily="34" charset="0"/>
                    <a:ea typeface="黑体" panose="02010609060101010101" pitchFamily="49" charset="-122"/>
                  </a:rPr>
                  <a:t>个子句的合取操作</a:t>
                </a:r>
                <a:endParaRPr lang="en-US" altLang="zh-CN" dirty="0">
                  <a:latin typeface="Arial" panose="02080604020202020204" pitchFamily="34" charset="0"/>
                  <a:ea typeface="黑体" panose="02010609060101010101" pitchFamily="49" charset="-122"/>
                </a:endParaRPr>
              </a:p>
              <a:p>
                <a:pPr lvl="2"/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/>
                        <a:ea typeface="黑体" panose="02010609060101010101" pitchFamily="49" charset="-122"/>
                      </a:rPr>
                      <m:t>(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i="1" dirty="0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𝒙</m:t>
                            </m:r>
                          </m:e>
                        </m:acc>
                      </m:e>
                      <m:sub>
                        <m:r>
                          <a:rPr lang="en-US" altLang="zh-CN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𝟏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/>
                        <a:ea typeface="黑体" panose="02010609060101010101" pitchFamily="49" charset="-122"/>
                      </a:rPr>
                      <m:t>∨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𝟐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/>
                        <a:ea typeface="黑体" panose="02010609060101010101" pitchFamily="49" charset="-122"/>
                      </a:rPr>
                      <m:t>∨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𝟑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/>
                        <a:ea typeface="黑体" panose="02010609060101010101" pitchFamily="49" charset="-122"/>
                      </a:rPr>
                      <m:t>)</m:t>
                    </m:r>
                    <m:r>
                      <a:rPr lang="en-US" altLang="zh-CN" i="1" dirty="0">
                        <a:latin typeface="Cambria Math" panose="02040503050406030204"/>
                        <a:ea typeface="Cambria Math" panose="02040503050406030204"/>
                      </a:rPr>
                      <m:t>∧</m:t>
                    </m:r>
                    <m:r>
                      <a:rPr lang="en-US" altLang="zh-CN" i="1" dirty="0">
                        <a:latin typeface="Cambria Math" panose="02040503050406030204"/>
                        <a:ea typeface="黑体" panose="02010609060101010101" pitchFamily="49" charset="-122"/>
                      </a:rPr>
                      <m:t>(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𝟕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/>
                        <a:ea typeface="黑体" panose="02010609060101010101" pitchFamily="49" charset="-122"/>
                      </a:rPr>
                      <m:t>∨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𝟗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/>
                        <a:ea typeface="黑体" panose="02010609060101010101" pitchFamily="49" charset="-122"/>
                      </a:rPr>
                      <m:t>∨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i="1" dirty="0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𝒙</m:t>
                            </m:r>
                          </m:e>
                        </m:acc>
                      </m:e>
                      <m:sub>
                        <m:r>
                          <a:rPr lang="en-US" altLang="zh-CN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𝟏𝟎</m:t>
                        </m:r>
                      </m:sub>
                    </m:sSub>
                    <m:r>
                      <a:rPr lang="en-US" altLang="zh-CN" dirty="0">
                        <a:latin typeface="Cambria Math" panose="02040503050406030204"/>
                        <a:ea typeface="黑体" panose="02010609060101010101" pitchFamily="49" charset="-122"/>
                      </a:rPr>
                      <m:t>)</m:t>
                    </m:r>
                    <m:r>
                      <a:rPr lang="en-US" altLang="zh-CN" i="1" dirty="0">
                        <a:latin typeface="Cambria Math" panose="02040503050406030204"/>
                        <a:ea typeface="Cambria Math" panose="02040503050406030204"/>
                      </a:rPr>
                      <m:t>∧⋯∧</m:t>
                    </m:r>
                    <m:r>
                      <a:rPr lang="en-US" altLang="zh-CN" dirty="0">
                        <a:latin typeface="Cambria Math" panose="02040503050406030204"/>
                        <a:ea typeface="黑体" panose="02010609060101010101" pitchFamily="49" charset="-122"/>
                      </a:rPr>
                      <m:t>(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𝟓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/>
                        <a:ea typeface="黑体" panose="02010609060101010101" pitchFamily="49" charset="-122"/>
                      </a:rPr>
                      <m:t>∨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i="1" dirty="0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𝒙</m:t>
                            </m:r>
                          </m:e>
                        </m:acc>
                      </m:e>
                      <m:sub>
                        <m:r>
                          <a:rPr lang="en-US" altLang="zh-CN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𝟔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/>
                        <a:ea typeface="黑体" panose="02010609060101010101" pitchFamily="49" charset="-122"/>
                      </a:rPr>
                      <m:t>∨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𝟒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/>
                        <a:ea typeface="黑体" panose="02010609060101010101" pitchFamily="49" charset="-122"/>
                      </a:rPr>
                      <m:t>)</m:t>
                    </m:r>
                  </m:oMath>
                </a14:m>
                <a:endParaRPr lang="en-US" altLang="zh-CN" dirty="0">
                  <a:latin typeface="Arial" panose="02080604020202020204" pitchFamily="34" charset="0"/>
                  <a:ea typeface="黑体" panose="02010609060101010101" pitchFamily="49" charset="-122"/>
                </a:endParaRPr>
              </a:p>
              <a:p>
                <a:pPr lvl="1"/>
                <a:r>
                  <a:rPr lang="zh-CN" altLang="en-US" dirty="0">
                    <a:latin typeface="Arial" panose="02080604020202020204" pitchFamily="34" charset="0"/>
                    <a:ea typeface="黑体" panose="02010609060101010101" pitchFamily="49" charset="-122"/>
                  </a:rPr>
                  <a:t>问该合取范式的值可否为真？</a:t>
                </a:r>
                <a:endParaRPr lang="en-US" altLang="zh-CN" dirty="0" smtClean="0">
                  <a:latin typeface="Arial" panose="02080604020202020204" pitchFamily="34" charset="0"/>
                  <a:ea typeface="黑体" panose="02010609060101010101" pitchFamily="49" charset="-122"/>
                </a:endParaRPr>
              </a:p>
              <a:p>
                <a:pPr lvl="2"/>
                <a:r>
                  <a:rPr lang="zh-CN" altLang="en-US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给定</a:t>
                </a:r>
                <a:r>
                  <a:rPr lang="en-US" altLang="zh-CN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n</a:t>
                </a:r>
                <a:r>
                  <a:rPr lang="zh-CN" altLang="en-US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个变元的一个取值</a:t>
                </a:r>
                <a:r>
                  <a:rPr lang="en-US" altLang="zh-CN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x</a:t>
                </a:r>
                <a:r>
                  <a:rPr lang="en-US" altLang="zh-CN" baseline="-250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1</a:t>
                </a:r>
                <a:r>
                  <a:rPr lang="en-US" altLang="zh-CN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,x</a:t>
                </a:r>
                <a:r>
                  <a:rPr lang="en-US" altLang="zh-CN" baseline="-250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2</a:t>
                </a:r>
                <a:r>
                  <a:rPr lang="en-US" altLang="zh-CN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, …, </a:t>
                </a:r>
                <a:r>
                  <a:rPr lang="en-US" altLang="zh-CN" dirty="0" err="1">
                    <a:latin typeface="Arial" panose="02080604020202020204" pitchFamily="34" charset="0"/>
                    <a:ea typeface="黑体" panose="02010609060101010101" pitchFamily="49" charset="-122"/>
                  </a:rPr>
                  <a:t>x</a:t>
                </a:r>
                <a:r>
                  <a:rPr lang="en-US" altLang="zh-CN" baseline="-25000" dirty="0" err="1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n</a:t>
                </a:r>
                <a:r>
                  <a:rPr lang="zh-CN" altLang="en-US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，</a:t>
                </a:r>
                <a:r>
                  <a:rPr lang="en-US" altLang="zh-CN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x</a:t>
                </a:r>
                <a:r>
                  <a:rPr lang="en-US" altLang="zh-CN" baseline="-250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i</a:t>
                </a:r>
                <a:r>
                  <a:rPr lang="en-US" altLang="zh-CN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=1</a:t>
                </a:r>
                <a:r>
                  <a:rPr lang="zh-CN" altLang="en-US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或</a:t>
                </a:r>
                <a:r>
                  <a:rPr lang="en-US" altLang="zh-CN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0</a:t>
                </a:r>
                <a:r>
                  <a:rPr lang="zh-CN" altLang="en-US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，判断能否使合取范式为真，时间复杂度</a:t>
                </a:r>
                <a:r>
                  <a:rPr lang="en-US" altLang="zh-CN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O(n)</a:t>
                </a:r>
                <a:r>
                  <a:rPr lang="zh-CN" altLang="en-US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，即多项式时间可判定</a:t>
                </a:r>
                <a:endParaRPr lang="en-US" altLang="zh-CN" dirty="0" smtClean="0">
                  <a:latin typeface="Arial" panose="02080604020202020204" pitchFamily="34" charset="0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8195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484313"/>
                <a:ext cx="8229600" cy="5113039"/>
              </a:xfrm>
              <a:blipFill rotWithShape="1">
                <a:blip r:embed="rId1"/>
                <a:stretch>
                  <a:fillRect t="-6" b="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矩形 4"/>
              <p:cNvSpPr/>
              <p:nvPr/>
            </p:nvSpPr>
            <p:spPr>
              <a:xfrm>
                <a:off x="3203848" y="5698413"/>
                <a:ext cx="5903191" cy="43088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b="1" i="1" dirty="0" smtClean="0">
                          <a:solidFill>
                            <a:srgbClr val="FF0000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altLang="zh-CN" sz="22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2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</a:rPr>
                                <m:t>𝒙</m:t>
                              </m:r>
                            </m:e>
                          </m:acc>
                        </m:e>
                        <m:sub>
                          <m: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𝟏</m:t>
                          </m:r>
                        </m:sub>
                      </m:sSub>
                      <m:r>
                        <a:rPr lang="en-US" altLang="zh-CN" sz="2200" b="1" i="1" dirty="0">
                          <a:solidFill>
                            <a:srgbClr val="FF0000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∨</m:t>
                      </m:r>
                      <m:sSub>
                        <m:sSubPr>
                          <m:ctrlP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𝟐</m:t>
                          </m:r>
                        </m:sub>
                      </m:sSub>
                      <m:r>
                        <a:rPr lang="en-US" altLang="zh-CN" sz="2200" b="1" i="1" dirty="0">
                          <a:solidFill>
                            <a:srgbClr val="FF0000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∨</m:t>
                      </m:r>
                      <m:sSub>
                        <m:sSubPr>
                          <m:ctrlP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𝟑</m:t>
                          </m:r>
                        </m:sub>
                      </m:sSub>
                      <m:r>
                        <a:rPr lang="en-US" altLang="zh-CN" sz="2200" b="1" i="1" dirty="0">
                          <a:solidFill>
                            <a:srgbClr val="FF0000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)</m:t>
                      </m:r>
                      <m:r>
                        <a:rPr lang="en-US" altLang="zh-CN" sz="2200" b="1" i="1" dirty="0">
                          <a:solidFill>
                            <a:srgbClr val="FF0000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∧</m:t>
                      </m:r>
                      <m:r>
                        <a:rPr lang="en-US" altLang="zh-CN" sz="2200" b="1" i="1" dirty="0">
                          <a:solidFill>
                            <a:srgbClr val="FF0000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𝟏</m:t>
                          </m:r>
                        </m:sub>
                      </m:sSub>
                      <m:r>
                        <a:rPr lang="en-US" altLang="zh-CN" sz="2200" b="1" i="1" dirty="0">
                          <a:solidFill>
                            <a:srgbClr val="FF0000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∨</m:t>
                      </m:r>
                      <m:sSub>
                        <m:sSubPr>
                          <m:ctrlP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𝟐</m:t>
                          </m:r>
                        </m:sub>
                      </m:sSub>
                      <m:r>
                        <a:rPr lang="en-US" altLang="zh-CN" sz="2200" b="1" i="1" dirty="0">
                          <a:solidFill>
                            <a:srgbClr val="FF0000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∨</m:t>
                      </m:r>
                      <m:sSub>
                        <m:sSubPr>
                          <m:ctrlP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𝟑</m:t>
                          </m:r>
                        </m:sub>
                      </m:sSub>
                      <m:r>
                        <a:rPr lang="en-US" altLang="zh-CN" sz="2200" b="1" dirty="0">
                          <a:solidFill>
                            <a:srgbClr val="FF0000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)</m:t>
                      </m:r>
                      <m:r>
                        <a:rPr lang="en-US" altLang="zh-CN" sz="2200" b="1" i="1" dirty="0">
                          <a:solidFill>
                            <a:srgbClr val="FF0000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∧</m:t>
                      </m:r>
                      <m:r>
                        <a:rPr lang="en-US" altLang="zh-CN" sz="2200" b="1" dirty="0">
                          <a:solidFill>
                            <a:srgbClr val="FF0000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𝟏</m:t>
                          </m:r>
                        </m:sub>
                      </m:sSub>
                      <m:r>
                        <a:rPr lang="en-US" altLang="zh-CN" sz="2200" b="1" i="1" dirty="0">
                          <a:solidFill>
                            <a:srgbClr val="FF0000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∨</m:t>
                      </m:r>
                      <m:sSub>
                        <m:sSubPr>
                          <m:ctrlP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altLang="zh-CN" sz="22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2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</a:rPr>
                                <m:t>𝒙</m:t>
                              </m:r>
                            </m:e>
                          </m:acc>
                        </m:e>
                        <m:sub>
                          <m:r>
                            <a:rPr lang="en-US" altLang="zh-CN" sz="2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𝟐</m:t>
                          </m:r>
                        </m:sub>
                      </m:sSub>
                      <m:r>
                        <a:rPr lang="en-US" altLang="zh-CN" sz="2200" b="1" i="1" dirty="0">
                          <a:solidFill>
                            <a:srgbClr val="FF0000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∨</m:t>
                      </m:r>
                      <m:sSub>
                        <m:sSubPr>
                          <m:ctrlP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altLang="zh-CN" sz="22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2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</a:rPr>
                                <m:t>𝒙</m:t>
                              </m:r>
                            </m:e>
                          </m:acc>
                        </m:e>
                        <m:sub>
                          <m:r>
                            <a:rPr lang="en-US" altLang="zh-CN" sz="2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𝟑</m:t>
                          </m:r>
                        </m:sub>
                      </m:sSub>
                      <m:r>
                        <a:rPr lang="en-US" altLang="zh-CN" sz="2200" b="1" i="1" dirty="0">
                          <a:solidFill>
                            <a:srgbClr val="FF0000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lang="zh-CN" altLang="en-US" sz="2200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3848" y="5698413"/>
                <a:ext cx="5903191" cy="430887"/>
              </a:xfrm>
              <a:prstGeom prst="rect">
                <a:avLst/>
              </a:prstGeom>
              <a:blipFill rotWithShape="1">
                <a:blip r:embed="rId2"/>
                <a:stretch>
                  <a:fillRect l="-5" t="-130" r="9" b="-66399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3946170" y="5540750"/>
            <a:ext cx="479618" cy="369332"/>
          </a:xfrm>
          <a:prstGeom prst="rect">
            <a:avLst/>
          </a:prstGeom>
          <a:noFill/>
          <a:ln w="25400">
            <a:noFill/>
          </a:ln>
        </p:spPr>
        <p:txBody>
          <a:bodyPr wrap="none" rtlCol="0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b="1" dirty="0" smtClean="0">
                <a:solidFill>
                  <a:srgbClr val="000099"/>
                </a:solidFill>
                <a:ea typeface="黑体" panose="02010609060101010101" pitchFamily="49" charset="-122"/>
              </a:rPr>
              <a:t>C1</a:t>
            </a:r>
            <a:endParaRPr lang="zh-CN" altLang="en-US" b="1" dirty="0" smtClean="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15635" y="5513167"/>
            <a:ext cx="479618" cy="369332"/>
          </a:xfrm>
          <a:prstGeom prst="rect">
            <a:avLst/>
          </a:prstGeom>
          <a:noFill/>
          <a:ln w="25400">
            <a:noFill/>
          </a:ln>
        </p:spPr>
        <p:txBody>
          <a:bodyPr wrap="none" rtlCol="0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b="1" dirty="0" smtClean="0">
                <a:solidFill>
                  <a:srgbClr val="000099"/>
                </a:solidFill>
                <a:ea typeface="黑体" panose="02010609060101010101" pitchFamily="49" charset="-122"/>
              </a:rPr>
              <a:t>C2</a:t>
            </a:r>
            <a:endParaRPr lang="zh-CN" altLang="en-US" b="1" dirty="0" smtClean="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834602" y="5513166"/>
            <a:ext cx="479618" cy="369332"/>
          </a:xfrm>
          <a:prstGeom prst="rect">
            <a:avLst/>
          </a:prstGeom>
          <a:noFill/>
          <a:ln w="25400">
            <a:noFill/>
          </a:ln>
        </p:spPr>
        <p:txBody>
          <a:bodyPr wrap="none" rtlCol="0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b="1" dirty="0" smtClean="0">
                <a:solidFill>
                  <a:srgbClr val="000099"/>
                </a:solidFill>
                <a:ea typeface="黑体" panose="02010609060101010101" pitchFamily="49" charset="-122"/>
              </a:rPr>
              <a:t>C3</a:t>
            </a:r>
            <a:endParaRPr lang="zh-CN" altLang="en-US" b="1" dirty="0" smtClean="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246499" y="6053226"/>
            <a:ext cx="428354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 smtClean="0"/>
              <a:t>x</a:t>
            </a:r>
            <a:r>
              <a:rPr lang="en-US" altLang="zh-CN" sz="2000" b="1" baseline="-25000" dirty="0" smtClean="0"/>
              <a:t>1</a:t>
            </a:r>
            <a:r>
              <a:rPr lang="en-US" altLang="zh-CN" sz="2000" b="1" dirty="0" smtClean="0"/>
              <a:t>=0</a:t>
            </a:r>
            <a:r>
              <a:rPr lang="zh-CN" altLang="en-US" sz="2000" b="1" dirty="0" smtClean="0"/>
              <a:t>，</a:t>
            </a:r>
            <a:r>
              <a:rPr lang="en-US" altLang="zh-CN" sz="2000" b="1" dirty="0" smtClean="0"/>
              <a:t>x</a:t>
            </a:r>
            <a:r>
              <a:rPr lang="en-US" altLang="zh-CN" sz="2000" b="1" baseline="-25000" dirty="0" smtClean="0"/>
              <a:t>2</a:t>
            </a:r>
            <a:r>
              <a:rPr lang="en-US" altLang="zh-CN" sz="2000" b="1" dirty="0" smtClean="0"/>
              <a:t>=1</a:t>
            </a:r>
            <a:r>
              <a:rPr lang="zh-CN" altLang="zh-CN" sz="2000" b="1" dirty="0" smtClean="0"/>
              <a:t>，</a:t>
            </a:r>
            <a:r>
              <a:rPr lang="en-US" altLang="zh-CN" sz="2000" b="1" dirty="0" smtClean="0"/>
              <a:t>x</a:t>
            </a:r>
            <a:r>
              <a:rPr lang="en-US" altLang="zh-CN" sz="2000" b="1" baseline="-25000" dirty="0" smtClean="0"/>
              <a:t>3</a:t>
            </a:r>
            <a:r>
              <a:rPr lang="en-US" altLang="zh-CN" sz="2000" b="1" dirty="0" smtClean="0"/>
              <a:t>=0</a:t>
            </a:r>
            <a:r>
              <a:rPr lang="zh-CN" altLang="zh-CN" sz="2000" b="1" dirty="0" smtClean="0"/>
              <a:t>，</a:t>
            </a:r>
            <a:r>
              <a:rPr lang="zh-CN" altLang="zh-CN" sz="2000" b="1" dirty="0"/>
              <a:t>则</a:t>
            </a:r>
            <a:r>
              <a:rPr lang="en-US" altLang="zh-CN" sz="2000" b="1" dirty="0"/>
              <a:t>c</a:t>
            </a:r>
            <a:r>
              <a:rPr lang="en-US" altLang="zh-CN" sz="2000" b="1" baseline="-25000" dirty="0"/>
              <a:t>1</a:t>
            </a:r>
            <a:r>
              <a:rPr lang="zh-CN" altLang="zh-CN" sz="2000" b="1" dirty="0"/>
              <a:t>∧</a:t>
            </a:r>
            <a:r>
              <a:rPr lang="en-US" altLang="zh-CN" sz="2000" b="1" dirty="0"/>
              <a:t>c</a:t>
            </a:r>
            <a:r>
              <a:rPr lang="en-US" altLang="zh-CN" sz="2000" b="1" baseline="-25000" dirty="0"/>
              <a:t>2</a:t>
            </a:r>
            <a:r>
              <a:rPr lang="zh-CN" altLang="zh-CN" sz="2000" b="1" dirty="0"/>
              <a:t>∧</a:t>
            </a:r>
            <a:r>
              <a:rPr lang="en-US" altLang="zh-CN" sz="2000" b="1" dirty="0" smtClean="0"/>
              <a:t>c</a:t>
            </a:r>
            <a:r>
              <a:rPr lang="en-US" altLang="zh-CN" sz="2000" b="1" baseline="-25000" dirty="0" smtClean="0"/>
              <a:t>3</a:t>
            </a:r>
            <a:r>
              <a:rPr lang="en-US" altLang="zh-CN" sz="2000" b="1" dirty="0" smtClean="0"/>
              <a:t>=1</a:t>
            </a:r>
            <a:endParaRPr lang="zh-CN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NP</a:t>
            </a:r>
            <a:r>
              <a:rPr lang="zh-CN" altLang="en-US" dirty="0" smtClean="0"/>
              <a:t>问题</a:t>
            </a:r>
            <a:endParaRPr lang="zh-CN" altLang="en-US" dirty="0" smtClean="0"/>
          </a:p>
        </p:txBody>
      </p:sp>
      <p:sp>
        <p:nvSpPr>
          <p:cNvPr id="819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>
                <a:latin typeface="Arial" panose="02080604020202020204" pitchFamily="34" charset="0"/>
                <a:ea typeface="黑体" panose="02010609060101010101" pitchFamily="49" charset="-122"/>
              </a:rPr>
              <a:t>K</a:t>
            </a:r>
            <a:r>
              <a:rPr lang="zh-CN" altLang="en-US" dirty="0" smtClean="0">
                <a:latin typeface="Arial" panose="02080604020202020204" pitchFamily="34" charset="0"/>
                <a:ea typeface="黑体" panose="02010609060101010101" pitchFamily="49" charset="-122"/>
              </a:rPr>
              <a:t>团问题</a:t>
            </a:r>
            <a:endParaRPr lang="en-US" altLang="zh-CN" dirty="0" smtClean="0">
              <a:latin typeface="Arial" panose="02080604020202020204" pitchFamily="34" charset="0"/>
              <a:ea typeface="黑体" panose="02010609060101010101" pitchFamily="49" charset="-122"/>
            </a:endParaRPr>
          </a:p>
          <a:p>
            <a:pPr lvl="1"/>
            <a:r>
              <a:rPr lang="zh-CN" altLang="en-US" dirty="0">
                <a:latin typeface="Arial" panose="02080604020202020204" pitchFamily="34" charset="0"/>
                <a:ea typeface="黑体" panose="02010609060101010101" pitchFamily="49" charset="-122"/>
              </a:rPr>
              <a:t>给定一个图</a:t>
            </a:r>
            <a:r>
              <a:rPr lang="en-US" altLang="zh-CN" dirty="0">
                <a:latin typeface="Arial" panose="02080604020202020204" pitchFamily="34" charset="0"/>
                <a:ea typeface="黑体" panose="02010609060101010101" pitchFamily="49" charset="-122"/>
              </a:rPr>
              <a:t>G</a:t>
            </a:r>
            <a:r>
              <a:rPr lang="zh-CN" altLang="en-US" dirty="0">
                <a:latin typeface="Arial" panose="02080604020202020204" pitchFamily="34" charset="0"/>
                <a:ea typeface="黑体" panose="02010609060101010101" pitchFamily="49" charset="-122"/>
              </a:rPr>
              <a:t>和常数</a:t>
            </a:r>
            <a:r>
              <a:rPr lang="en-US" altLang="zh-CN" dirty="0">
                <a:latin typeface="Arial" panose="02080604020202020204" pitchFamily="34" charset="0"/>
                <a:ea typeface="黑体" panose="02010609060101010101" pitchFamily="49" charset="-122"/>
              </a:rPr>
              <a:t>k</a:t>
            </a:r>
            <a:r>
              <a:rPr lang="zh-CN" altLang="en-US" dirty="0">
                <a:latin typeface="Arial" panose="02080604020202020204" pitchFamily="34" charset="0"/>
                <a:ea typeface="黑体" panose="02010609060101010101" pitchFamily="49" charset="-122"/>
              </a:rPr>
              <a:t>，</a:t>
            </a:r>
            <a:r>
              <a:rPr lang="en-US" altLang="zh-CN" dirty="0">
                <a:latin typeface="Arial" panose="02080604020202020204" pitchFamily="34" charset="0"/>
                <a:ea typeface="黑体" panose="02010609060101010101" pitchFamily="49" charset="-122"/>
              </a:rPr>
              <a:t>G</a:t>
            </a:r>
            <a:r>
              <a:rPr lang="zh-CN" altLang="en-US" dirty="0">
                <a:latin typeface="Arial" panose="02080604020202020204" pitchFamily="34" charset="0"/>
                <a:ea typeface="黑体" panose="02010609060101010101" pitchFamily="49" charset="-122"/>
              </a:rPr>
              <a:t>有没有</a:t>
            </a:r>
            <a:r>
              <a:rPr lang="en-US" altLang="zh-CN" dirty="0">
                <a:latin typeface="Arial" panose="02080604020202020204" pitchFamily="34" charset="0"/>
                <a:ea typeface="黑体" panose="02010609060101010101" pitchFamily="49" charset="-122"/>
              </a:rPr>
              <a:t>k</a:t>
            </a:r>
            <a:r>
              <a:rPr lang="zh-CN" altLang="en-US" dirty="0">
                <a:latin typeface="Arial" panose="02080604020202020204" pitchFamily="34" charset="0"/>
                <a:ea typeface="黑体" panose="02010609060101010101" pitchFamily="49" charset="-122"/>
              </a:rPr>
              <a:t>团</a:t>
            </a:r>
            <a:r>
              <a:rPr lang="zh-CN" altLang="en-US" dirty="0" smtClean="0">
                <a:latin typeface="Arial" panose="02080604020202020204" pitchFamily="34" charset="0"/>
                <a:ea typeface="黑体" panose="02010609060101010101" pitchFamily="49" charset="-122"/>
              </a:rPr>
              <a:t>？</a:t>
            </a:r>
            <a:endParaRPr lang="en-US" altLang="zh-CN" dirty="0" smtClean="0">
              <a:latin typeface="Arial" panose="02080604020202020204" pitchFamily="34" charset="0"/>
              <a:ea typeface="黑体" panose="02010609060101010101" pitchFamily="49" charset="-122"/>
            </a:endParaRPr>
          </a:p>
          <a:p>
            <a:pPr lvl="2"/>
            <a:r>
              <a:rPr lang="zh-CN" altLang="en-US" dirty="0" smtClean="0">
                <a:latin typeface="Arial" panose="02080604020202020204" pitchFamily="34" charset="0"/>
                <a:ea typeface="黑体" panose="02010609060101010101" pitchFamily="49" charset="-122"/>
              </a:rPr>
              <a:t>一</a:t>
            </a:r>
            <a:r>
              <a:rPr lang="zh-CN" altLang="en-US" dirty="0">
                <a:latin typeface="Arial" panose="02080604020202020204" pitchFamily="34" charset="0"/>
                <a:ea typeface="黑体" panose="02010609060101010101" pitchFamily="49" charset="-122"/>
              </a:rPr>
              <a:t>个图</a:t>
            </a:r>
            <a:r>
              <a:rPr lang="en-US" altLang="zh-CN" dirty="0">
                <a:latin typeface="Arial" panose="02080604020202020204" pitchFamily="34" charset="0"/>
                <a:ea typeface="黑体" panose="02010609060101010101" pitchFamily="49" charset="-122"/>
              </a:rPr>
              <a:t>G</a:t>
            </a:r>
            <a:r>
              <a:rPr lang="zh-CN" altLang="en-US" dirty="0">
                <a:latin typeface="Arial" panose="02080604020202020204" pitchFamily="34" charset="0"/>
                <a:ea typeface="黑体" panose="02010609060101010101" pitchFamily="49" charset="-122"/>
              </a:rPr>
              <a:t>的</a:t>
            </a:r>
            <a:r>
              <a:rPr lang="en-US" altLang="zh-CN" dirty="0">
                <a:latin typeface="Arial" panose="02080604020202020204" pitchFamily="34" charset="0"/>
                <a:ea typeface="黑体" panose="02010609060101010101" pitchFamily="49" charset="-122"/>
              </a:rPr>
              <a:t>k</a:t>
            </a:r>
            <a:r>
              <a:rPr lang="zh-CN" altLang="en-US" dirty="0">
                <a:latin typeface="Arial" panose="02080604020202020204" pitchFamily="34" charset="0"/>
                <a:ea typeface="黑体" panose="02010609060101010101" pitchFamily="49" charset="-122"/>
              </a:rPr>
              <a:t>团是</a:t>
            </a:r>
            <a:r>
              <a:rPr lang="en-US" altLang="zh-CN" dirty="0">
                <a:latin typeface="Arial" panose="02080604020202020204" pitchFamily="34" charset="0"/>
                <a:ea typeface="黑体" panose="02010609060101010101" pitchFamily="49" charset="-122"/>
              </a:rPr>
              <a:t>G</a:t>
            </a:r>
            <a:r>
              <a:rPr lang="zh-CN" altLang="en-US" dirty="0" smtClean="0">
                <a:latin typeface="Arial" panose="02080604020202020204" pitchFamily="34" charset="0"/>
                <a:ea typeface="黑体" panose="02010609060101010101" pitchFamily="49" charset="-122"/>
              </a:rPr>
              <a:t>的 </a:t>
            </a:r>
            <a:r>
              <a:rPr lang="en-US" altLang="zh-CN" dirty="0" smtClean="0">
                <a:latin typeface="Arial" panose="02080604020202020204" pitchFamily="34" charset="0"/>
                <a:ea typeface="黑体" panose="02010609060101010101" pitchFamily="49" charset="-122"/>
              </a:rPr>
              <a:t>k </a:t>
            </a:r>
            <a:r>
              <a:rPr lang="zh-CN" altLang="en-US" dirty="0" smtClean="0">
                <a:latin typeface="Arial" panose="02080604020202020204" pitchFamily="34" charset="0"/>
                <a:ea typeface="黑体" panose="02010609060101010101" pitchFamily="49" charset="-122"/>
              </a:rPr>
              <a:t>个</a:t>
            </a:r>
            <a:r>
              <a:rPr lang="zh-CN" altLang="en-US" dirty="0">
                <a:latin typeface="Arial" panose="02080604020202020204" pitchFamily="34" charset="0"/>
                <a:ea typeface="黑体" panose="02010609060101010101" pitchFamily="49" charset="-122"/>
              </a:rPr>
              <a:t>顶点的集合，使得这个集合中每对顶点之间都有</a:t>
            </a:r>
            <a:r>
              <a:rPr lang="zh-CN" altLang="en-US" dirty="0" smtClean="0">
                <a:latin typeface="Arial" panose="02080604020202020204" pitchFamily="34" charset="0"/>
                <a:ea typeface="黑体" panose="02010609060101010101" pitchFamily="49" charset="-122"/>
              </a:rPr>
              <a:t>边</a:t>
            </a:r>
            <a:endParaRPr lang="en-US" altLang="zh-CN" dirty="0">
              <a:latin typeface="Arial" panose="02080604020202020204" pitchFamily="34" charset="0"/>
              <a:ea typeface="黑体" panose="02010609060101010101" pitchFamily="49" charset="-122"/>
            </a:endParaRPr>
          </a:p>
          <a:p>
            <a:pPr lvl="2"/>
            <a:r>
              <a:rPr lang="zh-CN" altLang="en-US" dirty="0" smtClean="0">
                <a:latin typeface="Arial" panose="02080604020202020204" pitchFamily="34" charset="0"/>
                <a:ea typeface="黑体" panose="02010609060101010101" pitchFamily="49" charset="-122"/>
              </a:rPr>
              <a:t>任取 </a:t>
            </a:r>
            <a:r>
              <a:rPr lang="en-US" altLang="zh-CN" dirty="0" smtClean="0">
                <a:latin typeface="Arial" panose="02080604020202020204" pitchFamily="34" charset="0"/>
                <a:ea typeface="黑体" panose="02010609060101010101" pitchFamily="49" charset="-122"/>
              </a:rPr>
              <a:t>k </a:t>
            </a:r>
            <a:r>
              <a:rPr lang="zh-CN" altLang="en-US" dirty="0" smtClean="0">
                <a:latin typeface="Arial" panose="02080604020202020204" pitchFamily="34" charset="0"/>
                <a:ea typeface="黑体" panose="02010609060101010101" pitchFamily="49" charset="-122"/>
              </a:rPr>
              <a:t>个顶点，判断是否两两之间有边，时间复杂度为</a:t>
            </a:r>
            <a:r>
              <a:rPr lang="en-US" altLang="zh-CN" dirty="0" smtClean="0">
                <a:latin typeface="Arial" panose="02080604020202020204" pitchFamily="34" charset="0"/>
                <a:ea typeface="黑体" panose="02010609060101010101" pitchFamily="49" charset="-122"/>
              </a:rPr>
              <a:t>O(n</a:t>
            </a:r>
            <a:r>
              <a:rPr lang="en-US" altLang="zh-CN" baseline="30000" dirty="0" smtClean="0">
                <a:latin typeface="Arial" panose="02080604020202020204" pitchFamily="34" charset="0"/>
                <a:ea typeface="黑体" panose="02010609060101010101" pitchFamily="49" charset="-122"/>
              </a:rPr>
              <a:t>2</a:t>
            </a:r>
            <a:r>
              <a:rPr lang="en-US" altLang="zh-CN" dirty="0" smtClean="0">
                <a:latin typeface="Arial" panose="02080604020202020204" pitchFamily="34" charset="0"/>
                <a:ea typeface="黑体" panose="02010609060101010101" pitchFamily="49" charset="-122"/>
              </a:rPr>
              <a:t>)</a:t>
            </a:r>
            <a:r>
              <a:rPr lang="zh-CN" altLang="en-US" dirty="0" smtClean="0">
                <a:latin typeface="Arial" panose="02080604020202020204" pitchFamily="34" charset="0"/>
                <a:ea typeface="黑体" panose="02010609060101010101" pitchFamily="49" charset="-122"/>
              </a:rPr>
              <a:t>，即多项式时间可判定这</a:t>
            </a:r>
            <a:r>
              <a:rPr lang="en-US" altLang="zh-CN" dirty="0" smtClean="0">
                <a:latin typeface="Arial" panose="02080604020202020204" pitchFamily="34" charset="0"/>
                <a:ea typeface="黑体" panose="02010609060101010101" pitchFamily="49" charset="-122"/>
              </a:rPr>
              <a:t>k</a:t>
            </a:r>
            <a:r>
              <a:rPr lang="zh-CN" altLang="en-US" dirty="0" smtClean="0">
                <a:latin typeface="Arial" panose="02080604020202020204" pitchFamily="34" charset="0"/>
                <a:ea typeface="黑体" panose="02010609060101010101" pitchFamily="49" charset="-122"/>
              </a:rPr>
              <a:t>个点是否是一个团</a:t>
            </a:r>
            <a:endParaRPr lang="en-US" altLang="zh-CN" dirty="0" smtClean="0">
              <a:latin typeface="Arial" panose="0208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8196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8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8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8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8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8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fld id="{166F650B-5347-4F36-8304-1500CA3F90AB}" type="slidenum">
              <a:rPr lang="en-US" altLang="zh-CN" smtClean="0">
                <a:solidFill>
                  <a:srgbClr val="006600"/>
                </a:solidFill>
                <a:latin typeface="Courier New" panose="02070309020205020404" pitchFamily="49" charset="0"/>
                <a:ea typeface="华文新魏" panose="02010800040101010101" pitchFamily="2" charset="-122"/>
              </a:rPr>
            </a:fld>
            <a:endParaRPr lang="en-US" altLang="zh-CN" smtClean="0">
              <a:solidFill>
                <a:srgbClr val="006600"/>
              </a:solidFill>
              <a:latin typeface="Courier New" panose="02070309020205020404" pitchFamily="49" charset="0"/>
              <a:ea typeface="华文新魏" panose="02010800040101010101" pitchFamily="2" charset="-122"/>
            </a:endParaRPr>
          </a:p>
        </p:txBody>
      </p:sp>
      <p:grpSp>
        <p:nvGrpSpPr>
          <p:cNvPr id="55" name="组合 54"/>
          <p:cNvGrpSpPr/>
          <p:nvPr/>
        </p:nvGrpSpPr>
        <p:grpSpPr>
          <a:xfrm>
            <a:off x="2853950" y="4649910"/>
            <a:ext cx="2880320" cy="1386633"/>
            <a:chOff x="611560" y="4706663"/>
            <a:chExt cx="2880320" cy="1386633"/>
          </a:xfrm>
        </p:grpSpPr>
        <p:sp>
          <p:nvSpPr>
            <p:cNvPr id="2" name="椭圆 1"/>
            <p:cNvSpPr/>
            <p:nvPr/>
          </p:nvSpPr>
          <p:spPr bwMode="auto">
            <a:xfrm>
              <a:off x="1619672" y="4833156"/>
              <a:ext cx="108012" cy="108012"/>
            </a:xfrm>
            <a:prstGeom prst="ellipse">
              <a:avLst/>
            </a:prstGeom>
            <a:solidFill>
              <a:schemeClr val="tx1"/>
            </a:solidFill>
            <a:ln w="381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6" name="椭圆 5"/>
            <p:cNvSpPr/>
            <p:nvPr/>
          </p:nvSpPr>
          <p:spPr bwMode="auto">
            <a:xfrm>
              <a:off x="2465766" y="4706663"/>
              <a:ext cx="108012" cy="108012"/>
            </a:xfrm>
            <a:prstGeom prst="ellipse">
              <a:avLst/>
            </a:prstGeom>
            <a:solidFill>
              <a:schemeClr val="tx1"/>
            </a:solidFill>
            <a:ln w="381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7" name="椭圆 6"/>
            <p:cNvSpPr/>
            <p:nvPr/>
          </p:nvSpPr>
          <p:spPr bwMode="auto">
            <a:xfrm>
              <a:off x="1475291" y="5604774"/>
              <a:ext cx="108012" cy="108012"/>
            </a:xfrm>
            <a:prstGeom prst="ellipse">
              <a:avLst/>
            </a:prstGeom>
            <a:solidFill>
              <a:schemeClr val="tx1"/>
            </a:solidFill>
            <a:ln w="381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8" name="椭圆 7"/>
            <p:cNvSpPr/>
            <p:nvPr/>
          </p:nvSpPr>
          <p:spPr bwMode="auto">
            <a:xfrm>
              <a:off x="2182644" y="5985284"/>
              <a:ext cx="108012" cy="108012"/>
            </a:xfrm>
            <a:prstGeom prst="ellipse">
              <a:avLst/>
            </a:prstGeom>
            <a:solidFill>
              <a:schemeClr val="tx1"/>
            </a:solidFill>
            <a:ln w="381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9" name="椭圆 8"/>
            <p:cNvSpPr/>
            <p:nvPr/>
          </p:nvSpPr>
          <p:spPr bwMode="auto">
            <a:xfrm>
              <a:off x="2735796" y="5496762"/>
              <a:ext cx="108012" cy="108012"/>
            </a:xfrm>
            <a:prstGeom prst="ellipse">
              <a:avLst/>
            </a:prstGeom>
            <a:solidFill>
              <a:schemeClr val="tx1"/>
            </a:solidFill>
            <a:ln w="381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cxnSp>
          <p:nvCxnSpPr>
            <p:cNvPr id="4" name="直接连接符 3"/>
            <p:cNvCxnSpPr>
              <a:stCxn id="2" idx="3"/>
              <a:endCxn id="7" idx="0"/>
            </p:cNvCxnSpPr>
            <p:nvPr/>
          </p:nvCxnSpPr>
          <p:spPr bwMode="auto">
            <a:xfrm flipH="1">
              <a:off x="1529297" y="4925350"/>
              <a:ext cx="106193" cy="679424"/>
            </a:xfrm>
            <a:prstGeom prst="line">
              <a:avLst/>
            </a:prstGeom>
            <a:ln w="2540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>
              <a:stCxn id="6" idx="3"/>
              <a:endCxn id="7" idx="7"/>
            </p:cNvCxnSpPr>
            <p:nvPr/>
          </p:nvCxnSpPr>
          <p:spPr bwMode="auto">
            <a:xfrm flipH="1">
              <a:off x="1567485" y="4798857"/>
              <a:ext cx="914099" cy="821735"/>
            </a:xfrm>
            <a:prstGeom prst="line">
              <a:avLst/>
            </a:prstGeom>
            <a:ln w="2540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>
              <a:stCxn id="9" idx="2"/>
              <a:endCxn id="7" idx="6"/>
            </p:cNvCxnSpPr>
            <p:nvPr/>
          </p:nvCxnSpPr>
          <p:spPr bwMode="auto">
            <a:xfrm flipH="1">
              <a:off x="1583303" y="5550768"/>
              <a:ext cx="1152493" cy="108012"/>
            </a:xfrm>
            <a:prstGeom prst="line">
              <a:avLst/>
            </a:prstGeom>
            <a:ln w="2540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>
              <a:stCxn id="8" idx="1"/>
              <a:endCxn id="7" idx="5"/>
            </p:cNvCxnSpPr>
            <p:nvPr/>
          </p:nvCxnSpPr>
          <p:spPr bwMode="auto">
            <a:xfrm flipH="1" flipV="1">
              <a:off x="1567485" y="5696968"/>
              <a:ext cx="630977" cy="304134"/>
            </a:xfrm>
            <a:prstGeom prst="line">
              <a:avLst/>
            </a:prstGeom>
            <a:ln w="2540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>
              <a:stCxn id="2" idx="4"/>
              <a:endCxn id="8" idx="1"/>
            </p:cNvCxnSpPr>
            <p:nvPr/>
          </p:nvCxnSpPr>
          <p:spPr bwMode="auto">
            <a:xfrm>
              <a:off x="1673678" y="4941168"/>
              <a:ext cx="524784" cy="1059934"/>
            </a:xfrm>
            <a:prstGeom prst="line">
              <a:avLst/>
            </a:prstGeom>
            <a:ln w="2540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>
              <a:stCxn id="2" idx="5"/>
              <a:endCxn id="9" idx="1"/>
            </p:cNvCxnSpPr>
            <p:nvPr/>
          </p:nvCxnSpPr>
          <p:spPr bwMode="auto">
            <a:xfrm>
              <a:off x="1711866" y="4925350"/>
              <a:ext cx="1039748" cy="587230"/>
            </a:xfrm>
            <a:prstGeom prst="line">
              <a:avLst/>
            </a:prstGeom>
            <a:ln w="2540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>
              <a:stCxn id="2" idx="7"/>
              <a:endCxn id="6" idx="2"/>
            </p:cNvCxnSpPr>
            <p:nvPr/>
          </p:nvCxnSpPr>
          <p:spPr bwMode="auto">
            <a:xfrm flipV="1">
              <a:off x="1711866" y="4760669"/>
              <a:ext cx="753900" cy="88305"/>
            </a:xfrm>
            <a:prstGeom prst="line">
              <a:avLst/>
            </a:prstGeom>
            <a:ln w="2540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/>
            <p:cNvCxnSpPr>
              <a:stCxn id="6" idx="4"/>
              <a:endCxn id="8" idx="0"/>
            </p:cNvCxnSpPr>
            <p:nvPr/>
          </p:nvCxnSpPr>
          <p:spPr bwMode="auto">
            <a:xfrm flipH="1">
              <a:off x="2236650" y="4814675"/>
              <a:ext cx="283122" cy="1170609"/>
            </a:xfrm>
            <a:prstGeom prst="line">
              <a:avLst/>
            </a:prstGeom>
            <a:ln w="2540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/>
            <p:cNvCxnSpPr>
              <a:stCxn id="6" idx="5"/>
              <a:endCxn id="9" idx="0"/>
            </p:cNvCxnSpPr>
            <p:nvPr/>
          </p:nvCxnSpPr>
          <p:spPr bwMode="auto">
            <a:xfrm>
              <a:off x="2557960" y="4798857"/>
              <a:ext cx="231842" cy="697905"/>
            </a:xfrm>
            <a:prstGeom prst="line">
              <a:avLst/>
            </a:prstGeom>
            <a:ln w="2540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>
              <a:stCxn id="8" idx="7"/>
              <a:endCxn id="9" idx="3"/>
            </p:cNvCxnSpPr>
            <p:nvPr/>
          </p:nvCxnSpPr>
          <p:spPr bwMode="auto">
            <a:xfrm flipV="1">
              <a:off x="2274838" y="5588956"/>
              <a:ext cx="476776" cy="412146"/>
            </a:xfrm>
            <a:prstGeom prst="line">
              <a:avLst/>
            </a:prstGeom>
            <a:ln w="2540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椭圆 49"/>
            <p:cNvSpPr/>
            <p:nvPr/>
          </p:nvSpPr>
          <p:spPr bwMode="auto">
            <a:xfrm>
              <a:off x="611560" y="5588956"/>
              <a:ext cx="108012" cy="108012"/>
            </a:xfrm>
            <a:prstGeom prst="ellipse">
              <a:avLst/>
            </a:prstGeom>
            <a:solidFill>
              <a:schemeClr val="tx1"/>
            </a:solidFill>
            <a:ln w="381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51" name="椭圆 50"/>
            <p:cNvSpPr/>
            <p:nvPr/>
          </p:nvSpPr>
          <p:spPr bwMode="auto">
            <a:xfrm>
              <a:off x="3383868" y="5442756"/>
              <a:ext cx="108012" cy="108012"/>
            </a:xfrm>
            <a:prstGeom prst="ellipse">
              <a:avLst/>
            </a:prstGeom>
            <a:solidFill>
              <a:schemeClr val="tx1"/>
            </a:solidFill>
            <a:ln w="381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cxnSp>
          <p:nvCxnSpPr>
            <p:cNvPr id="52" name="直接连接符 51"/>
            <p:cNvCxnSpPr>
              <a:stCxn id="51" idx="2"/>
              <a:endCxn id="9" idx="6"/>
            </p:cNvCxnSpPr>
            <p:nvPr/>
          </p:nvCxnSpPr>
          <p:spPr bwMode="auto">
            <a:xfrm flipH="1">
              <a:off x="2843808" y="5496762"/>
              <a:ext cx="540060" cy="54006"/>
            </a:xfrm>
            <a:prstGeom prst="line">
              <a:avLst/>
            </a:prstGeom>
            <a:ln w="2540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/>
            <p:cNvCxnSpPr>
              <a:stCxn id="7" idx="2"/>
              <a:endCxn id="50" idx="6"/>
            </p:cNvCxnSpPr>
            <p:nvPr/>
          </p:nvCxnSpPr>
          <p:spPr bwMode="auto">
            <a:xfrm flipH="1" flipV="1">
              <a:off x="719572" y="5642962"/>
              <a:ext cx="755719" cy="15818"/>
            </a:xfrm>
            <a:prstGeom prst="line">
              <a:avLst/>
            </a:prstGeom>
            <a:ln w="2540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NP</a:t>
            </a:r>
            <a:r>
              <a:rPr lang="zh-CN" altLang="en-US" dirty="0" smtClean="0"/>
              <a:t>问题</a:t>
            </a:r>
            <a:endParaRPr lang="zh-CN" altLang="en-US" dirty="0" smtClean="0"/>
          </a:p>
        </p:txBody>
      </p:sp>
      <p:sp>
        <p:nvSpPr>
          <p:cNvPr id="8195" name="内容占位符 2"/>
          <p:cNvSpPr>
            <a:spLocks noGrp="1"/>
          </p:cNvSpPr>
          <p:nvPr>
            <p:ph idx="1"/>
          </p:nvPr>
        </p:nvSpPr>
        <p:spPr>
          <a:xfrm>
            <a:off x="457200" y="1484313"/>
            <a:ext cx="8229600" cy="5005027"/>
          </a:xfrm>
        </p:spPr>
        <p:txBody>
          <a:bodyPr/>
          <a:lstStyle/>
          <a:p>
            <a:r>
              <a:rPr lang="en-US" altLang="zh-CN" dirty="0" smtClean="0">
                <a:latin typeface="Arial" panose="02080604020202020204" pitchFamily="34" charset="0"/>
                <a:ea typeface="黑体" panose="02010609060101010101" pitchFamily="49" charset="-122"/>
              </a:rPr>
              <a:t>Hamilton</a:t>
            </a:r>
            <a:r>
              <a:rPr lang="zh-CN" altLang="en-US" dirty="0" smtClean="0">
                <a:latin typeface="Arial" panose="02080604020202020204" pitchFamily="34" charset="0"/>
                <a:ea typeface="黑体" panose="02010609060101010101" pitchFamily="49" charset="-122"/>
              </a:rPr>
              <a:t>路径问题</a:t>
            </a:r>
            <a:endParaRPr lang="en-US" altLang="zh-CN" dirty="0" smtClean="0">
              <a:latin typeface="Arial" panose="02080604020202020204" pitchFamily="34" charset="0"/>
              <a:ea typeface="黑体" panose="02010609060101010101" pitchFamily="49" charset="-122"/>
            </a:endParaRPr>
          </a:p>
          <a:p>
            <a:pPr lvl="1"/>
            <a:r>
              <a:rPr lang="zh-CN" altLang="en-US" dirty="0" smtClean="0">
                <a:latin typeface="Arial" panose="02080604020202020204" pitchFamily="34" charset="0"/>
                <a:ea typeface="黑体" panose="02010609060101010101" pitchFamily="49" charset="-122"/>
              </a:rPr>
              <a:t>给定无向图</a:t>
            </a:r>
            <a:r>
              <a:rPr lang="en-US" altLang="zh-CN" dirty="0" smtClean="0">
                <a:latin typeface="Arial" panose="02080604020202020204" pitchFamily="34" charset="0"/>
                <a:ea typeface="黑体" panose="02010609060101010101" pitchFamily="49" charset="-122"/>
              </a:rPr>
              <a:t>G</a:t>
            </a:r>
            <a:r>
              <a:rPr lang="zh-CN" altLang="en-US" dirty="0" smtClean="0">
                <a:latin typeface="Arial" panose="02080604020202020204" pitchFamily="34" charset="0"/>
                <a:ea typeface="黑体" panose="02010609060101010101" pitchFamily="49" charset="-122"/>
              </a:rPr>
              <a:t>，问</a:t>
            </a:r>
            <a:r>
              <a:rPr lang="zh-CN" altLang="en-US" dirty="0" smtClean="0">
                <a:latin typeface="+mj-lt"/>
                <a:ea typeface="黑体" panose="02010609060101010101" pitchFamily="49" charset="-122"/>
              </a:rPr>
              <a:t>是否存在一条路径经过</a:t>
            </a:r>
            <a:r>
              <a:rPr lang="en-US" altLang="zh-CN" dirty="0" smtClean="0">
                <a:latin typeface="+mj-lt"/>
                <a:ea typeface="黑体" panose="02010609060101010101" pitchFamily="49" charset="-122"/>
              </a:rPr>
              <a:t>G</a:t>
            </a:r>
            <a:r>
              <a:rPr lang="zh-CN" altLang="en-US" dirty="0" smtClean="0">
                <a:latin typeface="+mj-lt"/>
                <a:ea typeface="黑体" panose="02010609060101010101" pitchFamily="49" charset="-122"/>
              </a:rPr>
              <a:t>中所有顶点一次且</a:t>
            </a:r>
            <a:r>
              <a:rPr lang="zh-CN" altLang="en-US" dirty="0">
                <a:latin typeface="+mj-lt"/>
                <a:ea typeface="黑体" panose="02010609060101010101" pitchFamily="49" charset="-122"/>
              </a:rPr>
              <a:t>只经过一</a:t>
            </a:r>
            <a:r>
              <a:rPr lang="zh-CN" altLang="en-US" dirty="0" smtClean="0">
                <a:latin typeface="+mj-lt"/>
                <a:ea typeface="黑体" panose="02010609060101010101" pitchFamily="49" charset="-122"/>
              </a:rPr>
              <a:t>次？</a:t>
            </a:r>
            <a:endParaRPr lang="en-US" altLang="zh-CN" dirty="0" smtClean="0">
              <a:latin typeface="+mj-lt"/>
              <a:ea typeface="黑体" panose="02010609060101010101" pitchFamily="49" charset="-122"/>
            </a:endParaRPr>
          </a:p>
          <a:p>
            <a:pPr lvl="2"/>
            <a:r>
              <a:rPr lang="zh-CN" altLang="en-US" dirty="0" smtClean="0">
                <a:latin typeface="Arial" panose="02080604020202020204" pitchFamily="34" charset="0"/>
                <a:ea typeface="黑体" panose="02010609060101010101" pitchFamily="49" charset="-122"/>
              </a:rPr>
              <a:t>给定</a:t>
            </a:r>
            <a:r>
              <a:rPr lang="en-US" altLang="zh-CN" dirty="0" smtClean="0">
                <a:latin typeface="Arial" panose="02080604020202020204" pitchFamily="34" charset="0"/>
                <a:ea typeface="黑体" panose="02010609060101010101" pitchFamily="49" charset="-122"/>
              </a:rPr>
              <a:t>n</a:t>
            </a:r>
            <a:r>
              <a:rPr lang="zh-CN" altLang="en-US" dirty="0" smtClean="0">
                <a:latin typeface="Arial" panose="02080604020202020204" pitchFamily="34" charset="0"/>
                <a:ea typeface="黑体" panose="02010609060101010101" pitchFamily="49" charset="-122"/>
              </a:rPr>
              <a:t>个顶点的一个排列 </a:t>
            </a:r>
            <a:r>
              <a:rPr lang="en-US" altLang="zh-CN" dirty="0" smtClean="0">
                <a:latin typeface="Arial" panose="02080604020202020204" pitchFamily="34" charset="0"/>
                <a:ea typeface="黑体" panose="02010609060101010101" pitchFamily="49" charset="-122"/>
              </a:rPr>
              <a:t>v</a:t>
            </a:r>
            <a:r>
              <a:rPr lang="en-US" altLang="zh-CN" baseline="-25000" dirty="0" smtClean="0">
                <a:latin typeface="Arial" panose="02080604020202020204" pitchFamily="34" charset="0"/>
                <a:ea typeface="黑体" panose="02010609060101010101" pitchFamily="49" charset="-122"/>
              </a:rPr>
              <a:t>i1</a:t>
            </a:r>
            <a:r>
              <a:rPr lang="en-US" altLang="zh-CN" dirty="0" smtClean="0">
                <a:latin typeface="Arial" panose="02080604020202020204" pitchFamily="34" charset="0"/>
                <a:ea typeface="黑体" panose="02010609060101010101" pitchFamily="49" charset="-122"/>
              </a:rPr>
              <a:t>,v</a:t>
            </a:r>
            <a:r>
              <a:rPr lang="en-US" altLang="zh-CN" baseline="-25000" dirty="0" smtClean="0">
                <a:latin typeface="Arial" panose="02080604020202020204" pitchFamily="34" charset="0"/>
                <a:ea typeface="黑体" panose="02010609060101010101" pitchFamily="49" charset="-122"/>
              </a:rPr>
              <a:t>i2</a:t>
            </a:r>
            <a:r>
              <a:rPr lang="en-US" altLang="zh-CN" dirty="0" smtClean="0">
                <a:latin typeface="Arial" panose="02080604020202020204" pitchFamily="34" charset="0"/>
                <a:ea typeface="黑体" panose="02010609060101010101" pitchFamily="49" charset="-122"/>
              </a:rPr>
              <a:t>, …, v</a:t>
            </a:r>
            <a:r>
              <a:rPr lang="en-US" altLang="zh-CN" baseline="-25000" dirty="0" smtClean="0">
                <a:latin typeface="Arial" panose="02080604020202020204" pitchFamily="34" charset="0"/>
                <a:ea typeface="黑体" panose="02010609060101010101" pitchFamily="49" charset="-122"/>
              </a:rPr>
              <a:t>in</a:t>
            </a:r>
            <a:r>
              <a:rPr lang="zh-CN" altLang="en-US" dirty="0" smtClean="0">
                <a:latin typeface="Arial" panose="02080604020202020204" pitchFamily="34" charset="0"/>
                <a:ea typeface="黑体" panose="02010609060101010101" pitchFamily="49" charset="-122"/>
              </a:rPr>
              <a:t>，依次判断</a:t>
            </a:r>
            <a:r>
              <a:rPr lang="en-US" altLang="zh-CN" dirty="0" err="1" smtClean="0">
                <a:latin typeface="Arial" panose="02080604020202020204" pitchFamily="34" charset="0"/>
                <a:ea typeface="黑体" panose="02010609060101010101" pitchFamily="49" charset="-122"/>
              </a:rPr>
              <a:t>v</a:t>
            </a:r>
            <a:r>
              <a:rPr lang="en-US" altLang="zh-CN" baseline="-25000" dirty="0" err="1" smtClean="0">
                <a:latin typeface="Arial" panose="02080604020202020204" pitchFamily="34" charset="0"/>
                <a:ea typeface="黑体" panose="02010609060101010101" pitchFamily="49" charset="-122"/>
              </a:rPr>
              <a:t>ik</a:t>
            </a:r>
            <a:r>
              <a:rPr lang="zh-CN" altLang="en-US" dirty="0" smtClean="0">
                <a:latin typeface="Arial" panose="02080604020202020204" pitchFamily="34" charset="0"/>
                <a:ea typeface="黑体" panose="02010609060101010101" pitchFamily="49" charset="-122"/>
              </a:rPr>
              <a:t>和</a:t>
            </a:r>
            <a:r>
              <a:rPr lang="en-US" altLang="zh-CN" dirty="0" smtClean="0">
                <a:latin typeface="Arial" panose="02080604020202020204" pitchFamily="34" charset="0"/>
                <a:ea typeface="黑体" panose="02010609060101010101" pitchFamily="49" charset="-122"/>
              </a:rPr>
              <a:t>v</a:t>
            </a:r>
            <a:r>
              <a:rPr lang="en-US" altLang="zh-CN" baseline="-25000" dirty="0" smtClean="0">
                <a:latin typeface="Arial" panose="02080604020202020204" pitchFamily="34" charset="0"/>
                <a:ea typeface="黑体" panose="02010609060101010101" pitchFamily="49" charset="-122"/>
              </a:rPr>
              <a:t>i(k+1)</a:t>
            </a:r>
            <a:r>
              <a:rPr lang="zh-CN" altLang="en-US" dirty="0" smtClean="0">
                <a:latin typeface="Arial" panose="02080604020202020204" pitchFamily="34" charset="0"/>
                <a:ea typeface="黑体" panose="02010609060101010101" pitchFamily="49" charset="-122"/>
              </a:rPr>
              <a:t>之间是否存在边，时间复杂度</a:t>
            </a:r>
            <a:r>
              <a:rPr lang="en-US" altLang="zh-CN" dirty="0" smtClean="0">
                <a:latin typeface="Arial" panose="02080604020202020204" pitchFamily="34" charset="0"/>
                <a:ea typeface="黑体" panose="02010609060101010101" pitchFamily="49" charset="-122"/>
              </a:rPr>
              <a:t>O(n)</a:t>
            </a:r>
            <a:r>
              <a:rPr lang="zh-CN" altLang="en-US" dirty="0" smtClean="0">
                <a:latin typeface="Arial" panose="02080604020202020204" pitchFamily="34" charset="0"/>
                <a:ea typeface="黑体" panose="02010609060101010101" pitchFamily="49" charset="-122"/>
              </a:rPr>
              <a:t>，即多项式时间可判定这个排列是否是一条路径</a:t>
            </a:r>
            <a:endParaRPr lang="en-US" altLang="zh-CN" dirty="0" smtClean="0">
              <a:latin typeface="Arial" panose="0208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8196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8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8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8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8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8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fld id="{166F650B-5347-4F36-8304-1500CA3F90AB}" type="slidenum">
              <a:rPr lang="en-US" altLang="zh-CN" smtClean="0">
                <a:solidFill>
                  <a:srgbClr val="006600"/>
                </a:solidFill>
                <a:latin typeface="Courier New" panose="02070309020205020404" pitchFamily="49" charset="0"/>
                <a:ea typeface="华文新魏" panose="02010800040101010101" pitchFamily="2" charset="-122"/>
              </a:rPr>
            </a:fld>
            <a:endParaRPr lang="en-US" altLang="zh-CN" smtClean="0">
              <a:solidFill>
                <a:srgbClr val="006600"/>
              </a:solidFill>
              <a:latin typeface="Courier New" panose="02070309020205020404" pitchFamily="49" charset="0"/>
              <a:ea typeface="华文新魏" panose="02010800040101010101" pitchFamily="2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419872" y="4173105"/>
            <a:ext cx="2724150" cy="2171700"/>
            <a:chOff x="3419872" y="4173105"/>
            <a:chExt cx="2724150" cy="2171700"/>
          </a:xfrm>
        </p:grpSpPr>
        <p:pic>
          <p:nvPicPr>
            <p:cNvPr id="1030" name="Picture 6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19872" y="4173105"/>
              <a:ext cx="2724150" cy="21717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33" name="Picture 9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15147" y="4257092"/>
              <a:ext cx="2105025" cy="20288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NP</a:t>
            </a:r>
            <a:r>
              <a:rPr lang="zh-CN" altLang="en-US" dirty="0" smtClean="0"/>
              <a:t>问题</a:t>
            </a:r>
            <a:endParaRPr lang="zh-CN" altLang="en-US" dirty="0" smtClean="0"/>
          </a:p>
        </p:txBody>
      </p:sp>
      <p:sp>
        <p:nvSpPr>
          <p:cNvPr id="819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>
                <a:latin typeface="Arial" panose="02080604020202020204" pitchFamily="34" charset="0"/>
                <a:ea typeface="黑体" panose="02010609060101010101" pitchFamily="49" charset="-122"/>
              </a:rPr>
              <a:t>最优化问题可与一个判定问题对应</a:t>
            </a:r>
            <a:endParaRPr lang="en-US" altLang="zh-CN" dirty="0" smtClean="0">
              <a:latin typeface="Arial" panose="02080604020202020204" pitchFamily="34" charset="0"/>
              <a:ea typeface="黑体" panose="02010609060101010101" pitchFamily="49" charset="-122"/>
            </a:endParaRPr>
          </a:p>
          <a:p>
            <a:pPr lvl="1"/>
            <a:r>
              <a:rPr lang="zh-CN" altLang="en-US" dirty="0" smtClean="0">
                <a:latin typeface="Arial" panose="02080604020202020204" pitchFamily="34" charset="0"/>
                <a:ea typeface="黑体" panose="02010609060101010101" pitchFamily="49" charset="-122"/>
              </a:rPr>
              <a:t>最优化问题：</a:t>
            </a:r>
            <a:r>
              <a:rPr lang="zh-CN" altLang="en-US" dirty="0">
                <a:latin typeface="Arial" panose="02080604020202020204" pitchFamily="34" charset="0"/>
                <a:ea typeface="黑体" panose="02010609060101010101" pitchFamily="49" charset="-122"/>
              </a:rPr>
              <a:t>给定一个图</a:t>
            </a:r>
            <a:r>
              <a:rPr lang="en-US" altLang="zh-CN" dirty="0" smtClean="0">
                <a:latin typeface="Arial" panose="02080604020202020204" pitchFamily="34" charset="0"/>
                <a:ea typeface="黑体" panose="02010609060101010101" pitchFamily="49" charset="-122"/>
              </a:rPr>
              <a:t>G</a:t>
            </a:r>
            <a:r>
              <a:rPr lang="zh-CN" altLang="en-US" dirty="0" smtClean="0">
                <a:latin typeface="Arial" panose="02080604020202020204" pitchFamily="34" charset="0"/>
                <a:ea typeface="黑体" panose="02010609060101010101" pitchFamily="49" charset="-122"/>
              </a:rPr>
              <a:t>，寻找 最大团</a:t>
            </a:r>
            <a:endParaRPr lang="en-US" altLang="zh-CN" dirty="0" smtClean="0">
              <a:latin typeface="Arial" panose="02080604020202020204" pitchFamily="34" charset="0"/>
              <a:ea typeface="黑体" panose="02010609060101010101" pitchFamily="49" charset="-122"/>
            </a:endParaRPr>
          </a:p>
          <a:p>
            <a:pPr lvl="1"/>
            <a:r>
              <a:rPr lang="zh-CN" altLang="en-US" dirty="0" smtClean="0">
                <a:latin typeface="Arial" panose="02080604020202020204" pitchFamily="34" charset="0"/>
                <a:ea typeface="黑体" panose="02010609060101010101" pitchFamily="49" charset="-122"/>
              </a:rPr>
              <a:t>判定问题：</a:t>
            </a:r>
            <a:r>
              <a:rPr lang="zh-CN" altLang="en-US" dirty="0">
                <a:latin typeface="Arial" panose="02080604020202020204" pitchFamily="34" charset="0"/>
                <a:ea typeface="黑体" panose="02010609060101010101" pitchFamily="49" charset="-122"/>
              </a:rPr>
              <a:t>给定一个图</a:t>
            </a:r>
            <a:r>
              <a:rPr lang="en-US" altLang="zh-CN" dirty="0">
                <a:latin typeface="Arial" panose="02080604020202020204" pitchFamily="34" charset="0"/>
                <a:ea typeface="黑体" panose="02010609060101010101" pitchFamily="49" charset="-122"/>
              </a:rPr>
              <a:t>G</a:t>
            </a:r>
            <a:r>
              <a:rPr lang="zh-CN" altLang="en-US" dirty="0">
                <a:latin typeface="Arial" panose="02080604020202020204" pitchFamily="34" charset="0"/>
                <a:ea typeface="黑体" panose="02010609060101010101" pitchFamily="49" charset="-122"/>
              </a:rPr>
              <a:t>和常数</a:t>
            </a:r>
            <a:r>
              <a:rPr lang="en-US" altLang="zh-CN" dirty="0">
                <a:latin typeface="Arial" panose="02080604020202020204" pitchFamily="34" charset="0"/>
                <a:ea typeface="黑体" panose="02010609060101010101" pitchFamily="49" charset="-122"/>
              </a:rPr>
              <a:t>k</a:t>
            </a:r>
            <a:r>
              <a:rPr lang="zh-CN" altLang="en-US" dirty="0">
                <a:latin typeface="Arial" panose="02080604020202020204" pitchFamily="34" charset="0"/>
                <a:ea typeface="黑体" panose="02010609060101010101" pitchFamily="49" charset="-122"/>
              </a:rPr>
              <a:t>，</a:t>
            </a:r>
            <a:r>
              <a:rPr lang="en-US" altLang="zh-CN" dirty="0">
                <a:latin typeface="Arial" panose="02080604020202020204" pitchFamily="34" charset="0"/>
                <a:ea typeface="黑体" panose="02010609060101010101" pitchFamily="49" charset="-122"/>
              </a:rPr>
              <a:t>G</a:t>
            </a:r>
            <a:r>
              <a:rPr lang="zh-CN" altLang="en-US" dirty="0">
                <a:latin typeface="Arial" panose="02080604020202020204" pitchFamily="34" charset="0"/>
                <a:ea typeface="黑体" panose="02010609060101010101" pitchFamily="49" charset="-122"/>
              </a:rPr>
              <a:t>有没有</a:t>
            </a:r>
            <a:r>
              <a:rPr lang="en-US" altLang="zh-CN" dirty="0">
                <a:latin typeface="Arial" panose="02080604020202020204" pitchFamily="34" charset="0"/>
                <a:ea typeface="黑体" panose="02010609060101010101" pitchFamily="49" charset="-122"/>
              </a:rPr>
              <a:t>k</a:t>
            </a:r>
            <a:r>
              <a:rPr lang="zh-CN" altLang="en-US" dirty="0">
                <a:latin typeface="Arial" panose="02080604020202020204" pitchFamily="34" charset="0"/>
                <a:ea typeface="黑体" panose="02010609060101010101" pitchFamily="49" charset="-122"/>
              </a:rPr>
              <a:t>团？</a:t>
            </a:r>
            <a:endParaRPr lang="en-US" altLang="zh-CN" dirty="0" smtClean="0">
              <a:latin typeface="Arial" panose="02080604020202020204" pitchFamily="34" charset="0"/>
              <a:ea typeface="黑体" panose="02010609060101010101" pitchFamily="49" charset="-122"/>
            </a:endParaRPr>
          </a:p>
          <a:p>
            <a:r>
              <a:rPr lang="zh-CN" altLang="en-US" dirty="0" smtClean="0">
                <a:latin typeface="Arial" panose="02080604020202020204" pitchFamily="34" charset="0"/>
                <a:ea typeface="黑体" panose="02010609060101010101" pitchFamily="49" charset="-122"/>
              </a:rPr>
              <a:t>如何对应</a:t>
            </a:r>
            <a:r>
              <a:rPr lang="en-US" altLang="zh-CN" dirty="0" smtClean="0">
                <a:latin typeface="Arial" panose="02080604020202020204" pitchFamily="34" charset="0"/>
                <a:ea typeface="黑体" panose="02010609060101010101" pitchFamily="49" charset="-122"/>
              </a:rPr>
              <a:t>?</a:t>
            </a:r>
            <a:endParaRPr lang="en-US" altLang="zh-CN" dirty="0" smtClean="0">
              <a:latin typeface="Arial" panose="02080604020202020204" pitchFamily="34" charset="0"/>
              <a:ea typeface="黑体" panose="02010609060101010101" pitchFamily="49" charset="-122"/>
            </a:endParaRPr>
          </a:p>
          <a:p>
            <a:pPr lvl="1"/>
            <a:r>
              <a:rPr lang="zh-CN" altLang="en-US" dirty="0" smtClean="0">
                <a:latin typeface="Arial" panose="02080604020202020204" pitchFamily="34" charset="0"/>
                <a:ea typeface="黑体" panose="02010609060101010101" pitchFamily="49" charset="-122"/>
              </a:rPr>
              <a:t>若判定问题多项式时间可解，则可采用二分搜索策略找到最优的 </a:t>
            </a:r>
            <a:r>
              <a:rPr lang="en-US" altLang="zh-CN" dirty="0" smtClean="0">
                <a:latin typeface="Arial" panose="02080604020202020204" pitchFamily="34" charset="0"/>
                <a:ea typeface="黑体" panose="02010609060101010101" pitchFamily="49" charset="-122"/>
              </a:rPr>
              <a:t>k</a:t>
            </a:r>
            <a:endParaRPr lang="en-US" altLang="zh-CN" dirty="0" smtClean="0">
              <a:latin typeface="Arial" panose="02080604020202020204" pitchFamily="34" charset="0"/>
              <a:ea typeface="黑体" panose="02010609060101010101" pitchFamily="49" charset="-122"/>
            </a:endParaRPr>
          </a:p>
          <a:p>
            <a:pPr lvl="1"/>
            <a:r>
              <a:rPr lang="zh-CN" altLang="en-US" dirty="0" smtClean="0">
                <a:latin typeface="Arial" panose="02080604020202020204" pitchFamily="34" charset="0"/>
                <a:ea typeface="黑体" panose="02010609060101010101" pitchFamily="49" charset="-122"/>
              </a:rPr>
              <a:t>反之，若已求解最优化问题，就已求解判定问题</a:t>
            </a:r>
            <a:endParaRPr lang="en-US" altLang="zh-CN" dirty="0" smtClean="0">
              <a:latin typeface="Arial" panose="0208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8196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8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8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8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8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8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fld id="{166F650B-5347-4F36-8304-1500CA3F90AB}" type="slidenum">
              <a:rPr lang="en-US" altLang="zh-CN" smtClean="0">
                <a:solidFill>
                  <a:srgbClr val="006600"/>
                </a:solidFill>
                <a:latin typeface="Courier New" panose="02070309020205020404" pitchFamily="49" charset="0"/>
                <a:ea typeface="华文新魏" panose="02010800040101010101" pitchFamily="2" charset="-122"/>
              </a:rPr>
            </a:fld>
            <a:endParaRPr lang="en-US" altLang="zh-CN" dirty="0" smtClean="0">
              <a:solidFill>
                <a:srgbClr val="006600"/>
              </a:solidFill>
              <a:latin typeface="Courier New" panose="02070309020205020404" pitchFamily="49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NP</a:t>
            </a:r>
            <a:r>
              <a:rPr lang="zh-CN" altLang="en-US" dirty="0" smtClean="0"/>
              <a:t>完全问题</a:t>
            </a:r>
            <a:endParaRPr lang="zh-CN" altLang="en-US" dirty="0" smtClean="0"/>
          </a:p>
        </p:txBody>
      </p:sp>
      <p:sp>
        <p:nvSpPr>
          <p:cNvPr id="8195" name="内容占位符 2"/>
          <p:cNvSpPr>
            <a:spLocks noGrp="1"/>
          </p:cNvSpPr>
          <p:nvPr>
            <p:ph idx="1"/>
          </p:nvPr>
        </p:nvSpPr>
        <p:spPr>
          <a:xfrm>
            <a:off x="457200" y="1484313"/>
            <a:ext cx="8229600" cy="5293059"/>
          </a:xfrm>
        </p:spPr>
        <p:txBody>
          <a:bodyPr/>
          <a:lstStyle/>
          <a:p>
            <a:r>
              <a:rPr lang="zh-CN" altLang="en-US" dirty="0" smtClean="0">
                <a:latin typeface="Arial" panose="02080604020202020204" pitchFamily="34" charset="0"/>
                <a:ea typeface="黑体" panose="02010609060101010101" pitchFamily="49" charset="-122"/>
              </a:rPr>
              <a:t>问题</a:t>
            </a:r>
            <a:r>
              <a:rPr lang="en-US" altLang="zh-CN" dirty="0" smtClean="0">
                <a:latin typeface="Arial" panose="02080604020202020204" pitchFamily="34" charset="0"/>
                <a:ea typeface="黑体" panose="02010609060101010101" pitchFamily="49" charset="-122"/>
              </a:rPr>
              <a:t>A</a:t>
            </a:r>
            <a:r>
              <a:rPr lang="zh-CN" altLang="en-US" dirty="0" smtClean="0">
                <a:latin typeface="Arial" panose="02080604020202020204" pitchFamily="34" charset="0"/>
                <a:ea typeface="黑体" panose="02010609060101010101" pitchFamily="49" charset="-122"/>
              </a:rPr>
              <a:t>是一个</a:t>
            </a:r>
            <a:r>
              <a:rPr lang="en-US" altLang="zh-CN" dirty="0" smtClean="0">
                <a:latin typeface="Arial" panose="02080604020202020204" pitchFamily="34" charset="0"/>
                <a:ea typeface="黑体" panose="02010609060101010101" pitchFamily="49" charset="-122"/>
              </a:rPr>
              <a:t>NP</a:t>
            </a:r>
            <a:r>
              <a:rPr lang="zh-CN" altLang="en-US" dirty="0" smtClean="0">
                <a:latin typeface="Arial" panose="02080604020202020204" pitchFamily="34" charset="0"/>
                <a:ea typeface="黑体" panose="02010609060101010101" pitchFamily="49" charset="-122"/>
              </a:rPr>
              <a:t>完全问题，则有</a:t>
            </a:r>
            <a:endParaRPr lang="en-US" altLang="zh-CN" dirty="0">
              <a:latin typeface="Arial" panose="02080604020202020204" pitchFamily="34" charset="0"/>
              <a:ea typeface="黑体" panose="02010609060101010101" pitchFamily="49" charset="-122"/>
            </a:endParaRPr>
          </a:p>
          <a:p>
            <a:pPr marL="971550" lvl="1" indent="-514350">
              <a:buSzPct val="100000"/>
              <a:buFont typeface="+mj-lt"/>
              <a:buAutoNum type="arabicPeriod"/>
            </a:pPr>
            <a:r>
              <a:rPr lang="en-US" altLang="zh-CN" dirty="0" smtClean="0">
                <a:latin typeface="Arial" panose="02080604020202020204" pitchFamily="34" charset="0"/>
                <a:ea typeface="黑体" panose="02010609060101010101" pitchFamily="49" charset="-122"/>
              </a:rPr>
              <a:t>A</a:t>
            </a:r>
            <a:r>
              <a:rPr lang="zh-CN" altLang="zh-CN" dirty="0"/>
              <a:t>∈</a:t>
            </a:r>
            <a:r>
              <a:rPr lang="en-US" altLang="zh-CN" dirty="0" smtClean="0">
                <a:latin typeface="Arial" panose="02080604020202020204" pitchFamily="34" charset="0"/>
                <a:ea typeface="黑体" panose="02010609060101010101" pitchFamily="49" charset="-122"/>
              </a:rPr>
              <a:t>NP</a:t>
            </a:r>
            <a:r>
              <a:rPr lang="zh-CN" altLang="en-US" dirty="0" smtClean="0">
                <a:latin typeface="Arial" panose="02080604020202020204" pitchFamily="34" charset="0"/>
                <a:ea typeface="黑体" panose="02010609060101010101" pitchFamily="49" charset="-122"/>
              </a:rPr>
              <a:t>问题 </a:t>
            </a:r>
            <a:r>
              <a:rPr lang="en-US" altLang="zh-CN" dirty="0" smtClean="0">
                <a:latin typeface="Arial" panose="02080604020202020204" pitchFamily="34" charset="0"/>
                <a:ea typeface="黑体" panose="02010609060101010101" pitchFamily="49" charset="-122"/>
              </a:rPr>
              <a:t>(</a:t>
            </a:r>
            <a:r>
              <a:rPr lang="zh-CN" altLang="en-US" dirty="0" smtClean="0">
                <a:latin typeface="Arial" panose="02080604020202020204" pitchFamily="34" charset="0"/>
                <a:ea typeface="黑体" panose="02010609060101010101" pitchFamily="49" charset="-122"/>
              </a:rPr>
              <a:t>多项式时间可</a:t>
            </a:r>
            <a:r>
              <a:rPr lang="zh-CN" altLang="en-US" dirty="0">
                <a:latin typeface="Arial" panose="02080604020202020204" pitchFamily="34" charset="0"/>
                <a:ea typeface="黑体" panose="02010609060101010101" pitchFamily="49" charset="-122"/>
              </a:rPr>
              <a:t>验证</a:t>
            </a:r>
            <a:r>
              <a:rPr lang="zh-CN" altLang="en-US" dirty="0" smtClean="0">
                <a:latin typeface="Arial" panose="02080604020202020204" pitchFamily="34" charset="0"/>
                <a:ea typeface="黑体" panose="02010609060101010101" pitchFamily="49" charset="-122"/>
              </a:rPr>
              <a:t>解是否正确</a:t>
            </a:r>
            <a:r>
              <a:rPr lang="en-US" altLang="zh-CN" dirty="0" smtClean="0">
                <a:latin typeface="Arial" panose="02080604020202020204" pitchFamily="34" charset="0"/>
                <a:ea typeface="黑体" panose="02010609060101010101" pitchFamily="49" charset="-122"/>
              </a:rPr>
              <a:t>)</a:t>
            </a:r>
            <a:endParaRPr lang="zh-CN" altLang="en-US" dirty="0">
              <a:latin typeface="Arial" panose="02080604020202020204" pitchFamily="34" charset="0"/>
              <a:ea typeface="黑体" panose="02010609060101010101" pitchFamily="49" charset="-122"/>
            </a:endParaRPr>
          </a:p>
          <a:p>
            <a:pPr marL="971550" lvl="1" indent="-514350">
              <a:buSzPct val="100000"/>
              <a:buFont typeface="+mj-lt"/>
              <a:buAutoNum type="arabicPeriod"/>
            </a:pPr>
            <a:r>
              <a:rPr lang="zh-CN" altLang="en-US" dirty="0" smtClean="0">
                <a:latin typeface="Arial" panose="02080604020202020204" pitchFamily="34" charset="0"/>
                <a:ea typeface="黑体" panose="02010609060101010101" pitchFamily="49" charset="-122"/>
              </a:rPr>
              <a:t>且</a:t>
            </a:r>
            <a:r>
              <a:rPr lang="en-US" altLang="zh-CN" dirty="0">
                <a:sym typeface="Symbol" panose="05050102010706020507"/>
              </a:rPr>
              <a:t> </a:t>
            </a:r>
            <a:r>
              <a:rPr lang="en-US" altLang="zh-CN" dirty="0" smtClean="0">
                <a:latin typeface="Arial" panose="02080604020202020204" pitchFamily="34" charset="0"/>
                <a:ea typeface="黑体" panose="02010609060101010101" pitchFamily="49" charset="-122"/>
              </a:rPr>
              <a:t>B</a:t>
            </a:r>
            <a:r>
              <a:rPr lang="zh-CN" altLang="zh-CN" dirty="0" smtClean="0"/>
              <a:t>∈</a:t>
            </a:r>
            <a:r>
              <a:rPr lang="en-US" altLang="zh-CN" dirty="0" smtClean="0">
                <a:latin typeface="Arial" panose="02080604020202020204" pitchFamily="34" charset="0"/>
                <a:ea typeface="黑体" panose="02010609060101010101" pitchFamily="49" charset="-122"/>
              </a:rPr>
              <a:t>NP,B</a:t>
            </a:r>
            <a:r>
              <a:rPr lang="zh-CN" altLang="zh-CN" dirty="0"/>
              <a:t> ≤</a:t>
            </a:r>
            <a:r>
              <a:rPr lang="en-US" altLang="zh-CN" baseline="-25000" dirty="0"/>
              <a:t>p </a:t>
            </a:r>
            <a:r>
              <a:rPr lang="en-US" altLang="zh-CN" dirty="0" smtClean="0">
                <a:latin typeface="Arial" panose="02080604020202020204" pitchFamily="34" charset="0"/>
                <a:ea typeface="黑体" panose="02010609060101010101" pitchFamily="49" charset="-122"/>
              </a:rPr>
              <a:t>A</a:t>
            </a:r>
            <a:endParaRPr lang="en-US" altLang="zh-CN" dirty="0" smtClean="0">
              <a:latin typeface="Arial" panose="02080604020202020204" pitchFamily="34" charset="0"/>
              <a:ea typeface="黑体" panose="02010609060101010101" pitchFamily="49" charset="-122"/>
            </a:endParaRPr>
          </a:p>
          <a:p>
            <a:pPr marL="1200150" lvl="2" indent="-342900">
              <a:buSzPct val="55000"/>
            </a:pPr>
            <a:r>
              <a:rPr lang="zh-CN" altLang="en-US" dirty="0" smtClean="0">
                <a:latin typeface="Arial" panose="02080604020202020204" pitchFamily="34" charset="0"/>
                <a:ea typeface="黑体" panose="02010609060101010101" pitchFamily="49" charset="-122"/>
              </a:rPr>
              <a:t>任意</a:t>
            </a:r>
            <a:r>
              <a:rPr lang="en-US" altLang="zh-CN" dirty="0" smtClean="0">
                <a:latin typeface="Arial" panose="02080604020202020204" pitchFamily="34" charset="0"/>
                <a:ea typeface="黑体" panose="02010609060101010101" pitchFamily="49" charset="-122"/>
              </a:rPr>
              <a:t>NP</a:t>
            </a:r>
            <a:r>
              <a:rPr lang="zh-CN" altLang="en-US" dirty="0" smtClean="0">
                <a:latin typeface="Arial" panose="02080604020202020204" pitchFamily="34" charset="0"/>
                <a:ea typeface="黑体" panose="02010609060101010101" pitchFamily="49" charset="-122"/>
              </a:rPr>
              <a:t>问题</a:t>
            </a:r>
            <a:r>
              <a:rPr lang="en-US" altLang="zh-CN" dirty="0" smtClean="0">
                <a:latin typeface="Arial" panose="02080604020202020204" pitchFamily="34" charset="0"/>
                <a:ea typeface="黑体" panose="02010609060101010101" pitchFamily="49" charset="-122"/>
              </a:rPr>
              <a:t>B</a:t>
            </a:r>
            <a:r>
              <a:rPr lang="zh-CN" altLang="en-US" dirty="0" smtClean="0">
                <a:latin typeface="Arial" panose="02080604020202020204" pitchFamily="34" charset="0"/>
                <a:ea typeface="黑体" panose="02010609060101010101" pitchFamily="49" charset="-122"/>
              </a:rPr>
              <a:t>都</a:t>
            </a:r>
            <a:r>
              <a:rPr lang="zh-CN" altLang="en-US" dirty="0">
                <a:latin typeface="Arial" panose="02080604020202020204" pitchFamily="34" charset="0"/>
                <a:ea typeface="黑体" panose="02010609060101010101" pitchFamily="49" charset="-122"/>
              </a:rPr>
              <a:t>可多项式时间归约到</a:t>
            </a:r>
            <a:r>
              <a:rPr lang="en-US" altLang="zh-CN" dirty="0" smtClean="0">
                <a:latin typeface="Arial" panose="02080604020202020204" pitchFamily="34" charset="0"/>
                <a:ea typeface="黑体" panose="02010609060101010101" pitchFamily="49" charset="-122"/>
              </a:rPr>
              <a:t>A</a:t>
            </a:r>
            <a:endParaRPr lang="en-US" altLang="zh-CN" dirty="0" smtClean="0">
              <a:latin typeface="Arial" panose="02080604020202020204" pitchFamily="34" charset="0"/>
              <a:ea typeface="黑体" panose="02010609060101010101" pitchFamily="49" charset="-122"/>
            </a:endParaRPr>
          </a:p>
          <a:p>
            <a:pPr marL="1200150" lvl="2" indent="-342900">
              <a:buSzPct val="55000"/>
            </a:pPr>
            <a:r>
              <a:rPr lang="zh-CN" altLang="en-US" dirty="0" smtClean="0">
                <a:latin typeface="Arial" panose="02080604020202020204" pitchFamily="34" charset="0"/>
                <a:ea typeface="黑体" panose="02010609060101010101" pitchFamily="49" charset="-122"/>
              </a:rPr>
              <a:t>构造一个多项式时间对应关系</a:t>
            </a:r>
            <a:endParaRPr lang="en-US" altLang="zh-CN" dirty="0" smtClean="0">
              <a:latin typeface="Arial" panose="02080604020202020204" pitchFamily="34" charset="0"/>
              <a:ea typeface="黑体" panose="02010609060101010101" pitchFamily="49" charset="-122"/>
            </a:endParaRPr>
          </a:p>
          <a:p>
            <a:endParaRPr lang="zh-CN" altLang="en-US" dirty="0">
              <a:latin typeface="Arial" panose="02080604020202020204" pitchFamily="34" charset="0"/>
              <a:ea typeface="黑体" panose="02010609060101010101" pitchFamily="49" charset="-122"/>
            </a:endParaRPr>
          </a:p>
          <a:p>
            <a:pPr lvl="1"/>
            <a:endParaRPr lang="zh-CN" altLang="zh-CN" dirty="0" smtClean="0">
              <a:latin typeface="Arial" panose="02080604020202020204" pitchFamily="34" charset="0"/>
              <a:ea typeface="黑体" panose="02010609060101010101" pitchFamily="49" charset="-122"/>
            </a:endParaRPr>
          </a:p>
          <a:p>
            <a:endParaRPr lang="zh-CN" altLang="en-US" dirty="0" smtClean="0">
              <a:latin typeface="Arial" panose="0208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8196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8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8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8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8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8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fld id="{166F650B-5347-4F36-8304-1500CA3F90AB}" type="slidenum">
              <a:rPr lang="en-US" altLang="zh-CN" smtClean="0">
                <a:solidFill>
                  <a:srgbClr val="006600"/>
                </a:solidFill>
                <a:latin typeface="Courier New" panose="02070309020205020404" pitchFamily="49" charset="0"/>
                <a:ea typeface="华文新魏" panose="02010800040101010101" pitchFamily="2" charset="-122"/>
              </a:rPr>
            </a:fld>
            <a:endParaRPr lang="en-US" altLang="zh-CN" dirty="0" smtClean="0">
              <a:solidFill>
                <a:srgbClr val="006600"/>
              </a:solidFill>
              <a:latin typeface="Courier New" panose="02070309020205020404" pitchFamily="49" charset="0"/>
              <a:ea typeface="华文新魏" panose="02010800040101010101" pitchFamily="2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5886005" y="5049180"/>
            <a:ext cx="2578484" cy="1622199"/>
            <a:chOff x="5652120" y="4617132"/>
            <a:chExt cx="3096344" cy="1656184"/>
          </a:xfrm>
        </p:grpSpPr>
        <p:sp>
          <p:nvSpPr>
            <p:cNvPr id="11" name="圆角矩形 10"/>
            <p:cNvSpPr/>
            <p:nvPr/>
          </p:nvSpPr>
          <p:spPr bwMode="auto">
            <a:xfrm>
              <a:off x="5652120" y="4617132"/>
              <a:ext cx="3096344" cy="1656184"/>
            </a:xfrm>
            <a:prstGeom prst="roundRect">
              <a:avLst/>
            </a:prstGeom>
            <a:noFill/>
            <a:ln w="25400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8000" tIns="10800" rIns="18000" bIns="10800" rtlCol="0" anchor="ctr"/>
            <a:lstStyle/>
            <a:p>
              <a:pPr algn="ctr" eaLnBrk="1" hangingPunct="1">
                <a:lnSpc>
                  <a:spcPct val="96000"/>
                </a:lnSpc>
                <a:spcBef>
                  <a:spcPct val="0"/>
                </a:spcBef>
                <a:buClrTx/>
                <a:buFontTx/>
                <a:buNone/>
              </a:pPr>
              <a:endParaRPr lang="zh-CN" altLang="en-US" b="1" dirty="0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642601" y="4757840"/>
              <a:ext cx="970137" cy="36933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rtlCol="0">
              <a:spAutoFit/>
            </a:bodyPr>
            <a:lstStyle/>
            <a:p>
              <a:pPr eaLnBrk="1" hangingPunct="1">
                <a:buFont typeface="Wingdings" panose="05000000000000000000" pitchFamily="2" charset="2"/>
                <a:buNone/>
              </a:pPr>
              <a:r>
                <a:rPr lang="en-US" altLang="zh-CN" b="1" dirty="0" smtClean="0">
                  <a:solidFill>
                    <a:srgbClr val="000099"/>
                  </a:solidFill>
                  <a:ea typeface="黑体" panose="02010609060101010101" pitchFamily="49" charset="-122"/>
                </a:rPr>
                <a:t>NP</a:t>
              </a:r>
              <a:r>
                <a:rPr lang="zh-CN" altLang="en-US" b="1" dirty="0" smtClean="0">
                  <a:solidFill>
                    <a:srgbClr val="000099"/>
                  </a:solidFill>
                  <a:ea typeface="黑体" panose="02010609060101010101" pitchFamily="49" charset="-122"/>
                </a:rPr>
                <a:t>问题</a:t>
              </a:r>
              <a:endParaRPr lang="zh-CN" altLang="en-US" b="1" dirty="0" smtClean="0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13" name="椭圆 12"/>
            <p:cNvSpPr/>
            <p:nvPr/>
          </p:nvSpPr>
          <p:spPr bwMode="auto">
            <a:xfrm>
              <a:off x="5890082" y="5172909"/>
              <a:ext cx="1162230" cy="792088"/>
            </a:xfrm>
            <a:prstGeom prst="ellipse">
              <a:avLst/>
            </a:prstGeom>
            <a:noFill/>
            <a:ln w="25400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8000" tIns="10800" rIns="18000" bIns="10800" rtlCol="0" anchor="ctr"/>
            <a:lstStyle/>
            <a:p>
              <a:pPr algn="ctr" eaLnBrk="1" hangingPunct="1">
                <a:lnSpc>
                  <a:spcPct val="96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b="1" dirty="0" smtClean="0">
                  <a:solidFill>
                    <a:srgbClr val="000099"/>
                  </a:solidFill>
                  <a:ea typeface="黑体" panose="02010609060101010101" pitchFamily="49" charset="-122"/>
                </a:rPr>
                <a:t>P</a:t>
              </a:r>
              <a:r>
                <a:rPr lang="zh-CN" altLang="en-US" b="1" dirty="0" smtClean="0">
                  <a:solidFill>
                    <a:srgbClr val="000099"/>
                  </a:solidFill>
                  <a:ea typeface="黑体" panose="02010609060101010101" pitchFamily="49" charset="-122"/>
                </a:rPr>
                <a:t>问题</a:t>
              </a:r>
              <a:endParaRPr lang="zh-CN" altLang="en-US" b="1" dirty="0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14" name="椭圆 13"/>
            <p:cNvSpPr/>
            <p:nvPr/>
          </p:nvSpPr>
          <p:spPr bwMode="auto">
            <a:xfrm>
              <a:off x="7290290" y="5229200"/>
              <a:ext cx="1458174" cy="792088"/>
            </a:xfrm>
            <a:prstGeom prst="ellipse">
              <a:avLst/>
            </a:prstGeom>
            <a:noFill/>
            <a:ln w="25400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8000" tIns="10800" rIns="18000" bIns="10800" rtlCol="0" anchor="ctr"/>
            <a:lstStyle/>
            <a:p>
              <a:pPr algn="ctr" eaLnBrk="1" hangingPunct="1">
                <a:lnSpc>
                  <a:spcPct val="96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b="1" dirty="0">
                  <a:solidFill>
                    <a:srgbClr val="000099"/>
                  </a:solidFill>
                  <a:ea typeface="黑体" panose="02010609060101010101" pitchFamily="49" charset="-122"/>
                </a:rPr>
                <a:t>N</a:t>
              </a:r>
              <a:r>
                <a:rPr lang="en-US" altLang="zh-CN" b="1" dirty="0" smtClean="0">
                  <a:solidFill>
                    <a:srgbClr val="000099"/>
                  </a:solidFill>
                  <a:ea typeface="黑体" panose="02010609060101010101" pitchFamily="49" charset="-122"/>
                </a:rPr>
                <a:t>P</a:t>
              </a:r>
              <a:r>
                <a:rPr lang="zh-CN" altLang="en-US" b="1" dirty="0" smtClean="0">
                  <a:solidFill>
                    <a:srgbClr val="000099"/>
                  </a:solidFill>
                  <a:ea typeface="黑体" panose="02010609060101010101" pitchFamily="49" charset="-122"/>
                </a:rPr>
                <a:t>完全</a:t>
              </a:r>
              <a:endParaRPr lang="en-US" altLang="zh-CN" b="1" dirty="0" smtClean="0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algn="ctr" eaLnBrk="1" hangingPunct="1">
                <a:lnSpc>
                  <a:spcPct val="96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b="1" dirty="0" smtClean="0">
                  <a:solidFill>
                    <a:srgbClr val="000099"/>
                  </a:solidFill>
                  <a:ea typeface="黑体" panose="02010609060101010101" pitchFamily="49" charset="-122"/>
                </a:rPr>
                <a:t>问题</a:t>
              </a:r>
              <a:endParaRPr lang="zh-CN" altLang="en-US" b="1" dirty="0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2015716" y="5390274"/>
            <a:ext cx="3456384" cy="95410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>
            <a:noFill/>
          </a:ln>
        </p:spPr>
        <p:txBody>
          <a:bodyPr wrap="square" rtlCol="0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b="1" dirty="0" smtClean="0">
                <a:solidFill>
                  <a:srgbClr val="FF0000"/>
                </a:solidFill>
                <a:ea typeface="黑体" panose="02010609060101010101" pitchFamily="49" charset="-122"/>
              </a:rPr>
              <a:t>P</a:t>
            </a:r>
            <a:r>
              <a:rPr lang="en-US" altLang="zh-CN" sz="2800" b="1" dirty="0">
                <a:solidFill>
                  <a:srgbClr val="FF0000"/>
                </a:solidFill>
                <a:ea typeface="黑体" panose="02010609060101010101" pitchFamily="49" charset="-122"/>
              </a:rPr>
              <a:t>≠</a:t>
            </a:r>
            <a:r>
              <a:rPr lang="en-US" altLang="zh-CN" sz="2800" b="1" dirty="0" smtClean="0">
                <a:solidFill>
                  <a:srgbClr val="FF0000"/>
                </a:solidFill>
                <a:ea typeface="黑体" panose="02010609060101010101" pitchFamily="49" charset="-122"/>
              </a:rPr>
              <a:t>NP</a:t>
            </a:r>
            <a:r>
              <a:rPr lang="zh-CN" altLang="en-US" sz="2800" b="1" dirty="0" smtClean="0">
                <a:solidFill>
                  <a:srgbClr val="FF0000"/>
                </a:solidFill>
                <a:ea typeface="黑体" panose="02010609060101010101" pitchFamily="49" charset="-122"/>
              </a:rPr>
              <a:t>否还不知道，</a:t>
            </a:r>
            <a:endParaRPr lang="en-US" altLang="zh-CN" sz="2800" b="1" dirty="0" smtClean="0">
              <a:solidFill>
                <a:srgbClr val="FF0000"/>
              </a:solidFill>
              <a:ea typeface="黑体" panose="02010609060101010101" pitchFamily="49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 dirty="0" smtClean="0">
                <a:solidFill>
                  <a:srgbClr val="FF0000"/>
                </a:solidFill>
                <a:ea typeface="黑体" panose="02010609060101010101" pitchFamily="49" charset="-122"/>
              </a:rPr>
              <a:t>现在普遍认为</a:t>
            </a:r>
            <a:r>
              <a:rPr lang="en-US" altLang="zh-CN" sz="2800" b="1" dirty="0" smtClean="0">
                <a:solidFill>
                  <a:srgbClr val="FF0000"/>
                </a:solidFill>
                <a:ea typeface="黑体" panose="02010609060101010101" pitchFamily="49" charset="-122"/>
              </a:rPr>
              <a:t>P≠NP</a:t>
            </a:r>
            <a:endParaRPr lang="zh-CN" altLang="en-US" sz="2800" b="1" dirty="0" smtClean="0">
              <a:solidFill>
                <a:srgbClr val="FF0000"/>
              </a:solidFill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NP</a:t>
            </a:r>
            <a:r>
              <a:rPr lang="zh-CN" altLang="en-US" dirty="0" smtClean="0"/>
              <a:t>完全问题</a:t>
            </a:r>
            <a:endParaRPr lang="zh-CN" altLang="en-US" dirty="0" smtClean="0"/>
          </a:p>
        </p:txBody>
      </p:sp>
      <p:sp>
        <p:nvSpPr>
          <p:cNvPr id="8195" name="内容占位符 2"/>
          <p:cNvSpPr>
            <a:spLocks noGrp="1"/>
          </p:cNvSpPr>
          <p:nvPr>
            <p:ph idx="1"/>
          </p:nvPr>
        </p:nvSpPr>
        <p:spPr>
          <a:xfrm>
            <a:off x="457200" y="1484312"/>
            <a:ext cx="8229600" cy="5293059"/>
          </a:xfrm>
        </p:spPr>
        <p:txBody>
          <a:bodyPr/>
          <a:lstStyle/>
          <a:p>
            <a:r>
              <a:rPr lang="zh-CN" altLang="en-US" dirty="0" smtClean="0">
                <a:latin typeface="Arial" panose="02080604020202020204" pitchFamily="34" charset="0"/>
                <a:ea typeface="黑体" panose="02010609060101010101" pitchFamily="49" charset="-122"/>
              </a:rPr>
              <a:t>引入</a:t>
            </a:r>
            <a:r>
              <a:rPr lang="en-US" altLang="zh-CN" dirty="0" smtClean="0">
                <a:latin typeface="Arial" panose="02080604020202020204" pitchFamily="34" charset="0"/>
                <a:ea typeface="黑体" panose="02010609060101010101" pitchFamily="49" charset="-122"/>
              </a:rPr>
              <a:t>NP</a:t>
            </a:r>
            <a:r>
              <a:rPr lang="zh-CN" altLang="en-US" dirty="0" smtClean="0">
                <a:latin typeface="Arial" panose="02080604020202020204" pitchFamily="34" charset="0"/>
                <a:ea typeface="黑体" panose="02010609060101010101" pitchFamily="49" charset="-122"/>
              </a:rPr>
              <a:t>完全性的意义</a:t>
            </a:r>
            <a:endParaRPr lang="en-US" altLang="zh-CN" dirty="0" smtClean="0">
              <a:latin typeface="Arial" panose="02080604020202020204" pitchFamily="34" charset="0"/>
              <a:ea typeface="黑体" panose="02010609060101010101" pitchFamily="49" charset="-122"/>
            </a:endParaRPr>
          </a:p>
          <a:p>
            <a:pPr lvl="1"/>
            <a:r>
              <a:rPr lang="zh-CN" altLang="en-US" dirty="0"/>
              <a:t>若</a:t>
            </a:r>
            <a:r>
              <a:rPr lang="zh-CN" altLang="zh-CN" dirty="0" smtClean="0"/>
              <a:t>某个</a:t>
            </a:r>
            <a:r>
              <a:rPr lang="en-US" altLang="zh-CN" dirty="0" smtClean="0"/>
              <a:t>NP</a:t>
            </a:r>
            <a:r>
              <a:rPr lang="zh-CN" altLang="en-US" dirty="0" smtClean="0"/>
              <a:t>完全</a:t>
            </a:r>
            <a:r>
              <a:rPr lang="zh-CN" altLang="zh-CN" dirty="0" smtClean="0"/>
              <a:t>问题多项式时间</a:t>
            </a:r>
            <a:r>
              <a:rPr lang="zh-CN" altLang="en-US" dirty="0" smtClean="0"/>
              <a:t>可</a:t>
            </a:r>
            <a:r>
              <a:rPr lang="zh-CN" altLang="zh-CN" dirty="0" smtClean="0"/>
              <a:t>解，则</a:t>
            </a:r>
            <a:r>
              <a:rPr lang="zh-CN" altLang="zh-CN" dirty="0"/>
              <a:t>所有</a:t>
            </a:r>
            <a:r>
              <a:rPr lang="en-US" altLang="zh-CN" dirty="0"/>
              <a:t>NP</a:t>
            </a:r>
            <a:r>
              <a:rPr lang="zh-CN" altLang="zh-CN" dirty="0"/>
              <a:t>问题均</a:t>
            </a:r>
            <a:r>
              <a:rPr lang="zh-CN" altLang="zh-CN" dirty="0" smtClean="0"/>
              <a:t>可多项式时间求解</a:t>
            </a:r>
            <a:r>
              <a:rPr lang="zh-CN" altLang="zh-CN" dirty="0"/>
              <a:t>，从而有</a:t>
            </a:r>
            <a:r>
              <a:rPr lang="en-US" altLang="zh-CN" dirty="0" smtClean="0"/>
              <a:t>P=NP</a:t>
            </a:r>
            <a:endParaRPr lang="zh-CN" altLang="zh-CN" dirty="0"/>
          </a:p>
          <a:p>
            <a:pPr lvl="1"/>
            <a:r>
              <a:rPr lang="zh-CN" altLang="en-US" dirty="0" smtClean="0"/>
              <a:t>若</a:t>
            </a:r>
            <a:r>
              <a:rPr lang="zh-CN" altLang="zh-CN" dirty="0" smtClean="0"/>
              <a:t>能证明</a:t>
            </a:r>
            <a:r>
              <a:rPr lang="zh-CN" altLang="zh-CN" dirty="0"/>
              <a:t>某个</a:t>
            </a:r>
            <a:r>
              <a:rPr lang="en-US" altLang="zh-CN" dirty="0"/>
              <a:t>NP</a:t>
            </a:r>
            <a:r>
              <a:rPr lang="zh-CN" altLang="zh-CN" dirty="0"/>
              <a:t>问题不存在</a:t>
            </a:r>
            <a:r>
              <a:rPr lang="zh-CN" altLang="zh-CN" dirty="0" smtClean="0"/>
              <a:t>多项式时间求解算法</a:t>
            </a:r>
            <a:r>
              <a:rPr lang="en-US" altLang="zh-CN" dirty="0" smtClean="0"/>
              <a:t>  (</a:t>
            </a:r>
            <a:r>
              <a:rPr lang="zh-CN" altLang="zh-CN" dirty="0" smtClean="0"/>
              <a:t>即</a:t>
            </a:r>
            <a:r>
              <a:rPr lang="en-US" altLang="zh-CN" dirty="0"/>
              <a:t>P</a:t>
            </a:r>
            <a:r>
              <a:rPr lang="zh-CN" altLang="zh-CN" dirty="0"/>
              <a:t>≠</a:t>
            </a:r>
            <a:r>
              <a:rPr lang="en-US" altLang="zh-CN" dirty="0" smtClean="0"/>
              <a:t>NP), </a:t>
            </a:r>
            <a:r>
              <a:rPr lang="zh-CN" altLang="zh-CN" dirty="0" smtClean="0"/>
              <a:t>则</a:t>
            </a:r>
            <a:r>
              <a:rPr lang="zh-CN" altLang="zh-CN" dirty="0"/>
              <a:t>所有</a:t>
            </a:r>
            <a:r>
              <a:rPr lang="en-US" altLang="zh-CN" dirty="0" smtClean="0"/>
              <a:t>NP</a:t>
            </a:r>
            <a:r>
              <a:rPr lang="zh-CN" altLang="en-US" dirty="0" smtClean="0"/>
              <a:t>完全</a:t>
            </a:r>
            <a:r>
              <a:rPr lang="zh-CN" altLang="zh-CN" dirty="0" smtClean="0"/>
              <a:t>问题</a:t>
            </a:r>
            <a:r>
              <a:rPr lang="zh-CN" altLang="zh-CN" dirty="0"/>
              <a:t>都不存在</a:t>
            </a:r>
            <a:r>
              <a:rPr lang="zh-CN" altLang="zh-CN" dirty="0" smtClean="0"/>
              <a:t>多项式时间求解</a:t>
            </a:r>
            <a:r>
              <a:rPr lang="zh-CN" altLang="zh-CN" dirty="0"/>
              <a:t>算法，即有</a:t>
            </a:r>
            <a:r>
              <a:rPr lang="en-US" altLang="zh-CN" dirty="0" smtClean="0"/>
              <a:t>NP</a:t>
            </a:r>
            <a:r>
              <a:rPr lang="zh-CN" altLang="en-US" dirty="0" smtClean="0"/>
              <a:t>完全</a:t>
            </a:r>
            <a:r>
              <a:rPr lang="zh-CN" altLang="zh-CN" dirty="0" smtClean="0"/>
              <a:t>∩</a:t>
            </a:r>
            <a:r>
              <a:rPr lang="en-US" altLang="zh-CN" dirty="0"/>
              <a:t>P=</a:t>
            </a:r>
            <a:r>
              <a:rPr lang="en-US" altLang="zh-CN" dirty="0">
                <a:sym typeface="Symbol" panose="05050102010706020507"/>
              </a:rPr>
              <a:t></a:t>
            </a:r>
            <a:r>
              <a:rPr lang="zh-CN" altLang="zh-CN" dirty="0"/>
              <a:t>。</a:t>
            </a:r>
            <a:endParaRPr lang="zh-CN" altLang="zh-CN" dirty="0"/>
          </a:p>
          <a:p>
            <a:pPr lvl="1"/>
            <a:r>
              <a:rPr lang="zh-CN" altLang="zh-CN" dirty="0" smtClean="0"/>
              <a:t>∴</a:t>
            </a:r>
            <a:r>
              <a:rPr lang="en-US" altLang="zh-CN" dirty="0" smtClean="0"/>
              <a:t>NP</a:t>
            </a:r>
            <a:r>
              <a:rPr lang="zh-CN" altLang="en-US" dirty="0" smtClean="0"/>
              <a:t>完全</a:t>
            </a:r>
            <a:r>
              <a:rPr lang="zh-CN" altLang="zh-CN" dirty="0" smtClean="0"/>
              <a:t>问题</a:t>
            </a:r>
            <a:r>
              <a:rPr lang="zh-CN" altLang="zh-CN" dirty="0"/>
              <a:t>是</a:t>
            </a:r>
            <a:r>
              <a:rPr lang="en-US" altLang="zh-CN" dirty="0"/>
              <a:t>NP</a:t>
            </a:r>
            <a:r>
              <a:rPr lang="zh-CN" altLang="zh-CN" dirty="0"/>
              <a:t>问题</a:t>
            </a:r>
            <a:r>
              <a:rPr lang="zh-CN" altLang="zh-CN" dirty="0" smtClean="0"/>
              <a:t>中</a:t>
            </a:r>
            <a:r>
              <a:rPr lang="en-US" altLang="zh-CN" dirty="0" smtClean="0"/>
              <a:t>””</a:t>
            </a:r>
            <a:r>
              <a:rPr lang="zh-CN" altLang="zh-CN" dirty="0" smtClean="0"/>
              <a:t>最难的”</a:t>
            </a:r>
            <a:endParaRPr lang="zh-CN" altLang="en-US" dirty="0">
              <a:latin typeface="Arial" panose="02080604020202020204" pitchFamily="34" charset="0"/>
              <a:ea typeface="黑体" panose="02010609060101010101" pitchFamily="49" charset="-122"/>
            </a:endParaRPr>
          </a:p>
          <a:p>
            <a:pPr lvl="1"/>
            <a:endParaRPr lang="zh-CN" altLang="zh-CN" dirty="0" smtClean="0">
              <a:latin typeface="Arial" panose="02080604020202020204" pitchFamily="34" charset="0"/>
              <a:ea typeface="黑体" panose="02010609060101010101" pitchFamily="49" charset="-122"/>
            </a:endParaRPr>
          </a:p>
          <a:p>
            <a:endParaRPr lang="zh-CN" altLang="en-US" dirty="0" smtClean="0">
              <a:latin typeface="Arial" panose="0208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8196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8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8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8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8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8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fld id="{166F650B-5347-4F36-8304-1500CA3F90AB}" type="slidenum">
              <a:rPr lang="en-US" altLang="zh-CN" smtClean="0">
                <a:solidFill>
                  <a:srgbClr val="006600"/>
                </a:solidFill>
                <a:latin typeface="Courier New" panose="02070309020205020404" pitchFamily="49" charset="0"/>
                <a:ea typeface="华文新魏" panose="02010800040101010101" pitchFamily="2" charset="-122"/>
              </a:rPr>
            </a:fld>
            <a:endParaRPr lang="en-US" altLang="zh-CN" dirty="0" smtClean="0">
              <a:solidFill>
                <a:srgbClr val="006600"/>
              </a:solidFill>
              <a:latin typeface="Courier New" panose="02070309020205020404" pitchFamily="49" charset="0"/>
              <a:ea typeface="华文新魏" panose="02010800040101010101" pitchFamily="2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5886005" y="5049180"/>
            <a:ext cx="2578484" cy="1622199"/>
            <a:chOff x="5652120" y="4617132"/>
            <a:chExt cx="3096344" cy="1656184"/>
          </a:xfrm>
        </p:grpSpPr>
        <p:sp>
          <p:nvSpPr>
            <p:cNvPr id="12" name="圆角矩形 11"/>
            <p:cNvSpPr/>
            <p:nvPr/>
          </p:nvSpPr>
          <p:spPr bwMode="auto">
            <a:xfrm>
              <a:off x="5652120" y="4617132"/>
              <a:ext cx="3096344" cy="1656184"/>
            </a:xfrm>
            <a:prstGeom prst="roundRect">
              <a:avLst/>
            </a:prstGeom>
            <a:noFill/>
            <a:ln w="25400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8000" tIns="10800" rIns="18000" bIns="10800" rtlCol="0" anchor="ctr"/>
            <a:lstStyle/>
            <a:p>
              <a:pPr algn="ctr" eaLnBrk="1" hangingPunct="1">
                <a:lnSpc>
                  <a:spcPct val="96000"/>
                </a:lnSpc>
                <a:spcBef>
                  <a:spcPct val="0"/>
                </a:spcBef>
                <a:buClrTx/>
                <a:buFontTx/>
                <a:buNone/>
              </a:pPr>
              <a:endParaRPr lang="zh-CN" altLang="en-US" b="1" dirty="0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642601" y="4757840"/>
              <a:ext cx="970137" cy="36933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rtlCol="0">
              <a:spAutoFit/>
            </a:bodyPr>
            <a:lstStyle/>
            <a:p>
              <a:pPr eaLnBrk="1" hangingPunct="1">
                <a:buFont typeface="Wingdings" panose="05000000000000000000" pitchFamily="2" charset="2"/>
                <a:buNone/>
              </a:pPr>
              <a:r>
                <a:rPr lang="en-US" altLang="zh-CN" b="1" dirty="0" smtClean="0">
                  <a:solidFill>
                    <a:srgbClr val="000099"/>
                  </a:solidFill>
                  <a:ea typeface="黑体" panose="02010609060101010101" pitchFamily="49" charset="-122"/>
                </a:rPr>
                <a:t>NP</a:t>
              </a:r>
              <a:r>
                <a:rPr lang="zh-CN" altLang="en-US" b="1" dirty="0" smtClean="0">
                  <a:solidFill>
                    <a:srgbClr val="000099"/>
                  </a:solidFill>
                  <a:ea typeface="黑体" panose="02010609060101010101" pitchFamily="49" charset="-122"/>
                </a:rPr>
                <a:t>问题</a:t>
              </a:r>
              <a:endParaRPr lang="zh-CN" altLang="en-US" b="1" dirty="0" smtClean="0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14" name="椭圆 13"/>
            <p:cNvSpPr/>
            <p:nvPr/>
          </p:nvSpPr>
          <p:spPr bwMode="auto">
            <a:xfrm>
              <a:off x="5890082" y="5172909"/>
              <a:ext cx="1162230" cy="792088"/>
            </a:xfrm>
            <a:prstGeom prst="ellipse">
              <a:avLst/>
            </a:prstGeom>
            <a:noFill/>
            <a:ln w="25400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8000" tIns="10800" rIns="18000" bIns="10800" rtlCol="0" anchor="ctr"/>
            <a:lstStyle/>
            <a:p>
              <a:pPr algn="ctr" eaLnBrk="1" hangingPunct="1">
                <a:lnSpc>
                  <a:spcPct val="96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b="1" dirty="0" smtClean="0">
                  <a:solidFill>
                    <a:srgbClr val="000099"/>
                  </a:solidFill>
                  <a:ea typeface="黑体" panose="02010609060101010101" pitchFamily="49" charset="-122"/>
                </a:rPr>
                <a:t>P</a:t>
              </a:r>
              <a:r>
                <a:rPr lang="zh-CN" altLang="en-US" b="1" dirty="0" smtClean="0">
                  <a:solidFill>
                    <a:srgbClr val="000099"/>
                  </a:solidFill>
                  <a:ea typeface="黑体" panose="02010609060101010101" pitchFamily="49" charset="-122"/>
                </a:rPr>
                <a:t>问题</a:t>
              </a:r>
              <a:endParaRPr lang="zh-CN" altLang="en-US" b="1" dirty="0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15" name="椭圆 14"/>
            <p:cNvSpPr/>
            <p:nvPr/>
          </p:nvSpPr>
          <p:spPr bwMode="auto">
            <a:xfrm>
              <a:off x="7290290" y="5229200"/>
              <a:ext cx="1458174" cy="792088"/>
            </a:xfrm>
            <a:prstGeom prst="ellipse">
              <a:avLst/>
            </a:prstGeom>
            <a:noFill/>
            <a:ln w="25400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8000" tIns="10800" rIns="18000" bIns="10800" rtlCol="0" anchor="ctr"/>
            <a:lstStyle/>
            <a:p>
              <a:pPr algn="ctr" eaLnBrk="1" hangingPunct="1">
                <a:lnSpc>
                  <a:spcPct val="96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b="1" dirty="0">
                  <a:solidFill>
                    <a:srgbClr val="000099"/>
                  </a:solidFill>
                  <a:ea typeface="黑体" panose="02010609060101010101" pitchFamily="49" charset="-122"/>
                </a:rPr>
                <a:t>N</a:t>
              </a:r>
              <a:r>
                <a:rPr lang="en-US" altLang="zh-CN" b="1" dirty="0" smtClean="0">
                  <a:solidFill>
                    <a:srgbClr val="000099"/>
                  </a:solidFill>
                  <a:ea typeface="黑体" panose="02010609060101010101" pitchFamily="49" charset="-122"/>
                </a:rPr>
                <a:t>P</a:t>
              </a:r>
              <a:r>
                <a:rPr lang="zh-CN" altLang="en-US" b="1" dirty="0" smtClean="0">
                  <a:solidFill>
                    <a:srgbClr val="000099"/>
                  </a:solidFill>
                  <a:ea typeface="黑体" panose="02010609060101010101" pitchFamily="49" charset="-122"/>
                </a:rPr>
                <a:t>完全</a:t>
              </a:r>
              <a:endParaRPr lang="en-US" altLang="zh-CN" b="1" dirty="0" smtClean="0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algn="ctr" eaLnBrk="1" hangingPunct="1">
                <a:lnSpc>
                  <a:spcPct val="96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b="1" dirty="0" smtClean="0">
                  <a:solidFill>
                    <a:srgbClr val="000099"/>
                  </a:solidFill>
                  <a:ea typeface="黑体" panose="02010609060101010101" pitchFamily="49" charset="-122"/>
                </a:rPr>
                <a:t>问题</a:t>
              </a:r>
              <a:endParaRPr lang="zh-CN" altLang="en-US" b="1" dirty="0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2015716" y="5390274"/>
            <a:ext cx="3456384" cy="95410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>
            <a:noFill/>
          </a:ln>
        </p:spPr>
        <p:txBody>
          <a:bodyPr wrap="square" rtlCol="0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b="1" dirty="0" smtClean="0">
                <a:solidFill>
                  <a:srgbClr val="FF0000"/>
                </a:solidFill>
                <a:ea typeface="黑体" panose="02010609060101010101" pitchFamily="49" charset="-122"/>
              </a:rPr>
              <a:t>P</a:t>
            </a:r>
            <a:r>
              <a:rPr lang="en-US" altLang="zh-CN" sz="2800" b="1" dirty="0">
                <a:solidFill>
                  <a:srgbClr val="FF0000"/>
                </a:solidFill>
                <a:ea typeface="黑体" panose="02010609060101010101" pitchFamily="49" charset="-122"/>
              </a:rPr>
              <a:t>≠</a:t>
            </a:r>
            <a:r>
              <a:rPr lang="en-US" altLang="zh-CN" sz="2800" b="1" dirty="0" smtClean="0">
                <a:solidFill>
                  <a:srgbClr val="FF0000"/>
                </a:solidFill>
                <a:ea typeface="黑体" panose="02010609060101010101" pitchFamily="49" charset="-122"/>
              </a:rPr>
              <a:t>NP</a:t>
            </a:r>
            <a:r>
              <a:rPr lang="zh-CN" altLang="en-US" sz="2800" b="1" dirty="0" smtClean="0">
                <a:solidFill>
                  <a:srgbClr val="FF0000"/>
                </a:solidFill>
                <a:ea typeface="黑体" panose="02010609060101010101" pitchFamily="49" charset="-122"/>
              </a:rPr>
              <a:t>否还不知道，</a:t>
            </a:r>
            <a:endParaRPr lang="en-US" altLang="zh-CN" sz="2800" b="1" dirty="0" smtClean="0">
              <a:solidFill>
                <a:srgbClr val="FF0000"/>
              </a:solidFill>
              <a:ea typeface="黑体" panose="02010609060101010101" pitchFamily="49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 dirty="0" smtClean="0">
                <a:solidFill>
                  <a:srgbClr val="FF0000"/>
                </a:solidFill>
                <a:ea typeface="黑体" panose="02010609060101010101" pitchFamily="49" charset="-122"/>
              </a:rPr>
              <a:t>现在普遍认为</a:t>
            </a:r>
            <a:r>
              <a:rPr lang="en-US" altLang="zh-CN" sz="2800" b="1" dirty="0" smtClean="0">
                <a:solidFill>
                  <a:srgbClr val="FF0000"/>
                </a:solidFill>
                <a:ea typeface="黑体" panose="02010609060101010101" pitchFamily="49" charset="-122"/>
              </a:rPr>
              <a:t>P≠NP</a:t>
            </a:r>
            <a:endParaRPr lang="zh-CN" altLang="en-US" sz="2800" b="1" dirty="0" smtClean="0">
              <a:solidFill>
                <a:srgbClr val="FF0000"/>
              </a:solidFill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NP</a:t>
            </a:r>
            <a:r>
              <a:rPr lang="zh-CN" altLang="en-US" dirty="0" smtClean="0"/>
              <a:t>完全问题证明</a:t>
            </a:r>
            <a:endParaRPr lang="zh-CN" altLang="en-US" dirty="0" smtClean="0"/>
          </a:p>
        </p:txBody>
      </p:sp>
      <p:sp>
        <p:nvSpPr>
          <p:cNvPr id="819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>
                <a:latin typeface="Arial" panose="02080604020202020204" pitchFamily="34" charset="0"/>
                <a:ea typeface="黑体" panose="02010609060101010101" pitchFamily="49" charset="-122"/>
              </a:rPr>
              <a:t>证明问题</a:t>
            </a:r>
            <a:r>
              <a:rPr lang="en-US" altLang="zh-CN" dirty="0" smtClean="0">
                <a:latin typeface="Arial" panose="02080604020202020204" pitchFamily="34" charset="0"/>
                <a:ea typeface="黑体" panose="02010609060101010101" pitchFamily="49" charset="-122"/>
              </a:rPr>
              <a:t>A</a:t>
            </a:r>
            <a:r>
              <a:rPr lang="zh-CN" altLang="en-US" dirty="0" smtClean="0">
                <a:latin typeface="Arial" panose="02080604020202020204" pitchFamily="34" charset="0"/>
                <a:ea typeface="黑体" panose="02010609060101010101" pitchFamily="49" charset="-122"/>
              </a:rPr>
              <a:t>是</a:t>
            </a:r>
            <a:r>
              <a:rPr lang="en-US" altLang="zh-CN" dirty="0" smtClean="0">
                <a:latin typeface="Arial" panose="02080604020202020204" pitchFamily="34" charset="0"/>
                <a:ea typeface="黑体" panose="02010609060101010101" pitchFamily="49" charset="-122"/>
              </a:rPr>
              <a:t>NP</a:t>
            </a:r>
            <a:r>
              <a:rPr lang="zh-CN" altLang="en-US" dirty="0" smtClean="0">
                <a:latin typeface="Arial" panose="02080604020202020204" pitchFamily="34" charset="0"/>
                <a:ea typeface="黑体" panose="02010609060101010101" pitchFamily="49" charset="-122"/>
              </a:rPr>
              <a:t>完全问题分两步：</a:t>
            </a:r>
            <a:endParaRPr lang="en-US" altLang="zh-CN" dirty="0">
              <a:latin typeface="Arial" panose="02080604020202020204" pitchFamily="34" charset="0"/>
              <a:ea typeface="黑体" panose="02010609060101010101" pitchFamily="49" charset="-122"/>
            </a:endParaRPr>
          </a:p>
          <a:p>
            <a:pPr marL="971550" lvl="1" indent="-514350">
              <a:buSzPct val="100000"/>
              <a:buFont typeface="+mj-lt"/>
              <a:buAutoNum type="arabicPeriod"/>
            </a:pPr>
            <a:r>
              <a:rPr lang="en-US" altLang="zh-CN" dirty="0">
                <a:latin typeface="Arial" panose="02080604020202020204" pitchFamily="34" charset="0"/>
                <a:ea typeface="黑体" panose="02010609060101010101" pitchFamily="49" charset="-122"/>
              </a:rPr>
              <a:t>A</a:t>
            </a:r>
            <a:r>
              <a:rPr lang="zh-CN" altLang="en-US" dirty="0" smtClean="0">
                <a:latin typeface="Arial" panose="02080604020202020204" pitchFamily="34" charset="0"/>
                <a:ea typeface="黑体" panose="02010609060101010101" pitchFamily="49" charset="-122"/>
              </a:rPr>
              <a:t>是</a:t>
            </a:r>
            <a:r>
              <a:rPr lang="zh-CN" altLang="en-US" dirty="0">
                <a:latin typeface="Arial" panose="02080604020202020204" pitchFamily="34" charset="0"/>
                <a:ea typeface="黑体" panose="02010609060101010101" pitchFamily="49" charset="-122"/>
              </a:rPr>
              <a:t>一个</a:t>
            </a:r>
            <a:r>
              <a:rPr lang="en-US" altLang="zh-CN" dirty="0">
                <a:latin typeface="Arial" panose="02080604020202020204" pitchFamily="34" charset="0"/>
                <a:ea typeface="黑体" panose="02010609060101010101" pitchFamily="49" charset="-122"/>
              </a:rPr>
              <a:t>NP</a:t>
            </a:r>
            <a:r>
              <a:rPr lang="zh-CN" altLang="en-US" dirty="0" smtClean="0">
                <a:latin typeface="Arial" panose="02080604020202020204" pitchFamily="34" charset="0"/>
                <a:ea typeface="黑体" panose="02010609060101010101" pitchFamily="49" charset="-122"/>
              </a:rPr>
              <a:t>问题 </a:t>
            </a:r>
            <a:r>
              <a:rPr lang="en-US" altLang="zh-CN" dirty="0" smtClean="0">
                <a:latin typeface="Arial" panose="02080604020202020204" pitchFamily="34" charset="0"/>
                <a:ea typeface="黑体" panose="02010609060101010101" pitchFamily="49" charset="-122"/>
              </a:rPr>
              <a:t>(</a:t>
            </a:r>
            <a:r>
              <a:rPr lang="zh-CN" altLang="en-US" dirty="0" smtClean="0">
                <a:latin typeface="Arial" panose="02080604020202020204" pitchFamily="34" charset="0"/>
                <a:ea typeface="黑体" panose="02010609060101010101" pitchFamily="49" charset="-122"/>
              </a:rPr>
              <a:t>多项式时间可</a:t>
            </a:r>
            <a:r>
              <a:rPr lang="zh-CN" altLang="en-US" dirty="0">
                <a:latin typeface="Arial" panose="02080604020202020204" pitchFamily="34" charset="0"/>
                <a:ea typeface="黑体" panose="02010609060101010101" pitchFamily="49" charset="-122"/>
              </a:rPr>
              <a:t>验证</a:t>
            </a:r>
            <a:r>
              <a:rPr lang="zh-CN" altLang="en-US" dirty="0" smtClean="0">
                <a:latin typeface="Arial" panose="02080604020202020204" pitchFamily="34" charset="0"/>
                <a:ea typeface="黑体" panose="02010609060101010101" pitchFamily="49" charset="-122"/>
              </a:rPr>
              <a:t>解是否正确</a:t>
            </a:r>
            <a:r>
              <a:rPr lang="en-US" altLang="zh-CN" dirty="0" smtClean="0">
                <a:latin typeface="Arial" panose="02080604020202020204" pitchFamily="34" charset="0"/>
                <a:ea typeface="黑体" panose="02010609060101010101" pitchFamily="49" charset="-122"/>
              </a:rPr>
              <a:t>)</a:t>
            </a:r>
            <a:endParaRPr lang="zh-CN" altLang="en-US" dirty="0">
              <a:latin typeface="Arial" panose="02080604020202020204" pitchFamily="34" charset="0"/>
              <a:ea typeface="黑体" panose="02010609060101010101" pitchFamily="49" charset="-122"/>
            </a:endParaRPr>
          </a:p>
          <a:p>
            <a:pPr marL="971550" lvl="1" indent="-514350">
              <a:buSzPct val="100000"/>
              <a:buFont typeface="+mj-lt"/>
              <a:buAutoNum type="arabicPeriod"/>
            </a:pPr>
            <a:r>
              <a:rPr lang="zh-CN" altLang="en-US" dirty="0" smtClean="0">
                <a:latin typeface="Arial" panose="02080604020202020204" pitchFamily="34" charset="0"/>
                <a:ea typeface="黑体" panose="02010609060101010101" pitchFamily="49" charset="-122"/>
              </a:rPr>
              <a:t>从一个已知的</a:t>
            </a:r>
            <a:r>
              <a:rPr lang="en-US" altLang="zh-CN" dirty="0" smtClean="0">
                <a:latin typeface="Arial" panose="02080604020202020204" pitchFamily="34" charset="0"/>
                <a:ea typeface="黑体" panose="02010609060101010101" pitchFamily="49" charset="-122"/>
              </a:rPr>
              <a:t>NP</a:t>
            </a:r>
            <a:r>
              <a:rPr lang="zh-CN" altLang="en-US" dirty="0" smtClean="0">
                <a:latin typeface="Arial" panose="02080604020202020204" pitchFamily="34" charset="0"/>
                <a:ea typeface="黑体" panose="02010609060101010101" pitchFamily="49" charset="-122"/>
              </a:rPr>
              <a:t>完全问题</a:t>
            </a:r>
            <a:r>
              <a:rPr lang="en-US" altLang="zh-CN" dirty="0" smtClean="0">
                <a:latin typeface="Arial" panose="02080604020202020204" pitchFamily="34" charset="0"/>
                <a:ea typeface="黑体" panose="02010609060101010101" pitchFamily="49" charset="-122"/>
              </a:rPr>
              <a:t>A’</a:t>
            </a:r>
            <a:r>
              <a:rPr lang="zh-CN" altLang="en-US" dirty="0" smtClean="0">
                <a:latin typeface="Arial" panose="02080604020202020204" pitchFamily="34" charset="0"/>
                <a:ea typeface="黑体" panose="02010609060101010101" pitchFamily="49" charset="-122"/>
              </a:rPr>
              <a:t>，多项式时间规约到</a:t>
            </a:r>
            <a:r>
              <a:rPr lang="en-US" altLang="zh-CN" dirty="0" smtClean="0">
                <a:latin typeface="Arial" panose="02080604020202020204" pitchFamily="34" charset="0"/>
                <a:ea typeface="黑体" panose="02010609060101010101" pitchFamily="49" charset="-122"/>
              </a:rPr>
              <a:t>A</a:t>
            </a:r>
            <a:r>
              <a:rPr lang="zh-CN" altLang="en-US" dirty="0" smtClean="0">
                <a:latin typeface="Arial" panose="02080604020202020204" pitchFamily="34" charset="0"/>
                <a:ea typeface="黑体" panose="02010609060101010101" pitchFamily="49" charset="-122"/>
              </a:rPr>
              <a:t>的一个实例</a:t>
            </a:r>
            <a:r>
              <a:rPr lang="en-US" altLang="zh-CN" dirty="0" smtClean="0">
                <a:latin typeface="Arial" panose="02080604020202020204" pitchFamily="34" charset="0"/>
                <a:ea typeface="黑体" panose="02010609060101010101" pitchFamily="49" charset="-122"/>
              </a:rPr>
              <a:t>A’’</a:t>
            </a:r>
            <a:r>
              <a:rPr lang="zh-CN" altLang="en-US" dirty="0" smtClean="0">
                <a:latin typeface="Arial" panose="02080604020202020204" pitchFamily="34" charset="0"/>
                <a:ea typeface="黑体" panose="02010609060101010101" pitchFamily="49" charset="-122"/>
              </a:rPr>
              <a:t>，证明</a:t>
            </a:r>
            <a:r>
              <a:rPr lang="en-US" altLang="zh-CN" dirty="0" smtClean="0">
                <a:latin typeface="Arial" panose="02080604020202020204" pitchFamily="34" charset="0"/>
                <a:ea typeface="黑体" panose="02010609060101010101" pitchFamily="49" charset="-122"/>
              </a:rPr>
              <a:t>A’</a:t>
            </a:r>
            <a:r>
              <a:rPr lang="zh-CN" altLang="en-US" dirty="0" smtClean="0">
                <a:latin typeface="Arial" panose="02080604020202020204" pitchFamily="34" charset="0"/>
                <a:ea typeface="黑体" panose="02010609060101010101" pitchFamily="49" charset="-122"/>
              </a:rPr>
              <a:t>有解当且仅当</a:t>
            </a:r>
            <a:r>
              <a:rPr lang="en-US" altLang="zh-CN" dirty="0" smtClean="0">
                <a:latin typeface="Arial" panose="02080604020202020204" pitchFamily="34" charset="0"/>
                <a:ea typeface="黑体" panose="02010609060101010101" pitchFamily="49" charset="-122"/>
              </a:rPr>
              <a:t>A’’</a:t>
            </a:r>
            <a:r>
              <a:rPr lang="zh-CN" altLang="en-US" dirty="0" smtClean="0">
                <a:latin typeface="Arial" panose="02080604020202020204" pitchFamily="34" charset="0"/>
                <a:ea typeface="黑体" panose="02010609060101010101" pitchFamily="49" charset="-122"/>
              </a:rPr>
              <a:t>有解</a:t>
            </a:r>
            <a:endParaRPr lang="en-US" altLang="zh-CN" dirty="0" smtClean="0">
              <a:latin typeface="Arial" panose="02080604020202020204" pitchFamily="34" charset="0"/>
              <a:ea typeface="黑体" panose="02010609060101010101" pitchFamily="49" charset="-122"/>
            </a:endParaRPr>
          </a:p>
          <a:p>
            <a:pPr marL="1371600" lvl="2" indent="-514350">
              <a:buSzPct val="55000"/>
            </a:pPr>
            <a:endParaRPr lang="en-US" altLang="zh-CN" dirty="0" smtClean="0">
              <a:latin typeface="Arial" panose="02080604020202020204" pitchFamily="34" charset="0"/>
              <a:ea typeface="黑体" panose="02010609060101010101" pitchFamily="49" charset="-122"/>
            </a:endParaRPr>
          </a:p>
          <a:p>
            <a:endParaRPr lang="zh-CN" altLang="en-US" dirty="0">
              <a:latin typeface="Arial" panose="02080604020202020204" pitchFamily="34" charset="0"/>
              <a:ea typeface="黑体" panose="02010609060101010101" pitchFamily="49" charset="-122"/>
            </a:endParaRPr>
          </a:p>
          <a:p>
            <a:pPr lvl="1"/>
            <a:endParaRPr lang="zh-CN" altLang="zh-CN" dirty="0" smtClean="0">
              <a:latin typeface="Arial" panose="02080604020202020204" pitchFamily="34" charset="0"/>
              <a:ea typeface="黑体" panose="02010609060101010101" pitchFamily="49" charset="-122"/>
            </a:endParaRPr>
          </a:p>
          <a:p>
            <a:endParaRPr lang="zh-CN" altLang="en-US" dirty="0" smtClean="0">
              <a:latin typeface="Arial" panose="0208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8196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8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8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8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8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8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fld id="{166F650B-5347-4F36-8304-1500CA3F90AB}" type="slidenum">
              <a:rPr lang="en-US" altLang="zh-CN" smtClean="0">
                <a:solidFill>
                  <a:srgbClr val="006600"/>
                </a:solidFill>
                <a:latin typeface="Courier New" panose="02070309020205020404" pitchFamily="49" charset="0"/>
                <a:ea typeface="华文新魏" panose="02010800040101010101" pitchFamily="2" charset="-122"/>
              </a:rPr>
            </a:fld>
            <a:endParaRPr lang="en-US" altLang="zh-CN" dirty="0" smtClean="0">
              <a:solidFill>
                <a:srgbClr val="006600"/>
              </a:solidFill>
              <a:latin typeface="Courier New" panose="02070309020205020404" pitchFamily="49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第一个</a:t>
            </a:r>
            <a:r>
              <a:rPr lang="en-US" altLang="zh-CN" dirty="0" smtClean="0"/>
              <a:t>NP</a:t>
            </a:r>
            <a:r>
              <a:rPr lang="zh-CN" altLang="en-US" dirty="0" smtClean="0"/>
              <a:t>完全问题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dirty="0" smtClean="0"/>
                  <a:t>CNF-SAT</a:t>
                </a:r>
                <a:r>
                  <a:rPr lang="zh-CN" altLang="en-US" dirty="0" smtClean="0"/>
                  <a:t>问题</a:t>
                </a:r>
                <a:r>
                  <a:rPr lang="en-US" altLang="zh-CN" dirty="0" smtClean="0"/>
                  <a:t>(</a:t>
                </a:r>
                <a:r>
                  <a:rPr lang="zh-CN" altLang="en-US" dirty="0" smtClean="0"/>
                  <a:t>可满足问题</a:t>
                </a:r>
                <a:r>
                  <a:rPr lang="en-US" altLang="zh-CN" dirty="0" smtClean="0"/>
                  <a:t>)</a:t>
                </a:r>
                <a:endParaRPr lang="en-US" altLang="zh-CN" dirty="0" smtClean="0"/>
              </a:p>
              <a:p>
                <a:pPr lvl="1"/>
                <a:r>
                  <a:rPr lang="zh-CN" altLang="en-US" dirty="0">
                    <a:latin typeface="Arial" panose="02080604020202020204" pitchFamily="34" charset="0"/>
                    <a:ea typeface="黑体" panose="02010609060101010101" pitchFamily="49" charset="-122"/>
                  </a:rPr>
                  <a:t>给定</a:t>
                </a:r>
                <a:r>
                  <a:rPr lang="en-US" altLang="zh-CN" dirty="0">
                    <a:latin typeface="Arial" panose="02080604020202020204" pitchFamily="34" charset="0"/>
                    <a:ea typeface="黑体" panose="02010609060101010101" pitchFamily="49" charset="-122"/>
                  </a:rPr>
                  <a:t>n</a:t>
                </a:r>
                <a:r>
                  <a:rPr lang="zh-CN" altLang="en-US" dirty="0">
                    <a:latin typeface="Arial" panose="02080604020202020204" pitchFamily="34" charset="0"/>
                    <a:ea typeface="黑体" panose="02010609060101010101" pitchFamily="49" charset="-122"/>
                  </a:rPr>
                  <a:t>个</a:t>
                </a:r>
                <a:r>
                  <a:rPr lang="zh-CN" altLang="en-US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布尔变量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𝟏</m:t>
                        </m:r>
                      </m:sub>
                    </m:sSub>
                    <m:r>
                      <a:rPr lang="en-US" altLang="zh-CN" b="1" i="0" dirty="0" smtClean="0">
                        <a:latin typeface="Cambria Math" panose="02040503050406030204"/>
                        <a:ea typeface="黑体" panose="02010609060101010101" pitchFamily="49" charset="-122"/>
                      </a:rPr>
                      <m:t>,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b="1" i="0" dirty="0" smtClean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𝟐</m:t>
                        </m:r>
                      </m:sub>
                    </m:sSub>
                    <m:r>
                      <a:rPr lang="en-US" altLang="zh-CN" dirty="0">
                        <a:latin typeface="Cambria Math" panose="02040503050406030204"/>
                        <a:ea typeface="黑体" panose="02010609060101010101" pitchFamily="49" charset="-122"/>
                      </a:rPr>
                      <m:t>,</m:t>
                    </m:r>
                    <m:r>
                      <a:rPr lang="en-US" altLang="zh-CN" b="1" i="0" dirty="0" smtClean="0">
                        <a:latin typeface="Cambria Math" panose="02040503050406030204"/>
                        <a:ea typeface="黑体" panose="02010609060101010101" pitchFamily="49" charset="-122"/>
                      </a:rPr>
                      <m:t>…,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b="1" i="0" dirty="0" smtClean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𝐧</m:t>
                        </m:r>
                      </m:sub>
                    </m:sSub>
                  </m:oMath>
                </a14:m>
                <a:r>
                  <a:rPr lang="zh-CN" altLang="en-US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，和</a:t>
                </a:r>
                <a:r>
                  <a:rPr lang="en-US" altLang="zh-CN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m</a:t>
                </a:r>
                <a:r>
                  <a:rPr lang="zh-CN" altLang="en-US" dirty="0">
                    <a:latin typeface="Arial" panose="02080604020202020204" pitchFamily="34" charset="0"/>
                    <a:ea typeface="黑体" panose="02010609060101010101" pitchFamily="49" charset="-122"/>
                  </a:rPr>
                  <a:t>个</a:t>
                </a:r>
                <a:r>
                  <a:rPr lang="zh-CN" altLang="en-US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子句，</a:t>
                </a:r>
                <a:r>
                  <a:rPr lang="zh-CN" altLang="en-US" dirty="0">
                    <a:latin typeface="Arial" panose="02080604020202020204" pitchFamily="34" charset="0"/>
                    <a:ea typeface="黑体" panose="02010609060101010101" pitchFamily="49" charset="-122"/>
                  </a:rPr>
                  <a:t>子句</a:t>
                </a:r>
                <a:r>
                  <a:rPr lang="zh-CN" altLang="en-US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是</a:t>
                </a:r>
                <a:r>
                  <a:rPr lang="en-US" altLang="zh-CN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1</a:t>
                </a:r>
                <a:r>
                  <a:rPr lang="zh-CN" altLang="en-US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个或多个个</a:t>
                </a:r>
                <a:r>
                  <a:rPr lang="zh-CN" altLang="en-US" dirty="0">
                    <a:latin typeface="Arial" panose="02080604020202020204" pitchFamily="34" charset="0"/>
                    <a:ea typeface="黑体" panose="02010609060101010101" pitchFamily="49" charset="-122"/>
                  </a:rPr>
                  <a:t>文字</a:t>
                </a:r>
                <a:r>
                  <a:rPr lang="en-US" altLang="zh-CN" dirty="0">
                    <a:latin typeface="Arial" panose="02080604020202020204" pitchFamily="34" charset="0"/>
                    <a:ea typeface="黑体" panose="02010609060101010101" pitchFamily="49" charset="-122"/>
                  </a:rPr>
                  <a:t>(</a:t>
                </a:r>
                <a:r>
                  <a:rPr lang="zh-CN" altLang="en-US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变量或变量的</a:t>
                </a:r>
                <a:r>
                  <a:rPr lang="zh-CN" altLang="en-US" dirty="0">
                    <a:latin typeface="Arial" panose="02080604020202020204" pitchFamily="34" charset="0"/>
                    <a:ea typeface="黑体" panose="02010609060101010101" pitchFamily="49" charset="-122"/>
                  </a:rPr>
                  <a:t>非</a:t>
                </a:r>
                <a:r>
                  <a:rPr lang="en-US" altLang="zh-CN" dirty="0">
                    <a:latin typeface="Arial" panose="02080604020202020204" pitchFamily="34" charset="0"/>
                    <a:ea typeface="黑体" panose="02010609060101010101" pitchFamily="49" charset="-122"/>
                  </a:rPr>
                  <a:t>)</a:t>
                </a:r>
                <a:r>
                  <a:rPr lang="zh-CN" altLang="en-US" dirty="0">
                    <a:latin typeface="Arial" panose="02080604020202020204" pitchFamily="34" charset="0"/>
                    <a:ea typeface="黑体" panose="02010609060101010101" pitchFamily="49" charset="-122"/>
                  </a:rPr>
                  <a:t>的析取操作</a:t>
                </a:r>
                <a:endParaRPr lang="en-US" altLang="zh-CN" dirty="0">
                  <a:latin typeface="Arial" panose="02080604020202020204" pitchFamily="34" charset="0"/>
                  <a:ea typeface="黑体" panose="02010609060101010101" pitchFamily="49" charset="-122"/>
                </a:endParaRPr>
              </a:p>
              <a:p>
                <a:pPr lvl="2"/>
                <a:r>
                  <a:rPr lang="zh-CN" altLang="en-US" dirty="0" smtClean="0">
                    <a:ea typeface="黑体" panose="02010609060101010101" pitchFamily="49" charset="-122"/>
                  </a:rPr>
                  <a:t>如：</a:t>
                </a:r>
                <a14:m>
                  <m:oMath xmlns:m="http://schemas.openxmlformats.org/officeDocument/2006/math">
                    <m:r>
                      <a:rPr lang="en-US" altLang="zh-CN" dirty="0">
                        <a:latin typeface="Cambria Math" panose="02040503050406030204"/>
                        <a:ea typeface="黑体" panose="02010609060101010101" pitchFamily="49" charset="-122"/>
                      </a:rPr>
                      <m:t>(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dirty="0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𝒙</m:t>
                            </m:r>
                          </m:e>
                        </m:acc>
                      </m:e>
                      <m:sub>
                        <m:r>
                          <a:rPr lang="en-US" altLang="zh-CN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𝟏</m:t>
                        </m:r>
                      </m:sub>
                    </m:sSub>
                    <m:r>
                      <a:rPr lang="en-US" altLang="zh-CN" dirty="0">
                        <a:latin typeface="Cambria Math" panose="02040503050406030204"/>
                        <a:ea typeface="黑体" panose="02010609060101010101" pitchFamily="49" charset="-122"/>
                      </a:rPr>
                      <m:t>∨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𝟐</m:t>
                        </m:r>
                      </m:sub>
                    </m:sSub>
                    <m:r>
                      <a:rPr lang="en-US" altLang="zh-CN" dirty="0">
                        <a:latin typeface="Cambria Math" panose="02040503050406030204"/>
                        <a:ea typeface="黑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，</a:t>
                </a:r>
                <a:r>
                  <a:rPr lang="en-US" altLang="zh-CN" b="1" dirty="0">
                    <a:ea typeface="黑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1" dirty="0">
                        <a:latin typeface="Cambria Math" panose="02040503050406030204"/>
                        <a:ea typeface="黑体" panose="02010609060101010101" pitchFamily="49" charset="-122"/>
                      </a:rPr>
                      <m:t>(</m:t>
                    </m:r>
                    <m:sSub>
                      <m:sSubPr>
                        <m:ctrlPr>
                          <a:rPr lang="en-US" altLang="zh-CN" b="1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CN" b="1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b="1" i="1" dirty="0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𝒙</m:t>
                            </m:r>
                          </m:e>
                        </m:acc>
                      </m:e>
                      <m:sub>
                        <m:r>
                          <a:rPr lang="en-US" altLang="zh-CN" b="1" i="0" dirty="0" smtClean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𝟑</m:t>
                        </m:r>
                      </m:sub>
                    </m:sSub>
                    <m:r>
                      <a:rPr lang="en-US" altLang="zh-CN" b="1" dirty="0">
                        <a:latin typeface="Cambria Math" panose="02040503050406030204"/>
                        <a:ea typeface="黑体" panose="02010609060101010101" pitchFamily="49" charset="-122"/>
                      </a:rPr>
                      <m:t>∨</m:t>
                    </m:r>
                    <m:sSub>
                      <m:sSubPr>
                        <m:ctrlPr>
                          <a:rPr lang="en-US" altLang="zh-CN" b="1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b="1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b="1" i="0" dirty="0" smtClean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𝟏</m:t>
                        </m:r>
                      </m:sub>
                    </m:sSub>
                    <m:r>
                      <a:rPr lang="en-US" altLang="zh-CN" b="1" dirty="0">
                        <a:latin typeface="Cambria Math" panose="02040503050406030204"/>
                        <a:ea typeface="黑体" panose="02010609060101010101" pitchFamily="49" charset="-122"/>
                      </a:rPr>
                      <m:t>∨</m:t>
                    </m:r>
                    <m:sSub>
                      <m:sSubPr>
                        <m:ctrlPr>
                          <a:rPr lang="en-US" altLang="zh-CN" b="1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b="1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b="1" i="0" dirty="0" smtClean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𝟓</m:t>
                        </m:r>
                      </m:sub>
                    </m:sSub>
                    <m:r>
                      <a:rPr lang="en-US" altLang="zh-CN" b="1" dirty="0">
                        <a:latin typeface="Cambria Math" panose="02040503050406030204"/>
                        <a:ea typeface="黑体" panose="02010609060101010101" pitchFamily="49" charset="-122"/>
                      </a:rPr>
                      <m:t>)</m:t>
                    </m:r>
                  </m:oMath>
                </a14:m>
                <a:endParaRPr lang="en-US" altLang="zh-CN" b="1" dirty="0">
                  <a:latin typeface="Arial" panose="02080604020202020204" pitchFamily="34" charset="0"/>
                  <a:ea typeface="黑体" panose="02010609060101010101" pitchFamily="49" charset="-122"/>
                </a:endParaRPr>
              </a:p>
              <a:p>
                <a:pPr lvl="1"/>
                <a:r>
                  <a:rPr lang="zh-CN" altLang="en-US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给定这</a:t>
                </a:r>
                <a:r>
                  <a:rPr lang="en-US" altLang="zh-CN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m</a:t>
                </a:r>
                <a:r>
                  <a:rPr lang="zh-CN" altLang="en-US" dirty="0">
                    <a:latin typeface="Arial" panose="02080604020202020204" pitchFamily="34" charset="0"/>
                    <a:ea typeface="黑体" panose="02010609060101010101" pitchFamily="49" charset="-122"/>
                  </a:rPr>
                  <a:t>个子句的</a:t>
                </a:r>
                <a:r>
                  <a:rPr lang="zh-CN" altLang="en-US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合取范式</a:t>
                </a:r>
                <a:endParaRPr lang="en-US" altLang="zh-CN" dirty="0">
                  <a:latin typeface="Arial" panose="02080604020202020204" pitchFamily="34" charset="0"/>
                  <a:ea typeface="黑体" panose="02010609060101010101" pitchFamily="49" charset="-122"/>
                </a:endParaRPr>
              </a:p>
              <a:p>
                <a:pPr lvl="2"/>
                <a14:m>
                  <m:oMath xmlns:m="http://schemas.openxmlformats.org/officeDocument/2006/math">
                    <m:r>
                      <a:rPr lang="en-US" altLang="zh-CN" dirty="0">
                        <a:latin typeface="Cambria Math" panose="02040503050406030204"/>
                        <a:ea typeface="黑体" panose="02010609060101010101" pitchFamily="49" charset="-122"/>
                      </a:rPr>
                      <m:t>(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dirty="0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𝒙</m:t>
                            </m:r>
                          </m:e>
                        </m:acc>
                      </m:e>
                      <m:sub>
                        <m:r>
                          <a:rPr lang="en-US" altLang="zh-CN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𝟏</m:t>
                        </m:r>
                      </m:sub>
                    </m:sSub>
                    <m:r>
                      <a:rPr lang="en-US" altLang="zh-CN" dirty="0">
                        <a:latin typeface="Cambria Math" panose="02040503050406030204"/>
                        <a:ea typeface="黑体" panose="02010609060101010101" pitchFamily="49" charset="-122"/>
                      </a:rPr>
                      <m:t>∨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𝟐</m:t>
                        </m:r>
                      </m:sub>
                    </m:sSub>
                    <m:r>
                      <a:rPr lang="en-US" altLang="zh-CN" dirty="0">
                        <a:latin typeface="Cambria Math" panose="02040503050406030204"/>
                        <a:ea typeface="黑体" panose="02010609060101010101" pitchFamily="49" charset="-122"/>
                      </a:rPr>
                      <m:t>)</m:t>
                    </m:r>
                    <m:r>
                      <a:rPr lang="en-US" altLang="zh-CN" i="1" dirty="0">
                        <a:latin typeface="Cambria Math" panose="02040503050406030204"/>
                        <a:ea typeface="Cambria Math" panose="02040503050406030204"/>
                      </a:rPr>
                      <m:t>∧</m:t>
                    </m:r>
                    <m:r>
                      <a:rPr lang="en-US" altLang="zh-CN" i="1" dirty="0">
                        <a:latin typeface="Cambria Math" panose="02040503050406030204"/>
                        <a:ea typeface="黑体" panose="02010609060101010101" pitchFamily="49" charset="-122"/>
                      </a:rPr>
                      <m:t>(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𝟕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/>
                        <a:ea typeface="黑体" panose="02010609060101010101" pitchFamily="49" charset="-122"/>
                      </a:rPr>
                      <m:t>∨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𝟗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/>
                        <a:ea typeface="黑体" panose="02010609060101010101" pitchFamily="49" charset="-122"/>
                      </a:rPr>
                      <m:t>∨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i="1" dirty="0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𝒙</m:t>
                            </m:r>
                          </m:e>
                        </m:acc>
                      </m:e>
                      <m:sub>
                        <m:r>
                          <a:rPr lang="en-US" altLang="zh-CN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𝟏𝟎</m:t>
                        </m:r>
                      </m:sub>
                    </m:sSub>
                    <m:r>
                      <a:rPr lang="en-US" altLang="zh-CN" dirty="0">
                        <a:latin typeface="Cambria Math" panose="02040503050406030204"/>
                        <a:ea typeface="黑体" panose="02010609060101010101" pitchFamily="49" charset="-122"/>
                      </a:rPr>
                      <m:t>)</m:t>
                    </m:r>
                    <m:r>
                      <a:rPr lang="en-US" altLang="zh-CN" i="1" dirty="0">
                        <a:latin typeface="Cambria Math" panose="02040503050406030204"/>
                        <a:ea typeface="Cambria Math" panose="02040503050406030204"/>
                      </a:rPr>
                      <m:t>∧⋯∧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𝟓</m:t>
                        </m:r>
                      </m:sub>
                    </m:sSub>
                  </m:oMath>
                </a14:m>
                <a:endParaRPr lang="en-US" altLang="zh-CN" dirty="0" smtClean="0"/>
              </a:p>
              <a:p>
                <a:pPr lvl="1"/>
                <a:r>
                  <a:rPr lang="zh-CN" altLang="en-US" dirty="0">
                    <a:latin typeface="Arial" panose="02080604020202020204" pitchFamily="34" charset="0"/>
                    <a:ea typeface="黑体" panose="02010609060101010101" pitchFamily="49" charset="-122"/>
                  </a:rPr>
                  <a:t>问该合取范式的值可否为真？</a:t>
                </a:r>
                <a:endParaRPr lang="zh-CN" altLang="en-US" dirty="0"/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t="-7" b="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3E6C03A-3073-401C-B837-061925A82BB2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第一个</a:t>
            </a:r>
            <a:r>
              <a:rPr lang="en-US" altLang="zh-CN" dirty="0" smtClean="0"/>
              <a:t>NP</a:t>
            </a:r>
            <a:r>
              <a:rPr lang="zh-CN" altLang="en-US" dirty="0" smtClean="0"/>
              <a:t>完全问题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Cook</a:t>
            </a:r>
            <a:r>
              <a:rPr lang="zh-CN" altLang="en-US" dirty="0" smtClean="0"/>
              <a:t>定理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可满足问题是</a:t>
            </a:r>
            <a:r>
              <a:rPr lang="en-US" altLang="zh-CN" dirty="0" smtClean="0"/>
              <a:t>NP</a:t>
            </a:r>
            <a:r>
              <a:rPr lang="zh-CN" altLang="en-US" dirty="0" smtClean="0"/>
              <a:t>完全问题 </a:t>
            </a:r>
            <a:r>
              <a:rPr lang="en-US" altLang="zh-CN" dirty="0" smtClean="0"/>
              <a:t>(CNF-SAT</a:t>
            </a:r>
            <a:r>
              <a:rPr lang="zh-CN" altLang="zh-CN" dirty="0"/>
              <a:t>∈</a:t>
            </a:r>
            <a:r>
              <a:rPr lang="en-US" altLang="zh-CN" dirty="0" smtClean="0"/>
              <a:t>NP-C)</a:t>
            </a:r>
            <a:endParaRPr lang="en-US" altLang="zh-CN" dirty="0" smtClean="0"/>
          </a:p>
          <a:p>
            <a:pPr lvl="2"/>
            <a:endParaRPr lang="en-US" altLang="zh-CN" dirty="0" smtClean="0"/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3E6C03A-3073-401C-B837-061925A82BB2}" type="slidenum">
              <a:rPr lang="en-US" altLang="zh-CN" smtClean="0"/>
            </a:fld>
            <a:endParaRPr lang="en-US" altLang="zh-CN" dirty="0"/>
          </a:p>
        </p:txBody>
      </p:sp>
      <p:sp>
        <p:nvSpPr>
          <p:cNvPr id="5" name="矩形 4"/>
          <p:cNvSpPr/>
          <p:nvPr/>
        </p:nvSpPr>
        <p:spPr>
          <a:xfrm>
            <a:off x="1151620" y="2589914"/>
            <a:ext cx="6804756" cy="553998"/>
          </a:xfrm>
          <a:prstGeom prst="rect">
            <a:avLst/>
          </a:prstGeom>
          <a:solidFill>
            <a:schemeClr val="accent5"/>
          </a:solidFill>
        </p:spPr>
        <p:txBody>
          <a:bodyPr wrap="square">
            <a:spAutoFit/>
          </a:bodyPr>
          <a:lstStyle/>
          <a:p>
            <a:r>
              <a:rPr lang="zh-CN" altLang="en-US" sz="3000" b="1" kern="0" dirty="0">
                <a:solidFill>
                  <a:srgbClr val="FF0000"/>
                </a:solidFill>
                <a:latin typeface="Arial" panose="02080604020202020204" pitchFamily="34" charset="0"/>
                <a:ea typeface="黑体" panose="02010609060101010101" pitchFamily="49" charset="-122"/>
              </a:rPr>
              <a:t>其证明过程用到非确定图灵机</a:t>
            </a:r>
            <a:r>
              <a:rPr lang="zh-CN" altLang="en-US" sz="3000" b="1" kern="0" dirty="0" smtClean="0">
                <a:solidFill>
                  <a:srgbClr val="FF0000"/>
                </a:solidFill>
                <a:latin typeface="Arial" panose="02080604020202020204" pitchFamily="34" charset="0"/>
                <a:ea typeface="黑体" panose="02010609060101010101" pitchFamily="49" charset="-122"/>
              </a:rPr>
              <a:t>理论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896925" y="3320988"/>
            <a:ext cx="666074" cy="369332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b="1" dirty="0" smtClean="0">
                <a:solidFill>
                  <a:srgbClr val="000099"/>
                </a:solidFill>
                <a:ea typeface="黑体" panose="02010609060101010101" pitchFamily="49" charset="-122"/>
              </a:rPr>
              <a:t>SAT</a:t>
            </a:r>
            <a:endParaRPr lang="zh-CN" altLang="en-US" b="1" dirty="0" smtClean="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784412" y="4034823"/>
            <a:ext cx="891099" cy="369332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b="1" dirty="0" smtClean="0">
                <a:solidFill>
                  <a:srgbClr val="000099"/>
                </a:solidFill>
                <a:ea typeface="黑体" panose="02010609060101010101" pitchFamily="49" charset="-122"/>
              </a:rPr>
              <a:t>3-SAT</a:t>
            </a:r>
            <a:endParaRPr lang="zh-CN" altLang="en-US" b="1" dirty="0" smtClean="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411760" y="4689140"/>
            <a:ext cx="1728440" cy="646331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b="1" dirty="0" smtClean="0">
                <a:solidFill>
                  <a:srgbClr val="000099"/>
                </a:solidFill>
                <a:ea typeface="黑体" panose="02010609060101010101" pitchFamily="49" charset="-122"/>
              </a:rPr>
              <a:t>3-Dimentional Matching</a:t>
            </a:r>
            <a:endParaRPr lang="zh-CN" altLang="en-US" b="1" dirty="0" smtClean="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88664" y="5687960"/>
            <a:ext cx="1174631" cy="369332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b="1" dirty="0" smtClean="0">
                <a:solidFill>
                  <a:srgbClr val="000099"/>
                </a:solidFill>
                <a:ea typeface="黑体" panose="02010609060101010101" pitchFamily="49" charset="-122"/>
              </a:rPr>
              <a:t>Partition</a:t>
            </a:r>
            <a:endParaRPr lang="zh-CN" altLang="en-US" b="1" dirty="0" smtClean="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427985" y="4689140"/>
            <a:ext cx="1620180" cy="369332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b="1" dirty="0" smtClean="0">
                <a:solidFill>
                  <a:srgbClr val="000099"/>
                </a:solidFill>
                <a:ea typeface="黑体" panose="02010609060101010101" pitchFamily="49" charset="-122"/>
              </a:rPr>
              <a:t>Vertex Cover</a:t>
            </a:r>
            <a:endParaRPr lang="zh-CN" altLang="en-US" b="1" dirty="0" smtClean="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139952" y="5517232"/>
            <a:ext cx="1176611" cy="369332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b="1" dirty="0" smtClean="0">
                <a:solidFill>
                  <a:srgbClr val="000099"/>
                </a:solidFill>
                <a:ea typeface="黑体" panose="02010609060101010101" pitchFamily="49" charset="-122"/>
              </a:rPr>
              <a:t>Hamilton</a:t>
            </a:r>
            <a:endParaRPr lang="zh-CN" altLang="en-US" b="1" dirty="0" smtClean="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00092" y="5517232"/>
            <a:ext cx="891099" cy="369332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b="1" dirty="0" smtClean="0">
                <a:solidFill>
                  <a:srgbClr val="000099"/>
                </a:solidFill>
                <a:ea typeface="黑体" panose="02010609060101010101" pitchFamily="49" charset="-122"/>
              </a:rPr>
              <a:t>Clique</a:t>
            </a:r>
            <a:endParaRPr lang="zh-CN" altLang="en-US" b="1" dirty="0" smtClean="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cxnSp>
        <p:nvCxnSpPr>
          <p:cNvPr id="14" name="直接箭头连接符 13"/>
          <p:cNvCxnSpPr>
            <a:stCxn id="6" idx="2"/>
            <a:endCxn id="7" idx="0"/>
          </p:cNvCxnSpPr>
          <p:nvPr/>
        </p:nvCxnSpPr>
        <p:spPr bwMode="auto">
          <a:xfrm>
            <a:off x="4229962" y="3690320"/>
            <a:ext cx="0" cy="344503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>
            <a:endCxn id="8" idx="0"/>
          </p:cNvCxnSpPr>
          <p:nvPr/>
        </p:nvCxnSpPr>
        <p:spPr bwMode="auto">
          <a:xfrm flipH="1">
            <a:off x="3275980" y="4404155"/>
            <a:ext cx="598195" cy="284985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>
            <a:endCxn id="10" idx="0"/>
          </p:cNvCxnSpPr>
          <p:nvPr/>
        </p:nvCxnSpPr>
        <p:spPr bwMode="auto">
          <a:xfrm>
            <a:off x="4553998" y="4404155"/>
            <a:ext cx="684077" cy="284985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>
            <a:stCxn id="8" idx="2"/>
            <a:endCxn id="9" idx="0"/>
          </p:cNvCxnSpPr>
          <p:nvPr/>
        </p:nvCxnSpPr>
        <p:spPr bwMode="auto">
          <a:xfrm>
            <a:off x="3275980" y="5335471"/>
            <a:ext cx="0" cy="352489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>
            <a:endCxn id="11" idx="0"/>
          </p:cNvCxnSpPr>
          <p:nvPr/>
        </p:nvCxnSpPr>
        <p:spPr bwMode="auto">
          <a:xfrm flipH="1">
            <a:off x="4728258" y="5058472"/>
            <a:ext cx="347798" cy="45876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>
            <a:endCxn id="12" idx="0"/>
          </p:cNvCxnSpPr>
          <p:nvPr/>
        </p:nvCxnSpPr>
        <p:spPr bwMode="auto">
          <a:xfrm>
            <a:off x="5400092" y="5058472"/>
            <a:ext cx="445550" cy="45876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latin typeface="Arial" panose="02080604020202020204" pitchFamily="34" charset="0"/>
                <a:ea typeface="黑体" panose="02010609060101010101" pitchFamily="49" charset="-122"/>
              </a:rPr>
              <a:t>3CNF-SAT</a:t>
            </a:r>
            <a:r>
              <a:rPr lang="zh-CN" altLang="en-US" dirty="0" smtClean="0">
                <a:latin typeface="Arial" panose="02080604020202020204" pitchFamily="34" charset="0"/>
                <a:ea typeface="黑体" panose="02010609060101010101" pitchFamily="49" charset="-122"/>
              </a:rPr>
              <a:t>问题是</a:t>
            </a:r>
            <a:r>
              <a:rPr lang="en-US" altLang="zh-CN" dirty="0" smtClean="0">
                <a:latin typeface="Arial" panose="02080604020202020204" pitchFamily="34" charset="0"/>
                <a:ea typeface="黑体" panose="02010609060101010101" pitchFamily="49" charset="-122"/>
              </a:rPr>
              <a:t>NP</a:t>
            </a:r>
            <a:r>
              <a:rPr lang="zh-CN" altLang="en-US" dirty="0" smtClean="0">
                <a:latin typeface="Arial" panose="02080604020202020204" pitchFamily="34" charset="0"/>
                <a:ea typeface="黑体" panose="02010609060101010101" pitchFamily="49" charset="-122"/>
              </a:rPr>
              <a:t>完全问题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dirty="0">
                    <a:latin typeface="Arial" panose="02080604020202020204" pitchFamily="34" charset="0"/>
                    <a:ea typeface="黑体" panose="02010609060101010101" pitchFamily="49" charset="-122"/>
                  </a:rPr>
                  <a:t>3CNF-SAT</a:t>
                </a:r>
                <a:r>
                  <a:rPr lang="zh-CN" altLang="en-US" dirty="0">
                    <a:latin typeface="Arial" panose="02080604020202020204" pitchFamily="34" charset="0"/>
                    <a:ea typeface="黑体" panose="02010609060101010101" pitchFamily="49" charset="-122"/>
                  </a:rPr>
                  <a:t>问题</a:t>
                </a:r>
                <a:endParaRPr lang="en-US" altLang="zh-CN" dirty="0">
                  <a:latin typeface="Arial" panose="02080604020202020204" pitchFamily="34" charset="0"/>
                  <a:ea typeface="黑体" panose="02010609060101010101" pitchFamily="49" charset="-122"/>
                </a:endParaRPr>
              </a:p>
              <a:p>
                <a:pPr lvl="1"/>
                <a:r>
                  <a:rPr lang="zh-CN" altLang="en-US" dirty="0">
                    <a:latin typeface="Arial" panose="02080604020202020204" pitchFamily="34" charset="0"/>
                    <a:ea typeface="黑体" panose="02010609060101010101" pitchFamily="49" charset="-122"/>
                  </a:rPr>
                  <a:t>给定</a:t>
                </a:r>
                <a:r>
                  <a:rPr lang="en-US" altLang="zh-CN" dirty="0">
                    <a:latin typeface="Arial" panose="02080604020202020204" pitchFamily="34" charset="0"/>
                    <a:ea typeface="黑体" panose="02010609060101010101" pitchFamily="49" charset="-122"/>
                  </a:rPr>
                  <a:t>n</a:t>
                </a:r>
                <a:r>
                  <a:rPr lang="zh-CN" altLang="en-US" dirty="0">
                    <a:latin typeface="Arial" panose="02080604020202020204" pitchFamily="34" charset="0"/>
                    <a:ea typeface="黑体" panose="02010609060101010101" pitchFamily="49" charset="-122"/>
                  </a:rPr>
                  <a:t>个布尔变元和</a:t>
                </a:r>
                <a:r>
                  <a:rPr lang="en-US" altLang="zh-CN" dirty="0">
                    <a:latin typeface="Arial" panose="02080604020202020204" pitchFamily="34" charset="0"/>
                    <a:ea typeface="黑体" panose="02010609060101010101" pitchFamily="49" charset="-122"/>
                  </a:rPr>
                  <a:t>m</a:t>
                </a:r>
                <a:r>
                  <a:rPr lang="zh-CN" altLang="en-US" dirty="0">
                    <a:latin typeface="Arial" panose="02080604020202020204" pitchFamily="34" charset="0"/>
                    <a:ea typeface="黑体" panose="02010609060101010101" pitchFamily="49" charset="-122"/>
                  </a:rPr>
                  <a:t>个子句，子句是</a:t>
                </a:r>
                <a:r>
                  <a:rPr lang="en-US" altLang="zh-CN" dirty="0">
                    <a:latin typeface="Arial" panose="02080604020202020204" pitchFamily="34" charset="0"/>
                    <a:ea typeface="黑体" panose="02010609060101010101" pitchFamily="49" charset="-122"/>
                  </a:rPr>
                  <a:t>3</a:t>
                </a:r>
                <a:r>
                  <a:rPr lang="zh-CN" altLang="en-US" dirty="0">
                    <a:latin typeface="Arial" panose="02080604020202020204" pitchFamily="34" charset="0"/>
                    <a:ea typeface="黑体" panose="02010609060101010101" pitchFamily="49" charset="-122"/>
                  </a:rPr>
                  <a:t>个文字</a:t>
                </a:r>
                <a:r>
                  <a:rPr lang="en-US" altLang="zh-CN" dirty="0">
                    <a:latin typeface="Arial" panose="02080604020202020204" pitchFamily="34" charset="0"/>
                    <a:ea typeface="黑体" panose="02010609060101010101" pitchFamily="49" charset="-122"/>
                  </a:rPr>
                  <a:t>(</a:t>
                </a:r>
                <a:r>
                  <a:rPr lang="zh-CN" altLang="en-US" dirty="0">
                    <a:latin typeface="Arial" panose="02080604020202020204" pitchFamily="34" charset="0"/>
                    <a:ea typeface="黑体" panose="02010609060101010101" pitchFamily="49" charset="-122"/>
                  </a:rPr>
                  <a:t>变元或变元的非</a:t>
                </a:r>
                <a:r>
                  <a:rPr lang="en-US" altLang="zh-CN" dirty="0">
                    <a:latin typeface="Arial" panose="02080604020202020204" pitchFamily="34" charset="0"/>
                    <a:ea typeface="黑体" panose="02010609060101010101" pitchFamily="49" charset="-122"/>
                  </a:rPr>
                  <a:t>)</a:t>
                </a:r>
                <a:r>
                  <a:rPr lang="zh-CN" altLang="en-US" dirty="0">
                    <a:latin typeface="Arial" panose="02080604020202020204" pitchFamily="34" charset="0"/>
                    <a:ea typeface="黑体" panose="02010609060101010101" pitchFamily="49" charset="-122"/>
                  </a:rPr>
                  <a:t>的析取操作</a:t>
                </a:r>
                <a:endParaRPr lang="en-US" altLang="zh-CN" dirty="0">
                  <a:latin typeface="Arial" panose="02080604020202020204" pitchFamily="34" charset="0"/>
                  <a:ea typeface="黑体" panose="02010609060101010101" pitchFamily="49" charset="-122"/>
                </a:endParaRPr>
              </a:p>
              <a:p>
                <a:pPr lvl="2"/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/>
                        <a:ea typeface="黑体" panose="02010609060101010101" pitchFamily="49" charset="-122"/>
                      </a:rPr>
                      <m:t>(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i="1" dirty="0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𝒙</m:t>
                            </m:r>
                          </m:e>
                        </m:acc>
                      </m:e>
                      <m:sub>
                        <m:r>
                          <a:rPr lang="en-US" altLang="zh-CN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𝟏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/>
                        <a:ea typeface="黑体" panose="02010609060101010101" pitchFamily="49" charset="-122"/>
                      </a:rPr>
                      <m:t>∨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𝟐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/>
                        <a:ea typeface="黑体" panose="02010609060101010101" pitchFamily="49" charset="-122"/>
                      </a:rPr>
                      <m:t>∨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𝟑</m:t>
                        </m:r>
                      </m:sub>
                    </m:sSub>
                    <m:r>
                      <a:rPr lang="en-US" altLang="zh-CN" dirty="0">
                        <a:latin typeface="Cambria Math" panose="02040503050406030204"/>
                        <a:ea typeface="黑体" panose="02010609060101010101" pitchFamily="49" charset="-122"/>
                      </a:rPr>
                      <m:t>)</m:t>
                    </m:r>
                  </m:oMath>
                </a14:m>
                <a:endParaRPr lang="en-US" altLang="zh-CN" dirty="0">
                  <a:latin typeface="Arial" panose="02080604020202020204" pitchFamily="34" charset="0"/>
                  <a:ea typeface="黑体" panose="02010609060101010101" pitchFamily="49" charset="-122"/>
                </a:endParaRPr>
              </a:p>
              <a:p>
                <a:pPr lvl="1"/>
                <a:r>
                  <a:rPr lang="zh-CN" altLang="en-US" dirty="0">
                    <a:latin typeface="Arial" panose="02080604020202020204" pitchFamily="34" charset="0"/>
                    <a:ea typeface="黑体" panose="02010609060101010101" pitchFamily="49" charset="-122"/>
                  </a:rPr>
                  <a:t>问这</a:t>
                </a:r>
                <a:r>
                  <a:rPr lang="en-US" altLang="zh-CN" dirty="0">
                    <a:latin typeface="Arial" panose="02080604020202020204" pitchFamily="34" charset="0"/>
                    <a:ea typeface="黑体" panose="02010609060101010101" pitchFamily="49" charset="-122"/>
                  </a:rPr>
                  <a:t>m</a:t>
                </a:r>
                <a:r>
                  <a:rPr lang="zh-CN" altLang="en-US" dirty="0">
                    <a:latin typeface="Arial" panose="02080604020202020204" pitchFamily="34" charset="0"/>
                    <a:ea typeface="黑体" panose="02010609060101010101" pitchFamily="49" charset="-122"/>
                  </a:rPr>
                  <a:t>个子句的合取范式的值可否为真？</a:t>
                </a:r>
                <a:endParaRPr lang="en-US" altLang="zh-CN" dirty="0">
                  <a:latin typeface="Arial" panose="02080604020202020204" pitchFamily="34" charset="0"/>
                  <a:ea typeface="黑体" panose="02010609060101010101" pitchFamily="49" charset="-122"/>
                </a:endParaRPr>
              </a:p>
              <a:p>
                <a:pPr lvl="2"/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/>
                        <a:ea typeface="黑体" panose="02010609060101010101" pitchFamily="49" charset="-122"/>
                      </a:rPr>
                      <m:t>(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i="1" dirty="0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𝒙</m:t>
                            </m:r>
                          </m:e>
                        </m:acc>
                      </m:e>
                      <m:sub>
                        <m:r>
                          <a:rPr lang="en-US" altLang="zh-CN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𝟏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/>
                        <a:ea typeface="黑体" panose="02010609060101010101" pitchFamily="49" charset="-122"/>
                      </a:rPr>
                      <m:t>∨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𝟐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/>
                        <a:ea typeface="黑体" panose="02010609060101010101" pitchFamily="49" charset="-122"/>
                      </a:rPr>
                      <m:t>∨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𝟑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/>
                        <a:ea typeface="黑体" panose="02010609060101010101" pitchFamily="49" charset="-122"/>
                      </a:rPr>
                      <m:t>)</m:t>
                    </m:r>
                    <m:r>
                      <a:rPr lang="en-US" altLang="zh-CN" i="1" dirty="0">
                        <a:latin typeface="Cambria Math" panose="02040503050406030204"/>
                        <a:ea typeface="Cambria Math" panose="02040503050406030204"/>
                      </a:rPr>
                      <m:t>∧</m:t>
                    </m:r>
                    <m:r>
                      <a:rPr lang="en-US" altLang="zh-CN" i="1" dirty="0">
                        <a:latin typeface="Cambria Math" panose="02040503050406030204"/>
                        <a:ea typeface="黑体" panose="02010609060101010101" pitchFamily="49" charset="-122"/>
                      </a:rPr>
                      <m:t>(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𝟕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/>
                        <a:ea typeface="黑体" panose="02010609060101010101" pitchFamily="49" charset="-122"/>
                      </a:rPr>
                      <m:t>∨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𝟗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/>
                        <a:ea typeface="黑体" panose="02010609060101010101" pitchFamily="49" charset="-122"/>
                      </a:rPr>
                      <m:t>∨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i="1" dirty="0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𝒙</m:t>
                            </m:r>
                          </m:e>
                        </m:acc>
                      </m:e>
                      <m:sub>
                        <m:r>
                          <a:rPr lang="en-US" altLang="zh-CN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𝟏𝟎</m:t>
                        </m:r>
                      </m:sub>
                    </m:sSub>
                    <m:r>
                      <a:rPr lang="en-US" altLang="zh-CN" dirty="0">
                        <a:latin typeface="Cambria Math" panose="02040503050406030204"/>
                        <a:ea typeface="黑体" panose="02010609060101010101" pitchFamily="49" charset="-122"/>
                      </a:rPr>
                      <m:t>)</m:t>
                    </m:r>
                    <m:r>
                      <a:rPr lang="en-US" altLang="zh-CN" i="1" dirty="0">
                        <a:latin typeface="Cambria Math" panose="02040503050406030204"/>
                        <a:ea typeface="Cambria Math" panose="02040503050406030204"/>
                      </a:rPr>
                      <m:t>∧⋯∧</m:t>
                    </m:r>
                    <m:r>
                      <a:rPr lang="en-US" altLang="zh-CN" dirty="0">
                        <a:latin typeface="Cambria Math" panose="02040503050406030204"/>
                        <a:ea typeface="黑体" panose="02010609060101010101" pitchFamily="49" charset="-122"/>
                      </a:rPr>
                      <m:t>(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𝟓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/>
                        <a:ea typeface="黑体" panose="02010609060101010101" pitchFamily="49" charset="-122"/>
                      </a:rPr>
                      <m:t>∨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i="1" dirty="0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𝒙</m:t>
                            </m:r>
                          </m:e>
                        </m:acc>
                      </m:e>
                      <m:sub>
                        <m:r>
                          <a:rPr lang="en-US" altLang="zh-CN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𝟔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/>
                        <a:ea typeface="黑体" panose="02010609060101010101" pitchFamily="49" charset="-122"/>
                      </a:rPr>
                      <m:t>∨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𝟒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/>
                        <a:ea typeface="黑体" panose="02010609060101010101" pitchFamily="49" charset="-122"/>
                      </a:rPr>
                      <m:t>)</m:t>
                    </m:r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t="-7" b="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3E6C03A-3073-401C-B837-061925A82BB2}" type="slidenum">
              <a:rPr lang="en-US" altLang="zh-CN" smtClean="0"/>
            </a:fld>
            <a:endParaRPr lang="en-US" altLang="zh-CN" dirty="0"/>
          </a:p>
        </p:txBody>
      </p:sp>
      <p:sp>
        <p:nvSpPr>
          <p:cNvPr id="5" name="TextBox 4"/>
          <p:cNvSpPr txBox="1"/>
          <p:nvPr/>
        </p:nvSpPr>
        <p:spPr>
          <a:xfrm>
            <a:off x="2420972" y="4212667"/>
            <a:ext cx="479618" cy="369332"/>
          </a:xfrm>
          <a:prstGeom prst="rect">
            <a:avLst/>
          </a:prstGeom>
          <a:noFill/>
          <a:ln w="25400">
            <a:noFill/>
          </a:ln>
        </p:spPr>
        <p:txBody>
          <a:bodyPr wrap="none" rtlCol="0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b="1" dirty="0" smtClean="0">
                <a:solidFill>
                  <a:srgbClr val="000099"/>
                </a:solidFill>
                <a:ea typeface="黑体" panose="02010609060101010101" pitchFamily="49" charset="-122"/>
              </a:rPr>
              <a:t>C1</a:t>
            </a:r>
            <a:endParaRPr lang="zh-CN" altLang="en-US" b="1" dirty="0" smtClean="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390437" y="4185084"/>
            <a:ext cx="479618" cy="369332"/>
          </a:xfrm>
          <a:prstGeom prst="rect">
            <a:avLst/>
          </a:prstGeom>
          <a:noFill/>
          <a:ln w="25400">
            <a:noFill/>
          </a:ln>
        </p:spPr>
        <p:txBody>
          <a:bodyPr wrap="none" rtlCol="0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b="1" dirty="0" smtClean="0">
                <a:solidFill>
                  <a:srgbClr val="000099"/>
                </a:solidFill>
                <a:ea typeface="黑体" panose="02010609060101010101" pitchFamily="49" charset="-122"/>
              </a:rPr>
              <a:t>C2</a:t>
            </a:r>
            <a:endParaRPr lang="zh-CN" altLang="en-US" b="1" dirty="0" smtClean="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236296" y="4212667"/>
            <a:ext cx="556563" cy="369332"/>
          </a:xfrm>
          <a:prstGeom prst="rect">
            <a:avLst/>
          </a:prstGeom>
          <a:noFill/>
          <a:ln w="25400">
            <a:noFill/>
          </a:ln>
        </p:spPr>
        <p:txBody>
          <a:bodyPr wrap="none" rtlCol="0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b="1" dirty="0" smtClean="0">
                <a:solidFill>
                  <a:srgbClr val="000099"/>
                </a:solidFill>
                <a:ea typeface="黑体" panose="02010609060101010101" pitchFamily="49" charset="-122"/>
              </a:rPr>
              <a:t>Cm</a:t>
            </a:r>
            <a:endParaRPr lang="zh-CN" altLang="en-US" b="1" dirty="0" smtClean="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latin typeface="Arial" panose="02080604020202020204" pitchFamily="34" charset="0"/>
                <a:ea typeface="黑体" panose="02010609060101010101" pitchFamily="49" charset="-122"/>
              </a:rPr>
              <a:t>3CNF-SAT</a:t>
            </a:r>
            <a:r>
              <a:rPr lang="zh-CN" altLang="en-US" dirty="0" smtClean="0">
                <a:latin typeface="Arial" panose="02080604020202020204" pitchFamily="34" charset="0"/>
                <a:ea typeface="黑体" panose="02010609060101010101" pitchFamily="49" charset="-122"/>
              </a:rPr>
              <a:t>问题是</a:t>
            </a:r>
            <a:r>
              <a:rPr lang="en-US" altLang="zh-CN" dirty="0" smtClean="0">
                <a:latin typeface="Arial" panose="02080604020202020204" pitchFamily="34" charset="0"/>
                <a:ea typeface="黑体" panose="02010609060101010101" pitchFamily="49" charset="-122"/>
              </a:rPr>
              <a:t>NP</a:t>
            </a:r>
            <a:r>
              <a:rPr lang="zh-CN" altLang="en-US" dirty="0" smtClean="0">
                <a:latin typeface="Arial" panose="02080604020202020204" pitchFamily="34" charset="0"/>
                <a:ea typeface="黑体" panose="02010609060101010101" pitchFamily="49" charset="-122"/>
              </a:rPr>
              <a:t>完全问题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376363"/>
                <a:ext cx="8229600" cy="5373687"/>
              </a:xfrm>
            </p:spPr>
            <p:txBody>
              <a:bodyPr/>
              <a:lstStyle/>
              <a:p>
                <a:r>
                  <a:rPr lang="zh-CN" altLang="en-US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证明</a:t>
                </a:r>
                <a:endParaRPr lang="en-US" altLang="zh-CN" dirty="0">
                  <a:latin typeface="Arial" panose="02080604020202020204" pitchFamily="34" charset="0"/>
                  <a:ea typeface="黑体" panose="02010609060101010101" pitchFamily="49" charset="-122"/>
                </a:endParaRPr>
              </a:p>
              <a:p>
                <a:pPr lvl="1"/>
                <a:r>
                  <a:rPr lang="zh-CN" altLang="en-US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显然</a:t>
                </a:r>
                <a:r>
                  <a:rPr lang="en-US" altLang="zh-CN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3CNF-SAT</a:t>
                </a:r>
                <a:r>
                  <a:rPr lang="zh-CN" altLang="en-US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是</a:t>
                </a:r>
                <a:r>
                  <a:rPr lang="en-US" altLang="zh-CN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NP</a:t>
                </a:r>
                <a:r>
                  <a:rPr lang="zh-CN" altLang="en-US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问题</a:t>
                </a:r>
                <a:r>
                  <a:rPr lang="en-US" altLang="zh-CN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(</a:t>
                </a:r>
                <a:r>
                  <a:rPr lang="zh-CN" altLang="en-US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多项式时间可判定</a:t>
                </a:r>
                <a:r>
                  <a:rPr lang="en-US" altLang="zh-CN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)</a:t>
                </a:r>
                <a:endParaRPr lang="en-US" altLang="zh-CN" dirty="0" smtClean="0">
                  <a:latin typeface="Arial" panose="02080604020202020204" pitchFamily="34" charset="0"/>
                  <a:ea typeface="黑体" panose="02010609060101010101" pitchFamily="49" charset="-122"/>
                </a:endParaRPr>
              </a:p>
              <a:p>
                <a:pPr lvl="1"/>
                <a:r>
                  <a:rPr lang="zh-CN" altLang="en-US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将</a:t>
                </a:r>
                <a:r>
                  <a:rPr lang="en-US" altLang="zh-CN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CNF-SAT</a:t>
                </a:r>
                <a:r>
                  <a:rPr lang="zh-CN" altLang="en-US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归约</a:t>
                </a:r>
                <a:r>
                  <a:rPr lang="en-US" altLang="zh-CN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(</a:t>
                </a:r>
                <a:r>
                  <a:rPr lang="zh-CN" altLang="en-US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多项式时间转换</a:t>
                </a:r>
                <a:r>
                  <a:rPr lang="en-US" altLang="zh-CN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)</a:t>
                </a:r>
                <a:r>
                  <a:rPr lang="zh-CN" altLang="en-US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到</a:t>
                </a:r>
                <a:r>
                  <a:rPr lang="en-US" altLang="zh-CN" dirty="0">
                    <a:latin typeface="Arial" panose="02080604020202020204" pitchFamily="34" charset="0"/>
                    <a:ea typeface="黑体" panose="02010609060101010101" pitchFamily="49" charset="-122"/>
                  </a:rPr>
                  <a:t>3CNF-SAT</a:t>
                </a:r>
                <a:endParaRPr lang="en-US" altLang="zh-CN" dirty="0" smtClean="0">
                  <a:latin typeface="Arial" panose="02080604020202020204" pitchFamily="34" charset="0"/>
                  <a:ea typeface="黑体" panose="02010609060101010101" pitchFamily="49" charset="-122"/>
                </a:endParaRPr>
              </a:p>
              <a:p>
                <a:pPr lvl="2"/>
                <a:r>
                  <a:rPr lang="en-US" altLang="zh-CN" sz="18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CNF-SAT</a:t>
                </a:r>
                <a:r>
                  <a:rPr lang="zh-CN" altLang="en-US" sz="18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中各子句中文字个数可能为</a:t>
                </a:r>
                <a:r>
                  <a:rPr lang="en-US" altLang="zh-CN" sz="18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1</a:t>
                </a:r>
                <a:r>
                  <a:rPr lang="zh-CN" altLang="en-US" sz="18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，</a:t>
                </a:r>
                <a:r>
                  <a:rPr lang="en-US" altLang="zh-CN" sz="18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2</a:t>
                </a:r>
                <a:r>
                  <a:rPr lang="zh-CN" altLang="en-US" sz="18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，</a:t>
                </a:r>
                <a:r>
                  <a:rPr lang="en-US" altLang="zh-CN" sz="18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3</a:t>
                </a:r>
                <a:r>
                  <a:rPr lang="zh-CN" altLang="en-US" sz="18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或≥</a:t>
                </a:r>
                <a:r>
                  <a:rPr lang="en-US" altLang="zh-CN" sz="18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3</a:t>
                </a:r>
                <a:r>
                  <a:rPr lang="zh-CN" altLang="en-US" sz="18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个</a:t>
                </a:r>
                <a:endParaRPr lang="en-US" altLang="zh-CN" sz="1800" dirty="0" smtClean="0">
                  <a:latin typeface="Arial" panose="02080604020202020204" pitchFamily="34" charset="0"/>
                  <a:ea typeface="黑体" panose="02010609060101010101" pitchFamily="49" charset="-122"/>
                </a:endParaRPr>
              </a:p>
              <a:p>
                <a:pPr lvl="2"/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18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800" b="1" i="1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800" b="1" i="1" smtClean="0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𝑪</m:t>
                            </m:r>
                          </m:e>
                          <m:sub>
                            <m:r>
                              <a:rPr lang="en-US" altLang="zh-CN" sz="1800" b="1" i="1" smtClean="0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𝒊</m:t>
                            </m:r>
                          </m:sub>
                        </m:sSub>
                      </m:e>
                    </m:d>
                    <m:r>
                      <a:rPr lang="en-US" altLang="zh-CN" sz="1800" b="1" i="1" smtClean="0">
                        <a:latin typeface="Cambria Math" panose="02040503050406030204"/>
                        <a:ea typeface="黑体" panose="02010609060101010101" pitchFamily="49" charset="-122"/>
                      </a:rPr>
                      <m:t>=</m:t>
                    </m:r>
                    <m:r>
                      <a:rPr lang="en-US" altLang="zh-CN" sz="1800" b="1" i="1" smtClean="0">
                        <a:latin typeface="Cambria Math" panose="02040503050406030204"/>
                        <a:ea typeface="黑体" panose="02010609060101010101" pitchFamily="49" charset="-122"/>
                      </a:rPr>
                      <m:t>𝟏</m:t>
                    </m:r>
                  </m:oMath>
                </a14:m>
                <a:r>
                  <a:rPr lang="zh-CN" altLang="en-US" sz="18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时</a:t>
                </a:r>
                <a:r>
                  <a:rPr lang="en-US" altLang="zh-CN" sz="18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,  </a:t>
                </a:r>
                <a:r>
                  <a:rPr lang="zh-CN" altLang="en-US" sz="18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𝑪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</m:sub>
                    </m:sSub>
                    <m:r>
                      <a:rPr lang="en-US" altLang="zh-CN" sz="1800" b="1" i="1" smtClean="0">
                        <a:latin typeface="Cambria Math" panose="02040503050406030204"/>
                        <a:ea typeface="黑体" panose="02010609060101010101" pitchFamily="49" charset="-122"/>
                      </a:rPr>
                      <m:t>=</m:t>
                    </m:r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800" b="1" i="1" smtClean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  <m:r>
                          <a:rPr lang="en-US" altLang="zh-CN" sz="18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18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。增加两个布尔变量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800" b="1" i="1" smtClean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𝑼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</m:sub>
                    </m:sSub>
                    <m:r>
                      <a:rPr lang="en-US" altLang="zh-CN" sz="1800" b="1" i="1" smtClean="0">
                        <a:latin typeface="Cambria Math" panose="02040503050406030204"/>
                        <a:ea typeface="黑体" panose="02010609060101010101" pitchFamily="49" charset="-122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18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800" b="1" i="1" smtClean="0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𝒚</m:t>
                            </m:r>
                          </m:e>
                          <m:sub>
                            <m:r>
                              <a:rPr lang="en-US" altLang="zh-CN" sz="1800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𝒊</m:t>
                            </m:r>
                            <m:r>
                              <a:rPr lang="en-US" altLang="zh-CN" sz="1800" b="1" i="1" smtClean="0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1800" b="1" i="0" smtClean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𝒚</m:t>
                            </m:r>
                          </m:e>
                          <m:sub>
                            <m:r>
                              <a:rPr lang="en-US" altLang="zh-CN" sz="1800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𝒊</m:t>
                            </m:r>
                            <m:r>
                              <a:rPr lang="en-US" altLang="zh-CN" sz="1800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𝟐</m:t>
                            </m:r>
                          </m:sub>
                        </m:sSub>
                      </m:e>
                    </m:d>
                    <m:r>
                      <a:rPr lang="zh-CN" altLang="en-US" sz="1800" b="1" i="1" smtClean="0">
                        <a:latin typeface="Cambria Math" panose="02040503050406030204"/>
                        <a:ea typeface="黑体" panose="02010609060101010101" pitchFamily="49" charset="-122"/>
                      </a:rPr>
                      <m:t>，</m:t>
                    </m:r>
                  </m:oMath>
                </a14:m>
                <a:r>
                  <a:rPr lang="zh-CN" altLang="en-US" sz="18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子句变换为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zh-CN" sz="1800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SupPr>
                      <m:e>
                        <m:r>
                          <a:rPr lang="en-US" altLang="zh-CN" sz="1800" b="1" i="1" smtClean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𝑪</m:t>
                        </m:r>
                      </m:e>
                      <m:sub>
                        <m:r>
                          <a:rPr lang="en-US" altLang="zh-CN" sz="1800" b="1" i="1" smtClean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</m:sub>
                      <m:sup>
                        <m:r>
                          <a:rPr lang="en-US" altLang="zh-CN" sz="1800" b="1" i="1" smtClean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′</m:t>
                        </m:r>
                      </m:sup>
                    </m:sSubSup>
                    <m:r>
                      <a:rPr lang="en-US" altLang="zh-CN" sz="1800" b="1" i="1" smtClean="0">
                        <a:latin typeface="Cambria Math" panose="02040503050406030204"/>
                        <a:ea typeface="黑体" panose="02010609060101010101" pitchFamily="49" charset="-122"/>
                      </a:rPr>
                      <m:t>=(</m:t>
                    </m:r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  <m:r>
                          <a:rPr lang="en-US" altLang="zh-CN" sz="18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𝟏</m:t>
                        </m:r>
                      </m:sub>
                    </m:sSub>
                    <m:r>
                      <a:rPr lang="en-US" altLang="zh-CN" sz="1800" i="1" smtClean="0">
                        <a:latin typeface="Cambria Math" panose="02040503050406030204"/>
                        <a:ea typeface="Cambria Math" panose="02040503050406030204"/>
                      </a:rPr>
                      <m:t>∨</m:t>
                    </m:r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𝒚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  <m:r>
                          <a:rPr lang="en-US" altLang="zh-CN" sz="18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𝟏</m:t>
                        </m:r>
                      </m:sub>
                    </m:sSub>
                    <m:r>
                      <a:rPr lang="en-US" altLang="zh-CN" sz="1800" i="1" smtClean="0">
                        <a:latin typeface="Cambria Math" panose="02040503050406030204"/>
                        <a:ea typeface="Cambria Math" panose="02040503050406030204"/>
                      </a:rPr>
                      <m:t>∨</m:t>
                    </m:r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𝒚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  <m:r>
                          <a:rPr lang="en-US" altLang="zh-CN" sz="1800" b="1" i="1" smtClean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𝟐</m:t>
                        </m:r>
                      </m:sub>
                    </m:sSub>
                    <m:r>
                      <a:rPr lang="en-US" altLang="zh-CN" sz="1800" b="1" i="1" smtClean="0">
                        <a:latin typeface="Cambria Math" panose="02040503050406030204"/>
                        <a:ea typeface="黑体" panose="02010609060101010101" pitchFamily="49" charset="-122"/>
                      </a:rPr>
                      <m:t>)</m:t>
                    </m:r>
                    <m:r>
                      <a:rPr lang="en-US" altLang="zh-CN" sz="1800" b="1" i="1" smtClean="0">
                        <a:latin typeface="Cambria Math" panose="02040503050406030204"/>
                        <a:ea typeface="Cambria Math" panose="02040503050406030204"/>
                      </a:rPr>
                      <m:t>∧</m:t>
                    </m:r>
                    <m:r>
                      <a:rPr lang="en-US" altLang="zh-CN" sz="1800" i="1">
                        <a:latin typeface="Cambria Math" panose="02040503050406030204"/>
                        <a:ea typeface="黑体" panose="02010609060101010101" pitchFamily="49" charset="-122"/>
                      </a:rPr>
                      <m:t>(</m:t>
                    </m:r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  <m:r>
                          <a:rPr lang="en-US" altLang="zh-CN" sz="18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𝟏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/>
                        <a:ea typeface="Cambria Math" panose="02040503050406030204"/>
                      </a:rPr>
                      <m:t>∨</m:t>
                    </m:r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𝒚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  <m:r>
                          <a:rPr lang="en-US" altLang="zh-CN" sz="18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𝟏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/>
                        <a:ea typeface="Cambria Math" panose="02040503050406030204"/>
                      </a:rPr>
                      <m:t>∨</m:t>
                    </m:r>
                    <m:sSub>
                      <m:sSubPr>
                        <m:ctrlPr>
                          <a:rPr lang="en-US" altLang="zh-CN" sz="1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CN" sz="1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sz="1800" b="1" i="1" dirty="0" smtClean="0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𝒚</m:t>
                            </m:r>
                          </m:e>
                        </m:acc>
                      </m:e>
                      <m:sub>
                        <m:r>
                          <a:rPr lang="en-US" altLang="zh-CN" sz="1800" b="1" i="1" dirty="0" smtClean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  <m:r>
                          <a:rPr lang="en-US" altLang="zh-CN" sz="1800" b="1" i="1" dirty="0" smtClean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𝟐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/>
                        <a:ea typeface="黑体" panose="02010609060101010101" pitchFamily="49" charset="-122"/>
                      </a:rPr>
                      <m:t>)</m:t>
                    </m:r>
                    <m:r>
                      <a:rPr lang="en-US" altLang="zh-CN" sz="1800" i="1">
                        <a:latin typeface="Cambria Math" panose="02040503050406030204"/>
                        <a:ea typeface="Cambria Math" panose="02040503050406030204"/>
                      </a:rPr>
                      <m:t>∧</m:t>
                    </m:r>
                    <m:r>
                      <a:rPr lang="en-US" altLang="zh-CN" sz="1800" i="1">
                        <a:latin typeface="Cambria Math" panose="02040503050406030204"/>
                        <a:ea typeface="黑体" panose="02010609060101010101" pitchFamily="49" charset="-122"/>
                      </a:rPr>
                      <m:t>(</m:t>
                    </m:r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  <m:r>
                          <a:rPr lang="en-US" altLang="zh-CN" sz="18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𝟏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/>
                        <a:ea typeface="Cambria Math" panose="02040503050406030204"/>
                      </a:rPr>
                      <m:t>∨</m:t>
                    </m:r>
                    <m:sSub>
                      <m:sSubPr>
                        <m:ctrlPr>
                          <a:rPr lang="en-US" altLang="zh-CN" sz="1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CN" sz="1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sz="1800" b="1" i="1" dirty="0" smtClean="0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𝒚</m:t>
                            </m:r>
                          </m:e>
                        </m:acc>
                      </m:e>
                      <m:sub>
                        <m:r>
                          <a:rPr lang="en-US" altLang="zh-CN" sz="1800" b="1" i="1" dirty="0" smtClean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  <m:r>
                          <a:rPr lang="en-US" altLang="zh-CN" sz="1800" b="1" i="1" dirty="0" smtClean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𝟏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/>
                        <a:ea typeface="Cambria Math" panose="02040503050406030204"/>
                      </a:rPr>
                      <m:t>∨</m:t>
                    </m:r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𝒚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  <m:r>
                          <a:rPr lang="en-US" altLang="zh-CN" sz="18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𝟐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/>
                        <a:ea typeface="黑体" panose="02010609060101010101" pitchFamily="49" charset="-122"/>
                      </a:rPr>
                      <m:t>)</m:t>
                    </m:r>
                    <m:r>
                      <a:rPr lang="en-US" altLang="zh-CN" sz="1800" i="1">
                        <a:latin typeface="Cambria Math" panose="02040503050406030204"/>
                        <a:ea typeface="Cambria Math" panose="02040503050406030204"/>
                      </a:rPr>
                      <m:t>∧</m:t>
                    </m:r>
                    <m:r>
                      <a:rPr lang="en-US" altLang="zh-CN" sz="1800" i="1">
                        <a:latin typeface="Cambria Math" panose="02040503050406030204"/>
                        <a:ea typeface="黑体" panose="02010609060101010101" pitchFamily="49" charset="-122"/>
                      </a:rPr>
                      <m:t>(</m:t>
                    </m:r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  <m:r>
                          <a:rPr lang="en-US" altLang="zh-CN" sz="18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𝟏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/>
                        <a:ea typeface="Cambria Math" panose="02040503050406030204"/>
                      </a:rPr>
                      <m:t>∨</m:t>
                    </m:r>
                    <m:sSub>
                      <m:sSubPr>
                        <m:ctrlPr>
                          <a:rPr lang="en-US" altLang="zh-CN" sz="1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CN" sz="1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sz="1800" i="1" dirty="0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𝒚</m:t>
                            </m:r>
                          </m:e>
                        </m:acc>
                      </m:e>
                      <m:sub>
                        <m:r>
                          <a:rPr lang="en-US" altLang="zh-CN" sz="1800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  <m:r>
                          <a:rPr lang="en-US" altLang="zh-CN" sz="1800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𝟏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/>
                        <a:ea typeface="Cambria Math" panose="02040503050406030204"/>
                      </a:rPr>
                      <m:t>∨</m:t>
                    </m:r>
                    <m:sSub>
                      <m:sSubPr>
                        <m:ctrlPr>
                          <a:rPr lang="en-US" altLang="zh-CN" sz="1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CN" sz="1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sz="1800" i="1" dirty="0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𝒚</m:t>
                            </m:r>
                          </m:e>
                        </m:acc>
                      </m:e>
                      <m:sub>
                        <m:r>
                          <a:rPr lang="en-US" altLang="zh-CN" sz="1800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  <m:r>
                          <a:rPr lang="en-US" altLang="zh-CN" sz="1800" b="1" i="1" dirty="0" smtClean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𝟐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/>
                        <a:ea typeface="黑体" panose="02010609060101010101" pitchFamily="49" charset="-122"/>
                      </a:rPr>
                      <m:t>)</m:t>
                    </m:r>
                  </m:oMath>
                </a14:m>
                <a:endParaRPr lang="en-US" altLang="zh-CN" sz="1800" i="1" dirty="0" smtClean="0">
                  <a:latin typeface="Cambria Math" panose="02040503050406030204"/>
                  <a:ea typeface="黑体" panose="02010609060101010101" pitchFamily="49" charset="-122"/>
                </a:endParaRPr>
              </a:p>
              <a:p>
                <a:pPr lvl="2"/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1800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𝑪</m:t>
                            </m:r>
                          </m:e>
                          <m:sub>
                            <m:r>
                              <a:rPr lang="en-US" altLang="zh-CN" sz="1800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𝒊</m:t>
                            </m:r>
                          </m:sub>
                        </m:sSub>
                      </m:e>
                    </m:d>
                    <m:r>
                      <a:rPr lang="en-US" altLang="zh-CN" sz="1800" i="1">
                        <a:latin typeface="Cambria Math" panose="02040503050406030204"/>
                        <a:ea typeface="黑体" panose="02010609060101010101" pitchFamily="49" charset="-122"/>
                      </a:rPr>
                      <m:t>=</m:t>
                    </m:r>
                    <m:r>
                      <a:rPr lang="en-US" altLang="zh-CN" sz="1800" b="1" i="1" smtClean="0">
                        <a:latin typeface="Cambria Math" panose="02040503050406030204"/>
                        <a:ea typeface="黑体" panose="02010609060101010101" pitchFamily="49" charset="-122"/>
                      </a:rPr>
                      <m:t>𝟐</m:t>
                    </m:r>
                  </m:oMath>
                </a14:m>
                <a:r>
                  <a:rPr lang="zh-CN" altLang="en-US" sz="18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时</a:t>
                </a:r>
                <a:r>
                  <a:rPr lang="en-US" altLang="zh-CN" sz="18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,  </a:t>
                </a:r>
                <a:r>
                  <a:rPr lang="zh-CN" altLang="en-US" sz="18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𝑪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/>
                        <a:ea typeface="黑体" panose="02010609060101010101" pitchFamily="49" charset="-122"/>
                      </a:rPr>
                      <m:t>=</m:t>
                    </m:r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  <m:r>
                          <a:rPr lang="en-US" altLang="zh-CN" sz="18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𝟏</m:t>
                        </m:r>
                      </m:sub>
                    </m:sSub>
                    <m:r>
                      <a:rPr lang="en-US" altLang="zh-CN" sz="1800" i="1" smtClean="0">
                        <a:latin typeface="Cambria Math" panose="02040503050406030204"/>
                        <a:ea typeface="Cambria Math" panose="02040503050406030204"/>
                      </a:rPr>
                      <m:t>∨</m:t>
                    </m:r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  <m:r>
                          <a:rPr lang="en-US" altLang="zh-CN" sz="1800" b="1" i="1" smtClean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sz="1800" dirty="0" smtClean="0">
                    <a:latin typeface="Cambria Math" panose="02040503050406030204"/>
                    <a:ea typeface="黑体" panose="02010609060101010101" pitchFamily="49" charset="-122"/>
                  </a:rPr>
                  <a:t>。增加一个布尔变量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𝑼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/>
                        <a:ea typeface="黑体" panose="02010609060101010101" pitchFamily="49" charset="-122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1800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𝒚</m:t>
                            </m:r>
                          </m:e>
                          <m:sub>
                            <m:r>
                              <a:rPr lang="en-US" altLang="zh-CN" sz="1800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𝒊</m:t>
                            </m:r>
                            <m:r>
                              <a:rPr lang="en-US" altLang="zh-CN" sz="1800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1800" i="1" smtClean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 </m:t>
                        </m:r>
                      </m:e>
                    </m:d>
                  </m:oMath>
                </a14:m>
                <a:r>
                  <a:rPr lang="zh-CN" altLang="en-US" sz="1800" dirty="0" smtClean="0">
                    <a:latin typeface="Cambria Math" panose="02040503050406030204"/>
                    <a:ea typeface="黑体" panose="02010609060101010101" pitchFamily="49" charset="-122"/>
                  </a:rPr>
                  <a:t>，子句变换为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zh-CN" sz="1800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SupPr>
                      <m:e>
                        <m:r>
                          <a:rPr lang="en-US" altLang="zh-CN" sz="18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𝑪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</m:sub>
                      <m:sup>
                        <m:r>
                          <a:rPr lang="en-US" altLang="zh-CN" sz="18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′</m:t>
                        </m:r>
                      </m:sup>
                    </m:sSubSup>
                    <m:r>
                      <a:rPr lang="en-US" altLang="zh-CN" sz="1800" i="1">
                        <a:latin typeface="Cambria Math" panose="02040503050406030204"/>
                        <a:ea typeface="黑体" panose="02010609060101010101" pitchFamily="49" charset="-122"/>
                      </a:rPr>
                      <m:t>=(</m:t>
                    </m:r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  <m:r>
                          <a:rPr lang="en-US" altLang="zh-CN" sz="18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𝟏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/>
                        <a:ea typeface="Cambria Math" panose="02040503050406030204"/>
                      </a:rPr>
                      <m:t>∨</m:t>
                    </m:r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800" b="1" i="1" smtClean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  <m:r>
                          <a:rPr lang="en-US" altLang="zh-CN" sz="1800" b="1" i="1" smtClean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𝟐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/>
                        <a:ea typeface="Cambria Math" panose="02040503050406030204"/>
                      </a:rPr>
                      <m:t>∨</m:t>
                    </m:r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𝒚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  <m:r>
                          <a:rPr lang="en-US" altLang="zh-CN" sz="1800" b="1" i="1" smtClean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𝟏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/>
                        <a:ea typeface="黑体" panose="02010609060101010101" pitchFamily="49" charset="-122"/>
                      </a:rPr>
                      <m:t>)</m:t>
                    </m:r>
                    <m:r>
                      <a:rPr lang="en-US" altLang="zh-CN" sz="1800" i="1">
                        <a:latin typeface="Cambria Math" panose="02040503050406030204"/>
                        <a:ea typeface="Cambria Math" panose="02040503050406030204"/>
                      </a:rPr>
                      <m:t>∧</m:t>
                    </m:r>
                    <m:r>
                      <a:rPr lang="en-US" altLang="zh-CN" sz="1800" i="1">
                        <a:latin typeface="Cambria Math" panose="02040503050406030204"/>
                        <a:ea typeface="黑体" panose="02010609060101010101" pitchFamily="49" charset="-122"/>
                      </a:rPr>
                      <m:t>(</m:t>
                    </m:r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  <m:r>
                          <a:rPr lang="en-US" altLang="zh-CN" sz="18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𝟏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/>
                        <a:ea typeface="Cambria Math" panose="02040503050406030204"/>
                      </a:rPr>
                      <m:t>∨</m:t>
                    </m:r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800" b="1" i="1" smtClean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  <m:r>
                          <a:rPr lang="en-US" altLang="zh-CN" sz="1800" b="1" i="1" smtClean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𝟐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/>
                        <a:ea typeface="Cambria Math" panose="02040503050406030204"/>
                      </a:rPr>
                      <m:t>∨</m:t>
                    </m:r>
                    <m:sSub>
                      <m:sSubPr>
                        <m:ctrlPr>
                          <a:rPr lang="en-US" altLang="zh-CN" sz="1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CN" sz="1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sz="1800" i="1" dirty="0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𝒚</m:t>
                            </m:r>
                          </m:e>
                        </m:acc>
                      </m:e>
                      <m:sub>
                        <m:r>
                          <a:rPr lang="en-US" altLang="zh-CN" sz="1800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  <m:r>
                          <a:rPr lang="en-US" altLang="zh-CN" sz="1800" b="1" i="1" dirty="0" smtClean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𝟏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/>
                        <a:ea typeface="黑体" panose="02010609060101010101" pitchFamily="49" charset="-122"/>
                      </a:rPr>
                      <m:t>)</m:t>
                    </m:r>
                  </m:oMath>
                </a14:m>
                <a:endParaRPr lang="en-US" altLang="zh-CN" sz="1800" dirty="0" smtClean="0">
                  <a:latin typeface="Cambria Math" panose="02040503050406030204"/>
                  <a:ea typeface="黑体" panose="02010609060101010101" pitchFamily="49" charset="-122"/>
                </a:endParaRPr>
              </a:p>
              <a:p>
                <a:pPr lvl="2"/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1800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𝑪</m:t>
                            </m:r>
                          </m:e>
                          <m:sub>
                            <m:r>
                              <a:rPr lang="en-US" altLang="zh-CN" sz="1800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𝒊</m:t>
                            </m:r>
                          </m:sub>
                        </m:sSub>
                      </m:e>
                    </m:d>
                    <m:r>
                      <a:rPr lang="en-US" altLang="zh-CN" sz="1800" i="1">
                        <a:latin typeface="Cambria Math" panose="02040503050406030204"/>
                        <a:ea typeface="黑体" panose="02010609060101010101" pitchFamily="49" charset="-122"/>
                      </a:rPr>
                      <m:t>=</m:t>
                    </m:r>
                    <m:r>
                      <a:rPr lang="en-US" altLang="zh-CN" sz="1800" b="1" i="1" smtClean="0">
                        <a:latin typeface="Cambria Math" panose="02040503050406030204"/>
                        <a:ea typeface="黑体" panose="02010609060101010101" pitchFamily="49" charset="-122"/>
                      </a:rPr>
                      <m:t>𝟑</m:t>
                    </m:r>
                  </m:oMath>
                </a14:m>
                <a:r>
                  <a:rPr lang="zh-CN" altLang="en-US" sz="18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时</a:t>
                </a:r>
                <a:r>
                  <a:rPr lang="en-US" altLang="zh-CN" sz="18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, </a:t>
                </a:r>
                <a:r>
                  <a:rPr lang="zh-CN" altLang="en-US" sz="18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𝑪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/>
                        <a:ea typeface="黑体" panose="02010609060101010101" pitchFamily="49" charset="-122"/>
                      </a:rPr>
                      <m:t>=</m:t>
                    </m:r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  <m:r>
                          <a:rPr lang="en-US" altLang="zh-CN" sz="18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𝟏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/>
                        <a:ea typeface="Cambria Math" panose="02040503050406030204"/>
                      </a:rPr>
                      <m:t>∨</m:t>
                    </m:r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  <m:r>
                          <a:rPr lang="en-US" altLang="zh-CN" sz="18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𝟐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/>
                        <a:ea typeface="Cambria Math" panose="02040503050406030204"/>
                      </a:rPr>
                      <m:t>∨</m:t>
                    </m:r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  <m:r>
                          <a:rPr lang="en-US" altLang="zh-CN" sz="1800" b="1" i="1" smtClean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zh-CN" altLang="en-US" sz="1800" dirty="0" smtClean="0">
                    <a:latin typeface="Cambria Math" panose="02040503050406030204"/>
                    <a:ea typeface="黑体" panose="02010609060101010101" pitchFamily="49" charset="-122"/>
                  </a:rPr>
                  <a:t>。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zh-CN" sz="1800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SupPr>
                      <m:e>
                        <m:r>
                          <a:rPr lang="en-US" altLang="zh-CN" sz="18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𝑪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</m:sub>
                      <m:sup>
                        <m:r>
                          <a:rPr lang="en-US" altLang="zh-CN" sz="18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′</m:t>
                        </m:r>
                      </m:sup>
                    </m:sSubSup>
                    <m:r>
                      <a:rPr lang="en-US" altLang="zh-CN" sz="1800" b="1" i="1" smtClean="0">
                        <a:latin typeface="Cambria Math" panose="02040503050406030204"/>
                        <a:ea typeface="黑体" panose="02010609060101010101" pitchFamily="49" charset="-122"/>
                      </a:rPr>
                      <m:t>=</m:t>
                    </m:r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𝑪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</m:sub>
                    </m:sSub>
                  </m:oMath>
                </a14:m>
                <a:endParaRPr lang="en-US" altLang="zh-CN" sz="1800" dirty="0" smtClean="0">
                  <a:latin typeface="Cambria Math" panose="02040503050406030204"/>
                  <a:ea typeface="黑体" panose="02010609060101010101" pitchFamily="49" charset="-122"/>
                </a:endParaRPr>
              </a:p>
              <a:p>
                <a:pPr lvl="2"/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1800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𝑪</m:t>
                            </m:r>
                          </m:e>
                          <m:sub>
                            <m:r>
                              <a:rPr lang="en-US" altLang="zh-CN" sz="1800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𝒊</m:t>
                            </m:r>
                          </m:sub>
                        </m:sSub>
                      </m:e>
                    </m:d>
                    <m:r>
                      <a:rPr lang="en-US" altLang="zh-CN" sz="1800" b="1" i="1" smtClean="0">
                        <a:latin typeface="Cambria Math" panose="02040503050406030204"/>
                        <a:ea typeface="黑体" panose="02010609060101010101" pitchFamily="49" charset="-122"/>
                      </a:rPr>
                      <m:t>&gt;</m:t>
                    </m:r>
                    <m:r>
                      <a:rPr lang="en-US" altLang="zh-CN" sz="1800" i="1">
                        <a:latin typeface="Cambria Math" panose="02040503050406030204"/>
                        <a:ea typeface="黑体" panose="02010609060101010101" pitchFamily="49" charset="-122"/>
                      </a:rPr>
                      <m:t>𝟑</m:t>
                    </m:r>
                  </m:oMath>
                </a14:m>
                <a:r>
                  <a:rPr lang="zh-CN" altLang="en-US" sz="18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时</a:t>
                </a:r>
                <a:r>
                  <a:rPr lang="en-US" altLang="zh-CN" sz="18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,</a:t>
                </a:r>
                <a:r>
                  <a:rPr lang="zh-CN" altLang="en-US" sz="1800" dirty="0">
                    <a:latin typeface="Arial" panose="02080604020202020204" pitchFamily="34" charset="0"/>
                    <a:ea typeface="黑体" panose="02010609060101010101" pitchFamily="49" charset="-122"/>
                  </a:rPr>
                  <a:t>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𝑪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/>
                        <a:ea typeface="黑体" panose="02010609060101010101" pitchFamily="49" charset="-122"/>
                      </a:rPr>
                      <m:t>=</m:t>
                    </m:r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  <m:r>
                          <a:rPr lang="en-US" altLang="zh-CN" sz="18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𝟏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/>
                        <a:ea typeface="Cambria Math" panose="02040503050406030204"/>
                      </a:rPr>
                      <m:t>∨</m:t>
                    </m:r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  <m:r>
                          <a:rPr lang="en-US" altLang="zh-CN" sz="18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𝟐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/>
                        <a:ea typeface="黑体" panose="02010609060101010101" pitchFamily="49" charset="-122"/>
                      </a:rPr>
                      <m:t> </m:t>
                    </m:r>
                    <m:r>
                      <a:rPr lang="en-US" altLang="zh-CN" sz="1800" i="1" smtClean="0">
                        <a:latin typeface="Cambria Math" panose="02040503050406030204"/>
                        <a:ea typeface="Cambria Math" panose="02040503050406030204"/>
                      </a:rPr>
                      <m:t>∨</m:t>
                    </m:r>
                    <m:r>
                      <a:rPr lang="en-US" altLang="zh-CN" sz="1800" b="1" i="1" smtClean="0">
                        <a:latin typeface="Cambria Math" panose="02040503050406030204"/>
                        <a:ea typeface="Cambria Math" panose="02040503050406030204"/>
                      </a:rPr>
                      <m:t>…</m:t>
                    </m:r>
                    <m:r>
                      <a:rPr lang="en-US" altLang="zh-CN" sz="1800" i="1" smtClean="0">
                        <a:latin typeface="Cambria Math" panose="02040503050406030204"/>
                        <a:ea typeface="Cambria Math" panose="02040503050406030204"/>
                      </a:rPr>
                      <m:t>∨</m:t>
                    </m:r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800" b="1" i="1" smtClean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  <m:r>
                          <a:rPr lang="en-US" altLang="zh-CN" sz="18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|</m:t>
                        </m:r>
                        <m:sSub>
                          <m:sSub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𝑪</m:t>
                            </m:r>
                          </m:e>
                          <m:sub>
                            <m:r>
                              <a:rPr lang="en-US" altLang="zh-CN" sz="1800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𝒊</m:t>
                            </m:r>
                          </m:sub>
                        </m:sSub>
                        <m:r>
                          <a:rPr lang="en-US" altLang="zh-CN" sz="18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|</m:t>
                        </m:r>
                      </m:sub>
                    </m:sSub>
                  </m:oMath>
                </a14:m>
                <a:r>
                  <a:rPr lang="zh-CN" altLang="en-US" sz="18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。增加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1800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𝑪</m:t>
                            </m:r>
                          </m:e>
                          <m:sub>
                            <m:r>
                              <a:rPr lang="en-US" altLang="zh-CN" sz="1800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𝒊</m:t>
                            </m:r>
                          </m:sub>
                        </m:sSub>
                      </m:e>
                    </m:d>
                    <m:r>
                      <a:rPr lang="en-US" altLang="zh-CN" sz="1800" b="1" i="1" smtClean="0">
                        <a:latin typeface="Cambria Math" panose="02040503050406030204"/>
                        <a:ea typeface="黑体" panose="02010609060101010101" pitchFamily="49" charset="-122"/>
                      </a:rPr>
                      <m:t>−</m:t>
                    </m:r>
                    <m:r>
                      <a:rPr lang="en-US" altLang="zh-CN" sz="1800" i="1">
                        <a:latin typeface="Cambria Math" panose="02040503050406030204"/>
                        <a:ea typeface="黑体" panose="02010609060101010101" pitchFamily="49" charset="-122"/>
                      </a:rPr>
                      <m:t>𝟑</m:t>
                    </m:r>
                  </m:oMath>
                </a14:m>
                <a:r>
                  <a:rPr lang="zh-CN" altLang="en-US" sz="1800" dirty="0" smtClean="0">
                    <a:latin typeface="Cambria Math" panose="02040503050406030204"/>
                    <a:ea typeface="黑体" panose="02010609060101010101" pitchFamily="49" charset="-122"/>
                  </a:rPr>
                  <a:t>个布尔变量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𝑼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/>
                        <a:ea typeface="黑体" panose="02010609060101010101" pitchFamily="49" charset="-122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1800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𝒚</m:t>
                            </m:r>
                          </m:e>
                          <m:sub>
                            <m:r>
                              <a:rPr lang="en-US" altLang="zh-CN" sz="1800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𝒊</m:t>
                            </m:r>
                            <m:r>
                              <a:rPr lang="en-US" altLang="zh-CN" sz="1800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1800">
                            <a:latin typeface="Cambria Math" panose="02040503050406030204"/>
                            <a:ea typeface="黑体" panose="02010609060101010101" pitchFamily="49" charset="-12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𝒚</m:t>
                            </m:r>
                          </m:e>
                          <m:sub>
                            <m:r>
                              <a:rPr lang="en-US" altLang="zh-CN" sz="1800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𝒊</m:t>
                            </m:r>
                            <m:r>
                              <a:rPr lang="en-US" altLang="zh-CN" sz="1800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sz="1800" b="1" i="1" smtClean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𝒚</m:t>
                            </m:r>
                          </m:e>
                          <m:sub>
                            <m:r>
                              <a:rPr lang="en-US" altLang="zh-CN" sz="1800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𝒊</m:t>
                            </m:r>
                            <m:r>
                              <a:rPr lang="en-US" altLang="zh-CN" sz="1800" b="1" i="1" smtClean="0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(|</m:t>
                            </m:r>
                            <m:sSub>
                              <m:sSubPr>
                                <m:ctrlPr>
                                  <a:rPr lang="en-US" altLang="zh-CN" sz="18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800" i="1">
                                    <a:latin typeface="Cambria Math" panose="02040503050406030204"/>
                                    <a:ea typeface="黑体" panose="02010609060101010101" pitchFamily="49" charset="-122"/>
                                  </a:rPr>
                                  <m:t>𝑪</m:t>
                                </m:r>
                              </m:e>
                              <m:sub>
                                <m:r>
                                  <a:rPr lang="en-US" altLang="zh-CN" sz="1800" i="1">
                                    <a:latin typeface="Cambria Math" panose="02040503050406030204"/>
                                    <a:ea typeface="黑体" panose="02010609060101010101" pitchFamily="49" charset="-122"/>
                                  </a:rPr>
                                  <m:t>𝒊</m:t>
                                </m:r>
                              </m:sub>
                            </m:sSub>
                            <m:r>
                              <a:rPr lang="en-US" altLang="zh-CN" sz="1800" b="1" i="1" smtClean="0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|−</m:t>
                            </m:r>
                            <m:r>
                              <a:rPr lang="en-US" altLang="zh-CN" sz="1800" b="1" i="1" smtClean="0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𝟑</m:t>
                            </m:r>
                            <m:r>
                              <a:rPr lang="en-US" altLang="zh-CN" sz="1800" b="1" i="1" smtClean="0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)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1800" dirty="0" smtClean="0">
                    <a:latin typeface="Cambria Math" panose="02040503050406030204"/>
                    <a:ea typeface="黑体" panose="02010609060101010101" pitchFamily="49" charset="-122"/>
                  </a:rPr>
                  <a:t>，子句变换为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zh-CN" sz="1800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SupPr>
                      <m:e>
                        <m:r>
                          <a:rPr lang="en-US" altLang="zh-CN" sz="18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𝑪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</m:sub>
                      <m:sup>
                        <m:r>
                          <a:rPr lang="en-US" altLang="zh-CN" sz="18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′</m:t>
                        </m:r>
                      </m:sup>
                    </m:sSubSup>
                    <m:r>
                      <a:rPr lang="en-US" altLang="zh-CN" sz="1800" i="1">
                        <a:latin typeface="Cambria Math" panose="02040503050406030204"/>
                        <a:ea typeface="黑体" panose="02010609060101010101" pitchFamily="49" charset="-122"/>
                      </a:rPr>
                      <m:t>=(</m:t>
                    </m:r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  <m:r>
                          <a:rPr lang="en-US" altLang="zh-CN" sz="18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𝟏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/>
                        <a:ea typeface="Cambria Math" panose="02040503050406030204"/>
                      </a:rPr>
                      <m:t>∨</m:t>
                    </m:r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  <m:r>
                          <a:rPr lang="en-US" altLang="zh-CN" sz="18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𝟐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/>
                        <a:ea typeface="Cambria Math" panose="02040503050406030204"/>
                      </a:rPr>
                      <m:t>∨</m:t>
                    </m:r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𝒚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  <m:r>
                          <a:rPr lang="en-US" altLang="zh-CN" sz="18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𝟏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/>
                        <a:ea typeface="黑体" panose="02010609060101010101" pitchFamily="49" charset="-122"/>
                      </a:rPr>
                      <m:t>)</m:t>
                    </m:r>
                    <m:r>
                      <a:rPr lang="en-US" altLang="zh-CN" sz="1800" i="1">
                        <a:latin typeface="Cambria Math" panose="02040503050406030204"/>
                        <a:ea typeface="Cambria Math" panose="02040503050406030204"/>
                      </a:rPr>
                      <m:t>∧</m:t>
                    </m:r>
                    <m:r>
                      <a:rPr lang="en-US" altLang="zh-CN" sz="1800" i="1">
                        <a:latin typeface="Cambria Math" panose="02040503050406030204"/>
                        <a:ea typeface="黑体" panose="02010609060101010101" pitchFamily="49" charset="-122"/>
                      </a:rPr>
                      <m:t>(</m:t>
                    </m:r>
                    <m:sSub>
                      <m:sSubPr>
                        <m:ctrlPr>
                          <a:rPr lang="en-US" altLang="zh-CN" sz="1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CN" sz="1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sz="1800" i="1" dirty="0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𝒚</m:t>
                            </m:r>
                          </m:e>
                        </m:acc>
                      </m:e>
                      <m:sub>
                        <m:r>
                          <a:rPr lang="en-US" altLang="zh-CN" sz="1800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  <m:r>
                          <a:rPr lang="en-US" altLang="zh-CN" sz="1800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𝟏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/>
                        <a:ea typeface="Cambria Math" panose="02040503050406030204"/>
                      </a:rPr>
                      <m:t>∨</m:t>
                    </m:r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  <m:r>
                          <a:rPr lang="en-US" altLang="zh-CN" sz="1800" b="1" i="1" smtClean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𝟑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/>
                        <a:ea typeface="Cambria Math" panose="02040503050406030204"/>
                      </a:rPr>
                      <m:t>∨</m:t>
                    </m:r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𝒚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  <m:r>
                          <a:rPr lang="en-US" altLang="zh-CN" sz="1800" b="1" i="1" smtClean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𝟐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/>
                        <a:ea typeface="黑体" panose="02010609060101010101" pitchFamily="49" charset="-122"/>
                      </a:rPr>
                      <m:t>)</m:t>
                    </m:r>
                  </m:oMath>
                </a14:m>
                <a:r>
                  <a:rPr lang="en-US" altLang="zh-CN" sz="1800" dirty="0">
                    <a:ea typeface="Cambria Math" panose="02040503050406030204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/>
                        <a:ea typeface="Cambria Math" panose="02040503050406030204"/>
                      </a:rPr>
                      <m:t>∧</m:t>
                    </m:r>
                    <m:r>
                      <a:rPr lang="en-US" altLang="zh-CN" sz="1800" b="1" i="1" smtClean="0">
                        <a:latin typeface="Cambria Math" panose="02040503050406030204"/>
                        <a:ea typeface="Cambria Math" panose="02040503050406030204"/>
                      </a:rPr>
                      <m:t>…</m:t>
                    </m:r>
                    <m:r>
                      <a:rPr lang="en-US" altLang="zh-CN" sz="1800" i="1">
                        <a:latin typeface="Cambria Math" panose="02040503050406030204"/>
                        <a:ea typeface="Cambria Math" panose="02040503050406030204"/>
                      </a:rPr>
                      <m:t>∧</m:t>
                    </m:r>
                    <m:r>
                      <a:rPr lang="en-US" altLang="zh-CN" sz="1800" i="1">
                        <a:latin typeface="Cambria Math" panose="02040503050406030204"/>
                        <a:ea typeface="黑体" panose="02010609060101010101" pitchFamily="49" charset="-122"/>
                      </a:rPr>
                      <m:t>(</m:t>
                    </m:r>
                    <m:sSub>
                      <m:sSubPr>
                        <m:ctrlPr>
                          <a:rPr lang="en-US" altLang="zh-CN" sz="1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CN" sz="1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sz="1800" i="1" dirty="0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𝒚</m:t>
                            </m:r>
                          </m:e>
                        </m:acc>
                      </m:e>
                      <m:sub>
                        <m:r>
                          <a:rPr lang="en-US" altLang="zh-CN" sz="1800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  <m:r>
                          <a:rPr lang="en-US" altLang="zh-CN" sz="1800" b="1" i="1" dirty="0" smtClean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𝒌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/>
                        <a:ea typeface="Cambria Math" panose="02040503050406030204"/>
                      </a:rPr>
                      <m:t>∨</m:t>
                    </m:r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  <m:r>
                          <a:rPr lang="en-US" altLang="zh-CN" sz="1800" b="1" i="1" smtClean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(</m:t>
                        </m:r>
                        <m:r>
                          <a:rPr lang="en-US" altLang="zh-CN" sz="1800" b="1" i="1" smtClean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𝒌</m:t>
                        </m:r>
                        <m:r>
                          <a:rPr lang="en-US" altLang="zh-CN" sz="1800" b="1" i="1" smtClean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+</m:t>
                        </m:r>
                        <m:r>
                          <a:rPr lang="en-US" altLang="zh-CN" sz="1800" b="1" i="1" smtClean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𝟐</m:t>
                        </m:r>
                        <m:r>
                          <a:rPr lang="en-US" altLang="zh-CN" sz="1800" b="1" i="1" smtClean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)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/>
                        <a:ea typeface="Cambria Math" panose="02040503050406030204"/>
                      </a:rPr>
                      <m:t>∨</m:t>
                    </m:r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𝒚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  <m:r>
                          <a:rPr lang="en-US" altLang="zh-CN" sz="1800" b="1" i="1" smtClean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(</m:t>
                        </m:r>
                        <m:r>
                          <a:rPr lang="en-US" altLang="zh-CN" sz="1800" b="1" i="1" smtClean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𝒌</m:t>
                        </m:r>
                        <m:r>
                          <a:rPr lang="en-US" altLang="zh-CN" sz="1800" b="1" i="1" smtClean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+</m:t>
                        </m:r>
                        <m:r>
                          <a:rPr lang="en-US" altLang="zh-CN" sz="1800" b="1" i="1" smtClean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𝟏</m:t>
                        </m:r>
                        <m:r>
                          <a:rPr lang="en-US" altLang="zh-CN" sz="1800" b="1" i="1" smtClean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)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/>
                        <a:ea typeface="黑体" panose="02010609060101010101" pitchFamily="49" charset="-122"/>
                      </a:rPr>
                      <m:t>)</m:t>
                    </m:r>
                  </m:oMath>
                </a14:m>
                <a:r>
                  <a:rPr lang="en-US" altLang="zh-CN" sz="1800" dirty="0">
                    <a:ea typeface="Cambria Math" panose="02040503050406030204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/>
                        <a:ea typeface="Cambria Math" panose="02040503050406030204"/>
                      </a:rPr>
                      <m:t>∧…∧</m:t>
                    </m:r>
                  </m:oMath>
                </a14:m>
                <a:r>
                  <a:rPr lang="en-US" altLang="zh-CN" sz="1800" dirty="0">
                    <a:ea typeface="黑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/>
                        <a:ea typeface="黑体" panose="02010609060101010101" pitchFamily="49" charset="-122"/>
                      </a:rPr>
                      <m:t>(</m:t>
                    </m:r>
                    <m:sSub>
                      <m:sSubPr>
                        <m:ctrlPr>
                          <a:rPr lang="en-US" altLang="zh-CN" sz="1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CN" sz="1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sz="1800" i="1" dirty="0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𝒚</m:t>
                            </m:r>
                          </m:e>
                        </m:acc>
                      </m:e>
                      <m:sub>
                        <m:r>
                          <a:rPr lang="en-US" altLang="zh-CN" sz="1800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  <m:r>
                          <a:rPr lang="en-US" altLang="zh-CN" sz="18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(|</m:t>
                        </m:r>
                        <m:sSub>
                          <m:sSub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𝑪</m:t>
                            </m:r>
                          </m:e>
                          <m:sub>
                            <m:r>
                              <a:rPr lang="en-US" altLang="zh-CN" sz="1800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𝒊</m:t>
                            </m:r>
                          </m:sub>
                        </m:sSub>
                        <m:r>
                          <a:rPr lang="en-US" altLang="zh-CN" sz="18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|−</m:t>
                        </m:r>
                        <m:r>
                          <a:rPr lang="en-US" altLang="zh-CN" sz="18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𝟑</m:t>
                        </m:r>
                        <m:r>
                          <a:rPr lang="en-US" altLang="zh-CN" sz="18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)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/>
                        <a:ea typeface="Cambria Math" panose="02040503050406030204"/>
                      </a:rPr>
                      <m:t>∨</m:t>
                    </m:r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  <m:r>
                          <a:rPr lang="en-US" altLang="zh-CN" sz="18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(|</m:t>
                        </m:r>
                        <m:sSub>
                          <m:sSub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𝑪</m:t>
                            </m:r>
                          </m:e>
                          <m:sub>
                            <m:r>
                              <a:rPr lang="en-US" altLang="zh-CN" sz="1800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𝒊</m:t>
                            </m:r>
                          </m:sub>
                        </m:sSub>
                        <m:r>
                          <a:rPr lang="en-US" altLang="zh-CN" sz="18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|−</m:t>
                        </m:r>
                        <m:r>
                          <a:rPr lang="en-US" altLang="zh-CN" sz="1800" b="1" i="1" smtClean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𝟏</m:t>
                        </m:r>
                        <m:r>
                          <a:rPr lang="en-US" altLang="zh-CN" sz="18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)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/>
                        <a:ea typeface="Cambria Math" panose="02040503050406030204"/>
                      </a:rPr>
                      <m:t>∨</m:t>
                    </m:r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800" b="1" i="1" smtClean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  <m:r>
                          <a:rPr lang="en-US" altLang="zh-CN" sz="18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|</m:t>
                        </m:r>
                        <m:sSub>
                          <m:sSub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𝑪</m:t>
                            </m:r>
                          </m:e>
                          <m:sub>
                            <m:r>
                              <a:rPr lang="en-US" altLang="zh-CN" sz="1800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𝒊</m:t>
                            </m:r>
                          </m:sub>
                        </m:sSub>
                        <m:r>
                          <a:rPr lang="en-US" altLang="zh-CN" sz="1800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|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/>
                        <a:ea typeface="黑体" panose="02010609060101010101" pitchFamily="49" charset="-122"/>
                      </a:rPr>
                      <m:t>)</m:t>
                    </m:r>
                  </m:oMath>
                </a14:m>
                <a:endParaRPr lang="en-US" altLang="zh-CN" sz="1800" i="1" dirty="0">
                  <a:latin typeface="Cambria Math" panose="02040503050406030204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376363"/>
                <a:ext cx="8229600" cy="5373687"/>
              </a:xfrm>
              <a:blipFill rotWithShape="1">
                <a:blip r:embed="rId1"/>
                <a:stretch>
                  <a:fillRect t="-6" b="-164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latin typeface="Arial" panose="02080604020202020204" pitchFamily="34" charset="0"/>
                <a:ea typeface="黑体" panose="02010609060101010101" pitchFamily="49" charset="-122"/>
              </a:rPr>
              <a:t>3CNF-SAT</a:t>
            </a:r>
            <a:r>
              <a:rPr lang="zh-CN" altLang="en-US" dirty="0" smtClean="0">
                <a:latin typeface="Arial" panose="02080604020202020204" pitchFamily="34" charset="0"/>
                <a:ea typeface="黑体" panose="02010609060101010101" pitchFamily="49" charset="-122"/>
              </a:rPr>
              <a:t>问题是</a:t>
            </a:r>
            <a:r>
              <a:rPr lang="en-US" altLang="zh-CN" dirty="0" smtClean="0">
                <a:latin typeface="Arial" panose="02080604020202020204" pitchFamily="34" charset="0"/>
                <a:ea typeface="黑体" panose="02010609060101010101" pitchFamily="49" charset="-122"/>
              </a:rPr>
              <a:t>NP</a:t>
            </a:r>
            <a:r>
              <a:rPr lang="zh-CN" altLang="en-US" dirty="0" smtClean="0">
                <a:latin typeface="Arial" panose="02080604020202020204" pitchFamily="34" charset="0"/>
                <a:ea typeface="黑体" panose="02010609060101010101" pitchFamily="49" charset="-122"/>
              </a:rPr>
              <a:t>完全问题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143510" y="1196658"/>
                <a:ext cx="8229600" cy="5373687"/>
              </a:xfrm>
            </p:spPr>
            <p:txBody>
              <a:bodyPr/>
              <a:lstStyle/>
              <a:p>
                <a:r>
                  <a:rPr lang="zh-CN" altLang="en-US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证明</a:t>
                </a:r>
                <a:endParaRPr lang="en-US" altLang="zh-CN" dirty="0">
                  <a:latin typeface="Arial" panose="02080604020202020204" pitchFamily="34" charset="0"/>
                  <a:ea typeface="黑体" panose="02010609060101010101" pitchFamily="49" charset="-122"/>
                </a:endParaRPr>
              </a:p>
              <a:p>
                <a:pPr lvl="1"/>
                <a:r>
                  <a:rPr lang="zh-CN" altLang="en-US" sz="24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显然</a:t>
                </a:r>
                <a:r>
                  <a:rPr lang="en-US" altLang="zh-CN" sz="24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3CNF-SAT</a:t>
                </a:r>
                <a:r>
                  <a:rPr lang="zh-CN" altLang="en-US" sz="24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是</a:t>
                </a:r>
                <a:r>
                  <a:rPr lang="en-US" altLang="zh-CN" sz="24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NP</a:t>
                </a:r>
                <a:r>
                  <a:rPr lang="zh-CN" altLang="en-US" sz="24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问题</a:t>
                </a:r>
                <a:r>
                  <a:rPr lang="en-US" altLang="zh-CN" sz="24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(</a:t>
                </a:r>
                <a:r>
                  <a:rPr lang="zh-CN" altLang="en-US" sz="24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多项式时间可判定</a:t>
                </a:r>
                <a:r>
                  <a:rPr lang="en-US" altLang="zh-CN" sz="24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)</a:t>
                </a:r>
                <a:endParaRPr lang="en-US" altLang="zh-CN" sz="2400" dirty="0" smtClean="0">
                  <a:latin typeface="Arial" panose="02080604020202020204" pitchFamily="34" charset="0"/>
                  <a:ea typeface="黑体" panose="02010609060101010101" pitchFamily="49" charset="-122"/>
                </a:endParaRPr>
              </a:p>
              <a:p>
                <a:pPr lvl="1"/>
                <a:r>
                  <a:rPr lang="zh-CN" altLang="en-US" sz="20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将</a:t>
                </a:r>
                <a:r>
                  <a:rPr lang="en-US" altLang="zh-CN" sz="20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CNF-SAT</a:t>
                </a:r>
                <a:r>
                  <a:rPr lang="zh-CN" altLang="en-US" sz="20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归约</a:t>
                </a:r>
                <a:r>
                  <a:rPr lang="en-US" altLang="zh-CN" sz="20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(</a:t>
                </a:r>
                <a:r>
                  <a:rPr lang="zh-CN" altLang="en-US" sz="20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多项式时间转换</a:t>
                </a:r>
                <a:r>
                  <a:rPr lang="en-US" altLang="zh-CN" sz="20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)</a:t>
                </a:r>
                <a:r>
                  <a:rPr lang="zh-CN" altLang="en-US" sz="20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到某</a:t>
                </a:r>
                <a:r>
                  <a:rPr lang="en-US" altLang="zh-CN" sz="20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3CNF-SAT</a:t>
                </a:r>
                <a:r>
                  <a:rPr lang="zh-CN" altLang="en-US" sz="20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实例</a:t>
                </a:r>
                <a:endParaRPr lang="en-US" altLang="zh-CN" sz="2000" dirty="0" smtClean="0">
                  <a:latin typeface="Arial" panose="02080604020202020204" pitchFamily="34" charset="0"/>
                  <a:ea typeface="黑体" panose="02010609060101010101" pitchFamily="49" charset="-122"/>
                </a:endParaRPr>
              </a:p>
              <a:p>
                <a:pPr lvl="1"/>
                <a:r>
                  <a:rPr lang="zh-CN" altLang="en-US" sz="2000" dirty="0" smtClean="0">
                    <a:latin typeface="Cambria Math" panose="02040503050406030204"/>
                    <a:ea typeface="黑体" panose="02010609060101010101" pitchFamily="49" charset="-122"/>
                  </a:rPr>
                  <a:t>证明</a:t>
                </a:r>
                <a:r>
                  <a:rPr lang="en-US" altLang="zh-CN" sz="20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CNF-SAT</a:t>
                </a:r>
                <a:r>
                  <a:rPr lang="zh-CN" altLang="en-US" sz="20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可满足当且仅当构造的</a:t>
                </a:r>
                <a:r>
                  <a:rPr lang="en-US" altLang="zh-CN" sz="20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3CNF-SAT</a:t>
                </a:r>
                <a:r>
                  <a:rPr lang="zh-CN" altLang="en-US" sz="20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可满足</a:t>
                </a:r>
                <a:endParaRPr lang="en-US" altLang="zh-CN" sz="2000" dirty="0" smtClean="0">
                  <a:latin typeface="Arial" panose="02080604020202020204" pitchFamily="34" charset="0"/>
                  <a:ea typeface="黑体" panose="02010609060101010101" pitchFamily="49" charset="-122"/>
                </a:endParaRPr>
              </a:p>
              <a:p>
                <a:pPr lvl="2"/>
                <a:r>
                  <a:rPr lang="zh-CN" altLang="en-US" sz="18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必要性：</a:t>
                </a:r>
                <a:r>
                  <a:rPr lang="en-US" altLang="zh-CN" sz="1800" dirty="0">
                    <a:latin typeface="Arial" panose="02080604020202020204" pitchFamily="34" charset="0"/>
                    <a:ea typeface="黑体" panose="02010609060101010101" pitchFamily="49" charset="-122"/>
                  </a:rPr>
                  <a:t> CNF-SAT</a:t>
                </a:r>
                <a:r>
                  <a:rPr lang="zh-CN" altLang="en-US" sz="1800" dirty="0">
                    <a:latin typeface="Arial" panose="02080604020202020204" pitchFamily="34" charset="0"/>
                    <a:ea typeface="黑体" panose="02010609060101010101" pitchFamily="49" charset="-122"/>
                  </a:rPr>
                  <a:t>可</a:t>
                </a:r>
                <a:r>
                  <a:rPr lang="zh-CN" altLang="en-US" sz="18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满足</a:t>
                </a:r>
                <a:r>
                  <a:rPr lang="en-US" altLang="zh-CN" sz="18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(</a:t>
                </a:r>
                <a:r>
                  <a:rPr lang="zh-CN" altLang="en-US" sz="18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每个子句都可满足</a:t>
                </a:r>
                <a:r>
                  <a:rPr lang="en-US" altLang="zh-CN" sz="18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)</a:t>
                </a:r>
                <a:r>
                  <a:rPr lang="zh-CN" altLang="en-US" sz="18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，</a:t>
                </a:r>
                <a:r>
                  <a:rPr lang="en-US" altLang="zh-CN" sz="1800" dirty="0">
                    <a:latin typeface="Arial" panose="02080604020202020204" pitchFamily="34" charset="0"/>
                    <a:ea typeface="黑体" panose="02010609060101010101" pitchFamily="49" charset="-122"/>
                  </a:rPr>
                  <a:t> </a:t>
                </a:r>
                <a:r>
                  <a:rPr lang="zh-CN" altLang="en-US" sz="18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则</a:t>
                </a:r>
                <a:r>
                  <a:rPr lang="en-US" altLang="zh-CN" sz="18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3CNF-SAT</a:t>
                </a:r>
                <a:r>
                  <a:rPr lang="zh-CN" altLang="en-US" sz="18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可满足</a:t>
                </a:r>
                <a:r>
                  <a:rPr lang="en-US" altLang="zh-CN" sz="18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 </a:t>
                </a:r>
                <a:r>
                  <a:rPr lang="zh-CN" altLang="en-US" sz="18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。</a:t>
                </a:r>
                <a:r>
                  <a:rPr lang="en-US" altLang="zh-CN" sz="1800" dirty="0" smtClean="0">
                    <a:ea typeface="黑体" panose="02010609060101010101" pitchFamily="49" charset="-122"/>
                  </a:rPr>
                  <a:t> </a:t>
                </a:r>
                <a:endParaRPr lang="en-US" altLang="zh-CN" sz="1800" dirty="0" smtClean="0">
                  <a:ea typeface="黑体" panose="02010609060101010101" pitchFamily="49" charset="-122"/>
                </a:endParaRPr>
              </a:p>
              <a:p>
                <a:pPr lvl="3"/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16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600" b="1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600" b="1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𝑪</m:t>
                            </m:r>
                          </m:e>
                          <m:sub>
                            <m:r>
                              <a:rPr lang="en-US" altLang="zh-CN" sz="1600" b="1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𝒊</m:t>
                            </m:r>
                          </m:sub>
                        </m:sSub>
                      </m:e>
                    </m:d>
                    <m:r>
                      <a:rPr lang="en-US" altLang="zh-CN" sz="1600" b="1" i="1">
                        <a:latin typeface="Cambria Math" panose="02040503050406030204"/>
                        <a:ea typeface="黑体" panose="02010609060101010101" pitchFamily="49" charset="-122"/>
                      </a:rPr>
                      <m:t>=</m:t>
                    </m:r>
                    <m:r>
                      <a:rPr lang="en-US" altLang="zh-CN" sz="1600" b="1" i="1">
                        <a:latin typeface="Cambria Math" panose="02040503050406030204"/>
                        <a:ea typeface="黑体" panose="02010609060101010101" pitchFamily="49" charset="-122"/>
                      </a:rPr>
                      <m:t>𝟏</m:t>
                    </m:r>
                  </m:oMath>
                </a14:m>
                <a:r>
                  <a:rPr lang="zh-CN" altLang="en-US" sz="1600" b="1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时可满足</a:t>
                </a:r>
                <a:r>
                  <a:rPr lang="en-US" altLang="zh-CN" sz="1600" b="1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,</a:t>
                </a:r>
                <a:r>
                  <a:rPr lang="en-US" altLang="zh-CN" sz="1600" b="1" dirty="0" smtClean="0">
                    <a:ea typeface="黑体" panose="02010609060101010101" pitchFamily="49" charset="-122"/>
                  </a:rPr>
                  <a:t> </a:t>
                </a:r>
                <a:r>
                  <a:rPr lang="zh-CN" altLang="en-US" sz="1600" b="1" dirty="0" smtClean="0">
                    <a:ea typeface="黑体" panose="02010609060101010101" pitchFamily="49" charset="-122"/>
                  </a:rPr>
                  <a:t>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6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𝑪</m:t>
                        </m:r>
                      </m:e>
                      <m:sub>
                        <m:r>
                          <a:rPr lang="en-US" altLang="zh-CN" sz="16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</m:sub>
                    </m:sSub>
                    <m:r>
                      <a:rPr lang="en-US" altLang="zh-CN" sz="1600" b="1" i="1">
                        <a:latin typeface="Cambria Math" panose="02040503050406030204"/>
                        <a:ea typeface="黑体" panose="02010609060101010101" pitchFamily="49" charset="-122"/>
                      </a:rPr>
                      <m:t>=</m:t>
                    </m:r>
                    <m:sSub>
                      <m:sSubPr>
                        <m:ctrlPr>
                          <a:rPr lang="en-US" altLang="zh-CN" sz="16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6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16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  <m:r>
                          <a:rPr lang="en-US" altLang="zh-CN" sz="16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𝟏</m:t>
                        </m:r>
                      </m:sub>
                    </m:sSub>
                    <m:r>
                      <a:rPr lang="en-US" altLang="zh-CN" sz="1600" b="1" i="1" smtClean="0">
                        <a:latin typeface="Cambria Math" panose="02040503050406030204"/>
                        <a:ea typeface="黑体" panose="02010609060101010101" pitchFamily="49" charset="-122"/>
                      </a:rPr>
                      <m:t>=</m:t>
                    </m:r>
                    <m:r>
                      <a:rPr lang="en-US" altLang="zh-CN" sz="1600" b="1" i="1" smtClean="0">
                        <a:latin typeface="Cambria Math" panose="02040503050406030204"/>
                        <a:ea typeface="黑体" panose="02010609060101010101" pitchFamily="49" charset="-122"/>
                      </a:rPr>
                      <m:t>𝟏</m:t>
                    </m:r>
                  </m:oMath>
                </a14:m>
                <a:r>
                  <a:rPr lang="zh-CN" altLang="en-US" sz="1600" b="1" dirty="0" smtClean="0">
                    <a:latin typeface="Cambria Math" panose="02040503050406030204"/>
                    <a:ea typeface="黑体" panose="02010609060101010101" pitchFamily="49" charset="-122"/>
                  </a:rPr>
                  <a:t>，得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zh-CN" sz="16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SupPr>
                      <m:e>
                        <m:r>
                          <a:rPr lang="en-US" altLang="zh-CN" sz="16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𝑪</m:t>
                        </m:r>
                      </m:e>
                      <m:sub>
                        <m:r>
                          <a:rPr lang="en-US" altLang="zh-CN" sz="16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</m:sub>
                      <m:sup>
                        <m:r>
                          <a:rPr lang="en-US" altLang="zh-CN" sz="16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′</m:t>
                        </m:r>
                      </m:sup>
                    </m:sSubSup>
                    <m:r>
                      <a:rPr lang="en-US" altLang="zh-CN" sz="1600" b="1" i="1">
                        <a:latin typeface="Cambria Math" panose="02040503050406030204"/>
                        <a:ea typeface="黑体" panose="02010609060101010101" pitchFamily="49" charset="-122"/>
                      </a:rPr>
                      <m:t>=</m:t>
                    </m:r>
                    <m:d>
                      <m:dPr>
                        <m:ctrlPr>
                          <a:rPr lang="en-US" altLang="zh-CN" sz="16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600" b="1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600" b="1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1600" b="1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𝒊</m:t>
                            </m:r>
                            <m:r>
                              <a:rPr lang="en-US" altLang="zh-CN" sz="1600" b="1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1600" b="1" i="1">
                            <a:latin typeface="Cambria Math" panose="02040503050406030204"/>
                            <a:ea typeface="Cambria Math" panose="02040503050406030204"/>
                          </a:rPr>
                          <m:t>∨</m:t>
                        </m:r>
                        <m:sSub>
                          <m:sSubPr>
                            <m:ctrlPr>
                              <a:rPr lang="en-US" altLang="zh-CN" sz="1600" b="1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600" b="1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𝒚</m:t>
                            </m:r>
                          </m:e>
                          <m:sub>
                            <m:r>
                              <a:rPr lang="en-US" altLang="zh-CN" sz="1600" b="1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𝒊</m:t>
                            </m:r>
                            <m:r>
                              <a:rPr lang="en-US" altLang="zh-CN" sz="1600" b="1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1600" b="1" i="1">
                            <a:latin typeface="Cambria Math" panose="02040503050406030204"/>
                            <a:ea typeface="Cambria Math" panose="02040503050406030204"/>
                          </a:rPr>
                          <m:t>∨</m:t>
                        </m:r>
                        <m:sSub>
                          <m:sSubPr>
                            <m:ctrlPr>
                              <a:rPr lang="en-US" altLang="zh-CN" sz="1600" b="1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600" b="1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𝒚</m:t>
                            </m:r>
                          </m:e>
                          <m:sub>
                            <m:r>
                              <a:rPr lang="en-US" altLang="zh-CN" sz="1600" b="1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𝒊</m:t>
                            </m:r>
                            <m:r>
                              <a:rPr lang="en-US" altLang="zh-CN" sz="1600" b="1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𝟐</m:t>
                            </m:r>
                          </m:sub>
                        </m:sSub>
                      </m:e>
                    </m:d>
                    <m:r>
                      <a:rPr lang="en-US" altLang="zh-CN" sz="1600" b="1" i="1">
                        <a:latin typeface="Cambria Math" panose="02040503050406030204"/>
                        <a:ea typeface="Cambria Math" panose="02040503050406030204"/>
                      </a:rPr>
                      <m:t>∧</m:t>
                    </m:r>
                    <m:d>
                      <m:dPr>
                        <m:ctrlPr>
                          <a:rPr lang="en-US" altLang="zh-CN" sz="16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600" b="1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600" b="1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1600" b="1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𝒊</m:t>
                            </m:r>
                            <m:r>
                              <a:rPr lang="en-US" altLang="zh-CN" sz="1600" b="1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1600" b="1" i="1">
                            <a:latin typeface="Cambria Math" panose="02040503050406030204"/>
                            <a:ea typeface="Cambria Math" panose="02040503050406030204"/>
                          </a:rPr>
                          <m:t>∨</m:t>
                        </m:r>
                        <m:sSub>
                          <m:sSubPr>
                            <m:ctrlPr>
                              <a:rPr lang="en-US" altLang="zh-CN" sz="1600" b="1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600" b="1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𝒚</m:t>
                            </m:r>
                          </m:e>
                          <m:sub>
                            <m:r>
                              <a:rPr lang="en-US" altLang="zh-CN" sz="1600" b="1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𝒊</m:t>
                            </m:r>
                            <m:r>
                              <a:rPr lang="en-US" altLang="zh-CN" sz="1600" b="1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1600" b="1" i="1">
                            <a:latin typeface="Cambria Math" panose="02040503050406030204"/>
                            <a:ea typeface="Cambria Math" panose="02040503050406030204"/>
                          </a:rPr>
                          <m:t>∨</m:t>
                        </m:r>
                        <m:sSub>
                          <m:sSubPr>
                            <m:ctrlPr>
                              <a:rPr lang="en-US" altLang="zh-CN" sz="1600" b="1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altLang="zh-CN" sz="1600" b="1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1600" b="1" i="1" dirty="0">
                                    <a:latin typeface="Cambria Math" panose="02040503050406030204"/>
                                    <a:ea typeface="黑体" panose="02010609060101010101" pitchFamily="49" charset="-122"/>
                                  </a:rPr>
                                  <m:t>𝒚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1600" b="1" i="1" dirty="0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𝒊</m:t>
                            </m:r>
                            <m:r>
                              <a:rPr lang="en-US" altLang="zh-CN" sz="1600" b="1" i="1" dirty="0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𝟐</m:t>
                            </m:r>
                          </m:sub>
                        </m:sSub>
                      </m:e>
                    </m:d>
                    <m:r>
                      <a:rPr lang="en-US" altLang="zh-CN" sz="1600" b="1" i="1">
                        <a:latin typeface="Cambria Math" panose="02040503050406030204"/>
                        <a:ea typeface="Cambria Math" panose="02040503050406030204"/>
                      </a:rPr>
                      <m:t>∧</m:t>
                    </m:r>
                    <m:d>
                      <m:dPr>
                        <m:ctrlPr>
                          <a:rPr lang="en-US" altLang="zh-CN" sz="1600" b="1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600" b="1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600" b="1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1600" b="1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𝒊</m:t>
                            </m:r>
                            <m:r>
                              <a:rPr lang="en-US" altLang="zh-CN" sz="1600" b="1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1600" b="1" i="1">
                            <a:latin typeface="Cambria Math" panose="02040503050406030204"/>
                            <a:ea typeface="Cambria Math" panose="02040503050406030204"/>
                          </a:rPr>
                          <m:t>∨</m:t>
                        </m:r>
                        <m:sSub>
                          <m:sSubPr>
                            <m:ctrlPr>
                              <a:rPr lang="en-US" altLang="zh-CN" sz="1600" b="1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altLang="zh-CN" sz="1600" b="1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1600" b="1" i="1" dirty="0">
                                    <a:latin typeface="Cambria Math" panose="02040503050406030204"/>
                                    <a:ea typeface="黑体" panose="02010609060101010101" pitchFamily="49" charset="-122"/>
                                  </a:rPr>
                                  <m:t>𝒚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1600" b="1" i="1" dirty="0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𝒊</m:t>
                            </m:r>
                            <m:r>
                              <a:rPr lang="en-US" altLang="zh-CN" sz="1600" b="1" i="1" dirty="0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1600" b="1" i="1">
                            <a:latin typeface="Cambria Math" panose="02040503050406030204"/>
                            <a:ea typeface="Cambria Math" panose="02040503050406030204"/>
                          </a:rPr>
                          <m:t>∨</m:t>
                        </m:r>
                        <m:sSub>
                          <m:sSubPr>
                            <m:ctrlPr>
                              <a:rPr lang="en-US" altLang="zh-CN" sz="1600" b="1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600" b="1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𝒚</m:t>
                            </m:r>
                          </m:e>
                          <m:sub>
                            <m:r>
                              <a:rPr lang="en-US" altLang="zh-CN" sz="1600" b="1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𝒊</m:t>
                            </m:r>
                            <m:r>
                              <a:rPr lang="en-US" altLang="zh-CN" sz="1600" b="1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𝟐</m:t>
                            </m:r>
                          </m:sub>
                        </m:sSub>
                      </m:e>
                    </m:d>
                    <m:r>
                      <a:rPr lang="en-US" altLang="zh-CN" sz="1600" b="1" i="1">
                        <a:latin typeface="Cambria Math" panose="02040503050406030204"/>
                        <a:ea typeface="Cambria Math" panose="02040503050406030204"/>
                      </a:rPr>
                      <m:t>∧</m:t>
                    </m:r>
                    <m:d>
                      <m:dPr>
                        <m:ctrlPr>
                          <a:rPr lang="en-US" altLang="zh-CN" sz="16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600" b="1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600" b="1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1600" b="1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𝒊</m:t>
                            </m:r>
                            <m:r>
                              <a:rPr lang="en-US" altLang="zh-CN" sz="1600" b="1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1600" b="1" i="1">
                            <a:latin typeface="Cambria Math" panose="02040503050406030204"/>
                            <a:ea typeface="Cambria Math" panose="02040503050406030204"/>
                          </a:rPr>
                          <m:t>∨</m:t>
                        </m:r>
                        <m:sSub>
                          <m:sSubPr>
                            <m:ctrlPr>
                              <a:rPr lang="en-US" altLang="zh-CN" sz="1600" b="1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altLang="zh-CN" sz="1600" b="1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1600" b="1" i="1" dirty="0">
                                    <a:latin typeface="Cambria Math" panose="02040503050406030204"/>
                                    <a:ea typeface="黑体" panose="02010609060101010101" pitchFamily="49" charset="-122"/>
                                  </a:rPr>
                                  <m:t>𝒚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1600" b="1" i="1" dirty="0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𝒊</m:t>
                            </m:r>
                            <m:r>
                              <a:rPr lang="en-US" altLang="zh-CN" sz="1600" b="1" i="1" dirty="0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1600" b="1" i="1">
                            <a:latin typeface="Cambria Math" panose="02040503050406030204"/>
                            <a:ea typeface="Cambria Math" panose="02040503050406030204"/>
                          </a:rPr>
                          <m:t>∨</m:t>
                        </m:r>
                        <m:sSub>
                          <m:sSubPr>
                            <m:ctrlPr>
                              <a:rPr lang="en-US" altLang="zh-CN" sz="1600" b="1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altLang="zh-CN" sz="1600" b="1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1600" b="1" i="1" dirty="0">
                                    <a:latin typeface="Cambria Math" panose="02040503050406030204"/>
                                    <a:ea typeface="黑体" panose="02010609060101010101" pitchFamily="49" charset="-122"/>
                                  </a:rPr>
                                  <m:t>𝒚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1600" b="1" i="1" dirty="0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𝒊</m:t>
                            </m:r>
                            <m:r>
                              <a:rPr lang="en-US" altLang="zh-CN" sz="1600" b="1" i="1" dirty="0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𝟐</m:t>
                            </m:r>
                          </m:sub>
                        </m:sSub>
                      </m:e>
                    </m:d>
                    <m:r>
                      <a:rPr lang="en-US" altLang="zh-CN" sz="1600" b="1" i="1" smtClean="0">
                        <a:latin typeface="Cambria Math" panose="02040503050406030204"/>
                        <a:ea typeface="黑体" panose="02010609060101010101" pitchFamily="49" charset="-122"/>
                      </a:rPr>
                      <m:t>=</m:t>
                    </m:r>
                    <m:r>
                      <a:rPr lang="en-US" altLang="zh-CN" sz="1600" b="1" i="1" smtClean="0">
                        <a:latin typeface="Cambria Math" panose="02040503050406030204"/>
                        <a:ea typeface="黑体" panose="02010609060101010101" pitchFamily="49" charset="-122"/>
                      </a:rPr>
                      <m:t>𝟏</m:t>
                    </m:r>
                  </m:oMath>
                </a14:m>
                <a:endParaRPr lang="en-US" altLang="zh-CN" sz="1600" b="1" dirty="0" smtClean="0">
                  <a:latin typeface="Cambria Math" panose="02040503050406030204"/>
                  <a:ea typeface="黑体" panose="02010609060101010101" pitchFamily="49" charset="-122"/>
                </a:endParaRPr>
              </a:p>
              <a:p>
                <a:pPr lvl="3"/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16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600" b="1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600" b="1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𝑪</m:t>
                            </m:r>
                          </m:e>
                          <m:sub>
                            <m:r>
                              <a:rPr lang="en-US" altLang="zh-CN" sz="1600" b="1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𝒊</m:t>
                            </m:r>
                          </m:sub>
                        </m:sSub>
                      </m:e>
                    </m:d>
                    <m:r>
                      <a:rPr lang="en-US" altLang="zh-CN" sz="1600" b="1" i="1">
                        <a:latin typeface="Cambria Math" panose="02040503050406030204"/>
                        <a:ea typeface="黑体" panose="02010609060101010101" pitchFamily="49" charset="-122"/>
                      </a:rPr>
                      <m:t>=</m:t>
                    </m:r>
                    <m:r>
                      <a:rPr lang="en-US" altLang="zh-CN" sz="1600" b="1" i="1">
                        <a:latin typeface="Cambria Math" panose="02040503050406030204"/>
                        <a:ea typeface="黑体" panose="02010609060101010101" pitchFamily="49" charset="-122"/>
                      </a:rPr>
                      <m:t>𝟐</m:t>
                    </m:r>
                  </m:oMath>
                </a14:m>
                <a:r>
                  <a:rPr lang="zh-CN" altLang="en-US" sz="1600" b="1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时可满足</a:t>
                </a:r>
                <a:r>
                  <a:rPr lang="en-US" altLang="zh-CN" sz="1600" b="1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, </a:t>
                </a:r>
                <a:r>
                  <a:rPr lang="zh-CN" altLang="en-US" sz="1600" b="1" dirty="0">
                    <a:latin typeface="Arial" panose="02080604020202020204" pitchFamily="34" charset="0"/>
                    <a:ea typeface="黑体" panose="02010609060101010101" pitchFamily="49" charset="-122"/>
                  </a:rPr>
                  <a:t>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6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𝑪</m:t>
                        </m:r>
                      </m:e>
                      <m:sub>
                        <m:r>
                          <a:rPr lang="en-US" altLang="zh-CN" sz="16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</m:sub>
                    </m:sSub>
                    <m:r>
                      <a:rPr lang="en-US" altLang="zh-CN" sz="1600" b="1" i="1">
                        <a:latin typeface="Cambria Math" panose="02040503050406030204"/>
                        <a:ea typeface="黑体" panose="02010609060101010101" pitchFamily="49" charset="-122"/>
                      </a:rPr>
                      <m:t>=</m:t>
                    </m:r>
                    <m:sSub>
                      <m:sSubPr>
                        <m:ctrlPr>
                          <a:rPr lang="en-US" altLang="zh-CN" sz="16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6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16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  <m:r>
                          <a:rPr lang="en-US" altLang="zh-CN" sz="16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𝟏</m:t>
                        </m:r>
                      </m:sub>
                    </m:sSub>
                    <m:r>
                      <a:rPr lang="en-US" altLang="zh-CN" sz="1600" b="1" i="1">
                        <a:latin typeface="Cambria Math" panose="02040503050406030204"/>
                        <a:ea typeface="Cambria Math" panose="02040503050406030204"/>
                      </a:rPr>
                      <m:t>∨</m:t>
                    </m:r>
                    <m:sSub>
                      <m:sSubPr>
                        <m:ctrlPr>
                          <a:rPr lang="en-US" altLang="zh-CN" sz="16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6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16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  <m:r>
                          <a:rPr lang="en-US" altLang="zh-CN" sz="16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𝟐</m:t>
                        </m:r>
                      </m:sub>
                    </m:sSub>
                    <m:r>
                      <a:rPr lang="en-US" altLang="zh-CN" sz="1600" b="1" i="0" smtClean="0">
                        <a:latin typeface="Cambria Math" panose="02040503050406030204"/>
                        <a:ea typeface="黑体" panose="02010609060101010101" pitchFamily="49" charset="-122"/>
                      </a:rPr>
                      <m:t>=</m:t>
                    </m:r>
                    <m:r>
                      <a:rPr lang="en-US" altLang="zh-CN" sz="1600" b="1" i="0" smtClean="0">
                        <a:latin typeface="Cambria Math" panose="02040503050406030204"/>
                        <a:ea typeface="黑体" panose="02010609060101010101" pitchFamily="49" charset="-122"/>
                      </a:rPr>
                      <m:t>𝟏</m:t>
                    </m:r>
                  </m:oMath>
                </a14:m>
                <a:r>
                  <a:rPr lang="zh-CN" altLang="en-US" sz="1600" b="1" dirty="0" smtClean="0">
                    <a:latin typeface="Cambria Math" panose="02040503050406030204"/>
                    <a:ea typeface="黑体" panose="02010609060101010101" pitchFamily="49" charset="-122"/>
                  </a:rPr>
                  <a:t>，得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zh-CN" sz="16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SupPr>
                      <m:e>
                        <m:r>
                          <a:rPr lang="en-US" altLang="zh-CN" sz="16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𝑪</m:t>
                        </m:r>
                      </m:e>
                      <m:sub>
                        <m:r>
                          <a:rPr lang="en-US" altLang="zh-CN" sz="16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</m:sub>
                      <m:sup>
                        <m:r>
                          <a:rPr lang="en-US" altLang="zh-CN" sz="16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′</m:t>
                        </m:r>
                      </m:sup>
                    </m:sSubSup>
                    <m:r>
                      <a:rPr lang="en-US" altLang="zh-CN" sz="1600" b="1" i="1">
                        <a:latin typeface="Cambria Math" panose="02040503050406030204"/>
                        <a:ea typeface="黑体" panose="02010609060101010101" pitchFamily="49" charset="-122"/>
                      </a:rPr>
                      <m:t>=</m:t>
                    </m:r>
                    <m:d>
                      <m:dPr>
                        <m:ctrlPr>
                          <a:rPr lang="en-US" altLang="zh-CN" sz="16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600" b="1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600" b="1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1600" b="1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𝒊</m:t>
                            </m:r>
                            <m:r>
                              <a:rPr lang="en-US" altLang="zh-CN" sz="1600" b="1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1600" b="1" i="1">
                            <a:latin typeface="Cambria Math" panose="02040503050406030204"/>
                            <a:ea typeface="Cambria Math" panose="02040503050406030204"/>
                          </a:rPr>
                          <m:t>∨</m:t>
                        </m:r>
                        <m:sSub>
                          <m:sSubPr>
                            <m:ctrlPr>
                              <a:rPr lang="en-US" altLang="zh-CN" sz="1600" b="1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600" b="1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1600" b="1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𝒊</m:t>
                            </m:r>
                            <m:r>
                              <a:rPr lang="en-US" altLang="zh-CN" sz="1600" b="1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sz="1600" b="1" i="1">
                            <a:latin typeface="Cambria Math" panose="02040503050406030204"/>
                            <a:ea typeface="Cambria Math" panose="02040503050406030204"/>
                          </a:rPr>
                          <m:t>∨</m:t>
                        </m:r>
                        <m:sSub>
                          <m:sSubPr>
                            <m:ctrlPr>
                              <a:rPr lang="en-US" altLang="zh-CN" sz="1600" b="1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600" b="1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𝒚</m:t>
                            </m:r>
                          </m:e>
                          <m:sub>
                            <m:r>
                              <a:rPr lang="en-US" altLang="zh-CN" sz="1600" b="1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𝒊</m:t>
                            </m:r>
                            <m:r>
                              <a:rPr lang="en-US" altLang="zh-CN" sz="1600" b="1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US" altLang="zh-CN" sz="1600" b="1" i="1">
                        <a:latin typeface="Cambria Math" panose="02040503050406030204"/>
                        <a:ea typeface="Cambria Math" panose="02040503050406030204"/>
                      </a:rPr>
                      <m:t>∧</m:t>
                    </m:r>
                    <m:d>
                      <m:dPr>
                        <m:ctrlPr>
                          <a:rPr lang="en-US" altLang="zh-CN" sz="16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600" b="1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600" b="1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1600" b="1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𝒊</m:t>
                            </m:r>
                            <m:r>
                              <a:rPr lang="en-US" altLang="zh-CN" sz="1600" b="1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1600" b="1" i="1">
                            <a:latin typeface="Cambria Math" panose="02040503050406030204"/>
                            <a:ea typeface="Cambria Math" panose="02040503050406030204"/>
                          </a:rPr>
                          <m:t>∨</m:t>
                        </m:r>
                        <m:sSub>
                          <m:sSubPr>
                            <m:ctrlPr>
                              <a:rPr lang="en-US" altLang="zh-CN" sz="1600" b="1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600" b="1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1600" b="1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𝒊</m:t>
                            </m:r>
                            <m:r>
                              <a:rPr lang="en-US" altLang="zh-CN" sz="1600" b="1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sz="1600" b="1" i="1">
                            <a:latin typeface="Cambria Math" panose="02040503050406030204"/>
                            <a:ea typeface="Cambria Math" panose="02040503050406030204"/>
                          </a:rPr>
                          <m:t>∨</m:t>
                        </m:r>
                        <m:sSub>
                          <m:sSubPr>
                            <m:ctrlPr>
                              <a:rPr lang="en-US" altLang="zh-CN" sz="1600" b="1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altLang="zh-CN" sz="1600" b="1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1600" b="1" i="1" dirty="0">
                                    <a:latin typeface="Cambria Math" panose="02040503050406030204"/>
                                    <a:ea typeface="黑体" panose="02010609060101010101" pitchFamily="49" charset="-122"/>
                                  </a:rPr>
                                  <m:t>𝒚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1600" b="1" i="1" dirty="0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𝒊</m:t>
                            </m:r>
                            <m:r>
                              <a:rPr lang="en-US" altLang="zh-CN" sz="1600" b="1" i="1" dirty="0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US" altLang="zh-CN" sz="1600" b="1" i="1" smtClean="0">
                        <a:latin typeface="Cambria Math" panose="02040503050406030204"/>
                        <a:ea typeface="黑体" panose="02010609060101010101" pitchFamily="49" charset="-122"/>
                      </a:rPr>
                      <m:t>=</m:t>
                    </m:r>
                    <m:r>
                      <a:rPr lang="en-US" altLang="zh-CN" sz="1600" b="1" i="1" smtClean="0">
                        <a:latin typeface="Cambria Math" panose="02040503050406030204"/>
                        <a:ea typeface="黑体" panose="02010609060101010101" pitchFamily="49" charset="-122"/>
                      </a:rPr>
                      <m:t>𝟏</m:t>
                    </m:r>
                  </m:oMath>
                </a14:m>
                <a:endParaRPr lang="en-US" altLang="zh-CN" sz="1600" b="1" dirty="0" smtClean="0">
                  <a:latin typeface="Cambria Math" panose="02040503050406030204"/>
                  <a:ea typeface="黑体" panose="02010609060101010101" pitchFamily="49" charset="-122"/>
                </a:endParaRPr>
              </a:p>
              <a:p>
                <a:pPr lvl="3"/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16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600" b="1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600" b="1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𝑪</m:t>
                            </m:r>
                          </m:e>
                          <m:sub>
                            <m:r>
                              <a:rPr lang="en-US" altLang="zh-CN" sz="1600" b="1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𝒊</m:t>
                            </m:r>
                          </m:sub>
                        </m:sSub>
                      </m:e>
                    </m:d>
                    <m:r>
                      <a:rPr lang="en-US" altLang="zh-CN" sz="1600" b="1" i="1">
                        <a:latin typeface="Cambria Math" panose="02040503050406030204"/>
                        <a:ea typeface="黑体" panose="02010609060101010101" pitchFamily="49" charset="-122"/>
                      </a:rPr>
                      <m:t>=</m:t>
                    </m:r>
                    <m:r>
                      <a:rPr lang="en-US" altLang="zh-CN" sz="1600" b="1" i="1" smtClean="0">
                        <a:latin typeface="Cambria Math" panose="02040503050406030204"/>
                        <a:ea typeface="黑体" panose="02010609060101010101" pitchFamily="49" charset="-122"/>
                      </a:rPr>
                      <m:t>𝟑</m:t>
                    </m:r>
                  </m:oMath>
                </a14:m>
                <a:r>
                  <a:rPr lang="zh-CN" altLang="en-US" sz="1600" b="1" dirty="0">
                    <a:latin typeface="Arial" panose="02080604020202020204" pitchFamily="34" charset="0"/>
                    <a:ea typeface="黑体" panose="02010609060101010101" pitchFamily="49" charset="-122"/>
                  </a:rPr>
                  <a:t>时可满足</a:t>
                </a:r>
                <a:r>
                  <a:rPr lang="en-US" altLang="zh-CN" sz="1600" b="1" dirty="0">
                    <a:latin typeface="Arial" panose="02080604020202020204" pitchFamily="34" charset="0"/>
                    <a:ea typeface="黑体" panose="02010609060101010101" pitchFamily="49" charset="-122"/>
                  </a:rPr>
                  <a:t>, </a:t>
                </a:r>
                <a:r>
                  <a:rPr lang="zh-CN" altLang="en-US" sz="1600" b="1" dirty="0">
                    <a:latin typeface="Arial" panose="02080604020202020204" pitchFamily="34" charset="0"/>
                    <a:ea typeface="黑体" panose="02010609060101010101" pitchFamily="49" charset="-122"/>
                  </a:rPr>
                  <a:t>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6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𝑪</m:t>
                        </m:r>
                      </m:e>
                      <m:sub>
                        <m:r>
                          <a:rPr lang="en-US" altLang="zh-CN" sz="16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</m:sub>
                    </m:sSub>
                    <m:r>
                      <a:rPr lang="en-US" altLang="zh-CN" sz="1600" b="1" i="1">
                        <a:latin typeface="Cambria Math" panose="02040503050406030204"/>
                        <a:ea typeface="黑体" panose="02010609060101010101" pitchFamily="49" charset="-122"/>
                      </a:rPr>
                      <m:t>=</m:t>
                    </m:r>
                    <m:sSub>
                      <m:sSubPr>
                        <m:ctrlPr>
                          <a:rPr lang="en-US" altLang="zh-CN" sz="16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6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16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  <m:r>
                          <a:rPr lang="en-US" altLang="zh-CN" sz="16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𝟏</m:t>
                        </m:r>
                      </m:sub>
                    </m:sSub>
                    <m:r>
                      <a:rPr lang="en-US" altLang="zh-CN" sz="1600" b="1" i="1">
                        <a:latin typeface="Cambria Math" panose="02040503050406030204"/>
                        <a:ea typeface="Cambria Math" panose="02040503050406030204"/>
                      </a:rPr>
                      <m:t>∨</m:t>
                    </m:r>
                    <m:sSub>
                      <m:sSubPr>
                        <m:ctrlPr>
                          <a:rPr lang="en-US" altLang="zh-CN" sz="16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6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16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  <m:r>
                          <a:rPr lang="en-US" altLang="zh-CN" sz="16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𝟐</m:t>
                        </m:r>
                      </m:sub>
                    </m:sSub>
                    <m:r>
                      <a:rPr lang="en-US" altLang="zh-CN" sz="1600" b="1" i="1">
                        <a:latin typeface="Cambria Math" panose="02040503050406030204"/>
                        <a:ea typeface="Cambria Math" panose="02040503050406030204"/>
                      </a:rPr>
                      <m:t>∨</m:t>
                    </m:r>
                    <m:sSub>
                      <m:sSubPr>
                        <m:ctrlPr>
                          <a:rPr lang="en-US" altLang="zh-CN" sz="16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6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16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  <m:r>
                          <a:rPr lang="en-US" altLang="zh-CN" sz="16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𝟑</m:t>
                        </m:r>
                      </m:sub>
                    </m:sSub>
                    <m:r>
                      <a:rPr lang="en-US" altLang="zh-CN" sz="1600" b="1" i="1" smtClean="0">
                        <a:latin typeface="Cambria Math" panose="02040503050406030204"/>
                        <a:ea typeface="黑体" panose="02010609060101010101" pitchFamily="49" charset="-122"/>
                      </a:rPr>
                      <m:t>=</m:t>
                    </m:r>
                    <m:r>
                      <a:rPr lang="en-US" altLang="zh-CN" sz="1600" b="1" i="1" smtClean="0">
                        <a:latin typeface="Cambria Math" panose="02040503050406030204"/>
                        <a:ea typeface="黑体" panose="02010609060101010101" pitchFamily="49" charset="-122"/>
                      </a:rPr>
                      <m:t>𝟏</m:t>
                    </m:r>
                  </m:oMath>
                </a14:m>
                <a:r>
                  <a:rPr lang="zh-CN" altLang="en-US" sz="1600" b="1" dirty="0" smtClean="0">
                    <a:latin typeface="Cambria Math" panose="02040503050406030204"/>
                    <a:ea typeface="黑体" panose="02010609060101010101" pitchFamily="49" charset="-122"/>
                  </a:rPr>
                  <a:t>，得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zh-CN" sz="16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SupPr>
                      <m:e>
                        <m:r>
                          <a:rPr lang="en-US" altLang="zh-CN" sz="16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𝑪</m:t>
                        </m:r>
                      </m:e>
                      <m:sub>
                        <m:r>
                          <a:rPr lang="en-US" altLang="zh-CN" sz="16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</m:sub>
                      <m:sup>
                        <m:r>
                          <a:rPr lang="en-US" altLang="zh-CN" sz="16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′</m:t>
                        </m:r>
                      </m:sup>
                    </m:sSubSup>
                    <m:r>
                      <a:rPr lang="en-US" altLang="zh-CN" sz="1600" b="1" i="1">
                        <a:latin typeface="Cambria Math" panose="02040503050406030204"/>
                        <a:ea typeface="黑体" panose="02010609060101010101" pitchFamily="49" charset="-122"/>
                      </a:rPr>
                      <m:t>=</m:t>
                    </m:r>
                    <m:sSub>
                      <m:sSubPr>
                        <m:ctrlPr>
                          <a:rPr lang="en-US" altLang="zh-CN" sz="16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6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𝑪</m:t>
                        </m:r>
                      </m:e>
                      <m:sub>
                        <m:r>
                          <a:rPr lang="en-US" altLang="zh-CN" sz="16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</m:sub>
                    </m:sSub>
                    <m:r>
                      <a:rPr lang="en-US" altLang="zh-CN" sz="1600" b="1" i="1" smtClean="0">
                        <a:latin typeface="Cambria Math" panose="02040503050406030204"/>
                        <a:ea typeface="黑体" panose="02010609060101010101" pitchFamily="49" charset="-122"/>
                      </a:rPr>
                      <m:t>=</m:t>
                    </m:r>
                    <m:r>
                      <a:rPr lang="en-US" altLang="zh-CN" sz="1600" b="1" i="1" smtClean="0">
                        <a:latin typeface="Cambria Math" panose="02040503050406030204"/>
                        <a:ea typeface="黑体" panose="02010609060101010101" pitchFamily="49" charset="-122"/>
                      </a:rPr>
                      <m:t>𝟏</m:t>
                    </m:r>
                  </m:oMath>
                </a14:m>
                <a:endParaRPr lang="en-US" altLang="zh-CN" sz="1600" b="1" dirty="0" smtClean="0">
                  <a:latin typeface="Cambria Math" panose="02040503050406030204"/>
                  <a:ea typeface="黑体" panose="02010609060101010101" pitchFamily="49" charset="-122"/>
                </a:endParaRPr>
              </a:p>
              <a:p>
                <a:pPr lvl="3"/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16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600" b="1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600" b="1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𝑪</m:t>
                            </m:r>
                          </m:e>
                          <m:sub>
                            <m:r>
                              <a:rPr lang="en-US" altLang="zh-CN" sz="1600" b="1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𝒊</m:t>
                            </m:r>
                          </m:sub>
                        </m:sSub>
                      </m:e>
                    </m:d>
                    <m:r>
                      <a:rPr lang="en-US" altLang="zh-CN" sz="1600" b="1" i="1" smtClean="0">
                        <a:latin typeface="Cambria Math" panose="02040503050406030204"/>
                        <a:ea typeface="黑体" panose="02010609060101010101" pitchFamily="49" charset="-122"/>
                      </a:rPr>
                      <m:t>&gt;</m:t>
                    </m:r>
                    <m:r>
                      <a:rPr lang="en-US" altLang="zh-CN" sz="1600" b="1" i="1" smtClean="0">
                        <a:latin typeface="Cambria Math" panose="02040503050406030204"/>
                        <a:ea typeface="黑体" panose="02010609060101010101" pitchFamily="49" charset="-122"/>
                      </a:rPr>
                      <m:t>𝟑</m:t>
                    </m:r>
                  </m:oMath>
                </a14:m>
                <a:r>
                  <a:rPr lang="zh-CN" altLang="en-US" sz="1600" b="1" dirty="0">
                    <a:latin typeface="Arial" panose="02080604020202020204" pitchFamily="34" charset="0"/>
                    <a:ea typeface="黑体" panose="02010609060101010101" pitchFamily="49" charset="-122"/>
                  </a:rPr>
                  <a:t>时可满足</a:t>
                </a:r>
                <a:r>
                  <a:rPr lang="en-US" altLang="zh-CN" sz="1600" b="1" dirty="0">
                    <a:latin typeface="Arial" panose="02080604020202020204" pitchFamily="34" charset="0"/>
                    <a:ea typeface="黑体" panose="02010609060101010101" pitchFamily="49" charset="-122"/>
                  </a:rPr>
                  <a:t>, </a:t>
                </a:r>
                <a:r>
                  <a:rPr lang="zh-CN" altLang="en-US" sz="1600" b="1" dirty="0">
                    <a:latin typeface="Arial" panose="02080604020202020204" pitchFamily="34" charset="0"/>
                    <a:ea typeface="黑体" panose="02010609060101010101" pitchFamily="49" charset="-122"/>
                  </a:rPr>
                  <a:t>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6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𝑪</m:t>
                        </m:r>
                      </m:e>
                      <m:sub>
                        <m:r>
                          <a:rPr lang="en-US" altLang="zh-CN" sz="16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</m:sub>
                    </m:sSub>
                    <m:r>
                      <a:rPr lang="en-US" altLang="zh-CN" sz="1600" b="1" i="1">
                        <a:latin typeface="Cambria Math" panose="02040503050406030204"/>
                        <a:ea typeface="黑体" panose="02010609060101010101" pitchFamily="49" charset="-122"/>
                      </a:rPr>
                      <m:t>=</m:t>
                    </m:r>
                    <m:sSub>
                      <m:sSubPr>
                        <m:ctrlPr>
                          <a:rPr lang="en-US" altLang="zh-CN" sz="16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6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16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  <m:r>
                          <a:rPr lang="en-US" altLang="zh-CN" sz="16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𝟏</m:t>
                        </m:r>
                      </m:sub>
                    </m:sSub>
                    <m:r>
                      <a:rPr lang="en-US" altLang="zh-CN" sz="1600" b="1" i="1">
                        <a:latin typeface="Cambria Math" panose="02040503050406030204"/>
                        <a:ea typeface="Cambria Math" panose="02040503050406030204"/>
                      </a:rPr>
                      <m:t>∨</m:t>
                    </m:r>
                    <m:sSub>
                      <m:sSubPr>
                        <m:ctrlPr>
                          <a:rPr lang="en-US" altLang="zh-CN" sz="16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6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16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  <m:r>
                          <a:rPr lang="en-US" altLang="zh-CN" sz="16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𝟐</m:t>
                        </m:r>
                      </m:sub>
                    </m:sSub>
                    <m:r>
                      <a:rPr lang="en-US" altLang="zh-CN" sz="1600" b="1" i="1">
                        <a:latin typeface="Cambria Math" panose="02040503050406030204"/>
                        <a:ea typeface="黑体" panose="02010609060101010101" pitchFamily="49" charset="-122"/>
                      </a:rPr>
                      <m:t> </m:t>
                    </m:r>
                    <m:r>
                      <a:rPr lang="en-US" altLang="zh-CN" sz="1600" b="1" i="1">
                        <a:latin typeface="Cambria Math" panose="02040503050406030204"/>
                        <a:ea typeface="Cambria Math" panose="02040503050406030204"/>
                      </a:rPr>
                      <m:t>∨…∨</m:t>
                    </m:r>
                    <m:sSub>
                      <m:sSubPr>
                        <m:ctrlPr>
                          <a:rPr lang="en-US" altLang="zh-CN" sz="16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6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16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altLang="zh-CN" sz="1600" b="1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1600" b="1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1" i="1">
                                    <a:latin typeface="Cambria Math" panose="02040503050406030204"/>
                                    <a:ea typeface="黑体" panose="02010609060101010101" pitchFamily="49" charset="-122"/>
                                  </a:rPr>
                                  <m:t>𝑪</m:t>
                                </m:r>
                              </m:e>
                              <m:sub>
                                <m:r>
                                  <a:rPr lang="en-US" altLang="zh-CN" sz="1600" b="1" i="1">
                                    <a:latin typeface="Cambria Math" panose="02040503050406030204"/>
                                    <a:ea typeface="黑体" panose="02010609060101010101" pitchFamily="49" charset="-122"/>
                                  </a:rPr>
                                  <m:t>𝒊</m:t>
                                </m:r>
                              </m:sub>
                            </m:sSub>
                          </m:e>
                        </m:d>
                      </m:sub>
                    </m:sSub>
                    <m:r>
                      <a:rPr lang="en-US" altLang="zh-CN" sz="1600" b="1" i="1" smtClean="0">
                        <a:latin typeface="Cambria Math" panose="02040503050406030204"/>
                        <a:ea typeface="黑体" panose="02010609060101010101" pitchFamily="49" charset="-122"/>
                      </a:rPr>
                      <m:t>=</m:t>
                    </m:r>
                    <m:r>
                      <a:rPr lang="en-US" altLang="zh-CN" sz="1600" b="1" i="1" smtClean="0">
                        <a:latin typeface="Cambria Math" panose="02040503050406030204"/>
                        <a:ea typeface="黑体" panose="02010609060101010101" pitchFamily="49" charset="-122"/>
                      </a:rPr>
                      <m:t>𝟏</m:t>
                    </m:r>
                  </m:oMath>
                </a14:m>
                <a:r>
                  <a:rPr lang="zh-CN" altLang="en-US" sz="1600" b="1" dirty="0" smtClean="0">
                    <a:latin typeface="Cambria Math" panose="02040503050406030204"/>
                    <a:ea typeface="黑体" panose="02010609060101010101" pitchFamily="49" charset="-122"/>
                  </a:rPr>
                  <a:t>，得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zh-CN" sz="16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SupPr>
                      <m:e>
                        <m:r>
                          <a:rPr lang="en-US" altLang="zh-CN" sz="16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𝑪</m:t>
                        </m:r>
                      </m:e>
                      <m:sub>
                        <m:r>
                          <a:rPr lang="en-US" altLang="zh-CN" sz="16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</m:sub>
                      <m:sup>
                        <m:r>
                          <a:rPr lang="en-US" altLang="zh-CN" sz="16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′</m:t>
                        </m:r>
                      </m:sup>
                    </m:sSubSup>
                    <m:r>
                      <a:rPr lang="en-US" altLang="zh-CN" sz="1600" b="1" i="1">
                        <a:latin typeface="Cambria Math" panose="02040503050406030204"/>
                        <a:ea typeface="黑体" panose="02010609060101010101" pitchFamily="49" charset="-122"/>
                      </a:rPr>
                      <m:t>=(</m:t>
                    </m:r>
                    <m:sSub>
                      <m:sSubPr>
                        <m:ctrlPr>
                          <a:rPr lang="en-US" altLang="zh-CN" sz="16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6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16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  <m:r>
                          <a:rPr lang="en-US" altLang="zh-CN" sz="16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𝟏</m:t>
                        </m:r>
                      </m:sub>
                    </m:sSub>
                    <m:r>
                      <a:rPr lang="en-US" altLang="zh-CN" sz="1600" b="1" i="1">
                        <a:latin typeface="Cambria Math" panose="02040503050406030204"/>
                        <a:ea typeface="Cambria Math" panose="02040503050406030204"/>
                      </a:rPr>
                      <m:t>∨</m:t>
                    </m:r>
                    <m:sSub>
                      <m:sSubPr>
                        <m:ctrlPr>
                          <a:rPr lang="en-US" altLang="zh-CN" sz="16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6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16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  <m:r>
                          <a:rPr lang="en-US" altLang="zh-CN" sz="16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𝟐</m:t>
                        </m:r>
                      </m:sub>
                    </m:sSub>
                    <m:r>
                      <a:rPr lang="en-US" altLang="zh-CN" sz="1600" b="1" i="1">
                        <a:latin typeface="Cambria Math" panose="02040503050406030204"/>
                        <a:ea typeface="Cambria Math" panose="02040503050406030204"/>
                      </a:rPr>
                      <m:t>∨</m:t>
                    </m:r>
                    <m:sSub>
                      <m:sSubPr>
                        <m:ctrlPr>
                          <a:rPr lang="en-US" altLang="zh-CN" sz="16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6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𝒚</m:t>
                        </m:r>
                      </m:e>
                      <m:sub>
                        <m:r>
                          <a:rPr lang="en-US" altLang="zh-CN" sz="16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  <m:r>
                          <a:rPr lang="en-US" altLang="zh-CN" sz="16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𝟏</m:t>
                        </m:r>
                      </m:sub>
                    </m:sSub>
                    <m:r>
                      <a:rPr lang="en-US" altLang="zh-CN" sz="1600" b="1" i="1">
                        <a:latin typeface="Cambria Math" panose="02040503050406030204"/>
                        <a:ea typeface="黑体" panose="02010609060101010101" pitchFamily="49" charset="-122"/>
                      </a:rPr>
                      <m:t>)</m:t>
                    </m:r>
                    <m:r>
                      <a:rPr lang="en-US" altLang="zh-CN" sz="1600" b="1" i="1">
                        <a:latin typeface="Cambria Math" panose="02040503050406030204"/>
                        <a:ea typeface="Cambria Math" panose="02040503050406030204"/>
                      </a:rPr>
                      <m:t>∧</m:t>
                    </m:r>
                    <m:r>
                      <a:rPr lang="en-US" altLang="zh-CN" sz="1600" b="1" i="1">
                        <a:latin typeface="Cambria Math" panose="02040503050406030204"/>
                        <a:ea typeface="黑体" panose="02010609060101010101" pitchFamily="49" charset="-122"/>
                      </a:rPr>
                      <m:t>(</m:t>
                    </m:r>
                    <m:sSub>
                      <m:sSubPr>
                        <m:ctrlPr>
                          <a:rPr lang="en-US" altLang="zh-CN" sz="1600" b="1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CN" sz="1600" b="1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sz="1600" b="1" i="1" dirty="0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𝒚</m:t>
                            </m:r>
                          </m:e>
                        </m:acc>
                      </m:e>
                      <m:sub>
                        <m:r>
                          <a:rPr lang="en-US" altLang="zh-CN" sz="1600" b="1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  <m:r>
                          <a:rPr lang="en-US" altLang="zh-CN" sz="1600" b="1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𝟏</m:t>
                        </m:r>
                      </m:sub>
                    </m:sSub>
                    <m:r>
                      <a:rPr lang="en-US" altLang="zh-CN" sz="1600" b="1" i="1">
                        <a:latin typeface="Cambria Math" panose="02040503050406030204"/>
                        <a:ea typeface="Cambria Math" panose="02040503050406030204"/>
                      </a:rPr>
                      <m:t>∨</m:t>
                    </m:r>
                    <m:sSub>
                      <m:sSubPr>
                        <m:ctrlPr>
                          <a:rPr lang="en-US" altLang="zh-CN" sz="16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6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16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  <m:r>
                          <a:rPr lang="en-US" altLang="zh-CN" sz="16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𝟑</m:t>
                        </m:r>
                      </m:sub>
                    </m:sSub>
                    <m:r>
                      <a:rPr lang="en-US" altLang="zh-CN" sz="1600" b="1" i="1">
                        <a:latin typeface="Cambria Math" panose="02040503050406030204"/>
                        <a:ea typeface="Cambria Math" panose="02040503050406030204"/>
                      </a:rPr>
                      <m:t>∨</m:t>
                    </m:r>
                    <m:sSub>
                      <m:sSubPr>
                        <m:ctrlPr>
                          <a:rPr lang="en-US" altLang="zh-CN" sz="16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6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𝒚</m:t>
                        </m:r>
                      </m:e>
                      <m:sub>
                        <m:r>
                          <a:rPr lang="en-US" altLang="zh-CN" sz="16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  <m:r>
                          <a:rPr lang="en-US" altLang="zh-CN" sz="16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𝟐</m:t>
                        </m:r>
                      </m:sub>
                    </m:sSub>
                    <m:r>
                      <a:rPr lang="en-US" altLang="zh-CN" sz="1600" b="1" i="1">
                        <a:latin typeface="Cambria Math" panose="02040503050406030204"/>
                        <a:ea typeface="黑体" panose="02010609060101010101" pitchFamily="49" charset="-122"/>
                      </a:rPr>
                      <m:t>)</m:t>
                    </m:r>
                  </m:oMath>
                </a14:m>
                <a:r>
                  <a:rPr lang="en-US" altLang="zh-CN" sz="1600" b="1" dirty="0">
                    <a:ea typeface="Cambria Math" panose="02040503050406030204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600" b="1" i="1">
                        <a:latin typeface="Cambria Math" panose="02040503050406030204"/>
                        <a:ea typeface="Cambria Math" panose="02040503050406030204"/>
                      </a:rPr>
                      <m:t>∧…∧</m:t>
                    </m:r>
                    <m:r>
                      <a:rPr lang="en-US" altLang="zh-CN" sz="1600" b="1" i="1">
                        <a:latin typeface="Cambria Math" panose="02040503050406030204"/>
                        <a:ea typeface="黑体" panose="02010609060101010101" pitchFamily="49" charset="-122"/>
                      </a:rPr>
                      <m:t>(</m:t>
                    </m:r>
                    <m:sSub>
                      <m:sSubPr>
                        <m:ctrlPr>
                          <a:rPr lang="en-US" altLang="zh-CN" sz="1600" b="1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CN" sz="1600" b="1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sz="1600" b="1" i="1" dirty="0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𝒚</m:t>
                            </m:r>
                          </m:e>
                        </m:acc>
                      </m:e>
                      <m:sub>
                        <m:r>
                          <a:rPr lang="en-US" altLang="zh-CN" sz="1600" b="1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𝒊𝒌</m:t>
                        </m:r>
                      </m:sub>
                    </m:sSub>
                    <m:r>
                      <a:rPr lang="en-US" altLang="zh-CN" sz="1600" b="1" i="1">
                        <a:latin typeface="Cambria Math" panose="02040503050406030204"/>
                        <a:ea typeface="Cambria Math" panose="02040503050406030204"/>
                      </a:rPr>
                      <m:t>∨</m:t>
                    </m:r>
                    <m:sSub>
                      <m:sSubPr>
                        <m:ctrlPr>
                          <a:rPr lang="en-US" altLang="zh-CN" sz="16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6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16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  <m:r>
                          <a:rPr lang="en-US" altLang="zh-CN" sz="16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(</m:t>
                        </m:r>
                        <m:r>
                          <a:rPr lang="en-US" altLang="zh-CN" sz="16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𝒌</m:t>
                        </m:r>
                        <m:r>
                          <a:rPr lang="en-US" altLang="zh-CN" sz="16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+</m:t>
                        </m:r>
                        <m:r>
                          <a:rPr lang="en-US" altLang="zh-CN" sz="16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𝟐</m:t>
                        </m:r>
                        <m:r>
                          <a:rPr lang="en-US" altLang="zh-CN" sz="16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)</m:t>
                        </m:r>
                      </m:sub>
                    </m:sSub>
                    <m:r>
                      <a:rPr lang="en-US" altLang="zh-CN" sz="1600" b="1" i="1">
                        <a:latin typeface="Cambria Math" panose="02040503050406030204"/>
                        <a:ea typeface="Cambria Math" panose="02040503050406030204"/>
                      </a:rPr>
                      <m:t>∨</m:t>
                    </m:r>
                    <m:sSub>
                      <m:sSubPr>
                        <m:ctrlPr>
                          <a:rPr lang="en-US" altLang="zh-CN" sz="16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6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𝒚</m:t>
                        </m:r>
                      </m:e>
                      <m:sub>
                        <m:r>
                          <a:rPr lang="en-US" altLang="zh-CN" sz="16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  <m:r>
                          <a:rPr lang="en-US" altLang="zh-CN" sz="16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(</m:t>
                        </m:r>
                        <m:r>
                          <a:rPr lang="en-US" altLang="zh-CN" sz="16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𝒌</m:t>
                        </m:r>
                        <m:r>
                          <a:rPr lang="en-US" altLang="zh-CN" sz="16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+</m:t>
                        </m:r>
                        <m:r>
                          <a:rPr lang="en-US" altLang="zh-CN" sz="16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𝟏</m:t>
                        </m:r>
                        <m:r>
                          <a:rPr lang="en-US" altLang="zh-CN" sz="16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)</m:t>
                        </m:r>
                      </m:sub>
                    </m:sSub>
                    <m:r>
                      <a:rPr lang="en-US" altLang="zh-CN" sz="1600" b="1" i="1">
                        <a:latin typeface="Cambria Math" panose="02040503050406030204"/>
                        <a:ea typeface="黑体" panose="02010609060101010101" pitchFamily="49" charset="-122"/>
                      </a:rPr>
                      <m:t>)</m:t>
                    </m:r>
                  </m:oMath>
                </a14:m>
                <a:r>
                  <a:rPr lang="en-US" altLang="zh-CN" sz="1600" b="1" dirty="0">
                    <a:ea typeface="Cambria Math" panose="02040503050406030204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600" b="1" i="1">
                        <a:latin typeface="Cambria Math" panose="02040503050406030204"/>
                        <a:ea typeface="Cambria Math" panose="02040503050406030204"/>
                      </a:rPr>
                      <m:t>∧…∧</m:t>
                    </m:r>
                  </m:oMath>
                </a14:m>
                <a:r>
                  <a:rPr lang="en-US" altLang="zh-CN" sz="1600" b="1" dirty="0">
                    <a:ea typeface="黑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1600" b="1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600" b="1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altLang="zh-CN" sz="1600" b="1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1600" b="1" i="1" dirty="0">
                                    <a:latin typeface="Cambria Math" panose="02040503050406030204"/>
                                    <a:ea typeface="黑体" panose="02010609060101010101" pitchFamily="49" charset="-122"/>
                                  </a:rPr>
                                  <m:t>𝒚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1600" b="1" i="1" dirty="0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𝒊</m:t>
                            </m:r>
                            <m:d>
                              <m:dPr>
                                <m:ctrlPr>
                                  <a:rPr lang="en-US" altLang="zh-CN" sz="1600" b="1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altLang="zh-CN" sz="1600" b="1" i="1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sz="1600" b="1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600" b="1" i="1">
                                            <a:latin typeface="Cambria Math" panose="02040503050406030204"/>
                                            <a:ea typeface="黑体" panose="02010609060101010101" pitchFamily="49" charset="-122"/>
                                          </a:rPr>
                                          <m:t>𝑪</m:t>
                                        </m:r>
                                      </m:e>
                                      <m:sub>
                                        <m:r>
                                          <a:rPr lang="en-US" altLang="zh-CN" sz="1600" b="1" i="1">
                                            <a:latin typeface="Cambria Math" panose="02040503050406030204"/>
                                            <a:ea typeface="黑体" panose="02010609060101010101" pitchFamily="49" charset="-122"/>
                                          </a:rPr>
                                          <m:t>𝒊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altLang="zh-CN" sz="1600" b="1" i="1">
                                    <a:latin typeface="Cambria Math" panose="02040503050406030204"/>
                                    <a:ea typeface="黑体" panose="02010609060101010101" pitchFamily="49" charset="-122"/>
                                  </a:rPr>
                                  <m:t>−</m:t>
                                </m:r>
                                <m:r>
                                  <a:rPr lang="en-US" altLang="zh-CN" sz="1600" b="1" i="1">
                                    <a:latin typeface="Cambria Math" panose="02040503050406030204"/>
                                    <a:ea typeface="黑体" panose="02010609060101010101" pitchFamily="49" charset="-122"/>
                                  </a:rPr>
                                  <m:t>𝟑</m:t>
                                </m:r>
                              </m:e>
                            </m:d>
                          </m:sub>
                        </m:sSub>
                        <m:r>
                          <a:rPr lang="en-US" altLang="zh-CN" sz="1600" b="1" i="1">
                            <a:latin typeface="Cambria Math" panose="02040503050406030204"/>
                            <a:ea typeface="Cambria Math" panose="02040503050406030204"/>
                          </a:rPr>
                          <m:t>∨</m:t>
                        </m:r>
                        <m:sSub>
                          <m:sSubPr>
                            <m:ctrlPr>
                              <a:rPr lang="en-US" altLang="zh-CN" sz="1600" b="1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600" b="1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1600" b="1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𝒊</m:t>
                            </m:r>
                            <m:d>
                              <m:dPr>
                                <m:ctrlPr>
                                  <a:rPr lang="en-US" altLang="zh-CN" sz="1600" b="1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altLang="zh-CN" sz="1600" b="1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sz="1600" b="1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600" b="1" i="1">
                                            <a:latin typeface="Cambria Math" panose="02040503050406030204"/>
                                            <a:ea typeface="黑体" panose="02010609060101010101" pitchFamily="49" charset="-122"/>
                                          </a:rPr>
                                          <m:t>𝑪</m:t>
                                        </m:r>
                                      </m:e>
                                      <m:sub>
                                        <m:r>
                                          <a:rPr lang="en-US" altLang="zh-CN" sz="1600" b="1" i="1">
                                            <a:latin typeface="Cambria Math" panose="02040503050406030204"/>
                                            <a:ea typeface="黑体" panose="02010609060101010101" pitchFamily="49" charset="-122"/>
                                          </a:rPr>
                                          <m:t>𝒊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altLang="zh-CN" sz="1600" b="1" i="1">
                                    <a:latin typeface="Cambria Math" panose="02040503050406030204"/>
                                    <a:ea typeface="黑体" panose="02010609060101010101" pitchFamily="49" charset="-122"/>
                                  </a:rPr>
                                  <m:t>−</m:t>
                                </m:r>
                                <m:r>
                                  <a:rPr lang="en-US" altLang="zh-CN" sz="1600" b="1" i="1">
                                    <a:latin typeface="Cambria Math" panose="02040503050406030204"/>
                                    <a:ea typeface="黑体" panose="02010609060101010101" pitchFamily="49" charset="-122"/>
                                  </a:rPr>
                                  <m:t>𝟏</m:t>
                                </m:r>
                              </m:e>
                            </m:d>
                          </m:sub>
                        </m:sSub>
                        <m:r>
                          <a:rPr lang="en-US" altLang="zh-CN" sz="1600" b="1" i="1">
                            <a:latin typeface="Cambria Math" panose="02040503050406030204"/>
                            <a:ea typeface="Cambria Math" panose="02040503050406030204"/>
                          </a:rPr>
                          <m:t>∨</m:t>
                        </m:r>
                        <m:sSub>
                          <m:sSubPr>
                            <m:ctrlPr>
                              <a:rPr lang="en-US" altLang="zh-CN" sz="1600" b="1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600" b="1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1600" b="1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𝒊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sz="1600" b="1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1600" b="1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1" i="1">
                                        <a:latin typeface="Cambria Math" panose="02040503050406030204"/>
                                        <a:ea typeface="黑体" panose="02010609060101010101" pitchFamily="49" charset="-122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altLang="zh-CN" sz="1600" b="1" i="1">
                                        <a:latin typeface="Cambria Math" panose="02040503050406030204"/>
                                        <a:ea typeface="黑体" panose="02010609060101010101" pitchFamily="49" charset="-122"/>
                                      </a:rPr>
                                      <m:t>𝒊</m:t>
                                    </m:r>
                                  </m:sub>
                                </m:sSub>
                              </m:e>
                            </m:d>
                          </m:sub>
                        </m:sSub>
                      </m:e>
                    </m:d>
                    <m:r>
                      <a:rPr lang="en-US" altLang="zh-CN" sz="1600" b="1" i="1" smtClean="0">
                        <a:latin typeface="Cambria Math" panose="02040503050406030204"/>
                        <a:ea typeface="黑体" panose="02010609060101010101" pitchFamily="49" charset="-122"/>
                      </a:rPr>
                      <m:t>=</m:t>
                    </m:r>
                    <m:r>
                      <a:rPr lang="en-US" altLang="zh-CN" sz="1600" b="1" i="1" smtClean="0">
                        <a:latin typeface="Cambria Math" panose="02040503050406030204"/>
                        <a:ea typeface="黑体" panose="02010609060101010101" pitchFamily="49" charset="-122"/>
                      </a:rPr>
                      <m:t>𝟏</m:t>
                    </m:r>
                  </m:oMath>
                </a14:m>
                <a:endParaRPr lang="en-US" altLang="zh-CN" sz="1600" b="1" dirty="0" smtClean="0">
                  <a:latin typeface="Cambria Math" panose="02040503050406030204"/>
                  <a:ea typeface="黑体" panose="02010609060101010101" pitchFamily="49" charset="-122"/>
                </a:endParaRPr>
              </a:p>
              <a:p>
                <a:pPr lvl="3"/>
                <a:endParaRPr lang="en-US" altLang="zh-CN" sz="1600" b="1" dirty="0" smtClean="0">
                  <a:latin typeface="Cambria Math" panose="02040503050406030204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3510" y="1196658"/>
                <a:ext cx="8229600" cy="5373687"/>
              </a:xfrm>
              <a:blipFill rotWithShape="1">
                <a:blip r:embed="rId1"/>
                <a:stretch>
                  <a:fillRect t="-6" r="-6373" b="1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latin typeface="Arial" panose="02080604020202020204" pitchFamily="34" charset="0"/>
                <a:ea typeface="黑体" panose="02010609060101010101" pitchFamily="49" charset="-122"/>
              </a:rPr>
              <a:t>3CNF-SAT</a:t>
            </a:r>
            <a:r>
              <a:rPr lang="zh-CN" altLang="en-US" dirty="0" smtClean="0">
                <a:latin typeface="Arial" panose="02080604020202020204" pitchFamily="34" charset="0"/>
                <a:ea typeface="黑体" panose="02010609060101010101" pitchFamily="49" charset="-122"/>
              </a:rPr>
              <a:t>问题是</a:t>
            </a:r>
            <a:r>
              <a:rPr lang="en-US" altLang="zh-CN" dirty="0" smtClean="0">
                <a:latin typeface="Arial" panose="02080604020202020204" pitchFamily="34" charset="0"/>
                <a:ea typeface="黑体" panose="02010609060101010101" pitchFamily="49" charset="-122"/>
              </a:rPr>
              <a:t>NP</a:t>
            </a:r>
            <a:r>
              <a:rPr lang="zh-CN" altLang="en-US" dirty="0" smtClean="0">
                <a:latin typeface="Arial" panose="02080604020202020204" pitchFamily="34" charset="0"/>
                <a:ea typeface="黑体" panose="02010609060101010101" pitchFamily="49" charset="-122"/>
              </a:rPr>
              <a:t>完全问题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395605" y="1268413"/>
                <a:ext cx="8229600" cy="5373687"/>
              </a:xfrm>
            </p:spPr>
            <p:txBody>
              <a:bodyPr/>
              <a:lstStyle/>
              <a:p>
                <a:r>
                  <a:rPr lang="zh-CN" altLang="en-US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证明</a:t>
                </a:r>
                <a:endParaRPr lang="en-US" altLang="zh-CN" dirty="0">
                  <a:latin typeface="Arial" panose="02080604020202020204" pitchFamily="34" charset="0"/>
                  <a:ea typeface="黑体" panose="02010609060101010101" pitchFamily="49" charset="-122"/>
                </a:endParaRPr>
              </a:p>
              <a:p>
                <a:pPr lvl="1"/>
                <a:r>
                  <a:rPr lang="zh-CN" altLang="en-US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显然</a:t>
                </a:r>
                <a:r>
                  <a:rPr lang="en-US" altLang="zh-CN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3CNF-SAT</a:t>
                </a:r>
                <a:r>
                  <a:rPr lang="zh-CN" altLang="en-US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是</a:t>
                </a:r>
                <a:r>
                  <a:rPr lang="en-US" altLang="zh-CN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NP</a:t>
                </a:r>
                <a:r>
                  <a:rPr lang="zh-CN" altLang="en-US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问题</a:t>
                </a:r>
                <a:r>
                  <a:rPr lang="en-US" altLang="zh-CN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(</a:t>
                </a:r>
                <a:r>
                  <a:rPr lang="zh-CN" altLang="en-US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多项式时间可判定</a:t>
                </a:r>
                <a:r>
                  <a:rPr lang="en-US" altLang="zh-CN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)</a:t>
                </a:r>
                <a:endParaRPr lang="en-US" altLang="zh-CN" dirty="0" smtClean="0">
                  <a:latin typeface="Arial" panose="02080604020202020204" pitchFamily="34" charset="0"/>
                  <a:ea typeface="黑体" panose="02010609060101010101" pitchFamily="49" charset="-122"/>
                </a:endParaRPr>
              </a:p>
              <a:p>
                <a:pPr lvl="1"/>
                <a:r>
                  <a:rPr lang="zh-CN" altLang="en-US" sz="23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将</a:t>
                </a:r>
                <a:r>
                  <a:rPr lang="en-US" altLang="zh-CN" sz="23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CNF-SAT</a:t>
                </a:r>
                <a:r>
                  <a:rPr lang="zh-CN" altLang="en-US" sz="23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归约</a:t>
                </a:r>
                <a:r>
                  <a:rPr lang="en-US" altLang="zh-CN" sz="23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(</a:t>
                </a:r>
                <a:r>
                  <a:rPr lang="zh-CN" altLang="en-US" sz="23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多项式时间转换</a:t>
                </a:r>
                <a:r>
                  <a:rPr lang="en-US" altLang="zh-CN" sz="23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)</a:t>
                </a:r>
                <a:r>
                  <a:rPr lang="zh-CN" altLang="en-US" sz="23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到某</a:t>
                </a:r>
                <a:r>
                  <a:rPr lang="en-US" altLang="zh-CN" sz="23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3CNF-SAT</a:t>
                </a:r>
                <a:r>
                  <a:rPr lang="zh-CN" altLang="en-US" sz="23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实例</a:t>
                </a:r>
                <a:endParaRPr lang="en-US" altLang="zh-CN" sz="2300" dirty="0" smtClean="0">
                  <a:latin typeface="Arial" panose="02080604020202020204" pitchFamily="34" charset="0"/>
                  <a:ea typeface="黑体" panose="02010609060101010101" pitchFamily="49" charset="-122"/>
                </a:endParaRPr>
              </a:p>
              <a:p>
                <a:pPr lvl="1"/>
                <a:r>
                  <a:rPr lang="zh-CN" altLang="en-US" sz="2300" dirty="0" smtClean="0">
                    <a:latin typeface="Cambria Math" panose="02040503050406030204"/>
                    <a:ea typeface="黑体" panose="02010609060101010101" pitchFamily="49" charset="-122"/>
                  </a:rPr>
                  <a:t>证明</a:t>
                </a:r>
                <a:r>
                  <a:rPr lang="en-US" altLang="zh-CN" sz="23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CNF-SAT</a:t>
                </a:r>
                <a:r>
                  <a:rPr lang="zh-CN" altLang="en-US" sz="23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可满足当且仅当构造的</a:t>
                </a:r>
                <a:r>
                  <a:rPr lang="en-US" altLang="zh-CN" sz="23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3CNF-SAT</a:t>
                </a:r>
                <a:r>
                  <a:rPr lang="zh-CN" altLang="en-US" sz="23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可满足</a:t>
                </a:r>
                <a:endParaRPr lang="en-US" altLang="zh-CN" sz="2300" dirty="0" smtClean="0">
                  <a:latin typeface="Arial" panose="02080604020202020204" pitchFamily="34" charset="0"/>
                  <a:ea typeface="黑体" panose="02010609060101010101" pitchFamily="49" charset="-122"/>
                </a:endParaRPr>
              </a:p>
              <a:p>
                <a:pPr lvl="2"/>
                <a:r>
                  <a:rPr lang="zh-CN" altLang="en-US" sz="20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充分性：</a:t>
                </a:r>
                <a:r>
                  <a:rPr lang="en-US" altLang="zh-CN" sz="2000" dirty="0">
                    <a:latin typeface="Arial" panose="02080604020202020204" pitchFamily="34" charset="0"/>
                    <a:ea typeface="黑体" panose="02010609060101010101" pitchFamily="49" charset="-122"/>
                  </a:rPr>
                  <a:t> </a:t>
                </a:r>
                <a:r>
                  <a:rPr lang="en-US" altLang="zh-CN" sz="20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3CNF-SAT</a:t>
                </a:r>
                <a:r>
                  <a:rPr lang="zh-CN" altLang="en-US" sz="2000" dirty="0">
                    <a:latin typeface="Arial" panose="02080604020202020204" pitchFamily="34" charset="0"/>
                    <a:ea typeface="黑体" panose="02010609060101010101" pitchFamily="49" charset="-122"/>
                  </a:rPr>
                  <a:t>可</a:t>
                </a:r>
                <a:r>
                  <a:rPr lang="zh-CN" altLang="en-US" sz="20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满足，</a:t>
                </a:r>
                <a:r>
                  <a:rPr lang="en-US" altLang="zh-CN" sz="20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 </a:t>
                </a:r>
                <a:r>
                  <a:rPr lang="zh-CN" altLang="en-US" sz="20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则</a:t>
                </a:r>
                <a:r>
                  <a:rPr lang="en-US" altLang="zh-CN" sz="20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CNF-SAT</a:t>
                </a:r>
                <a:r>
                  <a:rPr lang="zh-CN" altLang="en-US" sz="20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可满足</a:t>
                </a:r>
                <a:r>
                  <a:rPr lang="en-US" altLang="zh-CN" sz="20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 </a:t>
                </a:r>
                <a:r>
                  <a:rPr lang="zh-CN" altLang="en-US" sz="20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。</a:t>
                </a:r>
                <a:r>
                  <a:rPr lang="en-US" altLang="zh-CN" sz="2000" dirty="0" smtClean="0">
                    <a:ea typeface="黑体" panose="02010609060101010101" pitchFamily="49" charset="-122"/>
                  </a:rPr>
                  <a:t> </a:t>
                </a:r>
                <a:endParaRPr lang="en-US" altLang="zh-CN" sz="2000" dirty="0" smtClean="0">
                  <a:ea typeface="黑体" panose="02010609060101010101" pitchFamily="49" charset="-122"/>
                </a:endParaRPr>
              </a:p>
              <a:p>
                <a:pPr marL="1714500" lvl="3" indent="-342900">
                  <a:buClr>
                    <a:srgbClr val="0000A8"/>
                  </a:buClr>
                  <a:buSzPct val="100000"/>
                  <a:buFont typeface="+mj-lt"/>
                  <a:buAutoNum type="arabicPeriod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zh-CN" sz="18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SupPr>
                      <m:e>
                        <m:r>
                          <a:rPr lang="en-US" altLang="zh-CN" sz="18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𝑪</m:t>
                        </m:r>
                      </m:e>
                      <m:sub>
                        <m:r>
                          <a:rPr lang="en-US" altLang="zh-CN" sz="18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</m:sub>
                      <m:sup>
                        <m:r>
                          <a:rPr lang="en-US" altLang="zh-CN" sz="18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′</m:t>
                        </m:r>
                      </m:sup>
                    </m:sSubSup>
                    <m:r>
                      <a:rPr lang="en-US" altLang="zh-CN" sz="1800" b="1" i="1">
                        <a:latin typeface="Cambria Math" panose="02040503050406030204"/>
                        <a:ea typeface="黑体" panose="02010609060101010101" pitchFamily="49" charset="-122"/>
                      </a:rPr>
                      <m:t>=</m:t>
                    </m:r>
                    <m:d>
                      <m:dPr>
                        <m:ctrlPr>
                          <a:rPr lang="en-US" altLang="zh-CN" sz="18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800" b="1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800" b="1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1800" b="1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𝒊</m:t>
                            </m:r>
                            <m:r>
                              <a:rPr lang="en-US" altLang="zh-CN" sz="1800" b="1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1800" b="1" i="1">
                            <a:latin typeface="Cambria Math" panose="02040503050406030204"/>
                            <a:ea typeface="Cambria Math" panose="02040503050406030204"/>
                          </a:rPr>
                          <m:t>∨</m:t>
                        </m:r>
                        <m:sSub>
                          <m:sSubPr>
                            <m:ctrlPr>
                              <a:rPr lang="en-US" altLang="zh-CN" sz="1800" b="1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800" b="1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𝒚</m:t>
                            </m:r>
                          </m:e>
                          <m:sub>
                            <m:r>
                              <a:rPr lang="en-US" altLang="zh-CN" sz="1800" b="1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𝒊</m:t>
                            </m:r>
                            <m:r>
                              <a:rPr lang="en-US" altLang="zh-CN" sz="1800" b="1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1800" b="1" i="1">
                            <a:latin typeface="Cambria Math" panose="02040503050406030204"/>
                            <a:ea typeface="Cambria Math" panose="02040503050406030204"/>
                          </a:rPr>
                          <m:t>∨</m:t>
                        </m:r>
                        <m:sSub>
                          <m:sSubPr>
                            <m:ctrlPr>
                              <a:rPr lang="en-US" altLang="zh-CN" sz="1800" b="1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800" b="1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𝒚</m:t>
                            </m:r>
                          </m:e>
                          <m:sub>
                            <m:r>
                              <a:rPr lang="en-US" altLang="zh-CN" sz="1800" b="1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𝒊</m:t>
                            </m:r>
                            <m:r>
                              <a:rPr lang="en-US" altLang="zh-CN" sz="1800" b="1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𝟐</m:t>
                            </m:r>
                          </m:sub>
                        </m:sSub>
                      </m:e>
                    </m:d>
                    <m:r>
                      <a:rPr lang="en-US" altLang="zh-CN" sz="1800" b="1" i="1">
                        <a:latin typeface="Cambria Math" panose="02040503050406030204"/>
                        <a:ea typeface="Cambria Math" panose="02040503050406030204"/>
                      </a:rPr>
                      <m:t>∧</m:t>
                    </m:r>
                    <m:d>
                      <m:dPr>
                        <m:ctrlPr>
                          <a:rPr lang="en-US" altLang="zh-CN" sz="18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800" b="1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800" b="1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1800" b="1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𝒊</m:t>
                            </m:r>
                            <m:r>
                              <a:rPr lang="en-US" altLang="zh-CN" sz="1800" b="1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1800" b="1" i="1">
                            <a:latin typeface="Cambria Math" panose="02040503050406030204"/>
                            <a:ea typeface="Cambria Math" panose="02040503050406030204"/>
                          </a:rPr>
                          <m:t>∨</m:t>
                        </m:r>
                        <m:sSub>
                          <m:sSubPr>
                            <m:ctrlPr>
                              <a:rPr lang="en-US" altLang="zh-CN" sz="1800" b="1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800" b="1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𝒚</m:t>
                            </m:r>
                          </m:e>
                          <m:sub>
                            <m:r>
                              <a:rPr lang="en-US" altLang="zh-CN" sz="1800" b="1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𝒊</m:t>
                            </m:r>
                            <m:r>
                              <a:rPr lang="en-US" altLang="zh-CN" sz="1800" b="1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1800" b="1" i="1">
                            <a:latin typeface="Cambria Math" panose="02040503050406030204"/>
                            <a:ea typeface="Cambria Math" panose="02040503050406030204"/>
                          </a:rPr>
                          <m:t>∨</m:t>
                        </m:r>
                        <m:sSub>
                          <m:sSubPr>
                            <m:ctrlPr>
                              <a:rPr lang="en-US" altLang="zh-CN" sz="1800" b="1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altLang="zh-CN" sz="1800" b="1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1800" b="1" i="1" dirty="0">
                                    <a:latin typeface="Cambria Math" panose="02040503050406030204"/>
                                    <a:ea typeface="黑体" panose="02010609060101010101" pitchFamily="49" charset="-122"/>
                                  </a:rPr>
                                  <m:t>𝒚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1800" b="1" i="1" dirty="0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𝒊</m:t>
                            </m:r>
                            <m:r>
                              <a:rPr lang="en-US" altLang="zh-CN" sz="1800" b="1" i="1" dirty="0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𝟐</m:t>
                            </m:r>
                          </m:sub>
                        </m:sSub>
                      </m:e>
                    </m:d>
                    <m:r>
                      <a:rPr lang="en-US" altLang="zh-CN" sz="1800" b="1" i="1">
                        <a:latin typeface="Cambria Math" panose="02040503050406030204"/>
                        <a:ea typeface="Cambria Math" panose="02040503050406030204"/>
                      </a:rPr>
                      <m:t>∧</m:t>
                    </m:r>
                    <m:d>
                      <m:dPr>
                        <m:ctrlPr>
                          <a:rPr lang="en-US" altLang="zh-CN" sz="1800" b="1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800" b="1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800" b="1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1800" b="1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𝒊</m:t>
                            </m:r>
                            <m:r>
                              <a:rPr lang="en-US" altLang="zh-CN" sz="1800" b="1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1800" b="1" i="1">
                            <a:latin typeface="Cambria Math" panose="02040503050406030204"/>
                            <a:ea typeface="Cambria Math" panose="02040503050406030204"/>
                          </a:rPr>
                          <m:t>∨</m:t>
                        </m:r>
                        <m:sSub>
                          <m:sSubPr>
                            <m:ctrlPr>
                              <a:rPr lang="en-US" altLang="zh-CN" sz="1800" b="1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altLang="zh-CN" sz="1800" b="1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1800" b="1" i="1" dirty="0">
                                    <a:latin typeface="Cambria Math" panose="02040503050406030204"/>
                                    <a:ea typeface="黑体" panose="02010609060101010101" pitchFamily="49" charset="-122"/>
                                  </a:rPr>
                                  <m:t>𝒚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1800" b="1" i="1" dirty="0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𝒊</m:t>
                            </m:r>
                            <m:r>
                              <a:rPr lang="en-US" altLang="zh-CN" sz="1800" b="1" i="1" dirty="0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1800" b="1" i="1">
                            <a:latin typeface="Cambria Math" panose="02040503050406030204"/>
                            <a:ea typeface="Cambria Math" panose="02040503050406030204"/>
                          </a:rPr>
                          <m:t>∨</m:t>
                        </m:r>
                        <m:sSub>
                          <m:sSubPr>
                            <m:ctrlPr>
                              <a:rPr lang="en-US" altLang="zh-CN" sz="1800" b="1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800" b="1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𝒚</m:t>
                            </m:r>
                          </m:e>
                          <m:sub>
                            <m:r>
                              <a:rPr lang="en-US" altLang="zh-CN" sz="1800" b="1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𝒊</m:t>
                            </m:r>
                            <m:r>
                              <a:rPr lang="en-US" altLang="zh-CN" sz="1800" b="1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𝟐</m:t>
                            </m:r>
                          </m:sub>
                        </m:sSub>
                      </m:e>
                    </m:d>
                    <m:r>
                      <a:rPr lang="en-US" altLang="zh-CN" sz="1800" b="1" i="1">
                        <a:latin typeface="Cambria Math" panose="02040503050406030204"/>
                        <a:ea typeface="Cambria Math" panose="02040503050406030204"/>
                      </a:rPr>
                      <m:t>∧</m:t>
                    </m:r>
                    <m:d>
                      <m:dPr>
                        <m:ctrlPr>
                          <a:rPr lang="en-US" altLang="zh-CN" sz="18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800" b="1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800" b="1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1800" b="1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𝒊</m:t>
                            </m:r>
                            <m:r>
                              <a:rPr lang="en-US" altLang="zh-CN" sz="1800" b="1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1800" b="1" i="1">
                            <a:latin typeface="Cambria Math" panose="02040503050406030204"/>
                            <a:ea typeface="Cambria Math" panose="02040503050406030204"/>
                          </a:rPr>
                          <m:t>∨</m:t>
                        </m:r>
                        <m:sSub>
                          <m:sSubPr>
                            <m:ctrlPr>
                              <a:rPr lang="en-US" altLang="zh-CN" sz="1800" b="1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altLang="zh-CN" sz="1800" b="1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1800" b="1" i="1" dirty="0">
                                    <a:latin typeface="Cambria Math" panose="02040503050406030204"/>
                                    <a:ea typeface="黑体" panose="02010609060101010101" pitchFamily="49" charset="-122"/>
                                  </a:rPr>
                                  <m:t>𝒚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1800" b="1" i="1" dirty="0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𝒊</m:t>
                            </m:r>
                            <m:r>
                              <a:rPr lang="en-US" altLang="zh-CN" sz="1800" b="1" i="1" dirty="0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1800" b="1" i="1">
                            <a:latin typeface="Cambria Math" panose="02040503050406030204"/>
                            <a:ea typeface="Cambria Math" panose="02040503050406030204"/>
                          </a:rPr>
                          <m:t>∨</m:t>
                        </m:r>
                        <m:sSub>
                          <m:sSubPr>
                            <m:ctrlPr>
                              <a:rPr lang="en-US" altLang="zh-CN" sz="1800" b="1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altLang="zh-CN" sz="1800" b="1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1800" b="1" i="1" dirty="0">
                                    <a:latin typeface="Cambria Math" panose="02040503050406030204"/>
                                    <a:ea typeface="黑体" panose="02010609060101010101" pitchFamily="49" charset="-122"/>
                                  </a:rPr>
                                  <m:t>𝒚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1800" b="1" i="1" dirty="0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𝒊</m:t>
                            </m:r>
                            <m:r>
                              <a:rPr lang="en-US" altLang="zh-CN" sz="1800" b="1" i="1" dirty="0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𝟐</m:t>
                            </m:r>
                          </m:sub>
                        </m:sSub>
                      </m:e>
                    </m:d>
                    <m:r>
                      <a:rPr lang="en-US" altLang="zh-CN" sz="1800" b="1" i="1" smtClean="0">
                        <a:latin typeface="Cambria Math" panose="02040503050406030204"/>
                        <a:ea typeface="黑体" panose="02010609060101010101" pitchFamily="49" charset="-122"/>
                      </a:rPr>
                      <m:t>=</m:t>
                    </m:r>
                    <m:r>
                      <a:rPr lang="en-US" altLang="zh-CN" sz="1800" b="1" i="1" smtClean="0">
                        <a:latin typeface="Cambria Math" panose="02040503050406030204"/>
                        <a:ea typeface="黑体" panose="02010609060101010101" pitchFamily="49" charset="-122"/>
                      </a:rPr>
                      <m:t>𝟏</m:t>
                    </m:r>
                  </m:oMath>
                </a14:m>
                <a:r>
                  <a:rPr lang="zh-CN" altLang="en-US" sz="1800" b="1" dirty="0" smtClean="0">
                    <a:latin typeface="Cambria Math" panose="02040503050406030204"/>
                    <a:ea typeface="黑体" panose="02010609060101010101" pitchFamily="49" charset="-122"/>
                  </a:rPr>
                  <a:t> </a:t>
                </a:r>
                <a:r>
                  <a:rPr lang="zh-CN" altLang="en-US" sz="1800" b="1" dirty="0">
                    <a:latin typeface="Cambria Math" panose="02040503050406030204"/>
                    <a:ea typeface="黑体" panose="02010609060101010101" pitchFamily="49" charset="-122"/>
                  </a:rPr>
                  <a:t>，得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8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𝑪</m:t>
                        </m:r>
                      </m:e>
                      <m:sub>
                        <m:r>
                          <a:rPr lang="en-US" altLang="zh-CN" sz="18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</m:sub>
                    </m:sSub>
                    <m:r>
                      <a:rPr lang="en-US" altLang="zh-CN" sz="1800" b="1" i="1">
                        <a:latin typeface="Cambria Math" panose="02040503050406030204"/>
                        <a:ea typeface="黑体" panose="02010609060101010101" pitchFamily="49" charset="-122"/>
                      </a:rPr>
                      <m:t>=</m:t>
                    </m:r>
                    <m:sSub>
                      <m:sSubPr>
                        <m:ctrlPr>
                          <a:rPr lang="en-US" altLang="zh-CN" sz="18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8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18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  <m:r>
                          <a:rPr lang="en-US" altLang="zh-CN" sz="18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𝟏</m:t>
                        </m:r>
                      </m:sub>
                    </m:sSub>
                    <m:r>
                      <a:rPr lang="en-US" altLang="zh-CN" sz="1800" b="1" i="1">
                        <a:latin typeface="Cambria Math" panose="02040503050406030204"/>
                        <a:ea typeface="黑体" panose="02010609060101010101" pitchFamily="49" charset="-122"/>
                      </a:rPr>
                      <m:t>=</m:t>
                    </m:r>
                    <m:r>
                      <a:rPr lang="en-US" altLang="zh-CN" sz="1800" b="1" i="1">
                        <a:latin typeface="Cambria Math" panose="02040503050406030204"/>
                        <a:ea typeface="黑体" panose="02010609060101010101" pitchFamily="49" charset="-122"/>
                      </a:rPr>
                      <m:t>𝟏</m:t>
                    </m:r>
                  </m:oMath>
                </a14:m>
                <a:endParaRPr lang="en-US" altLang="zh-CN" sz="1800" b="1" dirty="0" smtClean="0">
                  <a:latin typeface="Cambria Math" panose="02040503050406030204"/>
                  <a:ea typeface="黑体" panose="02010609060101010101" pitchFamily="49" charset="-122"/>
                </a:endParaRPr>
              </a:p>
              <a:p>
                <a:pPr marL="1714500" lvl="3" indent="-342900">
                  <a:buClr>
                    <a:srgbClr val="0000A8"/>
                  </a:buClr>
                  <a:buSzPct val="100000"/>
                  <a:buFont typeface="+mj-lt"/>
                  <a:buAutoNum type="arabicPeriod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zh-CN" sz="18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SupPr>
                      <m:e>
                        <m:r>
                          <a:rPr lang="en-US" altLang="zh-CN" sz="18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𝑪</m:t>
                        </m:r>
                      </m:e>
                      <m:sub>
                        <m:r>
                          <a:rPr lang="en-US" altLang="zh-CN" sz="18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</m:sub>
                      <m:sup>
                        <m:r>
                          <a:rPr lang="en-US" altLang="zh-CN" sz="18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′</m:t>
                        </m:r>
                      </m:sup>
                    </m:sSubSup>
                    <m:r>
                      <a:rPr lang="en-US" altLang="zh-CN" sz="1800" b="1" i="1">
                        <a:latin typeface="Cambria Math" panose="02040503050406030204"/>
                        <a:ea typeface="黑体" panose="02010609060101010101" pitchFamily="49" charset="-122"/>
                      </a:rPr>
                      <m:t>=</m:t>
                    </m:r>
                    <m:d>
                      <m:dPr>
                        <m:ctrlPr>
                          <a:rPr lang="en-US" altLang="zh-CN" sz="18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800" b="1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800" b="1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1800" b="1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𝒊</m:t>
                            </m:r>
                            <m:r>
                              <a:rPr lang="en-US" altLang="zh-CN" sz="1800" b="1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1800" b="1" i="1">
                            <a:latin typeface="Cambria Math" panose="02040503050406030204"/>
                            <a:ea typeface="Cambria Math" panose="02040503050406030204"/>
                          </a:rPr>
                          <m:t>∨</m:t>
                        </m:r>
                        <m:sSub>
                          <m:sSubPr>
                            <m:ctrlPr>
                              <a:rPr lang="en-US" altLang="zh-CN" sz="1800" b="1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800" b="1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1800" b="1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𝒊</m:t>
                            </m:r>
                            <m:r>
                              <a:rPr lang="en-US" altLang="zh-CN" sz="1800" b="1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sz="1800" b="1" i="1">
                            <a:latin typeface="Cambria Math" panose="02040503050406030204"/>
                            <a:ea typeface="Cambria Math" panose="02040503050406030204"/>
                          </a:rPr>
                          <m:t>∨</m:t>
                        </m:r>
                        <m:sSub>
                          <m:sSubPr>
                            <m:ctrlPr>
                              <a:rPr lang="en-US" altLang="zh-CN" sz="1800" b="1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800" b="1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𝒚</m:t>
                            </m:r>
                          </m:e>
                          <m:sub>
                            <m:r>
                              <a:rPr lang="en-US" altLang="zh-CN" sz="1800" b="1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𝒊</m:t>
                            </m:r>
                            <m:r>
                              <a:rPr lang="en-US" altLang="zh-CN" sz="1800" b="1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US" altLang="zh-CN" sz="1800" b="1" i="1">
                        <a:latin typeface="Cambria Math" panose="02040503050406030204"/>
                        <a:ea typeface="Cambria Math" panose="02040503050406030204"/>
                      </a:rPr>
                      <m:t>∧</m:t>
                    </m:r>
                    <m:d>
                      <m:dPr>
                        <m:ctrlPr>
                          <a:rPr lang="en-US" altLang="zh-CN" sz="18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800" b="1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800" b="1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1800" b="1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𝒊</m:t>
                            </m:r>
                            <m:r>
                              <a:rPr lang="en-US" altLang="zh-CN" sz="1800" b="1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1800" b="1" i="1">
                            <a:latin typeface="Cambria Math" panose="02040503050406030204"/>
                            <a:ea typeface="Cambria Math" panose="02040503050406030204"/>
                          </a:rPr>
                          <m:t>∨</m:t>
                        </m:r>
                        <m:sSub>
                          <m:sSubPr>
                            <m:ctrlPr>
                              <a:rPr lang="en-US" altLang="zh-CN" sz="1800" b="1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800" b="1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1800" b="1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𝒊</m:t>
                            </m:r>
                            <m:r>
                              <a:rPr lang="en-US" altLang="zh-CN" sz="1800" b="1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sz="1800" b="1" i="1">
                            <a:latin typeface="Cambria Math" panose="02040503050406030204"/>
                            <a:ea typeface="Cambria Math" panose="02040503050406030204"/>
                          </a:rPr>
                          <m:t>∨</m:t>
                        </m:r>
                        <m:sSub>
                          <m:sSubPr>
                            <m:ctrlPr>
                              <a:rPr lang="en-US" altLang="zh-CN" sz="1800" b="1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altLang="zh-CN" sz="1800" b="1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1800" b="1" i="1" dirty="0">
                                    <a:latin typeface="Cambria Math" panose="02040503050406030204"/>
                                    <a:ea typeface="黑体" panose="02010609060101010101" pitchFamily="49" charset="-122"/>
                                  </a:rPr>
                                  <m:t>𝒚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1800" b="1" i="1" dirty="0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𝒊</m:t>
                            </m:r>
                            <m:r>
                              <a:rPr lang="en-US" altLang="zh-CN" sz="1800" b="1" i="1" dirty="0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US" altLang="zh-CN" sz="1800" b="1" i="1" smtClean="0">
                        <a:latin typeface="Cambria Math" panose="02040503050406030204"/>
                        <a:ea typeface="黑体" panose="02010609060101010101" pitchFamily="49" charset="-122"/>
                      </a:rPr>
                      <m:t>=</m:t>
                    </m:r>
                    <m:r>
                      <a:rPr lang="en-US" altLang="zh-CN" sz="1800" b="1" i="1" smtClean="0">
                        <a:latin typeface="Cambria Math" panose="02040503050406030204"/>
                        <a:ea typeface="黑体" panose="02010609060101010101" pitchFamily="49" charset="-122"/>
                      </a:rPr>
                      <m:t>𝟏</m:t>
                    </m:r>
                  </m:oMath>
                </a14:m>
                <a:r>
                  <a:rPr lang="zh-CN" altLang="en-US" sz="1800" b="1" dirty="0">
                    <a:latin typeface="Cambria Math" panose="02040503050406030204"/>
                    <a:ea typeface="黑体" panose="02010609060101010101" pitchFamily="49" charset="-122"/>
                  </a:rPr>
                  <a:t>，</a:t>
                </a:r>
                <a:r>
                  <a:rPr lang="zh-CN" altLang="en-US" sz="1800" b="1" dirty="0" smtClean="0">
                    <a:latin typeface="Cambria Math" panose="02040503050406030204"/>
                    <a:ea typeface="黑体" panose="02010609060101010101" pitchFamily="49" charset="-122"/>
                  </a:rPr>
                  <a:t>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8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𝑪</m:t>
                        </m:r>
                      </m:e>
                      <m:sub>
                        <m:r>
                          <a:rPr lang="en-US" altLang="zh-CN" sz="18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</m:sub>
                    </m:sSub>
                    <m:r>
                      <a:rPr lang="en-US" altLang="zh-CN" sz="1800" b="1" i="1">
                        <a:latin typeface="Cambria Math" panose="02040503050406030204"/>
                        <a:ea typeface="黑体" panose="02010609060101010101" pitchFamily="49" charset="-122"/>
                      </a:rPr>
                      <m:t>=</m:t>
                    </m:r>
                    <m:sSub>
                      <m:sSubPr>
                        <m:ctrlPr>
                          <a:rPr lang="en-US" altLang="zh-CN" sz="18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8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18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  <m:r>
                          <a:rPr lang="en-US" altLang="zh-CN" sz="18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𝟏</m:t>
                        </m:r>
                      </m:sub>
                    </m:sSub>
                    <m:r>
                      <a:rPr lang="en-US" altLang="zh-CN" sz="1800" b="1" i="1">
                        <a:latin typeface="Cambria Math" panose="02040503050406030204"/>
                        <a:ea typeface="Cambria Math" panose="02040503050406030204"/>
                      </a:rPr>
                      <m:t>∨</m:t>
                    </m:r>
                    <m:sSub>
                      <m:sSubPr>
                        <m:ctrlPr>
                          <a:rPr lang="en-US" altLang="zh-CN" sz="18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8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18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  <m:r>
                          <a:rPr lang="en-US" altLang="zh-CN" sz="18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𝟐</m:t>
                        </m:r>
                      </m:sub>
                    </m:sSub>
                    <m:r>
                      <a:rPr lang="en-US" altLang="zh-CN" sz="1800" b="1">
                        <a:latin typeface="Cambria Math" panose="02040503050406030204"/>
                        <a:ea typeface="黑体" panose="02010609060101010101" pitchFamily="49" charset="-122"/>
                      </a:rPr>
                      <m:t>=</m:t>
                    </m:r>
                    <m:r>
                      <a:rPr lang="en-US" altLang="zh-CN" sz="1800" b="1">
                        <a:latin typeface="Cambria Math" panose="02040503050406030204"/>
                        <a:ea typeface="黑体" panose="02010609060101010101" pitchFamily="49" charset="-122"/>
                      </a:rPr>
                      <m:t>𝟏</m:t>
                    </m:r>
                  </m:oMath>
                </a14:m>
                <a:endParaRPr lang="en-US" altLang="zh-CN" sz="1800" b="1" dirty="0" smtClean="0">
                  <a:latin typeface="Cambria Math" panose="02040503050406030204"/>
                  <a:ea typeface="黑体" panose="02010609060101010101" pitchFamily="49" charset="-122"/>
                </a:endParaRPr>
              </a:p>
              <a:p>
                <a:pPr marL="1714500" lvl="3" indent="-342900">
                  <a:buClr>
                    <a:srgbClr val="0000A8"/>
                  </a:buClr>
                  <a:buSzPct val="100000"/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sSubSup>
                          <m:sSubSupPr>
                            <m:ctrlPr>
                              <a:rPr lang="zh-CN" altLang="zh-CN" sz="1800" b="1" i="1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SupPr>
                          <m:e>
                            <m:r>
                              <a:rPr lang="en-US" altLang="zh-CN" sz="1800" b="1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𝑪</m:t>
                            </m:r>
                          </m:e>
                          <m:sub>
                            <m:r>
                              <a:rPr lang="en-US" altLang="zh-CN" sz="1800" b="1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𝒊</m:t>
                            </m:r>
                          </m:sub>
                          <m:sup>
                            <m:r>
                              <a:rPr lang="en-US" altLang="zh-CN" sz="1800" b="1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′</m:t>
                            </m:r>
                          </m:sup>
                        </m:sSubSup>
                        <m:r>
                          <a:rPr lang="en-US" altLang="zh-CN" sz="18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=</m:t>
                        </m:r>
                        <m:r>
                          <a:rPr lang="en-US" altLang="zh-CN" sz="18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𝑪</m:t>
                        </m:r>
                      </m:e>
                      <m:sub>
                        <m:r>
                          <a:rPr lang="en-US" altLang="zh-CN" sz="18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</m:sub>
                    </m:sSub>
                    <m:r>
                      <a:rPr lang="en-US" altLang="zh-CN" sz="1800" b="1" i="1">
                        <a:latin typeface="Cambria Math" panose="02040503050406030204"/>
                        <a:ea typeface="黑体" panose="02010609060101010101" pitchFamily="49" charset="-122"/>
                      </a:rPr>
                      <m:t>=</m:t>
                    </m:r>
                    <m:sSub>
                      <m:sSubPr>
                        <m:ctrlPr>
                          <a:rPr lang="en-US" altLang="zh-CN" sz="18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8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18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  <m:r>
                          <a:rPr lang="en-US" altLang="zh-CN" sz="18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𝟏</m:t>
                        </m:r>
                      </m:sub>
                    </m:sSub>
                    <m:r>
                      <a:rPr lang="en-US" altLang="zh-CN" sz="1800" b="1" i="1">
                        <a:latin typeface="Cambria Math" panose="02040503050406030204"/>
                        <a:ea typeface="Cambria Math" panose="02040503050406030204"/>
                      </a:rPr>
                      <m:t>∨</m:t>
                    </m:r>
                    <m:sSub>
                      <m:sSubPr>
                        <m:ctrlPr>
                          <a:rPr lang="en-US" altLang="zh-CN" sz="18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8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18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  <m:r>
                          <a:rPr lang="en-US" altLang="zh-CN" sz="18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𝟐</m:t>
                        </m:r>
                      </m:sub>
                    </m:sSub>
                    <m:r>
                      <a:rPr lang="en-US" altLang="zh-CN" sz="1800" b="1" i="1">
                        <a:latin typeface="Cambria Math" panose="02040503050406030204"/>
                        <a:ea typeface="Cambria Math" panose="02040503050406030204"/>
                      </a:rPr>
                      <m:t>∨</m:t>
                    </m:r>
                    <m:sSub>
                      <m:sSubPr>
                        <m:ctrlPr>
                          <a:rPr lang="en-US" altLang="zh-CN" sz="18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8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18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  <m:r>
                          <a:rPr lang="en-US" altLang="zh-CN" sz="18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𝟑</m:t>
                        </m:r>
                      </m:sub>
                    </m:sSub>
                    <m:r>
                      <a:rPr lang="en-US" altLang="zh-CN" sz="1800" b="1" i="1" smtClean="0">
                        <a:latin typeface="Cambria Math" panose="02040503050406030204"/>
                        <a:ea typeface="黑体" panose="02010609060101010101" pitchFamily="49" charset="-122"/>
                      </a:rPr>
                      <m:t>=</m:t>
                    </m:r>
                    <m:r>
                      <a:rPr lang="en-US" altLang="zh-CN" sz="1800" b="1" i="1" smtClean="0">
                        <a:latin typeface="Cambria Math" panose="02040503050406030204"/>
                        <a:ea typeface="黑体" panose="02010609060101010101" pitchFamily="49" charset="-122"/>
                      </a:rPr>
                      <m:t>𝟏</m:t>
                    </m:r>
                  </m:oMath>
                </a14:m>
                <a:endParaRPr lang="en-US" altLang="zh-CN" sz="1800" b="1" i="1" dirty="0" smtClean="0">
                  <a:latin typeface="Cambria Math" panose="02040503050406030204"/>
                  <a:ea typeface="黑体" panose="02010609060101010101" pitchFamily="49" charset="-122"/>
                </a:endParaRPr>
              </a:p>
              <a:p>
                <a:pPr marL="1714500" lvl="3" indent="-342900">
                  <a:buClr>
                    <a:srgbClr val="0000A8"/>
                  </a:buClr>
                  <a:buSzPct val="100000"/>
                  <a:buFont typeface="+mj-lt"/>
                  <a:buAutoNum type="arabicPeriod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zh-CN" sz="18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SupPr>
                      <m:e>
                        <m:r>
                          <a:rPr lang="en-US" altLang="zh-CN" sz="18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𝑪</m:t>
                        </m:r>
                      </m:e>
                      <m:sub>
                        <m:r>
                          <a:rPr lang="en-US" altLang="zh-CN" sz="18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</m:sub>
                      <m:sup>
                        <m:r>
                          <a:rPr lang="en-US" altLang="zh-CN" sz="18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′</m:t>
                        </m:r>
                      </m:sup>
                    </m:sSubSup>
                    <m:r>
                      <a:rPr lang="en-US" altLang="zh-CN" sz="1800" b="1" i="1">
                        <a:latin typeface="Cambria Math" panose="02040503050406030204"/>
                        <a:ea typeface="黑体" panose="02010609060101010101" pitchFamily="49" charset="-122"/>
                      </a:rPr>
                      <m:t>=(</m:t>
                    </m:r>
                    <m:sSub>
                      <m:sSubPr>
                        <m:ctrlPr>
                          <a:rPr lang="en-US" altLang="zh-CN" sz="18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8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18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  <m:r>
                          <a:rPr lang="en-US" altLang="zh-CN" sz="18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𝟏</m:t>
                        </m:r>
                      </m:sub>
                    </m:sSub>
                    <m:r>
                      <a:rPr lang="en-US" altLang="zh-CN" sz="1800" b="1" i="1">
                        <a:latin typeface="Cambria Math" panose="02040503050406030204"/>
                        <a:ea typeface="Cambria Math" panose="02040503050406030204"/>
                      </a:rPr>
                      <m:t>∨</m:t>
                    </m:r>
                    <m:sSub>
                      <m:sSubPr>
                        <m:ctrlPr>
                          <a:rPr lang="en-US" altLang="zh-CN" sz="18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8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18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  <m:r>
                          <a:rPr lang="en-US" altLang="zh-CN" sz="18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𝟐</m:t>
                        </m:r>
                      </m:sub>
                    </m:sSub>
                    <m:r>
                      <a:rPr lang="en-US" altLang="zh-CN" sz="1800" b="1" i="1">
                        <a:latin typeface="Cambria Math" panose="02040503050406030204"/>
                        <a:ea typeface="Cambria Math" panose="02040503050406030204"/>
                      </a:rPr>
                      <m:t>∨</m:t>
                    </m:r>
                    <m:sSub>
                      <m:sSubPr>
                        <m:ctrlPr>
                          <a:rPr lang="en-US" altLang="zh-CN" sz="18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8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𝒚</m:t>
                        </m:r>
                      </m:e>
                      <m:sub>
                        <m:r>
                          <a:rPr lang="en-US" altLang="zh-CN" sz="18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  <m:r>
                          <a:rPr lang="en-US" altLang="zh-CN" sz="18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𝟏</m:t>
                        </m:r>
                      </m:sub>
                    </m:sSub>
                    <m:r>
                      <a:rPr lang="en-US" altLang="zh-CN" sz="1800" b="1" i="1">
                        <a:latin typeface="Cambria Math" panose="02040503050406030204"/>
                        <a:ea typeface="黑体" panose="02010609060101010101" pitchFamily="49" charset="-122"/>
                      </a:rPr>
                      <m:t>)</m:t>
                    </m:r>
                    <m:r>
                      <a:rPr lang="en-US" altLang="zh-CN" sz="1800" b="1" i="1">
                        <a:latin typeface="Cambria Math" panose="02040503050406030204"/>
                        <a:ea typeface="Cambria Math" panose="02040503050406030204"/>
                      </a:rPr>
                      <m:t>∧</m:t>
                    </m:r>
                    <m:r>
                      <a:rPr lang="en-US" altLang="zh-CN" sz="1800" b="1" i="1">
                        <a:latin typeface="Cambria Math" panose="02040503050406030204"/>
                        <a:ea typeface="黑体" panose="02010609060101010101" pitchFamily="49" charset="-122"/>
                      </a:rPr>
                      <m:t>(</m:t>
                    </m:r>
                    <m:sSub>
                      <m:sSubPr>
                        <m:ctrlPr>
                          <a:rPr lang="en-US" altLang="zh-CN" sz="1800" b="1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CN" sz="1800" b="1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sz="1800" b="1" i="1" dirty="0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𝒚</m:t>
                            </m:r>
                          </m:e>
                        </m:acc>
                      </m:e>
                      <m:sub>
                        <m:r>
                          <a:rPr lang="en-US" altLang="zh-CN" sz="1800" b="1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  <m:r>
                          <a:rPr lang="en-US" altLang="zh-CN" sz="1800" b="1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𝟏</m:t>
                        </m:r>
                      </m:sub>
                    </m:sSub>
                    <m:r>
                      <a:rPr lang="en-US" altLang="zh-CN" sz="1800" b="1" i="1">
                        <a:latin typeface="Cambria Math" panose="02040503050406030204"/>
                        <a:ea typeface="Cambria Math" panose="02040503050406030204"/>
                      </a:rPr>
                      <m:t>∨</m:t>
                    </m:r>
                    <m:sSub>
                      <m:sSubPr>
                        <m:ctrlPr>
                          <a:rPr lang="en-US" altLang="zh-CN" sz="18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8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18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  <m:r>
                          <a:rPr lang="en-US" altLang="zh-CN" sz="18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𝟑</m:t>
                        </m:r>
                      </m:sub>
                    </m:sSub>
                    <m:r>
                      <a:rPr lang="en-US" altLang="zh-CN" sz="1800" b="1" i="1">
                        <a:latin typeface="Cambria Math" panose="02040503050406030204"/>
                        <a:ea typeface="Cambria Math" panose="02040503050406030204"/>
                      </a:rPr>
                      <m:t>∨</m:t>
                    </m:r>
                    <m:sSub>
                      <m:sSubPr>
                        <m:ctrlPr>
                          <a:rPr lang="en-US" altLang="zh-CN" sz="18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8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𝒚</m:t>
                        </m:r>
                      </m:e>
                      <m:sub>
                        <m:r>
                          <a:rPr lang="en-US" altLang="zh-CN" sz="18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  <m:r>
                          <a:rPr lang="en-US" altLang="zh-CN" sz="18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𝟐</m:t>
                        </m:r>
                      </m:sub>
                    </m:sSub>
                    <m:r>
                      <a:rPr lang="en-US" altLang="zh-CN" sz="1800" b="1" i="1">
                        <a:latin typeface="Cambria Math" panose="02040503050406030204"/>
                        <a:ea typeface="黑体" panose="02010609060101010101" pitchFamily="49" charset="-122"/>
                      </a:rPr>
                      <m:t>)</m:t>
                    </m:r>
                  </m:oMath>
                </a14:m>
                <a:r>
                  <a:rPr lang="en-US" altLang="zh-CN" sz="1800" b="1" dirty="0">
                    <a:ea typeface="Cambria Math" panose="02040503050406030204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800" b="1" i="1">
                        <a:latin typeface="Cambria Math" panose="02040503050406030204"/>
                        <a:ea typeface="Cambria Math" panose="02040503050406030204"/>
                      </a:rPr>
                      <m:t>∧…∧</m:t>
                    </m:r>
                    <m:r>
                      <a:rPr lang="en-US" altLang="zh-CN" sz="1800" b="1" i="1">
                        <a:latin typeface="Cambria Math" panose="02040503050406030204"/>
                        <a:ea typeface="黑体" panose="02010609060101010101" pitchFamily="49" charset="-122"/>
                      </a:rPr>
                      <m:t>(</m:t>
                    </m:r>
                    <m:sSub>
                      <m:sSubPr>
                        <m:ctrlPr>
                          <a:rPr lang="en-US" altLang="zh-CN" sz="1800" b="1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CN" sz="1800" b="1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sz="1800" b="1" i="1" dirty="0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𝒚</m:t>
                            </m:r>
                          </m:e>
                        </m:acc>
                      </m:e>
                      <m:sub>
                        <m:r>
                          <a:rPr lang="en-US" altLang="zh-CN" sz="1800" b="1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𝒊𝒌</m:t>
                        </m:r>
                      </m:sub>
                    </m:sSub>
                    <m:r>
                      <a:rPr lang="en-US" altLang="zh-CN" sz="1800" b="1" i="1">
                        <a:latin typeface="Cambria Math" panose="02040503050406030204"/>
                        <a:ea typeface="Cambria Math" panose="02040503050406030204"/>
                      </a:rPr>
                      <m:t>∨</m:t>
                    </m:r>
                    <m:sSub>
                      <m:sSubPr>
                        <m:ctrlPr>
                          <a:rPr lang="en-US" altLang="zh-CN" sz="18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8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18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  <m:r>
                          <a:rPr lang="en-US" altLang="zh-CN" sz="18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(</m:t>
                        </m:r>
                        <m:r>
                          <a:rPr lang="en-US" altLang="zh-CN" sz="18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𝒌</m:t>
                        </m:r>
                        <m:r>
                          <a:rPr lang="en-US" altLang="zh-CN" sz="18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+</m:t>
                        </m:r>
                        <m:r>
                          <a:rPr lang="en-US" altLang="zh-CN" sz="18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𝟐</m:t>
                        </m:r>
                        <m:r>
                          <a:rPr lang="en-US" altLang="zh-CN" sz="18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)</m:t>
                        </m:r>
                      </m:sub>
                    </m:sSub>
                    <m:r>
                      <a:rPr lang="en-US" altLang="zh-CN" sz="1800" b="1" i="1">
                        <a:latin typeface="Cambria Math" panose="02040503050406030204"/>
                        <a:ea typeface="Cambria Math" panose="02040503050406030204"/>
                      </a:rPr>
                      <m:t>∨</m:t>
                    </m:r>
                    <m:sSub>
                      <m:sSubPr>
                        <m:ctrlPr>
                          <a:rPr lang="en-US" altLang="zh-CN" sz="18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8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𝒚</m:t>
                        </m:r>
                      </m:e>
                      <m:sub>
                        <m:r>
                          <a:rPr lang="en-US" altLang="zh-CN" sz="18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  <m:r>
                          <a:rPr lang="en-US" altLang="zh-CN" sz="18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(</m:t>
                        </m:r>
                        <m:r>
                          <a:rPr lang="en-US" altLang="zh-CN" sz="18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𝒌</m:t>
                        </m:r>
                        <m:r>
                          <a:rPr lang="en-US" altLang="zh-CN" sz="18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+</m:t>
                        </m:r>
                        <m:r>
                          <a:rPr lang="en-US" altLang="zh-CN" sz="18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𝟏</m:t>
                        </m:r>
                        <m:r>
                          <a:rPr lang="en-US" altLang="zh-CN" sz="18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)</m:t>
                        </m:r>
                      </m:sub>
                    </m:sSub>
                    <m:r>
                      <a:rPr lang="en-US" altLang="zh-CN" sz="1800" b="1" i="1">
                        <a:latin typeface="Cambria Math" panose="02040503050406030204"/>
                        <a:ea typeface="黑体" panose="02010609060101010101" pitchFamily="49" charset="-122"/>
                      </a:rPr>
                      <m:t>)</m:t>
                    </m:r>
                  </m:oMath>
                </a14:m>
                <a:r>
                  <a:rPr lang="en-US" altLang="zh-CN" sz="1800" b="1" dirty="0">
                    <a:ea typeface="Cambria Math" panose="02040503050406030204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800" b="1" i="1">
                        <a:latin typeface="Cambria Math" panose="02040503050406030204"/>
                        <a:ea typeface="Cambria Math" panose="02040503050406030204"/>
                      </a:rPr>
                      <m:t>∧…∧</m:t>
                    </m:r>
                  </m:oMath>
                </a14:m>
                <a:r>
                  <a:rPr lang="en-US" altLang="zh-CN" sz="1800" b="1" dirty="0">
                    <a:ea typeface="黑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1800" b="1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800" b="1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altLang="zh-CN" sz="1800" b="1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1800" b="1" i="1" dirty="0">
                                    <a:latin typeface="Cambria Math" panose="02040503050406030204"/>
                                    <a:ea typeface="黑体" panose="02010609060101010101" pitchFamily="49" charset="-122"/>
                                  </a:rPr>
                                  <m:t>𝒚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1800" b="1" i="1" dirty="0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𝒊</m:t>
                            </m:r>
                            <m:d>
                              <m:dPr>
                                <m:ctrlPr>
                                  <a:rPr lang="en-US" altLang="zh-CN" sz="1800" b="1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altLang="zh-CN" sz="1800" b="1" i="1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sz="1800" b="1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800" b="1" i="1">
                                            <a:latin typeface="Cambria Math" panose="02040503050406030204"/>
                                            <a:ea typeface="黑体" panose="02010609060101010101" pitchFamily="49" charset="-122"/>
                                          </a:rPr>
                                          <m:t>𝑪</m:t>
                                        </m:r>
                                      </m:e>
                                      <m:sub>
                                        <m:r>
                                          <a:rPr lang="en-US" altLang="zh-CN" sz="1800" b="1" i="1">
                                            <a:latin typeface="Cambria Math" panose="02040503050406030204"/>
                                            <a:ea typeface="黑体" panose="02010609060101010101" pitchFamily="49" charset="-122"/>
                                          </a:rPr>
                                          <m:t>𝒊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altLang="zh-CN" sz="1800" b="1" i="1">
                                    <a:latin typeface="Cambria Math" panose="02040503050406030204"/>
                                    <a:ea typeface="黑体" panose="02010609060101010101" pitchFamily="49" charset="-122"/>
                                  </a:rPr>
                                  <m:t>−</m:t>
                                </m:r>
                                <m:r>
                                  <a:rPr lang="en-US" altLang="zh-CN" sz="1800" b="1" i="1">
                                    <a:latin typeface="Cambria Math" panose="02040503050406030204"/>
                                    <a:ea typeface="黑体" panose="02010609060101010101" pitchFamily="49" charset="-122"/>
                                  </a:rPr>
                                  <m:t>𝟑</m:t>
                                </m:r>
                              </m:e>
                            </m:d>
                          </m:sub>
                        </m:sSub>
                        <m:r>
                          <a:rPr lang="en-US" altLang="zh-CN" sz="1800" b="1" i="1">
                            <a:latin typeface="Cambria Math" panose="02040503050406030204"/>
                            <a:ea typeface="Cambria Math" panose="02040503050406030204"/>
                          </a:rPr>
                          <m:t>∨</m:t>
                        </m:r>
                        <m:sSub>
                          <m:sSubPr>
                            <m:ctrlPr>
                              <a:rPr lang="en-US" altLang="zh-CN" sz="1800" b="1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800" b="1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1800" b="1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𝒊</m:t>
                            </m:r>
                            <m:d>
                              <m:dPr>
                                <m:ctrlPr>
                                  <a:rPr lang="en-US" altLang="zh-CN" sz="1800" b="1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altLang="zh-CN" sz="1800" b="1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sz="1800" b="1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800" b="1" i="1">
                                            <a:latin typeface="Cambria Math" panose="02040503050406030204"/>
                                            <a:ea typeface="黑体" panose="02010609060101010101" pitchFamily="49" charset="-122"/>
                                          </a:rPr>
                                          <m:t>𝑪</m:t>
                                        </m:r>
                                      </m:e>
                                      <m:sub>
                                        <m:r>
                                          <a:rPr lang="en-US" altLang="zh-CN" sz="1800" b="1" i="1">
                                            <a:latin typeface="Cambria Math" panose="02040503050406030204"/>
                                            <a:ea typeface="黑体" panose="02010609060101010101" pitchFamily="49" charset="-122"/>
                                          </a:rPr>
                                          <m:t>𝒊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altLang="zh-CN" sz="1800" b="1" i="1">
                                    <a:latin typeface="Cambria Math" panose="02040503050406030204"/>
                                    <a:ea typeface="黑体" panose="02010609060101010101" pitchFamily="49" charset="-122"/>
                                  </a:rPr>
                                  <m:t>−</m:t>
                                </m:r>
                                <m:r>
                                  <a:rPr lang="en-US" altLang="zh-CN" sz="1800" b="1" i="1">
                                    <a:latin typeface="Cambria Math" panose="02040503050406030204"/>
                                    <a:ea typeface="黑体" panose="02010609060101010101" pitchFamily="49" charset="-122"/>
                                  </a:rPr>
                                  <m:t>𝟏</m:t>
                                </m:r>
                              </m:e>
                            </m:d>
                          </m:sub>
                        </m:sSub>
                        <m:r>
                          <a:rPr lang="en-US" altLang="zh-CN" sz="1800" b="1" i="1">
                            <a:latin typeface="Cambria Math" panose="02040503050406030204"/>
                            <a:ea typeface="Cambria Math" panose="02040503050406030204"/>
                          </a:rPr>
                          <m:t>∨</m:t>
                        </m:r>
                        <m:sSub>
                          <m:sSubPr>
                            <m:ctrlPr>
                              <a:rPr lang="en-US" altLang="zh-CN" sz="1800" b="1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800" b="1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1800" b="1" i="1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𝒊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sz="1800" b="1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1800" b="1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>
                                        <a:latin typeface="Cambria Math" panose="02040503050406030204"/>
                                        <a:ea typeface="黑体" panose="02010609060101010101" pitchFamily="49" charset="-122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altLang="zh-CN" sz="1800" b="1" i="1">
                                        <a:latin typeface="Cambria Math" panose="02040503050406030204"/>
                                        <a:ea typeface="黑体" panose="02010609060101010101" pitchFamily="49" charset="-122"/>
                                      </a:rPr>
                                      <m:t>𝒊</m:t>
                                    </m:r>
                                  </m:sub>
                                </m:sSub>
                              </m:e>
                            </m:d>
                          </m:sub>
                        </m:sSub>
                      </m:e>
                    </m:d>
                    <m:r>
                      <a:rPr lang="en-US" altLang="zh-CN" sz="1800" b="1" i="1" smtClean="0">
                        <a:latin typeface="Cambria Math" panose="02040503050406030204"/>
                        <a:ea typeface="黑体" panose="02010609060101010101" pitchFamily="49" charset="-122"/>
                      </a:rPr>
                      <m:t>=</m:t>
                    </m:r>
                    <m:r>
                      <a:rPr lang="en-US" altLang="zh-CN" sz="1800" b="1" i="1" smtClean="0">
                        <a:latin typeface="Cambria Math" panose="02040503050406030204"/>
                        <a:ea typeface="黑体" panose="02010609060101010101" pitchFamily="49" charset="-122"/>
                      </a:rPr>
                      <m:t>𝟏</m:t>
                    </m:r>
                  </m:oMath>
                </a14:m>
                <a:r>
                  <a:rPr lang="zh-CN" altLang="en-US" sz="1800" b="1" dirty="0">
                    <a:latin typeface="Cambria Math" panose="02040503050406030204"/>
                    <a:ea typeface="黑体" panose="02010609060101010101" pitchFamily="49" charset="-122"/>
                  </a:rPr>
                  <a:t>，</a:t>
                </a:r>
                <a:r>
                  <a:rPr lang="zh-CN" altLang="en-US" sz="1800" b="1" dirty="0" smtClean="0">
                    <a:latin typeface="Cambria Math" panose="02040503050406030204"/>
                    <a:ea typeface="黑体" panose="02010609060101010101" pitchFamily="49" charset="-122"/>
                  </a:rPr>
                  <a:t>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8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𝑪</m:t>
                        </m:r>
                      </m:e>
                      <m:sub>
                        <m:r>
                          <a:rPr lang="en-US" altLang="zh-CN" sz="18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</m:sub>
                    </m:sSub>
                    <m:r>
                      <a:rPr lang="en-US" altLang="zh-CN" sz="1800" b="1" i="1">
                        <a:latin typeface="Cambria Math" panose="02040503050406030204"/>
                        <a:ea typeface="黑体" panose="02010609060101010101" pitchFamily="49" charset="-122"/>
                      </a:rPr>
                      <m:t>=</m:t>
                    </m:r>
                    <m:sSub>
                      <m:sSubPr>
                        <m:ctrlPr>
                          <a:rPr lang="en-US" altLang="zh-CN" sz="18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8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18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  <m:r>
                          <a:rPr lang="en-US" altLang="zh-CN" sz="18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𝟏</m:t>
                        </m:r>
                      </m:sub>
                    </m:sSub>
                    <m:r>
                      <a:rPr lang="en-US" altLang="zh-CN" sz="1800" b="1" i="1">
                        <a:latin typeface="Cambria Math" panose="02040503050406030204"/>
                        <a:ea typeface="Cambria Math" panose="02040503050406030204"/>
                      </a:rPr>
                      <m:t>∨</m:t>
                    </m:r>
                    <m:sSub>
                      <m:sSubPr>
                        <m:ctrlPr>
                          <a:rPr lang="en-US" altLang="zh-CN" sz="18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8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18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  <m:r>
                          <a:rPr lang="en-US" altLang="zh-CN" sz="18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𝟐</m:t>
                        </m:r>
                      </m:sub>
                    </m:sSub>
                    <m:r>
                      <a:rPr lang="en-US" altLang="zh-CN" sz="1800" b="1" i="1">
                        <a:latin typeface="Cambria Math" panose="02040503050406030204"/>
                        <a:ea typeface="黑体" panose="02010609060101010101" pitchFamily="49" charset="-122"/>
                      </a:rPr>
                      <m:t> </m:t>
                    </m:r>
                    <m:r>
                      <a:rPr lang="en-US" altLang="zh-CN" sz="1800" b="1" i="1">
                        <a:latin typeface="Cambria Math" panose="02040503050406030204"/>
                        <a:ea typeface="Cambria Math" panose="02040503050406030204"/>
                      </a:rPr>
                      <m:t>∨…∨</m:t>
                    </m:r>
                    <m:sSub>
                      <m:sSubPr>
                        <m:ctrlPr>
                          <a:rPr lang="en-US" altLang="zh-CN" sz="18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8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18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altLang="zh-CN" sz="1800" b="1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1800" b="1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800" b="1" i="1">
                                    <a:latin typeface="Cambria Math" panose="02040503050406030204"/>
                                    <a:ea typeface="黑体" panose="02010609060101010101" pitchFamily="49" charset="-122"/>
                                  </a:rPr>
                                  <m:t>𝑪</m:t>
                                </m:r>
                              </m:e>
                              <m:sub>
                                <m:r>
                                  <a:rPr lang="en-US" altLang="zh-CN" sz="1800" b="1" i="1">
                                    <a:latin typeface="Cambria Math" panose="02040503050406030204"/>
                                    <a:ea typeface="黑体" panose="02010609060101010101" pitchFamily="49" charset="-122"/>
                                  </a:rPr>
                                  <m:t>𝒊</m:t>
                                </m:r>
                              </m:sub>
                            </m:sSub>
                          </m:e>
                        </m:d>
                      </m:sub>
                    </m:sSub>
                    <m:r>
                      <a:rPr lang="en-US" altLang="zh-CN" sz="1800" b="1" i="1">
                        <a:latin typeface="Cambria Math" panose="02040503050406030204"/>
                        <a:ea typeface="黑体" panose="02010609060101010101" pitchFamily="49" charset="-122"/>
                      </a:rPr>
                      <m:t>=</m:t>
                    </m:r>
                    <m:r>
                      <a:rPr lang="en-US" altLang="zh-CN" sz="1800" b="1" i="1">
                        <a:latin typeface="Cambria Math" panose="02040503050406030204"/>
                        <a:ea typeface="黑体" panose="02010609060101010101" pitchFamily="49" charset="-122"/>
                      </a:rPr>
                      <m:t>𝟏</m:t>
                    </m:r>
                  </m:oMath>
                </a14:m>
                <a:endParaRPr lang="en-US" altLang="zh-CN" sz="1700" dirty="0">
                  <a:latin typeface="Cambria Math" panose="02040503050406030204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5605" y="1268413"/>
                <a:ext cx="8229600" cy="5373687"/>
              </a:xfrm>
              <a:blipFill rotWithShape="1">
                <a:blip r:embed="rId1"/>
                <a:stretch>
                  <a:fillRect t="-6" b="-287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NP</a:t>
            </a:r>
            <a:r>
              <a:rPr lang="zh-CN" altLang="en-US" dirty="0" smtClean="0"/>
              <a:t>完全问题证明</a:t>
            </a:r>
            <a:endParaRPr lang="zh-CN" altLang="en-US" dirty="0" smtClean="0"/>
          </a:p>
        </p:txBody>
      </p:sp>
      <p:sp>
        <p:nvSpPr>
          <p:cNvPr id="819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>
                <a:latin typeface="Arial" panose="02080604020202020204" pitchFamily="34" charset="0"/>
                <a:ea typeface="黑体" panose="02010609060101010101" pitchFamily="49" charset="-122"/>
              </a:rPr>
              <a:t>假设已知</a:t>
            </a:r>
            <a:r>
              <a:rPr lang="en-US" altLang="zh-CN" dirty="0" smtClean="0">
                <a:latin typeface="Arial" panose="02080604020202020204" pitchFamily="34" charset="0"/>
                <a:ea typeface="黑体" panose="02010609060101010101" pitchFamily="49" charset="-122"/>
              </a:rPr>
              <a:t>3CNF-SAT</a:t>
            </a:r>
            <a:r>
              <a:rPr lang="zh-CN" altLang="en-US" dirty="0" smtClean="0">
                <a:latin typeface="Arial" panose="02080604020202020204" pitchFamily="34" charset="0"/>
                <a:ea typeface="黑体" panose="02010609060101010101" pitchFamily="49" charset="-122"/>
              </a:rPr>
              <a:t>问题是</a:t>
            </a:r>
            <a:r>
              <a:rPr lang="en-US" altLang="zh-CN" dirty="0" smtClean="0">
                <a:latin typeface="Arial" panose="02080604020202020204" pitchFamily="34" charset="0"/>
                <a:ea typeface="黑体" panose="02010609060101010101" pitchFamily="49" charset="-122"/>
              </a:rPr>
              <a:t>NP</a:t>
            </a:r>
            <a:r>
              <a:rPr lang="zh-CN" altLang="en-US" dirty="0" smtClean="0">
                <a:latin typeface="Arial" panose="02080604020202020204" pitchFamily="34" charset="0"/>
                <a:ea typeface="黑体" panose="02010609060101010101" pitchFamily="49" charset="-122"/>
              </a:rPr>
              <a:t>完全问题</a:t>
            </a:r>
            <a:endParaRPr lang="en-US" altLang="zh-CN" dirty="0" smtClean="0">
              <a:latin typeface="Arial" panose="02080604020202020204" pitchFamily="34" charset="0"/>
              <a:ea typeface="黑体" panose="02010609060101010101" pitchFamily="49" charset="-122"/>
            </a:endParaRPr>
          </a:p>
          <a:p>
            <a:r>
              <a:rPr lang="zh-CN" altLang="en-US" dirty="0" smtClean="0">
                <a:latin typeface="Arial" panose="02080604020202020204" pitchFamily="34" charset="0"/>
                <a:ea typeface="黑体" panose="02010609060101010101" pitchFamily="49" charset="-122"/>
              </a:rPr>
              <a:t>现在要证</a:t>
            </a:r>
            <a:endParaRPr lang="en-US" altLang="zh-CN" dirty="0" smtClean="0">
              <a:latin typeface="Arial" panose="02080604020202020204" pitchFamily="34" charset="0"/>
              <a:ea typeface="黑体" panose="02010609060101010101" pitchFamily="49" charset="-122"/>
            </a:endParaRPr>
          </a:p>
          <a:p>
            <a:pPr lvl="1"/>
            <a:r>
              <a:rPr lang="en-US" altLang="zh-CN" dirty="0" smtClean="0">
                <a:latin typeface="Arial" panose="02080604020202020204" pitchFamily="34" charset="0"/>
                <a:ea typeface="黑体" panose="02010609060101010101" pitchFamily="49" charset="-122"/>
              </a:rPr>
              <a:t>k</a:t>
            </a:r>
            <a:r>
              <a:rPr lang="zh-CN" altLang="en-US" dirty="0" smtClean="0">
                <a:latin typeface="Arial" panose="02080604020202020204" pitchFamily="34" charset="0"/>
                <a:ea typeface="黑体" panose="02010609060101010101" pitchFamily="49" charset="-122"/>
              </a:rPr>
              <a:t>团问题</a:t>
            </a:r>
            <a:endParaRPr lang="en-US" altLang="zh-CN" dirty="0" smtClean="0">
              <a:latin typeface="Arial" panose="02080604020202020204" pitchFamily="34" charset="0"/>
              <a:ea typeface="黑体" panose="02010609060101010101" pitchFamily="49" charset="-122"/>
            </a:endParaRPr>
          </a:p>
          <a:p>
            <a:pPr lvl="1"/>
            <a:r>
              <a:rPr lang="zh-CN" altLang="en-US" dirty="0" smtClean="0">
                <a:latin typeface="Arial" panose="02080604020202020204" pitchFamily="34" charset="0"/>
                <a:ea typeface="黑体" panose="02010609060101010101" pitchFamily="49" charset="-122"/>
              </a:rPr>
              <a:t>顶点覆盖问题</a:t>
            </a:r>
            <a:endParaRPr lang="en-US" altLang="zh-CN" dirty="0" smtClean="0">
              <a:latin typeface="Arial" panose="02080604020202020204" pitchFamily="34" charset="0"/>
              <a:ea typeface="黑体" panose="02010609060101010101" pitchFamily="49" charset="-122"/>
            </a:endParaRPr>
          </a:p>
          <a:p>
            <a:pPr lvl="1"/>
            <a:r>
              <a:rPr lang="zh-CN" altLang="en-US" dirty="0" smtClean="0">
                <a:latin typeface="Arial" panose="02080604020202020204" pitchFamily="34" charset="0"/>
                <a:ea typeface="黑体" panose="02010609060101010101" pitchFamily="49" charset="-122"/>
              </a:rPr>
              <a:t>子集和问题</a:t>
            </a:r>
            <a:endParaRPr lang="en-US" altLang="zh-CN" dirty="0" smtClean="0">
              <a:latin typeface="Arial" panose="02080604020202020204" pitchFamily="34" charset="0"/>
              <a:ea typeface="黑体" panose="02010609060101010101" pitchFamily="49" charset="-122"/>
            </a:endParaRPr>
          </a:p>
          <a:p>
            <a:endParaRPr lang="zh-CN" altLang="en-US" dirty="0">
              <a:latin typeface="Arial" panose="02080604020202020204" pitchFamily="34" charset="0"/>
              <a:ea typeface="黑体" panose="02010609060101010101" pitchFamily="49" charset="-122"/>
            </a:endParaRPr>
          </a:p>
          <a:p>
            <a:pPr lvl="1"/>
            <a:endParaRPr lang="zh-CN" altLang="zh-CN" dirty="0" smtClean="0">
              <a:latin typeface="Arial" panose="02080604020202020204" pitchFamily="34" charset="0"/>
              <a:ea typeface="黑体" panose="02010609060101010101" pitchFamily="49" charset="-122"/>
            </a:endParaRPr>
          </a:p>
          <a:p>
            <a:endParaRPr lang="zh-CN" altLang="en-US" dirty="0" smtClean="0">
              <a:latin typeface="Arial" panose="0208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8196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8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8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8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8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8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fld id="{166F650B-5347-4F36-8304-1500CA3F90AB}" type="slidenum">
              <a:rPr lang="en-US" altLang="zh-CN" smtClean="0">
                <a:solidFill>
                  <a:srgbClr val="006600"/>
                </a:solidFill>
                <a:latin typeface="Courier New" panose="02070309020205020404" pitchFamily="49" charset="0"/>
                <a:ea typeface="华文新魏" panose="02010800040101010101" pitchFamily="2" charset="-122"/>
              </a:rPr>
            </a:fld>
            <a:endParaRPr lang="en-US" altLang="zh-CN" dirty="0" smtClean="0">
              <a:solidFill>
                <a:srgbClr val="006600"/>
              </a:solidFill>
              <a:latin typeface="Courier New" panose="02070309020205020404" pitchFamily="49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</a:t>
            </a:r>
            <a:r>
              <a:rPr lang="zh-CN" altLang="en-US" dirty="0" smtClean="0"/>
              <a:t>团问题是</a:t>
            </a:r>
            <a:r>
              <a:rPr lang="en-US" altLang="zh-CN" dirty="0" smtClean="0"/>
              <a:t>NP</a:t>
            </a:r>
            <a:r>
              <a:rPr lang="zh-CN" altLang="en-US" dirty="0" smtClean="0"/>
              <a:t>完全问题</a:t>
            </a:r>
            <a:endParaRPr lang="zh-CN" altLang="en-US" dirty="0" smtClean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195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dirty="0">
                    <a:latin typeface="Arial" panose="02080604020202020204" pitchFamily="34" charset="0"/>
                    <a:ea typeface="黑体" panose="02010609060101010101" pitchFamily="49" charset="-122"/>
                  </a:rPr>
                  <a:t>k</a:t>
                </a:r>
                <a:r>
                  <a:rPr lang="zh-CN" altLang="en-US" dirty="0">
                    <a:latin typeface="Arial" panose="02080604020202020204" pitchFamily="34" charset="0"/>
                    <a:ea typeface="黑体" panose="02010609060101010101" pitchFamily="49" charset="-122"/>
                  </a:rPr>
                  <a:t>团问题</a:t>
                </a:r>
                <a:endParaRPr lang="en-US" altLang="zh-CN" dirty="0">
                  <a:latin typeface="Arial" panose="02080604020202020204" pitchFamily="34" charset="0"/>
                  <a:ea typeface="黑体" panose="02010609060101010101" pitchFamily="49" charset="-122"/>
                </a:endParaRPr>
              </a:p>
              <a:p>
                <a:pPr lvl="1"/>
                <a:r>
                  <a:rPr lang="zh-CN" altLang="en-US" dirty="0">
                    <a:latin typeface="Arial" panose="02080604020202020204" pitchFamily="34" charset="0"/>
                    <a:ea typeface="黑体" panose="02010609060101010101" pitchFamily="49" charset="-122"/>
                  </a:rPr>
                  <a:t>给定一个图</a:t>
                </a:r>
                <a:r>
                  <a:rPr lang="en-US" altLang="zh-CN" dirty="0">
                    <a:latin typeface="Arial" panose="02080604020202020204" pitchFamily="34" charset="0"/>
                    <a:ea typeface="黑体" panose="02010609060101010101" pitchFamily="49" charset="-122"/>
                  </a:rPr>
                  <a:t>G</a:t>
                </a:r>
                <a:r>
                  <a:rPr lang="zh-CN" altLang="en-US" dirty="0">
                    <a:latin typeface="Arial" panose="02080604020202020204" pitchFamily="34" charset="0"/>
                    <a:ea typeface="黑体" panose="02010609060101010101" pitchFamily="49" charset="-122"/>
                  </a:rPr>
                  <a:t>和常数</a:t>
                </a:r>
                <a:r>
                  <a:rPr lang="en-US" altLang="zh-CN" dirty="0">
                    <a:latin typeface="Arial" panose="02080604020202020204" pitchFamily="34" charset="0"/>
                    <a:ea typeface="黑体" panose="02010609060101010101" pitchFamily="49" charset="-122"/>
                  </a:rPr>
                  <a:t>k</a:t>
                </a:r>
                <a:r>
                  <a:rPr lang="zh-CN" altLang="en-US" dirty="0">
                    <a:latin typeface="Arial" panose="02080604020202020204" pitchFamily="34" charset="0"/>
                    <a:ea typeface="黑体" panose="02010609060101010101" pitchFamily="49" charset="-122"/>
                  </a:rPr>
                  <a:t>，</a:t>
                </a:r>
                <a:r>
                  <a:rPr lang="en-US" altLang="zh-CN" dirty="0">
                    <a:latin typeface="Arial" panose="02080604020202020204" pitchFamily="34" charset="0"/>
                    <a:ea typeface="黑体" panose="02010609060101010101" pitchFamily="49" charset="-122"/>
                  </a:rPr>
                  <a:t>G</a:t>
                </a:r>
                <a:r>
                  <a:rPr lang="zh-CN" altLang="en-US" dirty="0">
                    <a:latin typeface="Arial" panose="02080604020202020204" pitchFamily="34" charset="0"/>
                    <a:ea typeface="黑体" panose="02010609060101010101" pitchFamily="49" charset="-122"/>
                  </a:rPr>
                  <a:t>有没有</a:t>
                </a:r>
                <a:r>
                  <a:rPr lang="en-US" altLang="zh-CN" dirty="0">
                    <a:latin typeface="Arial" panose="02080604020202020204" pitchFamily="34" charset="0"/>
                    <a:ea typeface="黑体" panose="02010609060101010101" pitchFamily="49" charset="-122"/>
                  </a:rPr>
                  <a:t>k</a:t>
                </a:r>
                <a:r>
                  <a:rPr lang="zh-CN" altLang="en-US" dirty="0">
                    <a:latin typeface="Arial" panose="02080604020202020204" pitchFamily="34" charset="0"/>
                    <a:ea typeface="黑体" panose="02010609060101010101" pitchFamily="49" charset="-122"/>
                  </a:rPr>
                  <a:t>团？</a:t>
                </a:r>
                <a:endParaRPr lang="en-US" altLang="zh-CN" dirty="0">
                  <a:latin typeface="Arial" panose="02080604020202020204" pitchFamily="34" charset="0"/>
                  <a:ea typeface="黑体" panose="02010609060101010101" pitchFamily="49" charset="-122"/>
                </a:endParaRPr>
              </a:p>
              <a:p>
                <a:r>
                  <a:rPr lang="en-US" altLang="zh-CN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3CNF-SAT</a:t>
                </a:r>
                <a:r>
                  <a:rPr lang="zh-CN" altLang="en-US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问题</a:t>
                </a:r>
                <a:endParaRPr lang="en-US" altLang="zh-CN" dirty="0" smtClean="0">
                  <a:latin typeface="Arial" panose="02080604020202020204" pitchFamily="34" charset="0"/>
                  <a:ea typeface="黑体" panose="02010609060101010101" pitchFamily="49" charset="-122"/>
                </a:endParaRPr>
              </a:p>
              <a:p>
                <a:pPr lvl="1"/>
                <a:r>
                  <a:rPr lang="zh-CN" altLang="en-US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给定</a:t>
                </a:r>
                <a:r>
                  <a:rPr lang="en-US" altLang="zh-CN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n</a:t>
                </a:r>
                <a:r>
                  <a:rPr lang="zh-CN" altLang="en-US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个布尔变元和</a:t>
                </a:r>
                <a:r>
                  <a:rPr lang="en-US" altLang="zh-CN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m</a:t>
                </a:r>
                <a:r>
                  <a:rPr lang="zh-CN" altLang="en-US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个子句，子句是</a:t>
                </a:r>
                <a:r>
                  <a:rPr lang="en-US" altLang="zh-CN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3</a:t>
                </a:r>
                <a:r>
                  <a:rPr lang="zh-CN" altLang="en-US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个文字</a:t>
                </a:r>
                <a:r>
                  <a:rPr lang="en-US" altLang="zh-CN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(</a:t>
                </a:r>
                <a:r>
                  <a:rPr lang="zh-CN" altLang="en-US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变元或变元的非</a:t>
                </a:r>
                <a:r>
                  <a:rPr lang="en-US" altLang="zh-CN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)</a:t>
                </a:r>
                <a:r>
                  <a:rPr lang="zh-CN" altLang="en-US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的析取操作</a:t>
                </a:r>
                <a:endParaRPr lang="en-US" altLang="zh-CN" dirty="0" smtClean="0">
                  <a:latin typeface="Arial" panose="02080604020202020204" pitchFamily="34" charset="0"/>
                  <a:ea typeface="黑体" panose="02010609060101010101" pitchFamily="49" charset="-122"/>
                </a:endParaRPr>
              </a:p>
              <a:p>
                <a:pPr lvl="2"/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 panose="02040503050406030204"/>
                        <a:ea typeface="黑体" panose="02010609060101010101" pitchFamily="49" charset="-122"/>
                      </a:rPr>
                      <m:t>(</m:t>
                    </m:r>
                    <m:sSub>
                      <m:sSubPr>
                        <m:ctrlPr>
                          <a:rPr lang="en-US" altLang="zh-CN" b="1" i="1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i="1" dirty="0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𝒙</m:t>
                            </m:r>
                          </m:e>
                        </m:acc>
                      </m:e>
                      <m:sub>
                        <m:r>
                          <a:rPr lang="en-US" altLang="zh-CN" b="1" i="1" dirty="0" smtClean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𝟏</m:t>
                        </m:r>
                      </m:sub>
                    </m:sSub>
                    <m:r>
                      <a:rPr lang="en-US" altLang="zh-CN" b="1" i="1" dirty="0" smtClean="0">
                        <a:latin typeface="Cambria Math" panose="02040503050406030204"/>
                        <a:ea typeface="黑体" panose="02010609060101010101" pitchFamily="49" charset="-122"/>
                      </a:rPr>
                      <m:t>∨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b="1" i="1" dirty="0" smtClean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b="1" i="1" dirty="0" smtClean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𝟐</m:t>
                        </m:r>
                      </m:sub>
                    </m:sSub>
                    <m:r>
                      <a:rPr lang="en-US" altLang="zh-CN" b="1" i="1" dirty="0" smtClean="0">
                        <a:latin typeface="Cambria Math" panose="02040503050406030204"/>
                        <a:ea typeface="黑体" panose="02010609060101010101" pitchFamily="49" charset="-122"/>
                      </a:rPr>
                      <m:t>∨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b="1" i="1" dirty="0" smtClean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𝟑</m:t>
                        </m:r>
                      </m:sub>
                    </m:sSub>
                    <m:r>
                      <a:rPr lang="en-US" altLang="zh-CN" b="1" i="0" dirty="0" smtClean="0">
                        <a:latin typeface="Cambria Math" panose="02040503050406030204"/>
                        <a:ea typeface="黑体" panose="02010609060101010101" pitchFamily="49" charset="-122"/>
                      </a:rPr>
                      <m:t>)</m:t>
                    </m:r>
                  </m:oMath>
                </a14:m>
                <a:endParaRPr lang="en-US" altLang="zh-CN" dirty="0" smtClean="0">
                  <a:latin typeface="Arial" panose="02080604020202020204" pitchFamily="34" charset="0"/>
                  <a:ea typeface="黑体" panose="02010609060101010101" pitchFamily="49" charset="-122"/>
                </a:endParaRPr>
              </a:p>
              <a:p>
                <a:pPr lvl="1"/>
                <a:r>
                  <a:rPr lang="zh-CN" altLang="en-US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问这</a:t>
                </a:r>
                <a:r>
                  <a:rPr lang="en-US" altLang="zh-CN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m</a:t>
                </a:r>
                <a:r>
                  <a:rPr lang="zh-CN" altLang="en-US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个子句的合取范式</a:t>
                </a:r>
                <a:r>
                  <a:rPr lang="zh-CN" altLang="en-US" dirty="0">
                    <a:latin typeface="Arial" panose="02080604020202020204" pitchFamily="34" charset="0"/>
                    <a:ea typeface="黑体" panose="02010609060101010101" pitchFamily="49" charset="-122"/>
                  </a:rPr>
                  <a:t>的值可否为真</a:t>
                </a:r>
                <a:r>
                  <a:rPr lang="zh-CN" altLang="en-US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？</a:t>
                </a:r>
                <a:endParaRPr lang="en-US" altLang="zh-CN" dirty="0" smtClean="0">
                  <a:latin typeface="Arial" panose="02080604020202020204" pitchFamily="34" charset="0"/>
                  <a:ea typeface="黑体" panose="02010609060101010101" pitchFamily="49" charset="-122"/>
                </a:endParaRPr>
              </a:p>
              <a:p>
                <a:pPr lvl="2"/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 panose="02040503050406030204"/>
                        <a:ea typeface="黑体" panose="02010609060101010101" pitchFamily="49" charset="-122"/>
                      </a:rPr>
                      <m:t>(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i="1" dirty="0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𝒙</m:t>
                            </m:r>
                          </m:e>
                        </m:acc>
                      </m:e>
                      <m:sub>
                        <m:r>
                          <a:rPr lang="en-US" altLang="zh-CN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𝟏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/>
                        <a:ea typeface="黑体" panose="02010609060101010101" pitchFamily="49" charset="-122"/>
                      </a:rPr>
                      <m:t>∨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𝟐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/>
                        <a:ea typeface="黑体" panose="02010609060101010101" pitchFamily="49" charset="-122"/>
                      </a:rPr>
                      <m:t>∨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𝟑</m:t>
                        </m:r>
                      </m:sub>
                    </m:sSub>
                    <m:r>
                      <a:rPr lang="en-US" altLang="zh-CN" b="1" i="1" dirty="0" smtClean="0">
                        <a:latin typeface="Cambria Math" panose="02040503050406030204"/>
                        <a:ea typeface="黑体" panose="02010609060101010101" pitchFamily="49" charset="-122"/>
                      </a:rPr>
                      <m:t>)</m:t>
                    </m:r>
                    <m:r>
                      <a:rPr lang="en-US" altLang="zh-CN" b="1" i="1" dirty="0" smtClean="0">
                        <a:latin typeface="Cambria Math" panose="02040503050406030204"/>
                        <a:ea typeface="Cambria Math" panose="02040503050406030204"/>
                      </a:rPr>
                      <m:t>∧</m:t>
                    </m:r>
                    <m:r>
                      <a:rPr lang="en-US" altLang="zh-CN" b="1" i="1" dirty="0" smtClean="0">
                        <a:latin typeface="Cambria Math" panose="02040503050406030204"/>
                        <a:ea typeface="黑体" panose="02010609060101010101" pitchFamily="49" charset="-122"/>
                      </a:rPr>
                      <m:t>(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b="1" i="1" dirty="0" smtClean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𝟕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/>
                        <a:ea typeface="黑体" panose="02010609060101010101" pitchFamily="49" charset="-122"/>
                      </a:rPr>
                      <m:t>∨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b="1" i="1" dirty="0" smtClean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𝟗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/>
                        <a:ea typeface="黑体" panose="02010609060101010101" pitchFamily="49" charset="-122"/>
                      </a:rPr>
                      <m:t>∨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i="1" dirty="0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𝒙</m:t>
                            </m:r>
                          </m:e>
                        </m:acc>
                      </m:e>
                      <m:sub>
                        <m:r>
                          <a:rPr lang="en-US" altLang="zh-CN" b="1" i="1" dirty="0" smtClean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𝟏𝟎</m:t>
                        </m:r>
                      </m:sub>
                    </m:sSub>
                    <m:r>
                      <a:rPr lang="en-US" altLang="zh-CN" b="1" i="0" dirty="0" smtClean="0">
                        <a:latin typeface="Cambria Math" panose="02040503050406030204"/>
                        <a:ea typeface="黑体" panose="02010609060101010101" pitchFamily="49" charset="-122"/>
                      </a:rPr>
                      <m:t>)</m:t>
                    </m:r>
                    <m:r>
                      <a:rPr lang="en-US" altLang="zh-CN" b="1" i="1" dirty="0" smtClean="0">
                        <a:latin typeface="Cambria Math" panose="02040503050406030204"/>
                        <a:ea typeface="Cambria Math" panose="02040503050406030204"/>
                      </a:rPr>
                      <m:t>∧⋯∧</m:t>
                    </m:r>
                    <m:r>
                      <a:rPr lang="en-US" altLang="zh-CN" b="1" i="0" dirty="0" smtClean="0">
                        <a:latin typeface="Cambria Math" panose="02040503050406030204"/>
                        <a:ea typeface="黑体" panose="02010609060101010101" pitchFamily="49" charset="-122"/>
                      </a:rPr>
                      <m:t>(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b="1" i="1" dirty="0" smtClean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𝟓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/>
                        <a:ea typeface="黑体" panose="02010609060101010101" pitchFamily="49" charset="-122"/>
                      </a:rPr>
                      <m:t>∨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i="1" dirty="0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𝒙</m:t>
                            </m:r>
                          </m:e>
                        </m:acc>
                      </m:e>
                      <m:sub>
                        <m:r>
                          <a:rPr lang="en-US" altLang="zh-CN" b="1" i="1" dirty="0" smtClean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𝟔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/>
                        <a:ea typeface="黑体" panose="02010609060101010101" pitchFamily="49" charset="-122"/>
                      </a:rPr>
                      <m:t>∨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b="1" i="1" dirty="0" smtClean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𝟒</m:t>
                        </m:r>
                      </m:sub>
                    </m:sSub>
                    <m:r>
                      <a:rPr lang="en-US" altLang="zh-CN" b="1" i="1" dirty="0" smtClean="0">
                        <a:latin typeface="Cambria Math" panose="02040503050406030204"/>
                        <a:ea typeface="黑体" panose="02010609060101010101" pitchFamily="49" charset="-122"/>
                      </a:rPr>
                      <m:t>)</m:t>
                    </m:r>
                  </m:oMath>
                </a14:m>
                <a:endParaRPr lang="en-US" altLang="zh-CN" dirty="0">
                  <a:latin typeface="Arial" panose="02080604020202020204" pitchFamily="34" charset="0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8195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t="-7" b="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96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8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8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8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8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8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fld id="{166F650B-5347-4F36-8304-1500CA3F90AB}" type="slidenum">
              <a:rPr lang="en-US" altLang="zh-CN" smtClean="0">
                <a:solidFill>
                  <a:srgbClr val="006600"/>
                </a:solidFill>
                <a:latin typeface="Courier New" panose="02070309020205020404" pitchFamily="49" charset="0"/>
                <a:ea typeface="华文新魏" panose="02010800040101010101" pitchFamily="2" charset="-122"/>
              </a:rPr>
            </a:fld>
            <a:endParaRPr lang="en-US" altLang="zh-CN" smtClean="0">
              <a:solidFill>
                <a:srgbClr val="006600"/>
              </a:solidFill>
              <a:latin typeface="Courier New" panose="02070309020205020404" pitchFamily="49" charset="0"/>
              <a:ea typeface="华文新魏" panose="02010800040101010101" pitchFamily="2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6180515" y="1628800"/>
            <a:ext cx="2880320" cy="1386633"/>
            <a:chOff x="611560" y="4706663"/>
            <a:chExt cx="2880320" cy="1386633"/>
          </a:xfrm>
          <a:solidFill>
            <a:schemeClr val="tx1"/>
          </a:solidFill>
        </p:grpSpPr>
        <p:sp>
          <p:nvSpPr>
            <p:cNvPr id="7" name="椭圆 6"/>
            <p:cNvSpPr/>
            <p:nvPr/>
          </p:nvSpPr>
          <p:spPr bwMode="auto">
            <a:xfrm>
              <a:off x="1619672" y="4833156"/>
              <a:ext cx="108012" cy="108012"/>
            </a:xfrm>
            <a:prstGeom prst="ellipse">
              <a:avLst/>
            </a:prstGeom>
            <a:grpFill/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8" name="椭圆 7"/>
            <p:cNvSpPr/>
            <p:nvPr/>
          </p:nvSpPr>
          <p:spPr bwMode="auto">
            <a:xfrm>
              <a:off x="2465766" y="4706663"/>
              <a:ext cx="108012" cy="108012"/>
            </a:xfrm>
            <a:prstGeom prst="ellipse">
              <a:avLst/>
            </a:prstGeom>
            <a:grpFill/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9" name="椭圆 8"/>
            <p:cNvSpPr/>
            <p:nvPr/>
          </p:nvSpPr>
          <p:spPr bwMode="auto">
            <a:xfrm>
              <a:off x="1475291" y="5604774"/>
              <a:ext cx="108012" cy="108012"/>
            </a:xfrm>
            <a:prstGeom prst="ellipse">
              <a:avLst/>
            </a:prstGeom>
            <a:grpFill/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椭圆 9"/>
            <p:cNvSpPr/>
            <p:nvPr/>
          </p:nvSpPr>
          <p:spPr bwMode="auto">
            <a:xfrm>
              <a:off x="2182644" y="5985284"/>
              <a:ext cx="108012" cy="108012"/>
            </a:xfrm>
            <a:prstGeom prst="ellipse">
              <a:avLst/>
            </a:prstGeom>
            <a:grpFill/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1" name="椭圆 10"/>
            <p:cNvSpPr/>
            <p:nvPr/>
          </p:nvSpPr>
          <p:spPr bwMode="auto">
            <a:xfrm>
              <a:off x="2735796" y="5496762"/>
              <a:ext cx="108012" cy="108012"/>
            </a:xfrm>
            <a:prstGeom prst="ellipse">
              <a:avLst/>
            </a:prstGeom>
            <a:grpFill/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cxnSp>
          <p:nvCxnSpPr>
            <p:cNvPr id="12" name="直接连接符 11"/>
            <p:cNvCxnSpPr>
              <a:stCxn id="7" idx="3"/>
              <a:endCxn id="9" idx="0"/>
            </p:cNvCxnSpPr>
            <p:nvPr/>
          </p:nvCxnSpPr>
          <p:spPr bwMode="auto">
            <a:xfrm flipH="1">
              <a:off x="1529297" y="4925350"/>
              <a:ext cx="106193" cy="679424"/>
            </a:xfrm>
            <a:prstGeom prst="line">
              <a:avLst/>
            </a:prstGeom>
            <a:grpFill/>
            <a:ln w="254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>
              <a:stCxn id="8" idx="3"/>
              <a:endCxn id="9" idx="7"/>
            </p:cNvCxnSpPr>
            <p:nvPr/>
          </p:nvCxnSpPr>
          <p:spPr bwMode="auto">
            <a:xfrm flipH="1">
              <a:off x="1567485" y="4798857"/>
              <a:ext cx="914099" cy="821735"/>
            </a:xfrm>
            <a:prstGeom prst="line">
              <a:avLst/>
            </a:prstGeom>
            <a:grpFill/>
            <a:ln w="254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>
              <a:stCxn id="11" idx="2"/>
              <a:endCxn id="9" idx="6"/>
            </p:cNvCxnSpPr>
            <p:nvPr/>
          </p:nvCxnSpPr>
          <p:spPr bwMode="auto">
            <a:xfrm flipH="1">
              <a:off x="1583303" y="5550768"/>
              <a:ext cx="1152493" cy="108012"/>
            </a:xfrm>
            <a:prstGeom prst="line">
              <a:avLst/>
            </a:prstGeom>
            <a:grpFill/>
            <a:ln w="254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>
              <a:stCxn id="10" idx="1"/>
              <a:endCxn id="9" idx="5"/>
            </p:cNvCxnSpPr>
            <p:nvPr/>
          </p:nvCxnSpPr>
          <p:spPr bwMode="auto">
            <a:xfrm flipH="1" flipV="1">
              <a:off x="1567485" y="5696968"/>
              <a:ext cx="630977" cy="304134"/>
            </a:xfrm>
            <a:prstGeom prst="line">
              <a:avLst/>
            </a:prstGeom>
            <a:grpFill/>
            <a:ln w="254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>
              <a:stCxn id="7" idx="4"/>
              <a:endCxn id="10" idx="1"/>
            </p:cNvCxnSpPr>
            <p:nvPr/>
          </p:nvCxnSpPr>
          <p:spPr bwMode="auto">
            <a:xfrm>
              <a:off x="1673678" y="4941168"/>
              <a:ext cx="524784" cy="1059934"/>
            </a:xfrm>
            <a:prstGeom prst="line">
              <a:avLst/>
            </a:prstGeom>
            <a:grpFill/>
            <a:ln w="254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>
              <a:stCxn id="7" idx="5"/>
              <a:endCxn id="11" idx="1"/>
            </p:cNvCxnSpPr>
            <p:nvPr/>
          </p:nvCxnSpPr>
          <p:spPr bwMode="auto">
            <a:xfrm>
              <a:off x="1711866" y="4925350"/>
              <a:ext cx="1039748" cy="587230"/>
            </a:xfrm>
            <a:prstGeom prst="line">
              <a:avLst/>
            </a:prstGeom>
            <a:grpFill/>
            <a:ln w="254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>
              <a:stCxn id="7" idx="7"/>
              <a:endCxn id="8" idx="2"/>
            </p:cNvCxnSpPr>
            <p:nvPr/>
          </p:nvCxnSpPr>
          <p:spPr bwMode="auto">
            <a:xfrm flipV="1">
              <a:off x="1711866" y="4760669"/>
              <a:ext cx="753900" cy="88305"/>
            </a:xfrm>
            <a:prstGeom prst="line">
              <a:avLst/>
            </a:prstGeom>
            <a:grpFill/>
            <a:ln w="254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>
              <a:stCxn id="8" idx="4"/>
              <a:endCxn id="10" idx="0"/>
            </p:cNvCxnSpPr>
            <p:nvPr/>
          </p:nvCxnSpPr>
          <p:spPr bwMode="auto">
            <a:xfrm flipH="1">
              <a:off x="2236650" y="4814675"/>
              <a:ext cx="283122" cy="1170609"/>
            </a:xfrm>
            <a:prstGeom prst="line">
              <a:avLst/>
            </a:prstGeom>
            <a:grpFill/>
            <a:ln w="254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>
              <a:stCxn id="8" idx="5"/>
              <a:endCxn id="11" idx="0"/>
            </p:cNvCxnSpPr>
            <p:nvPr/>
          </p:nvCxnSpPr>
          <p:spPr bwMode="auto">
            <a:xfrm>
              <a:off x="2557960" y="4798857"/>
              <a:ext cx="231842" cy="697905"/>
            </a:xfrm>
            <a:prstGeom prst="line">
              <a:avLst/>
            </a:prstGeom>
            <a:grpFill/>
            <a:ln w="254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>
              <a:stCxn id="10" idx="7"/>
              <a:endCxn id="11" idx="3"/>
            </p:cNvCxnSpPr>
            <p:nvPr/>
          </p:nvCxnSpPr>
          <p:spPr bwMode="auto">
            <a:xfrm flipV="1">
              <a:off x="2274838" y="5588956"/>
              <a:ext cx="476776" cy="412146"/>
            </a:xfrm>
            <a:prstGeom prst="line">
              <a:avLst/>
            </a:prstGeom>
            <a:grpFill/>
            <a:ln w="254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椭圆 21"/>
            <p:cNvSpPr/>
            <p:nvPr/>
          </p:nvSpPr>
          <p:spPr bwMode="auto">
            <a:xfrm>
              <a:off x="611560" y="5588956"/>
              <a:ext cx="108012" cy="108012"/>
            </a:xfrm>
            <a:prstGeom prst="ellipse">
              <a:avLst/>
            </a:prstGeom>
            <a:grpFill/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3" name="椭圆 22"/>
            <p:cNvSpPr/>
            <p:nvPr/>
          </p:nvSpPr>
          <p:spPr bwMode="auto">
            <a:xfrm>
              <a:off x="3383868" y="5442756"/>
              <a:ext cx="108012" cy="108012"/>
            </a:xfrm>
            <a:prstGeom prst="ellipse">
              <a:avLst/>
            </a:prstGeom>
            <a:grpFill/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cxnSp>
          <p:nvCxnSpPr>
            <p:cNvPr id="24" name="直接连接符 23"/>
            <p:cNvCxnSpPr>
              <a:stCxn id="23" idx="2"/>
              <a:endCxn id="11" idx="6"/>
            </p:cNvCxnSpPr>
            <p:nvPr/>
          </p:nvCxnSpPr>
          <p:spPr bwMode="auto">
            <a:xfrm flipH="1">
              <a:off x="2843808" y="5496762"/>
              <a:ext cx="540060" cy="54006"/>
            </a:xfrm>
            <a:prstGeom prst="line">
              <a:avLst/>
            </a:prstGeom>
            <a:grpFill/>
            <a:ln w="254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>
              <a:stCxn id="9" idx="2"/>
              <a:endCxn id="22" idx="6"/>
            </p:cNvCxnSpPr>
            <p:nvPr/>
          </p:nvCxnSpPr>
          <p:spPr bwMode="auto">
            <a:xfrm flipH="1" flipV="1">
              <a:off x="719572" y="5642962"/>
              <a:ext cx="755719" cy="15818"/>
            </a:xfrm>
            <a:prstGeom prst="line">
              <a:avLst/>
            </a:prstGeom>
            <a:grpFill/>
            <a:ln w="254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/>
          <p:cNvGrpSpPr/>
          <p:nvPr/>
        </p:nvGrpSpPr>
        <p:grpSpPr>
          <a:xfrm>
            <a:off x="7044245" y="1628799"/>
            <a:ext cx="1368517" cy="1386633"/>
            <a:chOff x="8636807" y="1844824"/>
            <a:chExt cx="1368517" cy="1386633"/>
          </a:xfrm>
        </p:grpSpPr>
        <p:sp>
          <p:nvSpPr>
            <p:cNvPr id="27" name="椭圆 26"/>
            <p:cNvSpPr/>
            <p:nvPr/>
          </p:nvSpPr>
          <p:spPr bwMode="auto">
            <a:xfrm>
              <a:off x="8781188" y="1971317"/>
              <a:ext cx="108012" cy="108012"/>
            </a:xfrm>
            <a:prstGeom prst="ellipse">
              <a:avLst/>
            </a:prstGeom>
            <a:solidFill>
              <a:srgbClr val="FF0000"/>
            </a:solidFill>
            <a:ln w="6350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8" name="椭圆 27"/>
            <p:cNvSpPr/>
            <p:nvPr/>
          </p:nvSpPr>
          <p:spPr bwMode="auto">
            <a:xfrm>
              <a:off x="9627282" y="1844824"/>
              <a:ext cx="108012" cy="108012"/>
            </a:xfrm>
            <a:prstGeom prst="ellipse">
              <a:avLst/>
            </a:prstGeom>
            <a:solidFill>
              <a:srgbClr val="FF0000"/>
            </a:solidFill>
            <a:ln w="6350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9" name="椭圆 28"/>
            <p:cNvSpPr/>
            <p:nvPr/>
          </p:nvSpPr>
          <p:spPr bwMode="auto">
            <a:xfrm>
              <a:off x="8636807" y="2742935"/>
              <a:ext cx="108012" cy="108012"/>
            </a:xfrm>
            <a:prstGeom prst="ellipse">
              <a:avLst/>
            </a:prstGeom>
            <a:solidFill>
              <a:srgbClr val="FF0000"/>
            </a:solidFill>
            <a:ln w="6350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0" name="椭圆 29"/>
            <p:cNvSpPr/>
            <p:nvPr/>
          </p:nvSpPr>
          <p:spPr bwMode="auto">
            <a:xfrm>
              <a:off x="9344160" y="3123445"/>
              <a:ext cx="108012" cy="108012"/>
            </a:xfrm>
            <a:prstGeom prst="ellipse">
              <a:avLst/>
            </a:prstGeom>
            <a:solidFill>
              <a:srgbClr val="FF0000"/>
            </a:solidFill>
            <a:ln w="6350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1" name="椭圆 30"/>
            <p:cNvSpPr/>
            <p:nvPr/>
          </p:nvSpPr>
          <p:spPr bwMode="auto">
            <a:xfrm>
              <a:off x="9897312" y="2634923"/>
              <a:ext cx="108012" cy="108012"/>
            </a:xfrm>
            <a:prstGeom prst="ellipse">
              <a:avLst/>
            </a:prstGeom>
            <a:solidFill>
              <a:srgbClr val="FF0000"/>
            </a:solidFill>
            <a:ln w="6350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cxnSp>
          <p:nvCxnSpPr>
            <p:cNvPr id="32" name="直接连接符 31"/>
            <p:cNvCxnSpPr>
              <a:stCxn id="27" idx="3"/>
              <a:endCxn id="29" idx="0"/>
            </p:cNvCxnSpPr>
            <p:nvPr/>
          </p:nvCxnSpPr>
          <p:spPr bwMode="auto">
            <a:xfrm flipH="1">
              <a:off x="8690813" y="2063511"/>
              <a:ext cx="106193" cy="679424"/>
            </a:xfrm>
            <a:prstGeom prst="line">
              <a:avLst/>
            </a:prstGeom>
            <a:solidFill>
              <a:schemeClr val="tx1"/>
            </a:solidFill>
            <a:ln w="6350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/>
            <p:cNvCxnSpPr>
              <a:stCxn id="28" idx="3"/>
              <a:endCxn id="29" idx="7"/>
            </p:cNvCxnSpPr>
            <p:nvPr/>
          </p:nvCxnSpPr>
          <p:spPr bwMode="auto">
            <a:xfrm flipH="1">
              <a:off x="8729001" y="1937018"/>
              <a:ext cx="914099" cy="821735"/>
            </a:xfrm>
            <a:prstGeom prst="line">
              <a:avLst/>
            </a:prstGeom>
            <a:solidFill>
              <a:schemeClr val="tx1"/>
            </a:solidFill>
            <a:ln w="6350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>
              <a:stCxn id="31" idx="2"/>
              <a:endCxn id="29" idx="6"/>
            </p:cNvCxnSpPr>
            <p:nvPr/>
          </p:nvCxnSpPr>
          <p:spPr bwMode="auto">
            <a:xfrm flipH="1">
              <a:off x="8744819" y="2688929"/>
              <a:ext cx="1152493" cy="108012"/>
            </a:xfrm>
            <a:prstGeom prst="line">
              <a:avLst/>
            </a:prstGeom>
            <a:solidFill>
              <a:schemeClr val="tx1"/>
            </a:solidFill>
            <a:ln w="6350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>
              <a:stCxn id="30" idx="1"/>
              <a:endCxn id="29" idx="5"/>
            </p:cNvCxnSpPr>
            <p:nvPr/>
          </p:nvCxnSpPr>
          <p:spPr bwMode="auto">
            <a:xfrm flipH="1" flipV="1">
              <a:off x="8729001" y="2835129"/>
              <a:ext cx="630977" cy="304134"/>
            </a:xfrm>
            <a:prstGeom prst="line">
              <a:avLst/>
            </a:prstGeom>
            <a:solidFill>
              <a:schemeClr val="tx1"/>
            </a:solidFill>
            <a:ln w="6350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/>
            <p:cNvCxnSpPr>
              <a:stCxn id="27" idx="4"/>
              <a:endCxn id="30" idx="1"/>
            </p:cNvCxnSpPr>
            <p:nvPr/>
          </p:nvCxnSpPr>
          <p:spPr bwMode="auto">
            <a:xfrm>
              <a:off x="8835194" y="2079329"/>
              <a:ext cx="524784" cy="1059934"/>
            </a:xfrm>
            <a:prstGeom prst="line">
              <a:avLst/>
            </a:prstGeom>
            <a:solidFill>
              <a:schemeClr val="tx1"/>
            </a:solidFill>
            <a:ln w="6350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/>
            <p:cNvCxnSpPr>
              <a:stCxn id="27" idx="5"/>
              <a:endCxn id="31" idx="1"/>
            </p:cNvCxnSpPr>
            <p:nvPr/>
          </p:nvCxnSpPr>
          <p:spPr bwMode="auto">
            <a:xfrm>
              <a:off x="8873382" y="2063511"/>
              <a:ext cx="1039748" cy="587230"/>
            </a:xfrm>
            <a:prstGeom prst="line">
              <a:avLst/>
            </a:prstGeom>
            <a:solidFill>
              <a:schemeClr val="tx1"/>
            </a:solidFill>
            <a:ln w="6350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/>
            <p:cNvCxnSpPr>
              <a:stCxn id="27" idx="7"/>
              <a:endCxn id="28" idx="2"/>
            </p:cNvCxnSpPr>
            <p:nvPr/>
          </p:nvCxnSpPr>
          <p:spPr bwMode="auto">
            <a:xfrm flipV="1">
              <a:off x="8873382" y="1898830"/>
              <a:ext cx="753900" cy="88305"/>
            </a:xfrm>
            <a:prstGeom prst="line">
              <a:avLst/>
            </a:prstGeom>
            <a:solidFill>
              <a:schemeClr val="tx1"/>
            </a:solidFill>
            <a:ln w="6350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/>
            <p:cNvCxnSpPr>
              <a:stCxn id="28" idx="4"/>
              <a:endCxn id="30" idx="0"/>
            </p:cNvCxnSpPr>
            <p:nvPr/>
          </p:nvCxnSpPr>
          <p:spPr bwMode="auto">
            <a:xfrm flipH="1">
              <a:off x="9398166" y="1952836"/>
              <a:ext cx="283122" cy="1170609"/>
            </a:xfrm>
            <a:prstGeom prst="line">
              <a:avLst/>
            </a:prstGeom>
            <a:solidFill>
              <a:schemeClr val="tx1"/>
            </a:solidFill>
            <a:ln w="6350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/>
            <p:cNvCxnSpPr>
              <a:stCxn id="28" idx="5"/>
              <a:endCxn id="31" idx="0"/>
            </p:cNvCxnSpPr>
            <p:nvPr/>
          </p:nvCxnSpPr>
          <p:spPr bwMode="auto">
            <a:xfrm>
              <a:off x="9719476" y="1937018"/>
              <a:ext cx="231842" cy="697905"/>
            </a:xfrm>
            <a:prstGeom prst="line">
              <a:avLst/>
            </a:prstGeom>
            <a:solidFill>
              <a:schemeClr val="tx1"/>
            </a:solidFill>
            <a:ln w="6350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/>
            <p:cNvCxnSpPr>
              <a:stCxn id="30" idx="7"/>
              <a:endCxn id="31" idx="3"/>
            </p:cNvCxnSpPr>
            <p:nvPr/>
          </p:nvCxnSpPr>
          <p:spPr bwMode="auto">
            <a:xfrm flipV="1">
              <a:off x="9436354" y="2727117"/>
              <a:ext cx="476776" cy="412146"/>
            </a:xfrm>
            <a:prstGeom prst="line">
              <a:avLst/>
            </a:prstGeom>
            <a:solidFill>
              <a:schemeClr val="tx1"/>
            </a:solidFill>
            <a:ln w="6350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</a:t>
            </a:r>
            <a:r>
              <a:rPr lang="zh-CN" altLang="en-US" dirty="0"/>
              <a:t>团问题是</a:t>
            </a:r>
            <a:r>
              <a:rPr lang="en-US" altLang="zh-CN" dirty="0"/>
              <a:t>NP</a:t>
            </a:r>
            <a:r>
              <a:rPr lang="zh-CN" altLang="en-US" dirty="0"/>
              <a:t>完全问题</a:t>
            </a:r>
            <a:endParaRPr lang="zh-CN" altLang="en-US" dirty="0" smtClean="0"/>
          </a:p>
        </p:txBody>
      </p:sp>
      <p:sp>
        <p:nvSpPr>
          <p:cNvPr id="8195" name="内容占位符 2"/>
          <p:cNvSpPr>
            <a:spLocks noGrp="1"/>
          </p:cNvSpPr>
          <p:nvPr>
            <p:ph idx="1"/>
          </p:nvPr>
        </p:nvSpPr>
        <p:spPr>
          <a:xfrm>
            <a:off x="457200" y="1484313"/>
            <a:ext cx="8229600" cy="5373687"/>
          </a:xfrm>
        </p:spPr>
        <p:txBody>
          <a:bodyPr/>
          <a:lstStyle/>
          <a:p>
            <a:r>
              <a:rPr lang="zh-CN" altLang="en-US" dirty="0" smtClean="0">
                <a:latin typeface="Arial" panose="02080604020202020204" pitchFamily="34" charset="0"/>
                <a:ea typeface="黑体" panose="02010609060101010101" pitchFamily="49" charset="-122"/>
              </a:rPr>
              <a:t>证明</a:t>
            </a:r>
            <a:endParaRPr lang="en-US" altLang="zh-CN" dirty="0" smtClean="0">
              <a:latin typeface="Arial" panose="02080604020202020204" pitchFamily="34" charset="0"/>
              <a:ea typeface="黑体" panose="02010609060101010101" pitchFamily="49" charset="-122"/>
            </a:endParaRPr>
          </a:p>
          <a:p>
            <a:pPr lvl="1"/>
            <a:r>
              <a:rPr lang="zh-CN" altLang="en-US" dirty="0" smtClean="0">
                <a:latin typeface="Arial" panose="02080604020202020204" pitchFamily="34" charset="0"/>
                <a:ea typeface="黑体" panose="02010609060101010101" pitchFamily="49" charset="-122"/>
              </a:rPr>
              <a:t>首先，</a:t>
            </a:r>
            <a:r>
              <a:rPr lang="en-US" altLang="zh-CN" dirty="0" smtClean="0">
                <a:latin typeface="Arial" panose="02080604020202020204" pitchFamily="34" charset="0"/>
                <a:ea typeface="黑体" panose="02010609060101010101" pitchFamily="49" charset="-122"/>
              </a:rPr>
              <a:t>k</a:t>
            </a:r>
            <a:r>
              <a:rPr lang="zh-CN" altLang="en-US" dirty="0" smtClean="0">
                <a:latin typeface="Arial" panose="02080604020202020204" pitchFamily="34" charset="0"/>
                <a:ea typeface="黑体" panose="02010609060101010101" pitchFamily="49" charset="-122"/>
              </a:rPr>
              <a:t>团问题是</a:t>
            </a:r>
            <a:r>
              <a:rPr lang="en-US" altLang="zh-CN" dirty="0" smtClean="0">
                <a:latin typeface="Arial" panose="02080604020202020204" pitchFamily="34" charset="0"/>
                <a:ea typeface="黑体" panose="02010609060101010101" pitchFamily="49" charset="-122"/>
              </a:rPr>
              <a:t>NP</a:t>
            </a:r>
            <a:r>
              <a:rPr lang="zh-CN" altLang="en-US" dirty="0" smtClean="0">
                <a:latin typeface="Arial" panose="02080604020202020204" pitchFamily="34" charset="0"/>
                <a:ea typeface="黑体" panose="02010609060101010101" pitchFamily="49" charset="-122"/>
              </a:rPr>
              <a:t>问题</a:t>
            </a:r>
            <a:r>
              <a:rPr lang="en-US" altLang="zh-CN" dirty="0" smtClean="0">
                <a:latin typeface="Arial" panose="02080604020202020204" pitchFamily="34" charset="0"/>
                <a:ea typeface="黑体" panose="02010609060101010101" pitchFamily="49" charset="-122"/>
              </a:rPr>
              <a:t>(</a:t>
            </a:r>
            <a:r>
              <a:rPr lang="zh-CN" altLang="en-US" dirty="0" smtClean="0">
                <a:latin typeface="Arial" panose="02080604020202020204" pitchFamily="34" charset="0"/>
                <a:ea typeface="黑体" panose="02010609060101010101" pitchFamily="49" charset="-122"/>
              </a:rPr>
              <a:t>多项式时间可验证</a:t>
            </a:r>
            <a:r>
              <a:rPr lang="en-US" altLang="zh-CN" dirty="0" smtClean="0">
                <a:latin typeface="Arial" panose="02080604020202020204" pitchFamily="34" charset="0"/>
                <a:ea typeface="黑体" panose="02010609060101010101" pitchFamily="49" charset="-122"/>
              </a:rPr>
              <a:t>)</a:t>
            </a:r>
            <a:endParaRPr lang="en-US" altLang="zh-CN" dirty="0" smtClean="0">
              <a:latin typeface="Arial" panose="02080604020202020204" pitchFamily="34" charset="0"/>
              <a:ea typeface="黑体" panose="02010609060101010101" pitchFamily="49" charset="-122"/>
            </a:endParaRPr>
          </a:p>
          <a:p>
            <a:pPr lvl="1"/>
            <a:r>
              <a:rPr lang="zh-CN" altLang="en-US" dirty="0" smtClean="0">
                <a:latin typeface="Arial" panose="02080604020202020204" pitchFamily="34" charset="0"/>
                <a:ea typeface="黑体" panose="02010609060101010101" pitchFamily="49" charset="-122"/>
              </a:rPr>
              <a:t>规约方法 ：</a:t>
            </a:r>
            <a:r>
              <a:rPr lang="en-US" altLang="zh-CN" dirty="0" smtClean="0">
                <a:latin typeface="Arial" panose="02080604020202020204" pitchFamily="34" charset="0"/>
                <a:ea typeface="黑体" panose="02010609060101010101" pitchFamily="49" charset="-122"/>
              </a:rPr>
              <a:t>3CNF-SAT</a:t>
            </a:r>
            <a:r>
              <a:rPr lang="zh-CN" altLang="en-US" dirty="0" smtClean="0">
                <a:latin typeface="Arial" panose="02080604020202020204" pitchFamily="34" charset="0"/>
                <a:ea typeface="黑体" panose="02010609060101010101" pitchFamily="49" charset="-122"/>
              </a:rPr>
              <a:t>表达式中每一文字对应</a:t>
            </a:r>
            <a:r>
              <a:rPr lang="en-US" altLang="zh-CN" dirty="0" smtClean="0">
                <a:latin typeface="Arial" panose="02080604020202020204" pitchFamily="34" charset="0"/>
                <a:ea typeface="黑体" panose="02010609060101010101" pitchFamily="49" charset="-122"/>
              </a:rPr>
              <a:t>k</a:t>
            </a:r>
            <a:r>
              <a:rPr lang="zh-CN" altLang="en-US" dirty="0" smtClean="0">
                <a:latin typeface="Arial" panose="02080604020202020204" pitchFamily="34" charset="0"/>
                <a:ea typeface="黑体" panose="02010609060101010101" pitchFamily="49" charset="-122"/>
              </a:rPr>
              <a:t>团问题一个顶点，</a:t>
            </a:r>
            <a:r>
              <a:rPr lang="zh-CN" altLang="zh-CN" dirty="0" smtClean="0"/>
              <a:t>若两顶点</a:t>
            </a:r>
            <a:r>
              <a:rPr lang="zh-CN" altLang="zh-CN" dirty="0"/>
              <a:t>同时满足下列两</a:t>
            </a:r>
            <a:r>
              <a:rPr lang="zh-CN" altLang="zh-CN" dirty="0" smtClean="0"/>
              <a:t>条</a:t>
            </a:r>
            <a:r>
              <a:rPr lang="zh-CN" altLang="en-US" dirty="0" smtClean="0"/>
              <a:t>则存在</a:t>
            </a:r>
            <a:r>
              <a:rPr lang="zh-CN" altLang="zh-CN" dirty="0" smtClean="0"/>
              <a:t>边</a:t>
            </a:r>
            <a:r>
              <a:rPr lang="zh-CN" altLang="zh-CN" dirty="0"/>
              <a:t>：</a:t>
            </a:r>
            <a:endParaRPr lang="zh-CN" altLang="zh-CN" dirty="0"/>
          </a:p>
          <a:p>
            <a:pPr lvl="2"/>
            <a:r>
              <a:rPr lang="zh-CN" altLang="zh-CN" dirty="0"/>
              <a:t>两个顶点中的文字不属于同一</a:t>
            </a:r>
            <a:r>
              <a:rPr lang="zh-CN" altLang="zh-CN" dirty="0" smtClean="0"/>
              <a:t>子句</a:t>
            </a:r>
            <a:endParaRPr lang="zh-CN" altLang="zh-CN" dirty="0"/>
          </a:p>
          <a:p>
            <a:pPr lvl="2"/>
            <a:r>
              <a:rPr lang="zh-CN" altLang="zh-CN" dirty="0"/>
              <a:t>两</a:t>
            </a:r>
            <a:r>
              <a:rPr lang="zh-CN" altLang="zh-CN" dirty="0" smtClean="0"/>
              <a:t>个顶点</a:t>
            </a:r>
            <a:r>
              <a:rPr lang="zh-CN" altLang="zh-CN" dirty="0"/>
              <a:t>中的文字不是互补</a:t>
            </a:r>
            <a:r>
              <a:rPr lang="zh-CN" altLang="zh-CN" dirty="0" smtClean="0"/>
              <a:t>的</a:t>
            </a:r>
            <a:endParaRPr lang="en-US" altLang="zh-CN" dirty="0" smtClean="0"/>
          </a:p>
          <a:p>
            <a:pPr lvl="2"/>
            <a:r>
              <a:rPr lang="zh-CN" altLang="en-US" sz="2400" dirty="0">
                <a:latin typeface="Arial" panose="02080604020202020204" pitchFamily="34" charset="0"/>
                <a:ea typeface="黑体" panose="02010609060101010101" pitchFamily="49" charset="-122"/>
              </a:rPr>
              <a:t>令</a:t>
            </a:r>
            <a:r>
              <a:rPr lang="en-US" altLang="zh-CN" sz="2400" dirty="0" smtClean="0">
                <a:latin typeface="Arial" panose="02080604020202020204" pitchFamily="34" charset="0"/>
                <a:ea typeface="黑体" panose="02010609060101010101" pitchFamily="49" charset="-122"/>
              </a:rPr>
              <a:t>k=m</a:t>
            </a:r>
            <a:endParaRPr lang="en-US" altLang="zh-CN" sz="2400" dirty="0">
              <a:latin typeface="Arial" panose="02080604020202020204" pitchFamily="34" charset="0"/>
              <a:ea typeface="黑体" panose="02010609060101010101" pitchFamily="49" charset="-122"/>
            </a:endParaRPr>
          </a:p>
          <a:p>
            <a:pPr lvl="2"/>
            <a:endParaRPr lang="en-US" altLang="zh-CN" dirty="0" smtClean="0">
              <a:latin typeface="Arial" panose="02080604020202020204" pitchFamily="34" charset="0"/>
              <a:ea typeface="黑体" panose="02010609060101010101" pitchFamily="49" charset="-122"/>
            </a:endParaRPr>
          </a:p>
          <a:p>
            <a:endParaRPr lang="zh-CN" altLang="en-US" dirty="0">
              <a:latin typeface="Arial" panose="02080604020202020204" pitchFamily="34" charset="0"/>
              <a:ea typeface="黑体" panose="02010609060101010101" pitchFamily="49" charset="-122"/>
            </a:endParaRPr>
          </a:p>
          <a:p>
            <a:pPr lvl="1"/>
            <a:endParaRPr lang="zh-CN" altLang="zh-CN" dirty="0" smtClean="0">
              <a:latin typeface="Arial" panose="02080604020202020204" pitchFamily="34" charset="0"/>
              <a:ea typeface="黑体" panose="02010609060101010101" pitchFamily="49" charset="-122"/>
            </a:endParaRPr>
          </a:p>
          <a:p>
            <a:endParaRPr lang="zh-CN" altLang="en-US" dirty="0" smtClean="0">
              <a:latin typeface="Arial" panose="02080604020202020204" pitchFamily="34" charset="0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8" name="矩形 97"/>
              <p:cNvSpPr/>
              <p:nvPr/>
            </p:nvSpPr>
            <p:spPr>
              <a:xfrm>
                <a:off x="-508" y="5884065"/>
                <a:ext cx="5903191" cy="36893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b="1" i="1" dirty="0" smtClean="0">
                          <a:solidFill>
                            <a:srgbClr val="FF0000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lang="en-US" altLang="zh-CN" sz="18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altLang="zh-CN" sz="1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1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</a:rPr>
                                <m:t>𝒙</m:t>
                              </m:r>
                            </m:e>
                          </m:acc>
                        </m:e>
                        <m:sub>
                          <m:r>
                            <a:rPr lang="en-US" altLang="zh-CN" sz="1800" b="1" i="1" dirty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𝟏</m:t>
                          </m:r>
                        </m:sub>
                      </m:sSub>
                      <m:r>
                        <a:rPr lang="en-US" altLang="zh-CN" sz="1800" b="1" i="1" dirty="0">
                          <a:solidFill>
                            <a:srgbClr val="FF0000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∨</m:t>
                      </m:r>
                      <m:sSub>
                        <m:sSubPr>
                          <m:ctrlPr>
                            <a:rPr lang="en-US" altLang="zh-CN" sz="18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1800" b="1" i="1" dirty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1800" b="1" i="1" dirty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𝟐</m:t>
                          </m:r>
                        </m:sub>
                      </m:sSub>
                      <m:r>
                        <a:rPr lang="en-US" altLang="zh-CN" sz="1800" b="1" i="1" dirty="0">
                          <a:solidFill>
                            <a:srgbClr val="FF0000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∨</m:t>
                      </m:r>
                      <m:sSub>
                        <m:sSubPr>
                          <m:ctrlPr>
                            <a:rPr lang="en-US" altLang="zh-CN" sz="18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1800" b="1" i="1" dirty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1800" b="1" i="1" dirty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𝟑</m:t>
                          </m:r>
                        </m:sub>
                      </m:sSub>
                      <m:r>
                        <a:rPr lang="en-US" altLang="zh-CN" sz="1800" b="1" i="1" dirty="0">
                          <a:solidFill>
                            <a:srgbClr val="FF0000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)</m:t>
                      </m:r>
                      <m:r>
                        <a:rPr lang="en-US" altLang="zh-CN" sz="1800" b="1" i="1" dirty="0">
                          <a:solidFill>
                            <a:srgbClr val="FF0000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∧</m:t>
                      </m:r>
                      <m:r>
                        <a:rPr lang="en-US" altLang="zh-CN" sz="1800" b="1" i="1" dirty="0">
                          <a:solidFill>
                            <a:srgbClr val="FF0000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lang="en-US" altLang="zh-CN" sz="18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1800" b="1" i="1" dirty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1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𝟏</m:t>
                          </m:r>
                        </m:sub>
                      </m:sSub>
                      <m:r>
                        <a:rPr lang="en-US" altLang="zh-CN" sz="1800" b="1" i="1" dirty="0">
                          <a:solidFill>
                            <a:srgbClr val="FF0000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∨</m:t>
                      </m:r>
                      <m:sSub>
                        <m:sSubPr>
                          <m:ctrlPr>
                            <a:rPr lang="en-US" altLang="zh-CN" sz="18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1800" b="1" i="1" dirty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1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𝟐</m:t>
                          </m:r>
                        </m:sub>
                      </m:sSub>
                      <m:r>
                        <a:rPr lang="en-US" altLang="zh-CN" sz="1800" b="1" i="1" dirty="0">
                          <a:solidFill>
                            <a:srgbClr val="FF0000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∨</m:t>
                      </m:r>
                      <m:sSub>
                        <m:sSubPr>
                          <m:ctrlPr>
                            <a:rPr lang="en-US" altLang="zh-CN" sz="18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1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1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𝟑</m:t>
                          </m:r>
                        </m:sub>
                      </m:sSub>
                      <m:r>
                        <a:rPr lang="en-US" altLang="zh-CN" sz="1800" b="1" dirty="0">
                          <a:solidFill>
                            <a:srgbClr val="FF0000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)</m:t>
                      </m:r>
                      <m:r>
                        <a:rPr lang="en-US" altLang="zh-CN" sz="1800" b="1" i="1" dirty="0">
                          <a:solidFill>
                            <a:srgbClr val="FF0000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∧</m:t>
                      </m:r>
                      <m:r>
                        <a:rPr lang="en-US" altLang="zh-CN" sz="1800" b="1" dirty="0">
                          <a:solidFill>
                            <a:srgbClr val="FF0000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lang="en-US" altLang="zh-CN" sz="18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1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1800" b="1" i="1" dirty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𝟏</m:t>
                          </m:r>
                        </m:sub>
                      </m:sSub>
                      <m:r>
                        <a:rPr lang="en-US" altLang="zh-CN" sz="1800" b="1" i="1" dirty="0">
                          <a:solidFill>
                            <a:srgbClr val="FF0000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∨</m:t>
                      </m:r>
                      <m:sSub>
                        <m:sSubPr>
                          <m:ctrlPr>
                            <a:rPr lang="en-US" altLang="zh-CN" sz="18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altLang="zh-CN" sz="1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1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</a:rPr>
                                <m:t>𝒙</m:t>
                              </m:r>
                            </m:e>
                          </m:acc>
                        </m:e>
                        <m:sub>
                          <m:r>
                            <a:rPr lang="en-US" altLang="zh-CN" sz="1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𝟐</m:t>
                          </m:r>
                        </m:sub>
                      </m:sSub>
                      <m:r>
                        <a:rPr lang="en-US" altLang="zh-CN" sz="1800" b="1" i="1" dirty="0">
                          <a:solidFill>
                            <a:srgbClr val="FF0000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∨</m:t>
                      </m:r>
                      <m:sSub>
                        <m:sSubPr>
                          <m:ctrlPr>
                            <a:rPr lang="en-US" altLang="zh-CN" sz="18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altLang="zh-CN" sz="1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1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</a:rPr>
                                <m:t>𝒙</m:t>
                              </m:r>
                            </m:e>
                          </m:acc>
                        </m:e>
                        <m:sub>
                          <m:r>
                            <a:rPr lang="en-US" altLang="zh-CN" sz="1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𝟑</m:t>
                          </m:r>
                        </m:sub>
                      </m:sSub>
                      <m:r>
                        <a:rPr lang="en-US" altLang="zh-CN" sz="1800" b="1" i="1" dirty="0">
                          <a:solidFill>
                            <a:srgbClr val="FF0000"/>
                          </a:solidFill>
                          <a:latin typeface="DejaVu Math TeX Gyre" panose="02000503000000000000" charset="0"/>
                          <a:ea typeface="MS Mincho" charset="0"/>
                          <a:cs typeface="DejaVu Math TeX Gyre" panose="02000503000000000000" charset="0"/>
                        </a:rPr>
                        <m:t>)</m:t>
                      </m:r>
                    </m:oMath>
                  </m:oMathPara>
                </a14:m>
                <a:endParaRPr lang="en-US" altLang="zh-CN" sz="1800" b="1" i="1" dirty="0">
                  <a:solidFill>
                    <a:srgbClr val="FF0000"/>
                  </a:solidFill>
                  <a:latin typeface="DejaVu Math TeX Gyre" panose="02000503000000000000" charset="0"/>
                  <a:ea typeface="MS Mincho" charset="0"/>
                  <a:cs typeface="DejaVu Math TeX Gyre" panose="02000503000000000000" charset="0"/>
                </a:endParaRPr>
              </a:p>
            </p:txBody>
          </p:sp>
        </mc:Choice>
        <mc:Fallback>
          <p:sp>
            <p:nvSpPr>
              <p:cNvPr id="98" name="矩形 9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08" y="5884065"/>
                <a:ext cx="5903191" cy="368935"/>
              </a:xfrm>
              <a:prstGeom prst="rect">
                <a:avLst/>
              </a:prstGeom>
              <a:blipFill rotWithShape="1">
                <a:blip r:embed="rId1"/>
                <a:stretch>
                  <a:fillRect l="9" t="-42" r="6" b="4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9" name="TextBox 98"/>
          <p:cNvSpPr txBox="1"/>
          <p:nvPr/>
        </p:nvSpPr>
        <p:spPr>
          <a:xfrm>
            <a:off x="741814" y="5616824"/>
            <a:ext cx="479618" cy="369332"/>
          </a:xfrm>
          <a:prstGeom prst="rect">
            <a:avLst/>
          </a:prstGeom>
          <a:noFill/>
          <a:ln w="25400">
            <a:noFill/>
          </a:ln>
        </p:spPr>
        <p:txBody>
          <a:bodyPr wrap="none" rtlCol="0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b="1" dirty="0" smtClean="0">
                <a:solidFill>
                  <a:srgbClr val="000099"/>
                </a:solidFill>
                <a:ea typeface="黑体" panose="02010609060101010101" pitchFamily="49" charset="-122"/>
              </a:rPr>
              <a:t>C1</a:t>
            </a:r>
            <a:endParaRPr lang="zh-CN" altLang="en-US" b="1" dirty="0" smtClean="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2711279" y="5589241"/>
            <a:ext cx="479618" cy="369332"/>
          </a:xfrm>
          <a:prstGeom prst="rect">
            <a:avLst/>
          </a:prstGeom>
          <a:noFill/>
          <a:ln w="25400">
            <a:noFill/>
          </a:ln>
        </p:spPr>
        <p:txBody>
          <a:bodyPr wrap="none" rtlCol="0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b="1" dirty="0" smtClean="0">
                <a:solidFill>
                  <a:srgbClr val="000099"/>
                </a:solidFill>
                <a:ea typeface="黑体" panose="02010609060101010101" pitchFamily="49" charset="-122"/>
              </a:rPr>
              <a:t>C2</a:t>
            </a:r>
            <a:endParaRPr lang="zh-CN" altLang="en-US" b="1" dirty="0" smtClean="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4630246" y="5589240"/>
            <a:ext cx="479618" cy="369332"/>
          </a:xfrm>
          <a:prstGeom prst="rect">
            <a:avLst/>
          </a:prstGeom>
          <a:noFill/>
          <a:ln w="25400">
            <a:noFill/>
          </a:ln>
        </p:spPr>
        <p:txBody>
          <a:bodyPr wrap="none" rtlCol="0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b="1" dirty="0" smtClean="0">
                <a:solidFill>
                  <a:srgbClr val="000099"/>
                </a:solidFill>
                <a:ea typeface="黑体" panose="02010609060101010101" pitchFamily="49" charset="-122"/>
              </a:rPr>
              <a:t>C3</a:t>
            </a:r>
            <a:endParaRPr lang="zh-CN" altLang="en-US" b="1" dirty="0" smtClean="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2" name="矩形 101"/>
              <p:cNvSpPr/>
              <p:nvPr/>
            </p:nvSpPr>
            <p:spPr>
              <a:xfrm>
                <a:off x="6829907" y="4006225"/>
                <a:ext cx="375616" cy="338554"/>
              </a:xfrm>
              <a:prstGeom prst="rect">
                <a:avLst/>
              </a:prstGeom>
            </p:spPr>
            <p:txBody>
              <a:bodyPr wrap="none" lIns="0" tIns="0" rIns="0" bIns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altLang="zh-CN" sz="22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2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</a:rPr>
                                <m:t>𝒙</m:t>
                              </m:r>
                            </m:e>
                          </m:acc>
                        </m:e>
                        <m:sub>
                          <m: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sz="22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02" name="矩形 10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9907" y="4006225"/>
                <a:ext cx="375616" cy="338554"/>
              </a:xfrm>
              <a:prstGeom prst="rect">
                <a:avLst/>
              </a:prstGeom>
              <a:blipFill rotWithShape="1">
                <a:blip r:embed="rId2"/>
                <a:stretch>
                  <a:fillRect l="-128" t="-3" r="-20408" b="3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3" name="矩形 102"/>
              <p:cNvSpPr/>
              <p:nvPr/>
            </p:nvSpPr>
            <p:spPr>
              <a:xfrm>
                <a:off x="5976362" y="4863934"/>
                <a:ext cx="375616" cy="338554"/>
              </a:xfrm>
              <a:prstGeom prst="rect">
                <a:avLst/>
              </a:prstGeom>
              <a:ln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sz="22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03" name="矩形 10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6362" y="4863934"/>
                <a:ext cx="375616" cy="338554"/>
              </a:xfrm>
              <a:prstGeom prst="rect">
                <a:avLst/>
              </a:prstGeom>
              <a:blipFill rotWithShape="1">
                <a:blip r:embed="rId3"/>
                <a:stretch>
                  <a:fillRect l="-100" t="-139" r="-20436" b="16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4" name="矩形 103"/>
              <p:cNvSpPr/>
              <p:nvPr/>
            </p:nvSpPr>
            <p:spPr>
              <a:xfrm>
                <a:off x="8696884" y="4955799"/>
                <a:ext cx="375616" cy="338554"/>
              </a:xfrm>
              <a:prstGeom prst="rect">
                <a:avLst/>
              </a:prstGeom>
              <a:ln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sz="22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04" name="矩形 10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6884" y="4955799"/>
                <a:ext cx="375616" cy="338554"/>
              </a:xfrm>
              <a:prstGeom prst="rect">
                <a:avLst/>
              </a:prstGeom>
              <a:blipFill rotWithShape="1">
                <a:blip r:embed="rId3"/>
                <a:stretch>
                  <a:fillRect l="-149" t="-77" r="-20388" b="10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5" name="矩形 104"/>
              <p:cNvSpPr/>
              <p:nvPr/>
            </p:nvSpPr>
            <p:spPr>
              <a:xfrm>
                <a:off x="7447251" y="4006225"/>
                <a:ext cx="375616" cy="338554"/>
              </a:xfrm>
              <a:prstGeom prst="rect">
                <a:avLst/>
              </a:prstGeom>
            </p:spPr>
            <p:txBody>
              <a:bodyPr wrap="none" lIns="0" tIns="0" rIns="0" bIns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zh-CN" altLang="en-US" sz="22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05" name="矩形 10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7251" y="4006225"/>
                <a:ext cx="375616" cy="338554"/>
              </a:xfrm>
              <a:prstGeom prst="rect">
                <a:avLst/>
              </a:prstGeom>
              <a:blipFill rotWithShape="1">
                <a:blip r:embed="rId4"/>
                <a:stretch>
                  <a:fillRect l="-161" t="-3" r="-24264" b="3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6" name="矩形 105"/>
              <p:cNvSpPr/>
              <p:nvPr/>
            </p:nvSpPr>
            <p:spPr>
              <a:xfrm>
                <a:off x="8064594" y="4006225"/>
                <a:ext cx="375616" cy="338554"/>
              </a:xfrm>
              <a:prstGeom prst="rect">
                <a:avLst/>
              </a:prstGeom>
            </p:spPr>
            <p:txBody>
              <a:bodyPr wrap="none" lIns="0" tIns="0" rIns="0" bIns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zh-CN" altLang="en-US" sz="22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06" name="矩形 10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4594" y="4006225"/>
                <a:ext cx="375616" cy="338554"/>
              </a:xfrm>
              <a:prstGeom prst="rect">
                <a:avLst/>
              </a:prstGeom>
              <a:blipFill rotWithShape="1">
                <a:blip r:embed="rId5"/>
                <a:stretch>
                  <a:fillRect l="-25" t="-3" r="-25752" b="3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7" name="矩形 106"/>
              <p:cNvSpPr/>
              <p:nvPr/>
            </p:nvSpPr>
            <p:spPr>
              <a:xfrm>
                <a:off x="5976362" y="5409044"/>
                <a:ext cx="375616" cy="338554"/>
              </a:xfrm>
              <a:prstGeom prst="rect">
                <a:avLst/>
              </a:prstGeom>
              <a:ln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zh-CN" altLang="en-US" sz="22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07" name="矩形 10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6362" y="5409044"/>
                <a:ext cx="375616" cy="338554"/>
              </a:xfrm>
              <a:prstGeom prst="rect">
                <a:avLst/>
              </a:prstGeom>
              <a:blipFill rotWithShape="1">
                <a:blip r:embed="rId4"/>
                <a:stretch>
                  <a:fillRect l="-100" t="-34" r="-24325" b="6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8" name="矩形 107"/>
              <p:cNvSpPr/>
              <p:nvPr/>
            </p:nvSpPr>
            <p:spPr>
              <a:xfrm>
                <a:off x="5976362" y="5994399"/>
                <a:ext cx="375616" cy="338554"/>
              </a:xfrm>
              <a:prstGeom prst="rect">
                <a:avLst/>
              </a:prstGeom>
              <a:ln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zh-CN" altLang="en-US" sz="22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08" name="矩形 10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6362" y="5994399"/>
                <a:ext cx="375616" cy="338554"/>
              </a:xfrm>
              <a:prstGeom prst="rect">
                <a:avLst/>
              </a:prstGeom>
              <a:blipFill rotWithShape="1">
                <a:blip r:embed="rId5"/>
                <a:stretch>
                  <a:fillRect l="-100" t="-187" r="-25677" b="2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9" name="矩形 108"/>
              <p:cNvSpPr/>
              <p:nvPr/>
            </p:nvSpPr>
            <p:spPr>
              <a:xfrm>
                <a:off x="8696884" y="5526912"/>
                <a:ext cx="375616" cy="338554"/>
              </a:xfrm>
              <a:prstGeom prst="rect">
                <a:avLst/>
              </a:prstGeom>
              <a:ln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altLang="zh-CN" sz="22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2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</a:rPr>
                                <m:t>𝒙</m:t>
                              </m:r>
                            </m:e>
                          </m:acc>
                        </m:e>
                        <m:sub>
                          <m:r>
                            <a:rPr lang="en-US" altLang="zh-CN" sz="2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zh-CN" altLang="en-US" sz="22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09" name="矩形 10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6884" y="5526912"/>
                <a:ext cx="375616" cy="338554"/>
              </a:xfrm>
              <a:prstGeom prst="rect">
                <a:avLst/>
              </a:prstGeom>
              <a:blipFill rotWithShape="1">
                <a:blip r:embed="rId6"/>
                <a:stretch>
                  <a:fillRect l="-149" t="-150" r="-24276" b="17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0" name="矩形 109"/>
              <p:cNvSpPr/>
              <p:nvPr/>
            </p:nvSpPr>
            <p:spPr>
              <a:xfrm>
                <a:off x="8696884" y="6022449"/>
                <a:ext cx="375616" cy="338554"/>
              </a:xfrm>
              <a:prstGeom prst="rect">
                <a:avLst/>
              </a:prstGeom>
              <a:ln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altLang="zh-CN" sz="22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2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</a:rPr>
                                <m:t>𝒙</m:t>
                              </m:r>
                            </m:e>
                          </m:acc>
                        </m:e>
                        <m:sub>
                          <m:r>
                            <a:rPr lang="en-US" altLang="zh-CN" sz="2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zh-CN" altLang="en-US" sz="22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10" name="矩形 10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6884" y="6022449"/>
                <a:ext cx="375616" cy="338554"/>
              </a:xfrm>
              <a:prstGeom prst="rect">
                <a:avLst/>
              </a:prstGeom>
              <a:blipFill rotWithShape="1">
                <a:blip r:embed="rId7"/>
                <a:stretch>
                  <a:fillRect l="-149" t="-32" r="-25629" b="6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1" name="直接连接符 110"/>
          <p:cNvCxnSpPr>
            <a:stCxn id="102" idx="2"/>
            <a:endCxn id="109" idx="1"/>
          </p:cNvCxnSpPr>
          <p:nvPr/>
        </p:nvCxnSpPr>
        <p:spPr bwMode="auto">
          <a:xfrm>
            <a:off x="7017715" y="4344779"/>
            <a:ext cx="1679169" cy="1351410"/>
          </a:xfrm>
          <a:prstGeom prst="line">
            <a:avLst/>
          </a:prstGeom>
          <a:ln w="25400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接连接符 111"/>
          <p:cNvCxnSpPr>
            <a:stCxn id="102" idx="2"/>
            <a:endCxn id="110" idx="1"/>
          </p:cNvCxnSpPr>
          <p:nvPr/>
        </p:nvCxnSpPr>
        <p:spPr bwMode="auto">
          <a:xfrm>
            <a:off x="7017715" y="4344779"/>
            <a:ext cx="1679169" cy="1846947"/>
          </a:xfrm>
          <a:prstGeom prst="line">
            <a:avLst/>
          </a:prstGeom>
          <a:ln w="25400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接连接符 112"/>
          <p:cNvCxnSpPr>
            <a:stCxn id="105" idx="2"/>
            <a:endCxn id="103" idx="3"/>
          </p:cNvCxnSpPr>
          <p:nvPr/>
        </p:nvCxnSpPr>
        <p:spPr bwMode="auto">
          <a:xfrm flipH="1">
            <a:off x="6351978" y="4344779"/>
            <a:ext cx="1283081" cy="688432"/>
          </a:xfrm>
          <a:prstGeom prst="line">
            <a:avLst/>
          </a:prstGeom>
          <a:ln w="25400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接连接符 113"/>
          <p:cNvCxnSpPr>
            <a:stCxn id="105" idx="2"/>
            <a:endCxn id="108" idx="3"/>
          </p:cNvCxnSpPr>
          <p:nvPr/>
        </p:nvCxnSpPr>
        <p:spPr bwMode="auto">
          <a:xfrm flipH="1">
            <a:off x="6351978" y="4344779"/>
            <a:ext cx="1283081" cy="1818897"/>
          </a:xfrm>
          <a:prstGeom prst="line">
            <a:avLst/>
          </a:prstGeom>
          <a:ln w="25400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接连接符 114"/>
          <p:cNvCxnSpPr>
            <a:stCxn id="106" idx="2"/>
            <a:endCxn id="107" idx="3"/>
          </p:cNvCxnSpPr>
          <p:nvPr/>
        </p:nvCxnSpPr>
        <p:spPr bwMode="auto">
          <a:xfrm flipH="1">
            <a:off x="6351978" y="4344779"/>
            <a:ext cx="1900424" cy="1233542"/>
          </a:xfrm>
          <a:prstGeom prst="line">
            <a:avLst/>
          </a:prstGeom>
          <a:ln w="25400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接连接符 115"/>
          <p:cNvCxnSpPr>
            <a:stCxn id="106" idx="2"/>
            <a:endCxn id="103" idx="3"/>
          </p:cNvCxnSpPr>
          <p:nvPr/>
        </p:nvCxnSpPr>
        <p:spPr bwMode="auto">
          <a:xfrm flipH="1">
            <a:off x="6351978" y="4344779"/>
            <a:ext cx="1900424" cy="688432"/>
          </a:xfrm>
          <a:prstGeom prst="line">
            <a:avLst/>
          </a:prstGeom>
          <a:ln w="25400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接连接符 116"/>
          <p:cNvCxnSpPr>
            <a:stCxn id="102" idx="2"/>
            <a:endCxn id="107" idx="3"/>
          </p:cNvCxnSpPr>
          <p:nvPr/>
        </p:nvCxnSpPr>
        <p:spPr bwMode="auto">
          <a:xfrm flipH="1">
            <a:off x="6351978" y="4344779"/>
            <a:ext cx="665737" cy="1233542"/>
          </a:xfrm>
          <a:prstGeom prst="line">
            <a:avLst/>
          </a:prstGeom>
          <a:ln w="25400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接连接符 117"/>
          <p:cNvCxnSpPr>
            <a:stCxn id="102" idx="2"/>
            <a:endCxn id="108" idx="3"/>
          </p:cNvCxnSpPr>
          <p:nvPr/>
        </p:nvCxnSpPr>
        <p:spPr bwMode="auto">
          <a:xfrm flipH="1">
            <a:off x="6351978" y="4344779"/>
            <a:ext cx="665737" cy="1818897"/>
          </a:xfrm>
          <a:prstGeom prst="line">
            <a:avLst/>
          </a:prstGeom>
          <a:ln w="25400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接连接符 118"/>
          <p:cNvCxnSpPr>
            <a:stCxn id="105" idx="2"/>
            <a:endCxn id="107" idx="3"/>
          </p:cNvCxnSpPr>
          <p:nvPr/>
        </p:nvCxnSpPr>
        <p:spPr bwMode="auto">
          <a:xfrm flipH="1">
            <a:off x="6351978" y="4344779"/>
            <a:ext cx="1283081" cy="1233542"/>
          </a:xfrm>
          <a:prstGeom prst="line">
            <a:avLst/>
          </a:prstGeom>
          <a:ln w="25400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接连接符 119"/>
          <p:cNvCxnSpPr>
            <a:stCxn id="105" idx="2"/>
            <a:endCxn id="104" idx="1"/>
          </p:cNvCxnSpPr>
          <p:nvPr/>
        </p:nvCxnSpPr>
        <p:spPr bwMode="auto">
          <a:xfrm>
            <a:off x="7635059" y="4344779"/>
            <a:ext cx="1061825" cy="780297"/>
          </a:xfrm>
          <a:prstGeom prst="line">
            <a:avLst/>
          </a:prstGeom>
          <a:ln w="25400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直接连接符 120"/>
          <p:cNvCxnSpPr>
            <a:stCxn id="105" idx="2"/>
            <a:endCxn id="110" idx="1"/>
          </p:cNvCxnSpPr>
          <p:nvPr/>
        </p:nvCxnSpPr>
        <p:spPr bwMode="auto">
          <a:xfrm>
            <a:off x="7635059" y="4344779"/>
            <a:ext cx="1061825" cy="1846947"/>
          </a:xfrm>
          <a:prstGeom prst="line">
            <a:avLst/>
          </a:prstGeom>
          <a:ln w="25400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接连接符 121"/>
          <p:cNvCxnSpPr>
            <a:stCxn id="106" idx="2"/>
            <a:endCxn id="108" idx="3"/>
          </p:cNvCxnSpPr>
          <p:nvPr/>
        </p:nvCxnSpPr>
        <p:spPr bwMode="auto">
          <a:xfrm flipH="1">
            <a:off x="6351978" y="4344779"/>
            <a:ext cx="1900424" cy="1818897"/>
          </a:xfrm>
          <a:prstGeom prst="line">
            <a:avLst/>
          </a:prstGeom>
          <a:ln w="25400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接连接符 122"/>
          <p:cNvCxnSpPr>
            <a:stCxn id="106" idx="2"/>
            <a:endCxn id="104" idx="1"/>
          </p:cNvCxnSpPr>
          <p:nvPr/>
        </p:nvCxnSpPr>
        <p:spPr bwMode="auto">
          <a:xfrm>
            <a:off x="8252402" y="4344779"/>
            <a:ext cx="444482" cy="780297"/>
          </a:xfrm>
          <a:prstGeom prst="line">
            <a:avLst/>
          </a:prstGeom>
          <a:ln w="25400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接连接符 123"/>
          <p:cNvCxnSpPr>
            <a:stCxn id="106" idx="2"/>
            <a:endCxn id="109" idx="1"/>
          </p:cNvCxnSpPr>
          <p:nvPr/>
        </p:nvCxnSpPr>
        <p:spPr bwMode="auto">
          <a:xfrm>
            <a:off x="8252402" y="4344779"/>
            <a:ext cx="444482" cy="1351410"/>
          </a:xfrm>
          <a:prstGeom prst="line">
            <a:avLst/>
          </a:prstGeom>
          <a:ln w="25400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直接连接符 124"/>
          <p:cNvCxnSpPr>
            <a:stCxn id="103" idx="3"/>
            <a:endCxn id="104" idx="1"/>
          </p:cNvCxnSpPr>
          <p:nvPr/>
        </p:nvCxnSpPr>
        <p:spPr bwMode="auto">
          <a:xfrm>
            <a:off x="6351978" y="5033211"/>
            <a:ext cx="2344906" cy="91865"/>
          </a:xfrm>
          <a:prstGeom prst="line">
            <a:avLst/>
          </a:prstGeom>
          <a:ln w="25400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接连接符 125"/>
          <p:cNvCxnSpPr>
            <a:stCxn id="103" idx="3"/>
            <a:endCxn id="109" idx="1"/>
          </p:cNvCxnSpPr>
          <p:nvPr/>
        </p:nvCxnSpPr>
        <p:spPr bwMode="auto">
          <a:xfrm>
            <a:off x="6351978" y="5033211"/>
            <a:ext cx="2344906" cy="662978"/>
          </a:xfrm>
          <a:prstGeom prst="line">
            <a:avLst/>
          </a:prstGeom>
          <a:ln w="25400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直接连接符 126"/>
          <p:cNvCxnSpPr>
            <a:stCxn id="103" idx="3"/>
            <a:endCxn id="110" idx="1"/>
          </p:cNvCxnSpPr>
          <p:nvPr/>
        </p:nvCxnSpPr>
        <p:spPr bwMode="auto">
          <a:xfrm>
            <a:off x="6351978" y="5033211"/>
            <a:ext cx="2344906" cy="1158515"/>
          </a:xfrm>
          <a:prstGeom prst="line">
            <a:avLst/>
          </a:prstGeom>
          <a:ln w="25400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接连接符 127"/>
          <p:cNvCxnSpPr>
            <a:stCxn id="107" idx="3"/>
            <a:endCxn id="104" idx="1"/>
          </p:cNvCxnSpPr>
          <p:nvPr/>
        </p:nvCxnSpPr>
        <p:spPr bwMode="auto">
          <a:xfrm flipV="1">
            <a:off x="6351978" y="5125076"/>
            <a:ext cx="2344906" cy="453245"/>
          </a:xfrm>
          <a:prstGeom prst="line">
            <a:avLst/>
          </a:prstGeom>
          <a:ln w="25400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接连接符 128"/>
          <p:cNvCxnSpPr>
            <a:stCxn id="107" idx="3"/>
            <a:endCxn id="110" idx="1"/>
          </p:cNvCxnSpPr>
          <p:nvPr/>
        </p:nvCxnSpPr>
        <p:spPr bwMode="auto">
          <a:xfrm>
            <a:off x="6351978" y="5578321"/>
            <a:ext cx="2344906" cy="613405"/>
          </a:xfrm>
          <a:prstGeom prst="line">
            <a:avLst/>
          </a:prstGeom>
          <a:ln w="25400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接连接符 129"/>
          <p:cNvCxnSpPr>
            <a:stCxn id="104" idx="1"/>
            <a:endCxn id="108" idx="3"/>
          </p:cNvCxnSpPr>
          <p:nvPr/>
        </p:nvCxnSpPr>
        <p:spPr bwMode="auto">
          <a:xfrm flipH="1">
            <a:off x="6351978" y="5125076"/>
            <a:ext cx="2344906" cy="1038600"/>
          </a:xfrm>
          <a:prstGeom prst="line">
            <a:avLst/>
          </a:prstGeom>
          <a:ln w="25400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接连接符 130"/>
          <p:cNvCxnSpPr>
            <a:stCxn id="109" idx="1"/>
            <a:endCxn id="108" idx="3"/>
          </p:cNvCxnSpPr>
          <p:nvPr/>
        </p:nvCxnSpPr>
        <p:spPr bwMode="auto">
          <a:xfrm flipH="1">
            <a:off x="6351978" y="5696189"/>
            <a:ext cx="2344906" cy="467487"/>
          </a:xfrm>
          <a:prstGeom prst="line">
            <a:avLst/>
          </a:prstGeom>
          <a:ln w="25400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</a:t>
            </a:r>
            <a:r>
              <a:rPr lang="zh-CN" altLang="en-US" dirty="0"/>
              <a:t>团问题是</a:t>
            </a:r>
            <a:r>
              <a:rPr lang="en-US" altLang="zh-CN" dirty="0"/>
              <a:t>NP</a:t>
            </a:r>
            <a:r>
              <a:rPr lang="zh-CN" altLang="en-US" dirty="0"/>
              <a:t>完全问题</a:t>
            </a:r>
            <a:endParaRPr lang="zh-CN" altLang="en-US" dirty="0" smtClean="0"/>
          </a:p>
        </p:txBody>
      </p:sp>
      <p:sp>
        <p:nvSpPr>
          <p:cNvPr id="8195" name="内容占位符 2"/>
          <p:cNvSpPr>
            <a:spLocks noGrp="1"/>
          </p:cNvSpPr>
          <p:nvPr>
            <p:ph idx="1"/>
          </p:nvPr>
        </p:nvSpPr>
        <p:spPr>
          <a:xfrm>
            <a:off x="457200" y="1484313"/>
            <a:ext cx="8229600" cy="5373687"/>
          </a:xfrm>
        </p:spPr>
        <p:txBody>
          <a:bodyPr/>
          <a:lstStyle/>
          <a:p>
            <a:pPr lvl="1"/>
            <a:r>
              <a:rPr lang="zh-CN" altLang="en-US" sz="2200" dirty="0" smtClean="0">
                <a:latin typeface="Arial" panose="02080604020202020204" pitchFamily="34" charset="0"/>
                <a:ea typeface="黑体" panose="02010609060101010101" pitchFamily="49" charset="-122"/>
              </a:rPr>
              <a:t>往证</a:t>
            </a:r>
            <a:r>
              <a:rPr lang="zh-CN" altLang="zh-CN" sz="2200" dirty="0"/>
              <a:t>有</a:t>
            </a:r>
            <a:r>
              <a:rPr lang="en-US" altLang="zh-CN" sz="2200" dirty="0"/>
              <a:t>k</a:t>
            </a:r>
            <a:r>
              <a:rPr lang="zh-CN" altLang="zh-CN" sz="2200" dirty="0"/>
              <a:t>个子句的</a:t>
            </a:r>
            <a:r>
              <a:rPr lang="en-US" altLang="zh-CN" sz="2200" dirty="0" smtClean="0"/>
              <a:t>3CNF-SAT</a:t>
            </a:r>
            <a:r>
              <a:rPr lang="zh-CN" altLang="en-US" sz="2200" dirty="0" smtClean="0"/>
              <a:t>表达</a:t>
            </a:r>
            <a:r>
              <a:rPr lang="zh-CN" altLang="zh-CN" sz="2200" dirty="0" smtClean="0"/>
              <a:t>式</a:t>
            </a:r>
            <a:r>
              <a:rPr lang="en-US" altLang="zh-CN" sz="2200" dirty="0">
                <a:sym typeface="Symbol" panose="05050102010706020507"/>
              </a:rPr>
              <a:t>A</a:t>
            </a:r>
            <a:r>
              <a:rPr lang="zh-CN" altLang="zh-CN" sz="2200" dirty="0" smtClean="0"/>
              <a:t>是</a:t>
            </a:r>
            <a:r>
              <a:rPr lang="zh-CN" altLang="zh-CN" sz="2200" dirty="0"/>
              <a:t>可满足</a:t>
            </a:r>
            <a:r>
              <a:rPr lang="zh-CN" altLang="zh-CN" sz="2200" dirty="0" smtClean="0"/>
              <a:t>的</a:t>
            </a:r>
            <a:r>
              <a:rPr lang="zh-CN" altLang="en-US" sz="2200" dirty="0" smtClean="0"/>
              <a:t>当且仅当</a:t>
            </a:r>
            <a:r>
              <a:rPr lang="zh-CN" altLang="zh-CN" sz="2200" dirty="0" smtClean="0"/>
              <a:t>构造</a:t>
            </a:r>
            <a:r>
              <a:rPr lang="zh-CN" altLang="zh-CN" sz="2200" dirty="0"/>
              <a:t>出来的无向图</a:t>
            </a:r>
            <a:r>
              <a:rPr lang="en-US" altLang="zh-CN" sz="2200" dirty="0"/>
              <a:t>G</a:t>
            </a:r>
            <a:r>
              <a:rPr lang="zh-CN" altLang="zh-CN" sz="2200" dirty="0"/>
              <a:t>中有一个</a:t>
            </a:r>
            <a:r>
              <a:rPr lang="en-US" altLang="zh-CN" sz="2200" dirty="0" smtClean="0"/>
              <a:t>k</a:t>
            </a:r>
            <a:r>
              <a:rPr lang="zh-CN" altLang="zh-CN" sz="2200" dirty="0" smtClean="0"/>
              <a:t>团</a:t>
            </a:r>
            <a:endParaRPr lang="en-US" altLang="zh-CN" sz="2200" dirty="0" smtClean="0"/>
          </a:p>
          <a:p>
            <a:pPr lvl="1"/>
            <a:r>
              <a:rPr lang="zh-CN" altLang="zh-CN" sz="2200" dirty="0"/>
              <a:t>必要性证明</a:t>
            </a:r>
            <a:r>
              <a:rPr lang="zh-CN" altLang="zh-CN" sz="2200" dirty="0" smtClean="0"/>
              <a:t>：设表达式</a:t>
            </a:r>
            <a:r>
              <a:rPr lang="en-US" altLang="zh-CN" sz="2200" dirty="0">
                <a:sym typeface="Symbol" panose="05050102010706020507"/>
              </a:rPr>
              <a:t>A</a:t>
            </a:r>
            <a:r>
              <a:rPr lang="zh-CN" altLang="zh-CN" sz="2200" dirty="0" smtClean="0"/>
              <a:t>是</a:t>
            </a:r>
            <a:r>
              <a:rPr lang="zh-CN" altLang="zh-CN" sz="2200" dirty="0"/>
              <a:t>可满足的</a:t>
            </a:r>
            <a:r>
              <a:rPr lang="zh-CN" altLang="zh-CN" sz="2200" dirty="0" smtClean="0"/>
              <a:t>，</a:t>
            </a:r>
            <a:r>
              <a:rPr lang="zh-CN" altLang="en-US" sz="2200" dirty="0" smtClean="0"/>
              <a:t>必有</a:t>
            </a:r>
            <a:r>
              <a:rPr lang="en-US" altLang="zh-CN" sz="2200" dirty="0">
                <a:sym typeface="Symbol" panose="05050102010706020507"/>
              </a:rPr>
              <a:t>A</a:t>
            </a:r>
            <a:r>
              <a:rPr lang="en-US" altLang="zh-CN" sz="2200" dirty="0" smtClean="0"/>
              <a:t>=1</a:t>
            </a:r>
            <a:r>
              <a:rPr lang="zh-CN" altLang="en-US" sz="2200" dirty="0" smtClean="0"/>
              <a:t>，由于合取，</a:t>
            </a:r>
            <a:r>
              <a:rPr lang="zh-CN" altLang="zh-CN" sz="2200" dirty="0" smtClean="0"/>
              <a:t>必</a:t>
            </a:r>
            <a:r>
              <a:rPr lang="zh-CN" altLang="zh-CN" sz="2200" dirty="0"/>
              <a:t>有</a:t>
            </a:r>
            <a:r>
              <a:rPr lang="en-US" altLang="zh-CN" sz="2200" dirty="0"/>
              <a:t>c</a:t>
            </a:r>
            <a:r>
              <a:rPr lang="en-US" altLang="zh-CN" sz="2200" baseline="-25000" dirty="0"/>
              <a:t>1</a:t>
            </a:r>
            <a:r>
              <a:rPr lang="en-US" altLang="zh-CN" sz="2200" dirty="0"/>
              <a:t>=c</a:t>
            </a:r>
            <a:r>
              <a:rPr lang="en-US" altLang="zh-CN" sz="2200" baseline="-25000" dirty="0"/>
              <a:t>2</a:t>
            </a:r>
            <a:r>
              <a:rPr lang="en-US" altLang="zh-CN" sz="2200" dirty="0"/>
              <a:t>=</a:t>
            </a:r>
            <a:r>
              <a:rPr lang="zh-CN" altLang="zh-CN" sz="2200" dirty="0"/>
              <a:t>…</a:t>
            </a:r>
            <a:r>
              <a:rPr lang="en-US" altLang="zh-CN" sz="2200" dirty="0"/>
              <a:t>=</a:t>
            </a:r>
            <a:r>
              <a:rPr lang="en-US" altLang="zh-CN" sz="2200" dirty="0" err="1" smtClean="0"/>
              <a:t>c</a:t>
            </a:r>
            <a:r>
              <a:rPr lang="en-US" altLang="zh-CN" sz="2200" baseline="-25000" dirty="0" err="1" smtClean="0"/>
              <a:t>k</a:t>
            </a:r>
            <a:r>
              <a:rPr lang="en-US" altLang="zh-CN" sz="2200" dirty="0" smtClean="0"/>
              <a:t>=1</a:t>
            </a:r>
            <a:r>
              <a:rPr lang="zh-CN" altLang="en-US" sz="2200" dirty="0" smtClean="0"/>
              <a:t>，</a:t>
            </a:r>
            <a:r>
              <a:rPr lang="zh-CN" altLang="zh-CN" sz="2200" dirty="0" smtClean="0"/>
              <a:t>每个</a:t>
            </a:r>
            <a:r>
              <a:rPr lang="zh-CN" altLang="zh-CN" sz="2200" dirty="0"/>
              <a:t>子句</a:t>
            </a:r>
            <a:r>
              <a:rPr lang="en-US" altLang="zh-CN" sz="2200" dirty="0"/>
              <a:t>c</a:t>
            </a:r>
            <a:r>
              <a:rPr lang="en-US" altLang="zh-CN" sz="2200" baseline="-25000" dirty="0"/>
              <a:t>i</a:t>
            </a:r>
            <a:r>
              <a:rPr lang="zh-CN" altLang="zh-CN" sz="2200" dirty="0"/>
              <a:t>中的</a:t>
            </a:r>
            <a:r>
              <a:rPr lang="zh-CN" altLang="zh-CN" sz="2200" dirty="0" smtClean="0"/>
              <a:t>文字至少</a:t>
            </a:r>
            <a:r>
              <a:rPr lang="zh-CN" altLang="zh-CN" sz="2200" dirty="0"/>
              <a:t>有一个取值为</a:t>
            </a:r>
            <a:r>
              <a:rPr lang="en-US" altLang="zh-CN" sz="2200" dirty="0" smtClean="0"/>
              <a:t>1</a:t>
            </a:r>
            <a:r>
              <a:rPr lang="zh-CN" altLang="en-US" sz="2200" dirty="0" smtClean="0"/>
              <a:t>，</a:t>
            </a:r>
            <a:r>
              <a:rPr lang="en-US" altLang="zh-CN" sz="2200" dirty="0"/>
              <a:t> c</a:t>
            </a:r>
            <a:r>
              <a:rPr lang="en-US" altLang="zh-CN" sz="2200" baseline="-25000" dirty="0"/>
              <a:t>i</a:t>
            </a:r>
            <a:r>
              <a:rPr lang="zh-CN" altLang="zh-CN" sz="2200" dirty="0"/>
              <a:t>中</a:t>
            </a:r>
            <a:r>
              <a:rPr lang="zh-CN" altLang="zh-CN" sz="2200" dirty="0" smtClean="0"/>
              <a:t>取</a:t>
            </a:r>
            <a:r>
              <a:rPr lang="zh-CN" altLang="zh-CN" sz="2200" dirty="0"/>
              <a:t>一</a:t>
            </a:r>
            <a:r>
              <a:rPr lang="zh-CN" altLang="zh-CN" sz="2200" dirty="0" smtClean="0"/>
              <a:t>个</a:t>
            </a:r>
            <a:r>
              <a:rPr lang="zh-CN" altLang="en-US" sz="2200" dirty="0" smtClean="0"/>
              <a:t>值为</a:t>
            </a:r>
            <a:r>
              <a:rPr lang="en-US" altLang="zh-CN" sz="2200" dirty="0" smtClean="0"/>
              <a:t>1</a:t>
            </a:r>
            <a:r>
              <a:rPr lang="zh-CN" altLang="en-US" sz="2200" dirty="0" smtClean="0"/>
              <a:t>的</a:t>
            </a:r>
            <a:r>
              <a:rPr lang="zh-CN" altLang="zh-CN" sz="2200" dirty="0" smtClean="0"/>
              <a:t>文字</a:t>
            </a:r>
            <a:r>
              <a:rPr lang="zh-CN" altLang="zh-CN" sz="2200" dirty="0"/>
              <a:t>所对应的顶点</a:t>
            </a:r>
            <a:r>
              <a:rPr lang="zh-CN" altLang="zh-CN" sz="2200" dirty="0" smtClean="0"/>
              <a:t>，可</a:t>
            </a:r>
            <a:r>
              <a:rPr lang="zh-CN" altLang="zh-CN" sz="2200" dirty="0"/>
              <a:t>得一个由</a:t>
            </a:r>
            <a:r>
              <a:rPr lang="en-US" altLang="zh-CN" sz="2200" dirty="0"/>
              <a:t>k</a:t>
            </a:r>
            <a:r>
              <a:rPr lang="zh-CN" altLang="zh-CN" sz="2200" dirty="0"/>
              <a:t>个顶点所构成的</a:t>
            </a:r>
            <a:r>
              <a:rPr lang="zh-CN" altLang="zh-CN" sz="2200" dirty="0" smtClean="0"/>
              <a:t>子集</a:t>
            </a:r>
            <a:r>
              <a:rPr lang="en-US" altLang="zh-CN" sz="2200" dirty="0" smtClean="0"/>
              <a:t> V</a:t>
            </a:r>
            <a:r>
              <a:rPr lang="zh-CN" altLang="zh-CN" sz="2200" dirty="0" smtClean="0"/>
              <a:t>。</a:t>
            </a:r>
            <a:r>
              <a:rPr lang="en-US" altLang="zh-CN" sz="2200" dirty="0" smtClean="0"/>
              <a:t>V</a:t>
            </a:r>
            <a:r>
              <a:rPr lang="zh-CN" altLang="zh-CN" sz="2200" dirty="0" smtClean="0"/>
              <a:t>中</a:t>
            </a:r>
            <a:r>
              <a:rPr lang="zh-CN" altLang="zh-CN" sz="2200" dirty="0"/>
              <a:t>任取两</a:t>
            </a:r>
            <a:r>
              <a:rPr lang="zh-CN" altLang="zh-CN" sz="2200" dirty="0" smtClean="0"/>
              <a:t>点</a:t>
            </a:r>
            <a:r>
              <a:rPr lang="zh-CN" altLang="en-US" sz="2200" dirty="0" smtClean="0"/>
              <a:t>，</a:t>
            </a:r>
            <a:r>
              <a:rPr lang="zh-CN" altLang="zh-CN" sz="2200" dirty="0" smtClean="0"/>
              <a:t>对应</a:t>
            </a:r>
            <a:r>
              <a:rPr lang="zh-CN" altLang="zh-CN" sz="2200" dirty="0"/>
              <a:t>的文字来自不同的子句</a:t>
            </a:r>
            <a:r>
              <a:rPr lang="zh-CN" altLang="zh-CN" sz="2200" dirty="0" smtClean="0"/>
              <a:t>，两</a:t>
            </a:r>
            <a:r>
              <a:rPr lang="zh-CN" altLang="zh-CN" sz="2200" dirty="0"/>
              <a:t>个文字必定不是互补的</a:t>
            </a:r>
            <a:r>
              <a:rPr lang="zh-CN" altLang="zh-CN" sz="2200" dirty="0" smtClean="0"/>
              <a:t>。</a:t>
            </a:r>
            <a:endParaRPr lang="en-US" altLang="zh-CN" sz="2200" dirty="0" smtClean="0"/>
          </a:p>
          <a:p>
            <a:pPr lvl="1"/>
            <a:r>
              <a:rPr lang="zh-CN" altLang="zh-CN" sz="2200" dirty="0" smtClean="0"/>
              <a:t>∴</a:t>
            </a:r>
            <a:r>
              <a:rPr lang="zh-CN" altLang="zh-CN" sz="2200" dirty="0"/>
              <a:t>两个顶点之间必定</a:t>
            </a:r>
            <a:r>
              <a:rPr lang="zh-CN" altLang="zh-CN" sz="2200" dirty="0" smtClean="0"/>
              <a:t>有边。</a:t>
            </a:r>
            <a:endParaRPr lang="en-US" altLang="zh-CN" sz="2200" dirty="0" smtClean="0"/>
          </a:p>
          <a:p>
            <a:pPr lvl="1"/>
            <a:r>
              <a:rPr lang="zh-CN" altLang="zh-CN" sz="2200" dirty="0" smtClean="0"/>
              <a:t>∴</a:t>
            </a:r>
            <a:r>
              <a:rPr lang="en-US" altLang="zh-CN" sz="2200" dirty="0" smtClean="0"/>
              <a:t>V</a:t>
            </a:r>
            <a:r>
              <a:rPr lang="zh-CN" altLang="zh-CN" sz="2200" dirty="0" smtClean="0"/>
              <a:t>是</a:t>
            </a:r>
            <a:r>
              <a:rPr lang="en-US" altLang="zh-CN" sz="2200" dirty="0"/>
              <a:t>k</a:t>
            </a:r>
            <a:r>
              <a:rPr lang="zh-CN" altLang="zh-CN" sz="2200" dirty="0" smtClean="0"/>
              <a:t>团</a:t>
            </a:r>
            <a:endParaRPr lang="en-US" altLang="zh-CN" sz="2200" dirty="0" smtClean="0">
              <a:latin typeface="Arial" panose="02080604020202020204" pitchFamily="34" charset="0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矩形 1"/>
              <p:cNvSpPr/>
              <p:nvPr/>
            </p:nvSpPr>
            <p:spPr>
              <a:xfrm>
                <a:off x="-508" y="5884065"/>
                <a:ext cx="5903191" cy="43088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b="1" i="1" dirty="0" smtClean="0">
                          <a:solidFill>
                            <a:srgbClr val="FF0000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altLang="zh-CN" sz="22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2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</a:rPr>
                                <m:t>𝒙</m:t>
                              </m:r>
                            </m:e>
                          </m:acc>
                        </m:e>
                        <m:sub>
                          <m: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𝟏</m:t>
                          </m:r>
                        </m:sub>
                      </m:sSub>
                      <m:r>
                        <a:rPr lang="en-US" altLang="zh-CN" sz="2200" b="1" i="1" dirty="0">
                          <a:solidFill>
                            <a:srgbClr val="FF0000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∨</m:t>
                      </m:r>
                      <m:sSub>
                        <m:sSubPr>
                          <m:ctrlP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𝟐</m:t>
                          </m:r>
                        </m:sub>
                      </m:sSub>
                      <m:r>
                        <a:rPr lang="en-US" altLang="zh-CN" sz="2200" b="1" i="1" dirty="0">
                          <a:solidFill>
                            <a:srgbClr val="FF0000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∨</m:t>
                      </m:r>
                      <m:sSub>
                        <m:sSubPr>
                          <m:ctrlP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𝟑</m:t>
                          </m:r>
                        </m:sub>
                      </m:sSub>
                      <m:r>
                        <a:rPr lang="en-US" altLang="zh-CN" sz="2200" b="1" i="1" dirty="0">
                          <a:solidFill>
                            <a:srgbClr val="FF0000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)</m:t>
                      </m:r>
                      <m:r>
                        <a:rPr lang="en-US" altLang="zh-CN" sz="2200" b="1" i="1" dirty="0">
                          <a:solidFill>
                            <a:srgbClr val="FF0000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∧</m:t>
                      </m:r>
                      <m:r>
                        <a:rPr lang="en-US" altLang="zh-CN" sz="2200" b="1" i="1" dirty="0">
                          <a:solidFill>
                            <a:srgbClr val="FF0000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𝟏</m:t>
                          </m:r>
                        </m:sub>
                      </m:sSub>
                      <m:r>
                        <a:rPr lang="en-US" altLang="zh-CN" sz="2200" b="1" i="1" dirty="0">
                          <a:solidFill>
                            <a:srgbClr val="FF0000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∨</m:t>
                      </m:r>
                      <m:sSub>
                        <m:sSubPr>
                          <m:ctrlP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𝟐</m:t>
                          </m:r>
                        </m:sub>
                      </m:sSub>
                      <m:r>
                        <a:rPr lang="en-US" altLang="zh-CN" sz="2200" b="1" i="1" dirty="0">
                          <a:solidFill>
                            <a:srgbClr val="FF0000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∨</m:t>
                      </m:r>
                      <m:sSub>
                        <m:sSubPr>
                          <m:ctrlP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𝟑</m:t>
                          </m:r>
                        </m:sub>
                      </m:sSub>
                      <m:r>
                        <a:rPr lang="en-US" altLang="zh-CN" sz="2200" b="1" dirty="0">
                          <a:solidFill>
                            <a:srgbClr val="FF0000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)</m:t>
                      </m:r>
                      <m:r>
                        <a:rPr lang="en-US" altLang="zh-CN" sz="2200" b="1" i="1" dirty="0">
                          <a:solidFill>
                            <a:srgbClr val="FF0000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∧</m:t>
                      </m:r>
                      <m:r>
                        <a:rPr lang="en-US" altLang="zh-CN" sz="2200" b="1" dirty="0">
                          <a:solidFill>
                            <a:srgbClr val="FF0000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𝟏</m:t>
                          </m:r>
                        </m:sub>
                      </m:sSub>
                      <m:r>
                        <a:rPr lang="en-US" altLang="zh-CN" sz="2200" b="1" i="1" dirty="0">
                          <a:solidFill>
                            <a:srgbClr val="FF0000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∨</m:t>
                      </m:r>
                      <m:sSub>
                        <m:sSubPr>
                          <m:ctrlP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altLang="zh-CN" sz="22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2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</a:rPr>
                                <m:t>𝒙</m:t>
                              </m:r>
                            </m:e>
                          </m:acc>
                        </m:e>
                        <m:sub>
                          <m:r>
                            <a:rPr lang="en-US" altLang="zh-CN" sz="2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𝟐</m:t>
                          </m:r>
                        </m:sub>
                      </m:sSub>
                      <m:r>
                        <a:rPr lang="en-US" altLang="zh-CN" sz="2200" b="1" i="1" dirty="0">
                          <a:solidFill>
                            <a:srgbClr val="FF0000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∨</m:t>
                      </m:r>
                      <m:sSub>
                        <m:sSubPr>
                          <m:ctrlP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altLang="zh-CN" sz="22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2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</a:rPr>
                                <m:t>𝒙</m:t>
                              </m:r>
                            </m:e>
                          </m:acc>
                        </m:e>
                        <m:sub>
                          <m:r>
                            <a:rPr lang="en-US" altLang="zh-CN" sz="2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𝟑</m:t>
                          </m:r>
                        </m:sub>
                      </m:sSub>
                      <m:r>
                        <a:rPr lang="en-US" altLang="zh-CN" sz="2200" b="1" i="1" dirty="0">
                          <a:solidFill>
                            <a:srgbClr val="FF0000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lang="zh-CN" altLang="en-US" sz="2200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08" y="5884065"/>
                <a:ext cx="5903191" cy="430887"/>
              </a:xfrm>
              <a:prstGeom prst="rect">
                <a:avLst/>
              </a:prstGeom>
              <a:blipFill rotWithShape="1">
                <a:blip r:embed="rId1"/>
                <a:stretch>
                  <a:fillRect l="9" t="-36" r="6" b="-6649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741814" y="5616824"/>
            <a:ext cx="479618" cy="369332"/>
          </a:xfrm>
          <a:prstGeom prst="rect">
            <a:avLst/>
          </a:prstGeom>
          <a:noFill/>
          <a:ln w="25400">
            <a:noFill/>
          </a:ln>
        </p:spPr>
        <p:txBody>
          <a:bodyPr wrap="none" rtlCol="0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b="1" dirty="0" smtClean="0">
                <a:solidFill>
                  <a:srgbClr val="000099"/>
                </a:solidFill>
                <a:ea typeface="黑体" panose="02010609060101010101" pitchFamily="49" charset="-122"/>
              </a:rPr>
              <a:t>C1</a:t>
            </a:r>
            <a:endParaRPr lang="zh-CN" altLang="en-US" b="1" dirty="0" smtClean="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711279" y="5589241"/>
            <a:ext cx="479618" cy="369332"/>
          </a:xfrm>
          <a:prstGeom prst="rect">
            <a:avLst/>
          </a:prstGeom>
          <a:noFill/>
          <a:ln w="25400">
            <a:noFill/>
          </a:ln>
        </p:spPr>
        <p:txBody>
          <a:bodyPr wrap="none" rtlCol="0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b="1" dirty="0" smtClean="0">
                <a:solidFill>
                  <a:srgbClr val="000099"/>
                </a:solidFill>
                <a:ea typeface="黑体" panose="02010609060101010101" pitchFamily="49" charset="-122"/>
              </a:rPr>
              <a:t>C2</a:t>
            </a:r>
            <a:endParaRPr lang="zh-CN" altLang="en-US" b="1" dirty="0" smtClean="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630246" y="5589240"/>
            <a:ext cx="479618" cy="369332"/>
          </a:xfrm>
          <a:prstGeom prst="rect">
            <a:avLst/>
          </a:prstGeom>
          <a:noFill/>
          <a:ln w="25400">
            <a:noFill/>
          </a:ln>
        </p:spPr>
        <p:txBody>
          <a:bodyPr wrap="none" rtlCol="0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b="1" dirty="0" smtClean="0">
                <a:solidFill>
                  <a:srgbClr val="000099"/>
                </a:solidFill>
                <a:ea typeface="黑体" panose="02010609060101010101" pitchFamily="49" charset="-122"/>
              </a:rPr>
              <a:t>C3</a:t>
            </a:r>
            <a:endParaRPr lang="zh-CN" altLang="en-US" b="1" dirty="0" smtClean="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332286" y="4947555"/>
            <a:ext cx="523759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/>
              <a:t>c</a:t>
            </a:r>
            <a:r>
              <a:rPr lang="en-US" altLang="zh-CN" sz="2400" b="1" baseline="-25000" dirty="0"/>
              <a:t>1</a:t>
            </a:r>
            <a:r>
              <a:rPr lang="zh-CN" altLang="zh-CN" sz="2400" b="1" dirty="0"/>
              <a:t>∧</a:t>
            </a:r>
            <a:r>
              <a:rPr lang="en-US" altLang="zh-CN" sz="2400" b="1" dirty="0"/>
              <a:t>c</a:t>
            </a:r>
            <a:r>
              <a:rPr lang="en-US" altLang="zh-CN" sz="2400" b="1" baseline="-25000" dirty="0"/>
              <a:t>2</a:t>
            </a:r>
            <a:r>
              <a:rPr lang="zh-CN" altLang="zh-CN" sz="2400" b="1" dirty="0"/>
              <a:t>∧</a:t>
            </a:r>
            <a:r>
              <a:rPr lang="en-US" altLang="zh-CN" sz="2400" b="1" dirty="0" smtClean="0"/>
              <a:t>c</a:t>
            </a:r>
            <a:r>
              <a:rPr lang="en-US" altLang="zh-CN" sz="2400" b="1" baseline="-25000" dirty="0" smtClean="0"/>
              <a:t>3</a:t>
            </a:r>
            <a:r>
              <a:rPr lang="en-US" altLang="zh-CN" sz="2400" b="1" dirty="0" smtClean="0"/>
              <a:t>=1</a:t>
            </a:r>
            <a:r>
              <a:rPr lang="zh-CN" altLang="en-US" sz="2400" b="1" dirty="0" smtClean="0"/>
              <a:t>，取</a:t>
            </a:r>
            <a:r>
              <a:rPr lang="en-US" altLang="zh-CN" sz="2400" b="1" dirty="0" smtClean="0"/>
              <a:t>x</a:t>
            </a:r>
            <a:r>
              <a:rPr lang="en-US" altLang="zh-CN" sz="2400" b="1" baseline="-25000" dirty="0" smtClean="0"/>
              <a:t>1</a:t>
            </a:r>
            <a:r>
              <a:rPr lang="en-US" altLang="zh-CN" sz="2400" b="1" dirty="0" smtClean="0"/>
              <a:t>=0</a:t>
            </a:r>
            <a:r>
              <a:rPr lang="zh-CN" altLang="en-US" sz="2400" b="1" dirty="0" smtClean="0"/>
              <a:t>，</a:t>
            </a:r>
            <a:r>
              <a:rPr lang="en-US" altLang="zh-CN" sz="2400" b="1" dirty="0" smtClean="0"/>
              <a:t>x</a:t>
            </a:r>
            <a:r>
              <a:rPr lang="en-US" altLang="zh-CN" sz="2400" b="1" baseline="-25000" dirty="0" smtClean="0"/>
              <a:t>2</a:t>
            </a:r>
            <a:r>
              <a:rPr lang="en-US" altLang="zh-CN" sz="2400" b="1" dirty="0" smtClean="0"/>
              <a:t>=1</a:t>
            </a:r>
            <a:r>
              <a:rPr lang="zh-CN" altLang="zh-CN" sz="2400" b="1" dirty="0" smtClean="0"/>
              <a:t>，</a:t>
            </a:r>
            <a:r>
              <a:rPr lang="en-US" altLang="zh-CN" sz="2400" b="1" dirty="0" smtClean="0"/>
              <a:t>x</a:t>
            </a:r>
            <a:r>
              <a:rPr lang="en-US" altLang="zh-CN" sz="2400" b="1" baseline="-25000" dirty="0" smtClean="0"/>
              <a:t>3</a:t>
            </a:r>
            <a:r>
              <a:rPr lang="en-US" altLang="zh-CN" sz="2400" b="1" dirty="0" smtClean="0"/>
              <a:t>=0</a:t>
            </a:r>
            <a:endParaRPr lang="zh-CN" altLang="en-US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矩形 42"/>
              <p:cNvSpPr/>
              <p:nvPr/>
            </p:nvSpPr>
            <p:spPr>
              <a:xfrm>
                <a:off x="6829907" y="4006225"/>
                <a:ext cx="375616" cy="338554"/>
              </a:xfrm>
              <a:prstGeom prst="rect">
                <a:avLst/>
              </a:prstGeom>
            </p:spPr>
            <p:txBody>
              <a:bodyPr wrap="none" lIns="0" tIns="0" rIns="0" bIns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altLang="zh-CN" sz="22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2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</a:rPr>
                                <m:t>𝒙</m:t>
                              </m:r>
                            </m:e>
                          </m:acc>
                        </m:e>
                        <m:sub>
                          <m: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sz="22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43" name="矩形 4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9907" y="4006225"/>
                <a:ext cx="375616" cy="338554"/>
              </a:xfrm>
              <a:prstGeom prst="rect">
                <a:avLst/>
              </a:prstGeom>
              <a:blipFill rotWithShape="1">
                <a:blip r:embed="rId2"/>
                <a:stretch>
                  <a:fillRect l="-128" t="-3" r="-20408" b="3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矩形 44"/>
              <p:cNvSpPr/>
              <p:nvPr/>
            </p:nvSpPr>
            <p:spPr>
              <a:xfrm>
                <a:off x="5976362" y="4863934"/>
                <a:ext cx="375616" cy="338554"/>
              </a:xfrm>
              <a:prstGeom prst="rect">
                <a:avLst/>
              </a:prstGeom>
              <a:ln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sz="22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45" name="矩形 4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6362" y="4863934"/>
                <a:ext cx="375616" cy="338554"/>
              </a:xfrm>
              <a:prstGeom prst="rect">
                <a:avLst/>
              </a:prstGeom>
              <a:blipFill rotWithShape="1">
                <a:blip r:embed="rId3"/>
                <a:stretch>
                  <a:fillRect l="-100" t="-139" r="-20436" b="16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矩形 45"/>
              <p:cNvSpPr/>
              <p:nvPr/>
            </p:nvSpPr>
            <p:spPr>
              <a:xfrm>
                <a:off x="8696884" y="4955799"/>
                <a:ext cx="375616" cy="338554"/>
              </a:xfrm>
              <a:prstGeom prst="rect">
                <a:avLst/>
              </a:prstGeom>
              <a:ln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sz="22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46" name="矩形 4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6884" y="4955799"/>
                <a:ext cx="375616" cy="338554"/>
              </a:xfrm>
              <a:prstGeom prst="rect">
                <a:avLst/>
              </a:prstGeom>
              <a:blipFill rotWithShape="1">
                <a:blip r:embed="rId3"/>
                <a:stretch>
                  <a:fillRect l="-149" t="-77" r="-20388" b="10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矩形 47"/>
              <p:cNvSpPr/>
              <p:nvPr/>
            </p:nvSpPr>
            <p:spPr>
              <a:xfrm>
                <a:off x="7447251" y="4006225"/>
                <a:ext cx="375616" cy="338554"/>
              </a:xfrm>
              <a:prstGeom prst="rect">
                <a:avLst/>
              </a:prstGeom>
            </p:spPr>
            <p:txBody>
              <a:bodyPr wrap="none" lIns="0" tIns="0" rIns="0" bIns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zh-CN" altLang="en-US" sz="22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48" name="矩形 4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7251" y="4006225"/>
                <a:ext cx="375616" cy="338554"/>
              </a:xfrm>
              <a:prstGeom prst="rect">
                <a:avLst/>
              </a:prstGeom>
              <a:blipFill rotWithShape="1">
                <a:blip r:embed="rId4"/>
                <a:stretch>
                  <a:fillRect l="-161" t="-3" r="-24264" b="3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矩形 48"/>
              <p:cNvSpPr/>
              <p:nvPr/>
            </p:nvSpPr>
            <p:spPr>
              <a:xfrm>
                <a:off x="8064594" y="4006225"/>
                <a:ext cx="375616" cy="338554"/>
              </a:xfrm>
              <a:prstGeom prst="rect">
                <a:avLst/>
              </a:prstGeom>
            </p:spPr>
            <p:txBody>
              <a:bodyPr wrap="none" lIns="0" tIns="0" rIns="0" bIns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zh-CN" altLang="en-US" sz="22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49" name="矩形 4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4594" y="4006225"/>
                <a:ext cx="375616" cy="338554"/>
              </a:xfrm>
              <a:prstGeom prst="rect">
                <a:avLst/>
              </a:prstGeom>
              <a:blipFill rotWithShape="1">
                <a:blip r:embed="rId5"/>
                <a:stretch>
                  <a:fillRect l="-25" t="-3" r="-25752" b="3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矩形 56"/>
              <p:cNvSpPr/>
              <p:nvPr/>
            </p:nvSpPr>
            <p:spPr>
              <a:xfrm>
                <a:off x="5976362" y="5409044"/>
                <a:ext cx="375616" cy="338554"/>
              </a:xfrm>
              <a:prstGeom prst="rect">
                <a:avLst/>
              </a:prstGeom>
              <a:ln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zh-CN" altLang="en-US" sz="22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57" name="矩形 5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6362" y="5409044"/>
                <a:ext cx="375616" cy="338554"/>
              </a:xfrm>
              <a:prstGeom prst="rect">
                <a:avLst/>
              </a:prstGeom>
              <a:blipFill rotWithShape="1">
                <a:blip r:embed="rId4"/>
                <a:stretch>
                  <a:fillRect l="-100" t="-34" r="-24325" b="6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" name="矩形 57"/>
              <p:cNvSpPr/>
              <p:nvPr/>
            </p:nvSpPr>
            <p:spPr>
              <a:xfrm>
                <a:off x="5976362" y="5994399"/>
                <a:ext cx="375616" cy="338554"/>
              </a:xfrm>
              <a:prstGeom prst="rect">
                <a:avLst/>
              </a:prstGeom>
              <a:ln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zh-CN" altLang="en-US" sz="22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58" name="矩形 5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6362" y="5994399"/>
                <a:ext cx="375616" cy="338554"/>
              </a:xfrm>
              <a:prstGeom prst="rect">
                <a:avLst/>
              </a:prstGeom>
              <a:blipFill rotWithShape="1">
                <a:blip r:embed="rId5"/>
                <a:stretch>
                  <a:fillRect l="-100" t="-187" r="-25677" b="2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" name="矩形 59"/>
              <p:cNvSpPr/>
              <p:nvPr/>
            </p:nvSpPr>
            <p:spPr>
              <a:xfrm>
                <a:off x="8696884" y="5526912"/>
                <a:ext cx="375616" cy="338554"/>
              </a:xfrm>
              <a:prstGeom prst="rect">
                <a:avLst/>
              </a:prstGeom>
              <a:ln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altLang="zh-CN" sz="22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2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</a:rPr>
                                <m:t>𝒙</m:t>
                              </m:r>
                            </m:e>
                          </m:acc>
                        </m:e>
                        <m:sub>
                          <m:r>
                            <a:rPr lang="en-US" altLang="zh-CN" sz="2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zh-CN" altLang="en-US" sz="22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60" name="矩形 5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6884" y="5526912"/>
                <a:ext cx="375616" cy="338554"/>
              </a:xfrm>
              <a:prstGeom prst="rect">
                <a:avLst/>
              </a:prstGeom>
              <a:blipFill rotWithShape="1">
                <a:blip r:embed="rId6"/>
                <a:stretch>
                  <a:fillRect l="-149" t="-150" r="-24276" b="17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1" name="矩形 60"/>
              <p:cNvSpPr/>
              <p:nvPr/>
            </p:nvSpPr>
            <p:spPr>
              <a:xfrm>
                <a:off x="8696884" y="6022449"/>
                <a:ext cx="375616" cy="338554"/>
              </a:xfrm>
              <a:prstGeom prst="rect">
                <a:avLst/>
              </a:prstGeom>
              <a:ln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altLang="zh-CN" sz="22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2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</a:rPr>
                                <m:t>𝒙</m:t>
                              </m:r>
                            </m:e>
                          </m:acc>
                        </m:e>
                        <m:sub>
                          <m:r>
                            <a:rPr lang="en-US" altLang="zh-CN" sz="2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zh-CN" altLang="en-US" sz="22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61" name="矩形 6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6884" y="6022449"/>
                <a:ext cx="375616" cy="338554"/>
              </a:xfrm>
              <a:prstGeom prst="rect">
                <a:avLst/>
              </a:prstGeom>
              <a:blipFill rotWithShape="1">
                <a:blip r:embed="rId7"/>
                <a:stretch>
                  <a:fillRect l="-149" t="-32" r="-25629" b="6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3" name="直接连接符 62"/>
          <p:cNvCxnSpPr>
            <a:stCxn id="43" idx="2"/>
            <a:endCxn id="60" idx="1"/>
          </p:cNvCxnSpPr>
          <p:nvPr/>
        </p:nvCxnSpPr>
        <p:spPr bwMode="auto">
          <a:xfrm>
            <a:off x="7017715" y="4344779"/>
            <a:ext cx="1679169" cy="1351410"/>
          </a:xfrm>
          <a:prstGeom prst="line">
            <a:avLst/>
          </a:prstGeom>
          <a:ln w="25400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/>
          <p:cNvCxnSpPr>
            <a:stCxn id="43" idx="2"/>
            <a:endCxn id="61" idx="1"/>
          </p:cNvCxnSpPr>
          <p:nvPr/>
        </p:nvCxnSpPr>
        <p:spPr bwMode="auto">
          <a:xfrm>
            <a:off x="7017715" y="4344779"/>
            <a:ext cx="1679169" cy="1846947"/>
          </a:xfrm>
          <a:prstGeom prst="line">
            <a:avLst/>
          </a:prstGeom>
          <a:ln w="25400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/>
          <p:cNvCxnSpPr>
            <a:stCxn id="48" idx="2"/>
            <a:endCxn id="45" idx="3"/>
          </p:cNvCxnSpPr>
          <p:nvPr/>
        </p:nvCxnSpPr>
        <p:spPr bwMode="auto">
          <a:xfrm flipH="1">
            <a:off x="6351978" y="4344779"/>
            <a:ext cx="1283081" cy="688432"/>
          </a:xfrm>
          <a:prstGeom prst="line">
            <a:avLst/>
          </a:prstGeom>
          <a:ln w="25400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66"/>
          <p:cNvCxnSpPr>
            <a:stCxn id="48" idx="2"/>
            <a:endCxn id="58" idx="3"/>
          </p:cNvCxnSpPr>
          <p:nvPr/>
        </p:nvCxnSpPr>
        <p:spPr bwMode="auto">
          <a:xfrm flipH="1">
            <a:off x="6351978" y="4344779"/>
            <a:ext cx="1283081" cy="1818897"/>
          </a:xfrm>
          <a:prstGeom prst="line">
            <a:avLst/>
          </a:prstGeom>
          <a:ln w="25400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连接符 68"/>
          <p:cNvCxnSpPr>
            <a:stCxn id="49" idx="2"/>
            <a:endCxn id="57" idx="3"/>
          </p:cNvCxnSpPr>
          <p:nvPr/>
        </p:nvCxnSpPr>
        <p:spPr bwMode="auto">
          <a:xfrm flipH="1">
            <a:off x="6351978" y="4344779"/>
            <a:ext cx="1900424" cy="1233542"/>
          </a:xfrm>
          <a:prstGeom prst="line">
            <a:avLst/>
          </a:prstGeom>
          <a:ln w="25400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连接符 69"/>
          <p:cNvCxnSpPr>
            <a:stCxn id="49" idx="2"/>
            <a:endCxn id="45" idx="3"/>
          </p:cNvCxnSpPr>
          <p:nvPr/>
        </p:nvCxnSpPr>
        <p:spPr bwMode="auto">
          <a:xfrm flipH="1">
            <a:off x="6351978" y="4344779"/>
            <a:ext cx="1900424" cy="688432"/>
          </a:xfrm>
          <a:prstGeom prst="line">
            <a:avLst/>
          </a:prstGeom>
          <a:ln w="25400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连接符 71"/>
          <p:cNvCxnSpPr>
            <a:stCxn id="43" idx="2"/>
            <a:endCxn id="57" idx="3"/>
          </p:cNvCxnSpPr>
          <p:nvPr/>
        </p:nvCxnSpPr>
        <p:spPr bwMode="auto">
          <a:xfrm flipH="1">
            <a:off x="6351978" y="4344779"/>
            <a:ext cx="665737" cy="1233542"/>
          </a:xfrm>
          <a:prstGeom prst="line">
            <a:avLst/>
          </a:prstGeom>
          <a:ln w="25400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72"/>
          <p:cNvCxnSpPr>
            <a:stCxn id="43" idx="2"/>
            <a:endCxn id="58" idx="3"/>
          </p:cNvCxnSpPr>
          <p:nvPr/>
        </p:nvCxnSpPr>
        <p:spPr bwMode="auto">
          <a:xfrm flipH="1">
            <a:off x="6351978" y="4344779"/>
            <a:ext cx="665737" cy="1818897"/>
          </a:xfrm>
          <a:prstGeom prst="line">
            <a:avLst/>
          </a:prstGeom>
          <a:ln w="25400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/>
          <p:cNvCxnSpPr>
            <a:stCxn id="48" idx="2"/>
            <a:endCxn id="57" idx="3"/>
          </p:cNvCxnSpPr>
          <p:nvPr/>
        </p:nvCxnSpPr>
        <p:spPr bwMode="auto">
          <a:xfrm flipH="1">
            <a:off x="6351978" y="4344779"/>
            <a:ext cx="1283081" cy="1233542"/>
          </a:xfrm>
          <a:prstGeom prst="line">
            <a:avLst/>
          </a:prstGeom>
          <a:ln w="25400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连接符 75"/>
          <p:cNvCxnSpPr>
            <a:stCxn id="48" idx="2"/>
            <a:endCxn id="46" idx="1"/>
          </p:cNvCxnSpPr>
          <p:nvPr/>
        </p:nvCxnSpPr>
        <p:spPr bwMode="auto">
          <a:xfrm>
            <a:off x="7635059" y="4344779"/>
            <a:ext cx="1061825" cy="780297"/>
          </a:xfrm>
          <a:prstGeom prst="line">
            <a:avLst/>
          </a:prstGeom>
          <a:ln w="25400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连接符 77"/>
          <p:cNvCxnSpPr>
            <a:stCxn id="48" idx="2"/>
            <a:endCxn id="61" idx="1"/>
          </p:cNvCxnSpPr>
          <p:nvPr/>
        </p:nvCxnSpPr>
        <p:spPr bwMode="auto">
          <a:xfrm>
            <a:off x="7635059" y="4344779"/>
            <a:ext cx="1061825" cy="1846947"/>
          </a:xfrm>
          <a:prstGeom prst="line">
            <a:avLst/>
          </a:prstGeom>
          <a:ln w="25400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连接符 78"/>
          <p:cNvCxnSpPr>
            <a:stCxn id="49" idx="2"/>
            <a:endCxn id="58" idx="3"/>
          </p:cNvCxnSpPr>
          <p:nvPr/>
        </p:nvCxnSpPr>
        <p:spPr bwMode="auto">
          <a:xfrm flipH="1">
            <a:off x="6351978" y="4344779"/>
            <a:ext cx="1900424" cy="1818897"/>
          </a:xfrm>
          <a:prstGeom prst="line">
            <a:avLst/>
          </a:prstGeom>
          <a:ln w="25400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接连接符 80"/>
          <p:cNvCxnSpPr>
            <a:stCxn id="49" idx="2"/>
            <a:endCxn id="46" idx="1"/>
          </p:cNvCxnSpPr>
          <p:nvPr/>
        </p:nvCxnSpPr>
        <p:spPr bwMode="auto">
          <a:xfrm>
            <a:off x="8252402" y="4344779"/>
            <a:ext cx="444482" cy="780297"/>
          </a:xfrm>
          <a:prstGeom prst="line">
            <a:avLst/>
          </a:prstGeom>
          <a:ln w="25400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连接符 81"/>
          <p:cNvCxnSpPr>
            <a:stCxn id="49" idx="2"/>
            <a:endCxn id="60" idx="1"/>
          </p:cNvCxnSpPr>
          <p:nvPr/>
        </p:nvCxnSpPr>
        <p:spPr bwMode="auto">
          <a:xfrm>
            <a:off x="8252402" y="4344779"/>
            <a:ext cx="444482" cy="1351410"/>
          </a:xfrm>
          <a:prstGeom prst="line">
            <a:avLst/>
          </a:prstGeom>
          <a:ln w="25400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连接符 83"/>
          <p:cNvCxnSpPr>
            <a:stCxn id="45" idx="3"/>
            <a:endCxn id="46" idx="1"/>
          </p:cNvCxnSpPr>
          <p:nvPr/>
        </p:nvCxnSpPr>
        <p:spPr bwMode="auto">
          <a:xfrm>
            <a:off x="6351978" y="5033211"/>
            <a:ext cx="2344906" cy="91865"/>
          </a:xfrm>
          <a:prstGeom prst="line">
            <a:avLst/>
          </a:prstGeom>
          <a:ln w="25400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接连接符 84"/>
          <p:cNvCxnSpPr>
            <a:stCxn id="45" idx="3"/>
            <a:endCxn id="60" idx="1"/>
          </p:cNvCxnSpPr>
          <p:nvPr/>
        </p:nvCxnSpPr>
        <p:spPr bwMode="auto">
          <a:xfrm>
            <a:off x="6351978" y="5033211"/>
            <a:ext cx="2344906" cy="662978"/>
          </a:xfrm>
          <a:prstGeom prst="line">
            <a:avLst/>
          </a:prstGeom>
          <a:ln w="25400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连接符 86"/>
          <p:cNvCxnSpPr>
            <a:stCxn id="45" idx="3"/>
            <a:endCxn id="61" idx="1"/>
          </p:cNvCxnSpPr>
          <p:nvPr/>
        </p:nvCxnSpPr>
        <p:spPr bwMode="auto">
          <a:xfrm>
            <a:off x="6351978" y="5033211"/>
            <a:ext cx="2344906" cy="1158515"/>
          </a:xfrm>
          <a:prstGeom prst="line">
            <a:avLst/>
          </a:prstGeom>
          <a:ln w="25400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连接符 87"/>
          <p:cNvCxnSpPr>
            <a:stCxn id="57" idx="3"/>
            <a:endCxn id="46" idx="1"/>
          </p:cNvCxnSpPr>
          <p:nvPr/>
        </p:nvCxnSpPr>
        <p:spPr bwMode="auto">
          <a:xfrm flipV="1">
            <a:off x="6351978" y="5125076"/>
            <a:ext cx="2344906" cy="453245"/>
          </a:xfrm>
          <a:prstGeom prst="line">
            <a:avLst/>
          </a:prstGeom>
          <a:ln w="25400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连接符 89"/>
          <p:cNvCxnSpPr>
            <a:stCxn id="57" idx="3"/>
            <a:endCxn id="61" idx="1"/>
          </p:cNvCxnSpPr>
          <p:nvPr/>
        </p:nvCxnSpPr>
        <p:spPr bwMode="auto">
          <a:xfrm>
            <a:off x="6351978" y="5578321"/>
            <a:ext cx="2344906" cy="613405"/>
          </a:xfrm>
          <a:prstGeom prst="line">
            <a:avLst/>
          </a:prstGeom>
          <a:ln w="25400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连接符 90"/>
          <p:cNvCxnSpPr>
            <a:stCxn id="46" idx="1"/>
            <a:endCxn id="58" idx="3"/>
          </p:cNvCxnSpPr>
          <p:nvPr/>
        </p:nvCxnSpPr>
        <p:spPr bwMode="auto">
          <a:xfrm flipH="1">
            <a:off x="6351978" y="5125076"/>
            <a:ext cx="2344906" cy="1038600"/>
          </a:xfrm>
          <a:prstGeom prst="line">
            <a:avLst/>
          </a:prstGeom>
          <a:ln w="25400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接连接符 92"/>
          <p:cNvCxnSpPr>
            <a:stCxn id="60" idx="1"/>
            <a:endCxn id="58" idx="3"/>
          </p:cNvCxnSpPr>
          <p:nvPr/>
        </p:nvCxnSpPr>
        <p:spPr bwMode="auto">
          <a:xfrm flipH="1">
            <a:off x="6351978" y="5696189"/>
            <a:ext cx="2344906" cy="467487"/>
          </a:xfrm>
          <a:prstGeom prst="line">
            <a:avLst/>
          </a:prstGeom>
          <a:ln w="25400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4" name="组合 93"/>
          <p:cNvGrpSpPr/>
          <p:nvPr/>
        </p:nvGrpSpPr>
        <p:grpSpPr>
          <a:xfrm>
            <a:off x="6351978" y="4354361"/>
            <a:ext cx="2344906" cy="1846947"/>
            <a:chOff x="8680756" y="2650232"/>
            <a:chExt cx="2344906" cy="1846947"/>
          </a:xfrm>
        </p:grpSpPr>
        <p:cxnSp>
          <p:nvCxnSpPr>
            <p:cNvPr id="96" name="直接连接符 95"/>
            <p:cNvCxnSpPr/>
            <p:nvPr/>
          </p:nvCxnSpPr>
          <p:spPr bwMode="auto">
            <a:xfrm>
              <a:off x="9346493" y="2650232"/>
              <a:ext cx="1679169" cy="1846947"/>
            </a:xfrm>
            <a:prstGeom prst="line">
              <a:avLst/>
            </a:prstGeom>
            <a:ln w="7620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96"/>
            <p:cNvCxnSpPr/>
            <p:nvPr/>
          </p:nvCxnSpPr>
          <p:spPr bwMode="auto">
            <a:xfrm flipH="1">
              <a:off x="8680756" y="2650232"/>
              <a:ext cx="665737" cy="1233542"/>
            </a:xfrm>
            <a:prstGeom prst="line">
              <a:avLst/>
            </a:prstGeom>
            <a:ln w="7620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/>
            <p:cNvCxnSpPr/>
            <p:nvPr/>
          </p:nvCxnSpPr>
          <p:spPr bwMode="auto">
            <a:xfrm>
              <a:off x="8680756" y="3883774"/>
              <a:ext cx="2344906" cy="613405"/>
            </a:xfrm>
            <a:prstGeom prst="line">
              <a:avLst/>
            </a:prstGeom>
            <a:ln w="7620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</a:t>
            </a:r>
            <a:r>
              <a:rPr lang="zh-CN" altLang="en-US" dirty="0"/>
              <a:t>团问题是</a:t>
            </a:r>
            <a:r>
              <a:rPr lang="en-US" altLang="zh-CN" dirty="0"/>
              <a:t>NP</a:t>
            </a:r>
            <a:r>
              <a:rPr lang="zh-CN" altLang="en-US" dirty="0"/>
              <a:t>完全问题</a:t>
            </a:r>
            <a:endParaRPr lang="zh-CN" altLang="en-US" dirty="0" smtClean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195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484313"/>
                <a:ext cx="8229600" cy="5373687"/>
              </a:xfrm>
            </p:spPr>
            <p:txBody>
              <a:bodyPr/>
              <a:lstStyle/>
              <a:p>
                <a:pPr lvl="1"/>
                <a:r>
                  <a:rPr lang="zh-CN" altLang="en-US" sz="2200" dirty="0" smtClean="0"/>
                  <a:t>充分</a:t>
                </a:r>
                <a:r>
                  <a:rPr lang="zh-CN" altLang="zh-CN" sz="2200" dirty="0" smtClean="0"/>
                  <a:t>性证明</a:t>
                </a:r>
                <a:r>
                  <a:rPr lang="zh-CN" altLang="en-US" sz="2200" dirty="0" smtClean="0"/>
                  <a:t>：</a:t>
                </a:r>
                <a:r>
                  <a:rPr lang="zh-CN" altLang="zh-CN" sz="2200" dirty="0" smtClean="0"/>
                  <a:t>设</a:t>
                </a:r>
                <a:r>
                  <a:rPr lang="en-US" altLang="zh-CN" sz="2200" dirty="0" smtClean="0"/>
                  <a:t>V</a:t>
                </a:r>
                <a:r>
                  <a:rPr lang="zh-CN" altLang="zh-CN" sz="2200" dirty="0" smtClean="0"/>
                  <a:t>是构造出来的无向图中的</a:t>
                </a:r>
                <a:r>
                  <a:rPr lang="en-US" altLang="zh-CN" sz="2200" dirty="0" smtClean="0"/>
                  <a:t>k</a:t>
                </a:r>
                <a:r>
                  <a:rPr lang="zh-CN" altLang="zh-CN" sz="2200" dirty="0" smtClean="0"/>
                  <a:t>团，</a:t>
                </a:r>
                <a:r>
                  <a:rPr lang="en-US" altLang="zh-CN" sz="2200" dirty="0" smtClean="0"/>
                  <a:t> </a:t>
                </a:r>
                <a:r>
                  <a:rPr lang="zh-CN" altLang="zh-CN" sz="2200" dirty="0" smtClean="0"/>
                  <a:t>则</a:t>
                </a:r>
                <a:r>
                  <a:rPr lang="en-US" altLang="zh-CN" sz="2200" dirty="0" smtClean="0"/>
                  <a:t>V</a:t>
                </a:r>
                <a:r>
                  <a:rPr lang="zh-CN" altLang="zh-CN" sz="2200" dirty="0" smtClean="0"/>
                  <a:t>中任意两点</a:t>
                </a:r>
                <a:r>
                  <a:rPr lang="zh-CN" altLang="en-US" sz="2200" dirty="0" smtClean="0"/>
                  <a:t>间</a:t>
                </a:r>
                <a:r>
                  <a:rPr lang="zh-CN" altLang="zh-CN" sz="2200" dirty="0" smtClean="0"/>
                  <a:t>有边</a:t>
                </a:r>
                <a:r>
                  <a:rPr lang="zh-CN" altLang="en-US" sz="2200" dirty="0" smtClean="0"/>
                  <a:t>。</a:t>
                </a:r>
                <a:r>
                  <a:rPr lang="zh-CN" altLang="zh-CN" sz="2200" dirty="0" smtClean="0"/>
                  <a:t>由于同一子句中的顶点无边相连，故</a:t>
                </a:r>
                <a:r>
                  <a:rPr lang="en-US" altLang="zh-CN" sz="2200" dirty="0" smtClean="0"/>
                  <a:t> k</a:t>
                </a:r>
                <a:r>
                  <a:rPr lang="zh-CN" altLang="zh-CN" sz="2200" dirty="0" smtClean="0"/>
                  <a:t>个点恰好来自</a:t>
                </a:r>
                <a:r>
                  <a:rPr lang="en-US" altLang="zh-CN" sz="2200" dirty="0" smtClean="0"/>
                  <a:t>k</a:t>
                </a:r>
                <a:r>
                  <a:rPr lang="zh-CN" altLang="zh-CN" sz="2200" dirty="0" smtClean="0"/>
                  <a:t>个不同的子句。</a:t>
                </a:r>
                <a:r>
                  <a:rPr lang="zh-CN" altLang="en-US" sz="2200" dirty="0" smtClean="0"/>
                  <a:t>现</a:t>
                </a:r>
                <a:r>
                  <a:rPr lang="zh-CN" altLang="zh-CN" sz="2200" dirty="0" smtClean="0"/>
                  <a:t>对这</a:t>
                </a:r>
                <a:r>
                  <a:rPr lang="en-US" altLang="zh-CN" sz="2200" dirty="0" smtClean="0"/>
                  <a:t>k</a:t>
                </a:r>
                <a:r>
                  <a:rPr lang="zh-CN" altLang="zh-CN" sz="2200" dirty="0" smtClean="0"/>
                  <a:t>个顶点文字进行</a:t>
                </a:r>
                <a:r>
                  <a:rPr lang="zh-CN" altLang="en-US" sz="2200" dirty="0" smtClean="0"/>
                  <a:t>赋值：</a:t>
                </a:r>
                <a:endParaRPr lang="en-US" altLang="zh-CN" sz="2200" dirty="0" smtClean="0"/>
              </a:p>
              <a:p>
                <a:pPr lvl="2"/>
                <a:r>
                  <a:rPr lang="zh-CN" altLang="zh-CN" sz="2000" dirty="0" smtClean="0"/>
                  <a:t>若</a:t>
                </a:r>
                <a:r>
                  <a:rPr lang="zh-CN" altLang="en-US" sz="2000" dirty="0" smtClean="0"/>
                  <a:t>顶点</a:t>
                </a:r>
                <a:r>
                  <a:rPr lang="zh-CN" altLang="zh-CN" sz="2000" dirty="0" smtClean="0"/>
                  <a:t>文字为</a:t>
                </a:r>
                <a:r>
                  <a:rPr lang="en-US" altLang="zh-CN" sz="20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solidFill>
                              <a:srgbClr val="FF0000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2000" b="1" i="1" dirty="0" smtClean="0">
                            <a:solidFill>
                              <a:srgbClr val="FF0000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zh-CN" sz="2000" dirty="0" smtClean="0"/>
                  <a:t>，</a:t>
                </a:r>
                <a:r>
                  <a:rPr lang="zh-CN" altLang="zh-CN" sz="2000" dirty="0"/>
                  <a:t>则</a:t>
                </a:r>
                <a:r>
                  <a:rPr lang="en-US" altLang="zh-CN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solidFill>
                              <a:srgbClr val="FF0000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2000" i="1" dirty="0">
                            <a:solidFill>
                              <a:srgbClr val="FF0000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zh-CN" sz="2000" dirty="0" smtClean="0"/>
                  <a:t>赋值</a:t>
                </a:r>
                <a:r>
                  <a:rPr lang="en-US" altLang="zh-CN" sz="2000" dirty="0" smtClean="0"/>
                  <a:t>1</a:t>
                </a:r>
                <a:r>
                  <a:rPr lang="zh-CN" altLang="zh-CN" sz="2000" dirty="0" smtClean="0"/>
                  <a:t>，</a:t>
                </a:r>
                <a:r>
                  <a:rPr lang="zh-CN" altLang="en-US" sz="2000" dirty="0" smtClean="0"/>
                  <a:t>其</a:t>
                </a:r>
                <a:r>
                  <a:rPr lang="zh-CN" altLang="zh-CN" sz="2000" dirty="0" smtClean="0"/>
                  <a:t>所在</a:t>
                </a:r>
                <a:r>
                  <a:rPr lang="zh-CN" altLang="en-US" sz="2000" dirty="0" smtClean="0"/>
                  <a:t>子</a:t>
                </a:r>
                <a:r>
                  <a:rPr lang="zh-CN" altLang="zh-CN" sz="2000" dirty="0" smtClean="0"/>
                  <a:t>句</a:t>
                </a:r>
                <a:r>
                  <a:rPr lang="zh-CN" altLang="zh-CN" sz="2000" dirty="0"/>
                  <a:t>的值为</a:t>
                </a:r>
                <a:r>
                  <a:rPr lang="en-US" altLang="zh-CN" sz="2000" dirty="0"/>
                  <a:t>1</a:t>
                </a:r>
                <a:r>
                  <a:rPr lang="zh-CN" altLang="zh-CN" sz="2000" dirty="0"/>
                  <a:t>；</a:t>
                </a:r>
                <a:endParaRPr lang="zh-CN" altLang="zh-CN" sz="2000" dirty="0"/>
              </a:p>
              <a:p>
                <a:pPr lvl="2"/>
                <a:r>
                  <a:rPr lang="zh-CN" altLang="zh-CN" sz="2000" dirty="0" smtClean="0"/>
                  <a:t>若</a:t>
                </a:r>
                <a:r>
                  <a:rPr lang="zh-CN" altLang="en-US" sz="2000" dirty="0" smtClean="0"/>
                  <a:t>顶点</a:t>
                </a:r>
                <a:r>
                  <a:rPr lang="zh-CN" altLang="zh-CN" sz="2000" dirty="0" smtClean="0"/>
                  <a:t>文字</a:t>
                </a:r>
                <a:r>
                  <a:rPr lang="zh-CN" altLang="zh-CN" sz="2000" dirty="0"/>
                  <a:t>为</a:t>
                </a:r>
                <a:r>
                  <a:rPr lang="en-US" altLang="zh-CN" sz="20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CN" sz="20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sz="2000" i="1" dirty="0">
                                <a:solidFill>
                                  <a:srgbClr val="FF0000"/>
                                </a:solidFill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𝒙</m:t>
                            </m:r>
                          </m:e>
                        </m:acc>
                      </m:e>
                      <m:sub>
                        <m:r>
                          <a:rPr lang="en-US" altLang="zh-CN" sz="2000" b="1" i="1" dirty="0" smtClean="0">
                            <a:solidFill>
                              <a:srgbClr val="FF0000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altLang="zh-CN" sz="2000" dirty="0"/>
                  <a:t> </a:t>
                </a:r>
                <a:r>
                  <a:rPr lang="zh-CN" altLang="zh-CN" sz="2000" dirty="0"/>
                  <a:t>，</a:t>
                </a:r>
                <a:r>
                  <a:rPr lang="zh-CN" altLang="zh-CN" sz="2000" dirty="0" smtClean="0"/>
                  <a:t>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solidFill>
                              <a:srgbClr val="FF0000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2000" i="1" dirty="0">
                            <a:solidFill>
                              <a:srgbClr val="FF0000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zh-CN" sz="2000" dirty="0" smtClean="0"/>
                  <a:t>赋值</a:t>
                </a:r>
                <a:r>
                  <a:rPr lang="en-US" altLang="zh-CN" sz="2000" dirty="0" smtClean="0"/>
                  <a:t>0</a:t>
                </a:r>
                <a:r>
                  <a:rPr lang="zh-CN" altLang="zh-CN" sz="2000" dirty="0" smtClean="0"/>
                  <a:t>，</a:t>
                </a:r>
                <a:r>
                  <a:rPr lang="en-US" altLang="zh-CN" sz="2000" dirty="0" smtClean="0"/>
                  <a:t> </a:t>
                </a:r>
                <a:r>
                  <a:rPr lang="zh-CN" altLang="en-US" sz="2000" dirty="0"/>
                  <a:t>其</a:t>
                </a:r>
                <a:r>
                  <a:rPr lang="zh-CN" altLang="zh-CN" sz="2000" dirty="0" smtClean="0"/>
                  <a:t>所在</a:t>
                </a:r>
                <a:r>
                  <a:rPr lang="zh-CN" altLang="en-US" sz="2000" dirty="0"/>
                  <a:t>子</a:t>
                </a:r>
                <a:r>
                  <a:rPr lang="zh-CN" altLang="zh-CN" sz="2000" dirty="0" smtClean="0"/>
                  <a:t>句</a:t>
                </a:r>
                <a:r>
                  <a:rPr lang="zh-CN" altLang="zh-CN" sz="2000" dirty="0"/>
                  <a:t>的值为</a:t>
                </a:r>
                <a:r>
                  <a:rPr lang="en-US" altLang="zh-CN" sz="2000" dirty="0" smtClean="0"/>
                  <a:t>1</a:t>
                </a:r>
                <a:endParaRPr lang="zh-CN" altLang="zh-CN" sz="2000" dirty="0"/>
              </a:p>
              <a:p>
                <a:pPr lvl="1"/>
                <a:r>
                  <a:rPr lang="zh-CN" altLang="zh-CN" sz="2200" dirty="0" smtClean="0"/>
                  <a:t>由于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200" i="1" dirty="0">
                            <a:solidFill>
                              <a:srgbClr val="FF0000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2200" i="1" dirty="0">
                            <a:solidFill>
                              <a:srgbClr val="FF0000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zh-CN" sz="2200" dirty="0" smtClean="0"/>
                  <a:t>与</a:t>
                </a:r>
                <a:r>
                  <a:rPr lang="en-US" altLang="zh-CN" sz="22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CN" sz="22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sz="2200" i="1" dirty="0">
                                <a:solidFill>
                                  <a:srgbClr val="FF0000"/>
                                </a:solidFill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𝒙</m:t>
                            </m:r>
                          </m:e>
                        </m:acc>
                      </m:e>
                      <m:sub>
                        <m:r>
                          <a:rPr lang="en-US" altLang="zh-CN" sz="2200" i="1" dirty="0">
                            <a:solidFill>
                              <a:srgbClr val="FF0000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zh-CN" sz="2200" dirty="0" smtClean="0"/>
                  <a:t>无边相连</a:t>
                </a:r>
                <a:r>
                  <a:rPr lang="zh-CN" altLang="en-US" sz="2200" dirty="0" smtClean="0"/>
                  <a:t>，这</a:t>
                </a:r>
                <a:r>
                  <a:rPr lang="en-US" altLang="zh-CN" sz="2200" dirty="0" smtClean="0"/>
                  <a:t>k</a:t>
                </a:r>
                <a:r>
                  <a:rPr lang="zh-CN" altLang="en-US" sz="2200" dirty="0" smtClean="0"/>
                  <a:t>个顶点文字不会同时出现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200" i="1" dirty="0">
                            <a:solidFill>
                              <a:srgbClr val="FF0000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2200" i="1" dirty="0">
                            <a:solidFill>
                              <a:srgbClr val="FF0000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zh-CN" sz="2200" dirty="0"/>
                  <a:t>与</a:t>
                </a:r>
                <a:r>
                  <a:rPr lang="en-US" altLang="zh-CN" sz="2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CN" sz="22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sz="2200" i="1" dirty="0">
                                <a:solidFill>
                                  <a:srgbClr val="FF0000"/>
                                </a:solidFill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𝒙</m:t>
                            </m:r>
                          </m:e>
                        </m:acc>
                      </m:e>
                      <m:sub>
                        <m:r>
                          <a:rPr lang="en-US" altLang="zh-CN" sz="2200" i="1" dirty="0">
                            <a:solidFill>
                              <a:srgbClr val="FF0000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en-US" sz="22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，</a:t>
                </a:r>
                <a:r>
                  <a:rPr lang="zh-CN" altLang="zh-CN" sz="2200" dirty="0" smtClean="0"/>
                  <a:t>∴</a:t>
                </a:r>
                <a:r>
                  <a:rPr lang="zh-CN" altLang="zh-CN" sz="2200" dirty="0"/>
                  <a:t>上述的赋值</a:t>
                </a:r>
                <a:r>
                  <a:rPr lang="zh-CN" altLang="zh-CN" sz="2200" dirty="0" smtClean="0"/>
                  <a:t>方法</a:t>
                </a:r>
                <a:r>
                  <a:rPr lang="zh-CN" altLang="en-US" sz="2200" dirty="0" smtClean="0"/>
                  <a:t>可使表达式为</a:t>
                </a:r>
                <a:r>
                  <a:rPr lang="en-US" altLang="zh-CN" sz="2200" dirty="0" smtClean="0"/>
                  <a:t>1</a:t>
                </a:r>
                <a:endParaRPr lang="en-US" altLang="zh-CN" sz="2200" dirty="0" smtClean="0">
                  <a:latin typeface="Arial" panose="02080604020202020204" pitchFamily="34" charset="0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8195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484313"/>
                <a:ext cx="8229600" cy="5373687"/>
              </a:xfrm>
              <a:blipFill rotWithShape="1">
                <a:blip r:embed="rId1"/>
                <a:stretch>
                  <a:fillRect t="-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矩形 1"/>
              <p:cNvSpPr/>
              <p:nvPr/>
            </p:nvSpPr>
            <p:spPr>
              <a:xfrm>
                <a:off x="-508" y="5884065"/>
                <a:ext cx="5903191" cy="43088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b="1" i="1" dirty="0" smtClean="0">
                          <a:solidFill>
                            <a:srgbClr val="FF0000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altLang="zh-CN" sz="22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2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</a:rPr>
                                <m:t>𝒙</m:t>
                              </m:r>
                            </m:e>
                          </m:acc>
                        </m:e>
                        <m:sub>
                          <m: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𝟏</m:t>
                          </m:r>
                        </m:sub>
                      </m:sSub>
                      <m:r>
                        <a:rPr lang="en-US" altLang="zh-CN" sz="2200" b="1" i="1" dirty="0">
                          <a:solidFill>
                            <a:srgbClr val="FF0000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∨</m:t>
                      </m:r>
                      <m:sSub>
                        <m:sSubPr>
                          <m:ctrlP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𝟐</m:t>
                          </m:r>
                        </m:sub>
                      </m:sSub>
                      <m:r>
                        <a:rPr lang="en-US" altLang="zh-CN" sz="2200" b="1" i="1" dirty="0">
                          <a:solidFill>
                            <a:srgbClr val="FF0000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∨</m:t>
                      </m:r>
                      <m:sSub>
                        <m:sSubPr>
                          <m:ctrlP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𝟑</m:t>
                          </m:r>
                        </m:sub>
                      </m:sSub>
                      <m:r>
                        <a:rPr lang="en-US" altLang="zh-CN" sz="2200" b="1" i="1" dirty="0">
                          <a:solidFill>
                            <a:srgbClr val="FF0000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)</m:t>
                      </m:r>
                      <m:r>
                        <a:rPr lang="en-US" altLang="zh-CN" sz="2200" b="1" i="1" dirty="0">
                          <a:solidFill>
                            <a:srgbClr val="FF0000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∧</m:t>
                      </m:r>
                      <m:r>
                        <a:rPr lang="en-US" altLang="zh-CN" sz="2200" b="1" i="1" dirty="0">
                          <a:solidFill>
                            <a:srgbClr val="FF0000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𝟏</m:t>
                          </m:r>
                        </m:sub>
                      </m:sSub>
                      <m:r>
                        <a:rPr lang="en-US" altLang="zh-CN" sz="2200" b="1" i="1" dirty="0">
                          <a:solidFill>
                            <a:srgbClr val="FF0000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∨</m:t>
                      </m:r>
                      <m:sSub>
                        <m:sSubPr>
                          <m:ctrlP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𝟐</m:t>
                          </m:r>
                        </m:sub>
                      </m:sSub>
                      <m:r>
                        <a:rPr lang="en-US" altLang="zh-CN" sz="2200" b="1" i="1" dirty="0">
                          <a:solidFill>
                            <a:srgbClr val="FF0000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∨</m:t>
                      </m:r>
                      <m:sSub>
                        <m:sSubPr>
                          <m:ctrlP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𝟑</m:t>
                          </m:r>
                        </m:sub>
                      </m:sSub>
                      <m:r>
                        <a:rPr lang="en-US" altLang="zh-CN" sz="2200" b="1" dirty="0">
                          <a:solidFill>
                            <a:srgbClr val="FF0000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)</m:t>
                      </m:r>
                      <m:r>
                        <a:rPr lang="en-US" altLang="zh-CN" sz="2200" b="1" i="1" dirty="0">
                          <a:solidFill>
                            <a:srgbClr val="FF0000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∧</m:t>
                      </m:r>
                      <m:r>
                        <a:rPr lang="en-US" altLang="zh-CN" sz="2200" b="1" dirty="0">
                          <a:solidFill>
                            <a:srgbClr val="FF0000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𝟏</m:t>
                          </m:r>
                        </m:sub>
                      </m:sSub>
                      <m:r>
                        <a:rPr lang="en-US" altLang="zh-CN" sz="2200" b="1" i="1" dirty="0">
                          <a:solidFill>
                            <a:srgbClr val="FF0000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∨</m:t>
                      </m:r>
                      <m:sSub>
                        <m:sSubPr>
                          <m:ctrlP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altLang="zh-CN" sz="22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2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</a:rPr>
                                <m:t>𝒙</m:t>
                              </m:r>
                            </m:e>
                          </m:acc>
                        </m:e>
                        <m:sub>
                          <m:r>
                            <a:rPr lang="en-US" altLang="zh-CN" sz="2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𝟐</m:t>
                          </m:r>
                        </m:sub>
                      </m:sSub>
                      <m:r>
                        <a:rPr lang="en-US" altLang="zh-CN" sz="2200" b="1" i="1" dirty="0">
                          <a:solidFill>
                            <a:srgbClr val="FF0000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∨</m:t>
                      </m:r>
                      <m:sSub>
                        <m:sSubPr>
                          <m:ctrlP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altLang="zh-CN" sz="22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2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</a:rPr>
                                <m:t>𝒙</m:t>
                              </m:r>
                            </m:e>
                          </m:acc>
                        </m:e>
                        <m:sub>
                          <m:r>
                            <a:rPr lang="en-US" altLang="zh-CN" sz="2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𝟑</m:t>
                          </m:r>
                        </m:sub>
                      </m:sSub>
                      <m:r>
                        <a:rPr lang="en-US" altLang="zh-CN" sz="2200" b="1" i="1" dirty="0">
                          <a:solidFill>
                            <a:srgbClr val="FF0000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lang="zh-CN" altLang="en-US" sz="2200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08" y="5884065"/>
                <a:ext cx="5903191" cy="430887"/>
              </a:xfrm>
              <a:prstGeom prst="rect">
                <a:avLst/>
              </a:prstGeom>
              <a:blipFill rotWithShape="1">
                <a:blip r:embed="rId2"/>
                <a:stretch>
                  <a:fillRect l="9" t="-36" r="6" b="-6649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741814" y="5616824"/>
            <a:ext cx="479618" cy="369332"/>
          </a:xfrm>
          <a:prstGeom prst="rect">
            <a:avLst/>
          </a:prstGeom>
          <a:noFill/>
          <a:ln w="25400">
            <a:noFill/>
          </a:ln>
        </p:spPr>
        <p:txBody>
          <a:bodyPr wrap="none" rtlCol="0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b="1" dirty="0" smtClean="0">
                <a:solidFill>
                  <a:srgbClr val="000099"/>
                </a:solidFill>
                <a:ea typeface="黑体" panose="02010609060101010101" pitchFamily="49" charset="-122"/>
              </a:rPr>
              <a:t>C1</a:t>
            </a:r>
            <a:endParaRPr lang="zh-CN" altLang="en-US" b="1" dirty="0" smtClean="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711279" y="5589241"/>
            <a:ext cx="479618" cy="369332"/>
          </a:xfrm>
          <a:prstGeom prst="rect">
            <a:avLst/>
          </a:prstGeom>
          <a:noFill/>
          <a:ln w="25400">
            <a:noFill/>
          </a:ln>
        </p:spPr>
        <p:txBody>
          <a:bodyPr wrap="none" rtlCol="0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b="1" dirty="0" smtClean="0">
                <a:solidFill>
                  <a:srgbClr val="000099"/>
                </a:solidFill>
                <a:ea typeface="黑体" panose="02010609060101010101" pitchFamily="49" charset="-122"/>
              </a:rPr>
              <a:t>C2</a:t>
            </a:r>
            <a:endParaRPr lang="zh-CN" altLang="en-US" b="1" dirty="0" smtClean="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630246" y="5589240"/>
            <a:ext cx="479618" cy="369332"/>
          </a:xfrm>
          <a:prstGeom prst="rect">
            <a:avLst/>
          </a:prstGeom>
          <a:noFill/>
          <a:ln w="25400">
            <a:noFill/>
          </a:ln>
        </p:spPr>
        <p:txBody>
          <a:bodyPr wrap="none" rtlCol="0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b="1" dirty="0" smtClean="0">
                <a:solidFill>
                  <a:srgbClr val="000099"/>
                </a:solidFill>
                <a:ea typeface="黑体" panose="02010609060101010101" pitchFamily="49" charset="-122"/>
              </a:rPr>
              <a:t>C3</a:t>
            </a:r>
            <a:endParaRPr lang="zh-CN" altLang="en-US" b="1" dirty="0" smtClean="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21702" y="4758245"/>
            <a:ext cx="523759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 smtClean="0"/>
              <a:t>x</a:t>
            </a:r>
            <a:r>
              <a:rPr lang="en-US" altLang="zh-CN" sz="2400" b="1" baseline="-25000" dirty="0" smtClean="0"/>
              <a:t>1</a:t>
            </a:r>
            <a:r>
              <a:rPr lang="en-US" altLang="zh-CN" sz="2400" b="1" dirty="0" smtClean="0"/>
              <a:t>=0</a:t>
            </a:r>
            <a:r>
              <a:rPr lang="zh-CN" altLang="en-US" sz="2400" b="1" dirty="0" smtClean="0"/>
              <a:t>，</a:t>
            </a:r>
            <a:r>
              <a:rPr lang="en-US" altLang="zh-CN" sz="2400" b="1" dirty="0" smtClean="0"/>
              <a:t>x</a:t>
            </a:r>
            <a:r>
              <a:rPr lang="en-US" altLang="zh-CN" sz="2400" b="1" baseline="-25000" dirty="0" smtClean="0"/>
              <a:t>2</a:t>
            </a:r>
            <a:r>
              <a:rPr lang="en-US" altLang="zh-CN" sz="2400" b="1" dirty="0" smtClean="0"/>
              <a:t>=1</a:t>
            </a:r>
            <a:r>
              <a:rPr lang="zh-CN" altLang="zh-CN" sz="2400" b="1" dirty="0" smtClean="0"/>
              <a:t>，</a:t>
            </a:r>
            <a:r>
              <a:rPr lang="en-US" altLang="zh-CN" sz="2400" b="1" dirty="0" smtClean="0"/>
              <a:t>x</a:t>
            </a:r>
            <a:r>
              <a:rPr lang="en-US" altLang="zh-CN" sz="2400" b="1" baseline="-25000" dirty="0" smtClean="0"/>
              <a:t>3</a:t>
            </a:r>
            <a:r>
              <a:rPr lang="en-US" altLang="zh-CN" sz="2400" b="1" dirty="0" smtClean="0"/>
              <a:t>=0</a:t>
            </a:r>
            <a:r>
              <a:rPr lang="zh-CN" altLang="zh-CN" sz="2400" b="1" dirty="0" smtClean="0"/>
              <a:t>，</a:t>
            </a:r>
            <a:r>
              <a:rPr lang="zh-CN" altLang="zh-CN" sz="2400" b="1" dirty="0"/>
              <a:t>则</a:t>
            </a:r>
            <a:r>
              <a:rPr lang="en-US" altLang="zh-CN" sz="2400" b="1" dirty="0"/>
              <a:t>c</a:t>
            </a:r>
            <a:r>
              <a:rPr lang="en-US" altLang="zh-CN" sz="2400" b="1" baseline="-25000" dirty="0"/>
              <a:t>1</a:t>
            </a:r>
            <a:r>
              <a:rPr lang="zh-CN" altLang="zh-CN" sz="2400" b="1" dirty="0"/>
              <a:t>∧</a:t>
            </a:r>
            <a:r>
              <a:rPr lang="en-US" altLang="zh-CN" sz="2400" b="1" dirty="0"/>
              <a:t>c</a:t>
            </a:r>
            <a:r>
              <a:rPr lang="en-US" altLang="zh-CN" sz="2400" b="1" baseline="-25000" dirty="0"/>
              <a:t>2</a:t>
            </a:r>
            <a:r>
              <a:rPr lang="zh-CN" altLang="zh-CN" sz="2400" b="1" dirty="0"/>
              <a:t>∧</a:t>
            </a:r>
            <a:r>
              <a:rPr lang="en-US" altLang="zh-CN" sz="2400" b="1" dirty="0" smtClean="0"/>
              <a:t>c</a:t>
            </a:r>
            <a:r>
              <a:rPr lang="en-US" altLang="zh-CN" sz="2400" b="1" baseline="-25000" dirty="0" smtClean="0"/>
              <a:t>3</a:t>
            </a:r>
            <a:r>
              <a:rPr lang="en-US" altLang="zh-CN" sz="2400" b="1" dirty="0" smtClean="0"/>
              <a:t>=1</a:t>
            </a:r>
            <a:endParaRPr lang="zh-CN" altLang="en-US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9" name="矩形 68"/>
              <p:cNvSpPr/>
              <p:nvPr/>
            </p:nvSpPr>
            <p:spPr>
              <a:xfrm>
                <a:off x="6829907" y="4006225"/>
                <a:ext cx="375616" cy="338554"/>
              </a:xfrm>
              <a:prstGeom prst="rect">
                <a:avLst/>
              </a:prstGeom>
            </p:spPr>
            <p:txBody>
              <a:bodyPr wrap="none" lIns="0" tIns="0" rIns="0" bIns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altLang="zh-CN" sz="22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2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</a:rPr>
                                <m:t>𝒙</m:t>
                              </m:r>
                            </m:e>
                          </m:acc>
                        </m:e>
                        <m:sub>
                          <m: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sz="22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69" name="矩形 6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9907" y="4006225"/>
                <a:ext cx="375616" cy="338554"/>
              </a:xfrm>
              <a:prstGeom prst="rect">
                <a:avLst/>
              </a:prstGeom>
              <a:blipFill rotWithShape="1">
                <a:blip r:embed="rId3"/>
                <a:stretch>
                  <a:fillRect l="-128" t="-3" r="-20408" b="3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0" name="矩形 69"/>
              <p:cNvSpPr/>
              <p:nvPr/>
            </p:nvSpPr>
            <p:spPr>
              <a:xfrm>
                <a:off x="5976362" y="4863934"/>
                <a:ext cx="375616" cy="338554"/>
              </a:xfrm>
              <a:prstGeom prst="rect">
                <a:avLst/>
              </a:prstGeom>
              <a:ln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sz="22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70" name="矩形 6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6362" y="4863934"/>
                <a:ext cx="375616" cy="338554"/>
              </a:xfrm>
              <a:prstGeom prst="rect">
                <a:avLst/>
              </a:prstGeom>
              <a:blipFill rotWithShape="1">
                <a:blip r:embed="rId4"/>
                <a:stretch>
                  <a:fillRect l="-100" t="-139" r="-20436" b="16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2" name="矩形 71"/>
              <p:cNvSpPr/>
              <p:nvPr/>
            </p:nvSpPr>
            <p:spPr>
              <a:xfrm>
                <a:off x="8696884" y="4955799"/>
                <a:ext cx="375616" cy="338554"/>
              </a:xfrm>
              <a:prstGeom prst="rect">
                <a:avLst/>
              </a:prstGeom>
              <a:ln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sz="22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72" name="矩形 7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6884" y="4955799"/>
                <a:ext cx="375616" cy="338554"/>
              </a:xfrm>
              <a:prstGeom prst="rect">
                <a:avLst/>
              </a:prstGeom>
              <a:blipFill rotWithShape="1">
                <a:blip r:embed="rId4"/>
                <a:stretch>
                  <a:fillRect l="-149" t="-77" r="-20388" b="10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3" name="矩形 72"/>
              <p:cNvSpPr/>
              <p:nvPr/>
            </p:nvSpPr>
            <p:spPr>
              <a:xfrm>
                <a:off x="7447251" y="4006225"/>
                <a:ext cx="375616" cy="338554"/>
              </a:xfrm>
              <a:prstGeom prst="rect">
                <a:avLst/>
              </a:prstGeom>
            </p:spPr>
            <p:txBody>
              <a:bodyPr wrap="none" lIns="0" tIns="0" rIns="0" bIns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zh-CN" altLang="en-US" sz="22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73" name="矩形 7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7251" y="4006225"/>
                <a:ext cx="375616" cy="338554"/>
              </a:xfrm>
              <a:prstGeom prst="rect">
                <a:avLst/>
              </a:prstGeom>
              <a:blipFill rotWithShape="1">
                <a:blip r:embed="rId5"/>
                <a:stretch>
                  <a:fillRect l="-161" t="-3" r="-24264" b="3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5" name="矩形 74"/>
              <p:cNvSpPr/>
              <p:nvPr/>
            </p:nvSpPr>
            <p:spPr>
              <a:xfrm>
                <a:off x="8064594" y="4006225"/>
                <a:ext cx="375616" cy="338554"/>
              </a:xfrm>
              <a:prstGeom prst="rect">
                <a:avLst/>
              </a:prstGeom>
            </p:spPr>
            <p:txBody>
              <a:bodyPr wrap="none" lIns="0" tIns="0" rIns="0" bIns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zh-CN" altLang="en-US" sz="22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75" name="矩形 7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4594" y="4006225"/>
                <a:ext cx="375616" cy="338554"/>
              </a:xfrm>
              <a:prstGeom prst="rect">
                <a:avLst/>
              </a:prstGeom>
              <a:blipFill rotWithShape="1">
                <a:blip r:embed="rId6"/>
                <a:stretch>
                  <a:fillRect l="-25" t="-3" r="-25752" b="3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6" name="矩形 75"/>
              <p:cNvSpPr/>
              <p:nvPr/>
            </p:nvSpPr>
            <p:spPr>
              <a:xfrm>
                <a:off x="5976362" y="5409044"/>
                <a:ext cx="375616" cy="338554"/>
              </a:xfrm>
              <a:prstGeom prst="rect">
                <a:avLst/>
              </a:prstGeom>
              <a:ln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zh-CN" altLang="en-US" sz="22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76" name="矩形 7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6362" y="5409044"/>
                <a:ext cx="375616" cy="338554"/>
              </a:xfrm>
              <a:prstGeom prst="rect">
                <a:avLst/>
              </a:prstGeom>
              <a:blipFill rotWithShape="1">
                <a:blip r:embed="rId5"/>
                <a:stretch>
                  <a:fillRect l="-100" t="-34" r="-24325" b="6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8" name="矩形 77"/>
              <p:cNvSpPr/>
              <p:nvPr/>
            </p:nvSpPr>
            <p:spPr>
              <a:xfrm>
                <a:off x="5976362" y="5994399"/>
                <a:ext cx="375616" cy="338554"/>
              </a:xfrm>
              <a:prstGeom prst="rect">
                <a:avLst/>
              </a:prstGeom>
              <a:ln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zh-CN" altLang="en-US" sz="22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78" name="矩形 7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6362" y="5994399"/>
                <a:ext cx="375616" cy="338554"/>
              </a:xfrm>
              <a:prstGeom prst="rect">
                <a:avLst/>
              </a:prstGeom>
              <a:blipFill rotWithShape="1">
                <a:blip r:embed="rId6"/>
                <a:stretch>
                  <a:fillRect l="-100" t="-187" r="-25677" b="2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9" name="矩形 78"/>
              <p:cNvSpPr/>
              <p:nvPr/>
            </p:nvSpPr>
            <p:spPr>
              <a:xfrm>
                <a:off x="8696884" y="5526912"/>
                <a:ext cx="375616" cy="338554"/>
              </a:xfrm>
              <a:prstGeom prst="rect">
                <a:avLst/>
              </a:prstGeom>
              <a:ln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altLang="zh-CN" sz="22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2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</a:rPr>
                                <m:t>𝒙</m:t>
                              </m:r>
                            </m:e>
                          </m:acc>
                        </m:e>
                        <m:sub>
                          <m:r>
                            <a:rPr lang="en-US" altLang="zh-CN" sz="2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zh-CN" altLang="en-US" sz="22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79" name="矩形 7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6884" y="5526912"/>
                <a:ext cx="375616" cy="338554"/>
              </a:xfrm>
              <a:prstGeom prst="rect">
                <a:avLst/>
              </a:prstGeom>
              <a:blipFill rotWithShape="1">
                <a:blip r:embed="rId7"/>
                <a:stretch>
                  <a:fillRect l="-149" t="-150" r="-24276" b="17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1" name="矩形 80"/>
              <p:cNvSpPr/>
              <p:nvPr/>
            </p:nvSpPr>
            <p:spPr>
              <a:xfrm>
                <a:off x="8696884" y="6022449"/>
                <a:ext cx="375616" cy="338554"/>
              </a:xfrm>
              <a:prstGeom prst="rect">
                <a:avLst/>
              </a:prstGeom>
              <a:ln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altLang="zh-CN" sz="22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2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</a:rPr>
                                <m:t>𝒙</m:t>
                              </m:r>
                            </m:e>
                          </m:acc>
                        </m:e>
                        <m:sub>
                          <m:r>
                            <a:rPr lang="en-US" altLang="zh-CN" sz="2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zh-CN" altLang="en-US" sz="22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81" name="矩形 8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6884" y="6022449"/>
                <a:ext cx="375616" cy="338554"/>
              </a:xfrm>
              <a:prstGeom prst="rect">
                <a:avLst/>
              </a:prstGeom>
              <a:blipFill rotWithShape="1">
                <a:blip r:embed="rId8"/>
                <a:stretch>
                  <a:fillRect l="-149" t="-32" r="-25629" b="6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2" name="直接连接符 81"/>
          <p:cNvCxnSpPr>
            <a:stCxn id="69" idx="2"/>
            <a:endCxn id="79" idx="1"/>
          </p:cNvCxnSpPr>
          <p:nvPr/>
        </p:nvCxnSpPr>
        <p:spPr bwMode="auto">
          <a:xfrm>
            <a:off x="7017715" y="4344779"/>
            <a:ext cx="1679169" cy="1351410"/>
          </a:xfrm>
          <a:prstGeom prst="line">
            <a:avLst/>
          </a:prstGeom>
          <a:ln w="25400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连接符 83"/>
          <p:cNvCxnSpPr>
            <a:stCxn id="69" idx="2"/>
            <a:endCxn id="81" idx="1"/>
          </p:cNvCxnSpPr>
          <p:nvPr/>
        </p:nvCxnSpPr>
        <p:spPr bwMode="auto">
          <a:xfrm>
            <a:off x="7017715" y="4344779"/>
            <a:ext cx="1679169" cy="1846947"/>
          </a:xfrm>
          <a:prstGeom prst="line">
            <a:avLst/>
          </a:prstGeom>
          <a:ln w="25400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接连接符 84"/>
          <p:cNvCxnSpPr>
            <a:stCxn id="73" idx="2"/>
            <a:endCxn id="70" idx="3"/>
          </p:cNvCxnSpPr>
          <p:nvPr/>
        </p:nvCxnSpPr>
        <p:spPr bwMode="auto">
          <a:xfrm flipH="1">
            <a:off x="6351978" y="4344779"/>
            <a:ext cx="1283081" cy="688432"/>
          </a:xfrm>
          <a:prstGeom prst="line">
            <a:avLst/>
          </a:prstGeom>
          <a:ln w="25400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连接符 86"/>
          <p:cNvCxnSpPr>
            <a:stCxn id="73" idx="2"/>
            <a:endCxn id="78" idx="3"/>
          </p:cNvCxnSpPr>
          <p:nvPr/>
        </p:nvCxnSpPr>
        <p:spPr bwMode="auto">
          <a:xfrm flipH="1">
            <a:off x="6351978" y="4344779"/>
            <a:ext cx="1283081" cy="1818897"/>
          </a:xfrm>
          <a:prstGeom prst="line">
            <a:avLst/>
          </a:prstGeom>
          <a:ln w="25400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连接符 87"/>
          <p:cNvCxnSpPr>
            <a:stCxn id="75" idx="2"/>
            <a:endCxn id="76" idx="3"/>
          </p:cNvCxnSpPr>
          <p:nvPr/>
        </p:nvCxnSpPr>
        <p:spPr bwMode="auto">
          <a:xfrm flipH="1">
            <a:off x="6351978" y="4344779"/>
            <a:ext cx="1900424" cy="1233542"/>
          </a:xfrm>
          <a:prstGeom prst="line">
            <a:avLst/>
          </a:prstGeom>
          <a:ln w="25400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连接符 89"/>
          <p:cNvCxnSpPr>
            <a:stCxn id="75" idx="2"/>
            <a:endCxn id="70" idx="3"/>
          </p:cNvCxnSpPr>
          <p:nvPr/>
        </p:nvCxnSpPr>
        <p:spPr bwMode="auto">
          <a:xfrm flipH="1">
            <a:off x="6351978" y="4344779"/>
            <a:ext cx="1900424" cy="688432"/>
          </a:xfrm>
          <a:prstGeom prst="line">
            <a:avLst/>
          </a:prstGeom>
          <a:ln w="25400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连接符 90"/>
          <p:cNvCxnSpPr>
            <a:stCxn id="69" idx="2"/>
            <a:endCxn id="76" idx="3"/>
          </p:cNvCxnSpPr>
          <p:nvPr/>
        </p:nvCxnSpPr>
        <p:spPr bwMode="auto">
          <a:xfrm flipH="1">
            <a:off x="6351978" y="4344779"/>
            <a:ext cx="665737" cy="1233542"/>
          </a:xfrm>
          <a:prstGeom prst="line">
            <a:avLst/>
          </a:prstGeom>
          <a:ln w="25400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接连接符 92"/>
          <p:cNvCxnSpPr>
            <a:stCxn id="69" idx="2"/>
            <a:endCxn id="78" idx="3"/>
          </p:cNvCxnSpPr>
          <p:nvPr/>
        </p:nvCxnSpPr>
        <p:spPr bwMode="auto">
          <a:xfrm flipH="1">
            <a:off x="6351978" y="4344779"/>
            <a:ext cx="665737" cy="1818897"/>
          </a:xfrm>
          <a:prstGeom prst="line">
            <a:avLst/>
          </a:prstGeom>
          <a:ln w="25400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接连接符 93"/>
          <p:cNvCxnSpPr>
            <a:stCxn id="73" idx="2"/>
            <a:endCxn id="76" idx="3"/>
          </p:cNvCxnSpPr>
          <p:nvPr/>
        </p:nvCxnSpPr>
        <p:spPr bwMode="auto">
          <a:xfrm flipH="1">
            <a:off x="6351978" y="4344779"/>
            <a:ext cx="1283081" cy="1233542"/>
          </a:xfrm>
          <a:prstGeom prst="line">
            <a:avLst/>
          </a:prstGeom>
          <a:ln w="25400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接连接符 95"/>
          <p:cNvCxnSpPr>
            <a:stCxn id="73" idx="2"/>
            <a:endCxn id="72" idx="1"/>
          </p:cNvCxnSpPr>
          <p:nvPr/>
        </p:nvCxnSpPr>
        <p:spPr bwMode="auto">
          <a:xfrm>
            <a:off x="7635059" y="4344779"/>
            <a:ext cx="1061825" cy="780297"/>
          </a:xfrm>
          <a:prstGeom prst="line">
            <a:avLst/>
          </a:prstGeom>
          <a:ln w="25400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接连接符 96"/>
          <p:cNvCxnSpPr>
            <a:stCxn id="73" idx="2"/>
            <a:endCxn id="81" idx="1"/>
          </p:cNvCxnSpPr>
          <p:nvPr/>
        </p:nvCxnSpPr>
        <p:spPr bwMode="auto">
          <a:xfrm>
            <a:off x="7635059" y="4344779"/>
            <a:ext cx="1061825" cy="1846947"/>
          </a:xfrm>
          <a:prstGeom prst="line">
            <a:avLst/>
          </a:prstGeom>
          <a:ln w="25400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接连接符 97"/>
          <p:cNvCxnSpPr>
            <a:stCxn id="75" idx="2"/>
            <a:endCxn id="78" idx="3"/>
          </p:cNvCxnSpPr>
          <p:nvPr/>
        </p:nvCxnSpPr>
        <p:spPr bwMode="auto">
          <a:xfrm flipH="1">
            <a:off x="6351978" y="4344779"/>
            <a:ext cx="1900424" cy="1818897"/>
          </a:xfrm>
          <a:prstGeom prst="line">
            <a:avLst/>
          </a:prstGeom>
          <a:ln w="25400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接连接符 98"/>
          <p:cNvCxnSpPr>
            <a:stCxn id="75" idx="2"/>
            <a:endCxn id="72" idx="1"/>
          </p:cNvCxnSpPr>
          <p:nvPr/>
        </p:nvCxnSpPr>
        <p:spPr bwMode="auto">
          <a:xfrm>
            <a:off x="8252402" y="4344779"/>
            <a:ext cx="444482" cy="780297"/>
          </a:xfrm>
          <a:prstGeom prst="line">
            <a:avLst/>
          </a:prstGeom>
          <a:ln w="25400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接连接符 99"/>
          <p:cNvCxnSpPr>
            <a:stCxn id="75" idx="2"/>
            <a:endCxn id="79" idx="1"/>
          </p:cNvCxnSpPr>
          <p:nvPr/>
        </p:nvCxnSpPr>
        <p:spPr bwMode="auto">
          <a:xfrm>
            <a:off x="8252402" y="4344779"/>
            <a:ext cx="444482" cy="1351410"/>
          </a:xfrm>
          <a:prstGeom prst="line">
            <a:avLst/>
          </a:prstGeom>
          <a:ln w="25400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接连接符 100"/>
          <p:cNvCxnSpPr>
            <a:stCxn id="70" idx="3"/>
            <a:endCxn id="72" idx="1"/>
          </p:cNvCxnSpPr>
          <p:nvPr/>
        </p:nvCxnSpPr>
        <p:spPr bwMode="auto">
          <a:xfrm>
            <a:off x="6351978" y="5033211"/>
            <a:ext cx="2344906" cy="91865"/>
          </a:xfrm>
          <a:prstGeom prst="line">
            <a:avLst/>
          </a:prstGeom>
          <a:ln w="25400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接连接符 101"/>
          <p:cNvCxnSpPr>
            <a:stCxn id="70" idx="3"/>
            <a:endCxn id="79" idx="1"/>
          </p:cNvCxnSpPr>
          <p:nvPr/>
        </p:nvCxnSpPr>
        <p:spPr bwMode="auto">
          <a:xfrm>
            <a:off x="6351978" y="5033211"/>
            <a:ext cx="2344906" cy="662978"/>
          </a:xfrm>
          <a:prstGeom prst="line">
            <a:avLst/>
          </a:prstGeom>
          <a:ln w="25400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接连接符 102"/>
          <p:cNvCxnSpPr>
            <a:stCxn id="70" idx="3"/>
            <a:endCxn id="81" idx="1"/>
          </p:cNvCxnSpPr>
          <p:nvPr/>
        </p:nvCxnSpPr>
        <p:spPr bwMode="auto">
          <a:xfrm>
            <a:off x="6351978" y="5033211"/>
            <a:ext cx="2344906" cy="1158515"/>
          </a:xfrm>
          <a:prstGeom prst="line">
            <a:avLst/>
          </a:prstGeom>
          <a:ln w="25400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连接符 103"/>
          <p:cNvCxnSpPr>
            <a:stCxn id="76" idx="3"/>
            <a:endCxn id="72" idx="1"/>
          </p:cNvCxnSpPr>
          <p:nvPr/>
        </p:nvCxnSpPr>
        <p:spPr bwMode="auto">
          <a:xfrm flipV="1">
            <a:off x="6351978" y="5125076"/>
            <a:ext cx="2344906" cy="453245"/>
          </a:xfrm>
          <a:prstGeom prst="line">
            <a:avLst/>
          </a:prstGeom>
          <a:ln w="25400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接连接符 104"/>
          <p:cNvCxnSpPr>
            <a:stCxn id="76" idx="3"/>
            <a:endCxn id="81" idx="1"/>
          </p:cNvCxnSpPr>
          <p:nvPr/>
        </p:nvCxnSpPr>
        <p:spPr bwMode="auto">
          <a:xfrm>
            <a:off x="6351978" y="5578321"/>
            <a:ext cx="2344906" cy="613405"/>
          </a:xfrm>
          <a:prstGeom prst="line">
            <a:avLst/>
          </a:prstGeom>
          <a:ln w="25400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接连接符 105"/>
          <p:cNvCxnSpPr>
            <a:stCxn id="72" idx="1"/>
            <a:endCxn id="78" idx="3"/>
          </p:cNvCxnSpPr>
          <p:nvPr/>
        </p:nvCxnSpPr>
        <p:spPr bwMode="auto">
          <a:xfrm flipH="1">
            <a:off x="6351978" y="5125076"/>
            <a:ext cx="2344906" cy="1038600"/>
          </a:xfrm>
          <a:prstGeom prst="line">
            <a:avLst/>
          </a:prstGeom>
          <a:ln w="25400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接连接符 106"/>
          <p:cNvCxnSpPr>
            <a:stCxn id="79" idx="1"/>
            <a:endCxn id="78" idx="3"/>
          </p:cNvCxnSpPr>
          <p:nvPr/>
        </p:nvCxnSpPr>
        <p:spPr bwMode="auto">
          <a:xfrm flipH="1">
            <a:off x="6351978" y="5696189"/>
            <a:ext cx="2344906" cy="467487"/>
          </a:xfrm>
          <a:prstGeom prst="line">
            <a:avLst/>
          </a:prstGeom>
          <a:ln w="25400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" name="组合 50"/>
          <p:cNvGrpSpPr/>
          <p:nvPr/>
        </p:nvGrpSpPr>
        <p:grpSpPr>
          <a:xfrm>
            <a:off x="6351978" y="4354361"/>
            <a:ext cx="2344906" cy="1846947"/>
            <a:chOff x="8680756" y="2650232"/>
            <a:chExt cx="2344906" cy="1846947"/>
          </a:xfrm>
        </p:grpSpPr>
        <p:cxnSp>
          <p:nvCxnSpPr>
            <p:cNvPr id="108" name="直接连接符 107"/>
            <p:cNvCxnSpPr/>
            <p:nvPr/>
          </p:nvCxnSpPr>
          <p:spPr bwMode="auto">
            <a:xfrm>
              <a:off x="9346493" y="2650232"/>
              <a:ext cx="1679169" cy="1846947"/>
            </a:xfrm>
            <a:prstGeom prst="line">
              <a:avLst/>
            </a:prstGeom>
            <a:ln w="7620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/>
            <p:cNvCxnSpPr/>
            <p:nvPr/>
          </p:nvCxnSpPr>
          <p:spPr bwMode="auto">
            <a:xfrm flipH="1">
              <a:off x="8680756" y="2650232"/>
              <a:ext cx="665737" cy="1233542"/>
            </a:xfrm>
            <a:prstGeom prst="line">
              <a:avLst/>
            </a:prstGeom>
            <a:ln w="7620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/>
            <p:cNvCxnSpPr/>
            <p:nvPr/>
          </p:nvCxnSpPr>
          <p:spPr bwMode="auto">
            <a:xfrm>
              <a:off x="8680756" y="3883774"/>
              <a:ext cx="2344906" cy="613405"/>
            </a:xfrm>
            <a:prstGeom prst="line">
              <a:avLst/>
            </a:prstGeom>
            <a:ln w="7620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顶点覆盖</a:t>
            </a:r>
            <a:r>
              <a:rPr lang="zh-CN" altLang="en-US" dirty="0" smtClean="0"/>
              <a:t>问题是</a:t>
            </a:r>
            <a:r>
              <a:rPr lang="en-US" altLang="zh-CN" dirty="0" smtClean="0"/>
              <a:t>NP</a:t>
            </a:r>
            <a:r>
              <a:rPr lang="zh-CN" altLang="en-US" dirty="0" smtClean="0"/>
              <a:t>完全问题</a:t>
            </a:r>
            <a:endParaRPr lang="zh-CN" altLang="en-US" dirty="0" smtClean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195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>
                    <a:latin typeface="Arial" panose="02080604020202020204" pitchFamily="34" charset="0"/>
                    <a:ea typeface="黑体" panose="02010609060101010101" pitchFamily="49" charset="-122"/>
                  </a:rPr>
                  <a:t>顶点覆盖问题</a:t>
                </a:r>
                <a:endParaRPr lang="en-US" altLang="zh-CN" dirty="0">
                  <a:latin typeface="Arial" panose="02080604020202020204" pitchFamily="34" charset="0"/>
                  <a:ea typeface="黑体" panose="02010609060101010101" pitchFamily="49" charset="-122"/>
                </a:endParaRPr>
              </a:p>
              <a:p>
                <a:pPr lvl="1"/>
                <a:r>
                  <a:rPr lang="zh-CN" altLang="zh-CN" dirty="0"/>
                  <a:t>无向图</a:t>
                </a:r>
                <a:r>
                  <a:rPr lang="en-US" altLang="zh-CN" dirty="0"/>
                  <a:t>G</a:t>
                </a:r>
                <a:r>
                  <a:rPr lang="zh-CN" altLang="zh-CN" dirty="0"/>
                  <a:t>中是否存在顶点数为</a:t>
                </a:r>
                <a:r>
                  <a:rPr lang="en-US" altLang="zh-CN" dirty="0"/>
                  <a:t>k</a:t>
                </a:r>
                <a:r>
                  <a:rPr lang="zh-CN" altLang="zh-CN" dirty="0"/>
                  <a:t>的顶点覆盖？</a:t>
                </a:r>
                <a:endParaRPr lang="en-US" altLang="zh-CN" dirty="0"/>
              </a:p>
              <a:p>
                <a:pPr lvl="2"/>
                <a:r>
                  <a:rPr lang="en-US" altLang="zh-CN" dirty="0"/>
                  <a:t>G </a:t>
                </a:r>
                <a:r>
                  <a:rPr lang="zh-CN" altLang="en-US" dirty="0"/>
                  <a:t>中大小为 </a:t>
                </a:r>
                <a:r>
                  <a:rPr lang="en-US" altLang="zh-CN" dirty="0"/>
                  <a:t>k </a:t>
                </a:r>
                <a:r>
                  <a:rPr lang="zh-CN" altLang="en-US" dirty="0"/>
                  <a:t>的顶点集合，使得 </a:t>
                </a:r>
                <a:r>
                  <a:rPr lang="en-US" altLang="zh-CN" dirty="0"/>
                  <a:t>G </a:t>
                </a:r>
                <a:r>
                  <a:rPr lang="zh-CN" altLang="en-US" dirty="0"/>
                  <a:t>中</a:t>
                </a:r>
                <a:r>
                  <a:rPr lang="zh-CN" altLang="zh-CN" dirty="0"/>
                  <a:t>任一条边的两个顶点至少有一个在此集合中</a:t>
                </a:r>
                <a:endParaRPr lang="en-US" altLang="zh-CN" dirty="0">
                  <a:latin typeface="Arial" panose="02080604020202020204" pitchFamily="34" charset="0"/>
                  <a:ea typeface="黑体" panose="02010609060101010101" pitchFamily="49" charset="-122"/>
                </a:endParaRPr>
              </a:p>
              <a:p>
                <a:r>
                  <a:rPr lang="en-US" altLang="zh-CN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3CNF-SAT</a:t>
                </a:r>
                <a:r>
                  <a:rPr lang="zh-CN" altLang="en-US" dirty="0">
                    <a:latin typeface="Arial" panose="02080604020202020204" pitchFamily="34" charset="0"/>
                    <a:ea typeface="黑体" panose="02010609060101010101" pitchFamily="49" charset="-122"/>
                  </a:rPr>
                  <a:t>问题</a:t>
                </a:r>
                <a:endParaRPr lang="en-US" altLang="zh-CN" dirty="0">
                  <a:latin typeface="Arial" panose="02080604020202020204" pitchFamily="34" charset="0"/>
                  <a:ea typeface="黑体" panose="02010609060101010101" pitchFamily="49" charset="-122"/>
                </a:endParaRPr>
              </a:p>
              <a:p>
                <a:pPr lvl="1"/>
                <a:r>
                  <a:rPr lang="zh-CN" altLang="en-US" dirty="0">
                    <a:latin typeface="Arial" panose="02080604020202020204" pitchFamily="34" charset="0"/>
                    <a:ea typeface="黑体" panose="02010609060101010101" pitchFamily="49" charset="-122"/>
                  </a:rPr>
                  <a:t>给定</a:t>
                </a:r>
                <a:r>
                  <a:rPr lang="en-US" altLang="zh-CN" dirty="0">
                    <a:latin typeface="Arial" panose="02080604020202020204" pitchFamily="34" charset="0"/>
                    <a:ea typeface="黑体" panose="02010609060101010101" pitchFamily="49" charset="-122"/>
                  </a:rPr>
                  <a:t>n</a:t>
                </a:r>
                <a:r>
                  <a:rPr lang="zh-CN" altLang="en-US" dirty="0">
                    <a:latin typeface="Arial" panose="02080604020202020204" pitchFamily="34" charset="0"/>
                    <a:ea typeface="黑体" panose="02010609060101010101" pitchFamily="49" charset="-122"/>
                  </a:rPr>
                  <a:t>个布尔变元和</a:t>
                </a:r>
                <a:r>
                  <a:rPr lang="en-US" altLang="zh-CN" dirty="0">
                    <a:latin typeface="Arial" panose="02080604020202020204" pitchFamily="34" charset="0"/>
                    <a:ea typeface="黑体" panose="02010609060101010101" pitchFamily="49" charset="-122"/>
                  </a:rPr>
                  <a:t>m</a:t>
                </a:r>
                <a:r>
                  <a:rPr lang="zh-CN" altLang="en-US" dirty="0">
                    <a:latin typeface="Arial" panose="02080604020202020204" pitchFamily="34" charset="0"/>
                    <a:ea typeface="黑体" panose="02010609060101010101" pitchFamily="49" charset="-122"/>
                  </a:rPr>
                  <a:t>个子句，子句是</a:t>
                </a:r>
                <a:r>
                  <a:rPr lang="en-US" altLang="zh-CN" dirty="0">
                    <a:latin typeface="Arial" panose="02080604020202020204" pitchFamily="34" charset="0"/>
                    <a:ea typeface="黑体" panose="02010609060101010101" pitchFamily="49" charset="-122"/>
                  </a:rPr>
                  <a:t>3</a:t>
                </a:r>
                <a:r>
                  <a:rPr lang="zh-CN" altLang="en-US" dirty="0">
                    <a:latin typeface="Arial" panose="02080604020202020204" pitchFamily="34" charset="0"/>
                    <a:ea typeface="黑体" panose="02010609060101010101" pitchFamily="49" charset="-122"/>
                  </a:rPr>
                  <a:t>个文字</a:t>
                </a:r>
                <a:r>
                  <a:rPr lang="en-US" altLang="zh-CN" dirty="0">
                    <a:latin typeface="Arial" panose="02080604020202020204" pitchFamily="34" charset="0"/>
                    <a:ea typeface="黑体" panose="02010609060101010101" pitchFamily="49" charset="-122"/>
                  </a:rPr>
                  <a:t>(</a:t>
                </a:r>
                <a:r>
                  <a:rPr lang="zh-CN" altLang="en-US" dirty="0">
                    <a:latin typeface="Arial" panose="02080604020202020204" pitchFamily="34" charset="0"/>
                    <a:ea typeface="黑体" panose="02010609060101010101" pitchFamily="49" charset="-122"/>
                  </a:rPr>
                  <a:t>变元或变元的非</a:t>
                </a:r>
                <a:r>
                  <a:rPr lang="en-US" altLang="zh-CN" dirty="0">
                    <a:latin typeface="Arial" panose="02080604020202020204" pitchFamily="34" charset="0"/>
                    <a:ea typeface="黑体" panose="02010609060101010101" pitchFamily="49" charset="-122"/>
                  </a:rPr>
                  <a:t>)</a:t>
                </a:r>
                <a:r>
                  <a:rPr lang="zh-CN" altLang="en-US" dirty="0">
                    <a:latin typeface="Arial" panose="02080604020202020204" pitchFamily="34" charset="0"/>
                    <a:ea typeface="黑体" panose="02010609060101010101" pitchFamily="49" charset="-122"/>
                  </a:rPr>
                  <a:t>的析取操作</a:t>
                </a:r>
                <a:endParaRPr lang="en-US" altLang="zh-CN" dirty="0">
                  <a:latin typeface="Arial" panose="02080604020202020204" pitchFamily="34" charset="0"/>
                  <a:ea typeface="黑体" panose="02010609060101010101" pitchFamily="49" charset="-122"/>
                </a:endParaRPr>
              </a:p>
              <a:p>
                <a:pPr lvl="2"/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/>
                        <a:ea typeface="黑体" panose="02010609060101010101" pitchFamily="49" charset="-122"/>
                      </a:rPr>
                      <m:t>(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i="1" dirty="0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𝒙</m:t>
                            </m:r>
                          </m:e>
                        </m:acc>
                      </m:e>
                      <m:sub>
                        <m:r>
                          <a:rPr lang="en-US" altLang="zh-CN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𝟏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/>
                        <a:ea typeface="黑体" panose="02010609060101010101" pitchFamily="49" charset="-122"/>
                      </a:rPr>
                      <m:t>∨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𝟐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/>
                        <a:ea typeface="黑体" panose="02010609060101010101" pitchFamily="49" charset="-122"/>
                      </a:rPr>
                      <m:t>∨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𝟑</m:t>
                        </m:r>
                      </m:sub>
                    </m:sSub>
                    <m:r>
                      <a:rPr lang="en-US" altLang="zh-CN" dirty="0">
                        <a:latin typeface="Cambria Math" panose="02040503050406030204"/>
                        <a:ea typeface="黑体" panose="02010609060101010101" pitchFamily="49" charset="-122"/>
                      </a:rPr>
                      <m:t>)</m:t>
                    </m:r>
                  </m:oMath>
                </a14:m>
                <a:endParaRPr lang="en-US" altLang="zh-CN" dirty="0">
                  <a:latin typeface="Arial" panose="02080604020202020204" pitchFamily="34" charset="0"/>
                  <a:ea typeface="黑体" panose="02010609060101010101" pitchFamily="49" charset="-122"/>
                </a:endParaRPr>
              </a:p>
              <a:p>
                <a:pPr lvl="1"/>
                <a:r>
                  <a:rPr lang="zh-CN" altLang="en-US" dirty="0">
                    <a:latin typeface="Arial" panose="02080604020202020204" pitchFamily="34" charset="0"/>
                    <a:ea typeface="黑体" panose="02010609060101010101" pitchFamily="49" charset="-122"/>
                  </a:rPr>
                  <a:t>问这</a:t>
                </a:r>
                <a:r>
                  <a:rPr lang="en-US" altLang="zh-CN" dirty="0">
                    <a:latin typeface="Arial" panose="02080604020202020204" pitchFamily="34" charset="0"/>
                    <a:ea typeface="黑体" panose="02010609060101010101" pitchFamily="49" charset="-122"/>
                  </a:rPr>
                  <a:t>m</a:t>
                </a:r>
                <a:r>
                  <a:rPr lang="zh-CN" altLang="en-US" dirty="0">
                    <a:latin typeface="Arial" panose="02080604020202020204" pitchFamily="34" charset="0"/>
                    <a:ea typeface="黑体" panose="02010609060101010101" pitchFamily="49" charset="-122"/>
                  </a:rPr>
                  <a:t>个子句的合取范式的值可否为真？</a:t>
                </a:r>
                <a:endParaRPr lang="en-US" altLang="zh-CN" dirty="0">
                  <a:latin typeface="Arial" panose="02080604020202020204" pitchFamily="34" charset="0"/>
                  <a:ea typeface="黑体" panose="02010609060101010101" pitchFamily="49" charset="-122"/>
                </a:endParaRPr>
              </a:p>
              <a:p>
                <a:pPr lvl="2"/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/>
                        <a:ea typeface="黑体" panose="02010609060101010101" pitchFamily="49" charset="-122"/>
                      </a:rPr>
                      <m:t>(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i="1" dirty="0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𝒙</m:t>
                            </m:r>
                          </m:e>
                        </m:acc>
                      </m:e>
                      <m:sub>
                        <m:r>
                          <a:rPr lang="en-US" altLang="zh-CN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𝟏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/>
                        <a:ea typeface="黑体" panose="02010609060101010101" pitchFamily="49" charset="-122"/>
                      </a:rPr>
                      <m:t>∨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𝟐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/>
                        <a:ea typeface="黑体" panose="02010609060101010101" pitchFamily="49" charset="-122"/>
                      </a:rPr>
                      <m:t>∨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𝟑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/>
                        <a:ea typeface="黑体" panose="02010609060101010101" pitchFamily="49" charset="-122"/>
                      </a:rPr>
                      <m:t>)</m:t>
                    </m:r>
                    <m:r>
                      <a:rPr lang="en-US" altLang="zh-CN" i="1" dirty="0">
                        <a:latin typeface="Cambria Math" panose="02040503050406030204"/>
                        <a:ea typeface="Cambria Math" panose="02040503050406030204"/>
                      </a:rPr>
                      <m:t>∧</m:t>
                    </m:r>
                    <m:r>
                      <a:rPr lang="en-US" altLang="zh-CN" i="1" dirty="0">
                        <a:latin typeface="Cambria Math" panose="02040503050406030204"/>
                        <a:ea typeface="黑体" panose="02010609060101010101" pitchFamily="49" charset="-122"/>
                      </a:rPr>
                      <m:t>(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𝟕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/>
                        <a:ea typeface="黑体" panose="02010609060101010101" pitchFamily="49" charset="-122"/>
                      </a:rPr>
                      <m:t>∨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𝟗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/>
                        <a:ea typeface="黑体" panose="02010609060101010101" pitchFamily="49" charset="-122"/>
                      </a:rPr>
                      <m:t>∨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i="1" dirty="0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𝒙</m:t>
                            </m:r>
                          </m:e>
                        </m:acc>
                      </m:e>
                      <m:sub>
                        <m:r>
                          <a:rPr lang="en-US" altLang="zh-CN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𝟏𝟎</m:t>
                        </m:r>
                      </m:sub>
                    </m:sSub>
                    <m:r>
                      <a:rPr lang="en-US" altLang="zh-CN" dirty="0">
                        <a:latin typeface="Cambria Math" panose="02040503050406030204"/>
                        <a:ea typeface="黑体" panose="02010609060101010101" pitchFamily="49" charset="-122"/>
                      </a:rPr>
                      <m:t>)</m:t>
                    </m:r>
                    <m:r>
                      <a:rPr lang="en-US" altLang="zh-CN" i="1" dirty="0">
                        <a:latin typeface="Cambria Math" panose="02040503050406030204"/>
                        <a:ea typeface="Cambria Math" panose="02040503050406030204"/>
                      </a:rPr>
                      <m:t>∧⋯∧</m:t>
                    </m:r>
                    <m:r>
                      <a:rPr lang="en-US" altLang="zh-CN" dirty="0">
                        <a:latin typeface="Cambria Math" panose="02040503050406030204"/>
                        <a:ea typeface="黑体" panose="02010609060101010101" pitchFamily="49" charset="-122"/>
                      </a:rPr>
                      <m:t>(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𝟓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/>
                        <a:ea typeface="黑体" panose="02010609060101010101" pitchFamily="49" charset="-122"/>
                      </a:rPr>
                      <m:t>∨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i="1" dirty="0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𝒙</m:t>
                            </m:r>
                          </m:e>
                        </m:acc>
                      </m:e>
                      <m:sub>
                        <m:r>
                          <a:rPr lang="en-US" altLang="zh-CN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𝟔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/>
                        <a:ea typeface="黑体" panose="02010609060101010101" pitchFamily="49" charset="-122"/>
                      </a:rPr>
                      <m:t>∨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𝟒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/>
                        <a:ea typeface="黑体" panose="02010609060101010101" pitchFamily="49" charset="-122"/>
                      </a:rPr>
                      <m:t>)</m:t>
                    </m:r>
                  </m:oMath>
                </a14:m>
                <a:endParaRPr lang="zh-CN" altLang="en-US" dirty="0" smtClean="0">
                  <a:latin typeface="Arial" panose="02080604020202020204" pitchFamily="34" charset="0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8195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t="-7" b="-333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96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8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8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8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8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8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fld id="{166F650B-5347-4F36-8304-1500CA3F90AB}" type="slidenum">
              <a:rPr lang="en-US" altLang="zh-CN" smtClean="0">
                <a:solidFill>
                  <a:srgbClr val="006600"/>
                </a:solidFill>
                <a:latin typeface="Courier New" panose="02070309020205020404" pitchFamily="49" charset="0"/>
                <a:ea typeface="华文新魏" panose="02010800040101010101" pitchFamily="2" charset="-122"/>
              </a:rPr>
            </a:fld>
            <a:endParaRPr lang="en-US" altLang="zh-CN" dirty="0" smtClean="0">
              <a:solidFill>
                <a:srgbClr val="006600"/>
              </a:solidFill>
              <a:latin typeface="Courier New" panose="02070309020205020404" pitchFamily="49" charset="0"/>
              <a:ea typeface="华文新魏" panose="02010800040101010101" pitchFamily="2" charset="-122"/>
            </a:endParaRPr>
          </a:p>
        </p:txBody>
      </p:sp>
      <p:grpSp>
        <p:nvGrpSpPr>
          <p:cNvPr id="8230" name="组合 8229"/>
          <p:cNvGrpSpPr/>
          <p:nvPr/>
        </p:nvGrpSpPr>
        <p:grpSpPr>
          <a:xfrm>
            <a:off x="6192180" y="4238611"/>
            <a:ext cx="2880320" cy="1386633"/>
            <a:chOff x="5821780" y="4209437"/>
            <a:chExt cx="2880320" cy="1386633"/>
          </a:xfrm>
        </p:grpSpPr>
        <p:sp>
          <p:nvSpPr>
            <p:cNvPr id="6" name="椭圆 5"/>
            <p:cNvSpPr/>
            <p:nvPr/>
          </p:nvSpPr>
          <p:spPr bwMode="auto">
            <a:xfrm>
              <a:off x="6829892" y="4335930"/>
              <a:ext cx="108012" cy="108012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7" name="椭圆 6"/>
            <p:cNvSpPr/>
            <p:nvPr/>
          </p:nvSpPr>
          <p:spPr bwMode="auto">
            <a:xfrm>
              <a:off x="7675986" y="4209437"/>
              <a:ext cx="108012" cy="108012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8" name="椭圆 7"/>
            <p:cNvSpPr/>
            <p:nvPr/>
          </p:nvSpPr>
          <p:spPr bwMode="auto">
            <a:xfrm>
              <a:off x="6685511" y="5107548"/>
              <a:ext cx="108012" cy="108012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9" name="椭圆 8"/>
            <p:cNvSpPr/>
            <p:nvPr/>
          </p:nvSpPr>
          <p:spPr bwMode="auto">
            <a:xfrm>
              <a:off x="7392864" y="5488058"/>
              <a:ext cx="108012" cy="108012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椭圆 9"/>
            <p:cNvSpPr/>
            <p:nvPr/>
          </p:nvSpPr>
          <p:spPr bwMode="auto">
            <a:xfrm>
              <a:off x="7946016" y="4999536"/>
              <a:ext cx="108012" cy="108012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cxnSp>
          <p:nvCxnSpPr>
            <p:cNvPr id="11" name="直接连接符 10"/>
            <p:cNvCxnSpPr>
              <a:stCxn id="6" idx="3"/>
              <a:endCxn id="8" idx="0"/>
            </p:cNvCxnSpPr>
            <p:nvPr/>
          </p:nvCxnSpPr>
          <p:spPr bwMode="auto">
            <a:xfrm flipH="1">
              <a:off x="6739517" y="4428124"/>
              <a:ext cx="106193" cy="679424"/>
            </a:xfrm>
            <a:prstGeom prst="lin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>
              <a:stCxn id="7" idx="3"/>
              <a:endCxn id="8" idx="7"/>
            </p:cNvCxnSpPr>
            <p:nvPr/>
          </p:nvCxnSpPr>
          <p:spPr bwMode="auto">
            <a:xfrm flipH="1">
              <a:off x="6777705" y="4301631"/>
              <a:ext cx="914099" cy="821735"/>
            </a:xfrm>
            <a:prstGeom prst="lin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>
              <a:stCxn id="10" idx="2"/>
              <a:endCxn id="8" idx="6"/>
            </p:cNvCxnSpPr>
            <p:nvPr/>
          </p:nvCxnSpPr>
          <p:spPr bwMode="auto">
            <a:xfrm flipH="1">
              <a:off x="6793523" y="5053542"/>
              <a:ext cx="1152493" cy="108012"/>
            </a:xfrm>
            <a:prstGeom prst="lin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>
              <a:stCxn id="9" idx="1"/>
              <a:endCxn id="8" idx="5"/>
            </p:cNvCxnSpPr>
            <p:nvPr/>
          </p:nvCxnSpPr>
          <p:spPr bwMode="auto">
            <a:xfrm flipH="1" flipV="1">
              <a:off x="6777705" y="5199742"/>
              <a:ext cx="630977" cy="304134"/>
            </a:xfrm>
            <a:prstGeom prst="lin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>
              <a:stCxn id="6" idx="5"/>
              <a:endCxn id="10" idx="1"/>
            </p:cNvCxnSpPr>
            <p:nvPr/>
          </p:nvCxnSpPr>
          <p:spPr bwMode="auto">
            <a:xfrm>
              <a:off x="6922086" y="4428124"/>
              <a:ext cx="1039748" cy="587230"/>
            </a:xfrm>
            <a:prstGeom prst="lin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>
              <a:stCxn id="7" idx="5"/>
              <a:endCxn id="10" idx="0"/>
            </p:cNvCxnSpPr>
            <p:nvPr/>
          </p:nvCxnSpPr>
          <p:spPr bwMode="auto">
            <a:xfrm>
              <a:off x="7768180" y="4301631"/>
              <a:ext cx="231842" cy="697905"/>
            </a:xfrm>
            <a:prstGeom prst="lin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>
              <a:stCxn id="9" idx="7"/>
              <a:endCxn id="10" idx="3"/>
            </p:cNvCxnSpPr>
            <p:nvPr/>
          </p:nvCxnSpPr>
          <p:spPr bwMode="auto">
            <a:xfrm flipV="1">
              <a:off x="7485058" y="5091730"/>
              <a:ext cx="476776" cy="412146"/>
            </a:xfrm>
            <a:prstGeom prst="lin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椭圆 20"/>
            <p:cNvSpPr/>
            <p:nvPr/>
          </p:nvSpPr>
          <p:spPr bwMode="auto">
            <a:xfrm>
              <a:off x="5821780" y="5091730"/>
              <a:ext cx="108012" cy="108012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2" name="椭圆 21"/>
            <p:cNvSpPr/>
            <p:nvPr/>
          </p:nvSpPr>
          <p:spPr bwMode="auto">
            <a:xfrm>
              <a:off x="8594088" y="4945530"/>
              <a:ext cx="108012" cy="108012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cxnSp>
          <p:nvCxnSpPr>
            <p:cNvPr id="23" name="直接连接符 22"/>
            <p:cNvCxnSpPr>
              <a:stCxn id="22" idx="2"/>
              <a:endCxn id="10" idx="6"/>
            </p:cNvCxnSpPr>
            <p:nvPr/>
          </p:nvCxnSpPr>
          <p:spPr bwMode="auto">
            <a:xfrm flipH="1">
              <a:off x="8054028" y="4999536"/>
              <a:ext cx="540060" cy="54006"/>
            </a:xfrm>
            <a:prstGeom prst="lin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>
              <a:stCxn id="8" idx="2"/>
              <a:endCxn id="21" idx="6"/>
            </p:cNvCxnSpPr>
            <p:nvPr/>
          </p:nvCxnSpPr>
          <p:spPr bwMode="auto">
            <a:xfrm flipH="1" flipV="1">
              <a:off x="5929792" y="5145736"/>
              <a:ext cx="755719" cy="15818"/>
            </a:xfrm>
            <a:prstGeom prst="lin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6" name="直接连接符 25"/>
          <p:cNvCxnSpPr>
            <a:endCxn id="25" idx="0"/>
          </p:cNvCxnSpPr>
          <p:nvPr/>
        </p:nvCxnSpPr>
        <p:spPr bwMode="auto">
          <a:xfrm flipH="1">
            <a:off x="7120632" y="4451081"/>
            <a:ext cx="90000" cy="630919"/>
          </a:xfrm>
          <a:prstGeom prst="line">
            <a:avLst/>
          </a:prstGeom>
          <a:solidFill>
            <a:schemeClr val="tx1"/>
          </a:solidFill>
          <a:ln w="635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>
            <a:endCxn id="25" idx="7"/>
          </p:cNvCxnSpPr>
          <p:nvPr/>
        </p:nvCxnSpPr>
        <p:spPr bwMode="auto">
          <a:xfrm flipH="1">
            <a:off x="7184272" y="4308770"/>
            <a:ext cx="877932" cy="799590"/>
          </a:xfrm>
          <a:prstGeom prst="line">
            <a:avLst/>
          </a:prstGeom>
          <a:solidFill>
            <a:schemeClr val="tx1"/>
          </a:solidFill>
          <a:ln w="635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>
            <a:endCxn id="25" idx="6"/>
          </p:cNvCxnSpPr>
          <p:nvPr/>
        </p:nvCxnSpPr>
        <p:spPr bwMode="auto">
          <a:xfrm flipH="1">
            <a:off x="7210632" y="5060681"/>
            <a:ext cx="1105784" cy="111319"/>
          </a:xfrm>
          <a:prstGeom prst="line">
            <a:avLst/>
          </a:prstGeom>
          <a:solidFill>
            <a:schemeClr val="tx1"/>
          </a:solidFill>
          <a:ln w="635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>
            <a:endCxn id="25" idx="5"/>
          </p:cNvCxnSpPr>
          <p:nvPr/>
        </p:nvCxnSpPr>
        <p:spPr bwMode="auto">
          <a:xfrm flipH="1" flipV="1">
            <a:off x="7184272" y="5235640"/>
            <a:ext cx="594810" cy="275375"/>
          </a:xfrm>
          <a:prstGeom prst="line">
            <a:avLst/>
          </a:prstGeom>
          <a:solidFill>
            <a:schemeClr val="tx1"/>
          </a:solidFill>
          <a:ln w="635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>
            <a:stCxn id="25" idx="2"/>
          </p:cNvCxnSpPr>
          <p:nvPr/>
        </p:nvCxnSpPr>
        <p:spPr bwMode="auto">
          <a:xfrm flipH="1" flipV="1">
            <a:off x="6300192" y="5152875"/>
            <a:ext cx="730440" cy="19125"/>
          </a:xfrm>
          <a:prstGeom prst="line">
            <a:avLst/>
          </a:prstGeom>
          <a:solidFill>
            <a:schemeClr val="tx1"/>
          </a:solidFill>
          <a:ln w="635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椭圆 24"/>
          <p:cNvSpPr/>
          <p:nvPr/>
        </p:nvSpPr>
        <p:spPr bwMode="auto">
          <a:xfrm>
            <a:off x="7030632" y="5082000"/>
            <a:ext cx="180000" cy="180000"/>
          </a:xfrm>
          <a:prstGeom prst="ellipse">
            <a:avLst/>
          </a:prstGeom>
          <a:solidFill>
            <a:srgbClr val="FF0000"/>
          </a:solidFill>
          <a:ln w="381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72" name="直接连接符 71"/>
          <p:cNvCxnSpPr>
            <a:endCxn id="70" idx="1"/>
          </p:cNvCxnSpPr>
          <p:nvPr/>
        </p:nvCxnSpPr>
        <p:spPr bwMode="auto">
          <a:xfrm>
            <a:off x="7274489" y="4435263"/>
            <a:ext cx="1050290" cy="597772"/>
          </a:xfrm>
          <a:prstGeom prst="line">
            <a:avLst/>
          </a:prstGeom>
          <a:solidFill>
            <a:schemeClr val="tx1"/>
          </a:solidFill>
          <a:ln w="63500">
            <a:solidFill>
              <a:srgbClr val="0066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72"/>
          <p:cNvCxnSpPr>
            <a:endCxn id="70" idx="0"/>
          </p:cNvCxnSpPr>
          <p:nvPr/>
        </p:nvCxnSpPr>
        <p:spPr bwMode="auto">
          <a:xfrm>
            <a:off x="8120583" y="4308770"/>
            <a:ext cx="267836" cy="697905"/>
          </a:xfrm>
          <a:prstGeom prst="line">
            <a:avLst/>
          </a:prstGeom>
          <a:solidFill>
            <a:schemeClr val="tx1"/>
          </a:solidFill>
          <a:ln w="63500">
            <a:solidFill>
              <a:srgbClr val="0066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连接符 73"/>
          <p:cNvCxnSpPr>
            <a:endCxn id="70" idx="3"/>
          </p:cNvCxnSpPr>
          <p:nvPr/>
        </p:nvCxnSpPr>
        <p:spPr bwMode="auto">
          <a:xfrm flipV="1">
            <a:off x="7837461" y="5160315"/>
            <a:ext cx="487318" cy="350700"/>
          </a:xfrm>
          <a:prstGeom prst="line">
            <a:avLst/>
          </a:prstGeom>
          <a:solidFill>
            <a:schemeClr val="tx1"/>
          </a:solidFill>
          <a:ln w="63500">
            <a:solidFill>
              <a:srgbClr val="0066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/>
          <p:cNvCxnSpPr>
            <a:endCxn id="70" idx="6"/>
          </p:cNvCxnSpPr>
          <p:nvPr/>
        </p:nvCxnSpPr>
        <p:spPr bwMode="auto">
          <a:xfrm flipH="1">
            <a:off x="8478419" y="5006675"/>
            <a:ext cx="468072" cy="90000"/>
          </a:xfrm>
          <a:prstGeom prst="line">
            <a:avLst/>
          </a:prstGeom>
          <a:solidFill>
            <a:schemeClr val="tx1"/>
          </a:solidFill>
          <a:ln w="63500">
            <a:solidFill>
              <a:srgbClr val="0066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椭圆 69"/>
          <p:cNvSpPr/>
          <p:nvPr/>
        </p:nvSpPr>
        <p:spPr bwMode="auto">
          <a:xfrm>
            <a:off x="8298419" y="5006675"/>
            <a:ext cx="180000" cy="180000"/>
          </a:xfrm>
          <a:prstGeom prst="ellipse">
            <a:avLst/>
          </a:prstGeom>
          <a:solidFill>
            <a:srgbClr val="FF0000"/>
          </a:solidFill>
          <a:ln w="381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7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顶点覆盖</a:t>
            </a:r>
            <a:r>
              <a:rPr lang="zh-CN" altLang="en-US" dirty="0" smtClean="0"/>
              <a:t>问题是</a:t>
            </a:r>
            <a:r>
              <a:rPr lang="en-US" altLang="zh-CN" dirty="0" smtClean="0"/>
              <a:t>NP</a:t>
            </a:r>
            <a:r>
              <a:rPr lang="zh-CN" altLang="en-US" dirty="0" smtClean="0"/>
              <a:t>完全问题</a:t>
            </a:r>
            <a:endParaRPr lang="zh-CN" altLang="en-US" dirty="0" smtClean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195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484313"/>
                <a:ext cx="8229600" cy="5373687"/>
              </a:xfrm>
            </p:spPr>
            <p:txBody>
              <a:bodyPr/>
              <a:lstStyle/>
              <a:p>
                <a:r>
                  <a:rPr lang="zh-CN" altLang="en-US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证明</a:t>
                </a:r>
                <a:endParaRPr lang="zh-CN" altLang="en-US" dirty="0">
                  <a:latin typeface="Arial" panose="02080604020202020204" pitchFamily="34" charset="0"/>
                  <a:ea typeface="黑体" panose="02010609060101010101" pitchFamily="49" charset="-122"/>
                </a:endParaRPr>
              </a:p>
              <a:p>
                <a:pPr lvl="1"/>
                <a:r>
                  <a:rPr lang="zh-CN" altLang="en-US" sz="22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首先</a:t>
                </a:r>
                <a:r>
                  <a:rPr lang="en-US" altLang="zh-CN" sz="22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, </a:t>
                </a:r>
                <a:r>
                  <a:rPr lang="zh-CN" altLang="en-US" sz="22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顶点覆盖问题是</a:t>
                </a:r>
                <a:r>
                  <a:rPr lang="en-US" altLang="zh-CN" sz="2200" dirty="0">
                    <a:latin typeface="Arial" panose="02080604020202020204" pitchFamily="34" charset="0"/>
                    <a:ea typeface="黑体" panose="02010609060101010101" pitchFamily="49" charset="-122"/>
                  </a:rPr>
                  <a:t>NP</a:t>
                </a:r>
                <a:r>
                  <a:rPr lang="zh-CN" altLang="en-US" sz="2200" dirty="0">
                    <a:latin typeface="Arial" panose="02080604020202020204" pitchFamily="34" charset="0"/>
                    <a:ea typeface="黑体" panose="02010609060101010101" pitchFamily="49" charset="-122"/>
                  </a:rPr>
                  <a:t>问题</a:t>
                </a:r>
                <a:r>
                  <a:rPr lang="en-US" altLang="zh-CN" sz="2200" dirty="0">
                    <a:latin typeface="Arial" panose="02080604020202020204" pitchFamily="34" charset="0"/>
                    <a:ea typeface="黑体" panose="02010609060101010101" pitchFamily="49" charset="-122"/>
                  </a:rPr>
                  <a:t>(</a:t>
                </a:r>
                <a:r>
                  <a:rPr lang="zh-CN" altLang="en-US" sz="2200" dirty="0">
                    <a:latin typeface="Arial" panose="02080604020202020204" pitchFamily="34" charset="0"/>
                    <a:ea typeface="黑体" panose="02010609060101010101" pitchFamily="49" charset="-122"/>
                  </a:rPr>
                  <a:t>多项式时间可验证</a:t>
                </a:r>
                <a:r>
                  <a:rPr lang="en-US" altLang="zh-CN" sz="22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)</a:t>
                </a:r>
                <a:endParaRPr lang="en-US" altLang="zh-CN" sz="2200" dirty="0" smtClean="0">
                  <a:latin typeface="Arial" panose="02080604020202020204" pitchFamily="34" charset="0"/>
                  <a:ea typeface="黑体" panose="02010609060101010101" pitchFamily="49" charset="-122"/>
                </a:endParaRPr>
              </a:p>
              <a:p>
                <a:pPr lvl="1"/>
                <a:r>
                  <a:rPr lang="zh-CN" altLang="en-US" sz="22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规约方法 ：</a:t>
                </a:r>
                <a:endParaRPr lang="en-US" altLang="zh-CN" sz="2200" dirty="0" smtClean="0">
                  <a:latin typeface="Arial" panose="02080604020202020204" pitchFamily="34" charset="0"/>
                  <a:ea typeface="黑体" panose="02010609060101010101" pitchFamily="49" charset="-122"/>
                </a:endParaRPr>
              </a:p>
              <a:p>
                <a:pPr lvl="2"/>
                <a:r>
                  <a:rPr lang="en-US" altLang="zh-CN" sz="22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n </a:t>
                </a:r>
                <a:r>
                  <a:rPr lang="zh-CN" altLang="en-US" sz="22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个变元对应</a:t>
                </a:r>
                <a:r>
                  <a:rPr lang="en-US" altLang="zh-CN" sz="22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2n</a:t>
                </a:r>
                <a:r>
                  <a:rPr lang="zh-CN" altLang="en-US" sz="22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个顶点 </a:t>
                </a:r>
                <a:r>
                  <a:rPr lang="en-US" altLang="zh-CN" sz="22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200" i="1" dirty="0">
                            <a:solidFill>
                              <a:srgbClr val="FF0000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2200" i="1" dirty="0">
                            <a:solidFill>
                              <a:srgbClr val="FF0000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en-US" sz="2200" dirty="0" smtClean="0"/>
                  <a:t>和</a:t>
                </a:r>
                <a:r>
                  <a:rPr lang="en-US" altLang="zh-CN" sz="2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CN" sz="22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sz="2200" i="1" dirty="0">
                                <a:solidFill>
                                  <a:srgbClr val="FF0000"/>
                                </a:solidFill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𝒙</m:t>
                            </m:r>
                          </m:e>
                        </m:acc>
                      </m:e>
                      <m:sub>
                        <m:r>
                          <a:rPr lang="en-US" altLang="zh-CN" sz="2200" i="1" dirty="0">
                            <a:solidFill>
                              <a:srgbClr val="FF0000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altLang="zh-CN" sz="22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, </a:t>
                </a:r>
                <a:r>
                  <a:rPr lang="zh-CN" altLang="en-US" sz="22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共</a:t>
                </a:r>
                <a:r>
                  <a:rPr lang="en-US" altLang="zh-CN" sz="2200" dirty="0">
                    <a:latin typeface="Arial" panose="02080604020202020204" pitchFamily="34" charset="0"/>
                    <a:ea typeface="黑体" panose="02010609060101010101" pitchFamily="49" charset="-122"/>
                  </a:rPr>
                  <a:t>2n</a:t>
                </a:r>
                <a:r>
                  <a:rPr lang="zh-CN" altLang="en-US" sz="2200" dirty="0">
                    <a:latin typeface="Arial" panose="02080604020202020204" pitchFamily="34" charset="0"/>
                    <a:ea typeface="黑体" panose="02010609060101010101" pitchFamily="49" charset="-122"/>
                  </a:rPr>
                  <a:t>个</a:t>
                </a:r>
                <a:r>
                  <a:rPr lang="en-US" altLang="zh-CN" sz="22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)</a:t>
                </a:r>
                <a:r>
                  <a:rPr lang="en-US" altLang="zh-CN" sz="2200" dirty="0">
                    <a:latin typeface="Arial" panose="02080604020202020204" pitchFamily="34" charset="0"/>
                    <a:ea typeface="黑体" panose="02010609060101010101" pitchFamily="49" charset="-122"/>
                  </a:rPr>
                  <a:t>,</a:t>
                </a:r>
                <a:r>
                  <a:rPr lang="en-US" altLang="zh-CN" sz="22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200" i="1" dirty="0">
                            <a:solidFill>
                              <a:srgbClr val="FF0000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2200" i="1" dirty="0">
                            <a:solidFill>
                              <a:srgbClr val="FF0000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en-US" sz="2200" dirty="0"/>
                  <a:t>和</a:t>
                </a:r>
                <a:r>
                  <a:rPr lang="en-US" altLang="zh-CN" sz="2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CN" sz="22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sz="2200" i="1" dirty="0">
                                <a:solidFill>
                                  <a:srgbClr val="FF0000"/>
                                </a:solidFill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𝒙</m:t>
                            </m:r>
                          </m:e>
                        </m:acc>
                      </m:e>
                      <m:sub>
                        <m:r>
                          <a:rPr lang="en-US" altLang="zh-CN" sz="2200" i="1" dirty="0">
                            <a:solidFill>
                              <a:srgbClr val="FF0000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en-US" sz="22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间有边</a:t>
                </a:r>
                <a:endParaRPr lang="en-US" altLang="zh-CN" sz="2200" dirty="0" smtClean="0">
                  <a:latin typeface="Arial" panose="02080604020202020204" pitchFamily="34" charset="0"/>
                  <a:ea typeface="黑体" panose="02010609060101010101" pitchFamily="49" charset="-122"/>
                </a:endParaRPr>
              </a:p>
              <a:p>
                <a:pPr lvl="2"/>
                <a:r>
                  <a:rPr lang="en-US" altLang="zh-CN" sz="22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m</a:t>
                </a:r>
                <a:r>
                  <a:rPr lang="zh-CN" altLang="en-US" sz="22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个子句对应</a:t>
                </a:r>
                <a:r>
                  <a:rPr lang="en-US" altLang="zh-CN" sz="22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3m</a:t>
                </a:r>
                <a:r>
                  <a:rPr lang="zh-CN" altLang="en-US" sz="22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个顶点 </a:t>
                </a:r>
                <a:r>
                  <a:rPr lang="en-US" altLang="zh-CN" sz="22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(3m</a:t>
                </a:r>
                <a:r>
                  <a:rPr lang="zh-CN" altLang="en-US" sz="22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文字</a:t>
                </a:r>
                <a:r>
                  <a:rPr lang="en-US" altLang="zh-CN" sz="22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), </a:t>
                </a:r>
                <a:r>
                  <a:rPr lang="zh-CN" altLang="en-US" sz="22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子句内文字两两有边</a:t>
                </a:r>
                <a:endParaRPr lang="en-US" altLang="zh-CN" sz="2200" dirty="0" smtClean="0">
                  <a:latin typeface="Arial" panose="02080604020202020204" pitchFamily="34" charset="0"/>
                  <a:ea typeface="黑体" panose="02010609060101010101" pitchFamily="49" charset="-122"/>
                </a:endParaRPr>
              </a:p>
              <a:p>
                <a:pPr lvl="2"/>
                <a:r>
                  <a:rPr lang="zh-CN" altLang="en-US" sz="22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子句内的文字与变元对应的顶点间有边</a:t>
                </a:r>
                <a:endParaRPr lang="en-US" altLang="zh-CN" sz="2200" dirty="0" smtClean="0">
                  <a:latin typeface="Arial" panose="02080604020202020204" pitchFamily="34" charset="0"/>
                  <a:ea typeface="黑体" panose="02010609060101010101" pitchFamily="49" charset="-122"/>
                </a:endParaRPr>
              </a:p>
              <a:p>
                <a:pPr lvl="2"/>
                <a:r>
                  <a:rPr lang="zh-CN" altLang="en-US" sz="22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令</a:t>
                </a:r>
                <a:r>
                  <a:rPr lang="en-US" altLang="zh-CN" sz="22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k=n+2m</a:t>
                </a:r>
                <a:endParaRPr lang="en-US" altLang="zh-CN" sz="2200" dirty="0">
                  <a:latin typeface="Arial" panose="02080604020202020204" pitchFamily="34" charset="0"/>
                  <a:ea typeface="黑体" panose="02010609060101010101" pitchFamily="49" charset="-122"/>
                </a:endParaRPr>
              </a:p>
              <a:p>
                <a:pPr lvl="1"/>
                <a:endParaRPr lang="zh-CN" altLang="zh-CN" dirty="0" smtClean="0">
                  <a:latin typeface="Arial" panose="02080604020202020204" pitchFamily="34" charset="0"/>
                  <a:ea typeface="黑体" panose="02010609060101010101" pitchFamily="49" charset="-122"/>
                </a:endParaRPr>
              </a:p>
              <a:p>
                <a:endParaRPr lang="zh-CN" altLang="en-US" dirty="0" smtClean="0">
                  <a:latin typeface="Arial" panose="02080604020202020204" pitchFamily="34" charset="0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8195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484313"/>
                <a:ext cx="8229600" cy="5373687"/>
              </a:xfrm>
              <a:blipFill rotWithShape="1">
                <a:blip r:embed="rId1"/>
                <a:stretch>
                  <a:fillRect t="-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7" name="矩形 186"/>
              <p:cNvSpPr/>
              <p:nvPr/>
            </p:nvSpPr>
            <p:spPr>
              <a:xfrm>
                <a:off x="1511660" y="6025836"/>
                <a:ext cx="3924436" cy="43088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b="1" i="1" dirty="0" smtClean="0">
                          <a:solidFill>
                            <a:srgbClr val="FF0000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altLang="zh-CN" sz="22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2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</a:rPr>
                                <m:t>𝒙</m:t>
                              </m:r>
                            </m:e>
                          </m:acc>
                        </m:e>
                        <m:sub>
                          <m: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𝟏</m:t>
                          </m:r>
                        </m:sub>
                      </m:sSub>
                      <m:r>
                        <a:rPr lang="en-US" altLang="zh-CN" sz="2200" b="1" i="1" dirty="0">
                          <a:solidFill>
                            <a:srgbClr val="FF0000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∨</m:t>
                      </m:r>
                      <m:sSub>
                        <m:sSubPr>
                          <m:ctrlP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𝟐</m:t>
                          </m:r>
                        </m:sub>
                      </m:sSub>
                      <m:r>
                        <a:rPr lang="en-US" altLang="zh-CN" sz="2200" b="1" i="1" dirty="0">
                          <a:solidFill>
                            <a:srgbClr val="FF0000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∨</m:t>
                      </m:r>
                      <m:sSub>
                        <m:sSubPr>
                          <m:ctrlP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𝟑</m:t>
                          </m:r>
                        </m:sub>
                      </m:sSub>
                      <m:r>
                        <a:rPr lang="en-US" altLang="zh-CN" sz="2200" b="1" i="1" dirty="0">
                          <a:solidFill>
                            <a:srgbClr val="FF0000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)</m:t>
                      </m:r>
                      <m:r>
                        <a:rPr lang="en-US" altLang="zh-CN" sz="2200" b="1" i="1" dirty="0">
                          <a:solidFill>
                            <a:srgbClr val="FF0000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∧</m:t>
                      </m:r>
                      <m:r>
                        <a:rPr lang="en-US" altLang="zh-CN" sz="2200" b="1" i="1" dirty="0">
                          <a:solidFill>
                            <a:srgbClr val="FF0000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𝟏</m:t>
                          </m:r>
                        </m:sub>
                      </m:sSub>
                      <m:r>
                        <a:rPr lang="en-US" altLang="zh-CN" sz="2200" b="1" i="1" dirty="0">
                          <a:solidFill>
                            <a:srgbClr val="FF0000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∨</m:t>
                      </m:r>
                      <m:sSub>
                        <m:sSubPr>
                          <m:ctrlP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altLang="zh-CN" sz="22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2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</a:rPr>
                                <m:t>𝒙</m:t>
                              </m:r>
                            </m:e>
                          </m:acc>
                        </m:e>
                        <m:sub>
                          <m:r>
                            <a:rPr lang="en-US" altLang="zh-CN" sz="2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𝟐</m:t>
                          </m:r>
                        </m:sub>
                      </m:sSub>
                      <m:r>
                        <a:rPr lang="en-US" altLang="zh-CN" sz="2200" b="1" i="1" dirty="0">
                          <a:solidFill>
                            <a:srgbClr val="FF0000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∨</m:t>
                      </m:r>
                      <m:sSub>
                        <m:sSubPr>
                          <m:ctrlP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altLang="zh-CN" sz="22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2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</a:rPr>
                                <m:t>𝒙</m:t>
                              </m:r>
                            </m:e>
                          </m:acc>
                        </m:e>
                        <m:sub>
                          <m:r>
                            <a:rPr lang="en-US" altLang="zh-CN" sz="2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𝟑</m:t>
                          </m:r>
                        </m:sub>
                      </m:sSub>
                      <m:r>
                        <a:rPr lang="en-US" altLang="zh-CN" sz="2200" b="1" dirty="0">
                          <a:solidFill>
                            <a:srgbClr val="FF0000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lang="zh-CN" altLang="en-US" sz="2200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87" name="矩形 18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1660" y="6025836"/>
                <a:ext cx="3924436" cy="430887"/>
              </a:xfrm>
              <a:prstGeom prst="rect">
                <a:avLst/>
              </a:prstGeom>
              <a:blipFill rotWithShape="1">
                <a:blip r:embed="rId2"/>
                <a:stretch>
                  <a:fillRect l="-9" t="-74" r="13" b="-6645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8" name="TextBox 187"/>
          <p:cNvSpPr txBox="1"/>
          <p:nvPr/>
        </p:nvSpPr>
        <p:spPr>
          <a:xfrm>
            <a:off x="2267744" y="5759968"/>
            <a:ext cx="479618" cy="369332"/>
          </a:xfrm>
          <a:prstGeom prst="rect">
            <a:avLst/>
          </a:prstGeom>
          <a:noFill/>
          <a:ln w="25400">
            <a:noFill/>
          </a:ln>
        </p:spPr>
        <p:txBody>
          <a:bodyPr wrap="none" rtlCol="0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b="1" dirty="0" smtClean="0">
                <a:solidFill>
                  <a:srgbClr val="000099"/>
                </a:solidFill>
                <a:ea typeface="黑体" panose="02010609060101010101" pitchFamily="49" charset="-122"/>
              </a:rPr>
              <a:t>C1</a:t>
            </a:r>
            <a:endParaRPr lang="zh-CN" altLang="en-US" b="1" dirty="0" smtClean="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189" name="TextBox 188"/>
          <p:cNvSpPr txBox="1"/>
          <p:nvPr/>
        </p:nvSpPr>
        <p:spPr>
          <a:xfrm>
            <a:off x="4380414" y="5759968"/>
            <a:ext cx="479618" cy="369332"/>
          </a:xfrm>
          <a:prstGeom prst="rect">
            <a:avLst/>
          </a:prstGeom>
          <a:noFill/>
          <a:ln w="25400">
            <a:noFill/>
          </a:ln>
        </p:spPr>
        <p:txBody>
          <a:bodyPr wrap="none" rtlCol="0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b="1" dirty="0" smtClean="0">
                <a:solidFill>
                  <a:srgbClr val="000099"/>
                </a:solidFill>
                <a:ea typeface="黑体" panose="02010609060101010101" pitchFamily="49" charset="-122"/>
              </a:rPr>
              <a:t>C2</a:t>
            </a:r>
            <a:endParaRPr lang="zh-CN" altLang="en-US" b="1" dirty="0" smtClean="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137" name="矩形 136"/>
          <p:cNvSpPr/>
          <p:nvPr/>
        </p:nvSpPr>
        <p:spPr>
          <a:xfrm>
            <a:off x="2555776" y="6384024"/>
            <a:ext cx="20633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smtClean="0">
                <a:ea typeface="黑体" panose="02010609060101010101" pitchFamily="49" charset="-122"/>
              </a:rPr>
              <a:t>k=n+2m=3+2</a:t>
            </a:r>
            <a:r>
              <a:rPr lang="zh-CN" altLang="en-US" b="1" dirty="0" smtClean="0">
                <a:ea typeface="黑体" panose="02010609060101010101" pitchFamily="49" charset="-122"/>
              </a:rPr>
              <a:t>*</a:t>
            </a:r>
            <a:r>
              <a:rPr lang="en-US" altLang="zh-CN" b="1" dirty="0" smtClean="0">
                <a:ea typeface="黑体" panose="02010609060101010101" pitchFamily="49" charset="-122"/>
              </a:rPr>
              <a:t>2=7</a:t>
            </a:r>
            <a:endParaRPr lang="zh-CN" altLang="en-US" b="1" dirty="0"/>
          </a:p>
        </p:txBody>
      </p:sp>
      <p:cxnSp>
        <p:nvCxnSpPr>
          <p:cNvPr id="271" name="直接连接符 270"/>
          <p:cNvCxnSpPr/>
          <p:nvPr/>
        </p:nvCxnSpPr>
        <p:spPr bwMode="auto">
          <a:xfrm flipH="1" flipV="1">
            <a:off x="5904148" y="5193714"/>
            <a:ext cx="395626" cy="1223038"/>
          </a:xfrm>
          <a:prstGeom prst="line">
            <a:avLst/>
          </a:prstGeom>
          <a:ln w="2540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直接连接符 271"/>
          <p:cNvCxnSpPr>
            <a:stCxn id="288" idx="4"/>
            <a:endCxn id="320" idx="0"/>
          </p:cNvCxnSpPr>
          <p:nvPr/>
        </p:nvCxnSpPr>
        <p:spPr bwMode="auto">
          <a:xfrm flipH="1">
            <a:off x="6413137" y="5443353"/>
            <a:ext cx="283095" cy="868671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直接连接符 272"/>
          <p:cNvCxnSpPr>
            <a:stCxn id="291" idx="3"/>
            <a:endCxn id="318" idx="7"/>
          </p:cNvCxnSpPr>
          <p:nvPr/>
        </p:nvCxnSpPr>
        <p:spPr bwMode="auto">
          <a:xfrm flipH="1">
            <a:off x="6764404" y="5429568"/>
            <a:ext cx="581269" cy="386248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直接连接符 273"/>
          <p:cNvCxnSpPr>
            <a:stCxn id="295" idx="4"/>
            <a:endCxn id="319" idx="6"/>
          </p:cNvCxnSpPr>
          <p:nvPr/>
        </p:nvCxnSpPr>
        <p:spPr bwMode="auto">
          <a:xfrm flipH="1">
            <a:off x="7101691" y="5440112"/>
            <a:ext cx="1322733" cy="902797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直接连接符 274"/>
          <p:cNvCxnSpPr>
            <a:stCxn id="287" idx="4"/>
            <a:endCxn id="314" idx="1"/>
          </p:cNvCxnSpPr>
          <p:nvPr/>
        </p:nvCxnSpPr>
        <p:spPr bwMode="auto">
          <a:xfrm>
            <a:off x="6228188" y="5440112"/>
            <a:ext cx="1979715" cy="882456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直接连接符 275"/>
          <p:cNvCxnSpPr>
            <a:stCxn id="292" idx="5"/>
            <a:endCxn id="312" idx="1"/>
          </p:cNvCxnSpPr>
          <p:nvPr/>
        </p:nvCxnSpPr>
        <p:spPr bwMode="auto">
          <a:xfrm>
            <a:off x="7918465" y="5432809"/>
            <a:ext cx="615249" cy="383007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直接连接符 276"/>
          <p:cNvCxnSpPr>
            <a:stCxn id="296" idx="4"/>
            <a:endCxn id="313" idx="7"/>
          </p:cNvCxnSpPr>
          <p:nvPr/>
        </p:nvCxnSpPr>
        <p:spPr bwMode="auto">
          <a:xfrm>
            <a:off x="8892476" y="5443353"/>
            <a:ext cx="18893" cy="874100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8" name="组合 277"/>
          <p:cNvGrpSpPr/>
          <p:nvPr/>
        </p:nvGrpSpPr>
        <p:grpSpPr>
          <a:xfrm>
            <a:off x="6067341" y="5013176"/>
            <a:ext cx="2985982" cy="430177"/>
            <a:chOff x="5825577" y="5087047"/>
            <a:chExt cx="2985982" cy="430177"/>
          </a:xfrm>
        </p:grpSpPr>
        <p:grpSp>
          <p:nvGrpSpPr>
            <p:cNvPr id="279" name="组合 278"/>
            <p:cNvGrpSpPr/>
            <p:nvPr/>
          </p:nvGrpSpPr>
          <p:grpSpPr>
            <a:xfrm>
              <a:off x="5950424" y="5254067"/>
              <a:ext cx="2738055" cy="263157"/>
              <a:chOff x="5950424" y="5254067"/>
              <a:chExt cx="2738055" cy="263157"/>
            </a:xfrm>
          </p:grpSpPr>
          <p:cxnSp>
            <p:nvCxnSpPr>
              <p:cNvPr id="286" name="直接连接符 285"/>
              <p:cNvCxnSpPr/>
              <p:nvPr/>
            </p:nvCxnSpPr>
            <p:spPr bwMode="auto">
              <a:xfrm>
                <a:off x="6113787" y="5254067"/>
                <a:ext cx="161864" cy="4515"/>
              </a:xfrm>
              <a:prstGeom prst="line">
                <a:avLst/>
              </a:prstGeom>
              <a:ln w="25400">
                <a:noFill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7" name="椭圆 286"/>
              <p:cNvSpPr/>
              <p:nvPr/>
            </p:nvSpPr>
            <p:spPr bwMode="auto">
              <a:xfrm>
                <a:off x="5950424" y="5441983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/>
              </a:p>
            </p:txBody>
          </p:sp>
          <p:sp>
            <p:nvSpPr>
              <p:cNvPr id="288" name="椭圆 287"/>
              <p:cNvSpPr/>
              <p:nvPr/>
            </p:nvSpPr>
            <p:spPr bwMode="auto">
              <a:xfrm>
                <a:off x="6418468" y="5445224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/>
              </a:p>
            </p:txBody>
          </p:sp>
          <p:cxnSp>
            <p:nvCxnSpPr>
              <p:cNvPr id="289" name="直接连接符 288"/>
              <p:cNvCxnSpPr/>
              <p:nvPr/>
            </p:nvCxnSpPr>
            <p:spPr bwMode="auto">
              <a:xfrm>
                <a:off x="6020665" y="5477983"/>
                <a:ext cx="469811" cy="0"/>
              </a:xfrm>
              <a:prstGeom prst="line">
                <a:avLst/>
              </a:prstGeom>
              <a:ln w="254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0" name="直接连接符 289"/>
              <p:cNvCxnSpPr/>
              <p:nvPr/>
            </p:nvCxnSpPr>
            <p:spPr bwMode="auto">
              <a:xfrm>
                <a:off x="7309365" y="5254067"/>
                <a:ext cx="161864" cy="4515"/>
              </a:xfrm>
              <a:prstGeom prst="line">
                <a:avLst/>
              </a:prstGeom>
              <a:ln w="25400">
                <a:noFill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1" name="椭圆 290"/>
              <p:cNvSpPr/>
              <p:nvPr/>
            </p:nvSpPr>
            <p:spPr bwMode="auto">
              <a:xfrm>
                <a:off x="7093365" y="5441983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/>
              </a:p>
            </p:txBody>
          </p:sp>
          <p:sp>
            <p:nvSpPr>
              <p:cNvPr id="292" name="椭圆 291"/>
              <p:cNvSpPr/>
              <p:nvPr/>
            </p:nvSpPr>
            <p:spPr bwMode="auto">
              <a:xfrm>
                <a:off x="7615245" y="5445224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/>
              </a:p>
            </p:txBody>
          </p:sp>
          <p:cxnSp>
            <p:nvCxnSpPr>
              <p:cNvPr id="293" name="直接连接符 292"/>
              <p:cNvCxnSpPr/>
              <p:nvPr/>
            </p:nvCxnSpPr>
            <p:spPr bwMode="auto">
              <a:xfrm>
                <a:off x="7165365" y="5477983"/>
                <a:ext cx="469811" cy="0"/>
              </a:xfrm>
              <a:prstGeom prst="line">
                <a:avLst/>
              </a:prstGeom>
              <a:ln w="254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4" name="直接连接符 293"/>
              <p:cNvCxnSpPr/>
              <p:nvPr/>
            </p:nvCxnSpPr>
            <p:spPr bwMode="auto">
              <a:xfrm>
                <a:off x="8473980" y="5254067"/>
                <a:ext cx="161864" cy="4515"/>
              </a:xfrm>
              <a:prstGeom prst="line">
                <a:avLst/>
              </a:prstGeom>
              <a:ln w="25400">
                <a:noFill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5" name="椭圆 294"/>
              <p:cNvSpPr/>
              <p:nvPr/>
            </p:nvSpPr>
            <p:spPr bwMode="auto">
              <a:xfrm>
                <a:off x="8146660" y="5441983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/>
              </a:p>
            </p:txBody>
          </p:sp>
          <p:sp>
            <p:nvSpPr>
              <p:cNvPr id="296" name="椭圆 295"/>
              <p:cNvSpPr/>
              <p:nvPr/>
            </p:nvSpPr>
            <p:spPr bwMode="auto">
              <a:xfrm>
                <a:off x="8614712" y="5445224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/>
              </a:p>
            </p:txBody>
          </p:sp>
          <p:cxnSp>
            <p:nvCxnSpPr>
              <p:cNvPr id="297" name="直接连接符 296"/>
              <p:cNvCxnSpPr/>
              <p:nvPr/>
            </p:nvCxnSpPr>
            <p:spPr bwMode="auto">
              <a:xfrm>
                <a:off x="8218668" y="5477983"/>
                <a:ext cx="469811" cy="0"/>
              </a:xfrm>
              <a:prstGeom prst="line">
                <a:avLst/>
              </a:prstGeom>
              <a:ln w="254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0" name="矩形 279"/>
                <p:cNvSpPr/>
                <p:nvPr/>
              </p:nvSpPr>
              <p:spPr>
                <a:xfrm>
                  <a:off x="6303859" y="5087047"/>
                  <a:ext cx="340863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altLang="zh-CN" sz="2000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000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/>
                                    <a:ea typeface="黑体" panose="02010609060101010101" pitchFamily="49" charset="-122"/>
                                  </a:rPr>
                                  <m:t>𝒙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2000" b="1" i="1" dirty="0">
                                <a:solidFill>
                                  <a:srgbClr val="FF0000"/>
                                </a:solidFill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280" name="矩形 27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03859" y="5087047"/>
                  <a:ext cx="340863" cy="307777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1" name="矩形 280"/>
                <p:cNvSpPr/>
                <p:nvPr/>
              </p:nvSpPr>
              <p:spPr>
                <a:xfrm>
                  <a:off x="5825577" y="5087047"/>
                  <a:ext cx="340863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000" b="1" i="1" dirty="0">
                                <a:solidFill>
                                  <a:srgbClr val="FF0000"/>
                                </a:solidFill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281" name="矩形 28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25577" y="5087047"/>
                  <a:ext cx="340863" cy="307777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2" name="矩形 281"/>
                <p:cNvSpPr/>
                <p:nvPr/>
              </p:nvSpPr>
              <p:spPr>
                <a:xfrm>
                  <a:off x="7498336" y="5087047"/>
                  <a:ext cx="340863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altLang="zh-CN" sz="2000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000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/>
                                    <a:ea typeface="黑体" panose="02010609060101010101" pitchFamily="49" charset="-122"/>
                                  </a:rPr>
                                  <m:t>𝒙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20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282" name="矩形 28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98336" y="5087047"/>
                  <a:ext cx="340863" cy="307777"/>
                </a:xfrm>
                <a:prstGeom prst="rect">
                  <a:avLst/>
                </a:prstGeom>
                <a:blipFill rotWithShape="1">
                  <a:blip r:embed="rId5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3" name="矩形 282"/>
                <p:cNvSpPr/>
                <p:nvPr/>
              </p:nvSpPr>
              <p:spPr>
                <a:xfrm>
                  <a:off x="6948264" y="5087047"/>
                  <a:ext cx="340863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0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283" name="矩形 28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48264" y="5087047"/>
                  <a:ext cx="340863" cy="307777"/>
                </a:xfrm>
                <a:prstGeom prst="rect">
                  <a:avLst/>
                </a:prstGeom>
                <a:blipFill rotWithShape="1">
                  <a:blip r:embed="rId6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4" name="矩形 283"/>
                <p:cNvSpPr/>
                <p:nvPr/>
              </p:nvSpPr>
              <p:spPr>
                <a:xfrm>
                  <a:off x="8470696" y="5087047"/>
                  <a:ext cx="340863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altLang="zh-CN" sz="2000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000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/>
                                    <a:ea typeface="黑体" panose="02010609060101010101" pitchFamily="49" charset="-122"/>
                                  </a:rPr>
                                  <m:t>𝒙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20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284" name="矩形 28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70696" y="5087047"/>
                  <a:ext cx="340863" cy="307777"/>
                </a:xfrm>
                <a:prstGeom prst="rect">
                  <a:avLst/>
                </a:prstGeom>
                <a:blipFill rotWithShape="1">
                  <a:blip r:embed="rId7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5" name="矩形 284"/>
                <p:cNvSpPr/>
                <p:nvPr/>
              </p:nvSpPr>
              <p:spPr>
                <a:xfrm>
                  <a:off x="8038648" y="5087047"/>
                  <a:ext cx="340863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0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285" name="矩形 28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38648" y="5087047"/>
                  <a:ext cx="340863" cy="307777"/>
                </a:xfrm>
                <a:prstGeom prst="rect">
                  <a:avLst/>
                </a:prstGeom>
                <a:blipFill rotWithShape="1">
                  <a:blip r:embed="rId8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98" name="组合 297"/>
          <p:cNvGrpSpPr/>
          <p:nvPr/>
        </p:nvGrpSpPr>
        <p:grpSpPr>
          <a:xfrm>
            <a:off x="6283365" y="5805272"/>
            <a:ext cx="2769958" cy="866536"/>
            <a:chOff x="6103345" y="5805272"/>
            <a:chExt cx="2769958" cy="866536"/>
          </a:xfrm>
        </p:grpSpPr>
        <p:cxnSp>
          <p:nvCxnSpPr>
            <p:cNvPr id="299" name="直接连接符 298"/>
            <p:cNvCxnSpPr/>
            <p:nvPr/>
          </p:nvCxnSpPr>
          <p:spPr bwMode="auto">
            <a:xfrm flipH="1">
              <a:off x="6247033" y="6106160"/>
              <a:ext cx="160753" cy="257871"/>
            </a:xfrm>
            <a:prstGeom prst="line">
              <a:avLst/>
            </a:prstGeom>
            <a:ln w="254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直接连接符 299"/>
            <p:cNvCxnSpPr/>
            <p:nvPr/>
          </p:nvCxnSpPr>
          <p:spPr bwMode="auto">
            <a:xfrm>
              <a:off x="6427033" y="6364031"/>
              <a:ext cx="288032" cy="0"/>
            </a:xfrm>
            <a:prstGeom prst="line">
              <a:avLst/>
            </a:prstGeom>
            <a:ln w="254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01" name="组合 300"/>
            <p:cNvGrpSpPr/>
            <p:nvPr/>
          </p:nvGrpSpPr>
          <p:grpSpPr>
            <a:xfrm>
              <a:off x="6197117" y="5805272"/>
              <a:ext cx="724554" cy="578752"/>
              <a:chOff x="5818248" y="5858613"/>
              <a:chExt cx="724554" cy="578752"/>
            </a:xfrm>
          </p:grpSpPr>
          <p:sp>
            <p:nvSpPr>
              <p:cNvPr id="318" name="椭圆 317"/>
              <p:cNvSpPr/>
              <p:nvPr/>
            </p:nvSpPr>
            <p:spPr bwMode="auto">
              <a:xfrm>
                <a:off x="6144059" y="5858613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9" name="椭圆 318"/>
              <p:cNvSpPr/>
              <p:nvPr/>
            </p:nvSpPr>
            <p:spPr bwMode="auto">
              <a:xfrm>
                <a:off x="6470802" y="6360250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0" name="椭圆 319"/>
              <p:cNvSpPr/>
              <p:nvPr/>
            </p:nvSpPr>
            <p:spPr bwMode="auto">
              <a:xfrm>
                <a:off x="5818248" y="6365365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321" name="直接连接符 320"/>
              <p:cNvCxnSpPr>
                <a:stCxn id="318" idx="3"/>
                <a:endCxn id="320" idx="7"/>
              </p:cNvCxnSpPr>
              <p:nvPr/>
            </p:nvCxnSpPr>
            <p:spPr bwMode="auto">
              <a:xfrm flipH="1">
                <a:off x="5879704" y="5920069"/>
                <a:ext cx="274899" cy="455840"/>
              </a:xfrm>
              <a:prstGeom prst="line">
                <a:avLst/>
              </a:prstGeom>
              <a:ln w="254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2" name="直接连接符 321"/>
              <p:cNvCxnSpPr>
                <a:stCxn id="320" idx="5"/>
                <a:endCxn id="319" idx="3"/>
              </p:cNvCxnSpPr>
              <p:nvPr/>
            </p:nvCxnSpPr>
            <p:spPr bwMode="auto">
              <a:xfrm flipV="1">
                <a:off x="5879704" y="6421706"/>
                <a:ext cx="601642" cy="5115"/>
              </a:xfrm>
              <a:prstGeom prst="line">
                <a:avLst/>
              </a:prstGeom>
              <a:ln w="254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3" name="直接连接符 322"/>
              <p:cNvCxnSpPr>
                <a:stCxn id="318" idx="5"/>
                <a:endCxn id="319" idx="5"/>
              </p:cNvCxnSpPr>
              <p:nvPr/>
            </p:nvCxnSpPr>
            <p:spPr bwMode="auto">
              <a:xfrm>
                <a:off x="6205515" y="5920069"/>
                <a:ext cx="326743" cy="501637"/>
              </a:xfrm>
              <a:prstGeom prst="line">
                <a:avLst/>
              </a:prstGeom>
              <a:ln w="254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02" name="直接连接符 301"/>
            <p:cNvCxnSpPr/>
            <p:nvPr/>
          </p:nvCxnSpPr>
          <p:spPr bwMode="auto">
            <a:xfrm flipH="1">
              <a:off x="8052534" y="6178208"/>
              <a:ext cx="191496" cy="185823"/>
            </a:xfrm>
            <a:prstGeom prst="line">
              <a:avLst/>
            </a:prstGeom>
            <a:ln w="254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直接连接符 302"/>
            <p:cNvCxnSpPr/>
            <p:nvPr/>
          </p:nvCxnSpPr>
          <p:spPr bwMode="auto">
            <a:xfrm>
              <a:off x="8498588" y="6178208"/>
              <a:ext cx="232761" cy="185823"/>
            </a:xfrm>
            <a:prstGeom prst="line">
              <a:avLst/>
            </a:prstGeom>
            <a:ln w="254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直接连接符 303"/>
            <p:cNvCxnSpPr/>
            <p:nvPr/>
          </p:nvCxnSpPr>
          <p:spPr bwMode="auto">
            <a:xfrm>
              <a:off x="8232534" y="6364031"/>
              <a:ext cx="318815" cy="0"/>
            </a:xfrm>
            <a:prstGeom prst="line">
              <a:avLst/>
            </a:prstGeom>
            <a:ln w="254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05" name="组合 304"/>
            <p:cNvGrpSpPr/>
            <p:nvPr/>
          </p:nvGrpSpPr>
          <p:grpSpPr>
            <a:xfrm>
              <a:off x="8017339" y="5805272"/>
              <a:ext cx="724554" cy="578752"/>
              <a:chOff x="5818248" y="5858613"/>
              <a:chExt cx="724554" cy="578752"/>
            </a:xfrm>
          </p:grpSpPr>
          <p:sp>
            <p:nvSpPr>
              <p:cNvPr id="312" name="椭圆 311"/>
              <p:cNvSpPr/>
              <p:nvPr/>
            </p:nvSpPr>
            <p:spPr bwMode="auto">
              <a:xfrm>
                <a:off x="6144059" y="5858613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3" name="椭圆 312"/>
              <p:cNvSpPr/>
              <p:nvPr/>
            </p:nvSpPr>
            <p:spPr bwMode="auto">
              <a:xfrm>
                <a:off x="6470802" y="6360250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4" name="椭圆 313"/>
              <p:cNvSpPr/>
              <p:nvPr/>
            </p:nvSpPr>
            <p:spPr bwMode="auto">
              <a:xfrm>
                <a:off x="5818248" y="6365365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315" name="直接连接符 314"/>
              <p:cNvCxnSpPr>
                <a:stCxn id="312" idx="3"/>
                <a:endCxn id="314" idx="7"/>
              </p:cNvCxnSpPr>
              <p:nvPr/>
            </p:nvCxnSpPr>
            <p:spPr bwMode="auto">
              <a:xfrm flipH="1">
                <a:off x="5879704" y="5920069"/>
                <a:ext cx="274899" cy="455840"/>
              </a:xfrm>
              <a:prstGeom prst="line">
                <a:avLst/>
              </a:prstGeom>
              <a:ln w="254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6" name="直接连接符 315"/>
              <p:cNvCxnSpPr>
                <a:stCxn id="314" idx="5"/>
                <a:endCxn id="313" idx="3"/>
              </p:cNvCxnSpPr>
              <p:nvPr/>
            </p:nvCxnSpPr>
            <p:spPr bwMode="auto">
              <a:xfrm flipV="1">
                <a:off x="5879704" y="6421706"/>
                <a:ext cx="601642" cy="5115"/>
              </a:xfrm>
              <a:prstGeom prst="line">
                <a:avLst/>
              </a:prstGeom>
              <a:ln w="254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7" name="直接连接符 316"/>
              <p:cNvCxnSpPr>
                <a:stCxn id="312" idx="5"/>
                <a:endCxn id="313" idx="5"/>
              </p:cNvCxnSpPr>
              <p:nvPr/>
            </p:nvCxnSpPr>
            <p:spPr bwMode="auto">
              <a:xfrm>
                <a:off x="6205515" y="5920069"/>
                <a:ext cx="326743" cy="501637"/>
              </a:xfrm>
              <a:prstGeom prst="line">
                <a:avLst/>
              </a:prstGeom>
              <a:ln w="254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6" name="矩形 305"/>
                <p:cNvSpPr/>
                <p:nvPr/>
              </p:nvSpPr>
              <p:spPr>
                <a:xfrm>
                  <a:off x="8532440" y="6364031"/>
                  <a:ext cx="340863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altLang="zh-CN" sz="2000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000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/>
                                    <a:ea typeface="黑体" panose="02010609060101010101" pitchFamily="49" charset="-122"/>
                                  </a:rPr>
                                  <m:t>𝒙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20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306" name="矩形 30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32440" y="6364031"/>
                  <a:ext cx="340863" cy="307777"/>
                </a:xfrm>
                <a:prstGeom prst="rect">
                  <a:avLst/>
                </a:prstGeom>
                <a:blipFill rotWithShape="1">
                  <a:blip r:embed="rId7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7" name="矩形 306"/>
                <p:cNvSpPr/>
                <p:nvPr/>
              </p:nvSpPr>
              <p:spPr>
                <a:xfrm>
                  <a:off x="8244408" y="5877272"/>
                  <a:ext cx="340863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altLang="zh-CN" sz="2000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000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/>
                                    <a:ea typeface="黑体" panose="02010609060101010101" pitchFamily="49" charset="-122"/>
                                  </a:rPr>
                                  <m:t>𝒙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20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307" name="矩形 30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44408" y="5877272"/>
                  <a:ext cx="340863" cy="307777"/>
                </a:xfrm>
                <a:prstGeom prst="rect">
                  <a:avLst/>
                </a:prstGeom>
                <a:blipFill rotWithShape="1">
                  <a:blip r:embed="rId5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8" name="矩形 307"/>
                <p:cNvSpPr/>
                <p:nvPr/>
              </p:nvSpPr>
              <p:spPr>
                <a:xfrm>
                  <a:off x="7939549" y="6364031"/>
                  <a:ext cx="340863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000" b="1" i="1" dirty="0">
                                <a:solidFill>
                                  <a:srgbClr val="FF0000"/>
                                </a:solidFill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308" name="矩形 30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39549" y="6364031"/>
                  <a:ext cx="340863" cy="307777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9" name="矩形 308"/>
                <p:cNvSpPr/>
                <p:nvPr/>
              </p:nvSpPr>
              <p:spPr>
                <a:xfrm>
                  <a:off x="6103345" y="6364031"/>
                  <a:ext cx="340863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altLang="zh-CN" sz="2000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000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/>
                                    <a:ea typeface="黑体" panose="02010609060101010101" pitchFamily="49" charset="-122"/>
                                  </a:rPr>
                                  <m:t>𝒙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2000" b="1" i="1" dirty="0">
                                <a:solidFill>
                                  <a:srgbClr val="FF0000"/>
                                </a:solidFill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309" name="矩形 30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03345" y="6364031"/>
                  <a:ext cx="340863" cy="307777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0" name="矩形 309"/>
                <p:cNvSpPr/>
                <p:nvPr/>
              </p:nvSpPr>
              <p:spPr>
                <a:xfrm>
                  <a:off x="6407786" y="5877272"/>
                  <a:ext cx="340863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0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310" name="矩形 30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07786" y="5877272"/>
                  <a:ext cx="340863" cy="307777"/>
                </a:xfrm>
                <a:prstGeom prst="rect">
                  <a:avLst/>
                </a:prstGeom>
                <a:blipFill rotWithShape="1">
                  <a:blip r:embed="rId6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1" name="矩形 310"/>
                <p:cNvSpPr/>
                <p:nvPr/>
              </p:nvSpPr>
              <p:spPr>
                <a:xfrm>
                  <a:off x="6696236" y="6364031"/>
                  <a:ext cx="340863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0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311" name="矩形 31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96236" y="6364031"/>
                  <a:ext cx="340863" cy="307777"/>
                </a:xfrm>
                <a:prstGeom prst="rect">
                  <a:avLst/>
                </a:prstGeom>
                <a:blipFill rotWithShape="1">
                  <a:blip r:embed="rId8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500"/>
                            </p:stCondLst>
                            <p:childTnLst>
                              <p:par>
                                <p:cTn id="3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500"/>
                            </p:stCondLst>
                            <p:childTnLst>
                              <p:par>
                                <p:cTn id="4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顶点覆盖</a:t>
            </a:r>
            <a:r>
              <a:rPr lang="zh-CN" altLang="en-US" dirty="0" smtClean="0"/>
              <a:t>问题是</a:t>
            </a:r>
            <a:r>
              <a:rPr lang="en-US" altLang="zh-CN" dirty="0" smtClean="0"/>
              <a:t>NP</a:t>
            </a:r>
            <a:r>
              <a:rPr lang="zh-CN" altLang="en-US" dirty="0" smtClean="0"/>
              <a:t>完全问题</a:t>
            </a:r>
            <a:endParaRPr lang="zh-CN" altLang="en-US" dirty="0" smtClean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195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484313"/>
                <a:ext cx="8229600" cy="5373687"/>
              </a:xfrm>
            </p:spPr>
            <p:txBody>
              <a:bodyPr/>
              <a:lstStyle/>
              <a:p>
                <a:pPr lvl="1"/>
                <a:r>
                  <a:rPr lang="zh-CN" altLang="en-US" sz="22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往证</a:t>
                </a:r>
                <a:r>
                  <a:rPr lang="en-US" altLang="zh-CN" sz="2200" dirty="0" smtClean="0"/>
                  <a:t>3CNF-SAT</a:t>
                </a:r>
                <a:r>
                  <a:rPr lang="zh-CN" altLang="en-US" sz="2200" dirty="0" smtClean="0"/>
                  <a:t>表达</a:t>
                </a:r>
                <a:r>
                  <a:rPr lang="zh-CN" altLang="zh-CN" sz="2200" dirty="0" smtClean="0"/>
                  <a:t>式是</a:t>
                </a:r>
                <a:r>
                  <a:rPr lang="zh-CN" altLang="zh-CN" sz="2200" dirty="0"/>
                  <a:t>可满足</a:t>
                </a:r>
                <a:r>
                  <a:rPr lang="zh-CN" altLang="zh-CN" sz="2200" dirty="0" smtClean="0"/>
                  <a:t>的</a:t>
                </a:r>
                <a:r>
                  <a:rPr lang="zh-CN" altLang="en-US" sz="2200" dirty="0" smtClean="0"/>
                  <a:t>当且仅当</a:t>
                </a:r>
                <a:r>
                  <a:rPr lang="zh-CN" altLang="zh-CN" sz="2200" dirty="0"/>
                  <a:t>构造出来的无向图</a:t>
                </a:r>
                <a:r>
                  <a:rPr lang="en-US" altLang="zh-CN" sz="2200" dirty="0"/>
                  <a:t>G</a:t>
                </a:r>
                <a:r>
                  <a:rPr lang="zh-CN" altLang="zh-CN" sz="2200" dirty="0"/>
                  <a:t>中有一</a:t>
                </a:r>
                <a:r>
                  <a:rPr lang="zh-CN" altLang="zh-CN" sz="2200" dirty="0" smtClean="0"/>
                  <a:t>个</a:t>
                </a:r>
                <a:r>
                  <a:rPr lang="zh-CN" altLang="en-US" sz="2200" dirty="0" smtClean="0"/>
                  <a:t>大小为</a:t>
                </a:r>
                <a:r>
                  <a:rPr lang="en-US" altLang="zh-CN" sz="2200" dirty="0" smtClean="0"/>
                  <a:t>k</a:t>
                </a:r>
                <a:r>
                  <a:rPr lang="zh-CN" altLang="en-US" sz="2200" dirty="0" smtClean="0"/>
                  <a:t>覆盖集合，其中</a:t>
                </a:r>
                <a:r>
                  <a:rPr lang="en-US" altLang="zh-CN" sz="22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k=n+2m</a:t>
                </a:r>
                <a:endParaRPr lang="en-US" altLang="zh-CN" sz="2200" dirty="0" smtClean="0">
                  <a:latin typeface="Arial" panose="02080604020202020204" pitchFamily="34" charset="0"/>
                  <a:ea typeface="黑体" panose="02010609060101010101" pitchFamily="49" charset="-122"/>
                </a:endParaRPr>
              </a:p>
              <a:p>
                <a:pPr lvl="1"/>
                <a:r>
                  <a:rPr lang="zh-CN" altLang="en-US" sz="2200" dirty="0" smtClean="0">
                    <a:solidFill>
                      <a:srgbClr val="FF0000"/>
                    </a:solidFill>
                    <a:latin typeface="Arial" panose="02080604020202020204" pitchFamily="34" charset="0"/>
                    <a:ea typeface="黑体" panose="02010609060101010101" pitchFamily="49" charset="-122"/>
                  </a:rPr>
                  <a:t>必要性证明：</a:t>
                </a:r>
                <a:r>
                  <a:rPr lang="zh-CN" altLang="en-US" sz="22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若表达式可满足</a:t>
                </a:r>
                <a:r>
                  <a:rPr lang="zh-CN" altLang="en-US" sz="2200" dirty="0">
                    <a:latin typeface="Arial" panose="02080604020202020204" pitchFamily="34" charset="0"/>
                    <a:ea typeface="黑体" panose="02010609060101010101" pitchFamily="49" charset="-122"/>
                  </a:rPr>
                  <a:t>，</a:t>
                </a:r>
                <a:r>
                  <a:rPr lang="zh-CN" altLang="en-US" sz="22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则有一种变元</a:t>
                </a:r>
                <a:r>
                  <a:rPr lang="zh-CN" altLang="en-US" sz="2200" dirty="0" smtClean="0">
                    <a:solidFill>
                      <a:srgbClr val="0000A8"/>
                    </a:solidFill>
                    <a:latin typeface="Arial" panose="02080604020202020204" pitchFamily="34" charset="0"/>
                    <a:ea typeface="黑体" panose="02010609060101010101" pitchFamily="49" charset="-122"/>
                  </a:rPr>
                  <a:t>的赋值方式</a:t>
                </a:r>
                <a:r>
                  <a:rPr lang="en-US" altLang="zh-CN" sz="2200" dirty="0" smtClean="0">
                    <a:solidFill>
                      <a:srgbClr val="0000A8"/>
                    </a:solidFill>
                    <a:latin typeface="Arial" panose="02080604020202020204" pitchFamily="34" charset="0"/>
                    <a:ea typeface="黑体" panose="02010609060101010101" pitchFamily="49" charset="-122"/>
                  </a:rPr>
                  <a:t>,</a:t>
                </a:r>
                <a:r>
                  <a:rPr lang="zh-CN" altLang="en-US" sz="2200" dirty="0" smtClean="0">
                    <a:solidFill>
                      <a:srgbClr val="0000A8"/>
                    </a:solidFill>
                    <a:latin typeface="Arial" panose="02080604020202020204" pitchFamily="34" charset="0"/>
                    <a:ea typeface="黑体" panose="02010609060101010101" pitchFamily="49" charset="-122"/>
                  </a:rPr>
                  <a:t>使得表达式为真。</a:t>
                </a:r>
                <a:endParaRPr lang="en-US" altLang="zh-CN" sz="2200" dirty="0" smtClean="0">
                  <a:solidFill>
                    <a:srgbClr val="0000A8"/>
                  </a:solidFill>
                  <a:latin typeface="Arial" panose="02080604020202020204" pitchFamily="34" charset="0"/>
                  <a:ea typeface="黑体" panose="02010609060101010101" pitchFamily="49" charset="-122"/>
                </a:endParaRPr>
              </a:p>
              <a:p>
                <a:pPr lvl="1"/>
                <a:r>
                  <a:rPr lang="zh-CN" altLang="en-US" sz="2200" dirty="0" smtClean="0">
                    <a:solidFill>
                      <a:srgbClr val="0000A8"/>
                    </a:solidFill>
                    <a:latin typeface="Arial" panose="02080604020202020204" pitchFamily="34" charset="0"/>
                    <a:ea typeface="黑体" panose="02010609060101010101" pitchFamily="49" charset="-122"/>
                  </a:rPr>
                  <a:t>变元对应的</a:t>
                </a:r>
                <a:r>
                  <a:rPr lang="en-US" altLang="zh-CN" sz="2200" dirty="0" smtClean="0">
                    <a:solidFill>
                      <a:srgbClr val="0000A8"/>
                    </a:solidFill>
                    <a:latin typeface="Arial" panose="02080604020202020204" pitchFamily="34" charset="0"/>
                    <a:ea typeface="黑体" panose="02010609060101010101" pitchFamily="49" charset="-122"/>
                  </a:rPr>
                  <a:t>2n</a:t>
                </a:r>
                <a:r>
                  <a:rPr lang="zh-CN" altLang="en-US" sz="2200" dirty="0" smtClean="0">
                    <a:solidFill>
                      <a:srgbClr val="0000A8"/>
                    </a:solidFill>
                    <a:latin typeface="Arial" panose="02080604020202020204" pitchFamily="34" charset="0"/>
                    <a:ea typeface="黑体" panose="02010609060101010101" pitchFamily="49" charset="-122"/>
                  </a:rPr>
                  <a:t>个顶点选择方式：若变元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200" i="1" dirty="0">
                            <a:solidFill>
                              <a:srgbClr val="FF0000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2200" b="1" i="1" dirty="0" smtClean="0">
                            <a:solidFill>
                              <a:srgbClr val="FF0000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altLang="zh-CN" sz="2200" dirty="0" smtClean="0">
                    <a:solidFill>
                      <a:srgbClr val="FF0000"/>
                    </a:solidFill>
                    <a:latin typeface="Arial" panose="02080604020202020204" pitchFamily="34" charset="0"/>
                    <a:ea typeface="黑体" panose="02010609060101010101" pitchFamily="49" charset="-122"/>
                  </a:rPr>
                  <a:t>=1</a:t>
                </a:r>
                <a:r>
                  <a:rPr lang="zh-CN" altLang="en-US" sz="2200" dirty="0" smtClean="0">
                    <a:solidFill>
                      <a:srgbClr val="0000A8"/>
                    </a:solidFill>
                    <a:latin typeface="Arial" panose="02080604020202020204" pitchFamily="34" charset="0"/>
                    <a:ea typeface="黑体" panose="02010609060101010101" pitchFamily="49" charset="-122"/>
                  </a:rPr>
                  <a:t>，则将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200" i="1" dirty="0">
                            <a:solidFill>
                              <a:srgbClr val="FF0000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2200" i="1" dirty="0">
                            <a:solidFill>
                              <a:srgbClr val="FF0000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en-US" sz="2200" dirty="0">
                    <a:solidFill>
                      <a:srgbClr val="0000A8"/>
                    </a:solidFill>
                    <a:latin typeface="Arial" panose="02080604020202020204" pitchFamily="34" charset="0"/>
                    <a:ea typeface="黑体" panose="02010609060101010101" pitchFamily="49" charset="-122"/>
                  </a:rPr>
                  <a:t>加入集合；若变元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200" i="1" dirty="0">
                            <a:solidFill>
                              <a:srgbClr val="FF0000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2200" i="1" dirty="0">
                            <a:solidFill>
                              <a:srgbClr val="FF0000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altLang="zh-CN" sz="2200" dirty="0">
                    <a:solidFill>
                      <a:srgbClr val="FF0000"/>
                    </a:solidFill>
                    <a:latin typeface="Arial" panose="02080604020202020204" pitchFamily="34" charset="0"/>
                    <a:ea typeface="黑体" panose="02010609060101010101" pitchFamily="49" charset="-122"/>
                  </a:rPr>
                  <a:t>=</a:t>
                </a:r>
                <a:r>
                  <a:rPr lang="en-US" altLang="zh-CN" sz="2200" dirty="0" smtClean="0">
                    <a:solidFill>
                      <a:srgbClr val="FF0000"/>
                    </a:solidFill>
                    <a:latin typeface="Arial" panose="02080604020202020204" pitchFamily="34" charset="0"/>
                    <a:ea typeface="黑体" panose="02010609060101010101" pitchFamily="49" charset="-122"/>
                  </a:rPr>
                  <a:t>0</a:t>
                </a:r>
                <a:r>
                  <a:rPr lang="zh-CN" altLang="en-US" sz="2200" dirty="0">
                    <a:solidFill>
                      <a:srgbClr val="0000A8"/>
                    </a:solidFill>
                    <a:latin typeface="Arial" panose="02080604020202020204" pitchFamily="34" charset="0"/>
                    <a:ea typeface="黑体" panose="02010609060101010101" pitchFamily="49" charset="-122"/>
                  </a:rPr>
                  <a:t>，则将</a:t>
                </a:r>
                <a:r>
                  <a:rPr lang="zh-CN" altLang="en-US" sz="2200" dirty="0" smtClean="0">
                    <a:solidFill>
                      <a:srgbClr val="0000A8"/>
                    </a:solidFill>
                    <a:latin typeface="Arial" panose="02080604020202020204" pitchFamily="34" charset="0"/>
                    <a:ea typeface="黑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CN" sz="22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sz="2200" i="1" dirty="0">
                                <a:solidFill>
                                  <a:srgbClr val="FF0000"/>
                                </a:solidFill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𝒙</m:t>
                            </m:r>
                          </m:e>
                        </m:acc>
                      </m:e>
                      <m:sub>
                        <m:r>
                          <a:rPr lang="en-US" altLang="zh-CN" sz="2200" i="1" dirty="0">
                            <a:solidFill>
                              <a:srgbClr val="FF0000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en-US" sz="2200" dirty="0">
                    <a:solidFill>
                      <a:srgbClr val="0000A8"/>
                    </a:solidFill>
                    <a:latin typeface="Arial" panose="02080604020202020204" pitchFamily="34" charset="0"/>
                    <a:ea typeface="黑体" panose="02010609060101010101" pitchFamily="49" charset="-122"/>
                  </a:rPr>
                  <a:t>加入</a:t>
                </a:r>
                <a:r>
                  <a:rPr lang="zh-CN" altLang="en-US" sz="2200" dirty="0" smtClean="0">
                    <a:solidFill>
                      <a:srgbClr val="0000A8"/>
                    </a:solidFill>
                    <a:latin typeface="Arial" panose="02080604020202020204" pitchFamily="34" charset="0"/>
                    <a:ea typeface="黑体" panose="02010609060101010101" pitchFamily="49" charset="-122"/>
                  </a:rPr>
                  <a:t>集合。共选择了</a:t>
                </a:r>
                <a:r>
                  <a:rPr lang="en-US" altLang="zh-CN" sz="2200" dirty="0" smtClean="0">
                    <a:solidFill>
                      <a:srgbClr val="FF0000"/>
                    </a:solidFill>
                    <a:latin typeface="Arial" panose="02080604020202020204" pitchFamily="34" charset="0"/>
                    <a:ea typeface="黑体" panose="02010609060101010101" pitchFamily="49" charset="-122"/>
                  </a:rPr>
                  <a:t>n</a:t>
                </a:r>
                <a:r>
                  <a:rPr lang="zh-CN" altLang="en-US" sz="2200" dirty="0" smtClean="0">
                    <a:solidFill>
                      <a:srgbClr val="0000A8"/>
                    </a:solidFill>
                    <a:latin typeface="Arial" panose="02080604020202020204" pitchFamily="34" charset="0"/>
                    <a:ea typeface="黑体" panose="02010609060101010101" pitchFamily="49" charset="-122"/>
                  </a:rPr>
                  <a:t>个</a:t>
                </a:r>
                <a:endParaRPr lang="en-US" altLang="zh-CN" sz="2200" dirty="0" smtClean="0">
                  <a:solidFill>
                    <a:srgbClr val="0000A8"/>
                  </a:solidFill>
                  <a:latin typeface="Arial" panose="02080604020202020204" pitchFamily="34" charset="0"/>
                  <a:ea typeface="黑体" panose="02010609060101010101" pitchFamily="49" charset="-122"/>
                </a:endParaRPr>
              </a:p>
              <a:p>
                <a:pPr lvl="1"/>
                <a:r>
                  <a:rPr lang="zh-CN" altLang="en-US" sz="22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子句对应的</a:t>
                </a:r>
                <a:r>
                  <a:rPr lang="en-US" altLang="zh-CN" sz="22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3m</a:t>
                </a:r>
                <a:r>
                  <a:rPr lang="zh-CN" altLang="en-US" sz="22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个顶点选择方式：</a:t>
                </a:r>
                <a:r>
                  <a:rPr lang="zh-CN" altLang="en-US" sz="2200" dirty="0" smtClean="0"/>
                  <a:t>表达式</a:t>
                </a:r>
                <a:r>
                  <a:rPr lang="zh-CN" altLang="zh-CN" sz="2200" dirty="0" smtClean="0"/>
                  <a:t>可</a:t>
                </a:r>
                <a:r>
                  <a:rPr lang="zh-CN" altLang="zh-CN" sz="2200" dirty="0"/>
                  <a:t>满足</a:t>
                </a:r>
                <a:r>
                  <a:rPr lang="zh-CN" altLang="zh-CN" sz="2200" dirty="0" smtClean="0"/>
                  <a:t>，每个子句至少</a:t>
                </a:r>
                <a:r>
                  <a:rPr lang="zh-CN" altLang="zh-CN" sz="2200" dirty="0"/>
                  <a:t>有一个</a:t>
                </a:r>
                <a:r>
                  <a:rPr lang="zh-CN" altLang="zh-CN" sz="2200" dirty="0" smtClean="0"/>
                  <a:t>文字</a:t>
                </a:r>
                <a:r>
                  <a:rPr lang="zh-CN" altLang="en-US" sz="2200" dirty="0" smtClean="0"/>
                  <a:t>值</a:t>
                </a:r>
                <a:r>
                  <a:rPr lang="zh-CN" altLang="zh-CN" sz="2200" dirty="0" smtClean="0"/>
                  <a:t>为</a:t>
                </a:r>
                <a:r>
                  <a:rPr lang="en-US" altLang="zh-CN" sz="2200" dirty="0" smtClean="0">
                    <a:solidFill>
                      <a:srgbClr val="FF0000"/>
                    </a:solidFill>
                  </a:rPr>
                  <a:t>1</a:t>
                </a:r>
                <a:r>
                  <a:rPr lang="zh-CN" altLang="zh-CN" sz="2200" dirty="0" smtClean="0"/>
                  <a:t>，该文字对应</a:t>
                </a:r>
                <a:r>
                  <a:rPr lang="zh-CN" altLang="zh-CN" sz="2200" dirty="0"/>
                  <a:t>的</a:t>
                </a:r>
                <a:r>
                  <a:rPr lang="zh-CN" altLang="zh-CN" sz="2200" dirty="0" smtClean="0"/>
                  <a:t>顶点</a:t>
                </a:r>
                <a:r>
                  <a:rPr lang="zh-CN" altLang="en-US" sz="2200" dirty="0" smtClean="0"/>
                  <a:t>与变元对应顶点之间的边</a:t>
                </a:r>
                <a:r>
                  <a:rPr lang="zh-CN" altLang="zh-CN" sz="2200" dirty="0" smtClean="0"/>
                  <a:t>已被覆盖</a:t>
                </a:r>
                <a:r>
                  <a:rPr lang="zh-CN" altLang="en-US" sz="2200" dirty="0" smtClean="0"/>
                  <a:t>。选择剩下的两个顶点即可，共</a:t>
                </a:r>
                <a:r>
                  <a:rPr lang="en-US" altLang="zh-CN" sz="2200" dirty="0" smtClean="0">
                    <a:solidFill>
                      <a:srgbClr val="FF0000"/>
                    </a:solidFill>
                  </a:rPr>
                  <a:t>2m</a:t>
                </a:r>
                <a:r>
                  <a:rPr lang="zh-CN" altLang="en-US" sz="2200" dirty="0" smtClean="0"/>
                  <a:t>个</a:t>
                </a:r>
                <a:endParaRPr lang="en-US" altLang="zh-CN" sz="2200" dirty="0" smtClean="0"/>
              </a:p>
              <a:p>
                <a:pPr lvl="1"/>
                <a:r>
                  <a:rPr lang="zh-CN" altLang="zh-CN" sz="2200" dirty="0" smtClean="0"/>
                  <a:t>∴</a:t>
                </a:r>
                <a:r>
                  <a:rPr lang="en-US" altLang="zh-CN" sz="2200" dirty="0" smtClean="0"/>
                  <a:t>G</a:t>
                </a:r>
                <a:r>
                  <a:rPr lang="zh-CN" altLang="en-US" sz="2200" dirty="0" smtClean="0"/>
                  <a:t>中有大小为</a:t>
                </a:r>
                <a:r>
                  <a:rPr lang="en-US" altLang="zh-CN" sz="22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k=n+2m</a:t>
                </a:r>
                <a:r>
                  <a:rPr lang="zh-CN" altLang="en-US" sz="22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的覆盖集合</a:t>
                </a:r>
                <a:endParaRPr lang="en-US" altLang="zh-CN" sz="2200" dirty="0" smtClean="0">
                  <a:solidFill>
                    <a:srgbClr val="0000A8"/>
                  </a:solidFill>
                  <a:latin typeface="Arial" panose="02080604020202020204" pitchFamily="34" charset="0"/>
                  <a:ea typeface="黑体" panose="02010609060101010101" pitchFamily="49" charset="-122"/>
                </a:endParaRPr>
              </a:p>
              <a:p>
                <a:pPr lvl="1"/>
                <a:endParaRPr lang="en-US" altLang="zh-CN" sz="2200" dirty="0" smtClean="0">
                  <a:solidFill>
                    <a:srgbClr val="0000A8"/>
                  </a:solidFill>
                  <a:latin typeface="Arial" panose="02080604020202020204" pitchFamily="34" charset="0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8195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484313"/>
                <a:ext cx="8229600" cy="5373687"/>
              </a:xfrm>
              <a:blipFill rotWithShape="1">
                <a:blip r:embed="rId1"/>
                <a:stretch>
                  <a:fillRect t="-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1" name="矩形 140"/>
              <p:cNvSpPr/>
              <p:nvPr/>
            </p:nvSpPr>
            <p:spPr>
              <a:xfrm>
                <a:off x="1511660" y="6025836"/>
                <a:ext cx="3924436" cy="43088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b="1" i="1" dirty="0" smtClean="0">
                          <a:solidFill>
                            <a:srgbClr val="FF0000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altLang="zh-CN" sz="22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2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</a:rPr>
                                <m:t>𝒙</m:t>
                              </m:r>
                            </m:e>
                          </m:acc>
                        </m:e>
                        <m:sub>
                          <m: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𝟏</m:t>
                          </m:r>
                        </m:sub>
                      </m:sSub>
                      <m:r>
                        <a:rPr lang="en-US" altLang="zh-CN" sz="2200" b="1" i="1" dirty="0">
                          <a:solidFill>
                            <a:srgbClr val="FF0000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∨</m:t>
                      </m:r>
                      <m:sSub>
                        <m:sSubPr>
                          <m:ctrlP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𝟐</m:t>
                          </m:r>
                        </m:sub>
                      </m:sSub>
                      <m:r>
                        <a:rPr lang="en-US" altLang="zh-CN" sz="2200" b="1" i="1" dirty="0">
                          <a:solidFill>
                            <a:srgbClr val="FF0000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∨</m:t>
                      </m:r>
                      <m:sSub>
                        <m:sSubPr>
                          <m:ctrlP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𝟑</m:t>
                          </m:r>
                        </m:sub>
                      </m:sSub>
                      <m:r>
                        <a:rPr lang="en-US" altLang="zh-CN" sz="2200" b="1" i="1" dirty="0">
                          <a:solidFill>
                            <a:srgbClr val="FF0000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)</m:t>
                      </m:r>
                      <m:r>
                        <a:rPr lang="en-US" altLang="zh-CN" sz="2200" b="1" i="1" dirty="0">
                          <a:solidFill>
                            <a:srgbClr val="FF0000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∧</m:t>
                      </m:r>
                      <m:r>
                        <a:rPr lang="en-US" altLang="zh-CN" sz="2200" b="1" i="1" dirty="0">
                          <a:solidFill>
                            <a:srgbClr val="FF0000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𝟏</m:t>
                          </m:r>
                        </m:sub>
                      </m:sSub>
                      <m:r>
                        <a:rPr lang="en-US" altLang="zh-CN" sz="2200" b="1" i="1" dirty="0">
                          <a:solidFill>
                            <a:srgbClr val="FF0000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∨</m:t>
                      </m:r>
                      <m:sSub>
                        <m:sSubPr>
                          <m:ctrlP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altLang="zh-CN" sz="22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2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</a:rPr>
                                <m:t>𝒙</m:t>
                              </m:r>
                            </m:e>
                          </m:acc>
                        </m:e>
                        <m:sub>
                          <m:r>
                            <a:rPr lang="en-US" altLang="zh-CN" sz="2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𝟐</m:t>
                          </m:r>
                        </m:sub>
                      </m:sSub>
                      <m:r>
                        <a:rPr lang="en-US" altLang="zh-CN" sz="2200" b="1" i="1" dirty="0">
                          <a:solidFill>
                            <a:srgbClr val="FF0000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∨</m:t>
                      </m:r>
                      <m:sSub>
                        <m:sSubPr>
                          <m:ctrlP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altLang="zh-CN" sz="22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2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</a:rPr>
                                <m:t>𝒙</m:t>
                              </m:r>
                            </m:e>
                          </m:acc>
                        </m:e>
                        <m:sub>
                          <m:r>
                            <a:rPr lang="en-US" altLang="zh-CN" sz="2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𝟑</m:t>
                          </m:r>
                        </m:sub>
                      </m:sSub>
                      <m:r>
                        <a:rPr lang="en-US" altLang="zh-CN" sz="2200" b="1" dirty="0">
                          <a:solidFill>
                            <a:srgbClr val="FF0000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lang="zh-CN" altLang="en-US" sz="2200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41" name="矩形 14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1660" y="6025836"/>
                <a:ext cx="3924436" cy="430887"/>
              </a:xfrm>
              <a:prstGeom prst="rect">
                <a:avLst/>
              </a:prstGeom>
              <a:blipFill rotWithShape="1">
                <a:blip r:embed="rId2"/>
                <a:stretch>
                  <a:fillRect l="-9" t="-74" r="13" b="-6645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2" name="TextBox 141"/>
          <p:cNvSpPr txBox="1"/>
          <p:nvPr/>
        </p:nvSpPr>
        <p:spPr>
          <a:xfrm>
            <a:off x="2267744" y="5867980"/>
            <a:ext cx="479618" cy="369332"/>
          </a:xfrm>
          <a:prstGeom prst="rect">
            <a:avLst/>
          </a:prstGeom>
          <a:noFill/>
          <a:ln w="25400">
            <a:noFill/>
          </a:ln>
        </p:spPr>
        <p:txBody>
          <a:bodyPr wrap="none" rtlCol="0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b="1" dirty="0" smtClean="0">
                <a:solidFill>
                  <a:srgbClr val="000099"/>
                </a:solidFill>
                <a:ea typeface="黑体" panose="02010609060101010101" pitchFamily="49" charset="-122"/>
              </a:rPr>
              <a:t>C1</a:t>
            </a:r>
            <a:endParaRPr lang="zh-CN" altLang="en-US" b="1" dirty="0" smtClean="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143" name="TextBox 142"/>
          <p:cNvSpPr txBox="1"/>
          <p:nvPr/>
        </p:nvSpPr>
        <p:spPr>
          <a:xfrm>
            <a:off x="4355976" y="5867980"/>
            <a:ext cx="479618" cy="369332"/>
          </a:xfrm>
          <a:prstGeom prst="rect">
            <a:avLst/>
          </a:prstGeom>
          <a:noFill/>
          <a:ln w="25400">
            <a:noFill/>
          </a:ln>
        </p:spPr>
        <p:txBody>
          <a:bodyPr wrap="none" rtlCol="0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b="1" dirty="0" smtClean="0">
                <a:solidFill>
                  <a:srgbClr val="000099"/>
                </a:solidFill>
                <a:ea typeface="黑体" panose="02010609060101010101" pitchFamily="49" charset="-122"/>
              </a:rPr>
              <a:t>C2</a:t>
            </a:r>
            <a:endParaRPr lang="zh-CN" altLang="en-US" b="1" dirty="0" smtClean="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144" name="矩形 143"/>
          <p:cNvSpPr/>
          <p:nvPr/>
        </p:nvSpPr>
        <p:spPr>
          <a:xfrm>
            <a:off x="2555776" y="6384024"/>
            <a:ext cx="20633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smtClean="0">
                <a:ea typeface="黑体" panose="02010609060101010101" pitchFamily="49" charset="-122"/>
              </a:rPr>
              <a:t>k=n+2m=3+2</a:t>
            </a:r>
            <a:r>
              <a:rPr lang="zh-CN" altLang="en-US" b="1" dirty="0" smtClean="0">
                <a:ea typeface="黑体" panose="02010609060101010101" pitchFamily="49" charset="-122"/>
              </a:rPr>
              <a:t>*</a:t>
            </a:r>
            <a:r>
              <a:rPr lang="en-US" altLang="zh-CN" b="1" dirty="0" smtClean="0">
                <a:ea typeface="黑体" panose="02010609060101010101" pitchFamily="49" charset="-122"/>
              </a:rPr>
              <a:t>2=7</a:t>
            </a:r>
            <a:endParaRPr lang="zh-CN" altLang="en-US" b="1" dirty="0"/>
          </a:p>
        </p:txBody>
      </p:sp>
      <p:cxnSp>
        <p:nvCxnSpPr>
          <p:cNvPr id="145" name="直接连接符 144"/>
          <p:cNvCxnSpPr/>
          <p:nvPr/>
        </p:nvCxnSpPr>
        <p:spPr bwMode="auto">
          <a:xfrm flipH="1" flipV="1">
            <a:off x="5904148" y="5193714"/>
            <a:ext cx="395626" cy="1223038"/>
          </a:xfrm>
          <a:prstGeom prst="line">
            <a:avLst/>
          </a:prstGeom>
          <a:ln w="2540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接连接符 145"/>
          <p:cNvCxnSpPr>
            <a:stCxn id="178" idx="4"/>
            <a:endCxn id="211" idx="0"/>
          </p:cNvCxnSpPr>
          <p:nvPr/>
        </p:nvCxnSpPr>
        <p:spPr bwMode="auto">
          <a:xfrm flipH="1">
            <a:off x="6413137" y="5443353"/>
            <a:ext cx="283095" cy="868671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接连接符 146"/>
          <p:cNvCxnSpPr>
            <a:stCxn id="182" idx="3"/>
            <a:endCxn id="209" idx="7"/>
          </p:cNvCxnSpPr>
          <p:nvPr/>
        </p:nvCxnSpPr>
        <p:spPr bwMode="auto">
          <a:xfrm flipH="1">
            <a:off x="6764404" y="5429568"/>
            <a:ext cx="581269" cy="386248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直接连接符 153"/>
          <p:cNvCxnSpPr>
            <a:stCxn id="186" idx="4"/>
            <a:endCxn id="210" idx="6"/>
          </p:cNvCxnSpPr>
          <p:nvPr/>
        </p:nvCxnSpPr>
        <p:spPr bwMode="auto">
          <a:xfrm flipH="1">
            <a:off x="7101691" y="5440112"/>
            <a:ext cx="1322733" cy="902797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直接连接符 160"/>
          <p:cNvCxnSpPr>
            <a:stCxn id="177" idx="4"/>
            <a:endCxn id="205" idx="1"/>
          </p:cNvCxnSpPr>
          <p:nvPr/>
        </p:nvCxnSpPr>
        <p:spPr bwMode="auto">
          <a:xfrm>
            <a:off x="6228188" y="5440112"/>
            <a:ext cx="1979715" cy="882456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直接连接符 161"/>
          <p:cNvCxnSpPr>
            <a:stCxn id="183" idx="5"/>
            <a:endCxn id="203" idx="1"/>
          </p:cNvCxnSpPr>
          <p:nvPr/>
        </p:nvCxnSpPr>
        <p:spPr bwMode="auto">
          <a:xfrm>
            <a:off x="7918465" y="5432809"/>
            <a:ext cx="615249" cy="383007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直接连接符 163"/>
          <p:cNvCxnSpPr>
            <a:stCxn id="187" idx="4"/>
            <a:endCxn id="204" idx="7"/>
          </p:cNvCxnSpPr>
          <p:nvPr/>
        </p:nvCxnSpPr>
        <p:spPr bwMode="auto">
          <a:xfrm>
            <a:off x="8892476" y="5443353"/>
            <a:ext cx="18893" cy="874100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5" name="组合 164"/>
          <p:cNvGrpSpPr/>
          <p:nvPr/>
        </p:nvGrpSpPr>
        <p:grpSpPr>
          <a:xfrm>
            <a:off x="6067341" y="5013176"/>
            <a:ext cx="2985982" cy="430177"/>
            <a:chOff x="5825577" y="5087047"/>
            <a:chExt cx="2985982" cy="430177"/>
          </a:xfrm>
        </p:grpSpPr>
        <p:grpSp>
          <p:nvGrpSpPr>
            <p:cNvPr id="166" name="组合 165"/>
            <p:cNvGrpSpPr/>
            <p:nvPr/>
          </p:nvGrpSpPr>
          <p:grpSpPr>
            <a:xfrm>
              <a:off x="5950424" y="5254067"/>
              <a:ext cx="2738055" cy="263157"/>
              <a:chOff x="5950424" y="5254067"/>
              <a:chExt cx="2738055" cy="263157"/>
            </a:xfrm>
          </p:grpSpPr>
          <p:cxnSp>
            <p:nvCxnSpPr>
              <p:cNvPr id="176" name="直接连接符 175"/>
              <p:cNvCxnSpPr/>
              <p:nvPr/>
            </p:nvCxnSpPr>
            <p:spPr bwMode="auto">
              <a:xfrm>
                <a:off x="6113787" y="5254067"/>
                <a:ext cx="161864" cy="4515"/>
              </a:xfrm>
              <a:prstGeom prst="line">
                <a:avLst/>
              </a:prstGeom>
              <a:ln w="25400">
                <a:noFill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7" name="椭圆 176"/>
              <p:cNvSpPr/>
              <p:nvPr/>
            </p:nvSpPr>
            <p:spPr bwMode="auto">
              <a:xfrm>
                <a:off x="5950424" y="5441983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/>
              </a:p>
            </p:txBody>
          </p:sp>
          <p:sp>
            <p:nvSpPr>
              <p:cNvPr id="178" name="椭圆 177"/>
              <p:cNvSpPr/>
              <p:nvPr/>
            </p:nvSpPr>
            <p:spPr bwMode="auto">
              <a:xfrm>
                <a:off x="6418468" y="5445224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/>
              </a:p>
            </p:txBody>
          </p:sp>
          <p:cxnSp>
            <p:nvCxnSpPr>
              <p:cNvPr id="180" name="直接连接符 179"/>
              <p:cNvCxnSpPr/>
              <p:nvPr/>
            </p:nvCxnSpPr>
            <p:spPr bwMode="auto">
              <a:xfrm>
                <a:off x="6020665" y="5477983"/>
                <a:ext cx="469811" cy="0"/>
              </a:xfrm>
              <a:prstGeom prst="line">
                <a:avLst/>
              </a:prstGeom>
              <a:ln w="254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直接连接符 180"/>
              <p:cNvCxnSpPr/>
              <p:nvPr/>
            </p:nvCxnSpPr>
            <p:spPr bwMode="auto">
              <a:xfrm>
                <a:off x="7309365" y="5254067"/>
                <a:ext cx="161864" cy="4515"/>
              </a:xfrm>
              <a:prstGeom prst="line">
                <a:avLst/>
              </a:prstGeom>
              <a:ln w="25400">
                <a:noFill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2" name="椭圆 181"/>
              <p:cNvSpPr/>
              <p:nvPr/>
            </p:nvSpPr>
            <p:spPr bwMode="auto">
              <a:xfrm>
                <a:off x="7093365" y="5441983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/>
              </a:p>
            </p:txBody>
          </p:sp>
          <p:sp>
            <p:nvSpPr>
              <p:cNvPr id="183" name="椭圆 182"/>
              <p:cNvSpPr/>
              <p:nvPr/>
            </p:nvSpPr>
            <p:spPr bwMode="auto">
              <a:xfrm>
                <a:off x="7615245" y="5445224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/>
              </a:p>
            </p:txBody>
          </p:sp>
          <p:cxnSp>
            <p:nvCxnSpPr>
              <p:cNvPr id="184" name="直接连接符 183"/>
              <p:cNvCxnSpPr/>
              <p:nvPr/>
            </p:nvCxnSpPr>
            <p:spPr bwMode="auto">
              <a:xfrm>
                <a:off x="7165365" y="5477983"/>
                <a:ext cx="469811" cy="0"/>
              </a:xfrm>
              <a:prstGeom prst="line">
                <a:avLst/>
              </a:prstGeom>
              <a:ln w="254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直接连接符 184"/>
              <p:cNvCxnSpPr/>
              <p:nvPr/>
            </p:nvCxnSpPr>
            <p:spPr bwMode="auto">
              <a:xfrm>
                <a:off x="8473980" y="5254067"/>
                <a:ext cx="161864" cy="4515"/>
              </a:xfrm>
              <a:prstGeom prst="line">
                <a:avLst/>
              </a:prstGeom>
              <a:ln w="25400">
                <a:noFill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6" name="椭圆 185"/>
              <p:cNvSpPr/>
              <p:nvPr/>
            </p:nvSpPr>
            <p:spPr bwMode="auto">
              <a:xfrm>
                <a:off x="8146660" y="5441983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/>
              </a:p>
            </p:txBody>
          </p:sp>
          <p:sp>
            <p:nvSpPr>
              <p:cNvPr id="187" name="椭圆 186"/>
              <p:cNvSpPr/>
              <p:nvPr/>
            </p:nvSpPr>
            <p:spPr bwMode="auto">
              <a:xfrm>
                <a:off x="8614712" y="5445224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/>
              </a:p>
            </p:txBody>
          </p:sp>
          <p:cxnSp>
            <p:nvCxnSpPr>
              <p:cNvPr id="188" name="直接连接符 187"/>
              <p:cNvCxnSpPr/>
              <p:nvPr/>
            </p:nvCxnSpPr>
            <p:spPr bwMode="auto">
              <a:xfrm>
                <a:off x="8218668" y="5477983"/>
                <a:ext cx="469811" cy="0"/>
              </a:xfrm>
              <a:prstGeom prst="line">
                <a:avLst/>
              </a:prstGeom>
              <a:ln w="254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7" name="矩形 166"/>
                <p:cNvSpPr/>
                <p:nvPr/>
              </p:nvSpPr>
              <p:spPr>
                <a:xfrm>
                  <a:off x="6303859" y="5087047"/>
                  <a:ext cx="340863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altLang="zh-CN" sz="2000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000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/>
                                    <a:ea typeface="黑体" panose="02010609060101010101" pitchFamily="49" charset="-122"/>
                                  </a:rPr>
                                  <m:t>𝒙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2000" b="1" i="1" dirty="0">
                                <a:solidFill>
                                  <a:srgbClr val="FF0000"/>
                                </a:solidFill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167" name="矩形 16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03859" y="5087047"/>
                  <a:ext cx="340863" cy="307777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9" name="矩形 168"/>
                <p:cNvSpPr/>
                <p:nvPr/>
              </p:nvSpPr>
              <p:spPr>
                <a:xfrm>
                  <a:off x="5825577" y="5087047"/>
                  <a:ext cx="340863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000" b="1" i="1" dirty="0">
                                <a:solidFill>
                                  <a:srgbClr val="FF0000"/>
                                </a:solidFill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169" name="矩形 16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25577" y="5087047"/>
                  <a:ext cx="340863" cy="307777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0" name="矩形 169"/>
                <p:cNvSpPr/>
                <p:nvPr/>
              </p:nvSpPr>
              <p:spPr>
                <a:xfrm>
                  <a:off x="7498336" y="5087047"/>
                  <a:ext cx="340863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altLang="zh-CN" sz="2000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000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/>
                                    <a:ea typeface="黑体" panose="02010609060101010101" pitchFamily="49" charset="-122"/>
                                  </a:rPr>
                                  <m:t>𝒙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20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170" name="矩形 16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98336" y="5087047"/>
                  <a:ext cx="340863" cy="307777"/>
                </a:xfrm>
                <a:prstGeom prst="rect">
                  <a:avLst/>
                </a:prstGeom>
                <a:blipFill rotWithShape="1">
                  <a:blip r:embed="rId5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2" name="矩形 171"/>
                <p:cNvSpPr/>
                <p:nvPr/>
              </p:nvSpPr>
              <p:spPr>
                <a:xfrm>
                  <a:off x="6948264" y="5087047"/>
                  <a:ext cx="340863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0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172" name="矩形 17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48264" y="5087047"/>
                  <a:ext cx="340863" cy="307777"/>
                </a:xfrm>
                <a:prstGeom prst="rect">
                  <a:avLst/>
                </a:prstGeom>
                <a:blipFill rotWithShape="1">
                  <a:blip r:embed="rId6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3" name="矩形 172"/>
                <p:cNvSpPr/>
                <p:nvPr/>
              </p:nvSpPr>
              <p:spPr>
                <a:xfrm>
                  <a:off x="8470696" y="5087047"/>
                  <a:ext cx="340863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altLang="zh-CN" sz="2000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000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/>
                                    <a:ea typeface="黑体" panose="02010609060101010101" pitchFamily="49" charset="-122"/>
                                  </a:rPr>
                                  <m:t>𝒙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20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173" name="矩形 17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70696" y="5087047"/>
                  <a:ext cx="340863" cy="307777"/>
                </a:xfrm>
                <a:prstGeom prst="rect">
                  <a:avLst/>
                </a:prstGeom>
                <a:blipFill rotWithShape="1">
                  <a:blip r:embed="rId7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5" name="矩形 174"/>
                <p:cNvSpPr/>
                <p:nvPr/>
              </p:nvSpPr>
              <p:spPr>
                <a:xfrm>
                  <a:off x="8038648" y="5087047"/>
                  <a:ext cx="340863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0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175" name="矩形 17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38648" y="5087047"/>
                  <a:ext cx="340863" cy="307777"/>
                </a:xfrm>
                <a:prstGeom prst="rect">
                  <a:avLst/>
                </a:prstGeom>
                <a:blipFill rotWithShape="1">
                  <a:blip r:embed="rId8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9" name="组合 188"/>
          <p:cNvGrpSpPr/>
          <p:nvPr/>
        </p:nvGrpSpPr>
        <p:grpSpPr>
          <a:xfrm>
            <a:off x="6283365" y="5805272"/>
            <a:ext cx="2769958" cy="866536"/>
            <a:chOff x="6103345" y="5805272"/>
            <a:chExt cx="2769958" cy="866536"/>
          </a:xfrm>
        </p:grpSpPr>
        <p:cxnSp>
          <p:nvCxnSpPr>
            <p:cNvPr id="190" name="直接连接符 189"/>
            <p:cNvCxnSpPr/>
            <p:nvPr/>
          </p:nvCxnSpPr>
          <p:spPr bwMode="auto">
            <a:xfrm flipH="1">
              <a:off x="6247033" y="6106160"/>
              <a:ext cx="160753" cy="257871"/>
            </a:xfrm>
            <a:prstGeom prst="line">
              <a:avLst/>
            </a:prstGeom>
            <a:ln w="254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直接连接符 190"/>
            <p:cNvCxnSpPr/>
            <p:nvPr/>
          </p:nvCxnSpPr>
          <p:spPr bwMode="auto">
            <a:xfrm>
              <a:off x="6427033" y="6364031"/>
              <a:ext cx="288032" cy="0"/>
            </a:xfrm>
            <a:prstGeom prst="line">
              <a:avLst/>
            </a:prstGeom>
            <a:ln w="254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92" name="组合 191"/>
            <p:cNvGrpSpPr/>
            <p:nvPr/>
          </p:nvGrpSpPr>
          <p:grpSpPr>
            <a:xfrm>
              <a:off x="6197117" y="5805272"/>
              <a:ext cx="724554" cy="578752"/>
              <a:chOff x="5818248" y="5858613"/>
              <a:chExt cx="724554" cy="578752"/>
            </a:xfrm>
          </p:grpSpPr>
          <p:sp>
            <p:nvSpPr>
              <p:cNvPr id="209" name="椭圆 208"/>
              <p:cNvSpPr/>
              <p:nvPr/>
            </p:nvSpPr>
            <p:spPr bwMode="auto">
              <a:xfrm>
                <a:off x="6144059" y="5858613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0" name="椭圆 209"/>
              <p:cNvSpPr/>
              <p:nvPr/>
            </p:nvSpPr>
            <p:spPr bwMode="auto">
              <a:xfrm>
                <a:off x="6470802" y="6360250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1" name="椭圆 210"/>
              <p:cNvSpPr/>
              <p:nvPr/>
            </p:nvSpPr>
            <p:spPr bwMode="auto">
              <a:xfrm>
                <a:off x="5818248" y="6365365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12" name="直接连接符 211"/>
              <p:cNvCxnSpPr>
                <a:stCxn id="209" idx="3"/>
                <a:endCxn id="211" idx="7"/>
              </p:cNvCxnSpPr>
              <p:nvPr/>
            </p:nvCxnSpPr>
            <p:spPr bwMode="auto">
              <a:xfrm flipH="1">
                <a:off x="5879704" y="5920069"/>
                <a:ext cx="274899" cy="455840"/>
              </a:xfrm>
              <a:prstGeom prst="line">
                <a:avLst/>
              </a:prstGeom>
              <a:ln w="254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3" name="直接连接符 212"/>
              <p:cNvCxnSpPr>
                <a:stCxn id="211" idx="5"/>
                <a:endCxn id="210" idx="3"/>
              </p:cNvCxnSpPr>
              <p:nvPr/>
            </p:nvCxnSpPr>
            <p:spPr bwMode="auto">
              <a:xfrm flipV="1">
                <a:off x="5879704" y="6421706"/>
                <a:ext cx="601642" cy="5115"/>
              </a:xfrm>
              <a:prstGeom prst="line">
                <a:avLst/>
              </a:prstGeom>
              <a:ln w="254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4" name="直接连接符 213"/>
              <p:cNvCxnSpPr>
                <a:stCxn id="209" idx="5"/>
                <a:endCxn id="210" idx="5"/>
              </p:cNvCxnSpPr>
              <p:nvPr/>
            </p:nvCxnSpPr>
            <p:spPr bwMode="auto">
              <a:xfrm>
                <a:off x="6205515" y="5920069"/>
                <a:ext cx="326743" cy="501637"/>
              </a:xfrm>
              <a:prstGeom prst="line">
                <a:avLst/>
              </a:prstGeom>
              <a:ln w="254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93" name="直接连接符 192"/>
            <p:cNvCxnSpPr/>
            <p:nvPr/>
          </p:nvCxnSpPr>
          <p:spPr bwMode="auto">
            <a:xfrm flipH="1">
              <a:off x="8052534" y="6178208"/>
              <a:ext cx="191496" cy="185823"/>
            </a:xfrm>
            <a:prstGeom prst="line">
              <a:avLst/>
            </a:prstGeom>
            <a:ln w="254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直接连接符 193"/>
            <p:cNvCxnSpPr/>
            <p:nvPr/>
          </p:nvCxnSpPr>
          <p:spPr bwMode="auto">
            <a:xfrm>
              <a:off x="8498588" y="6178208"/>
              <a:ext cx="232761" cy="185823"/>
            </a:xfrm>
            <a:prstGeom prst="line">
              <a:avLst/>
            </a:prstGeom>
            <a:ln w="254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直接连接符 194"/>
            <p:cNvCxnSpPr/>
            <p:nvPr/>
          </p:nvCxnSpPr>
          <p:spPr bwMode="auto">
            <a:xfrm>
              <a:off x="8232534" y="6364031"/>
              <a:ext cx="318815" cy="0"/>
            </a:xfrm>
            <a:prstGeom prst="line">
              <a:avLst/>
            </a:prstGeom>
            <a:ln w="254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96" name="组合 195"/>
            <p:cNvGrpSpPr/>
            <p:nvPr/>
          </p:nvGrpSpPr>
          <p:grpSpPr>
            <a:xfrm>
              <a:off x="8017339" y="5805272"/>
              <a:ext cx="724554" cy="578752"/>
              <a:chOff x="5818248" y="5858613"/>
              <a:chExt cx="724554" cy="578752"/>
            </a:xfrm>
          </p:grpSpPr>
          <p:sp>
            <p:nvSpPr>
              <p:cNvPr id="203" name="椭圆 202"/>
              <p:cNvSpPr/>
              <p:nvPr/>
            </p:nvSpPr>
            <p:spPr bwMode="auto">
              <a:xfrm>
                <a:off x="6144059" y="5858613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4" name="椭圆 203"/>
              <p:cNvSpPr/>
              <p:nvPr/>
            </p:nvSpPr>
            <p:spPr bwMode="auto">
              <a:xfrm>
                <a:off x="6470802" y="6360250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5" name="椭圆 204"/>
              <p:cNvSpPr/>
              <p:nvPr/>
            </p:nvSpPr>
            <p:spPr bwMode="auto">
              <a:xfrm>
                <a:off x="5818248" y="6365365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06" name="直接连接符 205"/>
              <p:cNvCxnSpPr>
                <a:stCxn id="203" idx="3"/>
                <a:endCxn id="205" idx="7"/>
              </p:cNvCxnSpPr>
              <p:nvPr/>
            </p:nvCxnSpPr>
            <p:spPr bwMode="auto">
              <a:xfrm flipH="1">
                <a:off x="5879704" y="5920069"/>
                <a:ext cx="274899" cy="455840"/>
              </a:xfrm>
              <a:prstGeom prst="line">
                <a:avLst/>
              </a:prstGeom>
              <a:ln w="254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7" name="直接连接符 206"/>
              <p:cNvCxnSpPr>
                <a:stCxn id="205" idx="5"/>
                <a:endCxn id="204" idx="3"/>
              </p:cNvCxnSpPr>
              <p:nvPr/>
            </p:nvCxnSpPr>
            <p:spPr bwMode="auto">
              <a:xfrm flipV="1">
                <a:off x="5879704" y="6421706"/>
                <a:ext cx="601642" cy="5115"/>
              </a:xfrm>
              <a:prstGeom prst="line">
                <a:avLst/>
              </a:prstGeom>
              <a:ln w="254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8" name="直接连接符 207"/>
              <p:cNvCxnSpPr>
                <a:stCxn id="203" idx="5"/>
                <a:endCxn id="204" idx="5"/>
              </p:cNvCxnSpPr>
              <p:nvPr/>
            </p:nvCxnSpPr>
            <p:spPr bwMode="auto">
              <a:xfrm>
                <a:off x="6205515" y="5920069"/>
                <a:ext cx="326743" cy="501637"/>
              </a:xfrm>
              <a:prstGeom prst="line">
                <a:avLst/>
              </a:prstGeom>
              <a:ln w="254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7" name="矩形 196"/>
                <p:cNvSpPr/>
                <p:nvPr/>
              </p:nvSpPr>
              <p:spPr>
                <a:xfrm>
                  <a:off x="8532440" y="6364031"/>
                  <a:ext cx="340863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altLang="zh-CN" sz="2000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000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/>
                                    <a:ea typeface="黑体" panose="02010609060101010101" pitchFamily="49" charset="-122"/>
                                  </a:rPr>
                                  <m:t>𝒙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20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197" name="矩形 19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32440" y="6364031"/>
                  <a:ext cx="340863" cy="307777"/>
                </a:xfrm>
                <a:prstGeom prst="rect">
                  <a:avLst/>
                </a:prstGeom>
                <a:blipFill rotWithShape="1">
                  <a:blip r:embed="rId7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8" name="矩形 197"/>
                <p:cNvSpPr/>
                <p:nvPr/>
              </p:nvSpPr>
              <p:spPr>
                <a:xfrm>
                  <a:off x="8244408" y="5877272"/>
                  <a:ext cx="340863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altLang="zh-CN" sz="2000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000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/>
                                    <a:ea typeface="黑体" panose="02010609060101010101" pitchFamily="49" charset="-122"/>
                                  </a:rPr>
                                  <m:t>𝒙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20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198" name="矩形 19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44408" y="5877272"/>
                  <a:ext cx="340863" cy="307777"/>
                </a:xfrm>
                <a:prstGeom prst="rect">
                  <a:avLst/>
                </a:prstGeom>
                <a:blipFill rotWithShape="1">
                  <a:blip r:embed="rId5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9" name="矩形 198"/>
                <p:cNvSpPr/>
                <p:nvPr/>
              </p:nvSpPr>
              <p:spPr>
                <a:xfrm>
                  <a:off x="7939549" y="6364031"/>
                  <a:ext cx="340863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000" b="1" i="1" dirty="0">
                                <a:solidFill>
                                  <a:srgbClr val="FF0000"/>
                                </a:solidFill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199" name="矩形 19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39549" y="6364031"/>
                  <a:ext cx="340863" cy="307777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0" name="矩形 199"/>
                <p:cNvSpPr/>
                <p:nvPr/>
              </p:nvSpPr>
              <p:spPr>
                <a:xfrm>
                  <a:off x="6103345" y="6364031"/>
                  <a:ext cx="340863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altLang="zh-CN" sz="2000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000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/>
                                    <a:ea typeface="黑体" panose="02010609060101010101" pitchFamily="49" charset="-122"/>
                                  </a:rPr>
                                  <m:t>𝒙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2000" b="1" i="1" dirty="0">
                                <a:solidFill>
                                  <a:srgbClr val="FF0000"/>
                                </a:solidFill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200" name="矩形 19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03345" y="6364031"/>
                  <a:ext cx="340863" cy="307777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1" name="矩形 200"/>
                <p:cNvSpPr/>
                <p:nvPr/>
              </p:nvSpPr>
              <p:spPr>
                <a:xfrm>
                  <a:off x="6407786" y="5877272"/>
                  <a:ext cx="340863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0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201" name="矩形 20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07786" y="5877272"/>
                  <a:ext cx="340863" cy="307777"/>
                </a:xfrm>
                <a:prstGeom prst="rect">
                  <a:avLst/>
                </a:prstGeom>
                <a:blipFill rotWithShape="1">
                  <a:blip r:embed="rId6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2" name="矩形 201"/>
                <p:cNvSpPr/>
                <p:nvPr/>
              </p:nvSpPr>
              <p:spPr>
                <a:xfrm>
                  <a:off x="6696236" y="6364031"/>
                  <a:ext cx="340863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0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202" name="矩形 20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96236" y="6364031"/>
                  <a:ext cx="340863" cy="307777"/>
                </a:xfrm>
                <a:prstGeom prst="rect">
                  <a:avLst/>
                </a:prstGeom>
                <a:blipFill rotWithShape="1">
                  <a:blip r:embed="rId8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15" name="矩形 214"/>
          <p:cNvSpPr/>
          <p:nvPr/>
        </p:nvSpPr>
        <p:spPr>
          <a:xfrm>
            <a:off x="503549" y="5343568"/>
            <a:ext cx="464451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 smtClean="0"/>
              <a:t>x</a:t>
            </a:r>
            <a:r>
              <a:rPr lang="en-US" altLang="zh-CN" sz="2400" b="1" baseline="-25000" dirty="0" smtClean="0"/>
              <a:t>1</a:t>
            </a:r>
            <a:r>
              <a:rPr lang="en-US" altLang="zh-CN" sz="2400" b="1" dirty="0" smtClean="0"/>
              <a:t>=0</a:t>
            </a:r>
            <a:r>
              <a:rPr lang="zh-CN" altLang="en-US" sz="2400" b="1" dirty="0" smtClean="0"/>
              <a:t>，</a:t>
            </a:r>
            <a:r>
              <a:rPr lang="en-US" altLang="zh-CN" sz="2400" b="1" dirty="0" smtClean="0"/>
              <a:t>x</a:t>
            </a:r>
            <a:r>
              <a:rPr lang="en-US" altLang="zh-CN" sz="2400" b="1" baseline="-25000" dirty="0" smtClean="0"/>
              <a:t>2</a:t>
            </a:r>
            <a:r>
              <a:rPr lang="en-US" altLang="zh-CN" sz="2400" b="1" dirty="0" smtClean="0"/>
              <a:t>=0</a:t>
            </a:r>
            <a:r>
              <a:rPr lang="zh-CN" altLang="zh-CN" sz="2400" b="1" dirty="0" smtClean="0"/>
              <a:t>，</a:t>
            </a:r>
            <a:r>
              <a:rPr lang="en-US" altLang="zh-CN" sz="2400" b="1" dirty="0" smtClean="0"/>
              <a:t>x</a:t>
            </a:r>
            <a:r>
              <a:rPr lang="en-US" altLang="zh-CN" sz="2400" b="1" baseline="-25000" dirty="0" smtClean="0"/>
              <a:t>3</a:t>
            </a:r>
            <a:r>
              <a:rPr lang="en-US" altLang="zh-CN" sz="2400" b="1" dirty="0" smtClean="0"/>
              <a:t>=1</a:t>
            </a:r>
            <a:r>
              <a:rPr lang="zh-CN" altLang="zh-CN" sz="2400" b="1" dirty="0" smtClean="0"/>
              <a:t>，</a:t>
            </a:r>
            <a:r>
              <a:rPr lang="zh-CN" altLang="zh-CN" sz="2400" b="1" dirty="0"/>
              <a:t>则</a:t>
            </a:r>
            <a:r>
              <a:rPr lang="en-US" altLang="zh-CN" sz="2400" b="1" dirty="0"/>
              <a:t>c</a:t>
            </a:r>
            <a:r>
              <a:rPr lang="en-US" altLang="zh-CN" sz="2400" b="1" baseline="-25000" dirty="0"/>
              <a:t>1</a:t>
            </a:r>
            <a:r>
              <a:rPr lang="zh-CN" altLang="zh-CN" sz="2400" b="1" dirty="0"/>
              <a:t>∧</a:t>
            </a:r>
            <a:r>
              <a:rPr lang="en-US" altLang="zh-CN" sz="2400" b="1" dirty="0" smtClean="0"/>
              <a:t>c</a:t>
            </a:r>
            <a:r>
              <a:rPr lang="en-US" altLang="zh-CN" sz="2400" b="1" baseline="-25000" dirty="0" smtClean="0"/>
              <a:t>2</a:t>
            </a:r>
            <a:r>
              <a:rPr lang="en-US" altLang="zh-CN" sz="2400" b="1" dirty="0" smtClean="0"/>
              <a:t>=1</a:t>
            </a:r>
            <a:endParaRPr lang="zh-CN" altLang="en-US" sz="2400" dirty="0"/>
          </a:p>
        </p:txBody>
      </p:sp>
      <p:sp>
        <p:nvSpPr>
          <p:cNvPr id="216" name="椭圆 215"/>
          <p:cNvSpPr/>
          <p:nvPr/>
        </p:nvSpPr>
        <p:spPr bwMode="auto">
          <a:xfrm>
            <a:off x="6624244" y="5320953"/>
            <a:ext cx="144000" cy="144000"/>
          </a:xfrm>
          <a:prstGeom prst="ellipse">
            <a:avLst/>
          </a:prstGeom>
          <a:solidFill>
            <a:srgbClr val="FF0000"/>
          </a:solidFill>
          <a:ln w="381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17" name="椭圆 216"/>
          <p:cNvSpPr/>
          <p:nvPr/>
        </p:nvSpPr>
        <p:spPr bwMode="auto">
          <a:xfrm>
            <a:off x="7838531" y="5332112"/>
            <a:ext cx="144000" cy="144000"/>
          </a:xfrm>
          <a:prstGeom prst="ellipse">
            <a:avLst/>
          </a:prstGeom>
          <a:solidFill>
            <a:srgbClr val="FF0000"/>
          </a:solidFill>
          <a:ln w="381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18" name="椭圆 217"/>
          <p:cNvSpPr/>
          <p:nvPr/>
        </p:nvSpPr>
        <p:spPr bwMode="auto">
          <a:xfrm>
            <a:off x="8324264" y="5330972"/>
            <a:ext cx="144000" cy="144000"/>
          </a:xfrm>
          <a:prstGeom prst="ellipse">
            <a:avLst/>
          </a:prstGeom>
          <a:solidFill>
            <a:srgbClr val="FF0000"/>
          </a:solidFill>
          <a:ln w="381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220" name="直接连接符 219"/>
          <p:cNvCxnSpPr/>
          <p:nvPr/>
        </p:nvCxnSpPr>
        <p:spPr bwMode="auto">
          <a:xfrm flipH="1">
            <a:off x="6411863" y="5443353"/>
            <a:ext cx="283095" cy="868671"/>
          </a:xfrm>
          <a:prstGeom prst="line">
            <a:avLst/>
          </a:prstGeom>
          <a:ln w="635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直接连接符 220"/>
          <p:cNvCxnSpPr/>
          <p:nvPr/>
        </p:nvCxnSpPr>
        <p:spPr bwMode="auto">
          <a:xfrm flipH="1">
            <a:off x="7105948" y="5392953"/>
            <a:ext cx="1354484" cy="925924"/>
          </a:xfrm>
          <a:prstGeom prst="line">
            <a:avLst/>
          </a:prstGeom>
          <a:ln w="635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直接连接符 221"/>
          <p:cNvCxnSpPr/>
          <p:nvPr/>
        </p:nvCxnSpPr>
        <p:spPr bwMode="auto">
          <a:xfrm>
            <a:off x="7917191" y="5432809"/>
            <a:ext cx="615249" cy="383007"/>
          </a:xfrm>
          <a:prstGeom prst="line">
            <a:avLst/>
          </a:prstGeom>
          <a:ln w="635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直接连接符 222"/>
          <p:cNvCxnSpPr/>
          <p:nvPr/>
        </p:nvCxnSpPr>
        <p:spPr bwMode="auto">
          <a:xfrm>
            <a:off x="6262421" y="5385935"/>
            <a:ext cx="469811" cy="0"/>
          </a:xfrm>
          <a:prstGeom prst="line">
            <a:avLst/>
          </a:prstGeom>
          <a:ln w="635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直接连接符 224"/>
          <p:cNvCxnSpPr/>
          <p:nvPr/>
        </p:nvCxnSpPr>
        <p:spPr bwMode="auto">
          <a:xfrm>
            <a:off x="7423198" y="5395065"/>
            <a:ext cx="469811" cy="0"/>
          </a:xfrm>
          <a:prstGeom prst="line">
            <a:avLst/>
          </a:prstGeom>
          <a:ln w="635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直接连接符 225"/>
          <p:cNvCxnSpPr/>
          <p:nvPr/>
        </p:nvCxnSpPr>
        <p:spPr bwMode="auto">
          <a:xfrm>
            <a:off x="8452102" y="5392953"/>
            <a:ext cx="469811" cy="0"/>
          </a:xfrm>
          <a:prstGeom prst="line">
            <a:avLst/>
          </a:prstGeom>
          <a:ln w="635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直接连接符 230"/>
          <p:cNvCxnSpPr/>
          <p:nvPr/>
        </p:nvCxnSpPr>
        <p:spPr bwMode="auto">
          <a:xfrm flipH="1">
            <a:off x="6450894" y="5851069"/>
            <a:ext cx="274899" cy="455840"/>
          </a:xfrm>
          <a:prstGeom prst="line">
            <a:avLst/>
          </a:prstGeom>
          <a:ln w="63500">
            <a:solidFill>
              <a:srgbClr val="0066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直接连接符 231"/>
          <p:cNvCxnSpPr/>
          <p:nvPr/>
        </p:nvCxnSpPr>
        <p:spPr bwMode="auto">
          <a:xfrm flipV="1">
            <a:off x="6450894" y="6352706"/>
            <a:ext cx="601642" cy="5115"/>
          </a:xfrm>
          <a:prstGeom prst="line">
            <a:avLst/>
          </a:prstGeom>
          <a:ln w="63500">
            <a:solidFill>
              <a:srgbClr val="0000A8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直接连接符 232"/>
          <p:cNvCxnSpPr/>
          <p:nvPr/>
        </p:nvCxnSpPr>
        <p:spPr bwMode="auto">
          <a:xfrm>
            <a:off x="6739414" y="5851069"/>
            <a:ext cx="326743" cy="501637"/>
          </a:xfrm>
          <a:prstGeom prst="line">
            <a:avLst/>
          </a:prstGeom>
          <a:ln w="63500">
            <a:solidFill>
              <a:srgbClr val="0066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8" name="椭圆 227"/>
          <p:cNvSpPr/>
          <p:nvPr/>
        </p:nvSpPr>
        <p:spPr bwMode="auto">
          <a:xfrm>
            <a:off x="6983038" y="6276024"/>
            <a:ext cx="144000" cy="144000"/>
          </a:xfrm>
          <a:prstGeom prst="ellipse">
            <a:avLst/>
          </a:prstGeom>
          <a:solidFill>
            <a:srgbClr val="0000A8"/>
          </a:solidFill>
          <a:ln w="38100">
            <a:solidFill>
              <a:srgbClr val="0000A8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234" name="直接连接符 233"/>
          <p:cNvCxnSpPr/>
          <p:nvPr/>
        </p:nvCxnSpPr>
        <p:spPr bwMode="auto">
          <a:xfrm flipH="1">
            <a:off x="8264573" y="5841272"/>
            <a:ext cx="274899" cy="455840"/>
          </a:xfrm>
          <a:prstGeom prst="line">
            <a:avLst/>
          </a:prstGeom>
          <a:ln w="63500">
            <a:solidFill>
              <a:srgbClr val="0066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直接连接符 234"/>
          <p:cNvCxnSpPr/>
          <p:nvPr/>
        </p:nvCxnSpPr>
        <p:spPr bwMode="auto">
          <a:xfrm flipV="1">
            <a:off x="8264573" y="6342909"/>
            <a:ext cx="601642" cy="5115"/>
          </a:xfrm>
          <a:prstGeom prst="line">
            <a:avLst/>
          </a:prstGeom>
          <a:ln w="63500">
            <a:solidFill>
              <a:srgbClr val="0066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直接连接符 235"/>
          <p:cNvCxnSpPr/>
          <p:nvPr/>
        </p:nvCxnSpPr>
        <p:spPr bwMode="auto">
          <a:xfrm>
            <a:off x="8553093" y="5841272"/>
            <a:ext cx="326743" cy="501637"/>
          </a:xfrm>
          <a:prstGeom prst="line">
            <a:avLst/>
          </a:prstGeom>
          <a:ln w="63500">
            <a:solidFill>
              <a:srgbClr val="0000A8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直接连接符 238"/>
          <p:cNvCxnSpPr/>
          <p:nvPr/>
        </p:nvCxnSpPr>
        <p:spPr bwMode="auto">
          <a:xfrm flipH="1">
            <a:off x="6774948" y="5417139"/>
            <a:ext cx="581269" cy="386248"/>
          </a:xfrm>
          <a:prstGeom prst="line">
            <a:avLst/>
          </a:prstGeom>
          <a:ln w="63500">
            <a:solidFill>
              <a:srgbClr val="0066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" name="椭圆 226"/>
          <p:cNvSpPr/>
          <p:nvPr/>
        </p:nvSpPr>
        <p:spPr bwMode="auto">
          <a:xfrm>
            <a:off x="6660232" y="5788618"/>
            <a:ext cx="144000" cy="144000"/>
          </a:xfrm>
          <a:prstGeom prst="ellipse">
            <a:avLst/>
          </a:prstGeom>
          <a:solidFill>
            <a:srgbClr val="006600"/>
          </a:solidFill>
          <a:ln w="38100">
            <a:solidFill>
              <a:srgbClr val="0066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240" name="直接连接符 239"/>
          <p:cNvCxnSpPr/>
          <p:nvPr/>
        </p:nvCxnSpPr>
        <p:spPr bwMode="auto">
          <a:xfrm>
            <a:off x="6268850" y="5438972"/>
            <a:ext cx="1979715" cy="882456"/>
          </a:xfrm>
          <a:prstGeom prst="line">
            <a:avLst/>
          </a:prstGeom>
          <a:ln w="63500">
            <a:solidFill>
              <a:srgbClr val="0066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7" name="椭圆 236"/>
          <p:cNvSpPr/>
          <p:nvPr/>
        </p:nvSpPr>
        <p:spPr bwMode="auto">
          <a:xfrm>
            <a:off x="8192573" y="6254332"/>
            <a:ext cx="144000" cy="144000"/>
          </a:xfrm>
          <a:prstGeom prst="ellipse">
            <a:avLst/>
          </a:prstGeom>
          <a:solidFill>
            <a:srgbClr val="006600"/>
          </a:solidFill>
          <a:ln w="38100">
            <a:solidFill>
              <a:srgbClr val="0066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241" name="直接连接符 240"/>
          <p:cNvCxnSpPr/>
          <p:nvPr/>
        </p:nvCxnSpPr>
        <p:spPr bwMode="auto">
          <a:xfrm flipH="1">
            <a:off x="8901625" y="5443353"/>
            <a:ext cx="3963" cy="898063"/>
          </a:xfrm>
          <a:prstGeom prst="line">
            <a:avLst/>
          </a:prstGeom>
          <a:ln w="63500">
            <a:solidFill>
              <a:srgbClr val="0000A8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8" name="椭圆 237"/>
          <p:cNvSpPr/>
          <p:nvPr/>
        </p:nvSpPr>
        <p:spPr bwMode="auto">
          <a:xfrm>
            <a:off x="8796717" y="6266227"/>
            <a:ext cx="144000" cy="144000"/>
          </a:xfrm>
          <a:prstGeom prst="ellipse">
            <a:avLst/>
          </a:prstGeom>
          <a:solidFill>
            <a:srgbClr val="0000A8"/>
          </a:solidFill>
          <a:ln w="38100">
            <a:solidFill>
              <a:srgbClr val="0000A8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8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" grpId="0"/>
      <p:bldP spid="216" grpId="0" animBg="1"/>
      <p:bldP spid="217" grpId="0" animBg="1"/>
      <p:bldP spid="218" grpId="0" animBg="1"/>
      <p:bldP spid="228" grpId="0" animBg="1"/>
      <p:bldP spid="227" grpId="0" animBg="1"/>
      <p:bldP spid="237" grpId="0" animBg="1"/>
      <p:bldP spid="23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顶点覆盖</a:t>
            </a:r>
            <a:r>
              <a:rPr lang="zh-CN" altLang="en-US" dirty="0" smtClean="0"/>
              <a:t>问题是</a:t>
            </a:r>
            <a:r>
              <a:rPr lang="en-US" altLang="zh-CN" dirty="0" smtClean="0"/>
              <a:t>NP</a:t>
            </a:r>
            <a:r>
              <a:rPr lang="zh-CN" altLang="en-US" dirty="0" smtClean="0"/>
              <a:t>完全问题</a:t>
            </a:r>
            <a:endParaRPr lang="zh-CN" altLang="en-US" dirty="0" smtClean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195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484313"/>
                <a:ext cx="8229600" cy="5373687"/>
              </a:xfrm>
            </p:spPr>
            <p:txBody>
              <a:bodyPr/>
              <a:lstStyle/>
              <a:p>
                <a:pPr lvl="1"/>
                <a:r>
                  <a:rPr lang="zh-CN" altLang="en-US" sz="2000" dirty="0" smtClean="0">
                    <a:solidFill>
                      <a:srgbClr val="FF0000"/>
                    </a:solidFill>
                    <a:latin typeface="Arial" panose="02080604020202020204" pitchFamily="34" charset="0"/>
                    <a:ea typeface="黑体" panose="02010609060101010101" pitchFamily="49" charset="-122"/>
                  </a:rPr>
                  <a:t>充分性证明：</a:t>
                </a:r>
                <a:r>
                  <a:rPr lang="zh-CN" altLang="en-US" sz="20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若</a:t>
                </a:r>
                <a:r>
                  <a:rPr lang="en-US" altLang="zh-CN" sz="2000" dirty="0"/>
                  <a:t>G</a:t>
                </a:r>
                <a:r>
                  <a:rPr lang="zh-CN" altLang="en-US" sz="2000" dirty="0"/>
                  <a:t>中有大小为</a:t>
                </a:r>
                <a:r>
                  <a:rPr lang="en-US" altLang="zh-CN" sz="20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k=n+2m</a:t>
                </a:r>
                <a:r>
                  <a:rPr lang="zh-CN" altLang="en-US" sz="20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的覆盖集合</a:t>
                </a:r>
                <a:r>
                  <a:rPr lang="zh-CN" altLang="en-US" sz="2000" dirty="0" smtClean="0">
                    <a:solidFill>
                      <a:srgbClr val="0000A8"/>
                    </a:solidFill>
                    <a:latin typeface="Arial" panose="02080604020202020204" pitchFamily="34" charset="0"/>
                    <a:ea typeface="黑体" panose="02010609060101010101" pitchFamily="49" charset="-122"/>
                  </a:rPr>
                  <a:t>。</a:t>
                </a:r>
                <a:endParaRPr lang="en-US" altLang="zh-CN" sz="2000" dirty="0" smtClean="0">
                  <a:solidFill>
                    <a:srgbClr val="0000A8"/>
                  </a:solidFill>
                  <a:latin typeface="Arial" panose="02080604020202020204" pitchFamily="34" charset="0"/>
                  <a:ea typeface="黑体" panose="02010609060101010101" pitchFamily="49" charset="-122"/>
                </a:endParaRPr>
              </a:p>
              <a:p>
                <a:pPr lvl="1"/>
                <a:r>
                  <a:rPr lang="zh-CN" altLang="en-US" sz="2000" dirty="0" smtClean="0">
                    <a:solidFill>
                      <a:srgbClr val="0000A8"/>
                    </a:solidFill>
                    <a:latin typeface="Arial" panose="02080604020202020204" pitchFamily="34" charset="0"/>
                    <a:ea typeface="黑体" panose="02010609060101010101" pitchFamily="49" charset="-122"/>
                  </a:rPr>
                  <a:t>变元对应的</a:t>
                </a:r>
                <a:r>
                  <a:rPr lang="en-US" altLang="zh-CN" sz="2000" dirty="0" smtClean="0">
                    <a:solidFill>
                      <a:srgbClr val="0000A8"/>
                    </a:solidFill>
                    <a:latin typeface="Arial" panose="02080604020202020204" pitchFamily="34" charset="0"/>
                    <a:ea typeface="黑体" panose="02010609060101010101" pitchFamily="49" charset="-122"/>
                  </a:rPr>
                  <a:t>2n</a:t>
                </a:r>
                <a:r>
                  <a:rPr lang="zh-CN" altLang="en-US" sz="2000" dirty="0" smtClean="0">
                    <a:solidFill>
                      <a:srgbClr val="0000A8"/>
                    </a:solidFill>
                    <a:latin typeface="Arial" panose="02080604020202020204" pitchFamily="34" charset="0"/>
                    <a:ea typeface="黑体" panose="02010609060101010101" pitchFamily="49" charset="-122"/>
                  </a:rPr>
                  <a:t>个顶点有</a:t>
                </a:r>
                <a:r>
                  <a:rPr lang="en-US" altLang="zh-CN" sz="2000" dirty="0" smtClean="0">
                    <a:solidFill>
                      <a:srgbClr val="0000A8"/>
                    </a:solidFill>
                    <a:latin typeface="Arial" panose="02080604020202020204" pitchFamily="34" charset="0"/>
                    <a:ea typeface="黑体" panose="02010609060101010101" pitchFamily="49" charset="-122"/>
                  </a:rPr>
                  <a:t>n</a:t>
                </a:r>
                <a:r>
                  <a:rPr lang="zh-CN" altLang="en-US" sz="2000" dirty="0" smtClean="0">
                    <a:solidFill>
                      <a:srgbClr val="0000A8"/>
                    </a:solidFill>
                    <a:latin typeface="Arial" panose="02080604020202020204" pitchFamily="34" charset="0"/>
                    <a:ea typeface="黑体" panose="02010609060101010101" pitchFamily="49" charset="-122"/>
                  </a:rPr>
                  <a:t>条边</a:t>
                </a:r>
                <a:r>
                  <a:rPr lang="en-US" altLang="zh-CN" sz="2000" dirty="0" smtClean="0">
                    <a:solidFill>
                      <a:srgbClr val="0000A8"/>
                    </a:solidFill>
                    <a:latin typeface="Arial" panose="02080604020202020204" pitchFamily="34" charset="0"/>
                    <a:ea typeface="黑体" panose="02010609060101010101" pitchFamily="49" charset="-122"/>
                  </a:rPr>
                  <a:t>,</a:t>
                </a:r>
                <a:r>
                  <a:rPr lang="zh-CN" altLang="en-US" sz="2000" dirty="0" smtClean="0">
                    <a:solidFill>
                      <a:srgbClr val="0000A8"/>
                    </a:solidFill>
                    <a:latin typeface="Arial" panose="02080604020202020204" pitchFamily="34" charset="0"/>
                    <a:ea typeface="黑体" panose="02010609060101010101" pitchFamily="49" charset="-122"/>
                  </a:rPr>
                  <a:t>要覆盖这</a:t>
                </a:r>
                <a:r>
                  <a:rPr lang="en-US" altLang="zh-CN" sz="2000" dirty="0" smtClean="0">
                    <a:solidFill>
                      <a:srgbClr val="0000A8"/>
                    </a:solidFill>
                    <a:latin typeface="Arial" panose="02080604020202020204" pitchFamily="34" charset="0"/>
                    <a:ea typeface="黑体" panose="02010609060101010101" pitchFamily="49" charset="-122"/>
                  </a:rPr>
                  <a:t>n</a:t>
                </a:r>
                <a:r>
                  <a:rPr lang="zh-CN" altLang="en-US" sz="2000" dirty="0" smtClean="0">
                    <a:solidFill>
                      <a:srgbClr val="0000A8"/>
                    </a:solidFill>
                    <a:latin typeface="Arial" panose="02080604020202020204" pitchFamily="34" charset="0"/>
                    <a:ea typeface="黑体" panose="02010609060101010101" pitchFamily="49" charset="-122"/>
                  </a:rPr>
                  <a:t>条边</a:t>
                </a:r>
                <a:r>
                  <a:rPr lang="en-US" altLang="zh-CN" sz="2000" dirty="0" smtClean="0">
                    <a:solidFill>
                      <a:srgbClr val="0000A8"/>
                    </a:solidFill>
                    <a:latin typeface="Arial" panose="02080604020202020204" pitchFamily="34" charset="0"/>
                    <a:ea typeface="黑体" panose="02010609060101010101" pitchFamily="49" charset="-122"/>
                  </a:rPr>
                  <a:t>,</a:t>
                </a:r>
                <a:r>
                  <a:rPr lang="zh-CN" altLang="en-US" sz="2000" dirty="0" smtClean="0">
                    <a:solidFill>
                      <a:srgbClr val="0000A8"/>
                    </a:solidFill>
                    <a:latin typeface="Arial" panose="02080604020202020204" pitchFamily="34" charset="0"/>
                    <a:ea typeface="黑体" panose="02010609060101010101" pitchFamily="49" charset="-122"/>
                  </a:rPr>
                  <a:t>每条边至少得选</a:t>
                </a:r>
                <a:r>
                  <a:rPr lang="en-US" altLang="zh-CN" sz="2000" dirty="0" smtClean="0">
                    <a:solidFill>
                      <a:srgbClr val="0000A8"/>
                    </a:solidFill>
                    <a:latin typeface="Arial" panose="02080604020202020204" pitchFamily="34" charset="0"/>
                    <a:ea typeface="黑体" panose="02010609060101010101" pitchFamily="49" charset="-122"/>
                  </a:rPr>
                  <a:t>1</a:t>
                </a:r>
                <a:r>
                  <a:rPr lang="zh-CN" altLang="en-US" sz="2000" dirty="0" smtClean="0">
                    <a:solidFill>
                      <a:srgbClr val="0000A8"/>
                    </a:solidFill>
                    <a:latin typeface="Arial" panose="02080604020202020204" pitchFamily="34" charset="0"/>
                    <a:ea typeface="黑体" panose="02010609060101010101" pitchFamily="49" charset="-122"/>
                  </a:rPr>
                  <a:t>个顶点，至少共</a:t>
                </a:r>
                <a:r>
                  <a:rPr lang="en-US" altLang="zh-CN" sz="2000" dirty="0" smtClean="0">
                    <a:solidFill>
                      <a:srgbClr val="0000A8"/>
                    </a:solidFill>
                    <a:latin typeface="Arial" panose="02080604020202020204" pitchFamily="34" charset="0"/>
                    <a:ea typeface="黑体" panose="02010609060101010101" pitchFamily="49" charset="-122"/>
                  </a:rPr>
                  <a:t>n</a:t>
                </a:r>
                <a:r>
                  <a:rPr lang="zh-CN" altLang="en-US" sz="2000" dirty="0" smtClean="0">
                    <a:solidFill>
                      <a:srgbClr val="0000A8"/>
                    </a:solidFill>
                    <a:latin typeface="Arial" panose="02080604020202020204" pitchFamily="34" charset="0"/>
                    <a:ea typeface="黑体" panose="02010609060101010101" pitchFamily="49" charset="-122"/>
                  </a:rPr>
                  <a:t>个顶点。</a:t>
                </a:r>
                <a:endParaRPr lang="en-US" altLang="zh-CN" sz="2000" dirty="0" smtClean="0">
                  <a:solidFill>
                    <a:srgbClr val="0000A8"/>
                  </a:solidFill>
                  <a:latin typeface="Arial" panose="02080604020202020204" pitchFamily="34" charset="0"/>
                  <a:ea typeface="黑体" panose="02010609060101010101" pitchFamily="49" charset="-122"/>
                </a:endParaRPr>
              </a:p>
              <a:p>
                <a:pPr lvl="1"/>
                <a:r>
                  <a:rPr lang="zh-CN" altLang="en-US" sz="2000" dirty="0">
                    <a:latin typeface="Arial" panose="02080604020202020204" pitchFamily="34" charset="0"/>
                    <a:ea typeface="黑体" panose="02010609060101010101" pitchFamily="49" charset="-122"/>
                  </a:rPr>
                  <a:t>子句对应的</a:t>
                </a:r>
                <a:r>
                  <a:rPr lang="en-US" altLang="zh-CN" sz="2000" dirty="0">
                    <a:latin typeface="Arial" panose="02080604020202020204" pitchFamily="34" charset="0"/>
                    <a:ea typeface="黑体" panose="02010609060101010101" pitchFamily="49" charset="-122"/>
                  </a:rPr>
                  <a:t>3m</a:t>
                </a:r>
                <a:r>
                  <a:rPr lang="zh-CN" altLang="en-US" sz="2000" dirty="0">
                    <a:latin typeface="Arial" panose="02080604020202020204" pitchFamily="34" charset="0"/>
                    <a:ea typeface="黑体" panose="02010609060101010101" pitchFamily="49" charset="-122"/>
                  </a:rPr>
                  <a:t>个</a:t>
                </a:r>
                <a:r>
                  <a:rPr lang="zh-CN" altLang="en-US" sz="20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顶点是</a:t>
                </a:r>
                <a:r>
                  <a:rPr lang="en-US" altLang="zh-CN" sz="20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m</a:t>
                </a:r>
                <a:r>
                  <a:rPr lang="zh-CN" altLang="en-US" sz="20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个大小为</a:t>
                </a:r>
                <a:r>
                  <a:rPr lang="en-US" altLang="zh-CN" sz="20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3</a:t>
                </a:r>
                <a:r>
                  <a:rPr lang="zh-CN" altLang="en-US" sz="20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的团，要覆盖每个大小为</a:t>
                </a:r>
                <a:r>
                  <a:rPr lang="en-US" altLang="zh-CN" sz="20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3</a:t>
                </a:r>
                <a:r>
                  <a:rPr lang="zh-CN" altLang="en-US" sz="20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的团至少得选</a:t>
                </a:r>
                <a:r>
                  <a:rPr lang="en-US" altLang="zh-CN" sz="20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2</a:t>
                </a:r>
                <a:r>
                  <a:rPr lang="zh-CN" altLang="en-US" sz="20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个顶点，至少共</a:t>
                </a:r>
                <a:r>
                  <a:rPr lang="en-US" altLang="zh-CN" sz="20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2m</a:t>
                </a:r>
                <a:r>
                  <a:rPr lang="zh-CN" altLang="en-US" sz="20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个顶点。</a:t>
                </a:r>
                <a:endParaRPr lang="en-US" altLang="zh-CN" sz="2000" dirty="0" smtClean="0">
                  <a:latin typeface="Arial" panose="02080604020202020204" pitchFamily="34" charset="0"/>
                  <a:ea typeface="黑体" panose="02010609060101010101" pitchFamily="49" charset="-122"/>
                </a:endParaRPr>
              </a:p>
              <a:p>
                <a:pPr lvl="1"/>
                <a:r>
                  <a:rPr lang="zh-CN" altLang="en-US" sz="2000" dirty="0" smtClean="0">
                    <a:solidFill>
                      <a:srgbClr val="0000A8"/>
                    </a:solidFill>
                    <a:latin typeface="Arial" panose="02080604020202020204" pitchFamily="34" charset="0"/>
                    <a:ea typeface="黑体" panose="02010609060101010101" pitchFamily="49" charset="-122"/>
                  </a:rPr>
                  <a:t>必然在</a:t>
                </a:r>
                <a:r>
                  <a:rPr lang="zh-CN" altLang="en-US" sz="20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变</a:t>
                </a:r>
                <a:r>
                  <a:rPr lang="zh-CN" altLang="en-US" sz="2000" dirty="0">
                    <a:latin typeface="Arial" panose="02080604020202020204" pitchFamily="34" charset="0"/>
                    <a:ea typeface="黑体" panose="02010609060101010101" pitchFamily="49" charset="-122"/>
                  </a:rPr>
                  <a:t>元对应</a:t>
                </a:r>
                <a:r>
                  <a:rPr lang="zh-CN" altLang="en-US" sz="20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的</a:t>
                </a:r>
                <a:r>
                  <a:rPr lang="en-US" altLang="zh-CN" sz="20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2n</a:t>
                </a:r>
                <a:r>
                  <a:rPr lang="zh-CN" altLang="en-US" sz="2000" dirty="0">
                    <a:latin typeface="Arial" panose="02080604020202020204" pitchFamily="34" charset="0"/>
                    <a:ea typeface="黑体" panose="02010609060101010101" pitchFamily="49" charset="-122"/>
                  </a:rPr>
                  <a:t>个</a:t>
                </a:r>
                <a:r>
                  <a:rPr lang="zh-CN" altLang="en-US" sz="20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顶点选</a:t>
                </a:r>
                <a:r>
                  <a:rPr lang="en-US" altLang="zh-CN" sz="20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n</a:t>
                </a:r>
                <a:r>
                  <a:rPr lang="zh-CN" altLang="en-US" sz="20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个</a:t>
                </a:r>
                <a:r>
                  <a:rPr lang="en-US" altLang="zh-CN" sz="20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(</a:t>
                </a:r>
                <a:r>
                  <a:rPr lang="zh-CN" altLang="en-US" sz="20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每条边选一个</a:t>
                </a:r>
                <a:r>
                  <a:rPr lang="en-US" altLang="zh-CN" sz="20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)</a:t>
                </a:r>
                <a:r>
                  <a:rPr lang="zh-CN" altLang="en-US" sz="20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；</a:t>
                </a:r>
                <a:endParaRPr lang="en-US" altLang="zh-CN" sz="2000" dirty="0" smtClean="0">
                  <a:latin typeface="Arial" panose="02080604020202020204" pitchFamily="34" charset="0"/>
                  <a:ea typeface="黑体" panose="02010609060101010101" pitchFamily="49" charset="-122"/>
                </a:endParaRPr>
              </a:p>
              <a:p>
                <a:pPr lvl="1"/>
                <a:r>
                  <a:rPr lang="zh-CN" altLang="en-US" sz="20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子句</a:t>
                </a:r>
                <a:r>
                  <a:rPr lang="zh-CN" altLang="en-US" sz="2000" dirty="0">
                    <a:latin typeface="Arial" panose="02080604020202020204" pitchFamily="34" charset="0"/>
                    <a:ea typeface="黑体" panose="02010609060101010101" pitchFamily="49" charset="-122"/>
                  </a:rPr>
                  <a:t>对应的</a:t>
                </a:r>
                <a:r>
                  <a:rPr lang="en-US" altLang="zh-CN" sz="2000" dirty="0">
                    <a:latin typeface="Arial" panose="02080604020202020204" pitchFamily="34" charset="0"/>
                    <a:ea typeface="黑体" panose="02010609060101010101" pitchFamily="49" charset="-122"/>
                  </a:rPr>
                  <a:t>3m</a:t>
                </a:r>
                <a:r>
                  <a:rPr lang="zh-CN" altLang="en-US" sz="2000" dirty="0">
                    <a:latin typeface="Arial" panose="02080604020202020204" pitchFamily="34" charset="0"/>
                    <a:ea typeface="黑体" panose="02010609060101010101" pitchFamily="49" charset="-122"/>
                  </a:rPr>
                  <a:t>个</a:t>
                </a:r>
                <a:r>
                  <a:rPr lang="zh-CN" altLang="en-US" sz="20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顶点选</a:t>
                </a:r>
                <a:r>
                  <a:rPr lang="en-US" altLang="zh-CN" sz="20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2m</a:t>
                </a:r>
                <a:r>
                  <a:rPr lang="zh-CN" altLang="en-US" sz="20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个</a:t>
                </a:r>
                <a:r>
                  <a:rPr lang="en-US" altLang="zh-CN" sz="20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(</a:t>
                </a:r>
                <a:r>
                  <a:rPr lang="zh-CN" altLang="en-US" sz="20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每个子句选</a:t>
                </a:r>
                <a:r>
                  <a:rPr lang="en-US" altLang="zh-CN" sz="20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2</a:t>
                </a:r>
                <a:r>
                  <a:rPr lang="zh-CN" altLang="en-US" sz="20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个</a:t>
                </a:r>
                <a:r>
                  <a:rPr lang="en-US" altLang="zh-CN" sz="20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)</a:t>
                </a:r>
                <a:endParaRPr lang="en-US" altLang="zh-CN" sz="2000" dirty="0" smtClean="0">
                  <a:latin typeface="Arial" panose="02080604020202020204" pitchFamily="34" charset="0"/>
                  <a:ea typeface="黑体" panose="02010609060101010101" pitchFamily="49" charset="-122"/>
                </a:endParaRPr>
              </a:p>
              <a:p>
                <a:pPr lvl="2"/>
                <a:r>
                  <a:rPr lang="zh-CN" altLang="en-US" sz="2000" dirty="0">
                    <a:latin typeface="Arial" panose="02080604020202020204" pitchFamily="34" charset="0"/>
                    <a:ea typeface="黑体" panose="02010609060101010101" pitchFamily="49" charset="-122"/>
                  </a:rPr>
                  <a:t>剩哪一个不选？剩</a:t>
                </a:r>
                <a:r>
                  <a:rPr lang="zh-CN" altLang="en-US" sz="20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和变元对应的顶点相连的不选</a:t>
                </a:r>
                <a:endParaRPr lang="en-US" altLang="zh-CN" sz="2000" dirty="0" smtClean="0">
                  <a:latin typeface="Arial" panose="02080604020202020204" pitchFamily="34" charset="0"/>
                  <a:ea typeface="黑体" panose="02010609060101010101" pitchFamily="49" charset="-122"/>
                </a:endParaRPr>
              </a:p>
              <a:p>
                <a:pPr lvl="1"/>
                <a:r>
                  <a:rPr lang="zh-CN" altLang="en-US" sz="2000" dirty="0" smtClean="0"/>
                  <a:t>如何对变元赋值使表达式为真？</a:t>
                </a:r>
                <a:endParaRPr lang="en-US" altLang="zh-CN" sz="2000" dirty="0" smtClean="0">
                  <a:solidFill>
                    <a:srgbClr val="0000A8"/>
                  </a:solidFill>
                  <a:latin typeface="Arial" panose="02080604020202020204" pitchFamily="34" charset="0"/>
                  <a:ea typeface="黑体" panose="02010609060101010101" pitchFamily="49" charset="-122"/>
                </a:endParaRPr>
              </a:p>
              <a:p>
                <a:pPr lvl="2"/>
                <a:r>
                  <a:rPr lang="zh-CN" altLang="en-US" sz="2000" dirty="0" smtClean="0">
                    <a:solidFill>
                      <a:schemeClr val="bg2"/>
                    </a:solidFill>
                    <a:latin typeface="Arial" panose="02080604020202020204" pitchFamily="34" charset="0"/>
                    <a:ea typeface="黑体" panose="02010609060101010101" pitchFamily="49" charset="-122"/>
                  </a:rPr>
                  <a:t>若选择的变元</a:t>
                </a:r>
                <a:r>
                  <a:rPr lang="zh-CN" altLang="en-US" sz="2000" dirty="0">
                    <a:solidFill>
                      <a:schemeClr val="bg2"/>
                    </a:solidFill>
                    <a:latin typeface="Arial" panose="02080604020202020204" pitchFamily="34" charset="0"/>
                    <a:ea typeface="黑体" panose="02010609060101010101" pitchFamily="49" charset="-122"/>
                  </a:rPr>
                  <a:t>对应的顶点为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dirty="0">
                            <a:solidFill>
                              <a:srgbClr val="FF0000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2000" dirty="0">
                            <a:solidFill>
                              <a:srgbClr val="FF0000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en-US" sz="2000" dirty="0">
                    <a:solidFill>
                      <a:schemeClr val="bg2"/>
                    </a:solidFill>
                    <a:latin typeface="Arial" panose="02080604020202020204" pitchFamily="34" charset="0"/>
                    <a:ea typeface="黑体" panose="02010609060101010101" pitchFamily="49" charset="-122"/>
                  </a:rPr>
                  <a:t>，则</a:t>
                </a:r>
                <a:r>
                  <a:rPr lang="en-US" altLang="zh-CN" sz="2000" dirty="0">
                    <a:solidFill>
                      <a:schemeClr val="bg2"/>
                    </a:solidFill>
                    <a:latin typeface="Arial" panose="02080604020202020204" pitchFamily="34" charset="0"/>
                    <a:ea typeface="黑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dirty="0">
                            <a:solidFill>
                              <a:srgbClr val="FF0000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2000" dirty="0">
                            <a:solidFill>
                              <a:srgbClr val="FF0000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</m:sub>
                    </m:sSub>
                    <m:r>
                      <a:rPr lang="en-US" altLang="zh-CN" sz="2000" dirty="0">
                        <a:solidFill>
                          <a:schemeClr val="bg2"/>
                        </a:solidFill>
                        <a:latin typeface="Cambria Math" panose="02040503050406030204"/>
                        <a:ea typeface="黑体" panose="02010609060101010101" pitchFamily="49" charset="-122"/>
                      </a:rPr>
                      <m:t> </m:t>
                    </m:r>
                  </m:oMath>
                </a14:m>
                <a:r>
                  <a:rPr lang="zh-CN" altLang="en-US" sz="2000" dirty="0">
                    <a:solidFill>
                      <a:schemeClr val="bg2"/>
                    </a:solidFill>
                    <a:latin typeface="Arial" panose="02080604020202020204" pitchFamily="34" charset="0"/>
                    <a:ea typeface="黑体" panose="02010609060101010101" pitchFamily="49" charset="-122"/>
                  </a:rPr>
                  <a:t>赋</a:t>
                </a:r>
                <a:r>
                  <a:rPr lang="en-US" altLang="zh-CN" sz="2000" dirty="0">
                    <a:solidFill>
                      <a:srgbClr val="FF0000"/>
                    </a:solidFill>
                    <a:latin typeface="Arial" panose="02080604020202020204" pitchFamily="34" charset="0"/>
                    <a:ea typeface="黑体" panose="02010609060101010101" pitchFamily="49" charset="-122"/>
                  </a:rPr>
                  <a:t>1</a:t>
                </a:r>
                <a:r>
                  <a:rPr lang="zh-CN" altLang="en-US" sz="2000" dirty="0" smtClean="0">
                    <a:solidFill>
                      <a:schemeClr val="bg2"/>
                    </a:solidFill>
                    <a:latin typeface="Arial" panose="02080604020202020204" pitchFamily="34" charset="0"/>
                    <a:ea typeface="黑体" panose="02010609060101010101" pitchFamily="49" charset="-122"/>
                  </a:rPr>
                  <a:t>；</a:t>
                </a:r>
                <a:endParaRPr lang="en-US" altLang="zh-CN" sz="2000" dirty="0" smtClean="0">
                  <a:solidFill>
                    <a:schemeClr val="bg2"/>
                  </a:solidFill>
                  <a:latin typeface="Arial" panose="02080604020202020204" pitchFamily="34" charset="0"/>
                  <a:ea typeface="黑体" panose="02010609060101010101" pitchFamily="49" charset="-122"/>
                </a:endParaRPr>
              </a:p>
              <a:p>
                <a:pPr lvl="2"/>
                <a:r>
                  <a:rPr lang="zh-CN" altLang="en-US" sz="2000" dirty="0" smtClean="0">
                    <a:solidFill>
                      <a:schemeClr val="bg2"/>
                    </a:solidFill>
                    <a:latin typeface="Arial" panose="02080604020202020204" pitchFamily="34" charset="0"/>
                    <a:ea typeface="黑体" panose="02010609060101010101" pitchFamily="49" charset="-122"/>
                  </a:rPr>
                  <a:t>若</a:t>
                </a:r>
                <a:r>
                  <a:rPr lang="zh-CN" altLang="en-US" sz="20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顶点为</a:t>
                </a:r>
                <a:r>
                  <a:rPr lang="zh-CN" altLang="en-US" sz="2000" dirty="0" smtClean="0">
                    <a:solidFill>
                      <a:schemeClr val="bg2"/>
                    </a:solidFill>
                    <a:latin typeface="Arial" panose="02080604020202020204" pitchFamily="34" charset="0"/>
                    <a:ea typeface="黑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CN" sz="20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sz="2000" dirty="0">
                                <a:solidFill>
                                  <a:srgbClr val="FF0000"/>
                                </a:solidFill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𝒙</m:t>
                            </m:r>
                          </m:e>
                        </m:acc>
                      </m:e>
                      <m:sub>
                        <m:r>
                          <a:rPr lang="en-US" altLang="zh-CN" sz="2000" dirty="0">
                            <a:solidFill>
                              <a:srgbClr val="FF0000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en-US" sz="2000" dirty="0">
                    <a:solidFill>
                      <a:schemeClr val="bg2"/>
                    </a:solidFill>
                    <a:latin typeface="Arial" panose="02080604020202020204" pitchFamily="34" charset="0"/>
                    <a:ea typeface="黑体" panose="02010609060101010101" pitchFamily="49" charset="-122"/>
                  </a:rPr>
                  <a:t>，则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dirty="0">
                            <a:solidFill>
                              <a:srgbClr val="FF0000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2000" dirty="0">
                            <a:solidFill>
                              <a:srgbClr val="FF0000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en-US" sz="2000" dirty="0">
                    <a:solidFill>
                      <a:schemeClr val="bg2"/>
                    </a:solidFill>
                    <a:latin typeface="Arial" panose="02080604020202020204" pitchFamily="34" charset="0"/>
                    <a:ea typeface="黑体" panose="02010609060101010101" pitchFamily="49" charset="-122"/>
                  </a:rPr>
                  <a:t>赋</a:t>
                </a:r>
                <a:r>
                  <a:rPr lang="en-US" altLang="zh-CN" sz="2000" dirty="0" smtClean="0">
                    <a:solidFill>
                      <a:srgbClr val="FF0000"/>
                    </a:solidFill>
                    <a:latin typeface="Arial" panose="02080604020202020204" pitchFamily="34" charset="0"/>
                    <a:ea typeface="黑体" panose="02010609060101010101" pitchFamily="49" charset="-122"/>
                  </a:rPr>
                  <a:t>0</a:t>
                </a:r>
                <a:endParaRPr lang="en-US" altLang="zh-CN" sz="2000" dirty="0" smtClean="0">
                  <a:solidFill>
                    <a:srgbClr val="FF0000"/>
                  </a:solidFill>
                  <a:latin typeface="Arial" panose="02080604020202020204" pitchFamily="34" charset="0"/>
                  <a:ea typeface="黑体" panose="02010609060101010101" pitchFamily="49" charset="-122"/>
                </a:endParaRPr>
              </a:p>
              <a:p>
                <a:pPr lvl="2"/>
                <a:endParaRPr lang="en-US" altLang="zh-CN" sz="2000" dirty="0">
                  <a:latin typeface="Arial" panose="02080604020202020204" pitchFamily="34" charset="0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8195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484313"/>
                <a:ext cx="8229600" cy="5373687"/>
              </a:xfrm>
              <a:blipFill rotWithShape="1">
                <a:blip r:embed="rId1"/>
                <a:stretch>
                  <a:fillRect t="-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1" name="矩形 140"/>
              <p:cNvSpPr/>
              <p:nvPr/>
            </p:nvSpPr>
            <p:spPr>
              <a:xfrm>
                <a:off x="1511660" y="6025836"/>
                <a:ext cx="3924436" cy="43088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b="1" i="1" dirty="0" smtClean="0">
                          <a:solidFill>
                            <a:srgbClr val="FF0000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altLang="zh-CN" sz="22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2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</a:rPr>
                                <m:t>𝒙</m:t>
                              </m:r>
                            </m:e>
                          </m:acc>
                        </m:e>
                        <m:sub>
                          <m: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𝟏</m:t>
                          </m:r>
                        </m:sub>
                      </m:sSub>
                      <m:r>
                        <a:rPr lang="en-US" altLang="zh-CN" sz="2200" b="1" i="1" dirty="0">
                          <a:solidFill>
                            <a:srgbClr val="FF0000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∨</m:t>
                      </m:r>
                      <m:sSub>
                        <m:sSubPr>
                          <m:ctrlP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𝟐</m:t>
                          </m:r>
                        </m:sub>
                      </m:sSub>
                      <m:r>
                        <a:rPr lang="en-US" altLang="zh-CN" sz="2200" b="1" i="1" dirty="0">
                          <a:solidFill>
                            <a:srgbClr val="FF0000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∨</m:t>
                      </m:r>
                      <m:sSub>
                        <m:sSubPr>
                          <m:ctrlP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𝟑</m:t>
                          </m:r>
                        </m:sub>
                      </m:sSub>
                      <m:r>
                        <a:rPr lang="en-US" altLang="zh-CN" sz="2200" b="1" i="1" dirty="0">
                          <a:solidFill>
                            <a:srgbClr val="FF0000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)</m:t>
                      </m:r>
                      <m:r>
                        <a:rPr lang="en-US" altLang="zh-CN" sz="2200" b="1" i="1" dirty="0">
                          <a:solidFill>
                            <a:srgbClr val="FF0000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∧</m:t>
                      </m:r>
                      <m:r>
                        <a:rPr lang="en-US" altLang="zh-CN" sz="2200" b="1" i="1" dirty="0">
                          <a:solidFill>
                            <a:srgbClr val="FF0000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𝟏</m:t>
                          </m:r>
                        </m:sub>
                      </m:sSub>
                      <m:r>
                        <a:rPr lang="en-US" altLang="zh-CN" sz="2200" b="1" i="1" dirty="0">
                          <a:solidFill>
                            <a:srgbClr val="FF0000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∨</m:t>
                      </m:r>
                      <m:sSub>
                        <m:sSubPr>
                          <m:ctrlP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altLang="zh-CN" sz="22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2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</a:rPr>
                                <m:t>𝒙</m:t>
                              </m:r>
                            </m:e>
                          </m:acc>
                        </m:e>
                        <m:sub>
                          <m:r>
                            <a:rPr lang="en-US" altLang="zh-CN" sz="2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𝟐</m:t>
                          </m:r>
                        </m:sub>
                      </m:sSub>
                      <m:r>
                        <a:rPr lang="en-US" altLang="zh-CN" sz="2200" b="1" i="1" dirty="0">
                          <a:solidFill>
                            <a:srgbClr val="FF0000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∨</m:t>
                      </m:r>
                      <m:sSub>
                        <m:sSubPr>
                          <m:ctrlP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altLang="zh-CN" sz="22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2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</a:rPr>
                                <m:t>𝒙</m:t>
                              </m:r>
                            </m:e>
                          </m:acc>
                        </m:e>
                        <m:sub>
                          <m:r>
                            <a:rPr lang="en-US" altLang="zh-CN" sz="2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𝟑</m:t>
                          </m:r>
                        </m:sub>
                      </m:sSub>
                      <m:r>
                        <a:rPr lang="en-US" altLang="zh-CN" sz="2200" b="1" dirty="0">
                          <a:solidFill>
                            <a:srgbClr val="FF0000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lang="zh-CN" altLang="en-US" sz="2200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41" name="矩形 14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1660" y="6025836"/>
                <a:ext cx="3924436" cy="430887"/>
              </a:xfrm>
              <a:prstGeom prst="rect">
                <a:avLst/>
              </a:prstGeom>
              <a:blipFill rotWithShape="1">
                <a:blip r:embed="rId2"/>
                <a:stretch>
                  <a:fillRect l="-9" t="-74" r="13" b="-6645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2" name="TextBox 141"/>
          <p:cNvSpPr txBox="1"/>
          <p:nvPr/>
        </p:nvSpPr>
        <p:spPr>
          <a:xfrm>
            <a:off x="2267744" y="5867980"/>
            <a:ext cx="479618" cy="369332"/>
          </a:xfrm>
          <a:prstGeom prst="rect">
            <a:avLst/>
          </a:prstGeom>
          <a:noFill/>
          <a:ln w="25400">
            <a:noFill/>
          </a:ln>
        </p:spPr>
        <p:txBody>
          <a:bodyPr wrap="none" rtlCol="0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b="1" dirty="0" smtClean="0">
                <a:solidFill>
                  <a:srgbClr val="000099"/>
                </a:solidFill>
                <a:ea typeface="黑体" panose="02010609060101010101" pitchFamily="49" charset="-122"/>
              </a:rPr>
              <a:t>C1</a:t>
            </a:r>
            <a:endParaRPr lang="zh-CN" altLang="en-US" b="1" dirty="0" smtClean="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143" name="TextBox 142"/>
          <p:cNvSpPr txBox="1"/>
          <p:nvPr/>
        </p:nvSpPr>
        <p:spPr>
          <a:xfrm>
            <a:off x="4355976" y="5867980"/>
            <a:ext cx="479618" cy="369332"/>
          </a:xfrm>
          <a:prstGeom prst="rect">
            <a:avLst/>
          </a:prstGeom>
          <a:noFill/>
          <a:ln w="25400">
            <a:noFill/>
          </a:ln>
        </p:spPr>
        <p:txBody>
          <a:bodyPr wrap="none" rtlCol="0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b="1" dirty="0" smtClean="0">
                <a:solidFill>
                  <a:srgbClr val="000099"/>
                </a:solidFill>
                <a:ea typeface="黑体" panose="02010609060101010101" pitchFamily="49" charset="-122"/>
              </a:rPr>
              <a:t>C2</a:t>
            </a:r>
            <a:endParaRPr lang="zh-CN" altLang="en-US" b="1" dirty="0" smtClean="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144" name="矩形 143"/>
          <p:cNvSpPr/>
          <p:nvPr/>
        </p:nvSpPr>
        <p:spPr>
          <a:xfrm>
            <a:off x="2555776" y="6384024"/>
            <a:ext cx="20633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smtClean="0">
                <a:ea typeface="黑体" panose="02010609060101010101" pitchFamily="49" charset="-122"/>
              </a:rPr>
              <a:t>k=n+2m=3+2</a:t>
            </a:r>
            <a:r>
              <a:rPr lang="zh-CN" altLang="en-US" b="1" dirty="0" smtClean="0">
                <a:ea typeface="黑体" panose="02010609060101010101" pitchFamily="49" charset="-122"/>
              </a:rPr>
              <a:t>*</a:t>
            </a:r>
            <a:r>
              <a:rPr lang="en-US" altLang="zh-CN" b="1" dirty="0" smtClean="0">
                <a:ea typeface="黑体" panose="02010609060101010101" pitchFamily="49" charset="-122"/>
              </a:rPr>
              <a:t>2=7</a:t>
            </a:r>
            <a:endParaRPr lang="zh-CN" altLang="en-US" b="1" dirty="0"/>
          </a:p>
        </p:txBody>
      </p:sp>
      <p:cxnSp>
        <p:nvCxnSpPr>
          <p:cNvPr id="64" name="直接连接符 63"/>
          <p:cNvCxnSpPr/>
          <p:nvPr/>
        </p:nvCxnSpPr>
        <p:spPr bwMode="auto">
          <a:xfrm flipH="1" flipV="1">
            <a:off x="5904148" y="5193714"/>
            <a:ext cx="395626" cy="1223038"/>
          </a:xfrm>
          <a:prstGeom prst="line">
            <a:avLst/>
          </a:prstGeom>
          <a:ln w="2540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/>
          <p:cNvCxnSpPr>
            <a:stCxn id="122" idx="4"/>
            <a:endCxn id="168" idx="0"/>
          </p:cNvCxnSpPr>
          <p:nvPr/>
        </p:nvCxnSpPr>
        <p:spPr bwMode="auto">
          <a:xfrm flipH="1">
            <a:off x="6413137" y="5443353"/>
            <a:ext cx="283095" cy="868671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/>
          <p:cNvCxnSpPr>
            <a:stCxn id="125" idx="3"/>
            <a:endCxn id="166" idx="7"/>
          </p:cNvCxnSpPr>
          <p:nvPr/>
        </p:nvCxnSpPr>
        <p:spPr bwMode="auto">
          <a:xfrm flipH="1">
            <a:off x="6764404" y="5429568"/>
            <a:ext cx="581269" cy="386248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66"/>
          <p:cNvCxnSpPr>
            <a:stCxn id="134" idx="4"/>
            <a:endCxn id="167" idx="6"/>
          </p:cNvCxnSpPr>
          <p:nvPr/>
        </p:nvCxnSpPr>
        <p:spPr bwMode="auto">
          <a:xfrm flipH="1">
            <a:off x="7101691" y="5440112"/>
            <a:ext cx="1322733" cy="902797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连接符 67"/>
          <p:cNvCxnSpPr>
            <a:stCxn id="121" idx="4"/>
            <a:endCxn id="162" idx="1"/>
          </p:cNvCxnSpPr>
          <p:nvPr/>
        </p:nvCxnSpPr>
        <p:spPr bwMode="auto">
          <a:xfrm>
            <a:off x="6228188" y="5440112"/>
            <a:ext cx="1979715" cy="882456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连接符 68"/>
          <p:cNvCxnSpPr>
            <a:stCxn id="126" idx="5"/>
            <a:endCxn id="160" idx="1"/>
          </p:cNvCxnSpPr>
          <p:nvPr/>
        </p:nvCxnSpPr>
        <p:spPr bwMode="auto">
          <a:xfrm>
            <a:off x="7918465" y="5432809"/>
            <a:ext cx="615249" cy="383007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/>
          <p:cNvCxnSpPr>
            <a:stCxn id="135" idx="4"/>
            <a:endCxn id="161" idx="7"/>
          </p:cNvCxnSpPr>
          <p:nvPr/>
        </p:nvCxnSpPr>
        <p:spPr bwMode="auto">
          <a:xfrm>
            <a:off x="8892476" y="5443353"/>
            <a:ext cx="18893" cy="874100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0" name="组合 79"/>
          <p:cNvGrpSpPr/>
          <p:nvPr/>
        </p:nvGrpSpPr>
        <p:grpSpPr>
          <a:xfrm>
            <a:off x="6067341" y="5013176"/>
            <a:ext cx="2985982" cy="430177"/>
            <a:chOff x="5825577" y="5087047"/>
            <a:chExt cx="2985982" cy="430177"/>
          </a:xfrm>
        </p:grpSpPr>
        <p:grpSp>
          <p:nvGrpSpPr>
            <p:cNvPr id="81" name="组合 80"/>
            <p:cNvGrpSpPr/>
            <p:nvPr/>
          </p:nvGrpSpPr>
          <p:grpSpPr>
            <a:xfrm>
              <a:off x="5950424" y="5254067"/>
              <a:ext cx="2738055" cy="263157"/>
              <a:chOff x="5950424" y="5254067"/>
              <a:chExt cx="2738055" cy="263157"/>
            </a:xfrm>
          </p:grpSpPr>
          <p:cxnSp>
            <p:nvCxnSpPr>
              <p:cNvPr id="109" name="直接连接符 108"/>
              <p:cNvCxnSpPr/>
              <p:nvPr/>
            </p:nvCxnSpPr>
            <p:spPr bwMode="auto">
              <a:xfrm>
                <a:off x="6113787" y="5254067"/>
                <a:ext cx="161864" cy="4515"/>
              </a:xfrm>
              <a:prstGeom prst="line">
                <a:avLst/>
              </a:prstGeom>
              <a:ln w="25400">
                <a:noFill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1" name="椭圆 120"/>
              <p:cNvSpPr/>
              <p:nvPr/>
            </p:nvSpPr>
            <p:spPr bwMode="auto">
              <a:xfrm>
                <a:off x="5950424" y="5441983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/>
              </a:p>
            </p:txBody>
          </p:sp>
          <p:sp>
            <p:nvSpPr>
              <p:cNvPr id="122" name="椭圆 121"/>
              <p:cNvSpPr/>
              <p:nvPr/>
            </p:nvSpPr>
            <p:spPr bwMode="auto">
              <a:xfrm>
                <a:off x="6418468" y="5445224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/>
              </a:p>
            </p:txBody>
          </p:sp>
          <p:cxnSp>
            <p:nvCxnSpPr>
              <p:cNvPr id="123" name="直接连接符 122"/>
              <p:cNvCxnSpPr/>
              <p:nvPr/>
            </p:nvCxnSpPr>
            <p:spPr bwMode="auto">
              <a:xfrm>
                <a:off x="6020665" y="5477983"/>
                <a:ext cx="469811" cy="0"/>
              </a:xfrm>
              <a:prstGeom prst="line">
                <a:avLst/>
              </a:prstGeom>
              <a:ln w="254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直接连接符 123"/>
              <p:cNvCxnSpPr/>
              <p:nvPr/>
            </p:nvCxnSpPr>
            <p:spPr bwMode="auto">
              <a:xfrm>
                <a:off x="7309365" y="5254067"/>
                <a:ext cx="161864" cy="4515"/>
              </a:xfrm>
              <a:prstGeom prst="line">
                <a:avLst/>
              </a:prstGeom>
              <a:ln w="25400">
                <a:noFill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5" name="椭圆 124"/>
              <p:cNvSpPr/>
              <p:nvPr/>
            </p:nvSpPr>
            <p:spPr bwMode="auto">
              <a:xfrm>
                <a:off x="7093365" y="5441983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/>
              </a:p>
            </p:txBody>
          </p:sp>
          <p:sp>
            <p:nvSpPr>
              <p:cNvPr id="126" name="椭圆 125"/>
              <p:cNvSpPr/>
              <p:nvPr/>
            </p:nvSpPr>
            <p:spPr bwMode="auto">
              <a:xfrm>
                <a:off x="7615245" y="5445224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/>
              </a:p>
            </p:txBody>
          </p:sp>
          <p:cxnSp>
            <p:nvCxnSpPr>
              <p:cNvPr id="127" name="直接连接符 126"/>
              <p:cNvCxnSpPr/>
              <p:nvPr/>
            </p:nvCxnSpPr>
            <p:spPr bwMode="auto">
              <a:xfrm>
                <a:off x="7165365" y="5477983"/>
                <a:ext cx="469811" cy="0"/>
              </a:xfrm>
              <a:prstGeom prst="line">
                <a:avLst/>
              </a:prstGeom>
              <a:ln w="254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直接连接符 130"/>
              <p:cNvCxnSpPr/>
              <p:nvPr/>
            </p:nvCxnSpPr>
            <p:spPr bwMode="auto">
              <a:xfrm>
                <a:off x="8473980" y="5254067"/>
                <a:ext cx="161864" cy="4515"/>
              </a:xfrm>
              <a:prstGeom prst="line">
                <a:avLst/>
              </a:prstGeom>
              <a:ln w="25400">
                <a:noFill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4" name="椭圆 133"/>
              <p:cNvSpPr/>
              <p:nvPr/>
            </p:nvSpPr>
            <p:spPr bwMode="auto">
              <a:xfrm>
                <a:off x="8146660" y="5441983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/>
              </a:p>
            </p:txBody>
          </p:sp>
          <p:sp>
            <p:nvSpPr>
              <p:cNvPr id="135" name="椭圆 134"/>
              <p:cNvSpPr/>
              <p:nvPr/>
            </p:nvSpPr>
            <p:spPr bwMode="auto">
              <a:xfrm>
                <a:off x="8614712" y="5445224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/>
              </a:p>
            </p:txBody>
          </p:sp>
          <p:cxnSp>
            <p:nvCxnSpPr>
              <p:cNvPr id="145" name="直接连接符 144"/>
              <p:cNvCxnSpPr/>
              <p:nvPr/>
            </p:nvCxnSpPr>
            <p:spPr bwMode="auto">
              <a:xfrm>
                <a:off x="8218668" y="5477983"/>
                <a:ext cx="469811" cy="0"/>
              </a:xfrm>
              <a:prstGeom prst="line">
                <a:avLst/>
              </a:prstGeom>
              <a:ln w="254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2" name="矩形 81"/>
                <p:cNvSpPr/>
                <p:nvPr/>
              </p:nvSpPr>
              <p:spPr>
                <a:xfrm>
                  <a:off x="6303859" y="5087047"/>
                  <a:ext cx="340863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altLang="zh-CN" sz="2000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000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/>
                                    <a:ea typeface="黑体" panose="02010609060101010101" pitchFamily="49" charset="-122"/>
                                  </a:rPr>
                                  <m:t>𝒙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2000" b="1" i="1" dirty="0">
                                <a:solidFill>
                                  <a:srgbClr val="FF0000"/>
                                </a:solidFill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82" name="矩形 8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03859" y="5087047"/>
                  <a:ext cx="340863" cy="307777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0" name="矩形 89"/>
                <p:cNvSpPr/>
                <p:nvPr/>
              </p:nvSpPr>
              <p:spPr>
                <a:xfrm>
                  <a:off x="5825577" y="5087047"/>
                  <a:ext cx="340863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000" b="1" i="1" dirty="0">
                                <a:solidFill>
                                  <a:srgbClr val="FF0000"/>
                                </a:solidFill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90" name="矩形 8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25577" y="5087047"/>
                  <a:ext cx="340863" cy="307777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1" name="矩形 90"/>
                <p:cNvSpPr/>
                <p:nvPr/>
              </p:nvSpPr>
              <p:spPr>
                <a:xfrm>
                  <a:off x="7498336" y="5087047"/>
                  <a:ext cx="340863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altLang="zh-CN" sz="2000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000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/>
                                    <a:ea typeface="黑体" panose="02010609060101010101" pitchFamily="49" charset="-122"/>
                                  </a:rPr>
                                  <m:t>𝒙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20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91" name="矩形 9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98336" y="5087047"/>
                  <a:ext cx="340863" cy="307777"/>
                </a:xfrm>
                <a:prstGeom prst="rect">
                  <a:avLst/>
                </a:prstGeom>
                <a:blipFill rotWithShape="1">
                  <a:blip r:embed="rId5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2" name="矩形 91"/>
                <p:cNvSpPr/>
                <p:nvPr/>
              </p:nvSpPr>
              <p:spPr>
                <a:xfrm>
                  <a:off x="6948264" y="5087047"/>
                  <a:ext cx="340863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0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92" name="矩形 9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48264" y="5087047"/>
                  <a:ext cx="340863" cy="307777"/>
                </a:xfrm>
                <a:prstGeom prst="rect">
                  <a:avLst/>
                </a:prstGeom>
                <a:blipFill rotWithShape="1">
                  <a:blip r:embed="rId6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3" name="矩形 92"/>
                <p:cNvSpPr/>
                <p:nvPr/>
              </p:nvSpPr>
              <p:spPr>
                <a:xfrm>
                  <a:off x="8470696" y="5087047"/>
                  <a:ext cx="340863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altLang="zh-CN" sz="2000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000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/>
                                    <a:ea typeface="黑体" panose="02010609060101010101" pitchFamily="49" charset="-122"/>
                                  </a:rPr>
                                  <m:t>𝒙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20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93" name="矩形 9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70696" y="5087047"/>
                  <a:ext cx="340863" cy="307777"/>
                </a:xfrm>
                <a:prstGeom prst="rect">
                  <a:avLst/>
                </a:prstGeom>
                <a:blipFill rotWithShape="1">
                  <a:blip r:embed="rId7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2" name="矩形 101"/>
                <p:cNvSpPr/>
                <p:nvPr/>
              </p:nvSpPr>
              <p:spPr>
                <a:xfrm>
                  <a:off x="8038648" y="5087047"/>
                  <a:ext cx="340863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0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102" name="矩形 10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38648" y="5087047"/>
                  <a:ext cx="340863" cy="307777"/>
                </a:xfrm>
                <a:prstGeom prst="rect">
                  <a:avLst/>
                </a:prstGeom>
                <a:blipFill rotWithShape="1">
                  <a:blip r:embed="rId8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6" name="组合 145"/>
          <p:cNvGrpSpPr/>
          <p:nvPr/>
        </p:nvGrpSpPr>
        <p:grpSpPr>
          <a:xfrm>
            <a:off x="6283365" y="5805272"/>
            <a:ext cx="2769958" cy="866536"/>
            <a:chOff x="6103345" y="5805272"/>
            <a:chExt cx="2769958" cy="866536"/>
          </a:xfrm>
        </p:grpSpPr>
        <p:cxnSp>
          <p:nvCxnSpPr>
            <p:cNvPr id="147" name="直接连接符 146"/>
            <p:cNvCxnSpPr/>
            <p:nvPr/>
          </p:nvCxnSpPr>
          <p:spPr bwMode="auto">
            <a:xfrm flipH="1">
              <a:off x="6247033" y="6106160"/>
              <a:ext cx="160753" cy="257871"/>
            </a:xfrm>
            <a:prstGeom prst="line">
              <a:avLst/>
            </a:prstGeom>
            <a:ln w="254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接连接符 147"/>
            <p:cNvCxnSpPr/>
            <p:nvPr/>
          </p:nvCxnSpPr>
          <p:spPr bwMode="auto">
            <a:xfrm>
              <a:off x="6427033" y="6364031"/>
              <a:ext cx="288032" cy="0"/>
            </a:xfrm>
            <a:prstGeom prst="line">
              <a:avLst/>
            </a:prstGeom>
            <a:ln w="254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9" name="组合 148"/>
            <p:cNvGrpSpPr/>
            <p:nvPr/>
          </p:nvGrpSpPr>
          <p:grpSpPr>
            <a:xfrm>
              <a:off x="6197117" y="5805272"/>
              <a:ext cx="724554" cy="578752"/>
              <a:chOff x="5818248" y="5858613"/>
              <a:chExt cx="724554" cy="578752"/>
            </a:xfrm>
          </p:grpSpPr>
          <p:sp>
            <p:nvSpPr>
              <p:cNvPr id="166" name="椭圆 165"/>
              <p:cNvSpPr/>
              <p:nvPr/>
            </p:nvSpPr>
            <p:spPr bwMode="auto">
              <a:xfrm>
                <a:off x="6144059" y="5858613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7" name="椭圆 166"/>
              <p:cNvSpPr/>
              <p:nvPr/>
            </p:nvSpPr>
            <p:spPr bwMode="auto">
              <a:xfrm>
                <a:off x="6470802" y="6360250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8" name="椭圆 167"/>
              <p:cNvSpPr/>
              <p:nvPr/>
            </p:nvSpPr>
            <p:spPr bwMode="auto">
              <a:xfrm>
                <a:off x="5818248" y="6365365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69" name="直接连接符 168"/>
              <p:cNvCxnSpPr>
                <a:stCxn id="166" idx="3"/>
                <a:endCxn id="168" idx="7"/>
              </p:cNvCxnSpPr>
              <p:nvPr/>
            </p:nvCxnSpPr>
            <p:spPr bwMode="auto">
              <a:xfrm flipH="1">
                <a:off x="5879704" y="5920069"/>
                <a:ext cx="274899" cy="455840"/>
              </a:xfrm>
              <a:prstGeom prst="line">
                <a:avLst/>
              </a:prstGeom>
              <a:ln w="254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直接连接符 169"/>
              <p:cNvCxnSpPr>
                <a:stCxn id="168" idx="5"/>
                <a:endCxn id="167" idx="3"/>
              </p:cNvCxnSpPr>
              <p:nvPr/>
            </p:nvCxnSpPr>
            <p:spPr bwMode="auto">
              <a:xfrm flipV="1">
                <a:off x="5879704" y="6421706"/>
                <a:ext cx="601642" cy="5115"/>
              </a:xfrm>
              <a:prstGeom prst="line">
                <a:avLst/>
              </a:prstGeom>
              <a:ln w="254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直接连接符 170"/>
              <p:cNvCxnSpPr>
                <a:stCxn id="166" idx="5"/>
                <a:endCxn id="167" idx="5"/>
              </p:cNvCxnSpPr>
              <p:nvPr/>
            </p:nvCxnSpPr>
            <p:spPr bwMode="auto">
              <a:xfrm>
                <a:off x="6205515" y="5920069"/>
                <a:ext cx="326743" cy="501637"/>
              </a:xfrm>
              <a:prstGeom prst="line">
                <a:avLst/>
              </a:prstGeom>
              <a:ln w="254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50" name="直接连接符 149"/>
            <p:cNvCxnSpPr/>
            <p:nvPr/>
          </p:nvCxnSpPr>
          <p:spPr bwMode="auto">
            <a:xfrm flipH="1">
              <a:off x="8052534" y="6178208"/>
              <a:ext cx="191496" cy="185823"/>
            </a:xfrm>
            <a:prstGeom prst="line">
              <a:avLst/>
            </a:prstGeom>
            <a:ln w="254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直接连接符 150"/>
            <p:cNvCxnSpPr/>
            <p:nvPr/>
          </p:nvCxnSpPr>
          <p:spPr bwMode="auto">
            <a:xfrm>
              <a:off x="8498588" y="6178208"/>
              <a:ext cx="232761" cy="185823"/>
            </a:xfrm>
            <a:prstGeom prst="line">
              <a:avLst/>
            </a:prstGeom>
            <a:ln w="254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直接连接符 151"/>
            <p:cNvCxnSpPr/>
            <p:nvPr/>
          </p:nvCxnSpPr>
          <p:spPr bwMode="auto">
            <a:xfrm>
              <a:off x="8232534" y="6364031"/>
              <a:ext cx="318815" cy="0"/>
            </a:xfrm>
            <a:prstGeom prst="line">
              <a:avLst/>
            </a:prstGeom>
            <a:ln w="25400">
              <a:noFill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3" name="组合 152"/>
            <p:cNvGrpSpPr/>
            <p:nvPr/>
          </p:nvGrpSpPr>
          <p:grpSpPr>
            <a:xfrm>
              <a:off x="8017339" y="5805272"/>
              <a:ext cx="724554" cy="578752"/>
              <a:chOff x="5818248" y="5858613"/>
              <a:chExt cx="724554" cy="578752"/>
            </a:xfrm>
          </p:grpSpPr>
          <p:sp>
            <p:nvSpPr>
              <p:cNvPr id="160" name="椭圆 159"/>
              <p:cNvSpPr/>
              <p:nvPr/>
            </p:nvSpPr>
            <p:spPr bwMode="auto">
              <a:xfrm>
                <a:off x="6144059" y="5858613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1" name="椭圆 160"/>
              <p:cNvSpPr/>
              <p:nvPr/>
            </p:nvSpPr>
            <p:spPr bwMode="auto">
              <a:xfrm>
                <a:off x="6470802" y="6360250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2" name="椭圆 161"/>
              <p:cNvSpPr/>
              <p:nvPr/>
            </p:nvSpPr>
            <p:spPr bwMode="auto">
              <a:xfrm>
                <a:off x="5818248" y="6365365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63" name="直接连接符 162"/>
              <p:cNvCxnSpPr>
                <a:stCxn id="160" idx="3"/>
                <a:endCxn id="162" idx="7"/>
              </p:cNvCxnSpPr>
              <p:nvPr/>
            </p:nvCxnSpPr>
            <p:spPr bwMode="auto">
              <a:xfrm flipH="1">
                <a:off x="5879704" y="5920069"/>
                <a:ext cx="274899" cy="455840"/>
              </a:xfrm>
              <a:prstGeom prst="line">
                <a:avLst/>
              </a:prstGeom>
              <a:ln w="254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直接连接符 163"/>
              <p:cNvCxnSpPr>
                <a:stCxn id="162" idx="5"/>
                <a:endCxn id="161" idx="3"/>
              </p:cNvCxnSpPr>
              <p:nvPr/>
            </p:nvCxnSpPr>
            <p:spPr bwMode="auto">
              <a:xfrm flipV="1">
                <a:off x="5879704" y="6421706"/>
                <a:ext cx="601642" cy="5115"/>
              </a:xfrm>
              <a:prstGeom prst="line">
                <a:avLst/>
              </a:prstGeom>
              <a:ln w="254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直接连接符 164"/>
              <p:cNvCxnSpPr>
                <a:stCxn id="160" idx="5"/>
                <a:endCxn id="161" idx="5"/>
              </p:cNvCxnSpPr>
              <p:nvPr/>
            </p:nvCxnSpPr>
            <p:spPr bwMode="auto">
              <a:xfrm>
                <a:off x="6205515" y="5920069"/>
                <a:ext cx="326743" cy="501637"/>
              </a:xfrm>
              <a:prstGeom prst="line">
                <a:avLst/>
              </a:prstGeom>
              <a:ln w="254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4" name="矩形 153"/>
                <p:cNvSpPr/>
                <p:nvPr/>
              </p:nvSpPr>
              <p:spPr>
                <a:xfrm>
                  <a:off x="8532440" y="6364031"/>
                  <a:ext cx="340863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altLang="zh-CN" sz="2000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000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/>
                                    <a:ea typeface="黑体" panose="02010609060101010101" pitchFamily="49" charset="-122"/>
                                  </a:rPr>
                                  <m:t>𝒙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20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154" name="矩形 15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32440" y="6364031"/>
                  <a:ext cx="340863" cy="307777"/>
                </a:xfrm>
                <a:prstGeom prst="rect">
                  <a:avLst/>
                </a:prstGeom>
                <a:blipFill rotWithShape="1">
                  <a:blip r:embed="rId7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5" name="矩形 154"/>
                <p:cNvSpPr/>
                <p:nvPr/>
              </p:nvSpPr>
              <p:spPr>
                <a:xfrm>
                  <a:off x="8244408" y="5877272"/>
                  <a:ext cx="340863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altLang="zh-CN" sz="2000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000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/>
                                    <a:ea typeface="黑体" panose="02010609060101010101" pitchFamily="49" charset="-122"/>
                                  </a:rPr>
                                  <m:t>𝒙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20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155" name="矩形 15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44408" y="5877272"/>
                  <a:ext cx="340863" cy="307777"/>
                </a:xfrm>
                <a:prstGeom prst="rect">
                  <a:avLst/>
                </a:prstGeom>
                <a:blipFill rotWithShape="1">
                  <a:blip r:embed="rId5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6" name="矩形 155"/>
                <p:cNvSpPr/>
                <p:nvPr/>
              </p:nvSpPr>
              <p:spPr>
                <a:xfrm>
                  <a:off x="7939549" y="6364031"/>
                  <a:ext cx="340863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000" b="1" i="1" dirty="0">
                                <a:solidFill>
                                  <a:srgbClr val="FF0000"/>
                                </a:solidFill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156" name="矩形 15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39549" y="6364031"/>
                  <a:ext cx="340863" cy="307777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7" name="矩形 156"/>
                <p:cNvSpPr/>
                <p:nvPr/>
              </p:nvSpPr>
              <p:spPr>
                <a:xfrm>
                  <a:off x="6103345" y="6364031"/>
                  <a:ext cx="340863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altLang="zh-CN" sz="2000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000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/>
                                    <a:ea typeface="黑体" panose="02010609060101010101" pitchFamily="49" charset="-122"/>
                                  </a:rPr>
                                  <m:t>𝒙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2000" b="1" i="1" dirty="0">
                                <a:solidFill>
                                  <a:srgbClr val="FF0000"/>
                                </a:solidFill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157" name="矩形 15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03345" y="6364031"/>
                  <a:ext cx="340863" cy="307777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8" name="矩形 157"/>
                <p:cNvSpPr/>
                <p:nvPr/>
              </p:nvSpPr>
              <p:spPr>
                <a:xfrm>
                  <a:off x="6407786" y="5877272"/>
                  <a:ext cx="340863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0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158" name="矩形 15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07786" y="5877272"/>
                  <a:ext cx="340863" cy="307777"/>
                </a:xfrm>
                <a:prstGeom prst="rect">
                  <a:avLst/>
                </a:prstGeom>
                <a:blipFill rotWithShape="1">
                  <a:blip r:embed="rId6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9" name="矩形 158"/>
                <p:cNvSpPr/>
                <p:nvPr/>
              </p:nvSpPr>
              <p:spPr>
                <a:xfrm>
                  <a:off x="6696236" y="6364031"/>
                  <a:ext cx="340863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0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159" name="矩形 15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96236" y="6364031"/>
                  <a:ext cx="340863" cy="307777"/>
                </a:xfrm>
                <a:prstGeom prst="rect">
                  <a:avLst/>
                </a:prstGeom>
                <a:blipFill rotWithShape="1">
                  <a:blip r:embed="rId8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72" name="椭圆 171"/>
          <p:cNvSpPr/>
          <p:nvPr/>
        </p:nvSpPr>
        <p:spPr bwMode="auto">
          <a:xfrm>
            <a:off x="6624244" y="5320953"/>
            <a:ext cx="144000" cy="144000"/>
          </a:xfrm>
          <a:prstGeom prst="ellipse">
            <a:avLst/>
          </a:prstGeom>
          <a:solidFill>
            <a:srgbClr val="FF0000"/>
          </a:solidFill>
          <a:ln w="381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73" name="椭圆 172"/>
          <p:cNvSpPr/>
          <p:nvPr/>
        </p:nvSpPr>
        <p:spPr bwMode="auto">
          <a:xfrm>
            <a:off x="7838531" y="5332112"/>
            <a:ext cx="144000" cy="144000"/>
          </a:xfrm>
          <a:prstGeom prst="ellipse">
            <a:avLst/>
          </a:prstGeom>
          <a:solidFill>
            <a:srgbClr val="FF0000"/>
          </a:solidFill>
          <a:ln w="381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74" name="椭圆 173"/>
          <p:cNvSpPr/>
          <p:nvPr/>
        </p:nvSpPr>
        <p:spPr bwMode="auto">
          <a:xfrm>
            <a:off x="8324264" y="5330972"/>
            <a:ext cx="144000" cy="144000"/>
          </a:xfrm>
          <a:prstGeom prst="ellipse">
            <a:avLst/>
          </a:prstGeom>
          <a:solidFill>
            <a:srgbClr val="FF0000"/>
          </a:solidFill>
          <a:ln w="381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175" name="直接连接符 174"/>
          <p:cNvCxnSpPr/>
          <p:nvPr/>
        </p:nvCxnSpPr>
        <p:spPr bwMode="auto">
          <a:xfrm flipH="1">
            <a:off x="6411863" y="5443353"/>
            <a:ext cx="283095" cy="868671"/>
          </a:xfrm>
          <a:prstGeom prst="line">
            <a:avLst/>
          </a:prstGeom>
          <a:ln w="635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直接连接符 175"/>
          <p:cNvCxnSpPr/>
          <p:nvPr/>
        </p:nvCxnSpPr>
        <p:spPr bwMode="auto">
          <a:xfrm flipH="1">
            <a:off x="7105948" y="5392953"/>
            <a:ext cx="1354484" cy="925924"/>
          </a:xfrm>
          <a:prstGeom prst="line">
            <a:avLst/>
          </a:prstGeom>
          <a:ln w="635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直接连接符 176"/>
          <p:cNvCxnSpPr/>
          <p:nvPr/>
        </p:nvCxnSpPr>
        <p:spPr bwMode="auto">
          <a:xfrm>
            <a:off x="7917191" y="5432809"/>
            <a:ext cx="615249" cy="383007"/>
          </a:xfrm>
          <a:prstGeom prst="line">
            <a:avLst/>
          </a:prstGeom>
          <a:ln w="635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直接连接符 177"/>
          <p:cNvCxnSpPr/>
          <p:nvPr/>
        </p:nvCxnSpPr>
        <p:spPr bwMode="auto">
          <a:xfrm>
            <a:off x="6262421" y="5385935"/>
            <a:ext cx="469811" cy="0"/>
          </a:xfrm>
          <a:prstGeom prst="line">
            <a:avLst/>
          </a:prstGeom>
          <a:ln w="635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直接连接符 178"/>
          <p:cNvCxnSpPr/>
          <p:nvPr/>
        </p:nvCxnSpPr>
        <p:spPr bwMode="auto">
          <a:xfrm>
            <a:off x="7423198" y="5395065"/>
            <a:ext cx="469811" cy="0"/>
          </a:xfrm>
          <a:prstGeom prst="line">
            <a:avLst/>
          </a:prstGeom>
          <a:ln w="635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直接连接符 179"/>
          <p:cNvCxnSpPr/>
          <p:nvPr/>
        </p:nvCxnSpPr>
        <p:spPr bwMode="auto">
          <a:xfrm>
            <a:off x="8452102" y="5392953"/>
            <a:ext cx="469811" cy="0"/>
          </a:xfrm>
          <a:prstGeom prst="line">
            <a:avLst/>
          </a:prstGeom>
          <a:ln w="635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直接连接符 180"/>
          <p:cNvCxnSpPr/>
          <p:nvPr/>
        </p:nvCxnSpPr>
        <p:spPr bwMode="auto">
          <a:xfrm flipH="1">
            <a:off x="6450894" y="5851069"/>
            <a:ext cx="274899" cy="455840"/>
          </a:xfrm>
          <a:prstGeom prst="line">
            <a:avLst/>
          </a:prstGeom>
          <a:ln w="63500">
            <a:solidFill>
              <a:srgbClr val="0066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直接连接符 181"/>
          <p:cNvCxnSpPr/>
          <p:nvPr/>
        </p:nvCxnSpPr>
        <p:spPr bwMode="auto">
          <a:xfrm flipV="1">
            <a:off x="6450894" y="6352706"/>
            <a:ext cx="601642" cy="5115"/>
          </a:xfrm>
          <a:prstGeom prst="line">
            <a:avLst/>
          </a:prstGeom>
          <a:ln w="63500">
            <a:solidFill>
              <a:srgbClr val="0000A8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直接连接符 182"/>
          <p:cNvCxnSpPr/>
          <p:nvPr/>
        </p:nvCxnSpPr>
        <p:spPr bwMode="auto">
          <a:xfrm>
            <a:off x="6739414" y="5851069"/>
            <a:ext cx="326743" cy="501637"/>
          </a:xfrm>
          <a:prstGeom prst="line">
            <a:avLst/>
          </a:prstGeom>
          <a:ln w="63500">
            <a:solidFill>
              <a:srgbClr val="0066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椭圆 183"/>
          <p:cNvSpPr/>
          <p:nvPr/>
        </p:nvSpPr>
        <p:spPr bwMode="auto">
          <a:xfrm>
            <a:off x="6983038" y="6276024"/>
            <a:ext cx="144000" cy="144000"/>
          </a:xfrm>
          <a:prstGeom prst="ellipse">
            <a:avLst/>
          </a:prstGeom>
          <a:solidFill>
            <a:srgbClr val="0000A8"/>
          </a:solidFill>
          <a:ln w="38100">
            <a:solidFill>
              <a:srgbClr val="0000A8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185" name="直接连接符 184"/>
          <p:cNvCxnSpPr/>
          <p:nvPr/>
        </p:nvCxnSpPr>
        <p:spPr bwMode="auto">
          <a:xfrm flipH="1">
            <a:off x="8264573" y="5841272"/>
            <a:ext cx="274899" cy="455840"/>
          </a:xfrm>
          <a:prstGeom prst="line">
            <a:avLst/>
          </a:prstGeom>
          <a:ln w="63500">
            <a:solidFill>
              <a:srgbClr val="0066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直接连接符 185"/>
          <p:cNvCxnSpPr/>
          <p:nvPr/>
        </p:nvCxnSpPr>
        <p:spPr bwMode="auto">
          <a:xfrm flipV="1">
            <a:off x="8264573" y="6342909"/>
            <a:ext cx="601642" cy="5115"/>
          </a:xfrm>
          <a:prstGeom prst="line">
            <a:avLst/>
          </a:prstGeom>
          <a:ln w="63500">
            <a:solidFill>
              <a:srgbClr val="0066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直接连接符 186"/>
          <p:cNvCxnSpPr/>
          <p:nvPr/>
        </p:nvCxnSpPr>
        <p:spPr bwMode="auto">
          <a:xfrm>
            <a:off x="8553093" y="5841272"/>
            <a:ext cx="326743" cy="501637"/>
          </a:xfrm>
          <a:prstGeom prst="line">
            <a:avLst/>
          </a:prstGeom>
          <a:ln w="63500">
            <a:solidFill>
              <a:srgbClr val="0000A8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直接连接符 187"/>
          <p:cNvCxnSpPr/>
          <p:nvPr/>
        </p:nvCxnSpPr>
        <p:spPr bwMode="auto">
          <a:xfrm flipH="1">
            <a:off x="6774948" y="5417139"/>
            <a:ext cx="581269" cy="386248"/>
          </a:xfrm>
          <a:prstGeom prst="line">
            <a:avLst/>
          </a:prstGeom>
          <a:ln w="63500">
            <a:solidFill>
              <a:srgbClr val="0066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9" name="椭圆 188"/>
          <p:cNvSpPr/>
          <p:nvPr/>
        </p:nvSpPr>
        <p:spPr bwMode="auto">
          <a:xfrm>
            <a:off x="6660232" y="5788618"/>
            <a:ext cx="144000" cy="144000"/>
          </a:xfrm>
          <a:prstGeom prst="ellipse">
            <a:avLst/>
          </a:prstGeom>
          <a:solidFill>
            <a:srgbClr val="006600"/>
          </a:solidFill>
          <a:ln w="38100">
            <a:solidFill>
              <a:srgbClr val="0066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190" name="直接连接符 189"/>
          <p:cNvCxnSpPr/>
          <p:nvPr/>
        </p:nvCxnSpPr>
        <p:spPr bwMode="auto">
          <a:xfrm>
            <a:off x="6268850" y="5438972"/>
            <a:ext cx="1979715" cy="882456"/>
          </a:xfrm>
          <a:prstGeom prst="line">
            <a:avLst/>
          </a:prstGeom>
          <a:ln w="63500">
            <a:solidFill>
              <a:srgbClr val="0066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1" name="椭圆 190"/>
          <p:cNvSpPr/>
          <p:nvPr/>
        </p:nvSpPr>
        <p:spPr bwMode="auto">
          <a:xfrm>
            <a:off x="8192573" y="6254332"/>
            <a:ext cx="144000" cy="144000"/>
          </a:xfrm>
          <a:prstGeom prst="ellipse">
            <a:avLst/>
          </a:prstGeom>
          <a:solidFill>
            <a:srgbClr val="006600"/>
          </a:solidFill>
          <a:ln w="38100">
            <a:solidFill>
              <a:srgbClr val="0066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192" name="直接连接符 191"/>
          <p:cNvCxnSpPr/>
          <p:nvPr/>
        </p:nvCxnSpPr>
        <p:spPr bwMode="auto">
          <a:xfrm flipH="1">
            <a:off x="8901625" y="5443353"/>
            <a:ext cx="3963" cy="898063"/>
          </a:xfrm>
          <a:prstGeom prst="line">
            <a:avLst/>
          </a:prstGeom>
          <a:ln w="63500">
            <a:solidFill>
              <a:srgbClr val="0000A8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" name="椭圆 192"/>
          <p:cNvSpPr/>
          <p:nvPr/>
        </p:nvSpPr>
        <p:spPr bwMode="auto">
          <a:xfrm>
            <a:off x="8796717" y="6266227"/>
            <a:ext cx="144000" cy="144000"/>
          </a:xfrm>
          <a:prstGeom prst="ellipse">
            <a:avLst/>
          </a:prstGeom>
          <a:solidFill>
            <a:srgbClr val="0000A8"/>
          </a:solidFill>
          <a:ln w="38100">
            <a:solidFill>
              <a:srgbClr val="0000A8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94" name="矩形 193"/>
          <p:cNvSpPr/>
          <p:nvPr/>
        </p:nvSpPr>
        <p:spPr>
          <a:xfrm>
            <a:off x="2265254" y="5402972"/>
            <a:ext cx="284431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 smtClean="0"/>
              <a:t>x</a:t>
            </a:r>
            <a:r>
              <a:rPr lang="en-US" altLang="zh-CN" sz="2400" b="1" baseline="-25000" dirty="0" smtClean="0"/>
              <a:t>1</a:t>
            </a:r>
            <a:r>
              <a:rPr lang="en-US" altLang="zh-CN" sz="2400" b="1" dirty="0" smtClean="0"/>
              <a:t>=0</a:t>
            </a:r>
            <a:r>
              <a:rPr lang="zh-CN" altLang="en-US" sz="2400" b="1" dirty="0" smtClean="0"/>
              <a:t>，</a:t>
            </a:r>
            <a:r>
              <a:rPr lang="en-US" altLang="zh-CN" sz="2400" b="1" dirty="0" smtClean="0"/>
              <a:t>x</a:t>
            </a:r>
            <a:r>
              <a:rPr lang="en-US" altLang="zh-CN" sz="2400" b="1" baseline="-25000" dirty="0" smtClean="0"/>
              <a:t>2</a:t>
            </a:r>
            <a:r>
              <a:rPr lang="en-US" altLang="zh-CN" sz="2400" b="1" dirty="0" smtClean="0"/>
              <a:t>=0</a:t>
            </a:r>
            <a:r>
              <a:rPr lang="zh-CN" altLang="zh-CN" sz="2400" b="1" dirty="0" smtClean="0"/>
              <a:t>，</a:t>
            </a:r>
            <a:r>
              <a:rPr lang="en-US" altLang="zh-CN" sz="2400" b="1" dirty="0" smtClean="0"/>
              <a:t>x</a:t>
            </a:r>
            <a:r>
              <a:rPr lang="en-US" altLang="zh-CN" sz="2400" b="1" baseline="-25000" dirty="0" smtClean="0"/>
              <a:t>3</a:t>
            </a:r>
            <a:r>
              <a:rPr lang="en-US" altLang="zh-CN" sz="2400" b="1" dirty="0" smtClean="0"/>
              <a:t>=1</a:t>
            </a: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2" grpId="0" animBg="1"/>
      <p:bldP spid="173" grpId="0" animBg="1"/>
      <p:bldP spid="174" grpId="0" animBg="1"/>
      <p:bldP spid="184" grpId="0" animBg="1"/>
      <p:bldP spid="189" grpId="0" animBg="1"/>
      <p:bldP spid="191" grpId="0" animBg="1"/>
      <p:bldP spid="193" grpId="0" animBg="1"/>
      <p:bldP spid="19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子集和问题是</a:t>
            </a:r>
            <a:r>
              <a:rPr lang="en-US" altLang="zh-CN" dirty="0" smtClean="0"/>
              <a:t>NP</a:t>
            </a:r>
            <a:r>
              <a:rPr lang="zh-CN" altLang="en-US" dirty="0" smtClean="0"/>
              <a:t>完全问题</a:t>
            </a:r>
            <a:endParaRPr lang="zh-CN" altLang="en-US" dirty="0" smtClean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195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子集和问题</a:t>
                </a:r>
                <a:endParaRPr lang="en-US" altLang="zh-CN" dirty="0" smtClean="0">
                  <a:latin typeface="Arial" panose="02080604020202020204" pitchFamily="34" charset="0"/>
                  <a:ea typeface="黑体" panose="02010609060101010101" pitchFamily="49" charset="-122"/>
                </a:endParaRPr>
              </a:p>
              <a:p>
                <a:pPr lvl="1"/>
                <a:r>
                  <a:rPr lang="zh-CN" altLang="zh-CN" dirty="0"/>
                  <a:t>有一个数</a:t>
                </a:r>
                <a:r>
                  <a:rPr lang="zh-CN" altLang="zh-CN" dirty="0" smtClean="0"/>
                  <a:t>集</a:t>
                </a:r>
                <a:r>
                  <a:rPr lang="en-US" altLang="zh-CN" dirty="0" smtClean="0"/>
                  <a:t> A ={</a:t>
                </a:r>
                <a:r>
                  <a:rPr lang="en-US" altLang="zh-CN" dirty="0"/>
                  <a:t>a</a:t>
                </a:r>
                <a:r>
                  <a:rPr lang="en-US" altLang="zh-CN" baseline="-25000" dirty="0"/>
                  <a:t>1</a:t>
                </a:r>
                <a:r>
                  <a:rPr lang="en-US" altLang="zh-CN" dirty="0"/>
                  <a:t>,a</a:t>
                </a:r>
                <a:r>
                  <a:rPr lang="en-US" altLang="zh-CN" baseline="-25000" dirty="0"/>
                  <a:t>2</a:t>
                </a:r>
                <a:r>
                  <a:rPr lang="en-US" altLang="zh-CN" dirty="0"/>
                  <a:t>,</a:t>
                </a:r>
                <a:r>
                  <a:rPr lang="zh-CN" altLang="zh-CN" dirty="0"/>
                  <a:t>…</a:t>
                </a:r>
                <a:r>
                  <a:rPr lang="en-US" altLang="zh-CN" dirty="0"/>
                  <a:t>,a</a:t>
                </a:r>
                <a:r>
                  <a:rPr lang="en-US" altLang="zh-CN" baseline="-25000" dirty="0"/>
                  <a:t>n</a:t>
                </a:r>
                <a:r>
                  <a:rPr lang="en-US" altLang="zh-CN" dirty="0"/>
                  <a:t>}</a:t>
                </a:r>
                <a:r>
                  <a:rPr lang="zh-CN" altLang="zh-CN" dirty="0"/>
                  <a:t>及一</a:t>
                </a:r>
                <a:r>
                  <a:rPr lang="zh-CN" altLang="zh-CN" dirty="0" smtClean="0"/>
                  <a:t>个目标数</a:t>
                </a:r>
                <a:r>
                  <a:rPr lang="en-US" altLang="zh-CN" dirty="0"/>
                  <a:t>B</a:t>
                </a:r>
                <a:r>
                  <a:rPr lang="zh-CN" altLang="zh-CN" dirty="0" smtClean="0"/>
                  <a:t>，</a:t>
                </a:r>
                <a:r>
                  <a:rPr lang="zh-CN" altLang="zh-CN" dirty="0"/>
                  <a:t>问</a:t>
                </a:r>
                <a:r>
                  <a:rPr lang="en-US" altLang="zh-CN" dirty="0"/>
                  <a:t>A</a:t>
                </a:r>
                <a:r>
                  <a:rPr lang="zh-CN" altLang="zh-CN" dirty="0"/>
                  <a:t>中是否能</a:t>
                </a:r>
                <a:r>
                  <a:rPr lang="zh-CN" altLang="zh-CN" dirty="0" smtClean="0"/>
                  <a:t>找出子集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/>
                      </a:rPr>
                      <m:t>𝑨</m:t>
                    </m:r>
                    <m:r>
                      <a:rPr lang="en-US" altLang="zh-CN" b="1" i="1" smtClean="0">
                        <a:latin typeface="Cambria Math" panose="02040503050406030204"/>
                      </a:rPr>
                      <m:t>′⊆</m:t>
                    </m:r>
                    <m:r>
                      <a:rPr lang="en-US" altLang="zh-CN" b="1" i="1" smtClean="0">
                        <a:latin typeface="Cambria Math" panose="02040503050406030204"/>
                        <a:ea typeface="Cambria Math" panose="02040503050406030204"/>
                      </a:rPr>
                      <m:t>𝑨</m:t>
                    </m:r>
                  </m:oMath>
                </a14:m>
                <a:r>
                  <a:rPr lang="zh-CN" altLang="zh-CN" dirty="0" smtClean="0"/>
                  <a:t>，</a:t>
                </a:r>
                <a:r>
                  <a:rPr lang="zh-CN" altLang="zh-CN" dirty="0"/>
                  <a:t>使得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 panose="02040503050406030204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/>
                              </a:rPr>
                              <m:t>𝒊</m:t>
                            </m:r>
                          </m:sub>
                        </m:sSub>
                        <m:r>
                          <m:rPr>
                            <m:brk m:alnAt="7"/>
                          </m:rPr>
                          <a:rPr lang="en-US" altLang="zh-CN" i="1">
                            <a:latin typeface="Cambria Math" panose="02040503050406030204"/>
                            <a:ea typeface="Cambria Math" panose="02040503050406030204"/>
                          </a:rPr>
                          <m:t>∈</m:t>
                        </m:r>
                        <m:sSup>
                          <m:sSup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  <a:ea typeface="Cambria Math" panose="02040503050406030204"/>
                              </a:rPr>
                            </m:ctrlPr>
                          </m:sSupPr>
                          <m:e>
                            <m:r>
                              <a:rPr lang="en-US" altLang="zh-CN" b="1" i="1" smtClean="0">
                                <a:latin typeface="Cambria Math" panose="02040503050406030204"/>
                                <a:ea typeface="Cambria Math" panose="02040503050406030204"/>
                              </a:rPr>
                              <m:t>𝑨</m:t>
                            </m:r>
                          </m:e>
                          <m:sup>
                            <m:r>
                              <a:rPr lang="en-US" altLang="zh-CN" b="1" i="1" smtClean="0">
                                <a:latin typeface="Cambria Math" panose="02040503050406030204"/>
                                <a:ea typeface="Cambria Math" panose="02040503050406030204"/>
                              </a:rPr>
                              <m:t>′</m:t>
                            </m:r>
                          </m:sup>
                        </m:sSup>
                      </m:sub>
                      <m:sup/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/>
                              </a:rPr>
                              <m:t>𝒊</m:t>
                            </m:r>
                          </m:sub>
                        </m:sSub>
                        <m:r>
                          <a:rPr lang="en-US" altLang="zh-CN" b="1" i="1" smtClean="0">
                            <a:latin typeface="Cambria Math" panose="02040503050406030204"/>
                          </a:rPr>
                          <m:t>=</m:t>
                        </m:r>
                        <m:r>
                          <a:rPr lang="en-US" altLang="zh-CN" b="1" i="1" smtClean="0">
                            <a:latin typeface="Cambria Math" panose="02040503050406030204"/>
                          </a:rPr>
                          <m:t>𝑩</m:t>
                        </m:r>
                      </m:e>
                    </m:nary>
                  </m:oMath>
                </a14:m>
                <a:r>
                  <a:rPr lang="zh-CN" altLang="zh-CN" dirty="0" smtClean="0"/>
                  <a:t>？</a:t>
                </a:r>
                <a:endParaRPr lang="en-US" altLang="zh-CN" dirty="0" smtClean="0"/>
              </a:p>
              <a:p>
                <a:r>
                  <a:rPr lang="en-US" altLang="zh-CN" dirty="0">
                    <a:latin typeface="Arial" panose="02080604020202020204" pitchFamily="34" charset="0"/>
                    <a:ea typeface="黑体" panose="02010609060101010101" pitchFamily="49" charset="-122"/>
                  </a:rPr>
                  <a:t>3CNF-SAT</a:t>
                </a:r>
                <a:r>
                  <a:rPr lang="zh-CN" altLang="en-US" dirty="0">
                    <a:latin typeface="Arial" panose="02080604020202020204" pitchFamily="34" charset="0"/>
                    <a:ea typeface="黑体" panose="02010609060101010101" pitchFamily="49" charset="-122"/>
                  </a:rPr>
                  <a:t>问题</a:t>
                </a:r>
                <a:endParaRPr lang="en-US" altLang="zh-CN" dirty="0">
                  <a:latin typeface="Arial" panose="02080604020202020204" pitchFamily="34" charset="0"/>
                  <a:ea typeface="黑体" panose="02010609060101010101" pitchFamily="49" charset="-122"/>
                </a:endParaRPr>
              </a:p>
              <a:p>
                <a:pPr lvl="1"/>
                <a:r>
                  <a:rPr lang="zh-CN" altLang="en-US" dirty="0">
                    <a:latin typeface="Arial" panose="02080604020202020204" pitchFamily="34" charset="0"/>
                    <a:ea typeface="黑体" panose="02010609060101010101" pitchFamily="49" charset="-122"/>
                  </a:rPr>
                  <a:t>给定</a:t>
                </a:r>
                <a:r>
                  <a:rPr lang="en-US" altLang="zh-CN" dirty="0">
                    <a:latin typeface="Arial" panose="02080604020202020204" pitchFamily="34" charset="0"/>
                    <a:ea typeface="黑体" panose="02010609060101010101" pitchFamily="49" charset="-122"/>
                  </a:rPr>
                  <a:t>n</a:t>
                </a:r>
                <a:r>
                  <a:rPr lang="zh-CN" altLang="en-US" dirty="0">
                    <a:latin typeface="Arial" panose="02080604020202020204" pitchFamily="34" charset="0"/>
                    <a:ea typeface="黑体" panose="02010609060101010101" pitchFamily="49" charset="-122"/>
                  </a:rPr>
                  <a:t>个布尔变元和</a:t>
                </a:r>
                <a:r>
                  <a:rPr lang="en-US" altLang="zh-CN" dirty="0">
                    <a:latin typeface="Arial" panose="02080604020202020204" pitchFamily="34" charset="0"/>
                    <a:ea typeface="黑体" panose="02010609060101010101" pitchFamily="49" charset="-122"/>
                  </a:rPr>
                  <a:t>m</a:t>
                </a:r>
                <a:r>
                  <a:rPr lang="zh-CN" altLang="en-US" dirty="0">
                    <a:latin typeface="Arial" panose="02080604020202020204" pitchFamily="34" charset="0"/>
                    <a:ea typeface="黑体" panose="02010609060101010101" pitchFamily="49" charset="-122"/>
                  </a:rPr>
                  <a:t>个子句，子句是</a:t>
                </a:r>
                <a:r>
                  <a:rPr lang="en-US" altLang="zh-CN" dirty="0">
                    <a:latin typeface="Arial" panose="02080604020202020204" pitchFamily="34" charset="0"/>
                    <a:ea typeface="黑体" panose="02010609060101010101" pitchFamily="49" charset="-122"/>
                  </a:rPr>
                  <a:t>3</a:t>
                </a:r>
                <a:r>
                  <a:rPr lang="zh-CN" altLang="en-US" dirty="0">
                    <a:latin typeface="Arial" panose="02080604020202020204" pitchFamily="34" charset="0"/>
                    <a:ea typeface="黑体" panose="02010609060101010101" pitchFamily="49" charset="-122"/>
                  </a:rPr>
                  <a:t>个文字</a:t>
                </a:r>
                <a:r>
                  <a:rPr lang="en-US" altLang="zh-CN" dirty="0">
                    <a:latin typeface="Arial" panose="02080604020202020204" pitchFamily="34" charset="0"/>
                    <a:ea typeface="黑体" panose="02010609060101010101" pitchFamily="49" charset="-122"/>
                  </a:rPr>
                  <a:t>(</a:t>
                </a:r>
                <a:r>
                  <a:rPr lang="zh-CN" altLang="en-US" dirty="0">
                    <a:latin typeface="Arial" panose="02080604020202020204" pitchFamily="34" charset="0"/>
                    <a:ea typeface="黑体" panose="02010609060101010101" pitchFamily="49" charset="-122"/>
                  </a:rPr>
                  <a:t>变元或变元的非</a:t>
                </a:r>
                <a:r>
                  <a:rPr lang="en-US" altLang="zh-CN" dirty="0">
                    <a:latin typeface="Arial" panose="02080604020202020204" pitchFamily="34" charset="0"/>
                    <a:ea typeface="黑体" panose="02010609060101010101" pitchFamily="49" charset="-122"/>
                  </a:rPr>
                  <a:t>)</a:t>
                </a:r>
                <a:r>
                  <a:rPr lang="zh-CN" altLang="en-US" dirty="0">
                    <a:latin typeface="Arial" panose="02080604020202020204" pitchFamily="34" charset="0"/>
                    <a:ea typeface="黑体" panose="02010609060101010101" pitchFamily="49" charset="-122"/>
                  </a:rPr>
                  <a:t>的析取操作</a:t>
                </a:r>
                <a:endParaRPr lang="en-US" altLang="zh-CN" dirty="0">
                  <a:latin typeface="Arial" panose="02080604020202020204" pitchFamily="34" charset="0"/>
                  <a:ea typeface="黑体" panose="02010609060101010101" pitchFamily="49" charset="-122"/>
                </a:endParaRPr>
              </a:p>
              <a:p>
                <a:pPr lvl="2"/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/>
                        <a:ea typeface="黑体" panose="02010609060101010101" pitchFamily="49" charset="-122"/>
                      </a:rPr>
                      <m:t>(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i="1" dirty="0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𝒙</m:t>
                            </m:r>
                          </m:e>
                        </m:acc>
                      </m:e>
                      <m:sub>
                        <m:r>
                          <a:rPr lang="en-US" altLang="zh-CN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𝟏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/>
                        <a:ea typeface="黑体" panose="02010609060101010101" pitchFamily="49" charset="-122"/>
                      </a:rPr>
                      <m:t>∨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𝟐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/>
                        <a:ea typeface="黑体" panose="02010609060101010101" pitchFamily="49" charset="-122"/>
                      </a:rPr>
                      <m:t>∨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𝟑</m:t>
                        </m:r>
                      </m:sub>
                    </m:sSub>
                    <m:r>
                      <a:rPr lang="en-US" altLang="zh-CN" dirty="0">
                        <a:latin typeface="Cambria Math" panose="02040503050406030204"/>
                        <a:ea typeface="黑体" panose="02010609060101010101" pitchFamily="49" charset="-122"/>
                      </a:rPr>
                      <m:t>)</m:t>
                    </m:r>
                  </m:oMath>
                </a14:m>
                <a:endParaRPr lang="en-US" altLang="zh-CN" dirty="0">
                  <a:latin typeface="Arial" panose="02080604020202020204" pitchFamily="34" charset="0"/>
                  <a:ea typeface="黑体" panose="02010609060101010101" pitchFamily="49" charset="-122"/>
                </a:endParaRPr>
              </a:p>
              <a:p>
                <a:pPr lvl="1"/>
                <a:r>
                  <a:rPr lang="zh-CN" altLang="en-US" dirty="0">
                    <a:latin typeface="Arial" panose="02080604020202020204" pitchFamily="34" charset="0"/>
                    <a:ea typeface="黑体" panose="02010609060101010101" pitchFamily="49" charset="-122"/>
                  </a:rPr>
                  <a:t>问这</a:t>
                </a:r>
                <a:r>
                  <a:rPr lang="en-US" altLang="zh-CN" dirty="0">
                    <a:latin typeface="Arial" panose="02080604020202020204" pitchFamily="34" charset="0"/>
                    <a:ea typeface="黑体" panose="02010609060101010101" pitchFamily="49" charset="-122"/>
                  </a:rPr>
                  <a:t>m</a:t>
                </a:r>
                <a:r>
                  <a:rPr lang="zh-CN" altLang="en-US" dirty="0">
                    <a:latin typeface="Arial" panose="02080604020202020204" pitchFamily="34" charset="0"/>
                    <a:ea typeface="黑体" panose="02010609060101010101" pitchFamily="49" charset="-122"/>
                  </a:rPr>
                  <a:t>个子句的合取范式的值可否为真？</a:t>
                </a:r>
                <a:endParaRPr lang="en-US" altLang="zh-CN" dirty="0">
                  <a:latin typeface="Arial" panose="02080604020202020204" pitchFamily="34" charset="0"/>
                  <a:ea typeface="黑体" panose="02010609060101010101" pitchFamily="49" charset="-122"/>
                </a:endParaRPr>
              </a:p>
              <a:p>
                <a:pPr lvl="2"/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/>
                        <a:ea typeface="黑体" panose="02010609060101010101" pitchFamily="49" charset="-122"/>
                      </a:rPr>
                      <m:t>(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i="1" dirty="0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𝒙</m:t>
                            </m:r>
                          </m:e>
                        </m:acc>
                      </m:e>
                      <m:sub>
                        <m:r>
                          <a:rPr lang="en-US" altLang="zh-CN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𝟏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/>
                        <a:ea typeface="黑体" panose="02010609060101010101" pitchFamily="49" charset="-122"/>
                      </a:rPr>
                      <m:t>∨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𝟐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/>
                        <a:ea typeface="黑体" panose="02010609060101010101" pitchFamily="49" charset="-122"/>
                      </a:rPr>
                      <m:t>∨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𝟑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/>
                        <a:ea typeface="黑体" panose="02010609060101010101" pitchFamily="49" charset="-122"/>
                      </a:rPr>
                      <m:t>)</m:t>
                    </m:r>
                    <m:r>
                      <a:rPr lang="en-US" altLang="zh-CN" i="1" dirty="0">
                        <a:latin typeface="Cambria Math" panose="02040503050406030204"/>
                        <a:ea typeface="Cambria Math" panose="02040503050406030204"/>
                      </a:rPr>
                      <m:t>∧</m:t>
                    </m:r>
                    <m:r>
                      <a:rPr lang="en-US" altLang="zh-CN" i="1" dirty="0">
                        <a:latin typeface="Cambria Math" panose="02040503050406030204"/>
                        <a:ea typeface="黑体" panose="02010609060101010101" pitchFamily="49" charset="-122"/>
                      </a:rPr>
                      <m:t>(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𝟕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/>
                        <a:ea typeface="黑体" panose="02010609060101010101" pitchFamily="49" charset="-122"/>
                      </a:rPr>
                      <m:t>∨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𝟗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/>
                        <a:ea typeface="黑体" panose="02010609060101010101" pitchFamily="49" charset="-122"/>
                      </a:rPr>
                      <m:t>∨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i="1" dirty="0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𝒙</m:t>
                            </m:r>
                          </m:e>
                        </m:acc>
                      </m:e>
                      <m:sub>
                        <m:r>
                          <a:rPr lang="en-US" altLang="zh-CN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𝟏𝟎</m:t>
                        </m:r>
                      </m:sub>
                    </m:sSub>
                    <m:r>
                      <a:rPr lang="en-US" altLang="zh-CN" dirty="0">
                        <a:latin typeface="Cambria Math" panose="02040503050406030204"/>
                        <a:ea typeface="黑体" panose="02010609060101010101" pitchFamily="49" charset="-122"/>
                      </a:rPr>
                      <m:t>)</m:t>
                    </m:r>
                    <m:r>
                      <a:rPr lang="en-US" altLang="zh-CN" i="1" dirty="0">
                        <a:latin typeface="Cambria Math" panose="02040503050406030204"/>
                        <a:ea typeface="Cambria Math" panose="02040503050406030204"/>
                      </a:rPr>
                      <m:t>∧⋯∧</m:t>
                    </m:r>
                    <m:r>
                      <a:rPr lang="en-US" altLang="zh-CN" dirty="0">
                        <a:latin typeface="Cambria Math" panose="02040503050406030204"/>
                        <a:ea typeface="黑体" panose="02010609060101010101" pitchFamily="49" charset="-122"/>
                      </a:rPr>
                      <m:t>(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𝟓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/>
                        <a:ea typeface="黑体" panose="02010609060101010101" pitchFamily="49" charset="-122"/>
                      </a:rPr>
                      <m:t>∨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i="1" dirty="0"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𝒙</m:t>
                            </m:r>
                          </m:e>
                        </m:acc>
                      </m:e>
                      <m:sub>
                        <m:r>
                          <a:rPr lang="en-US" altLang="zh-CN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𝟔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/>
                        <a:ea typeface="黑体" panose="02010609060101010101" pitchFamily="49" charset="-122"/>
                      </a:rPr>
                      <m:t>∨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𝟒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/>
                        <a:ea typeface="黑体" panose="02010609060101010101" pitchFamily="49" charset="-122"/>
                      </a:rPr>
                      <m:t>)</m:t>
                    </m:r>
                  </m:oMath>
                </a14:m>
                <a:endParaRPr lang="zh-CN" altLang="en-US" dirty="0">
                  <a:latin typeface="Arial" panose="02080604020202020204" pitchFamily="34" charset="0"/>
                  <a:ea typeface="黑体" panose="02010609060101010101" pitchFamily="49" charset="-122"/>
                </a:endParaRPr>
              </a:p>
              <a:p>
                <a:pPr lvl="1"/>
                <a:endParaRPr lang="zh-CN" altLang="zh-CN" dirty="0" smtClean="0">
                  <a:latin typeface="Arial" panose="02080604020202020204" pitchFamily="34" charset="0"/>
                  <a:ea typeface="黑体" panose="02010609060101010101" pitchFamily="49" charset="-122"/>
                </a:endParaRPr>
              </a:p>
              <a:p>
                <a:endParaRPr lang="zh-CN" altLang="en-US" dirty="0" smtClean="0">
                  <a:latin typeface="Arial" panose="02080604020202020204" pitchFamily="34" charset="0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8195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t="-7" b="-2929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96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8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8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8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8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8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fld id="{166F650B-5347-4F36-8304-1500CA3F90AB}" type="slidenum">
              <a:rPr lang="en-US" altLang="zh-CN" smtClean="0">
                <a:solidFill>
                  <a:srgbClr val="006600"/>
                </a:solidFill>
                <a:latin typeface="Courier New" panose="02070309020205020404" pitchFamily="49" charset="0"/>
                <a:ea typeface="华文新魏" panose="02010800040101010101" pitchFamily="2" charset="-122"/>
              </a:rPr>
            </a:fld>
            <a:endParaRPr lang="en-US" altLang="zh-CN" dirty="0" smtClean="0">
              <a:solidFill>
                <a:srgbClr val="006600"/>
              </a:solidFill>
              <a:latin typeface="Courier New" panose="02070309020205020404" pitchFamily="49" charset="0"/>
              <a:ea typeface="华文新魏" panose="0201080004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491880" y="1268760"/>
            <a:ext cx="4191019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A 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={2, 5, 3, 6, 8, 9, 11}, B=13</a:t>
            </a:r>
            <a:endParaRPr lang="en-US" altLang="zh-CN" sz="2400" b="1" dirty="0" smtClean="0">
              <a:solidFill>
                <a:srgbClr val="FF0000"/>
              </a:solidFill>
            </a:endParaRPr>
          </a:p>
          <a:p>
            <a:r>
              <a:rPr lang="en-US" altLang="zh-CN" sz="2400" b="1" dirty="0" smtClean="0">
                <a:solidFill>
                  <a:srgbClr val="FF0000"/>
                </a:solidFill>
              </a:rPr>
              <a:t>A’={2, 3, </a:t>
            </a:r>
            <a:r>
              <a:rPr lang="en-US" altLang="zh-CN" sz="2400" b="1" dirty="0">
                <a:solidFill>
                  <a:srgbClr val="FF0000"/>
                </a:solidFill>
              </a:rPr>
              <a:t>8}</a:t>
            </a:r>
            <a:r>
              <a:rPr lang="zh-CN" altLang="en-US" sz="2400" b="1" dirty="0">
                <a:solidFill>
                  <a:srgbClr val="FF0000"/>
                </a:solidFill>
              </a:rPr>
              <a:t> ⊆ </a:t>
            </a:r>
            <a:r>
              <a:rPr lang="en-US" altLang="zh-CN" sz="2400" b="1" dirty="0">
                <a:solidFill>
                  <a:srgbClr val="FF0000"/>
                </a:solidFill>
              </a:rPr>
              <a:t>A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, 2+3+8=13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子集和问题是</a:t>
            </a:r>
            <a:r>
              <a:rPr lang="en-US" altLang="zh-CN" dirty="0" smtClean="0"/>
              <a:t>NP</a:t>
            </a:r>
            <a:r>
              <a:rPr lang="zh-CN" altLang="en-US" dirty="0" smtClean="0"/>
              <a:t>完全问题</a:t>
            </a:r>
            <a:endParaRPr lang="zh-CN" altLang="en-US" dirty="0" smtClean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195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279400" y="1484313"/>
                <a:ext cx="8229600" cy="5373687"/>
              </a:xfrm>
            </p:spPr>
            <p:txBody>
              <a:bodyPr/>
              <a:lstStyle/>
              <a:p>
                <a:r>
                  <a:rPr lang="zh-CN" altLang="en-US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证明</a:t>
                </a:r>
                <a:endParaRPr lang="zh-CN" altLang="en-US" dirty="0" smtClean="0">
                  <a:latin typeface="Arial" panose="02080604020202020204" pitchFamily="34" charset="0"/>
                  <a:ea typeface="黑体" panose="02010609060101010101" pitchFamily="49" charset="-122"/>
                </a:endParaRPr>
              </a:p>
              <a:p>
                <a:pPr lvl="1"/>
                <a:r>
                  <a:rPr lang="zh-CN" altLang="en-US" sz="2200" dirty="0">
                    <a:latin typeface="Arial" panose="02080604020202020204" pitchFamily="34" charset="0"/>
                    <a:ea typeface="黑体" panose="02010609060101010101" pitchFamily="49" charset="-122"/>
                  </a:rPr>
                  <a:t>首先</a:t>
                </a:r>
                <a:r>
                  <a:rPr lang="en-US" altLang="zh-CN" sz="2200" dirty="0">
                    <a:latin typeface="Arial" panose="02080604020202020204" pitchFamily="34" charset="0"/>
                    <a:ea typeface="黑体" panose="02010609060101010101" pitchFamily="49" charset="-122"/>
                  </a:rPr>
                  <a:t>, </a:t>
                </a:r>
                <a:r>
                  <a:rPr lang="zh-CN" altLang="en-US" sz="22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子集和问题</a:t>
                </a:r>
                <a:r>
                  <a:rPr lang="zh-CN" altLang="en-US" sz="2200" dirty="0">
                    <a:latin typeface="Arial" panose="02080604020202020204" pitchFamily="34" charset="0"/>
                    <a:ea typeface="黑体" panose="02010609060101010101" pitchFamily="49" charset="-122"/>
                  </a:rPr>
                  <a:t>是</a:t>
                </a:r>
                <a:r>
                  <a:rPr lang="en-US" altLang="zh-CN" sz="2200" dirty="0">
                    <a:latin typeface="Arial" panose="02080604020202020204" pitchFamily="34" charset="0"/>
                    <a:ea typeface="黑体" panose="02010609060101010101" pitchFamily="49" charset="-122"/>
                  </a:rPr>
                  <a:t>NP</a:t>
                </a:r>
                <a:r>
                  <a:rPr lang="zh-CN" altLang="en-US" sz="2200" dirty="0">
                    <a:latin typeface="Arial" panose="02080604020202020204" pitchFamily="34" charset="0"/>
                    <a:ea typeface="黑体" panose="02010609060101010101" pitchFamily="49" charset="-122"/>
                  </a:rPr>
                  <a:t>问题</a:t>
                </a:r>
                <a:r>
                  <a:rPr lang="en-US" altLang="zh-CN" sz="2200" dirty="0">
                    <a:latin typeface="Arial" panose="02080604020202020204" pitchFamily="34" charset="0"/>
                    <a:ea typeface="黑体" panose="02010609060101010101" pitchFamily="49" charset="-122"/>
                  </a:rPr>
                  <a:t>(</a:t>
                </a:r>
                <a:r>
                  <a:rPr lang="zh-CN" altLang="en-US" sz="2200" dirty="0">
                    <a:latin typeface="Arial" panose="02080604020202020204" pitchFamily="34" charset="0"/>
                    <a:ea typeface="黑体" panose="02010609060101010101" pitchFamily="49" charset="-122"/>
                  </a:rPr>
                  <a:t>多项式时间可验证</a:t>
                </a:r>
                <a:r>
                  <a:rPr lang="en-US" altLang="zh-CN" sz="2200" dirty="0">
                    <a:latin typeface="Arial" panose="02080604020202020204" pitchFamily="34" charset="0"/>
                    <a:ea typeface="黑体" panose="02010609060101010101" pitchFamily="49" charset="-122"/>
                  </a:rPr>
                  <a:t>)</a:t>
                </a:r>
                <a:endParaRPr lang="en-US" altLang="zh-CN" sz="2200" dirty="0">
                  <a:latin typeface="Arial" panose="02080604020202020204" pitchFamily="34" charset="0"/>
                  <a:ea typeface="黑体" panose="02010609060101010101" pitchFamily="49" charset="-122"/>
                </a:endParaRPr>
              </a:p>
              <a:p>
                <a:pPr lvl="1"/>
                <a:r>
                  <a:rPr lang="zh-CN" altLang="en-US" sz="2200" dirty="0">
                    <a:latin typeface="Arial" panose="02080604020202020204" pitchFamily="34" charset="0"/>
                    <a:ea typeface="黑体" panose="02010609060101010101" pitchFamily="49" charset="-122"/>
                  </a:rPr>
                  <a:t>规约方法 </a:t>
                </a:r>
                <a:r>
                  <a:rPr lang="zh-CN" altLang="en-US" sz="22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：</a:t>
                </a:r>
                <a:endParaRPr lang="en-US" altLang="zh-CN" sz="2200" dirty="0" smtClean="0">
                  <a:latin typeface="Arial" panose="02080604020202020204" pitchFamily="34" charset="0"/>
                  <a:ea typeface="黑体" panose="02010609060101010101" pitchFamily="49" charset="-122"/>
                </a:endParaRPr>
              </a:p>
              <a:p>
                <a:pPr lvl="2"/>
                <a:r>
                  <a:rPr lang="en-US" altLang="zh-CN" sz="22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3CNF-SAT</a:t>
                </a:r>
                <a:r>
                  <a:rPr lang="zh-CN" altLang="en-US" sz="22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有</a:t>
                </a:r>
                <a:r>
                  <a:rPr lang="en-US" altLang="zh-CN" sz="22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n</a:t>
                </a:r>
                <a:r>
                  <a:rPr lang="zh-CN" altLang="en-US" sz="22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个变元，</a:t>
                </a:r>
                <a:r>
                  <a:rPr lang="en-US" altLang="zh-CN" sz="22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m</a:t>
                </a:r>
                <a:r>
                  <a:rPr lang="zh-CN" altLang="en-US" sz="22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个子句，</a:t>
                </a:r>
                <a:endParaRPr lang="en-US" altLang="zh-CN" sz="2200" dirty="0" smtClean="0">
                  <a:latin typeface="Arial" panose="02080604020202020204" pitchFamily="34" charset="0"/>
                  <a:ea typeface="黑体" panose="02010609060101010101" pitchFamily="49" charset="-122"/>
                </a:endParaRPr>
              </a:p>
              <a:p>
                <a:pPr lvl="2"/>
                <a:r>
                  <a:rPr lang="zh-CN" altLang="en-US" sz="22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构造</a:t>
                </a:r>
                <a:r>
                  <a:rPr lang="en-US" altLang="zh-CN" sz="22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2(</a:t>
                </a:r>
                <a:r>
                  <a:rPr lang="en-US" altLang="zh-CN" sz="2200" dirty="0" err="1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n+m</a:t>
                </a:r>
                <a:r>
                  <a:rPr lang="en-US" altLang="zh-CN" sz="22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)+1</a:t>
                </a:r>
                <a:r>
                  <a:rPr lang="zh-CN" altLang="en-US" sz="22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个十进制数</a:t>
                </a:r>
                <a:r>
                  <a:rPr lang="en-US" altLang="zh-CN" sz="22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(</a:t>
                </a:r>
                <a:r>
                  <a:rPr lang="zh-CN" altLang="en-US" sz="22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每个数</a:t>
                </a:r>
                <a:r>
                  <a:rPr lang="en-US" altLang="zh-CN" sz="2200" dirty="0" err="1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n+m</a:t>
                </a:r>
                <a:r>
                  <a:rPr lang="zh-CN" altLang="en-US" sz="22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位</a:t>
                </a:r>
                <a:r>
                  <a:rPr lang="en-US" altLang="zh-CN" sz="22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)</a:t>
                </a:r>
                <a:r>
                  <a:rPr lang="zh-CN" altLang="en-US" sz="22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：</a:t>
                </a:r>
                <a:endParaRPr lang="en-US" altLang="zh-CN" sz="2200" dirty="0" smtClean="0">
                  <a:latin typeface="Arial" panose="02080604020202020204" pitchFamily="34" charset="0"/>
                  <a:ea typeface="黑体" panose="02010609060101010101" pitchFamily="49" charset="-122"/>
                </a:endParaRPr>
              </a:p>
              <a:p>
                <a:pPr lvl="3"/>
                <a:r>
                  <a:rPr lang="zh-CN" altLang="en-US" sz="2200" b="1" dirty="0" smtClean="0">
                    <a:solidFill>
                      <a:schemeClr val="bg2"/>
                    </a:solidFill>
                    <a:latin typeface="Arial" panose="02080604020202020204" pitchFamily="34" charset="0"/>
                    <a:ea typeface="黑体" panose="02010609060101010101" pitchFamily="49" charset="-122"/>
                  </a:rPr>
                  <a:t>前</a:t>
                </a:r>
                <a:r>
                  <a:rPr lang="en-US" altLang="zh-CN" sz="2200" b="1" dirty="0" smtClean="0">
                    <a:solidFill>
                      <a:schemeClr val="bg2"/>
                    </a:solidFill>
                    <a:latin typeface="Arial" panose="02080604020202020204" pitchFamily="34" charset="0"/>
                    <a:ea typeface="黑体" panose="02010609060101010101" pitchFamily="49" charset="-122"/>
                  </a:rPr>
                  <a:t>2n</a:t>
                </a:r>
                <a:r>
                  <a:rPr lang="zh-CN" altLang="en-US" sz="2200" b="1" dirty="0" smtClean="0">
                    <a:solidFill>
                      <a:schemeClr val="bg2"/>
                    </a:solidFill>
                    <a:latin typeface="Arial" panose="02080604020202020204" pitchFamily="34" charset="0"/>
                    <a:ea typeface="黑体" panose="02010609060101010101" pitchFamily="49" charset="-122"/>
                  </a:rPr>
                  <a:t>个数：</a:t>
                </a:r>
                <a:r>
                  <a:rPr lang="en-US" altLang="zh-CN" sz="2200" b="1" dirty="0" smtClean="0">
                    <a:solidFill>
                      <a:schemeClr val="bg2"/>
                    </a:solidFill>
                    <a:ea typeface="黑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200" b="1" i="1" dirty="0">
                            <a:solidFill>
                              <a:srgbClr val="FF0000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2200" b="1" i="1" dirty="0">
                            <a:solidFill>
                              <a:srgbClr val="FF0000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zh-CN" sz="2200" b="1" dirty="0">
                    <a:solidFill>
                      <a:schemeClr val="bg2"/>
                    </a:solidFill>
                  </a:rPr>
                  <a:t>与</a:t>
                </a:r>
                <a:r>
                  <a:rPr lang="en-US" altLang="zh-CN" sz="2200" b="1" dirty="0">
                    <a:solidFill>
                      <a:schemeClr val="bg2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CN" sz="22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sz="2200" b="1" i="1" dirty="0">
                                <a:solidFill>
                                  <a:srgbClr val="FF0000"/>
                                </a:solidFill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𝒙</m:t>
                            </m:r>
                          </m:e>
                        </m:acc>
                      </m:e>
                      <m:sub>
                        <m:r>
                          <a:rPr lang="en-US" altLang="zh-CN" sz="2200" b="1" i="1" dirty="0">
                            <a:solidFill>
                              <a:srgbClr val="FF0000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en-US" sz="2200" b="1" dirty="0" smtClean="0">
                    <a:solidFill>
                      <a:schemeClr val="bg2"/>
                    </a:solidFill>
                    <a:latin typeface="Arial" panose="02080604020202020204" pitchFamily="34" charset="0"/>
                    <a:ea typeface="黑体" panose="02010609060101010101" pitchFamily="49" charset="-122"/>
                  </a:rPr>
                  <a:t>第 </a:t>
                </a:r>
                <a:r>
                  <a:rPr lang="en-US" altLang="zh-CN" sz="2200" b="1" i="1" dirty="0" smtClean="0">
                    <a:solidFill>
                      <a:srgbClr val="FF0000"/>
                    </a:solidFill>
                    <a:latin typeface="+mn-lt"/>
                    <a:ea typeface="黑体" panose="02010609060101010101" pitchFamily="49" charset="-122"/>
                  </a:rPr>
                  <a:t>i </a:t>
                </a:r>
                <a:r>
                  <a:rPr lang="zh-CN" altLang="en-US" sz="2200" b="1" dirty="0">
                    <a:solidFill>
                      <a:schemeClr val="bg2"/>
                    </a:solidFill>
                    <a:latin typeface="Arial" panose="02080604020202020204" pitchFamily="34" charset="0"/>
                    <a:ea typeface="黑体" panose="02010609060101010101" pitchFamily="49" charset="-122"/>
                  </a:rPr>
                  <a:t>位</a:t>
                </a:r>
                <a:r>
                  <a:rPr lang="zh-CN" altLang="en-US" sz="2200" b="1" dirty="0" smtClean="0">
                    <a:solidFill>
                      <a:schemeClr val="bg2"/>
                    </a:solidFill>
                    <a:latin typeface="Arial" panose="02080604020202020204" pitchFamily="34" charset="0"/>
                    <a:ea typeface="黑体" panose="02010609060101010101" pitchFamily="49" charset="-122"/>
                  </a:rPr>
                  <a:t>为</a:t>
                </a:r>
                <a:r>
                  <a:rPr lang="en-US" altLang="zh-CN" sz="2200" b="1" dirty="0" smtClean="0">
                    <a:solidFill>
                      <a:schemeClr val="bg2"/>
                    </a:solidFill>
                    <a:latin typeface="Arial" panose="02080604020202020204" pitchFamily="34" charset="0"/>
                    <a:ea typeface="黑体" panose="02010609060101010101" pitchFamily="49" charset="-122"/>
                  </a:rPr>
                  <a:t>1</a:t>
                </a:r>
                <a:r>
                  <a:rPr lang="zh-CN" altLang="en-US" sz="2200" b="1" dirty="0" smtClean="0">
                    <a:solidFill>
                      <a:schemeClr val="bg2"/>
                    </a:solidFill>
                    <a:latin typeface="Arial" panose="02080604020202020204" pitchFamily="34" charset="0"/>
                    <a:ea typeface="黑体" panose="02010609060101010101" pitchFamily="49" charset="-122"/>
                  </a:rPr>
                  <a:t>，出现在</a:t>
                </a:r>
                <a:endParaRPr lang="en-US" altLang="zh-CN" sz="2200" b="1" dirty="0" smtClean="0">
                  <a:solidFill>
                    <a:schemeClr val="bg2"/>
                  </a:solidFill>
                  <a:latin typeface="Arial" panose="02080604020202020204" pitchFamily="34" charset="0"/>
                  <a:ea typeface="黑体" panose="02010609060101010101" pitchFamily="49" charset="-122"/>
                </a:endParaRPr>
              </a:p>
              <a:p>
                <a:pPr marL="1371600" lvl="3" indent="0">
                  <a:buNone/>
                </a:pPr>
                <a:r>
                  <a:rPr lang="zh-CN" altLang="en-US" sz="2200" b="1" dirty="0" smtClean="0">
                    <a:solidFill>
                      <a:schemeClr val="bg2"/>
                    </a:solidFill>
                    <a:latin typeface="Arial" panose="02080604020202020204" pitchFamily="34" charset="0"/>
                    <a:ea typeface="黑体" panose="02010609060101010101" pitchFamily="49" charset="-122"/>
                  </a:rPr>
                  <a:t>第</a:t>
                </a:r>
                <a:r>
                  <a:rPr lang="zh-CN" altLang="en-US" sz="2200" b="1" dirty="0" smtClean="0">
                    <a:solidFill>
                      <a:srgbClr val="FF0000"/>
                    </a:solidFill>
                    <a:latin typeface="Arial" panose="02080604020202020204" pitchFamily="34" charset="0"/>
                    <a:ea typeface="黑体" panose="02010609060101010101" pitchFamily="49" charset="-122"/>
                  </a:rPr>
                  <a:t> </a:t>
                </a:r>
                <a:r>
                  <a:rPr lang="en-US" altLang="zh-CN" sz="2200" b="1" i="1" dirty="0" smtClean="0">
                    <a:solidFill>
                      <a:srgbClr val="FF0000"/>
                    </a:solidFill>
                    <a:latin typeface="+mn-lt"/>
                    <a:ea typeface="黑体" panose="02010609060101010101" pitchFamily="49" charset="-122"/>
                  </a:rPr>
                  <a:t>j</a:t>
                </a:r>
                <a:r>
                  <a:rPr lang="en-US" altLang="zh-CN" sz="2200" b="1" i="1" dirty="0" smtClean="0">
                    <a:solidFill>
                      <a:schemeClr val="bg2"/>
                    </a:solidFill>
                    <a:latin typeface="+mn-lt"/>
                    <a:ea typeface="黑体" panose="02010609060101010101" pitchFamily="49" charset="-122"/>
                  </a:rPr>
                  <a:t> </a:t>
                </a:r>
                <a:r>
                  <a:rPr lang="zh-CN" altLang="en-US" sz="2200" b="1" dirty="0" smtClean="0">
                    <a:solidFill>
                      <a:schemeClr val="bg2"/>
                    </a:solidFill>
                    <a:latin typeface="Arial" panose="02080604020202020204" pitchFamily="34" charset="0"/>
                    <a:ea typeface="黑体" panose="02010609060101010101" pitchFamily="49" charset="-122"/>
                  </a:rPr>
                  <a:t>个子句，</a:t>
                </a:r>
                <a:r>
                  <a:rPr lang="en-US" altLang="zh-CN" sz="2200" b="1" i="1" dirty="0" err="1" smtClean="0">
                    <a:solidFill>
                      <a:srgbClr val="FF0000"/>
                    </a:solidFill>
                    <a:latin typeface="+mn-lt"/>
                    <a:ea typeface="黑体" panose="02010609060101010101" pitchFamily="49" charset="-122"/>
                  </a:rPr>
                  <a:t>n+j</a:t>
                </a:r>
                <a:r>
                  <a:rPr lang="en-US" altLang="zh-CN" sz="2200" b="1" i="1" dirty="0" smtClean="0">
                    <a:solidFill>
                      <a:srgbClr val="FF0000"/>
                    </a:solidFill>
                    <a:latin typeface="+mn-lt"/>
                    <a:ea typeface="黑体" panose="02010609060101010101" pitchFamily="49" charset="-122"/>
                  </a:rPr>
                  <a:t> </a:t>
                </a:r>
                <a:r>
                  <a:rPr lang="zh-CN" altLang="en-US" sz="2200" b="1" dirty="0">
                    <a:solidFill>
                      <a:schemeClr val="bg2"/>
                    </a:solidFill>
                    <a:latin typeface="Arial" panose="02080604020202020204" pitchFamily="34" charset="0"/>
                    <a:ea typeface="黑体" panose="02010609060101010101" pitchFamily="49" charset="-122"/>
                  </a:rPr>
                  <a:t>位</a:t>
                </a:r>
                <a:r>
                  <a:rPr lang="zh-CN" altLang="en-US" sz="2200" b="1" dirty="0" smtClean="0">
                    <a:solidFill>
                      <a:schemeClr val="bg2"/>
                    </a:solidFill>
                    <a:latin typeface="Arial" panose="02080604020202020204" pitchFamily="34" charset="0"/>
                    <a:ea typeface="黑体" panose="02010609060101010101" pitchFamily="49" charset="-122"/>
                  </a:rPr>
                  <a:t>为</a:t>
                </a:r>
                <a:r>
                  <a:rPr lang="en-US" altLang="zh-CN" sz="2200" b="1" dirty="0" smtClean="0">
                    <a:solidFill>
                      <a:schemeClr val="bg2"/>
                    </a:solidFill>
                    <a:latin typeface="Arial" panose="02080604020202020204" pitchFamily="34" charset="0"/>
                    <a:ea typeface="黑体" panose="02010609060101010101" pitchFamily="49" charset="-122"/>
                  </a:rPr>
                  <a:t>1</a:t>
                </a:r>
                <a:r>
                  <a:rPr lang="zh-CN" altLang="en-US" sz="2200" b="1" dirty="0" smtClean="0">
                    <a:solidFill>
                      <a:schemeClr val="bg2"/>
                    </a:solidFill>
                    <a:latin typeface="Arial" panose="02080604020202020204" pitchFamily="34" charset="0"/>
                    <a:ea typeface="黑体" panose="02010609060101010101" pitchFamily="49" charset="-122"/>
                  </a:rPr>
                  <a:t>，其他位为</a:t>
                </a:r>
                <a:r>
                  <a:rPr lang="en-US" altLang="zh-CN" sz="2200" b="1" dirty="0" smtClean="0">
                    <a:solidFill>
                      <a:schemeClr val="bg2"/>
                    </a:solidFill>
                    <a:latin typeface="Arial" panose="02080604020202020204" pitchFamily="34" charset="0"/>
                    <a:ea typeface="黑体" panose="02010609060101010101" pitchFamily="49" charset="-122"/>
                  </a:rPr>
                  <a:t>0</a:t>
                </a:r>
                <a:endParaRPr lang="en-US" altLang="zh-CN" sz="2200" b="1" dirty="0" smtClean="0">
                  <a:solidFill>
                    <a:schemeClr val="bg2"/>
                  </a:solidFill>
                  <a:latin typeface="Arial" panose="02080604020202020204" pitchFamily="34" charset="0"/>
                  <a:ea typeface="黑体" panose="02010609060101010101" pitchFamily="49" charset="-122"/>
                </a:endParaRPr>
              </a:p>
              <a:p>
                <a:pPr lvl="3"/>
                <a:r>
                  <a:rPr lang="zh-CN" altLang="en-US" sz="2200" b="1" dirty="0" smtClean="0">
                    <a:solidFill>
                      <a:schemeClr val="bg2"/>
                    </a:solidFill>
                    <a:latin typeface="Arial" panose="02080604020202020204" pitchFamily="34" charset="0"/>
                    <a:ea typeface="黑体" panose="02010609060101010101" pitchFamily="49" charset="-122"/>
                  </a:rPr>
                  <a:t>中间</a:t>
                </a:r>
                <a:r>
                  <a:rPr lang="en-US" altLang="zh-CN" sz="2200" b="1" dirty="0" smtClean="0">
                    <a:solidFill>
                      <a:schemeClr val="bg2"/>
                    </a:solidFill>
                    <a:latin typeface="Arial" panose="02080604020202020204" pitchFamily="34" charset="0"/>
                    <a:ea typeface="黑体" panose="02010609060101010101" pitchFamily="49" charset="-122"/>
                  </a:rPr>
                  <a:t>2m</a:t>
                </a:r>
                <a:r>
                  <a:rPr lang="zh-CN" altLang="en-US" sz="2200" b="1" dirty="0" smtClean="0">
                    <a:solidFill>
                      <a:schemeClr val="bg2"/>
                    </a:solidFill>
                    <a:latin typeface="Arial" panose="02080604020202020204" pitchFamily="34" charset="0"/>
                    <a:ea typeface="黑体" panose="02010609060101010101" pitchFamily="49" charset="-122"/>
                  </a:rPr>
                  <a:t>个数：</a:t>
                </a:r>
                <a:r>
                  <a:rPr lang="en-US" altLang="zh-CN" sz="2200" b="1" dirty="0" smtClean="0">
                    <a:solidFill>
                      <a:srgbClr val="FF0000"/>
                    </a:solidFill>
                    <a:ea typeface="黑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200" b="1" i="1" dirty="0" smtClean="0">
                            <a:solidFill>
                              <a:srgbClr val="FF0000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𝒈</m:t>
                        </m:r>
                      </m:e>
                      <m:sub>
                        <m:r>
                          <a:rPr lang="en-US" altLang="zh-CN" sz="2200" b="1" i="1" dirty="0" smtClean="0">
                            <a:solidFill>
                              <a:srgbClr val="FF0000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zh-CN" altLang="zh-CN" sz="2200" b="1" dirty="0">
                    <a:solidFill>
                      <a:schemeClr val="bg2"/>
                    </a:solidFill>
                  </a:rPr>
                  <a:t>与</a:t>
                </a:r>
                <a:r>
                  <a:rPr lang="en-US" altLang="zh-CN" sz="2200" b="1" dirty="0">
                    <a:solidFill>
                      <a:schemeClr val="bg2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200" b="1" i="1" dirty="0" smtClean="0">
                            <a:solidFill>
                              <a:srgbClr val="FF0000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𝒉</m:t>
                        </m:r>
                      </m:e>
                      <m:sub>
                        <m:r>
                          <a:rPr lang="en-US" altLang="zh-CN" sz="2200" b="1" i="1" dirty="0" smtClean="0">
                            <a:solidFill>
                              <a:srgbClr val="FF0000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en-US" altLang="zh-CN" sz="2200" b="1" dirty="0" smtClean="0">
                    <a:solidFill>
                      <a:schemeClr val="bg2"/>
                    </a:solidFill>
                    <a:latin typeface="Arial" panose="02080604020202020204" pitchFamily="34" charset="0"/>
                    <a:ea typeface="黑体" panose="02010609060101010101" pitchFamily="49" charset="-122"/>
                  </a:rPr>
                  <a:t> </a:t>
                </a:r>
                <a:r>
                  <a:rPr lang="zh-CN" altLang="en-US" sz="2200" b="1" dirty="0" smtClean="0">
                    <a:solidFill>
                      <a:schemeClr val="bg2"/>
                    </a:solidFill>
                    <a:latin typeface="Arial" panose="02080604020202020204" pitchFamily="34" charset="0"/>
                    <a:ea typeface="黑体" panose="02010609060101010101" pitchFamily="49" charset="-122"/>
                  </a:rPr>
                  <a:t>第 </a:t>
                </a:r>
                <a:r>
                  <a:rPr lang="en-US" altLang="zh-CN" sz="2200" b="1" i="1" dirty="0" smtClean="0">
                    <a:solidFill>
                      <a:srgbClr val="FF0000"/>
                    </a:solidFill>
                    <a:latin typeface="+mn-lt"/>
                    <a:ea typeface="黑体" panose="02010609060101010101" pitchFamily="49" charset="-122"/>
                  </a:rPr>
                  <a:t>n+j</a:t>
                </a:r>
                <a:r>
                  <a:rPr lang="zh-CN" altLang="en-US" sz="2200" b="1" dirty="0" smtClean="0">
                    <a:solidFill>
                      <a:schemeClr val="bg2"/>
                    </a:solidFill>
                    <a:latin typeface="+mn-lt"/>
                    <a:ea typeface="黑体" panose="02010609060101010101" pitchFamily="49" charset="-122"/>
                  </a:rPr>
                  <a:t> </a:t>
                </a:r>
                <a:r>
                  <a:rPr lang="zh-CN" altLang="en-US" sz="2200" b="1" dirty="0" smtClean="0">
                    <a:solidFill>
                      <a:schemeClr val="bg2"/>
                    </a:solidFill>
                    <a:latin typeface="Arial" panose="02080604020202020204" pitchFamily="34" charset="0"/>
                    <a:ea typeface="黑体" panose="02010609060101010101" pitchFamily="49" charset="-122"/>
                  </a:rPr>
                  <a:t>位为</a:t>
                </a:r>
                <a:r>
                  <a:rPr lang="en-US" altLang="zh-CN" sz="2200" b="1" dirty="0" smtClean="0">
                    <a:solidFill>
                      <a:schemeClr val="bg2"/>
                    </a:solidFill>
                    <a:latin typeface="Arial" panose="02080604020202020204" pitchFamily="34" charset="0"/>
                    <a:ea typeface="黑体" panose="02010609060101010101" pitchFamily="49" charset="-122"/>
                  </a:rPr>
                  <a:t>1</a:t>
                </a:r>
                <a:endParaRPr lang="en-US" altLang="zh-CN" sz="2200" b="1" dirty="0" smtClean="0">
                  <a:solidFill>
                    <a:schemeClr val="bg2"/>
                  </a:solidFill>
                  <a:latin typeface="Arial" panose="02080604020202020204" pitchFamily="34" charset="0"/>
                  <a:ea typeface="黑体" panose="02010609060101010101" pitchFamily="49" charset="-122"/>
                </a:endParaRPr>
              </a:p>
              <a:p>
                <a:pPr lvl="3"/>
                <a:r>
                  <a:rPr lang="zh-CN" altLang="en-US" sz="2200" b="1" dirty="0" smtClean="0">
                    <a:solidFill>
                      <a:schemeClr val="bg2"/>
                    </a:solidFill>
                    <a:latin typeface="Arial" panose="02080604020202020204" pitchFamily="34" charset="0"/>
                    <a:ea typeface="黑体" panose="02010609060101010101" pitchFamily="49" charset="-122"/>
                  </a:rPr>
                  <a:t>最后一个数：</a:t>
                </a:r>
                <a:r>
                  <a:rPr lang="en-US" altLang="zh-CN" sz="2200" b="1" dirty="0" smtClean="0">
                    <a:solidFill>
                      <a:schemeClr val="bg2"/>
                    </a:solidFill>
                    <a:latin typeface="Arial" panose="02080604020202020204" pitchFamily="34" charset="0"/>
                    <a:ea typeface="黑体" panose="02010609060101010101" pitchFamily="49" charset="-122"/>
                  </a:rPr>
                  <a:t>1……13……3(</a:t>
                </a:r>
                <a:r>
                  <a:rPr lang="en-US" altLang="zh-CN" sz="2200" b="1" dirty="0">
                    <a:solidFill>
                      <a:schemeClr val="bg2"/>
                    </a:solidFill>
                    <a:latin typeface="Arial" panose="02080604020202020204" pitchFamily="34" charset="0"/>
                    <a:ea typeface="黑体" panose="02010609060101010101" pitchFamily="49" charset="-122"/>
                  </a:rPr>
                  <a:t>n</a:t>
                </a:r>
                <a:r>
                  <a:rPr lang="zh-CN" altLang="en-US" sz="2200" b="1" dirty="0">
                    <a:solidFill>
                      <a:schemeClr val="bg2"/>
                    </a:solidFill>
                    <a:latin typeface="Arial" panose="02080604020202020204" pitchFamily="34" charset="0"/>
                    <a:ea typeface="黑体" panose="02010609060101010101" pitchFamily="49" charset="-122"/>
                  </a:rPr>
                  <a:t>个</a:t>
                </a:r>
                <a:r>
                  <a:rPr lang="en-US" altLang="zh-CN" sz="2200" b="1" dirty="0" smtClean="0">
                    <a:solidFill>
                      <a:schemeClr val="bg2"/>
                    </a:solidFill>
                    <a:latin typeface="Arial" panose="02080604020202020204" pitchFamily="34" charset="0"/>
                    <a:ea typeface="黑体" panose="02010609060101010101" pitchFamily="49" charset="-122"/>
                  </a:rPr>
                  <a:t>1</a:t>
                </a:r>
                <a:r>
                  <a:rPr lang="en-US" altLang="zh-CN" sz="2200" b="1" dirty="0">
                    <a:solidFill>
                      <a:schemeClr val="bg2"/>
                    </a:solidFill>
                    <a:latin typeface="Arial" panose="02080604020202020204" pitchFamily="34" charset="0"/>
                    <a:ea typeface="黑体" panose="02010609060101010101" pitchFamily="49" charset="-122"/>
                  </a:rPr>
                  <a:t>,</a:t>
                </a:r>
                <a:r>
                  <a:rPr lang="en-US" altLang="zh-CN" sz="2200" b="1" dirty="0" smtClean="0">
                    <a:solidFill>
                      <a:schemeClr val="bg2"/>
                    </a:solidFill>
                    <a:latin typeface="Arial" panose="02080604020202020204" pitchFamily="34" charset="0"/>
                    <a:ea typeface="黑体" panose="02010609060101010101" pitchFamily="49" charset="-122"/>
                  </a:rPr>
                  <a:t>m</a:t>
                </a:r>
                <a:r>
                  <a:rPr lang="zh-CN" altLang="en-US" sz="2200" b="1" dirty="0">
                    <a:solidFill>
                      <a:schemeClr val="bg2"/>
                    </a:solidFill>
                    <a:latin typeface="Arial" panose="02080604020202020204" pitchFamily="34" charset="0"/>
                    <a:ea typeface="黑体" panose="02010609060101010101" pitchFamily="49" charset="-122"/>
                  </a:rPr>
                  <a:t>个</a:t>
                </a:r>
                <a:r>
                  <a:rPr lang="en-US" altLang="zh-CN" sz="2200" b="1" dirty="0">
                    <a:solidFill>
                      <a:schemeClr val="bg2"/>
                    </a:solidFill>
                    <a:latin typeface="Arial" panose="02080604020202020204" pitchFamily="34" charset="0"/>
                    <a:ea typeface="黑体" panose="02010609060101010101" pitchFamily="49" charset="-122"/>
                  </a:rPr>
                  <a:t>3</a:t>
                </a:r>
                <a:r>
                  <a:rPr lang="en-US" altLang="zh-CN" sz="2200" b="1" dirty="0" smtClean="0">
                    <a:solidFill>
                      <a:schemeClr val="bg2"/>
                    </a:solidFill>
                    <a:latin typeface="Arial" panose="02080604020202020204" pitchFamily="34" charset="0"/>
                    <a:ea typeface="黑体" panose="02010609060101010101" pitchFamily="49" charset="-122"/>
                  </a:rPr>
                  <a:t>)</a:t>
                </a:r>
                <a:endParaRPr lang="zh-CN" altLang="en-US" dirty="0">
                  <a:latin typeface="Arial" panose="02080604020202020204" pitchFamily="34" charset="0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8195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79400" y="1484313"/>
                <a:ext cx="8229600" cy="5373687"/>
              </a:xfrm>
              <a:blipFill rotWithShape="1">
                <a:blip r:embed="rId1"/>
                <a:stretch>
                  <a:fillRect t="-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矩形 4"/>
              <p:cNvSpPr/>
              <p:nvPr/>
            </p:nvSpPr>
            <p:spPr>
              <a:xfrm>
                <a:off x="7344242" y="2889317"/>
                <a:ext cx="1659234" cy="156972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lvl="0" algn="just"/>
                <a:r>
                  <a:rPr lang="en-US" altLang="zh-CN" sz="1600" b="1" dirty="0" smtClean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16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1600" b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1 0 0 </a:t>
                </a:r>
                <a:r>
                  <a:rPr lang="en-US" altLang="zh-CN" sz="1600" b="1" dirty="0" smtClean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</a:t>
                </a:r>
                <a:r>
                  <a:rPr lang="en-US" altLang="zh-CN" sz="1600" b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0 1</a:t>
                </a:r>
                <a:endParaRPr lang="en-US" altLang="zh-CN" sz="1600" b="1" dirty="0">
                  <a:solidFill>
                    <a:srgbClr val="FF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0" algn="just"/>
                <a:r>
                  <a:rPr lang="en-US" altLang="zh-CN" sz="1600" b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CN" sz="16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16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</m:e>
                        </m:acc>
                      </m:e>
                      <m:sub>
                        <m:r>
                          <a:rPr lang="en-US" altLang="zh-CN" sz="16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1600" b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1 0 </a:t>
                </a:r>
                <a:r>
                  <a:rPr lang="en-US" altLang="zh-CN" sz="1600" b="1" dirty="0" smtClean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0   </a:t>
                </a:r>
                <a:r>
                  <a:rPr lang="en-US" altLang="zh-CN" sz="1600" b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1 0</a:t>
                </a:r>
                <a:endParaRPr lang="en-US" altLang="zh-CN" sz="1600" b="1" dirty="0">
                  <a:solidFill>
                    <a:srgbClr val="FF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0" algn="just"/>
                <a:r>
                  <a:rPr lang="en-US" altLang="zh-CN" sz="1600" b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16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1600" b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0 1 0  </a:t>
                </a:r>
                <a:r>
                  <a:rPr lang="en-US" altLang="zh-CN" sz="1600" b="1" dirty="0" smtClean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1 </a:t>
                </a:r>
                <a:r>
                  <a:rPr lang="en-US" altLang="zh-CN" sz="1600" b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0</a:t>
                </a:r>
                <a:endParaRPr lang="en-US" altLang="zh-CN" sz="1600" b="1" dirty="0">
                  <a:solidFill>
                    <a:srgbClr val="FF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0" algn="just"/>
                <a:r>
                  <a:rPr lang="en-US" altLang="zh-CN" sz="1600" b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CN" sz="16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16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</m:e>
                        </m:acc>
                      </m:e>
                      <m:sub>
                        <m:r>
                          <a:rPr lang="en-US" altLang="zh-CN" sz="16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1600" b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0 1 </a:t>
                </a:r>
                <a:r>
                  <a:rPr lang="en-US" altLang="zh-CN" sz="1600" b="1" dirty="0" smtClean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0   0 </a:t>
                </a:r>
                <a:r>
                  <a:rPr lang="en-US" altLang="zh-CN" sz="1600" b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1</a:t>
                </a:r>
                <a:endParaRPr lang="en-US" altLang="zh-CN" sz="1600" b="1" dirty="0">
                  <a:solidFill>
                    <a:srgbClr val="FF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0" algn="just"/>
                <a:r>
                  <a:rPr lang="en-US" altLang="zh-CN" sz="1600" b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16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en-US" altLang="zh-CN" sz="1600" b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0 0 1  </a:t>
                </a:r>
                <a:r>
                  <a:rPr lang="en-US" altLang="zh-CN" sz="1600" b="1" dirty="0" smtClean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1 </a:t>
                </a:r>
                <a:r>
                  <a:rPr lang="en-US" altLang="zh-CN" sz="1600" b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0</a:t>
                </a:r>
                <a:endParaRPr lang="en-US" altLang="zh-CN" sz="1600" b="1" dirty="0">
                  <a:solidFill>
                    <a:srgbClr val="FF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0" algn="just"/>
                <a:r>
                  <a:rPr lang="en-US" altLang="zh-CN" sz="1600" b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CN" sz="16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16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</m:e>
                        </m:acc>
                      </m:e>
                      <m:sub>
                        <m:r>
                          <a:rPr lang="en-US" altLang="zh-CN" sz="16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en-US" altLang="zh-CN" sz="1600" b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0 0 1 </a:t>
                </a:r>
                <a:r>
                  <a:rPr lang="en-US" altLang="zh-CN" sz="1600" b="1" dirty="0" smtClean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</a:t>
                </a:r>
                <a:r>
                  <a:rPr lang="en-US" altLang="zh-CN" sz="1600" b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0 1</a:t>
                </a:r>
                <a:endParaRPr lang="en-US" altLang="zh-CN" sz="1600" b="1" dirty="0">
                  <a:solidFill>
                    <a:srgbClr val="FF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242" y="2889317"/>
                <a:ext cx="1659234" cy="1569720"/>
              </a:xfrm>
              <a:prstGeom prst="rect">
                <a:avLst/>
              </a:prstGeom>
              <a:blipFill rotWithShape="1">
                <a:blip r:embed="rId2"/>
                <a:stretch>
                  <a:fillRect l="-28" t="-4" r="27" b="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矩形 8"/>
              <p:cNvSpPr/>
              <p:nvPr/>
            </p:nvSpPr>
            <p:spPr>
              <a:xfrm>
                <a:off x="7377262" y="5058603"/>
                <a:ext cx="1766738" cy="108140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square">
                <a:spAutoFit/>
              </a:bodyPr>
              <a:lstStyle/>
              <a:p>
                <a:pPr lvl="0" algn="just"/>
                <a:r>
                  <a:rPr lang="en-US" altLang="zh-CN" sz="1600" b="1" dirty="0" smtClean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𝒈</m:t>
                        </m:r>
                      </m:e>
                      <m:sub>
                        <m:r>
                          <a:rPr lang="en-US" altLang="zh-CN" sz="16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1600" b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0 0 0 </a:t>
                </a:r>
                <a:r>
                  <a:rPr lang="en-US" altLang="zh-CN" sz="1600" b="1" dirty="0" smtClean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</a:t>
                </a:r>
                <a:r>
                  <a:rPr lang="en-US" altLang="zh-CN" sz="1600" b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1 0</a:t>
                </a:r>
                <a:endParaRPr lang="en-US" altLang="zh-CN" sz="1600" b="1" dirty="0">
                  <a:solidFill>
                    <a:srgbClr val="FF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0" algn="just"/>
                <a:r>
                  <a:rPr lang="en-US" altLang="zh-CN" sz="1600" b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US" altLang="zh-CN" sz="16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1600" b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0 0 </a:t>
                </a:r>
                <a:r>
                  <a:rPr lang="en-US" altLang="zh-CN" sz="1600" b="1" dirty="0" smtClean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0   1 </a:t>
                </a:r>
                <a:r>
                  <a:rPr lang="en-US" altLang="zh-CN" sz="1600" b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0</a:t>
                </a:r>
                <a:endParaRPr lang="en-US" altLang="zh-CN" sz="1600" b="1" dirty="0">
                  <a:solidFill>
                    <a:srgbClr val="FF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0" algn="just"/>
                <a:r>
                  <a:rPr lang="en-US" altLang="zh-CN" sz="1600" b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𝒈</m:t>
                        </m:r>
                      </m:e>
                      <m:sub>
                        <m:r>
                          <a:rPr lang="en-US" altLang="zh-CN" sz="16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1600" b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0 0 0  </a:t>
                </a:r>
                <a:r>
                  <a:rPr lang="en-US" altLang="zh-CN" sz="1600" b="1" dirty="0" smtClean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 </a:t>
                </a:r>
                <a:r>
                  <a:rPr lang="en-US" altLang="zh-CN" sz="1600" b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1</a:t>
                </a:r>
                <a:endParaRPr lang="en-US" altLang="zh-CN" sz="1600" b="1" dirty="0">
                  <a:solidFill>
                    <a:srgbClr val="FF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0" algn="just"/>
                <a:r>
                  <a:rPr lang="en-US" altLang="zh-CN" sz="1600" b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US" altLang="zh-CN" sz="16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1600" b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0 0 </a:t>
                </a:r>
                <a:r>
                  <a:rPr lang="en-US" altLang="zh-CN" sz="1600" b="1" dirty="0" smtClean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0   0 </a:t>
                </a:r>
                <a:r>
                  <a:rPr lang="en-US" altLang="zh-CN" sz="1600" b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1</a:t>
                </a:r>
                <a:endParaRPr lang="en-US" altLang="zh-CN" sz="1600" b="1" dirty="0">
                  <a:solidFill>
                    <a:srgbClr val="FF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7262" y="5058603"/>
                <a:ext cx="1766738" cy="1081405"/>
              </a:xfrm>
              <a:prstGeom prst="rect">
                <a:avLst/>
              </a:prstGeom>
              <a:blipFill rotWithShape="1">
                <a:blip r:embed="rId3"/>
                <a:stretch>
                  <a:fillRect l="-26" t="-18" b="1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矩形 9"/>
          <p:cNvSpPr/>
          <p:nvPr/>
        </p:nvSpPr>
        <p:spPr>
          <a:xfrm>
            <a:off x="7377262" y="6351997"/>
            <a:ext cx="1631315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b="1" dirty="0" smtClean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B   1 1 1   3 3</a:t>
            </a:r>
            <a:endParaRPr lang="en-US" altLang="zh-CN" sz="1600" b="1" dirty="0" smtClean="0">
              <a:solidFill>
                <a:srgbClr val="FF000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矩形 2"/>
              <p:cNvSpPr/>
              <p:nvPr/>
            </p:nvSpPr>
            <p:spPr>
              <a:xfrm>
                <a:off x="7257453" y="1324143"/>
                <a:ext cx="1887055" cy="110799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b="1" i="1" kern="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200" b="1" i="1" kern="0" dirty="0">
                            <a:solidFill>
                              <a:srgbClr val="FF0000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2200" b="1" i="1" kern="0" dirty="0">
                            <a:solidFill>
                              <a:srgbClr val="FF0000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zh-CN" sz="2200" b="1" kern="0" dirty="0">
                    <a:solidFill>
                      <a:srgbClr val="00007D"/>
                    </a:solidFill>
                    <a:latin typeface="Arial" panose="02080604020202020204" pitchFamily="34" charset="0"/>
                    <a:ea typeface="黑体" panose="02010609060101010101" pitchFamily="49" charset="-122"/>
                  </a:rPr>
                  <a:t>与</a:t>
                </a:r>
                <a:r>
                  <a:rPr lang="en-US" altLang="zh-CN" sz="2200" b="1" kern="0" dirty="0">
                    <a:solidFill>
                      <a:srgbClr val="00007D"/>
                    </a:solidFill>
                    <a:latin typeface="Arial" panose="02080604020202020204" pitchFamily="34" charset="0"/>
                    <a:ea typeface="黑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b="1" i="1" kern="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CN" sz="2200" b="1" i="1" kern="0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sz="2200" b="1" i="1" kern="0" dirty="0">
                                <a:solidFill>
                                  <a:srgbClr val="FF0000"/>
                                </a:solidFill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𝒙</m:t>
                            </m:r>
                          </m:e>
                        </m:acc>
                      </m:e>
                      <m:sub>
                        <m:r>
                          <a:rPr lang="en-US" altLang="zh-CN" sz="2200" b="1" i="1" kern="0" dirty="0">
                            <a:solidFill>
                              <a:srgbClr val="FF0000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en-US" sz="2200" b="1" kern="0" dirty="0" smtClean="0">
                    <a:solidFill>
                      <a:srgbClr val="00007D"/>
                    </a:solidFill>
                    <a:latin typeface="Arial" panose="02080604020202020204" pitchFamily="34" charset="0"/>
                    <a:ea typeface="黑体" panose="02010609060101010101" pitchFamily="49" charset="-122"/>
                  </a:rPr>
                  <a:t>在</a:t>
                </a:r>
                <a:endParaRPr lang="en-US" altLang="zh-CN" sz="2200" b="1" kern="0" dirty="0" smtClean="0">
                  <a:solidFill>
                    <a:srgbClr val="00007D"/>
                  </a:solidFill>
                  <a:latin typeface="Arial" panose="02080604020202020204" pitchFamily="34" charset="0"/>
                  <a:ea typeface="黑体" panose="02010609060101010101" pitchFamily="49" charset="-122"/>
                </a:endParaRPr>
              </a:p>
              <a:p>
                <a:r>
                  <a:rPr lang="zh-CN" altLang="en-US" sz="2200" b="1" kern="0" dirty="0" smtClean="0">
                    <a:solidFill>
                      <a:srgbClr val="00007D"/>
                    </a:solidFill>
                    <a:latin typeface="Arial" panose="02080604020202020204" pitchFamily="34" charset="0"/>
                    <a:ea typeface="黑体" panose="02010609060101010101" pitchFamily="49" charset="-122"/>
                  </a:rPr>
                  <a:t>子集</a:t>
                </a:r>
                <a:r>
                  <a:rPr lang="zh-CN" altLang="en-US" sz="2200" b="1" kern="0" dirty="0">
                    <a:solidFill>
                      <a:srgbClr val="00007D"/>
                    </a:solidFill>
                    <a:latin typeface="Arial" panose="02080604020202020204" pitchFamily="34" charset="0"/>
                    <a:ea typeface="黑体" panose="02010609060101010101" pitchFamily="49" charset="-122"/>
                  </a:rPr>
                  <a:t>和</a:t>
                </a:r>
                <a:r>
                  <a:rPr lang="zh-CN" altLang="en-US" sz="2200" b="1" kern="0" dirty="0" smtClean="0">
                    <a:solidFill>
                      <a:srgbClr val="00007D"/>
                    </a:solidFill>
                    <a:latin typeface="Arial" panose="02080604020202020204" pitchFamily="34" charset="0"/>
                    <a:ea typeface="黑体" panose="02010609060101010101" pitchFamily="49" charset="-122"/>
                  </a:rPr>
                  <a:t>问题中</a:t>
                </a:r>
                <a:endParaRPr lang="en-US" altLang="zh-CN" sz="2200" b="1" kern="0" dirty="0" smtClean="0">
                  <a:solidFill>
                    <a:srgbClr val="00007D"/>
                  </a:solidFill>
                  <a:latin typeface="Arial" panose="02080604020202020204" pitchFamily="34" charset="0"/>
                  <a:ea typeface="黑体" panose="02010609060101010101" pitchFamily="49" charset="-122"/>
                </a:endParaRPr>
              </a:p>
              <a:p>
                <a:r>
                  <a:rPr lang="zh-CN" altLang="en-US" sz="2200" b="1" kern="0" dirty="0" smtClean="0">
                    <a:solidFill>
                      <a:srgbClr val="00007D"/>
                    </a:solidFill>
                    <a:latin typeface="Arial" panose="02080604020202020204" pitchFamily="34" charset="0"/>
                    <a:ea typeface="黑体" panose="02010609060101010101" pitchFamily="49" charset="-122"/>
                  </a:rPr>
                  <a:t>表示十进制数</a:t>
                </a:r>
                <a:endParaRPr lang="zh-CN" altLang="en-US" sz="2200" b="1" kern="0" dirty="0">
                  <a:solidFill>
                    <a:srgbClr val="00007D"/>
                  </a:solidFill>
                  <a:latin typeface="Arial" panose="02080604020202020204" pitchFamily="34" charset="0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7453" y="1324143"/>
                <a:ext cx="1887055" cy="1107996"/>
              </a:xfrm>
              <a:prstGeom prst="rect">
                <a:avLst/>
              </a:prstGeom>
              <a:blipFill rotWithShape="1">
                <a:blip r:embed="rId4"/>
                <a:stretch>
                  <a:fillRect l="-2" t="-15" r="27" b="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矩形 11"/>
              <p:cNvSpPr/>
              <p:nvPr/>
            </p:nvSpPr>
            <p:spPr>
              <a:xfrm>
                <a:off x="215265" y="6026150"/>
                <a:ext cx="5155565" cy="4305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b="1" i="1" dirty="0" smtClean="0">
                          <a:solidFill>
                            <a:srgbClr val="FF0000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altLang="zh-CN" sz="22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2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</a:rPr>
                                <m:t>𝒙</m:t>
                              </m:r>
                            </m:e>
                          </m:acc>
                        </m:e>
                        <m:sub>
                          <m: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𝟏</m:t>
                          </m:r>
                        </m:sub>
                      </m:sSub>
                      <m:r>
                        <a:rPr lang="en-US" altLang="zh-CN" sz="2200" b="1" i="1" dirty="0">
                          <a:solidFill>
                            <a:srgbClr val="FF0000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∨</m:t>
                      </m:r>
                      <m:sSub>
                        <m:sSubPr>
                          <m:ctrlP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𝟐</m:t>
                          </m:r>
                        </m:sub>
                      </m:sSub>
                      <m:r>
                        <a:rPr lang="en-US" altLang="zh-CN" sz="2200" b="1" i="1" dirty="0">
                          <a:solidFill>
                            <a:srgbClr val="FF0000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∨</m:t>
                      </m:r>
                      <m:sSub>
                        <m:sSubPr>
                          <m:ctrlP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𝟑</m:t>
                          </m:r>
                        </m:sub>
                      </m:sSub>
                      <m:r>
                        <a:rPr lang="en-US" altLang="zh-CN" sz="2200" b="1" i="1" dirty="0">
                          <a:solidFill>
                            <a:srgbClr val="FF0000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)</m:t>
                      </m:r>
                      <m:r>
                        <a:rPr lang="en-US" altLang="zh-CN" sz="2200" b="1" i="1" dirty="0">
                          <a:solidFill>
                            <a:srgbClr val="FF0000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∧</m:t>
                      </m:r>
                      <m:r>
                        <a:rPr lang="en-US" altLang="zh-CN" sz="2200" b="1" i="1" dirty="0">
                          <a:solidFill>
                            <a:srgbClr val="FF0000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𝟏</m:t>
                          </m:r>
                        </m:sub>
                      </m:sSub>
                      <m:r>
                        <a:rPr lang="en-US" altLang="zh-CN" sz="2200" b="1" i="1" dirty="0">
                          <a:solidFill>
                            <a:srgbClr val="FF0000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∨</m:t>
                      </m:r>
                      <m:sSub>
                        <m:sSubPr>
                          <m:ctrlP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altLang="zh-CN" sz="22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2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</a:rPr>
                                <m:t>𝒙</m:t>
                              </m:r>
                            </m:e>
                          </m:acc>
                        </m:e>
                        <m:sub>
                          <m:r>
                            <a:rPr lang="en-US" altLang="zh-CN" sz="2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𝟐</m:t>
                          </m:r>
                        </m:sub>
                      </m:sSub>
                      <m:r>
                        <a:rPr lang="en-US" altLang="zh-CN" sz="2200" b="1" i="1" dirty="0">
                          <a:solidFill>
                            <a:srgbClr val="FF0000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∨</m:t>
                      </m:r>
                      <m:sSub>
                        <m:sSubPr>
                          <m:ctrlP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altLang="zh-CN" sz="22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2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</a:rPr>
                                <m:t>𝒙</m:t>
                              </m:r>
                            </m:e>
                          </m:acc>
                        </m:e>
                        <m:sub>
                          <m:r>
                            <a:rPr lang="en-US" altLang="zh-CN" sz="2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𝟑</m:t>
                          </m:r>
                        </m:sub>
                      </m:sSub>
                      <m:r>
                        <a:rPr lang="en-US" altLang="zh-CN" sz="2200" b="1" dirty="0">
                          <a:solidFill>
                            <a:srgbClr val="FF0000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lang="zh-CN" altLang="en-US" sz="2200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265" y="6026150"/>
                <a:ext cx="5155565" cy="43053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971600" y="5831976"/>
            <a:ext cx="479618" cy="369332"/>
          </a:xfrm>
          <a:prstGeom prst="rect">
            <a:avLst/>
          </a:prstGeom>
          <a:noFill/>
          <a:ln w="25400">
            <a:noFill/>
          </a:ln>
        </p:spPr>
        <p:txBody>
          <a:bodyPr wrap="none" rtlCol="0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b="1" dirty="0" smtClean="0">
                <a:solidFill>
                  <a:srgbClr val="000099"/>
                </a:solidFill>
                <a:ea typeface="黑体" panose="02010609060101010101" pitchFamily="49" charset="-122"/>
              </a:rPr>
              <a:t>C1</a:t>
            </a:r>
            <a:endParaRPr lang="zh-CN" altLang="en-US" b="1" dirty="0" smtClean="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951820" y="5831976"/>
            <a:ext cx="479618" cy="369332"/>
          </a:xfrm>
          <a:prstGeom prst="rect">
            <a:avLst/>
          </a:prstGeom>
          <a:noFill/>
          <a:ln w="25400">
            <a:noFill/>
          </a:ln>
        </p:spPr>
        <p:txBody>
          <a:bodyPr wrap="none" rtlCol="0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b="1" dirty="0" smtClean="0">
                <a:solidFill>
                  <a:srgbClr val="000099"/>
                </a:solidFill>
                <a:ea typeface="黑体" panose="02010609060101010101" pitchFamily="49" charset="-122"/>
              </a:rPr>
              <a:t>C2</a:t>
            </a:r>
            <a:endParaRPr lang="zh-CN" altLang="en-US" b="1" dirty="0" smtClean="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9" grpId="0" bldLvl="0" animBg="1"/>
      <p:bldP spid="10" grpId="0"/>
      <p:bldP spid="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8" name="矩形 17"/>
              <p:cNvSpPr/>
              <p:nvPr/>
            </p:nvSpPr>
            <p:spPr>
              <a:xfrm>
                <a:off x="7377262" y="3176972"/>
                <a:ext cx="1659234" cy="156972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lvl="0" algn="just"/>
                <a:r>
                  <a:rPr lang="en-US" altLang="zh-CN" sz="1600" b="1" dirty="0" smtClean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16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1600" b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1 0 0 </a:t>
                </a:r>
                <a:r>
                  <a:rPr lang="en-US" altLang="zh-CN" sz="1600" b="1" dirty="0" smtClean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</a:t>
                </a:r>
                <a:r>
                  <a:rPr lang="en-US" altLang="zh-CN" sz="1600" b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0 1</a:t>
                </a:r>
                <a:endParaRPr lang="en-US" altLang="zh-CN" sz="1600" b="1" dirty="0">
                  <a:solidFill>
                    <a:srgbClr val="FF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0" algn="just"/>
                <a:r>
                  <a:rPr lang="en-US" altLang="zh-CN" sz="1600" b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CN" sz="16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16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</m:e>
                        </m:acc>
                      </m:e>
                      <m:sub>
                        <m:r>
                          <a:rPr lang="en-US" altLang="zh-CN" sz="16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1600" b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1 0 </a:t>
                </a:r>
                <a:r>
                  <a:rPr lang="en-US" altLang="zh-CN" sz="1600" b="1" dirty="0" smtClean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0   </a:t>
                </a:r>
                <a:r>
                  <a:rPr lang="en-US" altLang="zh-CN" sz="1600" b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1 0</a:t>
                </a:r>
                <a:endParaRPr lang="en-US" altLang="zh-CN" sz="1600" b="1" dirty="0">
                  <a:solidFill>
                    <a:srgbClr val="FF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0" algn="just"/>
                <a:r>
                  <a:rPr lang="en-US" altLang="zh-CN" sz="1600" b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16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1600" b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0 1 0  </a:t>
                </a:r>
                <a:r>
                  <a:rPr lang="en-US" altLang="zh-CN" sz="1600" b="1" dirty="0" smtClean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1 </a:t>
                </a:r>
                <a:r>
                  <a:rPr lang="en-US" altLang="zh-CN" sz="1600" b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0</a:t>
                </a:r>
                <a:endParaRPr lang="en-US" altLang="zh-CN" sz="1600" b="1" dirty="0">
                  <a:solidFill>
                    <a:srgbClr val="FF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0" algn="just"/>
                <a:r>
                  <a:rPr lang="en-US" altLang="zh-CN" sz="1600" b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CN" sz="16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16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</m:e>
                        </m:acc>
                      </m:e>
                      <m:sub>
                        <m:r>
                          <a:rPr lang="en-US" altLang="zh-CN" sz="16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1600" b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0 1 0 </a:t>
                </a:r>
                <a:r>
                  <a:rPr lang="en-US" altLang="zh-CN" sz="1600" b="1" dirty="0" smtClean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0 </a:t>
                </a:r>
                <a:r>
                  <a:rPr lang="en-US" altLang="zh-CN" sz="1600" b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1</a:t>
                </a:r>
                <a:endParaRPr lang="en-US" altLang="zh-CN" sz="1600" b="1" dirty="0">
                  <a:solidFill>
                    <a:srgbClr val="FF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0" algn="just"/>
                <a:r>
                  <a:rPr lang="en-US" altLang="zh-CN" sz="1600" b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16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en-US" altLang="zh-CN" sz="1600" b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0 0 1  </a:t>
                </a:r>
                <a:r>
                  <a:rPr lang="en-US" altLang="zh-CN" sz="1600" b="1" dirty="0" smtClean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1 </a:t>
                </a:r>
                <a:r>
                  <a:rPr lang="en-US" altLang="zh-CN" sz="1600" b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0</a:t>
                </a:r>
                <a:endParaRPr lang="en-US" altLang="zh-CN" sz="1600" b="1" dirty="0">
                  <a:solidFill>
                    <a:srgbClr val="FF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0" algn="just"/>
                <a:r>
                  <a:rPr lang="en-US" altLang="zh-CN" sz="1600" b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CN" sz="16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16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</m:e>
                        </m:acc>
                      </m:e>
                      <m:sub>
                        <m:r>
                          <a:rPr lang="en-US" altLang="zh-CN" sz="16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en-US" altLang="zh-CN" sz="1600" b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0 0 1 </a:t>
                </a:r>
                <a:r>
                  <a:rPr lang="en-US" altLang="zh-CN" sz="1600" b="1" dirty="0" smtClean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</a:t>
                </a:r>
                <a:r>
                  <a:rPr lang="en-US" altLang="zh-CN" sz="1600" b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0 1</a:t>
                </a:r>
                <a:endParaRPr lang="en-US" altLang="zh-CN" sz="1600" b="1" dirty="0">
                  <a:solidFill>
                    <a:srgbClr val="FF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8" name="矩形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7262" y="3176972"/>
                <a:ext cx="1659234" cy="1569720"/>
              </a:xfrm>
              <a:prstGeom prst="rect">
                <a:avLst/>
              </a:prstGeom>
              <a:blipFill rotWithShape="1">
                <a:blip r:embed="rId1"/>
                <a:stretch>
                  <a:fillRect l="-28" t="-4" r="27" b="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矩形 18"/>
              <p:cNvSpPr/>
              <p:nvPr/>
            </p:nvSpPr>
            <p:spPr>
              <a:xfrm>
                <a:off x="7377262" y="5058603"/>
                <a:ext cx="1766738" cy="108140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square">
                <a:spAutoFit/>
              </a:bodyPr>
              <a:lstStyle/>
              <a:p>
                <a:pPr lvl="0" algn="just"/>
                <a:r>
                  <a:rPr lang="en-US" altLang="zh-CN" sz="1600" b="1" dirty="0" smtClean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𝒈</m:t>
                        </m:r>
                      </m:e>
                      <m:sub>
                        <m:r>
                          <a:rPr lang="en-US" altLang="zh-CN" sz="16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1600" b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0 0 0 </a:t>
                </a:r>
                <a:r>
                  <a:rPr lang="en-US" altLang="zh-CN" sz="1600" b="1" dirty="0" smtClean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</a:t>
                </a:r>
                <a:r>
                  <a:rPr lang="en-US" altLang="zh-CN" sz="1600" b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1 0</a:t>
                </a:r>
                <a:endParaRPr lang="en-US" altLang="zh-CN" sz="1600" b="1" dirty="0">
                  <a:solidFill>
                    <a:srgbClr val="FF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0" algn="just"/>
                <a:r>
                  <a:rPr lang="en-US" altLang="zh-CN" sz="1600" b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US" altLang="zh-CN" sz="16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1600" b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0 0 </a:t>
                </a:r>
                <a:r>
                  <a:rPr lang="en-US" altLang="zh-CN" sz="1600" b="1" dirty="0" smtClean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0   1 </a:t>
                </a:r>
                <a:r>
                  <a:rPr lang="en-US" altLang="zh-CN" sz="1600" b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0</a:t>
                </a:r>
                <a:endParaRPr lang="en-US" altLang="zh-CN" sz="1600" b="1" dirty="0">
                  <a:solidFill>
                    <a:srgbClr val="FF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0" algn="just"/>
                <a:r>
                  <a:rPr lang="en-US" altLang="zh-CN" sz="1600" b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𝒈</m:t>
                        </m:r>
                      </m:e>
                      <m:sub>
                        <m:r>
                          <a:rPr lang="en-US" altLang="zh-CN" sz="16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1600" b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0 0 0  </a:t>
                </a:r>
                <a:r>
                  <a:rPr lang="en-US" altLang="zh-CN" sz="1600" b="1" dirty="0" smtClean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 </a:t>
                </a:r>
                <a:r>
                  <a:rPr lang="en-US" altLang="zh-CN" sz="1600" b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1</a:t>
                </a:r>
                <a:endParaRPr lang="en-US" altLang="zh-CN" sz="1600" b="1" dirty="0">
                  <a:solidFill>
                    <a:srgbClr val="FF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0" algn="just"/>
                <a:r>
                  <a:rPr lang="en-US" altLang="zh-CN" sz="1600" b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US" altLang="zh-CN" sz="16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1600" b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0 0 </a:t>
                </a:r>
                <a:r>
                  <a:rPr lang="en-US" altLang="zh-CN" sz="1600" b="1" dirty="0" smtClean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0   0 </a:t>
                </a:r>
                <a:r>
                  <a:rPr lang="en-US" altLang="zh-CN" sz="1600" b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1</a:t>
                </a:r>
                <a:endParaRPr lang="en-US" altLang="zh-CN" sz="1600" b="1" dirty="0">
                  <a:solidFill>
                    <a:srgbClr val="FF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9" name="矩形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7262" y="5058603"/>
                <a:ext cx="1766738" cy="1081405"/>
              </a:xfrm>
              <a:prstGeom prst="rect">
                <a:avLst/>
              </a:prstGeom>
              <a:blipFill rotWithShape="1">
                <a:blip r:embed="rId2"/>
                <a:stretch>
                  <a:fillRect l="-26" t="-18" b="1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矩形 19"/>
          <p:cNvSpPr/>
          <p:nvPr/>
        </p:nvSpPr>
        <p:spPr>
          <a:xfrm>
            <a:off x="7377262" y="6351997"/>
            <a:ext cx="1631315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b="1" dirty="0" smtClean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B   1 1 1   3 3</a:t>
            </a:r>
            <a:endParaRPr lang="en-US" altLang="zh-CN" sz="1600" b="1" dirty="0" smtClean="0">
              <a:solidFill>
                <a:srgbClr val="FF000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81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子集和问题是</a:t>
            </a:r>
            <a:r>
              <a:rPr lang="en-US" altLang="zh-CN" dirty="0" smtClean="0"/>
              <a:t>NP</a:t>
            </a:r>
            <a:r>
              <a:rPr lang="zh-CN" altLang="en-US" dirty="0" smtClean="0"/>
              <a:t>完全问题</a:t>
            </a:r>
            <a:endParaRPr lang="zh-CN" altLang="en-US" dirty="0" smtClean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195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484313"/>
                <a:ext cx="8229600" cy="5373687"/>
              </a:xfrm>
            </p:spPr>
            <p:txBody>
              <a:bodyPr/>
              <a:lstStyle/>
              <a:p>
                <a:pPr lvl="1"/>
                <a:r>
                  <a:rPr lang="zh-CN" altLang="en-US" sz="22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往证</a:t>
                </a:r>
                <a:r>
                  <a:rPr lang="en-US" altLang="zh-CN" sz="2200" dirty="0"/>
                  <a:t>3CNF-SAT</a:t>
                </a:r>
                <a:r>
                  <a:rPr lang="zh-CN" altLang="en-US" sz="2200" dirty="0"/>
                  <a:t>表达</a:t>
                </a:r>
                <a:r>
                  <a:rPr lang="zh-CN" altLang="zh-CN" sz="2200" dirty="0"/>
                  <a:t>式是可满足的</a:t>
                </a:r>
                <a:r>
                  <a:rPr lang="zh-CN" altLang="en-US" sz="2200" dirty="0"/>
                  <a:t>当且仅当</a:t>
                </a:r>
                <a:r>
                  <a:rPr lang="zh-CN" altLang="zh-CN" sz="2200" dirty="0"/>
                  <a:t>构造</a:t>
                </a:r>
                <a:r>
                  <a:rPr lang="zh-CN" altLang="zh-CN" sz="2200" dirty="0" smtClean="0"/>
                  <a:t>出</a:t>
                </a:r>
                <a:r>
                  <a:rPr lang="zh-CN" altLang="en-US" sz="2200" dirty="0" smtClean="0"/>
                  <a:t>的前</a:t>
                </a:r>
                <a:r>
                  <a:rPr lang="en-US" altLang="zh-CN" sz="2200" dirty="0" smtClean="0"/>
                  <a:t>2(</a:t>
                </a:r>
                <a:r>
                  <a:rPr lang="en-US" altLang="zh-CN" sz="2200" dirty="0" err="1" smtClean="0"/>
                  <a:t>n+m</a:t>
                </a:r>
                <a:r>
                  <a:rPr lang="en-US" altLang="zh-CN" sz="2200" dirty="0" smtClean="0"/>
                  <a:t>)</a:t>
                </a:r>
                <a:r>
                  <a:rPr lang="zh-CN" altLang="en-US" sz="2200" dirty="0" smtClean="0"/>
                  <a:t>个十进制数中</a:t>
                </a:r>
                <a:r>
                  <a:rPr lang="zh-CN" altLang="en-US" sz="2200" dirty="0"/>
                  <a:t>的</a:t>
                </a:r>
                <a:r>
                  <a:rPr lang="zh-CN" altLang="en-US" sz="2200" dirty="0" smtClean="0"/>
                  <a:t>若干个数之和等于</a:t>
                </a:r>
                <a:r>
                  <a:rPr lang="en-US" altLang="zh-CN" sz="2200" dirty="0" smtClean="0"/>
                  <a:t>B</a:t>
                </a:r>
                <a:endParaRPr lang="en-US" altLang="zh-CN" sz="2200" dirty="0" smtClean="0"/>
              </a:p>
              <a:p>
                <a:pPr lvl="1"/>
                <a:r>
                  <a:rPr lang="zh-CN" altLang="en-US" sz="2200" dirty="0">
                    <a:solidFill>
                      <a:srgbClr val="FF0000"/>
                    </a:solidFill>
                    <a:latin typeface="Arial" panose="02080604020202020204" pitchFamily="34" charset="0"/>
                    <a:ea typeface="黑体" panose="02010609060101010101" pitchFamily="49" charset="-122"/>
                  </a:rPr>
                  <a:t>必要性证明：</a:t>
                </a:r>
                <a:r>
                  <a:rPr lang="zh-CN" altLang="en-US" sz="22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若</a:t>
                </a:r>
                <a:r>
                  <a:rPr lang="en-US" altLang="zh-CN" sz="22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3CNF-SAT</a:t>
                </a:r>
                <a:r>
                  <a:rPr lang="zh-CN" altLang="en-US" sz="22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表达式</a:t>
                </a:r>
                <a:r>
                  <a:rPr lang="zh-CN" altLang="en-US" sz="2200" dirty="0">
                    <a:latin typeface="Arial" panose="02080604020202020204" pitchFamily="34" charset="0"/>
                    <a:ea typeface="黑体" panose="02010609060101010101" pitchFamily="49" charset="-122"/>
                  </a:rPr>
                  <a:t>可满足，则有一种变元的赋值方式</a:t>
                </a:r>
                <a:r>
                  <a:rPr lang="en-US" altLang="zh-CN" sz="2200" dirty="0">
                    <a:latin typeface="Arial" panose="02080604020202020204" pitchFamily="34" charset="0"/>
                    <a:ea typeface="黑体" panose="02010609060101010101" pitchFamily="49" charset="-122"/>
                  </a:rPr>
                  <a:t>,</a:t>
                </a:r>
                <a:r>
                  <a:rPr lang="zh-CN" altLang="en-US" sz="2200" dirty="0">
                    <a:latin typeface="Arial" panose="02080604020202020204" pitchFamily="34" charset="0"/>
                    <a:ea typeface="黑体" panose="02010609060101010101" pitchFamily="49" charset="-122"/>
                  </a:rPr>
                  <a:t>使得表达式为真</a:t>
                </a:r>
                <a:r>
                  <a:rPr lang="zh-CN" altLang="en-US" sz="22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。</a:t>
                </a:r>
                <a:endParaRPr lang="en-US" altLang="zh-CN" sz="2200" dirty="0" smtClean="0">
                  <a:latin typeface="Arial" panose="02080604020202020204" pitchFamily="34" charset="0"/>
                  <a:ea typeface="黑体" panose="02010609060101010101" pitchFamily="49" charset="-122"/>
                </a:endParaRPr>
              </a:p>
              <a:p>
                <a:pPr lvl="1"/>
                <a:r>
                  <a:rPr lang="zh-CN" altLang="en-US" sz="2200" dirty="0">
                    <a:latin typeface="Arial" panose="02080604020202020204" pitchFamily="34" charset="0"/>
                    <a:ea typeface="黑体" panose="02010609060101010101" pitchFamily="49" charset="-122"/>
                  </a:rPr>
                  <a:t>若</a:t>
                </a:r>
                <a:r>
                  <a:rPr lang="zh-CN" altLang="en-US" sz="22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变元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200" i="1" dirty="0">
                            <a:solidFill>
                              <a:srgbClr val="FF0000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2200" i="1" dirty="0">
                            <a:solidFill>
                              <a:srgbClr val="FF0000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en-US" sz="22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赋值为</a:t>
                </a:r>
                <a:r>
                  <a:rPr lang="zh-CN" altLang="en-US" sz="2200" dirty="0">
                    <a:solidFill>
                      <a:srgbClr val="FF0000"/>
                    </a:solidFill>
                    <a:latin typeface="Arial" panose="02080604020202020204" pitchFamily="34" charset="0"/>
                    <a:ea typeface="黑体" panose="02010609060101010101" pitchFamily="49" charset="-122"/>
                  </a:rPr>
                  <a:t>真</a:t>
                </a:r>
                <a:r>
                  <a:rPr lang="zh-CN" altLang="en-US" sz="22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，</a:t>
                </a:r>
                <a:r>
                  <a:rPr lang="zh-CN" altLang="en-US" sz="2200" dirty="0">
                    <a:latin typeface="Arial" panose="02080604020202020204" pitchFamily="34" charset="0"/>
                    <a:ea typeface="黑体" panose="02010609060101010101" pitchFamily="49" charset="-122"/>
                  </a:rPr>
                  <a:t>就</a:t>
                </a:r>
                <a:r>
                  <a:rPr lang="zh-CN" altLang="en-US" sz="22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把十进制数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200" i="1" dirty="0">
                            <a:solidFill>
                              <a:srgbClr val="FF0000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2200" i="1" dirty="0">
                            <a:solidFill>
                              <a:srgbClr val="FF0000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en-US" sz="2200" dirty="0">
                    <a:latin typeface="Arial" panose="02080604020202020204" pitchFamily="34" charset="0"/>
                    <a:ea typeface="黑体" panose="02010609060101010101" pitchFamily="49" charset="-122"/>
                  </a:rPr>
                  <a:t>放入</a:t>
                </a:r>
                <a:r>
                  <a:rPr lang="zh-CN" altLang="en-US" sz="22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子集</a:t>
                </a:r>
                <a:endParaRPr lang="zh-CN" altLang="en-US" sz="2200" dirty="0">
                  <a:latin typeface="Arial" panose="02080604020202020204" pitchFamily="34" charset="0"/>
                  <a:ea typeface="黑体" panose="02010609060101010101" pitchFamily="49" charset="-122"/>
                </a:endParaRPr>
              </a:p>
              <a:p>
                <a:pPr lvl="1"/>
                <a:r>
                  <a:rPr lang="zh-CN" altLang="en-US" sz="2200" dirty="0">
                    <a:latin typeface="Arial" panose="02080604020202020204" pitchFamily="34" charset="0"/>
                    <a:ea typeface="黑体" panose="02010609060101010101" pitchFamily="49" charset="-122"/>
                  </a:rPr>
                  <a:t>若</a:t>
                </a:r>
                <a:r>
                  <a:rPr lang="zh-CN" altLang="en-US" sz="22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变元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200" i="1" dirty="0">
                            <a:solidFill>
                              <a:srgbClr val="FF0000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2200" i="1" dirty="0">
                            <a:solidFill>
                              <a:srgbClr val="FF0000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en-US" sz="2200" dirty="0">
                    <a:latin typeface="Arial" panose="02080604020202020204" pitchFamily="34" charset="0"/>
                    <a:ea typeface="黑体" panose="02010609060101010101" pitchFamily="49" charset="-122"/>
                  </a:rPr>
                  <a:t>赋值</a:t>
                </a:r>
                <a:r>
                  <a:rPr lang="zh-CN" altLang="en-US" sz="22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为</a:t>
                </a:r>
                <a:r>
                  <a:rPr lang="zh-CN" altLang="en-US" sz="2200" dirty="0">
                    <a:solidFill>
                      <a:srgbClr val="FF0000"/>
                    </a:solidFill>
                    <a:latin typeface="Arial" panose="02080604020202020204" pitchFamily="34" charset="0"/>
                    <a:ea typeface="黑体" panose="02010609060101010101" pitchFamily="49" charset="-122"/>
                  </a:rPr>
                  <a:t>假</a:t>
                </a:r>
                <a:r>
                  <a:rPr lang="zh-CN" altLang="en-US" sz="22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，</a:t>
                </a:r>
                <a:r>
                  <a:rPr lang="zh-CN" altLang="en-US" sz="2200" dirty="0">
                    <a:latin typeface="Arial" panose="02080604020202020204" pitchFamily="34" charset="0"/>
                    <a:ea typeface="黑体" panose="02010609060101010101" pitchFamily="49" charset="-122"/>
                  </a:rPr>
                  <a:t>就</a:t>
                </a:r>
                <a:r>
                  <a:rPr lang="zh-CN" altLang="en-US" sz="22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把十进制数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CN" sz="22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sz="2200" i="1" dirty="0">
                                <a:solidFill>
                                  <a:srgbClr val="FF0000"/>
                                </a:solidFill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𝒙</m:t>
                            </m:r>
                          </m:e>
                        </m:acc>
                      </m:e>
                      <m:sub>
                        <m:r>
                          <a:rPr lang="en-US" altLang="zh-CN" sz="2200" i="1" dirty="0">
                            <a:solidFill>
                              <a:srgbClr val="FF0000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en-US" sz="2200" dirty="0">
                    <a:latin typeface="Arial" panose="02080604020202020204" pitchFamily="34" charset="0"/>
                    <a:ea typeface="黑体" panose="02010609060101010101" pitchFamily="49" charset="-122"/>
                  </a:rPr>
                  <a:t>放入</a:t>
                </a:r>
                <a:r>
                  <a:rPr lang="zh-CN" altLang="en-US" sz="22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子集</a:t>
                </a:r>
                <a:endParaRPr lang="en-US" altLang="zh-CN" sz="2200" dirty="0" smtClean="0">
                  <a:latin typeface="Arial" panose="02080604020202020204" pitchFamily="34" charset="0"/>
                  <a:ea typeface="黑体" panose="02010609060101010101" pitchFamily="49" charset="-122"/>
                </a:endParaRPr>
              </a:p>
              <a:p>
                <a:pPr lvl="2"/>
                <a:r>
                  <a:rPr lang="zh-CN" altLang="en-US" sz="20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此时，选择</a:t>
                </a:r>
                <a:r>
                  <a:rPr lang="zh-CN" altLang="en-US" sz="2000" dirty="0">
                    <a:latin typeface="Arial" panose="02080604020202020204" pitchFamily="34" charset="0"/>
                    <a:ea typeface="黑体" panose="02010609060101010101" pitchFamily="49" charset="-122"/>
                  </a:rPr>
                  <a:t>的数的和前</a:t>
                </a:r>
                <a:r>
                  <a:rPr lang="en-US" altLang="zh-CN" sz="2000" dirty="0">
                    <a:latin typeface="Arial" panose="02080604020202020204" pitchFamily="34" charset="0"/>
                    <a:ea typeface="黑体" panose="02010609060101010101" pitchFamily="49" charset="-122"/>
                  </a:rPr>
                  <a:t>n</a:t>
                </a:r>
                <a:r>
                  <a:rPr lang="zh-CN" altLang="en-US" sz="20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位中每位均</a:t>
                </a:r>
                <a:r>
                  <a:rPr lang="zh-CN" altLang="en-US" sz="2000" dirty="0">
                    <a:latin typeface="Arial" panose="02080604020202020204" pitchFamily="34" charset="0"/>
                    <a:ea typeface="黑体" panose="02010609060101010101" pitchFamily="49" charset="-122"/>
                  </a:rPr>
                  <a:t>为</a:t>
                </a:r>
                <a:r>
                  <a:rPr lang="en-US" altLang="zh-CN" sz="2000" dirty="0">
                    <a:latin typeface="Arial" panose="02080604020202020204" pitchFamily="34" charset="0"/>
                    <a:ea typeface="黑体" panose="02010609060101010101" pitchFamily="49" charset="-122"/>
                  </a:rPr>
                  <a:t>1</a:t>
                </a:r>
                <a:r>
                  <a:rPr lang="zh-CN" altLang="en-US" sz="2000" dirty="0">
                    <a:latin typeface="Arial" panose="02080604020202020204" pitchFamily="34" charset="0"/>
                    <a:ea typeface="黑体" panose="02010609060101010101" pitchFamily="49" charset="-122"/>
                  </a:rPr>
                  <a:t>，</a:t>
                </a:r>
                <a:endParaRPr lang="en-US" altLang="zh-CN" sz="2000" dirty="0">
                  <a:latin typeface="Arial" panose="02080604020202020204" pitchFamily="34" charset="0"/>
                  <a:ea typeface="黑体" panose="02010609060101010101" pitchFamily="49" charset="-122"/>
                </a:endParaRPr>
              </a:p>
              <a:p>
                <a:pPr lvl="2"/>
                <a:r>
                  <a:rPr lang="zh-CN" altLang="en-US" sz="2000" dirty="0">
                    <a:latin typeface="Arial" panose="02080604020202020204" pitchFamily="34" charset="0"/>
                    <a:ea typeface="黑体" panose="02010609060101010101" pitchFamily="49" charset="-122"/>
                  </a:rPr>
                  <a:t>后</a:t>
                </a:r>
                <a:r>
                  <a:rPr lang="en-US" altLang="zh-CN" sz="2000" dirty="0">
                    <a:latin typeface="Arial" panose="02080604020202020204" pitchFamily="34" charset="0"/>
                    <a:ea typeface="黑体" panose="02010609060101010101" pitchFamily="49" charset="-122"/>
                  </a:rPr>
                  <a:t>m</a:t>
                </a:r>
                <a:r>
                  <a:rPr lang="zh-CN" altLang="en-US" sz="20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位：第 </a:t>
                </a:r>
                <a:r>
                  <a:rPr lang="en-US" altLang="zh-CN" sz="2000" dirty="0" err="1" smtClean="0">
                    <a:solidFill>
                      <a:srgbClr val="FF0000"/>
                    </a:solidFill>
                    <a:latin typeface="Arial" panose="02080604020202020204" pitchFamily="34" charset="0"/>
                    <a:ea typeface="黑体" panose="02010609060101010101" pitchFamily="49" charset="-122"/>
                  </a:rPr>
                  <a:t>n+j</a:t>
                </a:r>
                <a:r>
                  <a:rPr lang="en-US" altLang="zh-CN" sz="2000" dirty="0" smtClean="0">
                    <a:solidFill>
                      <a:srgbClr val="FF0000"/>
                    </a:solidFill>
                    <a:latin typeface="Arial" panose="02080604020202020204" pitchFamily="34" charset="0"/>
                    <a:ea typeface="黑体" panose="02010609060101010101" pitchFamily="49" charset="-122"/>
                  </a:rPr>
                  <a:t> </a:t>
                </a:r>
                <a:r>
                  <a:rPr lang="zh-CN" altLang="en-US" sz="20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位可能</a:t>
                </a:r>
                <a:r>
                  <a:rPr lang="zh-CN" altLang="en-US" sz="2000" dirty="0">
                    <a:latin typeface="Arial" panose="02080604020202020204" pitchFamily="34" charset="0"/>
                    <a:ea typeface="黑体" panose="02010609060101010101" pitchFamily="49" charset="-122"/>
                  </a:rPr>
                  <a:t>为</a:t>
                </a:r>
                <a:r>
                  <a:rPr lang="en-US" altLang="zh-CN" sz="2000" dirty="0">
                    <a:latin typeface="Arial" panose="02080604020202020204" pitchFamily="34" charset="0"/>
                    <a:ea typeface="黑体" panose="02010609060101010101" pitchFamily="49" charset="-122"/>
                  </a:rPr>
                  <a:t>1</a:t>
                </a:r>
                <a:r>
                  <a:rPr lang="zh-CN" altLang="en-US" sz="2000" dirty="0">
                    <a:latin typeface="Arial" panose="02080604020202020204" pitchFamily="34" charset="0"/>
                    <a:ea typeface="黑体" panose="02010609060101010101" pitchFamily="49" charset="-122"/>
                  </a:rPr>
                  <a:t>，可能为</a:t>
                </a:r>
                <a:r>
                  <a:rPr lang="en-US" altLang="zh-CN" sz="2000" dirty="0">
                    <a:latin typeface="Arial" panose="02080604020202020204" pitchFamily="34" charset="0"/>
                    <a:ea typeface="黑体" panose="02010609060101010101" pitchFamily="49" charset="-122"/>
                  </a:rPr>
                  <a:t>2</a:t>
                </a:r>
                <a:r>
                  <a:rPr lang="zh-CN" altLang="en-US" sz="2000" dirty="0">
                    <a:latin typeface="Arial" panose="02080604020202020204" pitchFamily="34" charset="0"/>
                    <a:ea typeface="黑体" panose="02010609060101010101" pitchFamily="49" charset="-122"/>
                  </a:rPr>
                  <a:t>，可能为</a:t>
                </a:r>
                <a:r>
                  <a:rPr lang="en-US" altLang="zh-CN" sz="20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3</a:t>
                </a:r>
                <a:r>
                  <a:rPr lang="zh-CN" altLang="en-US" sz="20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。</a:t>
                </a:r>
                <a:endParaRPr lang="en-US" altLang="zh-CN" sz="2000" dirty="0" smtClean="0">
                  <a:latin typeface="Arial" panose="02080604020202020204" pitchFamily="34" charset="0"/>
                  <a:ea typeface="黑体" panose="02010609060101010101" pitchFamily="49" charset="-122"/>
                </a:endParaRPr>
              </a:p>
              <a:p>
                <a:pPr marL="914400" lvl="2" indent="0">
                  <a:buNone/>
                </a:pPr>
                <a:r>
                  <a:rPr lang="zh-CN" altLang="en-US" sz="20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为</a:t>
                </a:r>
                <a:r>
                  <a:rPr lang="en-US" altLang="zh-CN" sz="20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1</a:t>
                </a:r>
                <a:r>
                  <a:rPr lang="zh-CN" altLang="en-US" sz="20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solidFill>
                              <a:srgbClr val="FF0000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𝒈</m:t>
                        </m:r>
                      </m:e>
                      <m:sub>
                        <m:r>
                          <a:rPr lang="en-US" altLang="zh-CN" sz="2000" b="1" i="1" dirty="0" smtClean="0">
                            <a:solidFill>
                              <a:srgbClr val="FF0000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zh-CN" altLang="en-US" sz="2000" dirty="0" smtClean="0"/>
                  <a:t>和</a:t>
                </a:r>
                <a:r>
                  <a:rPr lang="en-US" altLang="zh-CN" sz="20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solidFill>
                              <a:srgbClr val="FF0000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𝒉</m:t>
                        </m:r>
                      </m:e>
                      <m:sub>
                        <m:r>
                          <a:rPr lang="en-US" altLang="zh-CN" sz="2000" b="1" i="1" dirty="0" smtClean="0">
                            <a:solidFill>
                              <a:srgbClr val="FF0000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zh-CN" altLang="en-US" sz="20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均选择加入子集；为</a:t>
                </a:r>
                <a:r>
                  <a:rPr lang="en-US" altLang="zh-CN" sz="20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2</a:t>
                </a:r>
                <a:r>
                  <a:rPr lang="zh-CN" altLang="en-US" sz="20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solidFill>
                              <a:srgbClr val="FF0000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𝒈</m:t>
                        </m:r>
                      </m:e>
                      <m:sub>
                        <m:r>
                          <a:rPr lang="en-US" altLang="zh-CN" sz="2000" b="1" i="1" dirty="0" smtClean="0">
                            <a:solidFill>
                              <a:srgbClr val="FF0000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zh-CN" altLang="en-US" sz="2000" dirty="0"/>
                  <a:t>和</a:t>
                </a:r>
                <a:r>
                  <a:rPr lang="en-US" altLang="zh-CN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solidFill>
                              <a:srgbClr val="FF0000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𝒉</m:t>
                        </m:r>
                      </m:e>
                      <m:sub>
                        <m:r>
                          <a:rPr lang="en-US" altLang="zh-CN" sz="2000" b="1" i="1" dirty="0" smtClean="0">
                            <a:solidFill>
                              <a:srgbClr val="FF0000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zh-CN" altLang="en-US" sz="20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任选</a:t>
                </a:r>
                <a:endParaRPr lang="en-US" altLang="zh-CN" sz="2000" dirty="0" smtClean="0">
                  <a:latin typeface="Arial" panose="02080604020202020204" pitchFamily="34" charset="0"/>
                  <a:ea typeface="黑体" panose="02010609060101010101" pitchFamily="49" charset="-122"/>
                </a:endParaRPr>
              </a:p>
              <a:p>
                <a:pPr marL="914400" lvl="2" indent="0">
                  <a:buNone/>
                </a:pPr>
                <a:r>
                  <a:rPr lang="zh-CN" altLang="en-US" sz="20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一个加入子集；为</a:t>
                </a:r>
                <a:r>
                  <a:rPr lang="en-US" altLang="zh-CN" sz="20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3</a:t>
                </a:r>
                <a:r>
                  <a:rPr lang="zh-CN" altLang="en-US" sz="20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则均不选择</a:t>
                </a:r>
                <a:endParaRPr lang="en-US" altLang="zh-CN" sz="2000" dirty="0" smtClean="0">
                  <a:latin typeface="Arial" panose="02080604020202020204" pitchFamily="34" charset="0"/>
                  <a:ea typeface="黑体" panose="02010609060101010101" pitchFamily="49" charset="-122"/>
                </a:endParaRPr>
              </a:p>
              <a:p>
                <a:pPr lvl="2"/>
                <a:r>
                  <a:rPr lang="zh-CN" altLang="en-US" sz="20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此时选择数的和的后</a:t>
                </a:r>
                <a:r>
                  <a:rPr lang="en-US" altLang="zh-CN" sz="20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m</a:t>
                </a:r>
                <a:r>
                  <a:rPr lang="zh-CN" altLang="en-US" sz="20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位每位均为</a:t>
                </a:r>
                <a:r>
                  <a:rPr lang="en-US" altLang="zh-CN" sz="20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3</a:t>
                </a:r>
                <a:endParaRPr lang="zh-CN" altLang="en-US" sz="2000" dirty="0">
                  <a:latin typeface="Arial" panose="02080604020202020204" pitchFamily="34" charset="0"/>
                  <a:ea typeface="黑体" panose="02010609060101010101" pitchFamily="49" charset="-122"/>
                </a:endParaRPr>
              </a:p>
              <a:p>
                <a:pPr lvl="1"/>
                <a:endParaRPr lang="zh-CN" altLang="en-US" sz="2200" dirty="0">
                  <a:latin typeface="Arial" panose="02080604020202020204" pitchFamily="34" charset="0"/>
                  <a:ea typeface="黑体" panose="02010609060101010101" pitchFamily="49" charset="-122"/>
                </a:endParaRPr>
              </a:p>
              <a:p>
                <a:pPr lvl="1"/>
                <a:endParaRPr lang="zh-CN" altLang="en-US" sz="2200" dirty="0" smtClean="0">
                  <a:latin typeface="Arial" panose="02080604020202020204" pitchFamily="34" charset="0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8195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484313"/>
                <a:ext cx="8229600" cy="5373687"/>
              </a:xfrm>
              <a:blipFill rotWithShape="1">
                <a:blip r:embed="rId3"/>
                <a:stretch>
                  <a:fillRect t="-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矩形 5"/>
              <p:cNvSpPr/>
              <p:nvPr/>
            </p:nvSpPr>
            <p:spPr>
              <a:xfrm>
                <a:off x="215516" y="6025836"/>
                <a:ext cx="3924436" cy="43088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b="1" i="1" dirty="0" smtClean="0">
                          <a:solidFill>
                            <a:srgbClr val="FF0000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altLang="zh-CN" sz="22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2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</a:rPr>
                                <m:t>𝒙</m:t>
                              </m:r>
                            </m:e>
                          </m:acc>
                        </m:e>
                        <m:sub>
                          <m: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𝟏</m:t>
                          </m:r>
                        </m:sub>
                      </m:sSub>
                      <m:r>
                        <a:rPr lang="en-US" altLang="zh-CN" sz="2200" b="1" i="1" dirty="0">
                          <a:solidFill>
                            <a:srgbClr val="FF0000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∨</m:t>
                      </m:r>
                      <m:sSub>
                        <m:sSubPr>
                          <m:ctrlP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𝟐</m:t>
                          </m:r>
                        </m:sub>
                      </m:sSub>
                      <m:r>
                        <a:rPr lang="en-US" altLang="zh-CN" sz="2200" b="1" i="1" dirty="0">
                          <a:solidFill>
                            <a:srgbClr val="FF0000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∨</m:t>
                      </m:r>
                      <m:sSub>
                        <m:sSubPr>
                          <m:ctrlP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𝟑</m:t>
                          </m:r>
                        </m:sub>
                      </m:sSub>
                      <m:r>
                        <a:rPr lang="en-US" altLang="zh-CN" sz="2200" b="1" i="1" dirty="0">
                          <a:solidFill>
                            <a:srgbClr val="FF0000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)</m:t>
                      </m:r>
                      <m:r>
                        <a:rPr lang="en-US" altLang="zh-CN" sz="2200" b="1" i="1" dirty="0">
                          <a:solidFill>
                            <a:srgbClr val="FF0000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∧</m:t>
                      </m:r>
                      <m:r>
                        <a:rPr lang="en-US" altLang="zh-CN" sz="2200" b="1" i="1" dirty="0">
                          <a:solidFill>
                            <a:srgbClr val="FF0000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𝟏</m:t>
                          </m:r>
                        </m:sub>
                      </m:sSub>
                      <m:r>
                        <a:rPr lang="en-US" altLang="zh-CN" sz="2200" b="1" i="1" dirty="0">
                          <a:solidFill>
                            <a:srgbClr val="FF0000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∨</m:t>
                      </m:r>
                      <m:sSub>
                        <m:sSubPr>
                          <m:ctrlP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altLang="zh-CN" sz="22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2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</a:rPr>
                                <m:t>𝒙</m:t>
                              </m:r>
                            </m:e>
                          </m:acc>
                        </m:e>
                        <m:sub>
                          <m:r>
                            <a:rPr lang="en-US" altLang="zh-CN" sz="2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𝟐</m:t>
                          </m:r>
                        </m:sub>
                      </m:sSub>
                      <m:r>
                        <a:rPr lang="en-US" altLang="zh-CN" sz="2200" b="1" i="1" dirty="0">
                          <a:solidFill>
                            <a:srgbClr val="FF0000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∨</m:t>
                      </m:r>
                      <m:sSub>
                        <m:sSubPr>
                          <m:ctrlP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altLang="zh-CN" sz="22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2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</a:rPr>
                                <m:t>𝒙</m:t>
                              </m:r>
                            </m:e>
                          </m:acc>
                        </m:e>
                        <m:sub>
                          <m:r>
                            <a:rPr lang="en-US" altLang="zh-CN" sz="2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𝟑</m:t>
                          </m:r>
                        </m:sub>
                      </m:sSub>
                      <m:r>
                        <a:rPr lang="en-US" altLang="zh-CN" sz="2200" b="1" dirty="0">
                          <a:solidFill>
                            <a:srgbClr val="FF0000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lang="zh-CN" altLang="en-US" sz="2200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516" y="6025836"/>
                <a:ext cx="3924436" cy="430887"/>
              </a:xfrm>
              <a:prstGeom prst="rect">
                <a:avLst/>
              </a:prstGeom>
              <a:blipFill rotWithShape="1">
                <a:blip r:embed="rId4"/>
                <a:stretch>
                  <a:fillRect l="-6" t="-74" r="10" b="-6645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971600" y="5831976"/>
            <a:ext cx="479618" cy="369332"/>
          </a:xfrm>
          <a:prstGeom prst="rect">
            <a:avLst/>
          </a:prstGeom>
          <a:noFill/>
          <a:ln w="25400">
            <a:noFill/>
          </a:ln>
        </p:spPr>
        <p:txBody>
          <a:bodyPr wrap="none" rtlCol="0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b="1" dirty="0" smtClean="0">
                <a:solidFill>
                  <a:srgbClr val="000099"/>
                </a:solidFill>
                <a:ea typeface="黑体" panose="02010609060101010101" pitchFamily="49" charset="-122"/>
              </a:rPr>
              <a:t>C1</a:t>
            </a:r>
            <a:endParaRPr lang="zh-CN" altLang="en-US" b="1" dirty="0" smtClean="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951820" y="5831976"/>
            <a:ext cx="479618" cy="369332"/>
          </a:xfrm>
          <a:prstGeom prst="rect">
            <a:avLst/>
          </a:prstGeom>
          <a:noFill/>
          <a:ln w="25400">
            <a:noFill/>
          </a:ln>
        </p:spPr>
        <p:txBody>
          <a:bodyPr wrap="none" rtlCol="0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b="1" dirty="0" smtClean="0">
                <a:solidFill>
                  <a:srgbClr val="000099"/>
                </a:solidFill>
                <a:ea typeface="黑体" panose="02010609060101010101" pitchFamily="49" charset="-122"/>
              </a:rPr>
              <a:t>C2</a:t>
            </a:r>
            <a:endParaRPr lang="zh-CN" altLang="en-US" b="1" dirty="0" smtClean="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391980" y="6010446"/>
            <a:ext cx="277230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 smtClean="0"/>
              <a:t>x</a:t>
            </a:r>
            <a:r>
              <a:rPr lang="en-US" altLang="zh-CN" sz="2400" b="1" baseline="-25000" dirty="0" smtClean="0"/>
              <a:t>1</a:t>
            </a:r>
            <a:r>
              <a:rPr lang="en-US" altLang="zh-CN" sz="2400" b="1" dirty="0" smtClean="0"/>
              <a:t>=0</a:t>
            </a:r>
            <a:r>
              <a:rPr lang="zh-CN" altLang="en-US" sz="2400" b="1" dirty="0" smtClean="0"/>
              <a:t>，</a:t>
            </a:r>
            <a:r>
              <a:rPr lang="en-US" altLang="zh-CN" sz="2400" b="1" dirty="0" smtClean="0"/>
              <a:t>x</a:t>
            </a:r>
            <a:r>
              <a:rPr lang="en-US" altLang="zh-CN" sz="2400" b="1" baseline="-25000" dirty="0" smtClean="0"/>
              <a:t>2</a:t>
            </a:r>
            <a:r>
              <a:rPr lang="en-US" altLang="zh-CN" sz="2400" b="1" dirty="0" smtClean="0"/>
              <a:t>=0</a:t>
            </a:r>
            <a:r>
              <a:rPr lang="zh-CN" altLang="zh-CN" sz="2400" b="1" dirty="0" smtClean="0"/>
              <a:t>，</a:t>
            </a:r>
            <a:r>
              <a:rPr lang="en-US" altLang="zh-CN" sz="2400" b="1" dirty="0" smtClean="0"/>
              <a:t>x</a:t>
            </a:r>
            <a:r>
              <a:rPr lang="en-US" altLang="zh-CN" sz="2400" b="1" baseline="-25000" dirty="0" smtClean="0"/>
              <a:t>3</a:t>
            </a:r>
            <a:r>
              <a:rPr lang="en-US" altLang="zh-CN" sz="2400" b="1" dirty="0" smtClean="0"/>
              <a:t>=1</a:t>
            </a:r>
            <a:endParaRPr lang="zh-CN" altLang="en-US" sz="2400" dirty="0"/>
          </a:p>
        </p:txBody>
      </p:sp>
      <p:sp>
        <p:nvSpPr>
          <p:cNvPr id="2" name="矩形 1"/>
          <p:cNvSpPr/>
          <p:nvPr/>
        </p:nvSpPr>
        <p:spPr bwMode="auto">
          <a:xfrm>
            <a:off x="7496810" y="3465195"/>
            <a:ext cx="1440180" cy="245745"/>
          </a:xfrm>
          <a:prstGeom prst="rect">
            <a:avLst/>
          </a:prstGeom>
          <a:ln w="38100">
            <a:solidFill>
              <a:srgbClr val="0066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12" name="矩形 11"/>
          <p:cNvSpPr/>
          <p:nvPr/>
        </p:nvSpPr>
        <p:spPr bwMode="auto">
          <a:xfrm>
            <a:off x="7488555" y="3933190"/>
            <a:ext cx="1440180" cy="284480"/>
          </a:xfrm>
          <a:prstGeom prst="rect">
            <a:avLst/>
          </a:prstGeom>
          <a:ln w="38100">
            <a:solidFill>
              <a:srgbClr val="0066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13" name="矩形 12"/>
          <p:cNvSpPr/>
          <p:nvPr/>
        </p:nvSpPr>
        <p:spPr bwMode="auto">
          <a:xfrm>
            <a:off x="7488555" y="4222750"/>
            <a:ext cx="1440180" cy="243840"/>
          </a:xfrm>
          <a:prstGeom prst="rect">
            <a:avLst/>
          </a:prstGeom>
          <a:ln w="38100">
            <a:solidFill>
              <a:srgbClr val="0066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14" name="矩形 13"/>
          <p:cNvSpPr/>
          <p:nvPr/>
        </p:nvSpPr>
        <p:spPr bwMode="auto">
          <a:xfrm>
            <a:off x="7812360" y="6375575"/>
            <a:ext cx="648000" cy="324000"/>
          </a:xfrm>
          <a:prstGeom prst="rect">
            <a:avLst/>
          </a:prstGeom>
          <a:ln w="38100">
            <a:solidFill>
              <a:srgbClr val="0066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15" name="矩形 14"/>
          <p:cNvSpPr/>
          <p:nvPr/>
        </p:nvSpPr>
        <p:spPr bwMode="auto">
          <a:xfrm>
            <a:off x="7496810" y="5116195"/>
            <a:ext cx="1440180" cy="248920"/>
          </a:xfrm>
          <a:prstGeom prst="rect">
            <a:avLst/>
          </a:prstGeom>
          <a:ln w="38100">
            <a:solidFill>
              <a:srgbClr val="0066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16" name="矩形 15"/>
          <p:cNvSpPr/>
          <p:nvPr/>
        </p:nvSpPr>
        <p:spPr bwMode="auto">
          <a:xfrm>
            <a:off x="7488555" y="5587365"/>
            <a:ext cx="1440180" cy="244475"/>
          </a:xfrm>
          <a:prstGeom prst="rect">
            <a:avLst/>
          </a:prstGeom>
          <a:ln w="38100">
            <a:solidFill>
              <a:srgbClr val="0066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17" name="矩形 16"/>
          <p:cNvSpPr/>
          <p:nvPr/>
        </p:nvSpPr>
        <p:spPr bwMode="auto">
          <a:xfrm>
            <a:off x="7488555" y="5842635"/>
            <a:ext cx="1440180" cy="257810"/>
          </a:xfrm>
          <a:prstGeom prst="rect">
            <a:avLst/>
          </a:prstGeom>
          <a:ln w="38100">
            <a:solidFill>
              <a:srgbClr val="0066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21" name="矩形 20"/>
          <p:cNvSpPr/>
          <p:nvPr/>
        </p:nvSpPr>
        <p:spPr bwMode="auto">
          <a:xfrm>
            <a:off x="8460504" y="6381328"/>
            <a:ext cx="476205" cy="324000"/>
          </a:xfrm>
          <a:prstGeom prst="rect">
            <a:avLst/>
          </a:prstGeom>
          <a:ln w="38100">
            <a:solidFill>
              <a:srgbClr val="0066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" grpId="0" bldLvl="0" animBg="1"/>
      <p:bldP spid="12" grpId="0" bldLvl="0" animBg="1"/>
      <p:bldP spid="13" grpId="0" bldLvl="0" animBg="1"/>
      <p:bldP spid="14" grpId="0" animBg="1"/>
      <p:bldP spid="15" grpId="0" bldLvl="0" animBg="1"/>
      <p:bldP spid="16" grpId="0" bldLvl="0" animBg="1"/>
      <p:bldP spid="17" grpId="0" bldLvl="0" animBg="1"/>
      <p:bldP spid="21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8" name="矩形 17"/>
              <p:cNvSpPr/>
              <p:nvPr/>
            </p:nvSpPr>
            <p:spPr>
              <a:xfrm>
                <a:off x="7377262" y="3176972"/>
                <a:ext cx="1659234" cy="156972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lvl="0" algn="just"/>
                <a:r>
                  <a:rPr lang="en-US" altLang="zh-CN" sz="1600" b="1" dirty="0" smtClean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16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1600" b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1 0 0 </a:t>
                </a:r>
                <a:r>
                  <a:rPr lang="en-US" altLang="zh-CN" sz="1600" b="1" dirty="0" smtClean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</a:t>
                </a:r>
                <a:r>
                  <a:rPr lang="en-US" altLang="zh-CN" sz="1600" b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0 1</a:t>
                </a:r>
                <a:endParaRPr lang="en-US" altLang="zh-CN" sz="1600" b="1" dirty="0">
                  <a:solidFill>
                    <a:srgbClr val="FF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0" algn="just"/>
                <a:r>
                  <a:rPr lang="en-US" altLang="zh-CN" sz="1600" b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CN" sz="16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16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</m:e>
                        </m:acc>
                      </m:e>
                      <m:sub>
                        <m:r>
                          <a:rPr lang="en-US" altLang="zh-CN" sz="16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1600" b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1 0 </a:t>
                </a:r>
                <a:r>
                  <a:rPr lang="en-US" altLang="zh-CN" sz="1600" b="1" dirty="0" smtClean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0   </a:t>
                </a:r>
                <a:r>
                  <a:rPr lang="en-US" altLang="zh-CN" sz="1600" b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1 0</a:t>
                </a:r>
                <a:endParaRPr lang="en-US" altLang="zh-CN" sz="1600" b="1" dirty="0">
                  <a:solidFill>
                    <a:srgbClr val="FF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0" algn="just"/>
                <a:r>
                  <a:rPr lang="en-US" altLang="zh-CN" sz="1600" b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16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1600" b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0 1 0  </a:t>
                </a:r>
                <a:r>
                  <a:rPr lang="en-US" altLang="zh-CN" sz="1600" b="1" dirty="0" smtClean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1 </a:t>
                </a:r>
                <a:r>
                  <a:rPr lang="en-US" altLang="zh-CN" sz="1600" b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0</a:t>
                </a:r>
                <a:endParaRPr lang="en-US" altLang="zh-CN" sz="1600" b="1" dirty="0">
                  <a:solidFill>
                    <a:srgbClr val="FF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0" algn="just"/>
                <a:r>
                  <a:rPr lang="en-US" altLang="zh-CN" sz="1600" b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CN" sz="16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16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</m:e>
                        </m:acc>
                      </m:e>
                      <m:sub>
                        <m:r>
                          <a:rPr lang="en-US" altLang="zh-CN" sz="16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1600" b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0 1 0 </a:t>
                </a:r>
                <a:r>
                  <a:rPr lang="en-US" altLang="zh-CN" sz="1600" b="1" dirty="0" smtClean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0 </a:t>
                </a:r>
                <a:r>
                  <a:rPr lang="en-US" altLang="zh-CN" sz="1600" b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1</a:t>
                </a:r>
                <a:endParaRPr lang="en-US" altLang="zh-CN" sz="1600" b="1" dirty="0">
                  <a:solidFill>
                    <a:srgbClr val="FF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0" algn="just"/>
                <a:r>
                  <a:rPr lang="en-US" altLang="zh-CN" sz="1600" b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16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en-US" altLang="zh-CN" sz="1600" b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0 0 1  </a:t>
                </a:r>
                <a:r>
                  <a:rPr lang="en-US" altLang="zh-CN" sz="1600" b="1" dirty="0" smtClean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1 </a:t>
                </a:r>
                <a:r>
                  <a:rPr lang="en-US" altLang="zh-CN" sz="1600" b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0</a:t>
                </a:r>
                <a:endParaRPr lang="en-US" altLang="zh-CN" sz="1600" b="1" dirty="0">
                  <a:solidFill>
                    <a:srgbClr val="FF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0" algn="just"/>
                <a:r>
                  <a:rPr lang="en-US" altLang="zh-CN" sz="1600" b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CN" sz="16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16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</m:e>
                        </m:acc>
                      </m:e>
                      <m:sub>
                        <m:r>
                          <a:rPr lang="en-US" altLang="zh-CN" sz="16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en-US" altLang="zh-CN" sz="1600" b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0 0 1 </a:t>
                </a:r>
                <a:r>
                  <a:rPr lang="en-US" altLang="zh-CN" sz="1600" b="1" dirty="0" smtClean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</a:t>
                </a:r>
                <a:r>
                  <a:rPr lang="en-US" altLang="zh-CN" sz="1600" b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0 1</a:t>
                </a:r>
                <a:endParaRPr lang="en-US" altLang="zh-CN" sz="1600" b="1" dirty="0">
                  <a:solidFill>
                    <a:srgbClr val="FF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8" name="矩形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7262" y="3176972"/>
                <a:ext cx="1659234" cy="1569720"/>
              </a:xfrm>
              <a:prstGeom prst="rect">
                <a:avLst/>
              </a:prstGeom>
              <a:blipFill rotWithShape="1">
                <a:blip r:embed="rId1"/>
                <a:stretch>
                  <a:fillRect l="-28" t="-4" r="27" b="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矩形 18"/>
              <p:cNvSpPr/>
              <p:nvPr/>
            </p:nvSpPr>
            <p:spPr>
              <a:xfrm>
                <a:off x="7377262" y="5058603"/>
                <a:ext cx="1766738" cy="108140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square">
                <a:spAutoFit/>
              </a:bodyPr>
              <a:lstStyle/>
              <a:p>
                <a:pPr lvl="0" algn="just"/>
                <a:r>
                  <a:rPr lang="en-US" altLang="zh-CN" sz="1600" b="1" dirty="0" smtClean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𝒈</m:t>
                        </m:r>
                      </m:e>
                      <m:sub>
                        <m:r>
                          <a:rPr lang="en-US" altLang="zh-CN" sz="16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1600" b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0 0 0 </a:t>
                </a:r>
                <a:r>
                  <a:rPr lang="en-US" altLang="zh-CN" sz="1600" b="1" dirty="0" smtClean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</a:t>
                </a:r>
                <a:r>
                  <a:rPr lang="en-US" altLang="zh-CN" sz="1600" b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1 0</a:t>
                </a:r>
                <a:endParaRPr lang="en-US" altLang="zh-CN" sz="1600" b="1" dirty="0">
                  <a:solidFill>
                    <a:srgbClr val="FF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0" algn="just"/>
                <a:r>
                  <a:rPr lang="en-US" altLang="zh-CN" sz="1600" b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US" altLang="zh-CN" sz="16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1600" b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0 0 </a:t>
                </a:r>
                <a:r>
                  <a:rPr lang="en-US" altLang="zh-CN" sz="1600" b="1" dirty="0" smtClean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0   1 </a:t>
                </a:r>
                <a:r>
                  <a:rPr lang="en-US" altLang="zh-CN" sz="1600" b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0</a:t>
                </a:r>
                <a:endParaRPr lang="en-US" altLang="zh-CN" sz="1600" b="1" dirty="0">
                  <a:solidFill>
                    <a:srgbClr val="FF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0" algn="just"/>
                <a:r>
                  <a:rPr lang="en-US" altLang="zh-CN" sz="1600" b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𝒈</m:t>
                        </m:r>
                      </m:e>
                      <m:sub>
                        <m:r>
                          <a:rPr lang="en-US" altLang="zh-CN" sz="16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1600" b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0 0 0  </a:t>
                </a:r>
                <a:r>
                  <a:rPr lang="en-US" altLang="zh-CN" sz="1600" b="1" dirty="0" smtClean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 </a:t>
                </a:r>
                <a:r>
                  <a:rPr lang="en-US" altLang="zh-CN" sz="1600" b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1</a:t>
                </a:r>
                <a:endParaRPr lang="en-US" altLang="zh-CN" sz="1600" b="1" dirty="0">
                  <a:solidFill>
                    <a:srgbClr val="FF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0" algn="just"/>
                <a:r>
                  <a:rPr lang="en-US" altLang="zh-CN" sz="1600" b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US" altLang="zh-CN" sz="16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1600" b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0 0 </a:t>
                </a:r>
                <a:r>
                  <a:rPr lang="en-US" altLang="zh-CN" sz="1600" b="1" dirty="0" smtClean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0   0 </a:t>
                </a:r>
                <a:r>
                  <a:rPr lang="en-US" altLang="zh-CN" sz="1600" b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1</a:t>
                </a:r>
                <a:endParaRPr lang="en-US" altLang="zh-CN" sz="1600" b="1" dirty="0">
                  <a:solidFill>
                    <a:srgbClr val="FF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9" name="矩形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7262" y="5058603"/>
                <a:ext cx="1766738" cy="1081405"/>
              </a:xfrm>
              <a:prstGeom prst="rect">
                <a:avLst/>
              </a:prstGeom>
              <a:blipFill rotWithShape="1">
                <a:blip r:embed="rId2"/>
                <a:stretch>
                  <a:fillRect l="-26" t="-18" b="1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矩形 19"/>
          <p:cNvSpPr/>
          <p:nvPr/>
        </p:nvSpPr>
        <p:spPr>
          <a:xfrm>
            <a:off x="7377262" y="6351997"/>
            <a:ext cx="1631315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b="1" dirty="0" smtClean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B   1 1 1   3 3</a:t>
            </a:r>
            <a:endParaRPr lang="en-US" altLang="zh-CN" sz="1600" b="1" dirty="0" smtClean="0">
              <a:solidFill>
                <a:srgbClr val="FF000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81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子集和问题是</a:t>
            </a:r>
            <a:r>
              <a:rPr lang="en-US" altLang="zh-CN" dirty="0" smtClean="0"/>
              <a:t>NP</a:t>
            </a:r>
            <a:r>
              <a:rPr lang="zh-CN" altLang="en-US" dirty="0" smtClean="0"/>
              <a:t>完全问题</a:t>
            </a:r>
            <a:endParaRPr lang="zh-CN" altLang="en-US" dirty="0" smtClean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195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484313"/>
                <a:ext cx="8229600" cy="5373687"/>
              </a:xfrm>
            </p:spPr>
            <p:txBody>
              <a:bodyPr/>
              <a:lstStyle/>
              <a:p>
                <a:pPr lvl="1"/>
                <a:r>
                  <a:rPr lang="zh-CN" altLang="en-US" sz="2200" dirty="0" smtClean="0">
                    <a:solidFill>
                      <a:srgbClr val="FF0000"/>
                    </a:solidFill>
                    <a:latin typeface="Arial" panose="02080604020202020204" pitchFamily="34" charset="0"/>
                    <a:ea typeface="黑体" panose="02010609060101010101" pitchFamily="49" charset="-122"/>
                  </a:rPr>
                  <a:t>充分性证明：</a:t>
                </a:r>
                <a:r>
                  <a:rPr lang="zh-CN" altLang="zh-CN" sz="22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设</a:t>
                </a:r>
                <a:r>
                  <a:rPr lang="en-US" altLang="zh-CN" sz="22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2(</a:t>
                </a:r>
                <a:r>
                  <a:rPr lang="en-US" altLang="zh-CN" sz="2200" dirty="0" err="1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n+m</a:t>
                </a:r>
                <a:r>
                  <a:rPr lang="en-US" altLang="zh-CN" sz="22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)</a:t>
                </a:r>
                <a:r>
                  <a:rPr lang="zh-CN" altLang="zh-CN" sz="2200" dirty="0">
                    <a:latin typeface="Arial" panose="02080604020202020204" pitchFamily="34" charset="0"/>
                    <a:ea typeface="黑体" panose="02010609060101010101" pitchFamily="49" charset="-122"/>
                  </a:rPr>
                  <a:t>个数中有若干个加起来恰好为</a:t>
                </a:r>
                <a:r>
                  <a:rPr lang="en-US" altLang="zh-CN" sz="2200" dirty="0">
                    <a:latin typeface="Arial" panose="02080604020202020204" pitchFamily="34" charset="0"/>
                    <a:ea typeface="黑体" panose="02010609060101010101" pitchFamily="49" charset="-122"/>
                  </a:rPr>
                  <a:t>1</a:t>
                </a:r>
                <a:r>
                  <a:rPr lang="zh-CN" altLang="zh-CN" sz="2200" dirty="0">
                    <a:latin typeface="Arial" panose="02080604020202020204" pitchFamily="34" charset="0"/>
                    <a:ea typeface="黑体" panose="02010609060101010101" pitchFamily="49" charset="-122"/>
                  </a:rPr>
                  <a:t>……</a:t>
                </a:r>
                <a:r>
                  <a:rPr lang="en-US" altLang="zh-CN" sz="2200" dirty="0">
                    <a:latin typeface="Arial" panose="02080604020202020204" pitchFamily="34" charset="0"/>
                    <a:ea typeface="黑体" panose="02010609060101010101" pitchFamily="49" charset="-122"/>
                  </a:rPr>
                  <a:t>13</a:t>
                </a:r>
                <a:r>
                  <a:rPr lang="zh-CN" altLang="zh-CN" sz="2200" dirty="0">
                    <a:latin typeface="Arial" panose="02080604020202020204" pitchFamily="34" charset="0"/>
                    <a:ea typeface="黑体" panose="02010609060101010101" pitchFamily="49" charset="-122"/>
                  </a:rPr>
                  <a:t>……</a:t>
                </a:r>
                <a:r>
                  <a:rPr lang="en-US" altLang="zh-CN" sz="22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3</a:t>
                </a:r>
                <a:endParaRPr lang="en-US" altLang="zh-CN" sz="2200" dirty="0" smtClean="0">
                  <a:latin typeface="Arial" panose="02080604020202020204" pitchFamily="34" charset="0"/>
                  <a:ea typeface="黑体" panose="02010609060101010101" pitchFamily="49" charset="-122"/>
                </a:endParaRPr>
              </a:p>
              <a:p>
                <a:pPr lvl="2"/>
                <a:r>
                  <a:rPr lang="zh-CN" altLang="en-US" sz="20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即使是所有数加和每位最多为</a:t>
                </a:r>
                <a:r>
                  <a:rPr lang="en-US" altLang="zh-CN" sz="20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5</a:t>
                </a:r>
                <a:r>
                  <a:rPr lang="zh-CN" altLang="en-US" sz="20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，不会产生进位</a:t>
                </a:r>
                <a:endParaRPr lang="en-US" altLang="zh-CN" sz="2000" dirty="0" smtClean="0">
                  <a:latin typeface="Arial" panose="02080604020202020204" pitchFamily="34" charset="0"/>
                  <a:ea typeface="黑体" panose="02010609060101010101" pitchFamily="49" charset="-122"/>
                </a:endParaRPr>
              </a:p>
              <a:p>
                <a:pPr lvl="1"/>
                <a:r>
                  <a:rPr lang="zh-CN" altLang="en-US" sz="2200" dirty="0" smtClean="0"/>
                  <a:t>和中</a:t>
                </a:r>
                <a:r>
                  <a:rPr lang="zh-CN" altLang="zh-CN" sz="2200" dirty="0" smtClean="0"/>
                  <a:t>前</a:t>
                </a:r>
                <a:r>
                  <a:rPr lang="en-US" altLang="zh-CN" sz="2200" dirty="0" smtClean="0"/>
                  <a:t>n</a:t>
                </a:r>
                <a:r>
                  <a:rPr lang="zh-CN" altLang="en-US" sz="2200" dirty="0" smtClean="0"/>
                  <a:t>位</a:t>
                </a:r>
                <a:r>
                  <a:rPr lang="zh-CN" altLang="zh-CN" sz="2200" dirty="0" smtClean="0"/>
                  <a:t>中</a:t>
                </a:r>
                <a:r>
                  <a:rPr lang="zh-CN" altLang="zh-CN" sz="2200" dirty="0"/>
                  <a:t>每位均为</a:t>
                </a:r>
                <a:r>
                  <a:rPr lang="en-US" altLang="zh-CN" sz="2200" dirty="0"/>
                  <a:t>1</a:t>
                </a:r>
                <a:r>
                  <a:rPr lang="zh-CN" altLang="zh-CN" sz="2200" dirty="0"/>
                  <a:t>，说明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200" i="1" dirty="0">
                            <a:solidFill>
                              <a:srgbClr val="FF0000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2200" i="1" dirty="0">
                            <a:solidFill>
                              <a:srgbClr val="FF0000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zh-CN" sz="2200" dirty="0">
                    <a:solidFill>
                      <a:schemeClr val="bg2"/>
                    </a:solidFill>
                  </a:rPr>
                  <a:t>与</a:t>
                </a:r>
                <a:r>
                  <a:rPr lang="en-US" altLang="zh-CN" sz="2200" dirty="0">
                    <a:solidFill>
                      <a:schemeClr val="bg2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CN" sz="22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sz="2200" i="1" dirty="0">
                                <a:solidFill>
                                  <a:srgbClr val="FF0000"/>
                                </a:solidFill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𝒙</m:t>
                            </m:r>
                          </m:e>
                        </m:acc>
                      </m:e>
                      <m:sub>
                        <m:r>
                          <a:rPr lang="en-US" altLang="zh-CN" sz="2200" i="1" dirty="0">
                            <a:solidFill>
                              <a:srgbClr val="FF0000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zh-CN" sz="2200" dirty="0" smtClean="0"/>
                  <a:t>恰好</a:t>
                </a:r>
                <a:r>
                  <a:rPr lang="zh-CN" altLang="en-US" sz="2200" dirty="0" smtClean="0"/>
                  <a:t>只</a:t>
                </a:r>
                <a:r>
                  <a:rPr lang="zh-CN" altLang="zh-CN" sz="2200" dirty="0" smtClean="0"/>
                  <a:t>取</a:t>
                </a:r>
                <a:r>
                  <a:rPr lang="zh-CN" altLang="zh-CN" sz="2200" dirty="0"/>
                  <a:t>了一个。</a:t>
                </a:r>
                <a:endParaRPr lang="zh-CN" altLang="zh-CN" sz="2200" dirty="0"/>
              </a:p>
              <a:p>
                <a:pPr lvl="2"/>
                <a:r>
                  <a:rPr lang="zh-CN" altLang="zh-CN" sz="2000" dirty="0" smtClean="0"/>
                  <a:t>若</a:t>
                </a:r>
                <a:r>
                  <a:rPr lang="zh-CN" altLang="en-US" sz="2000" dirty="0" smtClean="0"/>
                  <a:t>十进制</a:t>
                </a:r>
                <a:r>
                  <a:rPr lang="zh-CN" altLang="zh-CN" sz="2000" dirty="0" smtClean="0"/>
                  <a:t>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solidFill>
                              <a:srgbClr val="FF0000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2000" i="1" dirty="0">
                            <a:solidFill>
                              <a:srgbClr val="FF0000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zh-CN" sz="2000" dirty="0" smtClean="0"/>
                  <a:t>在</a:t>
                </a:r>
                <a:r>
                  <a:rPr lang="zh-CN" altLang="zh-CN" sz="2000" dirty="0"/>
                  <a:t>子集中，则令</a:t>
                </a:r>
                <a:r>
                  <a:rPr lang="zh-CN" altLang="zh-CN" sz="2000" dirty="0" smtClean="0"/>
                  <a:t>变</a:t>
                </a:r>
                <a:r>
                  <a:rPr lang="zh-CN" altLang="en-US" sz="2000" dirty="0" smtClean="0"/>
                  <a:t>元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solidFill>
                              <a:srgbClr val="FF0000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2000" i="1" dirty="0">
                            <a:solidFill>
                              <a:srgbClr val="FF0000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zh-CN" sz="2000" dirty="0" smtClean="0"/>
                  <a:t>为</a:t>
                </a:r>
                <a:r>
                  <a:rPr lang="en-US" altLang="zh-CN" sz="2000" dirty="0" smtClean="0"/>
                  <a:t>1(</a:t>
                </a:r>
                <a:r>
                  <a:rPr lang="zh-CN" altLang="en-US" sz="2000" dirty="0" smtClean="0"/>
                  <a:t>真</a:t>
                </a:r>
                <a:r>
                  <a:rPr lang="en-US" altLang="zh-CN" sz="2000" dirty="0" smtClean="0"/>
                  <a:t>)</a:t>
                </a:r>
                <a:endParaRPr lang="zh-CN" altLang="zh-CN" sz="2000" dirty="0"/>
              </a:p>
              <a:p>
                <a:pPr lvl="2"/>
                <a:r>
                  <a:rPr lang="zh-CN" altLang="zh-CN" sz="2000" dirty="0" smtClean="0"/>
                  <a:t>若</a:t>
                </a:r>
                <a:r>
                  <a:rPr lang="zh-CN" altLang="en-US" sz="2000" dirty="0" smtClean="0"/>
                  <a:t>十进制数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CN" sz="20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sz="2000" i="1" dirty="0">
                                <a:solidFill>
                                  <a:srgbClr val="FF0000"/>
                                </a:solidFill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𝒙</m:t>
                            </m:r>
                          </m:e>
                        </m:acc>
                      </m:e>
                      <m:sub>
                        <m:r>
                          <a:rPr lang="en-US" altLang="zh-CN" sz="2000" i="1" dirty="0">
                            <a:solidFill>
                              <a:srgbClr val="FF0000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zh-CN" sz="2000" dirty="0" smtClean="0"/>
                  <a:t>在</a:t>
                </a:r>
                <a:r>
                  <a:rPr lang="zh-CN" altLang="zh-CN" sz="2000" dirty="0"/>
                  <a:t>子集中，则</a:t>
                </a:r>
                <a:r>
                  <a:rPr lang="zh-CN" altLang="zh-CN" sz="2000" dirty="0" smtClean="0"/>
                  <a:t>令</a:t>
                </a:r>
                <a:r>
                  <a:rPr lang="zh-CN" altLang="en-US" sz="2000" dirty="0" smtClean="0"/>
                  <a:t>变元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CN" sz="20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sz="2000" i="1" dirty="0">
                                <a:solidFill>
                                  <a:srgbClr val="FF0000"/>
                                </a:solidFill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𝒙</m:t>
                            </m:r>
                          </m:e>
                        </m:acc>
                      </m:e>
                      <m:sub>
                        <m:r>
                          <a:rPr lang="en-US" altLang="zh-CN" sz="2000" i="1" dirty="0">
                            <a:solidFill>
                              <a:srgbClr val="FF0000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zh-CN" sz="2000" dirty="0" smtClean="0"/>
                  <a:t>为</a:t>
                </a:r>
                <a:r>
                  <a:rPr lang="en-US" altLang="zh-CN" sz="2000" dirty="0" smtClean="0"/>
                  <a:t>0(</a:t>
                </a:r>
                <a:r>
                  <a:rPr lang="zh-CN" altLang="en-US" sz="2000" dirty="0" smtClean="0"/>
                  <a:t>假</a:t>
                </a:r>
                <a:r>
                  <a:rPr lang="en-US" altLang="zh-CN" sz="2000" dirty="0" smtClean="0"/>
                  <a:t>)</a:t>
                </a:r>
                <a:endParaRPr lang="en-US" altLang="zh-CN" sz="2000" dirty="0" smtClean="0">
                  <a:latin typeface="Arial" panose="02080604020202020204" pitchFamily="34" charset="0"/>
                  <a:ea typeface="黑体" panose="02010609060101010101" pitchFamily="49" charset="-122"/>
                </a:endParaRPr>
              </a:p>
              <a:p>
                <a:pPr lvl="1"/>
                <a:r>
                  <a:rPr lang="zh-CN" altLang="en-US" sz="22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和中后</a:t>
                </a:r>
                <a:r>
                  <a:rPr lang="en-US" altLang="zh-CN" sz="22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m</a:t>
                </a:r>
                <a:r>
                  <a:rPr lang="zh-CN" altLang="en-US" sz="22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位中每位均为</a:t>
                </a:r>
                <a:r>
                  <a:rPr lang="en-US" altLang="zh-CN" sz="22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3</a:t>
                </a:r>
                <a:endParaRPr lang="en-US" altLang="zh-CN" sz="2000" dirty="0" smtClean="0">
                  <a:latin typeface="Arial" panose="02080604020202020204" pitchFamily="34" charset="0"/>
                  <a:ea typeface="黑体" panose="02010609060101010101" pitchFamily="49" charset="-122"/>
                </a:endParaRPr>
              </a:p>
              <a:p>
                <a:pPr lvl="2"/>
                <a:r>
                  <a:rPr lang="zh-CN" altLang="en-US" sz="20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即使所有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solidFill>
                              <a:srgbClr val="FF0000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𝒈</m:t>
                        </m:r>
                      </m:e>
                      <m:sub>
                        <m:r>
                          <a:rPr lang="en-US" altLang="zh-CN" sz="2000" b="1" i="1" dirty="0" smtClean="0">
                            <a:solidFill>
                              <a:srgbClr val="FF0000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zh-CN" altLang="en-US" sz="2000" dirty="0"/>
                  <a:t>和</a:t>
                </a:r>
                <a:r>
                  <a:rPr lang="en-US" altLang="zh-CN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solidFill>
                              <a:srgbClr val="FF0000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𝒉</m:t>
                        </m:r>
                      </m:e>
                      <m:sub>
                        <m:r>
                          <a:rPr lang="en-US" altLang="zh-CN" sz="2000" b="1" i="1" dirty="0" smtClean="0">
                            <a:solidFill>
                              <a:srgbClr val="FF0000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en-US" altLang="zh-CN" sz="20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(</a:t>
                </a:r>
                <a:r>
                  <a:rPr lang="zh-CN" altLang="en-US" sz="20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中间</a:t>
                </a:r>
                <a:r>
                  <a:rPr lang="en-US" altLang="zh-CN" sz="20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2m</a:t>
                </a:r>
                <a:r>
                  <a:rPr lang="zh-CN" altLang="en-US" sz="20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个数</a:t>
                </a:r>
                <a:r>
                  <a:rPr lang="en-US" altLang="zh-CN" sz="20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)</a:t>
                </a:r>
                <a:r>
                  <a:rPr lang="zh-CN" altLang="en-US" sz="20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均在子集中，</a:t>
                </a:r>
                <a:endParaRPr lang="en-US" altLang="zh-CN" sz="2000" dirty="0" smtClean="0">
                  <a:latin typeface="Arial" panose="02080604020202020204" pitchFamily="34" charset="0"/>
                  <a:ea typeface="黑体" panose="02010609060101010101" pitchFamily="49" charset="-122"/>
                </a:endParaRPr>
              </a:p>
              <a:p>
                <a:pPr marL="914400" lvl="2" indent="0">
                  <a:buNone/>
                </a:pPr>
                <a:r>
                  <a:rPr lang="zh-CN" altLang="en-US" sz="20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后</a:t>
                </a:r>
                <a:r>
                  <a:rPr lang="en-US" altLang="zh-CN" sz="20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m</a:t>
                </a:r>
                <a:r>
                  <a:rPr lang="zh-CN" altLang="en-US" sz="20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位中每位</a:t>
                </a:r>
                <a:r>
                  <a:rPr lang="zh-CN" altLang="en-US" sz="2000" dirty="0">
                    <a:latin typeface="Arial" panose="02080604020202020204" pitchFamily="34" charset="0"/>
                    <a:ea typeface="黑体" panose="02010609060101010101" pitchFamily="49" charset="-122"/>
                  </a:rPr>
                  <a:t>的</a:t>
                </a:r>
                <a:r>
                  <a:rPr lang="zh-CN" altLang="en-US" sz="20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和也不过为</a:t>
                </a:r>
                <a:r>
                  <a:rPr lang="en-US" altLang="zh-CN" sz="20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2</a:t>
                </a:r>
                <a:r>
                  <a:rPr lang="zh-CN" altLang="en-US" sz="20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，必然还要加上</a:t>
                </a:r>
                <a:endParaRPr lang="en-US" altLang="zh-CN" sz="2000" dirty="0" smtClean="0">
                  <a:latin typeface="Arial" panose="02080604020202020204" pitchFamily="34" charset="0"/>
                  <a:ea typeface="黑体" panose="02010609060101010101" pitchFamily="49" charset="-122"/>
                </a:endParaRPr>
              </a:p>
              <a:p>
                <a:pPr marL="914400" lvl="2" indent="0">
                  <a:buNone/>
                </a:pPr>
                <a:r>
                  <a:rPr lang="zh-CN" altLang="en-US" sz="20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前面某个已在子集中的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solidFill>
                              <a:srgbClr val="FF0000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2000" i="1" dirty="0">
                            <a:solidFill>
                              <a:srgbClr val="FF0000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en-US" sz="2000" dirty="0" smtClean="0"/>
                  <a:t>或</a:t>
                </a:r>
                <a:r>
                  <a:rPr lang="en-US" altLang="zh-CN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CN" sz="20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sz="2000" i="1" dirty="0">
                                <a:solidFill>
                                  <a:srgbClr val="FF0000"/>
                                </a:solidFill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𝒙</m:t>
                            </m:r>
                          </m:e>
                        </m:acc>
                      </m:e>
                      <m:sub>
                        <m:r>
                          <a:rPr lang="en-US" altLang="zh-CN" sz="2000" i="1" dirty="0">
                            <a:solidFill>
                              <a:srgbClr val="FF0000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en-US" sz="20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，和才为</a:t>
                </a:r>
                <a:r>
                  <a:rPr lang="en-US" altLang="zh-CN" sz="2000" dirty="0" smtClean="0">
                    <a:latin typeface="Arial" panose="02080604020202020204" pitchFamily="34" charset="0"/>
                    <a:ea typeface="黑体" panose="02010609060101010101" pitchFamily="49" charset="-122"/>
                  </a:rPr>
                  <a:t>3</a:t>
                </a:r>
                <a:endParaRPr lang="zh-CN" altLang="en-US" sz="2000" dirty="0">
                  <a:latin typeface="Arial" panose="02080604020202020204" pitchFamily="34" charset="0"/>
                  <a:ea typeface="黑体" panose="02010609060101010101" pitchFamily="49" charset="-122"/>
                </a:endParaRPr>
              </a:p>
              <a:p>
                <a:pPr lvl="1"/>
                <a:endParaRPr lang="zh-CN" altLang="en-US" sz="2200" dirty="0">
                  <a:latin typeface="Arial" panose="02080604020202020204" pitchFamily="34" charset="0"/>
                  <a:ea typeface="黑体" panose="02010609060101010101" pitchFamily="49" charset="-122"/>
                </a:endParaRPr>
              </a:p>
              <a:p>
                <a:pPr lvl="1"/>
                <a:endParaRPr lang="zh-CN" altLang="en-US" sz="2200" dirty="0" smtClean="0">
                  <a:latin typeface="Arial" panose="02080604020202020204" pitchFamily="34" charset="0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8195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484313"/>
                <a:ext cx="8229600" cy="5373687"/>
              </a:xfrm>
              <a:blipFill rotWithShape="1">
                <a:blip r:embed="rId3"/>
                <a:stretch>
                  <a:fillRect t="-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矩形 5"/>
              <p:cNvSpPr/>
              <p:nvPr/>
            </p:nvSpPr>
            <p:spPr>
              <a:xfrm>
                <a:off x="215516" y="6025836"/>
                <a:ext cx="3924436" cy="43088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b="1" i="1" dirty="0" smtClean="0">
                          <a:solidFill>
                            <a:srgbClr val="FF0000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altLang="zh-CN" sz="22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2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</a:rPr>
                                <m:t>𝒙</m:t>
                              </m:r>
                            </m:e>
                          </m:acc>
                        </m:e>
                        <m:sub>
                          <m: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𝟏</m:t>
                          </m:r>
                        </m:sub>
                      </m:sSub>
                      <m:r>
                        <a:rPr lang="en-US" altLang="zh-CN" sz="2200" b="1" i="1" dirty="0">
                          <a:solidFill>
                            <a:srgbClr val="FF0000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∨</m:t>
                      </m:r>
                      <m:sSub>
                        <m:sSubPr>
                          <m:ctrlP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𝟐</m:t>
                          </m:r>
                        </m:sub>
                      </m:sSub>
                      <m:r>
                        <a:rPr lang="en-US" altLang="zh-CN" sz="2200" b="1" i="1" dirty="0">
                          <a:solidFill>
                            <a:srgbClr val="FF0000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∨</m:t>
                      </m:r>
                      <m:sSub>
                        <m:sSubPr>
                          <m:ctrlP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𝟑</m:t>
                          </m:r>
                        </m:sub>
                      </m:sSub>
                      <m:r>
                        <a:rPr lang="en-US" altLang="zh-CN" sz="2200" b="1" i="1" dirty="0">
                          <a:solidFill>
                            <a:srgbClr val="FF0000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)</m:t>
                      </m:r>
                      <m:r>
                        <a:rPr lang="en-US" altLang="zh-CN" sz="2200" b="1" i="1" dirty="0">
                          <a:solidFill>
                            <a:srgbClr val="FF0000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∧</m:t>
                      </m:r>
                      <m:r>
                        <a:rPr lang="en-US" altLang="zh-CN" sz="2200" b="1" i="1" dirty="0">
                          <a:solidFill>
                            <a:srgbClr val="FF0000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𝟏</m:t>
                          </m:r>
                        </m:sub>
                      </m:sSub>
                      <m:r>
                        <a:rPr lang="en-US" altLang="zh-CN" sz="2200" b="1" i="1" dirty="0">
                          <a:solidFill>
                            <a:srgbClr val="FF0000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∨</m:t>
                      </m:r>
                      <m:sSub>
                        <m:sSubPr>
                          <m:ctrlP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altLang="zh-CN" sz="22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2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</a:rPr>
                                <m:t>𝒙</m:t>
                              </m:r>
                            </m:e>
                          </m:acc>
                        </m:e>
                        <m:sub>
                          <m:r>
                            <a:rPr lang="en-US" altLang="zh-CN" sz="2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𝟐</m:t>
                          </m:r>
                        </m:sub>
                      </m:sSub>
                      <m:r>
                        <a:rPr lang="en-US" altLang="zh-CN" sz="2200" b="1" i="1" dirty="0">
                          <a:solidFill>
                            <a:srgbClr val="FF0000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∨</m:t>
                      </m:r>
                      <m:sSub>
                        <m:sSubPr>
                          <m:ctrlPr>
                            <a:rPr lang="en-US" altLang="zh-CN" sz="2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altLang="zh-CN" sz="22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2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</a:rPr>
                                <m:t>𝒙</m:t>
                              </m:r>
                            </m:e>
                          </m:acc>
                        </m:e>
                        <m:sub>
                          <m:r>
                            <a:rPr lang="en-US" altLang="zh-CN" sz="2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𝟑</m:t>
                          </m:r>
                        </m:sub>
                      </m:sSub>
                      <m:r>
                        <a:rPr lang="en-US" altLang="zh-CN" sz="2200" b="1" dirty="0">
                          <a:solidFill>
                            <a:srgbClr val="FF0000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lang="zh-CN" altLang="en-US" sz="2200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516" y="6025836"/>
                <a:ext cx="3924436" cy="430887"/>
              </a:xfrm>
              <a:prstGeom prst="rect">
                <a:avLst/>
              </a:prstGeom>
              <a:blipFill rotWithShape="1">
                <a:blip r:embed="rId4"/>
                <a:stretch>
                  <a:fillRect l="-6" t="-74" r="10" b="-6645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971600" y="5831976"/>
            <a:ext cx="479618" cy="369332"/>
          </a:xfrm>
          <a:prstGeom prst="rect">
            <a:avLst/>
          </a:prstGeom>
          <a:noFill/>
          <a:ln w="25400">
            <a:noFill/>
          </a:ln>
        </p:spPr>
        <p:txBody>
          <a:bodyPr wrap="none" rtlCol="0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b="1" dirty="0" smtClean="0">
                <a:solidFill>
                  <a:srgbClr val="000099"/>
                </a:solidFill>
                <a:ea typeface="黑体" panose="02010609060101010101" pitchFamily="49" charset="-122"/>
              </a:rPr>
              <a:t>C1</a:t>
            </a:r>
            <a:endParaRPr lang="zh-CN" altLang="en-US" b="1" dirty="0" smtClean="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951820" y="5831976"/>
            <a:ext cx="479618" cy="369332"/>
          </a:xfrm>
          <a:prstGeom prst="rect">
            <a:avLst/>
          </a:prstGeom>
          <a:noFill/>
          <a:ln w="25400">
            <a:noFill/>
          </a:ln>
        </p:spPr>
        <p:txBody>
          <a:bodyPr wrap="none" rtlCol="0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b="1" dirty="0" smtClean="0">
                <a:solidFill>
                  <a:srgbClr val="000099"/>
                </a:solidFill>
                <a:ea typeface="黑体" panose="02010609060101010101" pitchFamily="49" charset="-122"/>
              </a:rPr>
              <a:t>C2</a:t>
            </a:r>
            <a:endParaRPr lang="zh-CN" altLang="en-US" b="1" dirty="0" smtClean="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391980" y="6010446"/>
            <a:ext cx="277230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 smtClean="0"/>
              <a:t>x</a:t>
            </a:r>
            <a:r>
              <a:rPr lang="en-US" altLang="zh-CN" sz="2400" b="1" baseline="-25000" dirty="0" smtClean="0"/>
              <a:t>1</a:t>
            </a:r>
            <a:r>
              <a:rPr lang="en-US" altLang="zh-CN" sz="2400" b="1" dirty="0" smtClean="0"/>
              <a:t>=0</a:t>
            </a:r>
            <a:r>
              <a:rPr lang="zh-CN" altLang="en-US" sz="2400" b="1" dirty="0" smtClean="0"/>
              <a:t>，</a:t>
            </a:r>
            <a:r>
              <a:rPr lang="en-US" altLang="zh-CN" sz="2400" b="1" dirty="0" smtClean="0"/>
              <a:t>x</a:t>
            </a:r>
            <a:r>
              <a:rPr lang="en-US" altLang="zh-CN" sz="2400" b="1" baseline="-25000" dirty="0" smtClean="0"/>
              <a:t>2</a:t>
            </a:r>
            <a:r>
              <a:rPr lang="en-US" altLang="zh-CN" sz="2400" b="1" dirty="0" smtClean="0"/>
              <a:t>=0</a:t>
            </a:r>
            <a:r>
              <a:rPr lang="zh-CN" altLang="zh-CN" sz="2400" b="1" dirty="0" smtClean="0"/>
              <a:t>，</a:t>
            </a:r>
            <a:r>
              <a:rPr lang="en-US" altLang="zh-CN" sz="2400" b="1" dirty="0" smtClean="0"/>
              <a:t>x</a:t>
            </a:r>
            <a:r>
              <a:rPr lang="en-US" altLang="zh-CN" sz="2400" b="1" baseline="-25000" dirty="0" smtClean="0"/>
              <a:t>3</a:t>
            </a:r>
            <a:r>
              <a:rPr lang="en-US" altLang="zh-CN" sz="2400" b="1" dirty="0" smtClean="0"/>
              <a:t>=1</a:t>
            </a: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Pixel">
  <a:themeElements>
    <a:clrScheme name="自定义 1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自定义 1">
      <a:majorFont>
        <a:latin typeface="Arial"/>
        <a:ea typeface="隶书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 w="38100">
          <a:solidFill>
            <a:srgbClr val="FF0000"/>
          </a:solidFill>
          <a:tailEnd type="none"/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 bwMode="auto">
        <a:ln w="25400">
          <a:solidFill>
            <a:srgbClr val="FF0000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25400">
          <a:noFill/>
        </a:ln>
      </a:spPr>
      <a:bodyPr wrap="none" rtlCol="0">
        <a:spAutoFit/>
      </a:bodyPr>
      <a:lstStyle>
        <a:defPPr eaLnBrk="1" hangingPunct="1">
          <a:buFont typeface="Wingdings" panose="05000000000000000000" pitchFamily="2" charset="2"/>
          <a:buNone/>
          <a:defRPr b="1" dirty="0" smtClean="0">
            <a:solidFill>
              <a:srgbClr val="000099"/>
            </a:solidFill>
            <a:ea typeface="黑体" panose="02010609060101010101" pitchFamily="49" charset="-122"/>
          </a:defRPr>
        </a:defPPr>
      </a:lstStyle>
    </a:tx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3">
        <a:dk1>
          <a:srgbClr val="000099"/>
        </a:dk1>
        <a:lt1>
          <a:srgbClr val="FFFFFF"/>
        </a:lt1>
        <a:dk2>
          <a:srgbClr val="CC0000"/>
        </a:dk2>
        <a:lt2>
          <a:srgbClr val="808080"/>
        </a:lt2>
        <a:accent1>
          <a:srgbClr val="FFFF66"/>
        </a:accent1>
        <a:accent2>
          <a:srgbClr val="000099"/>
        </a:accent2>
        <a:accent3>
          <a:srgbClr val="FFFFFF"/>
        </a:accent3>
        <a:accent4>
          <a:srgbClr val="000082"/>
        </a:accent4>
        <a:accent5>
          <a:srgbClr val="FFFFB8"/>
        </a:accent5>
        <a:accent6>
          <a:srgbClr val="00008A"/>
        </a:accent6>
        <a:hlink>
          <a:srgbClr val="CC0000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4">
        <a:dk1>
          <a:srgbClr val="000099"/>
        </a:dk1>
        <a:lt1>
          <a:srgbClr val="FFFFFF"/>
        </a:lt1>
        <a:dk2>
          <a:srgbClr val="CC0000"/>
        </a:dk2>
        <a:lt2>
          <a:srgbClr val="0033CC"/>
        </a:lt2>
        <a:accent1>
          <a:srgbClr val="FFFF66"/>
        </a:accent1>
        <a:accent2>
          <a:srgbClr val="000099"/>
        </a:accent2>
        <a:accent3>
          <a:srgbClr val="FFFFFF"/>
        </a:accent3>
        <a:accent4>
          <a:srgbClr val="000082"/>
        </a:accent4>
        <a:accent5>
          <a:srgbClr val="FFFFB8"/>
        </a:accent5>
        <a:accent6>
          <a:srgbClr val="00008A"/>
        </a:accent6>
        <a:hlink>
          <a:srgbClr val="CC0000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9131</Words>
  <Application>WPS Presentation</Application>
  <PresentationFormat>全屏显示(4:3)</PresentationFormat>
  <Paragraphs>625</Paragraphs>
  <Slides>29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29</vt:i4>
      </vt:variant>
    </vt:vector>
  </HeadingPairs>
  <TitlesOfParts>
    <vt:vector size="53" baseType="lpstr">
      <vt:lpstr>Arial</vt:lpstr>
      <vt:lpstr>SimSun</vt:lpstr>
      <vt:lpstr>Wingdings</vt:lpstr>
      <vt:lpstr>DejaVu Sans</vt:lpstr>
      <vt:lpstr>SimSun</vt:lpstr>
      <vt:lpstr>Droid Sans Fallback</vt:lpstr>
      <vt:lpstr>黑体</vt:lpstr>
      <vt:lpstr>Courier New</vt:lpstr>
      <vt:lpstr>华文新魏</vt:lpstr>
      <vt:lpstr>Times New Roman</vt:lpstr>
      <vt:lpstr>隶书</vt:lpstr>
      <vt:lpstr>Calibri</vt:lpstr>
      <vt:lpstr>仿宋_GB2312</vt:lpstr>
      <vt:lpstr>Cambria Math</vt:lpstr>
      <vt:lpstr>Cambria Math</vt:lpstr>
      <vt:lpstr>Microsoft YaHei</vt:lpstr>
      <vt:lpstr>Arial Unicode MS</vt:lpstr>
      <vt:lpstr>Symbol</vt:lpstr>
      <vt:lpstr>DejaVu Math TeX Gyre</vt:lpstr>
      <vt:lpstr>MS Mincho</vt:lpstr>
      <vt:lpstr>Gubbi</vt:lpstr>
      <vt:lpstr>SimSun</vt:lpstr>
      <vt:lpstr>Pixel</vt:lpstr>
      <vt:lpstr>自定义设计方案</vt:lpstr>
      <vt:lpstr>NP完全问题</vt:lpstr>
      <vt:lpstr>本章内容</vt:lpstr>
      <vt:lpstr>NP问题</vt:lpstr>
      <vt:lpstr>NP问题</vt:lpstr>
      <vt:lpstr>NP问题</vt:lpstr>
      <vt:lpstr>NP问题</vt:lpstr>
      <vt:lpstr>NP问题</vt:lpstr>
      <vt:lpstr>NP完全问题</vt:lpstr>
      <vt:lpstr>NP完全问题</vt:lpstr>
      <vt:lpstr>NP完全问题证明</vt:lpstr>
      <vt:lpstr>第一个NP完全问题</vt:lpstr>
      <vt:lpstr>第一个NP完全问题</vt:lpstr>
      <vt:lpstr>3CNF-SAT问题是NP完全问题</vt:lpstr>
      <vt:lpstr>3CNF-SAT问题是NP完全问题</vt:lpstr>
      <vt:lpstr>3CNF-SAT问题是NP完全问题</vt:lpstr>
      <vt:lpstr>3CNF-SAT问题是NP完全问题</vt:lpstr>
      <vt:lpstr>NP完全问题证明</vt:lpstr>
      <vt:lpstr>k团问题是NP完全问题</vt:lpstr>
      <vt:lpstr>k团问题是NP完全问题</vt:lpstr>
      <vt:lpstr>k团问题是NP完全问题</vt:lpstr>
      <vt:lpstr>k团问题是NP完全问题</vt:lpstr>
      <vt:lpstr>顶点覆盖问题是NP完全问题</vt:lpstr>
      <vt:lpstr>顶点覆盖问题是NP完全问题</vt:lpstr>
      <vt:lpstr>顶点覆盖问题是NP完全问题</vt:lpstr>
      <vt:lpstr>顶点覆盖问题是NP完全问题</vt:lpstr>
      <vt:lpstr>子集和问题是NP完全问题</vt:lpstr>
      <vt:lpstr>子集和问题是NP完全问题</vt:lpstr>
      <vt:lpstr>子集和问题是NP完全问题</vt:lpstr>
      <vt:lpstr>子集和问题是NP完全问题</vt:lpstr>
    </vt:vector>
  </TitlesOfParts>
  <Company>计算机系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100</dc:title>
  <dc:creator>清华大学</dc:creator>
  <cp:lastModifiedBy>xiaolin</cp:lastModifiedBy>
  <cp:revision>1942</cp:revision>
  <cp:lastPrinted>2024-11-27T00:54:27Z</cp:lastPrinted>
  <dcterms:created xsi:type="dcterms:W3CDTF">2024-11-27T00:54:27Z</dcterms:created>
  <dcterms:modified xsi:type="dcterms:W3CDTF">2024-11-27T00:54:27Z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6</vt:i4>
  </property>
  <property fmtid="{D5CDD505-2E9C-101B-9397-08002B2CF9AE}" pid="3" name="KSOProductBuildVer">
    <vt:lpwstr>1033-12.1.0.17900</vt:lpwstr>
  </property>
  <property fmtid="{D5CDD505-2E9C-101B-9397-08002B2CF9AE}" pid="4" name="ICV">
    <vt:lpwstr>F78DFFA80F7E11B3996A46675C4C48C8_42</vt:lpwstr>
  </property>
</Properties>
</file>