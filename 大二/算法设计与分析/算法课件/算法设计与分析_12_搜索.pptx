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61"/>
  </p:notesMasterIdLst>
  <p:handoutMasterIdLst>
    <p:handoutMasterId r:id="rId62"/>
  </p:handoutMasterIdLst>
  <p:sldIdLst>
    <p:sldId id="286" r:id="rId4"/>
    <p:sldId id="277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7" r:id="rId25"/>
    <p:sldId id="306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CCFFCC"/>
    <a:srgbClr val="0000A8"/>
    <a:srgbClr val="006600"/>
    <a:srgbClr val="660066"/>
    <a:srgbClr val="339933"/>
    <a:srgbClr val="0033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2398" autoAdjust="0"/>
  </p:normalViewPr>
  <p:slideViewPr>
    <p:cSldViewPr>
      <p:cViewPr varScale="1">
        <p:scale>
          <a:sx n="79" d="100"/>
          <a:sy n="79" d="100"/>
        </p:scale>
        <p:origin x="179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22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2000" b="1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</a:fld>
            <a:endParaRPr lang="en-US" altLang="zh-CN" dirty="0"/>
          </a:p>
        </p:txBody>
      </p:sp>
      <p:grpSp>
        <p:nvGrpSpPr>
          <p:cNvPr id="1028" name="Group 35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anose="05000000000000000000" pitchFamily="2" charset="2"/>
        <a:buChar char="r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Ø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3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5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9.bin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0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anose="02010609030101010101" pitchFamily="49" charset="-122"/>
              </a:rPr>
              <a:t>东南大学计算机学院 方效林</a:t>
            </a:r>
            <a:endParaRPr lang="en-US" altLang="zh-CN" sz="3600">
              <a:latin typeface="仿宋_GB2312" panose="0201060903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搜索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树的搜索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人员分配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旅行商问题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A*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算法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很多问题可以表示成为树。于是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这些问题可以使用树搜索算法来求解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可满足问题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个布尔变量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，和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个子句，子句是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个或多个个文字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变量或变量的非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>
                    <a:ea typeface="黑体" panose="02010609060101010101" pitchFamily="49" charset="-122"/>
                  </a:rPr>
                  <a:t>如：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给定这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个子句的合取范式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问该合取范式的值可否为真？</a:t>
                </a:r>
                <a:endParaRPr lang="zh-CN" altLang="en-US" dirty="0"/>
              </a:p>
              <a:p>
                <a:pPr lvl="1"/>
                <a:endParaRPr lang="zh-CN" altLang="en-US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en-US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把问题表示为树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通过不断地为赋值集合分类来建立树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4239663" y="2547938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6" name="Oval 13"/>
          <p:cNvSpPr>
            <a:spLocks noChangeArrowheads="1"/>
          </p:cNvSpPr>
          <p:nvPr/>
        </p:nvSpPr>
        <p:spPr bwMode="auto">
          <a:xfrm>
            <a:off x="2152101" y="3556000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7" name="Oval 19"/>
          <p:cNvSpPr>
            <a:spLocks noChangeArrowheads="1"/>
          </p:cNvSpPr>
          <p:nvPr/>
        </p:nvSpPr>
        <p:spPr bwMode="auto">
          <a:xfrm>
            <a:off x="2512463" y="6003925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8" name="Oval 20"/>
          <p:cNvSpPr>
            <a:spLocks noChangeArrowheads="1"/>
          </p:cNvSpPr>
          <p:nvPr/>
        </p:nvSpPr>
        <p:spPr bwMode="auto">
          <a:xfrm>
            <a:off x="3736426" y="6003925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9" name="Oval 21"/>
          <p:cNvSpPr>
            <a:spLocks noChangeArrowheads="1"/>
          </p:cNvSpPr>
          <p:nvPr/>
        </p:nvSpPr>
        <p:spPr bwMode="auto">
          <a:xfrm>
            <a:off x="4815926" y="6002338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0" name="Oval 22"/>
          <p:cNvSpPr>
            <a:spLocks noChangeArrowheads="1"/>
          </p:cNvSpPr>
          <p:nvPr/>
        </p:nvSpPr>
        <p:spPr bwMode="auto">
          <a:xfrm>
            <a:off x="6039888" y="6002338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1" name="Oval 23"/>
          <p:cNvSpPr>
            <a:spLocks noChangeArrowheads="1"/>
          </p:cNvSpPr>
          <p:nvPr/>
        </p:nvSpPr>
        <p:spPr bwMode="auto">
          <a:xfrm>
            <a:off x="7192413" y="6003925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2" name="Oval 24"/>
          <p:cNvSpPr>
            <a:spLocks noChangeArrowheads="1"/>
          </p:cNvSpPr>
          <p:nvPr/>
        </p:nvSpPr>
        <p:spPr bwMode="auto">
          <a:xfrm>
            <a:off x="8416376" y="6002338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3" name="Oval 25"/>
          <p:cNvSpPr>
            <a:spLocks noChangeArrowheads="1"/>
          </p:cNvSpPr>
          <p:nvPr/>
        </p:nvSpPr>
        <p:spPr bwMode="auto">
          <a:xfrm>
            <a:off x="1432963" y="6002338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4" name="Oval 26"/>
          <p:cNvSpPr>
            <a:spLocks noChangeArrowheads="1"/>
          </p:cNvSpPr>
          <p:nvPr/>
        </p:nvSpPr>
        <p:spPr bwMode="auto">
          <a:xfrm>
            <a:off x="350288" y="6002338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15" name="Line 27"/>
          <p:cNvSpPr>
            <a:spLocks noChangeShapeType="1"/>
          </p:cNvSpPr>
          <p:nvPr/>
        </p:nvSpPr>
        <p:spPr bwMode="auto">
          <a:xfrm flipH="1">
            <a:off x="2439438" y="2835275"/>
            <a:ext cx="1800225" cy="7921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16" name="Line 28"/>
          <p:cNvSpPr>
            <a:spLocks noChangeShapeType="1"/>
          </p:cNvSpPr>
          <p:nvPr/>
        </p:nvSpPr>
        <p:spPr bwMode="auto">
          <a:xfrm>
            <a:off x="4600026" y="2835275"/>
            <a:ext cx="2016125" cy="8636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17" name="Line 29"/>
          <p:cNvSpPr>
            <a:spLocks noChangeShapeType="1"/>
          </p:cNvSpPr>
          <p:nvPr/>
        </p:nvSpPr>
        <p:spPr bwMode="auto">
          <a:xfrm flipH="1">
            <a:off x="1215476" y="3843338"/>
            <a:ext cx="936625" cy="10080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18" name="Line 30"/>
          <p:cNvSpPr>
            <a:spLocks noChangeShapeType="1"/>
          </p:cNvSpPr>
          <p:nvPr/>
        </p:nvSpPr>
        <p:spPr bwMode="auto">
          <a:xfrm>
            <a:off x="2510876" y="3843338"/>
            <a:ext cx="792162" cy="10080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19" name="Line 31"/>
          <p:cNvSpPr>
            <a:spLocks noChangeShapeType="1"/>
          </p:cNvSpPr>
          <p:nvPr/>
        </p:nvSpPr>
        <p:spPr bwMode="auto">
          <a:xfrm flipH="1">
            <a:off x="5679526" y="3914775"/>
            <a:ext cx="936625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20" name="Line 32"/>
          <p:cNvSpPr>
            <a:spLocks noChangeShapeType="1"/>
          </p:cNvSpPr>
          <p:nvPr/>
        </p:nvSpPr>
        <p:spPr bwMode="auto">
          <a:xfrm>
            <a:off x="6832051" y="3914775"/>
            <a:ext cx="1008062" cy="7921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21" name="Oval 14"/>
          <p:cNvSpPr>
            <a:spLocks noChangeArrowheads="1"/>
          </p:cNvSpPr>
          <p:nvPr/>
        </p:nvSpPr>
        <p:spPr bwMode="auto">
          <a:xfrm>
            <a:off x="6543126" y="3627438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22" name="Line 33"/>
          <p:cNvSpPr>
            <a:spLocks noChangeShapeType="1"/>
          </p:cNvSpPr>
          <p:nvPr/>
        </p:nvSpPr>
        <p:spPr bwMode="auto">
          <a:xfrm flipH="1">
            <a:off x="567776" y="5067300"/>
            <a:ext cx="431800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3" name="Line 34"/>
          <p:cNvSpPr>
            <a:spLocks noChangeShapeType="1"/>
          </p:cNvSpPr>
          <p:nvPr/>
        </p:nvSpPr>
        <p:spPr bwMode="auto">
          <a:xfrm>
            <a:off x="1215476" y="5067300"/>
            <a:ext cx="360362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4" name="Line 35"/>
          <p:cNvSpPr>
            <a:spLocks noChangeShapeType="1"/>
          </p:cNvSpPr>
          <p:nvPr/>
        </p:nvSpPr>
        <p:spPr bwMode="auto">
          <a:xfrm flipH="1">
            <a:off x="2726776" y="5067300"/>
            <a:ext cx="504825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5" name="Line 36"/>
          <p:cNvSpPr>
            <a:spLocks noChangeShapeType="1"/>
          </p:cNvSpPr>
          <p:nvPr/>
        </p:nvSpPr>
        <p:spPr bwMode="auto">
          <a:xfrm>
            <a:off x="3447501" y="5067300"/>
            <a:ext cx="431800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6" name="Line 37"/>
          <p:cNvSpPr>
            <a:spLocks noChangeShapeType="1"/>
          </p:cNvSpPr>
          <p:nvPr/>
        </p:nvSpPr>
        <p:spPr bwMode="auto">
          <a:xfrm flipH="1">
            <a:off x="5031826" y="5067300"/>
            <a:ext cx="431800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>
            <a:off x="5679526" y="5067300"/>
            <a:ext cx="504825" cy="9366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 flipH="1">
            <a:off x="7408313" y="4994275"/>
            <a:ext cx="360363" cy="108108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7984576" y="4994275"/>
            <a:ext cx="576262" cy="100965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lt"/>
            </a:endParaRPr>
          </a:p>
        </p:txBody>
      </p:sp>
      <p:sp>
        <p:nvSpPr>
          <p:cNvPr id="30" name="Oval 18"/>
          <p:cNvSpPr>
            <a:spLocks noChangeArrowheads="1"/>
          </p:cNvSpPr>
          <p:nvPr/>
        </p:nvSpPr>
        <p:spPr bwMode="auto">
          <a:xfrm>
            <a:off x="7695651" y="4708525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31" name="Oval 17"/>
          <p:cNvSpPr>
            <a:spLocks noChangeArrowheads="1"/>
          </p:cNvSpPr>
          <p:nvPr/>
        </p:nvSpPr>
        <p:spPr bwMode="auto">
          <a:xfrm>
            <a:off x="5392188" y="4779963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32" name="Oval 16"/>
          <p:cNvSpPr>
            <a:spLocks noChangeArrowheads="1"/>
          </p:cNvSpPr>
          <p:nvPr/>
        </p:nvSpPr>
        <p:spPr bwMode="auto">
          <a:xfrm>
            <a:off x="3160163" y="4779963"/>
            <a:ext cx="360363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33" name="Oval 15"/>
          <p:cNvSpPr>
            <a:spLocks noChangeArrowheads="1"/>
          </p:cNvSpPr>
          <p:nvPr/>
        </p:nvSpPr>
        <p:spPr bwMode="auto">
          <a:xfrm>
            <a:off x="926551" y="4779963"/>
            <a:ext cx="360362" cy="35877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i="1">
              <a:latin typeface="+mn-lt"/>
            </a:endParaRPr>
          </a:p>
        </p:txBody>
      </p:sp>
      <p:sp>
        <p:nvSpPr>
          <p:cNvPr id="34" name="Text Box 41"/>
          <p:cNvSpPr txBox="1">
            <a:spLocks noChangeArrowheads="1"/>
          </p:cNvSpPr>
          <p:nvPr/>
        </p:nvSpPr>
        <p:spPr bwMode="auto">
          <a:xfrm>
            <a:off x="2866133" y="2762250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5" name="Text Box 42"/>
          <p:cNvSpPr txBox="1">
            <a:spLocks noChangeArrowheads="1"/>
          </p:cNvSpPr>
          <p:nvPr/>
        </p:nvSpPr>
        <p:spPr bwMode="auto">
          <a:xfrm>
            <a:off x="5208038" y="2744924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6" name="Text Box 43"/>
          <p:cNvSpPr txBox="1">
            <a:spLocks noChangeArrowheads="1"/>
          </p:cNvSpPr>
          <p:nvPr/>
        </p:nvSpPr>
        <p:spPr bwMode="auto">
          <a:xfrm>
            <a:off x="993925" y="3933056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7" name="Text Box 44"/>
          <p:cNvSpPr txBox="1">
            <a:spLocks noChangeArrowheads="1"/>
          </p:cNvSpPr>
          <p:nvPr/>
        </p:nvSpPr>
        <p:spPr bwMode="auto">
          <a:xfrm>
            <a:off x="7200292" y="3914775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5566433" y="3914775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9" name="Text Box 46"/>
          <p:cNvSpPr txBox="1">
            <a:spLocks noChangeArrowheads="1"/>
          </p:cNvSpPr>
          <p:nvPr/>
        </p:nvSpPr>
        <p:spPr bwMode="auto">
          <a:xfrm>
            <a:off x="2799801" y="3914775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0" name="Text Box 47"/>
          <p:cNvSpPr txBox="1">
            <a:spLocks noChangeArrowheads="1"/>
          </p:cNvSpPr>
          <p:nvPr/>
        </p:nvSpPr>
        <p:spPr bwMode="auto">
          <a:xfrm>
            <a:off x="129829" y="5138738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1" name="Text Box 48"/>
          <p:cNvSpPr txBox="1">
            <a:spLocks noChangeArrowheads="1"/>
          </p:cNvSpPr>
          <p:nvPr/>
        </p:nvSpPr>
        <p:spPr bwMode="auto">
          <a:xfrm>
            <a:off x="2326073" y="5138738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4558321" y="5138738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3" name="Text Box 50"/>
          <p:cNvSpPr txBox="1">
            <a:spLocks noChangeArrowheads="1"/>
          </p:cNvSpPr>
          <p:nvPr/>
        </p:nvSpPr>
        <p:spPr bwMode="auto">
          <a:xfrm>
            <a:off x="6934585" y="5138738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=1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4" name="Text Box 51"/>
          <p:cNvSpPr txBox="1">
            <a:spLocks noChangeArrowheads="1"/>
          </p:cNvSpPr>
          <p:nvPr/>
        </p:nvSpPr>
        <p:spPr bwMode="auto">
          <a:xfrm>
            <a:off x="8213176" y="5124450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5" name="Text Box 52"/>
          <p:cNvSpPr txBox="1">
            <a:spLocks noChangeArrowheads="1"/>
          </p:cNvSpPr>
          <p:nvPr/>
        </p:nvSpPr>
        <p:spPr bwMode="auto">
          <a:xfrm>
            <a:off x="5823988" y="5124450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6" name="Text Box 53"/>
          <p:cNvSpPr txBox="1">
            <a:spLocks noChangeArrowheads="1"/>
          </p:cNvSpPr>
          <p:nvPr/>
        </p:nvSpPr>
        <p:spPr bwMode="auto">
          <a:xfrm>
            <a:off x="3533226" y="5124450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47" name="Text Box 54"/>
          <p:cNvSpPr txBox="1">
            <a:spLocks noChangeArrowheads="1"/>
          </p:cNvSpPr>
          <p:nvPr/>
        </p:nvSpPr>
        <p:spPr bwMode="auto">
          <a:xfrm>
            <a:off x="1286913" y="5124450"/>
            <a:ext cx="769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</a:t>
            </a:r>
            <a:r>
              <a:rPr lang="en-US" altLang="zh-CN" sz="2400" b="1" i="1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</a:t>
            </a:r>
            <a:endParaRPr lang="en-US" altLang="zh-CN" sz="2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数码问题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输入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具有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个编号小方块的魔方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dirty="0">
              <a:ea typeface="黑体" panose="02010609060101010101" pitchFamily="49" charset="-122"/>
            </a:endParaRPr>
          </a:p>
          <a:p>
            <a:pPr lvl="1"/>
            <a:endParaRPr lang="en-US" altLang="zh-CN" dirty="0">
              <a:ea typeface="黑体" panose="02010609060101010101" pitchFamily="49" charset="-122"/>
            </a:endParaRPr>
          </a:p>
          <a:p>
            <a:pPr lvl="1"/>
            <a:endParaRPr lang="en-US" altLang="zh-CN" dirty="0">
              <a:ea typeface="黑体" panose="02010609060101010101" pitchFamily="49" charset="-122"/>
            </a:endParaRPr>
          </a:p>
          <a:p>
            <a:pPr lvl="1"/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输出</a:t>
            </a:r>
            <a:r>
              <a:rPr lang="en-US" altLang="zh-CN" dirty="0">
                <a:ea typeface="黑体" panose="02010609060101010101" pitchFamily="49" charset="-122"/>
              </a:rPr>
              <a:t>:  </a:t>
            </a:r>
            <a:r>
              <a:rPr lang="zh-CN" altLang="en-US" dirty="0">
                <a:ea typeface="黑体" panose="02010609060101010101" pitchFamily="49" charset="-122"/>
              </a:rPr>
              <a:t>移动系列</a:t>
            </a:r>
            <a:r>
              <a:rPr lang="en-US" altLang="zh-CN" dirty="0">
                <a:ea typeface="黑体" panose="02010609060101010101" pitchFamily="49" charset="-122"/>
              </a:rPr>
              <a:t>, </a:t>
            </a:r>
            <a:r>
              <a:rPr lang="zh-CN" altLang="en-US" dirty="0">
                <a:ea typeface="黑体" panose="02010609060101010101" pitchFamily="49" charset="-122"/>
              </a:rPr>
              <a:t>经过这些移动</a:t>
            </a:r>
            <a:r>
              <a:rPr lang="en-US" altLang="zh-CN" dirty="0">
                <a:ea typeface="黑体" panose="02010609060101010101" pitchFamily="49" charset="-122"/>
              </a:rPr>
              <a:t>, </a:t>
            </a:r>
            <a:r>
              <a:rPr lang="zh-CN" altLang="en-US" dirty="0">
                <a:ea typeface="黑体" panose="02010609060101010101" pitchFamily="49" charset="-122"/>
              </a:rPr>
              <a:t>魔方达如下状态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6" name="Group 16"/>
          <p:cNvGrpSpPr/>
          <p:nvPr/>
        </p:nvGrpSpPr>
        <p:grpSpPr bwMode="auto">
          <a:xfrm>
            <a:off x="3559175" y="2597138"/>
            <a:ext cx="1728788" cy="1727200"/>
            <a:chOff x="2378" y="1616"/>
            <a:chExt cx="1089" cy="1088"/>
          </a:xfrm>
          <a:solidFill>
            <a:srgbClr val="CCFFCC"/>
          </a:solidFill>
        </p:grpSpPr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2378" y="1616"/>
              <a:ext cx="1089" cy="1088"/>
            </a:xfrm>
            <a:prstGeom prst="rect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8" y="1979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2378" y="2341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2741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3104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630613" y="25971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4251325" y="25971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3630613" y="3170225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4251325" y="3173400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4783138" y="3173400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4783138" y="3744900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" name="Text Box 23"/>
          <p:cNvSpPr txBox="1">
            <a:spLocks noChangeArrowheads="1"/>
          </p:cNvSpPr>
          <p:nvPr/>
        </p:nvSpPr>
        <p:spPr bwMode="auto">
          <a:xfrm>
            <a:off x="4279900" y="37496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Text Box 24"/>
          <p:cNvSpPr txBox="1">
            <a:spLocks noChangeArrowheads="1"/>
          </p:cNvSpPr>
          <p:nvPr/>
        </p:nvSpPr>
        <p:spPr bwMode="auto">
          <a:xfrm>
            <a:off x="3630613" y="3744900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21" name="Group 28"/>
          <p:cNvGrpSpPr/>
          <p:nvPr/>
        </p:nvGrpSpPr>
        <p:grpSpPr bwMode="auto">
          <a:xfrm>
            <a:off x="3559175" y="4901393"/>
            <a:ext cx="1728788" cy="1727200"/>
            <a:chOff x="2378" y="1616"/>
            <a:chExt cx="1089" cy="1088"/>
          </a:xfrm>
          <a:solidFill>
            <a:srgbClr val="CCFFCC"/>
          </a:solidFill>
        </p:grpSpPr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2378" y="1616"/>
              <a:ext cx="1089" cy="1088"/>
            </a:xfrm>
            <a:prstGeom prst="rect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2378" y="1979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2378" y="2341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741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104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" name="Text Box 34"/>
          <p:cNvSpPr txBox="1">
            <a:spLocks noChangeArrowheads="1"/>
          </p:cNvSpPr>
          <p:nvPr/>
        </p:nvSpPr>
        <p:spPr bwMode="auto">
          <a:xfrm>
            <a:off x="3630613" y="490139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3" name="Text Box 35"/>
          <p:cNvSpPr txBox="1">
            <a:spLocks noChangeArrowheads="1"/>
          </p:cNvSpPr>
          <p:nvPr/>
        </p:nvSpPr>
        <p:spPr bwMode="auto">
          <a:xfrm>
            <a:off x="4251325" y="490139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4" name="Text Box 36"/>
          <p:cNvSpPr txBox="1">
            <a:spLocks noChangeArrowheads="1"/>
          </p:cNvSpPr>
          <p:nvPr/>
        </p:nvSpPr>
        <p:spPr bwMode="auto">
          <a:xfrm>
            <a:off x="3630613" y="5474481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4783138" y="5477656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6" name="Text Box 39"/>
          <p:cNvSpPr txBox="1">
            <a:spLocks noChangeArrowheads="1"/>
          </p:cNvSpPr>
          <p:nvPr/>
        </p:nvSpPr>
        <p:spPr bwMode="auto">
          <a:xfrm>
            <a:off x="4783138" y="6049156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4279900" y="605391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3630613" y="6049156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9" name="Text Box 43"/>
          <p:cNvSpPr txBox="1">
            <a:spLocks noChangeArrowheads="1"/>
          </p:cNvSpPr>
          <p:nvPr/>
        </p:nvSpPr>
        <p:spPr bwMode="auto">
          <a:xfrm>
            <a:off x="4783138" y="490456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转换为树搜索问题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36" name="Group 6"/>
          <p:cNvGrpSpPr/>
          <p:nvPr/>
        </p:nvGrpSpPr>
        <p:grpSpPr bwMode="auto">
          <a:xfrm>
            <a:off x="4351338" y="1412875"/>
            <a:ext cx="1728787" cy="1727200"/>
            <a:chOff x="2378" y="1616"/>
            <a:chExt cx="1089" cy="1088"/>
          </a:xfrm>
          <a:solidFill>
            <a:srgbClr val="CCFFCC"/>
          </a:solidFill>
        </p:grpSpPr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2378" y="1616"/>
              <a:ext cx="1089" cy="1088"/>
            </a:xfrm>
            <a:prstGeom prst="rect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8"/>
            <p:cNvSpPr>
              <a:spLocks noChangeShapeType="1"/>
            </p:cNvSpPr>
            <p:nvPr/>
          </p:nvSpPr>
          <p:spPr bwMode="auto">
            <a:xfrm>
              <a:off x="2378" y="1979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2378" y="2341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10"/>
            <p:cNvSpPr>
              <a:spLocks noChangeShapeType="1"/>
            </p:cNvSpPr>
            <p:nvPr/>
          </p:nvSpPr>
          <p:spPr bwMode="auto">
            <a:xfrm>
              <a:off x="2741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>
              <a:off x="3104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7" name="Text Box 12"/>
          <p:cNvSpPr txBox="1">
            <a:spLocks noChangeArrowheads="1"/>
          </p:cNvSpPr>
          <p:nvPr/>
        </p:nvSpPr>
        <p:spPr bwMode="auto">
          <a:xfrm>
            <a:off x="4422775" y="14128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8" name="Text Box 13"/>
          <p:cNvSpPr txBox="1">
            <a:spLocks noChangeArrowheads="1"/>
          </p:cNvSpPr>
          <p:nvPr/>
        </p:nvSpPr>
        <p:spPr bwMode="auto">
          <a:xfrm>
            <a:off x="5043488" y="14128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9" name="Text Box 14"/>
          <p:cNvSpPr txBox="1">
            <a:spLocks noChangeArrowheads="1"/>
          </p:cNvSpPr>
          <p:nvPr/>
        </p:nvSpPr>
        <p:spPr bwMode="auto">
          <a:xfrm>
            <a:off x="4422775" y="198596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5043488" y="19891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5575300" y="19891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5575300" y="25606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5072063" y="25654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auto">
          <a:xfrm>
            <a:off x="4422775" y="25606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53" name="Group 21"/>
          <p:cNvGrpSpPr/>
          <p:nvPr/>
        </p:nvGrpSpPr>
        <p:grpSpPr bwMode="auto">
          <a:xfrm>
            <a:off x="2047875" y="4608513"/>
            <a:ext cx="1728788" cy="1727200"/>
            <a:chOff x="2378" y="1616"/>
            <a:chExt cx="1089" cy="1088"/>
          </a:xfrm>
          <a:solidFill>
            <a:srgbClr val="CCFFCC"/>
          </a:solidFill>
        </p:grpSpPr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2378" y="1616"/>
              <a:ext cx="1089" cy="1088"/>
            </a:xfrm>
            <a:prstGeom prst="rect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23"/>
            <p:cNvSpPr>
              <a:spLocks noChangeShapeType="1"/>
            </p:cNvSpPr>
            <p:nvPr/>
          </p:nvSpPr>
          <p:spPr bwMode="auto">
            <a:xfrm>
              <a:off x="2378" y="1979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" name="Line 24"/>
            <p:cNvSpPr>
              <a:spLocks noChangeShapeType="1"/>
            </p:cNvSpPr>
            <p:nvPr/>
          </p:nvSpPr>
          <p:spPr bwMode="auto">
            <a:xfrm>
              <a:off x="2378" y="2341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>
              <a:off x="2741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3104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2119313" y="460851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" name="Text Box 29"/>
          <p:cNvSpPr txBox="1">
            <a:spLocks noChangeArrowheads="1"/>
          </p:cNvSpPr>
          <p:nvPr/>
        </p:nvSpPr>
        <p:spPr bwMode="auto">
          <a:xfrm>
            <a:off x="2119313" y="51816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7" name="Text Box 30"/>
          <p:cNvSpPr txBox="1">
            <a:spLocks noChangeArrowheads="1"/>
          </p:cNvSpPr>
          <p:nvPr/>
        </p:nvSpPr>
        <p:spPr bwMode="auto">
          <a:xfrm>
            <a:off x="2740025" y="51847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8" name="Text Box 31"/>
          <p:cNvSpPr txBox="1">
            <a:spLocks noChangeArrowheads="1"/>
          </p:cNvSpPr>
          <p:nvPr/>
        </p:nvSpPr>
        <p:spPr bwMode="auto">
          <a:xfrm>
            <a:off x="3271838" y="51847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9" name="Text Box 32"/>
          <p:cNvSpPr txBox="1">
            <a:spLocks noChangeArrowheads="1"/>
          </p:cNvSpPr>
          <p:nvPr/>
        </p:nvSpPr>
        <p:spPr bwMode="auto">
          <a:xfrm>
            <a:off x="3271838" y="57562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0" name="Text Box 33"/>
          <p:cNvSpPr txBox="1">
            <a:spLocks noChangeArrowheads="1"/>
          </p:cNvSpPr>
          <p:nvPr/>
        </p:nvSpPr>
        <p:spPr bwMode="auto">
          <a:xfrm>
            <a:off x="2768600" y="57610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auto">
          <a:xfrm>
            <a:off x="2119313" y="57562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3271838" y="458152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70" name="Group 36"/>
          <p:cNvGrpSpPr/>
          <p:nvPr/>
        </p:nvGrpSpPr>
        <p:grpSpPr bwMode="auto">
          <a:xfrm>
            <a:off x="6656388" y="4581525"/>
            <a:ext cx="1728787" cy="1727200"/>
            <a:chOff x="2378" y="1616"/>
            <a:chExt cx="1089" cy="1088"/>
          </a:xfrm>
          <a:solidFill>
            <a:srgbClr val="CCFFCC"/>
          </a:solidFill>
        </p:grpSpPr>
        <p:sp>
          <p:nvSpPr>
            <p:cNvPr id="79" name="Rectangle 37"/>
            <p:cNvSpPr>
              <a:spLocks noChangeArrowheads="1"/>
            </p:cNvSpPr>
            <p:nvPr/>
          </p:nvSpPr>
          <p:spPr bwMode="auto">
            <a:xfrm>
              <a:off x="2378" y="1616"/>
              <a:ext cx="1089" cy="1088"/>
            </a:xfrm>
            <a:prstGeom prst="rect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38"/>
            <p:cNvSpPr>
              <a:spLocks noChangeShapeType="1"/>
            </p:cNvSpPr>
            <p:nvPr/>
          </p:nvSpPr>
          <p:spPr bwMode="auto">
            <a:xfrm>
              <a:off x="2378" y="1979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1" name="Line 39"/>
            <p:cNvSpPr>
              <a:spLocks noChangeShapeType="1"/>
            </p:cNvSpPr>
            <p:nvPr/>
          </p:nvSpPr>
          <p:spPr bwMode="auto">
            <a:xfrm>
              <a:off x="2378" y="2341"/>
              <a:ext cx="1089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" name="Line 40"/>
            <p:cNvSpPr>
              <a:spLocks noChangeShapeType="1"/>
            </p:cNvSpPr>
            <p:nvPr/>
          </p:nvSpPr>
          <p:spPr bwMode="auto">
            <a:xfrm>
              <a:off x="2741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" name="Line 41"/>
            <p:cNvSpPr>
              <a:spLocks noChangeShapeType="1"/>
            </p:cNvSpPr>
            <p:nvPr/>
          </p:nvSpPr>
          <p:spPr bwMode="auto">
            <a:xfrm>
              <a:off x="3104" y="1616"/>
              <a:ext cx="0" cy="1088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1" name="Text Box 42"/>
          <p:cNvSpPr txBox="1">
            <a:spLocks noChangeArrowheads="1"/>
          </p:cNvSpPr>
          <p:nvPr/>
        </p:nvSpPr>
        <p:spPr bwMode="auto">
          <a:xfrm>
            <a:off x="6727825" y="458152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2" name="Text Box 43"/>
          <p:cNvSpPr txBox="1">
            <a:spLocks noChangeArrowheads="1"/>
          </p:cNvSpPr>
          <p:nvPr/>
        </p:nvSpPr>
        <p:spPr bwMode="auto">
          <a:xfrm>
            <a:off x="7348538" y="458152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3" name="Text Box 44"/>
          <p:cNvSpPr txBox="1">
            <a:spLocks noChangeArrowheads="1"/>
          </p:cNvSpPr>
          <p:nvPr/>
        </p:nvSpPr>
        <p:spPr bwMode="auto">
          <a:xfrm>
            <a:off x="6727825" y="515461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4" name="Text Box 45"/>
          <p:cNvSpPr txBox="1">
            <a:spLocks noChangeArrowheads="1"/>
          </p:cNvSpPr>
          <p:nvPr/>
        </p:nvSpPr>
        <p:spPr bwMode="auto">
          <a:xfrm>
            <a:off x="7348538" y="515778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6" name="Text Box 47"/>
          <p:cNvSpPr txBox="1">
            <a:spLocks noChangeArrowheads="1"/>
          </p:cNvSpPr>
          <p:nvPr/>
        </p:nvSpPr>
        <p:spPr bwMode="auto">
          <a:xfrm>
            <a:off x="7880350" y="572928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7" name="Text Box 48"/>
          <p:cNvSpPr txBox="1">
            <a:spLocks noChangeArrowheads="1"/>
          </p:cNvSpPr>
          <p:nvPr/>
        </p:nvSpPr>
        <p:spPr bwMode="auto">
          <a:xfrm>
            <a:off x="7377113" y="57340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8" name="Text Box 49"/>
          <p:cNvSpPr txBox="1">
            <a:spLocks noChangeArrowheads="1"/>
          </p:cNvSpPr>
          <p:nvPr/>
        </p:nvSpPr>
        <p:spPr bwMode="auto">
          <a:xfrm>
            <a:off x="6727825" y="572928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9" name="Text Box 68"/>
          <p:cNvSpPr txBox="1">
            <a:spLocks noChangeArrowheads="1"/>
          </p:cNvSpPr>
          <p:nvPr/>
        </p:nvSpPr>
        <p:spPr bwMode="auto">
          <a:xfrm>
            <a:off x="7880350" y="458152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4" name="Line 70"/>
          <p:cNvSpPr>
            <a:spLocks noChangeShapeType="1"/>
          </p:cNvSpPr>
          <p:nvPr/>
        </p:nvSpPr>
        <p:spPr bwMode="auto">
          <a:xfrm flipH="1">
            <a:off x="2911475" y="3141663"/>
            <a:ext cx="2016125" cy="14398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" name="Line 71"/>
          <p:cNvSpPr>
            <a:spLocks noChangeShapeType="1"/>
          </p:cNvSpPr>
          <p:nvPr/>
        </p:nvSpPr>
        <p:spPr bwMode="auto">
          <a:xfrm>
            <a:off x="5503863" y="3141663"/>
            <a:ext cx="2016125" cy="14398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57" grpId="0"/>
      <p:bldP spid="58" grpId="0"/>
      <p:bldP spid="59" grpId="0"/>
      <p:bldP spid="60" grpId="0"/>
      <p:bldP spid="61" grpId="0"/>
      <p:bldP spid="52" grpId="0"/>
      <p:bldP spid="71" grpId="0"/>
      <p:bldP spid="72" grpId="0"/>
      <p:bldP spid="73" grpId="0"/>
      <p:bldP spid="74" grpId="0"/>
      <p:bldP spid="76" grpId="0"/>
      <p:bldP spid="77" grpId="0"/>
      <p:bldP spid="7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汉密尔顿环问题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输入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具有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个节点的连通图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G=(V, E)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输出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G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中是否具有汉密尔顿环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沿着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条边经过每个节点一次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并回到起始节点的环称为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的一个汉密尔顿环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637186" y="2013230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292948" y="2013230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6804248" y="1941792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6805836" y="3308630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8533036" y="1941792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4142011" y="2230717"/>
            <a:ext cx="1150937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3926111" y="2518055"/>
            <a:ext cx="0" cy="7921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4068986" y="2446617"/>
            <a:ext cx="1296987" cy="10080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5508848" y="2518055"/>
            <a:ext cx="0" cy="7921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flipV="1">
            <a:off x="4068986" y="2302155"/>
            <a:ext cx="4465637" cy="11525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5797773" y="3526117"/>
            <a:ext cx="1008063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>
            <a:off x="7021736" y="2446617"/>
            <a:ext cx="0" cy="8636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7309073" y="2157692"/>
            <a:ext cx="1225550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H="1">
            <a:off x="7309073" y="2446617"/>
            <a:ext cx="1441450" cy="10080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Oval 7"/>
          <p:cNvSpPr>
            <a:spLocks noChangeArrowheads="1"/>
          </p:cNvSpPr>
          <p:nvPr/>
        </p:nvSpPr>
        <p:spPr bwMode="auto">
          <a:xfrm>
            <a:off x="5292948" y="3308630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4142011" y="2230717"/>
            <a:ext cx="1150937" cy="0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5508848" y="2518055"/>
            <a:ext cx="0" cy="792162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5797773" y="3526117"/>
            <a:ext cx="1008063" cy="0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 flipV="1">
            <a:off x="7021736" y="2446617"/>
            <a:ext cx="0" cy="863600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7309073" y="2157692"/>
            <a:ext cx="1225550" cy="0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 flipV="1">
            <a:off x="4068986" y="2302155"/>
            <a:ext cx="4465637" cy="1152525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3926111" y="2518055"/>
            <a:ext cx="0" cy="792162"/>
          </a:xfrm>
          <a:prstGeom prst="line">
            <a:avLst/>
          </a:prstGeom>
          <a:noFill/>
          <a:ln w="571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Oval 6"/>
          <p:cNvSpPr>
            <a:spLocks noChangeArrowheads="1"/>
          </p:cNvSpPr>
          <p:nvPr/>
        </p:nvSpPr>
        <p:spPr bwMode="auto">
          <a:xfrm>
            <a:off x="3637186" y="3308630"/>
            <a:ext cx="504825" cy="5048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28" name="Group 54"/>
          <p:cNvGrpSpPr/>
          <p:nvPr/>
        </p:nvGrpSpPr>
        <p:grpSpPr bwMode="auto">
          <a:xfrm>
            <a:off x="4142011" y="4894542"/>
            <a:ext cx="3673475" cy="1801813"/>
            <a:chOff x="1607" y="2386"/>
            <a:chExt cx="2314" cy="1135"/>
          </a:xfrm>
        </p:grpSpPr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1607" y="2387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2650" y="2387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3602" y="2386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1925" y="2524"/>
              <a:ext cx="72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2786" y="2705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38"/>
            <p:cNvSpPr>
              <a:spLocks noChangeShapeType="1"/>
            </p:cNvSpPr>
            <p:nvPr/>
          </p:nvSpPr>
          <p:spPr bwMode="auto">
            <a:xfrm>
              <a:off x="2968" y="2523"/>
              <a:ext cx="63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Oval 42"/>
            <p:cNvSpPr>
              <a:spLocks noChangeArrowheads="1"/>
            </p:cNvSpPr>
            <p:nvPr/>
          </p:nvSpPr>
          <p:spPr bwMode="auto">
            <a:xfrm>
              <a:off x="2650" y="3203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6" name="Line 51"/>
            <p:cNvSpPr>
              <a:spLocks noChangeShapeType="1"/>
            </p:cNvSpPr>
            <p:nvPr/>
          </p:nvSpPr>
          <p:spPr bwMode="auto">
            <a:xfrm>
              <a:off x="3739" y="2704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52"/>
            <p:cNvSpPr>
              <a:spLocks noChangeShapeType="1"/>
            </p:cNvSpPr>
            <p:nvPr/>
          </p:nvSpPr>
          <p:spPr bwMode="auto">
            <a:xfrm>
              <a:off x="2922" y="2659"/>
              <a:ext cx="726" cy="63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Line 53"/>
            <p:cNvSpPr>
              <a:spLocks noChangeShapeType="1"/>
            </p:cNvSpPr>
            <p:nvPr/>
          </p:nvSpPr>
          <p:spPr bwMode="auto">
            <a:xfrm flipH="1">
              <a:off x="2922" y="2659"/>
              <a:ext cx="726" cy="59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3603" y="3203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Text Box 55"/>
          <p:cNvSpPr txBox="1">
            <a:spLocks noChangeArrowheads="1"/>
          </p:cNvSpPr>
          <p:nvPr/>
        </p:nvSpPr>
        <p:spPr bwMode="auto">
          <a:xfrm>
            <a:off x="686023" y="4245255"/>
            <a:ext cx="312457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000" b="1" dirty="0">
                <a:ea typeface="黑体" panose="02010609060101010101" pitchFamily="49" charset="-122"/>
              </a:rPr>
              <a:t>无汉密尔顿环图</a:t>
            </a:r>
            <a:r>
              <a:rPr lang="en-US" altLang="zh-CN" sz="3000" b="1" dirty="0">
                <a:ea typeface="黑体" panose="02010609060101010101" pitchFamily="49" charset="-122"/>
              </a:rPr>
              <a:t>: </a:t>
            </a:r>
            <a:endParaRPr lang="en-US" altLang="zh-CN" sz="3000" b="1" dirty="0">
              <a:ea typeface="黑体" panose="02010609060101010101" pitchFamily="49" charset="-122"/>
            </a:endParaRPr>
          </a:p>
        </p:txBody>
      </p:sp>
      <p:sp>
        <p:nvSpPr>
          <p:cNvPr id="41" name="Text Box 56"/>
          <p:cNvSpPr txBox="1">
            <a:spLocks noChangeArrowheads="1"/>
          </p:cNvSpPr>
          <p:nvPr/>
        </p:nvSpPr>
        <p:spPr bwMode="auto">
          <a:xfrm>
            <a:off x="744537" y="1311870"/>
            <a:ext cx="312457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000" b="1" dirty="0">
                <a:ea typeface="黑体" panose="02010609060101010101" pitchFamily="49" charset="-122"/>
              </a:rPr>
              <a:t>有汉密尔顿环图</a:t>
            </a:r>
            <a:r>
              <a:rPr lang="en-US" altLang="zh-CN" sz="3000" b="1" dirty="0">
                <a:ea typeface="黑体" panose="02010609060101010101" pitchFamily="49" charset="-122"/>
              </a:rPr>
              <a:t>: </a:t>
            </a:r>
            <a:endParaRPr lang="en-US" altLang="zh-CN" sz="3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转换为树搜索问题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72815" y="2296122"/>
            <a:ext cx="6805176" cy="4085628"/>
            <a:chOff x="2172815" y="404812"/>
            <a:chExt cx="8281988" cy="5976938"/>
          </a:xfrm>
        </p:grpSpPr>
        <p:sp>
          <p:nvSpPr>
            <p:cNvPr id="5" name="Line 90"/>
            <p:cNvSpPr>
              <a:spLocks noChangeShapeType="1"/>
            </p:cNvSpPr>
            <p:nvPr/>
          </p:nvSpPr>
          <p:spPr bwMode="auto">
            <a:xfrm flipH="1">
              <a:off x="4406428" y="620712"/>
              <a:ext cx="2016125" cy="72072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6" name="Line 92"/>
            <p:cNvSpPr>
              <a:spLocks noChangeShapeType="1"/>
            </p:cNvSpPr>
            <p:nvPr/>
          </p:nvSpPr>
          <p:spPr bwMode="auto">
            <a:xfrm>
              <a:off x="6567015" y="765175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" name="Line 93"/>
            <p:cNvSpPr>
              <a:spLocks noChangeShapeType="1"/>
            </p:cNvSpPr>
            <p:nvPr/>
          </p:nvSpPr>
          <p:spPr bwMode="auto">
            <a:xfrm>
              <a:off x="6782915" y="620712"/>
              <a:ext cx="1871663" cy="6492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" name="Line 94"/>
            <p:cNvSpPr>
              <a:spLocks noChangeShapeType="1"/>
            </p:cNvSpPr>
            <p:nvPr/>
          </p:nvSpPr>
          <p:spPr bwMode="auto">
            <a:xfrm flipH="1">
              <a:off x="3790664" y="1514876"/>
              <a:ext cx="399855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" name="Line 95"/>
            <p:cNvSpPr>
              <a:spLocks noChangeShapeType="1"/>
            </p:cNvSpPr>
            <p:nvPr/>
          </p:nvSpPr>
          <p:spPr bwMode="auto">
            <a:xfrm flipH="1">
              <a:off x="3398365" y="2278062"/>
              <a:ext cx="215900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" name="Line 96"/>
            <p:cNvSpPr>
              <a:spLocks noChangeShapeType="1"/>
            </p:cNvSpPr>
            <p:nvPr/>
          </p:nvSpPr>
          <p:spPr bwMode="auto">
            <a:xfrm flipH="1">
              <a:off x="2893540" y="3070225"/>
              <a:ext cx="360363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" name="Line 97"/>
            <p:cNvSpPr>
              <a:spLocks noChangeShapeType="1"/>
            </p:cNvSpPr>
            <p:nvPr/>
          </p:nvSpPr>
          <p:spPr bwMode="auto">
            <a:xfrm>
              <a:off x="3469803" y="3070225"/>
              <a:ext cx="288925" cy="5032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" name="Line 98"/>
            <p:cNvSpPr>
              <a:spLocks noChangeShapeType="1"/>
            </p:cNvSpPr>
            <p:nvPr/>
          </p:nvSpPr>
          <p:spPr bwMode="auto">
            <a:xfrm>
              <a:off x="3901603" y="3862387"/>
              <a:ext cx="288925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" name="Line 99"/>
            <p:cNvSpPr>
              <a:spLocks noChangeShapeType="1"/>
            </p:cNvSpPr>
            <p:nvPr/>
          </p:nvSpPr>
          <p:spPr bwMode="auto">
            <a:xfrm flipH="1">
              <a:off x="2461740" y="3862387"/>
              <a:ext cx="288925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" name="Line 100"/>
            <p:cNvSpPr>
              <a:spLocks noChangeShapeType="1"/>
            </p:cNvSpPr>
            <p:nvPr/>
          </p:nvSpPr>
          <p:spPr bwMode="auto">
            <a:xfrm>
              <a:off x="2966565" y="3862387"/>
              <a:ext cx="287338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5" name="Line 101"/>
            <p:cNvSpPr>
              <a:spLocks noChangeShapeType="1"/>
            </p:cNvSpPr>
            <p:nvPr/>
          </p:nvSpPr>
          <p:spPr bwMode="auto">
            <a:xfrm flipH="1">
              <a:off x="3830165" y="4725987"/>
              <a:ext cx="360363" cy="5762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" name="Oval 58"/>
            <p:cNvSpPr>
              <a:spLocks noChangeArrowheads="1"/>
            </p:cNvSpPr>
            <p:nvPr/>
          </p:nvSpPr>
          <p:spPr bwMode="auto">
            <a:xfrm>
              <a:off x="6422553" y="404812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" name="Oval 68"/>
            <p:cNvSpPr>
              <a:spLocks noChangeArrowheads="1"/>
            </p:cNvSpPr>
            <p:nvPr/>
          </p:nvSpPr>
          <p:spPr bwMode="auto">
            <a:xfrm>
              <a:off x="3469803" y="1989137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" name="Oval 69"/>
            <p:cNvSpPr>
              <a:spLocks noChangeArrowheads="1"/>
            </p:cNvSpPr>
            <p:nvPr/>
          </p:nvSpPr>
          <p:spPr bwMode="auto">
            <a:xfrm>
              <a:off x="3182465" y="27813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" name="Oval 70"/>
            <p:cNvSpPr>
              <a:spLocks noChangeArrowheads="1"/>
            </p:cNvSpPr>
            <p:nvPr/>
          </p:nvSpPr>
          <p:spPr bwMode="auto">
            <a:xfrm>
              <a:off x="2677640" y="3573462"/>
              <a:ext cx="360363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0" name="Oval 71"/>
            <p:cNvSpPr>
              <a:spLocks noChangeArrowheads="1"/>
            </p:cNvSpPr>
            <p:nvPr/>
          </p:nvSpPr>
          <p:spPr bwMode="auto">
            <a:xfrm>
              <a:off x="3614265" y="3573462"/>
              <a:ext cx="360363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1" name="Oval 72"/>
            <p:cNvSpPr>
              <a:spLocks noChangeArrowheads="1"/>
            </p:cNvSpPr>
            <p:nvPr/>
          </p:nvSpPr>
          <p:spPr bwMode="auto">
            <a:xfrm>
              <a:off x="4046065" y="4365625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2" name="Oval 73"/>
            <p:cNvSpPr>
              <a:spLocks noChangeArrowheads="1"/>
            </p:cNvSpPr>
            <p:nvPr/>
          </p:nvSpPr>
          <p:spPr bwMode="auto">
            <a:xfrm>
              <a:off x="3109440" y="4365625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3" name="Oval 74"/>
            <p:cNvSpPr>
              <a:spLocks noChangeArrowheads="1"/>
            </p:cNvSpPr>
            <p:nvPr/>
          </p:nvSpPr>
          <p:spPr bwMode="auto">
            <a:xfrm>
              <a:off x="2172815" y="4365625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4" name="Line 102"/>
            <p:cNvSpPr>
              <a:spLocks noChangeShapeType="1"/>
            </p:cNvSpPr>
            <p:nvPr/>
          </p:nvSpPr>
          <p:spPr bwMode="auto">
            <a:xfrm>
              <a:off x="3758728" y="5589587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5" name="Line 103"/>
            <p:cNvSpPr>
              <a:spLocks noChangeShapeType="1"/>
            </p:cNvSpPr>
            <p:nvPr/>
          </p:nvSpPr>
          <p:spPr bwMode="auto">
            <a:xfrm>
              <a:off x="6567015" y="1485900"/>
              <a:ext cx="0" cy="5032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6" name="Line 104"/>
            <p:cNvSpPr>
              <a:spLocks noChangeShapeType="1"/>
            </p:cNvSpPr>
            <p:nvPr/>
          </p:nvSpPr>
          <p:spPr bwMode="auto">
            <a:xfrm flipH="1">
              <a:off x="5701828" y="2205037"/>
              <a:ext cx="720725" cy="5762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7" name="Line 105"/>
            <p:cNvSpPr>
              <a:spLocks noChangeShapeType="1"/>
            </p:cNvSpPr>
            <p:nvPr/>
          </p:nvSpPr>
          <p:spPr bwMode="auto">
            <a:xfrm>
              <a:off x="6567015" y="2278062"/>
              <a:ext cx="0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8" name="Line 106"/>
            <p:cNvSpPr>
              <a:spLocks noChangeShapeType="1"/>
            </p:cNvSpPr>
            <p:nvPr/>
          </p:nvSpPr>
          <p:spPr bwMode="auto">
            <a:xfrm>
              <a:off x="6567015" y="3141662"/>
              <a:ext cx="0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9" name="Line 107"/>
            <p:cNvSpPr>
              <a:spLocks noChangeShapeType="1"/>
            </p:cNvSpPr>
            <p:nvPr/>
          </p:nvSpPr>
          <p:spPr bwMode="auto">
            <a:xfrm flipH="1">
              <a:off x="5125565" y="3070225"/>
              <a:ext cx="360363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0" name="Line 108"/>
            <p:cNvSpPr>
              <a:spLocks noChangeShapeType="1"/>
            </p:cNvSpPr>
            <p:nvPr/>
          </p:nvSpPr>
          <p:spPr bwMode="auto">
            <a:xfrm>
              <a:off x="5701828" y="3070225"/>
              <a:ext cx="360362" cy="6477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1" name="Line 109"/>
            <p:cNvSpPr>
              <a:spLocks noChangeShapeType="1"/>
            </p:cNvSpPr>
            <p:nvPr/>
          </p:nvSpPr>
          <p:spPr bwMode="auto">
            <a:xfrm>
              <a:off x="5198590" y="3933825"/>
              <a:ext cx="287338" cy="5032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2" name="Line 110"/>
            <p:cNvSpPr>
              <a:spLocks noChangeShapeType="1"/>
            </p:cNvSpPr>
            <p:nvPr/>
          </p:nvSpPr>
          <p:spPr bwMode="auto">
            <a:xfrm>
              <a:off x="6567015" y="4005262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3" name="Line 111"/>
            <p:cNvSpPr>
              <a:spLocks noChangeShapeType="1"/>
            </p:cNvSpPr>
            <p:nvPr/>
          </p:nvSpPr>
          <p:spPr bwMode="auto">
            <a:xfrm flipH="1">
              <a:off x="6206653" y="4797425"/>
              <a:ext cx="360362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4" name="Line 112"/>
            <p:cNvSpPr>
              <a:spLocks noChangeShapeType="1"/>
            </p:cNvSpPr>
            <p:nvPr/>
          </p:nvSpPr>
          <p:spPr bwMode="auto">
            <a:xfrm>
              <a:off x="6133628" y="5589587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5" name="Line 113"/>
            <p:cNvSpPr>
              <a:spLocks noChangeShapeType="1"/>
            </p:cNvSpPr>
            <p:nvPr/>
          </p:nvSpPr>
          <p:spPr bwMode="auto">
            <a:xfrm flipH="1">
              <a:off x="8367240" y="1557337"/>
              <a:ext cx="358775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6" name="Line 114"/>
            <p:cNvSpPr>
              <a:spLocks noChangeShapeType="1"/>
            </p:cNvSpPr>
            <p:nvPr/>
          </p:nvSpPr>
          <p:spPr bwMode="auto">
            <a:xfrm>
              <a:off x="8870478" y="1485900"/>
              <a:ext cx="360362" cy="57626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7" name="Line 115"/>
            <p:cNvSpPr>
              <a:spLocks noChangeShapeType="1"/>
            </p:cNvSpPr>
            <p:nvPr/>
          </p:nvSpPr>
          <p:spPr bwMode="auto">
            <a:xfrm flipH="1">
              <a:off x="8799040" y="2278062"/>
              <a:ext cx="360363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8" name="Line 116"/>
            <p:cNvSpPr>
              <a:spLocks noChangeShapeType="1"/>
            </p:cNvSpPr>
            <p:nvPr/>
          </p:nvSpPr>
          <p:spPr bwMode="auto">
            <a:xfrm>
              <a:off x="9375303" y="2278062"/>
              <a:ext cx="358775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9" name="Line 117"/>
            <p:cNvSpPr>
              <a:spLocks noChangeShapeType="1"/>
            </p:cNvSpPr>
            <p:nvPr/>
          </p:nvSpPr>
          <p:spPr bwMode="auto">
            <a:xfrm flipH="1">
              <a:off x="8294215" y="3070225"/>
              <a:ext cx="360363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0" name="Line 118"/>
            <p:cNvSpPr>
              <a:spLocks noChangeShapeType="1"/>
            </p:cNvSpPr>
            <p:nvPr/>
          </p:nvSpPr>
          <p:spPr bwMode="auto">
            <a:xfrm>
              <a:off x="8870478" y="3070225"/>
              <a:ext cx="215900" cy="6477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1" name="Line 119"/>
            <p:cNvSpPr>
              <a:spLocks noChangeShapeType="1"/>
            </p:cNvSpPr>
            <p:nvPr/>
          </p:nvSpPr>
          <p:spPr bwMode="auto">
            <a:xfrm>
              <a:off x="9878540" y="3070225"/>
              <a:ext cx="360363" cy="6477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2" name="Line 120"/>
            <p:cNvSpPr>
              <a:spLocks noChangeShapeType="1"/>
            </p:cNvSpPr>
            <p:nvPr/>
          </p:nvSpPr>
          <p:spPr bwMode="auto">
            <a:xfrm>
              <a:off x="10238903" y="3933825"/>
              <a:ext cx="0" cy="5032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3" name="Oval 67"/>
            <p:cNvSpPr>
              <a:spLocks noChangeArrowheads="1"/>
            </p:cNvSpPr>
            <p:nvPr/>
          </p:nvSpPr>
          <p:spPr bwMode="auto">
            <a:xfrm>
              <a:off x="8581553" y="1196975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4" name="Oval 66"/>
            <p:cNvSpPr>
              <a:spLocks noChangeArrowheads="1"/>
            </p:cNvSpPr>
            <p:nvPr/>
          </p:nvSpPr>
          <p:spPr bwMode="auto">
            <a:xfrm>
              <a:off x="4117503" y="1196975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5" name="Oval 59"/>
            <p:cNvSpPr>
              <a:spLocks noChangeArrowheads="1"/>
            </p:cNvSpPr>
            <p:nvPr/>
          </p:nvSpPr>
          <p:spPr bwMode="auto">
            <a:xfrm>
              <a:off x="6422553" y="1196975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6" name="Oval 60"/>
            <p:cNvSpPr>
              <a:spLocks noChangeArrowheads="1"/>
            </p:cNvSpPr>
            <p:nvPr/>
          </p:nvSpPr>
          <p:spPr bwMode="auto">
            <a:xfrm>
              <a:off x="6422553" y="1989137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7" name="Oval 81"/>
            <p:cNvSpPr>
              <a:spLocks noChangeArrowheads="1"/>
            </p:cNvSpPr>
            <p:nvPr/>
          </p:nvSpPr>
          <p:spPr bwMode="auto">
            <a:xfrm>
              <a:off x="8078315" y="1989137"/>
              <a:ext cx="360363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8" name="Oval 82"/>
            <p:cNvSpPr>
              <a:spLocks noChangeArrowheads="1"/>
            </p:cNvSpPr>
            <p:nvPr/>
          </p:nvSpPr>
          <p:spPr bwMode="auto">
            <a:xfrm>
              <a:off x="9086378" y="1989137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9" name="Oval 61"/>
            <p:cNvSpPr>
              <a:spLocks noChangeArrowheads="1"/>
            </p:cNvSpPr>
            <p:nvPr/>
          </p:nvSpPr>
          <p:spPr bwMode="auto">
            <a:xfrm>
              <a:off x="6422553" y="2781300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0" name="Oval 77"/>
            <p:cNvSpPr>
              <a:spLocks noChangeArrowheads="1"/>
            </p:cNvSpPr>
            <p:nvPr/>
          </p:nvSpPr>
          <p:spPr bwMode="auto">
            <a:xfrm>
              <a:off x="5414490" y="27813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1" name="Oval 83"/>
            <p:cNvSpPr>
              <a:spLocks noChangeArrowheads="1"/>
            </p:cNvSpPr>
            <p:nvPr/>
          </p:nvSpPr>
          <p:spPr bwMode="auto">
            <a:xfrm>
              <a:off x="8581553" y="2781300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2" name="Oval 84"/>
            <p:cNvSpPr>
              <a:spLocks noChangeArrowheads="1"/>
            </p:cNvSpPr>
            <p:nvPr/>
          </p:nvSpPr>
          <p:spPr bwMode="auto">
            <a:xfrm>
              <a:off x="9589615" y="27813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3" name="Oval 62"/>
            <p:cNvSpPr>
              <a:spLocks noChangeArrowheads="1"/>
            </p:cNvSpPr>
            <p:nvPr/>
          </p:nvSpPr>
          <p:spPr bwMode="auto">
            <a:xfrm>
              <a:off x="6422553" y="3644900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4" name="Oval 78"/>
            <p:cNvSpPr>
              <a:spLocks noChangeArrowheads="1"/>
            </p:cNvSpPr>
            <p:nvPr/>
          </p:nvSpPr>
          <p:spPr bwMode="auto">
            <a:xfrm>
              <a:off x="5846290" y="36449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5" name="Oval 79"/>
            <p:cNvSpPr>
              <a:spLocks noChangeArrowheads="1"/>
            </p:cNvSpPr>
            <p:nvPr/>
          </p:nvSpPr>
          <p:spPr bwMode="auto">
            <a:xfrm>
              <a:off x="4909665" y="36449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6" name="Oval 85"/>
            <p:cNvSpPr>
              <a:spLocks noChangeArrowheads="1"/>
            </p:cNvSpPr>
            <p:nvPr/>
          </p:nvSpPr>
          <p:spPr bwMode="auto">
            <a:xfrm>
              <a:off x="8078315" y="3644900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Oval 86"/>
            <p:cNvSpPr>
              <a:spLocks noChangeArrowheads="1"/>
            </p:cNvSpPr>
            <p:nvPr/>
          </p:nvSpPr>
          <p:spPr bwMode="auto">
            <a:xfrm>
              <a:off x="8941915" y="3644900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Oval 87"/>
            <p:cNvSpPr>
              <a:spLocks noChangeArrowheads="1"/>
            </p:cNvSpPr>
            <p:nvPr/>
          </p:nvSpPr>
          <p:spPr bwMode="auto">
            <a:xfrm>
              <a:off x="10094440" y="3644900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" name="Oval 63"/>
            <p:cNvSpPr>
              <a:spLocks noChangeArrowheads="1"/>
            </p:cNvSpPr>
            <p:nvPr/>
          </p:nvSpPr>
          <p:spPr bwMode="auto">
            <a:xfrm>
              <a:off x="6422553" y="4437062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0" name="Oval 80"/>
            <p:cNvSpPr>
              <a:spLocks noChangeArrowheads="1"/>
            </p:cNvSpPr>
            <p:nvPr/>
          </p:nvSpPr>
          <p:spPr bwMode="auto">
            <a:xfrm>
              <a:off x="5341465" y="4365625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1" name="Oval 89"/>
            <p:cNvSpPr>
              <a:spLocks noChangeArrowheads="1"/>
            </p:cNvSpPr>
            <p:nvPr/>
          </p:nvSpPr>
          <p:spPr bwMode="auto">
            <a:xfrm>
              <a:off x="10094440" y="4365625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2" name="Oval 64"/>
            <p:cNvSpPr>
              <a:spLocks noChangeArrowheads="1"/>
            </p:cNvSpPr>
            <p:nvPr/>
          </p:nvSpPr>
          <p:spPr bwMode="auto">
            <a:xfrm>
              <a:off x="5990753" y="5229225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3" name="Oval 75"/>
            <p:cNvSpPr>
              <a:spLocks noChangeArrowheads="1"/>
            </p:cNvSpPr>
            <p:nvPr/>
          </p:nvSpPr>
          <p:spPr bwMode="auto">
            <a:xfrm>
              <a:off x="3614265" y="5229225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4" name="Oval 65"/>
            <p:cNvSpPr>
              <a:spLocks noChangeArrowheads="1"/>
            </p:cNvSpPr>
            <p:nvPr/>
          </p:nvSpPr>
          <p:spPr bwMode="auto">
            <a:xfrm>
              <a:off x="5989165" y="6021387"/>
              <a:ext cx="360363" cy="360363"/>
            </a:xfrm>
            <a:prstGeom prst="ellipse">
              <a:avLst/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5" name="Oval 76"/>
            <p:cNvSpPr>
              <a:spLocks noChangeArrowheads="1"/>
            </p:cNvSpPr>
            <p:nvPr/>
          </p:nvSpPr>
          <p:spPr bwMode="auto">
            <a:xfrm>
              <a:off x="3614265" y="6021387"/>
              <a:ext cx="360363" cy="360363"/>
            </a:xfrm>
            <a:prstGeom prst="ellipse">
              <a:avLst/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" name="Group 144"/>
          <p:cNvGrpSpPr/>
          <p:nvPr/>
        </p:nvGrpSpPr>
        <p:grpSpPr bwMode="auto">
          <a:xfrm>
            <a:off x="57622" y="2060618"/>
            <a:ext cx="3115232" cy="1223168"/>
            <a:chOff x="2015" y="890"/>
            <a:chExt cx="3402" cy="1179"/>
          </a:xfrm>
        </p:grpSpPr>
        <p:sp>
          <p:nvSpPr>
            <p:cNvPr id="67" name="Oval 121"/>
            <p:cNvSpPr>
              <a:spLocks noChangeArrowheads="1"/>
            </p:cNvSpPr>
            <p:nvPr/>
          </p:nvSpPr>
          <p:spPr bwMode="auto">
            <a:xfrm>
              <a:off x="2015" y="935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8" name="Oval 122"/>
            <p:cNvSpPr>
              <a:spLocks noChangeArrowheads="1"/>
            </p:cNvSpPr>
            <p:nvPr/>
          </p:nvSpPr>
          <p:spPr bwMode="auto">
            <a:xfrm>
              <a:off x="3058" y="935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9" name="Oval 123"/>
            <p:cNvSpPr>
              <a:spLocks noChangeArrowheads="1"/>
            </p:cNvSpPr>
            <p:nvPr/>
          </p:nvSpPr>
          <p:spPr bwMode="auto">
            <a:xfrm>
              <a:off x="4010" y="890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0" name="Oval 124"/>
            <p:cNvSpPr>
              <a:spLocks noChangeArrowheads="1"/>
            </p:cNvSpPr>
            <p:nvPr/>
          </p:nvSpPr>
          <p:spPr bwMode="auto">
            <a:xfrm>
              <a:off x="4011" y="1751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1" name="Oval 125"/>
            <p:cNvSpPr>
              <a:spLocks noChangeArrowheads="1"/>
            </p:cNvSpPr>
            <p:nvPr/>
          </p:nvSpPr>
          <p:spPr bwMode="auto">
            <a:xfrm>
              <a:off x="5099" y="890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2" name="Line 126"/>
            <p:cNvSpPr>
              <a:spLocks noChangeShapeType="1"/>
            </p:cNvSpPr>
            <p:nvPr/>
          </p:nvSpPr>
          <p:spPr bwMode="auto">
            <a:xfrm>
              <a:off x="2333" y="1072"/>
              <a:ext cx="72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3" name="Line 127"/>
            <p:cNvSpPr>
              <a:spLocks noChangeShapeType="1"/>
            </p:cNvSpPr>
            <p:nvPr/>
          </p:nvSpPr>
          <p:spPr bwMode="auto">
            <a:xfrm>
              <a:off x="2197" y="1253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4" name="Line 128"/>
            <p:cNvSpPr>
              <a:spLocks noChangeShapeType="1"/>
            </p:cNvSpPr>
            <p:nvPr/>
          </p:nvSpPr>
          <p:spPr bwMode="auto">
            <a:xfrm>
              <a:off x="2287" y="1208"/>
              <a:ext cx="817" cy="63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5" name="Line 129"/>
            <p:cNvSpPr>
              <a:spLocks noChangeShapeType="1"/>
            </p:cNvSpPr>
            <p:nvPr/>
          </p:nvSpPr>
          <p:spPr bwMode="auto">
            <a:xfrm>
              <a:off x="3194" y="1253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6" name="Line 130"/>
            <p:cNvSpPr>
              <a:spLocks noChangeShapeType="1"/>
            </p:cNvSpPr>
            <p:nvPr/>
          </p:nvSpPr>
          <p:spPr bwMode="auto">
            <a:xfrm flipV="1">
              <a:off x="2287" y="1117"/>
              <a:ext cx="2813" cy="7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7" name="Line 131"/>
            <p:cNvSpPr>
              <a:spLocks noChangeShapeType="1"/>
            </p:cNvSpPr>
            <p:nvPr/>
          </p:nvSpPr>
          <p:spPr bwMode="auto">
            <a:xfrm>
              <a:off x="3376" y="1888"/>
              <a:ext cx="63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8" name="Line 132"/>
            <p:cNvSpPr>
              <a:spLocks noChangeShapeType="1"/>
            </p:cNvSpPr>
            <p:nvPr/>
          </p:nvSpPr>
          <p:spPr bwMode="auto">
            <a:xfrm>
              <a:off x="4147" y="1208"/>
              <a:ext cx="0" cy="5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9" name="Line 133"/>
            <p:cNvSpPr>
              <a:spLocks noChangeShapeType="1"/>
            </p:cNvSpPr>
            <p:nvPr/>
          </p:nvSpPr>
          <p:spPr bwMode="auto">
            <a:xfrm>
              <a:off x="4328" y="1026"/>
              <a:ext cx="77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0" name="Line 134"/>
            <p:cNvSpPr>
              <a:spLocks noChangeShapeType="1"/>
            </p:cNvSpPr>
            <p:nvPr/>
          </p:nvSpPr>
          <p:spPr bwMode="auto">
            <a:xfrm flipH="1">
              <a:off x="4328" y="1208"/>
              <a:ext cx="908" cy="63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1" name="Oval 135"/>
            <p:cNvSpPr>
              <a:spLocks noChangeArrowheads="1"/>
            </p:cNvSpPr>
            <p:nvPr/>
          </p:nvSpPr>
          <p:spPr bwMode="auto">
            <a:xfrm>
              <a:off x="3058" y="1751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2" name="Line 136"/>
            <p:cNvSpPr>
              <a:spLocks noChangeShapeType="1"/>
            </p:cNvSpPr>
            <p:nvPr/>
          </p:nvSpPr>
          <p:spPr bwMode="auto">
            <a:xfrm>
              <a:off x="2333" y="1072"/>
              <a:ext cx="725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3" name="Line 137"/>
            <p:cNvSpPr>
              <a:spLocks noChangeShapeType="1"/>
            </p:cNvSpPr>
            <p:nvPr/>
          </p:nvSpPr>
          <p:spPr bwMode="auto">
            <a:xfrm>
              <a:off x="3194" y="1253"/>
              <a:ext cx="0" cy="499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4" name="Line 138"/>
            <p:cNvSpPr>
              <a:spLocks noChangeShapeType="1"/>
            </p:cNvSpPr>
            <p:nvPr/>
          </p:nvSpPr>
          <p:spPr bwMode="auto">
            <a:xfrm>
              <a:off x="3376" y="1888"/>
              <a:ext cx="635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5" name="Line 139"/>
            <p:cNvSpPr>
              <a:spLocks noChangeShapeType="1"/>
            </p:cNvSpPr>
            <p:nvPr/>
          </p:nvSpPr>
          <p:spPr bwMode="auto">
            <a:xfrm flipV="1">
              <a:off x="4147" y="1208"/>
              <a:ext cx="0" cy="544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6" name="Line 140"/>
            <p:cNvSpPr>
              <a:spLocks noChangeShapeType="1"/>
            </p:cNvSpPr>
            <p:nvPr/>
          </p:nvSpPr>
          <p:spPr bwMode="auto">
            <a:xfrm>
              <a:off x="4328" y="1026"/>
              <a:ext cx="77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7" name="Line 141"/>
            <p:cNvSpPr>
              <a:spLocks noChangeShapeType="1"/>
            </p:cNvSpPr>
            <p:nvPr/>
          </p:nvSpPr>
          <p:spPr bwMode="auto">
            <a:xfrm flipV="1">
              <a:off x="2287" y="1117"/>
              <a:ext cx="2813" cy="726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8" name="Line 142"/>
            <p:cNvSpPr>
              <a:spLocks noChangeShapeType="1"/>
            </p:cNvSpPr>
            <p:nvPr/>
          </p:nvSpPr>
          <p:spPr bwMode="auto">
            <a:xfrm>
              <a:off x="2197" y="1253"/>
              <a:ext cx="0" cy="499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9" name="Oval 143"/>
            <p:cNvSpPr>
              <a:spLocks noChangeArrowheads="1"/>
            </p:cNvSpPr>
            <p:nvPr/>
          </p:nvSpPr>
          <p:spPr bwMode="auto">
            <a:xfrm>
              <a:off x="2015" y="1751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转换为树搜索问题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32040" y="2403670"/>
            <a:ext cx="2952750" cy="3673475"/>
            <a:chOff x="5110920" y="2560498"/>
            <a:chExt cx="2952750" cy="3673475"/>
          </a:xfrm>
        </p:grpSpPr>
        <p:sp>
          <p:nvSpPr>
            <p:cNvPr id="91" name="Line 6"/>
            <p:cNvSpPr>
              <a:spLocks noChangeShapeType="1"/>
            </p:cNvSpPr>
            <p:nvPr/>
          </p:nvSpPr>
          <p:spPr bwMode="auto">
            <a:xfrm>
              <a:off x="6623807" y="2920861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>
              <a:off x="6623807" y="3641586"/>
              <a:ext cx="0" cy="5032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" name="Line 66"/>
            <p:cNvSpPr>
              <a:spLocks noChangeShapeType="1"/>
            </p:cNvSpPr>
            <p:nvPr/>
          </p:nvSpPr>
          <p:spPr bwMode="auto">
            <a:xfrm flipH="1">
              <a:off x="6190420" y="4433748"/>
              <a:ext cx="360362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4" name="Line 67"/>
            <p:cNvSpPr>
              <a:spLocks noChangeShapeType="1"/>
            </p:cNvSpPr>
            <p:nvPr/>
          </p:nvSpPr>
          <p:spPr bwMode="auto">
            <a:xfrm>
              <a:off x="6766682" y="4433748"/>
              <a:ext cx="288925" cy="5746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5" name="Line 68"/>
            <p:cNvSpPr>
              <a:spLocks noChangeShapeType="1"/>
            </p:cNvSpPr>
            <p:nvPr/>
          </p:nvSpPr>
          <p:spPr bwMode="auto">
            <a:xfrm flipH="1">
              <a:off x="5398257" y="3568561"/>
              <a:ext cx="1152525" cy="64928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" name="Line 69"/>
            <p:cNvSpPr>
              <a:spLocks noChangeShapeType="1"/>
            </p:cNvSpPr>
            <p:nvPr/>
          </p:nvSpPr>
          <p:spPr bwMode="auto">
            <a:xfrm>
              <a:off x="6839707" y="3568561"/>
              <a:ext cx="935038" cy="64928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" name="Line 70"/>
            <p:cNvSpPr>
              <a:spLocks noChangeShapeType="1"/>
            </p:cNvSpPr>
            <p:nvPr/>
          </p:nvSpPr>
          <p:spPr bwMode="auto">
            <a:xfrm>
              <a:off x="5326820" y="4505186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" name="Line 71"/>
            <p:cNvSpPr>
              <a:spLocks noChangeShapeType="1"/>
            </p:cNvSpPr>
            <p:nvPr/>
          </p:nvSpPr>
          <p:spPr bwMode="auto">
            <a:xfrm>
              <a:off x="5326820" y="5297348"/>
              <a:ext cx="0" cy="50323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" name="Line 72"/>
            <p:cNvSpPr>
              <a:spLocks noChangeShapeType="1"/>
            </p:cNvSpPr>
            <p:nvPr/>
          </p:nvSpPr>
          <p:spPr bwMode="auto">
            <a:xfrm>
              <a:off x="7847770" y="4505186"/>
              <a:ext cx="0" cy="431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" name="Line 73"/>
            <p:cNvSpPr>
              <a:spLocks noChangeShapeType="1"/>
            </p:cNvSpPr>
            <p:nvPr/>
          </p:nvSpPr>
          <p:spPr bwMode="auto">
            <a:xfrm>
              <a:off x="7847770" y="5297348"/>
              <a:ext cx="0" cy="6477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Oval 16"/>
            <p:cNvSpPr>
              <a:spLocks noChangeArrowheads="1"/>
            </p:cNvSpPr>
            <p:nvPr/>
          </p:nvSpPr>
          <p:spPr bwMode="auto">
            <a:xfrm>
              <a:off x="6479345" y="2560498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2" name="Oval 45"/>
            <p:cNvSpPr>
              <a:spLocks noChangeArrowheads="1"/>
            </p:cNvSpPr>
            <p:nvPr/>
          </p:nvSpPr>
          <p:spPr bwMode="auto">
            <a:xfrm>
              <a:off x="6479345" y="3352661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" name="Oval 17"/>
            <p:cNvSpPr>
              <a:spLocks noChangeArrowheads="1"/>
            </p:cNvSpPr>
            <p:nvPr/>
          </p:nvSpPr>
          <p:spPr bwMode="auto">
            <a:xfrm>
              <a:off x="5110920" y="4144823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4" name="Oval 46"/>
            <p:cNvSpPr>
              <a:spLocks noChangeArrowheads="1"/>
            </p:cNvSpPr>
            <p:nvPr/>
          </p:nvSpPr>
          <p:spPr bwMode="auto">
            <a:xfrm>
              <a:off x="6479345" y="4144823"/>
              <a:ext cx="360362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" name="Oval 47"/>
            <p:cNvSpPr>
              <a:spLocks noChangeArrowheads="1"/>
            </p:cNvSpPr>
            <p:nvPr/>
          </p:nvSpPr>
          <p:spPr bwMode="auto">
            <a:xfrm>
              <a:off x="7703307" y="4144823"/>
              <a:ext cx="360363" cy="360363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auto">
            <a:xfrm>
              <a:off x="5110920" y="4936986"/>
              <a:ext cx="360362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" name="Oval 48"/>
            <p:cNvSpPr>
              <a:spLocks noChangeArrowheads="1"/>
            </p:cNvSpPr>
            <p:nvPr/>
          </p:nvSpPr>
          <p:spPr bwMode="auto">
            <a:xfrm>
              <a:off x="7703307" y="4936986"/>
              <a:ext cx="360363" cy="360362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" name="Oval 49"/>
            <p:cNvSpPr>
              <a:spLocks noChangeArrowheads="1"/>
            </p:cNvSpPr>
            <p:nvPr/>
          </p:nvSpPr>
          <p:spPr bwMode="auto">
            <a:xfrm>
              <a:off x="6911145" y="4936986"/>
              <a:ext cx="360362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9" name="Oval 50"/>
            <p:cNvSpPr>
              <a:spLocks noChangeArrowheads="1"/>
            </p:cNvSpPr>
            <p:nvPr/>
          </p:nvSpPr>
          <p:spPr bwMode="auto">
            <a:xfrm>
              <a:off x="5974520" y="4936986"/>
              <a:ext cx="360362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0" name="Oval 43"/>
            <p:cNvSpPr>
              <a:spLocks noChangeArrowheads="1"/>
            </p:cNvSpPr>
            <p:nvPr/>
          </p:nvSpPr>
          <p:spPr bwMode="auto">
            <a:xfrm>
              <a:off x="7703307" y="5873611"/>
              <a:ext cx="360363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1" name="Oval 55"/>
            <p:cNvSpPr>
              <a:spLocks noChangeArrowheads="1"/>
            </p:cNvSpPr>
            <p:nvPr/>
          </p:nvSpPr>
          <p:spPr bwMode="auto">
            <a:xfrm>
              <a:off x="5110920" y="5800586"/>
              <a:ext cx="360362" cy="360362"/>
            </a:xfrm>
            <a:prstGeom prst="ellipse">
              <a:avLst/>
            </a:prstGeom>
            <a:solidFill>
              <a:srgbClr val="6633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solidFill>
                    <a:srgbClr val="FFFF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" name="Group 74"/>
          <p:cNvGrpSpPr/>
          <p:nvPr/>
        </p:nvGrpSpPr>
        <p:grpSpPr bwMode="auto">
          <a:xfrm>
            <a:off x="471267" y="2150684"/>
            <a:ext cx="2915369" cy="1207452"/>
            <a:chOff x="1607" y="2386"/>
            <a:chExt cx="2314" cy="1135"/>
          </a:xfrm>
        </p:grpSpPr>
        <p:sp>
          <p:nvSpPr>
            <p:cNvPr id="113" name="Oval 75"/>
            <p:cNvSpPr>
              <a:spLocks noChangeArrowheads="1"/>
            </p:cNvSpPr>
            <p:nvPr/>
          </p:nvSpPr>
          <p:spPr bwMode="auto">
            <a:xfrm>
              <a:off x="1607" y="2387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4" name="Oval 76"/>
            <p:cNvSpPr>
              <a:spLocks noChangeArrowheads="1"/>
            </p:cNvSpPr>
            <p:nvPr/>
          </p:nvSpPr>
          <p:spPr bwMode="auto">
            <a:xfrm>
              <a:off x="2650" y="2387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" name="Oval 77"/>
            <p:cNvSpPr>
              <a:spLocks noChangeArrowheads="1"/>
            </p:cNvSpPr>
            <p:nvPr/>
          </p:nvSpPr>
          <p:spPr bwMode="auto">
            <a:xfrm>
              <a:off x="3602" y="2386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6" name="Line 78"/>
            <p:cNvSpPr>
              <a:spLocks noChangeShapeType="1"/>
            </p:cNvSpPr>
            <p:nvPr/>
          </p:nvSpPr>
          <p:spPr bwMode="auto">
            <a:xfrm>
              <a:off x="1925" y="2524"/>
              <a:ext cx="72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7" name="Line 79"/>
            <p:cNvSpPr>
              <a:spLocks noChangeShapeType="1"/>
            </p:cNvSpPr>
            <p:nvPr/>
          </p:nvSpPr>
          <p:spPr bwMode="auto">
            <a:xfrm>
              <a:off x="2786" y="2705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8" name="Line 80"/>
            <p:cNvSpPr>
              <a:spLocks noChangeShapeType="1"/>
            </p:cNvSpPr>
            <p:nvPr/>
          </p:nvSpPr>
          <p:spPr bwMode="auto">
            <a:xfrm>
              <a:off x="2968" y="2523"/>
              <a:ext cx="63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" name="Oval 81"/>
            <p:cNvSpPr>
              <a:spLocks noChangeArrowheads="1"/>
            </p:cNvSpPr>
            <p:nvPr/>
          </p:nvSpPr>
          <p:spPr bwMode="auto">
            <a:xfrm>
              <a:off x="2650" y="3203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0" name="Line 82"/>
            <p:cNvSpPr>
              <a:spLocks noChangeShapeType="1"/>
            </p:cNvSpPr>
            <p:nvPr/>
          </p:nvSpPr>
          <p:spPr bwMode="auto">
            <a:xfrm>
              <a:off x="3739" y="2704"/>
              <a:ext cx="0" cy="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1" name="Line 83"/>
            <p:cNvSpPr>
              <a:spLocks noChangeShapeType="1"/>
            </p:cNvSpPr>
            <p:nvPr/>
          </p:nvSpPr>
          <p:spPr bwMode="auto">
            <a:xfrm>
              <a:off x="2922" y="2659"/>
              <a:ext cx="726" cy="63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" name="Line 84"/>
            <p:cNvSpPr>
              <a:spLocks noChangeShapeType="1"/>
            </p:cNvSpPr>
            <p:nvPr/>
          </p:nvSpPr>
          <p:spPr bwMode="auto">
            <a:xfrm flipH="1">
              <a:off x="2922" y="2659"/>
              <a:ext cx="726" cy="59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" name="Oval 85"/>
            <p:cNvSpPr>
              <a:spLocks noChangeArrowheads="1"/>
            </p:cNvSpPr>
            <p:nvPr/>
          </p:nvSpPr>
          <p:spPr bwMode="auto">
            <a:xfrm>
              <a:off x="3603" y="3203"/>
              <a:ext cx="318" cy="31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树的搜索策略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广度优先搜索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深度优先搜索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树的搜索策略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广度优先搜索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构造由根组成的队列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Q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If  Q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的第一个元素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是目标节点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停止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Q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中删除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，把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的所有子节点加入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Q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的末尾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4. If  Q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空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失败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Else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goto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2.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数码问题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广度优先搜索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97" name="Rectangle 60"/>
          <p:cNvSpPr>
            <a:spLocks noChangeArrowheads="1"/>
          </p:cNvSpPr>
          <p:nvPr/>
        </p:nvSpPr>
        <p:spPr bwMode="auto">
          <a:xfrm>
            <a:off x="4283830" y="1904191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98" name="Line 61"/>
          <p:cNvSpPr>
            <a:spLocks noChangeShapeType="1"/>
          </p:cNvSpPr>
          <p:nvPr/>
        </p:nvSpPr>
        <p:spPr bwMode="auto">
          <a:xfrm>
            <a:off x="4283830" y="2290232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99" name="Line 62"/>
          <p:cNvSpPr>
            <a:spLocks noChangeShapeType="1"/>
          </p:cNvSpPr>
          <p:nvPr/>
        </p:nvSpPr>
        <p:spPr bwMode="auto">
          <a:xfrm>
            <a:off x="4283830" y="2676273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00" name="Line 63"/>
          <p:cNvSpPr>
            <a:spLocks noChangeShapeType="1"/>
          </p:cNvSpPr>
          <p:nvPr/>
        </p:nvSpPr>
        <p:spPr bwMode="auto">
          <a:xfrm>
            <a:off x="4678689" y="1904191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01" name="Line 64"/>
          <p:cNvSpPr>
            <a:spLocks noChangeShapeType="1"/>
          </p:cNvSpPr>
          <p:nvPr/>
        </p:nvSpPr>
        <p:spPr bwMode="auto">
          <a:xfrm>
            <a:off x="5074854" y="1904191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02" name="Text Box 65"/>
          <p:cNvSpPr txBox="1">
            <a:spLocks noChangeArrowheads="1"/>
          </p:cNvSpPr>
          <p:nvPr/>
        </p:nvSpPr>
        <p:spPr bwMode="auto">
          <a:xfrm>
            <a:off x="4758445" y="1869904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3" name="Text Box 66"/>
          <p:cNvSpPr txBox="1">
            <a:spLocks noChangeArrowheads="1"/>
          </p:cNvSpPr>
          <p:nvPr/>
        </p:nvSpPr>
        <p:spPr bwMode="auto">
          <a:xfrm>
            <a:off x="4332207" y="2272454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4" name="Text Box 67"/>
          <p:cNvSpPr txBox="1">
            <a:spLocks noChangeArrowheads="1"/>
          </p:cNvSpPr>
          <p:nvPr/>
        </p:nvSpPr>
        <p:spPr bwMode="auto">
          <a:xfrm>
            <a:off x="4758445" y="2276263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5" name="Text Box 68"/>
          <p:cNvSpPr txBox="1">
            <a:spLocks noChangeArrowheads="1"/>
          </p:cNvSpPr>
          <p:nvPr/>
        </p:nvSpPr>
        <p:spPr bwMode="auto">
          <a:xfrm>
            <a:off x="5123231" y="2276263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6" name="Text Box 69"/>
          <p:cNvSpPr txBox="1">
            <a:spLocks noChangeArrowheads="1"/>
          </p:cNvSpPr>
          <p:nvPr/>
        </p:nvSpPr>
        <p:spPr bwMode="auto">
          <a:xfrm>
            <a:off x="5114079" y="2621668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7" name="Text Box 70"/>
          <p:cNvSpPr txBox="1">
            <a:spLocks noChangeArrowheads="1"/>
          </p:cNvSpPr>
          <p:nvPr/>
        </p:nvSpPr>
        <p:spPr bwMode="auto">
          <a:xfrm>
            <a:off x="4758445" y="2621668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8" name="Text Box 71"/>
          <p:cNvSpPr txBox="1">
            <a:spLocks noChangeArrowheads="1"/>
          </p:cNvSpPr>
          <p:nvPr/>
        </p:nvSpPr>
        <p:spPr bwMode="auto">
          <a:xfrm>
            <a:off x="4332207" y="2621668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9" name="Text Box 72"/>
          <p:cNvSpPr txBox="1">
            <a:spLocks noChangeArrowheads="1"/>
          </p:cNvSpPr>
          <p:nvPr/>
        </p:nvSpPr>
        <p:spPr bwMode="auto">
          <a:xfrm>
            <a:off x="5123231" y="1869904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4" name="Rectangle 87"/>
          <p:cNvSpPr>
            <a:spLocks noChangeArrowheads="1"/>
          </p:cNvSpPr>
          <p:nvPr/>
        </p:nvSpPr>
        <p:spPr bwMode="auto">
          <a:xfrm>
            <a:off x="2326534" y="3516929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85" name="Line 88"/>
          <p:cNvSpPr>
            <a:spLocks noChangeShapeType="1"/>
          </p:cNvSpPr>
          <p:nvPr/>
        </p:nvSpPr>
        <p:spPr bwMode="auto">
          <a:xfrm>
            <a:off x="2326534" y="3902970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86" name="Line 89"/>
          <p:cNvSpPr>
            <a:spLocks noChangeShapeType="1"/>
          </p:cNvSpPr>
          <p:nvPr/>
        </p:nvSpPr>
        <p:spPr bwMode="auto">
          <a:xfrm>
            <a:off x="2326534" y="4289011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87" name="Line 90"/>
          <p:cNvSpPr>
            <a:spLocks noChangeShapeType="1"/>
          </p:cNvSpPr>
          <p:nvPr/>
        </p:nvSpPr>
        <p:spPr bwMode="auto">
          <a:xfrm>
            <a:off x="2721393" y="351692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88" name="Line 91"/>
          <p:cNvSpPr>
            <a:spLocks noChangeShapeType="1"/>
          </p:cNvSpPr>
          <p:nvPr/>
        </p:nvSpPr>
        <p:spPr bwMode="auto">
          <a:xfrm>
            <a:off x="3117558" y="351692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89" name="Text Box 92"/>
          <p:cNvSpPr txBox="1">
            <a:spLocks noChangeArrowheads="1"/>
          </p:cNvSpPr>
          <p:nvPr/>
        </p:nvSpPr>
        <p:spPr bwMode="auto">
          <a:xfrm>
            <a:off x="2386678" y="348518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0" name="Text Box 93"/>
          <p:cNvSpPr txBox="1">
            <a:spLocks noChangeArrowheads="1"/>
          </p:cNvSpPr>
          <p:nvPr/>
        </p:nvSpPr>
        <p:spPr bwMode="auto">
          <a:xfrm>
            <a:off x="2374911" y="388519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1" name="Text Box 94"/>
          <p:cNvSpPr txBox="1">
            <a:spLocks noChangeArrowheads="1"/>
          </p:cNvSpPr>
          <p:nvPr/>
        </p:nvSpPr>
        <p:spPr bwMode="auto">
          <a:xfrm>
            <a:off x="2801149" y="3889001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2" name="Text Box 95"/>
          <p:cNvSpPr txBox="1">
            <a:spLocks noChangeArrowheads="1"/>
          </p:cNvSpPr>
          <p:nvPr/>
        </p:nvSpPr>
        <p:spPr bwMode="auto">
          <a:xfrm>
            <a:off x="3165935" y="388900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3" name="Text Box 96"/>
          <p:cNvSpPr txBox="1">
            <a:spLocks noChangeArrowheads="1"/>
          </p:cNvSpPr>
          <p:nvPr/>
        </p:nvSpPr>
        <p:spPr bwMode="auto">
          <a:xfrm>
            <a:off x="3156783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4" name="Text Box 97"/>
          <p:cNvSpPr txBox="1">
            <a:spLocks noChangeArrowheads="1"/>
          </p:cNvSpPr>
          <p:nvPr/>
        </p:nvSpPr>
        <p:spPr bwMode="auto">
          <a:xfrm>
            <a:off x="2801149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5" name="Text Box 98"/>
          <p:cNvSpPr txBox="1">
            <a:spLocks noChangeArrowheads="1"/>
          </p:cNvSpPr>
          <p:nvPr/>
        </p:nvSpPr>
        <p:spPr bwMode="auto">
          <a:xfrm>
            <a:off x="2374911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6" name="Text Box 99"/>
          <p:cNvSpPr txBox="1">
            <a:spLocks noChangeArrowheads="1"/>
          </p:cNvSpPr>
          <p:nvPr/>
        </p:nvSpPr>
        <p:spPr bwMode="auto">
          <a:xfrm>
            <a:off x="3165935" y="34826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1" name="Rectangle 101"/>
          <p:cNvSpPr>
            <a:spLocks noChangeArrowheads="1"/>
          </p:cNvSpPr>
          <p:nvPr/>
        </p:nvSpPr>
        <p:spPr bwMode="auto">
          <a:xfrm>
            <a:off x="6063308" y="3516929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72" name="Line 102"/>
          <p:cNvSpPr>
            <a:spLocks noChangeShapeType="1"/>
          </p:cNvSpPr>
          <p:nvPr/>
        </p:nvSpPr>
        <p:spPr bwMode="auto">
          <a:xfrm>
            <a:off x="6063308" y="3902970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73" name="Line 103"/>
          <p:cNvSpPr>
            <a:spLocks noChangeShapeType="1"/>
          </p:cNvSpPr>
          <p:nvPr/>
        </p:nvSpPr>
        <p:spPr bwMode="auto">
          <a:xfrm>
            <a:off x="6063308" y="4289011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74" name="Line 104"/>
          <p:cNvSpPr>
            <a:spLocks noChangeShapeType="1"/>
          </p:cNvSpPr>
          <p:nvPr/>
        </p:nvSpPr>
        <p:spPr bwMode="auto">
          <a:xfrm>
            <a:off x="6458167" y="351692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75" name="Line 105"/>
          <p:cNvSpPr>
            <a:spLocks noChangeShapeType="1"/>
          </p:cNvSpPr>
          <p:nvPr/>
        </p:nvSpPr>
        <p:spPr bwMode="auto">
          <a:xfrm>
            <a:off x="6854332" y="351692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76" name="Text Box 106"/>
          <p:cNvSpPr txBox="1">
            <a:spLocks noChangeArrowheads="1"/>
          </p:cNvSpPr>
          <p:nvPr/>
        </p:nvSpPr>
        <p:spPr bwMode="auto">
          <a:xfrm>
            <a:off x="6515696" y="348518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7" name="Text Box 107"/>
          <p:cNvSpPr txBox="1">
            <a:spLocks noChangeArrowheads="1"/>
          </p:cNvSpPr>
          <p:nvPr/>
        </p:nvSpPr>
        <p:spPr bwMode="auto">
          <a:xfrm>
            <a:off x="6111685" y="34826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8" name="Text Box 108"/>
          <p:cNvSpPr txBox="1">
            <a:spLocks noChangeArrowheads="1"/>
          </p:cNvSpPr>
          <p:nvPr/>
        </p:nvSpPr>
        <p:spPr bwMode="auto">
          <a:xfrm>
            <a:off x="6537923" y="3889001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9" name="Text Box 109"/>
          <p:cNvSpPr txBox="1">
            <a:spLocks noChangeArrowheads="1"/>
          </p:cNvSpPr>
          <p:nvPr/>
        </p:nvSpPr>
        <p:spPr bwMode="auto">
          <a:xfrm>
            <a:off x="6902709" y="388900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0" name="Text Box 110"/>
          <p:cNvSpPr txBox="1">
            <a:spLocks noChangeArrowheads="1"/>
          </p:cNvSpPr>
          <p:nvPr/>
        </p:nvSpPr>
        <p:spPr bwMode="auto">
          <a:xfrm>
            <a:off x="6893557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1" name="Text Box 111"/>
          <p:cNvSpPr txBox="1">
            <a:spLocks noChangeArrowheads="1"/>
          </p:cNvSpPr>
          <p:nvPr/>
        </p:nvSpPr>
        <p:spPr bwMode="auto">
          <a:xfrm>
            <a:off x="6537923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2" name="Text Box 112"/>
          <p:cNvSpPr txBox="1">
            <a:spLocks noChangeArrowheads="1"/>
          </p:cNvSpPr>
          <p:nvPr/>
        </p:nvSpPr>
        <p:spPr bwMode="auto">
          <a:xfrm>
            <a:off x="6111685" y="423440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3" name="Text Box 113"/>
          <p:cNvSpPr txBox="1">
            <a:spLocks noChangeArrowheads="1"/>
          </p:cNvSpPr>
          <p:nvPr/>
        </p:nvSpPr>
        <p:spPr bwMode="auto">
          <a:xfrm>
            <a:off x="6902709" y="34826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8" name="Rectangle 115"/>
          <p:cNvSpPr>
            <a:spLocks noChangeArrowheads="1"/>
          </p:cNvSpPr>
          <p:nvPr/>
        </p:nvSpPr>
        <p:spPr bwMode="auto">
          <a:xfrm>
            <a:off x="5055243" y="5297289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9" name="Line 116"/>
          <p:cNvSpPr>
            <a:spLocks noChangeShapeType="1"/>
          </p:cNvSpPr>
          <p:nvPr/>
        </p:nvSpPr>
        <p:spPr bwMode="auto">
          <a:xfrm>
            <a:off x="5055243" y="5683330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60" name="Line 117"/>
          <p:cNvSpPr>
            <a:spLocks noChangeShapeType="1"/>
          </p:cNvSpPr>
          <p:nvPr/>
        </p:nvSpPr>
        <p:spPr bwMode="auto">
          <a:xfrm>
            <a:off x="5055243" y="6069371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61" name="Line 118"/>
          <p:cNvSpPr>
            <a:spLocks noChangeShapeType="1"/>
          </p:cNvSpPr>
          <p:nvPr/>
        </p:nvSpPr>
        <p:spPr bwMode="auto">
          <a:xfrm>
            <a:off x="5450102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62" name="Line 119"/>
          <p:cNvSpPr>
            <a:spLocks noChangeShapeType="1"/>
          </p:cNvSpPr>
          <p:nvPr/>
        </p:nvSpPr>
        <p:spPr bwMode="auto">
          <a:xfrm>
            <a:off x="5846267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63" name="Text Box 120"/>
          <p:cNvSpPr txBox="1">
            <a:spLocks noChangeArrowheads="1"/>
          </p:cNvSpPr>
          <p:nvPr/>
        </p:nvSpPr>
        <p:spPr bwMode="auto">
          <a:xfrm>
            <a:off x="5507631" y="52655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4" name="Text Box 121"/>
          <p:cNvSpPr txBox="1">
            <a:spLocks noChangeArrowheads="1"/>
          </p:cNvSpPr>
          <p:nvPr/>
        </p:nvSpPr>
        <p:spPr bwMode="auto">
          <a:xfrm>
            <a:off x="5103620" y="526300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5" name="Text Box 122"/>
          <p:cNvSpPr txBox="1">
            <a:spLocks noChangeArrowheads="1"/>
          </p:cNvSpPr>
          <p:nvPr/>
        </p:nvSpPr>
        <p:spPr bwMode="auto">
          <a:xfrm>
            <a:off x="5114080" y="5669361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6" name="Text Box 123"/>
          <p:cNvSpPr txBox="1">
            <a:spLocks noChangeArrowheads="1"/>
          </p:cNvSpPr>
          <p:nvPr/>
        </p:nvSpPr>
        <p:spPr bwMode="auto">
          <a:xfrm>
            <a:off x="5894644" y="566936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7" name="Text Box 124"/>
          <p:cNvSpPr txBox="1">
            <a:spLocks noChangeArrowheads="1"/>
          </p:cNvSpPr>
          <p:nvPr/>
        </p:nvSpPr>
        <p:spPr bwMode="auto">
          <a:xfrm>
            <a:off x="5885492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8" name="Text Box 125"/>
          <p:cNvSpPr txBox="1">
            <a:spLocks noChangeArrowheads="1"/>
          </p:cNvSpPr>
          <p:nvPr/>
        </p:nvSpPr>
        <p:spPr bwMode="auto">
          <a:xfrm>
            <a:off x="5529858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9" name="Text Box 126"/>
          <p:cNvSpPr txBox="1">
            <a:spLocks noChangeArrowheads="1"/>
          </p:cNvSpPr>
          <p:nvPr/>
        </p:nvSpPr>
        <p:spPr bwMode="auto">
          <a:xfrm>
            <a:off x="5103620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0" name="Text Box 127"/>
          <p:cNvSpPr txBox="1">
            <a:spLocks noChangeArrowheads="1"/>
          </p:cNvSpPr>
          <p:nvPr/>
        </p:nvSpPr>
        <p:spPr bwMode="auto">
          <a:xfrm>
            <a:off x="5894644" y="526300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Rectangle 128"/>
          <p:cNvSpPr>
            <a:spLocks noChangeArrowheads="1"/>
          </p:cNvSpPr>
          <p:nvPr/>
        </p:nvSpPr>
        <p:spPr bwMode="auto">
          <a:xfrm>
            <a:off x="7130211" y="5297289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46" name="Line 129"/>
          <p:cNvSpPr>
            <a:spLocks noChangeShapeType="1"/>
          </p:cNvSpPr>
          <p:nvPr/>
        </p:nvSpPr>
        <p:spPr bwMode="auto">
          <a:xfrm>
            <a:off x="7130211" y="5683330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47" name="Line 130"/>
          <p:cNvSpPr>
            <a:spLocks noChangeShapeType="1"/>
          </p:cNvSpPr>
          <p:nvPr/>
        </p:nvSpPr>
        <p:spPr bwMode="auto">
          <a:xfrm>
            <a:off x="7130211" y="6069371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48" name="Line 131"/>
          <p:cNvSpPr>
            <a:spLocks noChangeShapeType="1"/>
          </p:cNvSpPr>
          <p:nvPr/>
        </p:nvSpPr>
        <p:spPr bwMode="auto">
          <a:xfrm>
            <a:off x="7525070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49" name="Line 132"/>
          <p:cNvSpPr>
            <a:spLocks noChangeShapeType="1"/>
          </p:cNvSpPr>
          <p:nvPr/>
        </p:nvSpPr>
        <p:spPr bwMode="auto">
          <a:xfrm>
            <a:off x="7921235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50" name="Text Box 133"/>
          <p:cNvSpPr txBox="1">
            <a:spLocks noChangeArrowheads="1"/>
          </p:cNvSpPr>
          <p:nvPr/>
        </p:nvSpPr>
        <p:spPr bwMode="auto">
          <a:xfrm>
            <a:off x="7582599" y="52655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134"/>
          <p:cNvSpPr txBox="1">
            <a:spLocks noChangeArrowheads="1"/>
          </p:cNvSpPr>
          <p:nvPr/>
        </p:nvSpPr>
        <p:spPr bwMode="auto">
          <a:xfrm>
            <a:off x="7178588" y="526300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Text Box 135"/>
          <p:cNvSpPr txBox="1">
            <a:spLocks noChangeArrowheads="1"/>
          </p:cNvSpPr>
          <p:nvPr/>
        </p:nvSpPr>
        <p:spPr bwMode="auto">
          <a:xfrm>
            <a:off x="7604826" y="5669361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3" name="Text Box 136"/>
          <p:cNvSpPr txBox="1">
            <a:spLocks noChangeArrowheads="1"/>
          </p:cNvSpPr>
          <p:nvPr/>
        </p:nvSpPr>
        <p:spPr bwMode="auto">
          <a:xfrm>
            <a:off x="7969612" y="566936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4" name="Text Box 137"/>
          <p:cNvSpPr txBox="1">
            <a:spLocks noChangeArrowheads="1"/>
          </p:cNvSpPr>
          <p:nvPr/>
        </p:nvSpPr>
        <p:spPr bwMode="auto">
          <a:xfrm>
            <a:off x="7960460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5" name="Text Box 138"/>
          <p:cNvSpPr txBox="1">
            <a:spLocks noChangeArrowheads="1"/>
          </p:cNvSpPr>
          <p:nvPr/>
        </p:nvSpPr>
        <p:spPr bwMode="auto">
          <a:xfrm>
            <a:off x="7604826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" name="Text Box 139"/>
          <p:cNvSpPr txBox="1">
            <a:spLocks noChangeArrowheads="1"/>
          </p:cNvSpPr>
          <p:nvPr/>
        </p:nvSpPr>
        <p:spPr bwMode="auto">
          <a:xfrm>
            <a:off x="7178588" y="566936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7" name="Text Box 140"/>
          <p:cNvSpPr txBox="1">
            <a:spLocks noChangeArrowheads="1"/>
          </p:cNvSpPr>
          <p:nvPr/>
        </p:nvSpPr>
        <p:spPr bwMode="auto">
          <a:xfrm>
            <a:off x="7969612" y="526300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2" name="Rectangle 145"/>
          <p:cNvSpPr>
            <a:spLocks noChangeArrowheads="1"/>
          </p:cNvSpPr>
          <p:nvPr/>
        </p:nvSpPr>
        <p:spPr bwMode="auto">
          <a:xfrm>
            <a:off x="3335908" y="5297289"/>
            <a:ext cx="1185883" cy="1158124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33" name="Line 146"/>
          <p:cNvSpPr>
            <a:spLocks noChangeShapeType="1"/>
          </p:cNvSpPr>
          <p:nvPr/>
        </p:nvSpPr>
        <p:spPr bwMode="auto">
          <a:xfrm>
            <a:off x="3335908" y="5683330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34" name="Line 147"/>
          <p:cNvSpPr>
            <a:spLocks noChangeShapeType="1"/>
          </p:cNvSpPr>
          <p:nvPr/>
        </p:nvSpPr>
        <p:spPr bwMode="auto">
          <a:xfrm>
            <a:off x="3335908" y="6069371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35" name="Line 148"/>
          <p:cNvSpPr>
            <a:spLocks noChangeShapeType="1"/>
          </p:cNvSpPr>
          <p:nvPr/>
        </p:nvSpPr>
        <p:spPr bwMode="auto">
          <a:xfrm>
            <a:off x="3730767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36" name="Line 149"/>
          <p:cNvSpPr>
            <a:spLocks noChangeShapeType="1"/>
          </p:cNvSpPr>
          <p:nvPr/>
        </p:nvSpPr>
        <p:spPr bwMode="auto">
          <a:xfrm>
            <a:off x="4126932" y="5297289"/>
            <a:ext cx="0" cy="1158124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37" name="Text Box 150"/>
          <p:cNvSpPr txBox="1">
            <a:spLocks noChangeArrowheads="1"/>
          </p:cNvSpPr>
          <p:nvPr/>
        </p:nvSpPr>
        <p:spPr bwMode="auto">
          <a:xfrm>
            <a:off x="3396052" y="526554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8" name="Text Box 151"/>
          <p:cNvSpPr txBox="1">
            <a:spLocks noChangeArrowheads="1"/>
          </p:cNvSpPr>
          <p:nvPr/>
        </p:nvSpPr>
        <p:spPr bwMode="auto">
          <a:xfrm>
            <a:off x="3384285" y="566555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9" name="Text Box 152"/>
          <p:cNvSpPr txBox="1">
            <a:spLocks noChangeArrowheads="1"/>
          </p:cNvSpPr>
          <p:nvPr/>
        </p:nvSpPr>
        <p:spPr bwMode="auto">
          <a:xfrm>
            <a:off x="3810523" y="5669361"/>
            <a:ext cx="319025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0" name="Text Box 153"/>
          <p:cNvSpPr txBox="1">
            <a:spLocks noChangeArrowheads="1"/>
          </p:cNvSpPr>
          <p:nvPr/>
        </p:nvSpPr>
        <p:spPr bwMode="auto">
          <a:xfrm>
            <a:off x="4175309" y="5669361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1" name="Text Box 154"/>
          <p:cNvSpPr txBox="1">
            <a:spLocks noChangeArrowheads="1"/>
          </p:cNvSpPr>
          <p:nvPr/>
        </p:nvSpPr>
        <p:spPr bwMode="auto">
          <a:xfrm>
            <a:off x="4166157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55"/>
          <p:cNvSpPr txBox="1">
            <a:spLocks noChangeArrowheads="1"/>
          </p:cNvSpPr>
          <p:nvPr/>
        </p:nvSpPr>
        <p:spPr bwMode="auto">
          <a:xfrm>
            <a:off x="3810523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156"/>
          <p:cNvSpPr txBox="1">
            <a:spLocks noChangeArrowheads="1"/>
          </p:cNvSpPr>
          <p:nvPr/>
        </p:nvSpPr>
        <p:spPr bwMode="auto">
          <a:xfrm>
            <a:off x="3384285" y="6014766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157"/>
          <p:cNvSpPr txBox="1">
            <a:spLocks noChangeArrowheads="1"/>
          </p:cNvSpPr>
          <p:nvPr/>
        </p:nvSpPr>
        <p:spPr bwMode="auto">
          <a:xfrm>
            <a:off x="3750379" y="5263002"/>
            <a:ext cx="338637" cy="4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9" name="Rectangle 159"/>
          <p:cNvSpPr>
            <a:spLocks noChangeArrowheads="1"/>
          </p:cNvSpPr>
          <p:nvPr/>
        </p:nvSpPr>
        <p:spPr bwMode="auto">
          <a:xfrm>
            <a:off x="1259632" y="5245221"/>
            <a:ext cx="1185883" cy="1158122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20" name="Line 160"/>
          <p:cNvSpPr>
            <a:spLocks noChangeShapeType="1"/>
          </p:cNvSpPr>
          <p:nvPr/>
        </p:nvSpPr>
        <p:spPr bwMode="auto">
          <a:xfrm>
            <a:off x="1259632" y="5631262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1" name="Line 161"/>
          <p:cNvSpPr>
            <a:spLocks noChangeShapeType="1"/>
          </p:cNvSpPr>
          <p:nvPr/>
        </p:nvSpPr>
        <p:spPr bwMode="auto">
          <a:xfrm>
            <a:off x="1259632" y="6017303"/>
            <a:ext cx="1185883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2" name="Line 162"/>
          <p:cNvSpPr>
            <a:spLocks noChangeShapeType="1"/>
          </p:cNvSpPr>
          <p:nvPr/>
        </p:nvSpPr>
        <p:spPr bwMode="auto">
          <a:xfrm>
            <a:off x="1654491" y="5245221"/>
            <a:ext cx="0" cy="1158122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3" name="Line 163"/>
          <p:cNvSpPr>
            <a:spLocks noChangeShapeType="1"/>
          </p:cNvSpPr>
          <p:nvPr/>
        </p:nvSpPr>
        <p:spPr bwMode="auto">
          <a:xfrm>
            <a:off x="2050656" y="5245221"/>
            <a:ext cx="0" cy="1158122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4" name="Text Box 164"/>
          <p:cNvSpPr txBox="1">
            <a:spLocks noChangeArrowheads="1"/>
          </p:cNvSpPr>
          <p:nvPr/>
        </p:nvSpPr>
        <p:spPr bwMode="auto">
          <a:xfrm>
            <a:off x="1319776" y="5213475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" name="Text Box 165"/>
          <p:cNvSpPr txBox="1">
            <a:spLocks noChangeArrowheads="1"/>
          </p:cNvSpPr>
          <p:nvPr/>
        </p:nvSpPr>
        <p:spPr bwMode="auto">
          <a:xfrm>
            <a:off x="1308009" y="5613484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6" name="Text Box 166"/>
          <p:cNvSpPr txBox="1">
            <a:spLocks noChangeArrowheads="1"/>
          </p:cNvSpPr>
          <p:nvPr/>
        </p:nvSpPr>
        <p:spPr bwMode="auto">
          <a:xfrm>
            <a:off x="1734247" y="5217284"/>
            <a:ext cx="319025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7" name="Text Box 167"/>
          <p:cNvSpPr txBox="1">
            <a:spLocks noChangeArrowheads="1"/>
          </p:cNvSpPr>
          <p:nvPr/>
        </p:nvSpPr>
        <p:spPr bwMode="auto">
          <a:xfrm>
            <a:off x="2099033" y="5617293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" name="Text Box 168"/>
          <p:cNvSpPr txBox="1">
            <a:spLocks noChangeArrowheads="1"/>
          </p:cNvSpPr>
          <p:nvPr/>
        </p:nvSpPr>
        <p:spPr bwMode="auto">
          <a:xfrm>
            <a:off x="2089881" y="5962698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9" name="Text Box 169"/>
          <p:cNvSpPr txBox="1">
            <a:spLocks noChangeArrowheads="1"/>
          </p:cNvSpPr>
          <p:nvPr/>
        </p:nvSpPr>
        <p:spPr bwMode="auto">
          <a:xfrm>
            <a:off x="1734247" y="5962698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0" name="Text Box 170"/>
          <p:cNvSpPr txBox="1">
            <a:spLocks noChangeArrowheads="1"/>
          </p:cNvSpPr>
          <p:nvPr/>
        </p:nvSpPr>
        <p:spPr bwMode="auto">
          <a:xfrm>
            <a:off x="1308009" y="5962698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1" name="Text Box 171"/>
          <p:cNvSpPr txBox="1">
            <a:spLocks noChangeArrowheads="1"/>
          </p:cNvSpPr>
          <p:nvPr/>
        </p:nvSpPr>
        <p:spPr bwMode="auto">
          <a:xfrm>
            <a:off x="2099033" y="5210935"/>
            <a:ext cx="338637" cy="46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" name="Line 175"/>
          <p:cNvSpPr>
            <a:spLocks noChangeShapeType="1"/>
          </p:cNvSpPr>
          <p:nvPr/>
        </p:nvSpPr>
        <p:spPr bwMode="auto">
          <a:xfrm flipH="1">
            <a:off x="2920130" y="2619128"/>
            <a:ext cx="1363701" cy="92192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>
            <a:off x="5469713" y="2619128"/>
            <a:ext cx="1246027" cy="92192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5" name="Line 177"/>
          <p:cNvSpPr>
            <a:spLocks noChangeShapeType="1"/>
          </p:cNvSpPr>
          <p:nvPr/>
        </p:nvSpPr>
        <p:spPr bwMode="auto">
          <a:xfrm flipH="1">
            <a:off x="1734247" y="4404567"/>
            <a:ext cx="592287" cy="86478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6" name="Line 178"/>
          <p:cNvSpPr>
            <a:spLocks noChangeShapeType="1"/>
          </p:cNvSpPr>
          <p:nvPr/>
        </p:nvSpPr>
        <p:spPr bwMode="auto">
          <a:xfrm>
            <a:off x="3512418" y="4404567"/>
            <a:ext cx="474614" cy="92192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7" name="Line 179"/>
          <p:cNvSpPr>
            <a:spLocks noChangeShapeType="1"/>
          </p:cNvSpPr>
          <p:nvPr/>
        </p:nvSpPr>
        <p:spPr bwMode="auto">
          <a:xfrm flipH="1">
            <a:off x="5588694" y="4462981"/>
            <a:ext cx="474614" cy="86351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18" name="Line 180"/>
          <p:cNvSpPr>
            <a:spLocks noChangeShapeType="1"/>
          </p:cNvSpPr>
          <p:nvPr/>
        </p:nvSpPr>
        <p:spPr bwMode="auto">
          <a:xfrm>
            <a:off x="7249192" y="4404567"/>
            <a:ext cx="474614" cy="92192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树的搜索策略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深度优先搜索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构造一个由根构成的单元素栈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If  Top(S)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是目标节点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停止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Pop(S),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把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Top(S)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的所有子节点压入栈顶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4. If  S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空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失败 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Else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goto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2.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求解子集合和问题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输入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S={7, 5, 1, 2, 10}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输出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是否存在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S’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S,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使得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Sum(S’)=9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 flipH="1">
            <a:off x="4634310" y="3311324"/>
            <a:ext cx="486420" cy="71903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 flipH="1">
            <a:off x="3499680" y="4311111"/>
            <a:ext cx="912540" cy="779839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4561645" y="4366071"/>
            <a:ext cx="10355" cy="70526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15"/>
          <p:cNvSpPr>
            <a:spLocks noChangeShapeType="1"/>
          </p:cNvSpPr>
          <p:nvPr/>
        </p:nvSpPr>
        <p:spPr bwMode="auto">
          <a:xfrm>
            <a:off x="4703253" y="4289124"/>
            <a:ext cx="790600" cy="720359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16"/>
          <p:cNvSpPr>
            <a:spLocks noChangeShapeType="1"/>
          </p:cNvSpPr>
          <p:nvPr/>
        </p:nvSpPr>
        <p:spPr bwMode="auto">
          <a:xfrm flipH="1">
            <a:off x="4193455" y="5403056"/>
            <a:ext cx="304180" cy="60008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17"/>
          <p:cNvSpPr>
            <a:spLocks noChangeShapeType="1"/>
          </p:cNvSpPr>
          <p:nvPr/>
        </p:nvSpPr>
        <p:spPr bwMode="auto">
          <a:xfrm>
            <a:off x="4681330" y="5394050"/>
            <a:ext cx="304180" cy="60008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Oval 5"/>
          <p:cNvSpPr>
            <a:spLocks noChangeArrowheads="1"/>
          </p:cNvSpPr>
          <p:nvPr/>
        </p:nvSpPr>
        <p:spPr bwMode="auto">
          <a:xfrm>
            <a:off x="5053369" y="2965976"/>
            <a:ext cx="364480" cy="359519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2" name="Oval 6"/>
          <p:cNvSpPr>
            <a:spLocks noChangeArrowheads="1"/>
          </p:cNvSpPr>
          <p:nvPr/>
        </p:nvSpPr>
        <p:spPr bwMode="auto">
          <a:xfrm>
            <a:off x="4356100" y="3991092"/>
            <a:ext cx="364480" cy="359519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3" name="Oval 7"/>
          <p:cNvSpPr>
            <a:spLocks noChangeArrowheads="1"/>
          </p:cNvSpPr>
          <p:nvPr/>
        </p:nvSpPr>
        <p:spPr bwMode="auto">
          <a:xfrm>
            <a:off x="4389760" y="5075125"/>
            <a:ext cx="364480" cy="359519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4" name="Oval 10"/>
          <p:cNvSpPr>
            <a:spLocks noChangeArrowheads="1"/>
          </p:cNvSpPr>
          <p:nvPr/>
        </p:nvSpPr>
        <p:spPr bwMode="auto">
          <a:xfrm>
            <a:off x="3197870" y="5043148"/>
            <a:ext cx="364480" cy="359519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12</a:t>
            </a:r>
            <a:endParaRPr lang="en-US" altLang="zh-CN" sz="2800" b="1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5" name="Oval 11"/>
          <p:cNvSpPr>
            <a:spLocks noChangeArrowheads="1"/>
          </p:cNvSpPr>
          <p:nvPr/>
        </p:nvSpPr>
        <p:spPr bwMode="auto">
          <a:xfrm>
            <a:off x="5461973" y="4923900"/>
            <a:ext cx="364480" cy="359519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3937339" y="5968963"/>
            <a:ext cx="364480" cy="359519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4842183" y="5968963"/>
            <a:ext cx="364480" cy="359519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18</a:t>
            </a:r>
            <a:endParaRPr lang="en-US" altLang="zh-CN" sz="2800" b="1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4572000" y="3284984"/>
            <a:ext cx="305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3562350" y="4366071"/>
            <a:ext cx="305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4293275" y="4426813"/>
            <a:ext cx="305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4977604" y="4177810"/>
            <a:ext cx="305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4040695" y="5376740"/>
            <a:ext cx="305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3"/>
          <p:cNvSpPr txBox="1">
            <a:spLocks noChangeArrowheads="1"/>
          </p:cNvSpPr>
          <p:nvPr/>
        </p:nvSpPr>
        <p:spPr bwMode="auto">
          <a:xfrm>
            <a:off x="4749476" y="5310753"/>
            <a:ext cx="5873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求解汉密尔顿环问题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4" name="Group 37"/>
          <p:cNvGrpSpPr/>
          <p:nvPr/>
        </p:nvGrpSpPr>
        <p:grpSpPr bwMode="auto">
          <a:xfrm>
            <a:off x="130052" y="2024796"/>
            <a:ext cx="2655651" cy="2019060"/>
            <a:chOff x="356" y="663"/>
            <a:chExt cx="1977" cy="1451"/>
          </a:xfrm>
        </p:grpSpPr>
        <p:sp>
          <p:nvSpPr>
            <p:cNvPr id="44" name="Line 28"/>
            <p:cNvSpPr>
              <a:spLocks noChangeShapeType="1"/>
            </p:cNvSpPr>
            <p:nvPr/>
          </p:nvSpPr>
          <p:spPr bwMode="auto">
            <a:xfrm>
              <a:off x="745" y="799"/>
              <a:ext cx="499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29"/>
            <p:cNvSpPr>
              <a:spLocks noChangeShapeType="1"/>
            </p:cNvSpPr>
            <p:nvPr/>
          </p:nvSpPr>
          <p:spPr bwMode="auto">
            <a:xfrm>
              <a:off x="1516" y="799"/>
              <a:ext cx="54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>
              <a:off x="609" y="935"/>
              <a:ext cx="0" cy="31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>
              <a:off x="745" y="1389"/>
              <a:ext cx="499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32"/>
            <p:cNvSpPr>
              <a:spLocks noChangeShapeType="1"/>
            </p:cNvSpPr>
            <p:nvPr/>
          </p:nvSpPr>
          <p:spPr bwMode="auto">
            <a:xfrm>
              <a:off x="700" y="845"/>
              <a:ext cx="590" cy="45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33"/>
            <p:cNvSpPr>
              <a:spLocks noChangeShapeType="1"/>
            </p:cNvSpPr>
            <p:nvPr/>
          </p:nvSpPr>
          <p:spPr bwMode="auto">
            <a:xfrm flipV="1">
              <a:off x="700" y="845"/>
              <a:ext cx="590" cy="45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34"/>
            <p:cNvSpPr>
              <a:spLocks noChangeShapeType="1"/>
            </p:cNvSpPr>
            <p:nvPr/>
          </p:nvSpPr>
          <p:spPr bwMode="auto">
            <a:xfrm flipH="1">
              <a:off x="1471" y="890"/>
              <a:ext cx="635" cy="45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35"/>
            <p:cNvSpPr>
              <a:spLocks noChangeShapeType="1"/>
            </p:cNvSpPr>
            <p:nvPr/>
          </p:nvSpPr>
          <p:spPr bwMode="auto">
            <a:xfrm flipH="1">
              <a:off x="700" y="1480"/>
              <a:ext cx="590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Freeform 36"/>
            <p:cNvSpPr/>
            <p:nvPr/>
          </p:nvSpPr>
          <p:spPr bwMode="auto">
            <a:xfrm>
              <a:off x="356" y="820"/>
              <a:ext cx="124" cy="1117"/>
            </a:xfrm>
            <a:custGeom>
              <a:avLst/>
              <a:gdLst>
                <a:gd name="T0" fmla="*/ 107 w 124"/>
                <a:gd name="T1" fmla="*/ 0 h 1117"/>
                <a:gd name="T2" fmla="*/ 89 w 124"/>
                <a:gd name="T3" fmla="*/ 53 h 1117"/>
                <a:gd name="T4" fmla="*/ 72 w 124"/>
                <a:gd name="T5" fmla="*/ 79 h 1117"/>
                <a:gd name="T6" fmla="*/ 37 w 124"/>
                <a:gd name="T7" fmla="*/ 149 h 1117"/>
                <a:gd name="T8" fmla="*/ 11 w 124"/>
                <a:gd name="T9" fmla="*/ 376 h 1117"/>
                <a:gd name="T10" fmla="*/ 37 w 124"/>
                <a:gd name="T11" fmla="*/ 891 h 1117"/>
                <a:gd name="T12" fmla="*/ 89 w 124"/>
                <a:gd name="T13" fmla="*/ 1048 h 1117"/>
                <a:gd name="T14" fmla="*/ 124 w 124"/>
                <a:gd name="T15" fmla="*/ 1091 h 1117"/>
                <a:gd name="T16" fmla="*/ 115 w 124"/>
                <a:gd name="T17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" h="1117">
                  <a:moveTo>
                    <a:pt x="107" y="0"/>
                  </a:moveTo>
                  <a:cubicBezTo>
                    <a:pt x="101" y="18"/>
                    <a:pt x="99" y="37"/>
                    <a:pt x="89" y="53"/>
                  </a:cubicBezTo>
                  <a:cubicBezTo>
                    <a:pt x="83" y="62"/>
                    <a:pt x="76" y="70"/>
                    <a:pt x="72" y="79"/>
                  </a:cubicBezTo>
                  <a:cubicBezTo>
                    <a:pt x="40" y="151"/>
                    <a:pt x="72" y="112"/>
                    <a:pt x="37" y="149"/>
                  </a:cubicBezTo>
                  <a:cubicBezTo>
                    <a:pt x="0" y="256"/>
                    <a:pt x="20" y="183"/>
                    <a:pt x="11" y="376"/>
                  </a:cubicBezTo>
                  <a:cubicBezTo>
                    <a:pt x="19" y="548"/>
                    <a:pt x="21" y="720"/>
                    <a:pt x="37" y="891"/>
                  </a:cubicBezTo>
                  <a:cubicBezTo>
                    <a:pt x="41" y="940"/>
                    <a:pt x="74" y="1000"/>
                    <a:pt x="89" y="1048"/>
                  </a:cubicBezTo>
                  <a:cubicBezTo>
                    <a:pt x="95" y="1066"/>
                    <a:pt x="114" y="1076"/>
                    <a:pt x="124" y="1091"/>
                  </a:cubicBezTo>
                  <a:cubicBezTo>
                    <a:pt x="121" y="1100"/>
                    <a:pt x="115" y="1117"/>
                    <a:pt x="115" y="1117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473" y="663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1244" y="663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5" name="Oval 12"/>
            <p:cNvSpPr>
              <a:spLocks noChangeArrowheads="1"/>
            </p:cNvSpPr>
            <p:nvPr/>
          </p:nvSpPr>
          <p:spPr bwMode="auto">
            <a:xfrm>
              <a:off x="473" y="1253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6" name="Oval 26"/>
            <p:cNvSpPr>
              <a:spLocks noChangeArrowheads="1"/>
            </p:cNvSpPr>
            <p:nvPr/>
          </p:nvSpPr>
          <p:spPr bwMode="auto">
            <a:xfrm>
              <a:off x="1244" y="1253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Oval 25"/>
            <p:cNvSpPr>
              <a:spLocks noChangeArrowheads="1"/>
            </p:cNvSpPr>
            <p:nvPr/>
          </p:nvSpPr>
          <p:spPr bwMode="auto">
            <a:xfrm>
              <a:off x="2061" y="663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Oval 27"/>
            <p:cNvSpPr>
              <a:spLocks noChangeArrowheads="1"/>
            </p:cNvSpPr>
            <p:nvPr/>
          </p:nvSpPr>
          <p:spPr bwMode="auto">
            <a:xfrm>
              <a:off x="473" y="1842"/>
              <a:ext cx="272" cy="2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59" name="Line 54"/>
          <p:cNvSpPr>
            <a:spLocks noChangeShapeType="1"/>
          </p:cNvSpPr>
          <p:nvPr/>
        </p:nvSpPr>
        <p:spPr bwMode="auto">
          <a:xfrm flipH="1">
            <a:off x="4406622" y="1429074"/>
            <a:ext cx="1439862" cy="71913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55"/>
          <p:cNvSpPr>
            <a:spLocks noChangeShapeType="1"/>
          </p:cNvSpPr>
          <p:nvPr/>
        </p:nvSpPr>
        <p:spPr bwMode="auto">
          <a:xfrm>
            <a:off x="6062384" y="1571949"/>
            <a:ext cx="360363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56"/>
          <p:cNvSpPr>
            <a:spLocks noChangeShapeType="1"/>
          </p:cNvSpPr>
          <p:nvPr/>
        </p:nvSpPr>
        <p:spPr bwMode="auto">
          <a:xfrm>
            <a:off x="6206847" y="1429074"/>
            <a:ext cx="1871662" cy="71913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flipH="1">
            <a:off x="3758922" y="2364111"/>
            <a:ext cx="4318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>
            <a:off x="4406622" y="2364111"/>
            <a:ext cx="360362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67"/>
          <p:cNvSpPr>
            <a:spLocks noChangeShapeType="1"/>
          </p:cNvSpPr>
          <p:nvPr/>
        </p:nvSpPr>
        <p:spPr bwMode="auto">
          <a:xfrm>
            <a:off x="3687484" y="3156274"/>
            <a:ext cx="0" cy="3603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68"/>
          <p:cNvSpPr>
            <a:spLocks noChangeShapeType="1"/>
          </p:cNvSpPr>
          <p:nvPr/>
        </p:nvSpPr>
        <p:spPr bwMode="auto">
          <a:xfrm flipH="1">
            <a:off x="3398559" y="3803974"/>
            <a:ext cx="215900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69"/>
          <p:cNvSpPr>
            <a:spLocks noChangeShapeType="1"/>
          </p:cNvSpPr>
          <p:nvPr/>
        </p:nvSpPr>
        <p:spPr bwMode="auto">
          <a:xfrm>
            <a:off x="3830359" y="3803974"/>
            <a:ext cx="144463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70"/>
          <p:cNvSpPr>
            <a:spLocks noChangeShapeType="1"/>
          </p:cNvSpPr>
          <p:nvPr/>
        </p:nvSpPr>
        <p:spPr bwMode="auto">
          <a:xfrm>
            <a:off x="4766984" y="3156274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Line 71"/>
          <p:cNvSpPr>
            <a:spLocks noChangeShapeType="1"/>
          </p:cNvSpPr>
          <p:nvPr/>
        </p:nvSpPr>
        <p:spPr bwMode="auto">
          <a:xfrm flipH="1">
            <a:off x="4478059" y="3803974"/>
            <a:ext cx="217488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72"/>
          <p:cNvSpPr>
            <a:spLocks noChangeShapeType="1"/>
          </p:cNvSpPr>
          <p:nvPr/>
        </p:nvSpPr>
        <p:spPr bwMode="auto">
          <a:xfrm>
            <a:off x="4911447" y="3803974"/>
            <a:ext cx="142875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Line 73"/>
          <p:cNvSpPr>
            <a:spLocks noChangeShapeType="1"/>
          </p:cNvSpPr>
          <p:nvPr/>
        </p:nvSpPr>
        <p:spPr bwMode="auto">
          <a:xfrm flipH="1">
            <a:off x="5775047" y="2364111"/>
            <a:ext cx="576262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" name="Line 74"/>
          <p:cNvSpPr>
            <a:spLocks noChangeShapeType="1"/>
          </p:cNvSpPr>
          <p:nvPr/>
        </p:nvSpPr>
        <p:spPr bwMode="auto">
          <a:xfrm>
            <a:off x="6422747" y="2437136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" name="Line 75"/>
          <p:cNvSpPr>
            <a:spLocks noChangeShapeType="1"/>
          </p:cNvSpPr>
          <p:nvPr/>
        </p:nvSpPr>
        <p:spPr bwMode="auto">
          <a:xfrm>
            <a:off x="6567209" y="2364111"/>
            <a:ext cx="576263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76"/>
          <p:cNvSpPr>
            <a:spLocks noChangeShapeType="1"/>
          </p:cNvSpPr>
          <p:nvPr/>
        </p:nvSpPr>
        <p:spPr bwMode="auto">
          <a:xfrm>
            <a:off x="5703609" y="3156274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Line 77"/>
          <p:cNvSpPr>
            <a:spLocks noChangeShapeType="1"/>
          </p:cNvSpPr>
          <p:nvPr/>
        </p:nvSpPr>
        <p:spPr bwMode="auto">
          <a:xfrm>
            <a:off x="5703609" y="3876999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" name="Line 78"/>
          <p:cNvSpPr>
            <a:spLocks noChangeShapeType="1"/>
          </p:cNvSpPr>
          <p:nvPr/>
        </p:nvSpPr>
        <p:spPr bwMode="auto">
          <a:xfrm>
            <a:off x="6422747" y="3876999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Line 79"/>
          <p:cNvSpPr>
            <a:spLocks noChangeShapeType="1"/>
          </p:cNvSpPr>
          <p:nvPr/>
        </p:nvSpPr>
        <p:spPr bwMode="auto">
          <a:xfrm>
            <a:off x="6422747" y="3156274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80"/>
          <p:cNvSpPr>
            <a:spLocks noChangeShapeType="1"/>
          </p:cNvSpPr>
          <p:nvPr/>
        </p:nvSpPr>
        <p:spPr bwMode="auto">
          <a:xfrm>
            <a:off x="8583334" y="3156274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81"/>
          <p:cNvSpPr>
            <a:spLocks noChangeShapeType="1"/>
          </p:cNvSpPr>
          <p:nvPr/>
        </p:nvSpPr>
        <p:spPr bwMode="auto">
          <a:xfrm>
            <a:off x="8583334" y="3948436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82"/>
          <p:cNvSpPr>
            <a:spLocks noChangeShapeType="1"/>
          </p:cNvSpPr>
          <p:nvPr/>
        </p:nvSpPr>
        <p:spPr bwMode="auto">
          <a:xfrm>
            <a:off x="8295997" y="2364111"/>
            <a:ext cx="287337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83"/>
          <p:cNvSpPr>
            <a:spLocks noChangeShapeType="1"/>
          </p:cNvSpPr>
          <p:nvPr/>
        </p:nvSpPr>
        <p:spPr bwMode="auto">
          <a:xfrm>
            <a:off x="8583334" y="4740599"/>
            <a:ext cx="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Line 84"/>
          <p:cNvSpPr>
            <a:spLocks noChangeShapeType="1"/>
          </p:cNvSpPr>
          <p:nvPr/>
        </p:nvSpPr>
        <p:spPr bwMode="auto">
          <a:xfrm>
            <a:off x="8583334" y="5532761"/>
            <a:ext cx="0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" name="Oval 38"/>
          <p:cNvSpPr>
            <a:spLocks noChangeArrowheads="1"/>
          </p:cNvSpPr>
          <p:nvPr/>
        </p:nvSpPr>
        <p:spPr bwMode="auto">
          <a:xfrm>
            <a:off x="5846484" y="1211586"/>
            <a:ext cx="360363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3" name="Oval 39"/>
          <p:cNvSpPr>
            <a:spLocks noChangeArrowheads="1"/>
          </p:cNvSpPr>
          <p:nvPr/>
        </p:nvSpPr>
        <p:spPr bwMode="auto">
          <a:xfrm>
            <a:off x="6278284" y="2076774"/>
            <a:ext cx="360363" cy="360362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4" name="Oval 40"/>
          <p:cNvSpPr>
            <a:spLocks noChangeArrowheads="1"/>
          </p:cNvSpPr>
          <p:nvPr/>
        </p:nvSpPr>
        <p:spPr bwMode="auto">
          <a:xfrm>
            <a:off x="8005484" y="2076774"/>
            <a:ext cx="360363" cy="360362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" name="Oval 46"/>
          <p:cNvSpPr>
            <a:spLocks noChangeArrowheads="1"/>
          </p:cNvSpPr>
          <p:nvPr/>
        </p:nvSpPr>
        <p:spPr bwMode="auto">
          <a:xfrm>
            <a:off x="4119284" y="2076774"/>
            <a:ext cx="360363" cy="360362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6" name="Oval 41"/>
          <p:cNvSpPr>
            <a:spLocks noChangeArrowheads="1"/>
          </p:cNvSpPr>
          <p:nvPr/>
        </p:nvSpPr>
        <p:spPr bwMode="auto">
          <a:xfrm>
            <a:off x="8437284" y="2795911"/>
            <a:ext cx="360363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7" name="Oval 47"/>
          <p:cNvSpPr>
            <a:spLocks noChangeArrowheads="1"/>
          </p:cNvSpPr>
          <p:nvPr/>
        </p:nvSpPr>
        <p:spPr bwMode="auto">
          <a:xfrm>
            <a:off x="5559147" y="2795911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8" name="Oval 48"/>
          <p:cNvSpPr>
            <a:spLocks noChangeArrowheads="1"/>
          </p:cNvSpPr>
          <p:nvPr/>
        </p:nvSpPr>
        <p:spPr bwMode="auto">
          <a:xfrm>
            <a:off x="6278284" y="2795911"/>
            <a:ext cx="360363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9" name="Oval 49"/>
          <p:cNvSpPr>
            <a:spLocks noChangeArrowheads="1"/>
          </p:cNvSpPr>
          <p:nvPr/>
        </p:nvSpPr>
        <p:spPr bwMode="auto">
          <a:xfrm>
            <a:off x="6999009" y="2795911"/>
            <a:ext cx="360363" cy="360363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0" name="Oval 57"/>
          <p:cNvSpPr>
            <a:spLocks noChangeArrowheads="1"/>
          </p:cNvSpPr>
          <p:nvPr/>
        </p:nvSpPr>
        <p:spPr bwMode="auto">
          <a:xfrm>
            <a:off x="4622522" y="2795911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1" name="Oval 58"/>
          <p:cNvSpPr>
            <a:spLocks noChangeArrowheads="1"/>
          </p:cNvSpPr>
          <p:nvPr/>
        </p:nvSpPr>
        <p:spPr bwMode="auto">
          <a:xfrm>
            <a:off x="3543022" y="2795911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2" name="Oval 42"/>
          <p:cNvSpPr>
            <a:spLocks noChangeArrowheads="1"/>
          </p:cNvSpPr>
          <p:nvPr/>
        </p:nvSpPr>
        <p:spPr bwMode="auto">
          <a:xfrm>
            <a:off x="8438872" y="3588074"/>
            <a:ext cx="360362" cy="360362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3" name="Oval 50"/>
          <p:cNvSpPr>
            <a:spLocks noChangeArrowheads="1"/>
          </p:cNvSpPr>
          <p:nvPr/>
        </p:nvSpPr>
        <p:spPr bwMode="auto">
          <a:xfrm>
            <a:off x="5559147" y="3516636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4" name="Oval 51"/>
          <p:cNvSpPr>
            <a:spLocks noChangeArrowheads="1"/>
          </p:cNvSpPr>
          <p:nvPr/>
        </p:nvSpPr>
        <p:spPr bwMode="auto">
          <a:xfrm>
            <a:off x="6278284" y="3516636"/>
            <a:ext cx="360363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5" name="Oval 59"/>
          <p:cNvSpPr>
            <a:spLocks noChangeArrowheads="1"/>
          </p:cNvSpPr>
          <p:nvPr/>
        </p:nvSpPr>
        <p:spPr bwMode="auto">
          <a:xfrm>
            <a:off x="3543022" y="3516636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6" name="Oval 60"/>
          <p:cNvSpPr>
            <a:spLocks noChangeArrowheads="1"/>
          </p:cNvSpPr>
          <p:nvPr/>
        </p:nvSpPr>
        <p:spPr bwMode="auto">
          <a:xfrm>
            <a:off x="4622522" y="3516636"/>
            <a:ext cx="360362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7" name="Oval 43"/>
          <p:cNvSpPr>
            <a:spLocks noChangeArrowheads="1"/>
          </p:cNvSpPr>
          <p:nvPr/>
        </p:nvSpPr>
        <p:spPr bwMode="auto">
          <a:xfrm>
            <a:off x="8437284" y="4380236"/>
            <a:ext cx="360363" cy="360363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" name="Oval 52"/>
          <p:cNvSpPr>
            <a:spLocks noChangeArrowheads="1"/>
          </p:cNvSpPr>
          <p:nvPr/>
        </p:nvSpPr>
        <p:spPr bwMode="auto">
          <a:xfrm>
            <a:off x="5559147" y="4308799"/>
            <a:ext cx="360362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9" name="Oval 53"/>
          <p:cNvSpPr>
            <a:spLocks noChangeArrowheads="1"/>
          </p:cNvSpPr>
          <p:nvPr/>
        </p:nvSpPr>
        <p:spPr bwMode="auto">
          <a:xfrm>
            <a:off x="6278284" y="4308799"/>
            <a:ext cx="360363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0" name="Oval 61"/>
          <p:cNvSpPr>
            <a:spLocks noChangeArrowheads="1"/>
          </p:cNvSpPr>
          <p:nvPr/>
        </p:nvSpPr>
        <p:spPr bwMode="auto">
          <a:xfrm>
            <a:off x="4909859" y="4308799"/>
            <a:ext cx="360363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1" name="Oval 62"/>
          <p:cNvSpPr>
            <a:spLocks noChangeArrowheads="1"/>
          </p:cNvSpPr>
          <p:nvPr/>
        </p:nvSpPr>
        <p:spPr bwMode="auto">
          <a:xfrm>
            <a:off x="4335184" y="4308799"/>
            <a:ext cx="360363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2" name="Oval 63"/>
          <p:cNvSpPr>
            <a:spLocks noChangeArrowheads="1"/>
          </p:cNvSpPr>
          <p:nvPr/>
        </p:nvSpPr>
        <p:spPr bwMode="auto">
          <a:xfrm>
            <a:off x="3830359" y="4308799"/>
            <a:ext cx="360363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3" name="Oval 64"/>
          <p:cNvSpPr>
            <a:spLocks noChangeArrowheads="1"/>
          </p:cNvSpPr>
          <p:nvPr/>
        </p:nvSpPr>
        <p:spPr bwMode="auto">
          <a:xfrm>
            <a:off x="3182659" y="4308799"/>
            <a:ext cx="360363" cy="360362"/>
          </a:xfrm>
          <a:prstGeom prst="ellipse">
            <a:avLst/>
          </a:prstGeom>
          <a:solidFill>
            <a:srgbClr val="66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4" name="Oval 44"/>
          <p:cNvSpPr>
            <a:spLocks noChangeArrowheads="1"/>
          </p:cNvSpPr>
          <p:nvPr/>
        </p:nvSpPr>
        <p:spPr bwMode="auto">
          <a:xfrm>
            <a:off x="8437284" y="5172399"/>
            <a:ext cx="360363" cy="360362"/>
          </a:xfrm>
          <a:prstGeom prst="ellipse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5" name="Oval 45"/>
          <p:cNvSpPr>
            <a:spLocks noChangeArrowheads="1"/>
          </p:cNvSpPr>
          <p:nvPr/>
        </p:nvSpPr>
        <p:spPr bwMode="auto">
          <a:xfrm>
            <a:off x="8438872" y="6035999"/>
            <a:ext cx="360362" cy="360362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Best first strategy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分支界限法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在深度优先搜索过程中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我们经常遇到多个节点可以扩展的情况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首先扩展哪个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?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爬山策略使用贪心方法确定搜索的方向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是优化的深度优先搜索策略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爬山策略使用启发式测度来排序节点扩展的顺序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用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8-Puzzle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问题来说明爬山策略的思想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启发式测度函数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  f(n)=W(n), W(n)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是节点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中处于错误位置的方块数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例如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如果节点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如下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则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f(n)=3,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因为方块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处于错误位置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995936" y="4551983"/>
            <a:ext cx="1439862" cy="1447800"/>
          </a:xfrm>
          <a:prstGeom prst="rect">
            <a:avLst/>
          </a:prstGeom>
          <a:solidFill>
            <a:srgbClr val="CCFFCC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zh-CN" altLang="en-US" sz="2000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3995936" y="5034583"/>
            <a:ext cx="1439862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3995936" y="5517183"/>
            <a:ext cx="1439862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4475361" y="4551983"/>
            <a:ext cx="0" cy="14478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4956373" y="4551983"/>
            <a:ext cx="0" cy="14478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4545211" y="451229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4054673" y="45091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068961" y="50171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5015111" y="50171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5003998" y="54489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4572198" y="54489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4054673" y="54489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5015111" y="450912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5" name="Group 234"/>
          <p:cNvGrpSpPr/>
          <p:nvPr/>
        </p:nvGrpSpPr>
        <p:grpSpPr bwMode="auto">
          <a:xfrm>
            <a:off x="5370694" y="1232657"/>
            <a:ext cx="998397" cy="990616"/>
            <a:chOff x="2968" y="-17"/>
            <a:chExt cx="727" cy="789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2968" y="19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2968" y="250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2968" y="48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3203" y="19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3439" y="19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3013" y="-1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2997" y="22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3240" y="-17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3467" y="21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3463" y="43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3251" y="4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2997" y="4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22"/>
            <p:cNvSpPr txBox="1">
              <a:spLocks noChangeArrowheads="1"/>
            </p:cNvSpPr>
            <p:nvPr/>
          </p:nvSpPr>
          <p:spPr bwMode="auto">
            <a:xfrm>
              <a:off x="3467" y="-1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241"/>
          <p:cNvGrpSpPr/>
          <p:nvPr/>
        </p:nvGrpSpPr>
        <p:grpSpPr bwMode="auto">
          <a:xfrm>
            <a:off x="4434069" y="2438385"/>
            <a:ext cx="998397" cy="990615"/>
            <a:chOff x="2378" y="858"/>
            <a:chExt cx="727" cy="789"/>
          </a:xfrm>
        </p:grpSpPr>
        <p:sp>
          <p:nvSpPr>
            <p:cNvPr id="20" name="Rectangle 113"/>
            <p:cNvSpPr>
              <a:spLocks noChangeArrowheads="1"/>
            </p:cNvSpPr>
            <p:nvPr/>
          </p:nvSpPr>
          <p:spPr bwMode="auto">
            <a:xfrm>
              <a:off x="2378" y="894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Line 114"/>
            <p:cNvSpPr>
              <a:spLocks noChangeShapeType="1"/>
            </p:cNvSpPr>
            <p:nvPr/>
          </p:nvSpPr>
          <p:spPr bwMode="auto">
            <a:xfrm>
              <a:off x="2378" y="1125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2" name="Line 115"/>
            <p:cNvSpPr>
              <a:spLocks noChangeShapeType="1"/>
            </p:cNvSpPr>
            <p:nvPr/>
          </p:nvSpPr>
          <p:spPr bwMode="auto">
            <a:xfrm>
              <a:off x="2378" y="1356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3" name="Line 116"/>
            <p:cNvSpPr>
              <a:spLocks noChangeShapeType="1"/>
            </p:cNvSpPr>
            <p:nvPr/>
          </p:nvSpPr>
          <p:spPr bwMode="auto">
            <a:xfrm>
              <a:off x="2613" y="894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4" name="Line 117"/>
            <p:cNvSpPr>
              <a:spLocks noChangeShapeType="1"/>
            </p:cNvSpPr>
            <p:nvPr/>
          </p:nvSpPr>
          <p:spPr bwMode="auto">
            <a:xfrm>
              <a:off x="2849" y="894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5" name="Text Box 118"/>
            <p:cNvSpPr txBox="1">
              <a:spLocks noChangeArrowheads="1"/>
            </p:cNvSpPr>
            <p:nvPr/>
          </p:nvSpPr>
          <p:spPr bwMode="auto">
            <a:xfrm>
              <a:off x="2423" y="85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119"/>
            <p:cNvSpPr txBox="1">
              <a:spLocks noChangeArrowheads="1"/>
            </p:cNvSpPr>
            <p:nvPr/>
          </p:nvSpPr>
          <p:spPr bwMode="auto">
            <a:xfrm>
              <a:off x="2650" y="110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20"/>
            <p:cNvSpPr txBox="1">
              <a:spLocks noChangeArrowheads="1"/>
            </p:cNvSpPr>
            <p:nvPr/>
          </p:nvSpPr>
          <p:spPr bwMode="auto">
            <a:xfrm>
              <a:off x="2650" y="858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121"/>
            <p:cNvSpPr txBox="1">
              <a:spLocks noChangeArrowheads="1"/>
            </p:cNvSpPr>
            <p:nvPr/>
          </p:nvSpPr>
          <p:spPr bwMode="auto">
            <a:xfrm>
              <a:off x="2877" y="108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122"/>
            <p:cNvSpPr txBox="1">
              <a:spLocks noChangeArrowheads="1"/>
            </p:cNvSpPr>
            <p:nvPr/>
          </p:nvSpPr>
          <p:spPr bwMode="auto">
            <a:xfrm>
              <a:off x="2873" y="131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123"/>
            <p:cNvSpPr txBox="1">
              <a:spLocks noChangeArrowheads="1"/>
            </p:cNvSpPr>
            <p:nvPr/>
          </p:nvSpPr>
          <p:spPr bwMode="auto">
            <a:xfrm>
              <a:off x="2661" y="132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124"/>
            <p:cNvSpPr txBox="1">
              <a:spLocks noChangeArrowheads="1"/>
            </p:cNvSpPr>
            <p:nvPr/>
          </p:nvSpPr>
          <p:spPr bwMode="auto">
            <a:xfrm>
              <a:off x="2407" y="132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125"/>
            <p:cNvSpPr txBox="1">
              <a:spLocks noChangeArrowheads="1"/>
            </p:cNvSpPr>
            <p:nvPr/>
          </p:nvSpPr>
          <p:spPr bwMode="auto">
            <a:xfrm>
              <a:off x="2877" y="85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" name="Group 244"/>
          <p:cNvGrpSpPr/>
          <p:nvPr/>
        </p:nvGrpSpPr>
        <p:grpSpPr bwMode="auto">
          <a:xfrm>
            <a:off x="1838986" y="3577300"/>
            <a:ext cx="998397" cy="989358"/>
            <a:chOff x="700" y="1721"/>
            <a:chExt cx="727" cy="788"/>
          </a:xfrm>
        </p:grpSpPr>
        <p:sp>
          <p:nvSpPr>
            <p:cNvPr id="34" name="Rectangle 126"/>
            <p:cNvSpPr>
              <a:spLocks noChangeArrowheads="1"/>
            </p:cNvSpPr>
            <p:nvPr/>
          </p:nvSpPr>
          <p:spPr bwMode="auto">
            <a:xfrm>
              <a:off x="700" y="1756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35" name="Line 127"/>
            <p:cNvSpPr>
              <a:spLocks noChangeShapeType="1"/>
            </p:cNvSpPr>
            <p:nvPr/>
          </p:nvSpPr>
          <p:spPr bwMode="auto">
            <a:xfrm>
              <a:off x="700" y="1987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6" name="Line 128"/>
            <p:cNvSpPr>
              <a:spLocks noChangeShapeType="1"/>
            </p:cNvSpPr>
            <p:nvPr/>
          </p:nvSpPr>
          <p:spPr bwMode="auto">
            <a:xfrm>
              <a:off x="700" y="2218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7" name="Line 129"/>
            <p:cNvSpPr>
              <a:spLocks noChangeShapeType="1"/>
            </p:cNvSpPr>
            <p:nvPr/>
          </p:nvSpPr>
          <p:spPr bwMode="auto">
            <a:xfrm>
              <a:off x="935" y="1756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8" name="Line 130"/>
            <p:cNvSpPr>
              <a:spLocks noChangeShapeType="1"/>
            </p:cNvSpPr>
            <p:nvPr/>
          </p:nvSpPr>
          <p:spPr bwMode="auto">
            <a:xfrm>
              <a:off x="1171" y="1756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9" name="Text Box 131"/>
            <p:cNvSpPr txBox="1">
              <a:spLocks noChangeArrowheads="1"/>
            </p:cNvSpPr>
            <p:nvPr/>
          </p:nvSpPr>
          <p:spPr bwMode="auto">
            <a:xfrm>
              <a:off x="972" y="17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132"/>
            <p:cNvSpPr txBox="1">
              <a:spLocks noChangeArrowheads="1"/>
            </p:cNvSpPr>
            <p:nvPr/>
          </p:nvSpPr>
          <p:spPr bwMode="auto">
            <a:xfrm>
              <a:off x="729" y="196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133"/>
            <p:cNvSpPr txBox="1">
              <a:spLocks noChangeArrowheads="1"/>
            </p:cNvSpPr>
            <p:nvPr/>
          </p:nvSpPr>
          <p:spPr bwMode="auto">
            <a:xfrm>
              <a:off x="972" y="1962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134"/>
            <p:cNvSpPr txBox="1">
              <a:spLocks noChangeArrowheads="1"/>
            </p:cNvSpPr>
            <p:nvPr/>
          </p:nvSpPr>
          <p:spPr bwMode="auto">
            <a:xfrm>
              <a:off x="1199" y="194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135"/>
            <p:cNvSpPr txBox="1">
              <a:spLocks noChangeArrowheads="1"/>
            </p:cNvSpPr>
            <p:nvPr/>
          </p:nvSpPr>
          <p:spPr bwMode="auto">
            <a:xfrm>
              <a:off x="1195" y="217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136"/>
            <p:cNvSpPr txBox="1">
              <a:spLocks noChangeArrowheads="1"/>
            </p:cNvSpPr>
            <p:nvPr/>
          </p:nvSpPr>
          <p:spPr bwMode="auto">
            <a:xfrm>
              <a:off x="983" y="219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37"/>
            <p:cNvSpPr txBox="1">
              <a:spLocks noChangeArrowheads="1"/>
            </p:cNvSpPr>
            <p:nvPr/>
          </p:nvSpPr>
          <p:spPr bwMode="auto">
            <a:xfrm>
              <a:off x="729" y="219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138"/>
            <p:cNvSpPr txBox="1">
              <a:spLocks noChangeArrowheads="1"/>
            </p:cNvSpPr>
            <p:nvPr/>
          </p:nvSpPr>
          <p:spPr bwMode="auto">
            <a:xfrm>
              <a:off x="1199" y="17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" name="Group 245"/>
          <p:cNvGrpSpPr/>
          <p:nvPr/>
        </p:nvGrpSpPr>
        <p:grpSpPr bwMode="auto">
          <a:xfrm>
            <a:off x="3580135" y="3535182"/>
            <a:ext cx="998396" cy="989358"/>
            <a:chOff x="1803" y="1707"/>
            <a:chExt cx="727" cy="788"/>
          </a:xfrm>
        </p:grpSpPr>
        <p:sp>
          <p:nvSpPr>
            <p:cNvPr id="48" name="Rectangle 139"/>
            <p:cNvSpPr>
              <a:spLocks noChangeArrowheads="1"/>
            </p:cNvSpPr>
            <p:nvPr/>
          </p:nvSpPr>
          <p:spPr bwMode="auto">
            <a:xfrm>
              <a:off x="1803" y="1742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49" name="Line 140"/>
            <p:cNvSpPr>
              <a:spLocks noChangeShapeType="1"/>
            </p:cNvSpPr>
            <p:nvPr/>
          </p:nvSpPr>
          <p:spPr bwMode="auto">
            <a:xfrm>
              <a:off x="1803" y="197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0" name="Line 141"/>
            <p:cNvSpPr>
              <a:spLocks noChangeShapeType="1"/>
            </p:cNvSpPr>
            <p:nvPr/>
          </p:nvSpPr>
          <p:spPr bwMode="auto">
            <a:xfrm>
              <a:off x="1803" y="2204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1" name="Line 142"/>
            <p:cNvSpPr>
              <a:spLocks noChangeShapeType="1"/>
            </p:cNvSpPr>
            <p:nvPr/>
          </p:nvSpPr>
          <p:spPr bwMode="auto">
            <a:xfrm>
              <a:off x="2038" y="1742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2" name="Line 143"/>
            <p:cNvSpPr>
              <a:spLocks noChangeShapeType="1"/>
            </p:cNvSpPr>
            <p:nvPr/>
          </p:nvSpPr>
          <p:spPr bwMode="auto">
            <a:xfrm>
              <a:off x="2274" y="1742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3" name="Text Box 144"/>
            <p:cNvSpPr txBox="1">
              <a:spLocks noChangeArrowheads="1"/>
            </p:cNvSpPr>
            <p:nvPr/>
          </p:nvSpPr>
          <p:spPr bwMode="auto">
            <a:xfrm>
              <a:off x="1848" y="170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4" name="Text Box 145"/>
            <p:cNvSpPr txBox="1">
              <a:spLocks noChangeArrowheads="1"/>
            </p:cNvSpPr>
            <p:nvPr/>
          </p:nvSpPr>
          <p:spPr bwMode="auto">
            <a:xfrm>
              <a:off x="1832" y="194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146"/>
            <p:cNvSpPr txBox="1">
              <a:spLocks noChangeArrowheads="1"/>
            </p:cNvSpPr>
            <p:nvPr/>
          </p:nvSpPr>
          <p:spPr bwMode="auto">
            <a:xfrm>
              <a:off x="2075" y="1933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147"/>
            <p:cNvSpPr txBox="1">
              <a:spLocks noChangeArrowheads="1"/>
            </p:cNvSpPr>
            <p:nvPr/>
          </p:nvSpPr>
          <p:spPr bwMode="auto">
            <a:xfrm>
              <a:off x="2302" y="193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148"/>
            <p:cNvSpPr txBox="1">
              <a:spLocks noChangeArrowheads="1"/>
            </p:cNvSpPr>
            <p:nvPr/>
          </p:nvSpPr>
          <p:spPr bwMode="auto">
            <a:xfrm>
              <a:off x="2298" y="216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149"/>
            <p:cNvSpPr txBox="1">
              <a:spLocks noChangeArrowheads="1"/>
            </p:cNvSpPr>
            <p:nvPr/>
          </p:nvSpPr>
          <p:spPr bwMode="auto">
            <a:xfrm>
              <a:off x="2086" y="217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150"/>
            <p:cNvSpPr txBox="1">
              <a:spLocks noChangeArrowheads="1"/>
            </p:cNvSpPr>
            <p:nvPr/>
          </p:nvSpPr>
          <p:spPr bwMode="auto">
            <a:xfrm>
              <a:off x="1832" y="217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151"/>
            <p:cNvSpPr txBox="1">
              <a:spLocks noChangeArrowheads="1"/>
            </p:cNvSpPr>
            <p:nvPr/>
          </p:nvSpPr>
          <p:spPr bwMode="auto">
            <a:xfrm>
              <a:off x="2061" y="170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" name="Group 246"/>
          <p:cNvGrpSpPr/>
          <p:nvPr/>
        </p:nvGrpSpPr>
        <p:grpSpPr bwMode="auto">
          <a:xfrm>
            <a:off x="2616152" y="4741923"/>
            <a:ext cx="998397" cy="990615"/>
            <a:chOff x="1214" y="2614"/>
            <a:chExt cx="727" cy="789"/>
          </a:xfrm>
        </p:grpSpPr>
        <p:sp>
          <p:nvSpPr>
            <p:cNvPr id="62" name="Rectangle 152"/>
            <p:cNvSpPr>
              <a:spLocks noChangeArrowheads="1"/>
            </p:cNvSpPr>
            <p:nvPr/>
          </p:nvSpPr>
          <p:spPr bwMode="auto">
            <a:xfrm>
              <a:off x="1214" y="2650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63" name="Line 153"/>
            <p:cNvSpPr>
              <a:spLocks noChangeShapeType="1"/>
            </p:cNvSpPr>
            <p:nvPr/>
          </p:nvSpPr>
          <p:spPr bwMode="auto">
            <a:xfrm>
              <a:off x="1214" y="288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64" name="Line 154"/>
            <p:cNvSpPr>
              <a:spLocks noChangeShapeType="1"/>
            </p:cNvSpPr>
            <p:nvPr/>
          </p:nvSpPr>
          <p:spPr bwMode="auto">
            <a:xfrm>
              <a:off x="1214" y="3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65" name="Line 155"/>
            <p:cNvSpPr>
              <a:spLocks noChangeShapeType="1"/>
            </p:cNvSpPr>
            <p:nvPr/>
          </p:nvSpPr>
          <p:spPr bwMode="auto">
            <a:xfrm>
              <a:off x="1449" y="265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66" name="Line 156"/>
            <p:cNvSpPr>
              <a:spLocks noChangeShapeType="1"/>
            </p:cNvSpPr>
            <p:nvPr/>
          </p:nvSpPr>
          <p:spPr bwMode="auto">
            <a:xfrm>
              <a:off x="1685" y="265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67" name="Text Box 157"/>
            <p:cNvSpPr txBox="1">
              <a:spLocks noChangeArrowheads="1"/>
            </p:cNvSpPr>
            <p:nvPr/>
          </p:nvSpPr>
          <p:spPr bwMode="auto">
            <a:xfrm>
              <a:off x="1486" y="261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8" name="Text Box 158"/>
            <p:cNvSpPr txBox="1">
              <a:spLocks noChangeArrowheads="1"/>
            </p:cNvSpPr>
            <p:nvPr/>
          </p:nvSpPr>
          <p:spPr bwMode="auto">
            <a:xfrm>
              <a:off x="1243" y="261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159"/>
            <p:cNvSpPr txBox="1">
              <a:spLocks noChangeArrowheads="1"/>
            </p:cNvSpPr>
            <p:nvPr/>
          </p:nvSpPr>
          <p:spPr bwMode="auto">
            <a:xfrm>
              <a:off x="1486" y="2840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0" name="Text Box 160"/>
            <p:cNvSpPr txBox="1">
              <a:spLocks noChangeArrowheads="1"/>
            </p:cNvSpPr>
            <p:nvPr/>
          </p:nvSpPr>
          <p:spPr bwMode="auto">
            <a:xfrm>
              <a:off x="1713" y="284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161"/>
            <p:cNvSpPr txBox="1">
              <a:spLocks noChangeArrowheads="1"/>
            </p:cNvSpPr>
            <p:nvPr/>
          </p:nvSpPr>
          <p:spPr bwMode="auto">
            <a:xfrm>
              <a:off x="1709" y="306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2" name="Text Box 162"/>
            <p:cNvSpPr txBox="1">
              <a:spLocks noChangeArrowheads="1"/>
            </p:cNvSpPr>
            <p:nvPr/>
          </p:nvSpPr>
          <p:spPr bwMode="auto">
            <a:xfrm>
              <a:off x="1497" y="308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163"/>
            <p:cNvSpPr txBox="1">
              <a:spLocks noChangeArrowheads="1"/>
            </p:cNvSpPr>
            <p:nvPr/>
          </p:nvSpPr>
          <p:spPr bwMode="auto">
            <a:xfrm>
              <a:off x="1243" y="308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4" name="Text Box 164"/>
            <p:cNvSpPr txBox="1">
              <a:spLocks noChangeArrowheads="1"/>
            </p:cNvSpPr>
            <p:nvPr/>
          </p:nvSpPr>
          <p:spPr bwMode="auto">
            <a:xfrm>
              <a:off x="1713" y="26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" name="Group 247"/>
          <p:cNvGrpSpPr/>
          <p:nvPr/>
        </p:nvGrpSpPr>
        <p:grpSpPr bwMode="auto">
          <a:xfrm>
            <a:off x="1627369" y="5845536"/>
            <a:ext cx="998397" cy="1006937"/>
            <a:chOff x="610" y="3521"/>
            <a:chExt cx="727" cy="802"/>
          </a:xfrm>
        </p:grpSpPr>
        <p:sp>
          <p:nvSpPr>
            <p:cNvPr id="76" name="Rectangle 165"/>
            <p:cNvSpPr>
              <a:spLocks noChangeArrowheads="1"/>
            </p:cNvSpPr>
            <p:nvPr/>
          </p:nvSpPr>
          <p:spPr bwMode="auto">
            <a:xfrm>
              <a:off x="610" y="3570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>
                <a:solidFill>
                  <a:srgbClr val="FF0000"/>
                </a:solidFill>
              </a:endParaRPr>
            </a:p>
          </p:txBody>
        </p:sp>
        <p:sp>
          <p:nvSpPr>
            <p:cNvPr id="77" name="Line 166"/>
            <p:cNvSpPr>
              <a:spLocks noChangeShapeType="1"/>
            </p:cNvSpPr>
            <p:nvPr/>
          </p:nvSpPr>
          <p:spPr bwMode="auto">
            <a:xfrm>
              <a:off x="610" y="380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8" name="Line 167"/>
            <p:cNvSpPr>
              <a:spLocks noChangeShapeType="1"/>
            </p:cNvSpPr>
            <p:nvPr/>
          </p:nvSpPr>
          <p:spPr bwMode="auto">
            <a:xfrm>
              <a:off x="610" y="403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9" name="Line 168"/>
            <p:cNvSpPr>
              <a:spLocks noChangeShapeType="1"/>
            </p:cNvSpPr>
            <p:nvPr/>
          </p:nvSpPr>
          <p:spPr bwMode="auto">
            <a:xfrm>
              <a:off x="845" y="357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0" name="Line 169"/>
            <p:cNvSpPr>
              <a:spLocks noChangeShapeType="1"/>
            </p:cNvSpPr>
            <p:nvPr/>
          </p:nvSpPr>
          <p:spPr bwMode="auto">
            <a:xfrm>
              <a:off x="1081" y="357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1" name="Text Box 170"/>
            <p:cNvSpPr txBox="1">
              <a:spLocks noChangeArrowheads="1"/>
            </p:cNvSpPr>
            <p:nvPr/>
          </p:nvSpPr>
          <p:spPr bwMode="auto">
            <a:xfrm>
              <a:off x="881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171"/>
            <p:cNvSpPr txBox="1">
              <a:spLocks noChangeArrowheads="1"/>
            </p:cNvSpPr>
            <p:nvPr/>
          </p:nvSpPr>
          <p:spPr bwMode="auto">
            <a:xfrm>
              <a:off x="639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Text Box 172"/>
            <p:cNvSpPr txBox="1">
              <a:spLocks noChangeArrowheads="1"/>
            </p:cNvSpPr>
            <p:nvPr/>
          </p:nvSpPr>
          <p:spPr bwMode="auto">
            <a:xfrm>
              <a:off x="646" y="3776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Text Box 173"/>
            <p:cNvSpPr txBox="1">
              <a:spLocks noChangeArrowheads="1"/>
            </p:cNvSpPr>
            <p:nvPr/>
          </p:nvSpPr>
          <p:spPr bwMode="auto">
            <a:xfrm>
              <a:off x="1109" y="376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" name="Text Box 174"/>
            <p:cNvSpPr txBox="1">
              <a:spLocks noChangeArrowheads="1"/>
            </p:cNvSpPr>
            <p:nvPr/>
          </p:nvSpPr>
          <p:spPr bwMode="auto">
            <a:xfrm>
              <a:off x="1105" y="39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Text Box 175"/>
            <p:cNvSpPr txBox="1">
              <a:spLocks noChangeArrowheads="1"/>
            </p:cNvSpPr>
            <p:nvPr/>
          </p:nvSpPr>
          <p:spPr bwMode="auto">
            <a:xfrm>
              <a:off x="893" y="400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" name="Text Box 176"/>
            <p:cNvSpPr txBox="1">
              <a:spLocks noChangeArrowheads="1"/>
            </p:cNvSpPr>
            <p:nvPr/>
          </p:nvSpPr>
          <p:spPr bwMode="auto">
            <a:xfrm>
              <a:off x="639" y="400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" name="Text Box 177"/>
            <p:cNvSpPr txBox="1">
              <a:spLocks noChangeArrowheads="1"/>
            </p:cNvSpPr>
            <p:nvPr/>
          </p:nvSpPr>
          <p:spPr bwMode="auto">
            <a:xfrm>
              <a:off x="1109" y="353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9" name="Group 248"/>
          <p:cNvGrpSpPr/>
          <p:nvPr/>
        </p:nvGrpSpPr>
        <p:grpSpPr bwMode="auto">
          <a:xfrm>
            <a:off x="3594281" y="5841222"/>
            <a:ext cx="998396" cy="990615"/>
            <a:chOff x="1849" y="3521"/>
            <a:chExt cx="727" cy="789"/>
          </a:xfrm>
        </p:grpSpPr>
        <p:sp>
          <p:nvSpPr>
            <p:cNvPr id="90" name="Rectangle 178"/>
            <p:cNvSpPr>
              <a:spLocks noChangeArrowheads="1"/>
            </p:cNvSpPr>
            <p:nvPr/>
          </p:nvSpPr>
          <p:spPr bwMode="auto">
            <a:xfrm>
              <a:off x="1849" y="3557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91" name="Line 179"/>
            <p:cNvSpPr>
              <a:spLocks noChangeShapeType="1"/>
            </p:cNvSpPr>
            <p:nvPr/>
          </p:nvSpPr>
          <p:spPr bwMode="auto">
            <a:xfrm>
              <a:off x="1849" y="3788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2" name="Line 180"/>
            <p:cNvSpPr>
              <a:spLocks noChangeShapeType="1"/>
            </p:cNvSpPr>
            <p:nvPr/>
          </p:nvSpPr>
          <p:spPr bwMode="auto">
            <a:xfrm>
              <a:off x="1849" y="4019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3" name="Line 181"/>
            <p:cNvSpPr>
              <a:spLocks noChangeShapeType="1"/>
            </p:cNvSpPr>
            <p:nvPr/>
          </p:nvSpPr>
          <p:spPr bwMode="auto">
            <a:xfrm>
              <a:off x="2084" y="3557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4" name="Line 182"/>
            <p:cNvSpPr>
              <a:spLocks noChangeShapeType="1"/>
            </p:cNvSpPr>
            <p:nvPr/>
          </p:nvSpPr>
          <p:spPr bwMode="auto">
            <a:xfrm>
              <a:off x="2320" y="3557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5" name="Text Box 183"/>
            <p:cNvSpPr txBox="1">
              <a:spLocks noChangeArrowheads="1"/>
            </p:cNvSpPr>
            <p:nvPr/>
          </p:nvSpPr>
          <p:spPr bwMode="auto">
            <a:xfrm>
              <a:off x="2106" y="35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6" name="Text Box 184"/>
            <p:cNvSpPr txBox="1">
              <a:spLocks noChangeArrowheads="1"/>
            </p:cNvSpPr>
            <p:nvPr/>
          </p:nvSpPr>
          <p:spPr bwMode="auto">
            <a:xfrm>
              <a:off x="1878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7" name="Text Box 185"/>
            <p:cNvSpPr txBox="1">
              <a:spLocks noChangeArrowheads="1"/>
            </p:cNvSpPr>
            <p:nvPr/>
          </p:nvSpPr>
          <p:spPr bwMode="auto">
            <a:xfrm>
              <a:off x="2106" y="3748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8" name="Text Box 186"/>
            <p:cNvSpPr txBox="1">
              <a:spLocks noChangeArrowheads="1"/>
            </p:cNvSpPr>
            <p:nvPr/>
          </p:nvSpPr>
          <p:spPr bwMode="auto">
            <a:xfrm>
              <a:off x="2348" y="374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9" name="Text Box 187"/>
            <p:cNvSpPr txBox="1">
              <a:spLocks noChangeArrowheads="1"/>
            </p:cNvSpPr>
            <p:nvPr/>
          </p:nvSpPr>
          <p:spPr bwMode="auto">
            <a:xfrm>
              <a:off x="2344" y="397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0" name="Text Box 188"/>
            <p:cNvSpPr txBox="1">
              <a:spLocks noChangeArrowheads="1"/>
            </p:cNvSpPr>
            <p:nvPr/>
          </p:nvSpPr>
          <p:spPr bwMode="auto">
            <a:xfrm>
              <a:off x="2106" y="399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1" name="Text Box 189"/>
            <p:cNvSpPr txBox="1">
              <a:spLocks noChangeArrowheads="1"/>
            </p:cNvSpPr>
            <p:nvPr/>
          </p:nvSpPr>
          <p:spPr bwMode="auto">
            <a:xfrm>
              <a:off x="1878" y="374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2" name="Text Box 190"/>
            <p:cNvSpPr txBox="1">
              <a:spLocks noChangeArrowheads="1"/>
            </p:cNvSpPr>
            <p:nvPr/>
          </p:nvSpPr>
          <p:spPr bwMode="auto">
            <a:xfrm>
              <a:off x="2348" y="35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" name="Group 242"/>
          <p:cNvGrpSpPr/>
          <p:nvPr/>
        </p:nvGrpSpPr>
        <p:grpSpPr bwMode="auto">
          <a:xfrm>
            <a:off x="6307319" y="2417748"/>
            <a:ext cx="998397" cy="990615"/>
            <a:chOff x="3558" y="845"/>
            <a:chExt cx="727" cy="789"/>
          </a:xfrm>
        </p:grpSpPr>
        <p:sp>
          <p:nvSpPr>
            <p:cNvPr id="104" name="Rectangle 191"/>
            <p:cNvSpPr>
              <a:spLocks noChangeArrowheads="1"/>
            </p:cNvSpPr>
            <p:nvPr/>
          </p:nvSpPr>
          <p:spPr bwMode="auto">
            <a:xfrm>
              <a:off x="3558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558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6" name="Line 193"/>
            <p:cNvSpPr>
              <a:spLocks noChangeShapeType="1"/>
            </p:cNvSpPr>
            <p:nvPr/>
          </p:nvSpPr>
          <p:spPr bwMode="auto">
            <a:xfrm>
              <a:off x="3558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7" name="Line 194"/>
            <p:cNvSpPr>
              <a:spLocks noChangeShapeType="1"/>
            </p:cNvSpPr>
            <p:nvPr/>
          </p:nvSpPr>
          <p:spPr bwMode="auto">
            <a:xfrm>
              <a:off x="3793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8" name="Line 195"/>
            <p:cNvSpPr>
              <a:spLocks noChangeShapeType="1"/>
            </p:cNvSpPr>
            <p:nvPr/>
          </p:nvSpPr>
          <p:spPr bwMode="auto">
            <a:xfrm>
              <a:off x="4029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9" name="Text Box 196"/>
            <p:cNvSpPr txBox="1">
              <a:spLocks noChangeArrowheads="1"/>
            </p:cNvSpPr>
            <p:nvPr/>
          </p:nvSpPr>
          <p:spPr bwMode="auto">
            <a:xfrm>
              <a:off x="3603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0" name="Text Box 197"/>
            <p:cNvSpPr txBox="1">
              <a:spLocks noChangeArrowheads="1"/>
            </p:cNvSpPr>
            <p:nvPr/>
          </p:nvSpPr>
          <p:spPr bwMode="auto">
            <a:xfrm>
              <a:off x="3587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1" name="Text Box 198"/>
            <p:cNvSpPr txBox="1">
              <a:spLocks noChangeArrowheads="1"/>
            </p:cNvSpPr>
            <p:nvPr/>
          </p:nvSpPr>
          <p:spPr bwMode="auto">
            <a:xfrm>
              <a:off x="3830" y="845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2" name="Text Box 199"/>
            <p:cNvSpPr txBox="1">
              <a:spLocks noChangeArrowheads="1"/>
            </p:cNvSpPr>
            <p:nvPr/>
          </p:nvSpPr>
          <p:spPr bwMode="auto">
            <a:xfrm>
              <a:off x="3830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3" name="Text Box 200"/>
            <p:cNvSpPr txBox="1">
              <a:spLocks noChangeArrowheads="1"/>
            </p:cNvSpPr>
            <p:nvPr/>
          </p:nvSpPr>
          <p:spPr bwMode="auto">
            <a:xfrm>
              <a:off x="4053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4" name="Text Box 201"/>
            <p:cNvSpPr txBox="1">
              <a:spLocks noChangeArrowheads="1"/>
            </p:cNvSpPr>
            <p:nvPr/>
          </p:nvSpPr>
          <p:spPr bwMode="auto">
            <a:xfrm>
              <a:off x="3841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" name="Text Box 202"/>
            <p:cNvSpPr txBox="1">
              <a:spLocks noChangeArrowheads="1"/>
            </p:cNvSpPr>
            <p:nvPr/>
          </p:nvSpPr>
          <p:spPr bwMode="auto">
            <a:xfrm>
              <a:off x="3587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6" name="Text Box 203"/>
            <p:cNvSpPr txBox="1">
              <a:spLocks noChangeArrowheads="1"/>
            </p:cNvSpPr>
            <p:nvPr/>
          </p:nvSpPr>
          <p:spPr bwMode="auto">
            <a:xfrm>
              <a:off x="4057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7" name="Group 243"/>
          <p:cNvGrpSpPr/>
          <p:nvPr/>
        </p:nvGrpSpPr>
        <p:grpSpPr bwMode="auto">
          <a:xfrm>
            <a:off x="7848364" y="2417748"/>
            <a:ext cx="998397" cy="990615"/>
            <a:chOff x="4616" y="845"/>
            <a:chExt cx="727" cy="789"/>
          </a:xfrm>
        </p:grpSpPr>
        <p:sp>
          <p:nvSpPr>
            <p:cNvPr id="118" name="Rectangle 217"/>
            <p:cNvSpPr>
              <a:spLocks noChangeArrowheads="1"/>
            </p:cNvSpPr>
            <p:nvPr/>
          </p:nvSpPr>
          <p:spPr bwMode="auto">
            <a:xfrm>
              <a:off x="4616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9" name="Line 218"/>
            <p:cNvSpPr>
              <a:spLocks noChangeShapeType="1"/>
            </p:cNvSpPr>
            <p:nvPr/>
          </p:nvSpPr>
          <p:spPr bwMode="auto">
            <a:xfrm>
              <a:off x="4616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0" name="Line 219"/>
            <p:cNvSpPr>
              <a:spLocks noChangeShapeType="1"/>
            </p:cNvSpPr>
            <p:nvPr/>
          </p:nvSpPr>
          <p:spPr bwMode="auto">
            <a:xfrm>
              <a:off x="4616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1" name="Line 220"/>
            <p:cNvSpPr>
              <a:spLocks noChangeShapeType="1"/>
            </p:cNvSpPr>
            <p:nvPr/>
          </p:nvSpPr>
          <p:spPr bwMode="auto">
            <a:xfrm>
              <a:off x="4851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2" name="Line 221"/>
            <p:cNvSpPr>
              <a:spLocks noChangeShapeType="1"/>
            </p:cNvSpPr>
            <p:nvPr/>
          </p:nvSpPr>
          <p:spPr bwMode="auto">
            <a:xfrm>
              <a:off x="5087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23" name="Text Box 222"/>
            <p:cNvSpPr txBox="1">
              <a:spLocks noChangeArrowheads="1"/>
            </p:cNvSpPr>
            <p:nvPr/>
          </p:nvSpPr>
          <p:spPr bwMode="auto">
            <a:xfrm>
              <a:off x="4661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4" name="Text Box 223"/>
            <p:cNvSpPr txBox="1">
              <a:spLocks noChangeArrowheads="1"/>
            </p:cNvSpPr>
            <p:nvPr/>
          </p:nvSpPr>
          <p:spPr bwMode="auto">
            <a:xfrm>
              <a:off x="4645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5" name="Text Box 224"/>
            <p:cNvSpPr txBox="1">
              <a:spLocks noChangeArrowheads="1"/>
            </p:cNvSpPr>
            <p:nvPr/>
          </p:nvSpPr>
          <p:spPr bwMode="auto">
            <a:xfrm>
              <a:off x="4888" y="845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6" name="Text Box 225"/>
            <p:cNvSpPr txBox="1">
              <a:spLocks noChangeArrowheads="1"/>
            </p:cNvSpPr>
            <p:nvPr/>
          </p:nvSpPr>
          <p:spPr bwMode="auto">
            <a:xfrm>
              <a:off x="5115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7" name="Text Box 226"/>
            <p:cNvSpPr txBox="1">
              <a:spLocks noChangeArrowheads="1"/>
            </p:cNvSpPr>
            <p:nvPr/>
          </p:nvSpPr>
          <p:spPr bwMode="auto">
            <a:xfrm>
              <a:off x="5111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8" name="Text Box 227"/>
            <p:cNvSpPr txBox="1">
              <a:spLocks noChangeArrowheads="1"/>
            </p:cNvSpPr>
            <p:nvPr/>
          </p:nvSpPr>
          <p:spPr bwMode="auto">
            <a:xfrm>
              <a:off x="4899" y="107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9" name="Text Box 228"/>
            <p:cNvSpPr txBox="1">
              <a:spLocks noChangeArrowheads="1"/>
            </p:cNvSpPr>
            <p:nvPr/>
          </p:nvSpPr>
          <p:spPr bwMode="auto">
            <a:xfrm>
              <a:off x="4645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0" name="Text Box 229"/>
            <p:cNvSpPr txBox="1">
              <a:spLocks noChangeArrowheads="1"/>
            </p:cNvSpPr>
            <p:nvPr/>
          </p:nvSpPr>
          <p:spPr bwMode="auto">
            <a:xfrm>
              <a:off x="5115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131" name="Line 230"/>
          <p:cNvSpPr>
            <a:spLocks noChangeShapeType="1"/>
          </p:cNvSpPr>
          <p:nvPr/>
        </p:nvSpPr>
        <p:spPr bwMode="auto">
          <a:xfrm flipH="1">
            <a:off x="3210104" y="1719384"/>
            <a:ext cx="2146856" cy="701504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2" name="Line 231"/>
          <p:cNvSpPr>
            <a:spLocks noChangeShapeType="1"/>
          </p:cNvSpPr>
          <p:nvPr/>
        </p:nvSpPr>
        <p:spPr bwMode="auto">
          <a:xfrm flipH="1">
            <a:off x="5010010" y="1994623"/>
            <a:ext cx="311741" cy="45575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3" name="Line 232"/>
          <p:cNvSpPr>
            <a:spLocks noChangeShapeType="1"/>
          </p:cNvSpPr>
          <p:nvPr/>
        </p:nvSpPr>
        <p:spPr bwMode="auto">
          <a:xfrm>
            <a:off x="6382498" y="1994623"/>
            <a:ext cx="373540" cy="45575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4" name="Line 233"/>
          <p:cNvSpPr>
            <a:spLocks noChangeShapeType="1"/>
          </p:cNvSpPr>
          <p:nvPr/>
        </p:nvSpPr>
        <p:spPr bwMode="auto">
          <a:xfrm>
            <a:off x="6450193" y="1794378"/>
            <a:ext cx="1807276" cy="62651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grpSp>
        <p:nvGrpSpPr>
          <p:cNvPr id="135" name="Group 249"/>
          <p:cNvGrpSpPr/>
          <p:nvPr/>
        </p:nvGrpSpPr>
        <p:grpSpPr bwMode="auto">
          <a:xfrm>
            <a:off x="2701002" y="2411296"/>
            <a:ext cx="998397" cy="989360"/>
            <a:chOff x="1244" y="846"/>
            <a:chExt cx="727" cy="788"/>
          </a:xfrm>
        </p:grpSpPr>
        <p:sp>
          <p:nvSpPr>
            <p:cNvPr id="136" name="Rectangle 204"/>
            <p:cNvSpPr>
              <a:spLocks noChangeArrowheads="1"/>
            </p:cNvSpPr>
            <p:nvPr/>
          </p:nvSpPr>
          <p:spPr bwMode="auto">
            <a:xfrm>
              <a:off x="1244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37" name="Line 205"/>
            <p:cNvSpPr>
              <a:spLocks noChangeShapeType="1"/>
            </p:cNvSpPr>
            <p:nvPr/>
          </p:nvSpPr>
          <p:spPr bwMode="auto">
            <a:xfrm>
              <a:off x="1244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8" name="Line 206"/>
            <p:cNvSpPr>
              <a:spLocks noChangeShapeType="1"/>
            </p:cNvSpPr>
            <p:nvPr/>
          </p:nvSpPr>
          <p:spPr bwMode="auto">
            <a:xfrm>
              <a:off x="1244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9" name="Line 207"/>
            <p:cNvSpPr>
              <a:spLocks noChangeShapeType="1"/>
            </p:cNvSpPr>
            <p:nvPr/>
          </p:nvSpPr>
          <p:spPr bwMode="auto">
            <a:xfrm>
              <a:off x="1479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0" name="Line 208"/>
            <p:cNvSpPr>
              <a:spLocks noChangeShapeType="1"/>
            </p:cNvSpPr>
            <p:nvPr/>
          </p:nvSpPr>
          <p:spPr bwMode="auto">
            <a:xfrm>
              <a:off x="1715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1" name="Text Box 209"/>
            <p:cNvSpPr txBox="1">
              <a:spLocks noChangeArrowheads="1"/>
            </p:cNvSpPr>
            <p:nvPr/>
          </p:nvSpPr>
          <p:spPr bwMode="auto">
            <a:xfrm>
              <a:off x="1289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2" name="Text Box 210"/>
            <p:cNvSpPr txBox="1">
              <a:spLocks noChangeArrowheads="1"/>
            </p:cNvSpPr>
            <p:nvPr/>
          </p:nvSpPr>
          <p:spPr bwMode="auto">
            <a:xfrm>
              <a:off x="1273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3" name="Text Box 211"/>
            <p:cNvSpPr txBox="1">
              <a:spLocks noChangeArrowheads="1"/>
            </p:cNvSpPr>
            <p:nvPr/>
          </p:nvSpPr>
          <p:spPr bwMode="auto">
            <a:xfrm>
              <a:off x="1516" y="1071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4" name="Text Box 212"/>
            <p:cNvSpPr txBox="1">
              <a:spLocks noChangeArrowheads="1"/>
            </p:cNvSpPr>
            <p:nvPr/>
          </p:nvSpPr>
          <p:spPr bwMode="auto">
            <a:xfrm>
              <a:off x="1743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5" name="Text Box 213"/>
            <p:cNvSpPr txBox="1">
              <a:spLocks noChangeArrowheads="1"/>
            </p:cNvSpPr>
            <p:nvPr/>
          </p:nvSpPr>
          <p:spPr bwMode="auto">
            <a:xfrm>
              <a:off x="1739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6" name="Text Box 214"/>
            <p:cNvSpPr txBox="1">
              <a:spLocks noChangeArrowheads="1"/>
            </p:cNvSpPr>
            <p:nvPr/>
          </p:nvSpPr>
          <p:spPr bwMode="auto">
            <a:xfrm>
              <a:off x="1527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7" name="Text Box 215"/>
            <p:cNvSpPr txBox="1">
              <a:spLocks noChangeArrowheads="1"/>
            </p:cNvSpPr>
            <p:nvPr/>
          </p:nvSpPr>
          <p:spPr bwMode="auto">
            <a:xfrm>
              <a:off x="1273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8" name="Text Box 216"/>
            <p:cNvSpPr txBox="1">
              <a:spLocks noChangeArrowheads="1"/>
            </p:cNvSpPr>
            <p:nvPr/>
          </p:nvSpPr>
          <p:spPr bwMode="auto">
            <a:xfrm>
              <a:off x="1743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149" name="Line 235"/>
          <p:cNvSpPr>
            <a:spLocks noChangeShapeType="1"/>
          </p:cNvSpPr>
          <p:nvPr/>
        </p:nvSpPr>
        <p:spPr bwMode="auto">
          <a:xfrm flipH="1">
            <a:off x="2339430" y="3140885"/>
            <a:ext cx="248569" cy="399259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0" name="Line 236"/>
          <p:cNvSpPr>
            <a:spLocks noChangeShapeType="1"/>
          </p:cNvSpPr>
          <p:nvPr/>
        </p:nvSpPr>
        <p:spPr bwMode="auto">
          <a:xfrm>
            <a:off x="3726865" y="3112394"/>
            <a:ext cx="310368" cy="399259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1" name="Line 237"/>
          <p:cNvSpPr>
            <a:spLocks noChangeShapeType="1"/>
          </p:cNvSpPr>
          <p:nvPr/>
        </p:nvSpPr>
        <p:spPr bwMode="auto">
          <a:xfrm>
            <a:off x="2897520" y="4271826"/>
            <a:ext cx="249942" cy="45575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2" name="Line 238"/>
          <p:cNvSpPr>
            <a:spLocks noChangeShapeType="1"/>
          </p:cNvSpPr>
          <p:nvPr/>
        </p:nvSpPr>
        <p:spPr bwMode="auto">
          <a:xfrm flipH="1">
            <a:off x="2151973" y="5429327"/>
            <a:ext cx="311742" cy="45575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3" name="Line 239"/>
          <p:cNvSpPr>
            <a:spLocks noChangeShapeType="1"/>
          </p:cNvSpPr>
          <p:nvPr/>
        </p:nvSpPr>
        <p:spPr bwMode="auto">
          <a:xfrm>
            <a:off x="3683346" y="5343219"/>
            <a:ext cx="373540" cy="51225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4" name="Text Box 250"/>
          <p:cNvSpPr txBox="1">
            <a:spLocks noChangeArrowheads="1"/>
          </p:cNvSpPr>
          <p:nvPr/>
        </p:nvSpPr>
        <p:spPr bwMode="auto">
          <a:xfrm>
            <a:off x="3647360" y="2596475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5" name="Text Box 251"/>
          <p:cNvSpPr txBox="1">
            <a:spLocks noChangeArrowheads="1"/>
          </p:cNvSpPr>
          <p:nvPr/>
        </p:nvSpPr>
        <p:spPr bwMode="auto">
          <a:xfrm>
            <a:off x="5359424" y="2604743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6" name="Text Box 252"/>
          <p:cNvSpPr txBox="1">
            <a:spLocks noChangeArrowheads="1"/>
          </p:cNvSpPr>
          <p:nvPr/>
        </p:nvSpPr>
        <p:spPr bwMode="auto">
          <a:xfrm>
            <a:off x="7230453" y="2627472"/>
            <a:ext cx="2566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7" name="Text Box 253"/>
          <p:cNvSpPr txBox="1">
            <a:spLocks noChangeArrowheads="1"/>
          </p:cNvSpPr>
          <p:nvPr/>
        </p:nvSpPr>
        <p:spPr bwMode="auto">
          <a:xfrm>
            <a:off x="8760909" y="2633368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8" name="Text Box 254"/>
          <p:cNvSpPr txBox="1">
            <a:spLocks noChangeArrowheads="1"/>
          </p:cNvSpPr>
          <p:nvPr/>
        </p:nvSpPr>
        <p:spPr bwMode="auto">
          <a:xfrm>
            <a:off x="2781602" y="3734646"/>
            <a:ext cx="2411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9" name="Text Box 255"/>
          <p:cNvSpPr txBox="1">
            <a:spLocks noChangeArrowheads="1"/>
          </p:cNvSpPr>
          <p:nvPr/>
        </p:nvSpPr>
        <p:spPr bwMode="auto">
          <a:xfrm>
            <a:off x="4568918" y="3717801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0" name="Text Box 256"/>
          <p:cNvSpPr txBox="1">
            <a:spLocks noChangeArrowheads="1"/>
          </p:cNvSpPr>
          <p:nvPr/>
        </p:nvSpPr>
        <p:spPr bwMode="auto">
          <a:xfrm>
            <a:off x="3612665" y="4894271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1" name="Text Box 257"/>
          <p:cNvSpPr txBox="1">
            <a:spLocks noChangeArrowheads="1"/>
          </p:cNvSpPr>
          <p:nvPr/>
        </p:nvSpPr>
        <p:spPr bwMode="auto">
          <a:xfrm>
            <a:off x="2706868" y="6054395"/>
            <a:ext cx="2361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2" name="Text Box 258"/>
          <p:cNvSpPr txBox="1">
            <a:spLocks noChangeArrowheads="1"/>
          </p:cNvSpPr>
          <p:nvPr/>
        </p:nvSpPr>
        <p:spPr bwMode="auto">
          <a:xfrm>
            <a:off x="4608058" y="6123240"/>
            <a:ext cx="313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3" name="AutoShape 260"/>
          <p:cNvSpPr>
            <a:spLocks noChangeArrowheads="1"/>
          </p:cNvSpPr>
          <p:nvPr/>
        </p:nvSpPr>
        <p:spPr bwMode="auto">
          <a:xfrm>
            <a:off x="5820946" y="4165662"/>
            <a:ext cx="1805903" cy="570011"/>
          </a:xfrm>
          <a:prstGeom prst="wedgeRoundRectCallout">
            <a:avLst>
              <a:gd name="adj1" fmla="val -65265"/>
              <a:gd name="adj2" fmla="val -269147"/>
              <a:gd name="adj3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rPr>
              <a:t>f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rPr>
              <a:t>)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rPr>
              <a:t>值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爬山法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构造由根组成的单元素栈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 If  Top(S)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是目标节点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停止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 Pop(S);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4.  S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的子节点按照其启发测度由大到小的顺序压入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S; 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5.  If  S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空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失败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Else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goto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2.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Best first strategy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结合深度优先和广度优先的优点 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根据一个评价函数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在目前产生的所有节点中选择具有最小评价函数值的节点进行扩展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Best first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5" name="Group 5"/>
          <p:cNvGrpSpPr/>
          <p:nvPr/>
        </p:nvGrpSpPr>
        <p:grpSpPr bwMode="auto">
          <a:xfrm>
            <a:off x="5693359" y="875430"/>
            <a:ext cx="1048554" cy="1063625"/>
            <a:chOff x="2968" y="-17"/>
            <a:chExt cx="727" cy="789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968" y="19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968" y="250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968" y="48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203" y="19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439" y="19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013" y="-1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997" y="22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240" y="-17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467" y="21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463" y="43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251" y="4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997" y="4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467" y="-1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2944276" y="2162934"/>
            <a:ext cx="1048554" cy="1063624"/>
            <a:chOff x="2378" y="858"/>
            <a:chExt cx="727" cy="789"/>
          </a:xfrm>
        </p:grpSpPr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378" y="894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378" y="1125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378" y="1356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2613" y="894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2849" y="894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423" y="85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2650" y="110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2650" y="858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2877" y="108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873" y="131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2661" y="132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2407" y="132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877" y="85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" name="Group 103"/>
          <p:cNvGrpSpPr/>
          <p:nvPr/>
        </p:nvGrpSpPr>
        <p:grpSpPr bwMode="auto">
          <a:xfrm>
            <a:off x="6403918" y="2162934"/>
            <a:ext cx="1048554" cy="1063624"/>
            <a:chOff x="3558" y="845"/>
            <a:chExt cx="727" cy="789"/>
          </a:xfrm>
        </p:grpSpPr>
        <p:sp>
          <p:nvSpPr>
            <p:cNvPr id="34" name="Rectangle 104"/>
            <p:cNvSpPr>
              <a:spLocks noChangeArrowheads="1"/>
            </p:cNvSpPr>
            <p:nvPr/>
          </p:nvSpPr>
          <p:spPr bwMode="auto">
            <a:xfrm>
              <a:off x="3558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5" name="Line 105"/>
            <p:cNvSpPr>
              <a:spLocks noChangeShapeType="1"/>
            </p:cNvSpPr>
            <p:nvPr/>
          </p:nvSpPr>
          <p:spPr bwMode="auto">
            <a:xfrm>
              <a:off x="3558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6" name="Line 106"/>
            <p:cNvSpPr>
              <a:spLocks noChangeShapeType="1"/>
            </p:cNvSpPr>
            <p:nvPr/>
          </p:nvSpPr>
          <p:spPr bwMode="auto">
            <a:xfrm>
              <a:off x="3558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7" name="Line 107"/>
            <p:cNvSpPr>
              <a:spLocks noChangeShapeType="1"/>
            </p:cNvSpPr>
            <p:nvPr/>
          </p:nvSpPr>
          <p:spPr bwMode="auto">
            <a:xfrm>
              <a:off x="3793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8" name="Line 108"/>
            <p:cNvSpPr>
              <a:spLocks noChangeShapeType="1"/>
            </p:cNvSpPr>
            <p:nvPr/>
          </p:nvSpPr>
          <p:spPr bwMode="auto">
            <a:xfrm>
              <a:off x="4029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39" name="Text Box 109"/>
            <p:cNvSpPr txBox="1">
              <a:spLocks noChangeArrowheads="1"/>
            </p:cNvSpPr>
            <p:nvPr/>
          </p:nvSpPr>
          <p:spPr bwMode="auto">
            <a:xfrm>
              <a:off x="3603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110"/>
            <p:cNvSpPr txBox="1">
              <a:spLocks noChangeArrowheads="1"/>
            </p:cNvSpPr>
            <p:nvPr/>
          </p:nvSpPr>
          <p:spPr bwMode="auto">
            <a:xfrm>
              <a:off x="3587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111"/>
            <p:cNvSpPr txBox="1">
              <a:spLocks noChangeArrowheads="1"/>
            </p:cNvSpPr>
            <p:nvPr/>
          </p:nvSpPr>
          <p:spPr bwMode="auto">
            <a:xfrm>
              <a:off x="3830" y="845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112"/>
            <p:cNvSpPr txBox="1">
              <a:spLocks noChangeArrowheads="1"/>
            </p:cNvSpPr>
            <p:nvPr/>
          </p:nvSpPr>
          <p:spPr bwMode="auto">
            <a:xfrm>
              <a:off x="3830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113"/>
            <p:cNvSpPr txBox="1">
              <a:spLocks noChangeArrowheads="1"/>
            </p:cNvSpPr>
            <p:nvPr/>
          </p:nvSpPr>
          <p:spPr bwMode="auto">
            <a:xfrm>
              <a:off x="4053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114"/>
            <p:cNvSpPr txBox="1">
              <a:spLocks noChangeArrowheads="1"/>
            </p:cNvSpPr>
            <p:nvPr/>
          </p:nvSpPr>
          <p:spPr bwMode="auto">
            <a:xfrm>
              <a:off x="3841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15"/>
            <p:cNvSpPr txBox="1">
              <a:spLocks noChangeArrowheads="1"/>
            </p:cNvSpPr>
            <p:nvPr/>
          </p:nvSpPr>
          <p:spPr bwMode="auto">
            <a:xfrm>
              <a:off x="3587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116"/>
            <p:cNvSpPr txBox="1">
              <a:spLocks noChangeArrowheads="1"/>
            </p:cNvSpPr>
            <p:nvPr/>
          </p:nvSpPr>
          <p:spPr bwMode="auto">
            <a:xfrm>
              <a:off x="4057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" name="Group 117"/>
          <p:cNvGrpSpPr/>
          <p:nvPr/>
        </p:nvGrpSpPr>
        <p:grpSpPr bwMode="auto">
          <a:xfrm>
            <a:off x="7831987" y="2162934"/>
            <a:ext cx="1048554" cy="1063624"/>
            <a:chOff x="4616" y="845"/>
            <a:chExt cx="727" cy="789"/>
          </a:xfrm>
        </p:grpSpPr>
        <p:sp>
          <p:nvSpPr>
            <p:cNvPr id="48" name="Rectangle 118"/>
            <p:cNvSpPr>
              <a:spLocks noChangeArrowheads="1"/>
            </p:cNvSpPr>
            <p:nvPr/>
          </p:nvSpPr>
          <p:spPr bwMode="auto">
            <a:xfrm>
              <a:off x="4616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9" name="Line 119"/>
            <p:cNvSpPr>
              <a:spLocks noChangeShapeType="1"/>
            </p:cNvSpPr>
            <p:nvPr/>
          </p:nvSpPr>
          <p:spPr bwMode="auto">
            <a:xfrm>
              <a:off x="4616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0" name="Line 120"/>
            <p:cNvSpPr>
              <a:spLocks noChangeShapeType="1"/>
            </p:cNvSpPr>
            <p:nvPr/>
          </p:nvSpPr>
          <p:spPr bwMode="auto">
            <a:xfrm>
              <a:off x="4616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1" name="Line 121"/>
            <p:cNvSpPr>
              <a:spLocks noChangeShapeType="1"/>
            </p:cNvSpPr>
            <p:nvPr/>
          </p:nvSpPr>
          <p:spPr bwMode="auto">
            <a:xfrm>
              <a:off x="4851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2" name="Line 122"/>
            <p:cNvSpPr>
              <a:spLocks noChangeShapeType="1"/>
            </p:cNvSpPr>
            <p:nvPr/>
          </p:nvSpPr>
          <p:spPr bwMode="auto">
            <a:xfrm>
              <a:off x="5087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53" name="Text Box 123"/>
            <p:cNvSpPr txBox="1">
              <a:spLocks noChangeArrowheads="1"/>
            </p:cNvSpPr>
            <p:nvPr/>
          </p:nvSpPr>
          <p:spPr bwMode="auto">
            <a:xfrm>
              <a:off x="4661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4" name="Text Box 124"/>
            <p:cNvSpPr txBox="1">
              <a:spLocks noChangeArrowheads="1"/>
            </p:cNvSpPr>
            <p:nvPr/>
          </p:nvSpPr>
          <p:spPr bwMode="auto">
            <a:xfrm>
              <a:off x="4645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125"/>
            <p:cNvSpPr txBox="1">
              <a:spLocks noChangeArrowheads="1"/>
            </p:cNvSpPr>
            <p:nvPr/>
          </p:nvSpPr>
          <p:spPr bwMode="auto">
            <a:xfrm>
              <a:off x="4888" y="845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126"/>
            <p:cNvSpPr txBox="1">
              <a:spLocks noChangeArrowheads="1"/>
            </p:cNvSpPr>
            <p:nvPr/>
          </p:nvSpPr>
          <p:spPr bwMode="auto">
            <a:xfrm>
              <a:off x="5115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127"/>
            <p:cNvSpPr txBox="1">
              <a:spLocks noChangeArrowheads="1"/>
            </p:cNvSpPr>
            <p:nvPr/>
          </p:nvSpPr>
          <p:spPr bwMode="auto">
            <a:xfrm>
              <a:off x="5111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128"/>
            <p:cNvSpPr txBox="1">
              <a:spLocks noChangeArrowheads="1"/>
            </p:cNvSpPr>
            <p:nvPr/>
          </p:nvSpPr>
          <p:spPr bwMode="auto">
            <a:xfrm>
              <a:off x="4899" y="107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129"/>
            <p:cNvSpPr txBox="1">
              <a:spLocks noChangeArrowheads="1"/>
            </p:cNvSpPr>
            <p:nvPr/>
          </p:nvSpPr>
          <p:spPr bwMode="auto">
            <a:xfrm>
              <a:off x="4645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130"/>
            <p:cNvSpPr txBox="1">
              <a:spLocks noChangeArrowheads="1"/>
            </p:cNvSpPr>
            <p:nvPr/>
          </p:nvSpPr>
          <p:spPr bwMode="auto">
            <a:xfrm>
              <a:off x="5115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61" name="Line 131"/>
          <p:cNvSpPr>
            <a:spLocks noChangeShapeType="1"/>
          </p:cNvSpPr>
          <p:nvPr/>
        </p:nvSpPr>
        <p:spPr bwMode="auto">
          <a:xfrm flipH="1">
            <a:off x="3352446" y="1419607"/>
            <a:ext cx="2340912" cy="74746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2" name="Line 132"/>
          <p:cNvSpPr>
            <a:spLocks noChangeShapeType="1"/>
          </p:cNvSpPr>
          <p:nvPr/>
        </p:nvSpPr>
        <p:spPr bwMode="auto">
          <a:xfrm flipH="1">
            <a:off x="5303396" y="1657787"/>
            <a:ext cx="327402" cy="48934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3" name="Line 133"/>
          <p:cNvSpPr>
            <a:spLocks noChangeShapeType="1"/>
          </p:cNvSpPr>
          <p:nvPr/>
        </p:nvSpPr>
        <p:spPr bwMode="auto">
          <a:xfrm>
            <a:off x="6732763" y="1655587"/>
            <a:ext cx="392306" cy="48934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4" name="Line 134"/>
          <p:cNvSpPr>
            <a:spLocks noChangeShapeType="1"/>
          </p:cNvSpPr>
          <p:nvPr/>
        </p:nvSpPr>
        <p:spPr bwMode="auto">
          <a:xfrm>
            <a:off x="6793340" y="1401030"/>
            <a:ext cx="1479224" cy="723019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5" name="Text Box 155"/>
          <p:cNvSpPr txBox="1">
            <a:spLocks noChangeArrowheads="1"/>
          </p:cNvSpPr>
          <p:nvPr/>
        </p:nvSpPr>
        <p:spPr bwMode="auto">
          <a:xfrm>
            <a:off x="3919272" y="2438529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6" name="Text Box 156"/>
          <p:cNvSpPr txBox="1">
            <a:spLocks noChangeArrowheads="1"/>
          </p:cNvSpPr>
          <p:nvPr/>
        </p:nvSpPr>
        <p:spPr bwMode="auto">
          <a:xfrm>
            <a:off x="7411508" y="2422148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7" name="Text Box 157"/>
          <p:cNvSpPr txBox="1">
            <a:spLocks noChangeArrowheads="1"/>
          </p:cNvSpPr>
          <p:nvPr/>
        </p:nvSpPr>
        <p:spPr bwMode="auto">
          <a:xfrm>
            <a:off x="8887672" y="2422148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68" name="Group 135"/>
          <p:cNvGrpSpPr/>
          <p:nvPr/>
        </p:nvGrpSpPr>
        <p:grpSpPr bwMode="auto">
          <a:xfrm>
            <a:off x="4763174" y="2162692"/>
            <a:ext cx="1048553" cy="1062274"/>
            <a:chOff x="1244" y="846"/>
            <a:chExt cx="727" cy="788"/>
          </a:xfrm>
        </p:grpSpPr>
        <p:sp>
          <p:nvSpPr>
            <p:cNvPr id="69" name="Rectangle 136"/>
            <p:cNvSpPr>
              <a:spLocks noChangeArrowheads="1"/>
            </p:cNvSpPr>
            <p:nvPr/>
          </p:nvSpPr>
          <p:spPr bwMode="auto">
            <a:xfrm>
              <a:off x="1244" y="881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70" name="Line 137"/>
            <p:cNvSpPr>
              <a:spLocks noChangeShapeType="1"/>
            </p:cNvSpPr>
            <p:nvPr/>
          </p:nvSpPr>
          <p:spPr bwMode="auto">
            <a:xfrm>
              <a:off x="1244" y="1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1" name="Line 138"/>
            <p:cNvSpPr>
              <a:spLocks noChangeShapeType="1"/>
            </p:cNvSpPr>
            <p:nvPr/>
          </p:nvSpPr>
          <p:spPr bwMode="auto">
            <a:xfrm>
              <a:off x="1244" y="134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2" name="Line 139"/>
            <p:cNvSpPr>
              <a:spLocks noChangeShapeType="1"/>
            </p:cNvSpPr>
            <p:nvPr/>
          </p:nvSpPr>
          <p:spPr bwMode="auto">
            <a:xfrm>
              <a:off x="1479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3" name="Line 140"/>
            <p:cNvSpPr>
              <a:spLocks noChangeShapeType="1"/>
            </p:cNvSpPr>
            <p:nvPr/>
          </p:nvSpPr>
          <p:spPr bwMode="auto">
            <a:xfrm>
              <a:off x="1715" y="881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74" name="Text Box 141"/>
            <p:cNvSpPr txBox="1">
              <a:spLocks noChangeArrowheads="1"/>
            </p:cNvSpPr>
            <p:nvPr/>
          </p:nvSpPr>
          <p:spPr bwMode="auto">
            <a:xfrm>
              <a:off x="1289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142"/>
            <p:cNvSpPr txBox="1">
              <a:spLocks noChangeArrowheads="1"/>
            </p:cNvSpPr>
            <p:nvPr/>
          </p:nvSpPr>
          <p:spPr bwMode="auto">
            <a:xfrm>
              <a:off x="1273" y="10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143"/>
            <p:cNvSpPr txBox="1">
              <a:spLocks noChangeArrowheads="1"/>
            </p:cNvSpPr>
            <p:nvPr/>
          </p:nvSpPr>
          <p:spPr bwMode="auto">
            <a:xfrm>
              <a:off x="1516" y="1071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144"/>
            <p:cNvSpPr txBox="1">
              <a:spLocks noChangeArrowheads="1"/>
            </p:cNvSpPr>
            <p:nvPr/>
          </p:nvSpPr>
          <p:spPr bwMode="auto">
            <a:xfrm>
              <a:off x="1743" y="107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8" name="Text Box 145"/>
            <p:cNvSpPr txBox="1">
              <a:spLocks noChangeArrowheads="1"/>
            </p:cNvSpPr>
            <p:nvPr/>
          </p:nvSpPr>
          <p:spPr bwMode="auto">
            <a:xfrm>
              <a:off x="1739" y="129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146"/>
            <p:cNvSpPr txBox="1">
              <a:spLocks noChangeArrowheads="1"/>
            </p:cNvSpPr>
            <p:nvPr/>
          </p:nvSpPr>
          <p:spPr bwMode="auto">
            <a:xfrm>
              <a:off x="1527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0" name="Text Box 147"/>
            <p:cNvSpPr txBox="1">
              <a:spLocks noChangeArrowheads="1"/>
            </p:cNvSpPr>
            <p:nvPr/>
          </p:nvSpPr>
          <p:spPr bwMode="auto">
            <a:xfrm>
              <a:off x="1273" y="13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1" name="Text Box 148"/>
            <p:cNvSpPr txBox="1">
              <a:spLocks noChangeArrowheads="1"/>
            </p:cNvSpPr>
            <p:nvPr/>
          </p:nvSpPr>
          <p:spPr bwMode="auto">
            <a:xfrm>
              <a:off x="1743" y="84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82" name="Line 149"/>
          <p:cNvSpPr>
            <a:spLocks noChangeShapeType="1"/>
          </p:cNvSpPr>
          <p:nvPr/>
        </p:nvSpPr>
        <p:spPr bwMode="auto">
          <a:xfrm flipH="1">
            <a:off x="5194147" y="3169694"/>
            <a:ext cx="147134" cy="439161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83" name="Line 150"/>
          <p:cNvSpPr>
            <a:spLocks noChangeShapeType="1"/>
          </p:cNvSpPr>
          <p:nvPr/>
        </p:nvSpPr>
        <p:spPr bwMode="auto">
          <a:xfrm>
            <a:off x="5843457" y="3142735"/>
            <a:ext cx="949883" cy="45349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84" name="Text Box 154"/>
          <p:cNvSpPr txBox="1">
            <a:spLocks noChangeArrowheads="1"/>
          </p:cNvSpPr>
          <p:nvPr/>
        </p:nvSpPr>
        <p:spPr bwMode="auto">
          <a:xfrm>
            <a:off x="5755476" y="2430733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85" name="Group 33"/>
          <p:cNvGrpSpPr/>
          <p:nvPr/>
        </p:nvGrpSpPr>
        <p:grpSpPr bwMode="auto">
          <a:xfrm>
            <a:off x="4747389" y="3538472"/>
            <a:ext cx="1048553" cy="1062276"/>
            <a:chOff x="700" y="1721"/>
            <a:chExt cx="727" cy="788"/>
          </a:xfrm>
        </p:grpSpPr>
        <p:sp>
          <p:nvSpPr>
            <p:cNvPr id="86" name="Rectangle 34"/>
            <p:cNvSpPr>
              <a:spLocks noChangeArrowheads="1"/>
            </p:cNvSpPr>
            <p:nvPr/>
          </p:nvSpPr>
          <p:spPr bwMode="auto">
            <a:xfrm>
              <a:off x="700" y="1756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87" name="Line 35"/>
            <p:cNvSpPr>
              <a:spLocks noChangeShapeType="1"/>
            </p:cNvSpPr>
            <p:nvPr/>
          </p:nvSpPr>
          <p:spPr bwMode="auto">
            <a:xfrm>
              <a:off x="700" y="1987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8" name="Line 36"/>
            <p:cNvSpPr>
              <a:spLocks noChangeShapeType="1"/>
            </p:cNvSpPr>
            <p:nvPr/>
          </p:nvSpPr>
          <p:spPr bwMode="auto">
            <a:xfrm>
              <a:off x="700" y="2218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89" name="Line 37"/>
            <p:cNvSpPr>
              <a:spLocks noChangeShapeType="1"/>
            </p:cNvSpPr>
            <p:nvPr/>
          </p:nvSpPr>
          <p:spPr bwMode="auto">
            <a:xfrm>
              <a:off x="935" y="1756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0" name="Line 38"/>
            <p:cNvSpPr>
              <a:spLocks noChangeShapeType="1"/>
            </p:cNvSpPr>
            <p:nvPr/>
          </p:nvSpPr>
          <p:spPr bwMode="auto">
            <a:xfrm>
              <a:off x="1171" y="1756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91" name="Text Box 39"/>
            <p:cNvSpPr txBox="1">
              <a:spLocks noChangeArrowheads="1"/>
            </p:cNvSpPr>
            <p:nvPr/>
          </p:nvSpPr>
          <p:spPr bwMode="auto">
            <a:xfrm>
              <a:off x="972" y="17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2" name="Text Box 40"/>
            <p:cNvSpPr txBox="1">
              <a:spLocks noChangeArrowheads="1"/>
            </p:cNvSpPr>
            <p:nvPr/>
          </p:nvSpPr>
          <p:spPr bwMode="auto">
            <a:xfrm>
              <a:off x="729" y="196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3" name="Text Box 41"/>
            <p:cNvSpPr txBox="1">
              <a:spLocks noChangeArrowheads="1"/>
            </p:cNvSpPr>
            <p:nvPr/>
          </p:nvSpPr>
          <p:spPr bwMode="auto">
            <a:xfrm>
              <a:off x="972" y="1962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4" name="Text Box 42"/>
            <p:cNvSpPr txBox="1">
              <a:spLocks noChangeArrowheads="1"/>
            </p:cNvSpPr>
            <p:nvPr/>
          </p:nvSpPr>
          <p:spPr bwMode="auto">
            <a:xfrm>
              <a:off x="1199" y="194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5" name="Text Box 43"/>
            <p:cNvSpPr txBox="1">
              <a:spLocks noChangeArrowheads="1"/>
            </p:cNvSpPr>
            <p:nvPr/>
          </p:nvSpPr>
          <p:spPr bwMode="auto">
            <a:xfrm>
              <a:off x="1195" y="217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6" name="Text Box 44"/>
            <p:cNvSpPr txBox="1">
              <a:spLocks noChangeArrowheads="1"/>
            </p:cNvSpPr>
            <p:nvPr/>
          </p:nvSpPr>
          <p:spPr bwMode="auto">
            <a:xfrm>
              <a:off x="983" y="219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7" name="Text Box 45"/>
            <p:cNvSpPr txBox="1">
              <a:spLocks noChangeArrowheads="1"/>
            </p:cNvSpPr>
            <p:nvPr/>
          </p:nvSpPr>
          <p:spPr bwMode="auto">
            <a:xfrm>
              <a:off x="729" y="219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98" name="Text Box 46"/>
            <p:cNvSpPr txBox="1">
              <a:spLocks noChangeArrowheads="1"/>
            </p:cNvSpPr>
            <p:nvPr/>
          </p:nvSpPr>
          <p:spPr bwMode="auto">
            <a:xfrm>
              <a:off x="1199" y="17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9" name="Group 47"/>
          <p:cNvGrpSpPr/>
          <p:nvPr/>
        </p:nvGrpSpPr>
        <p:grpSpPr bwMode="auto">
          <a:xfrm>
            <a:off x="6498403" y="3516247"/>
            <a:ext cx="1048554" cy="1062276"/>
            <a:chOff x="1803" y="1707"/>
            <a:chExt cx="727" cy="788"/>
          </a:xfrm>
        </p:grpSpPr>
        <p:sp>
          <p:nvSpPr>
            <p:cNvPr id="100" name="Rectangle 48"/>
            <p:cNvSpPr>
              <a:spLocks noChangeArrowheads="1"/>
            </p:cNvSpPr>
            <p:nvPr/>
          </p:nvSpPr>
          <p:spPr bwMode="auto">
            <a:xfrm>
              <a:off x="1803" y="1742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01" name="Line 49"/>
            <p:cNvSpPr>
              <a:spLocks noChangeShapeType="1"/>
            </p:cNvSpPr>
            <p:nvPr/>
          </p:nvSpPr>
          <p:spPr bwMode="auto">
            <a:xfrm>
              <a:off x="1803" y="1973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>
              <a:off x="1803" y="2204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3" name="Line 51"/>
            <p:cNvSpPr>
              <a:spLocks noChangeShapeType="1"/>
            </p:cNvSpPr>
            <p:nvPr/>
          </p:nvSpPr>
          <p:spPr bwMode="auto">
            <a:xfrm>
              <a:off x="2038" y="1742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>
              <a:off x="2274" y="1742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05" name="Text Box 53"/>
            <p:cNvSpPr txBox="1">
              <a:spLocks noChangeArrowheads="1"/>
            </p:cNvSpPr>
            <p:nvPr/>
          </p:nvSpPr>
          <p:spPr bwMode="auto">
            <a:xfrm>
              <a:off x="1848" y="170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1832" y="194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7" name="Text Box 55"/>
            <p:cNvSpPr txBox="1">
              <a:spLocks noChangeArrowheads="1"/>
            </p:cNvSpPr>
            <p:nvPr/>
          </p:nvSpPr>
          <p:spPr bwMode="auto">
            <a:xfrm>
              <a:off x="2075" y="1933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8" name="Text Box 56"/>
            <p:cNvSpPr txBox="1">
              <a:spLocks noChangeArrowheads="1"/>
            </p:cNvSpPr>
            <p:nvPr/>
          </p:nvSpPr>
          <p:spPr bwMode="auto">
            <a:xfrm>
              <a:off x="2302" y="193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09" name="Text Box 57"/>
            <p:cNvSpPr txBox="1">
              <a:spLocks noChangeArrowheads="1"/>
            </p:cNvSpPr>
            <p:nvPr/>
          </p:nvSpPr>
          <p:spPr bwMode="auto">
            <a:xfrm>
              <a:off x="2298" y="2160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0" name="Text Box 58"/>
            <p:cNvSpPr txBox="1">
              <a:spLocks noChangeArrowheads="1"/>
            </p:cNvSpPr>
            <p:nvPr/>
          </p:nvSpPr>
          <p:spPr bwMode="auto">
            <a:xfrm>
              <a:off x="2086" y="217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1" name="Text Box 59"/>
            <p:cNvSpPr txBox="1">
              <a:spLocks noChangeArrowheads="1"/>
            </p:cNvSpPr>
            <p:nvPr/>
          </p:nvSpPr>
          <p:spPr bwMode="auto">
            <a:xfrm>
              <a:off x="1832" y="217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2" name="Text Box 60"/>
            <p:cNvSpPr txBox="1">
              <a:spLocks noChangeArrowheads="1"/>
            </p:cNvSpPr>
            <p:nvPr/>
          </p:nvSpPr>
          <p:spPr bwMode="auto">
            <a:xfrm>
              <a:off x="2061" y="1707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" name="Group 61"/>
          <p:cNvGrpSpPr/>
          <p:nvPr/>
        </p:nvGrpSpPr>
        <p:grpSpPr bwMode="auto">
          <a:xfrm>
            <a:off x="5528522" y="4669632"/>
            <a:ext cx="1048553" cy="1063624"/>
            <a:chOff x="1214" y="2614"/>
            <a:chExt cx="727" cy="789"/>
          </a:xfrm>
        </p:grpSpPr>
        <p:sp>
          <p:nvSpPr>
            <p:cNvPr id="114" name="Rectangle 62"/>
            <p:cNvSpPr>
              <a:spLocks noChangeArrowheads="1"/>
            </p:cNvSpPr>
            <p:nvPr/>
          </p:nvSpPr>
          <p:spPr bwMode="auto">
            <a:xfrm>
              <a:off x="1214" y="2650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15" name="Line 63"/>
            <p:cNvSpPr>
              <a:spLocks noChangeShapeType="1"/>
            </p:cNvSpPr>
            <p:nvPr/>
          </p:nvSpPr>
          <p:spPr bwMode="auto">
            <a:xfrm>
              <a:off x="1214" y="288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6" name="Line 64"/>
            <p:cNvSpPr>
              <a:spLocks noChangeShapeType="1"/>
            </p:cNvSpPr>
            <p:nvPr/>
          </p:nvSpPr>
          <p:spPr bwMode="auto">
            <a:xfrm>
              <a:off x="1214" y="311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7" name="Line 65"/>
            <p:cNvSpPr>
              <a:spLocks noChangeShapeType="1"/>
            </p:cNvSpPr>
            <p:nvPr/>
          </p:nvSpPr>
          <p:spPr bwMode="auto">
            <a:xfrm>
              <a:off x="1449" y="265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8" name="Line 66"/>
            <p:cNvSpPr>
              <a:spLocks noChangeShapeType="1"/>
            </p:cNvSpPr>
            <p:nvPr/>
          </p:nvSpPr>
          <p:spPr bwMode="auto">
            <a:xfrm>
              <a:off x="1685" y="265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19" name="Text Box 67"/>
            <p:cNvSpPr txBox="1">
              <a:spLocks noChangeArrowheads="1"/>
            </p:cNvSpPr>
            <p:nvPr/>
          </p:nvSpPr>
          <p:spPr bwMode="auto">
            <a:xfrm>
              <a:off x="1486" y="261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0" name="Text Box 68"/>
            <p:cNvSpPr txBox="1">
              <a:spLocks noChangeArrowheads="1"/>
            </p:cNvSpPr>
            <p:nvPr/>
          </p:nvSpPr>
          <p:spPr bwMode="auto">
            <a:xfrm>
              <a:off x="1243" y="261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1" name="Text Box 69"/>
            <p:cNvSpPr txBox="1">
              <a:spLocks noChangeArrowheads="1"/>
            </p:cNvSpPr>
            <p:nvPr/>
          </p:nvSpPr>
          <p:spPr bwMode="auto">
            <a:xfrm>
              <a:off x="1486" y="2840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2" name="Text Box 70"/>
            <p:cNvSpPr txBox="1">
              <a:spLocks noChangeArrowheads="1"/>
            </p:cNvSpPr>
            <p:nvPr/>
          </p:nvSpPr>
          <p:spPr bwMode="auto">
            <a:xfrm>
              <a:off x="1713" y="284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3" name="Text Box 71"/>
            <p:cNvSpPr txBox="1">
              <a:spLocks noChangeArrowheads="1"/>
            </p:cNvSpPr>
            <p:nvPr/>
          </p:nvSpPr>
          <p:spPr bwMode="auto">
            <a:xfrm>
              <a:off x="1709" y="306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4" name="Text Box 72"/>
            <p:cNvSpPr txBox="1">
              <a:spLocks noChangeArrowheads="1"/>
            </p:cNvSpPr>
            <p:nvPr/>
          </p:nvSpPr>
          <p:spPr bwMode="auto">
            <a:xfrm>
              <a:off x="1497" y="308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5" name="Text Box 73"/>
            <p:cNvSpPr txBox="1">
              <a:spLocks noChangeArrowheads="1"/>
            </p:cNvSpPr>
            <p:nvPr/>
          </p:nvSpPr>
          <p:spPr bwMode="auto">
            <a:xfrm>
              <a:off x="1243" y="308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26" name="Text Box 74"/>
            <p:cNvSpPr txBox="1">
              <a:spLocks noChangeArrowheads="1"/>
            </p:cNvSpPr>
            <p:nvPr/>
          </p:nvSpPr>
          <p:spPr bwMode="auto">
            <a:xfrm>
              <a:off x="1713" y="261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7" name="Group 75"/>
          <p:cNvGrpSpPr/>
          <p:nvPr/>
        </p:nvGrpSpPr>
        <p:grpSpPr bwMode="auto">
          <a:xfrm>
            <a:off x="4281488" y="5769737"/>
            <a:ext cx="1048553" cy="1081150"/>
            <a:chOff x="610" y="3521"/>
            <a:chExt cx="727" cy="802"/>
          </a:xfrm>
        </p:grpSpPr>
        <p:sp>
          <p:nvSpPr>
            <p:cNvPr id="128" name="Rectangle 76"/>
            <p:cNvSpPr>
              <a:spLocks noChangeArrowheads="1"/>
            </p:cNvSpPr>
            <p:nvPr/>
          </p:nvSpPr>
          <p:spPr bwMode="auto">
            <a:xfrm>
              <a:off x="610" y="3570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>
                <a:solidFill>
                  <a:srgbClr val="FF0000"/>
                </a:solidFill>
              </a:endParaRPr>
            </a:p>
          </p:txBody>
        </p:sp>
        <p:sp>
          <p:nvSpPr>
            <p:cNvPr id="129" name="Line 77"/>
            <p:cNvSpPr>
              <a:spLocks noChangeShapeType="1"/>
            </p:cNvSpPr>
            <p:nvPr/>
          </p:nvSpPr>
          <p:spPr bwMode="auto">
            <a:xfrm>
              <a:off x="610" y="3801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0" name="Line 78"/>
            <p:cNvSpPr>
              <a:spLocks noChangeShapeType="1"/>
            </p:cNvSpPr>
            <p:nvPr/>
          </p:nvSpPr>
          <p:spPr bwMode="auto">
            <a:xfrm>
              <a:off x="610" y="4032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1" name="Line 79"/>
            <p:cNvSpPr>
              <a:spLocks noChangeShapeType="1"/>
            </p:cNvSpPr>
            <p:nvPr/>
          </p:nvSpPr>
          <p:spPr bwMode="auto">
            <a:xfrm>
              <a:off x="845" y="357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2" name="Line 80"/>
            <p:cNvSpPr>
              <a:spLocks noChangeShapeType="1"/>
            </p:cNvSpPr>
            <p:nvPr/>
          </p:nvSpPr>
          <p:spPr bwMode="auto">
            <a:xfrm>
              <a:off x="1081" y="3570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33" name="Text Box 81"/>
            <p:cNvSpPr txBox="1">
              <a:spLocks noChangeArrowheads="1"/>
            </p:cNvSpPr>
            <p:nvPr/>
          </p:nvSpPr>
          <p:spPr bwMode="auto">
            <a:xfrm>
              <a:off x="881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4" name="Text Box 82"/>
            <p:cNvSpPr txBox="1">
              <a:spLocks noChangeArrowheads="1"/>
            </p:cNvSpPr>
            <p:nvPr/>
          </p:nvSpPr>
          <p:spPr bwMode="auto">
            <a:xfrm>
              <a:off x="639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5" name="Text Box 83"/>
            <p:cNvSpPr txBox="1">
              <a:spLocks noChangeArrowheads="1"/>
            </p:cNvSpPr>
            <p:nvPr/>
          </p:nvSpPr>
          <p:spPr bwMode="auto">
            <a:xfrm>
              <a:off x="646" y="3776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6" name="Text Box 84"/>
            <p:cNvSpPr txBox="1">
              <a:spLocks noChangeArrowheads="1"/>
            </p:cNvSpPr>
            <p:nvPr/>
          </p:nvSpPr>
          <p:spPr bwMode="auto">
            <a:xfrm>
              <a:off x="1109" y="376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7" name="Text Box 85"/>
            <p:cNvSpPr txBox="1">
              <a:spLocks noChangeArrowheads="1"/>
            </p:cNvSpPr>
            <p:nvPr/>
          </p:nvSpPr>
          <p:spPr bwMode="auto">
            <a:xfrm>
              <a:off x="1105" y="398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8" name="Text Box 86"/>
            <p:cNvSpPr txBox="1">
              <a:spLocks noChangeArrowheads="1"/>
            </p:cNvSpPr>
            <p:nvPr/>
          </p:nvSpPr>
          <p:spPr bwMode="auto">
            <a:xfrm>
              <a:off x="893" y="400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9" name="Text Box 87"/>
            <p:cNvSpPr txBox="1">
              <a:spLocks noChangeArrowheads="1"/>
            </p:cNvSpPr>
            <p:nvPr/>
          </p:nvSpPr>
          <p:spPr bwMode="auto">
            <a:xfrm>
              <a:off x="639" y="4004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0" name="Text Box 88"/>
            <p:cNvSpPr txBox="1">
              <a:spLocks noChangeArrowheads="1"/>
            </p:cNvSpPr>
            <p:nvPr/>
          </p:nvSpPr>
          <p:spPr bwMode="auto">
            <a:xfrm>
              <a:off x="1109" y="353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1" name="Group 89"/>
          <p:cNvGrpSpPr/>
          <p:nvPr/>
        </p:nvGrpSpPr>
        <p:grpSpPr bwMode="auto">
          <a:xfrm>
            <a:off x="6536586" y="5766626"/>
            <a:ext cx="1048554" cy="1063624"/>
            <a:chOff x="1849" y="3521"/>
            <a:chExt cx="727" cy="789"/>
          </a:xfrm>
        </p:grpSpPr>
        <p:sp>
          <p:nvSpPr>
            <p:cNvPr id="142" name="Rectangle 90"/>
            <p:cNvSpPr>
              <a:spLocks noChangeArrowheads="1"/>
            </p:cNvSpPr>
            <p:nvPr/>
          </p:nvSpPr>
          <p:spPr bwMode="auto">
            <a:xfrm>
              <a:off x="1849" y="3557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43" name="Line 91"/>
            <p:cNvSpPr>
              <a:spLocks noChangeShapeType="1"/>
            </p:cNvSpPr>
            <p:nvPr/>
          </p:nvSpPr>
          <p:spPr bwMode="auto">
            <a:xfrm>
              <a:off x="1849" y="3788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4" name="Line 92"/>
            <p:cNvSpPr>
              <a:spLocks noChangeShapeType="1"/>
            </p:cNvSpPr>
            <p:nvPr/>
          </p:nvSpPr>
          <p:spPr bwMode="auto">
            <a:xfrm>
              <a:off x="1849" y="4019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5" name="Line 93"/>
            <p:cNvSpPr>
              <a:spLocks noChangeShapeType="1"/>
            </p:cNvSpPr>
            <p:nvPr/>
          </p:nvSpPr>
          <p:spPr bwMode="auto">
            <a:xfrm>
              <a:off x="2084" y="3557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6" name="Line 94"/>
            <p:cNvSpPr>
              <a:spLocks noChangeShapeType="1"/>
            </p:cNvSpPr>
            <p:nvPr/>
          </p:nvSpPr>
          <p:spPr bwMode="auto">
            <a:xfrm>
              <a:off x="2320" y="3557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47" name="Text Box 95"/>
            <p:cNvSpPr txBox="1">
              <a:spLocks noChangeArrowheads="1"/>
            </p:cNvSpPr>
            <p:nvPr/>
          </p:nvSpPr>
          <p:spPr bwMode="auto">
            <a:xfrm>
              <a:off x="2106" y="35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48" name="Text Box 96"/>
            <p:cNvSpPr txBox="1">
              <a:spLocks noChangeArrowheads="1"/>
            </p:cNvSpPr>
            <p:nvPr/>
          </p:nvSpPr>
          <p:spPr bwMode="auto">
            <a:xfrm>
              <a:off x="1878" y="352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49" name="Text Box 97"/>
            <p:cNvSpPr txBox="1">
              <a:spLocks noChangeArrowheads="1"/>
            </p:cNvSpPr>
            <p:nvPr/>
          </p:nvSpPr>
          <p:spPr bwMode="auto">
            <a:xfrm>
              <a:off x="2106" y="3748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50" name="Text Box 98"/>
            <p:cNvSpPr txBox="1">
              <a:spLocks noChangeArrowheads="1"/>
            </p:cNvSpPr>
            <p:nvPr/>
          </p:nvSpPr>
          <p:spPr bwMode="auto">
            <a:xfrm>
              <a:off x="2348" y="374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51" name="Text Box 99"/>
            <p:cNvSpPr txBox="1">
              <a:spLocks noChangeArrowheads="1"/>
            </p:cNvSpPr>
            <p:nvPr/>
          </p:nvSpPr>
          <p:spPr bwMode="auto">
            <a:xfrm>
              <a:off x="2344" y="397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52" name="Text Box 100"/>
            <p:cNvSpPr txBox="1">
              <a:spLocks noChangeArrowheads="1"/>
            </p:cNvSpPr>
            <p:nvPr/>
          </p:nvSpPr>
          <p:spPr bwMode="auto">
            <a:xfrm>
              <a:off x="2106" y="3991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53" name="Text Box 101"/>
            <p:cNvSpPr txBox="1">
              <a:spLocks noChangeArrowheads="1"/>
            </p:cNvSpPr>
            <p:nvPr/>
          </p:nvSpPr>
          <p:spPr bwMode="auto">
            <a:xfrm>
              <a:off x="1878" y="374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54" name="Text Box 102"/>
            <p:cNvSpPr txBox="1">
              <a:spLocks noChangeArrowheads="1"/>
            </p:cNvSpPr>
            <p:nvPr/>
          </p:nvSpPr>
          <p:spPr bwMode="auto">
            <a:xfrm>
              <a:off x="2348" y="35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55" name="Line 151"/>
          <p:cNvSpPr>
            <a:spLocks noChangeShapeType="1"/>
          </p:cNvSpPr>
          <p:nvPr/>
        </p:nvSpPr>
        <p:spPr bwMode="auto">
          <a:xfrm>
            <a:off x="5815040" y="4258803"/>
            <a:ext cx="229372" cy="50234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6" name="Line 152"/>
          <p:cNvSpPr>
            <a:spLocks noChangeShapeType="1"/>
          </p:cNvSpPr>
          <p:nvPr/>
        </p:nvSpPr>
        <p:spPr bwMode="auto">
          <a:xfrm flipH="1">
            <a:off x="5143445" y="5325433"/>
            <a:ext cx="327402" cy="48934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7" name="Line 153"/>
          <p:cNvSpPr>
            <a:spLocks noChangeShapeType="1"/>
          </p:cNvSpPr>
          <p:nvPr/>
        </p:nvSpPr>
        <p:spPr bwMode="auto">
          <a:xfrm>
            <a:off x="6588614" y="5303223"/>
            <a:ext cx="392306" cy="550011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58" name="Text Box 158"/>
          <p:cNvSpPr txBox="1">
            <a:spLocks noChangeArrowheads="1"/>
          </p:cNvSpPr>
          <p:nvPr/>
        </p:nvSpPr>
        <p:spPr bwMode="auto">
          <a:xfrm>
            <a:off x="5826889" y="3775703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9" name="Text Box 159"/>
          <p:cNvSpPr txBox="1">
            <a:spLocks noChangeArrowheads="1"/>
          </p:cNvSpPr>
          <p:nvPr/>
        </p:nvSpPr>
        <p:spPr bwMode="auto">
          <a:xfrm>
            <a:off x="7555676" y="3761414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0" name="Text Box 160"/>
          <p:cNvSpPr txBox="1">
            <a:spLocks noChangeArrowheads="1"/>
          </p:cNvSpPr>
          <p:nvPr/>
        </p:nvSpPr>
        <p:spPr bwMode="auto">
          <a:xfrm>
            <a:off x="6565538" y="4893411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1" name="Text Box 161"/>
          <p:cNvSpPr txBox="1">
            <a:spLocks noChangeArrowheads="1"/>
          </p:cNvSpPr>
          <p:nvPr/>
        </p:nvSpPr>
        <p:spPr bwMode="auto">
          <a:xfrm>
            <a:off x="5649172" y="6011552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2" name="Text Box 162"/>
          <p:cNvSpPr txBox="1">
            <a:spLocks noChangeArrowheads="1"/>
          </p:cNvSpPr>
          <p:nvPr/>
        </p:nvSpPr>
        <p:spPr bwMode="auto">
          <a:xfrm>
            <a:off x="7590684" y="6011552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63" name="Group 195"/>
          <p:cNvGrpSpPr/>
          <p:nvPr/>
        </p:nvGrpSpPr>
        <p:grpSpPr bwMode="auto">
          <a:xfrm>
            <a:off x="1758491" y="3589512"/>
            <a:ext cx="1048554" cy="1063624"/>
            <a:chOff x="836" y="1752"/>
            <a:chExt cx="727" cy="789"/>
          </a:xfrm>
        </p:grpSpPr>
        <p:sp>
          <p:nvSpPr>
            <p:cNvPr id="164" name="Rectangle 167"/>
            <p:cNvSpPr>
              <a:spLocks noChangeArrowheads="1"/>
            </p:cNvSpPr>
            <p:nvPr/>
          </p:nvSpPr>
          <p:spPr bwMode="auto">
            <a:xfrm>
              <a:off x="836" y="1788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65" name="Line 168"/>
            <p:cNvSpPr>
              <a:spLocks noChangeShapeType="1"/>
            </p:cNvSpPr>
            <p:nvPr/>
          </p:nvSpPr>
          <p:spPr bwMode="auto">
            <a:xfrm>
              <a:off x="836" y="2019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6" name="Line 169"/>
            <p:cNvSpPr>
              <a:spLocks noChangeShapeType="1"/>
            </p:cNvSpPr>
            <p:nvPr/>
          </p:nvSpPr>
          <p:spPr bwMode="auto">
            <a:xfrm>
              <a:off x="836" y="2250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7" name="Line 170"/>
            <p:cNvSpPr>
              <a:spLocks noChangeShapeType="1"/>
            </p:cNvSpPr>
            <p:nvPr/>
          </p:nvSpPr>
          <p:spPr bwMode="auto">
            <a:xfrm>
              <a:off x="1071" y="1788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8" name="Line 171"/>
            <p:cNvSpPr>
              <a:spLocks noChangeShapeType="1"/>
            </p:cNvSpPr>
            <p:nvPr/>
          </p:nvSpPr>
          <p:spPr bwMode="auto">
            <a:xfrm>
              <a:off x="1307" y="1788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69" name="Text Box 172"/>
            <p:cNvSpPr txBox="1">
              <a:spLocks noChangeArrowheads="1"/>
            </p:cNvSpPr>
            <p:nvPr/>
          </p:nvSpPr>
          <p:spPr bwMode="auto">
            <a:xfrm>
              <a:off x="881" y="197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0" name="Text Box 173"/>
            <p:cNvSpPr txBox="1">
              <a:spLocks noChangeArrowheads="1"/>
            </p:cNvSpPr>
            <p:nvPr/>
          </p:nvSpPr>
          <p:spPr bwMode="auto">
            <a:xfrm>
              <a:off x="1108" y="199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1" name="Text Box 174"/>
            <p:cNvSpPr txBox="1">
              <a:spLocks noChangeArrowheads="1"/>
            </p:cNvSpPr>
            <p:nvPr/>
          </p:nvSpPr>
          <p:spPr bwMode="auto">
            <a:xfrm>
              <a:off x="1108" y="1752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2" name="Text Box 175"/>
            <p:cNvSpPr txBox="1">
              <a:spLocks noChangeArrowheads="1"/>
            </p:cNvSpPr>
            <p:nvPr/>
          </p:nvSpPr>
          <p:spPr bwMode="auto">
            <a:xfrm>
              <a:off x="1335" y="197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3" name="Text Box 176"/>
            <p:cNvSpPr txBox="1">
              <a:spLocks noChangeArrowheads="1"/>
            </p:cNvSpPr>
            <p:nvPr/>
          </p:nvSpPr>
          <p:spPr bwMode="auto">
            <a:xfrm>
              <a:off x="1331" y="220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4" name="Text Box 177"/>
            <p:cNvSpPr txBox="1">
              <a:spLocks noChangeArrowheads="1"/>
            </p:cNvSpPr>
            <p:nvPr/>
          </p:nvSpPr>
          <p:spPr bwMode="auto">
            <a:xfrm>
              <a:off x="1119" y="22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5" name="Text Box 178"/>
            <p:cNvSpPr txBox="1">
              <a:spLocks noChangeArrowheads="1"/>
            </p:cNvSpPr>
            <p:nvPr/>
          </p:nvSpPr>
          <p:spPr bwMode="auto">
            <a:xfrm>
              <a:off x="865" y="22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76" name="Text Box 179"/>
            <p:cNvSpPr txBox="1">
              <a:spLocks noChangeArrowheads="1"/>
            </p:cNvSpPr>
            <p:nvPr/>
          </p:nvSpPr>
          <p:spPr bwMode="auto">
            <a:xfrm>
              <a:off x="1335" y="17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177" name="Text Box 180"/>
          <p:cNvSpPr txBox="1">
            <a:spLocks noChangeArrowheads="1"/>
          </p:cNvSpPr>
          <p:nvPr/>
        </p:nvSpPr>
        <p:spPr bwMode="auto">
          <a:xfrm>
            <a:off x="2741502" y="3834439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78" name="Group 198"/>
          <p:cNvGrpSpPr/>
          <p:nvPr/>
        </p:nvGrpSpPr>
        <p:grpSpPr bwMode="auto">
          <a:xfrm>
            <a:off x="3270660" y="3589512"/>
            <a:ext cx="1048554" cy="1063624"/>
            <a:chOff x="1698" y="1752"/>
            <a:chExt cx="727" cy="789"/>
          </a:xfrm>
        </p:grpSpPr>
        <p:sp>
          <p:nvSpPr>
            <p:cNvPr id="179" name="Rectangle 181"/>
            <p:cNvSpPr>
              <a:spLocks noChangeArrowheads="1"/>
            </p:cNvSpPr>
            <p:nvPr/>
          </p:nvSpPr>
          <p:spPr bwMode="auto">
            <a:xfrm>
              <a:off x="1698" y="1788"/>
              <a:ext cx="706" cy="69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80" name="Line 182"/>
            <p:cNvSpPr>
              <a:spLocks noChangeShapeType="1"/>
            </p:cNvSpPr>
            <p:nvPr/>
          </p:nvSpPr>
          <p:spPr bwMode="auto">
            <a:xfrm>
              <a:off x="1698" y="2019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81" name="Line 183"/>
            <p:cNvSpPr>
              <a:spLocks noChangeShapeType="1"/>
            </p:cNvSpPr>
            <p:nvPr/>
          </p:nvSpPr>
          <p:spPr bwMode="auto">
            <a:xfrm>
              <a:off x="1698" y="2250"/>
              <a:ext cx="70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82" name="Line 184"/>
            <p:cNvSpPr>
              <a:spLocks noChangeShapeType="1"/>
            </p:cNvSpPr>
            <p:nvPr/>
          </p:nvSpPr>
          <p:spPr bwMode="auto">
            <a:xfrm>
              <a:off x="1933" y="1788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83" name="Line 185"/>
            <p:cNvSpPr>
              <a:spLocks noChangeShapeType="1"/>
            </p:cNvSpPr>
            <p:nvPr/>
          </p:nvSpPr>
          <p:spPr bwMode="auto">
            <a:xfrm>
              <a:off x="2169" y="1788"/>
              <a:ext cx="0" cy="6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184" name="Text Box 186"/>
            <p:cNvSpPr txBox="1">
              <a:spLocks noChangeArrowheads="1"/>
            </p:cNvSpPr>
            <p:nvPr/>
          </p:nvSpPr>
          <p:spPr bwMode="auto">
            <a:xfrm>
              <a:off x="1743" y="175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5" name="Text Box 187"/>
            <p:cNvSpPr txBox="1">
              <a:spLocks noChangeArrowheads="1"/>
            </p:cNvSpPr>
            <p:nvPr/>
          </p:nvSpPr>
          <p:spPr bwMode="auto">
            <a:xfrm>
              <a:off x="1970" y="1995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6" name="Text Box 188"/>
            <p:cNvSpPr txBox="1">
              <a:spLocks noChangeArrowheads="1"/>
            </p:cNvSpPr>
            <p:nvPr/>
          </p:nvSpPr>
          <p:spPr bwMode="auto">
            <a:xfrm>
              <a:off x="1970" y="1752"/>
              <a:ext cx="19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7" name="Text Box 189"/>
            <p:cNvSpPr txBox="1">
              <a:spLocks noChangeArrowheads="1"/>
            </p:cNvSpPr>
            <p:nvPr/>
          </p:nvSpPr>
          <p:spPr bwMode="auto">
            <a:xfrm>
              <a:off x="2197" y="1979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8" name="Text Box 190"/>
            <p:cNvSpPr txBox="1">
              <a:spLocks noChangeArrowheads="1"/>
            </p:cNvSpPr>
            <p:nvPr/>
          </p:nvSpPr>
          <p:spPr bwMode="auto">
            <a:xfrm>
              <a:off x="2193" y="2206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9" name="Text Box 191"/>
            <p:cNvSpPr txBox="1">
              <a:spLocks noChangeArrowheads="1"/>
            </p:cNvSpPr>
            <p:nvPr/>
          </p:nvSpPr>
          <p:spPr bwMode="auto">
            <a:xfrm>
              <a:off x="1981" y="2222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0" name="Text Box 192"/>
            <p:cNvSpPr txBox="1">
              <a:spLocks noChangeArrowheads="1"/>
            </p:cNvSpPr>
            <p:nvPr/>
          </p:nvSpPr>
          <p:spPr bwMode="auto">
            <a:xfrm>
              <a:off x="1743" y="2008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1" name="Text Box 193"/>
            <p:cNvSpPr txBox="1">
              <a:spLocks noChangeArrowheads="1"/>
            </p:cNvSpPr>
            <p:nvPr/>
          </p:nvSpPr>
          <p:spPr bwMode="auto">
            <a:xfrm>
              <a:off x="2197" y="1753"/>
              <a:ext cx="22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192" name="Text Box 194"/>
          <p:cNvSpPr txBox="1">
            <a:spLocks noChangeArrowheads="1"/>
          </p:cNvSpPr>
          <p:nvPr/>
        </p:nvSpPr>
        <p:spPr bwMode="auto">
          <a:xfrm>
            <a:off x="4350158" y="3834439"/>
            <a:ext cx="3288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93" name="Line 196"/>
          <p:cNvSpPr>
            <a:spLocks noChangeShapeType="1"/>
          </p:cNvSpPr>
          <p:nvPr/>
        </p:nvSpPr>
        <p:spPr bwMode="auto">
          <a:xfrm flipH="1">
            <a:off x="2280757" y="3191509"/>
            <a:ext cx="692363" cy="47629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94" name="Line 197"/>
          <p:cNvSpPr>
            <a:spLocks noChangeShapeType="1"/>
          </p:cNvSpPr>
          <p:nvPr/>
        </p:nvSpPr>
        <p:spPr bwMode="auto">
          <a:xfrm>
            <a:off x="3906399" y="3183301"/>
            <a:ext cx="304480" cy="49772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84" grpId="0"/>
      <p:bldP spid="158" grpId="0"/>
      <p:bldP spid="159" grpId="0"/>
      <p:bldP spid="160" grpId="0"/>
      <p:bldP spid="161" grpId="0"/>
      <p:bldP spid="162" grpId="0"/>
      <p:bldP spid="177" grpId="0"/>
      <p:bldP spid="1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Best first strategy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使用评价函数构造一个堆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首先构造由根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      组成的单元素堆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2.  If  H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的根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是目标节点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停止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3.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中删除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把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的子节点插入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H;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4.  If H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空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Then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失败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Else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goto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2.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树的搜索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搜索策略的优化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分支界限法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产生分支的机制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使用前面的任意一种策略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产生一个界限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可以通过发现可能解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进行分支界限搜索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即剪除不可能产生优化解的分支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0/1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背包问题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给定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个物品和一个背包，物品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的重量是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wi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，价值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vi ,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背包容量为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C, 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问如何选择装入背包的物品，使装入背包中的物品的总价值最大？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问题定义</a:t>
            </a:r>
            <a:endParaRPr lang="en-US" altLang="zh-CN" dirty="0"/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人的集合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P=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{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1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, 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2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, …, 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n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},  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1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&lt;P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2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&lt; …&lt;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n</a:t>
            </a:r>
            <a:endParaRPr lang="en-US" altLang="zh-CN" sz="2400" dirty="0">
              <a:solidFill>
                <a:schemeClr val="bg2"/>
              </a:solidFill>
              <a:latin typeface="+mn-lt"/>
            </a:endParaRPr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工作的集合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J=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{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J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1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, J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2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, …, J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n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},  J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是偏序集合</a:t>
            </a:r>
            <a:endParaRPr lang="zh-CN" altLang="en-US" sz="2400" dirty="0">
              <a:solidFill>
                <a:schemeClr val="bg2"/>
              </a:solidFill>
              <a:latin typeface="+mn-lt"/>
            </a:endParaRPr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矩阵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[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C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ij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], 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C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ij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是工作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J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j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分配到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i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的代价</a:t>
            </a:r>
            <a:endParaRPr lang="en-US" altLang="zh-CN" sz="2400" dirty="0">
              <a:solidFill>
                <a:schemeClr val="bg2"/>
              </a:solidFill>
              <a:latin typeface="+mn-lt"/>
            </a:endParaRPr>
          </a:p>
          <a:p>
            <a:pPr algn="just"/>
            <a:r>
              <a:rPr lang="zh-CN" altLang="en-US" dirty="0">
                <a:latin typeface="+mn-lt"/>
              </a:rPr>
              <a:t>输出</a:t>
            </a:r>
            <a:endParaRPr lang="en-US" altLang="zh-CN" dirty="0">
              <a:latin typeface="+mn-lt"/>
            </a:endParaRPr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矩阵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[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X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ij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], 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X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ij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=1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表示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i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被分配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J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j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,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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i,j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 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C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ij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ij</a:t>
            </a:r>
            <a:r>
              <a:rPr lang="zh-CN" altLang="en-US" sz="24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最小</a:t>
            </a:r>
            <a:endParaRPr lang="zh-CN" altLang="en-US" sz="2400" dirty="0">
              <a:solidFill>
                <a:schemeClr val="bg2"/>
              </a:solidFill>
              <a:latin typeface="+mn-lt"/>
              <a:sym typeface="Symbol" panose="05050102010706020507" pitchFamily="18" charset="2"/>
            </a:endParaRPr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每个人被分配一种工作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, 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不同人分配不同工作</a:t>
            </a:r>
            <a:endParaRPr lang="zh-CN" altLang="en-US" sz="2400" dirty="0">
              <a:solidFill>
                <a:schemeClr val="bg2"/>
              </a:solidFill>
              <a:latin typeface="+mn-lt"/>
            </a:endParaRPr>
          </a:p>
          <a:p>
            <a:pPr lvl="1" algn="just"/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如果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f(P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i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)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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f(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j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)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,  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则</a:t>
            </a:r>
            <a:r>
              <a:rPr lang="en-US" altLang="zh-CN" sz="2400" i="1" dirty="0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>
                <a:solidFill>
                  <a:schemeClr val="bg2"/>
                </a:solidFill>
                <a:latin typeface="+mn-lt"/>
              </a:rPr>
              <a:t>i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 </a:t>
            </a:r>
            <a:r>
              <a:rPr lang="en-US" altLang="zh-CN" sz="2400" i="1" dirty="0" err="1">
                <a:solidFill>
                  <a:schemeClr val="bg2"/>
                </a:solidFill>
                <a:latin typeface="+mn-lt"/>
              </a:rPr>
              <a:t>P</a:t>
            </a:r>
            <a:r>
              <a:rPr lang="en-US" altLang="zh-CN" sz="2400" i="1" baseline="-25000" dirty="0" err="1">
                <a:solidFill>
                  <a:schemeClr val="bg2"/>
                </a:solidFill>
                <a:latin typeface="+mn-lt"/>
              </a:rPr>
              <a:t>j</a:t>
            </a:r>
            <a:endParaRPr lang="zh-CN" altLang="en-US" sz="2400" i="1" baseline="-25000" dirty="0">
              <a:solidFill>
                <a:schemeClr val="bg2"/>
              </a:solidFill>
              <a:latin typeface="+mn-lt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763688" y="5246484"/>
            <a:ext cx="63727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给定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P={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, 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, 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} , 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={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, 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, 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},  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, 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endParaRPr lang="en-US" altLang="zh-CN" sz="2000" b="1" dirty="0"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000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 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是可能的解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.</a:t>
            </a:r>
            <a:endParaRPr lang="en-US" altLang="zh-CN" sz="2000" b="1" dirty="0"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latin typeface="+mn-lt"/>
                <a:ea typeface="黑体" panose="02010609060101010101" pitchFamily="49" charset="-122"/>
              </a:rPr>
              <a:t>J</a:t>
            </a:r>
            <a:r>
              <a:rPr lang="en-US" altLang="zh-CN" sz="2000" b="1" i="1" baseline="-25000" dirty="0"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sz="2000" b="1" dirty="0">
                <a:latin typeface="+mn-lt"/>
                <a:ea typeface="黑体" panose="02010609060101010101" pitchFamily="49" charset="-122"/>
              </a:rPr>
              <a:t>不可能是解</a:t>
            </a:r>
            <a:r>
              <a:rPr lang="en-US" altLang="zh-CN" sz="2000" b="1" dirty="0">
                <a:latin typeface="+mn-lt"/>
                <a:ea typeface="黑体" panose="02010609060101010101" pitchFamily="49" charset="-122"/>
              </a:rPr>
              <a:t>.</a:t>
            </a:r>
            <a:endParaRPr lang="en-US" altLang="zh-CN" sz="2000" b="1" dirty="0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转换为树搜索问题</a:t>
            </a:r>
            <a:endParaRPr lang="en-US" altLang="zh-CN" dirty="0"/>
          </a:p>
          <a:p>
            <a:pPr lvl="1" algn="just"/>
            <a:r>
              <a:rPr lang="zh-CN" altLang="en-US" dirty="0"/>
              <a:t>拓朴排序</a:t>
            </a:r>
            <a:endParaRPr lang="zh-CN" altLang="en-US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: </a:t>
            </a:r>
            <a:r>
              <a:rPr lang="zh-CN" altLang="en-US" dirty="0"/>
              <a:t>偏序集合</a:t>
            </a:r>
            <a:r>
              <a:rPr lang="en-US" altLang="zh-CN" dirty="0"/>
              <a:t>(S, </a:t>
            </a:r>
            <a:r>
              <a:rPr lang="en-US" altLang="zh-CN" sz="2800" dirty="0">
                <a:solidFill>
                  <a:srgbClr val="0000CC"/>
                </a:solidFill>
                <a:sym typeface="Symbol" panose="05050102010706020507" pitchFamily="18" charset="2"/>
              </a:rPr>
              <a:t> 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zh-CN" altLang="en-US" dirty="0"/>
              <a:t>输出</a:t>
            </a:r>
            <a:r>
              <a:rPr lang="en-US" altLang="zh-CN" dirty="0"/>
              <a:t>: S</a:t>
            </a:r>
            <a:r>
              <a:rPr lang="zh-CN" altLang="en-US" dirty="0"/>
              <a:t>的拓朴序列是</a:t>
            </a:r>
            <a:r>
              <a:rPr lang="en-US" altLang="zh-CN" dirty="0"/>
              <a:t>&lt;s1, s2, …, </a:t>
            </a:r>
            <a:r>
              <a:rPr lang="en-US" altLang="zh-CN" dirty="0" err="1"/>
              <a:t>sn</a:t>
            </a:r>
            <a:r>
              <a:rPr lang="en-US" altLang="zh-CN" dirty="0"/>
              <a:t>&gt;, </a:t>
            </a:r>
            <a:endParaRPr lang="en-US" altLang="zh-CN" dirty="0"/>
          </a:p>
          <a:p>
            <a:pPr lvl="1"/>
            <a:r>
              <a:rPr lang="en-US" altLang="zh-CN" dirty="0"/>
              <a:t>         </a:t>
            </a:r>
            <a:r>
              <a:rPr lang="zh-CN" altLang="en-US" dirty="0"/>
              <a:t>满足</a:t>
            </a:r>
            <a:r>
              <a:rPr lang="en-US" altLang="zh-CN" dirty="0"/>
              <a:t>: </a:t>
            </a:r>
            <a:r>
              <a:rPr lang="zh-CN" altLang="en-US" dirty="0"/>
              <a:t>如果</a:t>
            </a:r>
            <a:r>
              <a:rPr lang="en-US" altLang="zh-CN" dirty="0" err="1"/>
              <a:t>si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 </a:t>
            </a:r>
            <a:r>
              <a:rPr lang="en-US" altLang="zh-CN" dirty="0" err="1"/>
              <a:t>sj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dirty="0" err="1"/>
              <a:t>si</a:t>
            </a:r>
            <a:r>
              <a:rPr lang="zh-CN" altLang="en-US" dirty="0"/>
              <a:t>排在</a:t>
            </a:r>
            <a:r>
              <a:rPr lang="en-US" altLang="zh-CN" dirty="0" err="1"/>
              <a:t>sj</a:t>
            </a:r>
            <a:r>
              <a:rPr lang="zh-CN" altLang="en-US" dirty="0"/>
              <a:t>的前面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27"/>
          <p:cNvGrpSpPr/>
          <p:nvPr/>
        </p:nvGrpSpPr>
        <p:grpSpPr bwMode="auto">
          <a:xfrm>
            <a:off x="1043608" y="3969060"/>
            <a:ext cx="2844316" cy="2726754"/>
            <a:chOff x="2260" y="2341"/>
            <a:chExt cx="1960" cy="1860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076" y="2341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3694" y="3157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2849" y="2795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2469" y="3473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3240" y="3157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2260" y="3836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3920" y="3520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9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3394" y="2795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2650" y="3157"/>
              <a:ext cx="3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H="1">
              <a:off x="3013" y="2704"/>
              <a:ext cx="136" cy="22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3285" y="2704"/>
              <a:ext cx="182" cy="22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 flipH="1">
              <a:off x="2832" y="3113"/>
              <a:ext cx="90" cy="18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H="1">
              <a:off x="2650" y="3475"/>
              <a:ext cx="91" cy="1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 flipH="1">
              <a:off x="2424" y="3794"/>
              <a:ext cx="136" cy="2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>
              <a:off x="3376" y="3113"/>
              <a:ext cx="91" cy="18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3648" y="3158"/>
              <a:ext cx="136" cy="1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3875" y="3521"/>
              <a:ext cx="136" cy="1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4576847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5037222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 i="1" baseline="-25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5440447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5900822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6332622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6808872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7269247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7701047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8132847" y="4433298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2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3200" b="1" i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问题的解空间</a:t>
            </a:r>
            <a:endParaRPr lang="en-US" altLang="zh-CN" dirty="0"/>
          </a:p>
          <a:p>
            <a:pPr lvl="1"/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 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k1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2 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baseline="-25000" dirty="0">
                <a:latin typeface="+mn-lt"/>
              </a:rPr>
              <a:t> 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k2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…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 err="1">
                <a:latin typeface="+mn-lt"/>
              </a:rPr>
              <a:t>P</a:t>
            </a:r>
            <a:r>
              <a:rPr lang="en-US" altLang="zh-CN" sz="2400" i="1" baseline="-25000" dirty="0" err="1">
                <a:latin typeface="+mn-lt"/>
              </a:rPr>
              <a:t>n</a:t>
            </a:r>
            <a:r>
              <a:rPr lang="en-US" altLang="zh-CN" sz="2400" i="1" baseline="-25000" dirty="0">
                <a:latin typeface="+mn-lt"/>
              </a:rPr>
              <a:t> 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baseline="-25000" dirty="0">
                <a:latin typeface="+mn-lt"/>
              </a:rPr>
              <a:t> </a:t>
            </a:r>
            <a:r>
              <a:rPr lang="en-US" altLang="zh-CN" sz="2400" i="1" dirty="0" err="1">
                <a:latin typeface="+mn-lt"/>
              </a:rPr>
              <a:t>J</a:t>
            </a:r>
            <a:r>
              <a:rPr lang="en-US" altLang="zh-CN" sz="2400" i="1" baseline="-25000" dirty="0" err="1">
                <a:latin typeface="+mn-lt"/>
              </a:rPr>
              <a:t>kn</a:t>
            </a:r>
            <a:r>
              <a:rPr lang="zh-CN" altLang="en-US" sz="2400" dirty="0">
                <a:latin typeface="+mn-lt"/>
              </a:rPr>
              <a:t>是一个可能解，则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k1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k2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…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 err="1">
                <a:latin typeface="+mn-lt"/>
              </a:rPr>
              <a:t>J</a:t>
            </a:r>
            <a:r>
              <a:rPr lang="en-US" altLang="zh-CN" sz="2400" i="1" baseline="-25000" dirty="0" err="1">
                <a:latin typeface="+mn-lt"/>
              </a:rPr>
              <a:t>kn</a:t>
            </a:r>
            <a:r>
              <a:rPr lang="zh-CN" altLang="en-US" sz="2400" dirty="0">
                <a:latin typeface="+mn-lt"/>
              </a:rPr>
              <a:t>必是一个拓朴排序的序列</a:t>
            </a:r>
            <a:r>
              <a:rPr lang="en-US" altLang="zh-CN" sz="2400" dirty="0">
                <a:latin typeface="+mn-lt"/>
              </a:rPr>
              <a:t>.</a:t>
            </a:r>
            <a:endParaRPr lang="en-US" altLang="zh-CN" sz="2400" dirty="0">
              <a:latin typeface="+mn-lt"/>
            </a:endParaRPr>
          </a:p>
          <a:p>
            <a:pPr lvl="1"/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dirty="0">
                <a:latin typeface="+mn-lt"/>
              </a:rPr>
              <a:t>={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P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P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, P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dirty="0">
                <a:latin typeface="+mn-lt"/>
              </a:rPr>
              <a:t>}, 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dirty="0">
                <a:latin typeface="+mn-lt"/>
              </a:rPr>
              <a:t>={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dirty="0">
                <a:latin typeface="+mn-lt"/>
              </a:rPr>
              <a:t>}, 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zh-CN" altLang="en-US" sz="2400" dirty="0">
                <a:latin typeface="+mn-lt"/>
              </a:rPr>
              <a:t>的偏序如下</a:t>
            </a:r>
            <a:endParaRPr lang="en-US" altLang="zh-CN" sz="2400" dirty="0">
              <a:latin typeface="+mn-lt"/>
            </a:endParaRPr>
          </a:p>
          <a:p>
            <a:pPr lvl="1"/>
            <a:endParaRPr lang="en-US" altLang="zh-CN" sz="2400" dirty="0">
              <a:latin typeface="+mn-lt"/>
            </a:endParaRPr>
          </a:p>
          <a:p>
            <a:pPr lvl="1"/>
            <a:endParaRPr lang="en-US" altLang="zh-CN" sz="2400" dirty="0">
              <a:latin typeface="+mn-lt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lvl="1"/>
            <a:r>
              <a:rPr lang="zh-CN" altLang="en-US" sz="2400" dirty="0">
                <a:latin typeface="+mn-lt"/>
              </a:rPr>
              <a:t>则 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(J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 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 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i="1" dirty="0">
                <a:latin typeface="+mn-lt"/>
              </a:rPr>
              <a:t>、     </a:t>
            </a:r>
            <a:r>
              <a:rPr lang="en-US" altLang="zh-CN" sz="2400" i="1" dirty="0">
                <a:latin typeface="+mn-lt"/>
              </a:rPr>
              <a:t> (J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 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i="1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(J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 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dirty="0">
                <a:latin typeface="+mn-lt"/>
              </a:rPr>
              <a:t>是拓朴排序序列</a:t>
            </a:r>
            <a:endParaRPr lang="en-US" altLang="zh-CN" sz="2400" dirty="0">
              <a:latin typeface="+mn-lt"/>
            </a:endParaRPr>
          </a:p>
          <a:p>
            <a:pPr lvl="1"/>
            <a:r>
              <a:rPr lang="en-US" altLang="zh-CN" sz="2400" dirty="0">
                <a:latin typeface="+mn-lt"/>
              </a:rPr>
              <a:t> (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i="1" dirty="0">
                <a:latin typeface="+mn-lt"/>
              </a:rPr>
              <a:t>, J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)</a:t>
            </a:r>
            <a:r>
              <a:rPr lang="zh-CN" altLang="en-US" sz="2400" dirty="0">
                <a:latin typeface="+mn-lt"/>
              </a:rPr>
              <a:t>对应于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+mn-lt"/>
              </a:rPr>
              <a:t>J</a:t>
            </a:r>
            <a:r>
              <a:rPr lang="en-US" altLang="zh-CN" sz="2400" i="1" baseline="-250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3</a:t>
            </a:r>
            <a:r>
              <a:rPr lang="en-US" altLang="zh-CN" sz="2400" i="1" dirty="0">
                <a:latin typeface="+mn-lt"/>
              </a:rPr>
              <a:t> 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+mn-lt"/>
              </a:rPr>
              <a:t> J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i="1" baseline="-25000" dirty="0">
                <a:latin typeface="+mn-lt"/>
              </a:rPr>
              <a:t>4</a:t>
            </a:r>
            <a:r>
              <a:rPr lang="en-US" altLang="zh-CN" sz="2400" i="1" dirty="0">
                <a:latin typeface="+mn-lt"/>
              </a:rPr>
              <a:t> </a:t>
            </a:r>
            <a:r>
              <a:rPr lang="en-US" altLang="zh-CN" sz="2400" i="1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+mn-lt"/>
              </a:rPr>
              <a:t> J</a:t>
            </a:r>
            <a:r>
              <a:rPr lang="en-US" altLang="zh-CN" sz="2400" i="1" baseline="-25000" dirty="0">
                <a:latin typeface="+mn-lt"/>
              </a:rPr>
              <a:t>3</a:t>
            </a:r>
            <a:endParaRPr lang="zh-CN" altLang="en-US" sz="2400" dirty="0">
              <a:latin typeface="+mn-lt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84"/>
          <p:cNvGrpSpPr/>
          <p:nvPr/>
        </p:nvGrpSpPr>
        <p:grpSpPr bwMode="auto">
          <a:xfrm>
            <a:off x="3095837" y="3320988"/>
            <a:ext cx="1656184" cy="1224136"/>
            <a:chOff x="2650" y="1842"/>
            <a:chExt cx="1134" cy="917"/>
          </a:xfrm>
        </p:grpSpPr>
        <p:sp>
          <p:nvSpPr>
            <p:cNvPr id="7" name="Text Box 76"/>
            <p:cNvSpPr txBox="1">
              <a:spLocks noChangeArrowheads="1"/>
            </p:cNvSpPr>
            <p:nvPr/>
          </p:nvSpPr>
          <p:spPr bwMode="auto">
            <a:xfrm>
              <a:off x="2650" y="184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77"/>
            <p:cNvSpPr txBox="1">
              <a:spLocks noChangeArrowheads="1"/>
            </p:cNvSpPr>
            <p:nvPr/>
          </p:nvSpPr>
          <p:spPr bwMode="auto">
            <a:xfrm>
              <a:off x="3480" y="184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78"/>
            <p:cNvSpPr txBox="1">
              <a:spLocks noChangeArrowheads="1"/>
            </p:cNvSpPr>
            <p:nvPr/>
          </p:nvSpPr>
          <p:spPr bwMode="auto">
            <a:xfrm>
              <a:off x="2664" y="242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79"/>
            <p:cNvSpPr txBox="1">
              <a:spLocks noChangeArrowheads="1"/>
            </p:cNvSpPr>
            <p:nvPr/>
          </p:nvSpPr>
          <p:spPr bwMode="auto">
            <a:xfrm>
              <a:off x="3480" y="243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" name="Line 80"/>
            <p:cNvSpPr>
              <a:spLocks noChangeShapeType="1"/>
            </p:cNvSpPr>
            <p:nvPr/>
          </p:nvSpPr>
          <p:spPr bwMode="auto">
            <a:xfrm>
              <a:off x="2786" y="2160"/>
              <a:ext cx="0" cy="317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81"/>
            <p:cNvSpPr>
              <a:spLocks noChangeShapeType="1"/>
            </p:cNvSpPr>
            <p:nvPr/>
          </p:nvSpPr>
          <p:spPr bwMode="auto">
            <a:xfrm>
              <a:off x="2967" y="2069"/>
              <a:ext cx="590" cy="45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82"/>
            <p:cNvSpPr>
              <a:spLocks noChangeShapeType="1"/>
            </p:cNvSpPr>
            <p:nvPr/>
          </p:nvSpPr>
          <p:spPr bwMode="auto">
            <a:xfrm>
              <a:off x="3648" y="2160"/>
              <a:ext cx="0" cy="317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问题的树表示</a:t>
            </a:r>
            <a:r>
              <a:rPr lang="en-US" altLang="zh-CN" dirty="0"/>
              <a:t>(</a:t>
            </a:r>
            <a:r>
              <a:rPr lang="zh-CN" altLang="en-US" dirty="0"/>
              <a:t>即用树表示所有拓朴排序序列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3" name="Group 98"/>
          <p:cNvGrpSpPr/>
          <p:nvPr/>
        </p:nvGrpSpPr>
        <p:grpSpPr bwMode="auto">
          <a:xfrm>
            <a:off x="1295636" y="2204864"/>
            <a:ext cx="5689600" cy="3746500"/>
            <a:chOff x="745" y="1207"/>
            <a:chExt cx="3584" cy="2360"/>
          </a:xfrm>
        </p:grpSpPr>
        <p:sp>
          <p:nvSpPr>
            <p:cNvPr id="34" name="Line 77"/>
            <p:cNvSpPr>
              <a:spLocks noChangeShapeType="1"/>
            </p:cNvSpPr>
            <p:nvPr/>
          </p:nvSpPr>
          <p:spPr bwMode="auto">
            <a:xfrm flipH="1">
              <a:off x="1879" y="1344"/>
              <a:ext cx="862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78"/>
            <p:cNvSpPr>
              <a:spLocks noChangeShapeType="1"/>
            </p:cNvSpPr>
            <p:nvPr/>
          </p:nvSpPr>
          <p:spPr bwMode="auto">
            <a:xfrm>
              <a:off x="3013" y="1344"/>
              <a:ext cx="771" cy="36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" name="Line 79"/>
            <p:cNvSpPr>
              <a:spLocks noChangeShapeType="1"/>
            </p:cNvSpPr>
            <p:nvPr/>
          </p:nvSpPr>
          <p:spPr bwMode="auto">
            <a:xfrm flipH="1">
              <a:off x="1290" y="1797"/>
              <a:ext cx="408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80"/>
            <p:cNvSpPr>
              <a:spLocks noChangeShapeType="1"/>
            </p:cNvSpPr>
            <p:nvPr/>
          </p:nvSpPr>
          <p:spPr bwMode="auto">
            <a:xfrm>
              <a:off x="1879" y="1797"/>
              <a:ext cx="272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Line 81"/>
            <p:cNvSpPr>
              <a:spLocks noChangeShapeType="1"/>
            </p:cNvSpPr>
            <p:nvPr/>
          </p:nvSpPr>
          <p:spPr bwMode="auto">
            <a:xfrm flipH="1">
              <a:off x="927" y="2341"/>
              <a:ext cx="226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" name="Line 82"/>
            <p:cNvSpPr>
              <a:spLocks noChangeShapeType="1"/>
            </p:cNvSpPr>
            <p:nvPr/>
          </p:nvSpPr>
          <p:spPr bwMode="auto">
            <a:xfrm>
              <a:off x="1335" y="2341"/>
              <a:ext cx="181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83"/>
            <p:cNvSpPr>
              <a:spLocks noChangeShapeType="1"/>
            </p:cNvSpPr>
            <p:nvPr/>
          </p:nvSpPr>
          <p:spPr bwMode="auto">
            <a:xfrm>
              <a:off x="881" y="2931"/>
              <a:ext cx="0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84"/>
            <p:cNvSpPr>
              <a:spLocks noChangeShapeType="1"/>
            </p:cNvSpPr>
            <p:nvPr/>
          </p:nvSpPr>
          <p:spPr bwMode="auto">
            <a:xfrm>
              <a:off x="1516" y="2931"/>
              <a:ext cx="0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85"/>
            <p:cNvSpPr>
              <a:spLocks noChangeShapeType="1"/>
            </p:cNvSpPr>
            <p:nvPr/>
          </p:nvSpPr>
          <p:spPr bwMode="auto">
            <a:xfrm>
              <a:off x="2197" y="2387"/>
              <a:ext cx="0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86"/>
            <p:cNvSpPr>
              <a:spLocks noChangeShapeType="1"/>
            </p:cNvSpPr>
            <p:nvPr/>
          </p:nvSpPr>
          <p:spPr bwMode="auto">
            <a:xfrm>
              <a:off x="2197" y="2931"/>
              <a:ext cx="0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93"/>
            <p:cNvSpPr>
              <a:spLocks noChangeShapeType="1"/>
            </p:cNvSpPr>
            <p:nvPr/>
          </p:nvSpPr>
          <p:spPr bwMode="auto">
            <a:xfrm>
              <a:off x="3558" y="2976"/>
              <a:ext cx="0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94"/>
            <p:cNvSpPr>
              <a:spLocks noChangeShapeType="1"/>
            </p:cNvSpPr>
            <p:nvPr/>
          </p:nvSpPr>
          <p:spPr bwMode="auto">
            <a:xfrm>
              <a:off x="4193" y="2976"/>
              <a:ext cx="0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95"/>
            <p:cNvSpPr>
              <a:spLocks noChangeShapeType="1"/>
            </p:cNvSpPr>
            <p:nvPr/>
          </p:nvSpPr>
          <p:spPr bwMode="auto">
            <a:xfrm flipH="1">
              <a:off x="3603" y="2387"/>
              <a:ext cx="181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96"/>
            <p:cNvSpPr>
              <a:spLocks noChangeShapeType="1"/>
            </p:cNvSpPr>
            <p:nvPr/>
          </p:nvSpPr>
          <p:spPr bwMode="auto">
            <a:xfrm>
              <a:off x="3966" y="2387"/>
              <a:ext cx="181" cy="36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97"/>
            <p:cNvSpPr>
              <a:spLocks noChangeShapeType="1"/>
            </p:cNvSpPr>
            <p:nvPr/>
          </p:nvSpPr>
          <p:spPr bwMode="auto">
            <a:xfrm>
              <a:off x="3875" y="1888"/>
              <a:ext cx="0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Oval 43"/>
            <p:cNvSpPr>
              <a:spLocks noChangeArrowheads="1"/>
            </p:cNvSpPr>
            <p:nvPr/>
          </p:nvSpPr>
          <p:spPr bwMode="auto">
            <a:xfrm>
              <a:off x="2741" y="1207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0" name="Oval 62"/>
            <p:cNvSpPr>
              <a:spLocks noChangeArrowheads="1"/>
            </p:cNvSpPr>
            <p:nvPr/>
          </p:nvSpPr>
          <p:spPr bwMode="auto">
            <a:xfrm>
              <a:off x="1653" y="1615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1" name="Oval 71"/>
            <p:cNvSpPr>
              <a:spLocks noChangeArrowheads="1"/>
            </p:cNvSpPr>
            <p:nvPr/>
          </p:nvSpPr>
          <p:spPr bwMode="auto">
            <a:xfrm>
              <a:off x="3739" y="1661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2" name="Oval 63"/>
            <p:cNvSpPr>
              <a:spLocks noChangeArrowheads="1"/>
            </p:cNvSpPr>
            <p:nvPr/>
          </p:nvSpPr>
          <p:spPr bwMode="auto">
            <a:xfrm>
              <a:off x="1108" y="216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3" name="Oval 68"/>
            <p:cNvSpPr>
              <a:spLocks noChangeArrowheads="1"/>
            </p:cNvSpPr>
            <p:nvPr/>
          </p:nvSpPr>
          <p:spPr bwMode="auto">
            <a:xfrm>
              <a:off x="2061" y="216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4" name="Oval 72"/>
            <p:cNvSpPr>
              <a:spLocks noChangeArrowheads="1"/>
            </p:cNvSpPr>
            <p:nvPr/>
          </p:nvSpPr>
          <p:spPr bwMode="auto">
            <a:xfrm>
              <a:off x="3739" y="2205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5" name="Oval 64"/>
            <p:cNvSpPr>
              <a:spLocks noChangeArrowheads="1"/>
            </p:cNvSpPr>
            <p:nvPr/>
          </p:nvSpPr>
          <p:spPr bwMode="auto">
            <a:xfrm>
              <a:off x="745" y="270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6" name="Oval 65"/>
            <p:cNvSpPr>
              <a:spLocks noChangeArrowheads="1"/>
            </p:cNvSpPr>
            <p:nvPr/>
          </p:nvSpPr>
          <p:spPr bwMode="auto">
            <a:xfrm>
              <a:off x="1380" y="270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Oval 69"/>
            <p:cNvSpPr>
              <a:spLocks noChangeArrowheads="1"/>
            </p:cNvSpPr>
            <p:nvPr/>
          </p:nvSpPr>
          <p:spPr bwMode="auto">
            <a:xfrm>
              <a:off x="2061" y="270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Oval 73"/>
            <p:cNvSpPr>
              <a:spLocks noChangeArrowheads="1"/>
            </p:cNvSpPr>
            <p:nvPr/>
          </p:nvSpPr>
          <p:spPr bwMode="auto">
            <a:xfrm>
              <a:off x="3422" y="275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" name="Oval 74"/>
            <p:cNvSpPr>
              <a:spLocks noChangeArrowheads="1"/>
            </p:cNvSpPr>
            <p:nvPr/>
          </p:nvSpPr>
          <p:spPr bwMode="auto">
            <a:xfrm>
              <a:off x="4057" y="275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0" name="Oval 66"/>
            <p:cNvSpPr>
              <a:spLocks noChangeArrowheads="1"/>
            </p:cNvSpPr>
            <p:nvPr/>
          </p:nvSpPr>
          <p:spPr bwMode="auto">
            <a:xfrm>
              <a:off x="1380" y="329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1" name="Oval 67"/>
            <p:cNvSpPr>
              <a:spLocks noChangeArrowheads="1"/>
            </p:cNvSpPr>
            <p:nvPr/>
          </p:nvSpPr>
          <p:spPr bwMode="auto">
            <a:xfrm>
              <a:off x="745" y="329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2" name="Oval 70"/>
            <p:cNvSpPr>
              <a:spLocks noChangeArrowheads="1"/>
            </p:cNvSpPr>
            <p:nvPr/>
          </p:nvSpPr>
          <p:spPr bwMode="auto">
            <a:xfrm>
              <a:off x="2061" y="3294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3" name="Oval 75"/>
            <p:cNvSpPr>
              <a:spLocks noChangeArrowheads="1"/>
            </p:cNvSpPr>
            <p:nvPr/>
          </p:nvSpPr>
          <p:spPr bwMode="auto">
            <a:xfrm>
              <a:off x="4057" y="334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4" name="Oval 76"/>
            <p:cNvSpPr>
              <a:spLocks noChangeArrowheads="1"/>
            </p:cNvSpPr>
            <p:nvPr/>
          </p:nvSpPr>
          <p:spPr bwMode="auto">
            <a:xfrm>
              <a:off x="3422" y="3340"/>
              <a:ext cx="272" cy="22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拓朴序列树的生成算法</a:t>
            </a:r>
            <a:endParaRPr lang="en-US" altLang="zh-CN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:  </a:t>
            </a:r>
            <a:r>
              <a:rPr lang="zh-CN" altLang="en-US" dirty="0"/>
              <a:t>偏序集合</a:t>
            </a:r>
            <a:r>
              <a:rPr lang="en-US" altLang="zh-CN" dirty="0"/>
              <a:t>S, </a:t>
            </a:r>
            <a:r>
              <a:rPr lang="zh-CN" altLang="en-US" dirty="0"/>
              <a:t>树根</a:t>
            </a:r>
            <a:r>
              <a:rPr lang="en-US" altLang="zh-CN" dirty="0"/>
              <a:t>root.</a:t>
            </a:r>
            <a:endParaRPr lang="en-US" altLang="zh-CN" dirty="0"/>
          </a:p>
          <a:p>
            <a:pPr lvl="1"/>
            <a:r>
              <a:rPr lang="zh-CN" altLang="en-US" dirty="0"/>
              <a:t>输出</a:t>
            </a:r>
            <a:r>
              <a:rPr lang="en-US" altLang="zh-CN" dirty="0"/>
              <a:t>:  </a:t>
            </a:r>
            <a:r>
              <a:rPr lang="zh-CN" altLang="en-US" dirty="0"/>
              <a:t>由</a:t>
            </a:r>
            <a:r>
              <a:rPr lang="en-US" altLang="zh-CN" dirty="0"/>
              <a:t>S</a:t>
            </a:r>
            <a:r>
              <a:rPr lang="zh-CN" altLang="en-US" dirty="0"/>
              <a:t>的所有拓朴排序序列构成的树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1.  </a:t>
            </a:r>
            <a:r>
              <a:rPr lang="zh-CN" altLang="en-US" dirty="0"/>
              <a:t>生成树根</a:t>
            </a:r>
            <a:r>
              <a:rPr lang="en-US" altLang="zh-CN" dirty="0"/>
              <a:t>root;</a:t>
            </a:r>
            <a:endParaRPr lang="en-US" altLang="zh-CN" dirty="0"/>
          </a:p>
          <a:p>
            <a:pPr lvl="1"/>
            <a:r>
              <a:rPr lang="en-US" altLang="zh-CN" dirty="0"/>
              <a:t>2.  </a:t>
            </a:r>
            <a:r>
              <a:rPr lang="zh-CN" altLang="en-US" dirty="0"/>
              <a:t>选择偏序集中没有前序元素的所有元素</a:t>
            </a:r>
            <a:r>
              <a:rPr lang="en-US" altLang="zh-CN" dirty="0"/>
              <a:t>, </a:t>
            </a:r>
            <a:r>
              <a:rPr lang="zh-CN" altLang="en-US" dirty="0"/>
              <a:t>作为</a:t>
            </a:r>
            <a:endParaRPr lang="zh-CN" altLang="en-US" dirty="0"/>
          </a:p>
          <a:p>
            <a:pPr lvl="1"/>
            <a:r>
              <a:rPr lang="zh-CN" altLang="en-US" dirty="0"/>
              <a:t>     </a:t>
            </a:r>
            <a:r>
              <a:rPr lang="en-US" altLang="zh-CN" dirty="0"/>
              <a:t>root</a:t>
            </a:r>
            <a:r>
              <a:rPr lang="zh-CN" altLang="en-US" dirty="0"/>
              <a:t>的子节点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3.  For  root</a:t>
            </a:r>
            <a:r>
              <a:rPr lang="zh-CN" altLang="en-US" dirty="0"/>
              <a:t>的每个字节点</a:t>
            </a:r>
            <a:r>
              <a:rPr lang="en-US" altLang="zh-CN" dirty="0"/>
              <a:t>v   Do</a:t>
            </a:r>
            <a:endParaRPr lang="en-US" altLang="zh-CN" dirty="0"/>
          </a:p>
          <a:p>
            <a:pPr lvl="1"/>
            <a:r>
              <a:rPr lang="en-US" altLang="zh-CN" dirty="0"/>
              <a:t>4.        S=S-{v};</a:t>
            </a:r>
            <a:endParaRPr lang="en-US" altLang="zh-CN" dirty="0"/>
          </a:p>
          <a:p>
            <a:pPr lvl="1"/>
            <a:r>
              <a:rPr lang="en-US" altLang="zh-CN" dirty="0"/>
              <a:t>5.        </a:t>
            </a:r>
            <a:r>
              <a:rPr lang="zh-CN" altLang="en-US" dirty="0"/>
              <a:t>把</a:t>
            </a:r>
            <a:r>
              <a:rPr lang="en-US" altLang="zh-CN" dirty="0"/>
              <a:t>v</a:t>
            </a:r>
            <a:r>
              <a:rPr lang="zh-CN" altLang="en-US" dirty="0"/>
              <a:t>作为根</a:t>
            </a:r>
            <a:r>
              <a:rPr lang="en-US" altLang="zh-CN" dirty="0"/>
              <a:t>, </a:t>
            </a:r>
            <a:r>
              <a:rPr lang="zh-CN" altLang="en-US" dirty="0"/>
              <a:t>递归地处理</a:t>
            </a:r>
            <a:r>
              <a:rPr lang="en-US" altLang="zh-CN" dirty="0"/>
              <a:t>S.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拓朴序列树的生成算法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88"/>
          <p:cNvGrpSpPr/>
          <p:nvPr/>
        </p:nvGrpSpPr>
        <p:grpSpPr bwMode="auto">
          <a:xfrm>
            <a:off x="1727733" y="1915988"/>
            <a:ext cx="1081088" cy="1003300"/>
            <a:chOff x="1062" y="167"/>
            <a:chExt cx="681" cy="632"/>
          </a:xfrm>
          <a:solidFill>
            <a:srgbClr val="CCFFCC"/>
          </a:solidFill>
        </p:grpSpPr>
        <p:sp>
          <p:nvSpPr>
            <p:cNvPr id="6" name="Rectangle 87"/>
            <p:cNvSpPr>
              <a:spLocks noChangeArrowheads="1"/>
            </p:cNvSpPr>
            <p:nvPr/>
          </p:nvSpPr>
          <p:spPr bwMode="auto">
            <a:xfrm>
              <a:off x="1063" y="210"/>
              <a:ext cx="680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" name="Group 70"/>
            <p:cNvGrpSpPr/>
            <p:nvPr/>
          </p:nvGrpSpPr>
          <p:grpSpPr bwMode="auto">
            <a:xfrm>
              <a:off x="1062" y="167"/>
              <a:ext cx="681" cy="632"/>
              <a:chOff x="926" y="1437"/>
              <a:chExt cx="681" cy="632"/>
            </a:xfrm>
            <a:grpFill/>
          </p:grpSpPr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926" y="1437"/>
                <a:ext cx="264" cy="26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200" b="1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1343" y="1437"/>
                <a:ext cx="264" cy="26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200" b="1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  <a:endPara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937" y="1800"/>
                <a:ext cx="264" cy="26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200" b="1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Text Box 9"/>
              <p:cNvSpPr txBox="1">
                <a:spLocks noChangeArrowheads="1"/>
              </p:cNvSpPr>
              <p:nvPr/>
            </p:nvSpPr>
            <p:spPr bwMode="auto">
              <a:xfrm>
                <a:off x="1335" y="1796"/>
                <a:ext cx="264" cy="26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200" b="1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1153" y="1661"/>
                <a:ext cx="272" cy="182"/>
              </a:xfrm>
              <a:prstGeom prst="line">
                <a:avLst/>
              </a:prstGeom>
              <a:grpFill/>
              <a:ln w="38100" cap="sq">
                <a:solidFill>
                  <a:srgbClr val="FF0000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1471" y="1687"/>
                <a:ext cx="0" cy="155"/>
              </a:xfrm>
              <a:prstGeom prst="line">
                <a:avLst/>
              </a:prstGeom>
              <a:grpFill/>
              <a:ln w="38100" cap="sq">
                <a:solidFill>
                  <a:srgbClr val="FF0000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69"/>
              <p:cNvSpPr>
                <a:spLocks noChangeShapeType="1"/>
              </p:cNvSpPr>
              <p:nvPr/>
            </p:nvSpPr>
            <p:spPr bwMode="auto">
              <a:xfrm>
                <a:off x="1063" y="1687"/>
                <a:ext cx="0" cy="155"/>
              </a:xfrm>
              <a:prstGeom prst="line">
                <a:avLst/>
              </a:prstGeom>
              <a:grpFill/>
              <a:ln w="38100" cap="sq">
                <a:solidFill>
                  <a:srgbClr val="FF0000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Group 119"/>
          <p:cNvGrpSpPr/>
          <p:nvPr/>
        </p:nvGrpSpPr>
        <p:grpSpPr bwMode="auto">
          <a:xfrm>
            <a:off x="649821" y="3212976"/>
            <a:ext cx="1079500" cy="1003300"/>
            <a:chOff x="610" y="890"/>
            <a:chExt cx="680" cy="632"/>
          </a:xfrm>
          <a:solidFill>
            <a:srgbClr val="CCFFCC"/>
          </a:solidFill>
        </p:grpSpPr>
        <p:sp>
          <p:nvSpPr>
            <p:cNvPr id="16" name="Rectangle 90"/>
            <p:cNvSpPr>
              <a:spLocks noChangeArrowheads="1"/>
            </p:cNvSpPr>
            <p:nvPr/>
          </p:nvSpPr>
          <p:spPr bwMode="auto">
            <a:xfrm>
              <a:off x="610" y="933"/>
              <a:ext cx="680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93"/>
            <p:cNvSpPr txBox="1">
              <a:spLocks noChangeArrowheads="1"/>
            </p:cNvSpPr>
            <p:nvPr/>
          </p:nvSpPr>
          <p:spPr bwMode="auto">
            <a:xfrm>
              <a:off x="1026" y="890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94"/>
            <p:cNvSpPr txBox="1">
              <a:spLocks noChangeArrowheads="1"/>
            </p:cNvSpPr>
            <p:nvPr/>
          </p:nvSpPr>
          <p:spPr bwMode="auto">
            <a:xfrm>
              <a:off x="620" y="1253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95"/>
            <p:cNvSpPr txBox="1">
              <a:spLocks noChangeArrowheads="1"/>
            </p:cNvSpPr>
            <p:nvPr/>
          </p:nvSpPr>
          <p:spPr bwMode="auto">
            <a:xfrm>
              <a:off x="1018" y="1249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0" name="Line 97"/>
            <p:cNvSpPr>
              <a:spLocks noChangeShapeType="1"/>
            </p:cNvSpPr>
            <p:nvPr/>
          </p:nvSpPr>
          <p:spPr bwMode="auto">
            <a:xfrm>
              <a:off x="1154" y="1140"/>
              <a:ext cx="0" cy="155"/>
            </a:xfrm>
            <a:prstGeom prst="line">
              <a:avLst/>
            </a:prstGeom>
            <a:grp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1" name="Group 145"/>
          <p:cNvGrpSpPr/>
          <p:nvPr/>
        </p:nvGrpSpPr>
        <p:grpSpPr bwMode="auto">
          <a:xfrm>
            <a:off x="2735796" y="3212976"/>
            <a:ext cx="1081087" cy="1003300"/>
            <a:chOff x="1743" y="890"/>
            <a:chExt cx="681" cy="632"/>
          </a:xfrm>
          <a:solidFill>
            <a:srgbClr val="CCFFCC"/>
          </a:solidFill>
        </p:grpSpPr>
        <p:sp>
          <p:nvSpPr>
            <p:cNvPr id="22" name="Rectangle 100"/>
            <p:cNvSpPr>
              <a:spLocks noChangeArrowheads="1"/>
            </p:cNvSpPr>
            <p:nvPr/>
          </p:nvSpPr>
          <p:spPr bwMode="auto">
            <a:xfrm>
              <a:off x="1744" y="933"/>
              <a:ext cx="680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102"/>
            <p:cNvSpPr txBox="1">
              <a:spLocks noChangeArrowheads="1"/>
            </p:cNvSpPr>
            <p:nvPr/>
          </p:nvSpPr>
          <p:spPr bwMode="auto">
            <a:xfrm>
              <a:off x="1743" y="890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103"/>
            <p:cNvSpPr txBox="1">
              <a:spLocks noChangeArrowheads="1"/>
            </p:cNvSpPr>
            <p:nvPr/>
          </p:nvSpPr>
          <p:spPr bwMode="auto">
            <a:xfrm>
              <a:off x="2160" y="936"/>
              <a:ext cx="116" cy="20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104"/>
            <p:cNvSpPr txBox="1">
              <a:spLocks noChangeArrowheads="1"/>
            </p:cNvSpPr>
            <p:nvPr/>
          </p:nvSpPr>
          <p:spPr bwMode="auto">
            <a:xfrm>
              <a:off x="1754" y="1253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105"/>
            <p:cNvSpPr txBox="1">
              <a:spLocks noChangeArrowheads="1"/>
            </p:cNvSpPr>
            <p:nvPr/>
          </p:nvSpPr>
          <p:spPr bwMode="auto">
            <a:xfrm>
              <a:off x="2152" y="1249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7" name="Line 106"/>
            <p:cNvSpPr>
              <a:spLocks noChangeShapeType="1"/>
            </p:cNvSpPr>
            <p:nvPr/>
          </p:nvSpPr>
          <p:spPr bwMode="auto">
            <a:xfrm>
              <a:off x="1970" y="1114"/>
              <a:ext cx="272" cy="182"/>
            </a:xfrm>
            <a:prstGeom prst="line">
              <a:avLst/>
            </a:prstGeom>
            <a:grp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108"/>
            <p:cNvSpPr>
              <a:spLocks noChangeShapeType="1"/>
            </p:cNvSpPr>
            <p:nvPr/>
          </p:nvSpPr>
          <p:spPr bwMode="auto">
            <a:xfrm>
              <a:off x="1880" y="1140"/>
              <a:ext cx="0" cy="155"/>
            </a:xfrm>
            <a:prstGeom prst="line">
              <a:avLst/>
            </a:prstGeom>
            <a:grp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9" name="Group 132"/>
          <p:cNvGrpSpPr/>
          <p:nvPr/>
        </p:nvGrpSpPr>
        <p:grpSpPr bwMode="auto">
          <a:xfrm>
            <a:off x="144996" y="4576638"/>
            <a:ext cx="1079500" cy="935038"/>
            <a:chOff x="20" y="1749"/>
            <a:chExt cx="680" cy="589"/>
          </a:xfrm>
          <a:solidFill>
            <a:srgbClr val="CCFFCC"/>
          </a:solidFill>
        </p:grpSpPr>
        <p:sp>
          <p:nvSpPr>
            <p:cNvPr id="30" name="Rectangle 109"/>
            <p:cNvSpPr>
              <a:spLocks noChangeArrowheads="1"/>
            </p:cNvSpPr>
            <p:nvPr/>
          </p:nvSpPr>
          <p:spPr bwMode="auto">
            <a:xfrm>
              <a:off x="20" y="1749"/>
              <a:ext cx="680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11"/>
            <p:cNvSpPr txBox="1">
              <a:spLocks noChangeArrowheads="1"/>
            </p:cNvSpPr>
            <p:nvPr/>
          </p:nvSpPr>
          <p:spPr bwMode="auto">
            <a:xfrm>
              <a:off x="30" y="2069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112"/>
            <p:cNvSpPr txBox="1">
              <a:spLocks noChangeArrowheads="1"/>
            </p:cNvSpPr>
            <p:nvPr/>
          </p:nvSpPr>
          <p:spPr bwMode="auto">
            <a:xfrm>
              <a:off x="428" y="2065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" name="Group 133"/>
          <p:cNvGrpSpPr/>
          <p:nvPr/>
        </p:nvGrpSpPr>
        <p:grpSpPr bwMode="auto">
          <a:xfrm>
            <a:off x="1511833" y="4508376"/>
            <a:ext cx="431800" cy="1003300"/>
            <a:chOff x="1426" y="1706"/>
            <a:chExt cx="272" cy="632"/>
          </a:xfrm>
          <a:solidFill>
            <a:srgbClr val="CCFFCC"/>
          </a:solidFill>
        </p:grpSpPr>
        <p:sp>
          <p:nvSpPr>
            <p:cNvPr id="34" name="Rectangle 114"/>
            <p:cNvSpPr>
              <a:spLocks noChangeArrowheads="1"/>
            </p:cNvSpPr>
            <p:nvPr/>
          </p:nvSpPr>
          <p:spPr bwMode="auto">
            <a:xfrm>
              <a:off x="1426" y="1749"/>
              <a:ext cx="272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115"/>
            <p:cNvSpPr txBox="1">
              <a:spLocks noChangeArrowheads="1"/>
            </p:cNvSpPr>
            <p:nvPr/>
          </p:nvSpPr>
          <p:spPr bwMode="auto">
            <a:xfrm>
              <a:off x="1434" y="1706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117"/>
            <p:cNvSpPr txBox="1">
              <a:spLocks noChangeArrowheads="1"/>
            </p:cNvSpPr>
            <p:nvPr/>
          </p:nvSpPr>
          <p:spPr bwMode="auto">
            <a:xfrm>
              <a:off x="1426" y="2065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7" name="Line 118"/>
            <p:cNvSpPr>
              <a:spLocks noChangeShapeType="1"/>
            </p:cNvSpPr>
            <p:nvPr/>
          </p:nvSpPr>
          <p:spPr bwMode="auto">
            <a:xfrm>
              <a:off x="1562" y="1956"/>
              <a:ext cx="0" cy="155"/>
            </a:xfrm>
            <a:prstGeom prst="line">
              <a:avLst/>
            </a:prstGeom>
            <a:grp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" name="Group 122"/>
          <p:cNvGrpSpPr/>
          <p:nvPr/>
        </p:nvGrpSpPr>
        <p:grpSpPr bwMode="auto">
          <a:xfrm>
            <a:off x="760946" y="5876801"/>
            <a:ext cx="463550" cy="431800"/>
            <a:chOff x="0" y="2704"/>
            <a:chExt cx="292" cy="272"/>
          </a:xfrm>
          <a:solidFill>
            <a:srgbClr val="CCFFCC"/>
          </a:solidFill>
        </p:grpSpPr>
        <p:sp>
          <p:nvSpPr>
            <p:cNvPr id="39" name="Rectangle 120"/>
            <p:cNvSpPr>
              <a:spLocks noChangeArrowheads="1"/>
            </p:cNvSpPr>
            <p:nvPr/>
          </p:nvSpPr>
          <p:spPr bwMode="auto">
            <a:xfrm>
              <a:off x="0" y="2704"/>
              <a:ext cx="292" cy="27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121"/>
            <p:cNvSpPr txBox="1">
              <a:spLocks noChangeArrowheads="1"/>
            </p:cNvSpPr>
            <p:nvPr/>
          </p:nvSpPr>
          <p:spPr bwMode="auto">
            <a:xfrm>
              <a:off x="19" y="2704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134"/>
          <p:cNvGrpSpPr/>
          <p:nvPr/>
        </p:nvGrpSpPr>
        <p:grpSpPr bwMode="auto">
          <a:xfrm>
            <a:off x="113246" y="5876801"/>
            <a:ext cx="463550" cy="431800"/>
            <a:chOff x="272" y="2568"/>
            <a:chExt cx="292" cy="272"/>
          </a:xfrm>
          <a:solidFill>
            <a:srgbClr val="CCFFCC"/>
          </a:solidFill>
        </p:grpSpPr>
        <p:sp>
          <p:nvSpPr>
            <p:cNvPr id="42" name="Rectangle 124"/>
            <p:cNvSpPr>
              <a:spLocks noChangeArrowheads="1"/>
            </p:cNvSpPr>
            <p:nvPr/>
          </p:nvSpPr>
          <p:spPr bwMode="auto">
            <a:xfrm>
              <a:off x="272" y="2568"/>
              <a:ext cx="292" cy="27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Text Box 125"/>
            <p:cNvSpPr txBox="1">
              <a:spLocks noChangeArrowheads="1"/>
            </p:cNvSpPr>
            <p:nvPr/>
          </p:nvSpPr>
          <p:spPr bwMode="auto">
            <a:xfrm>
              <a:off x="291" y="2568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4" name="Group 126"/>
          <p:cNvGrpSpPr/>
          <p:nvPr/>
        </p:nvGrpSpPr>
        <p:grpSpPr bwMode="auto">
          <a:xfrm>
            <a:off x="1511833" y="5876801"/>
            <a:ext cx="463550" cy="431800"/>
            <a:chOff x="0" y="2704"/>
            <a:chExt cx="292" cy="272"/>
          </a:xfrm>
          <a:solidFill>
            <a:srgbClr val="CCFFCC"/>
          </a:solidFill>
        </p:grpSpPr>
        <p:sp>
          <p:nvSpPr>
            <p:cNvPr id="45" name="Rectangle 127"/>
            <p:cNvSpPr>
              <a:spLocks noChangeArrowheads="1"/>
            </p:cNvSpPr>
            <p:nvPr/>
          </p:nvSpPr>
          <p:spPr bwMode="auto">
            <a:xfrm>
              <a:off x="0" y="2704"/>
              <a:ext cx="292" cy="27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128"/>
            <p:cNvSpPr txBox="1">
              <a:spLocks noChangeArrowheads="1"/>
            </p:cNvSpPr>
            <p:nvPr/>
          </p:nvSpPr>
          <p:spPr bwMode="auto">
            <a:xfrm>
              <a:off x="19" y="2704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" name="Group 135"/>
          <p:cNvGrpSpPr/>
          <p:nvPr/>
        </p:nvGrpSpPr>
        <p:grpSpPr bwMode="auto">
          <a:xfrm>
            <a:off x="2737383" y="4581401"/>
            <a:ext cx="1079500" cy="935037"/>
            <a:chOff x="20" y="1749"/>
            <a:chExt cx="680" cy="589"/>
          </a:xfrm>
          <a:solidFill>
            <a:srgbClr val="CCFFCC"/>
          </a:solidFill>
        </p:grpSpPr>
        <p:sp>
          <p:nvSpPr>
            <p:cNvPr id="48" name="Rectangle 136"/>
            <p:cNvSpPr>
              <a:spLocks noChangeArrowheads="1"/>
            </p:cNvSpPr>
            <p:nvPr/>
          </p:nvSpPr>
          <p:spPr bwMode="auto">
            <a:xfrm>
              <a:off x="20" y="1749"/>
              <a:ext cx="680" cy="589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137"/>
            <p:cNvSpPr txBox="1">
              <a:spLocks noChangeArrowheads="1"/>
            </p:cNvSpPr>
            <p:nvPr/>
          </p:nvSpPr>
          <p:spPr bwMode="auto">
            <a:xfrm>
              <a:off x="30" y="2069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138"/>
            <p:cNvSpPr txBox="1">
              <a:spLocks noChangeArrowheads="1"/>
            </p:cNvSpPr>
            <p:nvPr/>
          </p:nvSpPr>
          <p:spPr bwMode="auto">
            <a:xfrm>
              <a:off x="428" y="2065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" name="Group 139"/>
          <p:cNvGrpSpPr/>
          <p:nvPr/>
        </p:nvGrpSpPr>
        <p:grpSpPr bwMode="auto">
          <a:xfrm>
            <a:off x="3353333" y="5876801"/>
            <a:ext cx="463550" cy="431800"/>
            <a:chOff x="0" y="2704"/>
            <a:chExt cx="292" cy="272"/>
          </a:xfrm>
          <a:solidFill>
            <a:srgbClr val="CCFFCC"/>
          </a:solidFill>
        </p:grpSpPr>
        <p:sp>
          <p:nvSpPr>
            <p:cNvPr id="52" name="Rectangle 140"/>
            <p:cNvSpPr>
              <a:spLocks noChangeArrowheads="1"/>
            </p:cNvSpPr>
            <p:nvPr/>
          </p:nvSpPr>
          <p:spPr bwMode="auto">
            <a:xfrm>
              <a:off x="0" y="2704"/>
              <a:ext cx="292" cy="27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Text Box 141"/>
            <p:cNvSpPr txBox="1">
              <a:spLocks noChangeArrowheads="1"/>
            </p:cNvSpPr>
            <p:nvPr/>
          </p:nvSpPr>
          <p:spPr bwMode="auto">
            <a:xfrm>
              <a:off x="19" y="2704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" name="Group 142"/>
          <p:cNvGrpSpPr/>
          <p:nvPr/>
        </p:nvGrpSpPr>
        <p:grpSpPr bwMode="auto">
          <a:xfrm>
            <a:off x="2737383" y="5876801"/>
            <a:ext cx="463550" cy="431800"/>
            <a:chOff x="0" y="2704"/>
            <a:chExt cx="292" cy="272"/>
          </a:xfrm>
          <a:solidFill>
            <a:srgbClr val="CCFFCC"/>
          </a:solidFill>
        </p:grpSpPr>
        <p:sp>
          <p:nvSpPr>
            <p:cNvPr id="55" name="Rectangle 143"/>
            <p:cNvSpPr>
              <a:spLocks noChangeArrowheads="1"/>
            </p:cNvSpPr>
            <p:nvPr/>
          </p:nvSpPr>
          <p:spPr bwMode="auto">
            <a:xfrm>
              <a:off x="0" y="2704"/>
              <a:ext cx="292" cy="27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144"/>
            <p:cNvSpPr txBox="1">
              <a:spLocks noChangeArrowheads="1"/>
            </p:cNvSpPr>
            <p:nvPr/>
          </p:nvSpPr>
          <p:spPr bwMode="auto">
            <a:xfrm>
              <a:off x="19" y="2704"/>
              <a:ext cx="264" cy="2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J</a:t>
              </a:r>
              <a:r>
                <a:rPr lang="en-US" altLang="zh-CN" sz="22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2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57" name="Line 146"/>
          <p:cNvSpPr>
            <a:spLocks noChangeShapeType="1"/>
          </p:cNvSpPr>
          <p:nvPr/>
        </p:nvSpPr>
        <p:spPr bwMode="auto">
          <a:xfrm flipH="1">
            <a:off x="1151471" y="2925638"/>
            <a:ext cx="865187" cy="35877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147"/>
          <p:cNvSpPr>
            <a:spLocks noChangeShapeType="1"/>
          </p:cNvSpPr>
          <p:nvPr/>
        </p:nvSpPr>
        <p:spPr bwMode="auto">
          <a:xfrm>
            <a:off x="2375433" y="2925638"/>
            <a:ext cx="865188" cy="35877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148"/>
          <p:cNvSpPr>
            <a:spLocks noChangeShapeType="1"/>
          </p:cNvSpPr>
          <p:nvPr/>
        </p:nvSpPr>
        <p:spPr bwMode="auto">
          <a:xfrm flipH="1">
            <a:off x="648233" y="4221038"/>
            <a:ext cx="287338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149"/>
          <p:cNvSpPr>
            <a:spLocks noChangeShapeType="1"/>
          </p:cNvSpPr>
          <p:nvPr/>
        </p:nvSpPr>
        <p:spPr bwMode="auto">
          <a:xfrm>
            <a:off x="1440396" y="4221038"/>
            <a:ext cx="287337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150"/>
          <p:cNvSpPr>
            <a:spLocks noChangeShapeType="1"/>
          </p:cNvSpPr>
          <p:nvPr/>
        </p:nvSpPr>
        <p:spPr bwMode="auto">
          <a:xfrm flipH="1">
            <a:off x="287871" y="5516438"/>
            <a:ext cx="144462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151"/>
          <p:cNvSpPr>
            <a:spLocks noChangeShapeType="1"/>
          </p:cNvSpPr>
          <p:nvPr/>
        </p:nvSpPr>
        <p:spPr bwMode="auto">
          <a:xfrm>
            <a:off x="935571" y="5516438"/>
            <a:ext cx="144462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3" name="Line 152"/>
          <p:cNvSpPr>
            <a:spLocks noChangeShapeType="1"/>
          </p:cNvSpPr>
          <p:nvPr/>
        </p:nvSpPr>
        <p:spPr bwMode="auto">
          <a:xfrm>
            <a:off x="1727733" y="5516438"/>
            <a:ext cx="0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153"/>
          <p:cNvSpPr>
            <a:spLocks noChangeShapeType="1"/>
          </p:cNvSpPr>
          <p:nvPr/>
        </p:nvSpPr>
        <p:spPr bwMode="auto">
          <a:xfrm>
            <a:off x="3312058" y="4221038"/>
            <a:ext cx="0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154"/>
          <p:cNvSpPr>
            <a:spLocks noChangeShapeType="1"/>
          </p:cNvSpPr>
          <p:nvPr/>
        </p:nvSpPr>
        <p:spPr bwMode="auto">
          <a:xfrm flipH="1">
            <a:off x="2951696" y="5516438"/>
            <a:ext cx="144462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155"/>
          <p:cNvSpPr>
            <a:spLocks noChangeShapeType="1"/>
          </p:cNvSpPr>
          <p:nvPr/>
        </p:nvSpPr>
        <p:spPr bwMode="auto">
          <a:xfrm>
            <a:off x="3383496" y="5516438"/>
            <a:ext cx="215900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14"/>
          <p:cNvSpPr>
            <a:spLocks noChangeShapeType="1"/>
          </p:cNvSpPr>
          <p:nvPr/>
        </p:nvSpPr>
        <p:spPr bwMode="auto">
          <a:xfrm flipH="1">
            <a:off x="6300191" y="1627189"/>
            <a:ext cx="782237" cy="68335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Line 15"/>
          <p:cNvSpPr>
            <a:spLocks noChangeShapeType="1"/>
          </p:cNvSpPr>
          <p:nvPr/>
        </p:nvSpPr>
        <p:spPr bwMode="auto">
          <a:xfrm>
            <a:off x="7514231" y="1646238"/>
            <a:ext cx="701616" cy="7207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16"/>
          <p:cNvSpPr>
            <a:spLocks noChangeShapeType="1"/>
          </p:cNvSpPr>
          <p:nvPr/>
        </p:nvSpPr>
        <p:spPr bwMode="auto">
          <a:xfrm flipH="1">
            <a:off x="5292130" y="2563813"/>
            <a:ext cx="647700" cy="6477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Line 17"/>
          <p:cNvSpPr>
            <a:spLocks noChangeShapeType="1"/>
          </p:cNvSpPr>
          <p:nvPr/>
        </p:nvSpPr>
        <p:spPr bwMode="auto">
          <a:xfrm>
            <a:off x="6243067" y="2582800"/>
            <a:ext cx="43180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" name="Line 18"/>
          <p:cNvSpPr>
            <a:spLocks noChangeShapeType="1"/>
          </p:cNvSpPr>
          <p:nvPr/>
        </p:nvSpPr>
        <p:spPr bwMode="auto">
          <a:xfrm flipH="1">
            <a:off x="4715867" y="3427413"/>
            <a:ext cx="358775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" name="Line 19"/>
          <p:cNvSpPr>
            <a:spLocks noChangeShapeType="1"/>
          </p:cNvSpPr>
          <p:nvPr/>
        </p:nvSpPr>
        <p:spPr bwMode="auto">
          <a:xfrm>
            <a:off x="5363567" y="3427413"/>
            <a:ext cx="287338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20"/>
          <p:cNvSpPr>
            <a:spLocks noChangeShapeType="1"/>
          </p:cNvSpPr>
          <p:nvPr/>
        </p:nvSpPr>
        <p:spPr bwMode="auto">
          <a:xfrm>
            <a:off x="4642842" y="4364038"/>
            <a:ext cx="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Line 21"/>
          <p:cNvSpPr>
            <a:spLocks noChangeShapeType="1"/>
          </p:cNvSpPr>
          <p:nvPr/>
        </p:nvSpPr>
        <p:spPr bwMode="auto">
          <a:xfrm>
            <a:off x="5650905" y="4364038"/>
            <a:ext cx="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" name="Line 22"/>
          <p:cNvSpPr>
            <a:spLocks noChangeShapeType="1"/>
          </p:cNvSpPr>
          <p:nvPr/>
        </p:nvSpPr>
        <p:spPr bwMode="auto">
          <a:xfrm>
            <a:off x="6732364" y="3500438"/>
            <a:ext cx="0" cy="50323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Line 23"/>
          <p:cNvSpPr>
            <a:spLocks noChangeShapeType="1"/>
          </p:cNvSpPr>
          <p:nvPr/>
        </p:nvSpPr>
        <p:spPr bwMode="auto">
          <a:xfrm>
            <a:off x="6732364" y="4364038"/>
            <a:ext cx="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24"/>
          <p:cNvSpPr>
            <a:spLocks noChangeShapeType="1"/>
          </p:cNvSpPr>
          <p:nvPr/>
        </p:nvSpPr>
        <p:spPr bwMode="auto">
          <a:xfrm>
            <a:off x="7848240" y="4435475"/>
            <a:ext cx="0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25"/>
          <p:cNvSpPr>
            <a:spLocks noChangeShapeType="1"/>
          </p:cNvSpPr>
          <p:nvPr/>
        </p:nvSpPr>
        <p:spPr bwMode="auto">
          <a:xfrm>
            <a:off x="8856302" y="4435475"/>
            <a:ext cx="0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26"/>
          <p:cNvSpPr>
            <a:spLocks noChangeShapeType="1"/>
          </p:cNvSpPr>
          <p:nvPr/>
        </p:nvSpPr>
        <p:spPr bwMode="auto">
          <a:xfrm flipH="1">
            <a:off x="7919677" y="3500438"/>
            <a:ext cx="287338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27"/>
          <p:cNvSpPr>
            <a:spLocks noChangeShapeType="1"/>
          </p:cNvSpPr>
          <p:nvPr/>
        </p:nvSpPr>
        <p:spPr bwMode="auto">
          <a:xfrm>
            <a:off x="8495940" y="3500438"/>
            <a:ext cx="287337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>
            <a:off x="8351477" y="2708275"/>
            <a:ext cx="0" cy="50323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" name="Oval 29"/>
          <p:cNvSpPr>
            <a:spLocks noChangeArrowheads="1"/>
          </p:cNvSpPr>
          <p:nvPr/>
        </p:nvSpPr>
        <p:spPr bwMode="auto">
          <a:xfrm>
            <a:off x="7082430" y="1373920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3" name="Oval 30"/>
          <p:cNvSpPr>
            <a:spLocks noChangeArrowheads="1"/>
          </p:cNvSpPr>
          <p:nvPr/>
        </p:nvSpPr>
        <p:spPr bwMode="auto">
          <a:xfrm>
            <a:off x="5868392" y="2274888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4" name="Oval 31"/>
          <p:cNvSpPr>
            <a:spLocks noChangeArrowheads="1"/>
          </p:cNvSpPr>
          <p:nvPr/>
        </p:nvSpPr>
        <p:spPr bwMode="auto">
          <a:xfrm>
            <a:off x="8135577" y="2347913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" name="Oval 32"/>
          <p:cNvSpPr>
            <a:spLocks noChangeArrowheads="1"/>
          </p:cNvSpPr>
          <p:nvPr/>
        </p:nvSpPr>
        <p:spPr bwMode="auto">
          <a:xfrm>
            <a:off x="5003205" y="314007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6" name="Oval 33"/>
          <p:cNvSpPr>
            <a:spLocks noChangeArrowheads="1"/>
          </p:cNvSpPr>
          <p:nvPr/>
        </p:nvSpPr>
        <p:spPr bwMode="auto">
          <a:xfrm>
            <a:off x="6516464" y="314007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7" name="Oval 34"/>
          <p:cNvSpPr>
            <a:spLocks noChangeArrowheads="1"/>
          </p:cNvSpPr>
          <p:nvPr/>
        </p:nvSpPr>
        <p:spPr bwMode="auto">
          <a:xfrm>
            <a:off x="8135577" y="3211513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4426942" y="400367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9" name="Oval 36"/>
          <p:cNvSpPr>
            <a:spLocks noChangeArrowheads="1"/>
          </p:cNvSpPr>
          <p:nvPr/>
        </p:nvSpPr>
        <p:spPr bwMode="auto">
          <a:xfrm>
            <a:off x="5435005" y="400367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0" name="Oval 37"/>
          <p:cNvSpPr>
            <a:spLocks noChangeArrowheads="1"/>
          </p:cNvSpPr>
          <p:nvPr/>
        </p:nvSpPr>
        <p:spPr bwMode="auto">
          <a:xfrm>
            <a:off x="6516464" y="400367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1" name="Oval 38"/>
          <p:cNvSpPr>
            <a:spLocks noChangeArrowheads="1"/>
          </p:cNvSpPr>
          <p:nvPr/>
        </p:nvSpPr>
        <p:spPr bwMode="auto">
          <a:xfrm>
            <a:off x="7632340" y="4076700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2" name="Oval 39"/>
          <p:cNvSpPr>
            <a:spLocks noChangeArrowheads="1"/>
          </p:cNvSpPr>
          <p:nvPr/>
        </p:nvSpPr>
        <p:spPr bwMode="auto">
          <a:xfrm>
            <a:off x="8640402" y="4076700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3" name="Oval 40"/>
          <p:cNvSpPr>
            <a:spLocks noChangeArrowheads="1"/>
          </p:cNvSpPr>
          <p:nvPr/>
        </p:nvSpPr>
        <p:spPr bwMode="auto">
          <a:xfrm>
            <a:off x="5435005" y="4940300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4" name="Oval 41"/>
          <p:cNvSpPr>
            <a:spLocks noChangeArrowheads="1"/>
          </p:cNvSpPr>
          <p:nvPr/>
        </p:nvSpPr>
        <p:spPr bwMode="auto">
          <a:xfrm>
            <a:off x="4426942" y="4940300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5" name="Oval 42"/>
          <p:cNvSpPr>
            <a:spLocks noChangeArrowheads="1"/>
          </p:cNvSpPr>
          <p:nvPr/>
        </p:nvSpPr>
        <p:spPr bwMode="auto">
          <a:xfrm>
            <a:off x="6516464" y="4940300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6" name="Oval 43"/>
          <p:cNvSpPr>
            <a:spLocks noChangeArrowheads="1"/>
          </p:cNvSpPr>
          <p:nvPr/>
        </p:nvSpPr>
        <p:spPr bwMode="auto">
          <a:xfrm>
            <a:off x="8640402" y="501332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7" name="Oval 44"/>
          <p:cNvSpPr>
            <a:spLocks noChangeArrowheads="1"/>
          </p:cNvSpPr>
          <p:nvPr/>
        </p:nvSpPr>
        <p:spPr bwMode="auto">
          <a:xfrm>
            <a:off x="7632340" y="5013325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计算解的代价的下界</a:t>
            </a:r>
            <a:endParaRPr lang="zh-CN" altLang="en-US" dirty="0"/>
          </a:p>
          <a:p>
            <a:pPr lvl="1"/>
            <a:r>
              <a:rPr lang="zh-CN" altLang="en-US" dirty="0"/>
              <a:t>把代价矩阵某行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的各元素减去同一个数</a:t>
            </a:r>
            <a:r>
              <a:rPr lang="en-US" altLang="zh-CN" dirty="0"/>
              <a:t>, </a:t>
            </a:r>
            <a:r>
              <a:rPr lang="zh-CN" altLang="en-US" dirty="0"/>
              <a:t>不影响优化解的求解</a:t>
            </a:r>
            <a:endParaRPr lang="en-US" altLang="zh-CN" dirty="0"/>
          </a:p>
          <a:p>
            <a:pPr lvl="1"/>
            <a:r>
              <a:rPr lang="zh-CN" altLang="en-US" dirty="0"/>
              <a:t>代价矩阵的每行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减去同一个数</a:t>
            </a:r>
            <a:r>
              <a:rPr lang="en-US" altLang="zh-CN" dirty="0"/>
              <a:t>(</a:t>
            </a:r>
            <a:r>
              <a:rPr lang="zh-CN" altLang="en-US" dirty="0"/>
              <a:t>该行或列的最小数</a:t>
            </a:r>
            <a:r>
              <a:rPr lang="en-US" altLang="zh-CN" dirty="0"/>
              <a:t>), </a:t>
            </a:r>
            <a:r>
              <a:rPr lang="zh-CN" altLang="en-US" dirty="0"/>
              <a:t>使得每行和每列至少有一个零</a:t>
            </a:r>
            <a:r>
              <a:rPr lang="en-US" altLang="zh-CN" dirty="0"/>
              <a:t>, </a:t>
            </a:r>
            <a:r>
              <a:rPr lang="zh-CN" altLang="en-US" dirty="0"/>
              <a:t>其余各元素非负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zh-CN" altLang="en-US" dirty="0"/>
              <a:t>每行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减去的数的和即为解的下界</a:t>
            </a:r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每行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减去的数的和即为解的下界</a:t>
            </a:r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330045" y="2732747"/>
          <a:ext cx="2831611" cy="23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公式" r:id="rId1" imgW="711200" imgH="635000" progId="Equation.3">
                  <p:embed/>
                </p:oleObj>
              </mc:Choice>
              <mc:Fallback>
                <p:oleObj name="公式" r:id="rId1" imgW="711200" imgH="635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045" y="2732747"/>
                        <a:ext cx="2831611" cy="2320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45919" y="2758410"/>
            <a:ext cx="8787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</a:rPr>
              <a:t>-12</a:t>
            </a:r>
            <a:endParaRPr lang="en-US" altLang="zh-CN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960208" y="3334673"/>
            <a:ext cx="10196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</a:rPr>
              <a:t>-26</a:t>
            </a:r>
            <a:endParaRPr lang="en-US" altLang="zh-CN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54331" y="3837910"/>
            <a:ext cx="6940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</a:rPr>
              <a:t>-3</a:t>
            </a:r>
            <a:endParaRPr lang="en-US" altLang="zh-CN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966558" y="4487198"/>
            <a:ext cx="8580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</a:rPr>
              <a:t>-10</a:t>
            </a:r>
            <a:endParaRPr lang="en-US" altLang="zh-CN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722305" y="4993610"/>
            <a:ext cx="7388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</a:rPr>
              <a:t>-3</a:t>
            </a:r>
            <a:endParaRPr lang="en-US" altLang="zh-CN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5166885" y="3905493"/>
            <a:ext cx="610221" cy="210782"/>
          </a:xfrm>
          <a:prstGeom prst="rightArrow">
            <a:avLst>
              <a:gd name="adj1" fmla="val 50000"/>
              <a:gd name="adj2" fmla="val 75184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468763" y="5648334"/>
            <a:ext cx="6485616" cy="646331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anose="02010609060101010101" pitchFamily="49" charset="-122"/>
              </a:rPr>
              <a:t>解代价下界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anose="02010609060101010101" pitchFamily="49" charset="-122"/>
              </a:rPr>
              <a:t>=12+26+3+10+3=54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13" name="Group 21"/>
          <p:cNvGrpSpPr/>
          <p:nvPr/>
        </p:nvGrpSpPr>
        <p:grpSpPr bwMode="auto">
          <a:xfrm>
            <a:off x="457200" y="2312876"/>
            <a:ext cx="3518093" cy="2811462"/>
            <a:chOff x="382" y="845"/>
            <a:chExt cx="2358" cy="1814"/>
          </a:xfrm>
        </p:grpSpPr>
        <p:graphicFrame>
          <p:nvGraphicFramePr>
            <p:cNvPr id="14" name="Object 4"/>
            <p:cNvGraphicFramePr>
              <a:graphicFrameLocks noChangeAspect="1"/>
            </p:cNvGraphicFramePr>
            <p:nvPr/>
          </p:nvGraphicFramePr>
          <p:xfrm>
            <a:off x="620" y="1162"/>
            <a:ext cx="2120" cy="1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" name="公式" r:id="rId3" imgW="824865" imgH="635000" progId="Equation.3">
                    <p:embed/>
                  </p:oleObj>
                </mc:Choice>
                <mc:Fallback>
                  <p:oleObj name="公式" r:id="rId3" imgW="824865" imgH="6350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" y="1162"/>
                          <a:ext cx="2120" cy="1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756" y="858"/>
              <a:ext cx="32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J</a:t>
              </a:r>
              <a:r>
                <a:rPr lang="en-US" altLang="zh-CN" sz="2800" b="1" i="1" baseline="-25000">
                  <a:latin typeface="+mn-lt"/>
                </a:rPr>
                <a:t>1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1244" y="845"/>
              <a:ext cx="32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J</a:t>
              </a:r>
              <a:r>
                <a:rPr lang="en-US" altLang="zh-CN" sz="2800" b="1" i="1" baseline="-25000">
                  <a:latin typeface="+mn-lt"/>
                </a:rPr>
                <a:t>2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743" y="845"/>
              <a:ext cx="32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J</a:t>
              </a:r>
              <a:r>
                <a:rPr lang="en-US" altLang="zh-CN" sz="2800" b="1" i="1" baseline="-25000">
                  <a:latin typeface="+mn-lt"/>
                </a:rPr>
                <a:t>3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253" y="845"/>
              <a:ext cx="32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J</a:t>
              </a:r>
              <a:r>
                <a:rPr lang="en-US" altLang="zh-CN" sz="2800" b="1" i="1" baseline="-25000">
                  <a:latin typeface="+mn-lt"/>
                </a:rPr>
                <a:t>4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82" y="1162"/>
              <a:ext cx="35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P</a:t>
              </a:r>
              <a:r>
                <a:rPr lang="en-US" altLang="zh-CN" sz="2800" b="1" i="1" baseline="-25000">
                  <a:latin typeface="+mn-lt"/>
                </a:rPr>
                <a:t>1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94" y="1525"/>
              <a:ext cx="35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P</a:t>
              </a:r>
              <a:r>
                <a:rPr lang="en-US" altLang="zh-CN" sz="2800" b="1" i="1" baseline="-25000">
                  <a:latin typeface="+mn-lt"/>
                </a:rPr>
                <a:t>2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394" y="1878"/>
              <a:ext cx="35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P</a:t>
              </a:r>
              <a:r>
                <a:rPr lang="en-US" altLang="zh-CN" sz="2800" b="1" i="1" baseline="-25000">
                  <a:latin typeface="+mn-lt"/>
                </a:rPr>
                <a:t>3</a:t>
              </a:r>
              <a:endParaRPr lang="en-US" altLang="zh-CN" sz="2800" b="1" i="1" baseline="-25000">
                <a:latin typeface="+mn-lt"/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394" y="2241"/>
              <a:ext cx="35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+mn-lt"/>
                </a:rPr>
                <a:t>P</a:t>
              </a:r>
              <a:r>
                <a:rPr lang="en-US" altLang="zh-CN" sz="2800" b="1" i="1" baseline="-25000">
                  <a:latin typeface="+mn-lt"/>
                </a:rPr>
                <a:t>4</a:t>
              </a:r>
              <a:endParaRPr lang="en-US" altLang="zh-CN" sz="2800" b="1" i="1" baseline="-25000"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解空间的加权树表示</a:t>
            </a:r>
            <a:endParaRPr lang="zh-CN" altLang="en-US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98" name="Object 60"/>
          <p:cNvGraphicFramePr>
            <a:graphicFrameLocks noChangeAspect="1"/>
          </p:cNvGraphicFramePr>
          <p:nvPr/>
        </p:nvGraphicFramePr>
        <p:xfrm>
          <a:off x="360723" y="2130426"/>
          <a:ext cx="1969460" cy="158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公式" r:id="rId1" imgW="711200" imgH="635000" progId="Equation.3">
                  <p:embed/>
                </p:oleObj>
              </mc:Choice>
              <mc:Fallback>
                <p:oleObj name="公式" r:id="rId1" imgW="711200" imgH="6350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723" y="2130426"/>
                        <a:ext cx="1969460" cy="15851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" name="Group 54"/>
          <p:cNvGrpSpPr/>
          <p:nvPr/>
        </p:nvGrpSpPr>
        <p:grpSpPr bwMode="auto">
          <a:xfrm>
            <a:off x="1979711" y="2816931"/>
            <a:ext cx="5625774" cy="3783893"/>
            <a:chOff x="1222" y="835"/>
            <a:chExt cx="4001" cy="2551"/>
          </a:xfrm>
        </p:grpSpPr>
        <p:grpSp>
          <p:nvGrpSpPr>
            <p:cNvPr id="100" name="Group 5"/>
            <p:cNvGrpSpPr/>
            <p:nvPr/>
          </p:nvGrpSpPr>
          <p:grpSpPr bwMode="auto">
            <a:xfrm>
              <a:off x="1426" y="1026"/>
              <a:ext cx="3584" cy="2360"/>
              <a:chOff x="745" y="1207"/>
              <a:chExt cx="3584" cy="2360"/>
            </a:xfrm>
          </p:grpSpPr>
          <p:sp>
            <p:nvSpPr>
              <p:cNvPr id="117" name="Line 6"/>
              <p:cNvSpPr>
                <a:spLocks noChangeShapeType="1"/>
              </p:cNvSpPr>
              <p:nvPr/>
            </p:nvSpPr>
            <p:spPr bwMode="auto">
              <a:xfrm flipH="1">
                <a:off x="1879" y="1344"/>
                <a:ext cx="862" cy="317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18" name="Line 7"/>
              <p:cNvSpPr>
                <a:spLocks noChangeShapeType="1"/>
              </p:cNvSpPr>
              <p:nvPr/>
            </p:nvSpPr>
            <p:spPr bwMode="auto">
              <a:xfrm>
                <a:off x="3013" y="1344"/>
                <a:ext cx="771" cy="362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19" name="Line 8"/>
              <p:cNvSpPr>
                <a:spLocks noChangeShapeType="1"/>
              </p:cNvSpPr>
              <p:nvPr/>
            </p:nvSpPr>
            <p:spPr bwMode="auto">
              <a:xfrm flipH="1">
                <a:off x="1290" y="1797"/>
                <a:ext cx="408" cy="40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0" name="Line 9"/>
              <p:cNvSpPr>
                <a:spLocks noChangeShapeType="1"/>
              </p:cNvSpPr>
              <p:nvPr/>
            </p:nvSpPr>
            <p:spPr bwMode="auto">
              <a:xfrm>
                <a:off x="1879" y="1797"/>
                <a:ext cx="272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1" name="Line 10"/>
              <p:cNvSpPr>
                <a:spLocks noChangeShapeType="1"/>
              </p:cNvSpPr>
              <p:nvPr/>
            </p:nvSpPr>
            <p:spPr bwMode="auto">
              <a:xfrm flipH="1">
                <a:off x="927" y="2341"/>
                <a:ext cx="226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2" name="Line 11"/>
              <p:cNvSpPr>
                <a:spLocks noChangeShapeType="1"/>
              </p:cNvSpPr>
              <p:nvPr/>
            </p:nvSpPr>
            <p:spPr bwMode="auto">
              <a:xfrm>
                <a:off x="1335" y="2341"/>
                <a:ext cx="181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3" name="Line 12"/>
              <p:cNvSpPr>
                <a:spLocks noChangeShapeType="1"/>
              </p:cNvSpPr>
              <p:nvPr/>
            </p:nvSpPr>
            <p:spPr bwMode="auto">
              <a:xfrm>
                <a:off x="881" y="2931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4" name="Line 13"/>
              <p:cNvSpPr>
                <a:spLocks noChangeShapeType="1"/>
              </p:cNvSpPr>
              <p:nvPr/>
            </p:nvSpPr>
            <p:spPr bwMode="auto">
              <a:xfrm>
                <a:off x="1516" y="2931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5" name="Line 14"/>
              <p:cNvSpPr>
                <a:spLocks noChangeShapeType="1"/>
              </p:cNvSpPr>
              <p:nvPr/>
            </p:nvSpPr>
            <p:spPr bwMode="auto">
              <a:xfrm>
                <a:off x="2197" y="2387"/>
                <a:ext cx="0" cy="317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6" name="Line 15"/>
              <p:cNvSpPr>
                <a:spLocks noChangeShapeType="1"/>
              </p:cNvSpPr>
              <p:nvPr/>
            </p:nvSpPr>
            <p:spPr bwMode="auto">
              <a:xfrm>
                <a:off x="2197" y="2931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7" name="Line 16"/>
              <p:cNvSpPr>
                <a:spLocks noChangeShapeType="1"/>
              </p:cNvSpPr>
              <p:nvPr/>
            </p:nvSpPr>
            <p:spPr bwMode="auto">
              <a:xfrm>
                <a:off x="3558" y="2976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8" name="Line 17"/>
              <p:cNvSpPr>
                <a:spLocks noChangeShapeType="1"/>
              </p:cNvSpPr>
              <p:nvPr/>
            </p:nvSpPr>
            <p:spPr bwMode="auto">
              <a:xfrm>
                <a:off x="4193" y="2976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29" name="Line 18"/>
              <p:cNvSpPr>
                <a:spLocks noChangeShapeType="1"/>
              </p:cNvSpPr>
              <p:nvPr/>
            </p:nvSpPr>
            <p:spPr bwMode="auto">
              <a:xfrm flipH="1">
                <a:off x="3603" y="2387"/>
                <a:ext cx="181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30" name="Line 19"/>
              <p:cNvSpPr>
                <a:spLocks noChangeShapeType="1"/>
              </p:cNvSpPr>
              <p:nvPr/>
            </p:nvSpPr>
            <p:spPr bwMode="auto">
              <a:xfrm>
                <a:off x="3966" y="2387"/>
                <a:ext cx="181" cy="363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31" name="Line 20"/>
              <p:cNvSpPr>
                <a:spLocks noChangeShapeType="1"/>
              </p:cNvSpPr>
              <p:nvPr/>
            </p:nvSpPr>
            <p:spPr bwMode="auto">
              <a:xfrm>
                <a:off x="3875" y="1888"/>
                <a:ext cx="0" cy="317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/>
              </a:p>
            </p:txBody>
          </p:sp>
          <p:sp>
            <p:nvSpPr>
              <p:cNvPr id="132" name="Oval 21"/>
              <p:cNvSpPr>
                <a:spLocks noChangeArrowheads="1"/>
              </p:cNvSpPr>
              <p:nvPr/>
            </p:nvSpPr>
            <p:spPr bwMode="auto">
              <a:xfrm>
                <a:off x="2741" y="1207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Oval 22"/>
              <p:cNvSpPr>
                <a:spLocks noChangeArrowheads="1"/>
              </p:cNvSpPr>
              <p:nvPr/>
            </p:nvSpPr>
            <p:spPr bwMode="auto">
              <a:xfrm>
                <a:off x="1653" y="1615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Oval 23"/>
              <p:cNvSpPr>
                <a:spLocks noChangeArrowheads="1"/>
              </p:cNvSpPr>
              <p:nvPr/>
            </p:nvSpPr>
            <p:spPr bwMode="auto">
              <a:xfrm>
                <a:off x="3739" y="1661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Oval 24"/>
              <p:cNvSpPr>
                <a:spLocks noChangeArrowheads="1"/>
              </p:cNvSpPr>
              <p:nvPr/>
            </p:nvSpPr>
            <p:spPr bwMode="auto">
              <a:xfrm>
                <a:off x="1108" y="216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Oval 25"/>
              <p:cNvSpPr>
                <a:spLocks noChangeArrowheads="1"/>
              </p:cNvSpPr>
              <p:nvPr/>
            </p:nvSpPr>
            <p:spPr bwMode="auto">
              <a:xfrm>
                <a:off x="2061" y="216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Oval 26"/>
              <p:cNvSpPr>
                <a:spLocks noChangeArrowheads="1"/>
              </p:cNvSpPr>
              <p:nvPr/>
            </p:nvSpPr>
            <p:spPr bwMode="auto">
              <a:xfrm>
                <a:off x="3739" y="2205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8" name="Oval 27"/>
              <p:cNvSpPr>
                <a:spLocks noChangeArrowheads="1"/>
              </p:cNvSpPr>
              <p:nvPr/>
            </p:nvSpPr>
            <p:spPr bwMode="auto">
              <a:xfrm>
                <a:off x="745" y="270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9" name="Oval 28"/>
              <p:cNvSpPr>
                <a:spLocks noChangeArrowheads="1"/>
              </p:cNvSpPr>
              <p:nvPr/>
            </p:nvSpPr>
            <p:spPr bwMode="auto">
              <a:xfrm>
                <a:off x="1380" y="270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Oval 29"/>
              <p:cNvSpPr>
                <a:spLocks noChangeArrowheads="1"/>
              </p:cNvSpPr>
              <p:nvPr/>
            </p:nvSpPr>
            <p:spPr bwMode="auto">
              <a:xfrm>
                <a:off x="2061" y="270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Oval 30"/>
              <p:cNvSpPr>
                <a:spLocks noChangeArrowheads="1"/>
              </p:cNvSpPr>
              <p:nvPr/>
            </p:nvSpPr>
            <p:spPr bwMode="auto">
              <a:xfrm>
                <a:off x="3422" y="275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Oval 31"/>
              <p:cNvSpPr>
                <a:spLocks noChangeArrowheads="1"/>
              </p:cNvSpPr>
              <p:nvPr/>
            </p:nvSpPr>
            <p:spPr bwMode="auto">
              <a:xfrm>
                <a:off x="4057" y="275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Oval 32"/>
              <p:cNvSpPr>
                <a:spLocks noChangeArrowheads="1"/>
              </p:cNvSpPr>
              <p:nvPr/>
            </p:nvSpPr>
            <p:spPr bwMode="auto">
              <a:xfrm>
                <a:off x="1380" y="329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" name="Oval 33"/>
              <p:cNvSpPr>
                <a:spLocks noChangeArrowheads="1"/>
              </p:cNvSpPr>
              <p:nvPr/>
            </p:nvSpPr>
            <p:spPr bwMode="auto">
              <a:xfrm>
                <a:off x="745" y="329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Oval 34"/>
              <p:cNvSpPr>
                <a:spLocks noChangeArrowheads="1"/>
              </p:cNvSpPr>
              <p:nvPr/>
            </p:nvSpPr>
            <p:spPr bwMode="auto">
              <a:xfrm>
                <a:off x="2061" y="3294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" name="Oval 35"/>
              <p:cNvSpPr>
                <a:spLocks noChangeArrowheads="1"/>
              </p:cNvSpPr>
              <p:nvPr/>
            </p:nvSpPr>
            <p:spPr bwMode="auto">
              <a:xfrm>
                <a:off x="4057" y="334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Oval 36"/>
              <p:cNvSpPr>
                <a:spLocks noChangeArrowheads="1"/>
              </p:cNvSpPr>
              <p:nvPr/>
            </p:nvSpPr>
            <p:spPr bwMode="auto">
              <a:xfrm>
                <a:off x="3422" y="3340"/>
                <a:ext cx="272" cy="227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1" name="Text Box 38"/>
            <p:cNvSpPr txBox="1">
              <a:spLocks noChangeArrowheads="1"/>
            </p:cNvSpPr>
            <p:nvPr/>
          </p:nvSpPr>
          <p:spPr bwMode="auto">
            <a:xfrm>
              <a:off x="3603" y="835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54</a:t>
              </a:r>
              <a:endPara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2" name="Text Box 39"/>
            <p:cNvSpPr txBox="1">
              <a:spLocks noChangeArrowheads="1"/>
            </p:cNvSpPr>
            <p:nvPr/>
          </p:nvSpPr>
          <p:spPr bwMode="auto">
            <a:xfrm>
              <a:off x="2242" y="1153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71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" name="Text Box 40"/>
            <p:cNvSpPr txBox="1">
              <a:spLocks noChangeArrowheads="1"/>
            </p:cNvSpPr>
            <p:nvPr/>
          </p:nvSpPr>
          <p:spPr bwMode="auto">
            <a:xfrm>
              <a:off x="1652" y="170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72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4" name="Text Box 41"/>
            <p:cNvSpPr txBox="1">
              <a:spLocks noChangeArrowheads="1"/>
            </p:cNvSpPr>
            <p:nvPr/>
          </p:nvSpPr>
          <p:spPr bwMode="auto">
            <a:xfrm>
              <a:off x="2809" y="170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71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" name="Text Box 42"/>
            <p:cNvSpPr txBox="1">
              <a:spLocks noChangeArrowheads="1"/>
            </p:cNvSpPr>
            <p:nvPr/>
          </p:nvSpPr>
          <p:spPr bwMode="auto">
            <a:xfrm>
              <a:off x="2877" y="229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86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6" name="Text Box 43"/>
            <p:cNvSpPr txBox="1">
              <a:spLocks noChangeArrowheads="1"/>
            </p:cNvSpPr>
            <p:nvPr/>
          </p:nvSpPr>
          <p:spPr bwMode="auto">
            <a:xfrm>
              <a:off x="2877" y="288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91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" name="Text Box 44"/>
            <p:cNvSpPr txBox="1">
              <a:spLocks noChangeArrowheads="1"/>
            </p:cNvSpPr>
            <p:nvPr/>
          </p:nvSpPr>
          <p:spPr bwMode="auto">
            <a:xfrm>
              <a:off x="1244" y="2287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76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" name="Text Box 45"/>
            <p:cNvSpPr txBox="1">
              <a:spLocks noChangeArrowheads="1"/>
            </p:cNvSpPr>
            <p:nvPr/>
          </p:nvSpPr>
          <p:spPr bwMode="auto">
            <a:xfrm>
              <a:off x="2151" y="2287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78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9" name="Text Box 46"/>
            <p:cNvSpPr txBox="1">
              <a:spLocks noChangeArrowheads="1"/>
            </p:cNvSpPr>
            <p:nvPr/>
          </p:nvSpPr>
          <p:spPr bwMode="auto">
            <a:xfrm>
              <a:off x="2174" y="287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78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0" name="Text Box 47"/>
            <p:cNvSpPr txBox="1">
              <a:spLocks noChangeArrowheads="1"/>
            </p:cNvSpPr>
            <p:nvPr/>
          </p:nvSpPr>
          <p:spPr bwMode="auto">
            <a:xfrm>
              <a:off x="1222" y="288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81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1" name="Text Box 48"/>
            <p:cNvSpPr txBox="1">
              <a:spLocks noChangeArrowheads="1"/>
            </p:cNvSpPr>
            <p:nvPr/>
          </p:nvSpPr>
          <p:spPr bwMode="auto">
            <a:xfrm>
              <a:off x="4442" y="1198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58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2" name="Text Box 49"/>
            <p:cNvSpPr txBox="1">
              <a:spLocks noChangeArrowheads="1"/>
            </p:cNvSpPr>
            <p:nvPr/>
          </p:nvSpPr>
          <p:spPr bwMode="auto">
            <a:xfrm>
              <a:off x="4578" y="1788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64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3" name="Text Box 50"/>
            <p:cNvSpPr txBox="1">
              <a:spLocks noChangeArrowheads="1"/>
            </p:cNvSpPr>
            <p:nvPr/>
          </p:nvSpPr>
          <p:spPr bwMode="auto">
            <a:xfrm>
              <a:off x="3966" y="229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68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4" name="Text Box 51"/>
            <p:cNvSpPr txBox="1">
              <a:spLocks noChangeArrowheads="1"/>
            </p:cNvSpPr>
            <p:nvPr/>
          </p:nvSpPr>
          <p:spPr bwMode="auto">
            <a:xfrm>
              <a:off x="4782" y="229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70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" name="Text Box 52"/>
            <p:cNvSpPr txBox="1">
              <a:spLocks noChangeArrowheads="1"/>
            </p:cNvSpPr>
            <p:nvPr/>
          </p:nvSpPr>
          <p:spPr bwMode="auto">
            <a:xfrm>
              <a:off x="4873" y="2922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70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6" name="Text Box 53"/>
            <p:cNvSpPr txBox="1">
              <a:spLocks noChangeArrowheads="1"/>
            </p:cNvSpPr>
            <p:nvPr/>
          </p:nvSpPr>
          <p:spPr bwMode="auto">
            <a:xfrm>
              <a:off x="3920" y="2886"/>
              <a:ext cx="35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73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8" name="Group 61"/>
          <p:cNvGrpSpPr/>
          <p:nvPr/>
        </p:nvGrpSpPr>
        <p:grpSpPr bwMode="auto">
          <a:xfrm>
            <a:off x="6725301" y="2870342"/>
            <a:ext cx="2031803" cy="3820975"/>
            <a:chOff x="4510" y="845"/>
            <a:chExt cx="1445" cy="2576"/>
          </a:xfrm>
        </p:grpSpPr>
        <p:sp>
          <p:nvSpPr>
            <p:cNvPr id="149" name="Text Box 55"/>
            <p:cNvSpPr txBox="1">
              <a:spLocks noChangeArrowheads="1"/>
            </p:cNvSpPr>
            <p:nvPr/>
          </p:nvSpPr>
          <p:spPr bwMode="auto">
            <a:xfrm>
              <a:off x="4510" y="845"/>
              <a:ext cx="144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被分配到的人</a:t>
              </a:r>
              <a:endPara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50" name="Text Box 56"/>
            <p:cNvSpPr txBox="1">
              <a:spLocks noChangeArrowheads="1"/>
            </p:cNvSpPr>
            <p:nvPr/>
          </p:nvSpPr>
          <p:spPr bwMode="auto">
            <a:xfrm>
              <a:off x="5173" y="1387"/>
              <a:ext cx="24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51" name="Text Box 57"/>
            <p:cNvSpPr txBox="1">
              <a:spLocks noChangeArrowheads="1"/>
            </p:cNvSpPr>
            <p:nvPr/>
          </p:nvSpPr>
          <p:spPr bwMode="auto">
            <a:xfrm>
              <a:off x="5173" y="1931"/>
              <a:ext cx="24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52" name="Text Box 58"/>
            <p:cNvSpPr txBox="1">
              <a:spLocks noChangeArrowheads="1"/>
            </p:cNvSpPr>
            <p:nvPr/>
          </p:nvSpPr>
          <p:spPr bwMode="auto">
            <a:xfrm>
              <a:off x="5173" y="2521"/>
              <a:ext cx="24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53" name="Text Box 59"/>
            <p:cNvSpPr txBox="1">
              <a:spLocks noChangeArrowheads="1"/>
            </p:cNvSpPr>
            <p:nvPr/>
          </p:nvSpPr>
          <p:spPr bwMode="auto">
            <a:xfrm>
              <a:off x="5173" y="3110"/>
              <a:ext cx="24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人员分配问题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分支界限搜索</a:t>
            </a:r>
            <a:r>
              <a:rPr lang="en-US" altLang="zh-CN" dirty="0"/>
              <a:t>(</a:t>
            </a:r>
            <a:r>
              <a:rPr lang="zh-CN" altLang="en-US" dirty="0"/>
              <a:t>使用爬山法</a:t>
            </a:r>
            <a:r>
              <a:rPr lang="en-US" altLang="zh-CN" dirty="0"/>
              <a:t>)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建立根节点</a:t>
            </a:r>
            <a:r>
              <a:rPr lang="en-US" altLang="zh-CN" dirty="0"/>
              <a:t>, </a:t>
            </a:r>
            <a:r>
              <a:rPr lang="zh-CN" altLang="en-US" dirty="0"/>
              <a:t>其权值为解代价下界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使用爬山法</a:t>
            </a:r>
            <a:r>
              <a:rPr lang="en-US" altLang="zh-CN" dirty="0"/>
              <a:t>, </a:t>
            </a:r>
            <a:r>
              <a:rPr lang="zh-CN" altLang="en-US" dirty="0"/>
              <a:t>类似于拓朴排序序列树生成算法</a:t>
            </a:r>
            <a:endParaRPr lang="zh-CN" altLang="en-US" dirty="0"/>
          </a:p>
          <a:p>
            <a:pPr lvl="1"/>
            <a:r>
              <a:rPr lang="zh-CN" altLang="en-US" dirty="0"/>
              <a:t>    求解问题</a:t>
            </a:r>
            <a:r>
              <a:rPr lang="en-US" altLang="zh-CN" dirty="0"/>
              <a:t>, </a:t>
            </a:r>
            <a:r>
              <a:rPr lang="zh-CN" altLang="en-US" dirty="0"/>
              <a:t>每产生一个节点</a:t>
            </a:r>
            <a:r>
              <a:rPr lang="en-US" altLang="zh-CN" dirty="0"/>
              <a:t>, </a:t>
            </a:r>
            <a:r>
              <a:rPr lang="zh-CN" altLang="en-US" dirty="0"/>
              <a:t>其权值为加工后的</a:t>
            </a:r>
            <a:endParaRPr lang="zh-CN" altLang="en-US" dirty="0"/>
          </a:p>
          <a:p>
            <a:pPr lvl="1"/>
            <a:r>
              <a:rPr lang="zh-CN" altLang="en-US" dirty="0"/>
              <a:t>    代价矩阵对应元素加其父节点权值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一旦发现一个可能解</a:t>
            </a:r>
            <a:r>
              <a:rPr lang="en-US" altLang="zh-CN" dirty="0"/>
              <a:t>, </a:t>
            </a:r>
            <a:r>
              <a:rPr lang="zh-CN" altLang="en-US" dirty="0"/>
              <a:t>将其代价作为界限</a:t>
            </a:r>
            <a:r>
              <a:rPr lang="en-US" altLang="zh-CN" dirty="0"/>
              <a:t>, </a:t>
            </a:r>
            <a:r>
              <a:rPr lang="zh-CN" altLang="en-US" dirty="0"/>
              <a:t>循环 </a:t>
            </a:r>
            <a:endParaRPr lang="zh-CN" altLang="en-US" dirty="0"/>
          </a:p>
          <a:p>
            <a:pPr lvl="1"/>
            <a:r>
              <a:rPr lang="zh-CN" altLang="en-US" dirty="0"/>
              <a:t>    地进行分支界限搜索</a:t>
            </a:r>
            <a:r>
              <a:rPr lang="en-US" altLang="zh-CN" dirty="0"/>
              <a:t>: </a:t>
            </a:r>
            <a:r>
              <a:rPr lang="zh-CN" altLang="en-US" dirty="0"/>
              <a:t>剪掉不能导致优化解的</a:t>
            </a:r>
            <a:endParaRPr lang="zh-CN" altLang="en-US" dirty="0"/>
          </a:p>
          <a:p>
            <a:pPr lvl="1"/>
            <a:r>
              <a:rPr lang="zh-CN" altLang="en-US" dirty="0"/>
              <a:t>   子解</a:t>
            </a:r>
            <a:r>
              <a:rPr lang="en-US" altLang="zh-CN" dirty="0"/>
              <a:t>, </a:t>
            </a:r>
            <a:r>
              <a:rPr lang="zh-CN" altLang="en-US" dirty="0"/>
              <a:t>使用爬山法继续扩展新增节点</a:t>
            </a:r>
            <a:r>
              <a:rPr lang="en-US" altLang="zh-CN" dirty="0"/>
              <a:t>, </a:t>
            </a:r>
            <a:r>
              <a:rPr lang="zh-CN" altLang="en-US" dirty="0"/>
              <a:t>直至发现</a:t>
            </a:r>
            <a:endParaRPr lang="zh-CN" altLang="en-US" dirty="0"/>
          </a:p>
          <a:p>
            <a:pPr lvl="1"/>
            <a:r>
              <a:rPr lang="zh-CN" altLang="en-US" dirty="0"/>
              <a:t>   优化解</a:t>
            </a:r>
            <a:r>
              <a:rPr lang="en-US" altLang="zh-CN" dirty="0"/>
              <a:t>. 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45" name="Object 7"/>
          <p:cNvGraphicFramePr>
            <a:graphicFrameLocks noChangeAspect="1"/>
          </p:cNvGraphicFramePr>
          <p:nvPr/>
        </p:nvGraphicFramePr>
        <p:xfrm>
          <a:off x="5660133" y="512205"/>
          <a:ext cx="2486025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公式" r:id="rId1" imgW="711200" imgH="635000" progId="Equation.3">
                  <p:embed/>
                </p:oleObj>
              </mc:Choice>
              <mc:Fallback>
                <p:oleObj name="公式" r:id="rId1" imgW="711200" imgH="635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133" y="512205"/>
                        <a:ext cx="2486025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Line 10"/>
          <p:cNvSpPr>
            <a:spLocks noChangeShapeType="1"/>
          </p:cNvSpPr>
          <p:nvPr/>
        </p:nvSpPr>
        <p:spPr bwMode="auto">
          <a:xfrm flipH="1">
            <a:off x="1845370" y="3201452"/>
            <a:ext cx="1368425" cy="50323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" name="Line 11"/>
          <p:cNvSpPr>
            <a:spLocks noChangeShapeType="1"/>
          </p:cNvSpPr>
          <p:nvPr/>
        </p:nvSpPr>
        <p:spPr bwMode="auto">
          <a:xfrm>
            <a:off x="3645595" y="3201452"/>
            <a:ext cx="1223963" cy="57467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>
            <a:off x="4510783" y="5792252"/>
            <a:ext cx="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Line 21"/>
          <p:cNvSpPr>
            <a:spLocks noChangeShapeType="1"/>
          </p:cNvSpPr>
          <p:nvPr/>
        </p:nvSpPr>
        <p:spPr bwMode="auto">
          <a:xfrm>
            <a:off x="5518845" y="5792252"/>
            <a:ext cx="0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" name="Line 22"/>
          <p:cNvSpPr>
            <a:spLocks noChangeShapeType="1"/>
          </p:cNvSpPr>
          <p:nvPr/>
        </p:nvSpPr>
        <p:spPr bwMode="auto">
          <a:xfrm flipH="1">
            <a:off x="4582220" y="4857214"/>
            <a:ext cx="287338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" name="Line 23"/>
          <p:cNvSpPr>
            <a:spLocks noChangeShapeType="1"/>
          </p:cNvSpPr>
          <p:nvPr/>
        </p:nvSpPr>
        <p:spPr bwMode="auto">
          <a:xfrm>
            <a:off x="5158483" y="4857214"/>
            <a:ext cx="287337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24"/>
          <p:cNvSpPr>
            <a:spLocks noChangeShapeType="1"/>
          </p:cNvSpPr>
          <p:nvPr/>
        </p:nvSpPr>
        <p:spPr bwMode="auto">
          <a:xfrm>
            <a:off x="5014020" y="4065052"/>
            <a:ext cx="0" cy="503237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Oval 25"/>
          <p:cNvSpPr>
            <a:spLocks noChangeArrowheads="1"/>
          </p:cNvSpPr>
          <p:nvPr/>
        </p:nvSpPr>
        <p:spPr bwMode="auto">
          <a:xfrm>
            <a:off x="3213795" y="2983964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4" name="Oval 26"/>
          <p:cNvSpPr>
            <a:spLocks noChangeArrowheads="1"/>
          </p:cNvSpPr>
          <p:nvPr/>
        </p:nvSpPr>
        <p:spPr bwMode="auto">
          <a:xfrm>
            <a:off x="1486595" y="3631664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5" name="Oval 27"/>
          <p:cNvSpPr>
            <a:spLocks noChangeArrowheads="1"/>
          </p:cNvSpPr>
          <p:nvPr/>
        </p:nvSpPr>
        <p:spPr bwMode="auto">
          <a:xfrm>
            <a:off x="4798120" y="3704689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6" name="Oval 30"/>
          <p:cNvSpPr>
            <a:spLocks noChangeArrowheads="1"/>
          </p:cNvSpPr>
          <p:nvPr/>
        </p:nvSpPr>
        <p:spPr bwMode="auto">
          <a:xfrm>
            <a:off x="4798120" y="4568289"/>
            <a:ext cx="431800" cy="3603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7" name="Oval 34"/>
          <p:cNvSpPr>
            <a:spLocks noChangeArrowheads="1"/>
          </p:cNvSpPr>
          <p:nvPr/>
        </p:nvSpPr>
        <p:spPr bwMode="auto">
          <a:xfrm>
            <a:off x="4294883" y="5433477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8" name="Oval 35"/>
          <p:cNvSpPr>
            <a:spLocks noChangeArrowheads="1"/>
          </p:cNvSpPr>
          <p:nvPr/>
        </p:nvSpPr>
        <p:spPr bwMode="auto">
          <a:xfrm>
            <a:off x="5302945" y="5433477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5302945" y="6370102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0" name="Oval 40"/>
          <p:cNvSpPr>
            <a:spLocks noChangeArrowheads="1"/>
          </p:cNvSpPr>
          <p:nvPr/>
        </p:nvSpPr>
        <p:spPr bwMode="auto">
          <a:xfrm>
            <a:off x="4294883" y="6370102"/>
            <a:ext cx="431800" cy="3603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1" name="Text Box 41"/>
          <p:cNvSpPr txBox="1">
            <a:spLocks noChangeArrowheads="1"/>
          </p:cNvSpPr>
          <p:nvPr/>
        </p:nvSpPr>
        <p:spPr bwMode="auto">
          <a:xfrm>
            <a:off x="3501133" y="2680752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54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2" name="Text Box 42"/>
          <p:cNvSpPr txBox="1">
            <a:spLocks noChangeArrowheads="1"/>
          </p:cNvSpPr>
          <p:nvPr/>
        </p:nvSpPr>
        <p:spPr bwMode="auto">
          <a:xfrm>
            <a:off x="1340545" y="3185577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71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3" name="Text Box 51"/>
          <p:cNvSpPr txBox="1">
            <a:spLocks noChangeArrowheads="1"/>
          </p:cNvSpPr>
          <p:nvPr/>
        </p:nvSpPr>
        <p:spPr bwMode="auto">
          <a:xfrm>
            <a:off x="4833045" y="3257014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58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4" name="Text Box 52"/>
          <p:cNvSpPr txBox="1">
            <a:spLocks noChangeArrowheads="1"/>
          </p:cNvSpPr>
          <p:nvPr/>
        </p:nvSpPr>
        <p:spPr bwMode="auto">
          <a:xfrm>
            <a:off x="5048945" y="4193639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64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5" name="Text Box 53"/>
          <p:cNvSpPr txBox="1">
            <a:spLocks noChangeArrowheads="1"/>
          </p:cNvSpPr>
          <p:nvPr/>
        </p:nvSpPr>
        <p:spPr bwMode="auto">
          <a:xfrm>
            <a:off x="4077395" y="5000089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</a:rPr>
              <a:t>68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66" name="Text Box 54"/>
          <p:cNvSpPr txBox="1">
            <a:spLocks noChangeArrowheads="1"/>
          </p:cNvSpPr>
          <p:nvPr/>
        </p:nvSpPr>
        <p:spPr bwMode="auto">
          <a:xfrm>
            <a:off x="5372795" y="5000089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70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7" name="Text Box 55"/>
          <p:cNvSpPr txBox="1">
            <a:spLocks noChangeArrowheads="1"/>
          </p:cNvSpPr>
          <p:nvPr/>
        </p:nvSpPr>
        <p:spPr bwMode="auto">
          <a:xfrm>
            <a:off x="5517258" y="5993864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70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68" name="Text Box 56"/>
          <p:cNvSpPr txBox="1">
            <a:spLocks noChangeArrowheads="1"/>
          </p:cNvSpPr>
          <p:nvPr/>
        </p:nvSpPr>
        <p:spPr bwMode="auto">
          <a:xfrm>
            <a:off x="4004370" y="5936714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73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pSp>
        <p:nvGrpSpPr>
          <p:cNvPr id="69" name="Group 57"/>
          <p:cNvGrpSpPr/>
          <p:nvPr/>
        </p:nvGrpSpPr>
        <p:grpSpPr bwMode="auto">
          <a:xfrm>
            <a:off x="5407719" y="2832100"/>
            <a:ext cx="2655888" cy="4025900"/>
            <a:chOff x="4660" y="942"/>
            <a:chExt cx="1673" cy="2536"/>
          </a:xfrm>
        </p:grpSpPr>
        <p:sp>
          <p:nvSpPr>
            <p:cNvPr id="70" name="Text Box 58"/>
            <p:cNvSpPr txBox="1">
              <a:spLocks noChangeArrowheads="1"/>
            </p:cNvSpPr>
            <p:nvPr/>
          </p:nvSpPr>
          <p:spPr bwMode="auto">
            <a:xfrm>
              <a:off x="4660" y="942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被分配到的人</a:t>
              </a:r>
              <a:endParaRPr lang="zh-CN" altLang="en-US" sz="3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1" name="Text Box 59"/>
            <p:cNvSpPr txBox="1">
              <a:spLocks noChangeArrowheads="1"/>
            </p:cNvSpPr>
            <p:nvPr/>
          </p:nvSpPr>
          <p:spPr bwMode="auto">
            <a:xfrm>
              <a:off x="5173" y="1387"/>
              <a:ext cx="2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1</a:t>
              </a:r>
              <a:endParaRPr lang="en-US" altLang="zh-CN" sz="32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2" name="Text Box 60"/>
            <p:cNvSpPr txBox="1">
              <a:spLocks noChangeArrowheads="1"/>
            </p:cNvSpPr>
            <p:nvPr/>
          </p:nvSpPr>
          <p:spPr bwMode="auto">
            <a:xfrm>
              <a:off x="5173" y="1931"/>
              <a:ext cx="2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2</a:t>
              </a:r>
              <a:endParaRPr lang="en-US" altLang="zh-CN" sz="32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3" name="Text Box 61"/>
            <p:cNvSpPr txBox="1">
              <a:spLocks noChangeArrowheads="1"/>
            </p:cNvSpPr>
            <p:nvPr/>
          </p:nvSpPr>
          <p:spPr bwMode="auto">
            <a:xfrm>
              <a:off x="5173" y="2521"/>
              <a:ext cx="2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3</a:t>
              </a:r>
              <a:endParaRPr lang="en-US" altLang="zh-CN" sz="32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4" name="Text Box 62"/>
            <p:cNvSpPr txBox="1">
              <a:spLocks noChangeArrowheads="1"/>
            </p:cNvSpPr>
            <p:nvPr/>
          </p:nvSpPr>
          <p:spPr bwMode="auto">
            <a:xfrm>
              <a:off x="5173" y="3110"/>
              <a:ext cx="2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4</a:t>
              </a:r>
              <a:endParaRPr lang="en-US" altLang="zh-CN" sz="32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75" name="Text Box 63"/>
          <p:cNvSpPr txBox="1">
            <a:spLocks noChangeArrowheads="1"/>
          </p:cNvSpPr>
          <p:nvPr/>
        </p:nvSpPr>
        <p:spPr bwMode="auto">
          <a:xfrm>
            <a:off x="1081849" y="4134902"/>
            <a:ext cx="12218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分支被</a:t>
            </a:r>
            <a:endParaRPr lang="zh-CN" altLang="en-US" sz="2400" b="1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剪掉</a:t>
            </a:r>
            <a:endParaRPr lang="zh-CN" altLang="en-US" sz="2400" b="1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76" name="Group 64"/>
          <p:cNvGrpSpPr/>
          <p:nvPr/>
        </p:nvGrpSpPr>
        <p:grpSpPr bwMode="auto">
          <a:xfrm>
            <a:off x="3250308" y="785255"/>
            <a:ext cx="1800225" cy="1455737"/>
            <a:chOff x="2650" y="1842"/>
            <a:chExt cx="1134" cy="917"/>
          </a:xfrm>
        </p:grpSpPr>
        <p:sp>
          <p:nvSpPr>
            <p:cNvPr id="77" name="Text Box 65"/>
            <p:cNvSpPr txBox="1">
              <a:spLocks noChangeArrowheads="1"/>
            </p:cNvSpPr>
            <p:nvPr/>
          </p:nvSpPr>
          <p:spPr bwMode="auto">
            <a:xfrm>
              <a:off x="2650" y="184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78" name="Text Box 66"/>
            <p:cNvSpPr txBox="1">
              <a:spLocks noChangeArrowheads="1"/>
            </p:cNvSpPr>
            <p:nvPr/>
          </p:nvSpPr>
          <p:spPr bwMode="auto">
            <a:xfrm>
              <a:off x="3480" y="184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2</a:t>
              </a:r>
              <a:endParaRPr lang="en-US" altLang="zh-CN" sz="28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67"/>
            <p:cNvSpPr txBox="1">
              <a:spLocks noChangeArrowheads="1"/>
            </p:cNvSpPr>
            <p:nvPr/>
          </p:nvSpPr>
          <p:spPr bwMode="auto">
            <a:xfrm>
              <a:off x="2664" y="242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3</a:t>
              </a:r>
              <a:endParaRPr lang="en-US" altLang="zh-CN" sz="28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0" name="Text Box 68"/>
            <p:cNvSpPr txBox="1">
              <a:spLocks noChangeArrowheads="1"/>
            </p:cNvSpPr>
            <p:nvPr/>
          </p:nvSpPr>
          <p:spPr bwMode="auto">
            <a:xfrm>
              <a:off x="3480" y="243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4</a:t>
              </a:r>
              <a:endParaRPr lang="en-US" altLang="zh-CN" sz="28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1" name="Line 69"/>
            <p:cNvSpPr>
              <a:spLocks noChangeShapeType="1"/>
            </p:cNvSpPr>
            <p:nvPr/>
          </p:nvSpPr>
          <p:spPr bwMode="auto">
            <a:xfrm>
              <a:off x="2786" y="2160"/>
              <a:ext cx="0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" name="Line 70"/>
            <p:cNvSpPr>
              <a:spLocks noChangeShapeType="1"/>
            </p:cNvSpPr>
            <p:nvPr/>
          </p:nvSpPr>
          <p:spPr bwMode="auto">
            <a:xfrm>
              <a:off x="2967" y="2069"/>
              <a:ext cx="590" cy="45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" name="Line 71"/>
            <p:cNvSpPr>
              <a:spLocks noChangeShapeType="1"/>
            </p:cNvSpPr>
            <p:nvPr/>
          </p:nvSpPr>
          <p:spPr bwMode="auto">
            <a:xfrm>
              <a:off x="3648" y="2160"/>
              <a:ext cx="0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4" name="Text Box 72"/>
          <p:cNvSpPr txBox="1">
            <a:spLocks noChangeArrowheads="1"/>
          </p:cNvSpPr>
          <p:nvPr/>
        </p:nvSpPr>
        <p:spPr bwMode="auto">
          <a:xfrm>
            <a:off x="251520" y="1232930"/>
            <a:ext cx="26693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</a:rPr>
              <a:t>{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, P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, P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, P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3200" b="1" dirty="0">
                <a:latin typeface="Times New Roman" panose="02020603050405020304" pitchFamily="18" charset="0"/>
              </a:rPr>
              <a:t>}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问题定义</a:t>
            </a:r>
            <a:endParaRPr lang="zh-CN" altLang="en-US" i="1" baseline="-25000" dirty="0">
              <a:solidFill>
                <a:srgbClr val="0000CC"/>
              </a:solidFill>
              <a:latin typeface="+mn-lt"/>
            </a:endParaRPr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:  </a:t>
            </a:r>
            <a:r>
              <a:rPr lang="zh-CN" altLang="en-US" dirty="0"/>
              <a:t>无向连通图</a:t>
            </a:r>
            <a:r>
              <a:rPr lang="en-US" altLang="zh-CN" dirty="0"/>
              <a:t>G=(V, E),  </a:t>
            </a:r>
            <a:endParaRPr lang="en-US" altLang="zh-CN" dirty="0"/>
          </a:p>
          <a:p>
            <a:pPr lvl="1"/>
            <a:r>
              <a:rPr lang="en-US" altLang="zh-CN" dirty="0"/>
              <a:t>          </a:t>
            </a:r>
            <a:r>
              <a:rPr lang="zh-CN" altLang="en-US" dirty="0"/>
              <a:t>每个节点都没有到自身的边</a:t>
            </a:r>
            <a:r>
              <a:rPr lang="en-US" altLang="zh-CN" dirty="0"/>
              <a:t>,</a:t>
            </a:r>
            <a:endParaRPr lang="en-US" altLang="zh-CN" dirty="0"/>
          </a:p>
          <a:p>
            <a:pPr lvl="1"/>
            <a:r>
              <a:rPr lang="en-US" altLang="zh-CN" dirty="0"/>
              <a:t>          </a:t>
            </a:r>
            <a:r>
              <a:rPr lang="zh-CN" altLang="en-US" dirty="0"/>
              <a:t>每对节点之间都有一条非负加权边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zh-CN" altLang="en-US" dirty="0"/>
              <a:t>输出</a:t>
            </a:r>
            <a:r>
              <a:rPr lang="en-US" altLang="zh-CN" dirty="0"/>
              <a:t>:  </a:t>
            </a:r>
            <a:r>
              <a:rPr lang="zh-CN" altLang="en-US" dirty="0"/>
              <a:t>一条由任意一个节点开始</a:t>
            </a:r>
            <a:endParaRPr lang="zh-CN" altLang="en-US" dirty="0"/>
          </a:p>
          <a:p>
            <a:pPr lvl="1"/>
            <a:r>
              <a:rPr lang="zh-CN" altLang="en-US" dirty="0"/>
              <a:t>          经过每个节点一次</a:t>
            </a:r>
            <a:endParaRPr lang="zh-CN" altLang="en-US" dirty="0"/>
          </a:p>
          <a:p>
            <a:pPr lvl="1"/>
            <a:r>
              <a:rPr lang="zh-CN" altLang="en-US" dirty="0"/>
              <a:t>          最后返回开始节点的路径</a:t>
            </a:r>
            <a:r>
              <a:rPr lang="en-US" altLang="zh-CN" dirty="0"/>
              <a:t>, </a:t>
            </a:r>
            <a:endParaRPr lang="en-US" altLang="zh-CN" dirty="0"/>
          </a:p>
          <a:p>
            <a:pPr lvl="1"/>
            <a:r>
              <a:rPr lang="en-US" altLang="zh-CN" dirty="0"/>
              <a:t>          </a:t>
            </a:r>
            <a:r>
              <a:rPr lang="zh-CN" altLang="en-US" dirty="0"/>
              <a:t>该路径的代价</a:t>
            </a:r>
            <a:r>
              <a:rPr lang="en-US" altLang="zh-CN" dirty="0"/>
              <a:t>(</a:t>
            </a:r>
            <a:r>
              <a:rPr lang="zh-CN" altLang="en-US" dirty="0"/>
              <a:t>即权值只和</a:t>
            </a:r>
            <a:r>
              <a:rPr lang="en-US" altLang="zh-CN" dirty="0"/>
              <a:t>)</a:t>
            </a:r>
            <a:r>
              <a:rPr lang="zh-CN" altLang="en-US" dirty="0"/>
              <a:t>最小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设代价矩阵如下，计算根节点的代价下界</a:t>
            </a:r>
            <a:endParaRPr lang="zh-CN" altLang="en-US" i="1" baseline="-25000" dirty="0">
              <a:solidFill>
                <a:srgbClr val="0000CC"/>
              </a:solidFill>
              <a:latin typeface="+mn-lt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321761" y="2508354"/>
          <a:ext cx="4194455" cy="3448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公式" r:id="rId1" imgW="1409065" imgH="1091565" progId="Equation.3">
                  <p:embed/>
                </p:oleObj>
              </mc:Choice>
              <mc:Fallback>
                <p:oleObj name="公式" r:id="rId1" imgW="1409065" imgH="10915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61" y="2508354"/>
                        <a:ext cx="4194455" cy="3448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005786" y="2009329"/>
            <a:ext cx="4403770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900" b="1" i="1" dirty="0">
                <a:solidFill>
                  <a:srgbClr val="663300"/>
                </a:solidFill>
                <a:latin typeface="Times New Roman" panose="02020603050405020304" pitchFamily="18" charset="0"/>
              </a:rPr>
              <a:t>j = 1     2    3    4    5     6    7</a:t>
            </a:r>
            <a:endParaRPr lang="en-US" altLang="zh-CN" sz="2900" b="1" dirty="0">
              <a:solidFill>
                <a:srgbClr val="66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655676" y="2505313"/>
            <a:ext cx="720069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100" b="1" i="1" dirty="0" err="1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=1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2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3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4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5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6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1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7</a:t>
            </a:r>
            <a:endParaRPr lang="en-US" altLang="zh-CN" sz="3100" b="1" i="1" dirty="0">
              <a:solidFill>
                <a:srgbClr val="66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6725531" y="2478138"/>
            <a:ext cx="10486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-3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-4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16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25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26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3554490" y="5816025"/>
            <a:ext cx="554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-7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4163388" y="5804648"/>
            <a:ext cx="5651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-1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5833292" y="5734269"/>
            <a:ext cx="6829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-4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得到如下根节点及其代价下界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9"/>
          <p:cNvGrpSpPr/>
          <p:nvPr/>
        </p:nvGrpSpPr>
        <p:grpSpPr bwMode="auto">
          <a:xfrm>
            <a:off x="1676208" y="3032956"/>
            <a:ext cx="4335952" cy="3620257"/>
            <a:chOff x="1179" y="663"/>
            <a:chExt cx="3363" cy="2586"/>
          </a:xfrm>
        </p:grpSpPr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1665" y="981"/>
            <a:ext cx="2877" cy="2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9" name="公式" r:id="rId1" imgW="1397000" imgH="1092200" progId="Equation.3">
                    <p:embed/>
                  </p:oleObj>
                </mc:Choice>
                <mc:Fallback>
                  <p:oleObj name="公式" r:id="rId1" imgW="1397000" imgH="1092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5" y="981"/>
                          <a:ext cx="2877" cy="2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1426" y="663"/>
              <a:ext cx="3079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solidFill>
                    <a:srgbClr val="663300"/>
                  </a:solidFill>
                  <a:latin typeface="Times New Roman" panose="02020603050405020304" pitchFamily="18" charset="0"/>
                </a:rPr>
                <a:t>j = 1     2    3    4    5     6    7</a:t>
              </a:r>
              <a:endParaRPr lang="en-US" altLang="zh-CN" sz="2600" b="1" dirty="0">
                <a:solidFill>
                  <a:srgbClr val="66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1179" y="952"/>
              <a:ext cx="531" cy="2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900" b="1" i="1" dirty="0" err="1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i</a:t>
              </a:r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=1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2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3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4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5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6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9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7</a:t>
              </a:r>
              <a:endParaRPr lang="en-US" altLang="zh-CN" sz="29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4"/>
          <p:cNvGrpSpPr/>
          <p:nvPr/>
        </p:nvGrpSpPr>
        <p:grpSpPr bwMode="auto">
          <a:xfrm>
            <a:off x="2879812" y="2163263"/>
            <a:ext cx="3890963" cy="649287"/>
            <a:chOff x="2242" y="1071"/>
            <a:chExt cx="2451" cy="409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242" y="1071"/>
              <a:ext cx="1678" cy="40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黑体" panose="02010609060101010101" pitchFamily="49" charset="-122"/>
                </a:rPr>
                <a:t>所有解的集合</a:t>
              </a:r>
              <a:endParaRPr lang="zh-CN" alt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966" y="1071"/>
              <a:ext cx="7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L.B=96</a:t>
              </a:r>
              <a:endPara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构造根节点的两个子节点</a:t>
            </a:r>
            <a:endParaRPr lang="zh-CN" altLang="en-US" dirty="0"/>
          </a:p>
          <a:p>
            <a:pPr lvl="1"/>
            <a:r>
              <a:rPr lang="zh-CN" altLang="en-US" dirty="0"/>
              <a:t>选择使子节点代价下界增加</a:t>
            </a:r>
            <a:endParaRPr lang="en-US" altLang="zh-CN" dirty="0"/>
          </a:p>
          <a:p>
            <a:pPr lvl="1"/>
            <a:r>
              <a:rPr lang="zh-CN" altLang="en-US" dirty="0"/>
              <a:t>最小的划分边</a:t>
            </a:r>
            <a:r>
              <a:rPr lang="en-US" altLang="zh-CN" dirty="0"/>
              <a:t>(4, 6)</a:t>
            </a:r>
            <a:endParaRPr lang="en-US" altLang="zh-CN" dirty="0"/>
          </a:p>
          <a:p>
            <a:pPr lvl="1"/>
            <a:r>
              <a:rPr lang="zh-CN" altLang="en-US" dirty="0"/>
              <a:t>建立根节点的子节点</a:t>
            </a:r>
            <a:r>
              <a:rPr lang="en-US" altLang="zh-CN" dirty="0"/>
              <a:t>: </a:t>
            </a:r>
            <a:endParaRPr lang="en-US" altLang="zh-CN" dirty="0"/>
          </a:p>
          <a:p>
            <a:pPr lvl="2"/>
            <a:r>
              <a:rPr lang="zh-CN" altLang="en-US" dirty="0"/>
              <a:t>左子节点为包括边</a:t>
            </a:r>
            <a:r>
              <a:rPr lang="en-US" altLang="zh-CN" dirty="0"/>
              <a:t>(4, 6)</a:t>
            </a:r>
            <a:r>
              <a:rPr lang="zh-CN" altLang="en-US" dirty="0"/>
              <a:t>的所有解集合</a:t>
            </a:r>
            <a:endParaRPr lang="zh-CN" altLang="en-US" dirty="0"/>
          </a:p>
          <a:p>
            <a:pPr lvl="2"/>
            <a:r>
              <a:rPr lang="zh-CN" altLang="en-US" dirty="0"/>
              <a:t>左子节点为不包括边</a:t>
            </a:r>
            <a:r>
              <a:rPr lang="en-US" altLang="zh-CN" dirty="0"/>
              <a:t>(4, 6)</a:t>
            </a:r>
            <a:r>
              <a:rPr lang="zh-CN" altLang="en-US" dirty="0"/>
              <a:t>的所有解集合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Object 54"/>
          <p:cNvGraphicFramePr>
            <a:graphicFrameLocks noChangeAspect="1"/>
          </p:cNvGraphicFramePr>
          <p:nvPr/>
        </p:nvGraphicFramePr>
        <p:xfrm>
          <a:off x="5918480" y="764704"/>
          <a:ext cx="3225520" cy="244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公式" r:id="rId1" imgW="1397000" imgH="1092200" progId="Equation.3">
                  <p:embed/>
                </p:oleObj>
              </mc:Choice>
              <mc:Fallback>
                <p:oleObj name="公式" r:id="rId1" imgW="1397000" imgH="10922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480" y="764704"/>
                        <a:ext cx="3225520" cy="2447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1"/>
          <p:cNvGrpSpPr/>
          <p:nvPr/>
        </p:nvGrpSpPr>
        <p:grpSpPr bwMode="auto">
          <a:xfrm>
            <a:off x="1640595" y="4388790"/>
            <a:ext cx="6119812" cy="2089150"/>
            <a:chOff x="1335" y="2205"/>
            <a:chExt cx="3855" cy="1316"/>
          </a:xfrm>
        </p:grpSpPr>
        <p:grpSp>
          <p:nvGrpSpPr>
            <p:cNvPr id="7" name="Group 44"/>
            <p:cNvGrpSpPr/>
            <p:nvPr/>
          </p:nvGrpSpPr>
          <p:grpSpPr bwMode="auto">
            <a:xfrm>
              <a:off x="2463" y="2205"/>
              <a:ext cx="2451" cy="409"/>
              <a:chOff x="2242" y="1071"/>
              <a:chExt cx="2451" cy="409"/>
            </a:xfrm>
          </p:grpSpPr>
          <p:sp>
            <p:nvSpPr>
              <p:cNvPr id="12" name="Rectangle 45"/>
              <p:cNvSpPr>
                <a:spLocks noChangeArrowheads="1"/>
              </p:cNvSpPr>
              <p:nvPr/>
            </p:nvSpPr>
            <p:spPr bwMode="auto">
              <a:xfrm>
                <a:off x="2242" y="1071"/>
                <a:ext cx="1678" cy="409"/>
              </a:xfrm>
              <a:prstGeom prst="rect">
                <a:avLst/>
              </a:prstGeom>
              <a:solidFill>
                <a:srgbClr val="CCFFCC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2400" b="1" dirty="0">
                    <a:latin typeface="+mn-lt"/>
                    <a:ea typeface="黑体" panose="02010609060101010101" pitchFamily="49" charset="-122"/>
                  </a:rPr>
                  <a:t>所有解的集合</a:t>
                </a:r>
                <a:endParaRPr lang="zh-CN" altLang="en-US" sz="2400" b="1" dirty="0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Text Box 46"/>
              <p:cNvSpPr txBox="1">
                <a:spLocks noChangeArrowheads="1"/>
              </p:cNvSpPr>
              <p:nvPr/>
            </p:nvSpPr>
            <p:spPr bwMode="auto">
              <a:xfrm>
                <a:off x="3966" y="1071"/>
                <a:ext cx="7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L.B=96</a:t>
                </a:r>
                <a:endParaRPr lang="en-US" altLang="zh-CN" sz="24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" name="Rectangle 47"/>
            <p:cNvSpPr>
              <a:spLocks noChangeArrowheads="1"/>
            </p:cNvSpPr>
            <p:nvPr/>
          </p:nvSpPr>
          <p:spPr bwMode="auto">
            <a:xfrm>
              <a:off x="1335" y="3022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包括边</a:t>
              </a:r>
              <a:r>
                <a:rPr kumimoji="1" lang="en-US" altLang="zh-CN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的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所有解集合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9" name="Rectangle 48"/>
            <p:cNvSpPr>
              <a:spLocks noChangeArrowheads="1"/>
            </p:cNvSpPr>
            <p:nvPr/>
          </p:nvSpPr>
          <p:spPr bwMode="auto">
            <a:xfrm>
              <a:off x="3693" y="3022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不包括边</a:t>
              </a:r>
              <a:r>
                <a:rPr kumimoji="1" lang="en-US" altLang="zh-CN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endParaRPr kumimoji="1" lang="en-US" altLang="zh-CN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的所有解集合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0" name="Line 49"/>
            <p:cNvSpPr>
              <a:spLocks noChangeShapeType="1"/>
            </p:cNvSpPr>
            <p:nvPr/>
          </p:nvSpPr>
          <p:spPr bwMode="auto">
            <a:xfrm flipH="1">
              <a:off x="2151" y="2614"/>
              <a:ext cx="862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1" name="Line 50"/>
            <p:cNvSpPr>
              <a:spLocks noChangeShapeType="1"/>
            </p:cNvSpPr>
            <p:nvPr/>
          </p:nvSpPr>
          <p:spPr bwMode="auto">
            <a:xfrm>
              <a:off x="3558" y="2614"/>
              <a:ext cx="861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计算左右子节点的代价下界</a:t>
            </a:r>
            <a:endParaRPr lang="zh-CN" altLang="en-US" dirty="0"/>
          </a:p>
          <a:p>
            <a:pPr lvl="1"/>
            <a:r>
              <a:rPr lang="en-US" altLang="zh-CN" dirty="0"/>
              <a:t>(4, 6)</a:t>
            </a:r>
            <a:r>
              <a:rPr lang="zh-CN" altLang="en-US" dirty="0"/>
              <a:t>的代价为</a:t>
            </a:r>
            <a:r>
              <a:rPr lang="en-US" altLang="zh-CN" dirty="0"/>
              <a:t>0, </a:t>
            </a:r>
            <a:r>
              <a:rPr lang="zh-CN" altLang="en-US" dirty="0"/>
              <a:t>所以左节点代价下界仍为</a:t>
            </a:r>
            <a:r>
              <a:rPr lang="en-US" altLang="zh-CN" dirty="0"/>
              <a:t>96.</a:t>
            </a:r>
            <a:endParaRPr lang="en-US" altLang="zh-CN" dirty="0"/>
          </a:p>
          <a:p>
            <a:pPr lvl="1"/>
            <a:r>
              <a:rPr lang="zh-CN" altLang="en-US" dirty="0"/>
              <a:t>现计算右节点的代价下界</a:t>
            </a:r>
            <a:r>
              <a:rPr lang="en-US" altLang="zh-CN" dirty="0"/>
              <a:t>:</a:t>
            </a:r>
            <a:endParaRPr lang="en-US" altLang="zh-CN" dirty="0"/>
          </a:p>
          <a:p>
            <a:pPr lvl="2"/>
            <a:r>
              <a:rPr lang="zh-CN" altLang="en-US" dirty="0"/>
              <a:t>如果一个解不包含</a:t>
            </a:r>
            <a:r>
              <a:rPr lang="en-US" altLang="zh-CN" dirty="0"/>
              <a:t>(4, 6), </a:t>
            </a:r>
            <a:r>
              <a:rPr lang="zh-CN" altLang="en-US" dirty="0"/>
              <a:t>它必包含一条从</a:t>
            </a:r>
            <a:r>
              <a:rPr lang="en-US" altLang="zh-CN" dirty="0"/>
              <a:t>4</a:t>
            </a:r>
            <a:r>
              <a:rPr lang="zh-CN" altLang="en-US" dirty="0"/>
              <a:t>出发的边和 进入节点</a:t>
            </a:r>
            <a:r>
              <a:rPr lang="en-US" altLang="zh-CN" dirty="0"/>
              <a:t>6</a:t>
            </a:r>
            <a:r>
              <a:rPr lang="zh-CN" altLang="en-US" dirty="0"/>
              <a:t>的边</a:t>
            </a:r>
            <a:r>
              <a:rPr lang="en-US" altLang="zh-CN" dirty="0"/>
              <a:t>.</a:t>
            </a:r>
            <a:endParaRPr lang="en-US" altLang="zh-CN" dirty="0"/>
          </a:p>
          <a:p>
            <a:pPr lvl="2"/>
            <a:r>
              <a:rPr lang="zh-CN" altLang="en-US" dirty="0"/>
              <a:t>由变换后的代价矩阵可知</a:t>
            </a:r>
            <a:r>
              <a:rPr lang="en-US" altLang="zh-CN" dirty="0"/>
              <a:t>, </a:t>
            </a:r>
            <a:r>
              <a:rPr lang="zh-CN" altLang="en-US" dirty="0"/>
              <a:t>具有最小代价由</a:t>
            </a:r>
            <a:r>
              <a:rPr lang="en-US" altLang="zh-CN" dirty="0"/>
              <a:t>4</a:t>
            </a:r>
            <a:r>
              <a:rPr lang="zh-CN" altLang="en-US" dirty="0"/>
              <a:t>出发的边为</a:t>
            </a:r>
            <a:r>
              <a:rPr lang="en-US" altLang="zh-CN" dirty="0"/>
              <a:t>(4, 1), </a:t>
            </a:r>
            <a:r>
              <a:rPr lang="zh-CN" altLang="en-US" dirty="0"/>
              <a:t>代价为</a:t>
            </a:r>
            <a:r>
              <a:rPr lang="en-US" altLang="zh-CN" dirty="0"/>
              <a:t>32.</a:t>
            </a:r>
            <a:endParaRPr lang="en-US" altLang="zh-CN" dirty="0"/>
          </a:p>
          <a:p>
            <a:pPr lvl="2"/>
            <a:r>
              <a:rPr lang="zh-CN" altLang="en-US" dirty="0"/>
              <a:t>由变换后的代价矩阵可知</a:t>
            </a:r>
            <a:r>
              <a:rPr lang="en-US" altLang="zh-CN" dirty="0"/>
              <a:t>, </a:t>
            </a:r>
            <a:r>
              <a:rPr lang="zh-CN" altLang="en-US" dirty="0"/>
              <a:t>具有最小代价进入</a:t>
            </a:r>
            <a:r>
              <a:rPr lang="en-US" altLang="zh-CN" dirty="0"/>
              <a:t>6</a:t>
            </a:r>
            <a:r>
              <a:rPr lang="zh-CN" altLang="en-US" dirty="0"/>
              <a:t>的边为</a:t>
            </a:r>
            <a:r>
              <a:rPr lang="en-US" altLang="zh-CN" dirty="0"/>
              <a:t>(5, 6), </a:t>
            </a:r>
            <a:r>
              <a:rPr lang="zh-CN" altLang="en-US" dirty="0"/>
              <a:t>代价为</a:t>
            </a:r>
            <a:r>
              <a:rPr lang="en-US" altLang="zh-CN" dirty="0"/>
              <a:t>0.</a:t>
            </a:r>
            <a:endParaRPr lang="en-US" altLang="zh-CN" dirty="0"/>
          </a:p>
          <a:p>
            <a:pPr lvl="2"/>
            <a:r>
              <a:rPr lang="zh-CN" altLang="en-US" dirty="0"/>
              <a:t>于是</a:t>
            </a:r>
            <a:r>
              <a:rPr lang="en-US" altLang="zh-CN" dirty="0"/>
              <a:t>, </a:t>
            </a:r>
            <a:r>
              <a:rPr lang="zh-CN" altLang="en-US" dirty="0"/>
              <a:t>右节点代价下界为</a:t>
            </a:r>
            <a:r>
              <a:rPr lang="en-US" altLang="zh-CN" dirty="0"/>
              <a:t>: 96+32+0=128.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计算左右子节点的代价下界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26"/>
          <p:cNvGrpSpPr/>
          <p:nvPr/>
        </p:nvGrpSpPr>
        <p:grpSpPr bwMode="auto">
          <a:xfrm>
            <a:off x="1151620" y="2095587"/>
            <a:ext cx="6492875" cy="2665412"/>
            <a:chOff x="1108" y="1207"/>
            <a:chExt cx="4090" cy="1679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424" y="1570"/>
              <a:ext cx="1678" cy="40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黑体" panose="02010609060101010101" pitchFamily="49" charset="-122"/>
                </a:rPr>
                <a:t>所有解的集合</a:t>
              </a:r>
              <a:endParaRPr lang="zh-CN" alt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2968" y="1207"/>
              <a:ext cx="7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L.B=96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290" y="2387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包括边</a:t>
              </a:r>
              <a:r>
                <a:rPr kumimoji="1" lang="en-US" altLang="zh-CN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的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所有解集合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3648" y="2387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不包括边</a:t>
              </a:r>
              <a:r>
                <a:rPr kumimoji="1" lang="en-US" altLang="zh-CN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endParaRPr kumimoji="1" lang="en-US" altLang="zh-CN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400" b="1" dirty="0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的所有解集合</a:t>
              </a:r>
              <a:endParaRPr kumimoji="1" lang="zh-CN" altLang="en-US" sz="2400" b="1" dirty="0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H="1">
              <a:off x="2106" y="1979"/>
              <a:ext cx="862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3513" y="1979"/>
              <a:ext cx="861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1108" y="2069"/>
              <a:ext cx="7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L.B=96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4374" y="2024"/>
              <a:ext cx="8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L.B=128</a:t>
              </a:r>
              <a:endPara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Group 27"/>
          <p:cNvGrpSpPr/>
          <p:nvPr/>
        </p:nvGrpSpPr>
        <p:grpSpPr bwMode="auto">
          <a:xfrm>
            <a:off x="1080183" y="4760999"/>
            <a:ext cx="6840537" cy="1584325"/>
            <a:chOff x="1063" y="2886"/>
            <a:chExt cx="4309" cy="998"/>
          </a:xfrm>
        </p:grpSpPr>
        <p:grpSp>
          <p:nvGrpSpPr>
            <p:cNvPr id="15" name="Group 19"/>
            <p:cNvGrpSpPr/>
            <p:nvPr/>
          </p:nvGrpSpPr>
          <p:grpSpPr bwMode="auto">
            <a:xfrm>
              <a:off x="1063" y="2886"/>
              <a:ext cx="1905" cy="998"/>
              <a:chOff x="1063" y="2886"/>
              <a:chExt cx="1905" cy="998"/>
            </a:xfrm>
          </p:grpSpPr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 flipH="1">
                <a:off x="1063" y="2886"/>
                <a:ext cx="680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>
                <a:off x="2424" y="2886"/>
                <a:ext cx="544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1063" y="3884"/>
                <a:ext cx="19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6" name="Group 20"/>
            <p:cNvGrpSpPr/>
            <p:nvPr/>
          </p:nvGrpSpPr>
          <p:grpSpPr bwMode="auto">
            <a:xfrm>
              <a:off x="3467" y="2886"/>
              <a:ext cx="1905" cy="998"/>
              <a:chOff x="1063" y="2886"/>
              <a:chExt cx="1905" cy="998"/>
            </a:xfrm>
          </p:grpSpPr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 flipH="1">
                <a:off x="1063" y="2886"/>
                <a:ext cx="680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Line 22"/>
              <p:cNvSpPr>
                <a:spLocks noChangeShapeType="1"/>
              </p:cNvSpPr>
              <p:nvPr/>
            </p:nvSpPr>
            <p:spPr bwMode="auto">
              <a:xfrm>
                <a:off x="2424" y="2886"/>
                <a:ext cx="544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>
                <a:off x="1063" y="3884"/>
                <a:ext cx="19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400">
                  <a:latin typeface="+mn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7" name="Text Box 24"/>
            <p:cNvSpPr txBox="1">
              <a:spLocks noChangeArrowheads="1"/>
            </p:cNvSpPr>
            <p:nvPr/>
          </p:nvSpPr>
          <p:spPr bwMode="auto">
            <a:xfrm>
              <a:off x="1607" y="3133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左子树</a:t>
              </a:r>
              <a:endPara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3989" y="3158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黑体" panose="02010609060101010101" pitchFamily="49" charset="-122"/>
                </a:rPr>
                <a:t>右子树</a:t>
              </a:r>
              <a:endPara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递归地构造左右子树</a:t>
            </a:r>
            <a:endParaRPr lang="zh-CN" altLang="en-US" dirty="0"/>
          </a:p>
          <a:p>
            <a:pPr lvl="1"/>
            <a:r>
              <a:rPr lang="zh-CN" altLang="en-US" dirty="0"/>
              <a:t>构造左子树根对应的代价矩阵 </a:t>
            </a:r>
            <a:endParaRPr lang="zh-CN" altLang="en-US" dirty="0"/>
          </a:p>
          <a:p>
            <a:pPr lvl="2"/>
            <a:r>
              <a:rPr lang="zh-CN" altLang="en-US" dirty="0"/>
              <a:t>左子节点为包括边</a:t>
            </a:r>
            <a:r>
              <a:rPr lang="en-US" altLang="zh-CN" dirty="0"/>
              <a:t>(4, 6)</a:t>
            </a:r>
            <a:r>
              <a:rPr lang="zh-CN" altLang="en-US" dirty="0"/>
              <a:t>的所有解集合</a:t>
            </a:r>
            <a:r>
              <a:rPr lang="en-US" altLang="zh-CN" dirty="0"/>
              <a:t>, </a:t>
            </a:r>
            <a:r>
              <a:rPr lang="zh-CN" altLang="en-US" dirty="0"/>
              <a:t>所以矩阵的第</a:t>
            </a:r>
            <a:r>
              <a:rPr lang="en-US" altLang="zh-CN" dirty="0"/>
              <a:t>4</a:t>
            </a:r>
            <a:r>
              <a:rPr lang="zh-CN" altLang="en-US" dirty="0"/>
              <a:t>行和第</a:t>
            </a:r>
            <a:r>
              <a:rPr lang="en-US" altLang="zh-CN" dirty="0"/>
              <a:t>6</a:t>
            </a:r>
            <a:r>
              <a:rPr lang="zh-CN" altLang="en-US" dirty="0"/>
              <a:t>列应该被删除</a:t>
            </a:r>
            <a:endParaRPr lang="zh-CN" altLang="en-US" dirty="0"/>
          </a:p>
          <a:p>
            <a:pPr lvl="2"/>
            <a:r>
              <a:rPr lang="zh-CN" altLang="en-US" dirty="0"/>
              <a:t>由于边</a:t>
            </a:r>
            <a:r>
              <a:rPr lang="en-US" altLang="zh-CN" dirty="0"/>
              <a:t>(4, 6)</a:t>
            </a:r>
            <a:r>
              <a:rPr lang="zh-CN" altLang="en-US" dirty="0"/>
              <a:t>被使用</a:t>
            </a:r>
            <a:r>
              <a:rPr lang="en-US" altLang="zh-CN" dirty="0"/>
              <a:t>, </a:t>
            </a:r>
            <a:r>
              <a:rPr lang="zh-CN" altLang="en-US" dirty="0"/>
              <a:t>边</a:t>
            </a:r>
            <a:r>
              <a:rPr lang="en-US" altLang="zh-CN" dirty="0"/>
              <a:t>(6, 4)</a:t>
            </a:r>
            <a:r>
              <a:rPr lang="zh-CN" altLang="en-US" dirty="0"/>
              <a:t>不能再使用</a:t>
            </a:r>
            <a:r>
              <a:rPr lang="en-US" altLang="zh-CN" dirty="0"/>
              <a:t>, </a:t>
            </a:r>
            <a:r>
              <a:rPr lang="zh-CN" altLang="en-US" dirty="0"/>
              <a:t>所以代价矩阵的元素</a:t>
            </a:r>
            <a:r>
              <a:rPr lang="en-US" altLang="zh-CN" dirty="0"/>
              <a:t>C[6, 4]</a:t>
            </a:r>
            <a:r>
              <a:rPr lang="zh-CN" altLang="en-US" dirty="0"/>
              <a:t>应该设置</a:t>
            </a:r>
            <a:r>
              <a:rPr lang="zh-CN" altLang="en-US" dirty="0">
                <a:solidFill>
                  <a:srgbClr val="0000A8"/>
                </a:solidFill>
              </a:rPr>
              <a:t>为</a:t>
            </a:r>
            <a:r>
              <a:rPr lang="zh-CN" altLang="en-US" sz="2400" dirty="0">
                <a:solidFill>
                  <a:srgbClr val="0000A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  <a:sym typeface="Symbol" panose="05050102010706020507" pitchFamily="18" charset="2"/>
              </a:rPr>
              <a:t></a:t>
            </a:r>
            <a:endParaRPr lang="en-US" altLang="zh-CN" dirty="0">
              <a:solidFill>
                <a:srgbClr val="0000A8"/>
              </a:solidFill>
            </a:endParaRPr>
          </a:p>
          <a:p>
            <a:pPr lvl="2"/>
            <a:r>
              <a:rPr lang="zh-CN" altLang="en-US" dirty="0"/>
              <a:t>结果矩阵如下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pSp>
        <p:nvGrpSpPr>
          <p:cNvPr id="5" name="Group 9"/>
          <p:cNvGrpSpPr/>
          <p:nvPr/>
        </p:nvGrpSpPr>
        <p:grpSpPr bwMode="auto">
          <a:xfrm>
            <a:off x="4860032" y="3878688"/>
            <a:ext cx="3818149" cy="2989998"/>
            <a:chOff x="1179" y="669"/>
            <a:chExt cx="3363" cy="2580"/>
          </a:xfrm>
        </p:grpSpPr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1665" y="981"/>
            <a:ext cx="2877" cy="2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7" name="公式" r:id="rId1" imgW="1397000" imgH="1092200" progId="Equation.3">
                    <p:embed/>
                  </p:oleObj>
                </mc:Choice>
                <mc:Fallback>
                  <p:oleObj name="公式" r:id="rId1" imgW="1397000" imgH="1092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5" y="981"/>
                          <a:ext cx="2877" cy="2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1396" y="669"/>
              <a:ext cx="311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300" b="1" i="1" dirty="0">
                  <a:solidFill>
                    <a:srgbClr val="663300"/>
                  </a:solidFill>
                  <a:latin typeface="Times New Roman" panose="02020603050405020304" pitchFamily="18" charset="0"/>
                </a:rPr>
                <a:t>j = 1     2    3    4    5     6    7</a:t>
              </a:r>
              <a:endParaRPr lang="en-US" altLang="zh-CN" sz="2300" b="1" dirty="0">
                <a:solidFill>
                  <a:srgbClr val="66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1179" y="952"/>
              <a:ext cx="531" cy="2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=1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2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3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4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5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6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7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101428" y="5363572"/>
            <a:ext cx="3532043" cy="38336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776890" y="3935211"/>
            <a:ext cx="454039" cy="281563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5462899" y="5774472"/>
            <a:ext cx="3175546" cy="27752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3471" y="5739184"/>
            <a:ext cx="457200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-3</a:t>
            </a:r>
            <a:endParaRPr lang="zh-CN" altLang="en-US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6830569" y="6070266"/>
            <a:ext cx="428850" cy="361581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7"/>
          <p:cNvGraphicFramePr/>
          <p:nvPr/>
        </p:nvGraphicFramePr>
        <p:xfrm>
          <a:off x="5412981" y="4240686"/>
          <a:ext cx="3265200" cy="26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公式" r:id="rId1" imgW="1397000" imgH="1092200" progId="Equation.3">
                  <p:embed/>
                </p:oleObj>
              </mc:Choice>
              <mc:Fallback>
                <p:oleObj name="公式" r:id="rId1" imgW="1397000" imgH="109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981" y="4240686"/>
                        <a:ext cx="3265200" cy="26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计算左子树根的代价下界</a:t>
            </a:r>
            <a:endParaRPr lang="zh-CN" altLang="en-US" dirty="0"/>
          </a:p>
          <a:p>
            <a:pPr lvl="1"/>
            <a:r>
              <a:rPr lang="zh-CN" altLang="en-US" dirty="0"/>
              <a:t>矩阵的第</a:t>
            </a:r>
            <a:r>
              <a:rPr lang="en-US" altLang="zh-CN" dirty="0"/>
              <a:t>5</a:t>
            </a:r>
            <a:r>
              <a:rPr lang="zh-CN" altLang="en-US" dirty="0"/>
              <a:t>行不包含</a:t>
            </a:r>
            <a:r>
              <a:rPr lang="en-US" altLang="zh-CN" dirty="0"/>
              <a:t>0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行元素减</a:t>
            </a:r>
            <a:r>
              <a:rPr lang="en-US" altLang="zh-CN" dirty="0"/>
              <a:t>3,  </a:t>
            </a:r>
            <a:r>
              <a:rPr lang="zh-CN" altLang="en-US" dirty="0"/>
              <a:t>左子树根代价下界为</a:t>
            </a:r>
            <a:r>
              <a:rPr lang="en-US" altLang="zh-CN" dirty="0"/>
              <a:t>: 96+3=99</a:t>
            </a:r>
            <a:endParaRPr lang="en-US" altLang="zh-CN" dirty="0"/>
          </a:p>
          <a:p>
            <a:pPr lvl="1"/>
            <a:r>
              <a:rPr lang="zh-CN" altLang="en-US" dirty="0"/>
              <a:t>结果矩阵如下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pSp>
        <p:nvGrpSpPr>
          <p:cNvPr id="5" name="Group 9"/>
          <p:cNvGrpSpPr/>
          <p:nvPr/>
        </p:nvGrpSpPr>
        <p:grpSpPr bwMode="auto">
          <a:xfrm>
            <a:off x="4860032" y="3878688"/>
            <a:ext cx="3778412" cy="2989998"/>
            <a:chOff x="1179" y="669"/>
            <a:chExt cx="3328" cy="2580"/>
          </a:xfrm>
        </p:grpSpPr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1396" y="669"/>
              <a:ext cx="311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300" b="1" i="1" dirty="0">
                  <a:solidFill>
                    <a:srgbClr val="663300"/>
                  </a:solidFill>
                  <a:latin typeface="Times New Roman" panose="02020603050405020304" pitchFamily="18" charset="0"/>
                </a:rPr>
                <a:t>j = 1     2    3    4    5     6    7</a:t>
              </a:r>
              <a:endParaRPr lang="en-US" altLang="zh-CN" sz="2300" b="1" dirty="0">
                <a:solidFill>
                  <a:srgbClr val="66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1179" y="952"/>
              <a:ext cx="531" cy="2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=1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2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3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4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5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6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  <a:p>
              <a:r>
                <a:rPr lang="en-US" altLang="zh-CN" sz="2400" b="1" i="1" dirty="0">
                  <a:solidFill>
                    <a:srgbClr val="66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7</a:t>
              </a:r>
              <a:endParaRPr lang="en-US" altLang="zh-CN" sz="2400" b="1" i="1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101428" y="5363572"/>
            <a:ext cx="3532043" cy="38336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776890" y="3935211"/>
            <a:ext cx="454039" cy="281563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5462899" y="5774472"/>
            <a:ext cx="3175546" cy="27752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构造右子树根对应的代价矩阵 </a:t>
            </a:r>
            <a:endParaRPr lang="zh-CN" altLang="en-US" dirty="0"/>
          </a:p>
          <a:p>
            <a:pPr lvl="1"/>
            <a:r>
              <a:rPr lang="zh-CN" altLang="en-US" dirty="0"/>
              <a:t>右子节点为不包括边</a:t>
            </a:r>
            <a:r>
              <a:rPr lang="en-US" altLang="zh-CN" dirty="0"/>
              <a:t>(4, 6)</a:t>
            </a:r>
            <a:r>
              <a:rPr lang="zh-CN" altLang="en-US" dirty="0"/>
              <a:t>的所有解集合</a:t>
            </a:r>
            <a:r>
              <a:rPr lang="en-US" altLang="zh-CN" dirty="0"/>
              <a:t>, </a:t>
            </a:r>
            <a:r>
              <a:rPr lang="zh-CN" altLang="en-US" dirty="0"/>
              <a:t>只需要把 </a:t>
            </a:r>
            <a:r>
              <a:rPr lang="en-US" altLang="zh-CN" dirty="0"/>
              <a:t>C[4, 6]</a:t>
            </a:r>
            <a:r>
              <a:rPr lang="zh-CN" altLang="en-US" dirty="0"/>
              <a:t>设置为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  <a:sym typeface="Symbol" panose="05050102010706020507" pitchFamily="18" charset="2"/>
              </a:rPr>
              <a:t>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 </a:t>
            </a:r>
            <a:endParaRPr lang="zh-CN" altLang="en-US" dirty="0"/>
          </a:p>
          <a:p>
            <a:pPr lvl="1"/>
            <a:r>
              <a:rPr lang="zh-CN" altLang="en-US" dirty="0"/>
              <a:t>结果矩阵如下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4644008" y="3436548"/>
          <a:ext cx="3979925" cy="315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公式" r:id="rId1" imgW="1397000" imgH="1092200" progId="Equation.3">
                  <p:embed/>
                </p:oleObj>
              </mc:Choice>
              <mc:Fallback>
                <p:oleObj name="公式" r:id="rId1" imgW="1397000" imgH="109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436548"/>
                        <a:ext cx="3979925" cy="315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/>
          <p:cNvSpPr/>
          <p:nvPr/>
        </p:nvSpPr>
        <p:spPr bwMode="auto">
          <a:xfrm>
            <a:off x="7524328" y="4834411"/>
            <a:ext cx="428850" cy="361581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4720586" y="4831905"/>
            <a:ext cx="3826768" cy="36158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70760" y="4824154"/>
            <a:ext cx="53774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-32</a:t>
            </a:r>
            <a:endParaRPr lang="zh-CN" altLang="en-US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计算右子树根的代价下界</a:t>
            </a:r>
            <a:endParaRPr lang="zh-CN" altLang="en-US" dirty="0"/>
          </a:p>
          <a:p>
            <a:pPr lvl="1"/>
            <a:r>
              <a:rPr lang="zh-CN" altLang="en-US" dirty="0"/>
              <a:t>矩阵的第</a:t>
            </a:r>
            <a:r>
              <a:rPr lang="en-US" altLang="zh-CN" dirty="0"/>
              <a:t>4</a:t>
            </a:r>
            <a:r>
              <a:rPr lang="zh-CN" altLang="en-US" dirty="0"/>
              <a:t>行不包含</a:t>
            </a:r>
            <a:r>
              <a:rPr lang="en-US" altLang="zh-CN" dirty="0"/>
              <a:t>0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行元素减</a:t>
            </a:r>
            <a:r>
              <a:rPr lang="en-US" altLang="zh-CN" dirty="0"/>
              <a:t>32,  </a:t>
            </a:r>
            <a:r>
              <a:rPr lang="zh-CN" altLang="en-US" dirty="0"/>
              <a:t>右子树根代价下界为</a:t>
            </a:r>
            <a:r>
              <a:rPr lang="en-US" altLang="zh-CN" dirty="0"/>
              <a:t>: 96+32=128</a:t>
            </a:r>
            <a:endParaRPr lang="en-US" altLang="zh-CN" dirty="0"/>
          </a:p>
          <a:p>
            <a:pPr lvl="1"/>
            <a:r>
              <a:rPr lang="zh-CN" altLang="en-US" dirty="0"/>
              <a:t>结果矩阵如下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4644008" y="3438000"/>
          <a:ext cx="4004967" cy="31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公式" r:id="rId1" imgW="1397000" imgH="1092200" progId="Equation.3">
                  <p:embed/>
                </p:oleObj>
              </mc:Choice>
              <mc:Fallback>
                <p:oleObj name="公式" r:id="rId1" imgW="1397000" imgH="1092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438000"/>
                        <a:ext cx="4004967" cy="31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旅行商问题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目前的树为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pSp>
        <p:nvGrpSpPr>
          <p:cNvPr id="5" name="Group 5"/>
          <p:cNvGrpSpPr/>
          <p:nvPr/>
        </p:nvGrpSpPr>
        <p:grpSpPr bwMode="auto">
          <a:xfrm>
            <a:off x="1475656" y="1755141"/>
            <a:ext cx="6680201" cy="2665412"/>
            <a:chOff x="1108" y="1207"/>
            <a:chExt cx="4208" cy="1679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424" y="1570"/>
              <a:ext cx="1678" cy="40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 b="1">
                  <a:latin typeface="+mn-lt"/>
                  <a:ea typeface="黑体" panose="02010609060101010101" pitchFamily="49" charset="-122"/>
                </a:rPr>
                <a:t>所有解的集合</a:t>
              </a:r>
              <a:endParaRPr lang="zh-CN" altLang="en-US" sz="2800" b="1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968" y="1207"/>
              <a:ext cx="8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L.B=96</a:t>
              </a:r>
              <a:endParaRPr lang="en-US" altLang="zh-CN" sz="28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290" y="2387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>
                  <a:latin typeface="+mn-lt"/>
                  <a:ea typeface="黑体" panose="02010609060101010101" pitchFamily="49" charset="-122"/>
                </a:rPr>
                <a:t>包括边</a:t>
              </a:r>
              <a:r>
                <a:rPr kumimoji="1" lang="en-US" altLang="zh-CN" sz="2800" b="1">
                  <a:latin typeface="+mn-lt"/>
                  <a:ea typeface="黑体" panose="02010609060101010101" pitchFamily="49" charset="-122"/>
                </a:rPr>
                <a:t>(4, 6)</a:t>
              </a:r>
              <a:r>
                <a:rPr kumimoji="1" lang="zh-CN" altLang="en-US" sz="2800" b="1">
                  <a:latin typeface="+mn-lt"/>
                  <a:ea typeface="黑体" panose="02010609060101010101" pitchFamily="49" charset="-122"/>
                </a:rPr>
                <a:t>的</a:t>
              </a:r>
              <a:endParaRPr kumimoji="1" lang="zh-CN" altLang="en-US" sz="2800" b="1"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800" b="1">
                  <a:latin typeface="+mn-lt"/>
                  <a:ea typeface="黑体" panose="02010609060101010101" pitchFamily="49" charset="-122"/>
                </a:rPr>
                <a:t>所有解集合</a:t>
              </a:r>
              <a:endParaRPr kumimoji="1" lang="zh-CN" altLang="en-US" sz="2800" b="1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648" y="2387"/>
              <a:ext cx="1497" cy="499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 dirty="0">
                  <a:latin typeface="+mn-lt"/>
                  <a:ea typeface="黑体" panose="02010609060101010101" pitchFamily="49" charset="-122"/>
                </a:rPr>
                <a:t>不包括边</a:t>
              </a:r>
              <a:r>
                <a:rPr kumimoji="1" lang="en-US" altLang="zh-CN" sz="2800" b="1" dirty="0">
                  <a:latin typeface="+mn-lt"/>
                  <a:ea typeface="黑体" panose="02010609060101010101" pitchFamily="49" charset="-122"/>
                </a:rPr>
                <a:t>(4, 6)</a:t>
              </a:r>
              <a:endParaRPr kumimoji="1" lang="en-US" altLang="zh-CN" sz="2800" b="1" dirty="0">
                <a:latin typeface="+mn-lt"/>
                <a:ea typeface="黑体" panose="02010609060101010101" pitchFamily="49" charset="-122"/>
              </a:endParaRPr>
            </a:p>
            <a:p>
              <a:pPr algn="ctr"/>
              <a:r>
                <a:rPr kumimoji="1" lang="zh-CN" altLang="en-US" sz="2800" b="1" dirty="0">
                  <a:latin typeface="+mn-lt"/>
                  <a:ea typeface="黑体" panose="02010609060101010101" pitchFamily="49" charset="-122"/>
                </a:rPr>
                <a:t>的所有解集合</a:t>
              </a:r>
              <a:endParaRPr kumimoji="1" lang="zh-CN" altLang="en-US" sz="2800" b="1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2106" y="1979"/>
              <a:ext cx="862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13" y="1979"/>
              <a:ext cx="861" cy="4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108" y="2069"/>
              <a:ext cx="8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L.B=99</a:t>
              </a:r>
              <a:endParaRPr lang="en-US" altLang="zh-CN" sz="28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374" y="2024"/>
              <a:ext cx="9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L.B=128</a:t>
              </a:r>
              <a:endParaRPr lang="en-US" altLang="zh-CN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Group 14"/>
          <p:cNvGrpSpPr/>
          <p:nvPr/>
        </p:nvGrpSpPr>
        <p:grpSpPr bwMode="auto">
          <a:xfrm>
            <a:off x="1404219" y="4420553"/>
            <a:ext cx="6840537" cy="1584325"/>
            <a:chOff x="1063" y="2886"/>
            <a:chExt cx="4309" cy="998"/>
          </a:xfrm>
        </p:grpSpPr>
        <p:grpSp>
          <p:nvGrpSpPr>
            <p:cNvPr id="16" name="Group 15"/>
            <p:cNvGrpSpPr/>
            <p:nvPr/>
          </p:nvGrpSpPr>
          <p:grpSpPr bwMode="auto">
            <a:xfrm>
              <a:off x="1063" y="2886"/>
              <a:ext cx="1905" cy="998"/>
              <a:chOff x="1063" y="2886"/>
              <a:chExt cx="1905" cy="998"/>
            </a:xfrm>
          </p:grpSpPr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 flipH="1">
                <a:off x="1063" y="2886"/>
                <a:ext cx="680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2424" y="2886"/>
                <a:ext cx="544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Line 18"/>
              <p:cNvSpPr>
                <a:spLocks noChangeShapeType="1"/>
              </p:cNvSpPr>
              <p:nvPr/>
            </p:nvSpPr>
            <p:spPr bwMode="auto">
              <a:xfrm>
                <a:off x="1063" y="3884"/>
                <a:ext cx="19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7" name="Group 19"/>
            <p:cNvGrpSpPr/>
            <p:nvPr/>
          </p:nvGrpSpPr>
          <p:grpSpPr bwMode="auto">
            <a:xfrm>
              <a:off x="3467" y="2886"/>
              <a:ext cx="1905" cy="998"/>
              <a:chOff x="1063" y="2886"/>
              <a:chExt cx="1905" cy="998"/>
            </a:xfrm>
          </p:grpSpPr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H="1">
                <a:off x="1063" y="2886"/>
                <a:ext cx="680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2424" y="2886"/>
                <a:ext cx="544" cy="99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1063" y="3884"/>
                <a:ext cx="19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8" name="Text Box 23"/>
            <p:cNvSpPr txBox="1">
              <a:spLocks noChangeArrowheads="1"/>
            </p:cNvSpPr>
            <p:nvPr/>
          </p:nvSpPr>
          <p:spPr bwMode="auto">
            <a:xfrm>
              <a:off x="1607" y="3133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>
                  <a:latin typeface="+mn-lt"/>
                  <a:ea typeface="黑体" panose="02010609060101010101" pitchFamily="49" charset="-122"/>
                </a:rPr>
                <a:t>左子树</a:t>
              </a:r>
              <a:endParaRPr lang="zh-CN" altLang="en-US" sz="3200" b="1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3989" y="3158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>
                  <a:latin typeface="+mn-lt"/>
                  <a:ea typeface="黑体" panose="02010609060101010101" pitchFamily="49" charset="-122"/>
                </a:rPr>
                <a:t>右子树</a:t>
              </a:r>
              <a:endParaRPr lang="zh-CN" altLang="en-US" sz="3200" b="1"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034926" y="433517"/>
            <a:ext cx="9905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L.B=96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6" name="Group 66"/>
          <p:cNvGrpSpPr/>
          <p:nvPr/>
        </p:nvGrpSpPr>
        <p:grpSpPr bwMode="auto">
          <a:xfrm>
            <a:off x="321308" y="836711"/>
            <a:ext cx="6921902" cy="1705648"/>
            <a:chOff x="604" y="82"/>
            <a:chExt cx="5744" cy="1529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669" y="82"/>
              <a:ext cx="1315" cy="31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所有解集合</a:t>
              </a:r>
              <a:endParaRPr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399" y="718"/>
              <a:ext cx="1315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包括边</a:t>
              </a:r>
              <a:r>
                <a:rPr kumimoji="1" lang="en-US" altLang="zh-CN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endPara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39" y="717"/>
              <a:ext cx="1497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不包括边</a:t>
              </a:r>
              <a:r>
                <a:rPr kumimoji="1" lang="en-US" altLang="zh-CN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(4, 6)</a:t>
              </a:r>
              <a:endPara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604" y="717"/>
              <a:ext cx="825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L.B=99</a:t>
              </a:r>
              <a:endPara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5417" y="708"/>
              <a:ext cx="931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L.B=128</a:t>
              </a:r>
              <a:endPara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1399" y="1261"/>
              <a:ext cx="1315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包括边</a:t>
              </a:r>
              <a:r>
                <a:rPr kumimoji="1" lang="en-US" altLang="zh-CN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(3, 5)</a:t>
              </a:r>
              <a:endPara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877" y="1261"/>
              <a:ext cx="1406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不包括边</a:t>
              </a:r>
              <a:r>
                <a:rPr kumimoji="1" lang="en-US" altLang="zh-CN" sz="2000" b="1">
                  <a:solidFill>
                    <a:srgbClr val="663300"/>
                  </a:solidFill>
                  <a:latin typeface="+mn-lt"/>
                  <a:ea typeface="黑体" panose="02010609060101010101" pitchFamily="49" charset="-122"/>
                </a:rPr>
                <a:t>(3,5)</a:t>
              </a:r>
              <a:endPara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 flipH="1">
              <a:off x="2151" y="400"/>
              <a:ext cx="998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3512" y="400"/>
              <a:ext cx="1089" cy="31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970" y="1025"/>
              <a:ext cx="0" cy="2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2197" y="1025"/>
              <a:ext cx="1315" cy="22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604" y="1252"/>
              <a:ext cx="825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L.B=99</a:t>
              </a:r>
              <a:endPara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238" y="1252"/>
              <a:ext cx="920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+mn-lt"/>
                  <a:ea typeface="黑体" panose="02010609060101010101" pitchFamily="49" charset="-122"/>
                </a:rPr>
                <a:t>L.B=117</a:t>
              </a:r>
              <a:endPara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1280838" y="3000764"/>
            <a:ext cx="1584663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(2, 1)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1" name="Rectangle 36"/>
          <p:cNvSpPr>
            <a:spLocks noChangeArrowheads="1"/>
          </p:cNvSpPr>
          <p:nvPr/>
        </p:nvSpPr>
        <p:spPr bwMode="auto">
          <a:xfrm>
            <a:off x="3619226" y="3000764"/>
            <a:ext cx="1700349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不包括边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(2, 1)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2" name="Line 37"/>
          <p:cNvSpPr>
            <a:spLocks noChangeShapeType="1"/>
          </p:cNvSpPr>
          <p:nvPr/>
        </p:nvSpPr>
        <p:spPr bwMode="auto">
          <a:xfrm>
            <a:off x="2187301" y="2604874"/>
            <a:ext cx="0" cy="3034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Line 38"/>
          <p:cNvSpPr>
            <a:spLocks noChangeShapeType="1"/>
          </p:cNvSpPr>
          <p:nvPr/>
        </p:nvSpPr>
        <p:spPr bwMode="auto">
          <a:xfrm>
            <a:off x="2547663" y="2583637"/>
            <a:ext cx="1584663" cy="25322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" name="Text Box 39"/>
          <p:cNvSpPr txBox="1">
            <a:spLocks noChangeArrowheads="1"/>
          </p:cNvSpPr>
          <p:nvPr/>
        </p:nvSpPr>
        <p:spPr bwMode="auto">
          <a:xfrm>
            <a:off x="184783" y="3007072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L.B=112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5" name="Text Box 40"/>
          <p:cNvSpPr txBox="1">
            <a:spLocks noChangeArrowheads="1"/>
          </p:cNvSpPr>
          <p:nvPr/>
        </p:nvSpPr>
        <p:spPr bwMode="auto">
          <a:xfrm>
            <a:off x="5787752" y="2991197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L.B=125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6" name="Rectangle 41"/>
          <p:cNvSpPr>
            <a:spLocks noChangeArrowheads="1"/>
          </p:cNvSpPr>
          <p:nvPr/>
        </p:nvSpPr>
        <p:spPr bwMode="auto">
          <a:xfrm>
            <a:off x="1280838" y="3850077"/>
            <a:ext cx="1584663" cy="35362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(1, 4)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3619226" y="3850077"/>
            <a:ext cx="1700349" cy="35362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不包括边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(1, 4)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2187301" y="3454187"/>
            <a:ext cx="0" cy="3034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" name="Line 44"/>
          <p:cNvSpPr>
            <a:spLocks noChangeShapeType="1"/>
          </p:cNvSpPr>
          <p:nvPr/>
        </p:nvSpPr>
        <p:spPr bwMode="auto">
          <a:xfrm>
            <a:off x="2547663" y="3432949"/>
            <a:ext cx="1584663" cy="2532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0" name="Text Box 45"/>
          <p:cNvSpPr txBox="1">
            <a:spLocks noChangeArrowheads="1"/>
          </p:cNvSpPr>
          <p:nvPr/>
        </p:nvSpPr>
        <p:spPr bwMode="auto">
          <a:xfrm>
            <a:off x="143508" y="3840509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L.B=126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1" name="Text Box 46"/>
          <p:cNvSpPr txBox="1">
            <a:spLocks noChangeArrowheads="1"/>
          </p:cNvSpPr>
          <p:nvPr/>
        </p:nvSpPr>
        <p:spPr bwMode="auto">
          <a:xfrm>
            <a:off x="5787752" y="3840509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L.B=153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2" name="Rectangle 47"/>
          <p:cNvSpPr>
            <a:spLocks noChangeArrowheads="1"/>
          </p:cNvSpPr>
          <p:nvPr/>
        </p:nvSpPr>
        <p:spPr bwMode="auto">
          <a:xfrm>
            <a:off x="1280838" y="4658114"/>
            <a:ext cx="1584663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(6, 7)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3" name="Rectangle 48"/>
          <p:cNvSpPr>
            <a:spLocks noChangeArrowheads="1"/>
          </p:cNvSpPr>
          <p:nvPr/>
        </p:nvSpPr>
        <p:spPr bwMode="auto">
          <a:xfrm>
            <a:off x="3619226" y="4658114"/>
            <a:ext cx="1700349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不包括边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(6, 7)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4" name="Line 49"/>
          <p:cNvSpPr>
            <a:spLocks noChangeShapeType="1"/>
          </p:cNvSpPr>
          <p:nvPr/>
        </p:nvSpPr>
        <p:spPr bwMode="auto">
          <a:xfrm>
            <a:off x="2187301" y="4262224"/>
            <a:ext cx="0" cy="3034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5" name="Line 50"/>
          <p:cNvSpPr>
            <a:spLocks noChangeShapeType="1"/>
          </p:cNvSpPr>
          <p:nvPr/>
        </p:nvSpPr>
        <p:spPr bwMode="auto">
          <a:xfrm>
            <a:off x="2547663" y="4240987"/>
            <a:ext cx="1584663" cy="25322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6" name="Text Box 51"/>
          <p:cNvSpPr txBox="1">
            <a:spLocks noChangeArrowheads="1"/>
          </p:cNvSpPr>
          <p:nvPr/>
        </p:nvSpPr>
        <p:spPr bwMode="auto">
          <a:xfrm>
            <a:off x="143508" y="4648547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L.B=126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7" name="Text Box 52"/>
          <p:cNvSpPr txBox="1">
            <a:spLocks noChangeArrowheads="1"/>
          </p:cNvSpPr>
          <p:nvPr/>
        </p:nvSpPr>
        <p:spPr bwMode="auto">
          <a:xfrm>
            <a:off x="5787752" y="4648547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L.B=134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1280838" y="5521714"/>
            <a:ext cx="1584663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(5, 2)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" name="Rectangle 54"/>
          <p:cNvSpPr>
            <a:spLocks noChangeArrowheads="1"/>
          </p:cNvSpPr>
          <p:nvPr/>
        </p:nvSpPr>
        <p:spPr bwMode="auto">
          <a:xfrm>
            <a:off x="3619226" y="5521714"/>
            <a:ext cx="1700349" cy="35362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不包括边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(5, 2)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" name="Line 55"/>
          <p:cNvSpPr>
            <a:spLocks noChangeShapeType="1"/>
          </p:cNvSpPr>
          <p:nvPr/>
        </p:nvSpPr>
        <p:spPr bwMode="auto">
          <a:xfrm>
            <a:off x="2187301" y="5125824"/>
            <a:ext cx="0" cy="3034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1" name="Line 56"/>
          <p:cNvSpPr>
            <a:spLocks noChangeShapeType="1"/>
          </p:cNvSpPr>
          <p:nvPr/>
        </p:nvSpPr>
        <p:spPr bwMode="auto">
          <a:xfrm>
            <a:off x="2547663" y="5104587"/>
            <a:ext cx="1584663" cy="253226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2" name="Text Box 57"/>
          <p:cNvSpPr txBox="1">
            <a:spLocks noChangeArrowheads="1"/>
          </p:cNvSpPr>
          <p:nvPr/>
        </p:nvSpPr>
        <p:spPr bwMode="auto">
          <a:xfrm>
            <a:off x="143508" y="5512147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L.B=126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3" name="Text Box 58"/>
          <p:cNvSpPr txBox="1">
            <a:spLocks noChangeArrowheads="1"/>
          </p:cNvSpPr>
          <p:nvPr/>
        </p:nvSpPr>
        <p:spPr bwMode="auto">
          <a:xfrm>
            <a:off x="5787750" y="5547072"/>
            <a:ext cx="11255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空集合</a:t>
            </a:r>
            <a:endParaRPr lang="zh-CN" altLang="en-US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4" name="Rectangle 59"/>
          <p:cNvSpPr>
            <a:spLocks noChangeArrowheads="1"/>
          </p:cNvSpPr>
          <p:nvPr/>
        </p:nvSpPr>
        <p:spPr bwMode="auto">
          <a:xfrm>
            <a:off x="1280838" y="6386902"/>
            <a:ext cx="1584663" cy="35362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(7, 3)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5" name="Rectangle 60"/>
          <p:cNvSpPr>
            <a:spLocks noChangeArrowheads="1"/>
          </p:cNvSpPr>
          <p:nvPr/>
        </p:nvSpPr>
        <p:spPr bwMode="auto">
          <a:xfrm>
            <a:off x="3619226" y="6386902"/>
            <a:ext cx="1700349" cy="35362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不包括边</a:t>
            </a:r>
            <a:r>
              <a:rPr kumimoji="1" lang="en-US" altLang="zh-CN" sz="2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rPr>
              <a:t>(7, 3)</a:t>
            </a:r>
            <a:endParaRPr kumimoji="1" lang="zh-CN" altLang="en-US" sz="2000" b="1">
              <a:solidFill>
                <a:srgbClr val="6633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6" name="Line 61"/>
          <p:cNvSpPr>
            <a:spLocks noChangeShapeType="1"/>
          </p:cNvSpPr>
          <p:nvPr/>
        </p:nvSpPr>
        <p:spPr bwMode="auto">
          <a:xfrm>
            <a:off x="2187301" y="5991012"/>
            <a:ext cx="0" cy="3034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7" name="Line 62"/>
          <p:cNvSpPr>
            <a:spLocks noChangeShapeType="1"/>
          </p:cNvSpPr>
          <p:nvPr/>
        </p:nvSpPr>
        <p:spPr bwMode="auto">
          <a:xfrm>
            <a:off x="2547663" y="5969774"/>
            <a:ext cx="1584663" cy="2532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" name="Text Box 63"/>
          <p:cNvSpPr txBox="1">
            <a:spLocks noChangeArrowheads="1"/>
          </p:cNvSpPr>
          <p:nvPr/>
        </p:nvSpPr>
        <p:spPr bwMode="auto">
          <a:xfrm>
            <a:off x="143508" y="6377334"/>
            <a:ext cx="11255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L.B=126</a:t>
            </a:r>
            <a:endParaRPr lang="en-US" altLang="zh-CN" sz="20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" name="Text Box 64"/>
          <p:cNvSpPr txBox="1">
            <a:spLocks noChangeArrowheads="1"/>
          </p:cNvSpPr>
          <p:nvPr/>
        </p:nvSpPr>
        <p:spPr bwMode="auto">
          <a:xfrm>
            <a:off x="5787751" y="6412259"/>
            <a:ext cx="11255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空集合</a:t>
            </a:r>
            <a:endParaRPr lang="zh-CN" altLang="en-US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" name="AutoShape 65"/>
          <p:cNvSpPr>
            <a:spLocks noChangeArrowheads="1"/>
          </p:cNvSpPr>
          <p:nvPr/>
        </p:nvSpPr>
        <p:spPr bwMode="auto">
          <a:xfrm>
            <a:off x="3141055" y="4959154"/>
            <a:ext cx="2367047" cy="1266129"/>
          </a:xfrm>
          <a:prstGeom prst="wedgeRoundRectCallout">
            <a:avLst>
              <a:gd name="adj1" fmla="val -83315"/>
              <a:gd name="adj2" fmla="val 58898"/>
              <a:gd name="adj3" fmla="val 16667"/>
            </a:avLst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解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:1-4-6-7-3-5-2-1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代价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: 126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优化解代价的上界</a:t>
            </a:r>
            <a:endParaRPr lang="zh-CN" altLang="en-US" sz="20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endParaRPr lang="zh-CN" altLang="en-US" sz="200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1" name="Rectangle 67"/>
          <p:cNvSpPr>
            <a:spLocks noChangeArrowheads="1"/>
          </p:cNvSpPr>
          <p:nvPr/>
        </p:nvSpPr>
        <p:spPr bwMode="auto">
          <a:xfrm>
            <a:off x="4795371" y="1846114"/>
            <a:ext cx="2952413" cy="1164615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由于右子树代价</a:t>
            </a:r>
            <a:endParaRPr lang="zh-CN" altLang="en-US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下界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=128&gt;126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停止扩展</a:t>
            </a:r>
            <a:endParaRPr lang="zh-CN" altLang="en-US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/>
      <p:bldP spid="25" grpId="0"/>
      <p:bldP spid="26" grpId="0" animBg="1"/>
      <p:bldP spid="27" grpId="0" animBg="1"/>
      <p:bldP spid="30" grpId="0"/>
      <p:bldP spid="31" grpId="0"/>
      <p:bldP spid="32" grpId="0" animBg="1"/>
      <p:bldP spid="33" grpId="0" animBg="1"/>
      <p:bldP spid="36" grpId="0"/>
      <p:bldP spid="37" grpId="0"/>
      <p:bldP spid="38" grpId="0" animBg="1"/>
      <p:bldP spid="39" grpId="0" animBg="1"/>
      <p:bldP spid="42" grpId="0"/>
      <p:bldP spid="43" grpId="0"/>
      <p:bldP spid="44" grpId="0" animBg="1"/>
      <p:bldP spid="45" grpId="0" animBg="1"/>
      <p:bldP spid="48" grpId="0"/>
      <p:bldP spid="49" grpId="0"/>
      <p:bldP spid="50" grpId="0" animBg="1"/>
      <p:bldP spid="5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en-US" altLang="zh-CN" dirty="0"/>
              <a:t>(1). </a:t>
            </a:r>
            <a:r>
              <a:rPr lang="zh-CN" altLang="en-US" dirty="0"/>
              <a:t>使用</a:t>
            </a:r>
            <a:r>
              <a:rPr lang="en-US" altLang="zh-CN" dirty="0"/>
              <a:t>Best-first</a:t>
            </a:r>
            <a:r>
              <a:rPr lang="zh-CN" altLang="en-US" dirty="0"/>
              <a:t>策略搜索树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(2). </a:t>
            </a:r>
            <a:r>
              <a:rPr lang="zh-CN" altLang="en-US" dirty="0"/>
              <a:t>节点</a:t>
            </a:r>
            <a:r>
              <a:rPr lang="en-US" altLang="zh-CN" dirty="0"/>
              <a:t>n</a:t>
            </a:r>
            <a:r>
              <a:rPr lang="zh-CN" altLang="en-US" dirty="0"/>
              <a:t>的代价函数为</a:t>
            </a:r>
            <a:r>
              <a:rPr lang="en-US" altLang="zh-CN" dirty="0"/>
              <a:t>f(n)=g(n)+h(n), g(n)</a:t>
            </a:r>
            <a:r>
              <a:rPr lang="zh-CN" altLang="en-US" dirty="0"/>
              <a:t>是</a:t>
            </a:r>
            <a:endParaRPr lang="zh-CN" altLang="en-US" dirty="0"/>
          </a:p>
          <a:p>
            <a:pPr lvl="1"/>
            <a:r>
              <a:rPr lang="zh-CN" altLang="en-US" dirty="0"/>
              <a:t>       从根到</a:t>
            </a:r>
            <a:r>
              <a:rPr lang="en-US" altLang="zh-CN" dirty="0"/>
              <a:t>n</a:t>
            </a:r>
            <a:r>
              <a:rPr lang="zh-CN" altLang="en-US" dirty="0"/>
              <a:t>的路径代价</a:t>
            </a:r>
            <a:r>
              <a:rPr lang="en-US" altLang="zh-CN" dirty="0"/>
              <a:t>,  h(n)</a:t>
            </a:r>
            <a:r>
              <a:rPr lang="zh-CN" altLang="en-US" dirty="0"/>
              <a:t>是从</a:t>
            </a:r>
            <a:r>
              <a:rPr lang="en-US" altLang="zh-CN" dirty="0"/>
              <a:t>n</a:t>
            </a:r>
            <a:r>
              <a:rPr lang="zh-CN" altLang="en-US" dirty="0"/>
              <a:t>到某个目</a:t>
            </a:r>
            <a:endParaRPr lang="zh-CN" altLang="en-US" dirty="0"/>
          </a:p>
          <a:p>
            <a:pPr lvl="1"/>
            <a:r>
              <a:rPr lang="zh-CN" altLang="en-US" dirty="0"/>
              <a:t>       标节点的优化路径代价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(3). </a:t>
            </a:r>
            <a:r>
              <a:rPr lang="zh-CN" altLang="en-US" dirty="0"/>
              <a:t>对于所有</a:t>
            </a:r>
            <a:r>
              <a:rPr lang="en-US" altLang="zh-CN" dirty="0"/>
              <a:t>n, h(n)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</a:t>
            </a:r>
            <a:r>
              <a:rPr lang="en-US" altLang="zh-CN" sz="28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/>
              <a:t>h*(n);</a:t>
            </a:r>
            <a:endParaRPr lang="en-US" altLang="zh-CN" dirty="0"/>
          </a:p>
          <a:p>
            <a:pPr lvl="1"/>
            <a:r>
              <a:rPr lang="en-US" altLang="zh-CN" dirty="0"/>
              <a:t>(4). </a:t>
            </a:r>
            <a:r>
              <a:rPr lang="zh-CN" altLang="en-US" dirty="0"/>
              <a:t>当选择到的节点是目标节点时</a:t>
            </a:r>
            <a:r>
              <a:rPr lang="en-US" altLang="zh-CN" dirty="0"/>
              <a:t>, </a:t>
            </a:r>
            <a:r>
              <a:rPr lang="zh-CN" altLang="en-US" dirty="0"/>
              <a:t>算法停止</a:t>
            </a:r>
            <a:r>
              <a:rPr lang="en-US" altLang="zh-CN" dirty="0"/>
              <a:t>, </a:t>
            </a:r>
            <a:endParaRPr lang="en-US" altLang="zh-CN" dirty="0"/>
          </a:p>
          <a:p>
            <a:pPr lvl="1"/>
            <a:r>
              <a:rPr lang="en-US" altLang="zh-CN" dirty="0"/>
              <a:t>       </a:t>
            </a:r>
            <a:r>
              <a:rPr lang="zh-CN" altLang="en-US" dirty="0"/>
              <a:t>返回一个优化解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算法关键：代价函数</a:t>
            </a:r>
            <a:endParaRPr lang="zh-CN" altLang="en-US" dirty="0"/>
          </a:p>
          <a:p>
            <a:pPr lvl="1"/>
            <a:r>
              <a:rPr lang="zh-CN" altLang="en-US" dirty="0"/>
              <a:t> 对于任意节点</a:t>
            </a:r>
            <a:r>
              <a:rPr lang="en-US" altLang="zh-CN" dirty="0"/>
              <a:t>n</a:t>
            </a:r>
            <a:endParaRPr lang="en-US" altLang="zh-CN" dirty="0"/>
          </a:p>
          <a:p>
            <a:pPr lvl="2"/>
            <a:r>
              <a:rPr lang="en-US" altLang="zh-CN" dirty="0"/>
              <a:t>g(n)</a:t>
            </a:r>
            <a:r>
              <a:rPr lang="zh-CN" altLang="en-US" dirty="0"/>
              <a:t>＝从树根到</a:t>
            </a:r>
            <a:r>
              <a:rPr lang="en-US" altLang="zh-CN" dirty="0"/>
              <a:t>n</a:t>
            </a:r>
            <a:r>
              <a:rPr lang="zh-CN" altLang="en-US" dirty="0"/>
              <a:t>的代价</a:t>
            </a:r>
            <a:endParaRPr lang="zh-CN" altLang="en-US" dirty="0"/>
          </a:p>
          <a:p>
            <a:pPr lvl="2"/>
            <a:r>
              <a:rPr lang="en-US" altLang="zh-CN" dirty="0"/>
              <a:t>h*(n)</a:t>
            </a:r>
            <a:r>
              <a:rPr lang="zh-CN" altLang="en-US" dirty="0"/>
              <a:t>＝从</a:t>
            </a:r>
            <a:r>
              <a:rPr lang="en-US" altLang="zh-CN" dirty="0"/>
              <a:t>n</a:t>
            </a:r>
            <a:r>
              <a:rPr lang="zh-CN" altLang="en-US" dirty="0"/>
              <a:t>到目标节点的优化路径的代价</a:t>
            </a:r>
            <a:endParaRPr lang="zh-CN" altLang="en-US" dirty="0"/>
          </a:p>
          <a:p>
            <a:pPr lvl="2"/>
            <a:r>
              <a:rPr lang="en-US" altLang="zh-CN" dirty="0"/>
              <a:t>f*(n)</a:t>
            </a:r>
            <a:r>
              <a:rPr lang="zh-CN" altLang="en-US" dirty="0"/>
              <a:t>＝</a:t>
            </a:r>
            <a:r>
              <a:rPr lang="en-US" altLang="zh-CN" dirty="0"/>
              <a:t>g(n) + h*(n)</a:t>
            </a:r>
            <a:r>
              <a:rPr lang="zh-CN" altLang="en-US" dirty="0"/>
              <a:t>是节点</a:t>
            </a:r>
            <a:r>
              <a:rPr lang="en-US" altLang="zh-CN" dirty="0"/>
              <a:t>n</a:t>
            </a:r>
            <a:r>
              <a:rPr lang="zh-CN" altLang="en-US" dirty="0"/>
              <a:t>的代价</a:t>
            </a:r>
            <a:endParaRPr lang="zh-CN" altLang="en-US" dirty="0"/>
          </a:p>
          <a:p>
            <a:pPr lvl="1"/>
            <a:r>
              <a:rPr lang="en-US" altLang="zh-CN" dirty="0"/>
              <a:t>h*(n)</a:t>
            </a:r>
            <a:r>
              <a:rPr lang="zh-CN" altLang="en-US" dirty="0"/>
              <a:t>为多少？</a:t>
            </a:r>
            <a:endParaRPr lang="en-US" altLang="zh-CN" dirty="0"/>
          </a:p>
          <a:p>
            <a:pPr lvl="2"/>
            <a:r>
              <a:rPr lang="zh-CN" altLang="en-US" dirty="0"/>
              <a:t>不知道！于是</a:t>
            </a:r>
            <a:r>
              <a:rPr lang="en-US" altLang="zh-CN" dirty="0"/>
              <a:t>, f*(n)</a:t>
            </a:r>
            <a:r>
              <a:rPr lang="zh-CN" altLang="en-US" dirty="0"/>
              <a:t>也不知道</a:t>
            </a:r>
            <a:endParaRPr lang="zh-CN" altLang="en-US" dirty="0"/>
          </a:p>
          <a:p>
            <a:pPr lvl="1"/>
            <a:r>
              <a:rPr lang="zh-CN" altLang="en-US" dirty="0"/>
              <a:t> 估计</a:t>
            </a:r>
            <a:r>
              <a:rPr lang="en-US" altLang="zh-CN" dirty="0"/>
              <a:t>h*(n)</a:t>
            </a:r>
            <a:endParaRPr lang="en-US" altLang="zh-CN" dirty="0"/>
          </a:p>
          <a:p>
            <a:pPr lvl="2"/>
            <a:r>
              <a:rPr lang="zh-CN" altLang="en-US" dirty="0"/>
              <a:t>使用任何方法去估计</a:t>
            </a:r>
            <a:r>
              <a:rPr lang="en-US" altLang="zh-CN" dirty="0"/>
              <a:t>h*(n), </a:t>
            </a:r>
            <a:r>
              <a:rPr lang="zh-CN" altLang="en-US" dirty="0"/>
              <a:t>用</a:t>
            </a:r>
            <a:r>
              <a:rPr lang="en-US" altLang="zh-CN" dirty="0"/>
              <a:t>h(n)</a:t>
            </a:r>
            <a:r>
              <a:rPr lang="zh-CN" altLang="en-US" dirty="0"/>
              <a:t>表示</a:t>
            </a:r>
            <a:r>
              <a:rPr lang="en-US" altLang="zh-CN" dirty="0"/>
              <a:t>h*(n)</a:t>
            </a:r>
            <a:r>
              <a:rPr lang="zh-CN" altLang="en-US" dirty="0"/>
              <a:t>的估计</a:t>
            </a:r>
            <a:endParaRPr lang="zh-CN" altLang="en-US" dirty="0"/>
          </a:p>
          <a:p>
            <a:pPr lvl="2"/>
            <a:r>
              <a:rPr lang="zh-CN" altLang="en-US" dirty="0"/>
              <a:t> </a:t>
            </a:r>
            <a:r>
              <a:rPr lang="en-US" altLang="zh-CN" dirty="0"/>
              <a:t>h(n)</a:t>
            </a:r>
            <a:r>
              <a:rPr lang="en-US" altLang="zh-CN" sz="24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/>
              <a:t>h*(n)</a:t>
            </a:r>
            <a:r>
              <a:rPr lang="zh-CN" altLang="en-US" dirty="0"/>
              <a:t>总为真</a:t>
            </a:r>
            <a:endParaRPr lang="zh-CN" altLang="en-US" dirty="0"/>
          </a:p>
          <a:p>
            <a:pPr lvl="2"/>
            <a:r>
              <a:rPr lang="zh-CN" altLang="en-US" dirty="0"/>
              <a:t> </a:t>
            </a:r>
            <a:r>
              <a:rPr lang="en-US" altLang="zh-CN" dirty="0"/>
              <a:t>f(n)=g(n)+h(n)</a:t>
            </a:r>
            <a:r>
              <a:rPr lang="en-US" altLang="zh-CN" sz="24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/>
              <a:t>g(n)+h*(n)=f*(n)</a:t>
            </a:r>
            <a:r>
              <a:rPr lang="zh-CN" altLang="en-US" dirty="0"/>
              <a:t>定义为</a:t>
            </a:r>
            <a:r>
              <a:rPr lang="en-US" altLang="zh-CN" dirty="0"/>
              <a:t>n</a:t>
            </a:r>
            <a:r>
              <a:rPr lang="zh-CN" altLang="en-US" dirty="0"/>
              <a:t>的代价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7613"/>
            <a:ext cx="8229600" cy="4752975"/>
          </a:xfrm>
        </p:spPr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算法本质：已经发现的解是优化解</a:t>
            </a:r>
            <a:endParaRPr lang="zh-CN" altLang="en-US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Best-first</a:t>
            </a:r>
            <a:r>
              <a:rPr lang="zh-CN" altLang="en-US" dirty="0"/>
              <a:t>策略搜索树</a:t>
            </a:r>
            <a:r>
              <a:rPr lang="en-US" altLang="zh-CN" dirty="0"/>
              <a:t>, </a:t>
            </a:r>
            <a:r>
              <a:rPr lang="zh-CN" altLang="en-US" dirty="0"/>
              <a:t>如果</a:t>
            </a:r>
            <a:r>
              <a:rPr lang="en-US" altLang="zh-CN" dirty="0"/>
              <a:t>A*</a:t>
            </a:r>
            <a:r>
              <a:rPr lang="zh-CN" altLang="en-US" dirty="0"/>
              <a:t>选择的节点是目标节点</a:t>
            </a:r>
            <a:r>
              <a:rPr lang="en-US" altLang="zh-CN" dirty="0"/>
              <a:t>, </a:t>
            </a:r>
            <a:r>
              <a:rPr lang="zh-CN" altLang="en-US" dirty="0"/>
              <a:t>则该节点表示的解是优化解</a:t>
            </a:r>
            <a:r>
              <a:rPr lang="en-US" altLang="zh-CN" dirty="0"/>
              <a:t>. </a:t>
            </a:r>
            <a:endParaRPr lang="en-US" altLang="zh-CN" dirty="0"/>
          </a:p>
          <a:p>
            <a:pPr lvl="2"/>
            <a:r>
              <a:rPr lang="zh-CN" altLang="en-US" dirty="0"/>
              <a:t>令</a:t>
            </a:r>
            <a:r>
              <a:rPr lang="en-US" altLang="zh-CN" dirty="0"/>
              <a:t>n</a:t>
            </a:r>
            <a:r>
              <a:rPr lang="zh-CN" altLang="en-US" dirty="0"/>
              <a:t>是任意扩展到的节点</a:t>
            </a:r>
            <a:r>
              <a:rPr lang="en-US" altLang="zh-CN" dirty="0"/>
              <a:t>,  t</a:t>
            </a:r>
            <a:r>
              <a:rPr lang="zh-CN" altLang="en-US" dirty="0"/>
              <a:t>是选中目标节点</a:t>
            </a:r>
            <a:r>
              <a:rPr lang="en-US" altLang="zh-CN" dirty="0"/>
              <a:t>.</a:t>
            </a:r>
            <a:endParaRPr lang="en-US" altLang="zh-CN" dirty="0"/>
          </a:p>
          <a:p>
            <a:pPr lvl="2"/>
            <a:r>
              <a:rPr lang="zh-CN" altLang="en-US" dirty="0"/>
              <a:t>往证</a:t>
            </a:r>
            <a:r>
              <a:rPr lang="en-US" altLang="zh-CN" dirty="0"/>
              <a:t>f(t)=g(t)</a:t>
            </a:r>
            <a:r>
              <a:rPr lang="zh-CN" altLang="en-US" dirty="0"/>
              <a:t>是优化解代价</a:t>
            </a:r>
            <a:r>
              <a:rPr lang="en-US" altLang="zh-CN" dirty="0"/>
              <a:t>.</a:t>
            </a:r>
            <a:endParaRPr lang="en-US" altLang="zh-CN" dirty="0"/>
          </a:p>
          <a:p>
            <a:pPr lvl="2"/>
            <a:r>
              <a:rPr lang="en-US" altLang="zh-CN" dirty="0"/>
              <a:t> 1). A*</a:t>
            </a:r>
            <a:r>
              <a:rPr lang="zh-CN" altLang="en-US" dirty="0"/>
              <a:t>算法使用</a:t>
            </a:r>
            <a:r>
              <a:rPr lang="en-US" altLang="zh-CN" dirty="0"/>
              <a:t>Best-first</a:t>
            </a:r>
            <a:r>
              <a:rPr lang="zh-CN" altLang="en-US" dirty="0"/>
              <a:t>策略</a:t>
            </a:r>
            <a:r>
              <a:rPr lang="en-US" altLang="zh-CN" dirty="0"/>
              <a:t>,  f(t)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dirty="0"/>
              <a:t>f(n).</a:t>
            </a:r>
            <a:endParaRPr lang="en-US" altLang="zh-CN" dirty="0"/>
          </a:p>
          <a:p>
            <a:pPr lvl="2"/>
            <a:r>
              <a:rPr lang="en-US" altLang="zh-CN" dirty="0"/>
              <a:t>(2). A*</a:t>
            </a:r>
            <a:r>
              <a:rPr lang="zh-CN" altLang="en-US" dirty="0"/>
              <a:t>算法使用</a:t>
            </a:r>
            <a:r>
              <a:rPr lang="en-US" altLang="zh-CN" dirty="0"/>
              <a:t>h(n)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dirty="0"/>
              <a:t>h*(n)</a:t>
            </a:r>
            <a:r>
              <a:rPr lang="zh-CN" altLang="en-US" dirty="0"/>
              <a:t>估计规则</a:t>
            </a:r>
            <a:r>
              <a:rPr lang="en-US" altLang="zh-CN" dirty="0"/>
              <a:t>, f(t)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dirty="0"/>
              <a:t>f(n)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dirty="0"/>
              <a:t>f*(n).</a:t>
            </a:r>
            <a:endParaRPr lang="en-US" altLang="zh-CN" dirty="0"/>
          </a:p>
          <a:p>
            <a:pPr lvl="2"/>
            <a:r>
              <a:rPr lang="en-US" altLang="zh-CN" dirty="0"/>
              <a:t>(3). {f*(n)}</a:t>
            </a:r>
            <a:r>
              <a:rPr lang="zh-CN" altLang="en-US" dirty="0"/>
              <a:t>中必有一个为优化解的代价</a:t>
            </a:r>
            <a:r>
              <a:rPr lang="en-US" altLang="zh-CN" dirty="0"/>
              <a:t>, </a:t>
            </a:r>
            <a:r>
              <a:rPr lang="zh-CN" altLang="en-US" dirty="0"/>
              <a:t>令其为</a:t>
            </a:r>
            <a:r>
              <a:rPr lang="en-US" altLang="zh-CN" dirty="0"/>
              <a:t>f*(s). </a:t>
            </a:r>
            <a:endParaRPr lang="en-US" altLang="zh-CN" dirty="0"/>
          </a:p>
          <a:p>
            <a:pPr lvl="2"/>
            <a:r>
              <a:rPr lang="zh-CN" altLang="en-US" dirty="0"/>
              <a:t>      我们有</a:t>
            </a:r>
            <a:r>
              <a:rPr lang="en-US" altLang="zh-CN" dirty="0"/>
              <a:t>f(t)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/>
              <a:t>f*(s). </a:t>
            </a:r>
            <a:endParaRPr lang="en-US" altLang="zh-CN" dirty="0"/>
          </a:p>
          <a:p>
            <a:pPr lvl="2"/>
            <a:r>
              <a:rPr lang="en-US" altLang="zh-CN" dirty="0"/>
              <a:t>(4). t</a:t>
            </a:r>
            <a:r>
              <a:rPr lang="zh-CN" altLang="en-US" dirty="0"/>
              <a:t>是目标节点</a:t>
            </a:r>
            <a:r>
              <a:rPr lang="en-US" altLang="zh-CN" dirty="0"/>
              <a:t>h(t)=0, </a:t>
            </a:r>
            <a:r>
              <a:rPr lang="zh-CN" altLang="en-US" dirty="0"/>
              <a:t>所</a:t>
            </a:r>
            <a:r>
              <a:rPr lang="en-US" altLang="zh-CN" dirty="0"/>
              <a:t>f(t)=g(t)+h(t)=g(t)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dirty="0"/>
              <a:t>f*(s).</a:t>
            </a:r>
            <a:endParaRPr lang="en-US" altLang="zh-CN" dirty="0"/>
          </a:p>
          <a:p>
            <a:pPr lvl="2"/>
            <a:r>
              <a:rPr lang="en-US" altLang="zh-CN" dirty="0"/>
              <a:t>(5). f(t)=g(t)</a:t>
            </a:r>
            <a:r>
              <a:rPr lang="zh-CN" altLang="en-US" dirty="0"/>
              <a:t>是一个可能解</a:t>
            </a:r>
            <a:r>
              <a:rPr lang="en-US" altLang="zh-CN" dirty="0"/>
              <a:t>, g(t)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/>
              <a:t>f*(s), f(t)=g(t)=f*(s).</a:t>
            </a:r>
            <a:endParaRPr lang="en-US" altLang="zh-CN" dirty="0"/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A*</a:t>
            </a:r>
            <a:r>
              <a:rPr lang="zh-CN" altLang="en-US" dirty="0"/>
              <a:t>算法求解最短路径问题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868144" y="210699"/>
            <a:ext cx="3168352" cy="1512516"/>
            <a:chOff x="3851920" y="2168860"/>
            <a:chExt cx="4610100" cy="2160588"/>
          </a:xfrm>
          <a:noFill/>
        </p:grpSpPr>
        <p:grpSp>
          <p:nvGrpSpPr>
            <p:cNvPr id="5" name="Group 66"/>
            <p:cNvGrpSpPr/>
            <p:nvPr/>
          </p:nvGrpSpPr>
          <p:grpSpPr bwMode="auto">
            <a:xfrm>
              <a:off x="3851920" y="2168860"/>
              <a:ext cx="4610100" cy="2160588"/>
              <a:chOff x="2876" y="164"/>
              <a:chExt cx="2904" cy="1361"/>
            </a:xfrm>
            <a:grpFill/>
          </p:grpSpPr>
          <p:sp>
            <p:nvSpPr>
              <p:cNvPr id="6" name="Oval 38"/>
              <p:cNvSpPr>
                <a:spLocks noChangeArrowheads="1"/>
              </p:cNvSpPr>
              <p:nvPr/>
            </p:nvSpPr>
            <p:spPr bwMode="auto">
              <a:xfrm>
                <a:off x="2876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S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" name="Oval 39"/>
              <p:cNvSpPr>
                <a:spLocks noChangeArrowheads="1"/>
              </p:cNvSpPr>
              <p:nvPr/>
            </p:nvSpPr>
            <p:spPr bwMode="auto">
              <a:xfrm>
                <a:off x="3754" y="1312"/>
                <a:ext cx="230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3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8" name="Oval 40"/>
              <p:cNvSpPr>
                <a:spLocks noChangeArrowheads="1"/>
              </p:cNvSpPr>
              <p:nvPr/>
            </p:nvSpPr>
            <p:spPr bwMode="auto">
              <a:xfrm>
                <a:off x="375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9" name="Oval 41"/>
              <p:cNvSpPr>
                <a:spLocks noChangeArrowheads="1"/>
              </p:cNvSpPr>
              <p:nvPr/>
            </p:nvSpPr>
            <p:spPr bwMode="auto">
              <a:xfrm>
                <a:off x="3755" y="164"/>
                <a:ext cx="229" cy="259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0" name="Oval 42"/>
              <p:cNvSpPr>
                <a:spLocks noChangeArrowheads="1"/>
              </p:cNvSpPr>
              <p:nvPr/>
            </p:nvSpPr>
            <p:spPr bwMode="auto">
              <a:xfrm>
                <a:off x="463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4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1" name="Oval 43"/>
              <p:cNvSpPr>
                <a:spLocks noChangeArrowheads="1"/>
              </p:cNvSpPr>
              <p:nvPr/>
            </p:nvSpPr>
            <p:spPr bwMode="auto">
              <a:xfrm>
                <a:off x="4635" y="1312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>
                    <a:solidFill>
                      <a:srgbClr val="FF0000"/>
                    </a:solidFill>
                    <a:latin typeface="+mn-lt"/>
                  </a:rPr>
                  <a:t>5</a:t>
                </a:r>
                <a:endParaRPr lang="en-US" altLang="zh-CN" sz="1200" b="1" baseline="-250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2" name="Oval 44"/>
              <p:cNvSpPr>
                <a:spLocks noChangeArrowheads="1"/>
              </p:cNvSpPr>
              <p:nvPr/>
            </p:nvSpPr>
            <p:spPr bwMode="auto">
              <a:xfrm>
                <a:off x="5551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3" name="Line 45"/>
              <p:cNvSpPr>
                <a:spLocks noChangeShapeType="1"/>
              </p:cNvSpPr>
              <p:nvPr/>
            </p:nvSpPr>
            <p:spPr bwMode="auto">
              <a:xfrm flipV="1">
                <a:off x="3029" y="352"/>
                <a:ext cx="725" cy="39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4" name="Line 46"/>
              <p:cNvSpPr>
                <a:spLocks noChangeShapeType="1"/>
              </p:cNvSpPr>
              <p:nvPr/>
            </p:nvSpPr>
            <p:spPr bwMode="auto">
              <a:xfrm>
                <a:off x="3105" y="849"/>
                <a:ext cx="649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5" name="Line 47"/>
              <p:cNvSpPr>
                <a:spLocks noChangeShapeType="1"/>
              </p:cNvSpPr>
              <p:nvPr/>
            </p:nvSpPr>
            <p:spPr bwMode="auto">
              <a:xfrm>
                <a:off x="3067" y="921"/>
                <a:ext cx="687" cy="462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6" name="Line 48"/>
              <p:cNvSpPr>
                <a:spLocks noChangeShapeType="1"/>
              </p:cNvSpPr>
              <p:nvPr/>
            </p:nvSpPr>
            <p:spPr bwMode="auto">
              <a:xfrm>
                <a:off x="3984" y="317"/>
                <a:ext cx="688" cy="46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7" name="Line 49"/>
              <p:cNvSpPr>
                <a:spLocks noChangeShapeType="1"/>
              </p:cNvSpPr>
              <p:nvPr/>
            </p:nvSpPr>
            <p:spPr bwMode="auto">
              <a:xfrm>
                <a:off x="3984" y="849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8" name="Line 50"/>
              <p:cNvSpPr>
                <a:spLocks noChangeShapeType="1"/>
              </p:cNvSpPr>
              <p:nvPr/>
            </p:nvSpPr>
            <p:spPr bwMode="auto">
              <a:xfrm>
                <a:off x="3984" y="1418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9" name="Line 51"/>
              <p:cNvSpPr>
                <a:spLocks noChangeShapeType="1"/>
              </p:cNvSpPr>
              <p:nvPr/>
            </p:nvSpPr>
            <p:spPr bwMode="auto">
              <a:xfrm>
                <a:off x="3946" y="921"/>
                <a:ext cx="726" cy="42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0" name="Line 52"/>
              <p:cNvSpPr>
                <a:spLocks noChangeShapeType="1"/>
              </p:cNvSpPr>
              <p:nvPr/>
            </p:nvSpPr>
            <p:spPr bwMode="auto">
              <a:xfrm>
                <a:off x="3870" y="423"/>
                <a:ext cx="0" cy="32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1" name="Line 53"/>
              <p:cNvSpPr>
                <a:spLocks noChangeShapeType="1"/>
              </p:cNvSpPr>
              <p:nvPr/>
            </p:nvSpPr>
            <p:spPr bwMode="auto">
              <a:xfrm>
                <a:off x="4863" y="849"/>
                <a:ext cx="687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2" name="Line 54"/>
              <p:cNvSpPr>
                <a:spLocks noChangeShapeType="1"/>
              </p:cNvSpPr>
              <p:nvPr/>
            </p:nvSpPr>
            <p:spPr bwMode="auto">
              <a:xfrm>
                <a:off x="4748" y="956"/>
                <a:ext cx="0" cy="35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3" name="Line 55"/>
              <p:cNvSpPr>
                <a:spLocks noChangeShapeType="1"/>
              </p:cNvSpPr>
              <p:nvPr/>
            </p:nvSpPr>
            <p:spPr bwMode="auto">
              <a:xfrm flipV="1">
                <a:off x="4863" y="921"/>
                <a:ext cx="726" cy="497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4" name="Text Box 56"/>
              <p:cNvSpPr txBox="1">
                <a:spLocks noChangeArrowheads="1"/>
              </p:cNvSpPr>
              <p:nvPr/>
            </p:nvSpPr>
            <p:spPr bwMode="auto">
              <a:xfrm>
                <a:off x="3195" y="33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5" name="Text Box 57"/>
              <p:cNvSpPr txBox="1">
                <a:spLocks noChangeArrowheads="1"/>
              </p:cNvSpPr>
              <p:nvPr/>
            </p:nvSpPr>
            <p:spPr bwMode="auto">
              <a:xfrm>
                <a:off x="3391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6" name="Text Box 58"/>
              <p:cNvSpPr txBox="1">
                <a:spLocks noChangeArrowheads="1"/>
              </p:cNvSpPr>
              <p:nvPr/>
            </p:nvSpPr>
            <p:spPr bwMode="auto">
              <a:xfrm>
                <a:off x="3346" y="93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4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7" name="Text Box 59"/>
              <p:cNvSpPr txBox="1">
                <a:spLocks noChangeArrowheads="1"/>
              </p:cNvSpPr>
              <p:nvPr/>
            </p:nvSpPr>
            <p:spPr bwMode="auto">
              <a:xfrm>
                <a:off x="3868" y="479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8" name="Text Box 60"/>
              <p:cNvSpPr txBox="1">
                <a:spLocks noChangeArrowheads="1"/>
              </p:cNvSpPr>
              <p:nvPr/>
            </p:nvSpPr>
            <p:spPr bwMode="auto">
              <a:xfrm>
                <a:off x="4251" y="30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9" name="Text Box 61"/>
              <p:cNvSpPr txBox="1">
                <a:spLocks noChangeArrowheads="1"/>
              </p:cNvSpPr>
              <p:nvPr/>
            </p:nvSpPr>
            <p:spPr bwMode="auto">
              <a:xfrm>
                <a:off x="4176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0" name="Text Box 62"/>
              <p:cNvSpPr txBox="1">
                <a:spLocks noChangeArrowheads="1"/>
              </p:cNvSpPr>
              <p:nvPr/>
            </p:nvSpPr>
            <p:spPr bwMode="auto">
              <a:xfrm>
                <a:off x="4251" y="89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1" name="Text Box 63"/>
              <p:cNvSpPr txBox="1">
                <a:spLocks noChangeArrowheads="1"/>
              </p:cNvSpPr>
              <p:nvPr/>
            </p:nvSpPr>
            <p:spPr bwMode="auto">
              <a:xfrm>
                <a:off x="4102" y="116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2" name="Text Box 64"/>
              <p:cNvSpPr txBox="1">
                <a:spLocks noChangeArrowheads="1"/>
              </p:cNvSpPr>
              <p:nvPr/>
            </p:nvSpPr>
            <p:spPr bwMode="auto">
              <a:xfrm>
                <a:off x="5054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3" name="Text Box 65"/>
              <p:cNvSpPr txBox="1">
                <a:spLocks noChangeArrowheads="1"/>
              </p:cNvSpPr>
              <p:nvPr/>
            </p:nvSpPr>
            <p:spPr bwMode="auto">
              <a:xfrm>
                <a:off x="5009" y="96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5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</p:grpSp>
        <p:sp>
          <p:nvSpPr>
            <p:cNvPr id="34" name="Text Box 86"/>
            <p:cNvSpPr txBox="1">
              <a:spLocks noChangeArrowheads="1"/>
            </p:cNvSpPr>
            <p:nvPr/>
          </p:nvSpPr>
          <p:spPr bwMode="auto">
            <a:xfrm>
              <a:off x="6757044" y="3413460"/>
              <a:ext cx="380655" cy="3956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</a:t>
              </a:r>
              <a:endPara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endParaRPr>
            </a:p>
          </p:txBody>
        </p:sp>
      </p:grpSp>
      <p:grpSp>
        <p:nvGrpSpPr>
          <p:cNvPr id="36" name="Group 79"/>
          <p:cNvGrpSpPr/>
          <p:nvPr/>
        </p:nvGrpSpPr>
        <p:grpSpPr bwMode="auto">
          <a:xfrm>
            <a:off x="2701263" y="2817018"/>
            <a:ext cx="2879725" cy="1223963"/>
            <a:chOff x="1789" y="1434"/>
            <a:chExt cx="1814" cy="771"/>
          </a:xfrm>
          <a:noFill/>
        </p:grpSpPr>
        <p:sp>
          <p:nvSpPr>
            <p:cNvPr id="37" name="Oval 69"/>
            <p:cNvSpPr>
              <a:spLocks noChangeArrowheads="1"/>
            </p:cNvSpPr>
            <p:nvPr/>
          </p:nvSpPr>
          <p:spPr bwMode="auto">
            <a:xfrm>
              <a:off x="2605" y="1434"/>
              <a:ext cx="272" cy="272"/>
            </a:xfrm>
            <a:prstGeom prst="ellipse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Oval 70"/>
            <p:cNvSpPr>
              <a:spLocks noChangeArrowheads="1"/>
            </p:cNvSpPr>
            <p:nvPr/>
          </p:nvSpPr>
          <p:spPr bwMode="auto">
            <a:xfrm>
              <a:off x="1789" y="1933"/>
              <a:ext cx="272" cy="272"/>
            </a:xfrm>
            <a:prstGeom prst="ellipse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Oval 71"/>
            <p:cNvSpPr>
              <a:spLocks noChangeArrowheads="1"/>
            </p:cNvSpPr>
            <p:nvPr/>
          </p:nvSpPr>
          <p:spPr bwMode="auto">
            <a:xfrm>
              <a:off x="2605" y="1933"/>
              <a:ext cx="272" cy="272"/>
            </a:xfrm>
            <a:prstGeom prst="ellipse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Oval 72"/>
            <p:cNvSpPr>
              <a:spLocks noChangeArrowheads="1"/>
            </p:cNvSpPr>
            <p:nvPr/>
          </p:nvSpPr>
          <p:spPr bwMode="auto">
            <a:xfrm>
              <a:off x="3331" y="1933"/>
              <a:ext cx="272" cy="272"/>
            </a:xfrm>
            <a:prstGeom prst="ellipse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Line 73"/>
            <p:cNvSpPr>
              <a:spLocks noChangeShapeType="1"/>
            </p:cNvSpPr>
            <p:nvPr/>
          </p:nvSpPr>
          <p:spPr bwMode="auto">
            <a:xfrm flipH="1">
              <a:off x="2015" y="1616"/>
              <a:ext cx="590" cy="363"/>
            </a:xfrm>
            <a:prstGeom prst="line">
              <a:avLst/>
            </a:prstGeom>
            <a:grp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2" name="Line 74"/>
            <p:cNvSpPr>
              <a:spLocks noChangeShapeType="1"/>
            </p:cNvSpPr>
            <p:nvPr/>
          </p:nvSpPr>
          <p:spPr bwMode="auto">
            <a:xfrm>
              <a:off x="2741" y="1706"/>
              <a:ext cx="0" cy="227"/>
            </a:xfrm>
            <a:prstGeom prst="line">
              <a:avLst/>
            </a:prstGeom>
            <a:grp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3" name="Line 75"/>
            <p:cNvSpPr>
              <a:spLocks noChangeShapeType="1"/>
            </p:cNvSpPr>
            <p:nvPr/>
          </p:nvSpPr>
          <p:spPr bwMode="auto">
            <a:xfrm>
              <a:off x="2877" y="1616"/>
              <a:ext cx="499" cy="363"/>
            </a:xfrm>
            <a:prstGeom prst="line">
              <a:avLst/>
            </a:prstGeom>
            <a:grp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  <p:sp>
          <p:nvSpPr>
            <p:cNvPr id="44" name="Text Box 76"/>
            <p:cNvSpPr txBox="1">
              <a:spLocks noChangeArrowheads="1"/>
            </p:cNvSpPr>
            <p:nvPr/>
          </p:nvSpPr>
          <p:spPr bwMode="auto">
            <a:xfrm>
              <a:off x="2203" y="1545"/>
              <a:ext cx="197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77"/>
            <p:cNvSpPr txBox="1">
              <a:spLocks noChangeArrowheads="1"/>
            </p:cNvSpPr>
            <p:nvPr/>
          </p:nvSpPr>
          <p:spPr bwMode="auto">
            <a:xfrm>
              <a:off x="2513" y="1661"/>
              <a:ext cx="197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78"/>
            <p:cNvSpPr txBox="1">
              <a:spLocks noChangeArrowheads="1"/>
            </p:cNvSpPr>
            <p:nvPr/>
          </p:nvSpPr>
          <p:spPr bwMode="auto">
            <a:xfrm>
              <a:off x="2990" y="1515"/>
              <a:ext cx="197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" name="Text Box 83"/>
          <p:cNvSpPr txBox="1">
            <a:spLocks noChangeArrowheads="1"/>
          </p:cNvSpPr>
          <p:nvPr/>
        </p:nvSpPr>
        <p:spPr bwMode="auto">
          <a:xfrm>
            <a:off x="2410750" y="3521868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84"/>
          <p:cNvSpPr txBox="1">
            <a:spLocks noChangeArrowheads="1"/>
          </p:cNvSpPr>
          <p:nvPr/>
        </p:nvSpPr>
        <p:spPr bwMode="auto">
          <a:xfrm>
            <a:off x="3709325" y="3521868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85"/>
          <p:cNvSpPr txBox="1">
            <a:spLocks noChangeArrowheads="1"/>
          </p:cNvSpPr>
          <p:nvPr/>
        </p:nvSpPr>
        <p:spPr bwMode="auto">
          <a:xfrm>
            <a:off x="5509550" y="3537743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80"/>
          <p:cNvSpPr txBox="1">
            <a:spLocks noChangeArrowheads="1"/>
          </p:cNvSpPr>
          <p:nvPr/>
        </p:nvSpPr>
        <p:spPr bwMode="auto">
          <a:xfrm>
            <a:off x="802164" y="4528739"/>
            <a:ext cx="11801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4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4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4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81"/>
          <p:cNvSpPr txBox="1">
            <a:spLocks noChangeArrowheads="1"/>
          </p:cNvSpPr>
          <p:nvPr/>
        </p:nvSpPr>
        <p:spPr bwMode="auto">
          <a:xfrm>
            <a:off x="2818289" y="4528739"/>
            <a:ext cx="24673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2,3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2,2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 Box 82"/>
          <p:cNvSpPr txBox="1">
            <a:spLocks noChangeArrowheads="1"/>
          </p:cNvSpPr>
          <p:nvPr/>
        </p:nvSpPr>
        <p:spPr bwMode="auto">
          <a:xfrm>
            <a:off x="6390164" y="4528739"/>
            <a:ext cx="178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2+2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4+2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2+2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A*</a:t>
            </a:r>
            <a:r>
              <a:rPr lang="zh-CN" altLang="en-US" dirty="0"/>
              <a:t>算法求解最短路径问题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868144" y="210699"/>
            <a:ext cx="3168352" cy="1512516"/>
            <a:chOff x="3851920" y="2168860"/>
            <a:chExt cx="4610100" cy="2160588"/>
          </a:xfrm>
          <a:noFill/>
        </p:grpSpPr>
        <p:grpSp>
          <p:nvGrpSpPr>
            <p:cNvPr id="5" name="Group 66"/>
            <p:cNvGrpSpPr/>
            <p:nvPr/>
          </p:nvGrpSpPr>
          <p:grpSpPr bwMode="auto">
            <a:xfrm>
              <a:off x="3851920" y="2168860"/>
              <a:ext cx="4610100" cy="2160588"/>
              <a:chOff x="2876" y="164"/>
              <a:chExt cx="2904" cy="1361"/>
            </a:xfrm>
            <a:grpFill/>
          </p:grpSpPr>
          <p:sp>
            <p:nvSpPr>
              <p:cNvPr id="6" name="Oval 38"/>
              <p:cNvSpPr>
                <a:spLocks noChangeArrowheads="1"/>
              </p:cNvSpPr>
              <p:nvPr/>
            </p:nvSpPr>
            <p:spPr bwMode="auto">
              <a:xfrm>
                <a:off x="2876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S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" name="Oval 39"/>
              <p:cNvSpPr>
                <a:spLocks noChangeArrowheads="1"/>
              </p:cNvSpPr>
              <p:nvPr/>
            </p:nvSpPr>
            <p:spPr bwMode="auto">
              <a:xfrm>
                <a:off x="3754" y="1312"/>
                <a:ext cx="230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3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8" name="Oval 40"/>
              <p:cNvSpPr>
                <a:spLocks noChangeArrowheads="1"/>
              </p:cNvSpPr>
              <p:nvPr/>
            </p:nvSpPr>
            <p:spPr bwMode="auto">
              <a:xfrm>
                <a:off x="375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9" name="Oval 41"/>
              <p:cNvSpPr>
                <a:spLocks noChangeArrowheads="1"/>
              </p:cNvSpPr>
              <p:nvPr/>
            </p:nvSpPr>
            <p:spPr bwMode="auto">
              <a:xfrm>
                <a:off x="3755" y="164"/>
                <a:ext cx="229" cy="259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0" name="Oval 42"/>
              <p:cNvSpPr>
                <a:spLocks noChangeArrowheads="1"/>
              </p:cNvSpPr>
              <p:nvPr/>
            </p:nvSpPr>
            <p:spPr bwMode="auto">
              <a:xfrm>
                <a:off x="463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4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1" name="Oval 43"/>
              <p:cNvSpPr>
                <a:spLocks noChangeArrowheads="1"/>
              </p:cNvSpPr>
              <p:nvPr/>
            </p:nvSpPr>
            <p:spPr bwMode="auto">
              <a:xfrm>
                <a:off x="4635" y="1312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>
                    <a:solidFill>
                      <a:srgbClr val="FF0000"/>
                    </a:solidFill>
                    <a:latin typeface="+mn-lt"/>
                  </a:rPr>
                  <a:t>5</a:t>
                </a:r>
                <a:endParaRPr lang="en-US" altLang="zh-CN" sz="1200" b="1" baseline="-250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2" name="Oval 44"/>
              <p:cNvSpPr>
                <a:spLocks noChangeArrowheads="1"/>
              </p:cNvSpPr>
              <p:nvPr/>
            </p:nvSpPr>
            <p:spPr bwMode="auto">
              <a:xfrm>
                <a:off x="5551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3" name="Line 45"/>
              <p:cNvSpPr>
                <a:spLocks noChangeShapeType="1"/>
              </p:cNvSpPr>
              <p:nvPr/>
            </p:nvSpPr>
            <p:spPr bwMode="auto">
              <a:xfrm flipV="1">
                <a:off x="3029" y="352"/>
                <a:ext cx="725" cy="39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4" name="Line 46"/>
              <p:cNvSpPr>
                <a:spLocks noChangeShapeType="1"/>
              </p:cNvSpPr>
              <p:nvPr/>
            </p:nvSpPr>
            <p:spPr bwMode="auto">
              <a:xfrm>
                <a:off x="3105" y="849"/>
                <a:ext cx="649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5" name="Line 47"/>
              <p:cNvSpPr>
                <a:spLocks noChangeShapeType="1"/>
              </p:cNvSpPr>
              <p:nvPr/>
            </p:nvSpPr>
            <p:spPr bwMode="auto">
              <a:xfrm>
                <a:off x="3067" y="921"/>
                <a:ext cx="687" cy="462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6" name="Line 48"/>
              <p:cNvSpPr>
                <a:spLocks noChangeShapeType="1"/>
              </p:cNvSpPr>
              <p:nvPr/>
            </p:nvSpPr>
            <p:spPr bwMode="auto">
              <a:xfrm>
                <a:off x="3984" y="317"/>
                <a:ext cx="688" cy="46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7" name="Line 49"/>
              <p:cNvSpPr>
                <a:spLocks noChangeShapeType="1"/>
              </p:cNvSpPr>
              <p:nvPr/>
            </p:nvSpPr>
            <p:spPr bwMode="auto">
              <a:xfrm>
                <a:off x="3984" y="849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8" name="Line 50"/>
              <p:cNvSpPr>
                <a:spLocks noChangeShapeType="1"/>
              </p:cNvSpPr>
              <p:nvPr/>
            </p:nvSpPr>
            <p:spPr bwMode="auto">
              <a:xfrm>
                <a:off x="3984" y="1418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9" name="Line 51"/>
              <p:cNvSpPr>
                <a:spLocks noChangeShapeType="1"/>
              </p:cNvSpPr>
              <p:nvPr/>
            </p:nvSpPr>
            <p:spPr bwMode="auto">
              <a:xfrm>
                <a:off x="3946" y="921"/>
                <a:ext cx="726" cy="42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0" name="Line 52"/>
              <p:cNvSpPr>
                <a:spLocks noChangeShapeType="1"/>
              </p:cNvSpPr>
              <p:nvPr/>
            </p:nvSpPr>
            <p:spPr bwMode="auto">
              <a:xfrm>
                <a:off x="3870" y="423"/>
                <a:ext cx="0" cy="32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1" name="Line 53"/>
              <p:cNvSpPr>
                <a:spLocks noChangeShapeType="1"/>
              </p:cNvSpPr>
              <p:nvPr/>
            </p:nvSpPr>
            <p:spPr bwMode="auto">
              <a:xfrm>
                <a:off x="4863" y="849"/>
                <a:ext cx="687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2" name="Line 54"/>
              <p:cNvSpPr>
                <a:spLocks noChangeShapeType="1"/>
              </p:cNvSpPr>
              <p:nvPr/>
            </p:nvSpPr>
            <p:spPr bwMode="auto">
              <a:xfrm>
                <a:off x="4748" y="956"/>
                <a:ext cx="0" cy="35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3" name="Line 55"/>
              <p:cNvSpPr>
                <a:spLocks noChangeShapeType="1"/>
              </p:cNvSpPr>
              <p:nvPr/>
            </p:nvSpPr>
            <p:spPr bwMode="auto">
              <a:xfrm flipV="1">
                <a:off x="4863" y="921"/>
                <a:ext cx="726" cy="497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4" name="Text Box 56"/>
              <p:cNvSpPr txBox="1">
                <a:spLocks noChangeArrowheads="1"/>
              </p:cNvSpPr>
              <p:nvPr/>
            </p:nvSpPr>
            <p:spPr bwMode="auto">
              <a:xfrm>
                <a:off x="3195" y="33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5" name="Text Box 57"/>
              <p:cNvSpPr txBox="1">
                <a:spLocks noChangeArrowheads="1"/>
              </p:cNvSpPr>
              <p:nvPr/>
            </p:nvSpPr>
            <p:spPr bwMode="auto">
              <a:xfrm>
                <a:off x="3391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6" name="Text Box 58"/>
              <p:cNvSpPr txBox="1">
                <a:spLocks noChangeArrowheads="1"/>
              </p:cNvSpPr>
              <p:nvPr/>
            </p:nvSpPr>
            <p:spPr bwMode="auto">
              <a:xfrm>
                <a:off x="3346" y="93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4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7" name="Text Box 59"/>
              <p:cNvSpPr txBox="1">
                <a:spLocks noChangeArrowheads="1"/>
              </p:cNvSpPr>
              <p:nvPr/>
            </p:nvSpPr>
            <p:spPr bwMode="auto">
              <a:xfrm>
                <a:off x="3868" y="479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8" name="Text Box 60"/>
              <p:cNvSpPr txBox="1">
                <a:spLocks noChangeArrowheads="1"/>
              </p:cNvSpPr>
              <p:nvPr/>
            </p:nvSpPr>
            <p:spPr bwMode="auto">
              <a:xfrm>
                <a:off x="4251" y="30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9" name="Text Box 61"/>
              <p:cNvSpPr txBox="1">
                <a:spLocks noChangeArrowheads="1"/>
              </p:cNvSpPr>
              <p:nvPr/>
            </p:nvSpPr>
            <p:spPr bwMode="auto">
              <a:xfrm>
                <a:off x="4176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0" name="Text Box 62"/>
              <p:cNvSpPr txBox="1">
                <a:spLocks noChangeArrowheads="1"/>
              </p:cNvSpPr>
              <p:nvPr/>
            </p:nvSpPr>
            <p:spPr bwMode="auto">
              <a:xfrm>
                <a:off x="4251" y="89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1" name="Text Box 63"/>
              <p:cNvSpPr txBox="1">
                <a:spLocks noChangeArrowheads="1"/>
              </p:cNvSpPr>
              <p:nvPr/>
            </p:nvSpPr>
            <p:spPr bwMode="auto">
              <a:xfrm>
                <a:off x="4102" y="116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2" name="Text Box 64"/>
              <p:cNvSpPr txBox="1">
                <a:spLocks noChangeArrowheads="1"/>
              </p:cNvSpPr>
              <p:nvPr/>
            </p:nvSpPr>
            <p:spPr bwMode="auto">
              <a:xfrm>
                <a:off x="5054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3" name="Text Box 65"/>
              <p:cNvSpPr txBox="1">
                <a:spLocks noChangeArrowheads="1"/>
              </p:cNvSpPr>
              <p:nvPr/>
            </p:nvSpPr>
            <p:spPr bwMode="auto">
              <a:xfrm>
                <a:off x="5009" y="96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5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</p:grpSp>
        <p:sp>
          <p:nvSpPr>
            <p:cNvPr id="34" name="Text Box 86"/>
            <p:cNvSpPr txBox="1">
              <a:spLocks noChangeArrowheads="1"/>
            </p:cNvSpPr>
            <p:nvPr/>
          </p:nvSpPr>
          <p:spPr bwMode="auto">
            <a:xfrm>
              <a:off x="6757044" y="3413460"/>
              <a:ext cx="380655" cy="3956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</a:t>
              </a:r>
              <a:endPara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endParaRPr>
            </a:p>
          </p:txBody>
        </p:sp>
      </p:grpSp>
      <p:sp>
        <p:nvSpPr>
          <p:cNvPr id="53" name="Oval 38"/>
          <p:cNvSpPr>
            <a:spLocks noChangeArrowheads="1"/>
          </p:cNvSpPr>
          <p:nvPr/>
        </p:nvSpPr>
        <p:spPr bwMode="auto">
          <a:xfrm>
            <a:off x="4492625" y="20447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Oval 40"/>
          <p:cNvSpPr>
            <a:spLocks noChangeArrowheads="1"/>
          </p:cNvSpPr>
          <p:nvPr/>
        </p:nvSpPr>
        <p:spPr bwMode="auto">
          <a:xfrm>
            <a:off x="4492625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Oval 41"/>
          <p:cNvSpPr>
            <a:spLocks noChangeArrowheads="1"/>
          </p:cNvSpPr>
          <p:nvPr/>
        </p:nvSpPr>
        <p:spPr bwMode="auto">
          <a:xfrm>
            <a:off x="5645150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Line 42"/>
          <p:cNvSpPr>
            <a:spLocks noChangeShapeType="1"/>
          </p:cNvSpPr>
          <p:nvPr/>
        </p:nvSpPr>
        <p:spPr bwMode="auto">
          <a:xfrm flipH="1">
            <a:off x="3556000" y="2333625"/>
            <a:ext cx="936625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>
            <a:off x="4708525" y="2476500"/>
            <a:ext cx="0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>
            <a:off x="4924425" y="2333625"/>
            <a:ext cx="792163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59" name="Text Box 45"/>
          <p:cNvSpPr txBox="1">
            <a:spLocks noChangeArrowheads="1"/>
          </p:cNvSpPr>
          <p:nvPr/>
        </p:nvSpPr>
        <p:spPr bwMode="auto">
          <a:xfrm>
            <a:off x="3791042" y="2272806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0" name="Text Box 46"/>
          <p:cNvSpPr txBox="1">
            <a:spLocks noChangeArrowheads="1"/>
          </p:cNvSpPr>
          <p:nvPr/>
        </p:nvSpPr>
        <p:spPr bwMode="auto">
          <a:xfrm>
            <a:off x="4346575" y="234950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4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61" name="Text Box 47"/>
          <p:cNvSpPr txBox="1">
            <a:spLocks noChangeArrowheads="1"/>
          </p:cNvSpPr>
          <p:nvPr/>
        </p:nvSpPr>
        <p:spPr bwMode="auto">
          <a:xfrm>
            <a:off x="5148064" y="220079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2" name="Text Box 51"/>
          <p:cNvSpPr txBox="1">
            <a:spLocks noChangeArrowheads="1"/>
          </p:cNvSpPr>
          <p:nvPr/>
        </p:nvSpPr>
        <p:spPr bwMode="auto">
          <a:xfrm>
            <a:off x="2998954" y="260090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4223090" y="274085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Text Box 53"/>
          <p:cNvSpPr txBox="1">
            <a:spLocks noChangeArrowheads="1"/>
          </p:cNvSpPr>
          <p:nvPr/>
        </p:nvSpPr>
        <p:spPr bwMode="auto">
          <a:xfrm>
            <a:off x="6005513" y="263683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Oval 55"/>
          <p:cNvSpPr>
            <a:spLocks noChangeArrowheads="1"/>
          </p:cNvSpPr>
          <p:nvPr/>
        </p:nvSpPr>
        <p:spPr bwMode="auto">
          <a:xfrm>
            <a:off x="2519772" y="368078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Oval 56"/>
          <p:cNvSpPr>
            <a:spLocks noChangeArrowheads="1"/>
          </p:cNvSpPr>
          <p:nvPr/>
        </p:nvSpPr>
        <p:spPr bwMode="auto">
          <a:xfrm>
            <a:off x="3527835" y="368078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 flipH="1">
            <a:off x="2807110" y="3248980"/>
            <a:ext cx="4318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8" name="Line 58"/>
          <p:cNvSpPr>
            <a:spLocks noChangeShapeType="1"/>
          </p:cNvSpPr>
          <p:nvPr/>
        </p:nvSpPr>
        <p:spPr bwMode="auto">
          <a:xfrm>
            <a:off x="3527835" y="3248980"/>
            <a:ext cx="2159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69" name="Oval 39"/>
          <p:cNvSpPr>
            <a:spLocks noChangeArrowheads="1"/>
          </p:cNvSpPr>
          <p:nvPr/>
        </p:nvSpPr>
        <p:spPr bwMode="auto">
          <a:xfrm>
            <a:off x="3197225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 Box 59"/>
          <p:cNvSpPr txBox="1">
            <a:spLocks noChangeArrowheads="1"/>
          </p:cNvSpPr>
          <p:nvPr/>
        </p:nvSpPr>
        <p:spPr bwMode="auto">
          <a:xfrm>
            <a:off x="2760663" y="30543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71" name="Text Box 60"/>
          <p:cNvSpPr txBox="1">
            <a:spLocks noChangeArrowheads="1"/>
          </p:cNvSpPr>
          <p:nvPr/>
        </p:nvSpPr>
        <p:spPr bwMode="auto">
          <a:xfrm>
            <a:off x="3625850" y="30543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72" name="Text Box 62"/>
          <p:cNvSpPr txBox="1">
            <a:spLocks noChangeArrowheads="1"/>
          </p:cNvSpPr>
          <p:nvPr/>
        </p:nvSpPr>
        <p:spPr bwMode="auto">
          <a:xfrm>
            <a:off x="2260600" y="34861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Text Box 63"/>
          <p:cNvSpPr txBox="1">
            <a:spLocks noChangeArrowheads="1"/>
          </p:cNvSpPr>
          <p:nvPr/>
        </p:nvSpPr>
        <p:spPr bwMode="auto">
          <a:xfrm>
            <a:off x="3848100" y="34861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Text Box 48"/>
          <p:cNvSpPr txBox="1">
            <a:spLocks noChangeArrowheads="1"/>
          </p:cNvSpPr>
          <p:nvPr/>
        </p:nvSpPr>
        <p:spPr bwMode="auto">
          <a:xfrm>
            <a:off x="436051" y="4720297"/>
            <a:ext cx="18373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2+2=4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2+3=5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5" name="Text Box 49"/>
          <p:cNvSpPr txBox="1">
            <a:spLocks noChangeArrowheads="1"/>
          </p:cNvSpPr>
          <p:nvPr/>
        </p:nvSpPr>
        <p:spPr bwMode="auto">
          <a:xfrm>
            <a:off x="3036376" y="4706010"/>
            <a:ext cx="25442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3,1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2, 2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Text Box 50"/>
          <p:cNvSpPr txBox="1">
            <a:spLocks noChangeArrowheads="1"/>
          </p:cNvSpPr>
          <p:nvPr/>
        </p:nvSpPr>
        <p:spPr bwMode="auto">
          <a:xfrm>
            <a:off x="6636826" y="4720297"/>
            <a:ext cx="17860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4+1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5+2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A*</a:t>
            </a:r>
            <a:r>
              <a:rPr lang="zh-CN" altLang="en-US" dirty="0"/>
              <a:t>算法求解最短路径问题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868144" y="210699"/>
            <a:ext cx="3168352" cy="1512516"/>
            <a:chOff x="3851920" y="2168860"/>
            <a:chExt cx="4610100" cy="2160588"/>
          </a:xfrm>
          <a:noFill/>
        </p:grpSpPr>
        <p:grpSp>
          <p:nvGrpSpPr>
            <p:cNvPr id="5" name="Group 66"/>
            <p:cNvGrpSpPr/>
            <p:nvPr/>
          </p:nvGrpSpPr>
          <p:grpSpPr bwMode="auto">
            <a:xfrm>
              <a:off x="3851920" y="2168860"/>
              <a:ext cx="4610100" cy="2160588"/>
              <a:chOff x="2876" y="164"/>
              <a:chExt cx="2904" cy="1361"/>
            </a:xfrm>
            <a:grpFill/>
          </p:grpSpPr>
          <p:sp>
            <p:nvSpPr>
              <p:cNvPr id="6" name="Oval 38"/>
              <p:cNvSpPr>
                <a:spLocks noChangeArrowheads="1"/>
              </p:cNvSpPr>
              <p:nvPr/>
            </p:nvSpPr>
            <p:spPr bwMode="auto">
              <a:xfrm>
                <a:off x="2876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S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" name="Oval 39"/>
              <p:cNvSpPr>
                <a:spLocks noChangeArrowheads="1"/>
              </p:cNvSpPr>
              <p:nvPr/>
            </p:nvSpPr>
            <p:spPr bwMode="auto">
              <a:xfrm>
                <a:off x="3754" y="1312"/>
                <a:ext cx="230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3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8" name="Oval 40"/>
              <p:cNvSpPr>
                <a:spLocks noChangeArrowheads="1"/>
              </p:cNvSpPr>
              <p:nvPr/>
            </p:nvSpPr>
            <p:spPr bwMode="auto">
              <a:xfrm>
                <a:off x="375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9" name="Oval 41"/>
              <p:cNvSpPr>
                <a:spLocks noChangeArrowheads="1"/>
              </p:cNvSpPr>
              <p:nvPr/>
            </p:nvSpPr>
            <p:spPr bwMode="auto">
              <a:xfrm>
                <a:off x="3755" y="164"/>
                <a:ext cx="229" cy="259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0" name="Oval 42"/>
              <p:cNvSpPr>
                <a:spLocks noChangeArrowheads="1"/>
              </p:cNvSpPr>
              <p:nvPr/>
            </p:nvSpPr>
            <p:spPr bwMode="auto">
              <a:xfrm>
                <a:off x="463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4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1" name="Oval 43"/>
              <p:cNvSpPr>
                <a:spLocks noChangeArrowheads="1"/>
              </p:cNvSpPr>
              <p:nvPr/>
            </p:nvSpPr>
            <p:spPr bwMode="auto">
              <a:xfrm>
                <a:off x="4635" y="1312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>
                    <a:solidFill>
                      <a:srgbClr val="FF0000"/>
                    </a:solidFill>
                    <a:latin typeface="+mn-lt"/>
                  </a:rPr>
                  <a:t>5</a:t>
                </a:r>
                <a:endParaRPr lang="en-US" altLang="zh-CN" sz="1200" b="1" baseline="-250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2" name="Oval 44"/>
              <p:cNvSpPr>
                <a:spLocks noChangeArrowheads="1"/>
              </p:cNvSpPr>
              <p:nvPr/>
            </p:nvSpPr>
            <p:spPr bwMode="auto">
              <a:xfrm>
                <a:off x="5551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3" name="Line 45"/>
              <p:cNvSpPr>
                <a:spLocks noChangeShapeType="1"/>
              </p:cNvSpPr>
              <p:nvPr/>
            </p:nvSpPr>
            <p:spPr bwMode="auto">
              <a:xfrm flipV="1">
                <a:off x="3029" y="352"/>
                <a:ext cx="725" cy="39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4" name="Line 46"/>
              <p:cNvSpPr>
                <a:spLocks noChangeShapeType="1"/>
              </p:cNvSpPr>
              <p:nvPr/>
            </p:nvSpPr>
            <p:spPr bwMode="auto">
              <a:xfrm>
                <a:off x="3105" y="849"/>
                <a:ext cx="649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5" name="Line 47"/>
              <p:cNvSpPr>
                <a:spLocks noChangeShapeType="1"/>
              </p:cNvSpPr>
              <p:nvPr/>
            </p:nvSpPr>
            <p:spPr bwMode="auto">
              <a:xfrm>
                <a:off x="3067" y="921"/>
                <a:ext cx="687" cy="462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6" name="Line 48"/>
              <p:cNvSpPr>
                <a:spLocks noChangeShapeType="1"/>
              </p:cNvSpPr>
              <p:nvPr/>
            </p:nvSpPr>
            <p:spPr bwMode="auto">
              <a:xfrm>
                <a:off x="3984" y="317"/>
                <a:ext cx="688" cy="46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7" name="Line 49"/>
              <p:cNvSpPr>
                <a:spLocks noChangeShapeType="1"/>
              </p:cNvSpPr>
              <p:nvPr/>
            </p:nvSpPr>
            <p:spPr bwMode="auto">
              <a:xfrm>
                <a:off x="3984" y="849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8" name="Line 50"/>
              <p:cNvSpPr>
                <a:spLocks noChangeShapeType="1"/>
              </p:cNvSpPr>
              <p:nvPr/>
            </p:nvSpPr>
            <p:spPr bwMode="auto">
              <a:xfrm>
                <a:off x="3984" y="1418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9" name="Line 51"/>
              <p:cNvSpPr>
                <a:spLocks noChangeShapeType="1"/>
              </p:cNvSpPr>
              <p:nvPr/>
            </p:nvSpPr>
            <p:spPr bwMode="auto">
              <a:xfrm>
                <a:off x="3946" y="921"/>
                <a:ext cx="726" cy="42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0" name="Line 52"/>
              <p:cNvSpPr>
                <a:spLocks noChangeShapeType="1"/>
              </p:cNvSpPr>
              <p:nvPr/>
            </p:nvSpPr>
            <p:spPr bwMode="auto">
              <a:xfrm>
                <a:off x="3870" y="423"/>
                <a:ext cx="0" cy="32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1" name="Line 53"/>
              <p:cNvSpPr>
                <a:spLocks noChangeShapeType="1"/>
              </p:cNvSpPr>
              <p:nvPr/>
            </p:nvSpPr>
            <p:spPr bwMode="auto">
              <a:xfrm>
                <a:off x="4863" y="849"/>
                <a:ext cx="687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2" name="Line 54"/>
              <p:cNvSpPr>
                <a:spLocks noChangeShapeType="1"/>
              </p:cNvSpPr>
              <p:nvPr/>
            </p:nvSpPr>
            <p:spPr bwMode="auto">
              <a:xfrm>
                <a:off x="4748" y="956"/>
                <a:ext cx="0" cy="35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3" name="Line 55"/>
              <p:cNvSpPr>
                <a:spLocks noChangeShapeType="1"/>
              </p:cNvSpPr>
              <p:nvPr/>
            </p:nvSpPr>
            <p:spPr bwMode="auto">
              <a:xfrm flipV="1">
                <a:off x="4863" y="921"/>
                <a:ext cx="726" cy="497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4" name="Text Box 56"/>
              <p:cNvSpPr txBox="1">
                <a:spLocks noChangeArrowheads="1"/>
              </p:cNvSpPr>
              <p:nvPr/>
            </p:nvSpPr>
            <p:spPr bwMode="auto">
              <a:xfrm>
                <a:off x="3195" y="33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5" name="Text Box 57"/>
              <p:cNvSpPr txBox="1">
                <a:spLocks noChangeArrowheads="1"/>
              </p:cNvSpPr>
              <p:nvPr/>
            </p:nvSpPr>
            <p:spPr bwMode="auto">
              <a:xfrm>
                <a:off x="3391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6" name="Text Box 58"/>
              <p:cNvSpPr txBox="1">
                <a:spLocks noChangeArrowheads="1"/>
              </p:cNvSpPr>
              <p:nvPr/>
            </p:nvSpPr>
            <p:spPr bwMode="auto">
              <a:xfrm>
                <a:off x="3346" y="93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4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7" name="Text Box 59"/>
              <p:cNvSpPr txBox="1">
                <a:spLocks noChangeArrowheads="1"/>
              </p:cNvSpPr>
              <p:nvPr/>
            </p:nvSpPr>
            <p:spPr bwMode="auto">
              <a:xfrm>
                <a:off x="3868" y="479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8" name="Text Box 60"/>
              <p:cNvSpPr txBox="1">
                <a:spLocks noChangeArrowheads="1"/>
              </p:cNvSpPr>
              <p:nvPr/>
            </p:nvSpPr>
            <p:spPr bwMode="auto">
              <a:xfrm>
                <a:off x="4251" y="30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9" name="Text Box 61"/>
              <p:cNvSpPr txBox="1">
                <a:spLocks noChangeArrowheads="1"/>
              </p:cNvSpPr>
              <p:nvPr/>
            </p:nvSpPr>
            <p:spPr bwMode="auto">
              <a:xfrm>
                <a:off x="4176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0" name="Text Box 62"/>
              <p:cNvSpPr txBox="1">
                <a:spLocks noChangeArrowheads="1"/>
              </p:cNvSpPr>
              <p:nvPr/>
            </p:nvSpPr>
            <p:spPr bwMode="auto">
              <a:xfrm>
                <a:off x="4251" y="89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1" name="Text Box 63"/>
              <p:cNvSpPr txBox="1">
                <a:spLocks noChangeArrowheads="1"/>
              </p:cNvSpPr>
              <p:nvPr/>
            </p:nvSpPr>
            <p:spPr bwMode="auto">
              <a:xfrm>
                <a:off x="4102" y="116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2" name="Text Box 64"/>
              <p:cNvSpPr txBox="1">
                <a:spLocks noChangeArrowheads="1"/>
              </p:cNvSpPr>
              <p:nvPr/>
            </p:nvSpPr>
            <p:spPr bwMode="auto">
              <a:xfrm>
                <a:off x="5054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3" name="Text Box 65"/>
              <p:cNvSpPr txBox="1">
                <a:spLocks noChangeArrowheads="1"/>
              </p:cNvSpPr>
              <p:nvPr/>
            </p:nvSpPr>
            <p:spPr bwMode="auto">
              <a:xfrm>
                <a:off x="5009" y="96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5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</p:grpSp>
        <p:sp>
          <p:nvSpPr>
            <p:cNvPr id="34" name="Text Box 86"/>
            <p:cNvSpPr txBox="1">
              <a:spLocks noChangeArrowheads="1"/>
            </p:cNvSpPr>
            <p:nvPr/>
          </p:nvSpPr>
          <p:spPr bwMode="auto">
            <a:xfrm>
              <a:off x="6757044" y="3413460"/>
              <a:ext cx="380655" cy="3956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</a:t>
              </a:r>
              <a:endPara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endParaRPr>
            </a:p>
          </p:txBody>
        </p:sp>
      </p:grpSp>
      <p:sp>
        <p:nvSpPr>
          <p:cNvPr id="77" name="Oval 39"/>
          <p:cNvSpPr>
            <a:spLocks noChangeArrowheads="1"/>
          </p:cNvSpPr>
          <p:nvPr/>
        </p:nvSpPr>
        <p:spPr bwMode="auto">
          <a:xfrm>
            <a:off x="4492625" y="20447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Oval 40"/>
          <p:cNvSpPr>
            <a:spLocks noChangeArrowheads="1"/>
          </p:cNvSpPr>
          <p:nvPr/>
        </p:nvSpPr>
        <p:spPr bwMode="auto">
          <a:xfrm>
            <a:off x="4492625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Line 42"/>
          <p:cNvSpPr>
            <a:spLocks noChangeShapeType="1"/>
          </p:cNvSpPr>
          <p:nvPr/>
        </p:nvSpPr>
        <p:spPr bwMode="auto">
          <a:xfrm flipH="1">
            <a:off x="3556000" y="2333625"/>
            <a:ext cx="936625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80" name="Line 43"/>
          <p:cNvSpPr>
            <a:spLocks noChangeShapeType="1"/>
          </p:cNvSpPr>
          <p:nvPr/>
        </p:nvSpPr>
        <p:spPr bwMode="auto">
          <a:xfrm>
            <a:off x="4708525" y="2476500"/>
            <a:ext cx="0" cy="3603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81" name="Line 44"/>
          <p:cNvSpPr>
            <a:spLocks noChangeShapeType="1"/>
          </p:cNvSpPr>
          <p:nvPr/>
        </p:nvSpPr>
        <p:spPr bwMode="auto">
          <a:xfrm>
            <a:off x="4924425" y="2333625"/>
            <a:ext cx="792163" cy="5762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82" name="Text Box 45"/>
          <p:cNvSpPr txBox="1">
            <a:spLocks noChangeArrowheads="1"/>
          </p:cNvSpPr>
          <p:nvPr/>
        </p:nvSpPr>
        <p:spPr bwMode="auto">
          <a:xfrm>
            <a:off x="3771900" y="2189163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83" name="Text Box 46"/>
          <p:cNvSpPr txBox="1">
            <a:spLocks noChangeArrowheads="1"/>
          </p:cNvSpPr>
          <p:nvPr/>
        </p:nvSpPr>
        <p:spPr bwMode="auto">
          <a:xfrm>
            <a:off x="4346575" y="234950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4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84" name="Text Box 47"/>
          <p:cNvSpPr txBox="1">
            <a:spLocks noChangeArrowheads="1"/>
          </p:cNvSpPr>
          <p:nvPr/>
        </p:nvSpPr>
        <p:spPr bwMode="auto">
          <a:xfrm>
            <a:off x="5210175" y="217328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85" name="Text Box 48"/>
          <p:cNvSpPr txBox="1">
            <a:spLocks noChangeArrowheads="1"/>
          </p:cNvSpPr>
          <p:nvPr/>
        </p:nvSpPr>
        <p:spPr bwMode="auto">
          <a:xfrm>
            <a:off x="2906713" y="263683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" name="Text Box 49"/>
          <p:cNvSpPr txBox="1">
            <a:spLocks noChangeArrowheads="1"/>
          </p:cNvSpPr>
          <p:nvPr/>
        </p:nvSpPr>
        <p:spPr bwMode="auto">
          <a:xfrm>
            <a:off x="4205288" y="263683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Text Box 50"/>
          <p:cNvSpPr txBox="1">
            <a:spLocks noChangeArrowheads="1"/>
          </p:cNvSpPr>
          <p:nvPr/>
        </p:nvSpPr>
        <p:spPr bwMode="auto">
          <a:xfrm>
            <a:off x="6005513" y="263683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" name="Oval 51"/>
          <p:cNvSpPr>
            <a:spLocks noChangeArrowheads="1"/>
          </p:cNvSpPr>
          <p:nvPr/>
        </p:nvSpPr>
        <p:spPr bwMode="auto">
          <a:xfrm>
            <a:off x="2546350" y="36449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Oval 52"/>
          <p:cNvSpPr>
            <a:spLocks noChangeArrowheads="1"/>
          </p:cNvSpPr>
          <p:nvPr/>
        </p:nvSpPr>
        <p:spPr bwMode="auto">
          <a:xfrm>
            <a:off x="3554413" y="36449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Line 53"/>
          <p:cNvSpPr>
            <a:spLocks noChangeShapeType="1"/>
          </p:cNvSpPr>
          <p:nvPr/>
        </p:nvSpPr>
        <p:spPr bwMode="auto">
          <a:xfrm flipH="1">
            <a:off x="2833688" y="3213100"/>
            <a:ext cx="4318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91" name="Line 54"/>
          <p:cNvSpPr>
            <a:spLocks noChangeShapeType="1"/>
          </p:cNvSpPr>
          <p:nvPr/>
        </p:nvSpPr>
        <p:spPr bwMode="auto">
          <a:xfrm>
            <a:off x="3554413" y="3213100"/>
            <a:ext cx="2159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92" name="Oval 55"/>
          <p:cNvSpPr>
            <a:spLocks noChangeArrowheads="1"/>
          </p:cNvSpPr>
          <p:nvPr/>
        </p:nvSpPr>
        <p:spPr bwMode="auto">
          <a:xfrm>
            <a:off x="3197225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" name="Text Box 56"/>
          <p:cNvSpPr txBox="1">
            <a:spLocks noChangeArrowheads="1"/>
          </p:cNvSpPr>
          <p:nvPr/>
        </p:nvSpPr>
        <p:spPr bwMode="auto">
          <a:xfrm>
            <a:off x="2760663" y="30543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94" name="Text Box 57"/>
          <p:cNvSpPr txBox="1">
            <a:spLocks noChangeArrowheads="1"/>
          </p:cNvSpPr>
          <p:nvPr/>
        </p:nvSpPr>
        <p:spPr bwMode="auto">
          <a:xfrm>
            <a:off x="3625850" y="30543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95" name="Text Box 59"/>
          <p:cNvSpPr txBox="1">
            <a:spLocks noChangeArrowheads="1"/>
          </p:cNvSpPr>
          <p:nvPr/>
        </p:nvSpPr>
        <p:spPr bwMode="auto">
          <a:xfrm>
            <a:off x="2260600" y="34861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" name="Text Box 60"/>
          <p:cNvSpPr txBox="1">
            <a:spLocks noChangeArrowheads="1"/>
          </p:cNvSpPr>
          <p:nvPr/>
        </p:nvSpPr>
        <p:spPr bwMode="auto">
          <a:xfrm>
            <a:off x="3848100" y="34861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Oval 61"/>
          <p:cNvSpPr>
            <a:spLocks noChangeArrowheads="1"/>
          </p:cNvSpPr>
          <p:nvPr/>
        </p:nvSpPr>
        <p:spPr bwMode="auto">
          <a:xfrm>
            <a:off x="5143500" y="36449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Oval 62"/>
          <p:cNvSpPr>
            <a:spLocks noChangeArrowheads="1"/>
          </p:cNvSpPr>
          <p:nvPr/>
        </p:nvSpPr>
        <p:spPr bwMode="auto">
          <a:xfrm>
            <a:off x="6080125" y="364490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" name="Text Box 63"/>
          <p:cNvSpPr txBox="1">
            <a:spLocks noChangeArrowheads="1"/>
          </p:cNvSpPr>
          <p:nvPr/>
        </p:nvSpPr>
        <p:spPr bwMode="auto">
          <a:xfrm>
            <a:off x="5287963" y="30543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0" name="Text Box 64"/>
          <p:cNvSpPr txBox="1">
            <a:spLocks noChangeArrowheads="1"/>
          </p:cNvSpPr>
          <p:nvPr/>
        </p:nvSpPr>
        <p:spPr bwMode="auto">
          <a:xfrm>
            <a:off x="6080125" y="3068638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1" name="Line 65"/>
          <p:cNvSpPr>
            <a:spLocks noChangeShapeType="1"/>
          </p:cNvSpPr>
          <p:nvPr/>
        </p:nvSpPr>
        <p:spPr bwMode="auto">
          <a:xfrm flipH="1">
            <a:off x="5430838" y="3213100"/>
            <a:ext cx="288925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02" name="Line 66"/>
          <p:cNvSpPr>
            <a:spLocks noChangeShapeType="1"/>
          </p:cNvSpPr>
          <p:nvPr/>
        </p:nvSpPr>
        <p:spPr bwMode="auto">
          <a:xfrm>
            <a:off x="6007100" y="3213100"/>
            <a:ext cx="2159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03" name="Oval 41"/>
          <p:cNvSpPr>
            <a:spLocks noChangeArrowheads="1"/>
          </p:cNvSpPr>
          <p:nvPr/>
        </p:nvSpPr>
        <p:spPr bwMode="auto">
          <a:xfrm>
            <a:off x="5645150" y="2836863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Text Box 67"/>
          <p:cNvSpPr txBox="1">
            <a:spLocks noChangeArrowheads="1"/>
          </p:cNvSpPr>
          <p:nvPr/>
        </p:nvSpPr>
        <p:spPr bwMode="auto">
          <a:xfrm>
            <a:off x="4852988" y="348615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Text Box 68"/>
          <p:cNvSpPr txBox="1">
            <a:spLocks noChangeArrowheads="1"/>
          </p:cNvSpPr>
          <p:nvPr/>
        </p:nvSpPr>
        <p:spPr bwMode="auto">
          <a:xfrm>
            <a:off x="6437313" y="3429000"/>
            <a:ext cx="44114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" name="Text Box 36"/>
          <p:cNvSpPr txBox="1">
            <a:spLocks noChangeArrowheads="1"/>
          </p:cNvSpPr>
          <p:nvPr/>
        </p:nvSpPr>
        <p:spPr bwMode="auto">
          <a:xfrm>
            <a:off x="209550" y="4798867"/>
            <a:ext cx="18373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3+2=5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3+2=5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7" name="Text Box 37"/>
          <p:cNvSpPr txBox="1">
            <a:spLocks noChangeArrowheads="1"/>
          </p:cNvSpPr>
          <p:nvPr/>
        </p:nvSpPr>
        <p:spPr bwMode="auto">
          <a:xfrm>
            <a:off x="2809875" y="4784580"/>
            <a:ext cx="24673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3,1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Text Box 38"/>
          <p:cNvSpPr txBox="1">
            <a:spLocks noChangeArrowheads="1"/>
          </p:cNvSpPr>
          <p:nvPr/>
        </p:nvSpPr>
        <p:spPr bwMode="auto">
          <a:xfrm>
            <a:off x="6410325" y="4798867"/>
            <a:ext cx="19399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5+1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5+5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A*</a:t>
            </a:r>
            <a:r>
              <a:rPr lang="zh-CN" altLang="en-US" dirty="0"/>
              <a:t>算法求解最短路径问题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868144" y="210699"/>
            <a:ext cx="3168352" cy="1512516"/>
            <a:chOff x="3851920" y="2168860"/>
            <a:chExt cx="4610100" cy="2160588"/>
          </a:xfrm>
          <a:noFill/>
        </p:grpSpPr>
        <p:grpSp>
          <p:nvGrpSpPr>
            <p:cNvPr id="5" name="Group 66"/>
            <p:cNvGrpSpPr/>
            <p:nvPr/>
          </p:nvGrpSpPr>
          <p:grpSpPr bwMode="auto">
            <a:xfrm>
              <a:off x="3851920" y="2168860"/>
              <a:ext cx="4610100" cy="2160588"/>
              <a:chOff x="2876" y="164"/>
              <a:chExt cx="2904" cy="1361"/>
            </a:xfrm>
            <a:grpFill/>
          </p:grpSpPr>
          <p:sp>
            <p:nvSpPr>
              <p:cNvPr id="6" name="Oval 38"/>
              <p:cNvSpPr>
                <a:spLocks noChangeArrowheads="1"/>
              </p:cNvSpPr>
              <p:nvPr/>
            </p:nvSpPr>
            <p:spPr bwMode="auto">
              <a:xfrm>
                <a:off x="2876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S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" name="Oval 39"/>
              <p:cNvSpPr>
                <a:spLocks noChangeArrowheads="1"/>
              </p:cNvSpPr>
              <p:nvPr/>
            </p:nvSpPr>
            <p:spPr bwMode="auto">
              <a:xfrm>
                <a:off x="3754" y="1312"/>
                <a:ext cx="230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3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8" name="Oval 40"/>
              <p:cNvSpPr>
                <a:spLocks noChangeArrowheads="1"/>
              </p:cNvSpPr>
              <p:nvPr/>
            </p:nvSpPr>
            <p:spPr bwMode="auto">
              <a:xfrm>
                <a:off x="375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9" name="Oval 41"/>
              <p:cNvSpPr>
                <a:spLocks noChangeArrowheads="1"/>
              </p:cNvSpPr>
              <p:nvPr/>
            </p:nvSpPr>
            <p:spPr bwMode="auto">
              <a:xfrm>
                <a:off x="3755" y="164"/>
                <a:ext cx="229" cy="259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0" name="Oval 42"/>
              <p:cNvSpPr>
                <a:spLocks noChangeArrowheads="1"/>
              </p:cNvSpPr>
              <p:nvPr/>
            </p:nvSpPr>
            <p:spPr bwMode="auto">
              <a:xfrm>
                <a:off x="4635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 dirty="0">
                    <a:solidFill>
                      <a:srgbClr val="FF0000"/>
                    </a:solidFill>
                    <a:latin typeface="+mn-lt"/>
                  </a:rPr>
                  <a:t>4</a:t>
                </a:r>
                <a:endParaRPr lang="en-US" altLang="zh-CN" sz="1200" b="1" baseline="-25000" dirty="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1" name="Oval 43"/>
              <p:cNvSpPr>
                <a:spLocks noChangeArrowheads="1"/>
              </p:cNvSpPr>
              <p:nvPr/>
            </p:nvSpPr>
            <p:spPr bwMode="auto">
              <a:xfrm>
                <a:off x="4635" y="1312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V</a:t>
                </a:r>
                <a:r>
                  <a:rPr lang="en-US" altLang="zh-CN" sz="1200" b="1" baseline="-25000">
                    <a:solidFill>
                      <a:srgbClr val="FF0000"/>
                    </a:solidFill>
                    <a:latin typeface="+mn-lt"/>
                  </a:rPr>
                  <a:t>5</a:t>
                </a:r>
                <a:endParaRPr lang="en-US" altLang="zh-CN" sz="1200" b="1" baseline="-250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2" name="Oval 44"/>
              <p:cNvSpPr>
                <a:spLocks noChangeArrowheads="1"/>
              </p:cNvSpPr>
              <p:nvPr/>
            </p:nvSpPr>
            <p:spPr bwMode="auto">
              <a:xfrm>
                <a:off x="5551" y="743"/>
                <a:ext cx="229" cy="213"/>
              </a:xfrm>
              <a:prstGeom prst="ellipse">
                <a:avLst/>
              </a:prstGeom>
              <a:grp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altLang="zh-CN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13" name="Line 45"/>
              <p:cNvSpPr>
                <a:spLocks noChangeShapeType="1"/>
              </p:cNvSpPr>
              <p:nvPr/>
            </p:nvSpPr>
            <p:spPr bwMode="auto">
              <a:xfrm flipV="1">
                <a:off x="3029" y="352"/>
                <a:ext cx="725" cy="39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4" name="Line 46"/>
              <p:cNvSpPr>
                <a:spLocks noChangeShapeType="1"/>
              </p:cNvSpPr>
              <p:nvPr/>
            </p:nvSpPr>
            <p:spPr bwMode="auto">
              <a:xfrm>
                <a:off x="3105" y="849"/>
                <a:ext cx="649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5" name="Line 47"/>
              <p:cNvSpPr>
                <a:spLocks noChangeShapeType="1"/>
              </p:cNvSpPr>
              <p:nvPr/>
            </p:nvSpPr>
            <p:spPr bwMode="auto">
              <a:xfrm>
                <a:off x="3067" y="921"/>
                <a:ext cx="687" cy="462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6" name="Line 48"/>
              <p:cNvSpPr>
                <a:spLocks noChangeShapeType="1"/>
              </p:cNvSpPr>
              <p:nvPr/>
            </p:nvSpPr>
            <p:spPr bwMode="auto">
              <a:xfrm>
                <a:off x="3984" y="317"/>
                <a:ext cx="688" cy="461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7" name="Line 49"/>
              <p:cNvSpPr>
                <a:spLocks noChangeShapeType="1"/>
              </p:cNvSpPr>
              <p:nvPr/>
            </p:nvSpPr>
            <p:spPr bwMode="auto">
              <a:xfrm>
                <a:off x="3984" y="849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8" name="Line 50"/>
              <p:cNvSpPr>
                <a:spLocks noChangeShapeType="1"/>
              </p:cNvSpPr>
              <p:nvPr/>
            </p:nvSpPr>
            <p:spPr bwMode="auto">
              <a:xfrm>
                <a:off x="3984" y="1418"/>
                <a:ext cx="650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19" name="Line 51"/>
              <p:cNvSpPr>
                <a:spLocks noChangeShapeType="1"/>
              </p:cNvSpPr>
              <p:nvPr/>
            </p:nvSpPr>
            <p:spPr bwMode="auto">
              <a:xfrm>
                <a:off x="3946" y="921"/>
                <a:ext cx="726" cy="42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0" name="Line 52"/>
              <p:cNvSpPr>
                <a:spLocks noChangeShapeType="1"/>
              </p:cNvSpPr>
              <p:nvPr/>
            </p:nvSpPr>
            <p:spPr bwMode="auto">
              <a:xfrm>
                <a:off x="3870" y="423"/>
                <a:ext cx="0" cy="32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1" name="Line 53"/>
              <p:cNvSpPr>
                <a:spLocks noChangeShapeType="1"/>
              </p:cNvSpPr>
              <p:nvPr/>
            </p:nvSpPr>
            <p:spPr bwMode="auto">
              <a:xfrm>
                <a:off x="4863" y="849"/>
                <a:ext cx="687" cy="0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2" name="Line 54"/>
              <p:cNvSpPr>
                <a:spLocks noChangeShapeType="1"/>
              </p:cNvSpPr>
              <p:nvPr/>
            </p:nvSpPr>
            <p:spPr bwMode="auto">
              <a:xfrm>
                <a:off x="4748" y="956"/>
                <a:ext cx="0" cy="356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3" name="Line 55"/>
              <p:cNvSpPr>
                <a:spLocks noChangeShapeType="1"/>
              </p:cNvSpPr>
              <p:nvPr/>
            </p:nvSpPr>
            <p:spPr bwMode="auto">
              <a:xfrm flipV="1">
                <a:off x="4863" y="921"/>
                <a:ext cx="726" cy="497"/>
              </a:xfrm>
              <a:prstGeom prst="line">
                <a:avLst/>
              </a:prstGeom>
              <a:grp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+mn-lt"/>
                </a:endParaRPr>
              </a:p>
            </p:txBody>
          </p:sp>
          <p:sp>
            <p:nvSpPr>
              <p:cNvPr id="24" name="Text Box 56"/>
              <p:cNvSpPr txBox="1">
                <a:spLocks noChangeArrowheads="1"/>
              </p:cNvSpPr>
              <p:nvPr/>
            </p:nvSpPr>
            <p:spPr bwMode="auto">
              <a:xfrm>
                <a:off x="3195" y="33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5" name="Text Box 57"/>
              <p:cNvSpPr txBox="1">
                <a:spLocks noChangeArrowheads="1"/>
              </p:cNvSpPr>
              <p:nvPr/>
            </p:nvSpPr>
            <p:spPr bwMode="auto">
              <a:xfrm>
                <a:off x="3391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6" name="Text Box 58"/>
              <p:cNvSpPr txBox="1">
                <a:spLocks noChangeArrowheads="1"/>
              </p:cNvSpPr>
              <p:nvPr/>
            </p:nvSpPr>
            <p:spPr bwMode="auto">
              <a:xfrm>
                <a:off x="3346" y="93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4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7" name="Text Box 59"/>
              <p:cNvSpPr txBox="1">
                <a:spLocks noChangeArrowheads="1"/>
              </p:cNvSpPr>
              <p:nvPr/>
            </p:nvSpPr>
            <p:spPr bwMode="auto">
              <a:xfrm>
                <a:off x="3868" y="479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8" name="Text Box 60"/>
              <p:cNvSpPr txBox="1">
                <a:spLocks noChangeArrowheads="1"/>
              </p:cNvSpPr>
              <p:nvPr/>
            </p:nvSpPr>
            <p:spPr bwMode="auto">
              <a:xfrm>
                <a:off x="4251" y="30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29" name="Text Box 61"/>
              <p:cNvSpPr txBox="1">
                <a:spLocks noChangeArrowheads="1"/>
              </p:cNvSpPr>
              <p:nvPr/>
            </p:nvSpPr>
            <p:spPr bwMode="auto">
              <a:xfrm>
                <a:off x="4176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0" name="Text Box 62"/>
              <p:cNvSpPr txBox="1">
                <a:spLocks noChangeArrowheads="1"/>
              </p:cNvSpPr>
              <p:nvPr/>
            </p:nvSpPr>
            <p:spPr bwMode="auto">
              <a:xfrm>
                <a:off x="4251" y="890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1" name="Text Box 63"/>
              <p:cNvSpPr txBox="1">
                <a:spLocks noChangeArrowheads="1"/>
              </p:cNvSpPr>
              <p:nvPr/>
            </p:nvSpPr>
            <p:spPr bwMode="auto">
              <a:xfrm>
                <a:off x="4102" y="116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2" name="Text Box 64"/>
              <p:cNvSpPr txBox="1">
                <a:spLocks noChangeArrowheads="1"/>
              </p:cNvSpPr>
              <p:nvPr/>
            </p:nvSpPr>
            <p:spPr bwMode="auto">
              <a:xfrm>
                <a:off x="5054" y="602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3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  <p:sp>
            <p:nvSpPr>
              <p:cNvPr id="33" name="Text Box 65"/>
              <p:cNvSpPr txBox="1">
                <a:spLocks noChangeArrowheads="1"/>
              </p:cNvSpPr>
              <p:nvPr/>
            </p:nvSpPr>
            <p:spPr bwMode="auto">
              <a:xfrm>
                <a:off x="5009" y="965"/>
                <a:ext cx="240" cy="24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rPr>
                  <a:t>5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endParaRPr>
              </a:p>
            </p:txBody>
          </p:sp>
        </p:grpSp>
        <p:sp>
          <p:nvSpPr>
            <p:cNvPr id="34" name="Text Box 86"/>
            <p:cNvSpPr txBox="1">
              <a:spLocks noChangeArrowheads="1"/>
            </p:cNvSpPr>
            <p:nvPr/>
          </p:nvSpPr>
          <p:spPr bwMode="auto">
            <a:xfrm>
              <a:off x="6757044" y="3413460"/>
              <a:ext cx="380655" cy="3956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</a:t>
              </a:r>
              <a:endPara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endParaRPr>
            </a:p>
          </p:txBody>
        </p:sp>
      </p:grp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323528" y="5360627"/>
            <a:ext cx="21659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g(V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2+2+1=5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g(T) 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2+2+3=7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Text Box 39"/>
          <p:cNvSpPr txBox="1">
            <a:spLocks noChangeArrowheads="1"/>
          </p:cNvSpPr>
          <p:nvPr/>
        </p:nvSpPr>
        <p:spPr bwMode="auto">
          <a:xfrm>
            <a:off x="3276882" y="5347433"/>
            <a:ext cx="22365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)=min{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}=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h(T)=0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 Box 40"/>
          <p:cNvSpPr txBox="1">
            <a:spLocks noChangeArrowheads="1"/>
          </p:cNvSpPr>
          <p:nvPr/>
        </p:nvSpPr>
        <p:spPr bwMode="auto">
          <a:xfrm>
            <a:off x="6550965" y="5325475"/>
            <a:ext cx="19399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5+5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f(V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7+0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Oval 41"/>
          <p:cNvSpPr>
            <a:spLocks noChangeArrowheads="1"/>
          </p:cNvSpPr>
          <p:nvPr/>
        </p:nvSpPr>
        <p:spPr bwMode="auto">
          <a:xfrm>
            <a:off x="4356224" y="20189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Oval 42"/>
          <p:cNvSpPr>
            <a:spLocks noChangeArrowheads="1"/>
          </p:cNvSpPr>
          <p:nvPr/>
        </p:nvSpPr>
        <p:spPr bwMode="auto">
          <a:xfrm>
            <a:off x="4356224" y="2811102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Line 43"/>
          <p:cNvSpPr>
            <a:spLocks noChangeShapeType="1"/>
          </p:cNvSpPr>
          <p:nvPr/>
        </p:nvSpPr>
        <p:spPr bwMode="auto">
          <a:xfrm flipH="1">
            <a:off x="3419599" y="2307865"/>
            <a:ext cx="936625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74" name="Line 44"/>
          <p:cNvSpPr>
            <a:spLocks noChangeShapeType="1"/>
          </p:cNvSpPr>
          <p:nvPr/>
        </p:nvSpPr>
        <p:spPr bwMode="auto">
          <a:xfrm>
            <a:off x="4572124" y="2450740"/>
            <a:ext cx="0" cy="3603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75" name="Line 45"/>
          <p:cNvSpPr>
            <a:spLocks noChangeShapeType="1"/>
          </p:cNvSpPr>
          <p:nvPr/>
        </p:nvSpPr>
        <p:spPr bwMode="auto">
          <a:xfrm>
            <a:off x="4788024" y="2307865"/>
            <a:ext cx="792163" cy="5762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635499" y="2163402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9" name="Text Box 47"/>
          <p:cNvSpPr txBox="1">
            <a:spLocks noChangeArrowheads="1"/>
          </p:cNvSpPr>
          <p:nvPr/>
        </p:nvSpPr>
        <p:spPr bwMode="auto">
          <a:xfrm>
            <a:off x="4210174" y="232374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4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10" name="Text Box 48"/>
          <p:cNvSpPr txBox="1">
            <a:spLocks noChangeArrowheads="1"/>
          </p:cNvSpPr>
          <p:nvPr/>
        </p:nvSpPr>
        <p:spPr bwMode="auto">
          <a:xfrm>
            <a:off x="5073774" y="2147527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11" name="Text Box 49"/>
          <p:cNvSpPr txBox="1">
            <a:spLocks noChangeArrowheads="1"/>
          </p:cNvSpPr>
          <p:nvPr/>
        </p:nvSpPr>
        <p:spPr bwMode="auto">
          <a:xfrm>
            <a:off x="2890942" y="2611077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Text Box 50"/>
          <p:cNvSpPr txBox="1">
            <a:spLocks noChangeArrowheads="1"/>
          </p:cNvSpPr>
          <p:nvPr/>
        </p:nvSpPr>
        <p:spPr bwMode="auto">
          <a:xfrm>
            <a:off x="4079074" y="2776862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Text Box 51"/>
          <p:cNvSpPr txBox="1">
            <a:spLocks noChangeArrowheads="1"/>
          </p:cNvSpPr>
          <p:nvPr/>
        </p:nvSpPr>
        <p:spPr bwMode="auto">
          <a:xfrm>
            <a:off x="5796136" y="2611077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Oval 53"/>
          <p:cNvSpPr>
            <a:spLocks noChangeArrowheads="1"/>
          </p:cNvSpPr>
          <p:nvPr/>
        </p:nvSpPr>
        <p:spPr bwMode="auto">
          <a:xfrm>
            <a:off x="3418012" y="36191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Line 54"/>
          <p:cNvSpPr>
            <a:spLocks noChangeShapeType="1"/>
          </p:cNvSpPr>
          <p:nvPr/>
        </p:nvSpPr>
        <p:spPr bwMode="auto">
          <a:xfrm flipH="1">
            <a:off x="2697287" y="3187340"/>
            <a:ext cx="4318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16" name="Line 55"/>
          <p:cNvSpPr>
            <a:spLocks noChangeShapeType="1"/>
          </p:cNvSpPr>
          <p:nvPr/>
        </p:nvSpPr>
        <p:spPr bwMode="auto">
          <a:xfrm>
            <a:off x="3418012" y="3187340"/>
            <a:ext cx="2159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17" name="Oval 56"/>
          <p:cNvSpPr>
            <a:spLocks noChangeArrowheads="1"/>
          </p:cNvSpPr>
          <p:nvPr/>
        </p:nvSpPr>
        <p:spPr bwMode="auto">
          <a:xfrm>
            <a:off x="3060824" y="2811102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" name="Text Box 57"/>
          <p:cNvSpPr txBox="1">
            <a:spLocks noChangeArrowheads="1"/>
          </p:cNvSpPr>
          <p:nvPr/>
        </p:nvSpPr>
        <p:spPr bwMode="auto">
          <a:xfrm>
            <a:off x="2624262" y="30285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19" name="Text Box 58"/>
          <p:cNvSpPr txBox="1">
            <a:spLocks noChangeArrowheads="1"/>
          </p:cNvSpPr>
          <p:nvPr/>
        </p:nvSpPr>
        <p:spPr bwMode="auto">
          <a:xfrm>
            <a:off x="3489449" y="30285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0" name="Text Box 60"/>
          <p:cNvSpPr txBox="1">
            <a:spLocks noChangeArrowheads="1"/>
          </p:cNvSpPr>
          <p:nvPr/>
        </p:nvSpPr>
        <p:spPr bwMode="auto">
          <a:xfrm>
            <a:off x="2206866" y="34603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" name="Text Box 61"/>
          <p:cNvSpPr txBox="1">
            <a:spLocks noChangeArrowheads="1"/>
          </p:cNvSpPr>
          <p:nvPr/>
        </p:nvSpPr>
        <p:spPr bwMode="auto">
          <a:xfrm>
            <a:off x="3711699" y="34603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" name="Oval 62"/>
          <p:cNvSpPr>
            <a:spLocks noChangeArrowheads="1"/>
          </p:cNvSpPr>
          <p:nvPr/>
        </p:nvSpPr>
        <p:spPr bwMode="auto">
          <a:xfrm>
            <a:off x="5007099" y="36191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" name="Oval 63"/>
          <p:cNvSpPr>
            <a:spLocks noChangeArrowheads="1"/>
          </p:cNvSpPr>
          <p:nvPr/>
        </p:nvSpPr>
        <p:spPr bwMode="auto">
          <a:xfrm>
            <a:off x="5943724" y="36191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4" name="Text Box 64"/>
          <p:cNvSpPr txBox="1">
            <a:spLocks noChangeArrowheads="1"/>
          </p:cNvSpPr>
          <p:nvPr/>
        </p:nvSpPr>
        <p:spPr bwMode="auto">
          <a:xfrm>
            <a:off x="5151562" y="30285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5" name="Text Box 65"/>
          <p:cNvSpPr txBox="1">
            <a:spLocks noChangeArrowheads="1"/>
          </p:cNvSpPr>
          <p:nvPr/>
        </p:nvSpPr>
        <p:spPr bwMode="auto">
          <a:xfrm>
            <a:off x="5943724" y="3042877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6" name="Line 66"/>
          <p:cNvSpPr>
            <a:spLocks noChangeShapeType="1"/>
          </p:cNvSpPr>
          <p:nvPr/>
        </p:nvSpPr>
        <p:spPr bwMode="auto">
          <a:xfrm flipH="1">
            <a:off x="5294437" y="3187340"/>
            <a:ext cx="288925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27" name="Line 67"/>
          <p:cNvSpPr>
            <a:spLocks noChangeShapeType="1"/>
          </p:cNvSpPr>
          <p:nvPr/>
        </p:nvSpPr>
        <p:spPr bwMode="auto">
          <a:xfrm>
            <a:off x="5870699" y="3187340"/>
            <a:ext cx="215900" cy="43180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28" name="Oval 68"/>
          <p:cNvSpPr>
            <a:spLocks noChangeArrowheads="1"/>
          </p:cNvSpPr>
          <p:nvPr/>
        </p:nvSpPr>
        <p:spPr bwMode="auto">
          <a:xfrm>
            <a:off x="5508749" y="2811102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" name="Text Box 69"/>
          <p:cNvSpPr txBox="1">
            <a:spLocks noChangeArrowheads="1"/>
          </p:cNvSpPr>
          <p:nvPr/>
        </p:nvSpPr>
        <p:spPr bwMode="auto">
          <a:xfrm>
            <a:off x="4788024" y="3496942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" name="Text Box 70"/>
          <p:cNvSpPr txBox="1">
            <a:spLocks noChangeArrowheads="1"/>
          </p:cNvSpPr>
          <p:nvPr/>
        </p:nvSpPr>
        <p:spPr bwMode="auto">
          <a:xfrm>
            <a:off x="6300912" y="3532946"/>
            <a:ext cx="44114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" name="Oval 71"/>
          <p:cNvSpPr>
            <a:spLocks noChangeArrowheads="1"/>
          </p:cNvSpPr>
          <p:nvPr/>
        </p:nvSpPr>
        <p:spPr bwMode="auto">
          <a:xfrm>
            <a:off x="1838449" y="44827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Oval 72"/>
          <p:cNvSpPr>
            <a:spLocks noChangeArrowheads="1"/>
          </p:cNvSpPr>
          <p:nvPr/>
        </p:nvSpPr>
        <p:spPr bwMode="auto">
          <a:xfrm>
            <a:off x="2846512" y="44827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" name="Text Box 75"/>
          <p:cNvSpPr txBox="1">
            <a:spLocks noChangeArrowheads="1"/>
          </p:cNvSpPr>
          <p:nvPr/>
        </p:nvSpPr>
        <p:spPr bwMode="auto">
          <a:xfrm>
            <a:off x="1982912" y="38921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1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34" name="Text Box 76"/>
          <p:cNvSpPr txBox="1">
            <a:spLocks noChangeArrowheads="1"/>
          </p:cNvSpPr>
          <p:nvPr/>
        </p:nvSpPr>
        <p:spPr bwMode="auto">
          <a:xfrm>
            <a:off x="2846512" y="389219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35" name="Line 77"/>
          <p:cNvSpPr>
            <a:spLocks noChangeShapeType="1"/>
          </p:cNvSpPr>
          <p:nvPr/>
        </p:nvSpPr>
        <p:spPr bwMode="auto">
          <a:xfrm flipH="1">
            <a:off x="2127374" y="3977915"/>
            <a:ext cx="358775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6" name="Line 78"/>
          <p:cNvSpPr>
            <a:spLocks noChangeShapeType="1"/>
          </p:cNvSpPr>
          <p:nvPr/>
        </p:nvSpPr>
        <p:spPr bwMode="auto">
          <a:xfrm>
            <a:off x="2775074" y="3977915"/>
            <a:ext cx="215900" cy="504825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7" name="Oval 52"/>
          <p:cNvSpPr>
            <a:spLocks noChangeArrowheads="1"/>
          </p:cNvSpPr>
          <p:nvPr/>
        </p:nvSpPr>
        <p:spPr bwMode="auto">
          <a:xfrm>
            <a:off x="2409949" y="3619140"/>
            <a:ext cx="431800" cy="431800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" name="Text Box 79"/>
          <p:cNvSpPr txBox="1">
            <a:spLocks noChangeArrowheads="1"/>
          </p:cNvSpPr>
          <p:nvPr/>
        </p:nvSpPr>
        <p:spPr bwMode="auto">
          <a:xfrm>
            <a:off x="3131840" y="4289030"/>
            <a:ext cx="3129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" name="Text Box 80"/>
          <p:cNvSpPr txBox="1">
            <a:spLocks noChangeArrowheads="1"/>
          </p:cNvSpPr>
          <p:nvPr/>
        </p:nvSpPr>
        <p:spPr bwMode="auto">
          <a:xfrm>
            <a:off x="1466558" y="4325034"/>
            <a:ext cx="44114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4" y="6580"/>
            <a:ext cx="6563641" cy="3581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4" y="3588480"/>
            <a:ext cx="6192114" cy="24673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9" y="6055799"/>
                <a:ext cx="7263207" cy="9233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请从给定的点数网格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</a:rPr>
                      <m:t>𝒂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altLang="zh-CN" kern="1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使用搜索算法求出对应</a:t>
                </a:r>
                <a:endParaRPr lang="en-US" altLang="zh-CN" kern="1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的骨牌号图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</a:rPr>
                      <m:t>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altLang="zh-CN" kern="1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kern="1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，有可能的话，给出相关剪枝策略。</a:t>
                </a:r>
                <a:endParaRPr lang="zh-CN" altLang="zh-CN" kern="1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" y="6055799"/>
                <a:ext cx="7263207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48" r="-4510" b="5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</a:ln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anose="02010609060101010101" pitchFamily="49" charset="-122"/>
          </a:defRPr>
        </a:defPPr>
      </a:lstStyle>
    </a:spDef>
    <a:lnDef>
      <a:spPr bwMode="auto">
        <a:ln w="19050">
          <a:solidFill>
            <a:srgbClr val="0066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anose="05000000000000000000" pitchFamily="2" charset="2"/>
          <a:buNone/>
          <a:defRPr b="1" dirty="0" smtClean="0">
            <a:solidFill>
              <a:srgbClr val="000099"/>
            </a:solidFill>
            <a:ea typeface="黑体" panose="02010609060101010101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6724</Words>
  <Application>WPS Presentation</Application>
  <PresentationFormat>全屏显示(4:3)</PresentationFormat>
  <Paragraphs>2204</Paragraphs>
  <Slides>57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57</vt:i4>
      </vt:variant>
    </vt:vector>
  </HeadingPairs>
  <TitlesOfParts>
    <vt:vector size="90" baseType="lpstr">
      <vt:lpstr>Arial</vt:lpstr>
      <vt:lpstr>SimSun</vt:lpstr>
      <vt:lpstr>Wingdings</vt:lpstr>
      <vt:lpstr>SimSun</vt:lpstr>
      <vt:lpstr>Droid Sans Fallback</vt:lpstr>
      <vt:lpstr>黑体</vt:lpstr>
      <vt:lpstr>Courier New</vt:lpstr>
      <vt:lpstr>华文新魏</vt:lpstr>
      <vt:lpstr>Times New Roman</vt:lpstr>
      <vt:lpstr>隶书</vt:lpstr>
      <vt:lpstr>Calibri</vt:lpstr>
      <vt:lpstr>仿宋_GB2312</vt:lpstr>
      <vt:lpstr>Cambria Math</vt:lpstr>
      <vt:lpstr>Cambria Math</vt:lpstr>
      <vt:lpstr>Microsoft YaHei</vt:lpstr>
      <vt:lpstr>Arial Unicode MS</vt:lpstr>
      <vt:lpstr>华文行楷</vt:lpstr>
      <vt:lpstr>Symbol</vt:lpstr>
      <vt:lpstr>DejaVu Math TeX Gyre</vt:lpstr>
      <vt:lpstr>隶书</vt:lpstr>
      <vt:lpstr>Pixel</vt:lpstr>
      <vt:lpstr>自定义设计方案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搜索</vt:lpstr>
      <vt:lpstr>本章内容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树的搜索</vt:lpstr>
      <vt:lpstr>人员分配问题</vt:lpstr>
      <vt:lpstr>人员分配问题</vt:lpstr>
      <vt:lpstr>人员分配问题</vt:lpstr>
      <vt:lpstr>人员分配问题</vt:lpstr>
      <vt:lpstr>人员分配问题</vt:lpstr>
      <vt:lpstr>人员分配问题</vt:lpstr>
      <vt:lpstr>人员分配问题</vt:lpstr>
      <vt:lpstr>人员分配问题</vt:lpstr>
      <vt:lpstr>人员分配问题</vt:lpstr>
      <vt:lpstr>人员分配问题</vt:lpstr>
      <vt:lpstr>PowerPoint 演示文稿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旅行商问题</vt:lpstr>
      <vt:lpstr>PowerPoint 演示文稿</vt:lpstr>
      <vt:lpstr>A*算法</vt:lpstr>
      <vt:lpstr>A*算法</vt:lpstr>
      <vt:lpstr>A*算法</vt:lpstr>
      <vt:lpstr>A*算法</vt:lpstr>
      <vt:lpstr>A*算法</vt:lpstr>
      <vt:lpstr>A*算法</vt:lpstr>
      <vt:lpstr>A*算法</vt:lpstr>
      <vt:lpstr>PowerPoint 演示文稿</vt:lpstr>
    </vt:vector>
  </TitlesOfParts>
  <Company>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xiaolin</cp:lastModifiedBy>
  <cp:revision>1501</cp:revision>
  <cp:lastPrinted>2024-12-11T00:57:59Z</cp:lastPrinted>
  <dcterms:created xsi:type="dcterms:W3CDTF">2024-12-11T00:57:59Z</dcterms:created>
  <dcterms:modified xsi:type="dcterms:W3CDTF">2024-12-11T00:57:59Z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KSOProductBuildVer">
    <vt:lpwstr>1033-12.1.0.17900</vt:lpwstr>
  </property>
  <property fmtid="{D5CDD505-2E9C-101B-9397-08002B2CF9AE}" pid="4" name="ICV">
    <vt:lpwstr>4FDF3CDB29E6CD9997E35867E50B15F4_42</vt:lpwstr>
  </property>
</Properties>
</file>