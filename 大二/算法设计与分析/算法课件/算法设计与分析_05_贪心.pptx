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3" r:id="rId1"/>
    <p:sldMasterId id="2147483913" r:id="rId2"/>
  </p:sldMasterIdLst>
  <p:notesMasterIdLst>
    <p:notesMasterId r:id="rId54"/>
  </p:notesMasterIdLst>
  <p:handoutMasterIdLst>
    <p:handoutMasterId r:id="rId55"/>
  </p:handoutMasterIdLst>
  <p:sldIdLst>
    <p:sldId id="286" r:id="rId3"/>
    <p:sldId id="277" r:id="rId4"/>
    <p:sldId id="287" r:id="rId5"/>
    <p:sldId id="289" r:id="rId6"/>
    <p:sldId id="290" r:id="rId7"/>
    <p:sldId id="291" r:id="rId8"/>
    <p:sldId id="292" r:id="rId9"/>
    <p:sldId id="296" r:id="rId10"/>
    <p:sldId id="293" r:id="rId11"/>
    <p:sldId id="295" r:id="rId12"/>
    <p:sldId id="299" r:id="rId13"/>
    <p:sldId id="300" r:id="rId14"/>
    <p:sldId id="301" r:id="rId15"/>
    <p:sldId id="302" r:id="rId16"/>
    <p:sldId id="303" r:id="rId17"/>
    <p:sldId id="304" r:id="rId18"/>
    <p:sldId id="305" r:id="rId19"/>
    <p:sldId id="306" r:id="rId20"/>
    <p:sldId id="330" r:id="rId21"/>
    <p:sldId id="331" r:id="rId22"/>
    <p:sldId id="332" r:id="rId23"/>
    <p:sldId id="333" r:id="rId24"/>
    <p:sldId id="334" r:id="rId25"/>
    <p:sldId id="335" r:id="rId26"/>
    <p:sldId id="336" r:id="rId27"/>
    <p:sldId id="337" r:id="rId28"/>
    <p:sldId id="307" r:id="rId29"/>
    <p:sldId id="308" r:id="rId30"/>
    <p:sldId id="309" r:id="rId31"/>
    <p:sldId id="310" r:id="rId32"/>
    <p:sldId id="311" r:id="rId33"/>
    <p:sldId id="312" r:id="rId34"/>
    <p:sldId id="313" r:id="rId35"/>
    <p:sldId id="314" r:id="rId36"/>
    <p:sldId id="315" r:id="rId37"/>
    <p:sldId id="316" r:id="rId38"/>
    <p:sldId id="317" r:id="rId39"/>
    <p:sldId id="318" r:id="rId40"/>
    <p:sldId id="319" r:id="rId41"/>
    <p:sldId id="320" r:id="rId42"/>
    <p:sldId id="322" r:id="rId43"/>
    <p:sldId id="323" r:id="rId44"/>
    <p:sldId id="324" r:id="rId45"/>
    <p:sldId id="325" r:id="rId46"/>
    <p:sldId id="326" r:id="rId47"/>
    <p:sldId id="327" r:id="rId48"/>
    <p:sldId id="328" r:id="rId49"/>
    <p:sldId id="338" r:id="rId50"/>
    <p:sldId id="339" r:id="rId51"/>
    <p:sldId id="340" r:id="rId52"/>
    <p:sldId id="341" r:id="rId5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A8"/>
    <a:srgbClr val="006600"/>
    <a:srgbClr val="660066"/>
    <a:srgbClr val="339933"/>
    <a:srgbClr val="003366"/>
    <a:srgbClr val="CCFF66"/>
    <a:srgbClr val="CCFFCC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67" autoAdjust="0"/>
    <p:restoredTop sz="92398" autoAdjust="0"/>
  </p:normalViewPr>
  <p:slideViewPr>
    <p:cSldViewPr>
      <p:cViewPr varScale="1">
        <p:scale>
          <a:sx n="100" d="100"/>
          <a:sy n="100" d="100"/>
        </p:scale>
        <p:origin x="960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5420"/>
    </p:cViewPr>
  </p:sorterViewPr>
  <p:notesViewPr>
    <p:cSldViewPr>
      <p:cViewPr varScale="1">
        <p:scale>
          <a:sx n="86" d="100"/>
          <a:sy n="86" d="100"/>
        </p:scale>
        <p:origin x="-3894" y="-90"/>
      </p:cViewPr>
      <p:guideLst>
        <p:guide orient="horz" pos="2880"/>
        <p:guide pos="2160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theme" Target="theme/theme1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viewProps" Target="viewProp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4983CCC5-86F3-4930-B4DA-8136FE63C6C9}" type="datetimeFigureOut">
              <a:rPr lang="zh-CN" altLang="en-US"/>
              <a:pPr>
                <a:defRPr/>
              </a:pPr>
              <a:t>2024/9/3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B8D0EA48-5ED8-475C-824D-BCAD6F948D9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18032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785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48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785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785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85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0D649336-58DB-4A2C-A514-83F2AD1F4EA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8720701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，假定首选元素不是贪心选择所要的元素，证明将首元素替换成贪心选择所需元素，依然得到最优解；</a:t>
            </a:r>
            <a:br>
              <a:rPr lang="zh-CN" altLang="en-US" dirty="0"/>
            </a:br>
            <a:r>
              <a:rPr lang="en-US" altLang="zh-CN" dirty="0"/>
              <a:t>2</a:t>
            </a:r>
            <a:r>
              <a:rPr lang="zh-CN" altLang="en-US" dirty="0"/>
              <a:t>，数学归纳法证明每一步均可通过贪心选择得到最优解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649336-58DB-4A2C-A514-83F2AD1F4EA5}" type="slidenum">
              <a:rPr lang="zh-CN" altLang="en-US" smtClean="0"/>
              <a:pPr>
                <a:defRPr/>
              </a:pPr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052193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1</a:t>
            </a:r>
            <a:r>
              <a:rPr lang="zh-CN" altLang="en-US" dirty="0"/>
              <a:t>，假定首选元素不是贪心选择所要的元素，证明将首元素替换成贪心选择所需元素，依然得到最优解；</a:t>
            </a:r>
            <a:br>
              <a:rPr lang="zh-CN" altLang="en-US" dirty="0"/>
            </a:br>
            <a:r>
              <a:rPr lang="en-US" altLang="zh-CN" dirty="0"/>
              <a:t>2</a:t>
            </a:r>
            <a:r>
              <a:rPr lang="zh-CN" altLang="en-US"/>
              <a:t>，数学归纳法证明每一步均可通过贪心选择得到最优解</a:t>
            </a:r>
          </a:p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649336-58DB-4A2C-A514-83F2AD1F4EA5}" type="slidenum">
              <a:rPr lang="zh-CN" altLang="en-US" smtClean="0"/>
              <a:pPr>
                <a:defRPr/>
              </a:pPr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927257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4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2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 sz="2400">
                <a:latin typeface="Times New Roman" pitchFamily="18" charset="0"/>
              </a:endParaRPr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latin typeface="Times New Roman" pitchFamily="18" charset="0"/>
              </a:endParaRPr>
            </a:p>
          </p:txBody>
        </p:sp>
        <p:grpSp>
          <p:nvGrpSpPr>
            <p:cNvPr id="7" name="Group 22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7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</a:endParaRPr>
              </a:p>
            </p:txBody>
          </p:sp>
          <p:sp>
            <p:nvSpPr>
              <p:cNvPr id="9" name="Rectangle 8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</a:endParaRPr>
              </a:p>
            </p:txBody>
          </p:sp>
          <p:sp>
            <p:nvSpPr>
              <p:cNvPr id="10" name="Rectangle 9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</a:endParaRPr>
              </a:p>
            </p:txBody>
          </p:sp>
          <p:sp>
            <p:nvSpPr>
              <p:cNvPr id="11" name="Rectangle 10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</a:endParaRPr>
              </a:p>
            </p:txBody>
          </p:sp>
          <p:sp>
            <p:nvSpPr>
              <p:cNvPr id="12" name="Rectangle 11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</a:endParaRPr>
              </a:p>
            </p:txBody>
          </p:sp>
          <p:sp>
            <p:nvSpPr>
              <p:cNvPr id="13" name="Rectangle 12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</a:endParaRPr>
              </a:p>
            </p:txBody>
          </p:sp>
          <p:sp>
            <p:nvSpPr>
              <p:cNvPr id="14" name="Rectangle 13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</a:endParaRPr>
              </a:p>
            </p:txBody>
          </p:sp>
          <p:sp>
            <p:nvSpPr>
              <p:cNvPr id="15" name="Rectangle 14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</a:endParaRPr>
              </a:p>
            </p:txBody>
          </p:sp>
          <p:sp>
            <p:nvSpPr>
              <p:cNvPr id="16" name="Rectangle 15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</a:endParaRPr>
              </a:p>
            </p:txBody>
          </p:sp>
          <p:sp>
            <p:nvSpPr>
              <p:cNvPr id="17" name="Rectangle 16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pitchFamily="18" charset="0"/>
                </a:endParaRPr>
              </a:p>
            </p:txBody>
          </p:sp>
        </p:grpSp>
      </p:grpSp>
      <p:sp>
        <p:nvSpPr>
          <p:cNvPr id="39953" name="Rectangle 17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46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39954" name="Rectangle 18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0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8" name="Rectangle 3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" name="Rectangle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" name="Rectangle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2987675" y="6308725"/>
            <a:ext cx="2133600" cy="457200"/>
          </a:xfrm>
        </p:spPr>
        <p:txBody>
          <a:bodyPr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0AEB4698-B8DB-437D-A72F-79E963AC2888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09387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000" baseline="0">
                <a:solidFill>
                  <a:schemeClr val="tx1"/>
                </a:solidFill>
                <a:latin typeface="Arial" pitchFamily="34" charset="0"/>
                <a:ea typeface="黑体" pitchFamily="49" charset="-122"/>
              </a:defRPr>
            </a:lvl1pPr>
            <a:lvl2pPr>
              <a:defRPr sz="2600" baseline="0">
                <a:solidFill>
                  <a:srgbClr val="0000A8"/>
                </a:solidFill>
                <a:latin typeface="Arial" pitchFamily="34" charset="0"/>
                <a:ea typeface="黑体" pitchFamily="49" charset="-122"/>
              </a:defRPr>
            </a:lvl2pPr>
            <a:lvl3pPr>
              <a:defRPr sz="2300" baseline="0">
                <a:solidFill>
                  <a:schemeClr val="bg2"/>
                </a:solidFill>
                <a:latin typeface="Arial" pitchFamily="34" charset="0"/>
                <a:ea typeface="黑体" pitchFamily="49" charset="-122"/>
              </a:defRPr>
            </a:lvl3pPr>
            <a:lvl4pPr>
              <a:defRPr baseline="0">
                <a:solidFill>
                  <a:srgbClr val="C00000"/>
                </a:solidFill>
                <a:latin typeface="Arial" pitchFamily="34" charset="0"/>
                <a:ea typeface="黑体" pitchFamily="49" charset="-122"/>
              </a:defRPr>
            </a:lvl4pPr>
            <a:lvl5pPr>
              <a:defRPr baseline="0">
                <a:latin typeface="Arial" pitchFamily="34" charset="0"/>
                <a:ea typeface="黑体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E6C03A-3073-401C-B837-061925A82BB2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33205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1A1BF9-52A6-4013-A43A-751A8425BA20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3686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84313"/>
            <a:ext cx="4038600" cy="4752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84313"/>
            <a:ext cx="4038600" cy="4752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9F1A7D-1F63-4B89-8DC4-C738F58AF122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7" name="Rectangle 1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06120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3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EB48B2-4D1C-45B9-9848-D47D570717DE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9" name="Rectangle 1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74445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Rectangle 3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4D1EC4-2614-4F9E-A769-62D082C185DB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5" name="Rectangle 1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733741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32F55C-006F-4F76-95B1-5623E00EC138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4" name="Rectangle 1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4452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7911F1-6F5E-4B3B-92F6-002D744C979D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7" name="Rectangle 1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302826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F78AA7-693C-4FF7-83DC-7A426B683855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7" name="Rectangle 1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45943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76E1B8-0929-44C3-A2D6-F90DEC31D1DE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291913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78008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78008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D97344-BF8B-411A-8C37-5524D9E96C7D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64397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0636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SmartArt 占位符 2"/>
          <p:cNvSpPr>
            <a:spLocks noGrp="1"/>
          </p:cNvSpPr>
          <p:nvPr>
            <p:ph type="dgm" idx="1"/>
          </p:nvPr>
        </p:nvSpPr>
        <p:spPr>
          <a:xfrm>
            <a:off x="457200" y="1484313"/>
            <a:ext cx="8229600" cy="4752975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3E580A-F19A-465C-93C7-460F6608EF71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6" name="Rectangle 17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67741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1E090-A4F8-4FCA-A060-2F6DD3C03F81}" type="datetimeFigureOut">
              <a:rPr lang="zh-CN" altLang="en-US"/>
              <a:pPr>
                <a:defRPr/>
              </a:pPr>
              <a:t>2024/9/3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9D411C-4242-416B-8DE9-EB4039463D7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30298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8686EC-D099-4372-BDD9-829E58E9472F}" type="datetimeFigureOut">
              <a:rPr lang="zh-CN" altLang="en-US"/>
              <a:pPr>
                <a:defRPr/>
              </a:pPr>
              <a:t>2024/9/3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424DA9-208B-43E8-967B-080BBF2467D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08020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E7BAF2-1327-4969-A6F0-E2F0EB18D6A5}" type="datetimeFigureOut">
              <a:rPr lang="zh-CN" altLang="en-US"/>
              <a:pPr>
                <a:defRPr/>
              </a:pPr>
              <a:t>2024/9/3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8392BB-9F00-4281-8DF2-7539A32DE85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62789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4BFF3D-9272-4EA0-B621-809FFF106DC9}" type="datetimeFigureOut">
              <a:rPr lang="zh-CN" altLang="en-US"/>
              <a:pPr>
                <a:defRPr/>
              </a:pPr>
              <a:t>2024/9/3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00FED-3FCF-416E-A710-E1D08CCAF41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9975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281068-A6A7-40BA-AA51-9CE1E7FB103D}" type="datetimeFigureOut">
              <a:rPr lang="zh-CN" altLang="en-US"/>
              <a:pPr>
                <a:defRPr/>
              </a:pPr>
              <a:t>2024/9/3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E56E54-46E6-4D0E-BAB5-7C81DCF5D72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69242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4200B1-7CE9-4E03-974C-3D2C9CF08633}" type="datetimeFigureOut">
              <a:rPr lang="zh-CN" altLang="en-US"/>
              <a:pPr>
                <a:defRPr/>
              </a:pPr>
              <a:t>2024/9/3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A4B600-6BBE-4D9E-8827-53588239764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91935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1DD764-0E3E-4350-9825-04C34050A9A1}" type="datetimeFigureOut">
              <a:rPr lang="zh-CN" altLang="en-US"/>
              <a:pPr>
                <a:defRPr/>
              </a:pPr>
              <a:t>2024/9/3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65DF58-CD75-4FC7-9039-C4B424AD609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296316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E423E9-2F86-4BBB-A8E4-AED299374AA4}" type="datetimeFigureOut">
              <a:rPr lang="zh-CN" altLang="en-US"/>
              <a:pPr>
                <a:defRPr/>
              </a:pPr>
              <a:t>2024/9/3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2AABA0-EEF2-4F79-AF85-D1D2C5852D9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11377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B98C9A-BDE2-4BF5-8AEE-B1CB72B63FF3}" type="datetimeFigureOut">
              <a:rPr lang="zh-CN" altLang="en-US"/>
              <a:pPr>
                <a:defRPr/>
              </a:pPr>
              <a:t>2024/9/3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B76CE0-A9E1-4689-8D3E-1078A01564E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03598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C924B9-AC47-41FD-BB83-1E08B998B4C8}" type="datetimeFigureOut">
              <a:rPr lang="zh-CN" altLang="en-US"/>
              <a:pPr>
                <a:defRPr/>
              </a:pPr>
              <a:t>2024/9/3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E11340-A4AF-466A-9F84-BE901AABC08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360522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8C1FB0-0586-4020-80FA-AF0E6D23BE7F}" type="datetimeFigureOut">
              <a:rPr lang="zh-CN" altLang="en-US"/>
              <a:pPr>
                <a:defRPr/>
              </a:pPr>
              <a:t>2024/9/3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B4D320-C711-4AC7-B92C-5584F52B93F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0652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8916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696075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2000" b="1">
                <a:solidFill>
                  <a:srgbClr val="006600"/>
                </a:solidFill>
                <a:latin typeface="Courier New" pitchFamily="49" charset="0"/>
                <a:ea typeface="华文新魏" pitchFamily="2" charset="-122"/>
              </a:defRPr>
            </a:lvl1pPr>
          </a:lstStyle>
          <a:p>
            <a:pPr>
              <a:defRPr/>
            </a:pPr>
            <a:fld id="{5CCA33BB-C97C-478A-8B6B-6E2EDE14E7F6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grpSp>
        <p:nvGrpSpPr>
          <p:cNvPr id="1028" name="Group 35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 sz="2400">
                <a:latin typeface="Times New Roman" pitchFamily="18" charset="0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latin typeface="Times New Roman" pitchFamily="18" charset="0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hlink"/>
                </a:solidFill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hlink"/>
                </a:solidFill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hlink"/>
                </a:solidFill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latin typeface="Times New Roman" pitchFamily="18" charset="0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accent2"/>
                </a:solidFill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accent2"/>
                </a:solidFill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063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484313"/>
            <a:ext cx="8229600" cy="4752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8929" name="Rectangle 1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32" r:id="rId1"/>
    <p:sldLayoutId id="2147484310" r:id="rId2"/>
    <p:sldLayoutId id="2147484311" r:id="rId3"/>
    <p:sldLayoutId id="2147484312" r:id="rId4"/>
    <p:sldLayoutId id="2147484313" r:id="rId5"/>
    <p:sldLayoutId id="2147484314" r:id="rId6"/>
    <p:sldLayoutId id="2147484315" r:id="rId7"/>
    <p:sldLayoutId id="2147484316" r:id="rId8"/>
    <p:sldLayoutId id="2147484317" r:id="rId9"/>
    <p:sldLayoutId id="2147484318" r:id="rId10"/>
    <p:sldLayoutId id="2147484319" r:id="rId11"/>
    <p:sldLayoutId id="2147484320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CC0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CC0000"/>
          </a:solidFill>
          <a:latin typeface="Arial" charset="0"/>
          <a:ea typeface="隶书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CC0000"/>
          </a:solidFill>
          <a:latin typeface="Arial" charset="0"/>
          <a:ea typeface="隶书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CC0000"/>
          </a:solidFill>
          <a:latin typeface="Arial" charset="0"/>
          <a:ea typeface="隶书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CC0000"/>
          </a:solidFill>
          <a:latin typeface="Arial" charset="0"/>
          <a:ea typeface="隶书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000" b="1">
          <a:solidFill>
            <a:srgbClr val="CC0000"/>
          </a:solidFill>
          <a:latin typeface="Arial" charset="0"/>
          <a:ea typeface="隶书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000" b="1">
          <a:solidFill>
            <a:srgbClr val="CC0000"/>
          </a:solidFill>
          <a:latin typeface="Arial" charset="0"/>
          <a:ea typeface="隶书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000" b="1">
          <a:solidFill>
            <a:srgbClr val="CC0000"/>
          </a:solidFill>
          <a:latin typeface="Arial" charset="0"/>
          <a:ea typeface="隶书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000" b="1">
          <a:solidFill>
            <a:srgbClr val="CC0000"/>
          </a:solidFill>
          <a:latin typeface="Arial" charset="0"/>
          <a:ea typeface="隶书" pitchFamily="49" charset="-122"/>
        </a:defRPr>
      </a:lvl9pPr>
    </p:titleStyle>
    <p:bodyStyle>
      <a:lvl1pPr marL="342900" indent="-342900" algn="l" rtl="0" eaLnBrk="0" fontAlgn="base" hangingPunct="0">
        <a:lnSpc>
          <a:spcPct val="105000"/>
        </a:lnSpc>
        <a:spcBef>
          <a:spcPct val="15000"/>
        </a:spcBef>
        <a:spcAft>
          <a:spcPct val="0"/>
        </a:spcAft>
        <a:buClr>
          <a:srgbClr val="660066"/>
        </a:buClr>
        <a:buSzPct val="55000"/>
        <a:buFont typeface="Wingdings" pitchFamily="2" charset="2"/>
        <a:buChar char="n"/>
        <a:defRPr sz="2800" b="1">
          <a:solidFill>
            <a:schemeClr val="bg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105000"/>
        </a:lnSpc>
        <a:spcBef>
          <a:spcPct val="15000"/>
        </a:spcBef>
        <a:spcAft>
          <a:spcPct val="0"/>
        </a:spcAft>
        <a:buClr>
          <a:srgbClr val="006600"/>
        </a:buClr>
        <a:buSzPct val="55000"/>
        <a:buFont typeface="Wingdings" pitchFamily="2" charset="2"/>
        <a:buChar char="r"/>
        <a:defRPr sz="2800" b="1">
          <a:solidFill>
            <a:schemeClr val="bg2"/>
          </a:solidFill>
          <a:latin typeface="Times New Roman" pitchFamily="18" charset="0"/>
          <a:ea typeface="+mn-ea"/>
        </a:defRPr>
      </a:lvl2pPr>
      <a:lvl3pPr marL="1143000" indent="-228600" algn="l" rtl="0" eaLnBrk="0" fontAlgn="base" hangingPunct="0">
        <a:lnSpc>
          <a:spcPct val="105000"/>
        </a:lnSpc>
        <a:spcBef>
          <a:spcPct val="15000"/>
        </a:spcBef>
        <a:spcAft>
          <a:spcPct val="0"/>
        </a:spcAft>
        <a:buClr>
          <a:srgbClr val="FF0000"/>
        </a:buClr>
        <a:buSzPct val="65000"/>
        <a:buFont typeface="Wingdings" pitchFamily="2" charset="2"/>
        <a:buChar char="Ø"/>
        <a:defRPr sz="2800" b="1">
          <a:solidFill>
            <a:schemeClr val="bg2"/>
          </a:solidFill>
          <a:latin typeface="Times New Roman" pitchFamily="18" charset="0"/>
          <a:ea typeface="+mn-ea"/>
        </a:defRPr>
      </a:lvl3pPr>
      <a:lvl4pPr marL="1600200" indent="-228600" algn="l" rtl="0" eaLnBrk="0" fontAlgn="base" hangingPunct="0">
        <a:lnSpc>
          <a:spcPct val="105000"/>
        </a:lnSpc>
        <a:spcBef>
          <a:spcPct val="15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  <a:ea typeface="宋体" pitchFamily="2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宋体" pitchFamily="2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宋体" pitchFamily="2" charset="-122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宋体" pitchFamily="2" charset="-122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宋体" pitchFamily="2" charset="-122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1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fld id="{7BAF7AE8-7FB0-4406-90AB-6887A4CACEFE}" type="datetimeFigureOut">
              <a:rPr lang="zh-CN" altLang="en-US"/>
              <a:pPr>
                <a:defRPr/>
              </a:pPr>
              <a:t>2024/9/3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fld id="{0D8CD665-E0F7-4569-8194-B257B5EB731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21" r:id="rId1"/>
    <p:sldLayoutId id="2147484322" r:id="rId2"/>
    <p:sldLayoutId id="2147484323" r:id="rId3"/>
    <p:sldLayoutId id="2147484324" r:id="rId4"/>
    <p:sldLayoutId id="2147484325" r:id="rId5"/>
    <p:sldLayoutId id="2147484326" r:id="rId6"/>
    <p:sldLayoutId id="2147484327" r:id="rId7"/>
    <p:sldLayoutId id="2147484328" r:id="rId8"/>
    <p:sldLayoutId id="2147484329" r:id="rId9"/>
    <p:sldLayoutId id="2147484330" r:id="rId10"/>
    <p:sldLayoutId id="214748433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232025" y="4545013"/>
            <a:ext cx="6759575" cy="1474787"/>
          </a:xfrm>
        </p:spPr>
        <p:txBody>
          <a:bodyPr/>
          <a:lstStyle/>
          <a:p>
            <a:pPr algn="r" eaLnBrk="1" hangingPunct="1"/>
            <a:r>
              <a:rPr lang="zh-CN" altLang="en-US" sz="3600">
                <a:latin typeface="仿宋_GB2312" pitchFamily="49" charset="-122"/>
              </a:rPr>
              <a:t>东南大学计算机学院 方效林</a:t>
            </a:r>
            <a:endParaRPr lang="en-US" altLang="zh-CN" sz="3600">
              <a:latin typeface="仿宋_GB2312" pitchFamily="49" charset="-122"/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592388" y="1808163"/>
            <a:ext cx="6343650" cy="22098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5400" dirty="0">
                <a:latin typeface="+mj-ea"/>
              </a:rPr>
              <a:t>贪心算法</a:t>
            </a:r>
            <a:endParaRPr lang="en-US" altLang="zh-CN" sz="5400" dirty="0">
              <a:latin typeface="+mj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本章内容</a:t>
            </a:r>
          </a:p>
        </p:txBody>
      </p:sp>
      <p:sp>
        <p:nvSpPr>
          <p:cNvPr id="819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贪心算法要素</a:t>
            </a:r>
          </a:p>
          <a:p>
            <a:r>
              <a:rPr lang="zh-CN" altLang="zh-CN" dirty="0"/>
              <a:t>活动选择问题</a:t>
            </a:r>
          </a:p>
          <a:p>
            <a:r>
              <a:rPr lang="zh-CN" altLang="zh-CN" dirty="0"/>
              <a:t>哈夫曼编码问题</a:t>
            </a:r>
          </a:p>
          <a:p>
            <a:r>
              <a:rPr lang="zh-CN" altLang="zh-CN" dirty="0"/>
              <a:t>最小生成树问题</a:t>
            </a:r>
          </a:p>
          <a:p>
            <a:r>
              <a:rPr lang="zh-CN" altLang="zh-CN" dirty="0"/>
              <a:t>单源最短路径问题</a:t>
            </a:r>
            <a:endParaRPr lang="zh-CN" altLang="en-US" dirty="0">
              <a:latin typeface="Arial" charset="0"/>
              <a:ea typeface="黑体" pitchFamily="2" charset="-122"/>
            </a:endParaRPr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166F650B-5347-4F36-8304-1500CA3F90AB}" type="slidenum">
              <a:rPr lang="en-US" altLang="zh-CN" smtClean="0">
                <a:solidFill>
                  <a:srgbClr val="006600"/>
                </a:solidFill>
                <a:latin typeface="Courier New" pitchFamily="49" charset="0"/>
                <a:ea typeface="华文新魏" pitchFamily="2" charset="-122"/>
              </a:rPr>
              <a:pPr eaLnBrk="1" hangingPunct="1"/>
              <a:t>2</a:t>
            </a:fld>
            <a:endParaRPr lang="en-US" altLang="zh-CN">
              <a:solidFill>
                <a:srgbClr val="006600"/>
              </a:solidFill>
              <a:latin typeface="Courier New" pitchFamily="49" charset="0"/>
              <a:ea typeface="华文新魏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贪心算法要素</a:t>
            </a:r>
          </a:p>
        </p:txBody>
      </p:sp>
      <p:sp>
        <p:nvSpPr>
          <p:cNvPr id="819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贪心算法</a:t>
            </a:r>
            <a:r>
              <a:rPr lang="zh-CN" altLang="en-US" dirty="0"/>
              <a:t>的基本思想</a:t>
            </a:r>
            <a:endParaRPr lang="en-US" altLang="zh-CN" dirty="0">
              <a:latin typeface="Arial" charset="0"/>
              <a:ea typeface="黑体" pitchFamily="2" charset="-122"/>
            </a:endParaRPr>
          </a:p>
          <a:p>
            <a:pPr lvl="1"/>
            <a:r>
              <a:rPr lang="zh-CN" altLang="en-US" dirty="0">
                <a:latin typeface="Arial" charset="0"/>
                <a:ea typeface="黑体" pitchFamily="2" charset="-122"/>
              </a:rPr>
              <a:t>求解最优化问题的算法包含一系列步骤</a:t>
            </a:r>
            <a:endParaRPr lang="en-US" altLang="zh-CN" dirty="0">
              <a:latin typeface="Arial" charset="0"/>
              <a:ea typeface="黑体" pitchFamily="2" charset="-122"/>
            </a:endParaRPr>
          </a:p>
          <a:p>
            <a:pPr lvl="1"/>
            <a:r>
              <a:rPr lang="zh-CN" altLang="en-US" dirty="0">
                <a:latin typeface="Arial" charset="0"/>
                <a:ea typeface="黑体" pitchFamily="2" charset="-122"/>
              </a:rPr>
              <a:t>每一步都有一组选择</a:t>
            </a:r>
            <a:endParaRPr lang="en-US" altLang="zh-CN" dirty="0">
              <a:latin typeface="Arial" charset="0"/>
              <a:ea typeface="黑体" pitchFamily="2" charset="-122"/>
            </a:endParaRPr>
          </a:p>
          <a:p>
            <a:pPr lvl="1"/>
            <a:r>
              <a:rPr lang="zh-CN" altLang="en-US" dirty="0">
                <a:latin typeface="Arial" charset="0"/>
                <a:ea typeface="黑体" pitchFamily="2" charset="-122"/>
              </a:rPr>
              <a:t>作出在当前看来最好的选择</a:t>
            </a:r>
            <a:endParaRPr lang="en-US" altLang="zh-CN" dirty="0">
              <a:latin typeface="Arial" charset="0"/>
              <a:ea typeface="黑体" pitchFamily="2" charset="-122"/>
            </a:endParaRPr>
          </a:p>
          <a:p>
            <a:pPr lvl="1"/>
            <a:r>
              <a:rPr lang="zh-CN" altLang="en-US" dirty="0">
                <a:latin typeface="Arial" charset="0"/>
                <a:ea typeface="黑体" pitchFamily="2" charset="-122"/>
              </a:rPr>
              <a:t>希望通过作出局部最优选择达到全局最优选择</a:t>
            </a:r>
            <a:endParaRPr lang="en-US" altLang="zh-CN" dirty="0">
              <a:latin typeface="Arial" charset="0"/>
              <a:ea typeface="黑体" pitchFamily="2" charset="-122"/>
            </a:endParaRPr>
          </a:p>
          <a:p>
            <a:pPr lvl="1"/>
            <a:r>
              <a:rPr lang="zh-CN" altLang="en-US" dirty="0">
                <a:latin typeface="Arial" charset="0"/>
                <a:ea typeface="黑体" pitchFamily="2" charset="-122"/>
              </a:rPr>
              <a:t>贪心算法不一定总产生最优解</a:t>
            </a:r>
            <a:endParaRPr lang="en-US" altLang="zh-CN" dirty="0">
              <a:latin typeface="Arial" charset="0"/>
              <a:ea typeface="黑体" pitchFamily="2" charset="-122"/>
            </a:endParaRPr>
          </a:p>
          <a:p>
            <a:pPr lvl="1"/>
            <a:r>
              <a:rPr lang="zh-CN" altLang="en-US" dirty="0">
                <a:latin typeface="Arial" charset="0"/>
                <a:ea typeface="黑体" pitchFamily="2" charset="-122"/>
              </a:rPr>
              <a:t>贪心算法是否产生优化解，需严格证明</a:t>
            </a:r>
            <a:endParaRPr lang="en-US" altLang="zh-CN" dirty="0">
              <a:latin typeface="Arial" charset="0"/>
              <a:ea typeface="黑体" pitchFamily="2" charset="-122"/>
            </a:endParaRPr>
          </a:p>
          <a:p>
            <a:r>
              <a:rPr lang="zh-CN" altLang="en-US" dirty="0">
                <a:latin typeface="Arial" charset="0"/>
                <a:ea typeface="黑体" pitchFamily="2" charset="-122"/>
              </a:rPr>
              <a:t>贪心算法产生最优解的条件</a:t>
            </a:r>
            <a:endParaRPr lang="en-US" altLang="zh-CN" dirty="0">
              <a:latin typeface="Arial" charset="0"/>
              <a:ea typeface="黑体" pitchFamily="2" charset="-122"/>
            </a:endParaRPr>
          </a:p>
          <a:p>
            <a:pPr lvl="1"/>
            <a:r>
              <a:rPr lang="zh-CN" altLang="en-US" dirty="0">
                <a:latin typeface="Arial" charset="0"/>
                <a:ea typeface="黑体" pitchFamily="2" charset="-122"/>
              </a:rPr>
              <a:t>最优子结构</a:t>
            </a:r>
            <a:endParaRPr lang="en-US" altLang="zh-CN" dirty="0">
              <a:latin typeface="Arial" charset="0"/>
              <a:ea typeface="黑体" pitchFamily="2" charset="-122"/>
            </a:endParaRPr>
          </a:p>
          <a:p>
            <a:pPr lvl="1" algn="just">
              <a:lnSpc>
                <a:spcPct val="80000"/>
              </a:lnSpc>
            </a:pPr>
            <a:r>
              <a:rPr lang="zh-CN" altLang="en-US" dirty="0">
                <a:latin typeface="Arial" charset="0"/>
                <a:ea typeface="黑体" pitchFamily="2" charset="-122"/>
              </a:rPr>
              <a:t>贪心选择性</a:t>
            </a:r>
            <a:endParaRPr lang="zh-CN" altLang="zh-CN" dirty="0">
              <a:latin typeface="Arial" charset="0"/>
              <a:ea typeface="黑体" pitchFamily="2" charset="-122"/>
            </a:endParaRPr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166F650B-5347-4F36-8304-1500CA3F90AB}" type="slidenum">
              <a:rPr lang="en-US" altLang="zh-CN" smtClean="0">
                <a:solidFill>
                  <a:srgbClr val="006600"/>
                </a:solidFill>
                <a:latin typeface="Courier New" pitchFamily="49" charset="0"/>
                <a:ea typeface="华文新魏" pitchFamily="2" charset="-122"/>
              </a:rPr>
              <a:pPr eaLnBrk="1" hangingPunct="1"/>
              <a:t>3</a:t>
            </a:fld>
            <a:endParaRPr lang="en-US" altLang="zh-CN">
              <a:solidFill>
                <a:srgbClr val="006600"/>
              </a:solidFill>
              <a:latin typeface="Courier New" pitchFamily="49" charset="0"/>
              <a:ea typeface="华文新魏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955508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贪心算法要素</a:t>
            </a:r>
          </a:p>
        </p:txBody>
      </p:sp>
      <p:sp>
        <p:nvSpPr>
          <p:cNvPr id="819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Arial" charset="0"/>
                <a:ea typeface="黑体" pitchFamily="2" charset="-122"/>
              </a:rPr>
              <a:t>最优子结构</a:t>
            </a:r>
            <a:endParaRPr lang="en-US" altLang="zh-CN" dirty="0">
              <a:latin typeface="Arial" charset="0"/>
              <a:ea typeface="黑体" pitchFamily="2" charset="-122"/>
            </a:endParaRPr>
          </a:p>
          <a:p>
            <a:pPr lvl="1"/>
            <a:r>
              <a:rPr lang="zh-CN" altLang="en-US" dirty="0"/>
              <a:t>当一个问题的最优解包含子问题的最优解时，称这个问题具有最优子结构</a:t>
            </a:r>
            <a:endParaRPr lang="en-US" altLang="zh-CN" dirty="0"/>
          </a:p>
          <a:p>
            <a:r>
              <a:rPr lang="zh-CN" altLang="en-US" dirty="0">
                <a:latin typeface="Arial" charset="0"/>
                <a:ea typeface="黑体" pitchFamily="2" charset="-122"/>
              </a:rPr>
              <a:t>贪心选择性</a:t>
            </a:r>
            <a:endParaRPr lang="en-US" altLang="zh-CN" dirty="0">
              <a:latin typeface="Arial" charset="0"/>
              <a:ea typeface="黑体" pitchFamily="2" charset="-122"/>
            </a:endParaRPr>
          </a:p>
          <a:p>
            <a:pPr lvl="1"/>
            <a:r>
              <a:rPr lang="zh-CN" altLang="en-US" dirty="0">
                <a:latin typeface="Arial" charset="0"/>
                <a:ea typeface="黑体" pitchFamily="2" charset="-122"/>
              </a:rPr>
              <a:t>当一个问题的全局最优解可以通过局部最优解得到，称这个问题具有贪心选择性</a:t>
            </a:r>
            <a:endParaRPr lang="en-US" altLang="zh-CN" dirty="0">
              <a:latin typeface="Arial" charset="0"/>
              <a:ea typeface="黑体" pitchFamily="2" charset="-122"/>
            </a:endParaRPr>
          </a:p>
          <a:p>
            <a:pPr lvl="1"/>
            <a:r>
              <a:rPr lang="zh-CN" altLang="en-US" dirty="0"/>
              <a:t>证明思路：</a:t>
            </a:r>
            <a:endParaRPr lang="en-US" altLang="zh-CN" dirty="0"/>
          </a:p>
          <a:p>
            <a:pPr lvl="2"/>
            <a:r>
              <a:rPr lang="zh-CN" altLang="en-US" dirty="0"/>
              <a:t>假定首选元素不是贪心选择所要的元素，证明将首元素替换成贪心选择所需元素，依然得到最优解</a:t>
            </a:r>
            <a:endParaRPr lang="en-US" altLang="zh-CN" dirty="0"/>
          </a:p>
          <a:p>
            <a:pPr lvl="2"/>
            <a:r>
              <a:rPr lang="zh-CN" altLang="en-US" dirty="0"/>
              <a:t>数学归纳法证明每一步均可通过贪心选择得到最优解</a:t>
            </a:r>
            <a:endParaRPr lang="zh-CN" altLang="zh-CN" dirty="0">
              <a:latin typeface="Arial" charset="0"/>
              <a:ea typeface="黑体" pitchFamily="2" charset="-122"/>
            </a:endParaRPr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166F650B-5347-4F36-8304-1500CA3F90AB}" type="slidenum">
              <a:rPr lang="en-US" altLang="zh-CN" smtClean="0">
                <a:solidFill>
                  <a:srgbClr val="006600"/>
                </a:solidFill>
                <a:latin typeface="Courier New" pitchFamily="49" charset="0"/>
                <a:ea typeface="华文新魏" pitchFamily="2" charset="-122"/>
              </a:rPr>
              <a:pPr eaLnBrk="1" hangingPunct="1"/>
              <a:t>4</a:t>
            </a:fld>
            <a:endParaRPr lang="en-US" altLang="zh-CN">
              <a:solidFill>
                <a:srgbClr val="006600"/>
              </a:solidFill>
              <a:latin typeface="Courier New" pitchFamily="49" charset="0"/>
              <a:ea typeface="华文新魏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53562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贪心算法要素</a:t>
            </a:r>
          </a:p>
        </p:txBody>
      </p:sp>
      <p:sp>
        <p:nvSpPr>
          <p:cNvPr id="819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Arial" charset="0"/>
                <a:ea typeface="黑体" pitchFamily="2" charset="-122"/>
              </a:rPr>
              <a:t>动态规划方法可用的条件</a:t>
            </a:r>
            <a:endParaRPr lang="en-US" altLang="zh-CN" dirty="0">
              <a:latin typeface="Arial" charset="0"/>
              <a:ea typeface="黑体" pitchFamily="2" charset="-122"/>
            </a:endParaRPr>
          </a:p>
          <a:p>
            <a:pPr lvl="1"/>
            <a:r>
              <a:rPr lang="zh-CN" altLang="en-US" dirty="0">
                <a:latin typeface="Arial" charset="0"/>
                <a:ea typeface="黑体" pitchFamily="2" charset="-122"/>
              </a:rPr>
              <a:t>最优子结构</a:t>
            </a:r>
            <a:endParaRPr lang="en-US" altLang="zh-CN" dirty="0">
              <a:latin typeface="Arial" charset="0"/>
              <a:ea typeface="黑体" pitchFamily="2" charset="-122"/>
            </a:endParaRPr>
          </a:p>
          <a:p>
            <a:pPr lvl="1"/>
            <a:r>
              <a:rPr lang="zh-CN" altLang="en-US" dirty="0">
                <a:latin typeface="Arial" charset="0"/>
                <a:ea typeface="黑体" pitchFamily="2" charset="-122"/>
              </a:rPr>
              <a:t>子问题重叠性</a:t>
            </a:r>
            <a:endParaRPr lang="en-US" altLang="zh-CN" dirty="0">
              <a:latin typeface="Arial" charset="0"/>
              <a:ea typeface="黑体" pitchFamily="2" charset="-122"/>
            </a:endParaRPr>
          </a:p>
          <a:p>
            <a:r>
              <a:rPr lang="zh-CN" altLang="en-US" dirty="0">
                <a:latin typeface="Arial" charset="0"/>
                <a:ea typeface="黑体" pitchFamily="2" charset="-122"/>
              </a:rPr>
              <a:t>贪心算法产生最优解的条件</a:t>
            </a:r>
            <a:endParaRPr lang="en-US" altLang="zh-CN" dirty="0">
              <a:latin typeface="Arial" charset="0"/>
              <a:ea typeface="黑体" pitchFamily="2" charset="-122"/>
            </a:endParaRPr>
          </a:p>
          <a:p>
            <a:pPr lvl="1"/>
            <a:r>
              <a:rPr lang="zh-CN" altLang="en-US" dirty="0">
                <a:latin typeface="Arial" charset="0"/>
                <a:ea typeface="黑体" pitchFamily="2" charset="-122"/>
              </a:rPr>
              <a:t>最优子结构</a:t>
            </a:r>
            <a:endParaRPr lang="en-US" altLang="zh-CN" dirty="0">
              <a:latin typeface="Arial" charset="0"/>
              <a:ea typeface="黑体" pitchFamily="2" charset="-122"/>
            </a:endParaRPr>
          </a:p>
          <a:p>
            <a:pPr lvl="1" algn="just">
              <a:lnSpc>
                <a:spcPct val="80000"/>
              </a:lnSpc>
            </a:pPr>
            <a:r>
              <a:rPr lang="zh-CN" altLang="en-US" dirty="0">
                <a:latin typeface="Arial" charset="0"/>
                <a:ea typeface="黑体" pitchFamily="2" charset="-122"/>
              </a:rPr>
              <a:t>贪心选择性</a:t>
            </a:r>
            <a:endParaRPr lang="en-US" altLang="zh-CN" dirty="0">
              <a:latin typeface="Arial" charset="0"/>
              <a:ea typeface="黑体" pitchFamily="2" charset="-122"/>
            </a:endParaRPr>
          </a:p>
          <a:p>
            <a:r>
              <a:rPr lang="zh-CN" altLang="en-US" dirty="0">
                <a:latin typeface="Arial" charset="0"/>
                <a:ea typeface="黑体" pitchFamily="2" charset="-122"/>
              </a:rPr>
              <a:t>适用贪心算法时，动态规划可能不适用</a:t>
            </a:r>
            <a:endParaRPr lang="en-US" altLang="zh-CN" dirty="0">
              <a:latin typeface="Arial" charset="0"/>
              <a:ea typeface="黑体" pitchFamily="2" charset="-122"/>
            </a:endParaRPr>
          </a:p>
          <a:p>
            <a:r>
              <a:rPr lang="zh-CN" altLang="en-US" dirty="0">
                <a:latin typeface="Arial" charset="0"/>
                <a:ea typeface="黑体" pitchFamily="2" charset="-122"/>
              </a:rPr>
              <a:t>适用动态规划时，贪心算法可能不适用</a:t>
            </a:r>
            <a:endParaRPr lang="en-US" altLang="zh-CN" dirty="0">
              <a:latin typeface="Arial" charset="0"/>
              <a:ea typeface="黑体" pitchFamily="2" charset="-122"/>
            </a:endParaRPr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166F650B-5347-4F36-8304-1500CA3F90AB}" type="slidenum">
              <a:rPr lang="en-US" altLang="zh-CN" smtClean="0">
                <a:solidFill>
                  <a:srgbClr val="006600"/>
                </a:solidFill>
                <a:latin typeface="Courier New" pitchFamily="49" charset="0"/>
                <a:ea typeface="华文新魏" pitchFamily="2" charset="-122"/>
              </a:rPr>
              <a:pPr eaLnBrk="1" hangingPunct="1"/>
              <a:t>5</a:t>
            </a:fld>
            <a:endParaRPr lang="en-US" altLang="zh-CN">
              <a:solidFill>
                <a:srgbClr val="006600"/>
              </a:solidFill>
              <a:latin typeface="Courier New" pitchFamily="49" charset="0"/>
              <a:ea typeface="华文新魏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504243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活动选择问题</a:t>
            </a:r>
          </a:p>
        </p:txBody>
      </p:sp>
      <p:sp>
        <p:nvSpPr>
          <p:cNvPr id="819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Arial" charset="0"/>
                <a:ea typeface="黑体" pitchFamily="2" charset="-122"/>
              </a:rPr>
              <a:t>活动</a:t>
            </a:r>
            <a:endParaRPr lang="en-US" altLang="zh-CN" dirty="0">
              <a:latin typeface="Arial" charset="0"/>
              <a:ea typeface="黑体" pitchFamily="2" charset="-122"/>
            </a:endParaRPr>
          </a:p>
          <a:p>
            <a:pPr lvl="1"/>
            <a:r>
              <a:rPr kumimoji="1" lang="en-US" altLang="zh-CN" dirty="0">
                <a:latin typeface="+mj-lt"/>
              </a:rPr>
              <a:t>S={1,2,…,n}</a:t>
            </a:r>
            <a:r>
              <a:rPr kumimoji="1" lang="zh-CN" altLang="en-US" dirty="0">
                <a:latin typeface="+mj-lt"/>
              </a:rPr>
              <a:t>是</a:t>
            </a:r>
            <a:r>
              <a:rPr kumimoji="1" lang="en-US" altLang="zh-CN" dirty="0">
                <a:latin typeface="+mj-lt"/>
              </a:rPr>
              <a:t>n</a:t>
            </a:r>
            <a:r>
              <a:rPr kumimoji="1" lang="zh-CN" altLang="en-US" dirty="0">
                <a:latin typeface="+mj-lt"/>
              </a:rPr>
              <a:t>个活动的集合，活动共用同一资源，同一时间只有一个活动使用。活动 </a:t>
            </a:r>
            <a:r>
              <a:rPr kumimoji="1" lang="en-US" altLang="zh-CN" dirty="0"/>
              <a:t>i</a:t>
            </a:r>
            <a:r>
              <a:rPr kumimoji="1" lang="zh-CN" altLang="en-US" dirty="0">
                <a:latin typeface="+mj-lt"/>
              </a:rPr>
              <a:t>有起始时间 </a:t>
            </a:r>
            <a:r>
              <a:rPr kumimoji="1" lang="en-US" altLang="zh-CN" dirty="0" err="1">
                <a:latin typeface="+mj-lt"/>
              </a:rPr>
              <a:t>s</a:t>
            </a:r>
            <a:r>
              <a:rPr kumimoji="1" lang="en-US" altLang="zh-CN" baseline="-30000" dirty="0" err="1">
                <a:latin typeface="+mj-lt"/>
              </a:rPr>
              <a:t>i</a:t>
            </a:r>
            <a:r>
              <a:rPr kumimoji="1" lang="en-US" altLang="zh-CN" dirty="0">
                <a:latin typeface="+mj-lt"/>
              </a:rPr>
              <a:t>，</a:t>
            </a:r>
            <a:r>
              <a:rPr kumimoji="1" lang="zh-CN" altLang="en-US" dirty="0">
                <a:latin typeface="+mj-lt"/>
              </a:rPr>
              <a:t>终止时间 </a:t>
            </a:r>
            <a:r>
              <a:rPr kumimoji="1" lang="en-US" altLang="zh-CN" dirty="0" err="1">
                <a:latin typeface="+mj-lt"/>
              </a:rPr>
              <a:t>f</a:t>
            </a:r>
            <a:r>
              <a:rPr kumimoji="1" lang="en-US" altLang="zh-CN" baseline="-30000" dirty="0" err="1">
                <a:latin typeface="+mj-lt"/>
              </a:rPr>
              <a:t>i</a:t>
            </a:r>
            <a:r>
              <a:rPr kumimoji="1" lang="en-US" altLang="zh-CN" dirty="0" err="1">
                <a:latin typeface="+mj-lt"/>
              </a:rPr>
              <a:t>，s</a:t>
            </a:r>
            <a:r>
              <a:rPr kumimoji="1" lang="en-US" altLang="zh-CN" baseline="-30000" dirty="0" err="1">
                <a:latin typeface="+mj-lt"/>
              </a:rPr>
              <a:t>i</a:t>
            </a:r>
            <a:r>
              <a:rPr kumimoji="1" lang="en-US" altLang="zh-CN" dirty="0">
                <a:latin typeface="+mj-lt"/>
                <a:sym typeface="Symbol" pitchFamily="18" charset="2"/>
              </a:rPr>
              <a:t></a:t>
            </a:r>
            <a:r>
              <a:rPr kumimoji="1" lang="en-US" altLang="zh-CN" dirty="0">
                <a:latin typeface="+mj-lt"/>
              </a:rPr>
              <a:t> f</a:t>
            </a:r>
            <a:r>
              <a:rPr kumimoji="1" lang="en-US" altLang="zh-CN" baseline="-30000" dirty="0">
                <a:latin typeface="+mj-lt"/>
              </a:rPr>
              <a:t>i</a:t>
            </a:r>
            <a:r>
              <a:rPr kumimoji="1" lang="zh-CN" altLang="en-US" dirty="0"/>
              <a:t>，表示为</a:t>
            </a:r>
            <a:r>
              <a:rPr kumimoji="1" lang="en-US" altLang="zh-CN" dirty="0"/>
              <a:t>x</a:t>
            </a:r>
            <a:r>
              <a:rPr lang="en-US" altLang="zh-CN" baseline="-30000" dirty="0"/>
              <a:t>i</a:t>
            </a:r>
            <a:r>
              <a:rPr lang="en-US" altLang="zh-CN" dirty="0"/>
              <a:t>=[</a:t>
            </a:r>
            <a:r>
              <a:rPr lang="en-US" altLang="zh-CN" dirty="0" err="1"/>
              <a:t>s</a:t>
            </a:r>
            <a:r>
              <a:rPr lang="en-US" altLang="zh-CN" baseline="-30000" dirty="0" err="1"/>
              <a:t>i，</a:t>
            </a:r>
            <a:r>
              <a:rPr lang="en-US" altLang="zh-CN" dirty="0" err="1"/>
              <a:t>f</a:t>
            </a:r>
            <a:r>
              <a:rPr lang="en-US" altLang="zh-CN" baseline="-30000" dirty="0" err="1"/>
              <a:t>i</a:t>
            </a:r>
            <a:r>
              <a:rPr lang="en-US" altLang="zh-CN" dirty="0"/>
              <a:t>] </a:t>
            </a:r>
            <a:endParaRPr kumimoji="1" lang="en-US" altLang="zh-CN" baseline="-30000" dirty="0">
              <a:latin typeface="+mj-lt"/>
            </a:endParaRPr>
          </a:p>
          <a:p>
            <a:r>
              <a:rPr lang="zh-CN" altLang="en-US" dirty="0">
                <a:latin typeface="Arial" charset="0"/>
                <a:ea typeface="黑体" pitchFamily="2" charset="-122"/>
              </a:rPr>
              <a:t>相容活动</a:t>
            </a:r>
            <a:endParaRPr lang="en-US" altLang="zh-CN" dirty="0">
              <a:latin typeface="Arial" charset="0"/>
              <a:ea typeface="黑体" pitchFamily="2" charset="-122"/>
            </a:endParaRPr>
          </a:p>
          <a:p>
            <a:pPr lvl="1"/>
            <a:r>
              <a:rPr kumimoji="1" lang="zh-CN" altLang="en-US" sz="2800" dirty="0">
                <a:latin typeface="+mj-lt"/>
              </a:rPr>
              <a:t>活动</a:t>
            </a:r>
            <a:r>
              <a:rPr kumimoji="1" lang="en-US" altLang="zh-CN" sz="2800" dirty="0">
                <a:latin typeface="+mj-lt"/>
              </a:rPr>
              <a:t>i</a:t>
            </a:r>
            <a:r>
              <a:rPr kumimoji="1" lang="zh-CN" altLang="en-US" sz="2800" dirty="0">
                <a:latin typeface="+mj-lt"/>
              </a:rPr>
              <a:t>和</a:t>
            </a:r>
            <a:r>
              <a:rPr kumimoji="1" lang="en-US" altLang="zh-CN" sz="2800" dirty="0">
                <a:latin typeface="+mj-lt"/>
              </a:rPr>
              <a:t>j</a:t>
            </a:r>
            <a:r>
              <a:rPr kumimoji="1" lang="zh-CN" altLang="en-US" sz="2800" dirty="0">
                <a:latin typeface="+mj-lt"/>
              </a:rPr>
              <a:t>是相容的，若 </a:t>
            </a:r>
            <a:r>
              <a:rPr kumimoji="1" lang="en-US" altLang="zh-CN" sz="2800" dirty="0" err="1">
                <a:latin typeface="+mj-lt"/>
              </a:rPr>
              <a:t>s</a:t>
            </a:r>
            <a:r>
              <a:rPr kumimoji="1" lang="en-US" altLang="zh-CN" sz="2800" baseline="-30000" dirty="0" err="1">
                <a:latin typeface="+mj-lt"/>
              </a:rPr>
              <a:t>j</a:t>
            </a:r>
            <a:r>
              <a:rPr kumimoji="1" lang="en-US" altLang="zh-CN" sz="2800" dirty="0" err="1">
                <a:latin typeface="+mj-lt"/>
                <a:sym typeface="Symbol" pitchFamily="18" charset="2"/>
              </a:rPr>
              <a:t></a:t>
            </a:r>
            <a:r>
              <a:rPr kumimoji="1" lang="en-US" altLang="zh-CN" sz="2800" dirty="0" err="1">
                <a:latin typeface="+mj-lt"/>
              </a:rPr>
              <a:t>f</a:t>
            </a:r>
            <a:r>
              <a:rPr kumimoji="1" lang="en-US" altLang="zh-CN" sz="2800" baseline="-30000" dirty="0" err="1">
                <a:latin typeface="+mj-lt"/>
              </a:rPr>
              <a:t>i</a:t>
            </a:r>
            <a:r>
              <a:rPr kumimoji="1" lang="en-US" altLang="zh-CN" sz="2800" baseline="-30000" dirty="0">
                <a:latin typeface="+mj-lt"/>
              </a:rPr>
              <a:t> </a:t>
            </a:r>
            <a:r>
              <a:rPr kumimoji="1" lang="zh-CN" altLang="en-US" sz="2800" dirty="0">
                <a:latin typeface="+mj-lt"/>
              </a:rPr>
              <a:t>或 </a:t>
            </a:r>
            <a:r>
              <a:rPr kumimoji="1" lang="en-US" altLang="zh-CN" sz="2800" dirty="0" err="1">
                <a:latin typeface="+mj-lt"/>
              </a:rPr>
              <a:t>s</a:t>
            </a:r>
            <a:r>
              <a:rPr kumimoji="1" lang="en-US" altLang="zh-CN" sz="2800" baseline="-30000" dirty="0" err="1">
                <a:latin typeface="+mj-lt"/>
              </a:rPr>
              <a:t>i</a:t>
            </a:r>
            <a:r>
              <a:rPr kumimoji="1" lang="en-US" altLang="zh-CN" sz="2800" dirty="0" err="1">
                <a:latin typeface="+mj-lt"/>
                <a:sym typeface="Symbol" pitchFamily="18" charset="2"/>
              </a:rPr>
              <a:t></a:t>
            </a:r>
            <a:r>
              <a:rPr kumimoji="1" lang="en-US" altLang="zh-CN" sz="2800" dirty="0" err="1">
                <a:latin typeface="+mj-lt"/>
              </a:rPr>
              <a:t>f</a:t>
            </a:r>
            <a:r>
              <a:rPr kumimoji="1" lang="en-US" altLang="zh-CN" sz="2800" baseline="-30000" dirty="0" err="1">
                <a:latin typeface="+mj-lt"/>
              </a:rPr>
              <a:t>j</a:t>
            </a:r>
            <a:endParaRPr lang="en-US" altLang="zh-CN" dirty="0">
              <a:latin typeface="+mj-lt"/>
            </a:endParaRPr>
          </a:p>
          <a:p>
            <a:endParaRPr lang="en-US" altLang="zh-CN" dirty="0">
              <a:latin typeface="+mj-lt"/>
            </a:endParaRPr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166F650B-5347-4F36-8304-1500CA3F90AB}" type="slidenum">
              <a:rPr lang="en-US" altLang="zh-CN" smtClean="0">
                <a:solidFill>
                  <a:srgbClr val="006600"/>
                </a:solidFill>
                <a:latin typeface="Courier New" pitchFamily="49" charset="0"/>
                <a:ea typeface="华文新魏" pitchFamily="2" charset="-122"/>
              </a:rPr>
              <a:pPr eaLnBrk="1" hangingPunct="1"/>
              <a:t>6</a:t>
            </a:fld>
            <a:endParaRPr lang="en-US" altLang="zh-CN">
              <a:solidFill>
                <a:srgbClr val="006600"/>
              </a:solidFill>
              <a:latin typeface="Courier New" pitchFamily="49" charset="0"/>
              <a:ea typeface="华文新魏" pitchFamily="2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073151" y="4470121"/>
            <a:ext cx="6985000" cy="868819"/>
            <a:chOff x="1614488" y="5085184"/>
            <a:chExt cx="6985000" cy="868819"/>
          </a:xfrm>
        </p:grpSpPr>
        <p:sp>
          <p:nvSpPr>
            <p:cNvPr id="12" name="Line 52"/>
            <p:cNvSpPr>
              <a:spLocks noChangeShapeType="1"/>
            </p:cNvSpPr>
            <p:nvPr/>
          </p:nvSpPr>
          <p:spPr bwMode="auto">
            <a:xfrm>
              <a:off x="1614488" y="5491163"/>
              <a:ext cx="6985000" cy="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3" name="Line 53"/>
            <p:cNvSpPr>
              <a:spLocks noChangeShapeType="1"/>
            </p:cNvSpPr>
            <p:nvPr/>
          </p:nvSpPr>
          <p:spPr bwMode="auto">
            <a:xfrm>
              <a:off x="2838451" y="5121188"/>
              <a:ext cx="0" cy="358775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4" name="Line 54"/>
            <p:cNvSpPr>
              <a:spLocks noChangeShapeType="1"/>
            </p:cNvSpPr>
            <p:nvPr/>
          </p:nvSpPr>
          <p:spPr bwMode="auto">
            <a:xfrm>
              <a:off x="4349751" y="5121188"/>
              <a:ext cx="0" cy="358775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" name="Line 55"/>
            <p:cNvSpPr>
              <a:spLocks noChangeShapeType="1"/>
            </p:cNvSpPr>
            <p:nvPr/>
          </p:nvSpPr>
          <p:spPr bwMode="auto">
            <a:xfrm>
              <a:off x="5718176" y="5121188"/>
              <a:ext cx="0" cy="358775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6" name="Line 56"/>
            <p:cNvSpPr>
              <a:spLocks noChangeShapeType="1"/>
            </p:cNvSpPr>
            <p:nvPr/>
          </p:nvSpPr>
          <p:spPr bwMode="auto">
            <a:xfrm>
              <a:off x="7086601" y="5121188"/>
              <a:ext cx="0" cy="358775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8" name="Text Box 58"/>
            <p:cNvSpPr txBox="1">
              <a:spLocks noChangeArrowheads="1"/>
            </p:cNvSpPr>
            <p:nvPr/>
          </p:nvSpPr>
          <p:spPr bwMode="auto">
            <a:xfrm>
              <a:off x="2622551" y="5400005"/>
              <a:ext cx="404278" cy="5539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3000" b="1" i="1" dirty="0" err="1">
                  <a:latin typeface="Times New Roman" pitchFamily="18" charset="0"/>
                </a:rPr>
                <a:t>s</a:t>
              </a:r>
              <a:r>
                <a:rPr lang="en-US" altLang="zh-CN" sz="3000" b="1" i="1" baseline="-25000" dirty="0" err="1">
                  <a:latin typeface="Times New Roman" pitchFamily="18" charset="0"/>
                </a:rPr>
                <a:t>i</a:t>
              </a:r>
              <a:endParaRPr lang="en-US" altLang="zh-CN" sz="3000" b="1" i="1" baseline="-25000" dirty="0">
                <a:latin typeface="Times New Roman" pitchFamily="18" charset="0"/>
              </a:endParaRPr>
            </a:p>
          </p:txBody>
        </p:sp>
        <p:sp>
          <p:nvSpPr>
            <p:cNvPr id="9" name="Text Box 59"/>
            <p:cNvSpPr txBox="1">
              <a:spLocks noChangeArrowheads="1"/>
            </p:cNvSpPr>
            <p:nvPr/>
          </p:nvSpPr>
          <p:spPr bwMode="auto">
            <a:xfrm>
              <a:off x="4184651" y="5400005"/>
              <a:ext cx="381000" cy="549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3000" b="1" i="1">
                  <a:latin typeface="Times New Roman" pitchFamily="18" charset="0"/>
                </a:rPr>
                <a:t>f</a:t>
              </a:r>
              <a:r>
                <a:rPr lang="en-US" altLang="zh-CN" sz="3000" b="1" i="1" baseline="-25000">
                  <a:latin typeface="Times New Roman" pitchFamily="18" charset="0"/>
                </a:rPr>
                <a:t>i</a:t>
              </a:r>
            </a:p>
          </p:txBody>
        </p:sp>
        <p:sp>
          <p:nvSpPr>
            <p:cNvPr id="10" name="Text Box 60"/>
            <p:cNvSpPr txBox="1">
              <a:spLocks noChangeArrowheads="1"/>
            </p:cNvSpPr>
            <p:nvPr/>
          </p:nvSpPr>
          <p:spPr bwMode="auto">
            <a:xfrm>
              <a:off x="5541963" y="5400005"/>
              <a:ext cx="404278" cy="5539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3000" b="1" i="1" dirty="0" err="1">
                  <a:latin typeface="Times New Roman" pitchFamily="18" charset="0"/>
                </a:rPr>
                <a:t>s</a:t>
              </a:r>
              <a:r>
                <a:rPr lang="en-US" altLang="zh-CN" sz="3000" b="1" i="1" baseline="-25000" dirty="0" err="1">
                  <a:latin typeface="Times New Roman" pitchFamily="18" charset="0"/>
                </a:rPr>
                <a:t>j</a:t>
              </a:r>
              <a:endParaRPr lang="en-US" altLang="zh-CN" sz="3000" b="1" i="1" baseline="-25000" dirty="0">
                <a:latin typeface="Times New Roman" pitchFamily="18" charset="0"/>
              </a:endParaRPr>
            </a:p>
          </p:txBody>
        </p:sp>
        <p:sp>
          <p:nvSpPr>
            <p:cNvPr id="11" name="Text Box 61"/>
            <p:cNvSpPr txBox="1">
              <a:spLocks noChangeArrowheads="1"/>
            </p:cNvSpPr>
            <p:nvPr/>
          </p:nvSpPr>
          <p:spPr bwMode="auto">
            <a:xfrm>
              <a:off x="6994526" y="5400005"/>
              <a:ext cx="383438" cy="5539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3000" b="1" i="1" dirty="0" err="1">
                  <a:latin typeface="Times New Roman" pitchFamily="18" charset="0"/>
                </a:rPr>
                <a:t>f</a:t>
              </a:r>
              <a:r>
                <a:rPr lang="en-US" altLang="zh-CN" sz="3000" b="1" i="1" baseline="-25000" dirty="0" err="1">
                  <a:latin typeface="Times New Roman" pitchFamily="18" charset="0"/>
                </a:rPr>
                <a:t>j</a:t>
              </a:r>
              <a:endParaRPr lang="en-US" altLang="zh-CN" sz="3000" b="1" i="1" baseline="-25000" dirty="0">
                <a:latin typeface="Times New Roman" pitchFamily="18" charset="0"/>
              </a:endParaRPr>
            </a:p>
          </p:txBody>
        </p:sp>
        <p:sp>
          <p:nvSpPr>
            <p:cNvPr id="39" name="Line 56"/>
            <p:cNvSpPr>
              <a:spLocks noChangeShapeType="1"/>
            </p:cNvSpPr>
            <p:nvPr/>
          </p:nvSpPr>
          <p:spPr bwMode="auto">
            <a:xfrm flipH="1">
              <a:off x="2831699" y="5085184"/>
              <a:ext cx="1518052" cy="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0" name="Line 56"/>
            <p:cNvSpPr>
              <a:spLocks noChangeShapeType="1"/>
            </p:cNvSpPr>
            <p:nvPr/>
          </p:nvSpPr>
          <p:spPr bwMode="auto">
            <a:xfrm flipH="1">
              <a:off x="5718176" y="5085184"/>
              <a:ext cx="1368425" cy="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1075322" y="5517232"/>
            <a:ext cx="6985000" cy="1048839"/>
            <a:chOff x="1614488" y="4905164"/>
            <a:chExt cx="6985000" cy="1048839"/>
          </a:xfrm>
        </p:grpSpPr>
        <p:sp>
          <p:nvSpPr>
            <p:cNvPr id="43" name="Line 52"/>
            <p:cNvSpPr>
              <a:spLocks noChangeShapeType="1"/>
            </p:cNvSpPr>
            <p:nvPr/>
          </p:nvSpPr>
          <p:spPr bwMode="auto">
            <a:xfrm>
              <a:off x="1614488" y="5491163"/>
              <a:ext cx="6985000" cy="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4" name="Line 53"/>
            <p:cNvSpPr>
              <a:spLocks noChangeShapeType="1"/>
            </p:cNvSpPr>
            <p:nvPr/>
          </p:nvSpPr>
          <p:spPr bwMode="auto">
            <a:xfrm>
              <a:off x="2838451" y="5121188"/>
              <a:ext cx="0" cy="358775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5" name="Line 54"/>
            <p:cNvSpPr>
              <a:spLocks noChangeShapeType="1"/>
            </p:cNvSpPr>
            <p:nvPr/>
          </p:nvSpPr>
          <p:spPr bwMode="auto">
            <a:xfrm>
              <a:off x="4349751" y="4905164"/>
              <a:ext cx="0" cy="574799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6" name="Line 55"/>
            <p:cNvSpPr>
              <a:spLocks noChangeShapeType="1"/>
            </p:cNvSpPr>
            <p:nvPr/>
          </p:nvSpPr>
          <p:spPr bwMode="auto">
            <a:xfrm>
              <a:off x="5718176" y="5121188"/>
              <a:ext cx="0" cy="358775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7" name="Line 56"/>
            <p:cNvSpPr>
              <a:spLocks noChangeShapeType="1"/>
            </p:cNvSpPr>
            <p:nvPr/>
          </p:nvSpPr>
          <p:spPr bwMode="auto">
            <a:xfrm>
              <a:off x="7086601" y="4905164"/>
              <a:ext cx="0" cy="574799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8" name="Text Box 58"/>
            <p:cNvSpPr txBox="1">
              <a:spLocks noChangeArrowheads="1"/>
            </p:cNvSpPr>
            <p:nvPr/>
          </p:nvSpPr>
          <p:spPr bwMode="auto">
            <a:xfrm>
              <a:off x="2622551" y="5400005"/>
              <a:ext cx="404278" cy="5539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3000" b="1" i="1" dirty="0" err="1">
                  <a:latin typeface="Times New Roman" pitchFamily="18" charset="0"/>
                </a:rPr>
                <a:t>s</a:t>
              </a:r>
              <a:r>
                <a:rPr lang="en-US" altLang="zh-CN" sz="3000" b="1" i="1" baseline="-25000" dirty="0" err="1">
                  <a:latin typeface="Times New Roman" pitchFamily="18" charset="0"/>
                </a:rPr>
                <a:t>i</a:t>
              </a:r>
              <a:endParaRPr lang="en-US" altLang="zh-CN" sz="3000" b="1" i="1" baseline="-25000" dirty="0">
                <a:latin typeface="Times New Roman" pitchFamily="18" charset="0"/>
              </a:endParaRPr>
            </a:p>
          </p:txBody>
        </p:sp>
        <p:sp>
          <p:nvSpPr>
            <p:cNvPr id="49" name="Text Box 59"/>
            <p:cNvSpPr txBox="1">
              <a:spLocks noChangeArrowheads="1"/>
            </p:cNvSpPr>
            <p:nvPr/>
          </p:nvSpPr>
          <p:spPr bwMode="auto">
            <a:xfrm>
              <a:off x="4184651" y="5400005"/>
              <a:ext cx="404278" cy="5539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3000" b="1" i="1" dirty="0" err="1">
                  <a:latin typeface="Times New Roman" pitchFamily="18" charset="0"/>
                </a:rPr>
                <a:t>s</a:t>
              </a:r>
              <a:r>
                <a:rPr lang="en-US" altLang="zh-CN" sz="3000" b="1" i="1" baseline="-25000" dirty="0" err="1">
                  <a:latin typeface="Times New Roman" pitchFamily="18" charset="0"/>
                </a:rPr>
                <a:t>j</a:t>
              </a:r>
              <a:endParaRPr lang="en-US" altLang="zh-CN" sz="3000" b="1" i="1" baseline="-25000" dirty="0">
                <a:latin typeface="Times New Roman" pitchFamily="18" charset="0"/>
              </a:endParaRPr>
            </a:p>
          </p:txBody>
        </p:sp>
        <p:sp>
          <p:nvSpPr>
            <p:cNvPr id="50" name="Text Box 60"/>
            <p:cNvSpPr txBox="1">
              <a:spLocks noChangeArrowheads="1"/>
            </p:cNvSpPr>
            <p:nvPr/>
          </p:nvSpPr>
          <p:spPr bwMode="auto">
            <a:xfrm>
              <a:off x="5541963" y="5400005"/>
              <a:ext cx="383438" cy="5539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3000" b="1" i="1" dirty="0">
                  <a:latin typeface="Times New Roman" pitchFamily="18" charset="0"/>
                </a:rPr>
                <a:t>f</a:t>
              </a:r>
              <a:r>
                <a:rPr lang="en-US" altLang="zh-CN" sz="3000" b="1" i="1" baseline="-25000" dirty="0">
                  <a:latin typeface="Times New Roman" pitchFamily="18" charset="0"/>
                </a:rPr>
                <a:t>i</a:t>
              </a:r>
            </a:p>
          </p:txBody>
        </p:sp>
        <p:sp>
          <p:nvSpPr>
            <p:cNvPr id="51" name="Text Box 61"/>
            <p:cNvSpPr txBox="1">
              <a:spLocks noChangeArrowheads="1"/>
            </p:cNvSpPr>
            <p:nvPr/>
          </p:nvSpPr>
          <p:spPr bwMode="auto">
            <a:xfrm>
              <a:off x="6994526" y="5400005"/>
              <a:ext cx="383438" cy="5539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3000" b="1" i="1" dirty="0" err="1">
                  <a:latin typeface="Times New Roman" pitchFamily="18" charset="0"/>
                </a:rPr>
                <a:t>f</a:t>
              </a:r>
              <a:r>
                <a:rPr lang="en-US" altLang="zh-CN" sz="3000" b="1" i="1" baseline="-25000" dirty="0" err="1">
                  <a:latin typeface="Times New Roman" pitchFamily="18" charset="0"/>
                </a:rPr>
                <a:t>j</a:t>
              </a:r>
              <a:endParaRPr lang="en-US" altLang="zh-CN" sz="3000" b="1" i="1" baseline="-25000" dirty="0">
                <a:latin typeface="Times New Roman" pitchFamily="18" charset="0"/>
              </a:endParaRPr>
            </a:p>
          </p:txBody>
        </p:sp>
        <p:sp>
          <p:nvSpPr>
            <p:cNvPr id="52" name="Line 56"/>
            <p:cNvSpPr>
              <a:spLocks noChangeShapeType="1"/>
            </p:cNvSpPr>
            <p:nvPr/>
          </p:nvSpPr>
          <p:spPr bwMode="auto">
            <a:xfrm flipH="1">
              <a:off x="2831699" y="5085184"/>
              <a:ext cx="2884306" cy="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3" name="Line 56"/>
            <p:cNvSpPr>
              <a:spLocks noChangeShapeType="1"/>
            </p:cNvSpPr>
            <p:nvPr/>
          </p:nvSpPr>
          <p:spPr bwMode="auto">
            <a:xfrm flipH="1">
              <a:off x="4375151" y="4905164"/>
              <a:ext cx="2711450" cy="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41439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活动选择问题</a:t>
            </a:r>
          </a:p>
        </p:txBody>
      </p:sp>
      <p:sp>
        <p:nvSpPr>
          <p:cNvPr id="819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Arial" charset="0"/>
                <a:ea typeface="黑体" pitchFamily="2" charset="-122"/>
              </a:rPr>
              <a:t>问题定义</a:t>
            </a:r>
            <a:endParaRPr lang="en-US" altLang="zh-CN" dirty="0">
              <a:latin typeface="Arial" charset="0"/>
              <a:ea typeface="黑体" pitchFamily="2" charset="-122"/>
            </a:endParaRPr>
          </a:p>
          <a:p>
            <a:pPr lvl="1" algn="just"/>
            <a:r>
              <a:rPr lang="zh-CN" altLang="en-US" dirty="0">
                <a:latin typeface="+mj-lt"/>
              </a:rPr>
              <a:t>输入：</a:t>
            </a:r>
            <a:r>
              <a:rPr lang="en-US" altLang="zh-CN" dirty="0">
                <a:latin typeface="+mj-lt"/>
              </a:rPr>
              <a:t>S={1, 2, …, n}，x</a:t>
            </a:r>
            <a:r>
              <a:rPr lang="en-US" altLang="zh-CN" sz="2400" baseline="-30000" dirty="0"/>
              <a:t>i</a:t>
            </a:r>
            <a:r>
              <a:rPr lang="en-US" altLang="zh-CN" dirty="0">
                <a:latin typeface="+mj-lt"/>
              </a:rPr>
              <a:t>=[</a:t>
            </a:r>
            <a:r>
              <a:rPr lang="en-US" altLang="zh-CN" dirty="0" err="1">
                <a:latin typeface="+mj-lt"/>
              </a:rPr>
              <a:t>s</a:t>
            </a:r>
            <a:r>
              <a:rPr lang="en-US" altLang="zh-CN" baseline="-30000" dirty="0" err="1">
                <a:latin typeface="+mj-lt"/>
              </a:rPr>
              <a:t>i，</a:t>
            </a:r>
            <a:r>
              <a:rPr lang="en-US" altLang="zh-CN" dirty="0" err="1">
                <a:latin typeface="+mj-lt"/>
              </a:rPr>
              <a:t>f</a:t>
            </a:r>
            <a:r>
              <a:rPr lang="en-US" altLang="zh-CN" baseline="-30000" dirty="0" err="1">
                <a:latin typeface="+mj-lt"/>
              </a:rPr>
              <a:t>i</a:t>
            </a:r>
            <a:r>
              <a:rPr lang="en-US" altLang="zh-CN" dirty="0">
                <a:latin typeface="+mj-lt"/>
              </a:rPr>
              <a:t>]，1</a:t>
            </a:r>
            <a:r>
              <a:rPr kumimoji="1" lang="en-US" altLang="zh-CN" dirty="0">
                <a:sym typeface="Symbol" pitchFamily="18" charset="2"/>
              </a:rPr>
              <a:t>  </a:t>
            </a:r>
            <a:r>
              <a:rPr lang="en-US" altLang="zh-CN" dirty="0">
                <a:latin typeface="+mj-lt"/>
              </a:rPr>
              <a:t>i</a:t>
            </a:r>
            <a:r>
              <a:rPr kumimoji="1" lang="en-US" altLang="zh-CN" dirty="0">
                <a:sym typeface="Symbol" pitchFamily="18" charset="2"/>
              </a:rPr>
              <a:t>  n</a:t>
            </a:r>
            <a:endParaRPr lang="en-US" altLang="zh-CN" dirty="0">
              <a:latin typeface="+mj-lt"/>
            </a:endParaRPr>
          </a:p>
          <a:p>
            <a:pPr lvl="1"/>
            <a:r>
              <a:rPr lang="zh-CN" altLang="en-US" dirty="0">
                <a:latin typeface="+mj-lt"/>
              </a:rPr>
              <a:t>输出：</a:t>
            </a:r>
            <a:r>
              <a:rPr lang="en-US" altLang="zh-CN" dirty="0">
                <a:latin typeface="+mj-lt"/>
              </a:rPr>
              <a:t>S</a:t>
            </a:r>
            <a:r>
              <a:rPr lang="zh-CN" altLang="en-US" dirty="0">
                <a:latin typeface="+mj-lt"/>
              </a:rPr>
              <a:t>的最大相容集合</a:t>
            </a:r>
            <a:endParaRPr lang="en-US" altLang="zh-CN" dirty="0">
              <a:latin typeface="+mj-lt"/>
            </a:endParaRPr>
          </a:p>
          <a:p>
            <a:r>
              <a:rPr lang="zh-CN" altLang="en-US" dirty="0">
                <a:latin typeface="Arial" charset="0"/>
                <a:ea typeface="黑体" pitchFamily="2" charset="-122"/>
              </a:rPr>
              <a:t>贪心思想</a:t>
            </a:r>
            <a:endParaRPr lang="en-US" altLang="zh-CN" dirty="0">
              <a:latin typeface="Arial" charset="0"/>
              <a:ea typeface="黑体" pitchFamily="2" charset="-122"/>
            </a:endParaRPr>
          </a:p>
          <a:p>
            <a:pPr lvl="1"/>
            <a:r>
              <a:rPr lang="zh-CN" altLang="en-US" dirty="0">
                <a:latin typeface="Arial" charset="0"/>
                <a:ea typeface="黑体" pitchFamily="2" charset="-122"/>
              </a:rPr>
              <a:t>为了选择更多活动，每次选择 </a:t>
            </a:r>
            <a:r>
              <a:rPr lang="en-US" altLang="zh-CN" sz="2400" dirty="0"/>
              <a:t>f</a:t>
            </a:r>
            <a:r>
              <a:rPr lang="en-US" altLang="zh-CN" sz="2400" baseline="-30000" dirty="0"/>
              <a:t>i</a:t>
            </a:r>
            <a:r>
              <a:rPr lang="zh-CN" altLang="en-US" dirty="0">
                <a:latin typeface="Arial" charset="0"/>
                <a:ea typeface="黑体" pitchFamily="2" charset="-122"/>
              </a:rPr>
              <a:t> 最小的活动</a:t>
            </a:r>
            <a:endParaRPr lang="en-US" altLang="zh-CN" dirty="0">
              <a:latin typeface="Arial" charset="0"/>
              <a:ea typeface="黑体" pitchFamily="2" charset="-122"/>
            </a:endParaRPr>
          </a:p>
          <a:p>
            <a:endParaRPr lang="en-US" altLang="zh-CN" dirty="0">
              <a:latin typeface="+mj-lt"/>
            </a:endParaRPr>
          </a:p>
          <a:p>
            <a:endParaRPr lang="en-US" altLang="zh-CN" dirty="0">
              <a:latin typeface="+mj-lt"/>
            </a:endParaRPr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166F650B-5347-4F36-8304-1500CA3F90AB}" type="slidenum">
              <a:rPr lang="en-US" altLang="zh-CN" smtClean="0">
                <a:solidFill>
                  <a:srgbClr val="006600"/>
                </a:solidFill>
                <a:latin typeface="Courier New" pitchFamily="49" charset="0"/>
                <a:ea typeface="华文新魏" pitchFamily="2" charset="-122"/>
              </a:rPr>
              <a:pPr eaLnBrk="1" hangingPunct="1"/>
              <a:t>7</a:t>
            </a:fld>
            <a:endParaRPr lang="en-US" altLang="zh-CN">
              <a:solidFill>
                <a:srgbClr val="006600"/>
              </a:solidFill>
              <a:latin typeface="Courier New" pitchFamily="49" charset="0"/>
              <a:ea typeface="华文新魏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545672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活动选择问题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3E6C03A-3073-401C-B837-061925A82BB2}" type="slidenum">
              <a:rPr lang="en-US" altLang="zh-CN" smtClean="0"/>
              <a:pPr>
                <a:defRPr/>
              </a:pPr>
              <a:t>8</a:t>
            </a:fld>
            <a:endParaRPr lang="en-US" altLang="zh-CN" dirty="0"/>
          </a:p>
        </p:txBody>
      </p:sp>
      <p:sp>
        <p:nvSpPr>
          <p:cNvPr id="5" name="矩形 4"/>
          <p:cNvSpPr/>
          <p:nvPr/>
        </p:nvSpPr>
        <p:spPr>
          <a:xfrm>
            <a:off x="395536" y="2024844"/>
            <a:ext cx="5472608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90000"/>
              </a:lnSpc>
              <a:buFontTx/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+mj-lt"/>
                <a:ea typeface="黑体" pitchFamily="49" charset="-122"/>
              </a:rPr>
              <a:t>S</a:t>
            </a:r>
            <a:r>
              <a:rPr lang="zh-CN" altLang="en-US" sz="2400" b="1" dirty="0">
                <a:solidFill>
                  <a:srgbClr val="FF0000"/>
                </a:solidFill>
                <a:latin typeface="+mj-lt"/>
                <a:ea typeface="黑体" pitchFamily="49" charset="-122"/>
              </a:rPr>
              <a:t>按结束时间排序，</a:t>
            </a:r>
            <a:r>
              <a:rPr lang="en-US" altLang="zh-CN" sz="2400" b="1" dirty="0">
                <a:solidFill>
                  <a:srgbClr val="FF0000"/>
                </a:solidFill>
                <a:latin typeface="+mj-lt"/>
                <a:ea typeface="黑体" pitchFamily="49" charset="-122"/>
              </a:rPr>
              <a:t>f</a:t>
            </a:r>
            <a:r>
              <a:rPr lang="en-US" altLang="zh-CN" sz="2400" b="1" baseline="-30000" dirty="0">
                <a:solidFill>
                  <a:srgbClr val="FF0000"/>
                </a:solidFill>
                <a:latin typeface="+mj-lt"/>
                <a:ea typeface="黑体" pitchFamily="49" charset="-122"/>
              </a:rPr>
              <a:t>1</a:t>
            </a:r>
            <a:r>
              <a:rPr lang="en-US" altLang="zh-CN" sz="2400" b="1" dirty="0">
                <a:solidFill>
                  <a:srgbClr val="FF0000"/>
                </a:solidFill>
                <a:latin typeface="+mj-lt"/>
                <a:ea typeface="黑体" pitchFamily="49" charset="-122"/>
                <a:sym typeface="Symbol" pitchFamily="18" charset="2"/>
              </a:rPr>
              <a:t></a:t>
            </a:r>
            <a:r>
              <a:rPr lang="en-US" altLang="zh-CN" sz="2400" b="1" dirty="0">
                <a:solidFill>
                  <a:srgbClr val="FF0000"/>
                </a:solidFill>
                <a:latin typeface="+mj-lt"/>
                <a:ea typeface="黑体" pitchFamily="49" charset="-122"/>
              </a:rPr>
              <a:t>f</a:t>
            </a:r>
            <a:r>
              <a:rPr lang="en-US" altLang="zh-CN" sz="2400" b="1" baseline="-30000" dirty="0">
                <a:solidFill>
                  <a:srgbClr val="FF0000"/>
                </a:solidFill>
                <a:latin typeface="+mj-lt"/>
                <a:ea typeface="黑体" pitchFamily="49" charset="-122"/>
              </a:rPr>
              <a:t>2</a:t>
            </a:r>
            <a:r>
              <a:rPr lang="en-US" altLang="zh-CN" sz="2400" b="1" dirty="0">
                <a:solidFill>
                  <a:srgbClr val="FF0000"/>
                </a:solidFill>
                <a:latin typeface="+mj-lt"/>
                <a:ea typeface="黑体" pitchFamily="49" charset="-122"/>
                <a:sym typeface="Symbol" pitchFamily="18" charset="2"/>
              </a:rPr>
              <a:t></a:t>
            </a:r>
            <a:r>
              <a:rPr lang="en-US" altLang="zh-CN" sz="2400" b="1" dirty="0">
                <a:solidFill>
                  <a:srgbClr val="FF0000"/>
                </a:solidFill>
                <a:latin typeface="+mj-lt"/>
                <a:ea typeface="黑体" pitchFamily="49" charset="-122"/>
              </a:rPr>
              <a:t>….</a:t>
            </a:r>
            <a:r>
              <a:rPr lang="en-US" altLang="zh-CN" sz="2400" b="1" dirty="0">
                <a:solidFill>
                  <a:srgbClr val="FF0000"/>
                </a:solidFill>
                <a:latin typeface="+mj-lt"/>
                <a:ea typeface="黑体" pitchFamily="49" charset="-122"/>
                <a:sym typeface="Symbol" pitchFamily="18" charset="2"/>
              </a:rPr>
              <a:t></a:t>
            </a:r>
            <a:r>
              <a:rPr lang="en-US" altLang="zh-CN" sz="2400" b="1" dirty="0" err="1">
                <a:solidFill>
                  <a:srgbClr val="FF0000"/>
                </a:solidFill>
                <a:latin typeface="+mj-lt"/>
                <a:ea typeface="黑体" pitchFamily="49" charset="-122"/>
              </a:rPr>
              <a:t>f</a:t>
            </a:r>
            <a:r>
              <a:rPr lang="en-US" altLang="zh-CN" sz="2400" b="1" baseline="-30000" dirty="0" err="1">
                <a:solidFill>
                  <a:srgbClr val="FF0000"/>
                </a:solidFill>
                <a:latin typeface="+mj-lt"/>
                <a:ea typeface="黑体" pitchFamily="49" charset="-122"/>
              </a:rPr>
              <a:t>n</a:t>
            </a:r>
            <a:endParaRPr lang="en-US" altLang="zh-CN" sz="2400" b="1" dirty="0">
              <a:solidFill>
                <a:srgbClr val="FF0000"/>
              </a:solidFill>
              <a:latin typeface="+mj-lt"/>
              <a:ea typeface="黑体" pitchFamily="49" charset="-122"/>
            </a:endParaRPr>
          </a:p>
          <a:p>
            <a:pPr algn="just">
              <a:lnSpc>
                <a:spcPct val="90000"/>
              </a:lnSpc>
              <a:buFontTx/>
              <a:buNone/>
            </a:pPr>
            <a:r>
              <a:rPr lang="en-US" altLang="zh-CN" sz="2400" dirty="0">
                <a:solidFill>
                  <a:srgbClr val="0000A8"/>
                </a:solidFill>
                <a:latin typeface="+mj-lt"/>
                <a:ea typeface="黑体" pitchFamily="49" charset="-122"/>
              </a:rPr>
              <a:t>Greedy-Activity-Selector(S, F)</a:t>
            </a:r>
          </a:p>
          <a:p>
            <a:pPr lvl="1" algn="just">
              <a:lnSpc>
                <a:spcPct val="90000"/>
              </a:lnSpc>
              <a:buFontTx/>
              <a:buNone/>
            </a:pPr>
            <a:r>
              <a:rPr lang="en-US" altLang="zh-CN" sz="2400" dirty="0">
                <a:solidFill>
                  <a:srgbClr val="0000A8"/>
                </a:solidFill>
                <a:latin typeface="+mj-lt"/>
                <a:ea typeface="黑体" pitchFamily="49" charset="-122"/>
              </a:rPr>
              <a:t>  n</a:t>
            </a:r>
            <a:r>
              <a:rPr lang="en-US" altLang="zh-CN" sz="2400" dirty="0">
                <a:solidFill>
                  <a:srgbClr val="0000A8"/>
                </a:solidFill>
                <a:latin typeface="+mj-lt"/>
                <a:ea typeface="黑体" pitchFamily="49" charset="-122"/>
                <a:sym typeface="Symbol" pitchFamily="18" charset="2"/>
              </a:rPr>
              <a:t> = </a:t>
            </a:r>
            <a:r>
              <a:rPr lang="en-US" altLang="zh-CN" sz="2400" dirty="0">
                <a:solidFill>
                  <a:srgbClr val="0000A8"/>
                </a:solidFill>
                <a:latin typeface="+mj-lt"/>
                <a:ea typeface="黑体" pitchFamily="49" charset="-122"/>
              </a:rPr>
              <a:t>length(S);</a:t>
            </a:r>
          </a:p>
          <a:p>
            <a:pPr lvl="1" algn="just">
              <a:lnSpc>
                <a:spcPct val="90000"/>
              </a:lnSpc>
              <a:buFontTx/>
              <a:buNone/>
            </a:pPr>
            <a:r>
              <a:rPr lang="en-US" altLang="zh-CN" sz="2400" dirty="0">
                <a:solidFill>
                  <a:srgbClr val="0000A8"/>
                </a:solidFill>
                <a:latin typeface="+mj-lt"/>
                <a:ea typeface="黑体" pitchFamily="49" charset="-122"/>
              </a:rPr>
              <a:t>  A</a:t>
            </a:r>
            <a:r>
              <a:rPr lang="en-US" altLang="zh-CN" sz="2400" dirty="0">
                <a:solidFill>
                  <a:srgbClr val="0000A8"/>
                </a:solidFill>
                <a:latin typeface="+mj-lt"/>
                <a:ea typeface="黑体" pitchFamily="49" charset="-122"/>
                <a:sym typeface="Symbol" pitchFamily="18" charset="2"/>
              </a:rPr>
              <a:t> = </a:t>
            </a:r>
            <a:r>
              <a:rPr lang="en-US" altLang="zh-CN" sz="2400" dirty="0">
                <a:solidFill>
                  <a:srgbClr val="0000A8"/>
                </a:solidFill>
                <a:latin typeface="+mj-lt"/>
                <a:ea typeface="黑体" pitchFamily="49" charset="-122"/>
              </a:rPr>
              <a:t>{1};</a:t>
            </a:r>
          </a:p>
          <a:p>
            <a:pPr lvl="1" algn="just">
              <a:lnSpc>
                <a:spcPct val="90000"/>
              </a:lnSpc>
              <a:buFontTx/>
              <a:buNone/>
            </a:pPr>
            <a:r>
              <a:rPr lang="en-US" altLang="zh-CN" sz="2400" dirty="0">
                <a:solidFill>
                  <a:srgbClr val="0000A8"/>
                </a:solidFill>
                <a:latin typeface="+mj-lt"/>
                <a:ea typeface="黑体" pitchFamily="49" charset="-122"/>
              </a:rPr>
              <a:t>  j</a:t>
            </a:r>
            <a:r>
              <a:rPr lang="en-US" altLang="zh-CN" sz="2400" dirty="0">
                <a:solidFill>
                  <a:srgbClr val="0000A8"/>
                </a:solidFill>
                <a:latin typeface="+mj-lt"/>
                <a:ea typeface="黑体" pitchFamily="49" charset="-122"/>
                <a:sym typeface="Symbol" pitchFamily="18" charset="2"/>
              </a:rPr>
              <a:t> = </a:t>
            </a:r>
            <a:r>
              <a:rPr lang="en-US" altLang="zh-CN" sz="2400" dirty="0">
                <a:solidFill>
                  <a:srgbClr val="0000A8"/>
                </a:solidFill>
                <a:latin typeface="+mj-lt"/>
                <a:ea typeface="黑体" pitchFamily="49" charset="-122"/>
              </a:rPr>
              <a:t>1;</a:t>
            </a:r>
          </a:p>
          <a:p>
            <a:pPr lvl="1" algn="just">
              <a:lnSpc>
                <a:spcPct val="90000"/>
              </a:lnSpc>
              <a:buFontTx/>
              <a:buNone/>
            </a:pPr>
            <a:r>
              <a:rPr lang="en-US" altLang="zh-CN" sz="2400" dirty="0">
                <a:solidFill>
                  <a:srgbClr val="0000A8"/>
                </a:solidFill>
                <a:latin typeface="+mj-lt"/>
                <a:ea typeface="黑体" pitchFamily="49" charset="-122"/>
              </a:rPr>
              <a:t>  </a:t>
            </a:r>
            <a:r>
              <a:rPr lang="en-US" altLang="zh-CN" sz="2400" b="1" dirty="0">
                <a:solidFill>
                  <a:srgbClr val="0000A8"/>
                </a:solidFill>
                <a:latin typeface="+mj-lt"/>
                <a:ea typeface="黑体" pitchFamily="49" charset="-122"/>
              </a:rPr>
              <a:t>for</a:t>
            </a:r>
            <a:r>
              <a:rPr lang="en-US" altLang="zh-CN" sz="2400" dirty="0">
                <a:solidFill>
                  <a:srgbClr val="0000A8"/>
                </a:solidFill>
                <a:latin typeface="+mj-lt"/>
                <a:ea typeface="黑体" pitchFamily="49" charset="-122"/>
              </a:rPr>
              <a:t>   i</a:t>
            </a:r>
            <a:r>
              <a:rPr lang="en-US" altLang="zh-CN" sz="2400" dirty="0">
                <a:solidFill>
                  <a:srgbClr val="0000A8"/>
                </a:solidFill>
                <a:latin typeface="+mj-lt"/>
                <a:ea typeface="黑体" pitchFamily="49" charset="-122"/>
                <a:sym typeface="Symbol" pitchFamily="18" charset="2"/>
              </a:rPr>
              <a:t>=</a:t>
            </a:r>
            <a:r>
              <a:rPr lang="en-US" altLang="zh-CN" sz="2400" dirty="0">
                <a:solidFill>
                  <a:srgbClr val="0000A8"/>
                </a:solidFill>
                <a:latin typeface="+mj-lt"/>
                <a:ea typeface="黑体" pitchFamily="49" charset="-122"/>
              </a:rPr>
              <a:t>2   </a:t>
            </a:r>
            <a:r>
              <a:rPr lang="en-US" altLang="zh-CN" sz="2400" b="1" dirty="0">
                <a:solidFill>
                  <a:srgbClr val="0000A8"/>
                </a:solidFill>
                <a:latin typeface="+mj-lt"/>
                <a:ea typeface="黑体" pitchFamily="49" charset="-122"/>
              </a:rPr>
              <a:t>to</a:t>
            </a:r>
            <a:r>
              <a:rPr lang="en-US" altLang="zh-CN" sz="2400" dirty="0">
                <a:solidFill>
                  <a:srgbClr val="0000A8"/>
                </a:solidFill>
                <a:latin typeface="+mj-lt"/>
                <a:ea typeface="黑体" pitchFamily="49" charset="-122"/>
              </a:rPr>
              <a:t>   n   </a:t>
            </a:r>
            <a:r>
              <a:rPr lang="en-US" altLang="zh-CN" sz="2400" b="1" dirty="0">
                <a:solidFill>
                  <a:srgbClr val="0000A8"/>
                </a:solidFill>
                <a:latin typeface="+mj-lt"/>
                <a:ea typeface="黑体" pitchFamily="49" charset="-122"/>
              </a:rPr>
              <a:t>do</a:t>
            </a:r>
          </a:p>
          <a:p>
            <a:pPr lvl="1" algn="just">
              <a:lnSpc>
                <a:spcPct val="90000"/>
              </a:lnSpc>
              <a:buFontTx/>
              <a:buNone/>
            </a:pPr>
            <a:r>
              <a:rPr lang="en-US" altLang="zh-CN" sz="2400" dirty="0">
                <a:solidFill>
                  <a:srgbClr val="0000A8"/>
                </a:solidFill>
                <a:latin typeface="+mj-lt"/>
                <a:ea typeface="黑体" pitchFamily="49" charset="-122"/>
              </a:rPr>
              <a:t>         </a:t>
            </a:r>
            <a:r>
              <a:rPr lang="en-US" altLang="zh-CN" sz="2400" b="1" dirty="0">
                <a:solidFill>
                  <a:srgbClr val="0000A8"/>
                </a:solidFill>
                <a:latin typeface="+mj-lt"/>
                <a:ea typeface="黑体" pitchFamily="49" charset="-122"/>
              </a:rPr>
              <a:t>if</a:t>
            </a:r>
            <a:r>
              <a:rPr lang="en-US" altLang="zh-CN" sz="2400" dirty="0">
                <a:solidFill>
                  <a:srgbClr val="0000A8"/>
                </a:solidFill>
                <a:latin typeface="+mj-lt"/>
                <a:ea typeface="黑体" pitchFamily="49" charset="-122"/>
              </a:rPr>
              <a:t>  </a:t>
            </a:r>
            <a:r>
              <a:rPr lang="en-US" altLang="zh-CN" sz="2400" dirty="0" err="1">
                <a:solidFill>
                  <a:srgbClr val="0000A8"/>
                </a:solidFill>
                <a:latin typeface="+mj-lt"/>
                <a:ea typeface="黑体" pitchFamily="49" charset="-122"/>
              </a:rPr>
              <a:t>s</a:t>
            </a:r>
            <a:r>
              <a:rPr lang="en-US" altLang="zh-CN" sz="2400" baseline="-30000" dirty="0" err="1">
                <a:solidFill>
                  <a:srgbClr val="0000A8"/>
                </a:solidFill>
                <a:latin typeface="+mj-lt"/>
                <a:ea typeface="黑体" pitchFamily="49" charset="-122"/>
              </a:rPr>
              <a:t>i</a:t>
            </a:r>
            <a:r>
              <a:rPr lang="en-US" altLang="zh-CN" sz="2400" baseline="-30000" dirty="0">
                <a:solidFill>
                  <a:srgbClr val="0000A8"/>
                </a:solidFill>
                <a:latin typeface="+mj-lt"/>
                <a:ea typeface="黑体" pitchFamily="49" charset="-122"/>
              </a:rPr>
              <a:t> </a:t>
            </a:r>
            <a:r>
              <a:rPr lang="en-US" altLang="zh-CN" sz="2400" dirty="0">
                <a:solidFill>
                  <a:srgbClr val="0000A8"/>
                </a:solidFill>
                <a:latin typeface="+mj-lt"/>
                <a:ea typeface="黑体" pitchFamily="49" charset="-122"/>
                <a:sym typeface="Symbol" pitchFamily="18" charset="2"/>
              </a:rPr>
              <a:t> </a:t>
            </a:r>
            <a:r>
              <a:rPr lang="en-US" altLang="zh-CN" sz="2400" dirty="0" err="1">
                <a:solidFill>
                  <a:srgbClr val="0000A8"/>
                </a:solidFill>
                <a:latin typeface="+mj-lt"/>
                <a:ea typeface="黑体" pitchFamily="49" charset="-122"/>
              </a:rPr>
              <a:t>f</a:t>
            </a:r>
            <a:r>
              <a:rPr lang="en-US" altLang="zh-CN" sz="2400" baseline="-30000" dirty="0" err="1">
                <a:solidFill>
                  <a:srgbClr val="0000A8"/>
                </a:solidFill>
                <a:latin typeface="+mj-lt"/>
                <a:ea typeface="黑体" pitchFamily="49" charset="-122"/>
              </a:rPr>
              <a:t>j</a:t>
            </a:r>
            <a:r>
              <a:rPr lang="en-US" altLang="zh-CN" sz="2400" baseline="-30000" dirty="0">
                <a:solidFill>
                  <a:srgbClr val="0000A8"/>
                </a:solidFill>
                <a:latin typeface="+mj-lt"/>
                <a:ea typeface="黑体" pitchFamily="49" charset="-122"/>
              </a:rPr>
              <a:t> </a:t>
            </a:r>
            <a:r>
              <a:rPr lang="en-US" altLang="zh-CN" sz="2400" b="1" baseline="-30000" dirty="0">
                <a:solidFill>
                  <a:srgbClr val="0000A8"/>
                </a:solidFill>
                <a:latin typeface="+mj-lt"/>
                <a:ea typeface="黑体" pitchFamily="49" charset="-122"/>
              </a:rPr>
              <a:t> </a:t>
            </a:r>
            <a:r>
              <a:rPr lang="en-US" altLang="zh-CN" sz="2400" b="1" dirty="0">
                <a:solidFill>
                  <a:srgbClr val="0000A8"/>
                </a:solidFill>
                <a:ea typeface="黑体" pitchFamily="49" charset="-122"/>
              </a:rPr>
              <a:t>then</a:t>
            </a:r>
            <a:endParaRPr lang="en-US" altLang="zh-CN" sz="2400" b="1" dirty="0">
              <a:solidFill>
                <a:srgbClr val="0000A8"/>
              </a:solidFill>
              <a:latin typeface="+mj-lt"/>
              <a:ea typeface="黑体" pitchFamily="49" charset="-122"/>
            </a:endParaRPr>
          </a:p>
          <a:p>
            <a:pPr lvl="1" algn="just">
              <a:lnSpc>
                <a:spcPct val="90000"/>
              </a:lnSpc>
              <a:buFontTx/>
              <a:buNone/>
            </a:pPr>
            <a:r>
              <a:rPr lang="en-US" altLang="zh-CN" sz="2400" dirty="0">
                <a:solidFill>
                  <a:srgbClr val="0000A8"/>
                </a:solidFill>
                <a:latin typeface="+mj-lt"/>
                <a:ea typeface="黑体" pitchFamily="49" charset="-122"/>
              </a:rPr>
              <a:t>              A</a:t>
            </a:r>
            <a:r>
              <a:rPr lang="en-US" altLang="zh-CN" sz="2400" dirty="0">
                <a:solidFill>
                  <a:srgbClr val="0000A8"/>
                </a:solidFill>
                <a:latin typeface="+mj-lt"/>
                <a:ea typeface="黑体" pitchFamily="49" charset="-122"/>
                <a:sym typeface="Symbol" pitchFamily="18" charset="2"/>
              </a:rPr>
              <a:t> = </a:t>
            </a:r>
            <a:r>
              <a:rPr lang="en-US" altLang="zh-CN" sz="2400" dirty="0">
                <a:solidFill>
                  <a:srgbClr val="0000A8"/>
                </a:solidFill>
                <a:latin typeface="+mj-lt"/>
                <a:ea typeface="黑体" pitchFamily="49" charset="-122"/>
              </a:rPr>
              <a:t>A∪{i}；</a:t>
            </a:r>
          </a:p>
          <a:p>
            <a:pPr lvl="1" algn="just">
              <a:lnSpc>
                <a:spcPct val="90000"/>
              </a:lnSpc>
              <a:buFontTx/>
              <a:buNone/>
            </a:pPr>
            <a:r>
              <a:rPr lang="en-US" altLang="zh-CN" sz="2400" dirty="0">
                <a:solidFill>
                  <a:srgbClr val="0000A8"/>
                </a:solidFill>
                <a:latin typeface="+mj-lt"/>
                <a:ea typeface="黑体" pitchFamily="49" charset="-122"/>
              </a:rPr>
              <a:t>              j</a:t>
            </a:r>
            <a:r>
              <a:rPr lang="en-US" altLang="zh-CN" sz="2400" dirty="0">
                <a:solidFill>
                  <a:srgbClr val="0000A8"/>
                </a:solidFill>
                <a:latin typeface="+mj-lt"/>
                <a:ea typeface="黑体" pitchFamily="49" charset="-122"/>
                <a:sym typeface="Symbol" pitchFamily="18" charset="2"/>
              </a:rPr>
              <a:t>=</a:t>
            </a:r>
            <a:r>
              <a:rPr lang="en-US" altLang="zh-CN" sz="2400" dirty="0">
                <a:solidFill>
                  <a:srgbClr val="0000A8"/>
                </a:solidFill>
                <a:latin typeface="+mj-lt"/>
                <a:ea typeface="黑体" pitchFamily="49" charset="-122"/>
              </a:rPr>
              <a:t>i；</a:t>
            </a:r>
          </a:p>
          <a:p>
            <a:pPr lvl="1" algn="just">
              <a:lnSpc>
                <a:spcPct val="90000"/>
              </a:lnSpc>
              <a:buFontTx/>
              <a:buNone/>
            </a:pPr>
            <a:r>
              <a:rPr lang="en-US" altLang="zh-CN" sz="2400" dirty="0">
                <a:solidFill>
                  <a:srgbClr val="0000A8"/>
                </a:solidFill>
                <a:latin typeface="+mj-lt"/>
                <a:ea typeface="黑体" pitchFamily="49" charset="-122"/>
              </a:rPr>
              <a:t>  </a:t>
            </a:r>
            <a:r>
              <a:rPr lang="en-US" altLang="zh-CN" sz="2400" b="1" dirty="0">
                <a:solidFill>
                  <a:srgbClr val="0000A8"/>
                </a:solidFill>
                <a:latin typeface="+mj-lt"/>
                <a:ea typeface="黑体" pitchFamily="49" charset="-122"/>
              </a:rPr>
              <a:t>return</a:t>
            </a:r>
            <a:r>
              <a:rPr lang="en-US" altLang="zh-CN" sz="2400" dirty="0">
                <a:solidFill>
                  <a:srgbClr val="0000A8"/>
                </a:solidFill>
                <a:latin typeface="+mj-lt"/>
                <a:ea typeface="黑体" pitchFamily="49" charset="-122"/>
              </a:rPr>
              <a:t>  A</a:t>
            </a:r>
            <a:endParaRPr lang="zh-CN" altLang="en-US" sz="2400" dirty="0">
              <a:solidFill>
                <a:srgbClr val="0000A8"/>
              </a:solidFill>
              <a:latin typeface="+mj-lt"/>
              <a:ea typeface="黑体" pitchFamily="49" charset="-122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5184068" y="2942896"/>
            <a:ext cx="3780420" cy="1138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itchFamily="18" charset="0"/>
                <a:ea typeface="华文行楷" pitchFamily="2" charset="-122"/>
              </a:rPr>
              <a:t>T(n) =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itchFamily="18" charset="0"/>
                <a:ea typeface="华文行楷" pitchFamily="2" charset="-122"/>
                <a:sym typeface="Symbol" pitchFamily="18" charset="2"/>
              </a:rPr>
              <a:t></a:t>
            </a:r>
            <a:r>
              <a:rPr lang="en-US" altLang="zh-CN" sz="3200" b="1" dirty="0">
                <a:solidFill>
                  <a:srgbClr val="FF0000"/>
                </a:solidFill>
                <a:latin typeface="Times New Roman" pitchFamily="18" charset="0"/>
                <a:ea typeface="华文行楷" pitchFamily="2" charset="-122"/>
              </a:rPr>
              <a:t>(n)+</a:t>
            </a:r>
            <a:r>
              <a:rPr lang="en-US" altLang="zh-CN" sz="3200" b="1" dirty="0">
                <a:solidFill>
                  <a:srgbClr val="FF0000"/>
                </a:solidFill>
                <a:latin typeface="Times New Roman" pitchFamily="18" charset="0"/>
                <a:ea typeface="华文行楷" pitchFamily="2" charset="-122"/>
                <a:sym typeface="Symbol" pitchFamily="18" charset="2"/>
              </a:rPr>
              <a:t></a:t>
            </a:r>
            <a:r>
              <a:rPr lang="en-US" altLang="zh-CN" sz="3200" b="1" dirty="0">
                <a:solidFill>
                  <a:srgbClr val="FF0000"/>
                </a:solidFill>
                <a:latin typeface="Times New Roman" pitchFamily="18" charset="0"/>
                <a:ea typeface="华文行楷" pitchFamily="2" charset="-122"/>
              </a:rPr>
              <a:t>(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itchFamily="18" charset="0"/>
                <a:ea typeface="华文行楷" pitchFamily="2" charset="-122"/>
              </a:rPr>
              <a:t>nlogn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itchFamily="18" charset="0"/>
                <a:ea typeface="华文行楷" pitchFamily="2" charset="-122"/>
              </a:rPr>
              <a:t>)</a:t>
            </a:r>
          </a:p>
          <a:p>
            <a:r>
              <a:rPr lang="en-US" altLang="zh-CN" sz="3200" b="1" dirty="0">
                <a:solidFill>
                  <a:srgbClr val="FF0000"/>
                </a:solidFill>
                <a:latin typeface="Times New Roman" pitchFamily="18" charset="0"/>
                <a:ea typeface="华文行楷" pitchFamily="2" charset="-122"/>
              </a:rPr>
              <a:t>        =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itchFamily="18" charset="0"/>
                <a:ea typeface="华文行楷" pitchFamily="2" charset="-122"/>
                <a:sym typeface="Symbol" pitchFamily="18" charset="2"/>
              </a:rPr>
              <a:t></a:t>
            </a:r>
            <a:r>
              <a:rPr lang="en-US" altLang="zh-CN" sz="3200" b="1" dirty="0">
                <a:solidFill>
                  <a:srgbClr val="FF0000"/>
                </a:solidFill>
                <a:latin typeface="Times New Roman" pitchFamily="18" charset="0"/>
                <a:ea typeface="华文行楷" pitchFamily="2" charset="-122"/>
              </a:rPr>
              <a:t>(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itchFamily="18" charset="0"/>
                <a:ea typeface="华文行楷" pitchFamily="2" charset="-122"/>
              </a:rPr>
              <a:t>nlogn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itchFamily="18" charset="0"/>
                <a:ea typeface="华文行楷" pitchFamily="2" charset="-122"/>
              </a:rPr>
              <a:t>)</a:t>
            </a:r>
            <a:r>
              <a:rPr lang="en-US" altLang="zh-CN" sz="3600" b="1" dirty="0">
                <a:latin typeface="华文行楷" pitchFamily="2" charset="-122"/>
                <a:ea typeface="华文行楷" pitchFamily="2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769710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活动选择问题</a:t>
            </a:r>
          </a:p>
        </p:txBody>
      </p:sp>
      <p:sp>
        <p:nvSpPr>
          <p:cNvPr id="819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Arial" charset="0"/>
                <a:ea typeface="黑体" pitchFamily="2" charset="-122"/>
              </a:rPr>
              <a:t>最优子结构性质</a:t>
            </a:r>
            <a:endParaRPr lang="en-US" altLang="zh-CN" dirty="0">
              <a:latin typeface="Arial" charset="0"/>
              <a:ea typeface="黑体" pitchFamily="2" charset="-122"/>
            </a:endParaRPr>
          </a:p>
          <a:p>
            <a:pPr lvl="1"/>
            <a:r>
              <a:rPr lang="zh-CN" altLang="en-US" dirty="0">
                <a:latin typeface="+mj-lt"/>
              </a:rPr>
              <a:t>设活动</a:t>
            </a:r>
            <a:r>
              <a:rPr lang="en-US" altLang="zh-CN" dirty="0">
                <a:latin typeface="+mj-lt"/>
              </a:rPr>
              <a:t>S={1, 2, …, n}</a:t>
            </a:r>
            <a:r>
              <a:rPr lang="zh-CN" altLang="en-US" dirty="0">
                <a:latin typeface="+mj-lt"/>
              </a:rPr>
              <a:t>已按结束时间递增排序</a:t>
            </a:r>
            <a:r>
              <a:rPr lang="en-US" altLang="zh-CN" dirty="0">
                <a:latin typeface="+mj-lt"/>
              </a:rPr>
              <a:t>，</a:t>
            </a:r>
            <a:r>
              <a:rPr kumimoji="1" lang="zh-CN" altLang="en-US" dirty="0">
                <a:latin typeface="+mj-lt"/>
                <a:sym typeface="Symbol" pitchFamily="18" charset="2"/>
              </a:rPr>
              <a:t>即 </a:t>
            </a:r>
            <a:r>
              <a:rPr lang="en-US" altLang="zh-CN" sz="2800" dirty="0">
                <a:latin typeface="+mj-lt"/>
                <a:ea typeface="华文行楷" pitchFamily="2" charset="-122"/>
              </a:rPr>
              <a:t>f</a:t>
            </a:r>
            <a:r>
              <a:rPr lang="en-US" altLang="zh-CN" sz="2800" baseline="-30000" dirty="0">
                <a:latin typeface="+mj-lt"/>
                <a:ea typeface="华文行楷" pitchFamily="2" charset="-122"/>
              </a:rPr>
              <a:t>1</a:t>
            </a:r>
            <a:r>
              <a:rPr lang="en-US" altLang="zh-CN" sz="2800" dirty="0">
                <a:latin typeface="+mj-lt"/>
                <a:ea typeface="华文行楷" pitchFamily="2" charset="-122"/>
                <a:sym typeface="Symbol" pitchFamily="18" charset="2"/>
              </a:rPr>
              <a:t></a:t>
            </a:r>
            <a:r>
              <a:rPr lang="en-US" altLang="zh-CN" sz="2800" dirty="0">
                <a:latin typeface="+mj-lt"/>
                <a:ea typeface="华文行楷" pitchFamily="2" charset="-122"/>
              </a:rPr>
              <a:t>f</a:t>
            </a:r>
            <a:r>
              <a:rPr lang="en-US" altLang="zh-CN" sz="2800" baseline="-30000" dirty="0">
                <a:latin typeface="+mj-lt"/>
                <a:ea typeface="华文行楷" pitchFamily="2" charset="-122"/>
              </a:rPr>
              <a:t>2</a:t>
            </a:r>
            <a:r>
              <a:rPr lang="en-US" altLang="zh-CN" sz="2800" dirty="0">
                <a:latin typeface="+mj-lt"/>
                <a:ea typeface="华文行楷" pitchFamily="2" charset="-122"/>
                <a:sym typeface="Symbol" pitchFamily="18" charset="2"/>
              </a:rPr>
              <a:t></a:t>
            </a:r>
            <a:r>
              <a:rPr lang="en-US" altLang="zh-CN" sz="2800" dirty="0">
                <a:latin typeface="+mj-lt"/>
                <a:ea typeface="华文行楷" pitchFamily="2" charset="-122"/>
              </a:rPr>
              <a:t>….</a:t>
            </a:r>
            <a:r>
              <a:rPr lang="en-US" altLang="zh-CN" sz="2800" dirty="0">
                <a:latin typeface="+mj-lt"/>
                <a:ea typeface="华文行楷" pitchFamily="2" charset="-122"/>
                <a:sym typeface="Symbol" pitchFamily="18" charset="2"/>
              </a:rPr>
              <a:t></a:t>
            </a:r>
            <a:r>
              <a:rPr lang="en-US" altLang="zh-CN" sz="2800" dirty="0" err="1">
                <a:latin typeface="+mj-lt"/>
                <a:ea typeface="华文行楷" pitchFamily="2" charset="-122"/>
              </a:rPr>
              <a:t>f</a:t>
            </a:r>
            <a:r>
              <a:rPr lang="en-US" altLang="zh-CN" sz="2800" baseline="-30000" dirty="0" err="1">
                <a:latin typeface="+mj-lt"/>
                <a:ea typeface="华文行楷" pitchFamily="2" charset="-122"/>
              </a:rPr>
              <a:t>n</a:t>
            </a:r>
            <a:r>
              <a:rPr kumimoji="1" lang="zh-CN" altLang="en-US" dirty="0">
                <a:latin typeface="+mj-lt"/>
                <a:sym typeface="Symbol" pitchFamily="18" charset="2"/>
              </a:rPr>
              <a:t>，设</a:t>
            </a:r>
            <a:r>
              <a:rPr kumimoji="1" lang="en-US" altLang="zh-CN" dirty="0">
                <a:latin typeface="+mj-lt"/>
                <a:sym typeface="Symbol" pitchFamily="18" charset="2"/>
              </a:rPr>
              <a:t>A</a:t>
            </a:r>
            <a:r>
              <a:rPr kumimoji="1" lang="zh-CN" altLang="en-US" dirty="0">
                <a:latin typeface="+mj-lt"/>
                <a:sym typeface="Symbol" pitchFamily="18" charset="2"/>
              </a:rPr>
              <a:t>是包括活动 </a:t>
            </a:r>
            <a:r>
              <a:rPr kumimoji="1" lang="en-US" altLang="zh-CN" dirty="0">
                <a:latin typeface="+mj-lt"/>
                <a:sym typeface="Symbol" pitchFamily="18" charset="2"/>
              </a:rPr>
              <a:t>1 </a:t>
            </a:r>
            <a:r>
              <a:rPr kumimoji="1" lang="zh-CN" altLang="en-US" dirty="0">
                <a:latin typeface="+mj-lt"/>
                <a:sym typeface="Symbol" pitchFamily="18" charset="2"/>
              </a:rPr>
              <a:t>的最优解，则</a:t>
            </a:r>
            <a:r>
              <a:rPr kumimoji="1" lang="en-US" altLang="zh-CN" dirty="0">
                <a:latin typeface="+mj-lt"/>
                <a:sym typeface="Symbol" pitchFamily="18" charset="2"/>
              </a:rPr>
              <a:t>A’=A-{1} </a:t>
            </a:r>
            <a:r>
              <a:rPr kumimoji="1" lang="zh-CN" altLang="en-US" dirty="0">
                <a:latin typeface="+mj-lt"/>
                <a:sym typeface="Symbol" pitchFamily="18" charset="2"/>
              </a:rPr>
              <a:t>是 </a:t>
            </a:r>
            <a:r>
              <a:rPr lang="en-US" altLang="zh-CN" sz="2800" dirty="0">
                <a:latin typeface="+mj-lt"/>
              </a:rPr>
              <a:t>S</a:t>
            </a:r>
            <a:r>
              <a:rPr lang="en-US" altLang="zh-CN" sz="2800" dirty="0">
                <a:latin typeface="+mj-lt"/>
                <a:sym typeface="Symbol" pitchFamily="18" charset="2"/>
              </a:rPr>
              <a:t>’</a:t>
            </a:r>
            <a:r>
              <a:rPr lang="en-US" altLang="zh-CN" sz="2800" dirty="0">
                <a:latin typeface="+mj-lt"/>
              </a:rPr>
              <a:t>={i</a:t>
            </a:r>
            <a:r>
              <a:rPr lang="en-US" altLang="zh-CN" sz="2800" dirty="0">
                <a:latin typeface="+mj-lt"/>
                <a:sym typeface="Symbol" pitchFamily="18" charset="2"/>
              </a:rPr>
              <a:t></a:t>
            </a:r>
            <a:r>
              <a:rPr lang="en-US" altLang="zh-CN" sz="2800" dirty="0">
                <a:latin typeface="+mj-lt"/>
              </a:rPr>
              <a:t>S|s</a:t>
            </a:r>
            <a:r>
              <a:rPr lang="en-US" altLang="zh-CN" sz="2800" baseline="-30000" dirty="0">
                <a:latin typeface="+mj-lt"/>
              </a:rPr>
              <a:t>i</a:t>
            </a:r>
            <a:r>
              <a:rPr lang="en-US" altLang="zh-CN" sz="2800" dirty="0">
                <a:latin typeface="+mj-lt"/>
                <a:sym typeface="Symbol" pitchFamily="18" charset="2"/>
              </a:rPr>
              <a:t></a:t>
            </a:r>
            <a:r>
              <a:rPr lang="en-US" altLang="zh-CN" sz="2800" dirty="0">
                <a:latin typeface="+mj-lt"/>
              </a:rPr>
              <a:t>f</a:t>
            </a:r>
            <a:r>
              <a:rPr lang="en-US" altLang="zh-CN" sz="2800" baseline="-30000" dirty="0">
                <a:latin typeface="+mj-lt"/>
              </a:rPr>
              <a:t>1</a:t>
            </a:r>
            <a:r>
              <a:rPr lang="en-US" altLang="zh-CN" sz="2800" dirty="0">
                <a:latin typeface="+mj-lt"/>
              </a:rPr>
              <a:t>}</a:t>
            </a:r>
            <a:r>
              <a:rPr lang="zh-CN" altLang="en-US" sz="2800" dirty="0">
                <a:latin typeface="+mj-lt"/>
              </a:rPr>
              <a:t>的最优解。</a:t>
            </a:r>
            <a:endParaRPr lang="en-US" altLang="zh-CN" sz="2800" dirty="0">
              <a:latin typeface="+mj-lt"/>
            </a:endParaRPr>
          </a:p>
          <a:p>
            <a:pPr lvl="1"/>
            <a:r>
              <a:rPr kumimoji="1" lang="zh-CN" altLang="en-US" dirty="0">
                <a:latin typeface="+mj-lt"/>
                <a:sym typeface="Symbol" pitchFamily="18" charset="2"/>
              </a:rPr>
              <a:t>证明：</a:t>
            </a:r>
            <a:endParaRPr kumimoji="1" lang="en-US" altLang="zh-CN" dirty="0">
              <a:latin typeface="+mj-lt"/>
              <a:sym typeface="Symbol" pitchFamily="18" charset="2"/>
            </a:endParaRPr>
          </a:p>
          <a:p>
            <a:pPr lvl="2"/>
            <a:r>
              <a:rPr lang="zh-CN" altLang="en-US" dirty="0">
                <a:latin typeface="+mj-lt"/>
              </a:rPr>
              <a:t>显然</a:t>
            </a:r>
            <a:r>
              <a:rPr lang="en-US" altLang="zh-CN" dirty="0">
                <a:latin typeface="+mj-lt"/>
              </a:rPr>
              <a:t>A’</a:t>
            </a:r>
            <a:r>
              <a:rPr lang="zh-CN" altLang="en-US" dirty="0">
                <a:latin typeface="+mj-lt"/>
              </a:rPr>
              <a:t>中的活动是相容的，只需证</a:t>
            </a:r>
            <a:r>
              <a:rPr lang="en-US" altLang="zh-CN" dirty="0">
                <a:latin typeface="+mj-lt"/>
              </a:rPr>
              <a:t>A’</a:t>
            </a:r>
            <a:r>
              <a:rPr lang="zh-CN" altLang="en-US" dirty="0">
                <a:latin typeface="+mj-lt"/>
              </a:rPr>
              <a:t>是最大的。</a:t>
            </a:r>
            <a:endParaRPr lang="en-US" altLang="zh-CN" dirty="0">
              <a:latin typeface="+mj-lt"/>
            </a:endParaRPr>
          </a:p>
          <a:p>
            <a:pPr lvl="2"/>
            <a:r>
              <a:rPr lang="zh-CN" altLang="en-US" dirty="0">
                <a:latin typeface="+mj-lt"/>
              </a:rPr>
              <a:t>若不然，假设</a:t>
            </a:r>
            <a:r>
              <a:rPr lang="en-US" altLang="zh-CN" dirty="0">
                <a:latin typeface="+mj-lt"/>
              </a:rPr>
              <a:t>B’</a:t>
            </a:r>
            <a:r>
              <a:rPr lang="zh-CN" altLang="en-US" dirty="0">
                <a:latin typeface="+mj-lt"/>
              </a:rPr>
              <a:t>是最大的，且</a:t>
            </a:r>
            <a:r>
              <a:rPr lang="en-US" altLang="zh-CN" dirty="0">
                <a:latin typeface="+mj-lt"/>
              </a:rPr>
              <a:t>|</a:t>
            </a:r>
            <a:r>
              <a:rPr lang="en-US" altLang="zh-CN" dirty="0"/>
              <a:t>B’| </a:t>
            </a:r>
            <a:r>
              <a:rPr lang="en-US" altLang="zh-CN" dirty="0">
                <a:sym typeface="Symbol" pitchFamily="18" charset="2"/>
              </a:rPr>
              <a:t>&gt; |</a:t>
            </a:r>
            <a:r>
              <a:rPr lang="en-US" altLang="zh-CN" dirty="0"/>
              <a:t>A’|</a:t>
            </a:r>
            <a:r>
              <a:rPr lang="zh-CN" altLang="en-US" dirty="0"/>
              <a:t>。</a:t>
            </a:r>
            <a:endParaRPr lang="en-US" altLang="zh-CN" dirty="0"/>
          </a:p>
          <a:p>
            <a:pPr lvl="2"/>
            <a:r>
              <a:rPr lang="zh-CN" altLang="en-US" dirty="0">
                <a:latin typeface="+mj-lt"/>
              </a:rPr>
              <a:t>那么</a:t>
            </a:r>
            <a:r>
              <a:rPr lang="en-US" altLang="zh-CN" dirty="0">
                <a:latin typeface="+mj-lt"/>
              </a:rPr>
              <a:t>B={1}∪B</a:t>
            </a:r>
            <a:r>
              <a:rPr lang="en-US" altLang="zh-CN" dirty="0">
                <a:latin typeface="+mj-lt"/>
                <a:sym typeface="Symbol" pitchFamily="18" charset="2"/>
              </a:rPr>
              <a:t>’</a:t>
            </a:r>
            <a:r>
              <a:rPr lang="zh-CN" altLang="en-US" dirty="0">
                <a:latin typeface="+mj-lt"/>
                <a:sym typeface="Symbol" pitchFamily="18" charset="2"/>
              </a:rPr>
              <a:t>是最优解，但</a:t>
            </a:r>
            <a:r>
              <a:rPr lang="en-US" altLang="zh-CN" dirty="0">
                <a:latin typeface="+mj-lt"/>
                <a:sym typeface="Symbol" pitchFamily="18" charset="2"/>
              </a:rPr>
              <a:t>|B| =1+</a:t>
            </a:r>
            <a:r>
              <a:rPr lang="en-US" altLang="zh-CN" sz="1800" dirty="0"/>
              <a:t>|</a:t>
            </a:r>
            <a:r>
              <a:rPr lang="en-US" altLang="zh-CN" dirty="0"/>
              <a:t>B’| </a:t>
            </a:r>
            <a:r>
              <a:rPr lang="en-US" altLang="zh-CN" dirty="0">
                <a:sym typeface="Symbol" pitchFamily="18" charset="2"/>
              </a:rPr>
              <a:t>&gt; 1+|</a:t>
            </a:r>
            <a:r>
              <a:rPr lang="en-US" altLang="zh-CN" dirty="0"/>
              <a:t>A’|=|</a:t>
            </a:r>
            <a:r>
              <a:rPr lang="en-US" altLang="zh-CN" dirty="0">
                <a:sym typeface="Symbol" pitchFamily="18" charset="2"/>
              </a:rPr>
              <a:t>A|</a:t>
            </a:r>
          </a:p>
          <a:p>
            <a:pPr lvl="2"/>
            <a:r>
              <a:rPr lang="zh-CN" altLang="en-US" dirty="0">
                <a:latin typeface="+mj-lt"/>
                <a:sym typeface="Symbol" pitchFamily="18" charset="2"/>
              </a:rPr>
              <a:t>这与</a:t>
            </a:r>
            <a:r>
              <a:rPr lang="en-US" altLang="zh-CN" dirty="0">
                <a:latin typeface="+mj-lt"/>
                <a:sym typeface="Symbol" pitchFamily="18" charset="2"/>
              </a:rPr>
              <a:t>A</a:t>
            </a:r>
            <a:r>
              <a:rPr lang="zh-CN" altLang="en-US" dirty="0">
                <a:latin typeface="+mj-lt"/>
                <a:sym typeface="Symbol" pitchFamily="18" charset="2"/>
              </a:rPr>
              <a:t>是最大的（最优解）矛盾。</a:t>
            </a:r>
            <a:endParaRPr lang="en-US" altLang="zh-CN" dirty="0">
              <a:latin typeface="+mj-lt"/>
            </a:endParaRPr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166F650B-5347-4F36-8304-1500CA3F90AB}" type="slidenum">
              <a:rPr lang="en-US" altLang="zh-CN" smtClean="0">
                <a:solidFill>
                  <a:srgbClr val="006600"/>
                </a:solidFill>
                <a:latin typeface="Courier New" pitchFamily="49" charset="0"/>
                <a:ea typeface="华文新魏" pitchFamily="2" charset="-122"/>
              </a:rPr>
              <a:pPr eaLnBrk="1" hangingPunct="1"/>
              <a:t>9</a:t>
            </a:fld>
            <a:endParaRPr lang="en-US" altLang="zh-CN">
              <a:solidFill>
                <a:srgbClr val="006600"/>
              </a:solidFill>
              <a:latin typeface="Courier New" pitchFamily="49" charset="0"/>
              <a:ea typeface="华文新魏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540582" y="5795682"/>
            <a:ext cx="5594801" cy="5232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问题的最优解包含子问题的最优解</a:t>
            </a:r>
          </a:p>
        </p:txBody>
      </p:sp>
    </p:spTree>
    <p:extLst>
      <p:ext uri="{BB962C8B-B14F-4D97-AF65-F5344CB8AC3E}">
        <p14:creationId xmlns:p14="http://schemas.microsoft.com/office/powerpoint/2010/main" val="28333277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活动选择问题</a:t>
            </a:r>
          </a:p>
        </p:txBody>
      </p:sp>
      <p:sp>
        <p:nvSpPr>
          <p:cNvPr id="819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Arial" charset="0"/>
                <a:ea typeface="黑体" pitchFamily="2" charset="-122"/>
              </a:rPr>
              <a:t>贪心选择性</a:t>
            </a:r>
            <a:endParaRPr lang="en-US" altLang="zh-CN" dirty="0">
              <a:latin typeface="Arial" charset="0"/>
              <a:ea typeface="黑体" pitchFamily="2" charset="-122"/>
            </a:endParaRPr>
          </a:p>
          <a:p>
            <a:pPr lvl="1">
              <a:spcBef>
                <a:spcPct val="20000"/>
              </a:spcBef>
            </a:pPr>
            <a:r>
              <a:rPr lang="zh-CN" altLang="en-US" dirty="0">
                <a:latin typeface="+mj-lt"/>
              </a:rPr>
              <a:t>设活动</a:t>
            </a:r>
            <a:r>
              <a:rPr lang="en-US" altLang="zh-CN" dirty="0">
                <a:latin typeface="+mj-lt"/>
              </a:rPr>
              <a:t>S={1, 2, …, n}</a:t>
            </a:r>
            <a:r>
              <a:rPr lang="zh-CN" altLang="en-US" dirty="0">
                <a:latin typeface="+mj-lt"/>
              </a:rPr>
              <a:t>已按结束时间递增排序</a:t>
            </a:r>
            <a:r>
              <a:rPr lang="en-US" altLang="zh-CN" dirty="0">
                <a:latin typeface="+mj-lt"/>
              </a:rPr>
              <a:t>，</a:t>
            </a:r>
            <a:r>
              <a:rPr kumimoji="1" lang="zh-CN" altLang="en-US" dirty="0">
                <a:latin typeface="+mj-lt"/>
                <a:sym typeface="Symbol" pitchFamily="18" charset="2"/>
              </a:rPr>
              <a:t>即 </a:t>
            </a:r>
            <a:r>
              <a:rPr lang="en-US" altLang="zh-CN" dirty="0">
                <a:latin typeface="+mj-lt"/>
                <a:ea typeface="华文行楷" pitchFamily="2" charset="-122"/>
              </a:rPr>
              <a:t>f</a:t>
            </a:r>
            <a:r>
              <a:rPr lang="en-US" altLang="zh-CN" baseline="-30000" dirty="0">
                <a:latin typeface="+mj-lt"/>
                <a:ea typeface="华文行楷" pitchFamily="2" charset="-122"/>
              </a:rPr>
              <a:t>1</a:t>
            </a:r>
            <a:r>
              <a:rPr lang="en-US" altLang="zh-CN" dirty="0">
                <a:latin typeface="+mj-lt"/>
                <a:ea typeface="华文行楷" pitchFamily="2" charset="-122"/>
                <a:sym typeface="Symbol" pitchFamily="18" charset="2"/>
              </a:rPr>
              <a:t></a:t>
            </a:r>
            <a:r>
              <a:rPr lang="en-US" altLang="zh-CN" dirty="0">
                <a:latin typeface="+mj-lt"/>
                <a:ea typeface="华文行楷" pitchFamily="2" charset="-122"/>
              </a:rPr>
              <a:t>f</a:t>
            </a:r>
            <a:r>
              <a:rPr lang="en-US" altLang="zh-CN" baseline="-30000" dirty="0">
                <a:latin typeface="+mj-lt"/>
                <a:ea typeface="华文行楷" pitchFamily="2" charset="-122"/>
              </a:rPr>
              <a:t>2</a:t>
            </a:r>
            <a:r>
              <a:rPr lang="en-US" altLang="zh-CN" dirty="0">
                <a:latin typeface="+mj-lt"/>
                <a:ea typeface="华文行楷" pitchFamily="2" charset="-122"/>
                <a:sym typeface="Symbol" pitchFamily="18" charset="2"/>
              </a:rPr>
              <a:t></a:t>
            </a:r>
            <a:r>
              <a:rPr lang="en-US" altLang="zh-CN" dirty="0">
                <a:latin typeface="+mj-lt"/>
                <a:ea typeface="华文行楷" pitchFamily="2" charset="-122"/>
              </a:rPr>
              <a:t>….</a:t>
            </a:r>
            <a:r>
              <a:rPr lang="en-US" altLang="zh-CN" dirty="0">
                <a:latin typeface="+mj-lt"/>
                <a:ea typeface="华文行楷" pitchFamily="2" charset="-122"/>
                <a:sym typeface="Symbol" pitchFamily="18" charset="2"/>
              </a:rPr>
              <a:t></a:t>
            </a:r>
            <a:r>
              <a:rPr lang="en-US" altLang="zh-CN" dirty="0" err="1">
                <a:latin typeface="+mj-lt"/>
                <a:ea typeface="华文行楷" pitchFamily="2" charset="-122"/>
              </a:rPr>
              <a:t>f</a:t>
            </a:r>
            <a:r>
              <a:rPr lang="en-US" altLang="zh-CN" baseline="-30000" dirty="0" err="1">
                <a:latin typeface="+mj-lt"/>
                <a:ea typeface="华文行楷" pitchFamily="2" charset="-122"/>
              </a:rPr>
              <a:t>n</a:t>
            </a:r>
            <a:r>
              <a:rPr lang="en-US" altLang="zh-CN" baseline="-30000" dirty="0">
                <a:latin typeface="+mj-lt"/>
                <a:ea typeface="华文行楷" pitchFamily="2" charset="-122"/>
              </a:rPr>
              <a:t> </a:t>
            </a:r>
            <a:r>
              <a:rPr kumimoji="1" lang="zh-CN" altLang="en-US" dirty="0">
                <a:latin typeface="+mj-lt"/>
                <a:sym typeface="Symbol" pitchFamily="18" charset="2"/>
              </a:rPr>
              <a:t>。每次选</a:t>
            </a:r>
            <a:r>
              <a:rPr lang="zh-CN" altLang="en-US" dirty="0">
                <a:latin typeface="+mj-lt"/>
              </a:rPr>
              <a:t>结束时间最小的相容活动，可得最优解</a:t>
            </a:r>
            <a:r>
              <a:rPr lang="en-US" altLang="zh-CN" dirty="0">
                <a:latin typeface="+mj-lt"/>
              </a:rPr>
              <a:t>A</a:t>
            </a:r>
            <a:r>
              <a:rPr lang="zh-CN" altLang="en-US" dirty="0">
                <a:latin typeface="+mj-lt"/>
              </a:rPr>
              <a:t>。</a:t>
            </a:r>
            <a:endParaRPr lang="en-US" altLang="zh-CN" dirty="0">
              <a:latin typeface="+mj-lt"/>
            </a:endParaRPr>
          </a:p>
          <a:p>
            <a:pPr lvl="1"/>
            <a:r>
              <a:rPr kumimoji="1" lang="zh-CN" altLang="en-US" dirty="0">
                <a:sym typeface="Symbol" pitchFamily="18" charset="2"/>
              </a:rPr>
              <a:t>证明：</a:t>
            </a:r>
            <a:endParaRPr kumimoji="1" lang="en-US" altLang="zh-CN" dirty="0">
              <a:sym typeface="Symbol" pitchFamily="18" charset="2"/>
            </a:endParaRPr>
          </a:p>
          <a:p>
            <a:pPr lvl="2"/>
            <a:r>
              <a:rPr kumimoji="1" lang="zh-CN" altLang="en-US" dirty="0">
                <a:sym typeface="Symbol" pitchFamily="18" charset="2"/>
              </a:rPr>
              <a:t>设贪心最优解 </a:t>
            </a:r>
            <a:r>
              <a:rPr kumimoji="1" lang="en-US" altLang="zh-CN" dirty="0">
                <a:sym typeface="Symbol" pitchFamily="18" charset="2"/>
              </a:rPr>
              <a:t>A </a:t>
            </a:r>
            <a:r>
              <a:rPr kumimoji="1" lang="zh-CN" altLang="en-US" dirty="0">
                <a:sym typeface="Symbol" pitchFamily="18" charset="2"/>
              </a:rPr>
              <a:t>也按结束时间递增排序，设其第一个活动为 </a:t>
            </a:r>
            <a:r>
              <a:rPr kumimoji="1" lang="en-US" altLang="zh-CN" dirty="0">
                <a:sym typeface="Symbol" pitchFamily="18" charset="2"/>
              </a:rPr>
              <a:t>k</a:t>
            </a:r>
            <a:r>
              <a:rPr kumimoji="1" lang="zh-CN" altLang="en-US" dirty="0">
                <a:sym typeface="Symbol" pitchFamily="18" charset="2"/>
              </a:rPr>
              <a:t>，第二个活动为 </a:t>
            </a:r>
            <a:r>
              <a:rPr kumimoji="1" lang="en-US" altLang="zh-CN" dirty="0">
                <a:sym typeface="Symbol" pitchFamily="18" charset="2"/>
              </a:rPr>
              <a:t>j</a:t>
            </a:r>
          </a:p>
          <a:p>
            <a:pPr lvl="2"/>
            <a:r>
              <a:rPr kumimoji="1" lang="zh-CN" altLang="en-US" dirty="0">
                <a:sym typeface="Symbol" pitchFamily="18" charset="2"/>
              </a:rPr>
              <a:t>若</a:t>
            </a:r>
            <a:r>
              <a:rPr kumimoji="1" lang="en-US" altLang="zh-CN" dirty="0">
                <a:sym typeface="Symbol" pitchFamily="18" charset="2"/>
              </a:rPr>
              <a:t>k=1</a:t>
            </a:r>
            <a:r>
              <a:rPr kumimoji="1" lang="zh-CN" altLang="en-US" dirty="0">
                <a:sym typeface="Symbol" pitchFamily="18" charset="2"/>
              </a:rPr>
              <a:t>，则成立</a:t>
            </a:r>
            <a:endParaRPr kumimoji="1" lang="en-US" altLang="zh-CN" dirty="0">
              <a:sym typeface="Symbol" pitchFamily="18" charset="2"/>
            </a:endParaRPr>
          </a:p>
          <a:p>
            <a:pPr lvl="2"/>
            <a:r>
              <a:rPr kumimoji="1" lang="zh-CN" altLang="en-US" dirty="0">
                <a:sym typeface="Symbol" pitchFamily="18" charset="2"/>
              </a:rPr>
              <a:t>若</a:t>
            </a:r>
            <a:r>
              <a:rPr kumimoji="1" lang="en-US" altLang="zh-CN" dirty="0">
                <a:sym typeface="Symbol" pitchFamily="18" charset="2"/>
              </a:rPr>
              <a:t>k1</a:t>
            </a:r>
            <a:r>
              <a:rPr kumimoji="1" lang="zh-CN" altLang="en-US" dirty="0">
                <a:sym typeface="Symbol" pitchFamily="18" charset="2"/>
              </a:rPr>
              <a:t>，由于 </a:t>
            </a:r>
            <a:r>
              <a:rPr kumimoji="1" lang="en-US" altLang="zh-CN" dirty="0">
                <a:sym typeface="Symbol" pitchFamily="18" charset="2"/>
              </a:rPr>
              <a:t>A </a:t>
            </a:r>
            <a:r>
              <a:rPr kumimoji="1" lang="zh-CN" altLang="en-US" dirty="0">
                <a:sym typeface="Symbol" pitchFamily="18" charset="2"/>
              </a:rPr>
              <a:t>中活动相容，有</a:t>
            </a:r>
            <a:r>
              <a:rPr lang="en-US" altLang="zh-CN" dirty="0" err="1">
                <a:ea typeface="华文行楷" pitchFamily="2" charset="-122"/>
              </a:rPr>
              <a:t>f</a:t>
            </a:r>
            <a:r>
              <a:rPr lang="en-US" altLang="zh-CN" baseline="-30000" dirty="0" err="1">
                <a:ea typeface="华文行楷" pitchFamily="2" charset="-122"/>
              </a:rPr>
              <a:t>k</a:t>
            </a:r>
            <a:r>
              <a:rPr lang="en-US" altLang="zh-CN" baseline="-30000" dirty="0">
                <a:ea typeface="华文行楷" pitchFamily="2" charset="-122"/>
              </a:rPr>
              <a:t> </a:t>
            </a:r>
            <a:r>
              <a:rPr lang="en-US" altLang="zh-CN" dirty="0">
                <a:ea typeface="华文行楷" pitchFamily="2" charset="-122"/>
                <a:sym typeface="Symbol" pitchFamily="18" charset="2"/>
              </a:rPr>
              <a:t> </a:t>
            </a:r>
            <a:r>
              <a:rPr lang="en-US" altLang="zh-CN" dirty="0" err="1">
                <a:ea typeface="华文行楷" pitchFamily="2" charset="-122"/>
              </a:rPr>
              <a:t>s</a:t>
            </a:r>
            <a:r>
              <a:rPr lang="en-US" altLang="zh-CN" baseline="-25000" dirty="0" err="1">
                <a:ea typeface="华文行楷" pitchFamily="2" charset="-122"/>
              </a:rPr>
              <a:t>j</a:t>
            </a:r>
            <a:r>
              <a:rPr kumimoji="1" lang="zh-CN" altLang="en-US" dirty="0">
                <a:sym typeface="Symbol" pitchFamily="18" charset="2"/>
              </a:rPr>
              <a:t>，由于</a:t>
            </a:r>
            <a:r>
              <a:rPr lang="en-US" altLang="zh-CN" dirty="0">
                <a:ea typeface="华文行楷" pitchFamily="2" charset="-122"/>
              </a:rPr>
              <a:t>f</a:t>
            </a:r>
            <a:r>
              <a:rPr lang="en-US" altLang="zh-CN" baseline="-30000" dirty="0">
                <a:ea typeface="华文行楷" pitchFamily="2" charset="-122"/>
              </a:rPr>
              <a:t>1 </a:t>
            </a:r>
            <a:r>
              <a:rPr lang="en-US" altLang="zh-CN" dirty="0">
                <a:ea typeface="华文行楷" pitchFamily="2" charset="-122"/>
                <a:sym typeface="Symbol" pitchFamily="18" charset="2"/>
              </a:rPr>
              <a:t> </a:t>
            </a:r>
            <a:r>
              <a:rPr lang="en-US" altLang="zh-CN" dirty="0" err="1">
                <a:ea typeface="华文行楷" pitchFamily="2" charset="-122"/>
              </a:rPr>
              <a:t>f</a:t>
            </a:r>
            <a:r>
              <a:rPr lang="en-US" altLang="zh-CN" baseline="-30000" dirty="0" err="1">
                <a:ea typeface="华文行楷" pitchFamily="2" charset="-122"/>
              </a:rPr>
              <a:t>k</a:t>
            </a:r>
            <a:r>
              <a:rPr kumimoji="1" lang="zh-CN" altLang="en-US" dirty="0">
                <a:sym typeface="Symbol" pitchFamily="18" charset="2"/>
              </a:rPr>
              <a:t>，因此，可以用活动 </a:t>
            </a:r>
            <a:r>
              <a:rPr kumimoji="1" lang="en-US" altLang="zh-CN" dirty="0">
                <a:sym typeface="Symbol" pitchFamily="18" charset="2"/>
              </a:rPr>
              <a:t>1 </a:t>
            </a:r>
            <a:r>
              <a:rPr kumimoji="1" lang="zh-CN" altLang="en-US" dirty="0">
                <a:sym typeface="Symbol" pitchFamily="18" charset="2"/>
              </a:rPr>
              <a:t>代替活动 </a:t>
            </a:r>
            <a:r>
              <a:rPr kumimoji="1" lang="en-US" altLang="zh-CN" dirty="0">
                <a:sym typeface="Symbol" pitchFamily="18" charset="2"/>
              </a:rPr>
              <a:t>k</a:t>
            </a:r>
            <a:endParaRPr lang="en-US" altLang="zh-CN" dirty="0">
              <a:latin typeface="+mj-lt"/>
            </a:endParaRPr>
          </a:p>
          <a:p>
            <a:pPr lvl="1"/>
            <a:endParaRPr lang="en-US" altLang="zh-CN" dirty="0">
              <a:latin typeface="Arial" charset="0"/>
              <a:ea typeface="黑体" pitchFamily="2" charset="-122"/>
            </a:endParaRPr>
          </a:p>
          <a:p>
            <a:endParaRPr lang="en-US" altLang="zh-CN" dirty="0">
              <a:latin typeface="+mj-lt"/>
            </a:endParaRPr>
          </a:p>
          <a:p>
            <a:endParaRPr lang="en-US" altLang="zh-CN" dirty="0">
              <a:latin typeface="+mj-lt"/>
            </a:endParaRPr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166F650B-5347-4F36-8304-1500CA3F90AB}" type="slidenum">
              <a:rPr lang="en-US" altLang="zh-CN" smtClean="0">
                <a:solidFill>
                  <a:srgbClr val="006600"/>
                </a:solidFill>
                <a:latin typeface="Courier New" pitchFamily="49" charset="0"/>
                <a:ea typeface="华文新魏" pitchFamily="2" charset="-122"/>
              </a:rPr>
              <a:pPr eaLnBrk="1" hangingPunct="1"/>
              <a:t>10</a:t>
            </a:fld>
            <a:endParaRPr lang="en-US" altLang="zh-CN">
              <a:solidFill>
                <a:srgbClr val="006600"/>
              </a:solidFill>
              <a:latin typeface="Courier New" pitchFamily="49" charset="0"/>
              <a:ea typeface="华文新魏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812827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哈夫曼编码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带权路径长度</a:t>
            </a:r>
            <a:endParaRPr lang="en-US" altLang="zh-CN" dirty="0"/>
          </a:p>
          <a:p>
            <a:pPr lvl="1">
              <a:defRPr/>
            </a:pPr>
            <a:r>
              <a:rPr lang="zh-CN" altLang="en-US" dirty="0"/>
              <a:t>假设二叉树中每个叶结点有一个权值</a:t>
            </a:r>
            <a:r>
              <a:rPr lang="en-US" altLang="zh-CN" i="1" dirty="0" err="1">
                <a:latin typeface="+mn-lt"/>
              </a:rPr>
              <a:t>w</a:t>
            </a:r>
            <a:r>
              <a:rPr lang="en-US" altLang="zh-CN" i="1" baseline="-25000" dirty="0" err="1">
                <a:latin typeface="+mn-lt"/>
              </a:rPr>
              <a:t>i</a:t>
            </a:r>
            <a:r>
              <a:rPr lang="zh-CN" altLang="en-US" dirty="0">
                <a:latin typeface="+mn-lt"/>
              </a:rPr>
              <a:t>，</a:t>
            </a:r>
            <a:r>
              <a:rPr lang="zh-CN" altLang="en-US" dirty="0"/>
              <a:t>到根的路径长度为</a:t>
            </a:r>
            <a:r>
              <a:rPr lang="en-US" altLang="zh-CN" i="1" dirty="0">
                <a:latin typeface="+mn-lt"/>
              </a:rPr>
              <a:t>l</a:t>
            </a:r>
            <a:r>
              <a:rPr lang="en-US" altLang="zh-CN" i="1" baseline="-25000" dirty="0">
                <a:latin typeface="+mn-lt"/>
              </a:rPr>
              <a:t>i</a:t>
            </a:r>
            <a:r>
              <a:rPr lang="zh-CN" altLang="en-US" dirty="0">
                <a:latin typeface="+mn-lt"/>
              </a:rPr>
              <a:t>，</a:t>
            </a:r>
            <a:r>
              <a:rPr lang="zh-CN" altLang="en-US" dirty="0"/>
              <a:t>其他结点权值为</a:t>
            </a:r>
            <a:r>
              <a:rPr lang="en-US" altLang="zh-CN" dirty="0"/>
              <a:t>0</a:t>
            </a:r>
            <a:r>
              <a:rPr lang="zh-CN" altLang="en-US" dirty="0"/>
              <a:t>，则有</a:t>
            </a:r>
            <a:r>
              <a:rPr lang="en-US" altLang="zh-CN" dirty="0"/>
              <a:t>n</a:t>
            </a:r>
            <a:r>
              <a:rPr lang="zh-CN" altLang="en-US" dirty="0"/>
              <a:t>个叶子结点的树的带权路径长度为</a:t>
            </a:r>
            <a:endParaRPr lang="en-US" altLang="zh-CN" dirty="0"/>
          </a:p>
          <a:p>
            <a:pPr>
              <a:defRPr/>
            </a:pPr>
            <a:endParaRPr lang="en-US" altLang="zh-CN" dirty="0"/>
          </a:p>
          <a:p>
            <a:pPr>
              <a:defRPr/>
            </a:pPr>
            <a:endParaRPr lang="zh-CN" altLang="en-US" dirty="0"/>
          </a:p>
        </p:txBody>
      </p:sp>
      <p:sp>
        <p:nvSpPr>
          <p:cNvPr id="29700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fld id="{EE412C4E-3C03-49A9-97A0-DF5A10CBAF27}" type="slidenum">
              <a:rPr lang="en-US" altLang="zh-CN" smtClean="0">
                <a:solidFill>
                  <a:srgbClr val="006600"/>
                </a:solidFill>
                <a:latin typeface="Courier New" pitchFamily="49" charset="0"/>
                <a:ea typeface="华文新魏" pitchFamily="2" charset="-122"/>
              </a:rPr>
              <a:pPr eaLnBrk="1" hangingPunct="1"/>
              <a:t>11</a:t>
            </a:fld>
            <a:endParaRPr lang="en-US" altLang="zh-CN">
              <a:solidFill>
                <a:srgbClr val="006600"/>
              </a:solidFill>
              <a:latin typeface="Courier New" pitchFamily="49" charset="0"/>
              <a:ea typeface="华文新魏" pitchFamily="2" charset="-122"/>
            </a:endParaRPr>
          </a:p>
        </p:txBody>
      </p:sp>
      <p:graphicFrame>
        <p:nvGraphicFramePr>
          <p:cNvPr id="29701" name="对象 4"/>
          <p:cNvGraphicFramePr>
            <a:graphicFrameLocks noChangeAspect="1"/>
          </p:cNvGraphicFramePr>
          <p:nvPr/>
        </p:nvGraphicFramePr>
        <p:xfrm>
          <a:off x="4662488" y="2852738"/>
          <a:ext cx="2322512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000032" imgH="371520" progId="Equation.3">
                  <p:embed/>
                </p:oleObj>
              </mc:Choice>
              <mc:Fallback>
                <p:oleObj name="公式" r:id="rId2" imgW="1000032" imgH="3715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2488" y="2852738"/>
                        <a:ext cx="2322512" cy="869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702" name="组合 8"/>
          <p:cNvGrpSpPr>
            <a:grpSpLocks/>
          </p:cNvGrpSpPr>
          <p:nvPr/>
        </p:nvGrpSpPr>
        <p:grpSpPr bwMode="auto">
          <a:xfrm>
            <a:off x="792163" y="4089400"/>
            <a:ext cx="1449387" cy="1208088"/>
            <a:chOff x="1238225" y="4299653"/>
            <a:chExt cx="1449672" cy="1208461"/>
          </a:xfrm>
        </p:grpSpPr>
        <p:sp>
          <p:nvSpPr>
            <p:cNvPr id="29743" name="Oval 49"/>
            <p:cNvSpPr>
              <a:spLocks noChangeArrowheads="1"/>
            </p:cNvSpPr>
            <p:nvPr/>
          </p:nvSpPr>
          <p:spPr bwMode="invGray">
            <a:xfrm>
              <a:off x="1815631" y="4299653"/>
              <a:ext cx="198718" cy="203200"/>
            </a:xfrm>
            <a:prstGeom prst="ellipse">
              <a:avLst/>
            </a:prstGeom>
            <a:solidFill>
              <a:srgbClr val="000099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5388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tIns="91440" bIns="9144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9744" name="Line 64"/>
            <p:cNvSpPr>
              <a:spLocks noChangeShapeType="1"/>
            </p:cNvSpPr>
            <p:nvPr/>
          </p:nvSpPr>
          <p:spPr bwMode="invGray">
            <a:xfrm flipH="1">
              <a:off x="1574331" y="4401253"/>
              <a:ext cx="383241" cy="29210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388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tIns="91440" bIns="9144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9745" name="Line 65"/>
            <p:cNvSpPr>
              <a:spLocks noChangeShapeType="1"/>
            </p:cNvSpPr>
            <p:nvPr/>
          </p:nvSpPr>
          <p:spPr bwMode="invGray">
            <a:xfrm>
              <a:off x="1872408" y="4401253"/>
              <a:ext cx="383241" cy="29210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388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tIns="91440" bIns="91440" anchor="ctr">
              <a:spAutoFit/>
            </a:bodyPr>
            <a:lstStyle/>
            <a:p>
              <a:endParaRPr lang="zh-CN" altLang="en-US"/>
            </a:p>
          </p:txBody>
        </p:sp>
        <p:grpSp>
          <p:nvGrpSpPr>
            <p:cNvPr id="29746" name="组合 6"/>
            <p:cNvGrpSpPr>
              <a:grpSpLocks/>
            </p:cNvGrpSpPr>
            <p:nvPr/>
          </p:nvGrpSpPr>
          <p:grpSpPr bwMode="auto">
            <a:xfrm>
              <a:off x="1295636" y="4642553"/>
              <a:ext cx="567765" cy="584200"/>
              <a:chOff x="1295636" y="4653136"/>
              <a:chExt cx="567765" cy="584200"/>
            </a:xfrm>
          </p:grpSpPr>
          <p:sp>
            <p:nvSpPr>
              <p:cNvPr id="29756" name="Line 57"/>
              <p:cNvSpPr>
                <a:spLocks noChangeShapeType="1"/>
              </p:cNvSpPr>
              <p:nvPr/>
            </p:nvSpPr>
            <p:spPr bwMode="invGray">
              <a:xfrm flipH="1">
                <a:off x="1409189" y="4792836"/>
                <a:ext cx="113553" cy="31750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53882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tIns="91440" bIns="9144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9757" name="Line 58"/>
              <p:cNvSpPr>
                <a:spLocks noChangeShapeType="1"/>
              </p:cNvSpPr>
              <p:nvPr/>
            </p:nvSpPr>
            <p:spPr bwMode="invGray">
              <a:xfrm>
                <a:off x="1607907" y="4805536"/>
                <a:ext cx="156135" cy="317500"/>
              </a:xfrm>
              <a:prstGeom prst="line">
                <a:avLst/>
              </a:prstGeom>
              <a:noFill/>
              <a:ln w="222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53882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tIns="91440" bIns="9144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9758" name="Oval 60"/>
              <p:cNvSpPr>
                <a:spLocks noChangeArrowheads="1"/>
              </p:cNvSpPr>
              <p:nvPr/>
            </p:nvSpPr>
            <p:spPr bwMode="invGray">
              <a:xfrm>
                <a:off x="1295636" y="5034136"/>
                <a:ext cx="198718" cy="203200"/>
              </a:xfrm>
              <a:prstGeom prst="ellipse">
                <a:avLst/>
              </a:prstGeom>
              <a:solidFill>
                <a:srgbClr val="000099"/>
              </a:solidFill>
              <a:ln w="127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53882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tIns="91440" bIns="9144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9759" name="Oval 62"/>
              <p:cNvSpPr>
                <a:spLocks noChangeArrowheads="1"/>
              </p:cNvSpPr>
              <p:nvPr/>
            </p:nvSpPr>
            <p:spPr bwMode="invGray">
              <a:xfrm>
                <a:off x="1664683" y="5034136"/>
                <a:ext cx="198718" cy="203200"/>
              </a:xfrm>
              <a:prstGeom prst="ellipse">
                <a:avLst/>
              </a:prstGeom>
              <a:solidFill>
                <a:srgbClr val="000099"/>
              </a:solidFill>
              <a:ln w="127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53882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tIns="91440" bIns="91440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9760" name="Oval 63"/>
              <p:cNvSpPr>
                <a:spLocks noChangeArrowheads="1"/>
              </p:cNvSpPr>
              <p:nvPr/>
            </p:nvSpPr>
            <p:spPr bwMode="invGray">
              <a:xfrm>
                <a:off x="1451772" y="4653136"/>
                <a:ext cx="198718" cy="203200"/>
              </a:xfrm>
              <a:prstGeom prst="ellipse">
                <a:avLst/>
              </a:prstGeom>
              <a:solidFill>
                <a:srgbClr val="000099"/>
              </a:solidFill>
              <a:ln w="127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53882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tIns="91440" bIns="91440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29747" name="TextBox 5"/>
            <p:cNvSpPr txBox="1">
              <a:spLocks noChangeArrowheads="1"/>
            </p:cNvSpPr>
            <p:nvPr/>
          </p:nvSpPr>
          <p:spPr bwMode="auto">
            <a:xfrm>
              <a:off x="1238225" y="5138782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Wingdings" pitchFamily="2" charset="2"/>
                <a:buNone/>
              </a:pPr>
              <a:r>
                <a:rPr lang="en-US" altLang="zh-CN" b="1">
                  <a:solidFill>
                    <a:srgbClr val="000099"/>
                  </a:solidFill>
                  <a:ea typeface="黑体" pitchFamily="2" charset="-122"/>
                </a:rPr>
                <a:t>2</a:t>
              </a:r>
              <a:endParaRPr lang="zh-CN" altLang="en-US" b="1">
                <a:solidFill>
                  <a:srgbClr val="000099"/>
                </a:solidFill>
                <a:ea typeface="黑体" pitchFamily="2" charset="-122"/>
              </a:endParaRPr>
            </a:p>
          </p:txBody>
        </p:sp>
        <p:sp>
          <p:nvSpPr>
            <p:cNvPr id="29748" name="TextBox 158"/>
            <p:cNvSpPr txBox="1">
              <a:spLocks noChangeArrowheads="1"/>
            </p:cNvSpPr>
            <p:nvPr/>
          </p:nvSpPr>
          <p:spPr bwMode="auto">
            <a:xfrm>
              <a:off x="1603142" y="5138782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Wingdings" pitchFamily="2" charset="2"/>
                <a:buNone/>
              </a:pPr>
              <a:r>
                <a:rPr lang="en-US" altLang="zh-CN" b="1">
                  <a:solidFill>
                    <a:srgbClr val="000099"/>
                  </a:solidFill>
                  <a:ea typeface="黑体" pitchFamily="2" charset="-122"/>
                </a:rPr>
                <a:t>4</a:t>
              </a:r>
              <a:endParaRPr lang="zh-CN" altLang="en-US" b="1">
                <a:solidFill>
                  <a:srgbClr val="000099"/>
                </a:solidFill>
                <a:ea typeface="黑体" pitchFamily="2" charset="-122"/>
              </a:endParaRPr>
            </a:p>
          </p:txBody>
        </p:sp>
        <p:sp>
          <p:nvSpPr>
            <p:cNvPr id="29749" name="Line 57"/>
            <p:cNvSpPr>
              <a:spLocks noChangeShapeType="1"/>
            </p:cNvSpPr>
            <p:nvPr/>
          </p:nvSpPr>
          <p:spPr bwMode="invGray">
            <a:xfrm flipH="1">
              <a:off x="2170484" y="4782253"/>
              <a:ext cx="113553" cy="31750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388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tIns="91440" bIns="9144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9750" name="Line 58"/>
            <p:cNvSpPr>
              <a:spLocks noChangeShapeType="1"/>
            </p:cNvSpPr>
            <p:nvPr/>
          </p:nvSpPr>
          <p:spPr bwMode="invGray">
            <a:xfrm>
              <a:off x="2369202" y="4794953"/>
              <a:ext cx="156135" cy="31750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388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tIns="91440" bIns="9144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9751" name="Oval 60"/>
            <p:cNvSpPr>
              <a:spLocks noChangeArrowheads="1"/>
            </p:cNvSpPr>
            <p:nvPr/>
          </p:nvSpPr>
          <p:spPr bwMode="invGray">
            <a:xfrm>
              <a:off x="2056931" y="5023553"/>
              <a:ext cx="198718" cy="203200"/>
            </a:xfrm>
            <a:prstGeom prst="ellipse">
              <a:avLst/>
            </a:prstGeom>
            <a:solidFill>
              <a:srgbClr val="000099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5388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tIns="91440" bIns="9144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9752" name="Oval 62"/>
            <p:cNvSpPr>
              <a:spLocks noChangeArrowheads="1"/>
            </p:cNvSpPr>
            <p:nvPr/>
          </p:nvSpPr>
          <p:spPr bwMode="invGray">
            <a:xfrm>
              <a:off x="2425978" y="5023553"/>
              <a:ext cx="198718" cy="203200"/>
            </a:xfrm>
            <a:prstGeom prst="ellipse">
              <a:avLst/>
            </a:prstGeom>
            <a:solidFill>
              <a:srgbClr val="000099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5388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tIns="91440" bIns="9144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9753" name="Oval 63"/>
            <p:cNvSpPr>
              <a:spLocks noChangeArrowheads="1"/>
            </p:cNvSpPr>
            <p:nvPr/>
          </p:nvSpPr>
          <p:spPr bwMode="invGray">
            <a:xfrm>
              <a:off x="2213067" y="4642553"/>
              <a:ext cx="198718" cy="203200"/>
            </a:xfrm>
            <a:prstGeom prst="ellipse">
              <a:avLst/>
            </a:prstGeom>
            <a:solidFill>
              <a:srgbClr val="000099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5388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tIns="91440" bIns="9144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9754" name="TextBox 159"/>
            <p:cNvSpPr txBox="1">
              <a:spLocks noChangeArrowheads="1"/>
            </p:cNvSpPr>
            <p:nvPr/>
          </p:nvSpPr>
          <p:spPr bwMode="auto">
            <a:xfrm>
              <a:off x="1971131" y="5138782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Wingdings" pitchFamily="2" charset="2"/>
                <a:buNone/>
              </a:pPr>
              <a:r>
                <a:rPr lang="en-US" altLang="zh-CN" b="1">
                  <a:solidFill>
                    <a:srgbClr val="000099"/>
                  </a:solidFill>
                  <a:ea typeface="黑体" pitchFamily="2" charset="-122"/>
                </a:rPr>
                <a:t>5</a:t>
              </a:r>
              <a:endParaRPr lang="zh-CN" altLang="en-US" b="1">
                <a:solidFill>
                  <a:srgbClr val="000099"/>
                </a:solidFill>
                <a:ea typeface="黑体" pitchFamily="2" charset="-122"/>
              </a:endParaRPr>
            </a:p>
          </p:txBody>
        </p:sp>
        <p:sp>
          <p:nvSpPr>
            <p:cNvPr id="29755" name="TextBox 160"/>
            <p:cNvSpPr txBox="1">
              <a:spLocks noChangeArrowheads="1"/>
            </p:cNvSpPr>
            <p:nvPr/>
          </p:nvSpPr>
          <p:spPr bwMode="auto">
            <a:xfrm>
              <a:off x="2374991" y="5138782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Wingdings" pitchFamily="2" charset="2"/>
                <a:buNone/>
              </a:pPr>
              <a:r>
                <a:rPr lang="en-US" altLang="zh-CN" b="1">
                  <a:solidFill>
                    <a:srgbClr val="000099"/>
                  </a:solidFill>
                  <a:ea typeface="黑体" pitchFamily="2" charset="-122"/>
                </a:rPr>
                <a:t>7</a:t>
              </a:r>
              <a:endParaRPr lang="zh-CN" altLang="en-US" b="1">
                <a:solidFill>
                  <a:srgbClr val="000099"/>
                </a:solidFill>
                <a:ea typeface="黑体" pitchFamily="2" charset="-122"/>
              </a:endParaRPr>
            </a:p>
          </p:txBody>
        </p:sp>
      </p:grpSp>
      <p:grpSp>
        <p:nvGrpSpPr>
          <p:cNvPr id="29703" name="组合 9"/>
          <p:cNvGrpSpPr>
            <a:grpSpLocks/>
          </p:cNvGrpSpPr>
          <p:nvPr/>
        </p:nvGrpSpPr>
        <p:grpSpPr bwMode="auto">
          <a:xfrm>
            <a:off x="3814763" y="3749675"/>
            <a:ext cx="1370012" cy="1665288"/>
            <a:chOff x="4306957" y="3868720"/>
            <a:chExt cx="1369272" cy="1664794"/>
          </a:xfrm>
        </p:grpSpPr>
        <p:sp>
          <p:nvSpPr>
            <p:cNvPr id="29726" name="Oval 49"/>
            <p:cNvSpPr>
              <a:spLocks noChangeArrowheads="1"/>
            </p:cNvSpPr>
            <p:nvPr/>
          </p:nvSpPr>
          <p:spPr bwMode="invGray">
            <a:xfrm>
              <a:off x="4877338" y="4257092"/>
              <a:ext cx="198718" cy="203200"/>
            </a:xfrm>
            <a:prstGeom prst="ellipse">
              <a:avLst/>
            </a:prstGeom>
            <a:solidFill>
              <a:srgbClr val="000099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5388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tIns="91440" bIns="9144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9727" name="Line 65"/>
            <p:cNvSpPr>
              <a:spLocks noChangeShapeType="1"/>
            </p:cNvSpPr>
            <p:nvPr/>
          </p:nvSpPr>
          <p:spPr bwMode="invGray">
            <a:xfrm>
              <a:off x="5045262" y="4426652"/>
              <a:ext cx="212481" cy="265643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388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tIns="91440" bIns="9144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9728" name="Line 57"/>
            <p:cNvSpPr>
              <a:spLocks noChangeShapeType="1"/>
            </p:cNvSpPr>
            <p:nvPr/>
          </p:nvSpPr>
          <p:spPr bwMode="invGray">
            <a:xfrm flipH="1">
              <a:off x="4477921" y="4057849"/>
              <a:ext cx="113553" cy="31750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388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tIns="91440" bIns="9144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9729" name="Oval 60"/>
            <p:cNvSpPr>
              <a:spLocks noChangeArrowheads="1"/>
            </p:cNvSpPr>
            <p:nvPr/>
          </p:nvSpPr>
          <p:spPr bwMode="invGray">
            <a:xfrm>
              <a:off x="4364368" y="4299149"/>
              <a:ext cx="198718" cy="203200"/>
            </a:xfrm>
            <a:prstGeom prst="ellipse">
              <a:avLst/>
            </a:prstGeom>
            <a:solidFill>
              <a:srgbClr val="000099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5388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tIns="91440" bIns="9144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9730" name="TextBox 170"/>
            <p:cNvSpPr txBox="1">
              <a:spLocks noChangeArrowheads="1"/>
            </p:cNvSpPr>
            <p:nvPr/>
          </p:nvSpPr>
          <p:spPr bwMode="auto">
            <a:xfrm>
              <a:off x="4306957" y="4414378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Wingdings" pitchFamily="2" charset="2"/>
                <a:buNone/>
              </a:pPr>
              <a:r>
                <a:rPr lang="en-US" altLang="zh-CN" b="1">
                  <a:solidFill>
                    <a:srgbClr val="000099"/>
                  </a:solidFill>
                  <a:ea typeface="黑体" pitchFamily="2" charset="-122"/>
                </a:rPr>
                <a:t>2</a:t>
              </a:r>
              <a:endParaRPr lang="zh-CN" altLang="en-US" b="1">
                <a:solidFill>
                  <a:srgbClr val="000099"/>
                </a:solidFill>
                <a:ea typeface="黑体" pitchFamily="2" charset="-122"/>
              </a:endParaRPr>
            </a:p>
          </p:txBody>
        </p:sp>
        <p:sp>
          <p:nvSpPr>
            <p:cNvPr id="29731" name="Line 57"/>
            <p:cNvSpPr>
              <a:spLocks noChangeShapeType="1"/>
            </p:cNvSpPr>
            <p:nvPr/>
          </p:nvSpPr>
          <p:spPr bwMode="invGray">
            <a:xfrm flipH="1">
              <a:off x="5158816" y="4807653"/>
              <a:ext cx="113553" cy="31750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388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tIns="91440" bIns="9144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9732" name="Line 58"/>
            <p:cNvSpPr>
              <a:spLocks noChangeShapeType="1"/>
            </p:cNvSpPr>
            <p:nvPr/>
          </p:nvSpPr>
          <p:spPr bwMode="invGray">
            <a:xfrm>
              <a:off x="5357534" y="4820353"/>
              <a:ext cx="156135" cy="31750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388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tIns="91440" bIns="9144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9733" name="Oval 60"/>
            <p:cNvSpPr>
              <a:spLocks noChangeArrowheads="1"/>
            </p:cNvSpPr>
            <p:nvPr/>
          </p:nvSpPr>
          <p:spPr bwMode="invGray">
            <a:xfrm>
              <a:off x="5045263" y="5048953"/>
              <a:ext cx="198718" cy="203200"/>
            </a:xfrm>
            <a:prstGeom prst="ellipse">
              <a:avLst/>
            </a:prstGeom>
            <a:solidFill>
              <a:srgbClr val="000099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5388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tIns="91440" bIns="9144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9734" name="Oval 62"/>
            <p:cNvSpPr>
              <a:spLocks noChangeArrowheads="1"/>
            </p:cNvSpPr>
            <p:nvPr/>
          </p:nvSpPr>
          <p:spPr bwMode="invGray">
            <a:xfrm>
              <a:off x="5414310" y="5048953"/>
              <a:ext cx="198718" cy="203200"/>
            </a:xfrm>
            <a:prstGeom prst="ellipse">
              <a:avLst/>
            </a:prstGeom>
            <a:solidFill>
              <a:srgbClr val="000099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5388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tIns="91440" bIns="9144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9735" name="Oval 63"/>
            <p:cNvSpPr>
              <a:spLocks noChangeArrowheads="1"/>
            </p:cNvSpPr>
            <p:nvPr/>
          </p:nvSpPr>
          <p:spPr bwMode="invGray">
            <a:xfrm>
              <a:off x="5201399" y="4667953"/>
              <a:ext cx="198718" cy="203200"/>
            </a:xfrm>
            <a:prstGeom prst="ellipse">
              <a:avLst/>
            </a:prstGeom>
            <a:solidFill>
              <a:srgbClr val="000099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5388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tIns="91440" bIns="9144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9736" name="TextBox 177"/>
            <p:cNvSpPr txBox="1">
              <a:spLocks noChangeArrowheads="1"/>
            </p:cNvSpPr>
            <p:nvPr/>
          </p:nvSpPr>
          <p:spPr bwMode="auto">
            <a:xfrm>
              <a:off x="4959463" y="5164182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Wingdings" pitchFamily="2" charset="2"/>
                <a:buNone/>
              </a:pPr>
              <a:r>
                <a:rPr lang="en-US" altLang="zh-CN" b="1">
                  <a:solidFill>
                    <a:srgbClr val="000099"/>
                  </a:solidFill>
                  <a:ea typeface="黑体" pitchFamily="2" charset="-122"/>
                </a:rPr>
                <a:t>5</a:t>
              </a:r>
              <a:endParaRPr lang="zh-CN" altLang="en-US" b="1">
                <a:solidFill>
                  <a:srgbClr val="000099"/>
                </a:solidFill>
                <a:ea typeface="黑体" pitchFamily="2" charset="-122"/>
              </a:endParaRPr>
            </a:p>
          </p:txBody>
        </p:sp>
        <p:sp>
          <p:nvSpPr>
            <p:cNvPr id="29737" name="TextBox 178"/>
            <p:cNvSpPr txBox="1">
              <a:spLocks noChangeArrowheads="1"/>
            </p:cNvSpPr>
            <p:nvPr/>
          </p:nvSpPr>
          <p:spPr bwMode="auto">
            <a:xfrm>
              <a:off x="5363323" y="5164182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Wingdings" pitchFamily="2" charset="2"/>
                <a:buNone/>
              </a:pPr>
              <a:r>
                <a:rPr lang="en-US" altLang="zh-CN" b="1">
                  <a:solidFill>
                    <a:srgbClr val="000099"/>
                  </a:solidFill>
                  <a:ea typeface="黑体" pitchFamily="2" charset="-122"/>
                </a:rPr>
                <a:t>7</a:t>
              </a:r>
              <a:endParaRPr lang="zh-CN" altLang="en-US" b="1">
                <a:solidFill>
                  <a:srgbClr val="000099"/>
                </a:solidFill>
                <a:ea typeface="黑体" pitchFamily="2" charset="-122"/>
              </a:endParaRPr>
            </a:p>
          </p:txBody>
        </p:sp>
        <p:sp>
          <p:nvSpPr>
            <p:cNvPr id="29738" name="Line 57"/>
            <p:cNvSpPr>
              <a:spLocks noChangeShapeType="1"/>
            </p:cNvSpPr>
            <p:nvPr/>
          </p:nvSpPr>
          <p:spPr bwMode="invGray">
            <a:xfrm flipH="1">
              <a:off x="4821058" y="4460292"/>
              <a:ext cx="113553" cy="31750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388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tIns="91440" bIns="9144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9739" name="Oval 60"/>
            <p:cNvSpPr>
              <a:spLocks noChangeArrowheads="1"/>
            </p:cNvSpPr>
            <p:nvPr/>
          </p:nvSpPr>
          <p:spPr bwMode="invGray">
            <a:xfrm>
              <a:off x="4707505" y="4701592"/>
              <a:ext cx="198718" cy="203200"/>
            </a:xfrm>
            <a:prstGeom prst="ellipse">
              <a:avLst/>
            </a:prstGeom>
            <a:solidFill>
              <a:srgbClr val="000099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5388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tIns="91440" bIns="9144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9740" name="TextBox 181"/>
            <p:cNvSpPr txBox="1">
              <a:spLocks noChangeArrowheads="1"/>
            </p:cNvSpPr>
            <p:nvPr/>
          </p:nvSpPr>
          <p:spPr bwMode="auto">
            <a:xfrm>
              <a:off x="4655138" y="4816821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Wingdings" pitchFamily="2" charset="2"/>
                <a:buNone/>
              </a:pPr>
              <a:r>
                <a:rPr lang="en-US" altLang="zh-CN" b="1">
                  <a:solidFill>
                    <a:srgbClr val="000099"/>
                  </a:solidFill>
                  <a:ea typeface="黑体" pitchFamily="2" charset="-122"/>
                </a:rPr>
                <a:t>4</a:t>
              </a:r>
              <a:endParaRPr lang="zh-CN" altLang="en-US" b="1">
                <a:solidFill>
                  <a:srgbClr val="000099"/>
                </a:solidFill>
                <a:ea typeface="黑体" pitchFamily="2" charset="-122"/>
              </a:endParaRPr>
            </a:p>
          </p:txBody>
        </p:sp>
        <p:sp>
          <p:nvSpPr>
            <p:cNvPr id="29741" name="Oval 49"/>
            <p:cNvSpPr>
              <a:spLocks noChangeArrowheads="1"/>
            </p:cNvSpPr>
            <p:nvPr/>
          </p:nvSpPr>
          <p:spPr bwMode="invGray">
            <a:xfrm>
              <a:off x="4535471" y="3868720"/>
              <a:ext cx="198718" cy="203200"/>
            </a:xfrm>
            <a:prstGeom prst="ellipse">
              <a:avLst/>
            </a:prstGeom>
            <a:solidFill>
              <a:srgbClr val="000099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5388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tIns="91440" bIns="9144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9742" name="Line 65"/>
            <p:cNvSpPr>
              <a:spLocks noChangeShapeType="1"/>
            </p:cNvSpPr>
            <p:nvPr/>
          </p:nvSpPr>
          <p:spPr bwMode="invGray">
            <a:xfrm>
              <a:off x="4703395" y="4038280"/>
              <a:ext cx="212481" cy="265643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388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tIns="91440" bIns="91440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29704" name="组合 186"/>
          <p:cNvGrpSpPr>
            <a:grpSpLocks/>
          </p:cNvGrpSpPr>
          <p:nvPr/>
        </p:nvGrpSpPr>
        <p:grpSpPr bwMode="auto">
          <a:xfrm>
            <a:off x="6786563" y="3716338"/>
            <a:ext cx="1368425" cy="1665287"/>
            <a:chOff x="4306957" y="3868720"/>
            <a:chExt cx="1369272" cy="1664794"/>
          </a:xfrm>
        </p:grpSpPr>
        <p:sp>
          <p:nvSpPr>
            <p:cNvPr id="29709" name="Oval 49"/>
            <p:cNvSpPr>
              <a:spLocks noChangeArrowheads="1"/>
            </p:cNvSpPr>
            <p:nvPr/>
          </p:nvSpPr>
          <p:spPr bwMode="invGray">
            <a:xfrm>
              <a:off x="4877338" y="4257092"/>
              <a:ext cx="198718" cy="203200"/>
            </a:xfrm>
            <a:prstGeom prst="ellipse">
              <a:avLst/>
            </a:prstGeom>
            <a:solidFill>
              <a:srgbClr val="000099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5388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tIns="91440" bIns="9144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9710" name="Line 65"/>
            <p:cNvSpPr>
              <a:spLocks noChangeShapeType="1"/>
            </p:cNvSpPr>
            <p:nvPr/>
          </p:nvSpPr>
          <p:spPr bwMode="invGray">
            <a:xfrm>
              <a:off x="5045262" y="4426652"/>
              <a:ext cx="212481" cy="265643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388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tIns="91440" bIns="9144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9711" name="Line 57"/>
            <p:cNvSpPr>
              <a:spLocks noChangeShapeType="1"/>
            </p:cNvSpPr>
            <p:nvPr/>
          </p:nvSpPr>
          <p:spPr bwMode="invGray">
            <a:xfrm flipH="1">
              <a:off x="4477921" y="4057849"/>
              <a:ext cx="113553" cy="31750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388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tIns="91440" bIns="9144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9712" name="Oval 60"/>
            <p:cNvSpPr>
              <a:spLocks noChangeArrowheads="1"/>
            </p:cNvSpPr>
            <p:nvPr/>
          </p:nvSpPr>
          <p:spPr bwMode="invGray">
            <a:xfrm>
              <a:off x="4364368" y="4299149"/>
              <a:ext cx="198718" cy="203200"/>
            </a:xfrm>
            <a:prstGeom prst="ellipse">
              <a:avLst/>
            </a:prstGeom>
            <a:solidFill>
              <a:srgbClr val="000099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5388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tIns="91440" bIns="9144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9713" name="TextBox 191"/>
            <p:cNvSpPr txBox="1">
              <a:spLocks noChangeArrowheads="1"/>
            </p:cNvSpPr>
            <p:nvPr/>
          </p:nvSpPr>
          <p:spPr bwMode="auto">
            <a:xfrm>
              <a:off x="4306957" y="4414378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Wingdings" pitchFamily="2" charset="2"/>
                <a:buNone/>
              </a:pPr>
              <a:r>
                <a:rPr lang="en-US" altLang="zh-CN" b="1">
                  <a:solidFill>
                    <a:srgbClr val="000099"/>
                  </a:solidFill>
                  <a:ea typeface="黑体" pitchFamily="2" charset="-122"/>
                </a:rPr>
                <a:t>7</a:t>
              </a:r>
              <a:endParaRPr lang="zh-CN" altLang="en-US" b="1">
                <a:solidFill>
                  <a:srgbClr val="000099"/>
                </a:solidFill>
                <a:ea typeface="黑体" pitchFamily="2" charset="-122"/>
              </a:endParaRPr>
            </a:p>
          </p:txBody>
        </p:sp>
        <p:sp>
          <p:nvSpPr>
            <p:cNvPr id="29714" name="Line 57"/>
            <p:cNvSpPr>
              <a:spLocks noChangeShapeType="1"/>
            </p:cNvSpPr>
            <p:nvPr/>
          </p:nvSpPr>
          <p:spPr bwMode="invGray">
            <a:xfrm flipH="1">
              <a:off x="5158816" y="4807653"/>
              <a:ext cx="113553" cy="31750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388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tIns="91440" bIns="9144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9715" name="Line 58"/>
            <p:cNvSpPr>
              <a:spLocks noChangeShapeType="1"/>
            </p:cNvSpPr>
            <p:nvPr/>
          </p:nvSpPr>
          <p:spPr bwMode="invGray">
            <a:xfrm>
              <a:off x="5357534" y="4820353"/>
              <a:ext cx="156135" cy="31750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388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tIns="91440" bIns="9144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9716" name="Oval 60"/>
            <p:cNvSpPr>
              <a:spLocks noChangeArrowheads="1"/>
            </p:cNvSpPr>
            <p:nvPr/>
          </p:nvSpPr>
          <p:spPr bwMode="invGray">
            <a:xfrm>
              <a:off x="5045263" y="5048953"/>
              <a:ext cx="198718" cy="203200"/>
            </a:xfrm>
            <a:prstGeom prst="ellipse">
              <a:avLst/>
            </a:prstGeom>
            <a:solidFill>
              <a:srgbClr val="000099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5388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tIns="91440" bIns="9144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9717" name="Oval 62"/>
            <p:cNvSpPr>
              <a:spLocks noChangeArrowheads="1"/>
            </p:cNvSpPr>
            <p:nvPr/>
          </p:nvSpPr>
          <p:spPr bwMode="invGray">
            <a:xfrm>
              <a:off x="5414310" y="5048953"/>
              <a:ext cx="198718" cy="203200"/>
            </a:xfrm>
            <a:prstGeom prst="ellipse">
              <a:avLst/>
            </a:prstGeom>
            <a:solidFill>
              <a:srgbClr val="000099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5388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tIns="91440" bIns="9144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9718" name="Oval 63"/>
            <p:cNvSpPr>
              <a:spLocks noChangeArrowheads="1"/>
            </p:cNvSpPr>
            <p:nvPr/>
          </p:nvSpPr>
          <p:spPr bwMode="invGray">
            <a:xfrm>
              <a:off x="5201399" y="4667953"/>
              <a:ext cx="198718" cy="203200"/>
            </a:xfrm>
            <a:prstGeom prst="ellipse">
              <a:avLst/>
            </a:prstGeom>
            <a:solidFill>
              <a:srgbClr val="000099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5388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tIns="91440" bIns="9144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9719" name="TextBox 197"/>
            <p:cNvSpPr txBox="1">
              <a:spLocks noChangeArrowheads="1"/>
            </p:cNvSpPr>
            <p:nvPr/>
          </p:nvSpPr>
          <p:spPr bwMode="auto">
            <a:xfrm>
              <a:off x="4959463" y="5164182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Wingdings" pitchFamily="2" charset="2"/>
                <a:buNone/>
              </a:pPr>
              <a:r>
                <a:rPr lang="en-US" altLang="zh-CN" b="1">
                  <a:solidFill>
                    <a:srgbClr val="000099"/>
                  </a:solidFill>
                  <a:ea typeface="黑体" pitchFamily="2" charset="-122"/>
                </a:rPr>
                <a:t>4</a:t>
              </a:r>
              <a:endParaRPr lang="zh-CN" altLang="en-US" b="1">
                <a:solidFill>
                  <a:srgbClr val="000099"/>
                </a:solidFill>
                <a:ea typeface="黑体" pitchFamily="2" charset="-122"/>
              </a:endParaRPr>
            </a:p>
          </p:txBody>
        </p:sp>
        <p:sp>
          <p:nvSpPr>
            <p:cNvPr id="29720" name="TextBox 198"/>
            <p:cNvSpPr txBox="1">
              <a:spLocks noChangeArrowheads="1"/>
            </p:cNvSpPr>
            <p:nvPr/>
          </p:nvSpPr>
          <p:spPr bwMode="auto">
            <a:xfrm>
              <a:off x="5363323" y="5164182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Wingdings" pitchFamily="2" charset="2"/>
                <a:buNone/>
              </a:pPr>
              <a:r>
                <a:rPr lang="en-US" altLang="zh-CN" b="1">
                  <a:solidFill>
                    <a:srgbClr val="000099"/>
                  </a:solidFill>
                  <a:ea typeface="黑体" pitchFamily="2" charset="-122"/>
                </a:rPr>
                <a:t>2</a:t>
              </a:r>
              <a:endParaRPr lang="zh-CN" altLang="en-US" b="1">
                <a:solidFill>
                  <a:srgbClr val="000099"/>
                </a:solidFill>
                <a:ea typeface="黑体" pitchFamily="2" charset="-122"/>
              </a:endParaRPr>
            </a:p>
          </p:txBody>
        </p:sp>
        <p:sp>
          <p:nvSpPr>
            <p:cNvPr id="29721" name="Line 57"/>
            <p:cNvSpPr>
              <a:spLocks noChangeShapeType="1"/>
            </p:cNvSpPr>
            <p:nvPr/>
          </p:nvSpPr>
          <p:spPr bwMode="invGray">
            <a:xfrm flipH="1">
              <a:off x="4821058" y="4460292"/>
              <a:ext cx="113553" cy="31750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388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tIns="91440" bIns="9144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9722" name="Oval 60"/>
            <p:cNvSpPr>
              <a:spLocks noChangeArrowheads="1"/>
            </p:cNvSpPr>
            <p:nvPr/>
          </p:nvSpPr>
          <p:spPr bwMode="invGray">
            <a:xfrm>
              <a:off x="4707505" y="4701592"/>
              <a:ext cx="198718" cy="203200"/>
            </a:xfrm>
            <a:prstGeom prst="ellipse">
              <a:avLst/>
            </a:prstGeom>
            <a:solidFill>
              <a:srgbClr val="000099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5388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tIns="91440" bIns="9144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9723" name="TextBox 201"/>
            <p:cNvSpPr txBox="1">
              <a:spLocks noChangeArrowheads="1"/>
            </p:cNvSpPr>
            <p:nvPr/>
          </p:nvSpPr>
          <p:spPr bwMode="auto">
            <a:xfrm>
              <a:off x="4655138" y="4816821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eaLnBrk="1" hangingPunct="1">
                <a:buFont typeface="Wingdings" pitchFamily="2" charset="2"/>
                <a:buNone/>
              </a:pPr>
              <a:r>
                <a:rPr lang="en-US" altLang="zh-CN" b="1">
                  <a:solidFill>
                    <a:srgbClr val="000099"/>
                  </a:solidFill>
                  <a:ea typeface="黑体" pitchFamily="2" charset="-122"/>
                </a:rPr>
                <a:t>5</a:t>
              </a:r>
              <a:endParaRPr lang="zh-CN" altLang="en-US" b="1">
                <a:solidFill>
                  <a:srgbClr val="000099"/>
                </a:solidFill>
                <a:ea typeface="黑体" pitchFamily="2" charset="-122"/>
              </a:endParaRPr>
            </a:p>
          </p:txBody>
        </p:sp>
        <p:sp>
          <p:nvSpPr>
            <p:cNvPr id="29724" name="Oval 49"/>
            <p:cNvSpPr>
              <a:spLocks noChangeArrowheads="1"/>
            </p:cNvSpPr>
            <p:nvPr/>
          </p:nvSpPr>
          <p:spPr bwMode="invGray">
            <a:xfrm>
              <a:off x="4535471" y="3868720"/>
              <a:ext cx="198718" cy="203200"/>
            </a:xfrm>
            <a:prstGeom prst="ellipse">
              <a:avLst/>
            </a:prstGeom>
            <a:solidFill>
              <a:srgbClr val="000099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5388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tIns="91440" bIns="91440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9725" name="Line 65"/>
            <p:cNvSpPr>
              <a:spLocks noChangeShapeType="1"/>
            </p:cNvSpPr>
            <p:nvPr/>
          </p:nvSpPr>
          <p:spPr bwMode="invGray">
            <a:xfrm>
              <a:off x="4703395" y="4038280"/>
              <a:ext cx="212481" cy="265643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53882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tIns="91440" bIns="91440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29705" name="TextBox 10"/>
          <p:cNvSpPr txBox="1">
            <a:spLocks noChangeArrowheads="1"/>
          </p:cNvSpPr>
          <p:nvPr/>
        </p:nvSpPr>
        <p:spPr bwMode="auto">
          <a:xfrm>
            <a:off x="317500" y="5418138"/>
            <a:ext cx="25130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b="1">
                <a:solidFill>
                  <a:srgbClr val="000099"/>
                </a:solidFill>
                <a:ea typeface="黑体" pitchFamily="2" charset="-122"/>
              </a:rPr>
              <a:t>WPL=2*(2+4+5+7)=36</a:t>
            </a:r>
            <a:endParaRPr lang="zh-CN" altLang="en-US" b="1">
              <a:solidFill>
                <a:srgbClr val="000099"/>
              </a:solidFill>
              <a:ea typeface="黑体" pitchFamily="2" charset="-122"/>
            </a:endParaRPr>
          </a:p>
        </p:txBody>
      </p:sp>
      <p:sp>
        <p:nvSpPr>
          <p:cNvPr id="29706" name="TextBox 204"/>
          <p:cNvSpPr txBox="1">
            <a:spLocks noChangeArrowheads="1"/>
          </p:cNvSpPr>
          <p:nvPr/>
        </p:nvSpPr>
        <p:spPr bwMode="auto">
          <a:xfrm>
            <a:off x="3295650" y="5440363"/>
            <a:ext cx="27305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b="1">
                <a:solidFill>
                  <a:srgbClr val="000099"/>
                </a:solidFill>
                <a:ea typeface="黑体" pitchFamily="2" charset="-122"/>
              </a:rPr>
              <a:t>WPL=2+2*4+3*(5+7)=46</a:t>
            </a:r>
            <a:endParaRPr lang="zh-CN" altLang="en-US" b="1">
              <a:solidFill>
                <a:srgbClr val="000099"/>
              </a:solidFill>
              <a:ea typeface="黑体" pitchFamily="2" charset="-122"/>
            </a:endParaRPr>
          </a:p>
        </p:txBody>
      </p:sp>
      <p:sp>
        <p:nvSpPr>
          <p:cNvPr id="29707" name="TextBox 205"/>
          <p:cNvSpPr txBox="1">
            <a:spLocks noChangeArrowheads="1"/>
          </p:cNvSpPr>
          <p:nvPr/>
        </p:nvSpPr>
        <p:spPr bwMode="auto">
          <a:xfrm>
            <a:off x="6329363" y="5440363"/>
            <a:ext cx="27305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b="1">
                <a:solidFill>
                  <a:srgbClr val="000099"/>
                </a:solidFill>
                <a:ea typeface="黑体" pitchFamily="2" charset="-122"/>
              </a:rPr>
              <a:t>WPL=7+2*5+3*(4+2)=35</a:t>
            </a:r>
            <a:endParaRPr lang="zh-CN" altLang="en-US" b="1">
              <a:solidFill>
                <a:srgbClr val="000099"/>
              </a:solidFill>
              <a:ea typeface="黑体" pitchFamily="2" charset="-122"/>
            </a:endParaRPr>
          </a:p>
        </p:txBody>
      </p:sp>
      <p:sp>
        <p:nvSpPr>
          <p:cNvPr id="29708" name="矩形 11"/>
          <p:cNvSpPr>
            <a:spLocks noChangeArrowheads="1"/>
          </p:cNvSpPr>
          <p:nvPr/>
        </p:nvSpPr>
        <p:spPr bwMode="auto">
          <a:xfrm>
            <a:off x="1127125" y="6021388"/>
            <a:ext cx="520223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b="1">
                <a:solidFill>
                  <a:srgbClr val="000099"/>
                </a:solidFill>
                <a:ea typeface="黑体" pitchFamily="2" charset="-122"/>
              </a:rPr>
              <a:t>带权路径长度达到最小的二叉树即为</a:t>
            </a:r>
            <a:r>
              <a:rPr lang="en-US" altLang="zh-CN" b="1">
                <a:solidFill>
                  <a:srgbClr val="000099"/>
                </a:solidFill>
                <a:ea typeface="黑体" pitchFamily="2" charset="-122"/>
              </a:rPr>
              <a:t>Huffman</a:t>
            </a:r>
            <a:r>
              <a:rPr lang="zh-CN" altLang="en-US" b="1">
                <a:solidFill>
                  <a:srgbClr val="000099"/>
                </a:solidFill>
                <a:ea typeface="黑体" pitchFamily="2" charset="-122"/>
              </a:rPr>
              <a:t>树。</a:t>
            </a:r>
          </a:p>
          <a:p>
            <a:r>
              <a:rPr lang="zh-CN" altLang="en-US" b="1">
                <a:solidFill>
                  <a:srgbClr val="000099"/>
                </a:solidFill>
                <a:ea typeface="黑体" pitchFamily="2" charset="-122"/>
              </a:rPr>
              <a:t>在</a:t>
            </a:r>
            <a:r>
              <a:rPr lang="en-US" altLang="zh-CN" b="1">
                <a:solidFill>
                  <a:srgbClr val="000099"/>
                </a:solidFill>
                <a:ea typeface="黑体" pitchFamily="2" charset="-122"/>
              </a:rPr>
              <a:t>Huffman</a:t>
            </a:r>
            <a:r>
              <a:rPr lang="zh-CN" altLang="en-US" b="1">
                <a:solidFill>
                  <a:srgbClr val="000099"/>
                </a:solidFill>
                <a:ea typeface="黑体" pitchFamily="2" charset="-122"/>
              </a:rPr>
              <a:t>树中，权值越大的结点离根越近。</a:t>
            </a:r>
          </a:p>
        </p:txBody>
      </p:sp>
    </p:spTree>
    <p:extLst>
      <p:ext uri="{BB962C8B-B14F-4D97-AF65-F5344CB8AC3E}">
        <p14:creationId xmlns:p14="http://schemas.microsoft.com/office/powerpoint/2010/main" val="15302482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哈夫曼编码</a:t>
            </a:r>
          </a:p>
        </p:txBody>
      </p:sp>
      <p:sp>
        <p:nvSpPr>
          <p:cNvPr id="3072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>
                <a:latin typeface="Arial" charset="0"/>
                <a:ea typeface="黑体" pitchFamily="2" charset="-122"/>
              </a:rPr>
              <a:t>构造权值为</a:t>
            </a:r>
            <a:r>
              <a:rPr lang="en-US" altLang="zh-CN">
                <a:latin typeface="Arial" charset="0"/>
                <a:ea typeface="黑体" pitchFamily="2" charset="-122"/>
              </a:rPr>
              <a:t>{w</a:t>
            </a:r>
            <a:r>
              <a:rPr lang="en-US" altLang="zh-CN" baseline="-25000">
                <a:latin typeface="Arial" charset="0"/>
                <a:ea typeface="黑体" pitchFamily="2" charset="-122"/>
              </a:rPr>
              <a:t>1</a:t>
            </a:r>
            <a:r>
              <a:rPr lang="en-US" altLang="zh-CN">
                <a:latin typeface="Arial" charset="0"/>
                <a:ea typeface="黑体" pitchFamily="2" charset="-122"/>
              </a:rPr>
              <a:t>,w</a:t>
            </a:r>
            <a:r>
              <a:rPr lang="en-US" altLang="zh-CN" baseline="-25000">
                <a:latin typeface="Arial" charset="0"/>
                <a:ea typeface="黑体" pitchFamily="2" charset="-122"/>
              </a:rPr>
              <a:t>2</a:t>
            </a:r>
            <a:r>
              <a:rPr lang="en-US" altLang="zh-CN">
                <a:latin typeface="Arial" charset="0"/>
                <a:ea typeface="黑体" pitchFamily="2" charset="-122"/>
              </a:rPr>
              <a:t>, …, w</a:t>
            </a:r>
            <a:r>
              <a:rPr lang="en-US" altLang="zh-CN" baseline="-25000">
                <a:latin typeface="Arial" charset="0"/>
                <a:ea typeface="黑体" pitchFamily="2" charset="-122"/>
              </a:rPr>
              <a:t>n</a:t>
            </a:r>
            <a:r>
              <a:rPr lang="en-US" altLang="zh-CN">
                <a:latin typeface="Arial" charset="0"/>
                <a:ea typeface="黑体" pitchFamily="2" charset="-122"/>
              </a:rPr>
              <a:t>}</a:t>
            </a:r>
            <a:r>
              <a:rPr lang="zh-CN" altLang="en-US">
                <a:latin typeface="Arial" charset="0"/>
                <a:ea typeface="黑体" pitchFamily="2" charset="-122"/>
              </a:rPr>
              <a:t>的</a:t>
            </a:r>
            <a:r>
              <a:rPr lang="en-US" altLang="zh-CN">
                <a:latin typeface="Arial" charset="0"/>
                <a:ea typeface="黑体" pitchFamily="2" charset="-122"/>
              </a:rPr>
              <a:t>Huffman</a:t>
            </a:r>
            <a:r>
              <a:rPr lang="zh-CN" altLang="en-US">
                <a:latin typeface="Arial" charset="0"/>
                <a:ea typeface="黑体" pitchFamily="2" charset="-122"/>
              </a:rPr>
              <a:t>树</a:t>
            </a:r>
            <a:endParaRPr lang="en-US" altLang="zh-CN">
              <a:latin typeface="Arial" charset="0"/>
              <a:ea typeface="黑体" pitchFamily="2" charset="-122"/>
            </a:endParaRPr>
          </a:p>
          <a:p>
            <a:pPr lvl="1"/>
            <a:r>
              <a:rPr lang="zh-CN" altLang="en-US">
                <a:latin typeface="Arial" charset="0"/>
                <a:ea typeface="黑体" pitchFamily="2" charset="-122"/>
              </a:rPr>
              <a:t>构造</a:t>
            </a:r>
            <a:r>
              <a:rPr lang="en-US" altLang="zh-CN">
                <a:latin typeface="Arial" charset="0"/>
                <a:ea typeface="黑体" pitchFamily="2" charset="-122"/>
              </a:rPr>
              <a:t>n</a:t>
            </a:r>
            <a:r>
              <a:rPr lang="zh-CN" altLang="en-US">
                <a:latin typeface="Arial" charset="0"/>
                <a:ea typeface="黑体" pitchFamily="2" charset="-122"/>
              </a:rPr>
              <a:t>棵二叉树的森林</a:t>
            </a:r>
            <a:r>
              <a:rPr lang="en-US" altLang="zh-CN">
                <a:latin typeface="Arial" charset="0"/>
                <a:ea typeface="黑体" pitchFamily="2" charset="-122"/>
              </a:rPr>
              <a:t>F={T</a:t>
            </a:r>
            <a:r>
              <a:rPr lang="en-US" altLang="zh-CN" baseline="-25000">
                <a:latin typeface="Arial" charset="0"/>
                <a:ea typeface="黑体" pitchFamily="2" charset="-122"/>
              </a:rPr>
              <a:t>1</a:t>
            </a:r>
            <a:r>
              <a:rPr lang="en-US" altLang="zh-CN">
                <a:latin typeface="Arial" charset="0"/>
                <a:ea typeface="黑体" pitchFamily="2" charset="-122"/>
              </a:rPr>
              <a:t>,T</a:t>
            </a:r>
            <a:r>
              <a:rPr lang="en-US" altLang="zh-CN" baseline="-25000">
                <a:latin typeface="Arial" charset="0"/>
                <a:ea typeface="黑体" pitchFamily="2" charset="-122"/>
              </a:rPr>
              <a:t>2</a:t>
            </a:r>
            <a:r>
              <a:rPr lang="en-US" altLang="zh-CN">
                <a:latin typeface="Arial" charset="0"/>
                <a:ea typeface="黑体" pitchFamily="2" charset="-122"/>
              </a:rPr>
              <a:t>, …, T</a:t>
            </a:r>
            <a:r>
              <a:rPr lang="en-US" altLang="zh-CN" baseline="-25000">
                <a:latin typeface="Arial" charset="0"/>
                <a:ea typeface="黑体" pitchFamily="2" charset="-122"/>
              </a:rPr>
              <a:t>n</a:t>
            </a:r>
            <a:r>
              <a:rPr lang="en-US" altLang="zh-CN">
                <a:latin typeface="Arial" charset="0"/>
                <a:ea typeface="黑体" pitchFamily="2" charset="-122"/>
              </a:rPr>
              <a:t>}</a:t>
            </a:r>
            <a:r>
              <a:rPr lang="zh-CN" altLang="en-US">
                <a:latin typeface="Arial" charset="0"/>
                <a:ea typeface="黑体" pitchFamily="2" charset="-122"/>
              </a:rPr>
              <a:t>，每棵二叉树</a:t>
            </a:r>
            <a:r>
              <a:rPr lang="en-US" altLang="zh-CN">
                <a:latin typeface="Arial" charset="0"/>
                <a:ea typeface="黑体" pitchFamily="2" charset="-122"/>
              </a:rPr>
              <a:t>T</a:t>
            </a:r>
            <a:r>
              <a:rPr lang="en-US" altLang="zh-CN" baseline="-25000">
                <a:latin typeface="Arial" charset="0"/>
                <a:ea typeface="黑体" pitchFamily="2" charset="-122"/>
              </a:rPr>
              <a:t>i</a:t>
            </a:r>
            <a:r>
              <a:rPr lang="zh-CN" altLang="en-US">
                <a:latin typeface="Arial" charset="0"/>
                <a:ea typeface="黑体" pitchFamily="2" charset="-122"/>
              </a:rPr>
              <a:t>只有一个带权值为</a:t>
            </a:r>
            <a:r>
              <a:rPr lang="en-US" altLang="zh-CN">
                <a:latin typeface="Arial" charset="0"/>
                <a:ea typeface="黑体" pitchFamily="2" charset="-122"/>
              </a:rPr>
              <a:t>w</a:t>
            </a:r>
            <a:r>
              <a:rPr lang="en-US" altLang="zh-CN" baseline="-25000">
                <a:latin typeface="Arial" charset="0"/>
                <a:ea typeface="黑体" pitchFamily="2" charset="-122"/>
              </a:rPr>
              <a:t>i</a:t>
            </a:r>
            <a:r>
              <a:rPr lang="zh-CN" altLang="en-US">
                <a:latin typeface="Arial" charset="0"/>
                <a:ea typeface="黑体" pitchFamily="2" charset="-122"/>
              </a:rPr>
              <a:t>的根结点</a:t>
            </a:r>
            <a:endParaRPr lang="en-US" altLang="zh-CN">
              <a:latin typeface="Arial" charset="0"/>
              <a:ea typeface="黑体" pitchFamily="2" charset="-122"/>
            </a:endParaRPr>
          </a:p>
          <a:p>
            <a:pPr lvl="1"/>
            <a:r>
              <a:rPr lang="zh-CN" altLang="en-US">
                <a:latin typeface="Arial" charset="0"/>
                <a:ea typeface="黑体" pitchFamily="2" charset="-122"/>
              </a:rPr>
              <a:t>重复以下步骤，直到只剩一棵树为止：</a:t>
            </a:r>
            <a:endParaRPr lang="en-US" altLang="zh-CN">
              <a:latin typeface="Arial" charset="0"/>
              <a:ea typeface="黑体" pitchFamily="2" charset="-122"/>
            </a:endParaRPr>
          </a:p>
          <a:p>
            <a:pPr lvl="2"/>
            <a:r>
              <a:rPr lang="en-US" altLang="zh-CN">
                <a:latin typeface="Arial" charset="0"/>
                <a:ea typeface="黑体" pitchFamily="2" charset="-122"/>
              </a:rPr>
              <a:t>1. </a:t>
            </a:r>
            <a:r>
              <a:rPr lang="zh-CN" altLang="en-US">
                <a:latin typeface="Arial" charset="0"/>
                <a:ea typeface="黑体" pitchFamily="2" charset="-122"/>
              </a:rPr>
              <a:t>在</a:t>
            </a:r>
            <a:r>
              <a:rPr lang="en-US" altLang="zh-CN">
                <a:latin typeface="Arial" charset="0"/>
                <a:ea typeface="黑体" pitchFamily="2" charset="-122"/>
              </a:rPr>
              <a:t>F</a:t>
            </a:r>
            <a:r>
              <a:rPr lang="zh-CN" altLang="en-US">
                <a:latin typeface="Arial" charset="0"/>
                <a:ea typeface="黑体" pitchFamily="2" charset="-122"/>
              </a:rPr>
              <a:t>中选两棵根结点权值最小的二叉树，作为左、右子树构造一棵新的二叉树，新树的根结点权值等于其左、右子树根结点权值之和</a:t>
            </a:r>
            <a:endParaRPr lang="en-US" altLang="zh-CN">
              <a:latin typeface="Arial" charset="0"/>
              <a:ea typeface="黑体" pitchFamily="2" charset="-122"/>
            </a:endParaRPr>
          </a:p>
          <a:p>
            <a:pPr lvl="2"/>
            <a:r>
              <a:rPr lang="en-US" altLang="zh-CN">
                <a:latin typeface="Arial" charset="0"/>
                <a:ea typeface="黑体" pitchFamily="2" charset="-122"/>
              </a:rPr>
              <a:t>2. </a:t>
            </a:r>
            <a:r>
              <a:rPr lang="zh-CN" altLang="en-US">
                <a:latin typeface="Arial" charset="0"/>
                <a:ea typeface="黑体" pitchFamily="2" charset="-122"/>
              </a:rPr>
              <a:t>在</a:t>
            </a:r>
            <a:r>
              <a:rPr lang="en-US" altLang="zh-CN">
                <a:latin typeface="Arial" charset="0"/>
                <a:ea typeface="黑体" pitchFamily="2" charset="-122"/>
              </a:rPr>
              <a:t>F</a:t>
            </a:r>
            <a:r>
              <a:rPr lang="zh-CN" altLang="en-US">
                <a:latin typeface="Arial" charset="0"/>
                <a:ea typeface="黑体" pitchFamily="2" charset="-122"/>
              </a:rPr>
              <a:t>中删除这两棵二叉树</a:t>
            </a:r>
            <a:endParaRPr lang="en-US" altLang="zh-CN">
              <a:latin typeface="Arial" charset="0"/>
              <a:ea typeface="黑体" pitchFamily="2" charset="-122"/>
            </a:endParaRPr>
          </a:p>
          <a:p>
            <a:pPr lvl="2"/>
            <a:r>
              <a:rPr lang="en-US" altLang="zh-CN">
                <a:latin typeface="Arial" charset="0"/>
                <a:ea typeface="黑体" pitchFamily="2" charset="-122"/>
              </a:rPr>
              <a:t>3. </a:t>
            </a:r>
            <a:r>
              <a:rPr lang="zh-CN" altLang="en-US">
                <a:latin typeface="Arial" charset="0"/>
                <a:ea typeface="黑体" pitchFamily="2" charset="-122"/>
              </a:rPr>
              <a:t>把新构造的二叉树加入</a:t>
            </a:r>
            <a:r>
              <a:rPr lang="en-US" altLang="zh-CN">
                <a:latin typeface="Arial" charset="0"/>
                <a:ea typeface="黑体" pitchFamily="2" charset="-122"/>
              </a:rPr>
              <a:t>F</a:t>
            </a:r>
          </a:p>
          <a:p>
            <a:endParaRPr lang="en-US" altLang="zh-CN">
              <a:latin typeface="Arial" charset="0"/>
              <a:ea typeface="黑体" pitchFamily="2" charset="-122"/>
            </a:endParaRPr>
          </a:p>
          <a:p>
            <a:endParaRPr lang="zh-CN" altLang="en-US">
              <a:latin typeface="Arial" charset="0"/>
              <a:ea typeface="黑体" pitchFamily="2" charset="-122"/>
            </a:endParaRPr>
          </a:p>
        </p:txBody>
      </p:sp>
      <p:sp>
        <p:nvSpPr>
          <p:cNvPr id="30724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fld id="{7F85E6BF-28A0-4F0D-B981-4A866FCEED2D}" type="slidenum">
              <a:rPr lang="en-US" altLang="zh-CN" smtClean="0">
                <a:solidFill>
                  <a:srgbClr val="006600"/>
                </a:solidFill>
                <a:latin typeface="Courier New" pitchFamily="49" charset="0"/>
                <a:ea typeface="华文新魏" pitchFamily="2" charset="-122"/>
              </a:rPr>
              <a:pPr eaLnBrk="1" hangingPunct="1"/>
              <a:t>12</a:t>
            </a:fld>
            <a:endParaRPr lang="en-US" altLang="zh-CN">
              <a:solidFill>
                <a:srgbClr val="006600"/>
              </a:solidFill>
              <a:latin typeface="Courier New" pitchFamily="49" charset="0"/>
              <a:ea typeface="华文新魏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14779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哈夫曼编码</a:t>
            </a:r>
          </a:p>
        </p:txBody>
      </p:sp>
      <p:sp>
        <p:nvSpPr>
          <p:cNvPr id="31747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fld id="{BFB48BBD-E826-47BA-BBE9-A6C03FC8A813}" type="slidenum">
              <a:rPr lang="en-US" altLang="zh-CN" smtClean="0">
                <a:solidFill>
                  <a:srgbClr val="006600"/>
                </a:solidFill>
                <a:latin typeface="Courier New" pitchFamily="49" charset="0"/>
                <a:ea typeface="华文新魏" pitchFamily="2" charset="-122"/>
              </a:rPr>
              <a:pPr eaLnBrk="1" hangingPunct="1"/>
              <a:t>13</a:t>
            </a:fld>
            <a:endParaRPr lang="en-US" altLang="zh-CN">
              <a:solidFill>
                <a:srgbClr val="006600"/>
              </a:solidFill>
              <a:latin typeface="Courier New" pitchFamily="49" charset="0"/>
              <a:ea typeface="华文新魏" pitchFamily="2" charset="-122"/>
            </a:endParaRPr>
          </a:p>
        </p:txBody>
      </p:sp>
      <p:sp>
        <p:nvSpPr>
          <p:cNvPr id="31748" name="TextBox 78"/>
          <p:cNvSpPr txBox="1">
            <a:spLocks noChangeArrowheads="1"/>
          </p:cNvSpPr>
          <p:nvPr/>
        </p:nvSpPr>
        <p:spPr bwMode="auto">
          <a:xfrm>
            <a:off x="0" y="2079625"/>
            <a:ext cx="18891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b="1">
                <a:solidFill>
                  <a:srgbClr val="000099"/>
                </a:solidFill>
                <a:ea typeface="黑体" pitchFamily="2" charset="-122"/>
              </a:rPr>
              <a:t>F: {7} {5} {2} {4}</a:t>
            </a:r>
            <a:endParaRPr lang="zh-CN" altLang="en-US" b="1">
              <a:solidFill>
                <a:srgbClr val="000099"/>
              </a:solidFill>
              <a:ea typeface="黑体" pitchFamily="2" charset="-122"/>
            </a:endParaRPr>
          </a:p>
        </p:txBody>
      </p:sp>
      <p:grpSp>
        <p:nvGrpSpPr>
          <p:cNvPr id="31749" name="组合 205"/>
          <p:cNvGrpSpPr>
            <a:grpSpLocks/>
          </p:cNvGrpSpPr>
          <p:nvPr/>
        </p:nvGrpSpPr>
        <p:grpSpPr bwMode="auto">
          <a:xfrm>
            <a:off x="98425" y="2819400"/>
            <a:ext cx="1692275" cy="276225"/>
            <a:chOff x="71532" y="3233017"/>
            <a:chExt cx="1692124" cy="276999"/>
          </a:xfrm>
        </p:grpSpPr>
        <p:sp>
          <p:nvSpPr>
            <p:cNvPr id="31790" name="TextBox 79"/>
            <p:cNvSpPr txBox="1">
              <a:spLocks/>
            </p:cNvSpPr>
            <p:nvPr/>
          </p:nvSpPr>
          <p:spPr bwMode="auto">
            <a:xfrm>
              <a:off x="71532" y="3233017"/>
              <a:ext cx="288000" cy="276999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buFont typeface="Wingdings" pitchFamily="2" charset="2"/>
                <a:buNone/>
              </a:pPr>
              <a:r>
                <a:rPr lang="en-US" altLang="zh-CN" b="1">
                  <a:solidFill>
                    <a:srgbClr val="000099"/>
                  </a:solidFill>
                  <a:ea typeface="黑体" pitchFamily="2" charset="-122"/>
                </a:rPr>
                <a:t>7</a:t>
              </a:r>
              <a:endParaRPr lang="zh-CN" altLang="en-US" b="1">
                <a:solidFill>
                  <a:srgbClr val="000099"/>
                </a:solidFill>
                <a:ea typeface="黑体" pitchFamily="2" charset="-122"/>
              </a:endParaRPr>
            </a:p>
          </p:txBody>
        </p:sp>
        <p:sp>
          <p:nvSpPr>
            <p:cNvPr id="31791" name="TextBox 82"/>
            <p:cNvSpPr txBox="1">
              <a:spLocks/>
            </p:cNvSpPr>
            <p:nvPr/>
          </p:nvSpPr>
          <p:spPr bwMode="auto">
            <a:xfrm>
              <a:off x="539552" y="3233017"/>
              <a:ext cx="288000" cy="276999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buFont typeface="Wingdings" pitchFamily="2" charset="2"/>
                <a:buNone/>
              </a:pPr>
              <a:r>
                <a:rPr lang="en-US" altLang="zh-CN" b="1">
                  <a:solidFill>
                    <a:srgbClr val="000099"/>
                  </a:solidFill>
                  <a:ea typeface="黑体" pitchFamily="2" charset="-122"/>
                </a:rPr>
                <a:t>5</a:t>
              </a:r>
              <a:endParaRPr lang="zh-CN" altLang="en-US" b="1">
                <a:solidFill>
                  <a:srgbClr val="000099"/>
                </a:solidFill>
                <a:ea typeface="黑体" pitchFamily="2" charset="-122"/>
              </a:endParaRPr>
            </a:p>
          </p:txBody>
        </p:sp>
        <p:sp>
          <p:nvSpPr>
            <p:cNvPr id="31792" name="TextBox 83"/>
            <p:cNvSpPr txBox="1">
              <a:spLocks/>
            </p:cNvSpPr>
            <p:nvPr/>
          </p:nvSpPr>
          <p:spPr bwMode="auto">
            <a:xfrm>
              <a:off x="1007604" y="3233017"/>
              <a:ext cx="288000" cy="276999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buFont typeface="Wingdings" pitchFamily="2" charset="2"/>
                <a:buNone/>
              </a:pPr>
              <a:r>
                <a:rPr lang="en-US" altLang="zh-CN" b="1">
                  <a:solidFill>
                    <a:srgbClr val="000099"/>
                  </a:solidFill>
                  <a:ea typeface="黑体" pitchFamily="2" charset="-122"/>
                </a:rPr>
                <a:t>2</a:t>
              </a:r>
              <a:endParaRPr lang="zh-CN" altLang="en-US" b="1">
                <a:solidFill>
                  <a:srgbClr val="000099"/>
                </a:solidFill>
                <a:ea typeface="黑体" pitchFamily="2" charset="-122"/>
              </a:endParaRPr>
            </a:p>
          </p:txBody>
        </p:sp>
        <p:sp>
          <p:nvSpPr>
            <p:cNvPr id="31793" name="TextBox 84"/>
            <p:cNvSpPr txBox="1">
              <a:spLocks/>
            </p:cNvSpPr>
            <p:nvPr/>
          </p:nvSpPr>
          <p:spPr bwMode="auto">
            <a:xfrm>
              <a:off x="1475656" y="3233017"/>
              <a:ext cx="288000" cy="276999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buFont typeface="Wingdings" pitchFamily="2" charset="2"/>
                <a:buNone/>
              </a:pPr>
              <a:r>
                <a:rPr lang="en-US" altLang="zh-CN" b="1">
                  <a:solidFill>
                    <a:srgbClr val="000099"/>
                  </a:solidFill>
                  <a:ea typeface="黑体" pitchFamily="2" charset="-122"/>
                </a:rPr>
                <a:t>4</a:t>
              </a:r>
              <a:endParaRPr lang="zh-CN" altLang="en-US" b="1">
                <a:solidFill>
                  <a:srgbClr val="000099"/>
                </a:solidFill>
                <a:ea typeface="黑体" pitchFamily="2" charset="-122"/>
              </a:endParaRPr>
            </a:p>
          </p:txBody>
        </p:sp>
      </p:grpSp>
      <p:sp>
        <p:nvSpPr>
          <p:cNvPr id="31750" name="TextBox 85"/>
          <p:cNvSpPr txBox="1">
            <a:spLocks noChangeArrowheads="1"/>
          </p:cNvSpPr>
          <p:nvPr/>
        </p:nvSpPr>
        <p:spPr bwMode="auto">
          <a:xfrm>
            <a:off x="446088" y="5003800"/>
            <a:ext cx="9969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b="1">
                <a:solidFill>
                  <a:srgbClr val="000099"/>
                </a:solidFill>
                <a:ea typeface="黑体" pitchFamily="2" charset="-122"/>
              </a:rPr>
              <a:t>(a) </a:t>
            </a:r>
            <a:r>
              <a:rPr lang="zh-CN" altLang="en-US" b="1">
                <a:solidFill>
                  <a:srgbClr val="000099"/>
                </a:solidFill>
                <a:ea typeface="黑体" pitchFamily="2" charset="-122"/>
              </a:rPr>
              <a:t>初始</a:t>
            </a:r>
          </a:p>
        </p:txBody>
      </p:sp>
      <p:sp>
        <p:nvSpPr>
          <p:cNvPr id="31751" name="TextBox 86"/>
          <p:cNvSpPr txBox="1">
            <a:spLocks noChangeArrowheads="1"/>
          </p:cNvSpPr>
          <p:nvPr/>
        </p:nvSpPr>
        <p:spPr bwMode="auto">
          <a:xfrm>
            <a:off x="2570163" y="2079625"/>
            <a:ext cx="15192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b="1">
                <a:solidFill>
                  <a:srgbClr val="000099"/>
                </a:solidFill>
                <a:ea typeface="黑体" pitchFamily="2" charset="-122"/>
              </a:rPr>
              <a:t>F: {7} {5} {6}</a:t>
            </a:r>
            <a:endParaRPr lang="zh-CN" altLang="en-US" b="1">
              <a:solidFill>
                <a:srgbClr val="000099"/>
              </a:solidFill>
              <a:ea typeface="黑体" pitchFamily="2" charset="-122"/>
            </a:endParaRPr>
          </a:p>
        </p:txBody>
      </p:sp>
      <p:sp>
        <p:nvSpPr>
          <p:cNvPr id="31752" name="TextBox 91"/>
          <p:cNvSpPr txBox="1">
            <a:spLocks noChangeArrowheads="1"/>
          </p:cNvSpPr>
          <p:nvPr/>
        </p:nvSpPr>
        <p:spPr bwMode="auto">
          <a:xfrm>
            <a:off x="2517775" y="5003800"/>
            <a:ext cx="16240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b="1">
                <a:solidFill>
                  <a:srgbClr val="000099"/>
                </a:solidFill>
                <a:ea typeface="黑体" pitchFamily="2" charset="-122"/>
              </a:rPr>
              <a:t>(b) </a:t>
            </a:r>
            <a:r>
              <a:rPr lang="zh-CN" altLang="en-US" b="1">
                <a:solidFill>
                  <a:srgbClr val="000099"/>
                </a:solidFill>
                <a:ea typeface="黑体" pitchFamily="2" charset="-122"/>
              </a:rPr>
              <a:t>合并</a:t>
            </a:r>
            <a:r>
              <a:rPr lang="en-US" altLang="zh-CN" b="1">
                <a:solidFill>
                  <a:srgbClr val="000099"/>
                </a:solidFill>
                <a:ea typeface="黑体" pitchFamily="2" charset="-122"/>
              </a:rPr>
              <a:t>{2}{4}</a:t>
            </a:r>
            <a:endParaRPr lang="zh-CN" altLang="en-US" b="1">
              <a:solidFill>
                <a:srgbClr val="000099"/>
              </a:solidFill>
              <a:ea typeface="黑体" pitchFamily="2" charset="-122"/>
            </a:endParaRPr>
          </a:p>
        </p:txBody>
      </p:sp>
      <p:sp>
        <p:nvSpPr>
          <p:cNvPr id="31753" name="TextBox 98"/>
          <p:cNvSpPr txBox="1">
            <a:spLocks noChangeArrowheads="1"/>
          </p:cNvSpPr>
          <p:nvPr/>
        </p:nvSpPr>
        <p:spPr bwMode="auto">
          <a:xfrm>
            <a:off x="5183188" y="2079625"/>
            <a:ext cx="12620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b="1">
                <a:solidFill>
                  <a:srgbClr val="000099"/>
                </a:solidFill>
                <a:ea typeface="黑体" pitchFamily="2" charset="-122"/>
              </a:rPr>
              <a:t>F: {7} {11}</a:t>
            </a:r>
            <a:endParaRPr lang="zh-CN" altLang="en-US" b="1">
              <a:solidFill>
                <a:srgbClr val="000099"/>
              </a:solidFill>
              <a:ea typeface="黑体" pitchFamily="2" charset="-122"/>
            </a:endParaRPr>
          </a:p>
        </p:txBody>
      </p:sp>
      <p:sp>
        <p:nvSpPr>
          <p:cNvPr id="31754" name="TextBox 103"/>
          <p:cNvSpPr txBox="1">
            <a:spLocks noChangeArrowheads="1"/>
          </p:cNvSpPr>
          <p:nvPr/>
        </p:nvSpPr>
        <p:spPr bwMode="auto">
          <a:xfrm>
            <a:off x="5002213" y="5003800"/>
            <a:ext cx="16240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b="1">
                <a:solidFill>
                  <a:srgbClr val="000099"/>
                </a:solidFill>
                <a:ea typeface="黑体" pitchFamily="2" charset="-122"/>
              </a:rPr>
              <a:t>(b) </a:t>
            </a:r>
            <a:r>
              <a:rPr lang="zh-CN" altLang="en-US" b="1">
                <a:solidFill>
                  <a:srgbClr val="000099"/>
                </a:solidFill>
                <a:ea typeface="黑体" pitchFamily="2" charset="-122"/>
              </a:rPr>
              <a:t>合并</a:t>
            </a:r>
            <a:r>
              <a:rPr lang="en-US" altLang="zh-CN" b="1">
                <a:solidFill>
                  <a:srgbClr val="000099"/>
                </a:solidFill>
                <a:ea typeface="黑体" pitchFamily="2" charset="-122"/>
              </a:rPr>
              <a:t>{2}{4}</a:t>
            </a:r>
            <a:endParaRPr lang="zh-CN" altLang="en-US" b="1">
              <a:solidFill>
                <a:srgbClr val="000099"/>
              </a:solidFill>
              <a:ea typeface="黑体" pitchFamily="2" charset="-122"/>
            </a:endParaRPr>
          </a:p>
        </p:txBody>
      </p:sp>
      <p:sp>
        <p:nvSpPr>
          <p:cNvPr id="31755" name="TextBox 121"/>
          <p:cNvSpPr txBox="1">
            <a:spLocks noChangeArrowheads="1"/>
          </p:cNvSpPr>
          <p:nvPr/>
        </p:nvSpPr>
        <p:spPr bwMode="auto">
          <a:xfrm>
            <a:off x="7775575" y="2079625"/>
            <a:ext cx="9017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b="1">
                <a:solidFill>
                  <a:srgbClr val="000099"/>
                </a:solidFill>
                <a:ea typeface="黑体" pitchFamily="2" charset="-122"/>
              </a:rPr>
              <a:t>F: {18}</a:t>
            </a:r>
            <a:endParaRPr lang="zh-CN" altLang="en-US" b="1">
              <a:solidFill>
                <a:srgbClr val="000099"/>
              </a:solidFill>
              <a:ea typeface="黑体" pitchFamily="2" charset="-122"/>
            </a:endParaRPr>
          </a:p>
        </p:txBody>
      </p:sp>
      <p:sp>
        <p:nvSpPr>
          <p:cNvPr id="31756" name="TextBox 126"/>
          <p:cNvSpPr txBox="1">
            <a:spLocks noChangeArrowheads="1"/>
          </p:cNvSpPr>
          <p:nvPr/>
        </p:nvSpPr>
        <p:spPr bwMode="auto">
          <a:xfrm>
            <a:off x="7413625" y="5003800"/>
            <a:ext cx="1739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b="1">
                <a:solidFill>
                  <a:srgbClr val="000099"/>
                </a:solidFill>
                <a:ea typeface="黑体" pitchFamily="2" charset="-122"/>
              </a:rPr>
              <a:t>(b) </a:t>
            </a:r>
            <a:r>
              <a:rPr lang="zh-CN" altLang="en-US" b="1">
                <a:solidFill>
                  <a:srgbClr val="000099"/>
                </a:solidFill>
                <a:ea typeface="黑体" pitchFamily="2" charset="-122"/>
              </a:rPr>
              <a:t>合并</a:t>
            </a:r>
            <a:r>
              <a:rPr lang="en-US" altLang="zh-CN" b="1">
                <a:solidFill>
                  <a:srgbClr val="000099"/>
                </a:solidFill>
                <a:ea typeface="黑体" pitchFamily="2" charset="-122"/>
              </a:rPr>
              <a:t>{7}{11}</a:t>
            </a:r>
            <a:endParaRPr lang="zh-CN" altLang="en-US" b="1">
              <a:solidFill>
                <a:srgbClr val="000099"/>
              </a:solidFill>
              <a:ea typeface="黑体" pitchFamily="2" charset="-122"/>
            </a:endParaRPr>
          </a:p>
        </p:txBody>
      </p:sp>
      <p:grpSp>
        <p:nvGrpSpPr>
          <p:cNvPr id="31757" name="组合 206"/>
          <p:cNvGrpSpPr>
            <a:grpSpLocks/>
          </p:cNvGrpSpPr>
          <p:nvPr/>
        </p:nvGrpSpPr>
        <p:grpSpPr bwMode="auto">
          <a:xfrm>
            <a:off x="2484438" y="2819400"/>
            <a:ext cx="1690687" cy="846138"/>
            <a:chOff x="2715885" y="3443726"/>
            <a:chExt cx="1692124" cy="846573"/>
          </a:xfrm>
        </p:grpSpPr>
        <p:sp>
          <p:nvSpPr>
            <p:cNvPr id="31783" name="椭圆 80"/>
            <p:cNvSpPr>
              <a:spLocks noChangeAspect="1"/>
            </p:cNvSpPr>
            <p:nvPr/>
          </p:nvSpPr>
          <p:spPr bwMode="auto">
            <a:xfrm>
              <a:off x="3856201" y="3443726"/>
              <a:ext cx="360000" cy="358217"/>
            </a:xfrm>
            <a:prstGeom prst="ellipse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/>
            <a:lstStyle/>
            <a:p>
              <a:pPr algn="ctr">
                <a:lnSpc>
                  <a:spcPct val="96000"/>
                </a:lnSpc>
              </a:pPr>
              <a:r>
                <a:rPr lang="en-US" altLang="zh-CN" b="1">
                  <a:solidFill>
                    <a:srgbClr val="000099"/>
                  </a:solidFill>
                  <a:ea typeface="黑体" pitchFamily="2" charset="-122"/>
                </a:rPr>
                <a:t>6</a:t>
              </a:r>
              <a:endParaRPr lang="zh-CN" altLang="en-US" b="1">
                <a:solidFill>
                  <a:srgbClr val="000099"/>
                </a:solidFill>
                <a:ea typeface="黑体" pitchFamily="2" charset="-122"/>
              </a:endParaRPr>
            </a:p>
          </p:txBody>
        </p:sp>
        <p:cxnSp>
          <p:nvCxnSpPr>
            <p:cNvPr id="94" name="直接连接符 93"/>
            <p:cNvCxnSpPr>
              <a:cxnSpLocks noChangeAspect="1"/>
              <a:stCxn id="31788" idx="0"/>
              <a:endCxn id="31783" idx="3"/>
            </p:cNvCxnSpPr>
            <p:nvPr/>
          </p:nvCxnSpPr>
          <p:spPr>
            <a:xfrm flipV="1">
              <a:off x="3796303" y="3750272"/>
              <a:ext cx="112808" cy="263660"/>
            </a:xfrm>
            <a:prstGeom prst="line">
              <a:avLst/>
            </a:prstGeom>
            <a:ln w="25400">
              <a:solidFill>
                <a:srgbClr val="C0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/>
            <p:cNvCxnSpPr>
              <a:cxnSpLocks noChangeAspect="1"/>
              <a:stCxn id="31789" idx="0"/>
              <a:endCxn id="31783" idx="5"/>
            </p:cNvCxnSpPr>
            <p:nvPr/>
          </p:nvCxnSpPr>
          <p:spPr>
            <a:xfrm flipH="1" flipV="1">
              <a:off x="4163326" y="3750272"/>
              <a:ext cx="100098" cy="263660"/>
            </a:xfrm>
            <a:prstGeom prst="line">
              <a:avLst/>
            </a:prstGeom>
            <a:ln w="25400">
              <a:solidFill>
                <a:srgbClr val="C0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786" name="TextBox 157"/>
            <p:cNvSpPr txBox="1">
              <a:spLocks/>
            </p:cNvSpPr>
            <p:nvPr/>
          </p:nvSpPr>
          <p:spPr bwMode="auto">
            <a:xfrm>
              <a:off x="2715885" y="3476037"/>
              <a:ext cx="288000" cy="276999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buFont typeface="Wingdings" pitchFamily="2" charset="2"/>
                <a:buNone/>
              </a:pPr>
              <a:r>
                <a:rPr lang="en-US" altLang="zh-CN" b="1">
                  <a:solidFill>
                    <a:srgbClr val="000099"/>
                  </a:solidFill>
                  <a:ea typeface="黑体" pitchFamily="2" charset="-122"/>
                </a:rPr>
                <a:t>7</a:t>
              </a:r>
              <a:endParaRPr lang="zh-CN" altLang="en-US" b="1">
                <a:solidFill>
                  <a:srgbClr val="000099"/>
                </a:solidFill>
                <a:ea typeface="黑体" pitchFamily="2" charset="-122"/>
              </a:endParaRPr>
            </a:p>
          </p:txBody>
        </p:sp>
        <p:sp>
          <p:nvSpPr>
            <p:cNvPr id="31787" name="TextBox 158"/>
            <p:cNvSpPr txBox="1">
              <a:spLocks/>
            </p:cNvSpPr>
            <p:nvPr/>
          </p:nvSpPr>
          <p:spPr bwMode="auto">
            <a:xfrm>
              <a:off x="3183905" y="3476037"/>
              <a:ext cx="288000" cy="276999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buFont typeface="Wingdings" pitchFamily="2" charset="2"/>
                <a:buNone/>
              </a:pPr>
              <a:r>
                <a:rPr lang="en-US" altLang="zh-CN" b="1">
                  <a:solidFill>
                    <a:srgbClr val="000099"/>
                  </a:solidFill>
                  <a:ea typeface="黑体" pitchFamily="2" charset="-122"/>
                </a:rPr>
                <a:t>5</a:t>
              </a:r>
              <a:endParaRPr lang="zh-CN" altLang="en-US" b="1">
                <a:solidFill>
                  <a:srgbClr val="000099"/>
                </a:solidFill>
                <a:ea typeface="黑体" pitchFamily="2" charset="-122"/>
              </a:endParaRPr>
            </a:p>
          </p:txBody>
        </p:sp>
        <p:sp>
          <p:nvSpPr>
            <p:cNvPr id="31788" name="TextBox 159"/>
            <p:cNvSpPr txBox="1">
              <a:spLocks/>
            </p:cNvSpPr>
            <p:nvPr/>
          </p:nvSpPr>
          <p:spPr bwMode="auto">
            <a:xfrm>
              <a:off x="3651957" y="4013300"/>
              <a:ext cx="288000" cy="276999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buFont typeface="Wingdings" pitchFamily="2" charset="2"/>
                <a:buNone/>
              </a:pPr>
              <a:r>
                <a:rPr lang="en-US" altLang="zh-CN" b="1">
                  <a:solidFill>
                    <a:srgbClr val="000099"/>
                  </a:solidFill>
                  <a:ea typeface="黑体" pitchFamily="2" charset="-122"/>
                </a:rPr>
                <a:t>2</a:t>
              </a:r>
              <a:endParaRPr lang="zh-CN" altLang="en-US" b="1">
                <a:solidFill>
                  <a:srgbClr val="000099"/>
                </a:solidFill>
                <a:ea typeface="黑体" pitchFamily="2" charset="-122"/>
              </a:endParaRPr>
            </a:p>
          </p:txBody>
        </p:sp>
        <p:sp>
          <p:nvSpPr>
            <p:cNvPr id="31789" name="TextBox 160"/>
            <p:cNvSpPr txBox="1">
              <a:spLocks/>
            </p:cNvSpPr>
            <p:nvPr/>
          </p:nvSpPr>
          <p:spPr bwMode="auto">
            <a:xfrm>
              <a:off x="4120009" y="4013300"/>
              <a:ext cx="288000" cy="276999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buFont typeface="Wingdings" pitchFamily="2" charset="2"/>
                <a:buNone/>
              </a:pPr>
              <a:r>
                <a:rPr lang="en-US" altLang="zh-CN" b="1">
                  <a:solidFill>
                    <a:srgbClr val="000099"/>
                  </a:solidFill>
                  <a:ea typeface="黑体" pitchFamily="2" charset="-122"/>
                </a:rPr>
                <a:t>4</a:t>
              </a:r>
              <a:endParaRPr lang="zh-CN" altLang="en-US" b="1">
                <a:solidFill>
                  <a:srgbClr val="000099"/>
                </a:solidFill>
                <a:ea typeface="黑体" pitchFamily="2" charset="-122"/>
              </a:endParaRPr>
            </a:p>
          </p:txBody>
        </p:sp>
      </p:grpSp>
      <p:grpSp>
        <p:nvGrpSpPr>
          <p:cNvPr id="31758" name="组合 207"/>
          <p:cNvGrpSpPr>
            <a:grpSpLocks/>
          </p:cNvGrpSpPr>
          <p:nvPr/>
        </p:nvGrpSpPr>
        <p:grpSpPr bwMode="auto">
          <a:xfrm>
            <a:off x="4967288" y="2819400"/>
            <a:ext cx="1692275" cy="1428750"/>
            <a:chOff x="5240466" y="3192407"/>
            <a:chExt cx="1692124" cy="1429400"/>
          </a:xfrm>
        </p:grpSpPr>
        <p:sp>
          <p:nvSpPr>
            <p:cNvPr id="31773" name="椭圆 167"/>
            <p:cNvSpPr>
              <a:spLocks noChangeAspect="1"/>
            </p:cNvSpPr>
            <p:nvPr/>
          </p:nvSpPr>
          <p:spPr bwMode="auto">
            <a:xfrm>
              <a:off x="6380782" y="3775234"/>
              <a:ext cx="360000" cy="358217"/>
            </a:xfrm>
            <a:prstGeom prst="ellipse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/>
            <a:lstStyle/>
            <a:p>
              <a:pPr algn="ctr">
                <a:lnSpc>
                  <a:spcPct val="96000"/>
                </a:lnSpc>
              </a:pPr>
              <a:r>
                <a:rPr lang="en-US" altLang="zh-CN" b="1">
                  <a:solidFill>
                    <a:srgbClr val="000099"/>
                  </a:solidFill>
                  <a:ea typeface="黑体" pitchFamily="2" charset="-122"/>
                </a:rPr>
                <a:t>6</a:t>
              </a:r>
              <a:endParaRPr lang="zh-CN" altLang="en-US" b="1">
                <a:solidFill>
                  <a:srgbClr val="000099"/>
                </a:solidFill>
                <a:ea typeface="黑体" pitchFamily="2" charset="-122"/>
              </a:endParaRPr>
            </a:p>
          </p:txBody>
        </p:sp>
        <p:cxnSp>
          <p:nvCxnSpPr>
            <p:cNvPr id="169" name="直接连接符 168"/>
            <p:cNvCxnSpPr>
              <a:cxnSpLocks noChangeAspect="1"/>
              <a:stCxn id="31778" idx="0"/>
              <a:endCxn id="31773" idx="3"/>
            </p:cNvCxnSpPr>
            <p:nvPr/>
          </p:nvCxnSpPr>
          <p:spPr>
            <a:xfrm flipV="1">
              <a:off x="6319870" y="4080224"/>
              <a:ext cx="114290" cy="265233"/>
            </a:xfrm>
            <a:prstGeom prst="line">
              <a:avLst/>
            </a:prstGeom>
            <a:ln w="25400">
              <a:solidFill>
                <a:srgbClr val="C0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直接连接符 169"/>
            <p:cNvCxnSpPr>
              <a:cxnSpLocks noChangeAspect="1"/>
              <a:stCxn id="31779" idx="0"/>
              <a:endCxn id="31773" idx="5"/>
            </p:cNvCxnSpPr>
            <p:nvPr/>
          </p:nvCxnSpPr>
          <p:spPr>
            <a:xfrm flipH="1" flipV="1">
              <a:off x="6688137" y="4080224"/>
              <a:ext cx="100003" cy="265233"/>
            </a:xfrm>
            <a:prstGeom prst="line">
              <a:avLst/>
            </a:prstGeom>
            <a:ln w="25400">
              <a:solidFill>
                <a:srgbClr val="C0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776" name="TextBox 170"/>
            <p:cNvSpPr txBox="1">
              <a:spLocks/>
            </p:cNvSpPr>
            <p:nvPr/>
          </p:nvSpPr>
          <p:spPr bwMode="auto">
            <a:xfrm>
              <a:off x="5240466" y="3212976"/>
              <a:ext cx="288000" cy="276999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buFont typeface="Wingdings" pitchFamily="2" charset="2"/>
                <a:buNone/>
              </a:pPr>
              <a:r>
                <a:rPr lang="en-US" altLang="zh-CN" b="1">
                  <a:solidFill>
                    <a:srgbClr val="000099"/>
                  </a:solidFill>
                  <a:ea typeface="黑体" pitchFamily="2" charset="-122"/>
                </a:rPr>
                <a:t>7</a:t>
              </a:r>
              <a:endParaRPr lang="zh-CN" altLang="en-US" b="1">
                <a:solidFill>
                  <a:srgbClr val="000099"/>
                </a:solidFill>
                <a:ea typeface="黑体" pitchFamily="2" charset="-122"/>
              </a:endParaRPr>
            </a:p>
          </p:txBody>
        </p:sp>
        <p:sp>
          <p:nvSpPr>
            <p:cNvPr id="31777" name="TextBox 171"/>
            <p:cNvSpPr txBox="1">
              <a:spLocks/>
            </p:cNvSpPr>
            <p:nvPr/>
          </p:nvSpPr>
          <p:spPr bwMode="auto">
            <a:xfrm>
              <a:off x="5708486" y="3789040"/>
              <a:ext cx="288000" cy="276999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buFont typeface="Wingdings" pitchFamily="2" charset="2"/>
                <a:buNone/>
              </a:pPr>
              <a:r>
                <a:rPr lang="en-US" altLang="zh-CN" b="1">
                  <a:solidFill>
                    <a:srgbClr val="000099"/>
                  </a:solidFill>
                  <a:ea typeface="黑体" pitchFamily="2" charset="-122"/>
                </a:rPr>
                <a:t>5</a:t>
              </a:r>
              <a:endParaRPr lang="zh-CN" altLang="en-US" b="1">
                <a:solidFill>
                  <a:srgbClr val="000099"/>
                </a:solidFill>
                <a:ea typeface="黑体" pitchFamily="2" charset="-122"/>
              </a:endParaRPr>
            </a:p>
          </p:txBody>
        </p:sp>
        <p:sp>
          <p:nvSpPr>
            <p:cNvPr id="31778" name="TextBox 172"/>
            <p:cNvSpPr txBox="1">
              <a:spLocks/>
            </p:cNvSpPr>
            <p:nvPr/>
          </p:nvSpPr>
          <p:spPr bwMode="auto">
            <a:xfrm>
              <a:off x="6176538" y="4344808"/>
              <a:ext cx="288000" cy="276999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buFont typeface="Wingdings" pitchFamily="2" charset="2"/>
                <a:buNone/>
              </a:pPr>
              <a:r>
                <a:rPr lang="en-US" altLang="zh-CN" b="1">
                  <a:solidFill>
                    <a:srgbClr val="000099"/>
                  </a:solidFill>
                  <a:ea typeface="黑体" pitchFamily="2" charset="-122"/>
                </a:rPr>
                <a:t>2</a:t>
              </a:r>
              <a:endParaRPr lang="zh-CN" altLang="en-US" b="1">
                <a:solidFill>
                  <a:srgbClr val="000099"/>
                </a:solidFill>
                <a:ea typeface="黑体" pitchFamily="2" charset="-122"/>
              </a:endParaRPr>
            </a:p>
          </p:txBody>
        </p:sp>
        <p:sp>
          <p:nvSpPr>
            <p:cNvPr id="31779" name="TextBox 173"/>
            <p:cNvSpPr txBox="1">
              <a:spLocks/>
            </p:cNvSpPr>
            <p:nvPr/>
          </p:nvSpPr>
          <p:spPr bwMode="auto">
            <a:xfrm>
              <a:off x="6644590" y="4344808"/>
              <a:ext cx="288000" cy="276999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buFont typeface="Wingdings" pitchFamily="2" charset="2"/>
                <a:buNone/>
              </a:pPr>
              <a:r>
                <a:rPr lang="en-US" altLang="zh-CN" b="1">
                  <a:solidFill>
                    <a:srgbClr val="000099"/>
                  </a:solidFill>
                  <a:ea typeface="黑体" pitchFamily="2" charset="-122"/>
                </a:rPr>
                <a:t>4</a:t>
              </a:r>
              <a:endParaRPr lang="zh-CN" altLang="en-US" b="1">
                <a:solidFill>
                  <a:srgbClr val="000099"/>
                </a:solidFill>
                <a:ea typeface="黑体" pitchFamily="2" charset="-122"/>
              </a:endParaRPr>
            </a:p>
          </p:txBody>
        </p:sp>
        <p:cxnSp>
          <p:nvCxnSpPr>
            <p:cNvPr id="175" name="直接连接符 174"/>
            <p:cNvCxnSpPr>
              <a:cxnSpLocks noChangeAspect="1"/>
              <a:stCxn id="31777" idx="0"/>
              <a:endCxn id="31782" idx="3"/>
            </p:cNvCxnSpPr>
            <p:nvPr/>
          </p:nvCxnSpPr>
          <p:spPr>
            <a:xfrm flipV="1">
              <a:off x="5853186" y="3498934"/>
              <a:ext cx="220642" cy="290644"/>
            </a:xfrm>
            <a:prstGeom prst="line">
              <a:avLst/>
            </a:prstGeom>
            <a:ln w="25400">
              <a:solidFill>
                <a:srgbClr val="C0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直接连接符 175"/>
            <p:cNvCxnSpPr>
              <a:cxnSpLocks noChangeAspect="1"/>
              <a:stCxn id="31773" idx="0"/>
              <a:endCxn id="31782" idx="5"/>
            </p:cNvCxnSpPr>
            <p:nvPr/>
          </p:nvCxnSpPr>
          <p:spPr>
            <a:xfrm flipH="1" flipV="1">
              <a:off x="6327806" y="3498934"/>
              <a:ext cx="233342" cy="276351"/>
            </a:xfrm>
            <a:prstGeom prst="line">
              <a:avLst/>
            </a:prstGeom>
            <a:ln w="25400">
              <a:solidFill>
                <a:srgbClr val="C0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782" name="椭圆 180"/>
            <p:cNvSpPr>
              <a:spLocks noChangeAspect="1"/>
            </p:cNvSpPr>
            <p:nvPr/>
          </p:nvSpPr>
          <p:spPr bwMode="auto">
            <a:xfrm>
              <a:off x="6020782" y="3192407"/>
              <a:ext cx="360000" cy="358217"/>
            </a:xfrm>
            <a:prstGeom prst="ellipse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/>
            <a:lstStyle/>
            <a:p>
              <a:pPr algn="ctr">
                <a:lnSpc>
                  <a:spcPct val="96000"/>
                </a:lnSpc>
              </a:pPr>
              <a:r>
                <a:rPr lang="en-US" altLang="zh-CN" b="1">
                  <a:solidFill>
                    <a:srgbClr val="000099"/>
                  </a:solidFill>
                  <a:ea typeface="黑体" pitchFamily="2" charset="-122"/>
                </a:rPr>
                <a:t>11</a:t>
              </a:r>
              <a:endParaRPr lang="zh-CN" altLang="en-US" b="1">
                <a:solidFill>
                  <a:srgbClr val="000099"/>
                </a:solidFill>
                <a:ea typeface="黑体" pitchFamily="2" charset="-122"/>
              </a:endParaRPr>
            </a:p>
          </p:txBody>
        </p:sp>
      </p:grpSp>
      <p:grpSp>
        <p:nvGrpSpPr>
          <p:cNvPr id="31759" name="组合 208"/>
          <p:cNvGrpSpPr>
            <a:grpSpLocks/>
          </p:cNvGrpSpPr>
          <p:nvPr/>
        </p:nvGrpSpPr>
        <p:grpSpPr bwMode="auto">
          <a:xfrm>
            <a:off x="7380288" y="2819400"/>
            <a:ext cx="1692275" cy="2068513"/>
            <a:chOff x="7716120" y="2731557"/>
            <a:chExt cx="1692124" cy="2069359"/>
          </a:xfrm>
        </p:grpSpPr>
        <p:sp>
          <p:nvSpPr>
            <p:cNvPr id="31760" name="椭圆 185"/>
            <p:cNvSpPr>
              <a:spLocks noChangeAspect="1"/>
            </p:cNvSpPr>
            <p:nvPr/>
          </p:nvSpPr>
          <p:spPr bwMode="auto">
            <a:xfrm>
              <a:off x="8856436" y="3954343"/>
              <a:ext cx="360000" cy="358217"/>
            </a:xfrm>
            <a:prstGeom prst="ellipse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/>
            <a:lstStyle/>
            <a:p>
              <a:pPr algn="ctr">
                <a:lnSpc>
                  <a:spcPct val="96000"/>
                </a:lnSpc>
              </a:pPr>
              <a:r>
                <a:rPr lang="en-US" altLang="zh-CN" b="1">
                  <a:solidFill>
                    <a:srgbClr val="000099"/>
                  </a:solidFill>
                  <a:ea typeface="黑体" pitchFamily="2" charset="-122"/>
                </a:rPr>
                <a:t>6</a:t>
              </a:r>
              <a:endParaRPr lang="zh-CN" altLang="en-US" b="1">
                <a:solidFill>
                  <a:srgbClr val="000099"/>
                </a:solidFill>
                <a:ea typeface="黑体" pitchFamily="2" charset="-122"/>
              </a:endParaRPr>
            </a:p>
          </p:txBody>
        </p:sp>
        <p:cxnSp>
          <p:nvCxnSpPr>
            <p:cNvPr id="187" name="直接连接符 186"/>
            <p:cNvCxnSpPr>
              <a:cxnSpLocks noChangeAspect="1"/>
              <a:stCxn id="31765" idx="0"/>
              <a:endCxn id="31760" idx="3"/>
            </p:cNvCxnSpPr>
            <p:nvPr/>
          </p:nvCxnSpPr>
          <p:spPr>
            <a:xfrm flipV="1">
              <a:off x="8795524" y="4259357"/>
              <a:ext cx="114290" cy="265221"/>
            </a:xfrm>
            <a:prstGeom prst="line">
              <a:avLst/>
            </a:prstGeom>
            <a:ln w="25400">
              <a:solidFill>
                <a:srgbClr val="C0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直接连接符 187"/>
            <p:cNvCxnSpPr>
              <a:cxnSpLocks noChangeAspect="1"/>
              <a:stCxn id="31766" idx="0"/>
              <a:endCxn id="31760" idx="5"/>
            </p:cNvCxnSpPr>
            <p:nvPr/>
          </p:nvCxnSpPr>
          <p:spPr>
            <a:xfrm flipH="1" flipV="1">
              <a:off x="9163791" y="4259357"/>
              <a:ext cx="100003" cy="265221"/>
            </a:xfrm>
            <a:prstGeom prst="line">
              <a:avLst/>
            </a:prstGeom>
            <a:ln w="25400">
              <a:solidFill>
                <a:srgbClr val="C0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763" name="TextBox 188"/>
            <p:cNvSpPr txBox="1">
              <a:spLocks/>
            </p:cNvSpPr>
            <p:nvPr/>
          </p:nvSpPr>
          <p:spPr bwMode="auto">
            <a:xfrm>
              <a:off x="7716120" y="3368025"/>
              <a:ext cx="288000" cy="276999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buFont typeface="Wingdings" pitchFamily="2" charset="2"/>
                <a:buNone/>
              </a:pPr>
              <a:r>
                <a:rPr lang="en-US" altLang="zh-CN" b="1">
                  <a:solidFill>
                    <a:srgbClr val="000099"/>
                  </a:solidFill>
                  <a:ea typeface="黑体" pitchFamily="2" charset="-122"/>
                </a:rPr>
                <a:t>7</a:t>
              </a:r>
              <a:endParaRPr lang="zh-CN" altLang="en-US" b="1">
                <a:solidFill>
                  <a:srgbClr val="000099"/>
                </a:solidFill>
                <a:ea typeface="黑体" pitchFamily="2" charset="-122"/>
              </a:endParaRPr>
            </a:p>
          </p:txBody>
        </p:sp>
        <p:sp>
          <p:nvSpPr>
            <p:cNvPr id="31764" name="TextBox 189"/>
            <p:cNvSpPr txBox="1">
              <a:spLocks/>
            </p:cNvSpPr>
            <p:nvPr/>
          </p:nvSpPr>
          <p:spPr bwMode="auto">
            <a:xfrm>
              <a:off x="8184140" y="3968149"/>
              <a:ext cx="288000" cy="276999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buFont typeface="Wingdings" pitchFamily="2" charset="2"/>
                <a:buNone/>
              </a:pPr>
              <a:r>
                <a:rPr lang="en-US" altLang="zh-CN" b="1">
                  <a:solidFill>
                    <a:srgbClr val="000099"/>
                  </a:solidFill>
                  <a:ea typeface="黑体" pitchFamily="2" charset="-122"/>
                </a:rPr>
                <a:t>5</a:t>
              </a:r>
              <a:endParaRPr lang="zh-CN" altLang="en-US" b="1">
                <a:solidFill>
                  <a:srgbClr val="000099"/>
                </a:solidFill>
                <a:ea typeface="黑体" pitchFamily="2" charset="-122"/>
              </a:endParaRPr>
            </a:p>
          </p:txBody>
        </p:sp>
        <p:sp>
          <p:nvSpPr>
            <p:cNvPr id="31765" name="TextBox 190"/>
            <p:cNvSpPr txBox="1">
              <a:spLocks/>
            </p:cNvSpPr>
            <p:nvPr/>
          </p:nvSpPr>
          <p:spPr bwMode="auto">
            <a:xfrm>
              <a:off x="8652192" y="4523917"/>
              <a:ext cx="288000" cy="276999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buFont typeface="Wingdings" pitchFamily="2" charset="2"/>
                <a:buNone/>
              </a:pPr>
              <a:r>
                <a:rPr lang="en-US" altLang="zh-CN" b="1">
                  <a:solidFill>
                    <a:srgbClr val="000099"/>
                  </a:solidFill>
                  <a:ea typeface="黑体" pitchFamily="2" charset="-122"/>
                </a:rPr>
                <a:t>2</a:t>
              </a:r>
              <a:endParaRPr lang="zh-CN" altLang="en-US" b="1">
                <a:solidFill>
                  <a:srgbClr val="000099"/>
                </a:solidFill>
                <a:ea typeface="黑体" pitchFamily="2" charset="-122"/>
              </a:endParaRPr>
            </a:p>
          </p:txBody>
        </p:sp>
        <p:sp>
          <p:nvSpPr>
            <p:cNvPr id="31766" name="TextBox 191"/>
            <p:cNvSpPr txBox="1">
              <a:spLocks/>
            </p:cNvSpPr>
            <p:nvPr/>
          </p:nvSpPr>
          <p:spPr bwMode="auto">
            <a:xfrm>
              <a:off x="9120244" y="4523917"/>
              <a:ext cx="288000" cy="276999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buFont typeface="Wingdings" pitchFamily="2" charset="2"/>
                <a:buNone/>
              </a:pPr>
              <a:r>
                <a:rPr lang="en-US" altLang="zh-CN" b="1">
                  <a:solidFill>
                    <a:srgbClr val="000099"/>
                  </a:solidFill>
                  <a:ea typeface="黑体" pitchFamily="2" charset="-122"/>
                </a:rPr>
                <a:t>4</a:t>
              </a:r>
              <a:endParaRPr lang="zh-CN" altLang="en-US" b="1">
                <a:solidFill>
                  <a:srgbClr val="000099"/>
                </a:solidFill>
                <a:ea typeface="黑体" pitchFamily="2" charset="-122"/>
              </a:endParaRPr>
            </a:p>
          </p:txBody>
        </p:sp>
        <p:cxnSp>
          <p:nvCxnSpPr>
            <p:cNvPr id="193" name="直接连接符 192"/>
            <p:cNvCxnSpPr>
              <a:cxnSpLocks noChangeAspect="1"/>
              <a:stCxn id="31764" idx="0"/>
              <a:endCxn id="31769" idx="3"/>
            </p:cNvCxnSpPr>
            <p:nvPr/>
          </p:nvCxnSpPr>
          <p:spPr>
            <a:xfrm flipV="1">
              <a:off x="8328840" y="3676506"/>
              <a:ext cx="220642" cy="292219"/>
            </a:xfrm>
            <a:prstGeom prst="line">
              <a:avLst/>
            </a:prstGeom>
            <a:ln w="25400">
              <a:solidFill>
                <a:srgbClr val="C0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直接连接符 193"/>
            <p:cNvCxnSpPr>
              <a:cxnSpLocks noChangeAspect="1"/>
              <a:stCxn id="31760" idx="0"/>
              <a:endCxn id="31769" idx="5"/>
            </p:cNvCxnSpPr>
            <p:nvPr/>
          </p:nvCxnSpPr>
          <p:spPr>
            <a:xfrm flipH="1" flipV="1">
              <a:off x="8803460" y="3676506"/>
              <a:ext cx="233342" cy="277926"/>
            </a:xfrm>
            <a:prstGeom prst="line">
              <a:avLst/>
            </a:prstGeom>
            <a:ln w="25400">
              <a:solidFill>
                <a:srgbClr val="C0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769" name="椭圆 194"/>
            <p:cNvSpPr>
              <a:spLocks noChangeAspect="1"/>
            </p:cNvSpPr>
            <p:nvPr/>
          </p:nvSpPr>
          <p:spPr bwMode="auto">
            <a:xfrm>
              <a:off x="8496436" y="3371516"/>
              <a:ext cx="360000" cy="358217"/>
            </a:xfrm>
            <a:prstGeom prst="ellipse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/>
            <a:lstStyle/>
            <a:p>
              <a:pPr algn="ctr">
                <a:lnSpc>
                  <a:spcPct val="96000"/>
                </a:lnSpc>
              </a:pPr>
              <a:r>
                <a:rPr lang="en-US" altLang="zh-CN" b="1">
                  <a:solidFill>
                    <a:srgbClr val="000099"/>
                  </a:solidFill>
                  <a:ea typeface="黑体" pitchFamily="2" charset="-122"/>
                </a:rPr>
                <a:t>11</a:t>
              </a:r>
              <a:endParaRPr lang="zh-CN" altLang="en-US" b="1">
                <a:solidFill>
                  <a:srgbClr val="000099"/>
                </a:solidFill>
                <a:ea typeface="黑体" pitchFamily="2" charset="-122"/>
              </a:endParaRPr>
            </a:p>
          </p:txBody>
        </p:sp>
        <p:cxnSp>
          <p:nvCxnSpPr>
            <p:cNvPr id="196" name="直接连接符 195"/>
            <p:cNvCxnSpPr>
              <a:cxnSpLocks noChangeAspect="1"/>
              <a:stCxn id="31763" idx="0"/>
              <a:endCxn id="31772" idx="3"/>
            </p:cNvCxnSpPr>
            <p:nvPr/>
          </p:nvCxnSpPr>
          <p:spPr>
            <a:xfrm flipV="1">
              <a:off x="7860569" y="3038070"/>
              <a:ext cx="271439" cy="330335"/>
            </a:xfrm>
            <a:prstGeom prst="line">
              <a:avLst/>
            </a:prstGeom>
            <a:ln w="25400">
              <a:solidFill>
                <a:srgbClr val="C0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直接连接符 196"/>
            <p:cNvCxnSpPr>
              <a:cxnSpLocks noChangeAspect="1"/>
              <a:stCxn id="31769" idx="0"/>
              <a:endCxn id="31772" idx="5"/>
            </p:cNvCxnSpPr>
            <p:nvPr/>
          </p:nvCxnSpPr>
          <p:spPr>
            <a:xfrm flipH="1" flipV="1">
              <a:off x="8385985" y="3038070"/>
              <a:ext cx="290486" cy="333511"/>
            </a:xfrm>
            <a:prstGeom prst="line">
              <a:avLst/>
            </a:prstGeom>
            <a:ln w="25400">
              <a:solidFill>
                <a:srgbClr val="C0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772" name="椭圆 200"/>
            <p:cNvSpPr>
              <a:spLocks noChangeAspect="1"/>
            </p:cNvSpPr>
            <p:nvPr/>
          </p:nvSpPr>
          <p:spPr bwMode="auto">
            <a:xfrm>
              <a:off x="8078648" y="2731557"/>
              <a:ext cx="360000" cy="358217"/>
            </a:xfrm>
            <a:prstGeom prst="ellipse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/>
            <a:lstStyle/>
            <a:p>
              <a:pPr algn="ctr">
                <a:lnSpc>
                  <a:spcPct val="96000"/>
                </a:lnSpc>
              </a:pPr>
              <a:r>
                <a:rPr lang="en-US" altLang="zh-CN" b="1" dirty="0">
                  <a:solidFill>
                    <a:srgbClr val="000099"/>
                  </a:solidFill>
                  <a:ea typeface="黑体" pitchFamily="2" charset="-122"/>
                </a:rPr>
                <a:t>18</a:t>
              </a:r>
              <a:endParaRPr lang="zh-CN" altLang="en-US" b="1" dirty="0">
                <a:solidFill>
                  <a:srgbClr val="000099"/>
                </a:solidFill>
                <a:ea typeface="黑体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565386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哈夫曼编码</a:t>
            </a:r>
          </a:p>
        </p:txBody>
      </p:sp>
      <p:sp>
        <p:nvSpPr>
          <p:cNvPr id="3891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Arial" charset="0"/>
                <a:ea typeface="黑体" pitchFamily="2" charset="-122"/>
              </a:rPr>
              <a:t>Huffman</a:t>
            </a:r>
            <a:r>
              <a:rPr lang="zh-CN" altLang="en-US" dirty="0">
                <a:latin typeface="Arial" charset="0"/>
                <a:ea typeface="黑体" pitchFamily="2" charset="-122"/>
              </a:rPr>
              <a:t>编码，进行数据压缩</a:t>
            </a:r>
            <a:endParaRPr lang="en-US" altLang="zh-CN" dirty="0">
              <a:latin typeface="Arial" charset="0"/>
              <a:ea typeface="黑体" pitchFamily="2" charset="-122"/>
            </a:endParaRPr>
          </a:p>
          <a:p>
            <a:pPr lvl="1"/>
            <a:r>
              <a:rPr lang="zh-CN" altLang="en-US" dirty="0">
                <a:latin typeface="Arial" charset="0"/>
                <a:ea typeface="黑体" pitchFamily="2" charset="-122"/>
              </a:rPr>
              <a:t>计算机领域数据用二进制表示</a:t>
            </a:r>
            <a:endParaRPr lang="en-US" altLang="zh-CN" dirty="0">
              <a:latin typeface="Arial" charset="0"/>
              <a:ea typeface="黑体" pitchFamily="2" charset="-122"/>
            </a:endParaRPr>
          </a:p>
          <a:p>
            <a:pPr lvl="1"/>
            <a:r>
              <a:rPr lang="zh-CN" altLang="en-US" dirty="0">
                <a:latin typeface="Arial" charset="0"/>
                <a:ea typeface="黑体" pitchFamily="2" charset="-122"/>
              </a:rPr>
              <a:t>若已统计出某文本中各字符出现的概率，可以用</a:t>
            </a:r>
            <a:r>
              <a:rPr lang="en-US" altLang="zh-CN" dirty="0">
                <a:latin typeface="Arial" charset="0"/>
                <a:ea typeface="黑体" pitchFamily="2" charset="-122"/>
              </a:rPr>
              <a:t>Huffman</a:t>
            </a:r>
            <a:r>
              <a:rPr lang="zh-CN" altLang="en-US" dirty="0">
                <a:latin typeface="Arial" charset="0"/>
                <a:ea typeface="黑体" pitchFamily="2" charset="-122"/>
              </a:rPr>
              <a:t>编码进行数据压缩</a:t>
            </a:r>
            <a:endParaRPr lang="en-US" altLang="zh-CN" dirty="0">
              <a:latin typeface="Arial" charset="0"/>
              <a:ea typeface="黑体" pitchFamily="2" charset="-122"/>
            </a:endParaRPr>
          </a:p>
          <a:p>
            <a:pPr lvl="1"/>
            <a:endParaRPr lang="en-US" altLang="zh-CN" dirty="0">
              <a:latin typeface="Arial" charset="0"/>
              <a:ea typeface="黑体" pitchFamily="2" charset="-122"/>
            </a:endParaRPr>
          </a:p>
          <a:p>
            <a:pPr lvl="1"/>
            <a:endParaRPr lang="en-US" altLang="zh-CN" dirty="0">
              <a:latin typeface="Arial" charset="0"/>
              <a:ea typeface="黑体" pitchFamily="2" charset="-122"/>
            </a:endParaRPr>
          </a:p>
          <a:p>
            <a:pPr lvl="1"/>
            <a:endParaRPr lang="zh-CN" altLang="en-US" dirty="0">
              <a:latin typeface="Arial" charset="0"/>
              <a:ea typeface="黑体" pitchFamily="2" charset="-122"/>
            </a:endParaRPr>
          </a:p>
        </p:txBody>
      </p:sp>
      <p:sp>
        <p:nvSpPr>
          <p:cNvPr id="3891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fld id="{9ABCA842-320B-44BF-ACF7-ACB64D708C5E}" type="slidenum">
              <a:rPr lang="en-US" altLang="zh-CN" smtClean="0">
                <a:solidFill>
                  <a:srgbClr val="006600"/>
                </a:solidFill>
                <a:latin typeface="Courier New" pitchFamily="49" charset="0"/>
                <a:ea typeface="华文新魏" pitchFamily="2" charset="-122"/>
              </a:rPr>
              <a:pPr eaLnBrk="1" hangingPunct="1"/>
              <a:t>14</a:t>
            </a:fld>
            <a:endParaRPr lang="en-US" altLang="zh-CN">
              <a:solidFill>
                <a:srgbClr val="006600"/>
              </a:solidFill>
              <a:latin typeface="Courier New" pitchFamily="49" charset="0"/>
              <a:ea typeface="华文新魏" pitchFamily="2" charset="-122"/>
            </a:endParaRPr>
          </a:p>
        </p:txBody>
      </p:sp>
      <p:graphicFrame>
        <p:nvGraphicFramePr>
          <p:cNvPr id="38917" name="对象 4"/>
          <p:cNvGraphicFramePr>
            <a:graphicFrameLocks noChangeAspect="1"/>
          </p:cNvGraphicFramePr>
          <p:nvPr/>
        </p:nvGraphicFramePr>
        <p:xfrm>
          <a:off x="3059113" y="3573463"/>
          <a:ext cx="2846387" cy="598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057635" imgH="647730" progId="Equation.3">
                  <p:embed/>
                </p:oleObj>
              </mc:Choice>
              <mc:Fallback>
                <p:oleObj name="公式" r:id="rId2" imgW="3057635" imgH="64773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3573463"/>
                        <a:ext cx="2846387" cy="598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731949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哈夫曼编码</a:t>
            </a:r>
          </a:p>
        </p:txBody>
      </p:sp>
      <p:sp>
        <p:nvSpPr>
          <p:cNvPr id="3993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Arial" charset="0"/>
                <a:ea typeface="黑体" pitchFamily="2" charset="-122"/>
              </a:rPr>
              <a:t>Huffman</a:t>
            </a:r>
            <a:r>
              <a:rPr lang="zh-CN" altLang="en-US" dirty="0">
                <a:latin typeface="Arial" charset="0"/>
                <a:ea typeface="黑体" pitchFamily="2" charset="-122"/>
              </a:rPr>
              <a:t>编码，进行数据压缩</a:t>
            </a:r>
            <a:endParaRPr lang="en-US" altLang="zh-CN" dirty="0">
              <a:latin typeface="Arial" charset="0"/>
              <a:ea typeface="黑体" pitchFamily="2" charset="-122"/>
            </a:endParaRPr>
          </a:p>
          <a:p>
            <a:pPr lvl="1"/>
            <a:r>
              <a:rPr lang="zh-CN" altLang="en-US" dirty="0">
                <a:latin typeface="Arial" charset="0"/>
                <a:ea typeface="黑体" pitchFamily="2" charset="-122"/>
              </a:rPr>
              <a:t>假设某文本共有</a:t>
            </a:r>
            <a:r>
              <a:rPr lang="en-US" altLang="zh-CN" dirty="0">
                <a:latin typeface="Arial" charset="0"/>
                <a:ea typeface="黑体" pitchFamily="2" charset="-122"/>
              </a:rPr>
              <a:t>1000</a:t>
            </a:r>
            <a:r>
              <a:rPr lang="zh-CN" altLang="en-US" dirty="0">
                <a:latin typeface="Arial" charset="0"/>
                <a:ea typeface="黑体" pitchFamily="2" charset="-122"/>
              </a:rPr>
              <a:t>个字符，且只由 </a:t>
            </a:r>
            <a:r>
              <a:rPr lang="en-US" altLang="zh-CN" dirty="0">
                <a:latin typeface="Arial" charset="0"/>
                <a:ea typeface="黑体" pitchFamily="2" charset="-122"/>
              </a:rPr>
              <a:t>a, b, c, d, e 5</a:t>
            </a:r>
            <a:r>
              <a:rPr lang="zh-CN" altLang="en-US" dirty="0">
                <a:latin typeface="Arial" charset="0"/>
                <a:ea typeface="黑体" pitchFamily="2" charset="-122"/>
              </a:rPr>
              <a:t>种字符组成</a:t>
            </a:r>
            <a:endParaRPr lang="en-US" altLang="zh-CN" dirty="0">
              <a:latin typeface="Arial" charset="0"/>
              <a:ea typeface="黑体" pitchFamily="2" charset="-122"/>
            </a:endParaRPr>
          </a:p>
          <a:p>
            <a:pPr lvl="2"/>
            <a:r>
              <a:rPr lang="zh-CN" altLang="en-US" dirty="0">
                <a:latin typeface="Arial" charset="0"/>
                <a:ea typeface="黑体" pitchFamily="2" charset="-122"/>
              </a:rPr>
              <a:t>固定长度编码可将每个字符用</a:t>
            </a:r>
            <a:r>
              <a:rPr lang="en-US" altLang="zh-CN" dirty="0">
                <a:latin typeface="Arial" charset="0"/>
                <a:ea typeface="黑体" pitchFamily="2" charset="-122"/>
              </a:rPr>
              <a:t>3</a:t>
            </a:r>
            <a:r>
              <a:rPr lang="zh-CN" altLang="en-US" dirty="0">
                <a:latin typeface="Arial" charset="0"/>
                <a:ea typeface="黑体" pitchFamily="2" charset="-122"/>
              </a:rPr>
              <a:t>比特表示，整个文本要</a:t>
            </a:r>
            <a:r>
              <a:rPr lang="en-US" altLang="zh-CN" dirty="0">
                <a:latin typeface="Arial" charset="0"/>
                <a:ea typeface="黑体" pitchFamily="2" charset="-122"/>
              </a:rPr>
              <a:t>3</a:t>
            </a:r>
            <a:r>
              <a:rPr lang="zh-CN" altLang="en-US" dirty="0">
                <a:latin typeface="Arial" charset="0"/>
                <a:ea typeface="黑体" pitchFamily="2" charset="-122"/>
              </a:rPr>
              <a:t>*</a:t>
            </a:r>
            <a:r>
              <a:rPr lang="en-US" altLang="zh-CN" dirty="0">
                <a:latin typeface="Arial" charset="0"/>
                <a:ea typeface="黑体" pitchFamily="2" charset="-122"/>
              </a:rPr>
              <a:t>1000=3000</a:t>
            </a:r>
            <a:r>
              <a:rPr lang="zh-CN" altLang="en-US" dirty="0">
                <a:latin typeface="Arial" charset="0"/>
                <a:ea typeface="黑体" pitchFamily="2" charset="-122"/>
              </a:rPr>
              <a:t>比特表示，平均编码长度</a:t>
            </a:r>
            <a:r>
              <a:rPr lang="en-US" altLang="zh-CN" dirty="0">
                <a:latin typeface="Arial" charset="0"/>
                <a:ea typeface="黑体" pitchFamily="2" charset="-122"/>
              </a:rPr>
              <a:t>3</a:t>
            </a:r>
            <a:r>
              <a:rPr lang="zh-CN" altLang="en-US" dirty="0">
                <a:latin typeface="Arial" charset="0"/>
                <a:ea typeface="黑体" pitchFamily="2" charset="-122"/>
              </a:rPr>
              <a:t>比特</a:t>
            </a:r>
            <a:endParaRPr lang="en-US" altLang="zh-CN" dirty="0">
              <a:latin typeface="Arial" charset="0"/>
              <a:ea typeface="黑体" pitchFamily="2" charset="-122"/>
            </a:endParaRPr>
          </a:p>
          <a:p>
            <a:endParaRPr lang="zh-CN" altLang="en-US" dirty="0">
              <a:latin typeface="Arial" charset="0"/>
              <a:ea typeface="黑体" pitchFamily="2" charset="-122"/>
            </a:endParaRPr>
          </a:p>
        </p:txBody>
      </p:sp>
      <p:sp>
        <p:nvSpPr>
          <p:cNvPr id="39940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fld id="{1623A238-7940-460E-A522-71F255E248A8}" type="slidenum">
              <a:rPr lang="en-US" altLang="zh-CN" smtClean="0">
                <a:solidFill>
                  <a:srgbClr val="006600"/>
                </a:solidFill>
                <a:latin typeface="Courier New" pitchFamily="49" charset="0"/>
                <a:ea typeface="华文新魏" pitchFamily="2" charset="-122"/>
              </a:rPr>
              <a:pPr eaLnBrk="1" hangingPunct="1"/>
              <a:t>15</a:t>
            </a:fld>
            <a:endParaRPr lang="en-US" altLang="zh-CN">
              <a:solidFill>
                <a:srgbClr val="006600"/>
              </a:solidFill>
              <a:latin typeface="Courier New" pitchFamily="49" charset="0"/>
              <a:ea typeface="华文新魏" pitchFamily="2" charset="-122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692275" y="3789363"/>
          <a:ext cx="2903538" cy="22240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17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517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chemeClr val="tx1"/>
                          </a:solidFill>
                        </a:rPr>
                        <a:t>符号</a:t>
                      </a:r>
                    </a:p>
                  </a:txBody>
                  <a:tcPr marL="91426" marR="91426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chemeClr val="tx1"/>
                          </a:solidFill>
                        </a:rPr>
                        <a:t>定长编码</a:t>
                      </a:r>
                    </a:p>
                  </a:txBody>
                  <a:tcPr marL="91426" marR="91426"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26" marR="91426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000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26" marR="91426"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26" marR="91426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001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26" marR="91426" marT="45700" marB="457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26" marR="91426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26" marR="91426" marT="45700" marB="457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26" marR="91426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101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26" marR="91426" marT="45700" marB="457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26" marR="91426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110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26" marR="91426" marT="45700" marB="457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56736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哈夫曼编码</a:t>
            </a:r>
          </a:p>
        </p:txBody>
      </p:sp>
      <p:sp>
        <p:nvSpPr>
          <p:cNvPr id="4096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Arial" charset="0"/>
                <a:ea typeface="黑体" pitchFamily="2" charset="-122"/>
              </a:rPr>
              <a:t>Huffman</a:t>
            </a:r>
            <a:r>
              <a:rPr lang="zh-CN" altLang="en-US" dirty="0">
                <a:latin typeface="Arial" charset="0"/>
                <a:ea typeface="黑体" pitchFamily="2" charset="-122"/>
              </a:rPr>
              <a:t>编码，进行数据压缩</a:t>
            </a:r>
            <a:endParaRPr lang="en-US" altLang="zh-CN" dirty="0">
              <a:latin typeface="Arial" charset="0"/>
              <a:ea typeface="黑体" pitchFamily="2" charset="-122"/>
            </a:endParaRPr>
          </a:p>
          <a:p>
            <a:pPr lvl="1"/>
            <a:r>
              <a:rPr lang="zh-CN" altLang="en-US" dirty="0">
                <a:latin typeface="Arial" charset="0"/>
                <a:ea typeface="黑体" pitchFamily="2" charset="-122"/>
              </a:rPr>
              <a:t>假设某文本共有</a:t>
            </a:r>
            <a:r>
              <a:rPr lang="en-US" altLang="zh-CN" dirty="0">
                <a:latin typeface="Arial" charset="0"/>
                <a:ea typeface="黑体" pitchFamily="2" charset="-122"/>
              </a:rPr>
              <a:t>1000</a:t>
            </a:r>
            <a:r>
              <a:rPr lang="zh-CN" altLang="en-US" dirty="0">
                <a:latin typeface="Arial" charset="0"/>
                <a:ea typeface="黑体" pitchFamily="2" charset="-122"/>
              </a:rPr>
              <a:t>个字符，且只由 </a:t>
            </a:r>
            <a:r>
              <a:rPr lang="en-US" altLang="zh-CN" dirty="0">
                <a:latin typeface="Arial" charset="0"/>
                <a:ea typeface="黑体" pitchFamily="2" charset="-122"/>
              </a:rPr>
              <a:t>a, b, c, d, e 5</a:t>
            </a:r>
            <a:r>
              <a:rPr lang="zh-CN" altLang="en-US" dirty="0">
                <a:latin typeface="Arial" charset="0"/>
                <a:ea typeface="黑体" pitchFamily="2" charset="-122"/>
              </a:rPr>
              <a:t>种字符组成</a:t>
            </a:r>
            <a:endParaRPr lang="en-US" altLang="zh-CN" dirty="0">
              <a:latin typeface="Arial" charset="0"/>
              <a:ea typeface="黑体" pitchFamily="2" charset="-122"/>
            </a:endParaRPr>
          </a:p>
          <a:p>
            <a:pPr lvl="2"/>
            <a:r>
              <a:rPr lang="zh-CN" altLang="en-US" dirty="0">
                <a:latin typeface="Arial" charset="0"/>
                <a:ea typeface="黑体" pitchFamily="2" charset="-122"/>
              </a:rPr>
              <a:t>若已统计出各字符出现的概率分别为</a:t>
            </a:r>
            <a:r>
              <a:rPr lang="en-US" altLang="zh-CN" dirty="0">
                <a:latin typeface="Arial" charset="0"/>
                <a:ea typeface="黑体" pitchFamily="2" charset="-122"/>
              </a:rPr>
              <a:t>0.12, 0.40, 0.15, 0.08, 0.25</a:t>
            </a:r>
            <a:r>
              <a:rPr lang="zh-CN" altLang="en-US" dirty="0">
                <a:latin typeface="Arial" charset="0"/>
                <a:ea typeface="黑体" pitchFamily="2" charset="-122"/>
              </a:rPr>
              <a:t>，则整个文本可用</a:t>
            </a:r>
            <a:r>
              <a:rPr lang="en-US" altLang="zh-CN" dirty="0">
                <a:latin typeface="Arial" charset="0"/>
                <a:ea typeface="黑体" pitchFamily="2" charset="-122"/>
              </a:rPr>
              <a:t>2150</a:t>
            </a:r>
            <a:r>
              <a:rPr lang="zh-CN" altLang="en-US" dirty="0">
                <a:latin typeface="Arial" charset="0"/>
                <a:ea typeface="黑体" pitchFamily="2" charset="-122"/>
              </a:rPr>
              <a:t>比特表示</a:t>
            </a:r>
          </a:p>
        </p:txBody>
      </p:sp>
      <p:sp>
        <p:nvSpPr>
          <p:cNvPr id="40964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fld id="{9FDFECC5-BE98-46B4-A724-BF0205B9E8F0}" type="slidenum">
              <a:rPr lang="en-US" altLang="zh-CN" smtClean="0">
                <a:solidFill>
                  <a:srgbClr val="006600"/>
                </a:solidFill>
                <a:latin typeface="Courier New" pitchFamily="49" charset="0"/>
                <a:ea typeface="华文新魏" pitchFamily="2" charset="-122"/>
              </a:rPr>
              <a:pPr eaLnBrk="1" hangingPunct="1"/>
              <a:t>16</a:t>
            </a:fld>
            <a:endParaRPr lang="en-US" altLang="zh-CN">
              <a:solidFill>
                <a:srgbClr val="006600"/>
              </a:solidFill>
              <a:latin typeface="Courier New" pitchFamily="49" charset="0"/>
              <a:ea typeface="华文新魏" pitchFamily="2" charset="-122"/>
            </a:endParaRPr>
          </a:p>
        </p:txBody>
      </p:sp>
      <p:sp>
        <p:nvSpPr>
          <p:cNvPr id="40965" name="椭圆 5"/>
          <p:cNvSpPr>
            <a:spLocks/>
          </p:cNvSpPr>
          <p:nvPr/>
        </p:nvSpPr>
        <p:spPr bwMode="auto">
          <a:xfrm>
            <a:off x="2128838" y="5956300"/>
            <a:ext cx="647700" cy="288925"/>
          </a:xfrm>
          <a:prstGeom prst="ellips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/>
          <a:lstStyle/>
          <a:p>
            <a:pPr algn="ctr">
              <a:lnSpc>
                <a:spcPct val="96000"/>
              </a:lnSpc>
            </a:pPr>
            <a:r>
              <a:rPr lang="en-US" altLang="zh-CN">
                <a:solidFill>
                  <a:srgbClr val="000099"/>
                </a:solidFill>
                <a:ea typeface="黑体" pitchFamily="2" charset="-122"/>
              </a:rPr>
              <a:t>0.2</a:t>
            </a:r>
            <a:endParaRPr lang="zh-CN" altLang="en-US">
              <a:solidFill>
                <a:srgbClr val="000099"/>
              </a:solidFill>
              <a:ea typeface="黑体" pitchFamily="2" charset="-122"/>
            </a:endParaRPr>
          </a:p>
        </p:txBody>
      </p:sp>
      <p:cxnSp>
        <p:nvCxnSpPr>
          <p:cNvPr id="7" name="直接连接符 6"/>
          <p:cNvCxnSpPr>
            <a:cxnSpLocks noChangeAspect="1"/>
            <a:stCxn id="40970" idx="0"/>
            <a:endCxn id="40965" idx="3"/>
          </p:cNvCxnSpPr>
          <p:nvPr/>
        </p:nvCxnSpPr>
        <p:spPr>
          <a:xfrm flipV="1">
            <a:off x="1981200" y="6202363"/>
            <a:ext cx="242888" cy="322262"/>
          </a:xfrm>
          <a:prstGeom prst="line">
            <a:avLst/>
          </a:prstGeom>
          <a:ln w="19050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>
            <a:cxnSpLocks noChangeAspect="1"/>
            <a:stCxn id="40971" idx="0"/>
            <a:endCxn id="40965" idx="5"/>
          </p:cNvCxnSpPr>
          <p:nvPr/>
        </p:nvCxnSpPr>
        <p:spPr>
          <a:xfrm flipH="1" flipV="1">
            <a:off x="2681288" y="6202363"/>
            <a:ext cx="234950" cy="322262"/>
          </a:xfrm>
          <a:prstGeom prst="line">
            <a:avLst/>
          </a:prstGeom>
          <a:ln w="19050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968" name="TextBox 8"/>
          <p:cNvSpPr txBox="1">
            <a:spLocks/>
          </p:cNvSpPr>
          <p:nvPr/>
        </p:nvSpPr>
        <p:spPr bwMode="auto">
          <a:xfrm>
            <a:off x="606425" y="5359400"/>
            <a:ext cx="719138" cy="27781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buFont typeface="Wingdings" pitchFamily="2" charset="2"/>
              <a:buNone/>
            </a:pPr>
            <a:r>
              <a:rPr lang="en-US" altLang="zh-CN">
                <a:solidFill>
                  <a:srgbClr val="000099"/>
                </a:solidFill>
                <a:ea typeface="黑体" pitchFamily="2" charset="-122"/>
              </a:rPr>
              <a:t>0.25(</a:t>
            </a:r>
            <a:r>
              <a:rPr lang="en-US" altLang="zh-CN" b="1">
                <a:solidFill>
                  <a:srgbClr val="000099"/>
                </a:solidFill>
                <a:ea typeface="黑体" pitchFamily="2" charset="-122"/>
              </a:rPr>
              <a:t>e</a:t>
            </a:r>
            <a:r>
              <a:rPr lang="en-US" altLang="zh-CN">
                <a:solidFill>
                  <a:srgbClr val="000099"/>
                </a:solidFill>
                <a:ea typeface="黑体" pitchFamily="2" charset="-122"/>
              </a:rPr>
              <a:t>)</a:t>
            </a:r>
            <a:endParaRPr lang="zh-CN" altLang="en-US">
              <a:solidFill>
                <a:srgbClr val="000099"/>
              </a:solidFill>
              <a:ea typeface="黑体" pitchFamily="2" charset="-122"/>
            </a:endParaRPr>
          </a:p>
        </p:txBody>
      </p:sp>
      <p:sp>
        <p:nvSpPr>
          <p:cNvPr id="40969" name="TextBox 9"/>
          <p:cNvSpPr txBox="1">
            <a:spLocks/>
          </p:cNvSpPr>
          <p:nvPr/>
        </p:nvSpPr>
        <p:spPr bwMode="auto">
          <a:xfrm>
            <a:off x="1081088" y="5969000"/>
            <a:ext cx="719137" cy="2889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buFont typeface="Wingdings" pitchFamily="2" charset="2"/>
              <a:buNone/>
            </a:pPr>
            <a:r>
              <a:rPr lang="en-US" altLang="zh-CN">
                <a:solidFill>
                  <a:srgbClr val="000099"/>
                </a:solidFill>
                <a:ea typeface="黑体" pitchFamily="2" charset="-122"/>
              </a:rPr>
              <a:t>0.15(</a:t>
            </a:r>
            <a:r>
              <a:rPr lang="en-US" altLang="zh-CN" b="1">
                <a:solidFill>
                  <a:srgbClr val="000099"/>
                </a:solidFill>
                <a:ea typeface="黑体" pitchFamily="2" charset="-122"/>
              </a:rPr>
              <a:t>c</a:t>
            </a:r>
            <a:r>
              <a:rPr lang="en-US" altLang="zh-CN">
                <a:solidFill>
                  <a:srgbClr val="000099"/>
                </a:solidFill>
                <a:ea typeface="黑体" pitchFamily="2" charset="-122"/>
              </a:rPr>
              <a:t>)</a:t>
            </a:r>
            <a:endParaRPr lang="zh-CN" altLang="en-US">
              <a:solidFill>
                <a:srgbClr val="000099"/>
              </a:solidFill>
              <a:ea typeface="黑体" pitchFamily="2" charset="-122"/>
            </a:endParaRPr>
          </a:p>
        </p:txBody>
      </p:sp>
      <p:sp>
        <p:nvSpPr>
          <p:cNvPr id="40970" name="TextBox 10"/>
          <p:cNvSpPr txBox="1">
            <a:spLocks/>
          </p:cNvSpPr>
          <p:nvPr/>
        </p:nvSpPr>
        <p:spPr bwMode="auto">
          <a:xfrm>
            <a:off x="1620838" y="6524625"/>
            <a:ext cx="720725" cy="2889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en-US" altLang="zh-CN">
                <a:solidFill>
                  <a:srgbClr val="000099"/>
                </a:solidFill>
                <a:ea typeface="黑体" pitchFamily="2" charset="-122"/>
              </a:rPr>
              <a:t>0.08(</a:t>
            </a:r>
            <a:r>
              <a:rPr lang="en-US" altLang="zh-CN" b="1">
                <a:solidFill>
                  <a:srgbClr val="000099"/>
                </a:solidFill>
                <a:ea typeface="黑体" pitchFamily="2" charset="-122"/>
              </a:rPr>
              <a:t>d</a:t>
            </a:r>
            <a:r>
              <a:rPr lang="en-US" altLang="zh-CN">
                <a:solidFill>
                  <a:srgbClr val="000099"/>
                </a:solidFill>
                <a:ea typeface="黑体" pitchFamily="2" charset="-122"/>
              </a:rPr>
              <a:t>)</a:t>
            </a:r>
          </a:p>
        </p:txBody>
      </p:sp>
      <p:sp>
        <p:nvSpPr>
          <p:cNvPr id="40971" name="TextBox 11"/>
          <p:cNvSpPr txBox="1">
            <a:spLocks/>
          </p:cNvSpPr>
          <p:nvPr/>
        </p:nvSpPr>
        <p:spPr bwMode="auto">
          <a:xfrm>
            <a:off x="2557463" y="6524625"/>
            <a:ext cx="719137" cy="27781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buFont typeface="Wingdings" pitchFamily="2" charset="2"/>
              <a:buNone/>
            </a:pPr>
            <a:r>
              <a:rPr lang="en-US" altLang="zh-CN">
                <a:solidFill>
                  <a:srgbClr val="000099"/>
                </a:solidFill>
                <a:ea typeface="黑体" pitchFamily="2" charset="-122"/>
              </a:rPr>
              <a:t>0.12(</a:t>
            </a:r>
            <a:r>
              <a:rPr lang="en-US" altLang="zh-CN" b="1">
                <a:solidFill>
                  <a:srgbClr val="000099"/>
                </a:solidFill>
                <a:ea typeface="黑体" pitchFamily="2" charset="-122"/>
              </a:rPr>
              <a:t>a</a:t>
            </a:r>
            <a:r>
              <a:rPr lang="en-US" altLang="zh-CN">
                <a:solidFill>
                  <a:srgbClr val="000099"/>
                </a:solidFill>
                <a:ea typeface="黑体" pitchFamily="2" charset="-122"/>
              </a:rPr>
              <a:t>)</a:t>
            </a:r>
            <a:endParaRPr lang="zh-CN" altLang="en-US">
              <a:solidFill>
                <a:srgbClr val="000099"/>
              </a:solidFill>
              <a:ea typeface="黑体" pitchFamily="2" charset="-122"/>
            </a:endParaRPr>
          </a:p>
        </p:txBody>
      </p:sp>
      <p:cxnSp>
        <p:nvCxnSpPr>
          <p:cNvPr id="13" name="直接连接符 12"/>
          <p:cNvCxnSpPr>
            <a:cxnSpLocks noChangeAspect="1"/>
            <a:stCxn id="40969" idx="0"/>
            <a:endCxn id="40974" idx="3"/>
          </p:cNvCxnSpPr>
          <p:nvPr/>
        </p:nvCxnSpPr>
        <p:spPr>
          <a:xfrm flipV="1">
            <a:off x="1441450" y="5637213"/>
            <a:ext cx="309563" cy="331787"/>
          </a:xfrm>
          <a:prstGeom prst="line">
            <a:avLst/>
          </a:prstGeom>
          <a:ln w="19050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>
            <a:cxnSpLocks noChangeAspect="1"/>
            <a:stCxn id="40965" idx="0"/>
            <a:endCxn id="40974" idx="5"/>
          </p:cNvCxnSpPr>
          <p:nvPr/>
        </p:nvCxnSpPr>
        <p:spPr>
          <a:xfrm flipH="1" flipV="1">
            <a:off x="2209800" y="5637213"/>
            <a:ext cx="242888" cy="319087"/>
          </a:xfrm>
          <a:prstGeom prst="line">
            <a:avLst/>
          </a:prstGeom>
          <a:ln w="19050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974" name="椭圆 14"/>
          <p:cNvSpPr>
            <a:spLocks/>
          </p:cNvSpPr>
          <p:nvPr/>
        </p:nvSpPr>
        <p:spPr bwMode="auto">
          <a:xfrm>
            <a:off x="1657350" y="5391150"/>
            <a:ext cx="647700" cy="287338"/>
          </a:xfrm>
          <a:prstGeom prst="ellips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/>
          <a:lstStyle/>
          <a:p>
            <a:pPr algn="ctr">
              <a:lnSpc>
                <a:spcPct val="96000"/>
              </a:lnSpc>
            </a:pPr>
            <a:r>
              <a:rPr lang="en-US" altLang="zh-CN">
                <a:solidFill>
                  <a:srgbClr val="000099"/>
                </a:solidFill>
                <a:ea typeface="黑体" pitchFamily="2" charset="-122"/>
              </a:rPr>
              <a:t>0.35</a:t>
            </a:r>
            <a:endParaRPr lang="zh-CN" altLang="en-US">
              <a:solidFill>
                <a:srgbClr val="000099"/>
              </a:solidFill>
              <a:ea typeface="黑体" pitchFamily="2" charset="-122"/>
            </a:endParaRPr>
          </a:p>
        </p:txBody>
      </p:sp>
      <p:cxnSp>
        <p:nvCxnSpPr>
          <p:cNvPr id="16" name="直接连接符 15"/>
          <p:cNvCxnSpPr>
            <a:cxnSpLocks noChangeAspect="1"/>
            <a:stCxn id="40968" idx="0"/>
            <a:endCxn id="40977" idx="3"/>
          </p:cNvCxnSpPr>
          <p:nvPr/>
        </p:nvCxnSpPr>
        <p:spPr>
          <a:xfrm flipV="1">
            <a:off x="965200" y="5038725"/>
            <a:ext cx="274638" cy="320675"/>
          </a:xfrm>
          <a:prstGeom prst="line">
            <a:avLst/>
          </a:prstGeom>
          <a:ln w="19050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>
            <a:cxnSpLocks noChangeAspect="1"/>
            <a:stCxn id="40974" idx="0"/>
            <a:endCxn id="40977" idx="5"/>
          </p:cNvCxnSpPr>
          <p:nvPr/>
        </p:nvCxnSpPr>
        <p:spPr>
          <a:xfrm flipH="1" flipV="1">
            <a:off x="1698625" y="5038725"/>
            <a:ext cx="282575" cy="352425"/>
          </a:xfrm>
          <a:prstGeom prst="line">
            <a:avLst/>
          </a:prstGeom>
          <a:ln w="19050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977" name="椭圆 17"/>
          <p:cNvSpPr>
            <a:spLocks/>
          </p:cNvSpPr>
          <p:nvPr/>
        </p:nvSpPr>
        <p:spPr bwMode="auto">
          <a:xfrm>
            <a:off x="1144588" y="4792663"/>
            <a:ext cx="649287" cy="287337"/>
          </a:xfrm>
          <a:prstGeom prst="ellips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/>
          <a:lstStyle/>
          <a:p>
            <a:pPr algn="ctr">
              <a:lnSpc>
                <a:spcPct val="96000"/>
              </a:lnSpc>
            </a:pPr>
            <a:r>
              <a:rPr lang="en-US" altLang="zh-CN">
                <a:solidFill>
                  <a:srgbClr val="000099"/>
                </a:solidFill>
                <a:ea typeface="黑体" pitchFamily="2" charset="-122"/>
              </a:rPr>
              <a:t>0.6</a:t>
            </a:r>
            <a:endParaRPr lang="zh-CN" altLang="en-US">
              <a:solidFill>
                <a:srgbClr val="000099"/>
              </a:solidFill>
              <a:ea typeface="黑体" pitchFamily="2" charset="-122"/>
            </a:endParaRPr>
          </a:p>
        </p:txBody>
      </p:sp>
      <p:sp>
        <p:nvSpPr>
          <p:cNvPr id="40978" name="TextBox 28"/>
          <p:cNvSpPr txBox="1">
            <a:spLocks/>
          </p:cNvSpPr>
          <p:nvPr/>
        </p:nvSpPr>
        <p:spPr bwMode="auto">
          <a:xfrm>
            <a:off x="17463" y="4826000"/>
            <a:ext cx="719137" cy="27781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buFont typeface="Wingdings" pitchFamily="2" charset="2"/>
              <a:buNone/>
            </a:pPr>
            <a:r>
              <a:rPr lang="en-US" altLang="zh-CN" dirty="0">
                <a:solidFill>
                  <a:srgbClr val="000099"/>
                </a:solidFill>
                <a:ea typeface="黑体" pitchFamily="2" charset="-122"/>
              </a:rPr>
              <a:t>0.40(</a:t>
            </a:r>
            <a:r>
              <a:rPr lang="en-US" altLang="zh-CN" b="1" dirty="0">
                <a:solidFill>
                  <a:srgbClr val="000099"/>
                </a:solidFill>
                <a:ea typeface="黑体" pitchFamily="2" charset="-122"/>
              </a:rPr>
              <a:t>b</a:t>
            </a:r>
            <a:r>
              <a:rPr lang="en-US" altLang="zh-CN" dirty="0">
                <a:solidFill>
                  <a:srgbClr val="000099"/>
                </a:solidFill>
                <a:ea typeface="黑体" pitchFamily="2" charset="-122"/>
              </a:rPr>
              <a:t>)</a:t>
            </a:r>
            <a:endParaRPr lang="zh-CN" altLang="en-US" dirty="0">
              <a:solidFill>
                <a:srgbClr val="000099"/>
              </a:solidFill>
              <a:ea typeface="黑体" pitchFamily="2" charset="-122"/>
            </a:endParaRPr>
          </a:p>
        </p:txBody>
      </p:sp>
      <p:sp>
        <p:nvSpPr>
          <p:cNvPr id="40979" name="椭圆 44"/>
          <p:cNvSpPr>
            <a:spLocks/>
          </p:cNvSpPr>
          <p:nvPr/>
        </p:nvSpPr>
        <p:spPr bwMode="auto">
          <a:xfrm>
            <a:off x="669925" y="4235450"/>
            <a:ext cx="647700" cy="288925"/>
          </a:xfrm>
          <a:prstGeom prst="ellips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/>
          <a:lstStyle/>
          <a:p>
            <a:pPr algn="ctr">
              <a:lnSpc>
                <a:spcPct val="96000"/>
              </a:lnSpc>
            </a:pPr>
            <a:r>
              <a:rPr lang="en-US" altLang="zh-CN">
                <a:solidFill>
                  <a:srgbClr val="000099"/>
                </a:solidFill>
                <a:ea typeface="黑体" pitchFamily="2" charset="-122"/>
              </a:rPr>
              <a:t>1.0</a:t>
            </a:r>
            <a:endParaRPr lang="zh-CN" altLang="en-US">
              <a:solidFill>
                <a:srgbClr val="000099"/>
              </a:solidFill>
              <a:ea typeface="黑体" pitchFamily="2" charset="-122"/>
            </a:endParaRPr>
          </a:p>
        </p:txBody>
      </p:sp>
      <p:cxnSp>
        <p:nvCxnSpPr>
          <p:cNvPr id="46" name="直接连接符 45"/>
          <p:cNvCxnSpPr>
            <a:cxnSpLocks noChangeAspect="1"/>
            <a:stCxn id="40978" idx="0"/>
            <a:endCxn id="40979" idx="3"/>
          </p:cNvCxnSpPr>
          <p:nvPr/>
        </p:nvCxnSpPr>
        <p:spPr>
          <a:xfrm flipV="1">
            <a:off x="376238" y="4481513"/>
            <a:ext cx="388937" cy="344487"/>
          </a:xfrm>
          <a:prstGeom prst="line">
            <a:avLst/>
          </a:prstGeom>
          <a:ln w="19050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>
            <a:cxnSpLocks noChangeAspect="1"/>
            <a:stCxn id="40977" idx="0"/>
            <a:endCxn id="40979" idx="5"/>
          </p:cNvCxnSpPr>
          <p:nvPr/>
        </p:nvCxnSpPr>
        <p:spPr>
          <a:xfrm flipH="1" flipV="1">
            <a:off x="1223963" y="4481513"/>
            <a:ext cx="244475" cy="311150"/>
          </a:xfrm>
          <a:prstGeom prst="line">
            <a:avLst/>
          </a:prstGeom>
          <a:ln w="19050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982" name="TextBox 76"/>
          <p:cNvSpPr txBox="1">
            <a:spLocks noChangeArrowheads="1"/>
          </p:cNvSpPr>
          <p:nvPr/>
        </p:nvSpPr>
        <p:spPr bwMode="auto">
          <a:xfrm>
            <a:off x="322263" y="4379913"/>
            <a:ext cx="312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buFont typeface="Wingdings" pitchFamily="2" charset="2"/>
              <a:buNone/>
            </a:pPr>
            <a:r>
              <a:rPr lang="en-US" altLang="zh-CN" b="1">
                <a:solidFill>
                  <a:srgbClr val="C00000"/>
                </a:solidFill>
                <a:ea typeface="黑体" pitchFamily="2" charset="-122"/>
              </a:rPr>
              <a:t>0</a:t>
            </a:r>
            <a:endParaRPr lang="zh-CN" altLang="en-US" b="1">
              <a:solidFill>
                <a:srgbClr val="C00000"/>
              </a:solidFill>
              <a:ea typeface="黑体" pitchFamily="2" charset="-122"/>
            </a:endParaRPr>
          </a:p>
        </p:txBody>
      </p:sp>
      <p:sp>
        <p:nvSpPr>
          <p:cNvPr id="40983" name="TextBox 77"/>
          <p:cNvSpPr txBox="1">
            <a:spLocks noChangeArrowheads="1"/>
          </p:cNvSpPr>
          <p:nvPr/>
        </p:nvSpPr>
        <p:spPr bwMode="auto">
          <a:xfrm>
            <a:off x="896938" y="4945063"/>
            <a:ext cx="312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buFont typeface="Wingdings" pitchFamily="2" charset="2"/>
              <a:buNone/>
            </a:pPr>
            <a:r>
              <a:rPr lang="en-US" altLang="zh-CN" b="1">
                <a:solidFill>
                  <a:srgbClr val="C00000"/>
                </a:solidFill>
                <a:ea typeface="黑体" pitchFamily="2" charset="-122"/>
              </a:rPr>
              <a:t>0</a:t>
            </a:r>
            <a:endParaRPr lang="zh-CN" altLang="en-US" b="1">
              <a:solidFill>
                <a:srgbClr val="C00000"/>
              </a:solidFill>
              <a:ea typeface="黑体" pitchFamily="2" charset="-122"/>
            </a:endParaRPr>
          </a:p>
        </p:txBody>
      </p:sp>
      <p:sp>
        <p:nvSpPr>
          <p:cNvPr id="40984" name="TextBox 78"/>
          <p:cNvSpPr txBox="1">
            <a:spLocks noChangeArrowheads="1"/>
          </p:cNvSpPr>
          <p:nvPr/>
        </p:nvSpPr>
        <p:spPr bwMode="auto">
          <a:xfrm>
            <a:off x="1403350" y="5553075"/>
            <a:ext cx="3127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buFont typeface="Wingdings" pitchFamily="2" charset="2"/>
              <a:buNone/>
            </a:pPr>
            <a:r>
              <a:rPr lang="en-US" altLang="zh-CN" b="1">
                <a:solidFill>
                  <a:srgbClr val="C00000"/>
                </a:solidFill>
                <a:ea typeface="黑体" pitchFamily="2" charset="-122"/>
              </a:rPr>
              <a:t>0</a:t>
            </a:r>
            <a:endParaRPr lang="zh-CN" altLang="en-US" b="1">
              <a:solidFill>
                <a:srgbClr val="C00000"/>
              </a:solidFill>
              <a:ea typeface="黑体" pitchFamily="2" charset="-122"/>
            </a:endParaRPr>
          </a:p>
        </p:txBody>
      </p:sp>
      <p:sp>
        <p:nvSpPr>
          <p:cNvPr id="40985" name="TextBox 79"/>
          <p:cNvSpPr txBox="1">
            <a:spLocks noChangeArrowheads="1"/>
          </p:cNvSpPr>
          <p:nvPr/>
        </p:nvSpPr>
        <p:spPr bwMode="auto">
          <a:xfrm>
            <a:off x="1911350" y="6113463"/>
            <a:ext cx="3127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buFont typeface="Wingdings" pitchFamily="2" charset="2"/>
              <a:buNone/>
            </a:pPr>
            <a:r>
              <a:rPr lang="en-US" altLang="zh-CN" b="1">
                <a:solidFill>
                  <a:srgbClr val="C00000"/>
                </a:solidFill>
                <a:ea typeface="黑体" pitchFamily="2" charset="-122"/>
              </a:rPr>
              <a:t>0</a:t>
            </a:r>
            <a:endParaRPr lang="zh-CN" altLang="en-US" b="1">
              <a:solidFill>
                <a:srgbClr val="C00000"/>
              </a:solidFill>
              <a:ea typeface="黑体" pitchFamily="2" charset="-122"/>
            </a:endParaRPr>
          </a:p>
        </p:txBody>
      </p:sp>
      <p:sp>
        <p:nvSpPr>
          <p:cNvPr id="40986" name="TextBox 81"/>
          <p:cNvSpPr txBox="1">
            <a:spLocks noChangeArrowheads="1"/>
          </p:cNvSpPr>
          <p:nvPr/>
        </p:nvSpPr>
        <p:spPr bwMode="auto">
          <a:xfrm>
            <a:off x="1308100" y="4379913"/>
            <a:ext cx="3127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buFont typeface="Wingdings" pitchFamily="2" charset="2"/>
              <a:buNone/>
            </a:pPr>
            <a:r>
              <a:rPr lang="en-US" altLang="zh-CN" b="1">
                <a:solidFill>
                  <a:srgbClr val="C00000"/>
                </a:solidFill>
                <a:ea typeface="黑体" pitchFamily="2" charset="-122"/>
              </a:rPr>
              <a:t>1</a:t>
            </a:r>
            <a:endParaRPr lang="zh-CN" altLang="en-US" b="1">
              <a:solidFill>
                <a:srgbClr val="C00000"/>
              </a:solidFill>
              <a:ea typeface="黑体" pitchFamily="2" charset="-122"/>
            </a:endParaRPr>
          </a:p>
        </p:txBody>
      </p:sp>
      <p:sp>
        <p:nvSpPr>
          <p:cNvPr id="40987" name="TextBox 82"/>
          <p:cNvSpPr txBox="1">
            <a:spLocks noChangeArrowheads="1"/>
          </p:cNvSpPr>
          <p:nvPr/>
        </p:nvSpPr>
        <p:spPr bwMode="auto">
          <a:xfrm>
            <a:off x="1771650" y="4951413"/>
            <a:ext cx="3127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buFont typeface="Wingdings" pitchFamily="2" charset="2"/>
              <a:buNone/>
            </a:pPr>
            <a:r>
              <a:rPr lang="en-US" altLang="zh-CN" b="1">
                <a:solidFill>
                  <a:srgbClr val="C00000"/>
                </a:solidFill>
                <a:ea typeface="黑体" pitchFamily="2" charset="-122"/>
              </a:rPr>
              <a:t>1</a:t>
            </a:r>
            <a:endParaRPr lang="zh-CN" altLang="en-US" b="1">
              <a:solidFill>
                <a:srgbClr val="C00000"/>
              </a:solidFill>
              <a:ea typeface="黑体" pitchFamily="2" charset="-122"/>
            </a:endParaRPr>
          </a:p>
        </p:txBody>
      </p:sp>
      <p:sp>
        <p:nvSpPr>
          <p:cNvPr id="40988" name="TextBox 83"/>
          <p:cNvSpPr txBox="1">
            <a:spLocks noChangeArrowheads="1"/>
          </p:cNvSpPr>
          <p:nvPr/>
        </p:nvSpPr>
        <p:spPr bwMode="auto">
          <a:xfrm>
            <a:off x="2274888" y="5588000"/>
            <a:ext cx="3127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buFont typeface="Wingdings" pitchFamily="2" charset="2"/>
              <a:buNone/>
            </a:pPr>
            <a:r>
              <a:rPr lang="en-US" altLang="zh-CN" b="1">
                <a:solidFill>
                  <a:srgbClr val="C00000"/>
                </a:solidFill>
                <a:ea typeface="黑体" pitchFamily="2" charset="-122"/>
              </a:rPr>
              <a:t>1</a:t>
            </a:r>
            <a:endParaRPr lang="zh-CN" altLang="en-US" b="1">
              <a:solidFill>
                <a:srgbClr val="C00000"/>
              </a:solidFill>
              <a:ea typeface="黑体" pitchFamily="2" charset="-122"/>
            </a:endParaRPr>
          </a:p>
        </p:txBody>
      </p:sp>
      <p:sp>
        <p:nvSpPr>
          <p:cNvPr id="40989" name="TextBox 84"/>
          <p:cNvSpPr txBox="1">
            <a:spLocks noChangeArrowheads="1"/>
          </p:cNvSpPr>
          <p:nvPr/>
        </p:nvSpPr>
        <p:spPr bwMode="auto">
          <a:xfrm>
            <a:off x="2760663" y="6113463"/>
            <a:ext cx="312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>
              <a:buFont typeface="Wingdings" pitchFamily="2" charset="2"/>
              <a:buNone/>
            </a:pPr>
            <a:r>
              <a:rPr lang="en-US" altLang="zh-CN" b="1">
                <a:solidFill>
                  <a:srgbClr val="C00000"/>
                </a:solidFill>
                <a:ea typeface="黑体" pitchFamily="2" charset="-122"/>
              </a:rPr>
              <a:t>1</a:t>
            </a:r>
            <a:endParaRPr lang="zh-CN" altLang="en-US" b="1">
              <a:solidFill>
                <a:srgbClr val="C00000"/>
              </a:solidFill>
              <a:ea typeface="黑体" pitchFamily="2" charset="-122"/>
            </a:endParaRPr>
          </a:p>
        </p:txBody>
      </p:sp>
      <p:graphicFrame>
        <p:nvGraphicFramePr>
          <p:cNvPr id="86" name="表格 85"/>
          <p:cNvGraphicFramePr>
            <a:graphicFrameLocks noGrp="1"/>
          </p:cNvGraphicFramePr>
          <p:nvPr/>
        </p:nvGraphicFramePr>
        <p:xfrm>
          <a:off x="4751388" y="4552950"/>
          <a:ext cx="3241675" cy="22240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4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04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08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chemeClr val="tx1"/>
                          </a:solidFill>
                        </a:rPr>
                        <a:t>符号</a:t>
                      </a:r>
                    </a:p>
                  </a:txBody>
                  <a:tcPr marL="91477" marR="91477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chemeClr val="tx1"/>
                          </a:solidFill>
                        </a:rPr>
                        <a:t>概率</a:t>
                      </a:r>
                    </a:p>
                  </a:txBody>
                  <a:tcPr marL="91477" marR="91477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Huffman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</a:rPr>
                        <a:t>编码</a:t>
                      </a:r>
                    </a:p>
                  </a:txBody>
                  <a:tcPr marL="91477" marR="91477"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77" marR="91477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0.12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77" marR="91477" marT="45700" marB="457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      1111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77" marR="91477"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b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77" marR="91477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0.40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77" marR="91477" marT="45700" marB="457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      0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77" marR="91477" marT="45700" marB="457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c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77" marR="91477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0.15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77" marR="91477" marT="45700" marB="457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      110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77" marR="91477" marT="45700" marB="457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d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77" marR="91477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0.08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77" marR="91477" marT="45700" marB="457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      1110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77" marR="91477" marT="45700" marB="457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77" marR="91477"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0.25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77" marR="91477" marT="45700" marB="4570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      10</a:t>
                      </a:r>
                      <a:endParaRPr lang="zh-CN" altLang="en-US" sz="1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77" marR="91477" marT="45700" marB="457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1020" name="TextBox 86"/>
          <p:cNvSpPr txBox="1">
            <a:spLocks noChangeArrowheads="1"/>
          </p:cNvSpPr>
          <p:nvPr/>
        </p:nvSpPr>
        <p:spPr bwMode="auto">
          <a:xfrm>
            <a:off x="2441575" y="3873500"/>
            <a:ext cx="5295039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zh-CN" altLang="en-US" b="1" dirty="0">
                <a:solidFill>
                  <a:srgbClr val="000099"/>
                </a:solidFill>
                <a:ea typeface="黑体" pitchFamily="2" charset="-122"/>
              </a:rPr>
              <a:t>平均编码长度</a:t>
            </a:r>
            <a:r>
              <a:rPr lang="en-US" altLang="zh-CN" b="1" dirty="0">
                <a:solidFill>
                  <a:srgbClr val="000099"/>
                </a:solidFill>
                <a:ea typeface="黑体" pitchFamily="2" charset="-122"/>
              </a:rPr>
              <a:t>(</a:t>
            </a:r>
            <a:r>
              <a:rPr lang="zh-CN" altLang="en-US" b="1" dirty="0">
                <a:solidFill>
                  <a:srgbClr val="C00000"/>
                </a:solidFill>
                <a:ea typeface="黑体" pitchFamily="2" charset="-122"/>
              </a:rPr>
              <a:t>带权路径长度</a:t>
            </a:r>
            <a:r>
              <a:rPr lang="en-US" altLang="zh-CN" b="1" dirty="0">
                <a:solidFill>
                  <a:srgbClr val="000099"/>
                </a:solidFill>
                <a:ea typeface="黑体" pitchFamily="2" charset="-122"/>
              </a:rPr>
              <a:t>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b="1" dirty="0">
                <a:solidFill>
                  <a:srgbClr val="000099"/>
                </a:solidFill>
                <a:ea typeface="黑体" pitchFamily="2" charset="-122"/>
              </a:rPr>
              <a:t>B(T) = 0.12*4 + 0.08*4 + 0.15*3 + 0.25*2 + 0.40*1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CN" b="1" dirty="0">
                <a:solidFill>
                  <a:srgbClr val="000099"/>
                </a:solidFill>
                <a:ea typeface="黑体" pitchFamily="2" charset="-122"/>
              </a:rPr>
              <a:t>        = 2.15</a:t>
            </a:r>
            <a:endParaRPr lang="zh-CN" altLang="en-US" b="1" dirty="0">
              <a:solidFill>
                <a:srgbClr val="000099"/>
              </a:solidFill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41865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哈夫曼编码</a:t>
            </a:r>
          </a:p>
        </p:txBody>
      </p:sp>
      <p:sp>
        <p:nvSpPr>
          <p:cNvPr id="3891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fld id="{9ABCA842-320B-44BF-ACF7-ACB64D708C5E}" type="slidenum">
              <a:rPr lang="en-US" altLang="zh-CN" smtClean="0">
                <a:solidFill>
                  <a:srgbClr val="006600"/>
                </a:solidFill>
                <a:latin typeface="Courier New" pitchFamily="49" charset="0"/>
                <a:ea typeface="华文新魏" pitchFamily="2" charset="-122"/>
              </a:rPr>
              <a:pPr eaLnBrk="1" hangingPunct="1"/>
              <a:t>17</a:t>
            </a:fld>
            <a:endParaRPr lang="en-US" altLang="zh-CN">
              <a:solidFill>
                <a:srgbClr val="006600"/>
              </a:solidFill>
              <a:latin typeface="Courier New" pitchFamily="49" charset="0"/>
              <a:ea typeface="华文新魏" pitchFamily="2" charset="-122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最优子结构</a:t>
            </a:r>
            <a:endParaRPr lang="en-US" altLang="zh-CN" dirty="0"/>
          </a:p>
          <a:p>
            <a:pPr lvl="1"/>
            <a:r>
              <a:rPr lang="en-US" altLang="zh-CN" dirty="0"/>
              <a:t>T</a:t>
            </a:r>
            <a:r>
              <a:rPr lang="zh-CN" altLang="en-US" dirty="0"/>
              <a:t>是字符表</a:t>
            </a:r>
            <a:r>
              <a:rPr lang="en-US" altLang="zh-CN" dirty="0"/>
              <a:t>C</a:t>
            </a:r>
            <a:r>
              <a:rPr lang="zh-CN" altLang="en-US" dirty="0"/>
              <a:t>一棵哈夫曼树。设字符</a:t>
            </a:r>
            <a:r>
              <a:rPr lang="en-US" altLang="zh-CN" dirty="0"/>
              <a:t>x</a:t>
            </a:r>
            <a:r>
              <a:rPr lang="zh-CN" altLang="en-US" dirty="0"/>
              <a:t>和</a:t>
            </a:r>
            <a:r>
              <a:rPr lang="en-US" altLang="zh-CN" dirty="0"/>
              <a:t>y</a:t>
            </a:r>
            <a:r>
              <a:rPr lang="zh-CN" altLang="en-US" dirty="0"/>
              <a:t>是</a:t>
            </a:r>
            <a:r>
              <a:rPr lang="en-US" altLang="zh-CN" dirty="0"/>
              <a:t>T</a:t>
            </a:r>
            <a:r>
              <a:rPr lang="zh-CN" altLang="en-US" dirty="0"/>
              <a:t>中任意两个相邻叶结点，</a:t>
            </a:r>
            <a:r>
              <a:rPr lang="en-US" altLang="zh-CN" dirty="0"/>
              <a:t>z</a:t>
            </a:r>
            <a:r>
              <a:rPr lang="zh-CN" altLang="en-US" dirty="0"/>
              <a:t>是其父结点，</a:t>
            </a:r>
            <a:r>
              <a:rPr lang="en-US" altLang="zh-CN" dirty="0"/>
              <a:t>f(x)</a:t>
            </a:r>
            <a:r>
              <a:rPr lang="zh-CN" altLang="en-US" dirty="0"/>
              <a:t>和</a:t>
            </a:r>
            <a:r>
              <a:rPr lang="en-US" altLang="zh-CN" dirty="0"/>
              <a:t>f(y)</a:t>
            </a:r>
            <a:r>
              <a:rPr lang="zh-CN" altLang="en-US" dirty="0"/>
              <a:t>是其频率。将</a:t>
            </a:r>
            <a:r>
              <a:rPr lang="en-US" altLang="zh-CN" dirty="0"/>
              <a:t>z</a:t>
            </a:r>
            <a:r>
              <a:rPr lang="zh-CN" altLang="en-US" dirty="0"/>
              <a:t>看作频率是</a:t>
            </a:r>
            <a:r>
              <a:rPr lang="en-US" altLang="zh-CN" dirty="0"/>
              <a:t>f(z)=f(x)+f(y)</a:t>
            </a:r>
            <a:r>
              <a:rPr lang="zh-CN" altLang="en-US" dirty="0"/>
              <a:t>的字符，</a:t>
            </a:r>
            <a:r>
              <a:rPr lang="en-US" altLang="zh-CN" dirty="0"/>
              <a:t>T’=T- {</a:t>
            </a:r>
            <a:r>
              <a:rPr lang="en-US" altLang="zh-CN" dirty="0" err="1"/>
              <a:t>x,y</a:t>
            </a:r>
            <a:r>
              <a:rPr lang="en-US" altLang="zh-CN" dirty="0"/>
              <a:t>}</a:t>
            </a:r>
            <a:r>
              <a:rPr lang="zh-CN" altLang="en-US" dirty="0"/>
              <a:t>是字母表</a:t>
            </a:r>
            <a:r>
              <a:rPr lang="en-US" altLang="zh-CN" dirty="0"/>
              <a:t>C’=C- {</a:t>
            </a:r>
            <a:r>
              <a:rPr lang="en-US" altLang="zh-CN" dirty="0" err="1"/>
              <a:t>x,y</a:t>
            </a:r>
            <a:r>
              <a:rPr lang="en-US" altLang="zh-CN" dirty="0"/>
              <a:t>}∪{z}</a:t>
            </a:r>
            <a:r>
              <a:rPr lang="zh-CN" altLang="en-US" dirty="0"/>
              <a:t>的哈夫曼树</a:t>
            </a:r>
            <a:endParaRPr lang="en-US" altLang="zh-CN" dirty="0"/>
          </a:p>
          <a:p>
            <a:pPr lvl="1"/>
            <a:r>
              <a:rPr lang="zh-CN" altLang="en-US" dirty="0"/>
              <a:t>证明：</a:t>
            </a:r>
            <a:endParaRPr lang="en-US" altLang="zh-CN" dirty="0"/>
          </a:p>
          <a:p>
            <a:pPr lvl="2"/>
            <a:r>
              <a:rPr lang="zh-CN" altLang="en-US" dirty="0"/>
              <a:t>若</a:t>
            </a:r>
            <a:r>
              <a:rPr lang="en-US" altLang="zh-CN" dirty="0"/>
              <a:t>T’</a:t>
            </a:r>
            <a:r>
              <a:rPr lang="zh-CN" altLang="en-US" dirty="0"/>
              <a:t>不是</a:t>
            </a:r>
            <a:r>
              <a:rPr lang="en-US" altLang="zh-CN" dirty="0"/>
              <a:t>C’</a:t>
            </a:r>
            <a:r>
              <a:rPr lang="zh-CN" altLang="en-US" dirty="0"/>
              <a:t>的哈夫曼树</a:t>
            </a:r>
            <a:r>
              <a:rPr lang="en-US" altLang="zh-CN" dirty="0"/>
              <a:t>(</a:t>
            </a:r>
            <a:r>
              <a:rPr lang="zh-CN" altLang="en-US" dirty="0"/>
              <a:t>最优解</a:t>
            </a:r>
            <a:r>
              <a:rPr lang="en-US" altLang="zh-CN" dirty="0"/>
              <a:t>)</a:t>
            </a:r>
            <a:r>
              <a:rPr lang="zh-CN" altLang="en-US" dirty="0"/>
              <a:t> ，则必存在</a:t>
            </a:r>
            <a:r>
              <a:rPr lang="en-US" altLang="zh-CN" dirty="0"/>
              <a:t>T’’，</a:t>
            </a:r>
            <a:r>
              <a:rPr lang="zh-CN" altLang="en-US" dirty="0"/>
              <a:t>使</a:t>
            </a:r>
            <a:r>
              <a:rPr lang="en-US" altLang="zh-CN" dirty="0"/>
              <a:t>B(T’’)&lt;B(T’)</a:t>
            </a:r>
            <a:r>
              <a:rPr lang="zh-CN" altLang="en-US" dirty="0"/>
              <a:t>。因为</a:t>
            </a:r>
            <a:r>
              <a:rPr lang="en-US" altLang="zh-CN" dirty="0"/>
              <a:t>z</a:t>
            </a:r>
            <a:r>
              <a:rPr lang="zh-CN" altLang="en-US" dirty="0"/>
              <a:t>是</a:t>
            </a:r>
            <a:r>
              <a:rPr lang="en-US" altLang="zh-CN" dirty="0"/>
              <a:t>C’</a:t>
            </a:r>
            <a:r>
              <a:rPr lang="zh-CN" altLang="en-US" dirty="0"/>
              <a:t>中字符，它必为</a:t>
            </a:r>
            <a:r>
              <a:rPr lang="en-US" altLang="zh-CN" dirty="0"/>
              <a:t>T’’</a:t>
            </a:r>
            <a:r>
              <a:rPr lang="zh-CN" altLang="en-US" dirty="0"/>
              <a:t>中的叶子。把结点</a:t>
            </a:r>
            <a:r>
              <a:rPr lang="en-US" altLang="zh-CN" dirty="0"/>
              <a:t>x</a:t>
            </a:r>
            <a:r>
              <a:rPr lang="zh-CN" altLang="en-US" dirty="0"/>
              <a:t>与</a:t>
            </a:r>
            <a:r>
              <a:rPr lang="en-US" altLang="zh-CN" dirty="0"/>
              <a:t>y</a:t>
            </a:r>
            <a:r>
              <a:rPr lang="zh-CN" altLang="en-US" dirty="0"/>
              <a:t>加入</a:t>
            </a:r>
            <a:r>
              <a:rPr lang="en-US" altLang="zh-CN" dirty="0"/>
              <a:t>T’’，</a:t>
            </a:r>
            <a:r>
              <a:rPr lang="zh-CN" altLang="en-US" dirty="0"/>
              <a:t>作为</a:t>
            </a:r>
            <a:r>
              <a:rPr lang="en-US" altLang="zh-CN" dirty="0"/>
              <a:t>z</a:t>
            </a:r>
            <a:r>
              <a:rPr lang="zh-CN" altLang="en-US" dirty="0"/>
              <a:t>的子结点，得到</a:t>
            </a:r>
            <a:r>
              <a:rPr lang="en-US" altLang="zh-CN" dirty="0"/>
              <a:t>C</a:t>
            </a:r>
            <a:r>
              <a:rPr lang="zh-CN" altLang="en-US" dirty="0"/>
              <a:t>的哈夫曼树</a:t>
            </a:r>
            <a:r>
              <a:rPr lang="en-US" altLang="zh-CN" dirty="0"/>
              <a:t>T’’’</a:t>
            </a:r>
            <a:r>
              <a:rPr lang="zh-CN" altLang="en-US" dirty="0"/>
              <a:t>，</a:t>
            </a:r>
            <a:r>
              <a:rPr lang="en-US" altLang="zh-CN" sz="2000" dirty="0"/>
              <a:t>B(T’’’)=B(T’’)+f(x)+f(y)&lt;B(T’)+f(x)+f(y)&lt;B(T)</a:t>
            </a:r>
            <a:r>
              <a:rPr lang="zh-CN" altLang="en-US" dirty="0"/>
              <a:t>。这与</a:t>
            </a:r>
            <a:r>
              <a:rPr lang="en-US" altLang="zh-CN" dirty="0"/>
              <a:t>T</a:t>
            </a:r>
            <a:r>
              <a:rPr lang="zh-CN" altLang="en-US" dirty="0"/>
              <a:t>是</a:t>
            </a:r>
            <a:r>
              <a:rPr lang="en-US" altLang="zh-CN" dirty="0"/>
              <a:t>C</a:t>
            </a:r>
            <a:r>
              <a:rPr lang="zh-CN" altLang="en-US" dirty="0"/>
              <a:t>的哈夫曼树矛盾。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6388423" y="143159"/>
            <a:ext cx="1159961" cy="1816810"/>
            <a:chOff x="7349332" y="2863444"/>
            <a:chExt cx="1440154" cy="2124803"/>
          </a:xfrm>
        </p:grpSpPr>
        <p:sp>
          <p:nvSpPr>
            <p:cNvPr id="8" name="椭圆 185"/>
            <p:cNvSpPr>
              <a:spLocks noChangeAspect="1"/>
            </p:cNvSpPr>
            <p:nvPr/>
          </p:nvSpPr>
          <p:spPr bwMode="auto">
            <a:xfrm>
              <a:off x="7781388" y="4094026"/>
              <a:ext cx="360032" cy="358071"/>
            </a:xfrm>
            <a:prstGeom prst="ellipse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/>
            <a:lstStyle/>
            <a:p>
              <a:pPr algn="ctr">
                <a:lnSpc>
                  <a:spcPct val="96000"/>
                </a:lnSpc>
              </a:pPr>
              <a:r>
                <a:rPr lang="en-US" altLang="zh-CN" sz="1600" b="1" dirty="0">
                  <a:solidFill>
                    <a:srgbClr val="000099"/>
                  </a:solidFill>
                  <a:ea typeface="黑体" pitchFamily="2" charset="-122"/>
                </a:rPr>
                <a:t>z</a:t>
              </a:r>
              <a:endParaRPr lang="zh-CN" altLang="en-US" sz="1600" b="1" dirty="0">
                <a:solidFill>
                  <a:srgbClr val="000099"/>
                </a:solidFill>
                <a:ea typeface="黑体" pitchFamily="2" charset="-122"/>
              </a:endParaRPr>
            </a:p>
          </p:txBody>
        </p:sp>
        <p:cxnSp>
          <p:nvCxnSpPr>
            <p:cNvPr id="9" name="直接连接符 8"/>
            <p:cNvCxnSpPr>
              <a:cxnSpLocks noChangeAspect="1"/>
              <a:stCxn id="13" idx="0"/>
              <a:endCxn id="8" idx="3"/>
            </p:cNvCxnSpPr>
            <p:nvPr/>
          </p:nvCxnSpPr>
          <p:spPr bwMode="auto">
            <a:xfrm flipV="1">
              <a:off x="7685772" y="4399659"/>
              <a:ext cx="148341" cy="300626"/>
            </a:xfrm>
            <a:prstGeom prst="line">
              <a:avLst/>
            </a:prstGeom>
            <a:ln w="25400">
              <a:solidFill>
                <a:srgbClr val="C0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>
              <a:cxnSpLocks noChangeAspect="1"/>
              <a:stCxn id="14" idx="0"/>
              <a:endCxn id="8" idx="5"/>
            </p:cNvCxnSpPr>
            <p:nvPr/>
          </p:nvCxnSpPr>
          <p:spPr bwMode="auto">
            <a:xfrm flipH="1" flipV="1">
              <a:off x="8088695" y="4399659"/>
              <a:ext cx="124736" cy="300626"/>
            </a:xfrm>
            <a:prstGeom prst="line">
              <a:avLst/>
            </a:prstGeom>
            <a:ln w="25400">
              <a:solidFill>
                <a:srgbClr val="C0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88"/>
            <p:cNvSpPr txBox="1">
              <a:spLocks/>
            </p:cNvSpPr>
            <p:nvPr/>
          </p:nvSpPr>
          <p:spPr bwMode="auto">
            <a:xfrm>
              <a:off x="7349332" y="3499652"/>
              <a:ext cx="288026" cy="287961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buFont typeface="Wingdings" pitchFamily="2" charset="2"/>
                <a:buNone/>
              </a:pPr>
              <a:endParaRPr lang="zh-CN" altLang="en-US" sz="1600" b="1" dirty="0">
                <a:solidFill>
                  <a:srgbClr val="000099"/>
                </a:solidFill>
                <a:ea typeface="黑体" pitchFamily="2" charset="-122"/>
              </a:endParaRPr>
            </a:p>
          </p:txBody>
        </p:sp>
        <p:sp>
          <p:nvSpPr>
            <p:cNvPr id="12" name="TextBox 189"/>
            <p:cNvSpPr txBox="1">
              <a:spLocks/>
            </p:cNvSpPr>
            <p:nvPr/>
          </p:nvSpPr>
          <p:spPr bwMode="auto">
            <a:xfrm>
              <a:off x="8501460" y="4131321"/>
              <a:ext cx="288026" cy="287961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buFont typeface="Wingdings" pitchFamily="2" charset="2"/>
                <a:buNone/>
              </a:pPr>
              <a:endParaRPr lang="zh-CN" altLang="en-US" sz="1600" b="1" dirty="0">
                <a:solidFill>
                  <a:srgbClr val="000099"/>
                </a:solidFill>
                <a:ea typeface="黑体" pitchFamily="2" charset="-122"/>
              </a:endParaRPr>
            </a:p>
          </p:txBody>
        </p:sp>
        <p:sp>
          <p:nvSpPr>
            <p:cNvPr id="13" name="TextBox 190"/>
            <p:cNvSpPr txBox="1">
              <a:spLocks/>
            </p:cNvSpPr>
            <p:nvPr/>
          </p:nvSpPr>
          <p:spPr bwMode="auto">
            <a:xfrm>
              <a:off x="7541759" y="4700286"/>
              <a:ext cx="288026" cy="287961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buFont typeface="Wingdings" pitchFamily="2" charset="2"/>
                <a:buNone/>
              </a:pPr>
              <a:r>
                <a:rPr lang="en-US" altLang="zh-CN" sz="1600" b="1" dirty="0">
                  <a:solidFill>
                    <a:srgbClr val="000099"/>
                  </a:solidFill>
                  <a:ea typeface="黑体" pitchFamily="2" charset="-122"/>
                </a:rPr>
                <a:t>x</a:t>
              </a:r>
              <a:endParaRPr lang="zh-CN" altLang="en-US" sz="1600" b="1" dirty="0">
                <a:solidFill>
                  <a:srgbClr val="000099"/>
                </a:solidFill>
                <a:ea typeface="黑体" pitchFamily="2" charset="-122"/>
              </a:endParaRPr>
            </a:p>
          </p:txBody>
        </p:sp>
        <p:sp>
          <p:nvSpPr>
            <p:cNvPr id="14" name="TextBox 191"/>
            <p:cNvSpPr txBox="1">
              <a:spLocks/>
            </p:cNvSpPr>
            <p:nvPr/>
          </p:nvSpPr>
          <p:spPr bwMode="auto">
            <a:xfrm>
              <a:off x="8069418" y="4700286"/>
              <a:ext cx="288026" cy="287961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buFont typeface="Wingdings" pitchFamily="2" charset="2"/>
                <a:buNone/>
              </a:pPr>
              <a:r>
                <a:rPr lang="en-US" altLang="zh-CN" sz="1600" b="1" dirty="0">
                  <a:solidFill>
                    <a:srgbClr val="000099"/>
                  </a:solidFill>
                  <a:ea typeface="黑体" pitchFamily="2" charset="-122"/>
                </a:rPr>
                <a:t>y</a:t>
              </a:r>
              <a:endParaRPr lang="zh-CN" altLang="en-US" sz="1600" b="1" dirty="0">
                <a:solidFill>
                  <a:srgbClr val="000099"/>
                </a:solidFill>
                <a:ea typeface="黑体" pitchFamily="2" charset="-122"/>
              </a:endParaRPr>
            </a:p>
          </p:txBody>
        </p:sp>
        <p:cxnSp>
          <p:nvCxnSpPr>
            <p:cNvPr id="15" name="直接连接符 14"/>
            <p:cNvCxnSpPr>
              <a:cxnSpLocks noChangeAspect="1"/>
              <a:stCxn id="8" idx="0"/>
              <a:endCxn id="17" idx="3"/>
            </p:cNvCxnSpPr>
            <p:nvPr/>
          </p:nvCxnSpPr>
          <p:spPr bwMode="auto">
            <a:xfrm flipV="1">
              <a:off x="7961404" y="3808774"/>
              <a:ext cx="221039" cy="285252"/>
            </a:xfrm>
            <a:prstGeom prst="line">
              <a:avLst/>
            </a:prstGeom>
            <a:ln w="25400">
              <a:solidFill>
                <a:srgbClr val="C0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>
              <a:cxnSpLocks noChangeAspect="1"/>
              <a:stCxn id="12" idx="0"/>
              <a:endCxn id="17" idx="5"/>
            </p:cNvCxnSpPr>
            <p:nvPr/>
          </p:nvCxnSpPr>
          <p:spPr bwMode="auto">
            <a:xfrm flipH="1" flipV="1">
              <a:off x="8437025" y="3808774"/>
              <a:ext cx="208448" cy="322547"/>
            </a:xfrm>
            <a:prstGeom prst="line">
              <a:avLst/>
            </a:prstGeom>
            <a:ln w="25400">
              <a:solidFill>
                <a:srgbClr val="C0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椭圆 194"/>
            <p:cNvSpPr>
              <a:spLocks noChangeAspect="1"/>
            </p:cNvSpPr>
            <p:nvPr/>
          </p:nvSpPr>
          <p:spPr bwMode="auto">
            <a:xfrm>
              <a:off x="8129718" y="3503141"/>
              <a:ext cx="360032" cy="358071"/>
            </a:xfrm>
            <a:prstGeom prst="ellipse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/>
            <a:lstStyle/>
            <a:p>
              <a:pPr algn="ctr">
                <a:lnSpc>
                  <a:spcPct val="96000"/>
                </a:lnSpc>
              </a:pPr>
              <a:endParaRPr lang="zh-CN" altLang="en-US" sz="1600" b="1" dirty="0">
                <a:solidFill>
                  <a:srgbClr val="000099"/>
                </a:solidFill>
                <a:ea typeface="黑体" pitchFamily="2" charset="-122"/>
              </a:endParaRPr>
            </a:p>
          </p:txBody>
        </p:sp>
        <p:cxnSp>
          <p:nvCxnSpPr>
            <p:cNvPr id="18" name="直接连接符 17"/>
            <p:cNvCxnSpPr>
              <a:cxnSpLocks noChangeAspect="1"/>
              <a:stCxn id="11" idx="0"/>
              <a:endCxn id="20" idx="3"/>
            </p:cNvCxnSpPr>
            <p:nvPr/>
          </p:nvCxnSpPr>
          <p:spPr bwMode="auto">
            <a:xfrm flipV="1">
              <a:off x="7493345" y="3169077"/>
              <a:ext cx="271272" cy="330575"/>
            </a:xfrm>
            <a:prstGeom prst="line">
              <a:avLst/>
            </a:prstGeom>
            <a:ln w="25400">
              <a:solidFill>
                <a:srgbClr val="C0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>
              <a:cxnSpLocks noChangeAspect="1"/>
              <a:stCxn id="17" idx="0"/>
              <a:endCxn id="20" idx="5"/>
            </p:cNvCxnSpPr>
            <p:nvPr/>
          </p:nvCxnSpPr>
          <p:spPr bwMode="auto">
            <a:xfrm flipH="1" flipV="1">
              <a:off x="8019257" y="3169832"/>
              <a:ext cx="290512" cy="333375"/>
            </a:xfrm>
            <a:prstGeom prst="line">
              <a:avLst/>
            </a:prstGeom>
            <a:ln w="25400">
              <a:solidFill>
                <a:srgbClr val="C0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椭圆 200"/>
            <p:cNvSpPr>
              <a:spLocks noChangeAspect="1"/>
            </p:cNvSpPr>
            <p:nvPr/>
          </p:nvSpPr>
          <p:spPr bwMode="auto">
            <a:xfrm>
              <a:off x="7711892" y="2863444"/>
              <a:ext cx="360032" cy="358071"/>
            </a:xfrm>
            <a:prstGeom prst="ellipse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/>
            <a:lstStyle/>
            <a:p>
              <a:pPr algn="ctr">
                <a:lnSpc>
                  <a:spcPct val="96000"/>
                </a:lnSpc>
              </a:pPr>
              <a:endParaRPr lang="zh-CN" altLang="en-US" sz="1600" b="1" dirty="0">
                <a:solidFill>
                  <a:srgbClr val="000099"/>
                </a:solidFill>
                <a:ea typeface="黑体" pitchFamily="2" charset="-122"/>
              </a:endParaRPr>
            </a:p>
          </p:txBody>
        </p:sp>
      </p:grpSp>
      <p:sp>
        <p:nvSpPr>
          <p:cNvPr id="40" name="矩形 39"/>
          <p:cNvSpPr/>
          <p:nvPr/>
        </p:nvSpPr>
        <p:spPr>
          <a:xfrm>
            <a:off x="6143961" y="34634"/>
            <a:ext cx="40427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</a:rPr>
              <a:t>T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7772396" y="24443"/>
            <a:ext cx="50366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</a:rPr>
              <a:t>T’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grpSp>
        <p:nvGrpSpPr>
          <p:cNvPr id="46" name="组合 45"/>
          <p:cNvGrpSpPr/>
          <p:nvPr/>
        </p:nvGrpSpPr>
        <p:grpSpPr>
          <a:xfrm>
            <a:off x="7984039" y="143160"/>
            <a:ext cx="1159961" cy="1358376"/>
            <a:chOff x="7349332" y="2863444"/>
            <a:chExt cx="1440154" cy="1588653"/>
          </a:xfrm>
        </p:grpSpPr>
        <p:sp>
          <p:nvSpPr>
            <p:cNvPr id="47" name="椭圆 185"/>
            <p:cNvSpPr>
              <a:spLocks noChangeAspect="1"/>
            </p:cNvSpPr>
            <p:nvPr/>
          </p:nvSpPr>
          <p:spPr bwMode="auto">
            <a:xfrm>
              <a:off x="7781388" y="4094026"/>
              <a:ext cx="360032" cy="358071"/>
            </a:xfrm>
            <a:prstGeom prst="ellipse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/>
            <a:lstStyle/>
            <a:p>
              <a:pPr algn="ctr">
                <a:lnSpc>
                  <a:spcPct val="96000"/>
                </a:lnSpc>
              </a:pPr>
              <a:r>
                <a:rPr lang="en-US" altLang="zh-CN" sz="1600" b="1" dirty="0">
                  <a:solidFill>
                    <a:srgbClr val="000099"/>
                  </a:solidFill>
                  <a:ea typeface="黑体" pitchFamily="2" charset="-122"/>
                </a:rPr>
                <a:t>z</a:t>
              </a:r>
              <a:endParaRPr lang="zh-CN" altLang="en-US" sz="1600" b="1" dirty="0">
                <a:solidFill>
                  <a:srgbClr val="000099"/>
                </a:solidFill>
                <a:ea typeface="黑体" pitchFamily="2" charset="-122"/>
              </a:endParaRPr>
            </a:p>
          </p:txBody>
        </p:sp>
        <p:sp>
          <p:nvSpPr>
            <p:cNvPr id="50" name="TextBox 188"/>
            <p:cNvSpPr txBox="1">
              <a:spLocks/>
            </p:cNvSpPr>
            <p:nvPr/>
          </p:nvSpPr>
          <p:spPr bwMode="auto">
            <a:xfrm>
              <a:off x="7349332" y="3499652"/>
              <a:ext cx="288026" cy="287961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buFont typeface="Wingdings" pitchFamily="2" charset="2"/>
                <a:buNone/>
              </a:pPr>
              <a:endParaRPr lang="zh-CN" altLang="en-US" sz="1600" b="1" dirty="0">
                <a:solidFill>
                  <a:srgbClr val="000099"/>
                </a:solidFill>
                <a:ea typeface="黑体" pitchFamily="2" charset="-122"/>
              </a:endParaRPr>
            </a:p>
          </p:txBody>
        </p:sp>
        <p:sp>
          <p:nvSpPr>
            <p:cNvPr id="51" name="TextBox 189"/>
            <p:cNvSpPr txBox="1">
              <a:spLocks/>
            </p:cNvSpPr>
            <p:nvPr/>
          </p:nvSpPr>
          <p:spPr bwMode="auto">
            <a:xfrm>
              <a:off x="8501460" y="4131321"/>
              <a:ext cx="288026" cy="287961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buFont typeface="Wingdings" pitchFamily="2" charset="2"/>
                <a:buNone/>
              </a:pPr>
              <a:endParaRPr lang="zh-CN" altLang="en-US" sz="1600" b="1" dirty="0">
                <a:solidFill>
                  <a:srgbClr val="000099"/>
                </a:solidFill>
                <a:ea typeface="黑体" pitchFamily="2" charset="-122"/>
              </a:endParaRPr>
            </a:p>
          </p:txBody>
        </p:sp>
        <p:cxnSp>
          <p:nvCxnSpPr>
            <p:cNvPr id="54" name="直接连接符 53"/>
            <p:cNvCxnSpPr>
              <a:cxnSpLocks noChangeAspect="1"/>
              <a:stCxn id="47" idx="0"/>
              <a:endCxn id="56" idx="3"/>
            </p:cNvCxnSpPr>
            <p:nvPr/>
          </p:nvCxnSpPr>
          <p:spPr bwMode="auto">
            <a:xfrm flipV="1">
              <a:off x="7961404" y="3808774"/>
              <a:ext cx="221039" cy="285252"/>
            </a:xfrm>
            <a:prstGeom prst="line">
              <a:avLst/>
            </a:prstGeom>
            <a:ln w="25400">
              <a:solidFill>
                <a:srgbClr val="C0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/>
            <p:cNvCxnSpPr>
              <a:cxnSpLocks noChangeAspect="1"/>
              <a:stCxn id="51" idx="0"/>
              <a:endCxn id="56" idx="5"/>
            </p:cNvCxnSpPr>
            <p:nvPr/>
          </p:nvCxnSpPr>
          <p:spPr bwMode="auto">
            <a:xfrm flipH="1" flipV="1">
              <a:off x="8437025" y="3808774"/>
              <a:ext cx="208448" cy="322547"/>
            </a:xfrm>
            <a:prstGeom prst="line">
              <a:avLst/>
            </a:prstGeom>
            <a:ln w="25400">
              <a:solidFill>
                <a:srgbClr val="C0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椭圆 194"/>
            <p:cNvSpPr>
              <a:spLocks noChangeAspect="1"/>
            </p:cNvSpPr>
            <p:nvPr/>
          </p:nvSpPr>
          <p:spPr bwMode="auto">
            <a:xfrm>
              <a:off x="8129718" y="3503141"/>
              <a:ext cx="360032" cy="358071"/>
            </a:xfrm>
            <a:prstGeom prst="ellipse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/>
            <a:lstStyle/>
            <a:p>
              <a:pPr algn="ctr">
                <a:lnSpc>
                  <a:spcPct val="96000"/>
                </a:lnSpc>
              </a:pPr>
              <a:endParaRPr lang="zh-CN" altLang="en-US" sz="1600" b="1" dirty="0">
                <a:solidFill>
                  <a:srgbClr val="000099"/>
                </a:solidFill>
                <a:ea typeface="黑体" pitchFamily="2" charset="-122"/>
              </a:endParaRPr>
            </a:p>
          </p:txBody>
        </p:sp>
        <p:cxnSp>
          <p:nvCxnSpPr>
            <p:cNvPr id="57" name="直接连接符 56"/>
            <p:cNvCxnSpPr>
              <a:cxnSpLocks noChangeAspect="1"/>
              <a:stCxn id="50" idx="0"/>
              <a:endCxn id="59" idx="3"/>
            </p:cNvCxnSpPr>
            <p:nvPr/>
          </p:nvCxnSpPr>
          <p:spPr bwMode="auto">
            <a:xfrm flipV="1">
              <a:off x="7493345" y="3169077"/>
              <a:ext cx="271272" cy="330575"/>
            </a:xfrm>
            <a:prstGeom prst="line">
              <a:avLst/>
            </a:prstGeom>
            <a:ln w="25400">
              <a:solidFill>
                <a:srgbClr val="C0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>
              <a:cxnSpLocks noChangeAspect="1"/>
              <a:stCxn id="56" idx="0"/>
              <a:endCxn id="59" idx="5"/>
            </p:cNvCxnSpPr>
            <p:nvPr/>
          </p:nvCxnSpPr>
          <p:spPr bwMode="auto">
            <a:xfrm flipH="1" flipV="1">
              <a:off x="8019257" y="3169832"/>
              <a:ext cx="290512" cy="333375"/>
            </a:xfrm>
            <a:prstGeom prst="line">
              <a:avLst/>
            </a:prstGeom>
            <a:ln w="25400">
              <a:solidFill>
                <a:srgbClr val="C0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椭圆 200"/>
            <p:cNvSpPr>
              <a:spLocks noChangeAspect="1"/>
            </p:cNvSpPr>
            <p:nvPr/>
          </p:nvSpPr>
          <p:spPr bwMode="auto">
            <a:xfrm>
              <a:off x="7711892" y="2863444"/>
              <a:ext cx="360032" cy="358071"/>
            </a:xfrm>
            <a:prstGeom prst="ellipse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/>
            <a:lstStyle/>
            <a:p>
              <a:pPr algn="ctr">
                <a:lnSpc>
                  <a:spcPct val="96000"/>
                </a:lnSpc>
              </a:pPr>
              <a:endParaRPr lang="zh-CN" altLang="en-US" sz="1600" b="1" dirty="0">
                <a:solidFill>
                  <a:srgbClr val="000099"/>
                </a:solidFill>
                <a:ea typeface="黑体" pitchFamily="2" charset="-122"/>
              </a:endParaRPr>
            </a:p>
          </p:txBody>
        </p:sp>
      </p:grpSp>
      <p:sp>
        <p:nvSpPr>
          <p:cNvPr id="60" name="矩形 59"/>
          <p:cNvSpPr/>
          <p:nvPr/>
        </p:nvSpPr>
        <p:spPr>
          <a:xfrm>
            <a:off x="1616360" y="6129300"/>
            <a:ext cx="5594801" cy="5232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问题的最优解包含子问题的最优解</a:t>
            </a:r>
          </a:p>
        </p:txBody>
      </p:sp>
    </p:spTree>
    <p:extLst>
      <p:ext uri="{BB962C8B-B14F-4D97-AF65-F5344CB8AC3E}">
        <p14:creationId xmlns:p14="http://schemas.microsoft.com/office/powerpoint/2010/main" val="15705400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哈夫曼编码</a:t>
            </a:r>
          </a:p>
        </p:txBody>
      </p:sp>
      <p:sp>
        <p:nvSpPr>
          <p:cNvPr id="3891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fld id="{9ABCA842-320B-44BF-ACF7-ACB64D708C5E}" type="slidenum">
              <a:rPr lang="en-US" altLang="zh-CN" smtClean="0">
                <a:solidFill>
                  <a:srgbClr val="006600"/>
                </a:solidFill>
                <a:latin typeface="Courier New" pitchFamily="49" charset="0"/>
                <a:ea typeface="华文新魏" pitchFamily="2" charset="-122"/>
              </a:rPr>
              <a:pPr eaLnBrk="1" hangingPunct="1"/>
              <a:t>18</a:t>
            </a:fld>
            <a:endParaRPr lang="en-US" altLang="zh-CN">
              <a:solidFill>
                <a:srgbClr val="006600"/>
              </a:solidFill>
              <a:latin typeface="Courier New" pitchFamily="49" charset="0"/>
              <a:ea typeface="华文新魏" pitchFamily="2" charset="-122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贪心选择性</a:t>
            </a:r>
            <a:endParaRPr lang="en-US" altLang="zh-CN" dirty="0"/>
          </a:p>
          <a:p>
            <a:pPr lvl="1"/>
            <a:r>
              <a:rPr lang="zh-CN" altLang="en-US" dirty="0"/>
              <a:t>设</a:t>
            </a:r>
            <a:r>
              <a:rPr lang="en-US" altLang="zh-CN" dirty="0"/>
              <a:t>C</a:t>
            </a:r>
            <a:r>
              <a:rPr lang="zh-CN" altLang="en-US" dirty="0"/>
              <a:t>是字符表，字符</a:t>
            </a:r>
            <a:r>
              <a:rPr lang="en-US" altLang="zh-CN" dirty="0"/>
              <a:t>x</a:t>
            </a:r>
            <a:r>
              <a:rPr lang="zh-CN" altLang="en-US" dirty="0"/>
              <a:t>和</a:t>
            </a:r>
            <a:r>
              <a:rPr lang="en-US" altLang="zh-CN" dirty="0"/>
              <a:t>y</a:t>
            </a:r>
            <a:r>
              <a:rPr lang="zh-CN" altLang="en-US" dirty="0"/>
              <a:t>是</a:t>
            </a:r>
            <a:r>
              <a:rPr lang="en-US" altLang="zh-CN" dirty="0"/>
              <a:t>C</a:t>
            </a:r>
            <a:r>
              <a:rPr lang="zh-CN" altLang="en-US" dirty="0"/>
              <a:t>中频率最小的两个字符，则存在一棵哈夫曼树，使得</a:t>
            </a:r>
            <a:r>
              <a:rPr lang="en-US" altLang="zh-CN" dirty="0"/>
              <a:t>x</a:t>
            </a:r>
            <a:r>
              <a:rPr lang="zh-CN" altLang="en-US" dirty="0"/>
              <a:t>与</a:t>
            </a:r>
            <a:r>
              <a:rPr lang="en-US" altLang="zh-CN" dirty="0"/>
              <a:t>y</a:t>
            </a:r>
            <a:r>
              <a:rPr lang="zh-CN" altLang="en-US" dirty="0"/>
              <a:t>编码长度最长</a:t>
            </a:r>
            <a:r>
              <a:rPr lang="en-US" altLang="zh-CN" dirty="0"/>
              <a:t>(</a:t>
            </a:r>
            <a:r>
              <a:rPr lang="zh-CN" altLang="en-US" dirty="0"/>
              <a:t>即到根路径长度最长</a:t>
            </a:r>
            <a:r>
              <a:rPr lang="en-US" altLang="zh-CN" dirty="0"/>
              <a:t>)</a:t>
            </a:r>
          </a:p>
          <a:p>
            <a:pPr lvl="1"/>
            <a:r>
              <a:rPr lang="zh-CN" altLang="en-US" dirty="0"/>
              <a:t> 证明：</a:t>
            </a:r>
            <a:endParaRPr lang="en-US" altLang="zh-CN" dirty="0"/>
          </a:p>
          <a:p>
            <a:pPr lvl="2"/>
            <a:r>
              <a:rPr lang="zh-CN" altLang="en-US" dirty="0"/>
              <a:t>假设一哈夫曼树编码长度最长的不是</a:t>
            </a:r>
            <a:r>
              <a:rPr lang="en-US" altLang="zh-CN" dirty="0"/>
              <a:t>x</a:t>
            </a:r>
            <a:r>
              <a:rPr lang="zh-CN" altLang="en-US" dirty="0"/>
              <a:t>和</a:t>
            </a:r>
            <a:r>
              <a:rPr lang="en-US" altLang="zh-CN" dirty="0"/>
              <a:t>y</a:t>
            </a:r>
            <a:r>
              <a:rPr lang="zh-CN" altLang="en-US" dirty="0"/>
              <a:t>，是</a:t>
            </a:r>
            <a:r>
              <a:rPr lang="en-US" altLang="zh-CN" dirty="0"/>
              <a:t>a</a:t>
            </a:r>
            <a:r>
              <a:rPr lang="zh-CN" altLang="en-US" dirty="0"/>
              <a:t>和</a:t>
            </a:r>
            <a:r>
              <a:rPr lang="en-US" altLang="zh-CN" dirty="0"/>
              <a:t>b</a:t>
            </a:r>
            <a:r>
              <a:rPr lang="zh-CN" altLang="en-US" dirty="0"/>
              <a:t>，且</a:t>
            </a:r>
            <a:r>
              <a:rPr lang="en-US" altLang="zh-CN" dirty="0"/>
              <a:t>f(a)≥f(x), f(b)≥f(y), </a:t>
            </a:r>
            <a:r>
              <a:rPr lang="zh-CN" altLang="en-US" dirty="0"/>
              <a:t>则</a:t>
            </a:r>
            <a:r>
              <a:rPr lang="en-US" altLang="zh-CN" dirty="0"/>
              <a:t>L(a)≥L(x), L(b)≥L(y), L</a:t>
            </a:r>
            <a:r>
              <a:rPr lang="zh-CN" altLang="en-US" dirty="0"/>
              <a:t>指编码长度，如左图所示。分别将</a:t>
            </a:r>
            <a:r>
              <a:rPr lang="en-US" altLang="zh-CN" dirty="0"/>
              <a:t>a</a:t>
            </a:r>
            <a:r>
              <a:rPr lang="zh-CN" altLang="en-US" dirty="0"/>
              <a:t>和</a:t>
            </a:r>
            <a:r>
              <a:rPr lang="en-US" altLang="zh-CN" dirty="0"/>
              <a:t>x</a:t>
            </a:r>
            <a:r>
              <a:rPr lang="zh-CN" altLang="en-US" dirty="0"/>
              <a:t>，</a:t>
            </a:r>
            <a:r>
              <a:rPr lang="en-US" altLang="zh-CN" dirty="0"/>
              <a:t>b</a:t>
            </a:r>
            <a:r>
              <a:rPr lang="zh-CN" altLang="en-US" dirty="0"/>
              <a:t>和</a:t>
            </a:r>
            <a:r>
              <a:rPr lang="en-US" altLang="zh-CN" dirty="0"/>
              <a:t>y</a:t>
            </a:r>
            <a:r>
              <a:rPr lang="zh-CN" altLang="en-US" dirty="0"/>
              <a:t>交换，得到</a:t>
            </a:r>
            <a:endParaRPr lang="en-US" altLang="zh-CN" dirty="0"/>
          </a:p>
          <a:p>
            <a:pPr lvl="2"/>
            <a:r>
              <a:rPr lang="en-US" altLang="zh-CN" dirty="0"/>
              <a:t>B(T’) = B(T) -f(x)L(x)-f(y)L(y)-f(a)L(a)-f(b)L(b)</a:t>
            </a:r>
          </a:p>
          <a:p>
            <a:pPr lvl="2"/>
            <a:r>
              <a:rPr lang="en-US" altLang="zh-CN" dirty="0"/>
              <a:t>                   +f(x)L(a)+f(y)L(b)+f(a)L(x)+f(b)L(y)</a:t>
            </a:r>
          </a:p>
          <a:p>
            <a:pPr lvl="2"/>
            <a:r>
              <a:rPr lang="en-US" altLang="zh-CN" dirty="0"/>
              <a:t>=B(T)+(</a:t>
            </a:r>
            <a:r>
              <a:rPr lang="en-US" altLang="zh-CN" dirty="0" err="1"/>
              <a:t>fx-fa</a:t>
            </a:r>
            <a:r>
              <a:rPr lang="en-US" altLang="zh-CN" dirty="0"/>
              <a:t>)(La-Lx)+(</a:t>
            </a:r>
            <a:r>
              <a:rPr lang="en-US" altLang="zh-CN" dirty="0" err="1"/>
              <a:t>fy-fb</a:t>
            </a:r>
            <a:r>
              <a:rPr lang="en-US" altLang="zh-CN" dirty="0"/>
              <a:t>)(</a:t>
            </a:r>
            <a:r>
              <a:rPr lang="en-US" altLang="zh-CN" dirty="0" err="1"/>
              <a:t>Lb</a:t>
            </a:r>
            <a:r>
              <a:rPr lang="en-US" altLang="zh-CN" dirty="0"/>
              <a:t>-Ly) ≤ B(T)</a:t>
            </a:r>
            <a:endParaRPr lang="zh-CN" altLang="en-US" dirty="0"/>
          </a:p>
        </p:txBody>
      </p:sp>
      <p:grpSp>
        <p:nvGrpSpPr>
          <p:cNvPr id="5" name="组合 4"/>
          <p:cNvGrpSpPr/>
          <p:nvPr/>
        </p:nvGrpSpPr>
        <p:grpSpPr>
          <a:xfrm>
            <a:off x="6076335" y="143159"/>
            <a:ext cx="1159961" cy="1816810"/>
            <a:chOff x="7349332" y="2863444"/>
            <a:chExt cx="1440154" cy="2124803"/>
          </a:xfrm>
        </p:grpSpPr>
        <p:sp>
          <p:nvSpPr>
            <p:cNvPr id="6" name="椭圆 185"/>
            <p:cNvSpPr>
              <a:spLocks noChangeAspect="1"/>
            </p:cNvSpPr>
            <p:nvPr/>
          </p:nvSpPr>
          <p:spPr bwMode="auto">
            <a:xfrm>
              <a:off x="7781388" y="4094026"/>
              <a:ext cx="360032" cy="358071"/>
            </a:xfrm>
            <a:prstGeom prst="ellipse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/>
            <a:lstStyle/>
            <a:p>
              <a:pPr algn="ctr">
                <a:lnSpc>
                  <a:spcPct val="96000"/>
                </a:lnSpc>
              </a:pPr>
              <a:endParaRPr lang="zh-CN" altLang="en-US" sz="1600" b="1" dirty="0">
                <a:solidFill>
                  <a:srgbClr val="000099"/>
                </a:solidFill>
                <a:ea typeface="黑体" pitchFamily="2" charset="-122"/>
              </a:endParaRPr>
            </a:p>
          </p:txBody>
        </p:sp>
        <p:cxnSp>
          <p:nvCxnSpPr>
            <p:cNvPr id="7" name="直接连接符 6"/>
            <p:cNvCxnSpPr>
              <a:cxnSpLocks noChangeAspect="1"/>
              <a:stCxn id="11" idx="0"/>
              <a:endCxn id="6" idx="3"/>
            </p:cNvCxnSpPr>
            <p:nvPr/>
          </p:nvCxnSpPr>
          <p:spPr bwMode="auto">
            <a:xfrm flipV="1">
              <a:off x="7685772" y="4399659"/>
              <a:ext cx="148341" cy="300626"/>
            </a:xfrm>
            <a:prstGeom prst="line">
              <a:avLst/>
            </a:prstGeom>
            <a:ln w="25400">
              <a:solidFill>
                <a:srgbClr val="C0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>
              <a:cxnSpLocks noChangeAspect="1"/>
              <a:stCxn id="12" idx="0"/>
              <a:endCxn id="6" idx="5"/>
            </p:cNvCxnSpPr>
            <p:nvPr/>
          </p:nvCxnSpPr>
          <p:spPr bwMode="auto">
            <a:xfrm flipH="1" flipV="1">
              <a:off x="8088695" y="4399659"/>
              <a:ext cx="124736" cy="300626"/>
            </a:xfrm>
            <a:prstGeom prst="line">
              <a:avLst/>
            </a:prstGeom>
            <a:ln w="25400">
              <a:solidFill>
                <a:srgbClr val="C0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188"/>
            <p:cNvSpPr txBox="1">
              <a:spLocks/>
            </p:cNvSpPr>
            <p:nvPr/>
          </p:nvSpPr>
          <p:spPr bwMode="auto">
            <a:xfrm>
              <a:off x="7349332" y="3499652"/>
              <a:ext cx="288026" cy="287961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buFont typeface="Wingdings" pitchFamily="2" charset="2"/>
                <a:buNone/>
              </a:pPr>
              <a:r>
                <a:rPr lang="en-US" altLang="zh-CN" sz="1600" b="1" dirty="0">
                  <a:solidFill>
                    <a:srgbClr val="000099"/>
                  </a:solidFill>
                  <a:ea typeface="黑体" pitchFamily="2" charset="-122"/>
                </a:rPr>
                <a:t>x</a:t>
              </a:r>
              <a:endParaRPr lang="zh-CN" altLang="en-US" sz="1600" b="1" dirty="0">
                <a:solidFill>
                  <a:srgbClr val="000099"/>
                </a:solidFill>
                <a:ea typeface="黑体" pitchFamily="2" charset="-122"/>
              </a:endParaRPr>
            </a:p>
          </p:txBody>
        </p:sp>
        <p:sp>
          <p:nvSpPr>
            <p:cNvPr id="10" name="TextBox 189"/>
            <p:cNvSpPr txBox="1">
              <a:spLocks/>
            </p:cNvSpPr>
            <p:nvPr/>
          </p:nvSpPr>
          <p:spPr bwMode="auto">
            <a:xfrm>
              <a:off x="8501460" y="4131321"/>
              <a:ext cx="288026" cy="287961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buFont typeface="Wingdings" pitchFamily="2" charset="2"/>
                <a:buNone/>
              </a:pPr>
              <a:r>
                <a:rPr lang="en-US" altLang="zh-CN" sz="1600" b="1" dirty="0">
                  <a:solidFill>
                    <a:srgbClr val="000099"/>
                  </a:solidFill>
                  <a:ea typeface="黑体" pitchFamily="2" charset="-122"/>
                </a:rPr>
                <a:t>y</a:t>
              </a:r>
              <a:endParaRPr lang="zh-CN" altLang="en-US" sz="1600" b="1" dirty="0">
                <a:solidFill>
                  <a:srgbClr val="000099"/>
                </a:solidFill>
                <a:ea typeface="黑体" pitchFamily="2" charset="-122"/>
              </a:endParaRPr>
            </a:p>
          </p:txBody>
        </p:sp>
        <p:sp>
          <p:nvSpPr>
            <p:cNvPr id="11" name="TextBox 190"/>
            <p:cNvSpPr txBox="1">
              <a:spLocks/>
            </p:cNvSpPr>
            <p:nvPr/>
          </p:nvSpPr>
          <p:spPr bwMode="auto">
            <a:xfrm>
              <a:off x="7541759" y="4700286"/>
              <a:ext cx="288026" cy="287961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buFont typeface="Wingdings" pitchFamily="2" charset="2"/>
                <a:buNone/>
              </a:pPr>
              <a:r>
                <a:rPr lang="en-US" altLang="zh-CN" sz="1600" b="1" dirty="0">
                  <a:solidFill>
                    <a:srgbClr val="000099"/>
                  </a:solidFill>
                  <a:ea typeface="黑体" pitchFamily="2" charset="-122"/>
                </a:rPr>
                <a:t>a</a:t>
              </a:r>
              <a:endParaRPr lang="zh-CN" altLang="en-US" sz="1600" b="1" dirty="0">
                <a:solidFill>
                  <a:srgbClr val="000099"/>
                </a:solidFill>
                <a:ea typeface="黑体" pitchFamily="2" charset="-122"/>
              </a:endParaRPr>
            </a:p>
          </p:txBody>
        </p:sp>
        <p:sp>
          <p:nvSpPr>
            <p:cNvPr id="12" name="TextBox 191"/>
            <p:cNvSpPr txBox="1">
              <a:spLocks/>
            </p:cNvSpPr>
            <p:nvPr/>
          </p:nvSpPr>
          <p:spPr bwMode="auto">
            <a:xfrm>
              <a:off x="8069418" y="4700286"/>
              <a:ext cx="288026" cy="287961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buFont typeface="Wingdings" pitchFamily="2" charset="2"/>
                <a:buNone/>
              </a:pPr>
              <a:r>
                <a:rPr lang="en-US" altLang="zh-CN" sz="1600" b="1" dirty="0">
                  <a:solidFill>
                    <a:srgbClr val="000099"/>
                  </a:solidFill>
                  <a:ea typeface="黑体" pitchFamily="2" charset="-122"/>
                </a:rPr>
                <a:t>b</a:t>
              </a:r>
              <a:endParaRPr lang="zh-CN" altLang="en-US" sz="1600" b="1" dirty="0">
                <a:solidFill>
                  <a:srgbClr val="000099"/>
                </a:solidFill>
                <a:ea typeface="黑体" pitchFamily="2" charset="-122"/>
              </a:endParaRPr>
            </a:p>
          </p:txBody>
        </p:sp>
        <p:cxnSp>
          <p:nvCxnSpPr>
            <p:cNvPr id="13" name="直接连接符 12"/>
            <p:cNvCxnSpPr>
              <a:cxnSpLocks noChangeAspect="1"/>
              <a:stCxn id="6" idx="0"/>
              <a:endCxn id="15" idx="3"/>
            </p:cNvCxnSpPr>
            <p:nvPr/>
          </p:nvCxnSpPr>
          <p:spPr bwMode="auto">
            <a:xfrm flipV="1">
              <a:off x="7961404" y="3808774"/>
              <a:ext cx="221039" cy="285252"/>
            </a:xfrm>
            <a:prstGeom prst="line">
              <a:avLst/>
            </a:prstGeom>
            <a:ln w="25400">
              <a:solidFill>
                <a:srgbClr val="C0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>
              <a:cxnSpLocks noChangeAspect="1"/>
              <a:stCxn id="10" idx="0"/>
              <a:endCxn id="15" idx="5"/>
            </p:cNvCxnSpPr>
            <p:nvPr/>
          </p:nvCxnSpPr>
          <p:spPr bwMode="auto">
            <a:xfrm flipH="1" flipV="1">
              <a:off x="8437025" y="3808774"/>
              <a:ext cx="208448" cy="322547"/>
            </a:xfrm>
            <a:prstGeom prst="line">
              <a:avLst/>
            </a:prstGeom>
            <a:ln w="25400">
              <a:solidFill>
                <a:srgbClr val="C0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椭圆 194"/>
            <p:cNvSpPr>
              <a:spLocks noChangeAspect="1"/>
            </p:cNvSpPr>
            <p:nvPr/>
          </p:nvSpPr>
          <p:spPr bwMode="auto">
            <a:xfrm>
              <a:off x="8129718" y="3503141"/>
              <a:ext cx="360032" cy="358071"/>
            </a:xfrm>
            <a:prstGeom prst="ellipse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/>
            <a:lstStyle/>
            <a:p>
              <a:pPr algn="ctr">
                <a:lnSpc>
                  <a:spcPct val="96000"/>
                </a:lnSpc>
              </a:pPr>
              <a:endParaRPr lang="zh-CN" altLang="en-US" sz="1600" b="1" dirty="0">
                <a:solidFill>
                  <a:srgbClr val="000099"/>
                </a:solidFill>
                <a:ea typeface="黑体" pitchFamily="2" charset="-122"/>
              </a:endParaRPr>
            </a:p>
          </p:txBody>
        </p:sp>
        <p:cxnSp>
          <p:nvCxnSpPr>
            <p:cNvPr id="16" name="直接连接符 15"/>
            <p:cNvCxnSpPr>
              <a:cxnSpLocks noChangeAspect="1"/>
              <a:stCxn id="9" idx="0"/>
              <a:endCxn id="18" idx="3"/>
            </p:cNvCxnSpPr>
            <p:nvPr/>
          </p:nvCxnSpPr>
          <p:spPr bwMode="auto">
            <a:xfrm flipV="1">
              <a:off x="7493345" y="3169077"/>
              <a:ext cx="271272" cy="330575"/>
            </a:xfrm>
            <a:prstGeom prst="line">
              <a:avLst/>
            </a:prstGeom>
            <a:ln w="25400">
              <a:solidFill>
                <a:srgbClr val="C0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>
              <a:cxnSpLocks noChangeAspect="1"/>
              <a:stCxn id="15" idx="0"/>
              <a:endCxn id="18" idx="5"/>
            </p:cNvCxnSpPr>
            <p:nvPr/>
          </p:nvCxnSpPr>
          <p:spPr bwMode="auto">
            <a:xfrm flipH="1" flipV="1">
              <a:off x="8019257" y="3169832"/>
              <a:ext cx="290512" cy="333375"/>
            </a:xfrm>
            <a:prstGeom prst="line">
              <a:avLst/>
            </a:prstGeom>
            <a:ln w="25400">
              <a:solidFill>
                <a:srgbClr val="C0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椭圆 200"/>
            <p:cNvSpPr>
              <a:spLocks noChangeAspect="1"/>
            </p:cNvSpPr>
            <p:nvPr/>
          </p:nvSpPr>
          <p:spPr bwMode="auto">
            <a:xfrm>
              <a:off x="7711892" y="2863444"/>
              <a:ext cx="360032" cy="358071"/>
            </a:xfrm>
            <a:prstGeom prst="ellipse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/>
            <a:lstStyle/>
            <a:p>
              <a:pPr algn="ctr">
                <a:lnSpc>
                  <a:spcPct val="96000"/>
                </a:lnSpc>
              </a:pPr>
              <a:endParaRPr lang="zh-CN" altLang="en-US" sz="1600" b="1" dirty="0">
                <a:solidFill>
                  <a:srgbClr val="000099"/>
                </a:solidFill>
                <a:ea typeface="黑体" pitchFamily="2" charset="-122"/>
              </a:endParaRPr>
            </a:p>
          </p:txBody>
        </p:sp>
      </p:grpSp>
      <p:sp>
        <p:nvSpPr>
          <p:cNvPr id="20" name="矩形 19"/>
          <p:cNvSpPr/>
          <p:nvPr/>
        </p:nvSpPr>
        <p:spPr>
          <a:xfrm>
            <a:off x="5904045" y="14097"/>
            <a:ext cx="40427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</a:rPr>
              <a:t>T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7995062" y="136026"/>
            <a:ext cx="1159961" cy="1816810"/>
            <a:chOff x="7349332" y="2863444"/>
            <a:chExt cx="1440154" cy="2124803"/>
          </a:xfrm>
        </p:grpSpPr>
        <p:sp>
          <p:nvSpPr>
            <p:cNvPr id="22" name="椭圆 185"/>
            <p:cNvSpPr>
              <a:spLocks noChangeAspect="1"/>
            </p:cNvSpPr>
            <p:nvPr/>
          </p:nvSpPr>
          <p:spPr bwMode="auto">
            <a:xfrm>
              <a:off x="7781388" y="4094026"/>
              <a:ext cx="360032" cy="358071"/>
            </a:xfrm>
            <a:prstGeom prst="ellipse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/>
            <a:lstStyle/>
            <a:p>
              <a:pPr algn="ctr">
                <a:lnSpc>
                  <a:spcPct val="96000"/>
                </a:lnSpc>
              </a:pPr>
              <a:endParaRPr lang="zh-CN" altLang="en-US" sz="1600" b="1" dirty="0">
                <a:solidFill>
                  <a:srgbClr val="000099"/>
                </a:solidFill>
                <a:ea typeface="黑体" pitchFamily="2" charset="-122"/>
              </a:endParaRPr>
            </a:p>
          </p:txBody>
        </p:sp>
        <p:cxnSp>
          <p:nvCxnSpPr>
            <p:cNvPr id="23" name="直接连接符 22"/>
            <p:cNvCxnSpPr>
              <a:cxnSpLocks noChangeAspect="1"/>
              <a:stCxn id="27" idx="0"/>
              <a:endCxn id="22" idx="3"/>
            </p:cNvCxnSpPr>
            <p:nvPr/>
          </p:nvCxnSpPr>
          <p:spPr bwMode="auto">
            <a:xfrm flipV="1">
              <a:off x="7685772" y="4399659"/>
              <a:ext cx="148341" cy="300626"/>
            </a:xfrm>
            <a:prstGeom prst="line">
              <a:avLst/>
            </a:prstGeom>
            <a:ln w="25400">
              <a:solidFill>
                <a:srgbClr val="C0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>
              <a:cxnSpLocks noChangeAspect="1"/>
              <a:stCxn id="28" idx="0"/>
              <a:endCxn id="22" idx="5"/>
            </p:cNvCxnSpPr>
            <p:nvPr/>
          </p:nvCxnSpPr>
          <p:spPr bwMode="auto">
            <a:xfrm flipH="1" flipV="1">
              <a:off x="8088695" y="4399659"/>
              <a:ext cx="124736" cy="300626"/>
            </a:xfrm>
            <a:prstGeom prst="line">
              <a:avLst/>
            </a:prstGeom>
            <a:ln w="25400">
              <a:solidFill>
                <a:srgbClr val="C0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188"/>
            <p:cNvSpPr txBox="1">
              <a:spLocks/>
            </p:cNvSpPr>
            <p:nvPr/>
          </p:nvSpPr>
          <p:spPr bwMode="auto">
            <a:xfrm>
              <a:off x="7349332" y="3499652"/>
              <a:ext cx="288026" cy="287961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buFont typeface="Wingdings" pitchFamily="2" charset="2"/>
                <a:buNone/>
              </a:pPr>
              <a:r>
                <a:rPr lang="en-US" altLang="zh-CN" sz="1600" b="1" dirty="0">
                  <a:solidFill>
                    <a:srgbClr val="000099"/>
                  </a:solidFill>
                  <a:ea typeface="黑体" pitchFamily="2" charset="-122"/>
                </a:rPr>
                <a:t>a</a:t>
              </a:r>
              <a:endParaRPr lang="zh-CN" altLang="en-US" sz="1600" b="1" dirty="0">
                <a:solidFill>
                  <a:srgbClr val="000099"/>
                </a:solidFill>
                <a:ea typeface="黑体" pitchFamily="2" charset="-122"/>
              </a:endParaRPr>
            </a:p>
          </p:txBody>
        </p:sp>
        <p:sp>
          <p:nvSpPr>
            <p:cNvPr id="26" name="TextBox 189"/>
            <p:cNvSpPr txBox="1">
              <a:spLocks/>
            </p:cNvSpPr>
            <p:nvPr/>
          </p:nvSpPr>
          <p:spPr bwMode="auto">
            <a:xfrm>
              <a:off x="8501460" y="4131321"/>
              <a:ext cx="288026" cy="287961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buFont typeface="Wingdings" pitchFamily="2" charset="2"/>
                <a:buNone/>
              </a:pPr>
              <a:r>
                <a:rPr lang="en-US" altLang="zh-CN" sz="1600" b="1" dirty="0">
                  <a:solidFill>
                    <a:srgbClr val="000099"/>
                  </a:solidFill>
                  <a:ea typeface="黑体" pitchFamily="2" charset="-122"/>
                </a:rPr>
                <a:t>b</a:t>
              </a:r>
              <a:endParaRPr lang="zh-CN" altLang="en-US" sz="1600" b="1" dirty="0">
                <a:solidFill>
                  <a:srgbClr val="000099"/>
                </a:solidFill>
                <a:ea typeface="黑体" pitchFamily="2" charset="-122"/>
              </a:endParaRPr>
            </a:p>
          </p:txBody>
        </p:sp>
        <p:sp>
          <p:nvSpPr>
            <p:cNvPr id="27" name="TextBox 190"/>
            <p:cNvSpPr txBox="1">
              <a:spLocks/>
            </p:cNvSpPr>
            <p:nvPr/>
          </p:nvSpPr>
          <p:spPr bwMode="auto">
            <a:xfrm>
              <a:off x="7541759" y="4700286"/>
              <a:ext cx="288026" cy="287961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buFont typeface="Wingdings" pitchFamily="2" charset="2"/>
                <a:buNone/>
              </a:pPr>
              <a:r>
                <a:rPr lang="en-US" altLang="zh-CN" sz="1600" b="1" dirty="0">
                  <a:solidFill>
                    <a:srgbClr val="000099"/>
                  </a:solidFill>
                  <a:ea typeface="黑体" pitchFamily="2" charset="-122"/>
                </a:rPr>
                <a:t>x</a:t>
              </a:r>
              <a:endParaRPr lang="zh-CN" altLang="en-US" sz="1600" b="1" dirty="0">
                <a:solidFill>
                  <a:srgbClr val="000099"/>
                </a:solidFill>
                <a:ea typeface="黑体" pitchFamily="2" charset="-122"/>
              </a:endParaRPr>
            </a:p>
          </p:txBody>
        </p:sp>
        <p:sp>
          <p:nvSpPr>
            <p:cNvPr id="28" name="TextBox 191"/>
            <p:cNvSpPr txBox="1">
              <a:spLocks/>
            </p:cNvSpPr>
            <p:nvPr/>
          </p:nvSpPr>
          <p:spPr bwMode="auto">
            <a:xfrm>
              <a:off x="8069418" y="4700286"/>
              <a:ext cx="288026" cy="287961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>
                <a:buFont typeface="Wingdings" pitchFamily="2" charset="2"/>
                <a:buNone/>
              </a:pPr>
              <a:r>
                <a:rPr lang="en-US" altLang="zh-CN" sz="1600" b="1" dirty="0">
                  <a:solidFill>
                    <a:srgbClr val="000099"/>
                  </a:solidFill>
                  <a:ea typeface="黑体" pitchFamily="2" charset="-122"/>
                </a:rPr>
                <a:t>y</a:t>
              </a:r>
              <a:endParaRPr lang="zh-CN" altLang="en-US" sz="1600" b="1" dirty="0">
                <a:solidFill>
                  <a:srgbClr val="000099"/>
                </a:solidFill>
                <a:ea typeface="黑体" pitchFamily="2" charset="-122"/>
              </a:endParaRPr>
            </a:p>
          </p:txBody>
        </p:sp>
        <p:cxnSp>
          <p:nvCxnSpPr>
            <p:cNvPr id="29" name="直接连接符 28"/>
            <p:cNvCxnSpPr>
              <a:cxnSpLocks noChangeAspect="1"/>
              <a:stCxn id="22" idx="0"/>
              <a:endCxn id="31" idx="3"/>
            </p:cNvCxnSpPr>
            <p:nvPr/>
          </p:nvCxnSpPr>
          <p:spPr bwMode="auto">
            <a:xfrm flipV="1">
              <a:off x="7961404" y="3808774"/>
              <a:ext cx="221039" cy="285252"/>
            </a:xfrm>
            <a:prstGeom prst="line">
              <a:avLst/>
            </a:prstGeom>
            <a:ln w="25400">
              <a:solidFill>
                <a:srgbClr val="C0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>
              <a:cxnSpLocks noChangeAspect="1"/>
              <a:stCxn id="26" idx="0"/>
              <a:endCxn id="31" idx="5"/>
            </p:cNvCxnSpPr>
            <p:nvPr/>
          </p:nvCxnSpPr>
          <p:spPr bwMode="auto">
            <a:xfrm flipH="1" flipV="1">
              <a:off x="8437025" y="3808774"/>
              <a:ext cx="208448" cy="322547"/>
            </a:xfrm>
            <a:prstGeom prst="line">
              <a:avLst/>
            </a:prstGeom>
            <a:ln w="25400">
              <a:solidFill>
                <a:srgbClr val="C0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椭圆 194"/>
            <p:cNvSpPr>
              <a:spLocks noChangeAspect="1"/>
            </p:cNvSpPr>
            <p:nvPr/>
          </p:nvSpPr>
          <p:spPr bwMode="auto">
            <a:xfrm>
              <a:off x="8129718" y="3503141"/>
              <a:ext cx="360032" cy="358071"/>
            </a:xfrm>
            <a:prstGeom prst="ellipse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/>
            <a:lstStyle/>
            <a:p>
              <a:pPr algn="ctr">
                <a:lnSpc>
                  <a:spcPct val="96000"/>
                </a:lnSpc>
              </a:pPr>
              <a:endParaRPr lang="zh-CN" altLang="en-US" sz="1600" b="1" dirty="0">
                <a:solidFill>
                  <a:srgbClr val="000099"/>
                </a:solidFill>
                <a:ea typeface="黑体" pitchFamily="2" charset="-122"/>
              </a:endParaRPr>
            </a:p>
          </p:txBody>
        </p:sp>
        <p:cxnSp>
          <p:nvCxnSpPr>
            <p:cNvPr id="32" name="直接连接符 31"/>
            <p:cNvCxnSpPr>
              <a:cxnSpLocks noChangeAspect="1"/>
              <a:stCxn id="25" idx="0"/>
              <a:endCxn id="34" idx="3"/>
            </p:cNvCxnSpPr>
            <p:nvPr/>
          </p:nvCxnSpPr>
          <p:spPr bwMode="auto">
            <a:xfrm flipV="1">
              <a:off x="7493345" y="3169077"/>
              <a:ext cx="271272" cy="330575"/>
            </a:xfrm>
            <a:prstGeom prst="line">
              <a:avLst/>
            </a:prstGeom>
            <a:ln w="25400">
              <a:solidFill>
                <a:srgbClr val="C0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>
              <a:cxnSpLocks noChangeAspect="1"/>
              <a:stCxn id="31" idx="0"/>
              <a:endCxn id="34" idx="5"/>
            </p:cNvCxnSpPr>
            <p:nvPr/>
          </p:nvCxnSpPr>
          <p:spPr bwMode="auto">
            <a:xfrm flipH="1" flipV="1">
              <a:off x="8019257" y="3169832"/>
              <a:ext cx="290512" cy="333375"/>
            </a:xfrm>
            <a:prstGeom prst="line">
              <a:avLst/>
            </a:prstGeom>
            <a:ln w="25400">
              <a:solidFill>
                <a:srgbClr val="C00000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椭圆 200"/>
            <p:cNvSpPr>
              <a:spLocks noChangeAspect="1"/>
            </p:cNvSpPr>
            <p:nvPr/>
          </p:nvSpPr>
          <p:spPr bwMode="auto">
            <a:xfrm>
              <a:off x="7711892" y="2863444"/>
              <a:ext cx="360032" cy="358071"/>
            </a:xfrm>
            <a:prstGeom prst="ellipse">
              <a:avLst/>
            </a:prstGeom>
            <a:noFill/>
            <a:ln w="254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/>
            <a:lstStyle/>
            <a:p>
              <a:pPr algn="ctr">
                <a:lnSpc>
                  <a:spcPct val="96000"/>
                </a:lnSpc>
              </a:pPr>
              <a:endParaRPr lang="zh-CN" altLang="en-US" sz="1600" b="1" dirty="0">
                <a:solidFill>
                  <a:srgbClr val="000099"/>
                </a:solidFill>
                <a:ea typeface="黑体" pitchFamily="2" charset="-122"/>
              </a:endParaRPr>
            </a:p>
          </p:txBody>
        </p:sp>
      </p:grpSp>
      <p:sp>
        <p:nvSpPr>
          <p:cNvPr id="35" name="矩形 34"/>
          <p:cNvSpPr/>
          <p:nvPr/>
        </p:nvSpPr>
        <p:spPr>
          <a:xfrm>
            <a:off x="7822772" y="6964"/>
            <a:ext cx="50366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</a:rPr>
              <a:t>T’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  <p:sp>
        <p:nvSpPr>
          <p:cNvPr id="4" name="右箭头 3"/>
          <p:cNvSpPr/>
          <p:nvPr/>
        </p:nvSpPr>
        <p:spPr bwMode="auto">
          <a:xfrm flipH="1">
            <a:off x="7344308" y="820223"/>
            <a:ext cx="478464" cy="352152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 w="25400">
            <a:noFill/>
            <a:miter lim="800000"/>
            <a:headEnd/>
            <a:tailEnd/>
          </a:ln>
        </p:spPr>
        <p:txBody>
          <a:bodyPr lIns="18000" tIns="10800" rIns="18000" bIns="10800" rtlCol="0" anchor="ctr"/>
          <a:lstStyle/>
          <a:p>
            <a:pPr algn="ctr" eaLnBrk="1" hangingPunct="1">
              <a:lnSpc>
                <a:spcPct val="96000"/>
              </a:lnSpc>
              <a:spcBef>
                <a:spcPct val="0"/>
              </a:spcBef>
              <a:buClrTx/>
              <a:buFontTx/>
              <a:buNone/>
            </a:pPr>
            <a:endParaRPr lang="zh-CN" altLang="en-US" b="1" dirty="0">
              <a:solidFill>
                <a:srgbClr val="000099"/>
              </a:solidFill>
              <a:ea typeface="黑体" pitchFamily="49" charset="-122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511660" y="6182144"/>
            <a:ext cx="6678431" cy="5232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优先选择频率最小的</a:t>
            </a:r>
            <a:r>
              <a:rPr lang="en-US" altLang="zh-CN" sz="2800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x</a:t>
            </a:r>
            <a:r>
              <a:rPr lang="zh-CN" altLang="en-US" sz="2800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和</a:t>
            </a:r>
            <a:r>
              <a:rPr lang="en-US" altLang="zh-CN" sz="2800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y</a:t>
            </a:r>
            <a:r>
              <a:rPr lang="zh-CN" altLang="en-US" sz="2800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结果并不会变坏</a:t>
            </a:r>
          </a:p>
        </p:txBody>
      </p:sp>
    </p:spTree>
    <p:extLst>
      <p:ext uri="{BB962C8B-B14F-4D97-AF65-F5344CB8AC3E}">
        <p14:creationId xmlns:p14="http://schemas.microsoft.com/office/powerpoint/2010/main" val="7960475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并查集</a:t>
            </a:r>
          </a:p>
        </p:txBody>
      </p:sp>
      <p:sp>
        <p:nvSpPr>
          <p:cNvPr id="614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>
                <a:latin typeface="Arial" charset="0"/>
              </a:rPr>
              <a:t>互不相交的集合 </a:t>
            </a:r>
            <a:r>
              <a:rPr lang="en-US" altLang="zh-CN">
                <a:latin typeface="Arial" charset="0"/>
              </a:rPr>
              <a:t>(</a:t>
            </a:r>
            <a:r>
              <a:rPr lang="zh-CN" altLang="en-US">
                <a:latin typeface="Arial" charset="0"/>
              </a:rPr>
              <a:t>等价类的划分</a:t>
            </a:r>
            <a:r>
              <a:rPr lang="en-US" altLang="zh-CN">
                <a:latin typeface="Arial" charset="0"/>
              </a:rPr>
              <a:t>)</a:t>
            </a:r>
          </a:p>
          <a:p>
            <a:pPr lvl="1"/>
            <a:r>
              <a:rPr lang="zh-CN" altLang="en-US">
                <a:latin typeface="Arial" charset="0"/>
              </a:rPr>
              <a:t>需要经常合并集合 </a:t>
            </a:r>
            <a:r>
              <a:rPr lang="en-US" altLang="zh-CN">
                <a:latin typeface="Arial" charset="0"/>
              </a:rPr>
              <a:t>(</a:t>
            </a:r>
            <a:r>
              <a:rPr lang="zh-CN" altLang="en-US">
                <a:latin typeface="Arial" charset="0"/>
              </a:rPr>
              <a:t>等价类的合并</a:t>
            </a:r>
            <a:r>
              <a:rPr lang="en-US" altLang="zh-CN">
                <a:latin typeface="Arial" charset="0"/>
              </a:rPr>
              <a:t>)</a:t>
            </a:r>
          </a:p>
          <a:p>
            <a:pPr lvl="1"/>
            <a:r>
              <a:rPr lang="zh-CN" altLang="en-US">
                <a:latin typeface="Arial" charset="0"/>
              </a:rPr>
              <a:t>需要经常查找元素属于哪个集合</a:t>
            </a:r>
          </a:p>
        </p:txBody>
      </p:sp>
      <p:sp>
        <p:nvSpPr>
          <p:cNvPr id="6148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fld id="{7935B446-45E1-4366-A961-F87263A71318}" type="slidenum">
              <a:rPr lang="en-US" altLang="zh-CN" smtClean="0">
                <a:solidFill>
                  <a:srgbClr val="006600"/>
                </a:solidFill>
                <a:latin typeface="Courier New" pitchFamily="49" charset="0"/>
                <a:ea typeface="华文新魏" pitchFamily="2" charset="-122"/>
              </a:rPr>
              <a:pPr eaLnBrk="1" hangingPunct="1"/>
              <a:t>19</a:t>
            </a:fld>
            <a:endParaRPr lang="en-US" altLang="zh-CN">
              <a:solidFill>
                <a:srgbClr val="006600"/>
              </a:solidFill>
              <a:latin typeface="Courier New" pitchFamily="49" charset="0"/>
              <a:ea typeface="华文新魏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498508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并查集</a:t>
            </a:r>
          </a:p>
        </p:txBody>
      </p:sp>
      <p:sp>
        <p:nvSpPr>
          <p:cNvPr id="717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>
                <a:latin typeface="Arial" charset="0"/>
              </a:rPr>
              <a:t>并查集支持以下操作</a:t>
            </a:r>
            <a:endParaRPr lang="en-US" altLang="zh-CN">
              <a:latin typeface="Arial" charset="0"/>
            </a:endParaRPr>
          </a:p>
          <a:p>
            <a:pPr lvl="1"/>
            <a:r>
              <a:rPr lang="zh-CN" altLang="en-US">
                <a:latin typeface="Arial" charset="0"/>
              </a:rPr>
              <a:t>初始化</a:t>
            </a:r>
            <a:r>
              <a:rPr lang="en-US" altLang="zh-CN">
                <a:solidFill>
                  <a:srgbClr val="C00000"/>
                </a:solidFill>
                <a:latin typeface="Arial" charset="0"/>
              </a:rPr>
              <a:t>UFSets(s)</a:t>
            </a:r>
            <a:r>
              <a:rPr lang="en-US" altLang="zh-CN">
                <a:latin typeface="Arial" charset="0"/>
              </a:rPr>
              <a:t>: </a:t>
            </a:r>
            <a:r>
              <a:rPr lang="zh-CN" altLang="en-US">
                <a:latin typeface="Arial" charset="0"/>
              </a:rPr>
              <a:t>将</a:t>
            </a:r>
            <a:r>
              <a:rPr lang="en-US" altLang="zh-CN">
                <a:latin typeface="Arial" charset="0"/>
              </a:rPr>
              <a:t>s</a:t>
            </a:r>
            <a:r>
              <a:rPr lang="zh-CN" altLang="en-US">
                <a:latin typeface="Arial" charset="0"/>
              </a:rPr>
              <a:t>中每个元素自成一个集合</a:t>
            </a:r>
            <a:endParaRPr lang="en-US" altLang="zh-CN">
              <a:latin typeface="Arial" charset="0"/>
            </a:endParaRPr>
          </a:p>
          <a:p>
            <a:pPr lvl="1"/>
            <a:r>
              <a:rPr lang="zh-CN" altLang="en-US">
                <a:latin typeface="Arial" charset="0"/>
              </a:rPr>
              <a:t>合并</a:t>
            </a:r>
            <a:r>
              <a:rPr lang="en-US" altLang="zh-CN">
                <a:solidFill>
                  <a:srgbClr val="C00000"/>
                </a:solidFill>
                <a:latin typeface="Arial" charset="0"/>
              </a:rPr>
              <a:t>Union(Root1,Root2)</a:t>
            </a:r>
            <a:r>
              <a:rPr lang="en-US" altLang="zh-CN">
                <a:latin typeface="Arial" charset="0"/>
              </a:rPr>
              <a:t>: </a:t>
            </a:r>
            <a:r>
              <a:rPr lang="zh-CN" altLang="en-US">
                <a:latin typeface="Arial" charset="0"/>
              </a:rPr>
              <a:t>集合</a:t>
            </a:r>
            <a:r>
              <a:rPr lang="en-US" altLang="zh-CN">
                <a:latin typeface="Arial" charset="0"/>
              </a:rPr>
              <a:t>Root2</a:t>
            </a:r>
            <a:r>
              <a:rPr lang="zh-CN" altLang="en-US">
                <a:latin typeface="Arial" charset="0"/>
              </a:rPr>
              <a:t>并入</a:t>
            </a:r>
            <a:r>
              <a:rPr lang="en-US" altLang="zh-CN">
                <a:latin typeface="Arial" charset="0"/>
              </a:rPr>
              <a:t>Root1</a:t>
            </a:r>
          </a:p>
          <a:p>
            <a:pPr lvl="1"/>
            <a:r>
              <a:rPr lang="zh-CN" altLang="en-US">
                <a:latin typeface="Arial" charset="0"/>
              </a:rPr>
              <a:t>查找</a:t>
            </a:r>
            <a:r>
              <a:rPr lang="en-US" altLang="zh-CN">
                <a:solidFill>
                  <a:srgbClr val="C00000"/>
                </a:solidFill>
                <a:latin typeface="Arial" charset="0"/>
              </a:rPr>
              <a:t>Find(x)</a:t>
            </a:r>
            <a:r>
              <a:rPr lang="en-US" altLang="zh-CN">
                <a:latin typeface="Arial" charset="0"/>
              </a:rPr>
              <a:t>: </a:t>
            </a:r>
            <a:r>
              <a:rPr lang="zh-CN" altLang="en-US">
                <a:latin typeface="Arial" charset="0"/>
              </a:rPr>
              <a:t>查找元素</a:t>
            </a:r>
            <a:r>
              <a:rPr lang="en-US" altLang="zh-CN">
                <a:latin typeface="Arial" charset="0"/>
              </a:rPr>
              <a:t>x</a:t>
            </a:r>
            <a:r>
              <a:rPr lang="zh-CN" altLang="en-US">
                <a:latin typeface="Arial" charset="0"/>
              </a:rPr>
              <a:t>属于哪个集合</a:t>
            </a:r>
          </a:p>
        </p:txBody>
      </p:sp>
      <p:sp>
        <p:nvSpPr>
          <p:cNvPr id="7172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fld id="{48F40969-C44A-467B-B6BD-C203358DFDC9}" type="slidenum">
              <a:rPr lang="en-US" altLang="zh-CN" smtClean="0">
                <a:solidFill>
                  <a:srgbClr val="006600"/>
                </a:solidFill>
                <a:latin typeface="Courier New" pitchFamily="49" charset="0"/>
                <a:ea typeface="华文新魏" pitchFamily="2" charset="-122"/>
              </a:rPr>
              <a:pPr eaLnBrk="1" hangingPunct="1"/>
              <a:t>20</a:t>
            </a:fld>
            <a:endParaRPr lang="en-US" altLang="zh-CN">
              <a:solidFill>
                <a:srgbClr val="006600"/>
              </a:solidFill>
              <a:latin typeface="Courier New" pitchFamily="49" charset="0"/>
              <a:ea typeface="华文新魏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494933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并查集</a:t>
            </a:r>
          </a:p>
        </p:txBody>
      </p:sp>
      <p:sp>
        <p:nvSpPr>
          <p:cNvPr id="819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>
                <a:latin typeface="Arial" charset="0"/>
              </a:rPr>
              <a:t>用树表示集合</a:t>
            </a:r>
            <a:endParaRPr lang="en-US" altLang="zh-CN">
              <a:latin typeface="Arial" charset="0"/>
            </a:endParaRPr>
          </a:p>
          <a:p>
            <a:pPr lvl="1"/>
            <a:r>
              <a:rPr lang="zh-CN" altLang="en-US">
                <a:latin typeface="Arial" charset="0"/>
              </a:rPr>
              <a:t>初始化时，每个元素自成为一棵树</a:t>
            </a:r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fld id="{3D7D6E26-FD00-416B-BEF2-D7018B26BB24}" type="slidenum">
              <a:rPr lang="en-US" altLang="zh-CN" smtClean="0">
                <a:solidFill>
                  <a:srgbClr val="006600"/>
                </a:solidFill>
                <a:latin typeface="Courier New" pitchFamily="49" charset="0"/>
                <a:ea typeface="华文新魏" pitchFamily="2" charset="-122"/>
              </a:rPr>
              <a:pPr eaLnBrk="1" hangingPunct="1"/>
              <a:t>21</a:t>
            </a:fld>
            <a:endParaRPr lang="en-US" altLang="zh-CN">
              <a:solidFill>
                <a:srgbClr val="006600"/>
              </a:solidFill>
              <a:latin typeface="Courier New" pitchFamily="49" charset="0"/>
              <a:ea typeface="华文新魏" pitchFamily="2" charset="-122"/>
            </a:endParaRPr>
          </a:p>
        </p:txBody>
      </p:sp>
      <p:grpSp>
        <p:nvGrpSpPr>
          <p:cNvPr id="8197" name="组合 38"/>
          <p:cNvGrpSpPr>
            <a:grpSpLocks/>
          </p:cNvGrpSpPr>
          <p:nvPr/>
        </p:nvGrpSpPr>
        <p:grpSpPr bwMode="auto">
          <a:xfrm>
            <a:off x="1547813" y="3108325"/>
            <a:ext cx="5364162" cy="360363"/>
            <a:chOff x="1547664" y="2780924"/>
            <a:chExt cx="5364919" cy="360367"/>
          </a:xfrm>
        </p:grpSpPr>
        <p:sp>
          <p:nvSpPr>
            <p:cNvPr id="7" name="Oval 16"/>
            <p:cNvSpPr>
              <a:spLocks noChangeArrowheads="1"/>
            </p:cNvSpPr>
            <p:nvPr/>
          </p:nvSpPr>
          <p:spPr bwMode="auto">
            <a:xfrm>
              <a:off x="3275108" y="2780924"/>
              <a:ext cx="358826" cy="360367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 w="6350">
              <a:solidFill>
                <a:schemeClr val="bg2">
                  <a:lumMod val="40000"/>
                  <a:lumOff val="6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b="1" dirty="0">
                  <a:ea typeface="宋体" pitchFamily="2" charset="-122"/>
                </a:rPr>
                <a:t>3</a:t>
              </a:r>
              <a:endParaRPr lang="zh-CN" altLang="en-US" b="1" dirty="0">
                <a:ea typeface="宋体" pitchFamily="2" charset="-122"/>
              </a:endParaRPr>
            </a:p>
          </p:txBody>
        </p:sp>
        <p:sp>
          <p:nvSpPr>
            <p:cNvPr id="8" name="Oval 17"/>
            <p:cNvSpPr>
              <a:spLocks noChangeArrowheads="1"/>
            </p:cNvSpPr>
            <p:nvPr/>
          </p:nvSpPr>
          <p:spPr bwMode="auto">
            <a:xfrm>
              <a:off x="3851451" y="2780924"/>
              <a:ext cx="360414" cy="360367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 w="6350">
              <a:solidFill>
                <a:schemeClr val="bg2">
                  <a:lumMod val="40000"/>
                  <a:lumOff val="6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b="1" dirty="0">
                  <a:ea typeface="宋体" pitchFamily="2" charset="-122"/>
                </a:rPr>
                <a:t>4</a:t>
              </a:r>
              <a:endParaRPr lang="zh-CN" altLang="en-US" b="1" dirty="0">
                <a:ea typeface="宋体" pitchFamily="2" charset="-122"/>
              </a:endParaRPr>
            </a:p>
          </p:txBody>
        </p:sp>
        <p:sp>
          <p:nvSpPr>
            <p:cNvPr id="12" name="Oval 16"/>
            <p:cNvSpPr>
              <a:spLocks noChangeArrowheads="1"/>
            </p:cNvSpPr>
            <p:nvPr/>
          </p:nvSpPr>
          <p:spPr bwMode="auto">
            <a:xfrm>
              <a:off x="2124007" y="2780924"/>
              <a:ext cx="360414" cy="360367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 w="6350">
              <a:solidFill>
                <a:schemeClr val="bg2">
                  <a:lumMod val="40000"/>
                  <a:lumOff val="6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b="1" dirty="0">
                  <a:ea typeface="宋体" pitchFamily="2" charset="-122"/>
                </a:rPr>
                <a:t>1</a:t>
              </a:r>
              <a:endParaRPr lang="zh-CN" altLang="en-US" b="1" dirty="0">
                <a:ea typeface="宋体" pitchFamily="2" charset="-122"/>
              </a:endParaRPr>
            </a:p>
          </p:txBody>
        </p:sp>
        <p:sp>
          <p:nvSpPr>
            <p:cNvPr id="13" name="Oval 17"/>
            <p:cNvSpPr>
              <a:spLocks noChangeArrowheads="1"/>
            </p:cNvSpPr>
            <p:nvPr/>
          </p:nvSpPr>
          <p:spPr bwMode="auto">
            <a:xfrm>
              <a:off x="2700352" y="2780924"/>
              <a:ext cx="360413" cy="360367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 w="6350">
              <a:solidFill>
                <a:schemeClr val="bg2">
                  <a:lumMod val="40000"/>
                  <a:lumOff val="6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b="1" dirty="0">
                  <a:ea typeface="宋体" pitchFamily="2" charset="-122"/>
                </a:rPr>
                <a:t>2</a:t>
              </a:r>
              <a:endParaRPr lang="zh-CN" altLang="en-US" b="1" dirty="0">
                <a:ea typeface="宋体" pitchFamily="2" charset="-122"/>
              </a:endParaRPr>
            </a:p>
          </p:txBody>
        </p:sp>
        <p:sp>
          <p:nvSpPr>
            <p:cNvPr id="21" name="Oval 16"/>
            <p:cNvSpPr>
              <a:spLocks noChangeArrowheads="1"/>
            </p:cNvSpPr>
            <p:nvPr/>
          </p:nvSpPr>
          <p:spPr bwMode="auto">
            <a:xfrm>
              <a:off x="4391277" y="2780924"/>
              <a:ext cx="360414" cy="360367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 w="6350">
              <a:solidFill>
                <a:schemeClr val="bg2">
                  <a:lumMod val="40000"/>
                  <a:lumOff val="6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b="1" dirty="0">
                  <a:ea typeface="宋体" pitchFamily="2" charset="-122"/>
                </a:rPr>
                <a:t>5</a:t>
              </a:r>
              <a:endParaRPr lang="zh-CN" altLang="en-US" b="1" dirty="0">
                <a:ea typeface="宋体" pitchFamily="2" charset="-122"/>
              </a:endParaRPr>
            </a:p>
          </p:txBody>
        </p:sp>
        <p:sp>
          <p:nvSpPr>
            <p:cNvPr id="22" name="Oval 16"/>
            <p:cNvSpPr>
              <a:spLocks noChangeArrowheads="1"/>
            </p:cNvSpPr>
            <p:nvPr/>
          </p:nvSpPr>
          <p:spPr bwMode="auto">
            <a:xfrm>
              <a:off x="4932692" y="2780924"/>
              <a:ext cx="360413" cy="360367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 w="6350">
              <a:solidFill>
                <a:schemeClr val="bg2">
                  <a:lumMod val="40000"/>
                  <a:lumOff val="6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b="1" dirty="0">
                  <a:ea typeface="宋体" pitchFamily="2" charset="-122"/>
                </a:rPr>
                <a:t>6</a:t>
              </a:r>
              <a:endParaRPr lang="zh-CN" altLang="en-US" b="1" dirty="0">
                <a:ea typeface="宋体" pitchFamily="2" charset="-122"/>
              </a:endParaRPr>
            </a:p>
          </p:txBody>
        </p:sp>
        <p:sp>
          <p:nvSpPr>
            <p:cNvPr id="23" name="Oval 16"/>
            <p:cNvSpPr>
              <a:spLocks noChangeArrowheads="1"/>
            </p:cNvSpPr>
            <p:nvPr/>
          </p:nvSpPr>
          <p:spPr bwMode="auto">
            <a:xfrm>
              <a:off x="5472518" y="2780924"/>
              <a:ext cx="360413" cy="360367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 w="6350">
              <a:solidFill>
                <a:schemeClr val="bg2">
                  <a:lumMod val="40000"/>
                  <a:lumOff val="6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b="1" dirty="0">
                  <a:ea typeface="宋体" pitchFamily="2" charset="-122"/>
                </a:rPr>
                <a:t>7</a:t>
              </a:r>
              <a:endParaRPr lang="zh-CN" altLang="en-US" b="1" dirty="0">
                <a:ea typeface="宋体" pitchFamily="2" charset="-122"/>
              </a:endParaRPr>
            </a:p>
          </p:txBody>
        </p:sp>
        <p:sp>
          <p:nvSpPr>
            <p:cNvPr id="24" name="Oval 16"/>
            <p:cNvSpPr>
              <a:spLocks noChangeArrowheads="1"/>
            </p:cNvSpPr>
            <p:nvPr/>
          </p:nvSpPr>
          <p:spPr bwMode="auto">
            <a:xfrm>
              <a:off x="6012344" y="2780924"/>
              <a:ext cx="360413" cy="360367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 w="6350">
              <a:solidFill>
                <a:schemeClr val="bg2">
                  <a:lumMod val="40000"/>
                  <a:lumOff val="6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b="1" dirty="0">
                  <a:ea typeface="宋体" pitchFamily="2" charset="-122"/>
                </a:rPr>
                <a:t>8</a:t>
              </a:r>
              <a:endParaRPr lang="zh-CN" altLang="en-US" b="1" dirty="0">
                <a:ea typeface="宋体" pitchFamily="2" charset="-122"/>
              </a:endParaRPr>
            </a:p>
          </p:txBody>
        </p:sp>
        <p:sp>
          <p:nvSpPr>
            <p:cNvPr id="25" name="Oval 16"/>
            <p:cNvSpPr>
              <a:spLocks noChangeArrowheads="1"/>
            </p:cNvSpPr>
            <p:nvPr/>
          </p:nvSpPr>
          <p:spPr bwMode="auto">
            <a:xfrm>
              <a:off x="6552170" y="2780924"/>
              <a:ext cx="360413" cy="360367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 w="6350">
              <a:solidFill>
                <a:schemeClr val="bg2">
                  <a:lumMod val="40000"/>
                  <a:lumOff val="6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b="1" dirty="0">
                  <a:ea typeface="宋体" pitchFamily="2" charset="-122"/>
                </a:rPr>
                <a:t>9</a:t>
              </a:r>
              <a:endParaRPr lang="zh-CN" altLang="en-US" b="1" dirty="0">
                <a:ea typeface="宋体" pitchFamily="2" charset="-122"/>
              </a:endParaRPr>
            </a:p>
          </p:txBody>
        </p:sp>
        <p:sp>
          <p:nvSpPr>
            <p:cNvPr id="26" name="Oval 16"/>
            <p:cNvSpPr>
              <a:spLocks noChangeArrowheads="1"/>
            </p:cNvSpPr>
            <p:nvPr/>
          </p:nvSpPr>
          <p:spPr bwMode="auto">
            <a:xfrm>
              <a:off x="1547664" y="2780924"/>
              <a:ext cx="360413" cy="360367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 w="6350">
              <a:solidFill>
                <a:schemeClr val="bg2">
                  <a:lumMod val="40000"/>
                  <a:lumOff val="6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b="1" dirty="0">
                  <a:ea typeface="宋体" pitchFamily="2" charset="-122"/>
                </a:rPr>
                <a:t>0</a:t>
              </a:r>
              <a:endParaRPr lang="zh-CN" altLang="en-US" b="1" dirty="0">
                <a:ea typeface="宋体" pitchFamily="2" charset="-122"/>
              </a:endParaRPr>
            </a:p>
          </p:txBody>
        </p:sp>
      </p:grpSp>
      <p:sp>
        <p:nvSpPr>
          <p:cNvPr id="8198" name="TextBox 36"/>
          <p:cNvSpPr txBox="1">
            <a:spLocks noChangeArrowheads="1"/>
          </p:cNvSpPr>
          <p:nvPr/>
        </p:nvSpPr>
        <p:spPr bwMode="auto">
          <a:xfrm>
            <a:off x="2752725" y="3600450"/>
            <a:ext cx="31289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zh-CN" altLang="en-US" b="1">
                <a:solidFill>
                  <a:srgbClr val="000099"/>
                </a:solidFill>
                <a:ea typeface="黑体" pitchFamily="49" charset="-122"/>
              </a:rPr>
              <a:t>全集合</a:t>
            </a:r>
            <a:r>
              <a:rPr lang="en-US" altLang="zh-CN" b="1">
                <a:solidFill>
                  <a:srgbClr val="000099"/>
                </a:solidFill>
                <a:ea typeface="黑体" pitchFamily="49" charset="-122"/>
              </a:rPr>
              <a:t>S</a:t>
            </a:r>
            <a:r>
              <a:rPr lang="zh-CN" altLang="en-US" b="1">
                <a:solidFill>
                  <a:srgbClr val="000099"/>
                </a:solidFill>
                <a:ea typeface="黑体" pitchFamily="49" charset="-122"/>
              </a:rPr>
              <a:t>初始化时形成的森林</a:t>
            </a:r>
          </a:p>
        </p:txBody>
      </p:sp>
      <p:sp>
        <p:nvSpPr>
          <p:cNvPr id="8199" name="TextBox 37"/>
          <p:cNvSpPr txBox="1">
            <a:spLocks noChangeArrowheads="1"/>
          </p:cNvSpPr>
          <p:nvPr/>
        </p:nvSpPr>
        <p:spPr bwMode="auto">
          <a:xfrm>
            <a:off x="2327275" y="5688013"/>
            <a:ext cx="29733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zh-CN" altLang="en-US" b="1">
                <a:solidFill>
                  <a:srgbClr val="000099"/>
                </a:solidFill>
                <a:ea typeface="黑体" pitchFamily="49" charset="-122"/>
              </a:rPr>
              <a:t>初始化时形成的父指针表示</a:t>
            </a:r>
          </a:p>
        </p:txBody>
      </p:sp>
      <p:sp>
        <p:nvSpPr>
          <p:cNvPr id="8200" name="TextBox 49"/>
          <p:cNvSpPr txBox="1">
            <a:spLocks noChangeArrowheads="1"/>
          </p:cNvSpPr>
          <p:nvPr/>
        </p:nvSpPr>
        <p:spPr bwMode="auto">
          <a:xfrm>
            <a:off x="6767513" y="3783013"/>
            <a:ext cx="2376487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zh-CN" altLang="en-US" b="1">
                <a:solidFill>
                  <a:srgbClr val="C00000"/>
                </a:solidFill>
                <a:ea typeface="黑体" pitchFamily="49" charset="-122"/>
              </a:rPr>
              <a:t>负数表示没有父结点</a:t>
            </a:r>
            <a:endParaRPr lang="en-US" altLang="zh-CN" b="1">
              <a:solidFill>
                <a:srgbClr val="C00000"/>
              </a:solidFill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b="1">
                <a:solidFill>
                  <a:srgbClr val="C00000"/>
                </a:solidFill>
                <a:ea typeface="黑体" pitchFamily="49" charset="-122"/>
              </a:rPr>
              <a:t>-1</a:t>
            </a:r>
            <a:r>
              <a:rPr lang="zh-CN" altLang="en-US" b="1">
                <a:solidFill>
                  <a:srgbClr val="C00000"/>
                </a:solidFill>
                <a:ea typeface="黑体" pitchFamily="49" charset="-122"/>
              </a:rPr>
              <a:t>表示树中有</a:t>
            </a:r>
            <a:r>
              <a:rPr lang="en-US" altLang="zh-CN" b="1">
                <a:solidFill>
                  <a:srgbClr val="C00000"/>
                </a:solidFill>
                <a:ea typeface="黑体" pitchFamily="49" charset="-122"/>
              </a:rPr>
              <a:t>1</a:t>
            </a:r>
            <a:r>
              <a:rPr lang="zh-CN" altLang="en-US" b="1">
                <a:solidFill>
                  <a:srgbClr val="C00000"/>
                </a:solidFill>
                <a:ea typeface="黑体" pitchFamily="49" charset="-122"/>
              </a:rPr>
              <a:t>个结点</a:t>
            </a:r>
            <a:endParaRPr lang="en-US" altLang="zh-CN" b="1">
              <a:solidFill>
                <a:srgbClr val="C00000"/>
              </a:solidFill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zh-CN" b="1">
                <a:solidFill>
                  <a:srgbClr val="C00000"/>
                </a:solidFill>
                <a:ea typeface="黑体" pitchFamily="49" charset="-122"/>
              </a:rPr>
              <a:t>-2</a:t>
            </a:r>
            <a:r>
              <a:rPr lang="zh-CN" altLang="en-US" b="1">
                <a:solidFill>
                  <a:srgbClr val="C00000"/>
                </a:solidFill>
                <a:ea typeface="黑体" pitchFamily="49" charset="-122"/>
              </a:rPr>
              <a:t>表示有</a:t>
            </a:r>
            <a:r>
              <a:rPr lang="en-US" altLang="zh-CN" b="1">
                <a:solidFill>
                  <a:srgbClr val="C00000"/>
                </a:solidFill>
                <a:ea typeface="黑体" pitchFamily="49" charset="-122"/>
              </a:rPr>
              <a:t>2</a:t>
            </a:r>
            <a:r>
              <a:rPr lang="zh-CN" altLang="en-US" b="1">
                <a:solidFill>
                  <a:srgbClr val="C00000"/>
                </a:solidFill>
                <a:ea typeface="黑体" pitchFamily="49" charset="-122"/>
              </a:rPr>
              <a:t>个结点，</a:t>
            </a:r>
            <a:endParaRPr lang="en-US" altLang="zh-CN" b="1">
              <a:solidFill>
                <a:srgbClr val="C00000"/>
              </a:solidFill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CN" altLang="en-US" b="1">
                <a:solidFill>
                  <a:srgbClr val="C00000"/>
                </a:solidFill>
                <a:ea typeface="黑体" pitchFamily="49" charset="-122"/>
              </a:rPr>
              <a:t>以此类推</a:t>
            </a:r>
          </a:p>
        </p:txBody>
      </p:sp>
      <p:sp>
        <p:nvSpPr>
          <p:cNvPr id="8201" name="矩形 68"/>
          <p:cNvSpPr>
            <a:spLocks noChangeArrowheads="1"/>
          </p:cNvSpPr>
          <p:nvPr/>
        </p:nvSpPr>
        <p:spPr bwMode="auto">
          <a:xfrm>
            <a:off x="863600" y="4968875"/>
            <a:ext cx="515938" cy="28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/>
          <a:p>
            <a:pPr algn="r"/>
            <a:r>
              <a:rPr lang="zh-CN" altLang="en-US" sz="1600" b="1">
                <a:solidFill>
                  <a:schemeClr val="bg2"/>
                </a:solidFill>
                <a:ea typeface="仿宋_GB2312" pitchFamily="49" charset="-122"/>
              </a:rPr>
              <a:t>下标</a:t>
            </a:r>
            <a:endParaRPr lang="en-US" altLang="zh-CN" sz="1600" b="1" baseline="-25000">
              <a:solidFill>
                <a:schemeClr val="bg2"/>
              </a:solidFill>
              <a:ea typeface="仿宋_GB2312" pitchFamily="49" charset="-122"/>
            </a:endParaRPr>
          </a:p>
        </p:txBody>
      </p:sp>
      <p:sp>
        <p:nvSpPr>
          <p:cNvPr id="8202" name="矩形 68"/>
          <p:cNvSpPr>
            <a:spLocks noChangeArrowheads="1"/>
          </p:cNvSpPr>
          <p:nvPr/>
        </p:nvSpPr>
        <p:spPr bwMode="auto">
          <a:xfrm>
            <a:off x="863600" y="5259388"/>
            <a:ext cx="515938" cy="28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/>
          <a:p>
            <a:pPr algn="r"/>
            <a:r>
              <a:rPr lang="zh-CN" altLang="en-US" sz="1600" b="1">
                <a:solidFill>
                  <a:schemeClr val="bg2"/>
                </a:solidFill>
                <a:ea typeface="仿宋_GB2312" pitchFamily="49" charset="-122"/>
              </a:rPr>
              <a:t>父指针</a:t>
            </a:r>
            <a:endParaRPr lang="en-US" altLang="zh-CN" sz="1600" b="1" baseline="-25000">
              <a:solidFill>
                <a:schemeClr val="bg2"/>
              </a:solidFill>
              <a:ea typeface="仿宋_GB2312" pitchFamily="49" charset="-122"/>
            </a:endParaRPr>
          </a:p>
        </p:txBody>
      </p:sp>
      <p:cxnSp>
        <p:nvCxnSpPr>
          <p:cNvPr id="59" name="直接箭头连接符 58"/>
          <p:cNvCxnSpPr>
            <a:endCxn id="8218" idx="3"/>
          </p:cNvCxnSpPr>
          <p:nvPr/>
        </p:nvCxnSpPr>
        <p:spPr>
          <a:xfrm flipH="1">
            <a:off x="6640513" y="4894263"/>
            <a:ext cx="787400" cy="498475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204" name="组合 61"/>
          <p:cNvGrpSpPr>
            <a:grpSpLocks/>
          </p:cNvGrpSpPr>
          <p:nvPr/>
        </p:nvGrpSpPr>
        <p:grpSpPr bwMode="auto">
          <a:xfrm>
            <a:off x="1476375" y="5251450"/>
            <a:ext cx="5164138" cy="282575"/>
            <a:chOff x="1476545" y="5250661"/>
            <a:chExt cx="5164048" cy="282575"/>
          </a:xfrm>
        </p:grpSpPr>
        <p:grpSp>
          <p:nvGrpSpPr>
            <p:cNvPr id="8217" name="组合 3"/>
            <p:cNvGrpSpPr>
              <a:grpSpLocks/>
            </p:cNvGrpSpPr>
            <p:nvPr/>
          </p:nvGrpSpPr>
          <p:grpSpPr bwMode="auto">
            <a:xfrm>
              <a:off x="1476545" y="5250661"/>
              <a:ext cx="4648200" cy="282575"/>
              <a:chOff x="1496766" y="3466143"/>
              <a:chExt cx="4649200" cy="282076"/>
            </a:xfrm>
          </p:grpSpPr>
          <p:sp>
            <p:nvSpPr>
              <p:cNvPr id="8219" name="矩形 34"/>
              <p:cNvSpPr>
                <a:spLocks noChangeArrowheads="1"/>
              </p:cNvSpPr>
              <p:nvPr/>
            </p:nvSpPr>
            <p:spPr bwMode="auto">
              <a:xfrm>
                <a:off x="2528685" y="3466143"/>
                <a:ext cx="515959" cy="282076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pPr algn="ctr"/>
                <a:r>
                  <a:rPr lang="en-US" altLang="zh-CN" sz="1600" b="1">
                    <a:solidFill>
                      <a:schemeClr val="bg2"/>
                    </a:solidFill>
                    <a:ea typeface="仿宋_GB2312" pitchFamily="49" charset="-122"/>
                  </a:rPr>
                  <a:t>-1</a:t>
                </a:r>
                <a:endParaRPr lang="en-US" altLang="zh-CN" sz="1600" b="1" baseline="-25000">
                  <a:solidFill>
                    <a:schemeClr val="bg2"/>
                  </a:solidFill>
                  <a:ea typeface="仿宋_GB2312" pitchFamily="49" charset="-122"/>
                </a:endParaRPr>
              </a:p>
            </p:txBody>
          </p:sp>
          <p:sp>
            <p:nvSpPr>
              <p:cNvPr id="8220" name="矩形 35"/>
              <p:cNvSpPr>
                <a:spLocks noChangeArrowheads="1"/>
              </p:cNvSpPr>
              <p:nvPr/>
            </p:nvSpPr>
            <p:spPr bwMode="auto">
              <a:xfrm>
                <a:off x="3044644" y="3466143"/>
                <a:ext cx="515959" cy="282076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pPr algn="ctr"/>
                <a:r>
                  <a:rPr lang="en-US" altLang="zh-CN" sz="1600" b="1">
                    <a:solidFill>
                      <a:schemeClr val="bg2"/>
                    </a:solidFill>
                    <a:ea typeface="仿宋_GB2312" pitchFamily="49" charset="-122"/>
                  </a:rPr>
                  <a:t>-1</a:t>
                </a:r>
                <a:endParaRPr lang="en-US" altLang="zh-CN" sz="1600" b="1" baseline="-25000">
                  <a:solidFill>
                    <a:schemeClr val="bg2"/>
                  </a:solidFill>
                  <a:ea typeface="仿宋_GB2312" pitchFamily="49" charset="-122"/>
                </a:endParaRPr>
              </a:p>
            </p:txBody>
          </p:sp>
          <p:sp>
            <p:nvSpPr>
              <p:cNvPr id="8221" name="矩形 36"/>
              <p:cNvSpPr>
                <a:spLocks noChangeArrowheads="1"/>
              </p:cNvSpPr>
              <p:nvPr/>
            </p:nvSpPr>
            <p:spPr bwMode="auto">
              <a:xfrm>
                <a:off x="3560603" y="3466143"/>
                <a:ext cx="515959" cy="282076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pPr algn="ctr"/>
                <a:r>
                  <a:rPr lang="en-US" altLang="zh-CN" sz="1600" b="1">
                    <a:solidFill>
                      <a:schemeClr val="bg2"/>
                    </a:solidFill>
                    <a:ea typeface="仿宋_GB2312" pitchFamily="49" charset="-122"/>
                  </a:rPr>
                  <a:t>-1</a:t>
                </a:r>
                <a:endParaRPr lang="en-US" altLang="zh-CN" sz="1600" b="1" baseline="-25000">
                  <a:solidFill>
                    <a:schemeClr val="bg2"/>
                  </a:solidFill>
                  <a:ea typeface="仿宋_GB2312" pitchFamily="49" charset="-122"/>
                </a:endParaRPr>
              </a:p>
            </p:txBody>
          </p:sp>
          <p:sp>
            <p:nvSpPr>
              <p:cNvPr id="8222" name="矩形 37"/>
              <p:cNvSpPr>
                <a:spLocks noChangeArrowheads="1"/>
              </p:cNvSpPr>
              <p:nvPr/>
            </p:nvSpPr>
            <p:spPr bwMode="auto">
              <a:xfrm>
                <a:off x="4076562" y="3466143"/>
                <a:ext cx="515959" cy="282076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pPr algn="ctr"/>
                <a:r>
                  <a:rPr lang="en-US" altLang="zh-CN" sz="1600" b="1">
                    <a:solidFill>
                      <a:schemeClr val="bg2"/>
                    </a:solidFill>
                    <a:ea typeface="仿宋_GB2312" pitchFamily="49" charset="-122"/>
                  </a:rPr>
                  <a:t>-1</a:t>
                </a:r>
                <a:endParaRPr lang="en-US" altLang="zh-CN" sz="1600" b="1" baseline="-25000">
                  <a:solidFill>
                    <a:schemeClr val="bg2"/>
                  </a:solidFill>
                  <a:ea typeface="仿宋_GB2312" pitchFamily="49" charset="-122"/>
                </a:endParaRPr>
              </a:p>
            </p:txBody>
          </p:sp>
          <p:sp>
            <p:nvSpPr>
              <p:cNvPr id="8223" name="矩形 38"/>
              <p:cNvSpPr>
                <a:spLocks noChangeArrowheads="1"/>
              </p:cNvSpPr>
              <p:nvPr/>
            </p:nvSpPr>
            <p:spPr bwMode="auto">
              <a:xfrm>
                <a:off x="4592522" y="3466143"/>
                <a:ext cx="515959" cy="282076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pPr algn="ctr"/>
                <a:r>
                  <a:rPr lang="en-US" altLang="zh-CN" sz="1600" b="1">
                    <a:solidFill>
                      <a:schemeClr val="bg2"/>
                    </a:solidFill>
                    <a:ea typeface="仿宋_GB2312" pitchFamily="49" charset="-122"/>
                  </a:rPr>
                  <a:t>-1</a:t>
                </a:r>
                <a:endParaRPr lang="en-US" altLang="zh-CN" sz="1600" b="1" baseline="-25000">
                  <a:solidFill>
                    <a:schemeClr val="bg2"/>
                  </a:solidFill>
                  <a:ea typeface="仿宋_GB2312" pitchFamily="49" charset="-122"/>
                </a:endParaRPr>
              </a:p>
            </p:txBody>
          </p:sp>
          <p:sp>
            <p:nvSpPr>
              <p:cNvPr id="8224" name="矩形 65"/>
              <p:cNvSpPr>
                <a:spLocks noChangeArrowheads="1"/>
              </p:cNvSpPr>
              <p:nvPr/>
            </p:nvSpPr>
            <p:spPr bwMode="auto">
              <a:xfrm>
                <a:off x="5114048" y="3466143"/>
                <a:ext cx="515959" cy="282076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pPr algn="ctr"/>
                <a:r>
                  <a:rPr lang="en-US" altLang="zh-CN" sz="1600" b="1">
                    <a:solidFill>
                      <a:schemeClr val="bg2"/>
                    </a:solidFill>
                    <a:ea typeface="仿宋_GB2312" pitchFamily="49" charset="-122"/>
                  </a:rPr>
                  <a:t>-1</a:t>
                </a:r>
                <a:endParaRPr lang="en-US" altLang="zh-CN" sz="1600" b="1" baseline="-25000">
                  <a:solidFill>
                    <a:schemeClr val="bg2"/>
                  </a:solidFill>
                  <a:ea typeface="仿宋_GB2312" pitchFamily="49" charset="-122"/>
                </a:endParaRPr>
              </a:p>
            </p:txBody>
          </p:sp>
          <p:sp>
            <p:nvSpPr>
              <p:cNvPr id="8225" name="矩形 67"/>
              <p:cNvSpPr>
                <a:spLocks noChangeArrowheads="1"/>
              </p:cNvSpPr>
              <p:nvPr/>
            </p:nvSpPr>
            <p:spPr bwMode="auto">
              <a:xfrm>
                <a:off x="2012725" y="3466143"/>
                <a:ext cx="515959" cy="282076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pPr algn="ctr"/>
                <a:r>
                  <a:rPr lang="en-US" altLang="zh-CN" sz="1600" b="1">
                    <a:solidFill>
                      <a:schemeClr val="bg2"/>
                    </a:solidFill>
                    <a:ea typeface="仿宋_GB2312" pitchFamily="49" charset="-122"/>
                  </a:rPr>
                  <a:t>-1</a:t>
                </a:r>
              </a:p>
            </p:txBody>
          </p:sp>
          <p:sp>
            <p:nvSpPr>
              <p:cNvPr id="8226" name="矩形 68"/>
              <p:cNvSpPr>
                <a:spLocks noChangeArrowheads="1"/>
              </p:cNvSpPr>
              <p:nvPr/>
            </p:nvSpPr>
            <p:spPr bwMode="auto">
              <a:xfrm>
                <a:off x="1496766" y="3466143"/>
                <a:ext cx="515959" cy="282076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pPr algn="ctr"/>
                <a:r>
                  <a:rPr lang="en-US" altLang="zh-CN" sz="1600" b="1">
                    <a:solidFill>
                      <a:schemeClr val="bg2"/>
                    </a:solidFill>
                    <a:ea typeface="仿宋_GB2312" pitchFamily="49" charset="-122"/>
                  </a:rPr>
                  <a:t>-1</a:t>
                </a:r>
              </a:p>
            </p:txBody>
          </p:sp>
          <p:sp>
            <p:nvSpPr>
              <p:cNvPr id="8227" name="矩形 65"/>
              <p:cNvSpPr>
                <a:spLocks noChangeArrowheads="1"/>
              </p:cNvSpPr>
              <p:nvPr/>
            </p:nvSpPr>
            <p:spPr bwMode="auto">
              <a:xfrm>
                <a:off x="5630007" y="3466143"/>
                <a:ext cx="515959" cy="282076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pPr algn="ctr"/>
                <a:r>
                  <a:rPr lang="en-US" altLang="zh-CN" sz="1600" b="1">
                    <a:solidFill>
                      <a:schemeClr val="bg2"/>
                    </a:solidFill>
                    <a:ea typeface="仿宋_GB2312" pitchFamily="49" charset="-122"/>
                  </a:rPr>
                  <a:t>-1</a:t>
                </a:r>
                <a:endParaRPr lang="en-US" altLang="zh-CN" sz="1600" b="1" baseline="-25000">
                  <a:solidFill>
                    <a:schemeClr val="bg2"/>
                  </a:solidFill>
                  <a:ea typeface="仿宋_GB2312" pitchFamily="49" charset="-122"/>
                </a:endParaRPr>
              </a:p>
            </p:txBody>
          </p:sp>
        </p:grpSp>
        <p:sp>
          <p:nvSpPr>
            <p:cNvPr id="8218" name="矩形 65"/>
            <p:cNvSpPr>
              <a:spLocks noChangeArrowheads="1"/>
            </p:cNvSpPr>
            <p:nvPr/>
          </p:nvSpPr>
          <p:spPr bwMode="auto">
            <a:xfrm>
              <a:off x="6124745" y="5250661"/>
              <a:ext cx="515848" cy="282575"/>
            </a:xfrm>
            <a:prstGeom prst="rect">
              <a:avLst/>
            </a:prstGeom>
            <a:noFill/>
            <a:ln w="952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pPr algn="ctr"/>
              <a:r>
                <a:rPr lang="en-US" altLang="zh-CN" sz="1600" b="1">
                  <a:solidFill>
                    <a:schemeClr val="bg2"/>
                  </a:solidFill>
                  <a:ea typeface="仿宋_GB2312" pitchFamily="49" charset="-122"/>
                </a:rPr>
                <a:t>-1</a:t>
              </a:r>
              <a:endParaRPr lang="en-US" altLang="zh-CN" sz="1600" b="1" baseline="-25000">
                <a:solidFill>
                  <a:schemeClr val="bg2"/>
                </a:solidFill>
                <a:ea typeface="仿宋_GB2312" pitchFamily="49" charset="-122"/>
              </a:endParaRPr>
            </a:p>
          </p:txBody>
        </p:sp>
      </p:grpSp>
      <p:grpSp>
        <p:nvGrpSpPr>
          <p:cNvPr id="8205" name="组合 64"/>
          <p:cNvGrpSpPr>
            <a:grpSpLocks/>
          </p:cNvGrpSpPr>
          <p:nvPr/>
        </p:nvGrpSpPr>
        <p:grpSpPr bwMode="auto">
          <a:xfrm>
            <a:off x="1476375" y="4968875"/>
            <a:ext cx="5164138" cy="282575"/>
            <a:chOff x="1476545" y="4968705"/>
            <a:chExt cx="5164048" cy="282575"/>
          </a:xfrm>
        </p:grpSpPr>
        <p:grpSp>
          <p:nvGrpSpPr>
            <p:cNvPr id="8206" name="组合 3"/>
            <p:cNvGrpSpPr>
              <a:grpSpLocks/>
            </p:cNvGrpSpPr>
            <p:nvPr/>
          </p:nvGrpSpPr>
          <p:grpSpPr bwMode="auto">
            <a:xfrm>
              <a:off x="1476545" y="4968705"/>
              <a:ext cx="4648200" cy="282575"/>
              <a:chOff x="1496766" y="3466143"/>
              <a:chExt cx="4649200" cy="282076"/>
            </a:xfrm>
          </p:grpSpPr>
          <p:sp>
            <p:nvSpPr>
              <p:cNvPr id="8208" name="矩形 34"/>
              <p:cNvSpPr>
                <a:spLocks noChangeArrowheads="1"/>
              </p:cNvSpPr>
              <p:nvPr/>
            </p:nvSpPr>
            <p:spPr bwMode="auto">
              <a:xfrm>
                <a:off x="2528685" y="3466143"/>
                <a:ext cx="515959" cy="2820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algn="ctr"/>
                <a:r>
                  <a:rPr lang="en-US" altLang="zh-CN" sz="1600">
                    <a:solidFill>
                      <a:schemeClr val="bg2"/>
                    </a:solidFill>
                    <a:ea typeface="仿宋_GB2312" pitchFamily="49" charset="-122"/>
                  </a:rPr>
                  <a:t>2</a:t>
                </a:r>
                <a:endParaRPr lang="en-US" altLang="zh-CN" sz="1600" baseline="-25000">
                  <a:solidFill>
                    <a:schemeClr val="bg2"/>
                  </a:solidFill>
                  <a:ea typeface="仿宋_GB2312" pitchFamily="49" charset="-122"/>
                </a:endParaRPr>
              </a:p>
            </p:txBody>
          </p:sp>
          <p:sp>
            <p:nvSpPr>
              <p:cNvPr id="8209" name="矩形 35"/>
              <p:cNvSpPr>
                <a:spLocks noChangeArrowheads="1"/>
              </p:cNvSpPr>
              <p:nvPr/>
            </p:nvSpPr>
            <p:spPr bwMode="auto">
              <a:xfrm>
                <a:off x="3044644" y="3466143"/>
                <a:ext cx="515959" cy="2820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algn="ctr"/>
                <a:r>
                  <a:rPr lang="en-US" altLang="zh-CN" sz="1600">
                    <a:solidFill>
                      <a:schemeClr val="bg2"/>
                    </a:solidFill>
                    <a:ea typeface="仿宋_GB2312" pitchFamily="49" charset="-122"/>
                  </a:rPr>
                  <a:t>3</a:t>
                </a:r>
                <a:endParaRPr lang="en-US" altLang="zh-CN" sz="1600" baseline="-25000">
                  <a:solidFill>
                    <a:schemeClr val="bg2"/>
                  </a:solidFill>
                  <a:ea typeface="仿宋_GB2312" pitchFamily="49" charset="-122"/>
                </a:endParaRPr>
              </a:p>
            </p:txBody>
          </p:sp>
          <p:sp>
            <p:nvSpPr>
              <p:cNvPr id="8210" name="矩形 36"/>
              <p:cNvSpPr>
                <a:spLocks noChangeArrowheads="1"/>
              </p:cNvSpPr>
              <p:nvPr/>
            </p:nvSpPr>
            <p:spPr bwMode="auto">
              <a:xfrm>
                <a:off x="3560603" y="3466143"/>
                <a:ext cx="515959" cy="2820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algn="ctr"/>
                <a:r>
                  <a:rPr lang="en-US" altLang="zh-CN" sz="1600">
                    <a:solidFill>
                      <a:schemeClr val="bg2"/>
                    </a:solidFill>
                    <a:ea typeface="仿宋_GB2312" pitchFamily="49" charset="-122"/>
                  </a:rPr>
                  <a:t>4</a:t>
                </a:r>
                <a:endParaRPr lang="en-US" altLang="zh-CN" sz="1600" baseline="-25000">
                  <a:solidFill>
                    <a:schemeClr val="bg2"/>
                  </a:solidFill>
                  <a:ea typeface="仿宋_GB2312" pitchFamily="49" charset="-122"/>
                </a:endParaRPr>
              </a:p>
            </p:txBody>
          </p:sp>
          <p:sp>
            <p:nvSpPr>
              <p:cNvPr id="8211" name="矩形 37"/>
              <p:cNvSpPr>
                <a:spLocks noChangeArrowheads="1"/>
              </p:cNvSpPr>
              <p:nvPr/>
            </p:nvSpPr>
            <p:spPr bwMode="auto">
              <a:xfrm>
                <a:off x="4076562" y="3466143"/>
                <a:ext cx="515959" cy="2820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algn="ctr"/>
                <a:r>
                  <a:rPr lang="en-US" altLang="zh-CN" sz="1600">
                    <a:solidFill>
                      <a:schemeClr val="bg2"/>
                    </a:solidFill>
                    <a:ea typeface="仿宋_GB2312" pitchFamily="49" charset="-122"/>
                  </a:rPr>
                  <a:t>5</a:t>
                </a:r>
                <a:endParaRPr lang="en-US" altLang="zh-CN" sz="1600" baseline="-25000">
                  <a:solidFill>
                    <a:schemeClr val="bg2"/>
                  </a:solidFill>
                  <a:ea typeface="仿宋_GB2312" pitchFamily="49" charset="-122"/>
                </a:endParaRPr>
              </a:p>
            </p:txBody>
          </p:sp>
          <p:sp>
            <p:nvSpPr>
              <p:cNvPr id="8212" name="矩形 38"/>
              <p:cNvSpPr>
                <a:spLocks noChangeArrowheads="1"/>
              </p:cNvSpPr>
              <p:nvPr/>
            </p:nvSpPr>
            <p:spPr bwMode="auto">
              <a:xfrm>
                <a:off x="4592522" y="3466143"/>
                <a:ext cx="515959" cy="2820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algn="ctr"/>
                <a:r>
                  <a:rPr lang="en-US" altLang="zh-CN" sz="1600">
                    <a:solidFill>
                      <a:schemeClr val="bg2"/>
                    </a:solidFill>
                    <a:ea typeface="仿宋_GB2312" pitchFamily="49" charset="-122"/>
                  </a:rPr>
                  <a:t>6</a:t>
                </a:r>
                <a:endParaRPr lang="en-US" altLang="zh-CN" sz="1600" baseline="-25000">
                  <a:solidFill>
                    <a:schemeClr val="bg2"/>
                  </a:solidFill>
                  <a:ea typeface="仿宋_GB2312" pitchFamily="49" charset="-122"/>
                </a:endParaRPr>
              </a:p>
            </p:txBody>
          </p:sp>
          <p:sp>
            <p:nvSpPr>
              <p:cNvPr id="8213" name="矩形 65"/>
              <p:cNvSpPr>
                <a:spLocks noChangeArrowheads="1"/>
              </p:cNvSpPr>
              <p:nvPr/>
            </p:nvSpPr>
            <p:spPr bwMode="auto">
              <a:xfrm>
                <a:off x="5114048" y="3466143"/>
                <a:ext cx="515959" cy="2820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algn="ctr"/>
                <a:r>
                  <a:rPr lang="en-US" altLang="zh-CN" sz="1600">
                    <a:solidFill>
                      <a:schemeClr val="bg2"/>
                    </a:solidFill>
                    <a:ea typeface="仿宋_GB2312" pitchFamily="49" charset="-122"/>
                  </a:rPr>
                  <a:t>7</a:t>
                </a:r>
                <a:endParaRPr lang="en-US" altLang="zh-CN" sz="1600" baseline="-25000">
                  <a:solidFill>
                    <a:schemeClr val="bg2"/>
                  </a:solidFill>
                  <a:ea typeface="仿宋_GB2312" pitchFamily="49" charset="-122"/>
                </a:endParaRPr>
              </a:p>
            </p:txBody>
          </p:sp>
          <p:sp>
            <p:nvSpPr>
              <p:cNvPr id="8214" name="矩形 67"/>
              <p:cNvSpPr>
                <a:spLocks noChangeArrowheads="1"/>
              </p:cNvSpPr>
              <p:nvPr/>
            </p:nvSpPr>
            <p:spPr bwMode="auto">
              <a:xfrm>
                <a:off x="2012725" y="3466143"/>
                <a:ext cx="515959" cy="2820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algn="ctr"/>
                <a:r>
                  <a:rPr lang="en-US" altLang="zh-CN" sz="1600">
                    <a:solidFill>
                      <a:schemeClr val="bg2"/>
                    </a:solidFill>
                    <a:ea typeface="仿宋_GB2312" pitchFamily="49" charset="-122"/>
                  </a:rPr>
                  <a:t>1</a:t>
                </a:r>
                <a:endParaRPr lang="en-US" altLang="zh-CN" sz="1600" baseline="-25000">
                  <a:solidFill>
                    <a:schemeClr val="bg2"/>
                  </a:solidFill>
                  <a:ea typeface="仿宋_GB2312" pitchFamily="49" charset="-122"/>
                </a:endParaRPr>
              </a:p>
            </p:txBody>
          </p:sp>
          <p:sp>
            <p:nvSpPr>
              <p:cNvPr id="8215" name="矩形 68"/>
              <p:cNvSpPr>
                <a:spLocks noChangeArrowheads="1"/>
              </p:cNvSpPr>
              <p:nvPr/>
            </p:nvSpPr>
            <p:spPr bwMode="auto">
              <a:xfrm>
                <a:off x="1496766" y="3466143"/>
                <a:ext cx="515959" cy="2820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algn="ctr"/>
                <a:r>
                  <a:rPr lang="en-US" altLang="zh-CN" sz="1600">
                    <a:solidFill>
                      <a:schemeClr val="bg2"/>
                    </a:solidFill>
                    <a:ea typeface="仿宋_GB2312" pitchFamily="49" charset="-122"/>
                  </a:rPr>
                  <a:t>0</a:t>
                </a:r>
                <a:endParaRPr lang="en-US" altLang="zh-CN" sz="1600" baseline="-25000">
                  <a:solidFill>
                    <a:schemeClr val="bg2"/>
                  </a:solidFill>
                  <a:ea typeface="仿宋_GB2312" pitchFamily="49" charset="-122"/>
                </a:endParaRPr>
              </a:p>
            </p:txBody>
          </p:sp>
          <p:sp>
            <p:nvSpPr>
              <p:cNvPr id="8216" name="矩形 65"/>
              <p:cNvSpPr>
                <a:spLocks noChangeArrowheads="1"/>
              </p:cNvSpPr>
              <p:nvPr/>
            </p:nvSpPr>
            <p:spPr bwMode="auto">
              <a:xfrm>
                <a:off x="5630007" y="3466143"/>
                <a:ext cx="515959" cy="2820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algn="ctr"/>
                <a:r>
                  <a:rPr lang="en-US" altLang="zh-CN" sz="1600">
                    <a:solidFill>
                      <a:schemeClr val="bg2"/>
                    </a:solidFill>
                    <a:ea typeface="仿宋_GB2312" pitchFamily="49" charset="-122"/>
                  </a:rPr>
                  <a:t>8</a:t>
                </a:r>
                <a:endParaRPr lang="en-US" altLang="zh-CN" sz="1600" baseline="-25000">
                  <a:solidFill>
                    <a:schemeClr val="bg2"/>
                  </a:solidFill>
                  <a:ea typeface="仿宋_GB2312" pitchFamily="49" charset="-122"/>
                </a:endParaRPr>
              </a:p>
            </p:txBody>
          </p:sp>
        </p:grpSp>
        <p:sp>
          <p:nvSpPr>
            <p:cNvPr id="8207" name="矩形 65"/>
            <p:cNvSpPr>
              <a:spLocks noChangeArrowheads="1"/>
            </p:cNvSpPr>
            <p:nvPr/>
          </p:nvSpPr>
          <p:spPr bwMode="auto">
            <a:xfrm>
              <a:off x="6124745" y="4968705"/>
              <a:ext cx="515848" cy="282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algn="ctr"/>
              <a:r>
                <a:rPr lang="en-US" altLang="zh-CN" sz="1600">
                  <a:solidFill>
                    <a:schemeClr val="bg2"/>
                  </a:solidFill>
                  <a:ea typeface="仿宋_GB2312" pitchFamily="49" charset="-122"/>
                </a:rPr>
                <a:t>9</a:t>
              </a:r>
              <a:endParaRPr lang="en-US" altLang="zh-CN" sz="1600" baseline="-25000">
                <a:solidFill>
                  <a:schemeClr val="bg2"/>
                </a:solidFill>
                <a:ea typeface="仿宋_GB2312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903319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并查集</a:t>
            </a:r>
          </a:p>
        </p:txBody>
      </p:sp>
      <p:sp>
        <p:nvSpPr>
          <p:cNvPr id="921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>
                <a:latin typeface="Arial" charset="0"/>
              </a:rPr>
              <a:t>用树表示集合</a:t>
            </a:r>
            <a:endParaRPr lang="en-US" altLang="zh-CN">
              <a:latin typeface="Arial" charset="0"/>
            </a:endParaRPr>
          </a:p>
          <a:p>
            <a:pPr lvl="1"/>
            <a:r>
              <a:rPr lang="zh-CN" altLang="en-US">
                <a:latin typeface="Arial" charset="0"/>
              </a:rPr>
              <a:t>假设经过若干合并后有</a:t>
            </a:r>
            <a:r>
              <a:rPr lang="en-US" altLang="zh-CN">
                <a:latin typeface="Arial" charset="0"/>
              </a:rPr>
              <a:t>3</a:t>
            </a:r>
            <a:r>
              <a:rPr lang="zh-CN" altLang="en-US">
                <a:latin typeface="Arial" charset="0"/>
              </a:rPr>
              <a:t>个集合</a:t>
            </a:r>
            <a:r>
              <a:rPr lang="en-US" altLang="zh-CN">
                <a:latin typeface="Arial" charset="0"/>
              </a:rPr>
              <a:t>{0,6,7,8}</a:t>
            </a:r>
            <a:r>
              <a:rPr lang="zh-CN" altLang="en-US">
                <a:latin typeface="Arial" charset="0"/>
              </a:rPr>
              <a:t>，</a:t>
            </a:r>
            <a:r>
              <a:rPr lang="en-US" altLang="zh-CN">
                <a:latin typeface="Arial" charset="0"/>
              </a:rPr>
              <a:t>{1,4,9} {2,3,5}</a:t>
            </a:r>
            <a:endParaRPr lang="zh-CN" altLang="en-US">
              <a:latin typeface="Arial" charset="0"/>
            </a:endParaRPr>
          </a:p>
        </p:txBody>
      </p:sp>
      <p:sp>
        <p:nvSpPr>
          <p:cNvPr id="9220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fld id="{700B6166-8AAF-41E5-9642-D556A64CBB0A}" type="slidenum">
              <a:rPr lang="en-US" altLang="zh-CN" smtClean="0">
                <a:solidFill>
                  <a:srgbClr val="006600"/>
                </a:solidFill>
                <a:latin typeface="Courier New" pitchFamily="49" charset="0"/>
                <a:ea typeface="华文新魏" pitchFamily="2" charset="-122"/>
              </a:rPr>
              <a:pPr eaLnBrk="1" hangingPunct="1"/>
              <a:t>22</a:t>
            </a:fld>
            <a:endParaRPr lang="en-US" altLang="zh-CN">
              <a:solidFill>
                <a:srgbClr val="006600"/>
              </a:solidFill>
              <a:latin typeface="Courier New" pitchFamily="49" charset="0"/>
              <a:ea typeface="华文新魏" pitchFamily="2" charset="-122"/>
            </a:endParaRPr>
          </a:p>
        </p:txBody>
      </p:sp>
      <p:sp>
        <p:nvSpPr>
          <p:cNvPr id="7" name="Oval 16"/>
          <p:cNvSpPr>
            <a:spLocks noChangeArrowheads="1"/>
          </p:cNvSpPr>
          <p:nvPr/>
        </p:nvSpPr>
        <p:spPr bwMode="auto">
          <a:xfrm>
            <a:off x="3368675" y="3863975"/>
            <a:ext cx="358775" cy="360363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6350">
            <a:solidFill>
              <a:schemeClr val="bg2">
                <a:lumMod val="40000"/>
                <a:lumOff val="6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CN" b="1" dirty="0">
                <a:ea typeface="宋体" pitchFamily="2" charset="-122"/>
              </a:rPr>
              <a:t>8</a:t>
            </a:r>
            <a:endParaRPr lang="zh-CN" altLang="en-US" b="1" dirty="0">
              <a:ea typeface="宋体" pitchFamily="2" charset="-122"/>
            </a:endParaRPr>
          </a:p>
        </p:txBody>
      </p:sp>
      <p:sp>
        <p:nvSpPr>
          <p:cNvPr id="12" name="Oval 16"/>
          <p:cNvSpPr>
            <a:spLocks noChangeArrowheads="1"/>
          </p:cNvSpPr>
          <p:nvPr/>
        </p:nvSpPr>
        <p:spPr bwMode="auto">
          <a:xfrm>
            <a:off x="2216150" y="3863975"/>
            <a:ext cx="360363" cy="360363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6350">
            <a:solidFill>
              <a:schemeClr val="bg2">
                <a:lumMod val="40000"/>
                <a:lumOff val="6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CN" b="1" dirty="0">
                <a:ea typeface="宋体" pitchFamily="2" charset="-122"/>
              </a:rPr>
              <a:t>6</a:t>
            </a:r>
            <a:endParaRPr lang="zh-CN" altLang="en-US" b="1" dirty="0">
              <a:ea typeface="宋体" pitchFamily="2" charset="-122"/>
            </a:endParaRPr>
          </a:p>
        </p:txBody>
      </p:sp>
      <p:sp>
        <p:nvSpPr>
          <p:cNvPr id="13" name="Oval 17"/>
          <p:cNvSpPr>
            <a:spLocks noChangeArrowheads="1"/>
          </p:cNvSpPr>
          <p:nvPr/>
        </p:nvSpPr>
        <p:spPr bwMode="auto">
          <a:xfrm>
            <a:off x="2792413" y="3863975"/>
            <a:ext cx="360362" cy="360363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6350">
            <a:solidFill>
              <a:schemeClr val="bg2">
                <a:lumMod val="40000"/>
                <a:lumOff val="6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CN" b="1" dirty="0">
                <a:ea typeface="宋体" pitchFamily="2" charset="-122"/>
              </a:rPr>
              <a:t>7</a:t>
            </a:r>
            <a:endParaRPr lang="zh-CN" altLang="en-US" b="1" dirty="0">
              <a:ea typeface="宋体" pitchFamily="2" charset="-122"/>
            </a:endParaRPr>
          </a:p>
        </p:txBody>
      </p:sp>
      <p:sp>
        <p:nvSpPr>
          <p:cNvPr id="26" name="Oval 16"/>
          <p:cNvSpPr>
            <a:spLocks noChangeArrowheads="1"/>
          </p:cNvSpPr>
          <p:nvPr/>
        </p:nvSpPr>
        <p:spPr bwMode="auto">
          <a:xfrm>
            <a:off x="2792413" y="3105150"/>
            <a:ext cx="360362" cy="360363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6350">
            <a:solidFill>
              <a:schemeClr val="bg2">
                <a:lumMod val="40000"/>
                <a:lumOff val="6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CN" b="1" dirty="0">
                <a:ea typeface="宋体" pitchFamily="2" charset="-122"/>
              </a:rPr>
              <a:t>0</a:t>
            </a:r>
            <a:endParaRPr lang="zh-CN" altLang="en-US" b="1" dirty="0">
              <a:ea typeface="宋体" pitchFamily="2" charset="-122"/>
            </a:endParaRPr>
          </a:p>
        </p:txBody>
      </p:sp>
      <p:sp>
        <p:nvSpPr>
          <p:cNvPr id="9225" name="TextBox 36"/>
          <p:cNvSpPr txBox="1">
            <a:spLocks noChangeArrowheads="1"/>
          </p:cNvSpPr>
          <p:nvPr/>
        </p:nvSpPr>
        <p:spPr bwMode="auto">
          <a:xfrm>
            <a:off x="4029075" y="4400550"/>
            <a:ext cx="18113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zh-CN" altLang="en-US" b="1">
                <a:solidFill>
                  <a:srgbClr val="000099"/>
                </a:solidFill>
                <a:ea typeface="黑体" pitchFamily="49" charset="-122"/>
              </a:rPr>
              <a:t>集合的树形表示</a:t>
            </a:r>
          </a:p>
        </p:txBody>
      </p:sp>
      <p:sp>
        <p:nvSpPr>
          <p:cNvPr id="9226" name="TextBox 37"/>
          <p:cNvSpPr txBox="1">
            <a:spLocks noChangeArrowheads="1"/>
          </p:cNvSpPr>
          <p:nvPr/>
        </p:nvSpPr>
        <p:spPr bwMode="auto">
          <a:xfrm>
            <a:off x="6389688" y="6488113"/>
            <a:ext cx="20431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zh-CN" altLang="en-US" b="1">
                <a:solidFill>
                  <a:srgbClr val="000099"/>
                </a:solidFill>
                <a:ea typeface="黑体" pitchFamily="49" charset="-122"/>
              </a:rPr>
              <a:t>集合的父指针表示</a:t>
            </a:r>
          </a:p>
        </p:txBody>
      </p:sp>
      <p:cxnSp>
        <p:nvCxnSpPr>
          <p:cNvPr id="9" name="直接箭头连接符 8"/>
          <p:cNvCxnSpPr>
            <a:stCxn id="12" idx="0"/>
            <a:endCxn id="26" idx="3"/>
          </p:cNvCxnSpPr>
          <p:nvPr/>
        </p:nvCxnSpPr>
        <p:spPr>
          <a:xfrm flipV="1">
            <a:off x="2397125" y="3413125"/>
            <a:ext cx="447675" cy="450850"/>
          </a:xfrm>
          <a:prstGeom prst="straightConnector1">
            <a:avLst/>
          </a:prstGeom>
          <a:ln w="19050">
            <a:solidFill>
              <a:schemeClr val="bg2">
                <a:lumMod val="40000"/>
                <a:lumOff val="6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>
            <a:stCxn id="13" idx="0"/>
            <a:endCxn id="26" idx="4"/>
          </p:cNvCxnSpPr>
          <p:nvPr/>
        </p:nvCxnSpPr>
        <p:spPr>
          <a:xfrm flipV="1">
            <a:off x="2973388" y="3465513"/>
            <a:ext cx="0" cy="398462"/>
          </a:xfrm>
          <a:prstGeom prst="straightConnector1">
            <a:avLst/>
          </a:prstGeom>
          <a:ln w="19050">
            <a:solidFill>
              <a:schemeClr val="bg2">
                <a:lumMod val="40000"/>
                <a:lumOff val="6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>
            <a:stCxn id="7" idx="0"/>
            <a:endCxn id="26" idx="5"/>
          </p:cNvCxnSpPr>
          <p:nvPr/>
        </p:nvCxnSpPr>
        <p:spPr>
          <a:xfrm flipH="1" flipV="1">
            <a:off x="3100388" y="3413125"/>
            <a:ext cx="447675" cy="450850"/>
          </a:xfrm>
          <a:prstGeom prst="straightConnector1">
            <a:avLst/>
          </a:prstGeom>
          <a:ln w="19050">
            <a:solidFill>
              <a:schemeClr val="bg2">
                <a:lumMod val="40000"/>
                <a:lumOff val="6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Oval 17"/>
          <p:cNvSpPr>
            <a:spLocks noChangeArrowheads="1"/>
          </p:cNvSpPr>
          <p:nvPr/>
        </p:nvSpPr>
        <p:spPr bwMode="auto">
          <a:xfrm>
            <a:off x="6480175" y="3105150"/>
            <a:ext cx="360363" cy="360363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6350">
            <a:solidFill>
              <a:schemeClr val="bg2">
                <a:lumMod val="40000"/>
                <a:lumOff val="6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CN" b="1" dirty="0">
                <a:ea typeface="宋体" pitchFamily="2" charset="-122"/>
              </a:rPr>
              <a:t>2</a:t>
            </a:r>
            <a:endParaRPr lang="zh-CN" altLang="en-US" b="1" dirty="0">
              <a:ea typeface="宋体" pitchFamily="2" charset="-122"/>
            </a:endParaRPr>
          </a:p>
        </p:txBody>
      </p:sp>
      <p:sp>
        <p:nvSpPr>
          <p:cNvPr id="55" name="Oval 16"/>
          <p:cNvSpPr>
            <a:spLocks noChangeArrowheads="1"/>
          </p:cNvSpPr>
          <p:nvPr/>
        </p:nvSpPr>
        <p:spPr bwMode="auto">
          <a:xfrm>
            <a:off x="6227763" y="3863975"/>
            <a:ext cx="360362" cy="360363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6350">
            <a:solidFill>
              <a:schemeClr val="bg2">
                <a:lumMod val="40000"/>
                <a:lumOff val="6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CN" b="1" dirty="0">
                <a:ea typeface="宋体" pitchFamily="2" charset="-122"/>
              </a:rPr>
              <a:t>3</a:t>
            </a:r>
            <a:endParaRPr lang="zh-CN" altLang="en-US" b="1" dirty="0">
              <a:ea typeface="宋体" pitchFamily="2" charset="-122"/>
            </a:endParaRPr>
          </a:p>
        </p:txBody>
      </p:sp>
      <p:sp>
        <p:nvSpPr>
          <p:cNvPr id="58" name="Oval 16"/>
          <p:cNvSpPr>
            <a:spLocks noChangeArrowheads="1"/>
          </p:cNvSpPr>
          <p:nvPr/>
        </p:nvSpPr>
        <p:spPr bwMode="auto">
          <a:xfrm>
            <a:off x="6767513" y="3863975"/>
            <a:ext cx="360362" cy="360363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6350">
            <a:solidFill>
              <a:schemeClr val="bg2">
                <a:lumMod val="40000"/>
                <a:lumOff val="6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CN" b="1" dirty="0">
                <a:ea typeface="宋体" pitchFamily="2" charset="-122"/>
              </a:rPr>
              <a:t>5</a:t>
            </a:r>
            <a:endParaRPr lang="zh-CN" altLang="en-US" b="1" dirty="0">
              <a:ea typeface="宋体" pitchFamily="2" charset="-122"/>
            </a:endParaRPr>
          </a:p>
        </p:txBody>
      </p:sp>
      <p:cxnSp>
        <p:nvCxnSpPr>
          <p:cNvPr id="60" name="直接箭头连接符 59"/>
          <p:cNvCxnSpPr>
            <a:stCxn id="55" idx="0"/>
            <a:endCxn id="54" idx="3"/>
          </p:cNvCxnSpPr>
          <p:nvPr/>
        </p:nvCxnSpPr>
        <p:spPr>
          <a:xfrm flipV="1">
            <a:off x="6408738" y="3413125"/>
            <a:ext cx="123825" cy="450850"/>
          </a:xfrm>
          <a:prstGeom prst="straightConnector1">
            <a:avLst/>
          </a:prstGeom>
          <a:ln w="19050">
            <a:solidFill>
              <a:schemeClr val="bg2">
                <a:lumMod val="40000"/>
                <a:lumOff val="6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箭头连接符 60"/>
          <p:cNvCxnSpPr>
            <a:stCxn id="58" idx="0"/>
            <a:endCxn id="54" idx="5"/>
          </p:cNvCxnSpPr>
          <p:nvPr/>
        </p:nvCxnSpPr>
        <p:spPr>
          <a:xfrm flipH="1" flipV="1">
            <a:off x="6788150" y="3413125"/>
            <a:ext cx="160338" cy="450850"/>
          </a:xfrm>
          <a:prstGeom prst="straightConnector1">
            <a:avLst/>
          </a:prstGeom>
          <a:ln w="19050">
            <a:solidFill>
              <a:schemeClr val="bg2">
                <a:lumMod val="40000"/>
                <a:lumOff val="6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Oval 17"/>
          <p:cNvSpPr>
            <a:spLocks noChangeArrowheads="1"/>
          </p:cNvSpPr>
          <p:nvPr/>
        </p:nvSpPr>
        <p:spPr bwMode="auto">
          <a:xfrm>
            <a:off x="4754563" y="3105150"/>
            <a:ext cx="360362" cy="360363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6350">
            <a:solidFill>
              <a:schemeClr val="bg2">
                <a:lumMod val="40000"/>
                <a:lumOff val="6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CN" b="1" dirty="0">
                <a:ea typeface="宋体" pitchFamily="2" charset="-122"/>
              </a:rPr>
              <a:t>1</a:t>
            </a:r>
            <a:endParaRPr lang="zh-CN" altLang="en-US" b="1" dirty="0">
              <a:ea typeface="宋体" pitchFamily="2" charset="-122"/>
            </a:endParaRPr>
          </a:p>
        </p:txBody>
      </p:sp>
      <p:sp>
        <p:nvSpPr>
          <p:cNvPr id="172" name="Oval 16"/>
          <p:cNvSpPr>
            <a:spLocks noChangeArrowheads="1"/>
          </p:cNvSpPr>
          <p:nvPr/>
        </p:nvSpPr>
        <p:spPr bwMode="auto">
          <a:xfrm>
            <a:off x="4484688" y="3863975"/>
            <a:ext cx="360362" cy="360363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6350">
            <a:solidFill>
              <a:schemeClr val="bg2">
                <a:lumMod val="40000"/>
                <a:lumOff val="6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CN" b="1" dirty="0">
                <a:ea typeface="宋体" pitchFamily="2" charset="-122"/>
              </a:rPr>
              <a:t>4</a:t>
            </a:r>
            <a:endParaRPr lang="zh-CN" altLang="en-US" b="1" dirty="0">
              <a:ea typeface="宋体" pitchFamily="2" charset="-122"/>
            </a:endParaRPr>
          </a:p>
        </p:txBody>
      </p:sp>
      <p:sp>
        <p:nvSpPr>
          <p:cNvPr id="173" name="Oval 16"/>
          <p:cNvSpPr>
            <a:spLocks noChangeArrowheads="1"/>
          </p:cNvSpPr>
          <p:nvPr/>
        </p:nvSpPr>
        <p:spPr bwMode="auto">
          <a:xfrm>
            <a:off x="5024438" y="3863975"/>
            <a:ext cx="360362" cy="360363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6350">
            <a:solidFill>
              <a:schemeClr val="bg2">
                <a:lumMod val="40000"/>
                <a:lumOff val="6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CN" b="1" dirty="0">
                <a:ea typeface="宋体" pitchFamily="2" charset="-122"/>
              </a:rPr>
              <a:t>9</a:t>
            </a:r>
            <a:endParaRPr lang="zh-CN" altLang="en-US" b="1" dirty="0">
              <a:ea typeface="宋体" pitchFamily="2" charset="-122"/>
            </a:endParaRPr>
          </a:p>
        </p:txBody>
      </p:sp>
      <p:cxnSp>
        <p:nvCxnSpPr>
          <p:cNvPr id="174" name="直接箭头连接符 173"/>
          <p:cNvCxnSpPr>
            <a:stCxn id="172" idx="0"/>
            <a:endCxn id="171" idx="3"/>
          </p:cNvCxnSpPr>
          <p:nvPr/>
        </p:nvCxnSpPr>
        <p:spPr>
          <a:xfrm flipV="1">
            <a:off x="4665663" y="3413125"/>
            <a:ext cx="142875" cy="450850"/>
          </a:xfrm>
          <a:prstGeom prst="straightConnector1">
            <a:avLst/>
          </a:prstGeom>
          <a:ln w="19050">
            <a:solidFill>
              <a:schemeClr val="bg2">
                <a:lumMod val="40000"/>
                <a:lumOff val="6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直接箭头连接符 174"/>
          <p:cNvCxnSpPr>
            <a:stCxn id="173" idx="0"/>
            <a:endCxn id="171" idx="5"/>
          </p:cNvCxnSpPr>
          <p:nvPr/>
        </p:nvCxnSpPr>
        <p:spPr>
          <a:xfrm flipH="1" flipV="1">
            <a:off x="5062538" y="3413125"/>
            <a:ext cx="142875" cy="450850"/>
          </a:xfrm>
          <a:prstGeom prst="straightConnector1">
            <a:avLst/>
          </a:prstGeom>
          <a:ln w="19050">
            <a:solidFill>
              <a:schemeClr val="bg2">
                <a:lumMod val="40000"/>
                <a:lumOff val="6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240" name="组合 7"/>
          <p:cNvGrpSpPr>
            <a:grpSpLocks/>
          </p:cNvGrpSpPr>
          <p:nvPr/>
        </p:nvGrpSpPr>
        <p:grpSpPr bwMode="auto">
          <a:xfrm>
            <a:off x="863600" y="4968875"/>
            <a:ext cx="5776913" cy="1773238"/>
            <a:chOff x="863600" y="4968875"/>
            <a:chExt cx="5776913" cy="1772493"/>
          </a:xfrm>
        </p:grpSpPr>
        <p:sp>
          <p:nvSpPr>
            <p:cNvPr id="9241" name="矩形 68"/>
            <p:cNvSpPr>
              <a:spLocks noChangeArrowheads="1"/>
            </p:cNvSpPr>
            <p:nvPr/>
          </p:nvSpPr>
          <p:spPr bwMode="auto">
            <a:xfrm>
              <a:off x="863600" y="4968875"/>
              <a:ext cx="515938" cy="282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algn="r"/>
              <a:r>
                <a:rPr lang="zh-CN" altLang="en-US" sz="1600" b="1">
                  <a:solidFill>
                    <a:schemeClr val="bg2"/>
                  </a:solidFill>
                  <a:ea typeface="仿宋_GB2312" pitchFamily="49" charset="-122"/>
                </a:rPr>
                <a:t>下标</a:t>
              </a:r>
              <a:endParaRPr lang="en-US" altLang="zh-CN" sz="1600" b="1" baseline="-25000">
                <a:solidFill>
                  <a:schemeClr val="bg2"/>
                </a:solidFill>
                <a:ea typeface="仿宋_GB2312" pitchFamily="49" charset="-122"/>
              </a:endParaRPr>
            </a:p>
          </p:txBody>
        </p:sp>
        <p:sp>
          <p:nvSpPr>
            <p:cNvPr id="9242" name="矩形 68"/>
            <p:cNvSpPr>
              <a:spLocks noChangeArrowheads="1"/>
            </p:cNvSpPr>
            <p:nvPr/>
          </p:nvSpPr>
          <p:spPr bwMode="auto">
            <a:xfrm>
              <a:off x="863600" y="5259388"/>
              <a:ext cx="515938" cy="282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algn="r"/>
              <a:r>
                <a:rPr lang="zh-CN" altLang="en-US" sz="1600" b="1">
                  <a:solidFill>
                    <a:schemeClr val="bg2"/>
                  </a:solidFill>
                  <a:ea typeface="仿宋_GB2312" pitchFamily="49" charset="-122"/>
                </a:rPr>
                <a:t>父指针</a:t>
              </a:r>
              <a:endParaRPr lang="en-US" altLang="zh-CN" sz="1600" b="1" baseline="-25000">
                <a:solidFill>
                  <a:schemeClr val="bg2"/>
                </a:solidFill>
                <a:ea typeface="仿宋_GB2312" pitchFamily="49" charset="-122"/>
              </a:endParaRPr>
            </a:p>
          </p:txBody>
        </p:sp>
        <p:grpSp>
          <p:nvGrpSpPr>
            <p:cNvPr id="9243" name="组合 111"/>
            <p:cNvGrpSpPr>
              <a:grpSpLocks/>
            </p:cNvGrpSpPr>
            <p:nvPr/>
          </p:nvGrpSpPr>
          <p:grpSpPr bwMode="auto">
            <a:xfrm>
              <a:off x="1476375" y="4968875"/>
              <a:ext cx="5164138" cy="282575"/>
              <a:chOff x="1476545" y="4968705"/>
              <a:chExt cx="5164048" cy="282575"/>
            </a:xfrm>
          </p:grpSpPr>
          <p:grpSp>
            <p:nvGrpSpPr>
              <p:cNvPr id="9266" name="组合 3"/>
              <p:cNvGrpSpPr>
                <a:grpSpLocks/>
              </p:cNvGrpSpPr>
              <p:nvPr/>
            </p:nvGrpSpPr>
            <p:grpSpPr bwMode="auto">
              <a:xfrm>
                <a:off x="1476545" y="4968705"/>
                <a:ext cx="4648200" cy="282575"/>
                <a:chOff x="1496766" y="3466143"/>
                <a:chExt cx="4649200" cy="282076"/>
              </a:xfrm>
            </p:grpSpPr>
            <p:sp>
              <p:nvSpPr>
                <p:cNvPr id="9268" name="矩形 34"/>
                <p:cNvSpPr>
                  <a:spLocks noChangeArrowheads="1"/>
                </p:cNvSpPr>
                <p:nvPr/>
              </p:nvSpPr>
              <p:spPr bwMode="auto">
                <a:xfrm>
                  <a:off x="2528685" y="3466143"/>
                  <a:ext cx="515959" cy="28207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algn="ctr"/>
                  <a:r>
                    <a:rPr lang="en-US" altLang="zh-CN" sz="1600">
                      <a:solidFill>
                        <a:schemeClr val="bg2"/>
                      </a:solidFill>
                      <a:ea typeface="仿宋_GB2312" pitchFamily="49" charset="-122"/>
                    </a:rPr>
                    <a:t>2</a:t>
                  </a:r>
                  <a:endParaRPr lang="en-US" altLang="zh-CN" sz="1600" baseline="-25000">
                    <a:solidFill>
                      <a:schemeClr val="bg2"/>
                    </a:solidFill>
                    <a:ea typeface="仿宋_GB2312" pitchFamily="49" charset="-122"/>
                  </a:endParaRPr>
                </a:p>
              </p:txBody>
            </p:sp>
            <p:sp>
              <p:nvSpPr>
                <p:cNvPr id="9269" name="矩形 35"/>
                <p:cNvSpPr>
                  <a:spLocks noChangeArrowheads="1"/>
                </p:cNvSpPr>
                <p:nvPr/>
              </p:nvSpPr>
              <p:spPr bwMode="auto">
                <a:xfrm>
                  <a:off x="3044644" y="3466143"/>
                  <a:ext cx="515959" cy="28207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algn="ctr"/>
                  <a:r>
                    <a:rPr lang="en-US" altLang="zh-CN" sz="1600">
                      <a:solidFill>
                        <a:schemeClr val="bg2"/>
                      </a:solidFill>
                      <a:ea typeface="仿宋_GB2312" pitchFamily="49" charset="-122"/>
                    </a:rPr>
                    <a:t>3</a:t>
                  </a:r>
                  <a:endParaRPr lang="en-US" altLang="zh-CN" sz="1600" baseline="-25000">
                    <a:solidFill>
                      <a:schemeClr val="bg2"/>
                    </a:solidFill>
                    <a:ea typeface="仿宋_GB2312" pitchFamily="49" charset="-122"/>
                  </a:endParaRPr>
                </a:p>
              </p:txBody>
            </p:sp>
            <p:sp>
              <p:nvSpPr>
                <p:cNvPr id="9270" name="矩形 36"/>
                <p:cNvSpPr>
                  <a:spLocks noChangeArrowheads="1"/>
                </p:cNvSpPr>
                <p:nvPr/>
              </p:nvSpPr>
              <p:spPr bwMode="auto">
                <a:xfrm>
                  <a:off x="3560603" y="3466143"/>
                  <a:ext cx="515959" cy="28207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algn="ctr"/>
                  <a:r>
                    <a:rPr lang="en-US" altLang="zh-CN" sz="1600">
                      <a:solidFill>
                        <a:schemeClr val="bg2"/>
                      </a:solidFill>
                      <a:ea typeface="仿宋_GB2312" pitchFamily="49" charset="-122"/>
                    </a:rPr>
                    <a:t>4</a:t>
                  </a:r>
                  <a:endParaRPr lang="en-US" altLang="zh-CN" sz="1600" baseline="-25000">
                    <a:solidFill>
                      <a:schemeClr val="bg2"/>
                    </a:solidFill>
                    <a:ea typeface="仿宋_GB2312" pitchFamily="49" charset="-122"/>
                  </a:endParaRPr>
                </a:p>
              </p:txBody>
            </p:sp>
            <p:sp>
              <p:nvSpPr>
                <p:cNvPr id="9271" name="矩形 37"/>
                <p:cNvSpPr>
                  <a:spLocks noChangeArrowheads="1"/>
                </p:cNvSpPr>
                <p:nvPr/>
              </p:nvSpPr>
              <p:spPr bwMode="auto">
                <a:xfrm>
                  <a:off x="4076562" y="3466143"/>
                  <a:ext cx="515959" cy="28207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algn="ctr"/>
                  <a:r>
                    <a:rPr lang="en-US" altLang="zh-CN" sz="1600">
                      <a:solidFill>
                        <a:schemeClr val="bg2"/>
                      </a:solidFill>
                      <a:ea typeface="仿宋_GB2312" pitchFamily="49" charset="-122"/>
                    </a:rPr>
                    <a:t>5</a:t>
                  </a:r>
                  <a:endParaRPr lang="en-US" altLang="zh-CN" sz="1600" baseline="-25000">
                    <a:solidFill>
                      <a:schemeClr val="bg2"/>
                    </a:solidFill>
                    <a:ea typeface="仿宋_GB2312" pitchFamily="49" charset="-122"/>
                  </a:endParaRPr>
                </a:p>
              </p:txBody>
            </p:sp>
            <p:sp>
              <p:nvSpPr>
                <p:cNvPr id="9272" name="矩形 38"/>
                <p:cNvSpPr>
                  <a:spLocks noChangeArrowheads="1"/>
                </p:cNvSpPr>
                <p:nvPr/>
              </p:nvSpPr>
              <p:spPr bwMode="auto">
                <a:xfrm>
                  <a:off x="4592522" y="3466143"/>
                  <a:ext cx="515959" cy="28207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algn="ctr"/>
                  <a:r>
                    <a:rPr lang="en-US" altLang="zh-CN" sz="1600">
                      <a:solidFill>
                        <a:schemeClr val="bg2"/>
                      </a:solidFill>
                      <a:ea typeface="仿宋_GB2312" pitchFamily="49" charset="-122"/>
                    </a:rPr>
                    <a:t>6</a:t>
                  </a:r>
                  <a:endParaRPr lang="en-US" altLang="zh-CN" sz="1600" baseline="-25000">
                    <a:solidFill>
                      <a:schemeClr val="bg2"/>
                    </a:solidFill>
                    <a:ea typeface="仿宋_GB2312" pitchFamily="49" charset="-122"/>
                  </a:endParaRPr>
                </a:p>
              </p:txBody>
            </p:sp>
            <p:sp>
              <p:nvSpPr>
                <p:cNvPr id="9273" name="矩形 65"/>
                <p:cNvSpPr>
                  <a:spLocks noChangeArrowheads="1"/>
                </p:cNvSpPr>
                <p:nvPr/>
              </p:nvSpPr>
              <p:spPr bwMode="auto">
                <a:xfrm>
                  <a:off x="5114048" y="3466143"/>
                  <a:ext cx="515959" cy="28207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algn="ctr"/>
                  <a:r>
                    <a:rPr lang="en-US" altLang="zh-CN" sz="1600">
                      <a:solidFill>
                        <a:schemeClr val="bg2"/>
                      </a:solidFill>
                      <a:ea typeface="仿宋_GB2312" pitchFamily="49" charset="-122"/>
                    </a:rPr>
                    <a:t>7</a:t>
                  </a:r>
                  <a:endParaRPr lang="en-US" altLang="zh-CN" sz="1600" baseline="-25000">
                    <a:solidFill>
                      <a:schemeClr val="bg2"/>
                    </a:solidFill>
                    <a:ea typeface="仿宋_GB2312" pitchFamily="49" charset="-122"/>
                  </a:endParaRPr>
                </a:p>
              </p:txBody>
            </p:sp>
            <p:sp>
              <p:nvSpPr>
                <p:cNvPr id="9274" name="矩形 67"/>
                <p:cNvSpPr>
                  <a:spLocks noChangeArrowheads="1"/>
                </p:cNvSpPr>
                <p:nvPr/>
              </p:nvSpPr>
              <p:spPr bwMode="auto">
                <a:xfrm>
                  <a:off x="2012725" y="3466143"/>
                  <a:ext cx="515959" cy="28207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algn="ctr"/>
                  <a:r>
                    <a:rPr lang="en-US" altLang="zh-CN" sz="1600">
                      <a:solidFill>
                        <a:schemeClr val="bg2"/>
                      </a:solidFill>
                      <a:ea typeface="仿宋_GB2312" pitchFamily="49" charset="-122"/>
                    </a:rPr>
                    <a:t>1</a:t>
                  </a:r>
                  <a:endParaRPr lang="en-US" altLang="zh-CN" sz="1600" baseline="-25000">
                    <a:solidFill>
                      <a:schemeClr val="bg2"/>
                    </a:solidFill>
                    <a:ea typeface="仿宋_GB2312" pitchFamily="49" charset="-122"/>
                  </a:endParaRPr>
                </a:p>
              </p:txBody>
            </p:sp>
            <p:sp>
              <p:nvSpPr>
                <p:cNvPr id="9275" name="矩形 68"/>
                <p:cNvSpPr>
                  <a:spLocks noChangeArrowheads="1"/>
                </p:cNvSpPr>
                <p:nvPr/>
              </p:nvSpPr>
              <p:spPr bwMode="auto">
                <a:xfrm>
                  <a:off x="1496766" y="3466143"/>
                  <a:ext cx="515959" cy="28207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algn="ctr"/>
                  <a:r>
                    <a:rPr lang="en-US" altLang="zh-CN" sz="1600">
                      <a:solidFill>
                        <a:schemeClr val="bg2"/>
                      </a:solidFill>
                      <a:ea typeface="仿宋_GB2312" pitchFamily="49" charset="-122"/>
                    </a:rPr>
                    <a:t>0</a:t>
                  </a:r>
                  <a:endParaRPr lang="en-US" altLang="zh-CN" sz="1600" baseline="-25000">
                    <a:solidFill>
                      <a:schemeClr val="bg2"/>
                    </a:solidFill>
                    <a:ea typeface="仿宋_GB2312" pitchFamily="49" charset="-122"/>
                  </a:endParaRPr>
                </a:p>
              </p:txBody>
            </p:sp>
            <p:sp>
              <p:nvSpPr>
                <p:cNvPr id="9276" name="矩形 65"/>
                <p:cNvSpPr>
                  <a:spLocks noChangeArrowheads="1"/>
                </p:cNvSpPr>
                <p:nvPr/>
              </p:nvSpPr>
              <p:spPr bwMode="auto">
                <a:xfrm>
                  <a:off x="5630007" y="3466143"/>
                  <a:ext cx="515959" cy="28207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algn="ctr"/>
                  <a:r>
                    <a:rPr lang="en-US" altLang="zh-CN" sz="1600">
                      <a:solidFill>
                        <a:schemeClr val="bg2"/>
                      </a:solidFill>
                      <a:ea typeface="仿宋_GB2312" pitchFamily="49" charset="-122"/>
                    </a:rPr>
                    <a:t>8</a:t>
                  </a:r>
                  <a:endParaRPr lang="en-US" altLang="zh-CN" sz="1600" baseline="-25000">
                    <a:solidFill>
                      <a:schemeClr val="bg2"/>
                    </a:solidFill>
                    <a:ea typeface="仿宋_GB2312" pitchFamily="49" charset="-122"/>
                  </a:endParaRPr>
                </a:p>
              </p:txBody>
            </p:sp>
          </p:grpSp>
          <p:sp>
            <p:nvSpPr>
              <p:cNvPr id="9267" name="矩形 65"/>
              <p:cNvSpPr>
                <a:spLocks noChangeArrowheads="1"/>
              </p:cNvSpPr>
              <p:nvPr/>
            </p:nvSpPr>
            <p:spPr bwMode="auto">
              <a:xfrm>
                <a:off x="6124745" y="4968705"/>
                <a:ext cx="515848" cy="2825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algn="ctr"/>
                <a:r>
                  <a:rPr lang="en-US" altLang="zh-CN" sz="1600">
                    <a:solidFill>
                      <a:schemeClr val="bg2"/>
                    </a:solidFill>
                    <a:ea typeface="仿宋_GB2312" pitchFamily="49" charset="-122"/>
                  </a:rPr>
                  <a:t>9</a:t>
                </a:r>
                <a:endParaRPr lang="en-US" altLang="zh-CN" sz="1600" baseline="-25000">
                  <a:solidFill>
                    <a:schemeClr val="bg2"/>
                  </a:solidFill>
                  <a:ea typeface="仿宋_GB2312" pitchFamily="49" charset="-122"/>
                </a:endParaRPr>
              </a:p>
            </p:txBody>
          </p:sp>
        </p:grpSp>
        <p:grpSp>
          <p:nvGrpSpPr>
            <p:cNvPr id="9244" name="组合 124"/>
            <p:cNvGrpSpPr>
              <a:grpSpLocks/>
            </p:cNvGrpSpPr>
            <p:nvPr/>
          </p:nvGrpSpPr>
          <p:grpSpPr bwMode="auto">
            <a:xfrm>
              <a:off x="1476375" y="5251450"/>
              <a:ext cx="5164138" cy="282575"/>
              <a:chOff x="1476545" y="5250661"/>
              <a:chExt cx="5164048" cy="282575"/>
            </a:xfrm>
          </p:grpSpPr>
          <p:grpSp>
            <p:nvGrpSpPr>
              <p:cNvPr id="9255" name="组合 3"/>
              <p:cNvGrpSpPr>
                <a:grpSpLocks/>
              </p:cNvGrpSpPr>
              <p:nvPr/>
            </p:nvGrpSpPr>
            <p:grpSpPr bwMode="auto">
              <a:xfrm>
                <a:off x="1476545" y="5250661"/>
                <a:ext cx="4648200" cy="282575"/>
                <a:chOff x="1496766" y="3466143"/>
                <a:chExt cx="4649200" cy="282076"/>
              </a:xfrm>
            </p:grpSpPr>
            <p:sp>
              <p:nvSpPr>
                <p:cNvPr id="9257" name="矩形 34"/>
                <p:cNvSpPr>
                  <a:spLocks noChangeArrowheads="1"/>
                </p:cNvSpPr>
                <p:nvPr/>
              </p:nvSpPr>
              <p:spPr bwMode="auto">
                <a:xfrm>
                  <a:off x="2528685" y="3466143"/>
                  <a:ext cx="515959" cy="282076"/>
                </a:xfrm>
                <a:prstGeom prst="rect">
                  <a:avLst/>
                </a:prstGeom>
                <a:noFill/>
                <a:ln w="9525">
                  <a:solidFill>
                    <a:schemeClr val="accent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/>
                <a:p>
                  <a:pPr algn="ctr"/>
                  <a:r>
                    <a:rPr lang="en-US" altLang="zh-CN" sz="1600" b="1">
                      <a:solidFill>
                        <a:schemeClr val="bg2"/>
                      </a:solidFill>
                      <a:ea typeface="仿宋_GB2312" pitchFamily="49" charset="-122"/>
                    </a:rPr>
                    <a:t>-3</a:t>
                  </a:r>
                  <a:endParaRPr lang="en-US" altLang="zh-CN" sz="1600" b="1" baseline="-25000">
                    <a:solidFill>
                      <a:schemeClr val="bg2"/>
                    </a:solidFill>
                    <a:ea typeface="仿宋_GB2312" pitchFamily="49" charset="-122"/>
                  </a:endParaRPr>
                </a:p>
              </p:txBody>
            </p:sp>
            <p:sp>
              <p:nvSpPr>
                <p:cNvPr id="9258" name="矩形 35"/>
                <p:cNvSpPr>
                  <a:spLocks noChangeArrowheads="1"/>
                </p:cNvSpPr>
                <p:nvPr/>
              </p:nvSpPr>
              <p:spPr bwMode="auto">
                <a:xfrm>
                  <a:off x="3044644" y="3466143"/>
                  <a:ext cx="515959" cy="282076"/>
                </a:xfrm>
                <a:prstGeom prst="rect">
                  <a:avLst/>
                </a:prstGeom>
                <a:noFill/>
                <a:ln w="9525">
                  <a:solidFill>
                    <a:schemeClr val="accent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/>
                <a:p>
                  <a:pPr algn="ctr"/>
                  <a:r>
                    <a:rPr lang="en-US" altLang="zh-CN" sz="1600" b="1">
                      <a:solidFill>
                        <a:schemeClr val="bg2"/>
                      </a:solidFill>
                      <a:ea typeface="仿宋_GB2312" pitchFamily="49" charset="-122"/>
                    </a:rPr>
                    <a:t>2</a:t>
                  </a:r>
                  <a:endParaRPr lang="en-US" altLang="zh-CN" sz="1600" b="1" baseline="-25000">
                    <a:solidFill>
                      <a:schemeClr val="bg2"/>
                    </a:solidFill>
                    <a:ea typeface="仿宋_GB2312" pitchFamily="49" charset="-122"/>
                  </a:endParaRPr>
                </a:p>
              </p:txBody>
            </p:sp>
            <p:sp>
              <p:nvSpPr>
                <p:cNvPr id="9259" name="矩形 36"/>
                <p:cNvSpPr>
                  <a:spLocks noChangeArrowheads="1"/>
                </p:cNvSpPr>
                <p:nvPr/>
              </p:nvSpPr>
              <p:spPr bwMode="auto">
                <a:xfrm>
                  <a:off x="3560603" y="3466143"/>
                  <a:ext cx="515959" cy="282076"/>
                </a:xfrm>
                <a:prstGeom prst="rect">
                  <a:avLst/>
                </a:prstGeom>
                <a:noFill/>
                <a:ln w="9525">
                  <a:solidFill>
                    <a:schemeClr val="accent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/>
                <a:p>
                  <a:pPr algn="ctr"/>
                  <a:r>
                    <a:rPr lang="en-US" altLang="zh-CN" sz="1600" b="1">
                      <a:solidFill>
                        <a:schemeClr val="bg2"/>
                      </a:solidFill>
                      <a:ea typeface="仿宋_GB2312" pitchFamily="49" charset="-122"/>
                    </a:rPr>
                    <a:t>1</a:t>
                  </a:r>
                  <a:endParaRPr lang="en-US" altLang="zh-CN" sz="1600" b="1" baseline="-25000">
                    <a:solidFill>
                      <a:schemeClr val="bg2"/>
                    </a:solidFill>
                    <a:ea typeface="仿宋_GB2312" pitchFamily="49" charset="-122"/>
                  </a:endParaRPr>
                </a:p>
              </p:txBody>
            </p:sp>
            <p:sp>
              <p:nvSpPr>
                <p:cNvPr id="9260" name="矩形 37"/>
                <p:cNvSpPr>
                  <a:spLocks noChangeArrowheads="1"/>
                </p:cNvSpPr>
                <p:nvPr/>
              </p:nvSpPr>
              <p:spPr bwMode="auto">
                <a:xfrm>
                  <a:off x="4076562" y="3466143"/>
                  <a:ext cx="515959" cy="282076"/>
                </a:xfrm>
                <a:prstGeom prst="rect">
                  <a:avLst/>
                </a:prstGeom>
                <a:noFill/>
                <a:ln w="9525">
                  <a:solidFill>
                    <a:schemeClr val="accent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/>
                <a:p>
                  <a:pPr algn="ctr"/>
                  <a:r>
                    <a:rPr lang="en-US" altLang="zh-CN" sz="1600" b="1">
                      <a:solidFill>
                        <a:schemeClr val="bg2"/>
                      </a:solidFill>
                      <a:ea typeface="仿宋_GB2312" pitchFamily="49" charset="-122"/>
                    </a:rPr>
                    <a:t>2</a:t>
                  </a:r>
                  <a:endParaRPr lang="en-US" altLang="zh-CN" sz="1600" b="1" baseline="-25000">
                    <a:solidFill>
                      <a:schemeClr val="bg2"/>
                    </a:solidFill>
                    <a:ea typeface="仿宋_GB2312" pitchFamily="49" charset="-122"/>
                  </a:endParaRPr>
                </a:p>
              </p:txBody>
            </p:sp>
            <p:sp>
              <p:nvSpPr>
                <p:cNvPr id="9261" name="矩形 38"/>
                <p:cNvSpPr>
                  <a:spLocks noChangeArrowheads="1"/>
                </p:cNvSpPr>
                <p:nvPr/>
              </p:nvSpPr>
              <p:spPr bwMode="auto">
                <a:xfrm>
                  <a:off x="4592522" y="3466143"/>
                  <a:ext cx="515959" cy="282076"/>
                </a:xfrm>
                <a:prstGeom prst="rect">
                  <a:avLst/>
                </a:prstGeom>
                <a:noFill/>
                <a:ln w="9525">
                  <a:solidFill>
                    <a:schemeClr val="accent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/>
                <a:p>
                  <a:pPr algn="ctr"/>
                  <a:r>
                    <a:rPr lang="en-US" altLang="zh-CN" sz="1600" b="1">
                      <a:solidFill>
                        <a:schemeClr val="bg2"/>
                      </a:solidFill>
                      <a:ea typeface="仿宋_GB2312" pitchFamily="49" charset="-122"/>
                    </a:rPr>
                    <a:t>0</a:t>
                  </a:r>
                  <a:endParaRPr lang="en-US" altLang="zh-CN" sz="1600" b="1" baseline="-25000">
                    <a:solidFill>
                      <a:schemeClr val="bg2"/>
                    </a:solidFill>
                    <a:ea typeface="仿宋_GB2312" pitchFamily="49" charset="-122"/>
                  </a:endParaRPr>
                </a:p>
              </p:txBody>
            </p:sp>
            <p:sp>
              <p:nvSpPr>
                <p:cNvPr id="9262" name="矩形 65"/>
                <p:cNvSpPr>
                  <a:spLocks noChangeArrowheads="1"/>
                </p:cNvSpPr>
                <p:nvPr/>
              </p:nvSpPr>
              <p:spPr bwMode="auto">
                <a:xfrm>
                  <a:off x="5114048" y="3466143"/>
                  <a:ext cx="515959" cy="282076"/>
                </a:xfrm>
                <a:prstGeom prst="rect">
                  <a:avLst/>
                </a:prstGeom>
                <a:noFill/>
                <a:ln w="9525">
                  <a:solidFill>
                    <a:schemeClr val="accent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/>
                <a:p>
                  <a:pPr algn="ctr"/>
                  <a:r>
                    <a:rPr lang="en-US" altLang="zh-CN" sz="1600" b="1">
                      <a:solidFill>
                        <a:schemeClr val="bg2"/>
                      </a:solidFill>
                      <a:ea typeface="仿宋_GB2312" pitchFamily="49" charset="-122"/>
                    </a:rPr>
                    <a:t>0</a:t>
                  </a:r>
                  <a:endParaRPr lang="en-US" altLang="zh-CN" sz="1600" b="1" baseline="-25000">
                    <a:solidFill>
                      <a:schemeClr val="bg2"/>
                    </a:solidFill>
                    <a:ea typeface="仿宋_GB2312" pitchFamily="49" charset="-122"/>
                  </a:endParaRPr>
                </a:p>
              </p:txBody>
            </p:sp>
            <p:sp>
              <p:nvSpPr>
                <p:cNvPr id="9263" name="矩形 67"/>
                <p:cNvSpPr>
                  <a:spLocks noChangeArrowheads="1"/>
                </p:cNvSpPr>
                <p:nvPr/>
              </p:nvSpPr>
              <p:spPr bwMode="auto">
                <a:xfrm>
                  <a:off x="2012725" y="3466143"/>
                  <a:ext cx="515959" cy="282076"/>
                </a:xfrm>
                <a:prstGeom prst="rect">
                  <a:avLst/>
                </a:prstGeom>
                <a:noFill/>
                <a:ln w="9525">
                  <a:solidFill>
                    <a:schemeClr val="accent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/>
                <a:p>
                  <a:pPr algn="ctr"/>
                  <a:r>
                    <a:rPr lang="en-US" altLang="zh-CN" sz="1600" b="1">
                      <a:solidFill>
                        <a:schemeClr val="bg2"/>
                      </a:solidFill>
                      <a:ea typeface="仿宋_GB2312" pitchFamily="49" charset="-122"/>
                    </a:rPr>
                    <a:t>-3</a:t>
                  </a:r>
                </a:p>
              </p:txBody>
            </p:sp>
            <p:sp>
              <p:nvSpPr>
                <p:cNvPr id="9264" name="矩形 68"/>
                <p:cNvSpPr>
                  <a:spLocks noChangeArrowheads="1"/>
                </p:cNvSpPr>
                <p:nvPr/>
              </p:nvSpPr>
              <p:spPr bwMode="auto">
                <a:xfrm>
                  <a:off x="1496766" y="3466143"/>
                  <a:ext cx="515959" cy="282076"/>
                </a:xfrm>
                <a:prstGeom prst="rect">
                  <a:avLst/>
                </a:prstGeom>
                <a:noFill/>
                <a:ln w="9525">
                  <a:solidFill>
                    <a:schemeClr val="accent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/>
                <a:p>
                  <a:pPr algn="ctr"/>
                  <a:r>
                    <a:rPr lang="en-US" altLang="zh-CN" sz="1600" b="1">
                      <a:solidFill>
                        <a:schemeClr val="bg2"/>
                      </a:solidFill>
                      <a:ea typeface="仿宋_GB2312" pitchFamily="49" charset="-122"/>
                    </a:rPr>
                    <a:t>-4</a:t>
                  </a:r>
                </a:p>
              </p:txBody>
            </p:sp>
            <p:sp>
              <p:nvSpPr>
                <p:cNvPr id="9265" name="矩形 65"/>
                <p:cNvSpPr>
                  <a:spLocks noChangeArrowheads="1"/>
                </p:cNvSpPr>
                <p:nvPr/>
              </p:nvSpPr>
              <p:spPr bwMode="auto">
                <a:xfrm>
                  <a:off x="5630007" y="3466143"/>
                  <a:ext cx="515959" cy="282076"/>
                </a:xfrm>
                <a:prstGeom prst="rect">
                  <a:avLst/>
                </a:prstGeom>
                <a:noFill/>
                <a:ln w="9525">
                  <a:solidFill>
                    <a:schemeClr val="accent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/>
                <a:p>
                  <a:pPr algn="ctr"/>
                  <a:r>
                    <a:rPr lang="en-US" altLang="zh-CN" sz="1600" b="1">
                      <a:solidFill>
                        <a:schemeClr val="bg2"/>
                      </a:solidFill>
                      <a:ea typeface="仿宋_GB2312" pitchFamily="49" charset="-122"/>
                    </a:rPr>
                    <a:t>0</a:t>
                  </a:r>
                  <a:endParaRPr lang="en-US" altLang="zh-CN" sz="1600" b="1" baseline="-25000">
                    <a:solidFill>
                      <a:schemeClr val="bg2"/>
                    </a:solidFill>
                    <a:ea typeface="仿宋_GB2312" pitchFamily="49" charset="-122"/>
                  </a:endParaRPr>
                </a:p>
              </p:txBody>
            </p:sp>
          </p:grpSp>
          <p:sp>
            <p:nvSpPr>
              <p:cNvPr id="9256" name="矩形 65"/>
              <p:cNvSpPr>
                <a:spLocks noChangeArrowheads="1"/>
              </p:cNvSpPr>
              <p:nvPr/>
            </p:nvSpPr>
            <p:spPr bwMode="auto">
              <a:xfrm>
                <a:off x="6124745" y="5250661"/>
                <a:ext cx="515848" cy="282575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pPr algn="ctr"/>
                <a:r>
                  <a:rPr lang="en-US" altLang="zh-CN" sz="1600" b="1">
                    <a:solidFill>
                      <a:schemeClr val="bg2"/>
                    </a:solidFill>
                    <a:ea typeface="仿宋_GB2312" pitchFamily="49" charset="-122"/>
                  </a:rPr>
                  <a:t>1</a:t>
                </a:r>
                <a:endParaRPr lang="en-US" altLang="zh-CN" sz="1600" b="1" baseline="-25000">
                  <a:solidFill>
                    <a:schemeClr val="bg2"/>
                  </a:solidFill>
                  <a:ea typeface="仿宋_GB2312" pitchFamily="49" charset="-122"/>
                </a:endParaRPr>
              </a:p>
            </p:txBody>
          </p:sp>
        </p:grpSp>
        <p:cxnSp>
          <p:nvCxnSpPr>
            <p:cNvPr id="146" name="肘形连接符 145"/>
            <p:cNvCxnSpPr>
              <a:stCxn id="9258" idx="2"/>
            </p:cNvCxnSpPr>
            <p:nvPr/>
          </p:nvCxnSpPr>
          <p:spPr>
            <a:xfrm rot="5400000">
              <a:off x="3054354" y="5306775"/>
              <a:ext cx="12695" cy="454025"/>
            </a:xfrm>
            <a:prstGeom prst="bentConnector3">
              <a:avLst>
                <a:gd name="adj1" fmla="val 1300992"/>
              </a:avLst>
            </a:prstGeom>
            <a:ln w="19050">
              <a:solidFill>
                <a:schemeClr val="bg2">
                  <a:lumMod val="40000"/>
                  <a:lumOff val="6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肘形连接符 148"/>
            <p:cNvCxnSpPr>
              <a:stCxn id="9260" idx="2"/>
            </p:cNvCxnSpPr>
            <p:nvPr/>
          </p:nvCxnSpPr>
          <p:spPr>
            <a:xfrm rot="5400000">
              <a:off x="3509966" y="4730513"/>
              <a:ext cx="12695" cy="1606550"/>
            </a:xfrm>
            <a:prstGeom prst="bentConnector3">
              <a:avLst>
                <a:gd name="adj1" fmla="val 1586150"/>
              </a:avLst>
            </a:prstGeom>
            <a:ln w="19050">
              <a:solidFill>
                <a:schemeClr val="bg2">
                  <a:lumMod val="40000"/>
                  <a:lumOff val="6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肘形连接符 151"/>
            <p:cNvCxnSpPr>
              <a:stCxn id="9259" idx="2"/>
            </p:cNvCxnSpPr>
            <p:nvPr/>
          </p:nvCxnSpPr>
          <p:spPr>
            <a:xfrm rot="5400000">
              <a:off x="3047210" y="4783694"/>
              <a:ext cx="12695" cy="1500187"/>
            </a:xfrm>
            <a:prstGeom prst="bentConnector3">
              <a:avLst>
                <a:gd name="adj1" fmla="val 5293063"/>
              </a:avLst>
            </a:prstGeom>
            <a:ln w="19050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肘形连接符 155"/>
            <p:cNvCxnSpPr>
              <a:stCxn id="9256" idx="2"/>
            </p:cNvCxnSpPr>
            <p:nvPr/>
          </p:nvCxnSpPr>
          <p:spPr>
            <a:xfrm rot="5400000">
              <a:off x="4279110" y="3429556"/>
              <a:ext cx="12695" cy="4208463"/>
            </a:xfrm>
            <a:prstGeom prst="bentConnector3">
              <a:avLst>
                <a:gd name="adj1" fmla="val 5792110"/>
              </a:avLst>
            </a:prstGeom>
            <a:ln w="19050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249" name="组合 56"/>
            <p:cNvGrpSpPr>
              <a:grpSpLocks/>
            </p:cNvGrpSpPr>
            <p:nvPr/>
          </p:nvGrpSpPr>
          <p:grpSpPr bwMode="auto">
            <a:xfrm>
              <a:off x="1734467" y="5527676"/>
              <a:ext cx="4132287" cy="1213692"/>
              <a:chOff x="1734467" y="5527673"/>
              <a:chExt cx="4132287" cy="817651"/>
            </a:xfrm>
          </p:grpSpPr>
          <p:cxnSp>
            <p:nvCxnSpPr>
              <p:cNvPr id="59" name="直接连接符 58"/>
              <p:cNvCxnSpPr/>
              <p:nvPr/>
            </p:nvCxnSpPr>
            <p:spPr bwMode="auto">
              <a:xfrm flipH="1">
                <a:off x="1735138" y="6345324"/>
                <a:ext cx="4132262" cy="0"/>
              </a:xfrm>
              <a:prstGeom prst="line">
                <a:avLst/>
              </a:prstGeom>
              <a:ln w="19050">
                <a:solidFill>
                  <a:srgbClr val="0066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直接箭头连接符 61"/>
              <p:cNvCxnSpPr/>
              <p:nvPr/>
            </p:nvCxnSpPr>
            <p:spPr bwMode="auto">
              <a:xfrm flipV="1">
                <a:off x="1735138" y="5532860"/>
                <a:ext cx="0" cy="812464"/>
              </a:xfrm>
              <a:prstGeom prst="straightConnector1">
                <a:avLst/>
              </a:prstGeom>
              <a:ln w="19050">
                <a:solidFill>
                  <a:srgbClr val="0066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直接连接符 63"/>
              <p:cNvCxnSpPr/>
              <p:nvPr/>
            </p:nvCxnSpPr>
            <p:spPr bwMode="auto">
              <a:xfrm>
                <a:off x="5867400" y="5532860"/>
                <a:ext cx="0" cy="802843"/>
              </a:xfrm>
              <a:prstGeom prst="line">
                <a:avLst/>
              </a:prstGeom>
              <a:ln w="19050">
                <a:solidFill>
                  <a:srgbClr val="0066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直接连接符 64"/>
              <p:cNvCxnSpPr/>
              <p:nvPr/>
            </p:nvCxnSpPr>
            <p:spPr bwMode="auto">
              <a:xfrm>
                <a:off x="5351463" y="5527514"/>
                <a:ext cx="0" cy="802843"/>
              </a:xfrm>
              <a:prstGeom prst="line">
                <a:avLst/>
              </a:prstGeom>
              <a:ln w="19050">
                <a:solidFill>
                  <a:srgbClr val="0066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直接连接符 65"/>
              <p:cNvCxnSpPr/>
              <p:nvPr/>
            </p:nvCxnSpPr>
            <p:spPr bwMode="auto">
              <a:xfrm>
                <a:off x="4845050" y="5532860"/>
                <a:ext cx="0" cy="802843"/>
              </a:xfrm>
              <a:prstGeom prst="line">
                <a:avLst/>
              </a:prstGeom>
              <a:ln w="19050">
                <a:solidFill>
                  <a:srgbClr val="0066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42585410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并查集</a:t>
            </a:r>
          </a:p>
        </p:txBody>
      </p:sp>
      <p:sp>
        <p:nvSpPr>
          <p:cNvPr id="1024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>
                <a:latin typeface="Arial" charset="0"/>
              </a:rPr>
              <a:t>用树表示集合</a:t>
            </a:r>
            <a:endParaRPr lang="en-US" altLang="zh-CN">
              <a:latin typeface="Arial" charset="0"/>
            </a:endParaRPr>
          </a:p>
          <a:p>
            <a:pPr lvl="1"/>
            <a:r>
              <a:rPr lang="zh-CN" altLang="en-US">
                <a:latin typeface="Arial" charset="0"/>
              </a:rPr>
              <a:t>合并</a:t>
            </a:r>
            <a:r>
              <a:rPr lang="en-US" altLang="zh-CN">
                <a:latin typeface="Arial" charset="0"/>
              </a:rPr>
              <a:t>s</a:t>
            </a:r>
            <a:r>
              <a:rPr lang="en-US" altLang="zh-CN" baseline="-25000">
                <a:latin typeface="Arial" charset="0"/>
              </a:rPr>
              <a:t>1</a:t>
            </a:r>
            <a:r>
              <a:rPr lang="en-US" altLang="zh-CN">
                <a:latin typeface="Arial" charset="0"/>
              </a:rPr>
              <a:t>={0,6,7,8}</a:t>
            </a:r>
            <a:r>
              <a:rPr lang="en-US" altLang="zh-CN">
                <a:latin typeface="Arial" charset="0"/>
                <a:sym typeface="Symbol" pitchFamily="18" charset="2"/>
              </a:rPr>
              <a:t>  </a:t>
            </a:r>
            <a:r>
              <a:rPr lang="en-US" altLang="zh-CN">
                <a:latin typeface="Arial" charset="0"/>
              </a:rPr>
              <a:t>s</a:t>
            </a:r>
            <a:r>
              <a:rPr lang="en-US" altLang="zh-CN" baseline="-25000">
                <a:latin typeface="Arial" charset="0"/>
              </a:rPr>
              <a:t>2</a:t>
            </a:r>
            <a:r>
              <a:rPr lang="en-US" altLang="zh-CN">
                <a:latin typeface="Arial" charset="0"/>
                <a:sym typeface="Symbol" pitchFamily="18" charset="2"/>
              </a:rPr>
              <a:t>=</a:t>
            </a:r>
            <a:r>
              <a:rPr lang="en-US" altLang="zh-CN">
                <a:latin typeface="Arial" charset="0"/>
              </a:rPr>
              <a:t>{1,4,9}</a:t>
            </a:r>
          </a:p>
          <a:p>
            <a:pPr lvl="2"/>
            <a:r>
              <a:rPr lang="en-US" altLang="zh-CN">
                <a:latin typeface="Arial" charset="0"/>
              </a:rPr>
              <a:t>s</a:t>
            </a:r>
            <a:r>
              <a:rPr lang="en-US" altLang="zh-CN" baseline="-25000">
                <a:latin typeface="Arial" charset="0"/>
              </a:rPr>
              <a:t>2</a:t>
            </a:r>
            <a:r>
              <a:rPr lang="zh-CN" altLang="en-US">
                <a:latin typeface="Arial" charset="0"/>
              </a:rPr>
              <a:t>作为</a:t>
            </a:r>
            <a:r>
              <a:rPr lang="en-US" altLang="zh-CN">
                <a:latin typeface="Arial" charset="0"/>
              </a:rPr>
              <a:t>s</a:t>
            </a:r>
            <a:r>
              <a:rPr lang="en-US" altLang="zh-CN" baseline="-25000">
                <a:latin typeface="Arial" charset="0"/>
              </a:rPr>
              <a:t>1</a:t>
            </a:r>
            <a:r>
              <a:rPr lang="zh-CN" altLang="en-US">
                <a:latin typeface="Arial" charset="0"/>
              </a:rPr>
              <a:t>根的子树，或相反</a:t>
            </a:r>
            <a:endParaRPr lang="en-US" altLang="zh-CN">
              <a:latin typeface="Arial" charset="0"/>
            </a:endParaRPr>
          </a:p>
          <a:p>
            <a:pPr lvl="2"/>
            <a:endParaRPr lang="zh-CN" altLang="en-US">
              <a:latin typeface="Arial" charset="0"/>
            </a:endParaRPr>
          </a:p>
        </p:txBody>
      </p:sp>
      <p:sp>
        <p:nvSpPr>
          <p:cNvPr id="10244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fld id="{004DE097-3A37-4314-AB62-BAC4CAD5FFF9}" type="slidenum">
              <a:rPr lang="en-US" altLang="zh-CN" smtClean="0">
                <a:solidFill>
                  <a:srgbClr val="006600"/>
                </a:solidFill>
                <a:latin typeface="Courier New" pitchFamily="49" charset="0"/>
                <a:ea typeface="华文新魏" pitchFamily="2" charset="-122"/>
              </a:rPr>
              <a:pPr eaLnBrk="1" hangingPunct="1"/>
              <a:t>23</a:t>
            </a:fld>
            <a:endParaRPr lang="en-US" altLang="zh-CN">
              <a:solidFill>
                <a:srgbClr val="006600"/>
              </a:solidFill>
              <a:latin typeface="Courier New" pitchFamily="49" charset="0"/>
              <a:ea typeface="华文新魏" pitchFamily="2" charset="-122"/>
            </a:endParaRPr>
          </a:p>
        </p:txBody>
      </p:sp>
      <p:sp>
        <p:nvSpPr>
          <p:cNvPr id="7" name="Oval 16"/>
          <p:cNvSpPr>
            <a:spLocks noChangeArrowheads="1"/>
          </p:cNvSpPr>
          <p:nvPr/>
        </p:nvSpPr>
        <p:spPr bwMode="auto">
          <a:xfrm>
            <a:off x="3368675" y="3863975"/>
            <a:ext cx="358775" cy="360363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6350">
            <a:solidFill>
              <a:schemeClr val="bg2">
                <a:lumMod val="40000"/>
                <a:lumOff val="6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CN" b="1" dirty="0">
                <a:ea typeface="宋体" pitchFamily="2" charset="-122"/>
              </a:rPr>
              <a:t>8</a:t>
            </a:r>
            <a:endParaRPr lang="zh-CN" altLang="en-US" b="1" dirty="0">
              <a:ea typeface="宋体" pitchFamily="2" charset="-122"/>
            </a:endParaRPr>
          </a:p>
        </p:txBody>
      </p:sp>
      <p:sp>
        <p:nvSpPr>
          <p:cNvPr id="12" name="Oval 16"/>
          <p:cNvSpPr>
            <a:spLocks noChangeArrowheads="1"/>
          </p:cNvSpPr>
          <p:nvPr/>
        </p:nvSpPr>
        <p:spPr bwMode="auto">
          <a:xfrm>
            <a:off x="2216150" y="3863975"/>
            <a:ext cx="360363" cy="360363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6350">
            <a:solidFill>
              <a:schemeClr val="bg2">
                <a:lumMod val="40000"/>
                <a:lumOff val="6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CN" b="1" dirty="0">
                <a:ea typeface="宋体" pitchFamily="2" charset="-122"/>
              </a:rPr>
              <a:t>6</a:t>
            </a:r>
            <a:endParaRPr lang="zh-CN" altLang="en-US" b="1" dirty="0">
              <a:ea typeface="宋体" pitchFamily="2" charset="-122"/>
            </a:endParaRPr>
          </a:p>
        </p:txBody>
      </p:sp>
      <p:sp>
        <p:nvSpPr>
          <p:cNvPr id="13" name="Oval 17"/>
          <p:cNvSpPr>
            <a:spLocks noChangeArrowheads="1"/>
          </p:cNvSpPr>
          <p:nvPr/>
        </p:nvSpPr>
        <p:spPr bwMode="auto">
          <a:xfrm>
            <a:off x="2792413" y="3863975"/>
            <a:ext cx="360362" cy="360363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6350">
            <a:solidFill>
              <a:schemeClr val="bg2">
                <a:lumMod val="40000"/>
                <a:lumOff val="6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CN" b="1" dirty="0">
                <a:ea typeface="宋体" pitchFamily="2" charset="-122"/>
              </a:rPr>
              <a:t>7</a:t>
            </a:r>
            <a:endParaRPr lang="zh-CN" altLang="en-US" b="1" dirty="0">
              <a:ea typeface="宋体" pitchFamily="2" charset="-122"/>
            </a:endParaRPr>
          </a:p>
        </p:txBody>
      </p:sp>
      <p:sp>
        <p:nvSpPr>
          <p:cNvPr id="26" name="Oval 16"/>
          <p:cNvSpPr>
            <a:spLocks noChangeArrowheads="1"/>
          </p:cNvSpPr>
          <p:nvPr/>
        </p:nvSpPr>
        <p:spPr bwMode="auto">
          <a:xfrm>
            <a:off x="2792413" y="3105150"/>
            <a:ext cx="360362" cy="360363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6350">
            <a:solidFill>
              <a:schemeClr val="bg2">
                <a:lumMod val="40000"/>
                <a:lumOff val="6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CN" b="1" dirty="0">
                <a:ea typeface="宋体" pitchFamily="2" charset="-122"/>
              </a:rPr>
              <a:t>0</a:t>
            </a:r>
            <a:endParaRPr lang="zh-CN" altLang="en-US" b="1" dirty="0">
              <a:ea typeface="宋体" pitchFamily="2" charset="-122"/>
            </a:endParaRPr>
          </a:p>
        </p:txBody>
      </p:sp>
      <p:sp>
        <p:nvSpPr>
          <p:cNvPr id="10249" name="TextBox 36"/>
          <p:cNvSpPr txBox="1">
            <a:spLocks noChangeArrowheads="1"/>
          </p:cNvSpPr>
          <p:nvPr/>
        </p:nvSpPr>
        <p:spPr bwMode="auto">
          <a:xfrm>
            <a:off x="3251200" y="4400550"/>
            <a:ext cx="11144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zh-CN" altLang="en-US" b="1">
                <a:solidFill>
                  <a:srgbClr val="000099"/>
                </a:solidFill>
                <a:ea typeface="黑体" pitchFamily="49" charset="-122"/>
              </a:rPr>
              <a:t>合并集合</a:t>
            </a:r>
          </a:p>
        </p:txBody>
      </p:sp>
      <p:cxnSp>
        <p:nvCxnSpPr>
          <p:cNvPr id="9" name="直接箭头连接符 8"/>
          <p:cNvCxnSpPr>
            <a:stCxn id="12" idx="0"/>
            <a:endCxn id="26" idx="3"/>
          </p:cNvCxnSpPr>
          <p:nvPr/>
        </p:nvCxnSpPr>
        <p:spPr>
          <a:xfrm flipV="1">
            <a:off x="2397125" y="3413125"/>
            <a:ext cx="447675" cy="450850"/>
          </a:xfrm>
          <a:prstGeom prst="straightConnector1">
            <a:avLst/>
          </a:prstGeom>
          <a:ln w="19050">
            <a:solidFill>
              <a:schemeClr val="bg2">
                <a:lumMod val="40000"/>
                <a:lumOff val="6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>
            <a:stCxn id="13" idx="0"/>
            <a:endCxn id="26" idx="4"/>
          </p:cNvCxnSpPr>
          <p:nvPr/>
        </p:nvCxnSpPr>
        <p:spPr>
          <a:xfrm flipV="1">
            <a:off x="2973388" y="3465513"/>
            <a:ext cx="0" cy="398462"/>
          </a:xfrm>
          <a:prstGeom prst="straightConnector1">
            <a:avLst/>
          </a:prstGeom>
          <a:ln w="19050">
            <a:solidFill>
              <a:schemeClr val="bg2">
                <a:lumMod val="40000"/>
                <a:lumOff val="6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>
            <a:stCxn id="7" idx="0"/>
            <a:endCxn id="26" idx="5"/>
          </p:cNvCxnSpPr>
          <p:nvPr/>
        </p:nvCxnSpPr>
        <p:spPr>
          <a:xfrm flipH="1" flipV="1">
            <a:off x="3100388" y="3413125"/>
            <a:ext cx="447675" cy="450850"/>
          </a:xfrm>
          <a:prstGeom prst="straightConnector1">
            <a:avLst/>
          </a:prstGeom>
          <a:ln w="19050">
            <a:solidFill>
              <a:schemeClr val="bg2">
                <a:lumMod val="40000"/>
                <a:lumOff val="6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右箭头 4"/>
          <p:cNvSpPr/>
          <p:nvPr/>
        </p:nvSpPr>
        <p:spPr bwMode="auto">
          <a:xfrm>
            <a:off x="5618163" y="3525838"/>
            <a:ext cx="439737" cy="225425"/>
          </a:xfrm>
          <a:prstGeom prst="rightArrow">
            <a:avLst/>
          </a:prstGeom>
          <a:solidFill>
            <a:schemeClr val="bg2">
              <a:lumMod val="40000"/>
              <a:lumOff val="60000"/>
            </a:schemeClr>
          </a:solidFill>
          <a:ln w="25400">
            <a:solidFill>
              <a:schemeClr val="bg2">
                <a:lumMod val="40000"/>
                <a:lumOff val="60000"/>
              </a:schemeClr>
            </a:solidFill>
            <a:miter lim="800000"/>
            <a:headEnd/>
            <a:tailEnd/>
          </a:ln>
        </p:spPr>
        <p:txBody>
          <a:bodyPr lIns="18000" tIns="10800" rIns="18000" bIns="10800" anchor="ctr"/>
          <a:lstStyle/>
          <a:p>
            <a:pPr algn="ctr">
              <a:lnSpc>
                <a:spcPct val="96000"/>
              </a:lnSpc>
              <a:defRPr/>
            </a:pPr>
            <a:endParaRPr lang="zh-CN" altLang="en-US" b="1" dirty="0">
              <a:solidFill>
                <a:srgbClr val="000099"/>
              </a:solidFill>
              <a:ea typeface="黑体" pitchFamily="49" charset="-122"/>
            </a:endParaRPr>
          </a:p>
        </p:txBody>
      </p:sp>
      <p:grpSp>
        <p:nvGrpSpPr>
          <p:cNvPr id="77" name="组合 76"/>
          <p:cNvGrpSpPr>
            <a:grpSpLocks/>
          </p:cNvGrpSpPr>
          <p:nvPr/>
        </p:nvGrpSpPr>
        <p:grpSpPr bwMode="auto">
          <a:xfrm>
            <a:off x="6702425" y="1341438"/>
            <a:ext cx="2406650" cy="1858962"/>
            <a:chOff x="6702311" y="1520788"/>
            <a:chExt cx="2406193" cy="1860034"/>
          </a:xfrm>
        </p:grpSpPr>
        <p:sp>
          <p:nvSpPr>
            <p:cNvPr id="59" name="Oval 16"/>
            <p:cNvSpPr>
              <a:spLocks noChangeArrowheads="1"/>
            </p:cNvSpPr>
            <p:nvPr/>
          </p:nvSpPr>
          <p:spPr bwMode="auto">
            <a:xfrm>
              <a:off x="7854617" y="2260990"/>
              <a:ext cx="358707" cy="360570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 w="6350">
              <a:solidFill>
                <a:schemeClr val="bg2">
                  <a:lumMod val="40000"/>
                  <a:lumOff val="6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b="1" dirty="0">
                  <a:ea typeface="宋体" pitchFamily="2" charset="-122"/>
                </a:rPr>
                <a:t>8</a:t>
              </a:r>
              <a:endParaRPr lang="zh-CN" altLang="en-US" b="1" dirty="0">
                <a:ea typeface="宋体" pitchFamily="2" charset="-122"/>
              </a:endParaRPr>
            </a:p>
          </p:txBody>
        </p:sp>
        <p:sp>
          <p:nvSpPr>
            <p:cNvPr id="62" name="Oval 17"/>
            <p:cNvSpPr>
              <a:spLocks noChangeArrowheads="1"/>
            </p:cNvSpPr>
            <p:nvPr/>
          </p:nvSpPr>
          <p:spPr bwMode="auto">
            <a:xfrm>
              <a:off x="8445055" y="2260990"/>
              <a:ext cx="360295" cy="360570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 w="6350">
              <a:solidFill>
                <a:schemeClr val="bg2">
                  <a:lumMod val="40000"/>
                  <a:lumOff val="6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b="1" dirty="0">
                  <a:ea typeface="宋体" pitchFamily="2" charset="-122"/>
                </a:rPr>
                <a:t>1</a:t>
              </a:r>
              <a:endParaRPr lang="zh-CN" altLang="en-US" b="1" dirty="0">
                <a:ea typeface="宋体" pitchFamily="2" charset="-122"/>
              </a:endParaRPr>
            </a:p>
          </p:txBody>
        </p:sp>
        <p:sp>
          <p:nvSpPr>
            <p:cNvPr id="63" name="Oval 16"/>
            <p:cNvSpPr>
              <a:spLocks noChangeArrowheads="1"/>
            </p:cNvSpPr>
            <p:nvPr/>
          </p:nvSpPr>
          <p:spPr bwMode="auto">
            <a:xfrm>
              <a:off x="6702311" y="2260990"/>
              <a:ext cx="360295" cy="360570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 w="6350">
              <a:solidFill>
                <a:schemeClr val="bg2">
                  <a:lumMod val="40000"/>
                  <a:lumOff val="6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b="1" dirty="0">
                  <a:ea typeface="宋体" pitchFamily="2" charset="-122"/>
                </a:rPr>
                <a:t>6</a:t>
              </a:r>
              <a:endParaRPr lang="zh-CN" altLang="en-US" b="1" dirty="0">
                <a:ea typeface="宋体" pitchFamily="2" charset="-122"/>
              </a:endParaRPr>
            </a:p>
          </p:txBody>
        </p:sp>
        <p:sp>
          <p:nvSpPr>
            <p:cNvPr id="64" name="Oval 17"/>
            <p:cNvSpPr>
              <a:spLocks noChangeArrowheads="1"/>
            </p:cNvSpPr>
            <p:nvPr/>
          </p:nvSpPr>
          <p:spPr bwMode="auto">
            <a:xfrm>
              <a:off x="7278465" y="2260990"/>
              <a:ext cx="360294" cy="360570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 w="6350">
              <a:solidFill>
                <a:schemeClr val="bg2">
                  <a:lumMod val="40000"/>
                  <a:lumOff val="6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b="1" dirty="0">
                  <a:ea typeface="宋体" pitchFamily="2" charset="-122"/>
                </a:rPr>
                <a:t>7</a:t>
              </a:r>
              <a:endParaRPr lang="zh-CN" altLang="en-US" b="1" dirty="0">
                <a:ea typeface="宋体" pitchFamily="2" charset="-122"/>
              </a:endParaRPr>
            </a:p>
          </p:txBody>
        </p:sp>
        <p:sp>
          <p:nvSpPr>
            <p:cNvPr id="65" name="Oval 16"/>
            <p:cNvSpPr>
              <a:spLocks noChangeArrowheads="1"/>
            </p:cNvSpPr>
            <p:nvPr/>
          </p:nvSpPr>
          <p:spPr bwMode="auto">
            <a:xfrm>
              <a:off x="8208563" y="3020252"/>
              <a:ext cx="360294" cy="360570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 w="6350">
              <a:solidFill>
                <a:schemeClr val="bg2">
                  <a:lumMod val="40000"/>
                  <a:lumOff val="6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b="1" dirty="0">
                  <a:ea typeface="宋体" pitchFamily="2" charset="-122"/>
                </a:rPr>
                <a:t>4</a:t>
              </a:r>
              <a:endParaRPr lang="zh-CN" altLang="en-US" b="1" dirty="0">
                <a:ea typeface="宋体" pitchFamily="2" charset="-122"/>
              </a:endParaRPr>
            </a:p>
          </p:txBody>
        </p:sp>
        <p:sp>
          <p:nvSpPr>
            <p:cNvPr id="66" name="Oval 16"/>
            <p:cNvSpPr>
              <a:spLocks noChangeArrowheads="1"/>
            </p:cNvSpPr>
            <p:nvPr/>
          </p:nvSpPr>
          <p:spPr bwMode="auto">
            <a:xfrm>
              <a:off x="8748210" y="3020252"/>
              <a:ext cx="360294" cy="360570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 w="6350">
              <a:solidFill>
                <a:schemeClr val="bg2">
                  <a:lumMod val="40000"/>
                  <a:lumOff val="6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b="1" dirty="0">
                  <a:ea typeface="宋体" pitchFamily="2" charset="-122"/>
                </a:rPr>
                <a:t>9</a:t>
              </a:r>
              <a:endParaRPr lang="zh-CN" altLang="en-US" b="1" dirty="0">
                <a:ea typeface="宋体" pitchFamily="2" charset="-122"/>
              </a:endParaRPr>
            </a:p>
          </p:txBody>
        </p:sp>
        <p:sp>
          <p:nvSpPr>
            <p:cNvPr id="67" name="Oval 16"/>
            <p:cNvSpPr>
              <a:spLocks noChangeArrowheads="1"/>
            </p:cNvSpPr>
            <p:nvPr/>
          </p:nvSpPr>
          <p:spPr bwMode="auto">
            <a:xfrm>
              <a:off x="7430836" y="1520788"/>
              <a:ext cx="360294" cy="360570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 w="6350">
              <a:solidFill>
                <a:schemeClr val="bg2">
                  <a:lumMod val="40000"/>
                  <a:lumOff val="6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b="1" dirty="0">
                  <a:ea typeface="宋体" pitchFamily="2" charset="-122"/>
                </a:rPr>
                <a:t>0</a:t>
              </a:r>
              <a:endParaRPr lang="zh-CN" altLang="en-US" b="1" dirty="0">
                <a:ea typeface="宋体" pitchFamily="2" charset="-122"/>
              </a:endParaRPr>
            </a:p>
          </p:txBody>
        </p:sp>
        <p:cxnSp>
          <p:nvCxnSpPr>
            <p:cNvPr id="68" name="直接箭头连接符 67"/>
            <p:cNvCxnSpPr>
              <a:stCxn id="63" idx="0"/>
            </p:cNvCxnSpPr>
            <p:nvPr/>
          </p:nvCxnSpPr>
          <p:spPr>
            <a:xfrm flipV="1">
              <a:off x="6883252" y="1808291"/>
              <a:ext cx="644403" cy="452699"/>
            </a:xfrm>
            <a:prstGeom prst="straightConnector1">
              <a:avLst/>
            </a:prstGeom>
            <a:ln w="19050">
              <a:solidFill>
                <a:schemeClr val="bg2">
                  <a:lumMod val="40000"/>
                  <a:lumOff val="6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箭头连接符 68"/>
            <p:cNvCxnSpPr>
              <a:stCxn id="64" idx="0"/>
            </p:cNvCxnSpPr>
            <p:nvPr/>
          </p:nvCxnSpPr>
          <p:spPr>
            <a:xfrm flipV="1">
              <a:off x="7457818" y="1862297"/>
              <a:ext cx="198400" cy="398693"/>
            </a:xfrm>
            <a:prstGeom prst="straightConnector1">
              <a:avLst/>
            </a:prstGeom>
            <a:ln w="19050">
              <a:solidFill>
                <a:schemeClr val="bg2">
                  <a:lumMod val="40000"/>
                  <a:lumOff val="6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箭头连接符 69"/>
            <p:cNvCxnSpPr>
              <a:stCxn id="59" idx="0"/>
            </p:cNvCxnSpPr>
            <p:nvPr/>
          </p:nvCxnSpPr>
          <p:spPr>
            <a:xfrm flipH="1" flipV="1">
              <a:off x="7656218" y="1862297"/>
              <a:ext cx="377753" cy="398693"/>
            </a:xfrm>
            <a:prstGeom prst="straightConnector1">
              <a:avLst/>
            </a:prstGeom>
            <a:ln w="19050">
              <a:solidFill>
                <a:schemeClr val="bg2">
                  <a:lumMod val="40000"/>
                  <a:lumOff val="6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箭头连接符 70"/>
            <p:cNvCxnSpPr>
              <a:stCxn id="65" idx="0"/>
              <a:endCxn id="62" idx="3"/>
            </p:cNvCxnSpPr>
            <p:nvPr/>
          </p:nvCxnSpPr>
          <p:spPr>
            <a:xfrm flipV="1">
              <a:off x="8387916" y="2569142"/>
              <a:ext cx="111104" cy="451110"/>
            </a:xfrm>
            <a:prstGeom prst="straightConnector1">
              <a:avLst/>
            </a:prstGeom>
            <a:ln w="19050">
              <a:solidFill>
                <a:schemeClr val="bg2">
                  <a:lumMod val="40000"/>
                  <a:lumOff val="6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箭头连接符 71"/>
            <p:cNvCxnSpPr>
              <a:stCxn id="66" idx="0"/>
              <a:endCxn id="62" idx="5"/>
            </p:cNvCxnSpPr>
            <p:nvPr/>
          </p:nvCxnSpPr>
          <p:spPr>
            <a:xfrm flipH="1" flipV="1">
              <a:off x="8752972" y="2569142"/>
              <a:ext cx="174592" cy="451110"/>
            </a:xfrm>
            <a:prstGeom prst="straightConnector1">
              <a:avLst/>
            </a:prstGeom>
            <a:ln w="19050">
              <a:solidFill>
                <a:schemeClr val="bg2">
                  <a:lumMod val="40000"/>
                  <a:lumOff val="6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箭头连接符 73"/>
            <p:cNvCxnSpPr>
              <a:stCxn id="62" idx="0"/>
            </p:cNvCxnSpPr>
            <p:nvPr/>
          </p:nvCxnSpPr>
          <p:spPr>
            <a:xfrm flipH="1" flipV="1">
              <a:off x="7783194" y="1808291"/>
              <a:ext cx="842802" cy="452699"/>
            </a:xfrm>
            <a:prstGeom prst="straightConnector1">
              <a:avLst/>
            </a:prstGeom>
            <a:ln w="19050">
              <a:solidFill>
                <a:schemeClr val="bg2">
                  <a:lumMod val="40000"/>
                  <a:lumOff val="6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8" name="组合 77"/>
          <p:cNvGrpSpPr>
            <a:grpSpLocks/>
          </p:cNvGrpSpPr>
          <p:nvPr/>
        </p:nvGrpSpPr>
        <p:grpSpPr bwMode="auto">
          <a:xfrm>
            <a:off x="7132638" y="4100513"/>
            <a:ext cx="2011362" cy="1874837"/>
            <a:chOff x="7132296" y="4038202"/>
            <a:chExt cx="2012212" cy="1875074"/>
          </a:xfrm>
        </p:grpSpPr>
        <p:sp>
          <p:nvSpPr>
            <p:cNvPr id="87" name="Oval 16"/>
            <p:cNvSpPr>
              <a:spLocks noChangeArrowheads="1"/>
            </p:cNvSpPr>
            <p:nvPr/>
          </p:nvSpPr>
          <p:spPr bwMode="auto">
            <a:xfrm>
              <a:off x="8283719" y="5552868"/>
              <a:ext cx="358927" cy="360408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 w="6350">
              <a:solidFill>
                <a:schemeClr val="bg2">
                  <a:lumMod val="40000"/>
                  <a:lumOff val="6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b="1" dirty="0">
                  <a:ea typeface="宋体" pitchFamily="2" charset="-122"/>
                </a:rPr>
                <a:t>8</a:t>
              </a:r>
              <a:endParaRPr lang="zh-CN" altLang="en-US" b="1" dirty="0">
                <a:ea typeface="宋体" pitchFamily="2" charset="-122"/>
              </a:endParaRPr>
            </a:p>
          </p:txBody>
        </p:sp>
        <p:sp>
          <p:nvSpPr>
            <p:cNvPr id="88" name="Oval 17"/>
            <p:cNvSpPr>
              <a:spLocks noChangeArrowheads="1"/>
            </p:cNvSpPr>
            <p:nvPr/>
          </p:nvSpPr>
          <p:spPr bwMode="auto">
            <a:xfrm>
              <a:off x="8231310" y="4038202"/>
              <a:ext cx="360514" cy="360408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 w="6350">
              <a:solidFill>
                <a:schemeClr val="bg2">
                  <a:lumMod val="40000"/>
                  <a:lumOff val="6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b="1" dirty="0">
                  <a:ea typeface="宋体" pitchFamily="2" charset="-122"/>
                </a:rPr>
                <a:t>1</a:t>
              </a:r>
              <a:endParaRPr lang="zh-CN" altLang="en-US" b="1" dirty="0">
                <a:ea typeface="宋体" pitchFamily="2" charset="-122"/>
              </a:endParaRPr>
            </a:p>
          </p:txBody>
        </p:sp>
        <p:sp>
          <p:nvSpPr>
            <p:cNvPr id="89" name="Oval 16"/>
            <p:cNvSpPr>
              <a:spLocks noChangeArrowheads="1"/>
            </p:cNvSpPr>
            <p:nvPr/>
          </p:nvSpPr>
          <p:spPr bwMode="auto">
            <a:xfrm>
              <a:off x="7132296" y="5552868"/>
              <a:ext cx="360514" cy="360408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 w="6350">
              <a:solidFill>
                <a:schemeClr val="bg2">
                  <a:lumMod val="40000"/>
                  <a:lumOff val="6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b="1" dirty="0">
                  <a:ea typeface="宋体" pitchFamily="2" charset="-122"/>
                </a:rPr>
                <a:t>6</a:t>
              </a:r>
              <a:endParaRPr lang="zh-CN" altLang="en-US" b="1" dirty="0">
                <a:ea typeface="宋体" pitchFamily="2" charset="-122"/>
              </a:endParaRPr>
            </a:p>
          </p:txBody>
        </p:sp>
        <p:sp>
          <p:nvSpPr>
            <p:cNvPr id="90" name="Oval 17"/>
            <p:cNvSpPr>
              <a:spLocks noChangeArrowheads="1"/>
            </p:cNvSpPr>
            <p:nvPr/>
          </p:nvSpPr>
          <p:spPr bwMode="auto">
            <a:xfrm>
              <a:off x="7708802" y="5552868"/>
              <a:ext cx="360515" cy="360408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 w="6350">
              <a:solidFill>
                <a:schemeClr val="bg2">
                  <a:lumMod val="40000"/>
                  <a:lumOff val="6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b="1" dirty="0">
                  <a:ea typeface="宋体" pitchFamily="2" charset="-122"/>
                </a:rPr>
                <a:t>7</a:t>
              </a:r>
              <a:endParaRPr lang="zh-CN" altLang="en-US" b="1" dirty="0">
                <a:ea typeface="宋体" pitchFamily="2" charset="-122"/>
              </a:endParaRPr>
            </a:p>
          </p:txBody>
        </p:sp>
        <p:sp>
          <p:nvSpPr>
            <p:cNvPr id="91" name="Oval 16"/>
            <p:cNvSpPr>
              <a:spLocks noChangeArrowheads="1"/>
            </p:cNvSpPr>
            <p:nvPr/>
          </p:nvSpPr>
          <p:spPr bwMode="auto">
            <a:xfrm>
              <a:off x="8244016" y="4800298"/>
              <a:ext cx="360514" cy="360408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 w="6350">
              <a:solidFill>
                <a:schemeClr val="bg2">
                  <a:lumMod val="40000"/>
                  <a:lumOff val="6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b="1" dirty="0">
                  <a:ea typeface="宋体" pitchFamily="2" charset="-122"/>
                </a:rPr>
                <a:t>4</a:t>
              </a:r>
              <a:endParaRPr lang="zh-CN" altLang="en-US" b="1" dirty="0">
                <a:ea typeface="宋体" pitchFamily="2" charset="-122"/>
              </a:endParaRPr>
            </a:p>
          </p:txBody>
        </p:sp>
        <p:sp>
          <p:nvSpPr>
            <p:cNvPr id="92" name="Oval 16"/>
            <p:cNvSpPr>
              <a:spLocks noChangeArrowheads="1"/>
            </p:cNvSpPr>
            <p:nvPr/>
          </p:nvSpPr>
          <p:spPr bwMode="auto">
            <a:xfrm>
              <a:off x="8783994" y="4800298"/>
              <a:ext cx="360514" cy="360408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 w="6350">
              <a:solidFill>
                <a:schemeClr val="bg2">
                  <a:lumMod val="40000"/>
                  <a:lumOff val="6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b="1" dirty="0">
                  <a:ea typeface="宋体" pitchFamily="2" charset="-122"/>
                </a:rPr>
                <a:t>9</a:t>
              </a:r>
              <a:endParaRPr lang="zh-CN" altLang="en-US" b="1" dirty="0">
                <a:ea typeface="宋体" pitchFamily="2" charset="-122"/>
              </a:endParaRPr>
            </a:p>
          </p:txBody>
        </p:sp>
        <p:sp>
          <p:nvSpPr>
            <p:cNvPr id="93" name="Oval 16"/>
            <p:cNvSpPr>
              <a:spLocks noChangeArrowheads="1"/>
            </p:cNvSpPr>
            <p:nvPr/>
          </p:nvSpPr>
          <p:spPr bwMode="auto">
            <a:xfrm>
              <a:off x="7708802" y="4793948"/>
              <a:ext cx="360515" cy="360408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 w="6350">
              <a:solidFill>
                <a:schemeClr val="bg2">
                  <a:lumMod val="40000"/>
                  <a:lumOff val="6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b="1" dirty="0">
                  <a:ea typeface="宋体" pitchFamily="2" charset="-122"/>
                </a:rPr>
                <a:t>0</a:t>
              </a:r>
              <a:endParaRPr lang="zh-CN" altLang="en-US" b="1" dirty="0">
                <a:ea typeface="宋体" pitchFamily="2" charset="-122"/>
              </a:endParaRPr>
            </a:p>
          </p:txBody>
        </p:sp>
        <p:cxnSp>
          <p:nvCxnSpPr>
            <p:cNvPr id="94" name="直接箭头连接符 93"/>
            <p:cNvCxnSpPr>
              <a:stCxn id="89" idx="0"/>
              <a:endCxn id="93" idx="3"/>
            </p:cNvCxnSpPr>
            <p:nvPr/>
          </p:nvCxnSpPr>
          <p:spPr>
            <a:xfrm flipV="1">
              <a:off x="7311759" y="5100373"/>
              <a:ext cx="449453" cy="452495"/>
            </a:xfrm>
            <a:prstGeom prst="straightConnector1">
              <a:avLst/>
            </a:prstGeom>
            <a:ln w="19050">
              <a:solidFill>
                <a:schemeClr val="bg2">
                  <a:lumMod val="40000"/>
                  <a:lumOff val="6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箭头连接符 94"/>
            <p:cNvCxnSpPr>
              <a:stCxn id="90" idx="0"/>
              <a:endCxn id="93" idx="4"/>
            </p:cNvCxnSpPr>
            <p:nvPr/>
          </p:nvCxnSpPr>
          <p:spPr>
            <a:xfrm flipV="1">
              <a:off x="7888265" y="5154355"/>
              <a:ext cx="0" cy="398513"/>
            </a:xfrm>
            <a:prstGeom prst="straightConnector1">
              <a:avLst/>
            </a:prstGeom>
            <a:ln w="19050">
              <a:solidFill>
                <a:schemeClr val="bg2">
                  <a:lumMod val="40000"/>
                  <a:lumOff val="6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箭头连接符 95"/>
            <p:cNvCxnSpPr>
              <a:stCxn id="87" idx="0"/>
              <a:endCxn id="93" idx="5"/>
            </p:cNvCxnSpPr>
            <p:nvPr/>
          </p:nvCxnSpPr>
          <p:spPr>
            <a:xfrm flipH="1" flipV="1">
              <a:off x="8015319" y="5100373"/>
              <a:ext cx="447864" cy="452495"/>
            </a:xfrm>
            <a:prstGeom prst="straightConnector1">
              <a:avLst/>
            </a:prstGeom>
            <a:ln w="19050">
              <a:solidFill>
                <a:schemeClr val="bg2">
                  <a:lumMod val="40000"/>
                  <a:lumOff val="6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箭头连接符 96"/>
            <p:cNvCxnSpPr>
              <a:stCxn id="91" idx="0"/>
              <a:endCxn id="88" idx="4"/>
            </p:cNvCxnSpPr>
            <p:nvPr/>
          </p:nvCxnSpPr>
          <p:spPr>
            <a:xfrm flipH="1" flipV="1">
              <a:off x="8412362" y="4398610"/>
              <a:ext cx="11117" cy="401689"/>
            </a:xfrm>
            <a:prstGeom prst="straightConnector1">
              <a:avLst/>
            </a:prstGeom>
            <a:ln w="19050">
              <a:solidFill>
                <a:schemeClr val="bg2">
                  <a:lumMod val="40000"/>
                  <a:lumOff val="6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箭头连接符 97"/>
            <p:cNvCxnSpPr>
              <a:stCxn id="92" idx="0"/>
              <a:endCxn id="88" idx="5"/>
            </p:cNvCxnSpPr>
            <p:nvPr/>
          </p:nvCxnSpPr>
          <p:spPr>
            <a:xfrm flipH="1" flipV="1">
              <a:off x="8539415" y="4346216"/>
              <a:ext cx="425630" cy="454082"/>
            </a:xfrm>
            <a:prstGeom prst="straightConnector1">
              <a:avLst/>
            </a:prstGeom>
            <a:ln w="19050">
              <a:solidFill>
                <a:schemeClr val="bg2">
                  <a:lumMod val="40000"/>
                  <a:lumOff val="6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箭头连接符 105"/>
            <p:cNvCxnSpPr>
              <a:stCxn id="93" idx="0"/>
              <a:endCxn id="88" idx="3"/>
            </p:cNvCxnSpPr>
            <p:nvPr/>
          </p:nvCxnSpPr>
          <p:spPr>
            <a:xfrm flipV="1">
              <a:off x="7888265" y="4346216"/>
              <a:ext cx="395454" cy="447732"/>
            </a:xfrm>
            <a:prstGeom prst="straightConnector1">
              <a:avLst/>
            </a:prstGeom>
            <a:ln w="19050">
              <a:solidFill>
                <a:schemeClr val="bg2">
                  <a:lumMod val="40000"/>
                  <a:lumOff val="6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5" name="TextBox 74"/>
          <p:cNvSpPr txBox="1">
            <a:spLocks noChangeArrowheads="1"/>
          </p:cNvSpPr>
          <p:nvPr/>
        </p:nvSpPr>
        <p:spPr bwMode="auto">
          <a:xfrm>
            <a:off x="7164388" y="3232150"/>
            <a:ext cx="18113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zh-CN" altLang="en-US" b="1">
                <a:solidFill>
                  <a:srgbClr val="000099"/>
                </a:solidFill>
                <a:ea typeface="黑体" pitchFamily="49" charset="-122"/>
              </a:rPr>
              <a:t>第一种合并方式</a:t>
            </a:r>
          </a:p>
        </p:txBody>
      </p:sp>
      <p:sp>
        <p:nvSpPr>
          <p:cNvPr id="110" name="TextBox 109"/>
          <p:cNvSpPr txBox="1">
            <a:spLocks noChangeArrowheads="1"/>
          </p:cNvSpPr>
          <p:nvPr/>
        </p:nvSpPr>
        <p:spPr bwMode="auto">
          <a:xfrm>
            <a:off x="7224713" y="6048375"/>
            <a:ext cx="18113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zh-CN" altLang="en-US" b="1">
                <a:solidFill>
                  <a:srgbClr val="000099"/>
                </a:solidFill>
                <a:ea typeface="黑体" pitchFamily="49" charset="-122"/>
              </a:rPr>
              <a:t>第二种合并方式</a:t>
            </a:r>
          </a:p>
        </p:txBody>
      </p:sp>
      <p:sp>
        <p:nvSpPr>
          <p:cNvPr id="111" name="Oval 17"/>
          <p:cNvSpPr>
            <a:spLocks noChangeArrowheads="1"/>
          </p:cNvSpPr>
          <p:nvPr/>
        </p:nvSpPr>
        <p:spPr bwMode="auto">
          <a:xfrm>
            <a:off x="4754563" y="3105150"/>
            <a:ext cx="360362" cy="360363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6350">
            <a:solidFill>
              <a:schemeClr val="bg2">
                <a:lumMod val="40000"/>
                <a:lumOff val="6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CN" b="1" dirty="0">
                <a:ea typeface="宋体" pitchFamily="2" charset="-122"/>
              </a:rPr>
              <a:t>1</a:t>
            </a:r>
            <a:endParaRPr lang="zh-CN" altLang="en-US" b="1" dirty="0">
              <a:ea typeface="宋体" pitchFamily="2" charset="-122"/>
            </a:endParaRPr>
          </a:p>
        </p:txBody>
      </p:sp>
      <p:sp>
        <p:nvSpPr>
          <p:cNvPr id="126" name="Oval 16"/>
          <p:cNvSpPr>
            <a:spLocks noChangeArrowheads="1"/>
          </p:cNvSpPr>
          <p:nvPr/>
        </p:nvSpPr>
        <p:spPr bwMode="auto">
          <a:xfrm>
            <a:off x="4484688" y="3863975"/>
            <a:ext cx="360362" cy="360363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6350">
            <a:solidFill>
              <a:schemeClr val="bg2">
                <a:lumMod val="40000"/>
                <a:lumOff val="6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CN" b="1" dirty="0">
                <a:ea typeface="宋体" pitchFamily="2" charset="-122"/>
              </a:rPr>
              <a:t>4</a:t>
            </a:r>
            <a:endParaRPr lang="zh-CN" altLang="en-US" b="1" dirty="0">
              <a:ea typeface="宋体" pitchFamily="2" charset="-122"/>
            </a:endParaRPr>
          </a:p>
        </p:txBody>
      </p:sp>
      <p:sp>
        <p:nvSpPr>
          <p:cNvPr id="127" name="Oval 16"/>
          <p:cNvSpPr>
            <a:spLocks noChangeArrowheads="1"/>
          </p:cNvSpPr>
          <p:nvPr/>
        </p:nvSpPr>
        <p:spPr bwMode="auto">
          <a:xfrm>
            <a:off x="5024438" y="3863975"/>
            <a:ext cx="360362" cy="360363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6350">
            <a:solidFill>
              <a:schemeClr val="bg2">
                <a:lumMod val="40000"/>
                <a:lumOff val="6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CN" b="1" dirty="0">
                <a:ea typeface="宋体" pitchFamily="2" charset="-122"/>
              </a:rPr>
              <a:t>9</a:t>
            </a:r>
            <a:endParaRPr lang="zh-CN" altLang="en-US" b="1" dirty="0">
              <a:ea typeface="宋体" pitchFamily="2" charset="-122"/>
            </a:endParaRPr>
          </a:p>
        </p:txBody>
      </p:sp>
      <p:cxnSp>
        <p:nvCxnSpPr>
          <p:cNvPr id="128" name="直接箭头连接符 127"/>
          <p:cNvCxnSpPr>
            <a:stCxn id="126" idx="0"/>
            <a:endCxn id="111" idx="3"/>
          </p:cNvCxnSpPr>
          <p:nvPr/>
        </p:nvCxnSpPr>
        <p:spPr>
          <a:xfrm flipV="1">
            <a:off x="4665663" y="3413125"/>
            <a:ext cx="142875" cy="450850"/>
          </a:xfrm>
          <a:prstGeom prst="straightConnector1">
            <a:avLst/>
          </a:prstGeom>
          <a:ln w="19050">
            <a:solidFill>
              <a:schemeClr val="bg2">
                <a:lumMod val="40000"/>
                <a:lumOff val="6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接箭头连接符 128"/>
          <p:cNvCxnSpPr>
            <a:stCxn id="127" idx="0"/>
            <a:endCxn id="111" idx="5"/>
          </p:cNvCxnSpPr>
          <p:nvPr/>
        </p:nvCxnSpPr>
        <p:spPr>
          <a:xfrm flipH="1" flipV="1">
            <a:off x="5062538" y="3413125"/>
            <a:ext cx="142875" cy="450850"/>
          </a:xfrm>
          <a:prstGeom prst="straightConnector1">
            <a:avLst/>
          </a:prstGeom>
          <a:ln w="19050">
            <a:solidFill>
              <a:schemeClr val="bg2">
                <a:lumMod val="40000"/>
                <a:lumOff val="6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矩形 75"/>
          <p:cNvSpPr/>
          <p:nvPr/>
        </p:nvSpPr>
        <p:spPr>
          <a:xfrm>
            <a:off x="3851275" y="3200400"/>
            <a:ext cx="501650" cy="5857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32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ea typeface="宋体" pitchFamily="2" charset="-122"/>
                <a:sym typeface="Symbol" pitchFamily="18" charset="2"/>
              </a:rPr>
              <a:t></a:t>
            </a:r>
            <a:endParaRPr lang="zh-CN" altLang="en-US" sz="3200" b="1" dirty="0">
              <a:solidFill>
                <a:schemeClr val="bg2">
                  <a:lumMod val="60000"/>
                  <a:lumOff val="40000"/>
                </a:schemeClr>
              </a:solidFill>
              <a:latin typeface="+mn-lt"/>
              <a:ea typeface="宋体" pitchFamily="2" charset="-122"/>
            </a:endParaRPr>
          </a:p>
        </p:txBody>
      </p:sp>
      <p:sp>
        <p:nvSpPr>
          <p:cNvPr id="10267" name="TextBox 37"/>
          <p:cNvSpPr txBox="1">
            <a:spLocks noChangeArrowheads="1"/>
          </p:cNvSpPr>
          <p:nvPr/>
        </p:nvSpPr>
        <p:spPr bwMode="auto">
          <a:xfrm>
            <a:off x="2801938" y="6488113"/>
            <a:ext cx="27416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zh-CN" altLang="en-US" b="1">
                <a:solidFill>
                  <a:srgbClr val="000099"/>
                </a:solidFill>
                <a:ea typeface="黑体" pitchFamily="49" charset="-122"/>
              </a:rPr>
              <a:t>第一种合并的父指针表示</a:t>
            </a:r>
          </a:p>
        </p:txBody>
      </p:sp>
      <p:grpSp>
        <p:nvGrpSpPr>
          <p:cNvPr id="31" name="组合 30"/>
          <p:cNvGrpSpPr>
            <a:grpSpLocks/>
          </p:cNvGrpSpPr>
          <p:nvPr/>
        </p:nvGrpSpPr>
        <p:grpSpPr bwMode="auto">
          <a:xfrm>
            <a:off x="863600" y="4968875"/>
            <a:ext cx="5776913" cy="1519238"/>
            <a:chOff x="863600" y="4968874"/>
            <a:chExt cx="5776913" cy="1519826"/>
          </a:xfrm>
        </p:grpSpPr>
        <p:sp>
          <p:nvSpPr>
            <p:cNvPr id="10266" name="矩形 68"/>
            <p:cNvSpPr>
              <a:spLocks noChangeArrowheads="1"/>
            </p:cNvSpPr>
            <p:nvPr/>
          </p:nvSpPr>
          <p:spPr bwMode="auto">
            <a:xfrm>
              <a:off x="863600" y="4968874"/>
              <a:ext cx="515840" cy="282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algn="r"/>
              <a:r>
                <a:rPr lang="zh-CN" altLang="en-US" sz="1600" b="1">
                  <a:solidFill>
                    <a:schemeClr val="bg2"/>
                  </a:solidFill>
                  <a:ea typeface="仿宋_GB2312" pitchFamily="49" charset="-122"/>
                </a:rPr>
                <a:t>下标</a:t>
              </a:r>
              <a:endParaRPr lang="en-US" altLang="zh-CN" sz="1600" b="1" baseline="-25000">
                <a:solidFill>
                  <a:schemeClr val="bg2"/>
                </a:solidFill>
                <a:ea typeface="仿宋_GB2312" pitchFamily="49" charset="-122"/>
              </a:endParaRPr>
            </a:p>
          </p:txBody>
        </p:sp>
        <p:sp>
          <p:nvSpPr>
            <p:cNvPr id="2" name="矩形 68"/>
            <p:cNvSpPr>
              <a:spLocks noChangeArrowheads="1"/>
            </p:cNvSpPr>
            <p:nvPr/>
          </p:nvSpPr>
          <p:spPr bwMode="auto">
            <a:xfrm>
              <a:off x="863600" y="5260169"/>
              <a:ext cx="515840" cy="282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algn="r"/>
              <a:r>
                <a:rPr lang="zh-CN" altLang="en-US" sz="1600" b="1">
                  <a:solidFill>
                    <a:schemeClr val="bg2"/>
                  </a:solidFill>
                  <a:ea typeface="仿宋_GB2312" pitchFamily="49" charset="-122"/>
                </a:rPr>
                <a:t>父指针</a:t>
              </a:r>
              <a:endParaRPr lang="en-US" altLang="zh-CN" sz="1600" b="1" baseline="-25000">
                <a:solidFill>
                  <a:schemeClr val="bg2"/>
                </a:solidFill>
                <a:ea typeface="仿宋_GB2312" pitchFamily="49" charset="-122"/>
              </a:endParaRPr>
            </a:p>
          </p:txBody>
        </p:sp>
        <p:grpSp>
          <p:nvGrpSpPr>
            <p:cNvPr id="10268" name="组合 111"/>
            <p:cNvGrpSpPr>
              <a:grpSpLocks/>
            </p:cNvGrpSpPr>
            <p:nvPr/>
          </p:nvGrpSpPr>
          <p:grpSpPr bwMode="auto">
            <a:xfrm>
              <a:off x="1476547" y="4968874"/>
              <a:ext cx="5163966" cy="282550"/>
              <a:chOff x="1476545" y="4968705"/>
              <a:chExt cx="5164048" cy="282575"/>
            </a:xfrm>
          </p:grpSpPr>
          <p:grpSp>
            <p:nvGrpSpPr>
              <p:cNvPr id="10292" name="组合 3"/>
              <p:cNvGrpSpPr>
                <a:grpSpLocks/>
              </p:cNvGrpSpPr>
              <p:nvPr/>
            </p:nvGrpSpPr>
            <p:grpSpPr bwMode="auto">
              <a:xfrm>
                <a:off x="1476545" y="4968705"/>
                <a:ext cx="4648200" cy="282575"/>
                <a:chOff x="1496766" y="3466143"/>
                <a:chExt cx="4649200" cy="282076"/>
              </a:xfrm>
            </p:grpSpPr>
            <p:sp>
              <p:nvSpPr>
                <p:cNvPr id="10294" name="矩形 34"/>
                <p:cNvSpPr>
                  <a:spLocks noChangeArrowheads="1"/>
                </p:cNvSpPr>
                <p:nvPr/>
              </p:nvSpPr>
              <p:spPr bwMode="auto">
                <a:xfrm>
                  <a:off x="2528685" y="3466143"/>
                  <a:ext cx="515959" cy="28207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algn="ctr"/>
                  <a:r>
                    <a:rPr lang="en-US" altLang="zh-CN" sz="1600">
                      <a:solidFill>
                        <a:schemeClr val="bg2"/>
                      </a:solidFill>
                      <a:ea typeface="仿宋_GB2312" pitchFamily="49" charset="-122"/>
                    </a:rPr>
                    <a:t>2</a:t>
                  </a:r>
                  <a:endParaRPr lang="en-US" altLang="zh-CN" sz="1600" baseline="-25000">
                    <a:solidFill>
                      <a:schemeClr val="bg2"/>
                    </a:solidFill>
                    <a:ea typeface="仿宋_GB2312" pitchFamily="49" charset="-122"/>
                  </a:endParaRPr>
                </a:p>
              </p:txBody>
            </p:sp>
            <p:sp>
              <p:nvSpPr>
                <p:cNvPr id="10295" name="矩形 35"/>
                <p:cNvSpPr>
                  <a:spLocks noChangeArrowheads="1"/>
                </p:cNvSpPr>
                <p:nvPr/>
              </p:nvSpPr>
              <p:spPr bwMode="auto">
                <a:xfrm>
                  <a:off x="3044644" y="3466143"/>
                  <a:ext cx="515959" cy="28207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algn="ctr"/>
                  <a:r>
                    <a:rPr lang="en-US" altLang="zh-CN" sz="1600">
                      <a:solidFill>
                        <a:schemeClr val="bg2"/>
                      </a:solidFill>
                      <a:ea typeface="仿宋_GB2312" pitchFamily="49" charset="-122"/>
                    </a:rPr>
                    <a:t>3</a:t>
                  </a:r>
                  <a:endParaRPr lang="en-US" altLang="zh-CN" sz="1600" baseline="-25000">
                    <a:solidFill>
                      <a:schemeClr val="bg2"/>
                    </a:solidFill>
                    <a:ea typeface="仿宋_GB2312" pitchFamily="49" charset="-122"/>
                  </a:endParaRPr>
                </a:p>
              </p:txBody>
            </p:sp>
            <p:sp>
              <p:nvSpPr>
                <p:cNvPr id="10296" name="矩形 36"/>
                <p:cNvSpPr>
                  <a:spLocks noChangeArrowheads="1"/>
                </p:cNvSpPr>
                <p:nvPr/>
              </p:nvSpPr>
              <p:spPr bwMode="auto">
                <a:xfrm>
                  <a:off x="3560603" y="3466143"/>
                  <a:ext cx="515959" cy="28207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algn="ctr"/>
                  <a:r>
                    <a:rPr lang="en-US" altLang="zh-CN" sz="1600">
                      <a:solidFill>
                        <a:schemeClr val="bg2"/>
                      </a:solidFill>
                      <a:ea typeface="仿宋_GB2312" pitchFamily="49" charset="-122"/>
                    </a:rPr>
                    <a:t>4</a:t>
                  </a:r>
                  <a:endParaRPr lang="en-US" altLang="zh-CN" sz="1600" baseline="-25000">
                    <a:solidFill>
                      <a:schemeClr val="bg2"/>
                    </a:solidFill>
                    <a:ea typeface="仿宋_GB2312" pitchFamily="49" charset="-122"/>
                  </a:endParaRPr>
                </a:p>
              </p:txBody>
            </p:sp>
            <p:sp>
              <p:nvSpPr>
                <p:cNvPr id="10297" name="矩形 37"/>
                <p:cNvSpPr>
                  <a:spLocks noChangeArrowheads="1"/>
                </p:cNvSpPr>
                <p:nvPr/>
              </p:nvSpPr>
              <p:spPr bwMode="auto">
                <a:xfrm>
                  <a:off x="4076562" y="3466143"/>
                  <a:ext cx="515959" cy="28207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algn="ctr"/>
                  <a:r>
                    <a:rPr lang="en-US" altLang="zh-CN" sz="1600">
                      <a:solidFill>
                        <a:schemeClr val="bg2"/>
                      </a:solidFill>
                      <a:ea typeface="仿宋_GB2312" pitchFamily="49" charset="-122"/>
                    </a:rPr>
                    <a:t>5</a:t>
                  </a:r>
                  <a:endParaRPr lang="en-US" altLang="zh-CN" sz="1600" baseline="-25000">
                    <a:solidFill>
                      <a:schemeClr val="bg2"/>
                    </a:solidFill>
                    <a:ea typeface="仿宋_GB2312" pitchFamily="49" charset="-122"/>
                  </a:endParaRPr>
                </a:p>
              </p:txBody>
            </p:sp>
            <p:sp>
              <p:nvSpPr>
                <p:cNvPr id="10298" name="矩形 38"/>
                <p:cNvSpPr>
                  <a:spLocks noChangeArrowheads="1"/>
                </p:cNvSpPr>
                <p:nvPr/>
              </p:nvSpPr>
              <p:spPr bwMode="auto">
                <a:xfrm>
                  <a:off x="4592522" y="3466143"/>
                  <a:ext cx="515959" cy="28207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algn="ctr"/>
                  <a:r>
                    <a:rPr lang="en-US" altLang="zh-CN" sz="1600">
                      <a:solidFill>
                        <a:schemeClr val="bg2"/>
                      </a:solidFill>
                      <a:ea typeface="仿宋_GB2312" pitchFamily="49" charset="-122"/>
                    </a:rPr>
                    <a:t>6</a:t>
                  </a:r>
                  <a:endParaRPr lang="en-US" altLang="zh-CN" sz="1600" baseline="-25000">
                    <a:solidFill>
                      <a:schemeClr val="bg2"/>
                    </a:solidFill>
                    <a:ea typeface="仿宋_GB2312" pitchFamily="49" charset="-122"/>
                  </a:endParaRPr>
                </a:p>
              </p:txBody>
            </p:sp>
            <p:sp>
              <p:nvSpPr>
                <p:cNvPr id="10299" name="矩形 65"/>
                <p:cNvSpPr>
                  <a:spLocks noChangeArrowheads="1"/>
                </p:cNvSpPr>
                <p:nvPr/>
              </p:nvSpPr>
              <p:spPr bwMode="auto">
                <a:xfrm>
                  <a:off x="5114048" y="3466143"/>
                  <a:ext cx="515959" cy="28207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algn="ctr"/>
                  <a:r>
                    <a:rPr lang="en-US" altLang="zh-CN" sz="1600">
                      <a:solidFill>
                        <a:schemeClr val="bg2"/>
                      </a:solidFill>
                      <a:ea typeface="仿宋_GB2312" pitchFamily="49" charset="-122"/>
                    </a:rPr>
                    <a:t>7</a:t>
                  </a:r>
                  <a:endParaRPr lang="en-US" altLang="zh-CN" sz="1600" baseline="-25000">
                    <a:solidFill>
                      <a:schemeClr val="bg2"/>
                    </a:solidFill>
                    <a:ea typeface="仿宋_GB2312" pitchFamily="49" charset="-122"/>
                  </a:endParaRPr>
                </a:p>
              </p:txBody>
            </p:sp>
            <p:sp>
              <p:nvSpPr>
                <p:cNvPr id="10300" name="矩形 67"/>
                <p:cNvSpPr>
                  <a:spLocks noChangeArrowheads="1"/>
                </p:cNvSpPr>
                <p:nvPr/>
              </p:nvSpPr>
              <p:spPr bwMode="auto">
                <a:xfrm>
                  <a:off x="2012725" y="3466143"/>
                  <a:ext cx="515959" cy="28207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algn="ctr"/>
                  <a:r>
                    <a:rPr lang="en-US" altLang="zh-CN" sz="1600">
                      <a:solidFill>
                        <a:schemeClr val="bg2"/>
                      </a:solidFill>
                      <a:ea typeface="仿宋_GB2312" pitchFamily="49" charset="-122"/>
                    </a:rPr>
                    <a:t>1</a:t>
                  </a:r>
                  <a:endParaRPr lang="en-US" altLang="zh-CN" sz="1600" baseline="-25000">
                    <a:solidFill>
                      <a:schemeClr val="bg2"/>
                    </a:solidFill>
                    <a:ea typeface="仿宋_GB2312" pitchFamily="49" charset="-122"/>
                  </a:endParaRPr>
                </a:p>
              </p:txBody>
            </p:sp>
            <p:sp>
              <p:nvSpPr>
                <p:cNvPr id="10301" name="矩形 68"/>
                <p:cNvSpPr>
                  <a:spLocks noChangeArrowheads="1"/>
                </p:cNvSpPr>
                <p:nvPr/>
              </p:nvSpPr>
              <p:spPr bwMode="auto">
                <a:xfrm>
                  <a:off x="1496766" y="3466143"/>
                  <a:ext cx="515959" cy="28207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algn="ctr"/>
                  <a:r>
                    <a:rPr lang="en-US" altLang="zh-CN" sz="1600">
                      <a:solidFill>
                        <a:schemeClr val="bg2"/>
                      </a:solidFill>
                      <a:ea typeface="仿宋_GB2312" pitchFamily="49" charset="-122"/>
                    </a:rPr>
                    <a:t>0</a:t>
                  </a:r>
                  <a:endParaRPr lang="en-US" altLang="zh-CN" sz="1600" baseline="-25000">
                    <a:solidFill>
                      <a:schemeClr val="bg2"/>
                    </a:solidFill>
                    <a:ea typeface="仿宋_GB2312" pitchFamily="49" charset="-122"/>
                  </a:endParaRPr>
                </a:p>
              </p:txBody>
            </p:sp>
            <p:sp>
              <p:nvSpPr>
                <p:cNvPr id="10302" name="矩形 65"/>
                <p:cNvSpPr>
                  <a:spLocks noChangeArrowheads="1"/>
                </p:cNvSpPr>
                <p:nvPr/>
              </p:nvSpPr>
              <p:spPr bwMode="auto">
                <a:xfrm>
                  <a:off x="5630007" y="3466143"/>
                  <a:ext cx="515959" cy="28207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pPr algn="ctr"/>
                  <a:r>
                    <a:rPr lang="en-US" altLang="zh-CN" sz="1600">
                      <a:solidFill>
                        <a:schemeClr val="bg2"/>
                      </a:solidFill>
                      <a:ea typeface="仿宋_GB2312" pitchFamily="49" charset="-122"/>
                    </a:rPr>
                    <a:t>8</a:t>
                  </a:r>
                  <a:endParaRPr lang="en-US" altLang="zh-CN" sz="1600" baseline="-25000">
                    <a:solidFill>
                      <a:schemeClr val="bg2"/>
                    </a:solidFill>
                    <a:ea typeface="仿宋_GB2312" pitchFamily="49" charset="-122"/>
                  </a:endParaRPr>
                </a:p>
              </p:txBody>
            </p:sp>
          </p:grpSp>
          <p:sp>
            <p:nvSpPr>
              <p:cNvPr id="10293" name="矩形 65"/>
              <p:cNvSpPr>
                <a:spLocks noChangeArrowheads="1"/>
              </p:cNvSpPr>
              <p:nvPr/>
            </p:nvSpPr>
            <p:spPr bwMode="auto">
              <a:xfrm>
                <a:off x="6124745" y="4968705"/>
                <a:ext cx="515848" cy="2825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algn="ctr"/>
                <a:r>
                  <a:rPr lang="en-US" altLang="zh-CN" sz="1600">
                    <a:solidFill>
                      <a:schemeClr val="bg2"/>
                    </a:solidFill>
                    <a:ea typeface="仿宋_GB2312" pitchFamily="49" charset="-122"/>
                  </a:rPr>
                  <a:t>9</a:t>
                </a:r>
                <a:endParaRPr lang="en-US" altLang="zh-CN" sz="1600" baseline="-25000">
                  <a:solidFill>
                    <a:schemeClr val="bg2"/>
                  </a:solidFill>
                  <a:ea typeface="仿宋_GB2312" pitchFamily="49" charset="-122"/>
                </a:endParaRPr>
              </a:p>
            </p:txBody>
          </p:sp>
        </p:grpSp>
        <p:grpSp>
          <p:nvGrpSpPr>
            <p:cNvPr id="10269" name="组合 124"/>
            <p:cNvGrpSpPr>
              <a:grpSpLocks/>
            </p:cNvGrpSpPr>
            <p:nvPr/>
          </p:nvGrpSpPr>
          <p:grpSpPr bwMode="auto">
            <a:xfrm>
              <a:off x="1476547" y="5250805"/>
              <a:ext cx="5163966" cy="282550"/>
              <a:chOff x="1476545" y="5250661"/>
              <a:chExt cx="5164048" cy="282575"/>
            </a:xfrm>
          </p:grpSpPr>
          <p:grpSp>
            <p:nvGrpSpPr>
              <p:cNvPr id="10281" name="组合 3"/>
              <p:cNvGrpSpPr>
                <a:grpSpLocks/>
              </p:cNvGrpSpPr>
              <p:nvPr/>
            </p:nvGrpSpPr>
            <p:grpSpPr bwMode="auto">
              <a:xfrm>
                <a:off x="1476545" y="5250661"/>
                <a:ext cx="4648200" cy="282575"/>
                <a:chOff x="1496766" y="3466143"/>
                <a:chExt cx="4649200" cy="282076"/>
              </a:xfrm>
            </p:grpSpPr>
            <p:sp>
              <p:nvSpPr>
                <p:cNvPr id="10283" name="矩形 34"/>
                <p:cNvSpPr>
                  <a:spLocks noChangeArrowheads="1"/>
                </p:cNvSpPr>
                <p:nvPr/>
              </p:nvSpPr>
              <p:spPr bwMode="auto">
                <a:xfrm>
                  <a:off x="2528685" y="3466143"/>
                  <a:ext cx="515959" cy="282076"/>
                </a:xfrm>
                <a:prstGeom prst="rect">
                  <a:avLst/>
                </a:prstGeom>
                <a:noFill/>
                <a:ln w="9525">
                  <a:solidFill>
                    <a:schemeClr val="accent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/>
                <a:p>
                  <a:pPr algn="ctr"/>
                  <a:r>
                    <a:rPr lang="en-US" altLang="zh-CN" sz="1600" b="1">
                      <a:solidFill>
                        <a:schemeClr val="bg2"/>
                      </a:solidFill>
                      <a:ea typeface="仿宋_GB2312" pitchFamily="49" charset="-122"/>
                    </a:rPr>
                    <a:t>-3</a:t>
                  </a:r>
                  <a:endParaRPr lang="en-US" altLang="zh-CN" sz="1600" b="1" baseline="-25000">
                    <a:solidFill>
                      <a:schemeClr val="bg2"/>
                    </a:solidFill>
                    <a:ea typeface="仿宋_GB2312" pitchFamily="49" charset="-122"/>
                  </a:endParaRPr>
                </a:p>
              </p:txBody>
            </p:sp>
            <p:sp>
              <p:nvSpPr>
                <p:cNvPr id="10284" name="矩形 35"/>
                <p:cNvSpPr>
                  <a:spLocks noChangeArrowheads="1"/>
                </p:cNvSpPr>
                <p:nvPr/>
              </p:nvSpPr>
              <p:spPr bwMode="auto">
                <a:xfrm>
                  <a:off x="3044644" y="3466143"/>
                  <a:ext cx="515959" cy="282076"/>
                </a:xfrm>
                <a:prstGeom prst="rect">
                  <a:avLst/>
                </a:prstGeom>
                <a:noFill/>
                <a:ln w="9525">
                  <a:solidFill>
                    <a:schemeClr val="accent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/>
                <a:p>
                  <a:pPr algn="ctr"/>
                  <a:r>
                    <a:rPr lang="en-US" altLang="zh-CN" sz="1600" b="1">
                      <a:solidFill>
                        <a:schemeClr val="bg2"/>
                      </a:solidFill>
                      <a:ea typeface="仿宋_GB2312" pitchFamily="49" charset="-122"/>
                    </a:rPr>
                    <a:t>2</a:t>
                  </a:r>
                  <a:endParaRPr lang="en-US" altLang="zh-CN" sz="1600" b="1" baseline="-25000">
                    <a:solidFill>
                      <a:schemeClr val="bg2"/>
                    </a:solidFill>
                    <a:ea typeface="仿宋_GB2312" pitchFamily="49" charset="-122"/>
                  </a:endParaRPr>
                </a:p>
              </p:txBody>
            </p:sp>
            <p:sp>
              <p:nvSpPr>
                <p:cNvPr id="10285" name="矩形 36"/>
                <p:cNvSpPr>
                  <a:spLocks noChangeArrowheads="1"/>
                </p:cNvSpPr>
                <p:nvPr/>
              </p:nvSpPr>
              <p:spPr bwMode="auto">
                <a:xfrm>
                  <a:off x="3560603" y="3466143"/>
                  <a:ext cx="515959" cy="282076"/>
                </a:xfrm>
                <a:prstGeom prst="rect">
                  <a:avLst/>
                </a:prstGeom>
                <a:noFill/>
                <a:ln w="9525">
                  <a:solidFill>
                    <a:schemeClr val="accent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/>
                <a:p>
                  <a:pPr algn="ctr"/>
                  <a:r>
                    <a:rPr lang="en-US" altLang="zh-CN" sz="1600" b="1">
                      <a:solidFill>
                        <a:schemeClr val="bg2"/>
                      </a:solidFill>
                      <a:ea typeface="仿宋_GB2312" pitchFamily="49" charset="-122"/>
                    </a:rPr>
                    <a:t>0</a:t>
                  </a:r>
                  <a:endParaRPr lang="en-US" altLang="zh-CN" sz="1600" b="1" baseline="-25000">
                    <a:solidFill>
                      <a:schemeClr val="bg2"/>
                    </a:solidFill>
                    <a:ea typeface="仿宋_GB2312" pitchFamily="49" charset="-122"/>
                  </a:endParaRPr>
                </a:p>
              </p:txBody>
            </p:sp>
            <p:sp>
              <p:nvSpPr>
                <p:cNvPr id="10286" name="矩形 37"/>
                <p:cNvSpPr>
                  <a:spLocks noChangeArrowheads="1"/>
                </p:cNvSpPr>
                <p:nvPr/>
              </p:nvSpPr>
              <p:spPr bwMode="auto">
                <a:xfrm>
                  <a:off x="4076562" y="3466143"/>
                  <a:ext cx="515959" cy="282076"/>
                </a:xfrm>
                <a:prstGeom prst="rect">
                  <a:avLst/>
                </a:prstGeom>
                <a:noFill/>
                <a:ln w="9525">
                  <a:solidFill>
                    <a:schemeClr val="accent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/>
                <a:p>
                  <a:pPr algn="ctr"/>
                  <a:r>
                    <a:rPr lang="en-US" altLang="zh-CN" sz="1600" b="1">
                      <a:solidFill>
                        <a:schemeClr val="bg2"/>
                      </a:solidFill>
                      <a:ea typeface="仿宋_GB2312" pitchFamily="49" charset="-122"/>
                    </a:rPr>
                    <a:t>2</a:t>
                  </a:r>
                  <a:endParaRPr lang="en-US" altLang="zh-CN" sz="1600" b="1" baseline="-25000">
                    <a:solidFill>
                      <a:schemeClr val="bg2"/>
                    </a:solidFill>
                    <a:ea typeface="仿宋_GB2312" pitchFamily="49" charset="-122"/>
                  </a:endParaRPr>
                </a:p>
              </p:txBody>
            </p:sp>
            <p:sp>
              <p:nvSpPr>
                <p:cNvPr id="10287" name="矩形 38"/>
                <p:cNvSpPr>
                  <a:spLocks noChangeArrowheads="1"/>
                </p:cNvSpPr>
                <p:nvPr/>
              </p:nvSpPr>
              <p:spPr bwMode="auto">
                <a:xfrm>
                  <a:off x="4592522" y="3466143"/>
                  <a:ext cx="515959" cy="282076"/>
                </a:xfrm>
                <a:prstGeom prst="rect">
                  <a:avLst/>
                </a:prstGeom>
                <a:noFill/>
                <a:ln w="9525">
                  <a:solidFill>
                    <a:schemeClr val="accent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/>
                <a:p>
                  <a:pPr algn="ctr"/>
                  <a:r>
                    <a:rPr lang="en-US" altLang="zh-CN" sz="1600" b="1">
                      <a:solidFill>
                        <a:schemeClr val="bg2"/>
                      </a:solidFill>
                      <a:ea typeface="仿宋_GB2312" pitchFamily="49" charset="-122"/>
                    </a:rPr>
                    <a:t>0</a:t>
                  </a:r>
                  <a:endParaRPr lang="en-US" altLang="zh-CN" sz="1600" b="1" baseline="-25000">
                    <a:solidFill>
                      <a:schemeClr val="bg2"/>
                    </a:solidFill>
                    <a:ea typeface="仿宋_GB2312" pitchFamily="49" charset="-122"/>
                  </a:endParaRPr>
                </a:p>
              </p:txBody>
            </p:sp>
            <p:sp>
              <p:nvSpPr>
                <p:cNvPr id="10288" name="矩形 65"/>
                <p:cNvSpPr>
                  <a:spLocks noChangeArrowheads="1"/>
                </p:cNvSpPr>
                <p:nvPr/>
              </p:nvSpPr>
              <p:spPr bwMode="auto">
                <a:xfrm>
                  <a:off x="5114048" y="3466143"/>
                  <a:ext cx="515959" cy="282076"/>
                </a:xfrm>
                <a:prstGeom prst="rect">
                  <a:avLst/>
                </a:prstGeom>
                <a:noFill/>
                <a:ln w="9525">
                  <a:solidFill>
                    <a:schemeClr val="accent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/>
                <a:p>
                  <a:pPr algn="ctr"/>
                  <a:r>
                    <a:rPr lang="en-US" altLang="zh-CN" sz="1600" b="1">
                      <a:solidFill>
                        <a:schemeClr val="bg2"/>
                      </a:solidFill>
                      <a:ea typeface="仿宋_GB2312" pitchFamily="49" charset="-122"/>
                    </a:rPr>
                    <a:t>0</a:t>
                  </a:r>
                  <a:endParaRPr lang="en-US" altLang="zh-CN" sz="1600" b="1" baseline="-25000">
                    <a:solidFill>
                      <a:schemeClr val="bg2"/>
                    </a:solidFill>
                    <a:ea typeface="仿宋_GB2312" pitchFamily="49" charset="-122"/>
                  </a:endParaRPr>
                </a:p>
              </p:txBody>
            </p:sp>
            <p:sp>
              <p:nvSpPr>
                <p:cNvPr id="10289" name="矩形 67"/>
                <p:cNvSpPr>
                  <a:spLocks noChangeArrowheads="1"/>
                </p:cNvSpPr>
                <p:nvPr/>
              </p:nvSpPr>
              <p:spPr bwMode="auto">
                <a:xfrm>
                  <a:off x="2012725" y="3466143"/>
                  <a:ext cx="515959" cy="282076"/>
                </a:xfrm>
                <a:prstGeom prst="rect">
                  <a:avLst/>
                </a:prstGeom>
                <a:noFill/>
                <a:ln w="9525">
                  <a:solidFill>
                    <a:schemeClr val="accent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/>
                <a:p>
                  <a:pPr algn="ctr"/>
                  <a:r>
                    <a:rPr lang="en-US" altLang="zh-CN" sz="1600" b="1">
                      <a:solidFill>
                        <a:schemeClr val="bg2"/>
                      </a:solidFill>
                      <a:ea typeface="仿宋_GB2312" pitchFamily="49" charset="-122"/>
                    </a:rPr>
                    <a:t>0</a:t>
                  </a:r>
                </a:p>
              </p:txBody>
            </p:sp>
            <p:sp>
              <p:nvSpPr>
                <p:cNvPr id="10290" name="矩形 68"/>
                <p:cNvSpPr>
                  <a:spLocks noChangeArrowheads="1"/>
                </p:cNvSpPr>
                <p:nvPr/>
              </p:nvSpPr>
              <p:spPr bwMode="auto">
                <a:xfrm>
                  <a:off x="1496766" y="3466143"/>
                  <a:ext cx="515959" cy="282076"/>
                </a:xfrm>
                <a:prstGeom prst="rect">
                  <a:avLst/>
                </a:prstGeom>
                <a:noFill/>
                <a:ln w="9525">
                  <a:solidFill>
                    <a:schemeClr val="accent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/>
                <a:p>
                  <a:pPr algn="ctr"/>
                  <a:r>
                    <a:rPr lang="en-US" altLang="zh-CN" sz="1600" b="1">
                      <a:solidFill>
                        <a:schemeClr val="bg2"/>
                      </a:solidFill>
                      <a:ea typeface="仿宋_GB2312" pitchFamily="49" charset="-122"/>
                    </a:rPr>
                    <a:t>-7</a:t>
                  </a:r>
                </a:p>
              </p:txBody>
            </p:sp>
            <p:sp>
              <p:nvSpPr>
                <p:cNvPr id="10291" name="矩形 65"/>
                <p:cNvSpPr>
                  <a:spLocks noChangeArrowheads="1"/>
                </p:cNvSpPr>
                <p:nvPr/>
              </p:nvSpPr>
              <p:spPr bwMode="auto">
                <a:xfrm>
                  <a:off x="5630007" y="3466143"/>
                  <a:ext cx="515959" cy="282076"/>
                </a:xfrm>
                <a:prstGeom prst="rect">
                  <a:avLst/>
                </a:prstGeom>
                <a:noFill/>
                <a:ln w="9525">
                  <a:solidFill>
                    <a:schemeClr val="accent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/>
                <a:lstStyle/>
                <a:p>
                  <a:pPr algn="ctr"/>
                  <a:r>
                    <a:rPr lang="en-US" altLang="zh-CN" sz="1600" b="1">
                      <a:solidFill>
                        <a:schemeClr val="bg2"/>
                      </a:solidFill>
                      <a:ea typeface="仿宋_GB2312" pitchFamily="49" charset="-122"/>
                    </a:rPr>
                    <a:t>0</a:t>
                  </a:r>
                  <a:endParaRPr lang="en-US" altLang="zh-CN" sz="1600" b="1" baseline="-25000">
                    <a:solidFill>
                      <a:schemeClr val="bg2"/>
                    </a:solidFill>
                    <a:ea typeface="仿宋_GB2312" pitchFamily="49" charset="-122"/>
                  </a:endParaRPr>
                </a:p>
              </p:txBody>
            </p:sp>
          </p:grpSp>
          <p:sp>
            <p:nvSpPr>
              <p:cNvPr id="10282" name="矩形 65"/>
              <p:cNvSpPr>
                <a:spLocks noChangeArrowheads="1"/>
              </p:cNvSpPr>
              <p:nvPr/>
            </p:nvSpPr>
            <p:spPr bwMode="auto">
              <a:xfrm>
                <a:off x="6124745" y="5250661"/>
                <a:ext cx="515848" cy="282575"/>
              </a:xfrm>
              <a:prstGeom prst="rect">
                <a:avLst/>
              </a:prstGeom>
              <a:noFill/>
              <a:ln w="9525">
                <a:solidFill>
                  <a:schemeClr val="accent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/>
              <a:p>
                <a:pPr algn="ctr"/>
                <a:r>
                  <a:rPr lang="en-US" altLang="zh-CN" sz="1600" b="1">
                    <a:solidFill>
                      <a:schemeClr val="bg2"/>
                    </a:solidFill>
                    <a:ea typeface="仿宋_GB2312" pitchFamily="49" charset="-122"/>
                  </a:rPr>
                  <a:t>0</a:t>
                </a:r>
                <a:endParaRPr lang="en-US" altLang="zh-CN" sz="1600" b="1" baseline="-25000">
                  <a:solidFill>
                    <a:schemeClr val="bg2"/>
                  </a:solidFill>
                  <a:ea typeface="仿宋_GB2312" pitchFamily="49" charset="-122"/>
                </a:endParaRPr>
              </a:p>
            </p:txBody>
          </p:sp>
        </p:grpSp>
        <p:cxnSp>
          <p:nvCxnSpPr>
            <p:cNvPr id="130" name="肘形连接符 129"/>
            <p:cNvCxnSpPr/>
            <p:nvPr/>
          </p:nvCxnSpPr>
          <p:spPr bwMode="auto">
            <a:xfrm rot="5400000">
              <a:off x="3054349" y="5307230"/>
              <a:ext cx="12705" cy="454025"/>
            </a:xfrm>
            <a:prstGeom prst="bentConnector3">
              <a:avLst>
                <a:gd name="adj1" fmla="val 1300992"/>
              </a:avLst>
            </a:prstGeom>
            <a:ln w="19050">
              <a:solidFill>
                <a:schemeClr val="bg2">
                  <a:lumMod val="40000"/>
                  <a:lumOff val="6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肘形连接符 130"/>
            <p:cNvCxnSpPr/>
            <p:nvPr/>
          </p:nvCxnSpPr>
          <p:spPr bwMode="auto">
            <a:xfrm rot="5400000">
              <a:off x="3509961" y="4730968"/>
              <a:ext cx="12705" cy="1606550"/>
            </a:xfrm>
            <a:prstGeom prst="bentConnector3">
              <a:avLst>
                <a:gd name="adj1" fmla="val 1657425"/>
              </a:avLst>
            </a:prstGeom>
            <a:ln w="19050">
              <a:solidFill>
                <a:schemeClr val="bg2">
                  <a:lumMod val="40000"/>
                  <a:lumOff val="6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272" name="组合 29"/>
            <p:cNvGrpSpPr>
              <a:grpSpLocks/>
            </p:cNvGrpSpPr>
            <p:nvPr/>
          </p:nvGrpSpPr>
          <p:grpSpPr bwMode="auto">
            <a:xfrm>
              <a:off x="1734467" y="5527672"/>
              <a:ext cx="4648127" cy="961028"/>
              <a:chOff x="1734467" y="5527671"/>
              <a:chExt cx="4648127" cy="817653"/>
            </a:xfrm>
          </p:grpSpPr>
          <p:cxnSp>
            <p:nvCxnSpPr>
              <p:cNvPr id="23" name="直接连接符 22"/>
              <p:cNvCxnSpPr/>
              <p:nvPr/>
            </p:nvCxnSpPr>
            <p:spPr bwMode="auto">
              <a:xfrm flipH="1">
                <a:off x="1735138" y="6345324"/>
                <a:ext cx="4648200" cy="0"/>
              </a:xfrm>
              <a:prstGeom prst="line">
                <a:avLst/>
              </a:prstGeom>
              <a:ln w="19050">
                <a:solidFill>
                  <a:srgbClr val="0066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箭头连接符 24"/>
              <p:cNvCxnSpPr/>
              <p:nvPr/>
            </p:nvCxnSpPr>
            <p:spPr bwMode="auto">
              <a:xfrm flipV="1">
                <a:off x="1735138" y="5533261"/>
                <a:ext cx="0" cy="812063"/>
              </a:xfrm>
              <a:prstGeom prst="straightConnector1">
                <a:avLst/>
              </a:prstGeom>
              <a:ln w="19050">
                <a:solidFill>
                  <a:srgbClr val="0066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直接连接符 103"/>
              <p:cNvCxnSpPr/>
              <p:nvPr/>
            </p:nvCxnSpPr>
            <p:spPr bwMode="auto">
              <a:xfrm>
                <a:off x="6383338" y="5542720"/>
                <a:ext cx="0" cy="802604"/>
              </a:xfrm>
              <a:prstGeom prst="line">
                <a:avLst/>
              </a:prstGeom>
              <a:ln w="19050">
                <a:solidFill>
                  <a:srgbClr val="0066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直接连接符 108"/>
              <p:cNvCxnSpPr/>
              <p:nvPr/>
            </p:nvCxnSpPr>
            <p:spPr bwMode="auto">
              <a:xfrm>
                <a:off x="5867400" y="5533261"/>
                <a:ext cx="0" cy="802604"/>
              </a:xfrm>
              <a:prstGeom prst="line">
                <a:avLst/>
              </a:prstGeom>
              <a:ln w="19050">
                <a:solidFill>
                  <a:srgbClr val="0066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直接连接符 111"/>
              <p:cNvCxnSpPr/>
              <p:nvPr/>
            </p:nvCxnSpPr>
            <p:spPr bwMode="auto">
              <a:xfrm>
                <a:off x="5351463" y="5527857"/>
                <a:ext cx="0" cy="802604"/>
              </a:xfrm>
              <a:prstGeom prst="line">
                <a:avLst/>
              </a:prstGeom>
              <a:ln w="19050">
                <a:solidFill>
                  <a:srgbClr val="0066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直接连接符 112"/>
              <p:cNvCxnSpPr/>
              <p:nvPr/>
            </p:nvCxnSpPr>
            <p:spPr bwMode="auto">
              <a:xfrm>
                <a:off x="4845050" y="5533261"/>
                <a:ext cx="0" cy="802604"/>
              </a:xfrm>
              <a:prstGeom prst="line">
                <a:avLst/>
              </a:prstGeom>
              <a:ln w="19050">
                <a:solidFill>
                  <a:srgbClr val="0066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直接连接符 113"/>
              <p:cNvCxnSpPr/>
              <p:nvPr/>
            </p:nvCxnSpPr>
            <p:spPr bwMode="auto">
              <a:xfrm>
                <a:off x="3787775" y="5527857"/>
                <a:ext cx="0" cy="802604"/>
              </a:xfrm>
              <a:prstGeom prst="line">
                <a:avLst/>
              </a:prstGeom>
              <a:ln w="19050">
                <a:solidFill>
                  <a:srgbClr val="0066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直接连接符 114"/>
              <p:cNvCxnSpPr/>
              <p:nvPr/>
            </p:nvCxnSpPr>
            <p:spPr bwMode="auto">
              <a:xfrm>
                <a:off x="2251075" y="5527857"/>
                <a:ext cx="0" cy="802604"/>
              </a:xfrm>
              <a:prstGeom prst="line">
                <a:avLst/>
              </a:prstGeom>
              <a:ln w="19050">
                <a:solidFill>
                  <a:srgbClr val="0066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505938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/>
      <p:bldP spid="110" grpId="0"/>
      <p:bldP spid="1026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并查集</a:t>
            </a:r>
          </a:p>
        </p:txBody>
      </p:sp>
      <p:sp>
        <p:nvSpPr>
          <p:cNvPr id="1126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Arial" charset="0"/>
              </a:rPr>
              <a:t>用树表示集合</a:t>
            </a:r>
            <a:endParaRPr lang="en-US" altLang="zh-CN" dirty="0">
              <a:latin typeface="Arial" charset="0"/>
            </a:endParaRPr>
          </a:p>
          <a:p>
            <a:pPr lvl="1"/>
            <a:r>
              <a:rPr lang="zh-CN" altLang="en-US" dirty="0">
                <a:latin typeface="Arial" charset="0"/>
              </a:rPr>
              <a:t>合并</a:t>
            </a:r>
            <a:r>
              <a:rPr lang="en-US" altLang="zh-CN" dirty="0">
                <a:latin typeface="Arial" charset="0"/>
              </a:rPr>
              <a:t>s</a:t>
            </a:r>
            <a:r>
              <a:rPr lang="en-US" altLang="zh-CN" baseline="-25000" dirty="0">
                <a:latin typeface="Arial" charset="0"/>
              </a:rPr>
              <a:t>1</a:t>
            </a:r>
            <a:r>
              <a:rPr lang="en-US" altLang="zh-CN" dirty="0">
                <a:latin typeface="Arial" charset="0"/>
              </a:rPr>
              <a:t>={0,6,7,8}</a:t>
            </a:r>
            <a:r>
              <a:rPr lang="en-US" altLang="zh-CN" dirty="0">
                <a:latin typeface="Arial" charset="0"/>
                <a:sym typeface="Symbol" pitchFamily="18" charset="2"/>
              </a:rPr>
              <a:t>  </a:t>
            </a:r>
            <a:r>
              <a:rPr lang="en-US" altLang="zh-CN" dirty="0">
                <a:latin typeface="Arial" charset="0"/>
              </a:rPr>
              <a:t>s</a:t>
            </a:r>
            <a:r>
              <a:rPr lang="en-US" altLang="zh-CN" baseline="-25000" dirty="0">
                <a:latin typeface="Arial" charset="0"/>
              </a:rPr>
              <a:t>2</a:t>
            </a:r>
            <a:r>
              <a:rPr lang="en-US" altLang="zh-CN" dirty="0">
                <a:latin typeface="Arial" charset="0"/>
                <a:sym typeface="Symbol" pitchFamily="18" charset="2"/>
              </a:rPr>
              <a:t>=</a:t>
            </a:r>
            <a:r>
              <a:rPr lang="en-US" altLang="zh-CN" dirty="0">
                <a:latin typeface="Arial" charset="0"/>
              </a:rPr>
              <a:t>{1,4,9}</a:t>
            </a:r>
          </a:p>
          <a:p>
            <a:pPr lvl="2"/>
            <a:r>
              <a:rPr lang="en-US" altLang="zh-CN" dirty="0">
                <a:latin typeface="Arial" charset="0"/>
              </a:rPr>
              <a:t>s</a:t>
            </a:r>
            <a:r>
              <a:rPr lang="en-US" altLang="zh-CN" baseline="-25000" dirty="0">
                <a:latin typeface="Arial" charset="0"/>
              </a:rPr>
              <a:t>2</a:t>
            </a:r>
            <a:r>
              <a:rPr lang="zh-CN" altLang="en-US" dirty="0">
                <a:latin typeface="Arial" charset="0"/>
              </a:rPr>
              <a:t>作为</a:t>
            </a:r>
            <a:r>
              <a:rPr lang="en-US" altLang="zh-CN" dirty="0">
                <a:latin typeface="Arial" charset="0"/>
              </a:rPr>
              <a:t>s</a:t>
            </a:r>
            <a:r>
              <a:rPr lang="en-US" altLang="zh-CN" baseline="-25000" dirty="0">
                <a:latin typeface="Arial" charset="0"/>
              </a:rPr>
              <a:t>1</a:t>
            </a:r>
            <a:r>
              <a:rPr lang="zh-CN" altLang="en-US" dirty="0">
                <a:latin typeface="Arial" charset="0"/>
              </a:rPr>
              <a:t>根的子树，或相反</a:t>
            </a:r>
            <a:endParaRPr lang="en-US" altLang="zh-CN" dirty="0">
              <a:latin typeface="Arial" charset="0"/>
            </a:endParaRPr>
          </a:p>
          <a:p>
            <a:pPr lvl="2"/>
            <a:r>
              <a:rPr lang="zh-CN" altLang="en-US" dirty="0">
                <a:latin typeface="Arial" charset="0"/>
              </a:rPr>
              <a:t>哪一种合并方式好？</a:t>
            </a:r>
            <a:endParaRPr lang="en-US" altLang="zh-CN" dirty="0">
              <a:latin typeface="Arial" charset="0"/>
            </a:endParaRPr>
          </a:p>
          <a:p>
            <a:pPr lvl="2"/>
            <a:r>
              <a:rPr lang="zh-CN" altLang="en-US" dirty="0">
                <a:latin typeface="Arial" charset="0"/>
              </a:rPr>
              <a:t>先介绍查找</a:t>
            </a:r>
            <a:r>
              <a:rPr lang="en-US" altLang="zh-CN" dirty="0">
                <a:latin typeface="Arial" charset="0"/>
              </a:rPr>
              <a:t>Find</a:t>
            </a:r>
            <a:r>
              <a:rPr lang="zh-CN" altLang="en-US" dirty="0">
                <a:latin typeface="Arial" charset="0"/>
              </a:rPr>
              <a:t>操作</a:t>
            </a:r>
            <a:endParaRPr lang="en-US" altLang="zh-CN" dirty="0">
              <a:latin typeface="Arial" charset="0"/>
            </a:endParaRPr>
          </a:p>
          <a:p>
            <a:pPr lvl="3"/>
            <a:r>
              <a:rPr lang="en-US" altLang="zh-CN" dirty="0">
                <a:latin typeface="Arial" charset="0"/>
              </a:rPr>
              <a:t>Find(4)</a:t>
            </a:r>
            <a:r>
              <a:rPr lang="zh-CN" altLang="en-US" dirty="0">
                <a:latin typeface="Arial" charset="0"/>
              </a:rPr>
              <a:t>表示</a:t>
            </a:r>
            <a:r>
              <a:rPr lang="en-US" altLang="zh-CN" dirty="0">
                <a:latin typeface="Arial" charset="0"/>
              </a:rPr>
              <a:t>4</a:t>
            </a:r>
            <a:r>
              <a:rPr lang="zh-CN" altLang="en-US" dirty="0">
                <a:latin typeface="Arial" charset="0"/>
              </a:rPr>
              <a:t>所属集合，返回值</a:t>
            </a:r>
            <a:r>
              <a:rPr lang="en-US" altLang="zh-CN" dirty="0">
                <a:latin typeface="Arial" charset="0"/>
              </a:rPr>
              <a:t>0</a:t>
            </a:r>
            <a:r>
              <a:rPr lang="zh-CN" altLang="en-US" dirty="0">
                <a:latin typeface="Arial" charset="0"/>
              </a:rPr>
              <a:t>号结点</a:t>
            </a:r>
            <a:r>
              <a:rPr lang="en-US" altLang="zh-CN" dirty="0">
                <a:latin typeface="Arial" charset="0"/>
              </a:rPr>
              <a:t>(</a:t>
            </a:r>
            <a:r>
              <a:rPr lang="zh-CN" altLang="en-US" dirty="0">
                <a:latin typeface="Arial" charset="0"/>
              </a:rPr>
              <a:t>即根结点</a:t>
            </a:r>
            <a:r>
              <a:rPr lang="en-US" altLang="zh-CN" dirty="0">
                <a:latin typeface="Arial" charset="0"/>
              </a:rPr>
              <a:t>)</a:t>
            </a:r>
          </a:p>
          <a:p>
            <a:pPr lvl="3"/>
            <a:r>
              <a:rPr lang="en-US" altLang="zh-CN" dirty="0">
                <a:latin typeface="Arial" charset="0"/>
              </a:rPr>
              <a:t>Find</a:t>
            </a:r>
            <a:r>
              <a:rPr lang="zh-CN" altLang="en-US" dirty="0">
                <a:latin typeface="Arial" charset="0"/>
              </a:rPr>
              <a:t>操作时间相当于结点到根路径长度</a:t>
            </a:r>
            <a:endParaRPr lang="en-US" altLang="zh-CN" dirty="0">
              <a:latin typeface="Arial" charset="0"/>
            </a:endParaRPr>
          </a:p>
          <a:p>
            <a:pPr lvl="2"/>
            <a:endParaRPr lang="zh-CN" altLang="en-US" dirty="0">
              <a:latin typeface="Arial" charset="0"/>
            </a:endParaRPr>
          </a:p>
        </p:txBody>
      </p:sp>
      <p:sp>
        <p:nvSpPr>
          <p:cNvPr id="11268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fld id="{2DDFB286-136B-4E7F-8659-DB546AC19A2D}" type="slidenum">
              <a:rPr lang="en-US" altLang="zh-CN" smtClean="0">
                <a:solidFill>
                  <a:srgbClr val="006600"/>
                </a:solidFill>
                <a:latin typeface="Courier New" pitchFamily="49" charset="0"/>
                <a:ea typeface="华文新魏" pitchFamily="2" charset="-122"/>
              </a:rPr>
              <a:pPr eaLnBrk="1" hangingPunct="1"/>
              <a:t>24</a:t>
            </a:fld>
            <a:endParaRPr lang="en-US" altLang="zh-CN">
              <a:solidFill>
                <a:srgbClr val="006600"/>
              </a:solidFill>
              <a:latin typeface="Courier New" pitchFamily="49" charset="0"/>
              <a:ea typeface="华文新魏" pitchFamily="2" charset="-122"/>
            </a:endParaRPr>
          </a:p>
        </p:txBody>
      </p:sp>
      <p:grpSp>
        <p:nvGrpSpPr>
          <p:cNvPr id="11269" name="组合 76"/>
          <p:cNvGrpSpPr>
            <a:grpSpLocks/>
          </p:cNvGrpSpPr>
          <p:nvPr/>
        </p:nvGrpSpPr>
        <p:grpSpPr bwMode="auto">
          <a:xfrm>
            <a:off x="6702425" y="1341438"/>
            <a:ext cx="2406650" cy="1858962"/>
            <a:chOff x="6702311" y="1520788"/>
            <a:chExt cx="2406193" cy="1860034"/>
          </a:xfrm>
        </p:grpSpPr>
        <p:sp>
          <p:nvSpPr>
            <p:cNvPr id="59" name="Oval 16"/>
            <p:cNvSpPr>
              <a:spLocks noChangeArrowheads="1"/>
            </p:cNvSpPr>
            <p:nvPr/>
          </p:nvSpPr>
          <p:spPr bwMode="auto">
            <a:xfrm>
              <a:off x="7854617" y="2260990"/>
              <a:ext cx="358707" cy="360570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 w="6350">
              <a:solidFill>
                <a:schemeClr val="bg2">
                  <a:lumMod val="40000"/>
                  <a:lumOff val="6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b="1" dirty="0">
                  <a:ea typeface="宋体" pitchFamily="2" charset="-122"/>
                </a:rPr>
                <a:t>8</a:t>
              </a:r>
              <a:endParaRPr lang="zh-CN" altLang="en-US" b="1" dirty="0">
                <a:ea typeface="宋体" pitchFamily="2" charset="-122"/>
              </a:endParaRPr>
            </a:p>
          </p:txBody>
        </p:sp>
        <p:sp>
          <p:nvSpPr>
            <p:cNvPr id="62" name="Oval 17"/>
            <p:cNvSpPr>
              <a:spLocks noChangeArrowheads="1"/>
            </p:cNvSpPr>
            <p:nvPr/>
          </p:nvSpPr>
          <p:spPr bwMode="auto">
            <a:xfrm>
              <a:off x="8445055" y="2260990"/>
              <a:ext cx="360295" cy="360570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 w="6350">
              <a:solidFill>
                <a:schemeClr val="bg2">
                  <a:lumMod val="40000"/>
                  <a:lumOff val="6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b="1" dirty="0">
                  <a:ea typeface="宋体" pitchFamily="2" charset="-122"/>
                </a:rPr>
                <a:t>1</a:t>
              </a:r>
              <a:endParaRPr lang="zh-CN" altLang="en-US" b="1" dirty="0">
                <a:ea typeface="宋体" pitchFamily="2" charset="-122"/>
              </a:endParaRPr>
            </a:p>
          </p:txBody>
        </p:sp>
        <p:sp>
          <p:nvSpPr>
            <p:cNvPr id="63" name="Oval 16"/>
            <p:cNvSpPr>
              <a:spLocks noChangeArrowheads="1"/>
            </p:cNvSpPr>
            <p:nvPr/>
          </p:nvSpPr>
          <p:spPr bwMode="auto">
            <a:xfrm>
              <a:off x="6702311" y="2260990"/>
              <a:ext cx="360295" cy="360570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 w="6350">
              <a:solidFill>
                <a:schemeClr val="bg2">
                  <a:lumMod val="40000"/>
                  <a:lumOff val="6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b="1" dirty="0">
                  <a:ea typeface="宋体" pitchFamily="2" charset="-122"/>
                </a:rPr>
                <a:t>6</a:t>
              </a:r>
              <a:endParaRPr lang="zh-CN" altLang="en-US" b="1" dirty="0">
                <a:ea typeface="宋体" pitchFamily="2" charset="-122"/>
              </a:endParaRPr>
            </a:p>
          </p:txBody>
        </p:sp>
        <p:sp>
          <p:nvSpPr>
            <p:cNvPr id="64" name="Oval 17"/>
            <p:cNvSpPr>
              <a:spLocks noChangeArrowheads="1"/>
            </p:cNvSpPr>
            <p:nvPr/>
          </p:nvSpPr>
          <p:spPr bwMode="auto">
            <a:xfrm>
              <a:off x="7278465" y="2260990"/>
              <a:ext cx="360294" cy="360570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 w="6350">
              <a:solidFill>
                <a:schemeClr val="bg2">
                  <a:lumMod val="40000"/>
                  <a:lumOff val="6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b="1" dirty="0">
                  <a:ea typeface="宋体" pitchFamily="2" charset="-122"/>
                </a:rPr>
                <a:t>7</a:t>
              </a:r>
              <a:endParaRPr lang="zh-CN" altLang="en-US" b="1" dirty="0">
                <a:ea typeface="宋体" pitchFamily="2" charset="-122"/>
              </a:endParaRPr>
            </a:p>
          </p:txBody>
        </p:sp>
        <p:sp>
          <p:nvSpPr>
            <p:cNvPr id="65" name="Oval 16"/>
            <p:cNvSpPr>
              <a:spLocks noChangeArrowheads="1"/>
            </p:cNvSpPr>
            <p:nvPr/>
          </p:nvSpPr>
          <p:spPr bwMode="auto">
            <a:xfrm>
              <a:off x="8208563" y="3020252"/>
              <a:ext cx="360294" cy="360570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 w="6350">
              <a:solidFill>
                <a:schemeClr val="bg2">
                  <a:lumMod val="40000"/>
                  <a:lumOff val="6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b="1" dirty="0">
                  <a:ea typeface="宋体" pitchFamily="2" charset="-122"/>
                </a:rPr>
                <a:t>4</a:t>
              </a:r>
              <a:endParaRPr lang="zh-CN" altLang="en-US" b="1" dirty="0">
                <a:ea typeface="宋体" pitchFamily="2" charset="-122"/>
              </a:endParaRPr>
            </a:p>
          </p:txBody>
        </p:sp>
        <p:sp>
          <p:nvSpPr>
            <p:cNvPr id="66" name="Oval 16"/>
            <p:cNvSpPr>
              <a:spLocks noChangeArrowheads="1"/>
            </p:cNvSpPr>
            <p:nvPr/>
          </p:nvSpPr>
          <p:spPr bwMode="auto">
            <a:xfrm>
              <a:off x="8748210" y="3020252"/>
              <a:ext cx="360294" cy="360570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 w="6350">
              <a:solidFill>
                <a:schemeClr val="bg2">
                  <a:lumMod val="40000"/>
                  <a:lumOff val="6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b="1" dirty="0">
                  <a:ea typeface="宋体" pitchFamily="2" charset="-122"/>
                </a:rPr>
                <a:t>9</a:t>
              </a:r>
              <a:endParaRPr lang="zh-CN" altLang="en-US" b="1" dirty="0">
                <a:ea typeface="宋体" pitchFamily="2" charset="-122"/>
              </a:endParaRPr>
            </a:p>
          </p:txBody>
        </p:sp>
        <p:sp>
          <p:nvSpPr>
            <p:cNvPr id="67" name="Oval 16"/>
            <p:cNvSpPr>
              <a:spLocks noChangeArrowheads="1"/>
            </p:cNvSpPr>
            <p:nvPr/>
          </p:nvSpPr>
          <p:spPr bwMode="auto">
            <a:xfrm>
              <a:off x="7430836" y="1520788"/>
              <a:ext cx="360294" cy="360570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 w="6350">
              <a:solidFill>
                <a:schemeClr val="bg2">
                  <a:lumMod val="40000"/>
                  <a:lumOff val="6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b="1" dirty="0">
                  <a:ea typeface="宋体" pitchFamily="2" charset="-122"/>
                </a:rPr>
                <a:t>0</a:t>
              </a:r>
              <a:endParaRPr lang="zh-CN" altLang="en-US" b="1" dirty="0">
                <a:ea typeface="宋体" pitchFamily="2" charset="-122"/>
              </a:endParaRPr>
            </a:p>
          </p:txBody>
        </p:sp>
        <p:cxnSp>
          <p:nvCxnSpPr>
            <p:cNvPr id="68" name="直接箭头连接符 67"/>
            <p:cNvCxnSpPr>
              <a:stCxn id="63" idx="0"/>
            </p:cNvCxnSpPr>
            <p:nvPr/>
          </p:nvCxnSpPr>
          <p:spPr>
            <a:xfrm flipV="1">
              <a:off x="6883252" y="1808291"/>
              <a:ext cx="644403" cy="452699"/>
            </a:xfrm>
            <a:prstGeom prst="straightConnector1">
              <a:avLst/>
            </a:prstGeom>
            <a:ln w="19050">
              <a:solidFill>
                <a:schemeClr val="bg2">
                  <a:lumMod val="40000"/>
                  <a:lumOff val="6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箭头连接符 68"/>
            <p:cNvCxnSpPr>
              <a:stCxn id="64" idx="0"/>
            </p:cNvCxnSpPr>
            <p:nvPr/>
          </p:nvCxnSpPr>
          <p:spPr>
            <a:xfrm flipV="1">
              <a:off x="7457818" y="1862297"/>
              <a:ext cx="198400" cy="398693"/>
            </a:xfrm>
            <a:prstGeom prst="straightConnector1">
              <a:avLst/>
            </a:prstGeom>
            <a:ln w="19050">
              <a:solidFill>
                <a:schemeClr val="bg2">
                  <a:lumMod val="40000"/>
                  <a:lumOff val="6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箭头连接符 69"/>
            <p:cNvCxnSpPr>
              <a:stCxn id="59" idx="0"/>
            </p:cNvCxnSpPr>
            <p:nvPr/>
          </p:nvCxnSpPr>
          <p:spPr>
            <a:xfrm flipH="1" flipV="1">
              <a:off x="7656218" y="1862297"/>
              <a:ext cx="377753" cy="398693"/>
            </a:xfrm>
            <a:prstGeom prst="straightConnector1">
              <a:avLst/>
            </a:prstGeom>
            <a:ln w="19050">
              <a:solidFill>
                <a:schemeClr val="bg2">
                  <a:lumMod val="40000"/>
                  <a:lumOff val="6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箭头连接符 70"/>
            <p:cNvCxnSpPr>
              <a:stCxn id="65" idx="0"/>
              <a:endCxn id="62" idx="3"/>
            </p:cNvCxnSpPr>
            <p:nvPr/>
          </p:nvCxnSpPr>
          <p:spPr>
            <a:xfrm flipV="1">
              <a:off x="8387916" y="2569142"/>
              <a:ext cx="111104" cy="451110"/>
            </a:xfrm>
            <a:prstGeom prst="straightConnector1">
              <a:avLst/>
            </a:prstGeom>
            <a:ln w="19050">
              <a:solidFill>
                <a:schemeClr val="bg2">
                  <a:lumMod val="40000"/>
                  <a:lumOff val="6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箭头连接符 71"/>
            <p:cNvCxnSpPr>
              <a:stCxn id="66" idx="0"/>
              <a:endCxn id="62" idx="5"/>
            </p:cNvCxnSpPr>
            <p:nvPr/>
          </p:nvCxnSpPr>
          <p:spPr>
            <a:xfrm flipH="1" flipV="1">
              <a:off x="8752972" y="2569142"/>
              <a:ext cx="174592" cy="451110"/>
            </a:xfrm>
            <a:prstGeom prst="straightConnector1">
              <a:avLst/>
            </a:prstGeom>
            <a:ln w="19050">
              <a:solidFill>
                <a:schemeClr val="bg2">
                  <a:lumMod val="40000"/>
                  <a:lumOff val="6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箭头连接符 73"/>
            <p:cNvCxnSpPr>
              <a:stCxn id="62" idx="0"/>
            </p:cNvCxnSpPr>
            <p:nvPr/>
          </p:nvCxnSpPr>
          <p:spPr>
            <a:xfrm flipH="1" flipV="1">
              <a:off x="7783194" y="1808291"/>
              <a:ext cx="842802" cy="452699"/>
            </a:xfrm>
            <a:prstGeom prst="straightConnector1">
              <a:avLst/>
            </a:prstGeom>
            <a:ln w="19050">
              <a:solidFill>
                <a:schemeClr val="bg2">
                  <a:lumMod val="40000"/>
                  <a:lumOff val="6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270" name="组合 77"/>
          <p:cNvGrpSpPr>
            <a:grpSpLocks/>
          </p:cNvGrpSpPr>
          <p:nvPr/>
        </p:nvGrpSpPr>
        <p:grpSpPr bwMode="auto">
          <a:xfrm>
            <a:off x="7132638" y="4100513"/>
            <a:ext cx="2011362" cy="1874837"/>
            <a:chOff x="7132296" y="4038202"/>
            <a:chExt cx="2012212" cy="1875074"/>
          </a:xfrm>
        </p:grpSpPr>
        <p:sp>
          <p:nvSpPr>
            <p:cNvPr id="87" name="Oval 16"/>
            <p:cNvSpPr>
              <a:spLocks noChangeArrowheads="1"/>
            </p:cNvSpPr>
            <p:nvPr/>
          </p:nvSpPr>
          <p:spPr bwMode="auto">
            <a:xfrm>
              <a:off x="8283719" y="5552868"/>
              <a:ext cx="358927" cy="360408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 w="6350">
              <a:solidFill>
                <a:schemeClr val="bg2">
                  <a:lumMod val="40000"/>
                  <a:lumOff val="6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b="1" dirty="0">
                  <a:ea typeface="宋体" pitchFamily="2" charset="-122"/>
                </a:rPr>
                <a:t>8</a:t>
              </a:r>
              <a:endParaRPr lang="zh-CN" altLang="en-US" b="1" dirty="0">
                <a:ea typeface="宋体" pitchFamily="2" charset="-122"/>
              </a:endParaRPr>
            </a:p>
          </p:txBody>
        </p:sp>
        <p:sp>
          <p:nvSpPr>
            <p:cNvPr id="88" name="Oval 17"/>
            <p:cNvSpPr>
              <a:spLocks noChangeArrowheads="1"/>
            </p:cNvSpPr>
            <p:nvPr/>
          </p:nvSpPr>
          <p:spPr bwMode="auto">
            <a:xfrm>
              <a:off x="8231310" y="4038202"/>
              <a:ext cx="360514" cy="360408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 w="6350">
              <a:solidFill>
                <a:schemeClr val="bg2">
                  <a:lumMod val="40000"/>
                  <a:lumOff val="6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b="1" dirty="0">
                  <a:ea typeface="宋体" pitchFamily="2" charset="-122"/>
                </a:rPr>
                <a:t>1</a:t>
              </a:r>
              <a:endParaRPr lang="zh-CN" altLang="en-US" b="1" dirty="0">
                <a:ea typeface="宋体" pitchFamily="2" charset="-122"/>
              </a:endParaRPr>
            </a:p>
          </p:txBody>
        </p:sp>
        <p:sp>
          <p:nvSpPr>
            <p:cNvPr id="89" name="Oval 16"/>
            <p:cNvSpPr>
              <a:spLocks noChangeArrowheads="1"/>
            </p:cNvSpPr>
            <p:nvPr/>
          </p:nvSpPr>
          <p:spPr bwMode="auto">
            <a:xfrm>
              <a:off x="7132296" y="5552868"/>
              <a:ext cx="360514" cy="360408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 w="6350">
              <a:solidFill>
                <a:schemeClr val="bg2">
                  <a:lumMod val="40000"/>
                  <a:lumOff val="6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b="1" dirty="0">
                  <a:ea typeface="宋体" pitchFamily="2" charset="-122"/>
                </a:rPr>
                <a:t>6</a:t>
              </a:r>
              <a:endParaRPr lang="zh-CN" altLang="en-US" b="1" dirty="0">
                <a:ea typeface="宋体" pitchFamily="2" charset="-122"/>
              </a:endParaRPr>
            </a:p>
          </p:txBody>
        </p:sp>
        <p:sp>
          <p:nvSpPr>
            <p:cNvPr id="90" name="Oval 17"/>
            <p:cNvSpPr>
              <a:spLocks noChangeArrowheads="1"/>
            </p:cNvSpPr>
            <p:nvPr/>
          </p:nvSpPr>
          <p:spPr bwMode="auto">
            <a:xfrm>
              <a:off x="7708802" y="5552868"/>
              <a:ext cx="360515" cy="360408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 w="6350">
              <a:solidFill>
                <a:schemeClr val="bg2">
                  <a:lumMod val="40000"/>
                  <a:lumOff val="6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b="1" dirty="0">
                  <a:ea typeface="宋体" pitchFamily="2" charset="-122"/>
                </a:rPr>
                <a:t>7</a:t>
              </a:r>
              <a:endParaRPr lang="zh-CN" altLang="en-US" b="1" dirty="0">
                <a:ea typeface="宋体" pitchFamily="2" charset="-122"/>
              </a:endParaRPr>
            </a:p>
          </p:txBody>
        </p:sp>
        <p:sp>
          <p:nvSpPr>
            <p:cNvPr id="91" name="Oval 16"/>
            <p:cNvSpPr>
              <a:spLocks noChangeArrowheads="1"/>
            </p:cNvSpPr>
            <p:nvPr/>
          </p:nvSpPr>
          <p:spPr bwMode="auto">
            <a:xfrm>
              <a:off x="8244016" y="4800298"/>
              <a:ext cx="360514" cy="360408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 w="6350">
              <a:solidFill>
                <a:schemeClr val="bg2">
                  <a:lumMod val="40000"/>
                  <a:lumOff val="6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b="1" dirty="0">
                  <a:ea typeface="宋体" pitchFamily="2" charset="-122"/>
                </a:rPr>
                <a:t>4</a:t>
              </a:r>
              <a:endParaRPr lang="zh-CN" altLang="en-US" b="1" dirty="0">
                <a:ea typeface="宋体" pitchFamily="2" charset="-122"/>
              </a:endParaRPr>
            </a:p>
          </p:txBody>
        </p:sp>
        <p:sp>
          <p:nvSpPr>
            <p:cNvPr id="92" name="Oval 16"/>
            <p:cNvSpPr>
              <a:spLocks noChangeArrowheads="1"/>
            </p:cNvSpPr>
            <p:nvPr/>
          </p:nvSpPr>
          <p:spPr bwMode="auto">
            <a:xfrm>
              <a:off x="8783994" y="4800298"/>
              <a:ext cx="360514" cy="360408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 w="6350">
              <a:solidFill>
                <a:schemeClr val="bg2">
                  <a:lumMod val="40000"/>
                  <a:lumOff val="6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b="1" dirty="0">
                  <a:ea typeface="宋体" pitchFamily="2" charset="-122"/>
                </a:rPr>
                <a:t>9</a:t>
              </a:r>
              <a:endParaRPr lang="zh-CN" altLang="en-US" b="1" dirty="0">
                <a:ea typeface="宋体" pitchFamily="2" charset="-122"/>
              </a:endParaRPr>
            </a:p>
          </p:txBody>
        </p:sp>
        <p:sp>
          <p:nvSpPr>
            <p:cNvPr id="93" name="Oval 16"/>
            <p:cNvSpPr>
              <a:spLocks noChangeArrowheads="1"/>
            </p:cNvSpPr>
            <p:nvPr/>
          </p:nvSpPr>
          <p:spPr bwMode="auto">
            <a:xfrm>
              <a:off x="7708802" y="4793948"/>
              <a:ext cx="360515" cy="360408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 w="6350">
              <a:solidFill>
                <a:schemeClr val="bg2">
                  <a:lumMod val="40000"/>
                  <a:lumOff val="6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b="1" dirty="0">
                  <a:ea typeface="宋体" pitchFamily="2" charset="-122"/>
                </a:rPr>
                <a:t>0</a:t>
              </a:r>
              <a:endParaRPr lang="zh-CN" altLang="en-US" b="1" dirty="0">
                <a:ea typeface="宋体" pitchFamily="2" charset="-122"/>
              </a:endParaRPr>
            </a:p>
          </p:txBody>
        </p:sp>
        <p:cxnSp>
          <p:nvCxnSpPr>
            <p:cNvPr id="94" name="直接箭头连接符 93"/>
            <p:cNvCxnSpPr>
              <a:stCxn id="89" idx="0"/>
              <a:endCxn id="93" idx="3"/>
            </p:cNvCxnSpPr>
            <p:nvPr/>
          </p:nvCxnSpPr>
          <p:spPr>
            <a:xfrm flipV="1">
              <a:off x="7311759" y="5100373"/>
              <a:ext cx="449453" cy="452495"/>
            </a:xfrm>
            <a:prstGeom prst="straightConnector1">
              <a:avLst/>
            </a:prstGeom>
            <a:ln w="19050">
              <a:solidFill>
                <a:schemeClr val="bg2">
                  <a:lumMod val="40000"/>
                  <a:lumOff val="6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箭头连接符 94"/>
            <p:cNvCxnSpPr>
              <a:stCxn id="90" idx="0"/>
              <a:endCxn id="93" idx="4"/>
            </p:cNvCxnSpPr>
            <p:nvPr/>
          </p:nvCxnSpPr>
          <p:spPr>
            <a:xfrm flipV="1">
              <a:off x="7888265" y="5154355"/>
              <a:ext cx="0" cy="398513"/>
            </a:xfrm>
            <a:prstGeom prst="straightConnector1">
              <a:avLst/>
            </a:prstGeom>
            <a:ln w="19050">
              <a:solidFill>
                <a:schemeClr val="bg2">
                  <a:lumMod val="40000"/>
                  <a:lumOff val="6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箭头连接符 95"/>
            <p:cNvCxnSpPr>
              <a:stCxn id="87" idx="0"/>
              <a:endCxn id="93" idx="5"/>
            </p:cNvCxnSpPr>
            <p:nvPr/>
          </p:nvCxnSpPr>
          <p:spPr>
            <a:xfrm flipH="1" flipV="1">
              <a:off x="8015319" y="5100373"/>
              <a:ext cx="447864" cy="452495"/>
            </a:xfrm>
            <a:prstGeom prst="straightConnector1">
              <a:avLst/>
            </a:prstGeom>
            <a:ln w="19050">
              <a:solidFill>
                <a:schemeClr val="bg2">
                  <a:lumMod val="40000"/>
                  <a:lumOff val="6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箭头连接符 96"/>
            <p:cNvCxnSpPr>
              <a:stCxn id="91" idx="0"/>
              <a:endCxn id="88" idx="4"/>
            </p:cNvCxnSpPr>
            <p:nvPr/>
          </p:nvCxnSpPr>
          <p:spPr>
            <a:xfrm flipH="1" flipV="1">
              <a:off x="8412362" y="4398610"/>
              <a:ext cx="11117" cy="401689"/>
            </a:xfrm>
            <a:prstGeom prst="straightConnector1">
              <a:avLst/>
            </a:prstGeom>
            <a:ln w="19050">
              <a:solidFill>
                <a:schemeClr val="bg2">
                  <a:lumMod val="40000"/>
                  <a:lumOff val="6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箭头连接符 97"/>
            <p:cNvCxnSpPr>
              <a:stCxn id="92" idx="0"/>
              <a:endCxn id="88" idx="5"/>
            </p:cNvCxnSpPr>
            <p:nvPr/>
          </p:nvCxnSpPr>
          <p:spPr>
            <a:xfrm flipH="1" flipV="1">
              <a:off x="8539415" y="4346216"/>
              <a:ext cx="425630" cy="454082"/>
            </a:xfrm>
            <a:prstGeom prst="straightConnector1">
              <a:avLst/>
            </a:prstGeom>
            <a:ln w="19050">
              <a:solidFill>
                <a:schemeClr val="bg2">
                  <a:lumMod val="40000"/>
                  <a:lumOff val="6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箭头连接符 105"/>
            <p:cNvCxnSpPr>
              <a:stCxn id="93" idx="0"/>
              <a:endCxn id="88" idx="3"/>
            </p:cNvCxnSpPr>
            <p:nvPr/>
          </p:nvCxnSpPr>
          <p:spPr>
            <a:xfrm flipV="1">
              <a:off x="7888265" y="4346216"/>
              <a:ext cx="395454" cy="447732"/>
            </a:xfrm>
            <a:prstGeom prst="straightConnector1">
              <a:avLst/>
            </a:prstGeom>
            <a:ln w="19050">
              <a:solidFill>
                <a:schemeClr val="bg2">
                  <a:lumMod val="40000"/>
                  <a:lumOff val="6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271" name="TextBox 74"/>
          <p:cNvSpPr txBox="1">
            <a:spLocks noChangeArrowheads="1"/>
          </p:cNvSpPr>
          <p:nvPr/>
        </p:nvSpPr>
        <p:spPr bwMode="auto">
          <a:xfrm>
            <a:off x="7164388" y="3232150"/>
            <a:ext cx="18113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zh-CN" altLang="en-US" b="1" dirty="0">
                <a:solidFill>
                  <a:srgbClr val="000099"/>
                </a:solidFill>
                <a:ea typeface="黑体" pitchFamily="49" charset="-122"/>
              </a:rPr>
              <a:t>第一种合并方式</a:t>
            </a:r>
          </a:p>
        </p:txBody>
      </p:sp>
      <p:sp>
        <p:nvSpPr>
          <p:cNvPr id="11272" name="TextBox 109"/>
          <p:cNvSpPr txBox="1">
            <a:spLocks noChangeArrowheads="1"/>
          </p:cNvSpPr>
          <p:nvPr/>
        </p:nvSpPr>
        <p:spPr bwMode="auto">
          <a:xfrm>
            <a:off x="7224713" y="6048375"/>
            <a:ext cx="18113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zh-CN" altLang="en-US" b="1">
                <a:solidFill>
                  <a:srgbClr val="000099"/>
                </a:solidFill>
                <a:ea typeface="黑体" pitchFamily="49" charset="-122"/>
              </a:rPr>
              <a:t>第二种合并方式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7088" y="5048250"/>
            <a:ext cx="3206750" cy="36830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25400">
            <a:noFill/>
          </a:ln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  <a:defRPr/>
            </a:pPr>
            <a:r>
              <a:rPr lang="zh-CN" altLang="en-US" b="1" dirty="0">
                <a:solidFill>
                  <a:srgbClr val="000099"/>
                </a:solidFill>
                <a:ea typeface="黑体" pitchFamily="49" charset="-122"/>
              </a:rPr>
              <a:t>第一种方式好：查找时间更优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27088" y="5586413"/>
            <a:ext cx="5764212" cy="64611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25400">
            <a:noFill/>
          </a:ln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  <a:defRPr/>
            </a:pPr>
            <a:r>
              <a:rPr lang="zh-CN" altLang="en-US" b="1" dirty="0">
                <a:solidFill>
                  <a:srgbClr val="000099"/>
                </a:solidFill>
                <a:ea typeface="黑体" pitchFamily="49" charset="-122"/>
              </a:rPr>
              <a:t>合并方式：</a:t>
            </a:r>
            <a:endParaRPr lang="en-US" altLang="zh-CN" b="1" dirty="0">
              <a:solidFill>
                <a:srgbClr val="000099"/>
              </a:solidFill>
              <a:ea typeface="黑体" pitchFamily="49" charset="-122"/>
            </a:endParaRPr>
          </a:p>
          <a:p>
            <a:pPr>
              <a:buFont typeface="Wingdings" pitchFamily="2" charset="2"/>
              <a:buNone/>
              <a:defRPr/>
            </a:pPr>
            <a:r>
              <a:rPr lang="zh-CN" altLang="en-US" b="1" dirty="0">
                <a:solidFill>
                  <a:srgbClr val="000099"/>
                </a:solidFill>
                <a:ea typeface="黑体" pitchFamily="49" charset="-122"/>
              </a:rPr>
              <a:t>将结点数更少的集合作为结点数更多的集合的根的子树</a:t>
            </a:r>
          </a:p>
        </p:txBody>
      </p:sp>
    </p:spTree>
    <p:extLst>
      <p:ext uri="{BB962C8B-B14F-4D97-AF65-F5344CB8AC3E}">
        <p14:creationId xmlns:p14="http://schemas.microsoft.com/office/powerpoint/2010/main" val="2118913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并查集</a:t>
            </a:r>
          </a:p>
        </p:txBody>
      </p:sp>
      <p:sp>
        <p:nvSpPr>
          <p:cNvPr id="1126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Arial" charset="0"/>
              </a:rPr>
              <a:t>用树表示集合</a:t>
            </a:r>
            <a:endParaRPr lang="en-US" altLang="zh-CN" dirty="0">
              <a:latin typeface="Arial" charset="0"/>
            </a:endParaRPr>
          </a:p>
          <a:p>
            <a:pPr lvl="1"/>
            <a:r>
              <a:rPr lang="zh-CN" altLang="en-US" dirty="0">
                <a:latin typeface="Arial" charset="0"/>
              </a:rPr>
              <a:t>合并</a:t>
            </a:r>
            <a:r>
              <a:rPr lang="en-US" altLang="zh-CN" dirty="0">
                <a:latin typeface="Arial" charset="0"/>
              </a:rPr>
              <a:t>s</a:t>
            </a:r>
            <a:r>
              <a:rPr lang="en-US" altLang="zh-CN" baseline="-25000" dirty="0">
                <a:latin typeface="Arial" charset="0"/>
              </a:rPr>
              <a:t>1</a:t>
            </a:r>
            <a:r>
              <a:rPr lang="en-US" altLang="zh-CN" dirty="0">
                <a:latin typeface="Arial" charset="0"/>
              </a:rPr>
              <a:t>={0,2,6,7,8}</a:t>
            </a:r>
            <a:r>
              <a:rPr lang="en-US" altLang="zh-CN" dirty="0">
                <a:latin typeface="Arial" charset="0"/>
                <a:sym typeface="Symbol" pitchFamily="18" charset="2"/>
              </a:rPr>
              <a:t>  </a:t>
            </a:r>
            <a:r>
              <a:rPr lang="en-US" altLang="zh-CN" dirty="0">
                <a:latin typeface="Arial" charset="0"/>
              </a:rPr>
              <a:t>s</a:t>
            </a:r>
            <a:r>
              <a:rPr lang="en-US" altLang="zh-CN" baseline="-25000" dirty="0">
                <a:latin typeface="Arial" charset="0"/>
              </a:rPr>
              <a:t>2</a:t>
            </a:r>
            <a:r>
              <a:rPr lang="en-US" altLang="zh-CN" dirty="0">
                <a:latin typeface="Arial" charset="0"/>
                <a:sym typeface="Symbol" pitchFamily="18" charset="2"/>
              </a:rPr>
              <a:t>=</a:t>
            </a:r>
            <a:r>
              <a:rPr lang="en-US" altLang="zh-CN" dirty="0">
                <a:latin typeface="Arial" charset="0"/>
              </a:rPr>
              <a:t>{1,4,9}</a:t>
            </a:r>
          </a:p>
          <a:p>
            <a:pPr lvl="2"/>
            <a:r>
              <a:rPr lang="zh-CN" altLang="en-US" dirty="0">
                <a:solidFill>
                  <a:srgbClr val="000099"/>
                </a:solidFill>
              </a:rPr>
              <a:t>令秩表示树的深度</a:t>
            </a:r>
            <a:endParaRPr lang="en-US" altLang="zh-CN" dirty="0">
              <a:solidFill>
                <a:srgbClr val="000099"/>
              </a:solidFill>
            </a:endParaRPr>
          </a:p>
          <a:p>
            <a:pPr lvl="2"/>
            <a:r>
              <a:rPr lang="zh-CN" altLang="en-US" dirty="0">
                <a:solidFill>
                  <a:srgbClr val="000099"/>
                </a:solidFill>
              </a:rPr>
              <a:t>将秩更小的树作为秩更大的树的根的子树</a:t>
            </a:r>
          </a:p>
          <a:p>
            <a:pPr lvl="2"/>
            <a:endParaRPr lang="zh-CN" altLang="en-US" dirty="0">
              <a:latin typeface="Arial" charset="0"/>
            </a:endParaRPr>
          </a:p>
        </p:txBody>
      </p:sp>
      <p:sp>
        <p:nvSpPr>
          <p:cNvPr id="11268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fld id="{2DDFB286-136B-4E7F-8659-DB546AC19A2D}" type="slidenum">
              <a:rPr lang="en-US" altLang="zh-CN" smtClean="0">
                <a:solidFill>
                  <a:srgbClr val="006600"/>
                </a:solidFill>
                <a:latin typeface="Courier New" pitchFamily="49" charset="0"/>
                <a:ea typeface="华文新魏" pitchFamily="2" charset="-122"/>
              </a:rPr>
              <a:pPr eaLnBrk="1" hangingPunct="1"/>
              <a:t>25</a:t>
            </a:fld>
            <a:endParaRPr lang="en-US" altLang="zh-CN">
              <a:solidFill>
                <a:srgbClr val="006600"/>
              </a:solidFill>
              <a:latin typeface="Courier New" pitchFamily="49" charset="0"/>
              <a:ea typeface="华文新魏" pitchFamily="2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08018" y="3462230"/>
            <a:ext cx="7415350" cy="1859769"/>
            <a:chOff x="430075" y="4557886"/>
            <a:chExt cx="7415350" cy="1859769"/>
          </a:xfrm>
        </p:grpSpPr>
        <p:sp>
          <p:nvSpPr>
            <p:cNvPr id="37" name="Oval 16"/>
            <p:cNvSpPr>
              <a:spLocks noChangeArrowheads="1"/>
            </p:cNvSpPr>
            <p:nvPr/>
          </p:nvSpPr>
          <p:spPr bwMode="auto">
            <a:xfrm>
              <a:off x="1606230" y="5316711"/>
              <a:ext cx="358775" cy="360363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 w="6350">
              <a:solidFill>
                <a:schemeClr val="bg2">
                  <a:lumMod val="40000"/>
                  <a:lumOff val="6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b="1" dirty="0">
                  <a:ea typeface="宋体" pitchFamily="2" charset="-122"/>
                </a:rPr>
                <a:t>8</a:t>
              </a:r>
              <a:endParaRPr lang="zh-CN" altLang="en-US" b="1" dirty="0">
                <a:ea typeface="宋体" pitchFamily="2" charset="-122"/>
              </a:endParaRPr>
            </a:p>
          </p:txBody>
        </p:sp>
        <p:sp>
          <p:nvSpPr>
            <p:cNvPr id="38" name="Oval 16"/>
            <p:cNvSpPr>
              <a:spLocks noChangeArrowheads="1"/>
            </p:cNvSpPr>
            <p:nvPr/>
          </p:nvSpPr>
          <p:spPr bwMode="auto">
            <a:xfrm>
              <a:off x="453705" y="5316711"/>
              <a:ext cx="360363" cy="360363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 w="6350">
              <a:solidFill>
                <a:schemeClr val="bg2">
                  <a:lumMod val="40000"/>
                  <a:lumOff val="6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b="1" dirty="0">
                  <a:ea typeface="宋体" pitchFamily="2" charset="-122"/>
                </a:rPr>
                <a:t>6</a:t>
              </a:r>
              <a:endParaRPr lang="zh-CN" altLang="en-US" b="1" dirty="0">
                <a:ea typeface="宋体" pitchFamily="2" charset="-122"/>
              </a:endParaRPr>
            </a:p>
          </p:txBody>
        </p:sp>
        <p:sp>
          <p:nvSpPr>
            <p:cNvPr id="39" name="Oval 17"/>
            <p:cNvSpPr>
              <a:spLocks noChangeArrowheads="1"/>
            </p:cNvSpPr>
            <p:nvPr/>
          </p:nvSpPr>
          <p:spPr bwMode="auto">
            <a:xfrm>
              <a:off x="1029968" y="5316711"/>
              <a:ext cx="360362" cy="360363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 w="6350">
              <a:solidFill>
                <a:schemeClr val="bg2">
                  <a:lumMod val="40000"/>
                  <a:lumOff val="6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b="1" dirty="0">
                  <a:ea typeface="宋体" pitchFamily="2" charset="-122"/>
                </a:rPr>
                <a:t>7</a:t>
              </a:r>
              <a:endParaRPr lang="zh-CN" altLang="en-US" b="1" dirty="0">
                <a:ea typeface="宋体" pitchFamily="2" charset="-122"/>
              </a:endParaRPr>
            </a:p>
          </p:txBody>
        </p:sp>
        <p:sp>
          <p:nvSpPr>
            <p:cNvPr id="40" name="Oval 16"/>
            <p:cNvSpPr>
              <a:spLocks noChangeArrowheads="1"/>
            </p:cNvSpPr>
            <p:nvPr/>
          </p:nvSpPr>
          <p:spPr bwMode="auto">
            <a:xfrm>
              <a:off x="1029968" y="4557886"/>
              <a:ext cx="360362" cy="360363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 w="6350">
              <a:solidFill>
                <a:schemeClr val="bg2">
                  <a:lumMod val="40000"/>
                  <a:lumOff val="6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b="1" dirty="0">
                  <a:ea typeface="宋体" pitchFamily="2" charset="-122"/>
                </a:rPr>
                <a:t>0</a:t>
              </a:r>
              <a:endParaRPr lang="zh-CN" altLang="en-US" b="1" dirty="0">
                <a:ea typeface="宋体" pitchFamily="2" charset="-122"/>
              </a:endParaRPr>
            </a:p>
          </p:txBody>
        </p:sp>
        <p:cxnSp>
          <p:nvCxnSpPr>
            <p:cNvPr id="41" name="直接箭头连接符 40"/>
            <p:cNvCxnSpPr>
              <a:stCxn id="38" idx="0"/>
              <a:endCxn id="40" idx="3"/>
            </p:cNvCxnSpPr>
            <p:nvPr/>
          </p:nvCxnSpPr>
          <p:spPr>
            <a:xfrm flipV="1">
              <a:off x="634680" y="4865861"/>
              <a:ext cx="447675" cy="450850"/>
            </a:xfrm>
            <a:prstGeom prst="straightConnector1">
              <a:avLst/>
            </a:prstGeom>
            <a:ln w="19050">
              <a:solidFill>
                <a:schemeClr val="bg2">
                  <a:lumMod val="40000"/>
                  <a:lumOff val="6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箭头连接符 41"/>
            <p:cNvCxnSpPr>
              <a:stCxn id="39" idx="0"/>
              <a:endCxn id="40" idx="4"/>
            </p:cNvCxnSpPr>
            <p:nvPr/>
          </p:nvCxnSpPr>
          <p:spPr>
            <a:xfrm flipV="1">
              <a:off x="1210943" y="4918249"/>
              <a:ext cx="0" cy="398462"/>
            </a:xfrm>
            <a:prstGeom prst="straightConnector1">
              <a:avLst/>
            </a:prstGeom>
            <a:ln w="19050">
              <a:solidFill>
                <a:schemeClr val="bg2">
                  <a:lumMod val="40000"/>
                  <a:lumOff val="6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箭头连接符 42"/>
            <p:cNvCxnSpPr>
              <a:stCxn id="37" idx="0"/>
              <a:endCxn id="40" idx="5"/>
            </p:cNvCxnSpPr>
            <p:nvPr/>
          </p:nvCxnSpPr>
          <p:spPr>
            <a:xfrm flipH="1" flipV="1">
              <a:off x="1337943" y="4865861"/>
              <a:ext cx="447675" cy="450850"/>
            </a:xfrm>
            <a:prstGeom prst="straightConnector1">
              <a:avLst/>
            </a:prstGeom>
            <a:ln w="19050">
              <a:solidFill>
                <a:schemeClr val="bg2">
                  <a:lumMod val="40000"/>
                  <a:lumOff val="6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Oval 17"/>
            <p:cNvSpPr>
              <a:spLocks noChangeArrowheads="1"/>
            </p:cNvSpPr>
            <p:nvPr/>
          </p:nvSpPr>
          <p:spPr bwMode="auto">
            <a:xfrm>
              <a:off x="2992118" y="4557886"/>
              <a:ext cx="360362" cy="360363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 w="6350">
              <a:solidFill>
                <a:schemeClr val="bg2">
                  <a:lumMod val="40000"/>
                  <a:lumOff val="6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b="1" dirty="0">
                  <a:ea typeface="宋体" pitchFamily="2" charset="-122"/>
                </a:rPr>
                <a:t>1</a:t>
              </a:r>
              <a:endParaRPr lang="zh-CN" altLang="en-US" b="1" dirty="0">
                <a:ea typeface="宋体" pitchFamily="2" charset="-122"/>
              </a:endParaRPr>
            </a:p>
          </p:txBody>
        </p:sp>
        <p:sp>
          <p:nvSpPr>
            <p:cNvPr id="45" name="Oval 16"/>
            <p:cNvSpPr>
              <a:spLocks noChangeArrowheads="1"/>
            </p:cNvSpPr>
            <p:nvPr/>
          </p:nvSpPr>
          <p:spPr bwMode="auto">
            <a:xfrm>
              <a:off x="2722243" y="5316711"/>
              <a:ext cx="360362" cy="360363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 w="6350">
              <a:solidFill>
                <a:schemeClr val="bg2">
                  <a:lumMod val="40000"/>
                  <a:lumOff val="6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b="1" dirty="0">
                  <a:ea typeface="宋体" pitchFamily="2" charset="-122"/>
                </a:rPr>
                <a:t>4</a:t>
              </a:r>
              <a:endParaRPr lang="zh-CN" altLang="en-US" b="1" dirty="0">
                <a:ea typeface="宋体" pitchFamily="2" charset="-122"/>
              </a:endParaRPr>
            </a:p>
          </p:txBody>
        </p:sp>
        <p:sp>
          <p:nvSpPr>
            <p:cNvPr id="46" name="Oval 16"/>
            <p:cNvSpPr>
              <a:spLocks noChangeArrowheads="1"/>
            </p:cNvSpPr>
            <p:nvPr/>
          </p:nvSpPr>
          <p:spPr bwMode="auto">
            <a:xfrm>
              <a:off x="3261993" y="5316711"/>
              <a:ext cx="360362" cy="360363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 w="6350">
              <a:solidFill>
                <a:schemeClr val="bg2">
                  <a:lumMod val="40000"/>
                  <a:lumOff val="6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b="1" dirty="0">
                  <a:ea typeface="宋体" pitchFamily="2" charset="-122"/>
                </a:rPr>
                <a:t>9</a:t>
              </a:r>
              <a:endParaRPr lang="zh-CN" altLang="en-US" b="1" dirty="0">
                <a:ea typeface="宋体" pitchFamily="2" charset="-122"/>
              </a:endParaRPr>
            </a:p>
          </p:txBody>
        </p:sp>
        <p:cxnSp>
          <p:nvCxnSpPr>
            <p:cNvPr id="47" name="直接箭头连接符 46"/>
            <p:cNvCxnSpPr>
              <a:stCxn id="45" idx="0"/>
              <a:endCxn id="44" idx="3"/>
            </p:cNvCxnSpPr>
            <p:nvPr/>
          </p:nvCxnSpPr>
          <p:spPr>
            <a:xfrm flipV="1">
              <a:off x="2903218" y="4865861"/>
              <a:ext cx="142875" cy="450850"/>
            </a:xfrm>
            <a:prstGeom prst="straightConnector1">
              <a:avLst/>
            </a:prstGeom>
            <a:ln w="19050">
              <a:solidFill>
                <a:schemeClr val="bg2">
                  <a:lumMod val="40000"/>
                  <a:lumOff val="6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箭头连接符 47"/>
            <p:cNvCxnSpPr>
              <a:stCxn id="46" idx="0"/>
              <a:endCxn id="44" idx="5"/>
            </p:cNvCxnSpPr>
            <p:nvPr/>
          </p:nvCxnSpPr>
          <p:spPr>
            <a:xfrm flipH="1" flipV="1">
              <a:off x="3300093" y="4865861"/>
              <a:ext cx="142875" cy="450850"/>
            </a:xfrm>
            <a:prstGeom prst="straightConnector1">
              <a:avLst/>
            </a:prstGeom>
            <a:ln w="19050">
              <a:solidFill>
                <a:schemeClr val="bg2">
                  <a:lumMod val="40000"/>
                  <a:lumOff val="6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矩形 48"/>
            <p:cNvSpPr/>
            <p:nvPr/>
          </p:nvSpPr>
          <p:spPr>
            <a:xfrm>
              <a:off x="2088830" y="4653136"/>
              <a:ext cx="501650" cy="58578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 b="1" dirty="0">
                  <a:solidFill>
                    <a:schemeClr val="bg2">
                      <a:lumMod val="60000"/>
                      <a:lumOff val="40000"/>
                    </a:schemeClr>
                  </a:solidFill>
                  <a:latin typeface="+mn-lt"/>
                  <a:ea typeface="宋体" pitchFamily="2" charset="-122"/>
                  <a:sym typeface="Symbol" pitchFamily="18" charset="2"/>
                </a:rPr>
                <a:t></a:t>
              </a:r>
              <a:endParaRPr lang="zh-CN" altLang="en-US" sz="32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ea typeface="宋体" pitchFamily="2" charset="-122"/>
              </a:endParaRPr>
            </a:p>
          </p:txBody>
        </p:sp>
        <p:sp>
          <p:nvSpPr>
            <p:cNvPr id="50" name="Oval 17"/>
            <p:cNvSpPr>
              <a:spLocks noChangeArrowheads="1"/>
            </p:cNvSpPr>
            <p:nvPr/>
          </p:nvSpPr>
          <p:spPr bwMode="auto">
            <a:xfrm>
              <a:off x="430075" y="6057292"/>
              <a:ext cx="360362" cy="360363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 w="6350">
              <a:solidFill>
                <a:schemeClr val="bg2">
                  <a:lumMod val="40000"/>
                  <a:lumOff val="6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b="1" dirty="0">
                  <a:ea typeface="宋体" pitchFamily="2" charset="-122"/>
                </a:rPr>
                <a:t>2</a:t>
              </a:r>
              <a:endParaRPr lang="zh-CN" altLang="en-US" b="1" dirty="0">
                <a:ea typeface="宋体" pitchFamily="2" charset="-122"/>
              </a:endParaRPr>
            </a:p>
          </p:txBody>
        </p:sp>
        <p:cxnSp>
          <p:nvCxnSpPr>
            <p:cNvPr id="51" name="直接箭头连接符 50"/>
            <p:cNvCxnSpPr>
              <a:stCxn id="50" idx="0"/>
            </p:cNvCxnSpPr>
            <p:nvPr/>
          </p:nvCxnSpPr>
          <p:spPr>
            <a:xfrm flipV="1">
              <a:off x="611050" y="5658830"/>
              <a:ext cx="0" cy="398462"/>
            </a:xfrm>
            <a:prstGeom prst="straightConnector1">
              <a:avLst/>
            </a:prstGeom>
            <a:ln w="19050">
              <a:solidFill>
                <a:schemeClr val="bg2">
                  <a:lumMod val="40000"/>
                  <a:lumOff val="6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右箭头 51"/>
            <p:cNvSpPr/>
            <p:nvPr/>
          </p:nvSpPr>
          <p:spPr bwMode="auto">
            <a:xfrm>
              <a:off x="4175956" y="4978573"/>
              <a:ext cx="439737" cy="225425"/>
            </a:xfrm>
            <a:prstGeom prst="rightArrow">
              <a:avLst/>
            </a:prstGeom>
            <a:solidFill>
              <a:schemeClr val="bg2">
                <a:lumMod val="40000"/>
                <a:lumOff val="60000"/>
              </a:schemeClr>
            </a:solidFill>
            <a:ln w="25400">
              <a:solidFill>
                <a:schemeClr val="bg2">
                  <a:lumMod val="40000"/>
                  <a:lumOff val="60000"/>
                </a:schemeClr>
              </a:solidFill>
              <a:miter lim="800000"/>
              <a:headEnd/>
              <a:tailEnd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6000"/>
                </a:lnSpc>
                <a:defRPr/>
              </a:pPr>
              <a:endParaRPr lang="zh-CN" altLang="en-US" b="1" dirty="0">
                <a:solidFill>
                  <a:srgbClr val="000099"/>
                </a:solidFill>
                <a:ea typeface="黑体" pitchFamily="49" charset="-122"/>
              </a:endParaRPr>
            </a:p>
          </p:txBody>
        </p:sp>
        <p:grpSp>
          <p:nvGrpSpPr>
            <p:cNvPr id="53" name="组合 76"/>
            <p:cNvGrpSpPr>
              <a:grpSpLocks/>
            </p:cNvGrpSpPr>
            <p:nvPr/>
          </p:nvGrpSpPr>
          <p:grpSpPr bwMode="auto">
            <a:xfrm>
              <a:off x="5438775" y="4557886"/>
              <a:ext cx="2406650" cy="1858962"/>
              <a:chOff x="6702311" y="1520788"/>
              <a:chExt cx="2406193" cy="1860034"/>
            </a:xfrm>
          </p:grpSpPr>
          <p:sp>
            <p:nvSpPr>
              <p:cNvPr id="54" name="Oval 16"/>
              <p:cNvSpPr>
                <a:spLocks noChangeArrowheads="1"/>
              </p:cNvSpPr>
              <p:nvPr/>
            </p:nvSpPr>
            <p:spPr bwMode="auto">
              <a:xfrm>
                <a:off x="7854617" y="2260990"/>
                <a:ext cx="358707" cy="360570"/>
              </a:xfrm>
              <a:prstGeom prst="ellipse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 w="6350">
                <a:solidFill>
                  <a:schemeClr val="bg2">
                    <a:lumMod val="40000"/>
                    <a:lumOff val="60000"/>
                  </a:schemeClr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altLang="zh-CN" b="1" dirty="0">
                    <a:ea typeface="宋体" pitchFamily="2" charset="-122"/>
                  </a:rPr>
                  <a:t>8</a:t>
                </a:r>
                <a:endParaRPr lang="zh-CN" altLang="en-US" b="1" dirty="0">
                  <a:ea typeface="宋体" pitchFamily="2" charset="-122"/>
                </a:endParaRPr>
              </a:p>
            </p:txBody>
          </p:sp>
          <p:sp>
            <p:nvSpPr>
              <p:cNvPr id="55" name="Oval 17"/>
              <p:cNvSpPr>
                <a:spLocks noChangeArrowheads="1"/>
              </p:cNvSpPr>
              <p:nvPr/>
            </p:nvSpPr>
            <p:spPr bwMode="auto">
              <a:xfrm>
                <a:off x="8445055" y="2260990"/>
                <a:ext cx="360295" cy="360570"/>
              </a:xfrm>
              <a:prstGeom prst="ellipse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 w="6350">
                <a:solidFill>
                  <a:schemeClr val="bg2">
                    <a:lumMod val="40000"/>
                    <a:lumOff val="60000"/>
                  </a:schemeClr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altLang="zh-CN" b="1" dirty="0">
                    <a:ea typeface="宋体" pitchFamily="2" charset="-122"/>
                  </a:rPr>
                  <a:t>1</a:t>
                </a:r>
                <a:endParaRPr lang="zh-CN" altLang="en-US" b="1" dirty="0">
                  <a:ea typeface="宋体" pitchFamily="2" charset="-122"/>
                </a:endParaRPr>
              </a:p>
            </p:txBody>
          </p:sp>
          <p:sp>
            <p:nvSpPr>
              <p:cNvPr id="56" name="Oval 16"/>
              <p:cNvSpPr>
                <a:spLocks noChangeArrowheads="1"/>
              </p:cNvSpPr>
              <p:nvPr/>
            </p:nvSpPr>
            <p:spPr bwMode="auto">
              <a:xfrm>
                <a:off x="6702311" y="2260990"/>
                <a:ext cx="360295" cy="360570"/>
              </a:xfrm>
              <a:prstGeom prst="ellipse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 w="6350">
                <a:solidFill>
                  <a:schemeClr val="bg2">
                    <a:lumMod val="40000"/>
                    <a:lumOff val="60000"/>
                  </a:schemeClr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altLang="zh-CN" b="1" dirty="0">
                    <a:ea typeface="宋体" pitchFamily="2" charset="-122"/>
                  </a:rPr>
                  <a:t>6</a:t>
                </a:r>
                <a:endParaRPr lang="zh-CN" altLang="en-US" b="1" dirty="0">
                  <a:ea typeface="宋体" pitchFamily="2" charset="-122"/>
                </a:endParaRPr>
              </a:p>
            </p:txBody>
          </p:sp>
          <p:sp>
            <p:nvSpPr>
              <p:cNvPr id="57" name="Oval 17"/>
              <p:cNvSpPr>
                <a:spLocks noChangeArrowheads="1"/>
              </p:cNvSpPr>
              <p:nvPr/>
            </p:nvSpPr>
            <p:spPr bwMode="auto">
              <a:xfrm>
                <a:off x="7278465" y="2260990"/>
                <a:ext cx="360294" cy="360570"/>
              </a:xfrm>
              <a:prstGeom prst="ellipse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 w="6350">
                <a:solidFill>
                  <a:schemeClr val="bg2">
                    <a:lumMod val="40000"/>
                    <a:lumOff val="60000"/>
                  </a:schemeClr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altLang="zh-CN" b="1" dirty="0">
                    <a:ea typeface="宋体" pitchFamily="2" charset="-122"/>
                  </a:rPr>
                  <a:t>7</a:t>
                </a:r>
                <a:endParaRPr lang="zh-CN" altLang="en-US" b="1" dirty="0">
                  <a:ea typeface="宋体" pitchFamily="2" charset="-122"/>
                </a:endParaRPr>
              </a:p>
            </p:txBody>
          </p:sp>
          <p:sp>
            <p:nvSpPr>
              <p:cNvPr id="58" name="Oval 16"/>
              <p:cNvSpPr>
                <a:spLocks noChangeArrowheads="1"/>
              </p:cNvSpPr>
              <p:nvPr/>
            </p:nvSpPr>
            <p:spPr bwMode="auto">
              <a:xfrm>
                <a:off x="8208563" y="3020252"/>
                <a:ext cx="360294" cy="360570"/>
              </a:xfrm>
              <a:prstGeom prst="ellipse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 w="6350">
                <a:solidFill>
                  <a:schemeClr val="bg2">
                    <a:lumMod val="40000"/>
                    <a:lumOff val="60000"/>
                  </a:schemeClr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altLang="zh-CN" b="1" dirty="0">
                    <a:ea typeface="宋体" pitchFamily="2" charset="-122"/>
                  </a:rPr>
                  <a:t>4</a:t>
                </a:r>
                <a:endParaRPr lang="zh-CN" altLang="en-US" b="1" dirty="0">
                  <a:ea typeface="宋体" pitchFamily="2" charset="-122"/>
                </a:endParaRPr>
              </a:p>
            </p:txBody>
          </p:sp>
          <p:sp>
            <p:nvSpPr>
              <p:cNvPr id="60" name="Oval 16"/>
              <p:cNvSpPr>
                <a:spLocks noChangeArrowheads="1"/>
              </p:cNvSpPr>
              <p:nvPr/>
            </p:nvSpPr>
            <p:spPr bwMode="auto">
              <a:xfrm>
                <a:off x="8748210" y="3020252"/>
                <a:ext cx="360294" cy="360570"/>
              </a:xfrm>
              <a:prstGeom prst="ellipse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 w="6350">
                <a:solidFill>
                  <a:schemeClr val="bg2">
                    <a:lumMod val="40000"/>
                    <a:lumOff val="60000"/>
                  </a:schemeClr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altLang="zh-CN" b="1" dirty="0">
                    <a:ea typeface="宋体" pitchFamily="2" charset="-122"/>
                  </a:rPr>
                  <a:t>9</a:t>
                </a:r>
                <a:endParaRPr lang="zh-CN" altLang="en-US" b="1" dirty="0">
                  <a:ea typeface="宋体" pitchFamily="2" charset="-122"/>
                </a:endParaRPr>
              </a:p>
            </p:txBody>
          </p:sp>
          <p:sp>
            <p:nvSpPr>
              <p:cNvPr id="61" name="Oval 16"/>
              <p:cNvSpPr>
                <a:spLocks noChangeArrowheads="1"/>
              </p:cNvSpPr>
              <p:nvPr/>
            </p:nvSpPr>
            <p:spPr bwMode="auto">
              <a:xfrm>
                <a:off x="7430836" y="1520788"/>
                <a:ext cx="360294" cy="360570"/>
              </a:xfrm>
              <a:prstGeom prst="ellipse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 w="6350">
                <a:solidFill>
                  <a:schemeClr val="bg2">
                    <a:lumMod val="40000"/>
                    <a:lumOff val="60000"/>
                  </a:schemeClr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altLang="zh-CN" b="1" dirty="0">
                    <a:ea typeface="宋体" pitchFamily="2" charset="-122"/>
                  </a:rPr>
                  <a:t>0</a:t>
                </a:r>
                <a:endParaRPr lang="zh-CN" altLang="en-US" b="1" dirty="0">
                  <a:ea typeface="宋体" pitchFamily="2" charset="-122"/>
                </a:endParaRPr>
              </a:p>
            </p:txBody>
          </p:sp>
          <p:cxnSp>
            <p:nvCxnSpPr>
              <p:cNvPr id="73" name="直接箭头连接符 72"/>
              <p:cNvCxnSpPr>
                <a:stCxn id="56" idx="0"/>
              </p:cNvCxnSpPr>
              <p:nvPr/>
            </p:nvCxnSpPr>
            <p:spPr>
              <a:xfrm flipV="1">
                <a:off x="6883252" y="1808291"/>
                <a:ext cx="644403" cy="452699"/>
              </a:xfrm>
              <a:prstGeom prst="straightConnector1">
                <a:avLst/>
              </a:prstGeom>
              <a:ln w="19050">
                <a:solidFill>
                  <a:schemeClr val="bg2">
                    <a:lumMod val="40000"/>
                    <a:lumOff val="60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直接箭头连接符 74"/>
              <p:cNvCxnSpPr>
                <a:stCxn id="57" idx="0"/>
              </p:cNvCxnSpPr>
              <p:nvPr/>
            </p:nvCxnSpPr>
            <p:spPr>
              <a:xfrm flipV="1">
                <a:off x="7457818" y="1862297"/>
                <a:ext cx="198400" cy="398693"/>
              </a:xfrm>
              <a:prstGeom prst="straightConnector1">
                <a:avLst/>
              </a:prstGeom>
              <a:ln w="19050">
                <a:solidFill>
                  <a:schemeClr val="bg2">
                    <a:lumMod val="40000"/>
                    <a:lumOff val="60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直接箭头连接符 75"/>
              <p:cNvCxnSpPr>
                <a:stCxn id="54" idx="0"/>
              </p:cNvCxnSpPr>
              <p:nvPr/>
            </p:nvCxnSpPr>
            <p:spPr>
              <a:xfrm flipH="1" flipV="1">
                <a:off x="7656218" y="1862297"/>
                <a:ext cx="377753" cy="398693"/>
              </a:xfrm>
              <a:prstGeom prst="straightConnector1">
                <a:avLst/>
              </a:prstGeom>
              <a:ln w="19050">
                <a:solidFill>
                  <a:schemeClr val="bg2">
                    <a:lumMod val="40000"/>
                    <a:lumOff val="60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直接箭头连接符 76"/>
              <p:cNvCxnSpPr>
                <a:stCxn id="58" idx="0"/>
                <a:endCxn id="55" idx="3"/>
              </p:cNvCxnSpPr>
              <p:nvPr/>
            </p:nvCxnSpPr>
            <p:spPr>
              <a:xfrm flipV="1">
                <a:off x="8387916" y="2569142"/>
                <a:ext cx="111104" cy="451110"/>
              </a:xfrm>
              <a:prstGeom prst="straightConnector1">
                <a:avLst/>
              </a:prstGeom>
              <a:ln w="19050">
                <a:solidFill>
                  <a:schemeClr val="bg2">
                    <a:lumMod val="40000"/>
                    <a:lumOff val="60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直接箭头连接符 77"/>
              <p:cNvCxnSpPr>
                <a:stCxn id="60" idx="0"/>
                <a:endCxn id="55" idx="5"/>
              </p:cNvCxnSpPr>
              <p:nvPr/>
            </p:nvCxnSpPr>
            <p:spPr>
              <a:xfrm flipH="1" flipV="1">
                <a:off x="8752972" y="2569142"/>
                <a:ext cx="174592" cy="451110"/>
              </a:xfrm>
              <a:prstGeom prst="straightConnector1">
                <a:avLst/>
              </a:prstGeom>
              <a:ln w="19050">
                <a:solidFill>
                  <a:schemeClr val="bg2">
                    <a:lumMod val="40000"/>
                    <a:lumOff val="60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直接箭头连接符 78"/>
              <p:cNvCxnSpPr>
                <a:stCxn id="55" idx="0"/>
              </p:cNvCxnSpPr>
              <p:nvPr/>
            </p:nvCxnSpPr>
            <p:spPr>
              <a:xfrm flipH="1" flipV="1">
                <a:off x="7783194" y="1808291"/>
                <a:ext cx="842802" cy="452699"/>
              </a:xfrm>
              <a:prstGeom prst="straightConnector1">
                <a:avLst/>
              </a:prstGeom>
              <a:ln w="19050">
                <a:solidFill>
                  <a:schemeClr val="bg2">
                    <a:lumMod val="40000"/>
                    <a:lumOff val="60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0" name="Oval 17"/>
            <p:cNvSpPr>
              <a:spLocks noChangeArrowheads="1"/>
            </p:cNvSpPr>
            <p:nvPr/>
          </p:nvSpPr>
          <p:spPr bwMode="auto">
            <a:xfrm>
              <a:off x="5423763" y="6056485"/>
              <a:ext cx="360362" cy="360363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 w="6350">
              <a:solidFill>
                <a:schemeClr val="bg2">
                  <a:lumMod val="40000"/>
                  <a:lumOff val="6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b="1" dirty="0">
                  <a:ea typeface="宋体" pitchFamily="2" charset="-122"/>
                </a:rPr>
                <a:t>2</a:t>
              </a:r>
              <a:endParaRPr lang="zh-CN" altLang="en-US" b="1" dirty="0">
                <a:ea typeface="宋体" pitchFamily="2" charset="-122"/>
              </a:endParaRPr>
            </a:p>
          </p:txBody>
        </p:sp>
        <p:cxnSp>
          <p:nvCxnSpPr>
            <p:cNvPr id="81" name="直接箭头连接符 80"/>
            <p:cNvCxnSpPr>
              <a:stCxn id="80" idx="0"/>
            </p:cNvCxnSpPr>
            <p:nvPr/>
          </p:nvCxnSpPr>
          <p:spPr>
            <a:xfrm flipV="1">
              <a:off x="5604738" y="5658023"/>
              <a:ext cx="0" cy="398462"/>
            </a:xfrm>
            <a:prstGeom prst="straightConnector1">
              <a:avLst/>
            </a:prstGeom>
            <a:ln w="19050">
              <a:solidFill>
                <a:schemeClr val="bg2">
                  <a:lumMod val="40000"/>
                  <a:lumOff val="6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202226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并查集</a:t>
            </a:r>
          </a:p>
        </p:txBody>
      </p:sp>
      <p:sp>
        <p:nvSpPr>
          <p:cNvPr id="1126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Arial" charset="0"/>
              </a:rPr>
              <a:t>用树表示集合</a:t>
            </a:r>
            <a:endParaRPr lang="en-US" altLang="zh-CN" dirty="0">
              <a:latin typeface="Arial" charset="0"/>
            </a:endParaRPr>
          </a:p>
          <a:p>
            <a:pPr lvl="1"/>
            <a:r>
              <a:rPr lang="zh-CN" altLang="en-US" dirty="0">
                <a:latin typeface="Arial" charset="0"/>
              </a:rPr>
              <a:t>路径压缩，在</a:t>
            </a:r>
            <a:r>
              <a:rPr lang="en-US" altLang="zh-CN" dirty="0">
                <a:latin typeface="Arial" charset="0"/>
              </a:rPr>
              <a:t>find</a:t>
            </a:r>
            <a:r>
              <a:rPr lang="zh-CN" altLang="en-US" dirty="0">
                <a:latin typeface="Arial" charset="0"/>
              </a:rPr>
              <a:t>过程中顺便压缩</a:t>
            </a:r>
            <a:endParaRPr lang="zh-CN" altLang="en-US" dirty="0">
              <a:solidFill>
                <a:srgbClr val="000099"/>
              </a:solidFill>
            </a:endParaRPr>
          </a:p>
          <a:p>
            <a:pPr lvl="2"/>
            <a:endParaRPr lang="zh-CN" altLang="en-US" dirty="0">
              <a:latin typeface="Arial" charset="0"/>
            </a:endParaRPr>
          </a:p>
        </p:txBody>
      </p:sp>
      <p:sp>
        <p:nvSpPr>
          <p:cNvPr id="11268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fld id="{2DDFB286-136B-4E7F-8659-DB546AC19A2D}" type="slidenum">
              <a:rPr lang="en-US" altLang="zh-CN" smtClean="0">
                <a:solidFill>
                  <a:srgbClr val="006600"/>
                </a:solidFill>
                <a:latin typeface="Courier New" pitchFamily="49" charset="0"/>
                <a:ea typeface="华文新魏" pitchFamily="2" charset="-122"/>
              </a:rPr>
              <a:pPr eaLnBrk="1" hangingPunct="1"/>
              <a:t>26</a:t>
            </a:fld>
            <a:endParaRPr lang="en-US" altLang="zh-CN">
              <a:solidFill>
                <a:srgbClr val="006600"/>
              </a:solidFill>
              <a:latin typeface="Courier New" pitchFamily="49" charset="0"/>
              <a:ea typeface="华文新魏" pitchFamily="2" charset="-122"/>
            </a:endParaRPr>
          </a:p>
        </p:txBody>
      </p:sp>
      <p:sp>
        <p:nvSpPr>
          <p:cNvPr id="64" name="右箭头 63"/>
          <p:cNvSpPr/>
          <p:nvPr/>
        </p:nvSpPr>
        <p:spPr bwMode="auto">
          <a:xfrm>
            <a:off x="3880429" y="3732253"/>
            <a:ext cx="439737" cy="225425"/>
          </a:xfrm>
          <a:prstGeom prst="rightArrow">
            <a:avLst/>
          </a:prstGeom>
          <a:solidFill>
            <a:schemeClr val="bg2">
              <a:lumMod val="40000"/>
              <a:lumOff val="60000"/>
            </a:schemeClr>
          </a:solidFill>
          <a:ln w="25400">
            <a:solidFill>
              <a:schemeClr val="bg2">
                <a:lumMod val="40000"/>
                <a:lumOff val="60000"/>
              </a:schemeClr>
            </a:solidFill>
            <a:miter lim="800000"/>
            <a:headEnd/>
            <a:tailEnd/>
          </a:ln>
        </p:spPr>
        <p:txBody>
          <a:bodyPr lIns="18000" tIns="10800" rIns="18000" bIns="10800" anchor="ctr"/>
          <a:lstStyle/>
          <a:p>
            <a:pPr algn="ctr">
              <a:lnSpc>
                <a:spcPct val="96000"/>
              </a:lnSpc>
              <a:defRPr/>
            </a:pPr>
            <a:endParaRPr lang="zh-CN" altLang="en-US" b="1" dirty="0">
              <a:solidFill>
                <a:srgbClr val="000099"/>
              </a:solidFill>
              <a:ea typeface="黑体" pitchFamily="49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184156" y="2694844"/>
            <a:ext cx="1884267" cy="2199874"/>
            <a:chOff x="4085428" y="1484784"/>
            <a:chExt cx="1884267" cy="2199874"/>
          </a:xfrm>
        </p:grpSpPr>
        <p:sp>
          <p:nvSpPr>
            <p:cNvPr id="59" name="Oval 16"/>
            <p:cNvSpPr>
              <a:spLocks noChangeArrowheads="1"/>
            </p:cNvSpPr>
            <p:nvPr/>
          </p:nvSpPr>
          <p:spPr bwMode="auto">
            <a:xfrm>
              <a:off x="5093636" y="2063427"/>
              <a:ext cx="360363" cy="360363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 w="6350">
              <a:solidFill>
                <a:schemeClr val="bg2">
                  <a:lumMod val="40000"/>
                  <a:lumOff val="6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b="1" dirty="0">
                  <a:ea typeface="宋体" pitchFamily="2" charset="-122"/>
                </a:rPr>
                <a:t>1</a:t>
              </a:r>
              <a:endParaRPr lang="zh-CN" altLang="en-US" b="1" dirty="0">
                <a:ea typeface="宋体" pitchFamily="2" charset="-122"/>
              </a:endParaRPr>
            </a:p>
          </p:txBody>
        </p:sp>
        <p:sp>
          <p:nvSpPr>
            <p:cNvPr id="62" name="Oval 16"/>
            <p:cNvSpPr>
              <a:spLocks noChangeArrowheads="1"/>
            </p:cNvSpPr>
            <p:nvPr/>
          </p:nvSpPr>
          <p:spPr bwMode="auto">
            <a:xfrm>
              <a:off x="5609333" y="1484784"/>
              <a:ext cx="360362" cy="360363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 w="6350">
              <a:solidFill>
                <a:schemeClr val="bg2">
                  <a:lumMod val="40000"/>
                  <a:lumOff val="6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b="1" dirty="0">
                  <a:ea typeface="宋体" pitchFamily="2" charset="-122"/>
                </a:rPr>
                <a:t>0</a:t>
              </a:r>
              <a:endParaRPr lang="zh-CN" altLang="en-US" b="1" dirty="0">
                <a:ea typeface="宋体" pitchFamily="2" charset="-122"/>
              </a:endParaRPr>
            </a:p>
          </p:txBody>
        </p:sp>
        <p:cxnSp>
          <p:nvCxnSpPr>
            <p:cNvPr id="63" name="直接箭头连接符 62"/>
            <p:cNvCxnSpPr>
              <a:stCxn id="59" idx="7"/>
              <a:endCxn id="62" idx="3"/>
            </p:cNvCxnSpPr>
            <p:nvPr/>
          </p:nvCxnSpPr>
          <p:spPr>
            <a:xfrm flipV="1">
              <a:off x="5401225" y="1792373"/>
              <a:ext cx="260882" cy="323828"/>
            </a:xfrm>
            <a:prstGeom prst="straightConnector1">
              <a:avLst/>
            </a:prstGeom>
            <a:ln w="19050">
              <a:solidFill>
                <a:schemeClr val="bg2">
                  <a:lumMod val="40000"/>
                  <a:lumOff val="6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Oval 16"/>
            <p:cNvSpPr>
              <a:spLocks noChangeArrowheads="1"/>
            </p:cNvSpPr>
            <p:nvPr/>
          </p:nvSpPr>
          <p:spPr bwMode="auto">
            <a:xfrm>
              <a:off x="4566178" y="2694844"/>
              <a:ext cx="360363" cy="360363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 w="6350">
              <a:solidFill>
                <a:schemeClr val="bg2">
                  <a:lumMod val="40000"/>
                  <a:lumOff val="6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b="1" dirty="0">
                  <a:ea typeface="宋体" pitchFamily="2" charset="-122"/>
                </a:rPr>
                <a:t>2</a:t>
              </a:r>
              <a:endParaRPr lang="zh-CN" altLang="en-US" b="1" dirty="0">
                <a:ea typeface="宋体" pitchFamily="2" charset="-122"/>
              </a:endParaRPr>
            </a:p>
          </p:txBody>
        </p:sp>
        <p:cxnSp>
          <p:nvCxnSpPr>
            <p:cNvPr id="69" name="直接箭头连接符 68"/>
            <p:cNvCxnSpPr>
              <a:stCxn id="68" idx="7"/>
              <a:endCxn id="59" idx="3"/>
            </p:cNvCxnSpPr>
            <p:nvPr/>
          </p:nvCxnSpPr>
          <p:spPr>
            <a:xfrm flipV="1">
              <a:off x="4873767" y="2371016"/>
              <a:ext cx="272643" cy="376602"/>
            </a:xfrm>
            <a:prstGeom prst="straightConnector1">
              <a:avLst/>
            </a:prstGeom>
            <a:ln w="19050">
              <a:solidFill>
                <a:schemeClr val="bg2">
                  <a:lumMod val="40000"/>
                  <a:lumOff val="6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Oval 16"/>
            <p:cNvSpPr>
              <a:spLocks noChangeArrowheads="1"/>
            </p:cNvSpPr>
            <p:nvPr/>
          </p:nvSpPr>
          <p:spPr bwMode="auto">
            <a:xfrm>
              <a:off x="4085428" y="3324295"/>
              <a:ext cx="360363" cy="360363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 w="6350">
              <a:solidFill>
                <a:schemeClr val="bg2">
                  <a:lumMod val="40000"/>
                  <a:lumOff val="60000"/>
                </a:schemeClr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b="1" dirty="0">
                  <a:ea typeface="宋体" pitchFamily="2" charset="-122"/>
                </a:rPr>
                <a:t>3</a:t>
              </a:r>
              <a:endParaRPr lang="zh-CN" altLang="en-US" b="1" dirty="0">
                <a:ea typeface="宋体" pitchFamily="2" charset="-122"/>
              </a:endParaRPr>
            </a:p>
          </p:txBody>
        </p:sp>
        <p:cxnSp>
          <p:nvCxnSpPr>
            <p:cNvPr id="71" name="直接箭头连接符 70"/>
            <p:cNvCxnSpPr>
              <a:stCxn id="70" idx="7"/>
              <a:endCxn id="68" idx="3"/>
            </p:cNvCxnSpPr>
            <p:nvPr/>
          </p:nvCxnSpPr>
          <p:spPr>
            <a:xfrm flipV="1">
              <a:off x="4393017" y="3002433"/>
              <a:ext cx="225935" cy="374636"/>
            </a:xfrm>
            <a:prstGeom prst="straightConnector1">
              <a:avLst/>
            </a:prstGeom>
            <a:ln w="19050">
              <a:solidFill>
                <a:schemeClr val="bg2">
                  <a:lumMod val="40000"/>
                  <a:lumOff val="6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2" name="Oval 16"/>
          <p:cNvSpPr>
            <a:spLocks noChangeArrowheads="1"/>
          </p:cNvSpPr>
          <p:nvPr/>
        </p:nvSpPr>
        <p:spPr bwMode="auto">
          <a:xfrm>
            <a:off x="6350968" y="3914773"/>
            <a:ext cx="358775" cy="360363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6350">
            <a:solidFill>
              <a:schemeClr val="bg2">
                <a:lumMod val="40000"/>
                <a:lumOff val="6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CN" b="1" dirty="0">
                <a:ea typeface="宋体" pitchFamily="2" charset="-122"/>
              </a:rPr>
              <a:t>3</a:t>
            </a:r>
            <a:endParaRPr lang="zh-CN" altLang="en-US" b="1" dirty="0">
              <a:ea typeface="宋体" pitchFamily="2" charset="-122"/>
            </a:endParaRPr>
          </a:p>
        </p:txBody>
      </p:sp>
      <p:sp>
        <p:nvSpPr>
          <p:cNvPr id="74" name="Oval 16"/>
          <p:cNvSpPr>
            <a:spLocks noChangeArrowheads="1"/>
          </p:cNvSpPr>
          <p:nvPr/>
        </p:nvSpPr>
        <p:spPr bwMode="auto">
          <a:xfrm>
            <a:off x="5198443" y="3914773"/>
            <a:ext cx="360363" cy="360363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6350">
            <a:solidFill>
              <a:schemeClr val="bg2">
                <a:lumMod val="40000"/>
                <a:lumOff val="6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CN" b="1" dirty="0">
                <a:ea typeface="宋体" pitchFamily="2" charset="-122"/>
              </a:rPr>
              <a:t>1</a:t>
            </a:r>
            <a:endParaRPr lang="zh-CN" altLang="en-US" b="1" dirty="0">
              <a:ea typeface="宋体" pitchFamily="2" charset="-122"/>
            </a:endParaRPr>
          </a:p>
        </p:txBody>
      </p:sp>
      <p:sp>
        <p:nvSpPr>
          <p:cNvPr id="82" name="Oval 17"/>
          <p:cNvSpPr>
            <a:spLocks noChangeArrowheads="1"/>
          </p:cNvSpPr>
          <p:nvPr/>
        </p:nvSpPr>
        <p:spPr bwMode="auto">
          <a:xfrm>
            <a:off x="5774706" y="3914773"/>
            <a:ext cx="360362" cy="360363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6350">
            <a:solidFill>
              <a:schemeClr val="bg2">
                <a:lumMod val="40000"/>
                <a:lumOff val="6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CN" b="1" dirty="0">
                <a:ea typeface="宋体" pitchFamily="2" charset="-122"/>
              </a:rPr>
              <a:t>2</a:t>
            </a:r>
            <a:endParaRPr lang="zh-CN" altLang="en-US" b="1" dirty="0">
              <a:ea typeface="宋体" pitchFamily="2" charset="-122"/>
            </a:endParaRPr>
          </a:p>
        </p:txBody>
      </p:sp>
      <p:sp>
        <p:nvSpPr>
          <p:cNvPr id="83" name="Oval 16"/>
          <p:cNvSpPr>
            <a:spLocks noChangeArrowheads="1"/>
          </p:cNvSpPr>
          <p:nvPr/>
        </p:nvSpPr>
        <p:spPr bwMode="auto">
          <a:xfrm>
            <a:off x="5774706" y="3155948"/>
            <a:ext cx="360362" cy="360363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  <a:ln w="6350">
            <a:solidFill>
              <a:schemeClr val="bg2">
                <a:lumMod val="40000"/>
                <a:lumOff val="60000"/>
              </a:scheme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altLang="zh-CN" b="1" dirty="0">
                <a:ea typeface="宋体" pitchFamily="2" charset="-122"/>
              </a:rPr>
              <a:t>0</a:t>
            </a:r>
            <a:endParaRPr lang="zh-CN" altLang="en-US" b="1" dirty="0">
              <a:ea typeface="宋体" pitchFamily="2" charset="-122"/>
            </a:endParaRPr>
          </a:p>
        </p:txBody>
      </p:sp>
      <p:cxnSp>
        <p:nvCxnSpPr>
          <p:cNvPr id="84" name="直接箭头连接符 83"/>
          <p:cNvCxnSpPr>
            <a:stCxn id="74" idx="0"/>
            <a:endCxn id="83" idx="3"/>
          </p:cNvCxnSpPr>
          <p:nvPr/>
        </p:nvCxnSpPr>
        <p:spPr>
          <a:xfrm flipV="1">
            <a:off x="5379418" y="3463923"/>
            <a:ext cx="447675" cy="450850"/>
          </a:xfrm>
          <a:prstGeom prst="straightConnector1">
            <a:avLst/>
          </a:prstGeom>
          <a:ln w="19050">
            <a:solidFill>
              <a:schemeClr val="bg2">
                <a:lumMod val="40000"/>
                <a:lumOff val="6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箭头连接符 84"/>
          <p:cNvCxnSpPr>
            <a:stCxn id="82" idx="0"/>
            <a:endCxn id="83" idx="4"/>
          </p:cNvCxnSpPr>
          <p:nvPr/>
        </p:nvCxnSpPr>
        <p:spPr>
          <a:xfrm flipV="1">
            <a:off x="5955681" y="3516311"/>
            <a:ext cx="0" cy="398462"/>
          </a:xfrm>
          <a:prstGeom prst="straightConnector1">
            <a:avLst/>
          </a:prstGeom>
          <a:ln w="19050">
            <a:solidFill>
              <a:schemeClr val="bg2">
                <a:lumMod val="40000"/>
                <a:lumOff val="6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箭头连接符 85"/>
          <p:cNvCxnSpPr>
            <a:stCxn id="72" idx="0"/>
            <a:endCxn id="83" idx="5"/>
          </p:cNvCxnSpPr>
          <p:nvPr/>
        </p:nvCxnSpPr>
        <p:spPr>
          <a:xfrm flipH="1" flipV="1">
            <a:off x="6082681" y="3463923"/>
            <a:ext cx="447675" cy="450850"/>
          </a:xfrm>
          <a:prstGeom prst="straightConnector1">
            <a:avLst/>
          </a:prstGeom>
          <a:ln w="19050">
            <a:solidFill>
              <a:schemeClr val="bg2">
                <a:lumMod val="40000"/>
                <a:lumOff val="6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2616" y="5416541"/>
            <a:ext cx="757414" cy="2900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7824" y="5292582"/>
            <a:ext cx="4261600" cy="431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7614" y="5706614"/>
            <a:ext cx="3704785" cy="3761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9344" y="6096810"/>
            <a:ext cx="3924436" cy="396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94532" y="5060283"/>
            <a:ext cx="2973891" cy="646331"/>
          </a:xfrm>
          <a:prstGeom prst="rect">
            <a:avLst/>
          </a:prstGeom>
          <a:noFill/>
          <a:ln w="25400">
            <a:noFill/>
          </a:ln>
        </p:spPr>
        <p:txBody>
          <a:bodyPr wrap="none" rtlCol="0">
            <a:sp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b="1" dirty="0">
                <a:solidFill>
                  <a:srgbClr val="000099"/>
                </a:solidFill>
                <a:ea typeface="黑体" pitchFamily="49" charset="-122"/>
              </a:rPr>
              <a:t>按秩合并与路径压缩方式，</a:t>
            </a:r>
            <a:endParaRPr lang="en-US" altLang="zh-CN" b="1" dirty="0">
              <a:solidFill>
                <a:srgbClr val="000099"/>
              </a:solidFill>
              <a:ea typeface="黑体" pitchFamily="49" charset="-122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zh-CN" altLang="en-US" b="1" dirty="0">
                <a:solidFill>
                  <a:srgbClr val="000099"/>
                </a:solidFill>
                <a:ea typeface="黑体" pitchFamily="49" charset="-122"/>
              </a:rPr>
              <a:t>操作的平均代价为</a:t>
            </a:r>
          </a:p>
        </p:txBody>
      </p:sp>
    </p:spTree>
    <p:extLst>
      <p:ext uri="{BB962C8B-B14F-4D97-AF65-F5344CB8AC3E}">
        <p14:creationId xmlns:p14="http://schemas.microsoft.com/office/powerpoint/2010/main" val="18314266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最小生成树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生成树</a:t>
            </a:r>
            <a:endParaRPr lang="en-US" altLang="zh-CN" dirty="0"/>
          </a:p>
          <a:p>
            <a:pPr lvl="1"/>
            <a:r>
              <a:rPr lang="zh-CN" altLang="en-US" dirty="0"/>
              <a:t>设</a:t>
            </a:r>
            <a:r>
              <a:rPr lang="en-US" altLang="zh-CN" dirty="0"/>
              <a:t>G=(V, E)</a:t>
            </a:r>
            <a:r>
              <a:rPr lang="zh-CN" altLang="en-US" dirty="0"/>
              <a:t>是一个边加权无向连通图。</a:t>
            </a:r>
            <a:r>
              <a:rPr lang="en-US" altLang="zh-CN" dirty="0"/>
              <a:t>G</a:t>
            </a:r>
            <a:r>
              <a:rPr lang="zh-CN" altLang="en-US" dirty="0"/>
              <a:t>的生成树是无向树</a:t>
            </a:r>
            <a:r>
              <a:rPr lang="en-US" altLang="zh-CN" dirty="0"/>
              <a:t>S=(V, T),</a:t>
            </a:r>
            <a:r>
              <a:rPr lang="zh-CN" altLang="en-US" dirty="0"/>
              <a:t> </a:t>
            </a:r>
            <a:r>
              <a:rPr lang="en-US" altLang="zh-CN" dirty="0"/>
              <a:t>T</a:t>
            </a:r>
            <a:r>
              <a:rPr lang="en-US" altLang="zh-CN" dirty="0">
                <a:sym typeface="Symbol" pitchFamily="18" charset="2"/>
              </a:rPr>
              <a:t></a:t>
            </a:r>
            <a:r>
              <a:rPr lang="en-US" altLang="zh-CN" dirty="0"/>
              <a:t>E</a:t>
            </a:r>
            <a:r>
              <a:rPr lang="zh-CN" altLang="en-US" dirty="0"/>
              <a:t>。</a:t>
            </a:r>
            <a:r>
              <a:rPr lang="en-US" altLang="zh-CN" dirty="0"/>
              <a:t>W</a:t>
            </a:r>
            <a:r>
              <a:rPr lang="zh-CN" altLang="en-US" dirty="0"/>
              <a:t>是</a:t>
            </a:r>
            <a:r>
              <a:rPr lang="en-US" altLang="zh-CN" dirty="0"/>
              <a:t>G</a:t>
            </a:r>
            <a:r>
              <a:rPr lang="zh-CN" altLang="en-US" dirty="0"/>
              <a:t>的权函数</a:t>
            </a:r>
            <a:r>
              <a:rPr lang="en-US" altLang="zh-CN" dirty="0"/>
              <a:t>, T</a:t>
            </a:r>
            <a:r>
              <a:rPr lang="zh-CN" altLang="en-US" dirty="0"/>
              <a:t>权值定义为</a:t>
            </a:r>
            <a:r>
              <a:rPr kumimoji="1" lang="en-US" altLang="zh-CN" dirty="0">
                <a:latin typeface="+mj-lt"/>
                <a:ea typeface="华文行楷" pitchFamily="2" charset="-122"/>
              </a:rPr>
              <a:t>W(T)=</a:t>
            </a:r>
            <a:r>
              <a:rPr kumimoji="1" lang="en-US" altLang="zh-CN" dirty="0">
                <a:latin typeface="+mj-lt"/>
                <a:ea typeface="华文行楷" pitchFamily="2" charset="-122"/>
                <a:sym typeface="Symbol" pitchFamily="18" charset="2"/>
              </a:rPr>
              <a:t></a:t>
            </a:r>
            <a:r>
              <a:rPr kumimoji="1" lang="en-US" altLang="zh-CN" baseline="-25000" dirty="0">
                <a:latin typeface="+mj-lt"/>
                <a:ea typeface="华文行楷" pitchFamily="2" charset="-122"/>
                <a:sym typeface="Symbol" pitchFamily="18" charset="2"/>
              </a:rPr>
              <a:t>(</a:t>
            </a:r>
            <a:r>
              <a:rPr kumimoji="1" lang="en-US" altLang="zh-CN" baseline="-25000" dirty="0" err="1">
                <a:latin typeface="+mj-lt"/>
                <a:ea typeface="华文行楷" pitchFamily="2" charset="-122"/>
                <a:sym typeface="Symbol" pitchFamily="18" charset="2"/>
              </a:rPr>
              <a:t>u,v</a:t>
            </a:r>
            <a:r>
              <a:rPr kumimoji="1" lang="en-US" altLang="zh-CN" baseline="-25000" dirty="0">
                <a:latin typeface="+mj-lt"/>
                <a:ea typeface="华文行楷" pitchFamily="2" charset="-122"/>
                <a:sym typeface="Symbol" pitchFamily="18" charset="2"/>
              </a:rPr>
              <a:t>)T</a:t>
            </a:r>
            <a:r>
              <a:rPr kumimoji="1" lang="en-US" altLang="zh-CN" dirty="0">
                <a:latin typeface="+mj-lt"/>
                <a:ea typeface="华文行楷" pitchFamily="2" charset="-122"/>
              </a:rPr>
              <a:t>W(</a:t>
            </a:r>
            <a:r>
              <a:rPr kumimoji="1" lang="en-US" altLang="zh-CN" dirty="0" err="1">
                <a:latin typeface="+mj-lt"/>
                <a:ea typeface="华文行楷" pitchFamily="2" charset="-122"/>
              </a:rPr>
              <a:t>u,v</a:t>
            </a:r>
            <a:r>
              <a:rPr kumimoji="1" lang="en-US" altLang="zh-CN" dirty="0">
                <a:latin typeface="+mj-lt"/>
                <a:ea typeface="华文行楷" pitchFamily="2" charset="-122"/>
              </a:rPr>
              <a:t>)</a:t>
            </a:r>
            <a:r>
              <a:rPr lang="en-US" altLang="zh-CN" dirty="0"/>
              <a:t> </a:t>
            </a:r>
          </a:p>
          <a:p>
            <a:r>
              <a:rPr lang="zh-CN" altLang="en-US" dirty="0"/>
              <a:t>最小生成树</a:t>
            </a:r>
            <a:endParaRPr lang="en-US" altLang="zh-CN" dirty="0"/>
          </a:p>
          <a:p>
            <a:pPr lvl="1"/>
            <a:r>
              <a:rPr lang="en-US" altLang="zh-CN" dirty="0"/>
              <a:t>G</a:t>
            </a:r>
            <a:r>
              <a:rPr lang="zh-CN" altLang="en-US" dirty="0"/>
              <a:t>的最小生成树是</a:t>
            </a:r>
            <a:r>
              <a:rPr lang="en-US" altLang="zh-CN" dirty="0"/>
              <a:t>W(T)</a:t>
            </a:r>
            <a:r>
              <a:rPr lang="zh-CN" altLang="en-US" dirty="0"/>
              <a:t>最小的</a:t>
            </a:r>
            <a:r>
              <a:rPr lang="en-US" altLang="zh-CN" dirty="0"/>
              <a:t>G</a:t>
            </a:r>
            <a:r>
              <a:rPr lang="zh-CN" altLang="en-US" dirty="0"/>
              <a:t>的生成树</a:t>
            </a:r>
            <a:endParaRPr lang="en-US" altLang="zh-CN" dirty="0"/>
          </a:p>
          <a:p>
            <a:r>
              <a:rPr lang="zh-CN" altLang="en-US" dirty="0"/>
              <a:t>问题的定义</a:t>
            </a:r>
            <a:endParaRPr lang="en-US" altLang="zh-CN" dirty="0"/>
          </a:p>
          <a:p>
            <a:pPr lvl="1"/>
            <a:r>
              <a:rPr lang="zh-CN" altLang="en-US" dirty="0"/>
              <a:t>输入</a:t>
            </a:r>
            <a:r>
              <a:rPr lang="en-US" altLang="zh-CN" dirty="0"/>
              <a:t>: </a:t>
            </a:r>
            <a:r>
              <a:rPr lang="zh-CN" altLang="en-US" dirty="0"/>
              <a:t>无向连通图</a:t>
            </a:r>
            <a:r>
              <a:rPr lang="en-US" altLang="zh-CN" dirty="0"/>
              <a:t>G=(V, E),  </a:t>
            </a:r>
            <a:r>
              <a:rPr lang="zh-CN" altLang="en-US" dirty="0"/>
              <a:t>权函数</a:t>
            </a:r>
            <a:r>
              <a:rPr lang="en-US" altLang="zh-CN" dirty="0"/>
              <a:t>W</a:t>
            </a:r>
          </a:p>
          <a:p>
            <a:pPr lvl="1"/>
            <a:r>
              <a:rPr lang="zh-CN" altLang="en-US" dirty="0"/>
              <a:t>输出</a:t>
            </a:r>
            <a:r>
              <a:rPr lang="en-US" altLang="zh-CN" dirty="0"/>
              <a:t>: G</a:t>
            </a:r>
            <a:r>
              <a:rPr lang="zh-CN" altLang="en-US" dirty="0"/>
              <a:t>的最小生成树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3E6C03A-3073-401C-B837-061925A82BB2}" type="slidenum">
              <a:rPr lang="en-US" altLang="zh-CN" smtClean="0"/>
              <a:pPr>
                <a:defRPr/>
              </a:pPr>
              <a:t>27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1615500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最小生成树</a:t>
            </a:r>
          </a:p>
        </p:txBody>
      </p:sp>
      <p:sp>
        <p:nvSpPr>
          <p:cNvPr id="3379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Arial" charset="0"/>
                <a:ea typeface="黑体" pitchFamily="2" charset="-122"/>
              </a:rPr>
              <a:t>克鲁斯卡尔 </a:t>
            </a:r>
            <a:r>
              <a:rPr lang="en-US" altLang="zh-CN" dirty="0">
                <a:latin typeface="Arial" charset="0"/>
                <a:ea typeface="黑体" pitchFamily="2" charset="-122"/>
              </a:rPr>
              <a:t>(</a:t>
            </a:r>
            <a:r>
              <a:rPr lang="en-US" altLang="zh-CN" dirty="0" err="1">
                <a:latin typeface="Arial" charset="0"/>
                <a:ea typeface="黑体" pitchFamily="2" charset="-122"/>
              </a:rPr>
              <a:t>Kruskal</a:t>
            </a:r>
            <a:r>
              <a:rPr lang="en-US" altLang="zh-CN" dirty="0">
                <a:latin typeface="Arial" charset="0"/>
                <a:ea typeface="黑体" pitchFamily="2" charset="-122"/>
              </a:rPr>
              <a:t>) </a:t>
            </a:r>
            <a:r>
              <a:rPr lang="zh-CN" altLang="en-US" dirty="0">
                <a:latin typeface="Arial" charset="0"/>
                <a:ea typeface="黑体" pitchFamily="2" charset="-122"/>
              </a:rPr>
              <a:t>算法</a:t>
            </a:r>
            <a:endParaRPr lang="en-US" altLang="zh-CN" dirty="0">
              <a:latin typeface="Arial" charset="0"/>
              <a:ea typeface="黑体" pitchFamily="2" charset="-122"/>
            </a:endParaRPr>
          </a:p>
          <a:p>
            <a:pPr lvl="1"/>
            <a:r>
              <a:rPr lang="zh-CN" altLang="en-US" dirty="0">
                <a:latin typeface="Arial" charset="0"/>
                <a:ea typeface="黑体" pitchFamily="2" charset="-122"/>
              </a:rPr>
              <a:t>初始时所有顶点自成一集合</a:t>
            </a:r>
            <a:endParaRPr lang="en-US" altLang="zh-CN" dirty="0">
              <a:latin typeface="Arial" charset="0"/>
              <a:ea typeface="黑体" pitchFamily="2" charset="-122"/>
            </a:endParaRPr>
          </a:p>
          <a:p>
            <a:pPr lvl="1"/>
            <a:r>
              <a:rPr lang="zh-CN" altLang="en-US" dirty="0">
                <a:latin typeface="Arial" charset="0"/>
                <a:ea typeface="黑体" pitchFamily="2" charset="-122"/>
              </a:rPr>
              <a:t>在图上选权值最小的边</a:t>
            </a:r>
            <a:r>
              <a:rPr lang="en-US" altLang="zh-CN" dirty="0" err="1">
                <a:latin typeface="Arial" charset="0"/>
                <a:ea typeface="黑体" pitchFamily="2" charset="-122"/>
              </a:rPr>
              <a:t>e</a:t>
            </a:r>
            <a:r>
              <a:rPr lang="en-US" altLang="zh-CN" baseline="-25000" dirty="0" err="1">
                <a:latin typeface="Arial" charset="0"/>
                <a:ea typeface="黑体" pitchFamily="2" charset="-122"/>
              </a:rPr>
              <a:t>min</a:t>
            </a:r>
            <a:r>
              <a:rPr lang="zh-CN" altLang="en-US" dirty="0">
                <a:latin typeface="Arial" charset="0"/>
                <a:ea typeface="黑体" pitchFamily="2" charset="-122"/>
              </a:rPr>
              <a:t>，判断</a:t>
            </a:r>
            <a:r>
              <a:rPr lang="en-US" altLang="zh-CN" dirty="0" err="1">
                <a:latin typeface="Arial" charset="0"/>
                <a:ea typeface="黑体" pitchFamily="2" charset="-122"/>
              </a:rPr>
              <a:t>e</a:t>
            </a:r>
            <a:r>
              <a:rPr lang="en-US" altLang="zh-CN" baseline="-25000" dirty="0" err="1">
                <a:latin typeface="Arial" charset="0"/>
                <a:ea typeface="黑体" pitchFamily="2" charset="-122"/>
              </a:rPr>
              <a:t>min</a:t>
            </a:r>
            <a:r>
              <a:rPr lang="zh-CN" altLang="en-US" dirty="0">
                <a:latin typeface="Arial" charset="0"/>
                <a:ea typeface="黑体" pitchFamily="2" charset="-122"/>
              </a:rPr>
              <a:t>两端点是否属于不同集合</a:t>
            </a:r>
            <a:r>
              <a:rPr lang="en-US" altLang="zh-CN" dirty="0" err="1">
                <a:latin typeface="Arial" charset="0"/>
                <a:ea typeface="黑体" pitchFamily="2" charset="-122"/>
              </a:rPr>
              <a:t>c</a:t>
            </a:r>
            <a:r>
              <a:rPr lang="en-US" altLang="zh-CN" baseline="-25000" dirty="0" err="1">
                <a:latin typeface="Arial" charset="0"/>
                <a:ea typeface="黑体" pitchFamily="2" charset="-122"/>
              </a:rPr>
              <a:t>i</a:t>
            </a:r>
            <a:r>
              <a:rPr lang="en-US" altLang="zh-CN" dirty="0" err="1">
                <a:latin typeface="Arial" charset="0"/>
                <a:ea typeface="黑体" pitchFamily="2" charset="-122"/>
              </a:rPr>
              <a:t>,c</a:t>
            </a:r>
            <a:r>
              <a:rPr lang="en-US" altLang="zh-CN" baseline="-25000" dirty="0" err="1">
                <a:latin typeface="Arial" charset="0"/>
                <a:ea typeface="黑体" pitchFamily="2" charset="-122"/>
              </a:rPr>
              <a:t>j</a:t>
            </a:r>
            <a:endParaRPr lang="en-US" altLang="zh-CN" baseline="-25000" dirty="0">
              <a:latin typeface="Arial" charset="0"/>
              <a:ea typeface="黑体" pitchFamily="2" charset="-122"/>
            </a:endParaRPr>
          </a:p>
          <a:p>
            <a:pPr lvl="2"/>
            <a:r>
              <a:rPr lang="zh-CN" altLang="en-US" dirty="0">
                <a:latin typeface="Arial" charset="0"/>
                <a:ea typeface="黑体" pitchFamily="2" charset="-122"/>
              </a:rPr>
              <a:t>若是，将</a:t>
            </a:r>
            <a:r>
              <a:rPr lang="en-US" altLang="zh-CN" dirty="0" err="1">
                <a:latin typeface="Arial" charset="0"/>
                <a:ea typeface="黑体" pitchFamily="2" charset="-122"/>
              </a:rPr>
              <a:t>c</a:t>
            </a:r>
            <a:r>
              <a:rPr lang="en-US" altLang="zh-CN" baseline="-25000" dirty="0" err="1">
                <a:latin typeface="Arial" charset="0"/>
                <a:ea typeface="黑体" pitchFamily="2" charset="-122"/>
              </a:rPr>
              <a:t>i</a:t>
            </a:r>
            <a:r>
              <a:rPr lang="en-US" altLang="zh-CN" dirty="0" err="1">
                <a:latin typeface="Arial" charset="0"/>
                <a:ea typeface="黑体" pitchFamily="2" charset="-122"/>
              </a:rPr>
              <a:t>,c</a:t>
            </a:r>
            <a:r>
              <a:rPr lang="en-US" altLang="zh-CN" baseline="-25000" dirty="0" err="1">
                <a:latin typeface="Arial" charset="0"/>
                <a:ea typeface="黑体" pitchFamily="2" charset="-122"/>
              </a:rPr>
              <a:t>j</a:t>
            </a:r>
            <a:r>
              <a:rPr lang="zh-CN" altLang="en-US" dirty="0">
                <a:latin typeface="Arial" charset="0"/>
                <a:ea typeface="黑体" pitchFamily="2" charset="-122"/>
              </a:rPr>
              <a:t>用</a:t>
            </a:r>
            <a:r>
              <a:rPr lang="en-US" altLang="zh-CN" dirty="0" err="1">
                <a:latin typeface="Arial" charset="0"/>
                <a:ea typeface="黑体" pitchFamily="2" charset="-122"/>
              </a:rPr>
              <a:t>e</a:t>
            </a:r>
            <a:r>
              <a:rPr lang="en-US" altLang="zh-CN" baseline="-25000" dirty="0" err="1">
                <a:latin typeface="Arial" charset="0"/>
                <a:ea typeface="黑体" pitchFamily="2" charset="-122"/>
              </a:rPr>
              <a:t>min</a:t>
            </a:r>
            <a:r>
              <a:rPr lang="zh-CN" altLang="en-US" dirty="0">
                <a:latin typeface="Arial" charset="0"/>
                <a:ea typeface="黑体" pitchFamily="2" charset="-122"/>
              </a:rPr>
              <a:t>连接成同一个集合</a:t>
            </a:r>
            <a:endParaRPr lang="en-US" altLang="zh-CN" dirty="0">
              <a:latin typeface="Arial" charset="0"/>
              <a:ea typeface="黑体" pitchFamily="2" charset="-122"/>
            </a:endParaRPr>
          </a:p>
          <a:p>
            <a:pPr lvl="2"/>
            <a:r>
              <a:rPr lang="zh-CN" altLang="en-US" dirty="0">
                <a:latin typeface="Arial" charset="0"/>
                <a:ea typeface="黑体" pitchFamily="2" charset="-122"/>
              </a:rPr>
              <a:t>否则，舍弃</a:t>
            </a:r>
            <a:r>
              <a:rPr lang="en-US" altLang="zh-CN" dirty="0" err="1">
                <a:latin typeface="Arial" charset="0"/>
                <a:ea typeface="黑体" pitchFamily="2" charset="-122"/>
              </a:rPr>
              <a:t>e</a:t>
            </a:r>
            <a:r>
              <a:rPr lang="en-US" altLang="zh-CN" baseline="-25000" dirty="0" err="1">
                <a:latin typeface="Arial" charset="0"/>
                <a:ea typeface="黑体" pitchFamily="2" charset="-122"/>
              </a:rPr>
              <a:t>min</a:t>
            </a:r>
            <a:endParaRPr lang="en-US" altLang="zh-CN" dirty="0">
              <a:latin typeface="Arial" charset="0"/>
              <a:ea typeface="黑体" pitchFamily="2" charset="-122"/>
            </a:endParaRPr>
          </a:p>
          <a:p>
            <a:pPr lvl="1"/>
            <a:r>
              <a:rPr lang="zh-CN" altLang="en-US" dirty="0">
                <a:latin typeface="Arial" charset="0"/>
                <a:ea typeface="黑体" pitchFamily="2" charset="-122"/>
              </a:rPr>
              <a:t>重复上一过程，直到所有顶点在同一集合</a:t>
            </a:r>
          </a:p>
        </p:txBody>
      </p:sp>
      <p:sp>
        <p:nvSpPr>
          <p:cNvPr id="33796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fld id="{4177BDF1-2686-49A1-BA5B-0A75A9E69D27}" type="slidenum">
              <a:rPr lang="en-US" altLang="zh-CN" smtClean="0">
                <a:solidFill>
                  <a:srgbClr val="006600"/>
                </a:solidFill>
                <a:latin typeface="Courier New" pitchFamily="49" charset="0"/>
                <a:ea typeface="华文新魏" pitchFamily="2" charset="-122"/>
              </a:rPr>
              <a:pPr eaLnBrk="1" hangingPunct="1"/>
              <a:t>28</a:t>
            </a:fld>
            <a:endParaRPr lang="en-US" altLang="zh-CN">
              <a:solidFill>
                <a:srgbClr val="006600"/>
              </a:solidFill>
              <a:latin typeface="Courier New" pitchFamily="49" charset="0"/>
              <a:ea typeface="华文新魏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23687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最小生成树</a:t>
            </a:r>
          </a:p>
        </p:txBody>
      </p:sp>
      <p:sp>
        <p:nvSpPr>
          <p:cNvPr id="3481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>
                <a:latin typeface="Arial" charset="0"/>
                <a:ea typeface="黑体" pitchFamily="2" charset="-122"/>
              </a:rPr>
              <a:t>克鲁斯卡尔 </a:t>
            </a:r>
            <a:r>
              <a:rPr lang="en-US" altLang="zh-CN">
                <a:latin typeface="Arial" charset="0"/>
                <a:ea typeface="黑体" pitchFamily="2" charset="-122"/>
              </a:rPr>
              <a:t>(Kruskal) </a:t>
            </a:r>
            <a:r>
              <a:rPr lang="zh-CN" altLang="en-US">
                <a:latin typeface="Arial" charset="0"/>
                <a:ea typeface="黑体" pitchFamily="2" charset="-122"/>
              </a:rPr>
              <a:t>算法</a:t>
            </a:r>
            <a:endParaRPr lang="en-US" altLang="zh-CN">
              <a:latin typeface="Arial" charset="0"/>
              <a:ea typeface="黑体" pitchFamily="2" charset="-122"/>
            </a:endParaRPr>
          </a:p>
        </p:txBody>
      </p:sp>
      <p:sp>
        <p:nvSpPr>
          <p:cNvPr id="34820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fld id="{BBB6F55B-B943-4EA9-B163-4B755D89A587}" type="slidenum">
              <a:rPr lang="en-US" altLang="zh-CN" smtClean="0">
                <a:solidFill>
                  <a:srgbClr val="006600"/>
                </a:solidFill>
                <a:latin typeface="Courier New" pitchFamily="49" charset="0"/>
                <a:ea typeface="华文新魏" pitchFamily="2" charset="-122"/>
              </a:rPr>
              <a:pPr eaLnBrk="1" hangingPunct="1"/>
              <a:t>29</a:t>
            </a:fld>
            <a:endParaRPr lang="en-US" altLang="zh-CN">
              <a:solidFill>
                <a:srgbClr val="006600"/>
              </a:solidFill>
              <a:latin typeface="Courier New" pitchFamily="49" charset="0"/>
              <a:ea typeface="华文新魏" pitchFamily="2" charset="-122"/>
            </a:endParaRPr>
          </a:p>
        </p:txBody>
      </p:sp>
      <p:grpSp>
        <p:nvGrpSpPr>
          <p:cNvPr id="34821" name="组合 48"/>
          <p:cNvGrpSpPr>
            <a:grpSpLocks/>
          </p:cNvGrpSpPr>
          <p:nvPr/>
        </p:nvGrpSpPr>
        <p:grpSpPr bwMode="auto">
          <a:xfrm>
            <a:off x="117475" y="2041525"/>
            <a:ext cx="1958975" cy="2081213"/>
            <a:chOff x="738135" y="2256382"/>
            <a:chExt cx="1958416" cy="2081241"/>
          </a:xfrm>
        </p:grpSpPr>
        <p:sp>
          <p:nvSpPr>
            <p:cNvPr id="34924" name="Text Box 21"/>
            <p:cNvSpPr txBox="1">
              <a:spLocks noChangeArrowheads="1"/>
            </p:cNvSpPr>
            <p:nvPr/>
          </p:nvSpPr>
          <p:spPr bwMode="auto">
            <a:xfrm>
              <a:off x="1504908" y="2256382"/>
              <a:ext cx="41549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/>
              <a:r>
                <a:rPr kumimoji="1" lang="en-US" altLang="zh-CN" b="1">
                  <a:solidFill>
                    <a:srgbClr val="C00000"/>
                  </a:solidFill>
                  <a:latin typeface="Times New Roman" pitchFamily="18" charset="0"/>
                </a:rPr>
                <a:t>28</a:t>
              </a:r>
              <a:endParaRPr kumimoji="1" lang="en-US" altLang="zh-CN">
                <a:solidFill>
                  <a:srgbClr val="C00000"/>
                </a:solidFill>
                <a:latin typeface="Times New Roman" pitchFamily="18" charset="0"/>
              </a:endParaRPr>
            </a:p>
          </p:txBody>
        </p:sp>
        <p:grpSp>
          <p:nvGrpSpPr>
            <p:cNvPr id="34925" name="组合 47"/>
            <p:cNvGrpSpPr>
              <a:grpSpLocks/>
            </p:cNvGrpSpPr>
            <p:nvPr/>
          </p:nvGrpSpPr>
          <p:grpSpPr bwMode="auto">
            <a:xfrm>
              <a:off x="738135" y="2406638"/>
              <a:ext cx="1958416" cy="1930985"/>
              <a:chOff x="738135" y="2598723"/>
              <a:chExt cx="1958416" cy="1903314"/>
            </a:xfrm>
          </p:grpSpPr>
          <p:sp>
            <p:nvSpPr>
              <p:cNvPr id="8" name="Line 6"/>
              <p:cNvSpPr>
                <a:spLocks noChangeShapeType="1"/>
              </p:cNvSpPr>
              <p:nvPr/>
            </p:nvSpPr>
            <p:spPr bwMode="auto">
              <a:xfrm>
                <a:off x="1336452" y="2771399"/>
                <a:ext cx="815742" cy="0"/>
              </a:xfrm>
              <a:prstGeom prst="line">
                <a:avLst/>
              </a:prstGeom>
              <a:noFill/>
              <a:ln w="28575">
                <a:solidFill>
                  <a:schemeClr val="bg2">
                    <a:lumMod val="60000"/>
                    <a:lumOff val="40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chemeClr val="bg2"/>
                  </a:solidFill>
                  <a:ea typeface="宋体" pitchFamily="2" charset="-122"/>
                </a:endParaRPr>
              </a:p>
            </p:txBody>
          </p:sp>
          <p:sp>
            <p:nvSpPr>
              <p:cNvPr id="9" name="Line 7"/>
              <p:cNvSpPr>
                <a:spLocks noChangeShapeType="1"/>
              </p:cNvSpPr>
              <p:nvPr/>
            </p:nvSpPr>
            <p:spPr bwMode="auto">
              <a:xfrm>
                <a:off x="1336452" y="4198471"/>
                <a:ext cx="815742" cy="0"/>
              </a:xfrm>
              <a:prstGeom prst="line">
                <a:avLst/>
              </a:prstGeom>
              <a:noFill/>
              <a:ln w="28575">
                <a:solidFill>
                  <a:schemeClr val="bg2">
                    <a:lumMod val="60000"/>
                    <a:lumOff val="40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chemeClr val="bg2"/>
                  </a:solidFill>
                  <a:ea typeface="宋体" pitchFamily="2" charset="-122"/>
                </a:endParaRPr>
              </a:p>
            </p:txBody>
          </p:sp>
          <p:sp>
            <p:nvSpPr>
              <p:cNvPr id="10" name="Line 8"/>
              <p:cNvSpPr>
                <a:spLocks noChangeShapeType="1"/>
              </p:cNvSpPr>
              <p:nvPr/>
            </p:nvSpPr>
            <p:spPr bwMode="auto">
              <a:xfrm flipH="1" flipV="1">
                <a:off x="1717343" y="3570997"/>
                <a:ext cx="326932" cy="513245"/>
              </a:xfrm>
              <a:prstGeom prst="line">
                <a:avLst/>
              </a:prstGeom>
              <a:noFill/>
              <a:ln w="28575">
                <a:solidFill>
                  <a:schemeClr val="bg2">
                    <a:lumMod val="60000"/>
                    <a:lumOff val="40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chemeClr val="bg2"/>
                  </a:solidFill>
                  <a:ea typeface="宋体" pitchFamily="2" charset="-122"/>
                </a:endParaRPr>
              </a:p>
            </p:txBody>
          </p:sp>
          <p:sp>
            <p:nvSpPr>
              <p:cNvPr id="11" name="Line 9"/>
              <p:cNvSpPr>
                <a:spLocks noChangeShapeType="1"/>
              </p:cNvSpPr>
              <p:nvPr/>
            </p:nvSpPr>
            <p:spPr bwMode="auto">
              <a:xfrm flipH="1">
                <a:off x="2152194" y="3570997"/>
                <a:ext cx="326932" cy="627474"/>
              </a:xfrm>
              <a:prstGeom prst="line">
                <a:avLst/>
              </a:prstGeom>
              <a:noFill/>
              <a:ln w="28575">
                <a:solidFill>
                  <a:schemeClr val="bg2">
                    <a:lumMod val="60000"/>
                    <a:lumOff val="40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chemeClr val="bg2"/>
                  </a:solidFill>
                  <a:ea typeface="宋体" pitchFamily="2" charset="-122"/>
                </a:endParaRPr>
              </a:p>
            </p:txBody>
          </p:sp>
          <p:sp>
            <p:nvSpPr>
              <p:cNvPr id="12" name="Line 10"/>
              <p:cNvSpPr>
                <a:spLocks noChangeShapeType="1"/>
              </p:cNvSpPr>
              <p:nvPr/>
            </p:nvSpPr>
            <p:spPr bwMode="auto">
              <a:xfrm>
                <a:off x="2152194" y="2827731"/>
                <a:ext cx="326932" cy="629038"/>
              </a:xfrm>
              <a:prstGeom prst="line">
                <a:avLst/>
              </a:prstGeom>
              <a:noFill/>
              <a:ln w="28575">
                <a:solidFill>
                  <a:schemeClr val="bg2">
                    <a:lumMod val="60000"/>
                    <a:lumOff val="40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chemeClr val="bg2"/>
                  </a:solidFill>
                  <a:ea typeface="宋体" pitchFamily="2" charset="-122"/>
                </a:endParaRPr>
              </a:p>
            </p:txBody>
          </p:sp>
          <p:sp>
            <p:nvSpPr>
              <p:cNvPr id="13" name="Line 11"/>
              <p:cNvSpPr>
                <a:spLocks noChangeShapeType="1"/>
              </p:cNvSpPr>
              <p:nvPr/>
            </p:nvSpPr>
            <p:spPr bwMode="auto">
              <a:xfrm flipV="1">
                <a:off x="1390412" y="2771399"/>
                <a:ext cx="707823" cy="1370740"/>
              </a:xfrm>
              <a:prstGeom prst="line">
                <a:avLst/>
              </a:prstGeom>
              <a:noFill/>
              <a:ln w="28575">
                <a:solidFill>
                  <a:schemeClr val="bg2">
                    <a:lumMod val="60000"/>
                    <a:lumOff val="40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chemeClr val="bg2"/>
                  </a:solidFill>
                  <a:ea typeface="宋体" pitchFamily="2" charset="-122"/>
                </a:endParaRPr>
              </a:p>
            </p:txBody>
          </p:sp>
          <p:sp>
            <p:nvSpPr>
              <p:cNvPr id="14" name="Line 12"/>
              <p:cNvSpPr>
                <a:spLocks noChangeShapeType="1"/>
              </p:cNvSpPr>
              <p:nvPr/>
            </p:nvSpPr>
            <p:spPr bwMode="auto">
              <a:xfrm>
                <a:off x="955561" y="3570997"/>
                <a:ext cx="326932" cy="627474"/>
              </a:xfrm>
              <a:prstGeom prst="line">
                <a:avLst/>
              </a:prstGeom>
              <a:noFill/>
              <a:ln w="28575">
                <a:solidFill>
                  <a:schemeClr val="bg2">
                    <a:lumMod val="60000"/>
                    <a:lumOff val="40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chemeClr val="bg2"/>
                  </a:solidFill>
                  <a:ea typeface="宋体" pitchFamily="2" charset="-122"/>
                </a:endParaRPr>
              </a:p>
            </p:txBody>
          </p:sp>
          <p:sp>
            <p:nvSpPr>
              <p:cNvPr id="15" name="Line 13"/>
              <p:cNvSpPr>
                <a:spLocks noChangeShapeType="1"/>
              </p:cNvSpPr>
              <p:nvPr/>
            </p:nvSpPr>
            <p:spPr bwMode="auto">
              <a:xfrm flipH="1">
                <a:off x="901601" y="2827731"/>
                <a:ext cx="326932" cy="629038"/>
              </a:xfrm>
              <a:prstGeom prst="line">
                <a:avLst/>
              </a:prstGeom>
              <a:noFill/>
              <a:ln w="28575">
                <a:solidFill>
                  <a:schemeClr val="bg2">
                    <a:lumMod val="60000"/>
                    <a:lumOff val="40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chemeClr val="bg2"/>
                  </a:solidFill>
                  <a:ea typeface="宋体" pitchFamily="2" charset="-122"/>
                </a:endParaRPr>
              </a:p>
            </p:txBody>
          </p:sp>
          <p:sp>
            <p:nvSpPr>
              <p:cNvPr id="34934" name="Oval 14" descr="羊皮纸"/>
              <p:cNvSpPr>
                <a:spLocks noChangeArrowheads="1"/>
              </p:cNvSpPr>
              <p:nvPr/>
            </p:nvSpPr>
            <p:spPr bwMode="auto">
              <a:xfrm>
                <a:off x="738135" y="3341672"/>
                <a:ext cx="326403" cy="3429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lIns="72000" tIns="54000" rIns="72000" bIns="54000" anchor="ctr"/>
              <a:lstStyle/>
              <a:p>
                <a:pPr algn="ctr"/>
                <a:r>
                  <a:rPr kumimoji="1" lang="en-US" altLang="zh-CN" sz="2400" b="1">
                    <a:solidFill>
                      <a:schemeClr val="bg2"/>
                    </a:solidFill>
                    <a:latin typeface="Times New Roman" pitchFamily="18" charset="0"/>
                  </a:rPr>
                  <a:t>5</a:t>
                </a:r>
                <a:endParaRPr kumimoji="1" lang="en-US" altLang="zh-CN" sz="2400">
                  <a:solidFill>
                    <a:schemeClr val="bg2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34935" name="Oval 15" descr="羊皮纸"/>
              <p:cNvSpPr>
                <a:spLocks noChangeArrowheads="1"/>
              </p:cNvSpPr>
              <p:nvPr/>
            </p:nvSpPr>
            <p:spPr bwMode="auto">
              <a:xfrm>
                <a:off x="1118938" y="2598723"/>
                <a:ext cx="326403" cy="3429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lIns="72000" tIns="54000" rIns="72000" bIns="54000" anchor="ctr"/>
              <a:lstStyle/>
              <a:p>
                <a:pPr algn="ctr"/>
                <a:r>
                  <a:rPr kumimoji="1" lang="en-US" altLang="zh-CN" sz="2400" b="1">
                    <a:solidFill>
                      <a:schemeClr val="bg2"/>
                    </a:solidFill>
                    <a:latin typeface="Times New Roman" pitchFamily="18" charset="0"/>
                  </a:rPr>
                  <a:t>0</a:t>
                </a:r>
                <a:endParaRPr kumimoji="1" lang="en-US" altLang="zh-CN" sz="2400">
                  <a:solidFill>
                    <a:schemeClr val="bg2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34936" name="Oval 16" descr="羊皮纸"/>
              <p:cNvSpPr>
                <a:spLocks noChangeArrowheads="1"/>
              </p:cNvSpPr>
              <p:nvPr/>
            </p:nvSpPr>
            <p:spPr bwMode="auto">
              <a:xfrm>
                <a:off x="1118938" y="4027471"/>
                <a:ext cx="326403" cy="3429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lIns="72000" tIns="54000" rIns="72000" bIns="54000" anchor="ctr"/>
              <a:lstStyle/>
              <a:p>
                <a:pPr algn="ctr"/>
                <a:r>
                  <a:rPr kumimoji="1" lang="en-US" altLang="zh-CN" sz="2400" b="1">
                    <a:solidFill>
                      <a:schemeClr val="bg2"/>
                    </a:solidFill>
                    <a:latin typeface="Times New Roman" pitchFamily="18" charset="0"/>
                  </a:rPr>
                  <a:t>4</a:t>
                </a:r>
                <a:endParaRPr kumimoji="1" lang="en-US" altLang="zh-CN" sz="2400">
                  <a:solidFill>
                    <a:schemeClr val="bg2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34937" name="Oval 17" descr="羊皮纸"/>
              <p:cNvSpPr>
                <a:spLocks noChangeArrowheads="1"/>
              </p:cNvSpPr>
              <p:nvPr/>
            </p:nvSpPr>
            <p:spPr bwMode="auto">
              <a:xfrm>
                <a:off x="1554142" y="3341672"/>
                <a:ext cx="326403" cy="3429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lIns="72000" tIns="54000" rIns="72000" bIns="54000" anchor="ctr"/>
              <a:lstStyle/>
              <a:p>
                <a:pPr algn="ctr"/>
                <a:r>
                  <a:rPr kumimoji="1" lang="en-US" altLang="zh-CN" sz="2400" b="1">
                    <a:solidFill>
                      <a:schemeClr val="bg2"/>
                    </a:solidFill>
                    <a:latin typeface="Times New Roman" pitchFamily="18" charset="0"/>
                  </a:rPr>
                  <a:t>6</a:t>
                </a:r>
                <a:endParaRPr kumimoji="1" lang="en-US" altLang="zh-CN" sz="2400">
                  <a:solidFill>
                    <a:schemeClr val="bg2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34938" name="Oval 18" descr="羊皮纸"/>
              <p:cNvSpPr>
                <a:spLocks noChangeArrowheads="1"/>
              </p:cNvSpPr>
              <p:nvPr/>
            </p:nvSpPr>
            <p:spPr bwMode="auto">
              <a:xfrm>
                <a:off x="1934945" y="2598723"/>
                <a:ext cx="326403" cy="3429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lIns="72000" tIns="54000" rIns="72000" bIns="54000" anchor="ctr"/>
              <a:lstStyle/>
              <a:p>
                <a:pPr algn="ctr"/>
                <a:r>
                  <a:rPr kumimoji="1" lang="en-US" altLang="zh-CN" sz="2400" b="1">
                    <a:solidFill>
                      <a:schemeClr val="bg2"/>
                    </a:solidFill>
                    <a:latin typeface="Times New Roman" pitchFamily="18" charset="0"/>
                  </a:rPr>
                  <a:t>1</a:t>
                </a:r>
                <a:endParaRPr kumimoji="1" lang="en-US" altLang="zh-CN" sz="2400">
                  <a:solidFill>
                    <a:schemeClr val="bg2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34939" name="Oval 19" descr="羊皮纸"/>
              <p:cNvSpPr>
                <a:spLocks noChangeArrowheads="1"/>
              </p:cNvSpPr>
              <p:nvPr/>
            </p:nvSpPr>
            <p:spPr bwMode="auto">
              <a:xfrm>
                <a:off x="1934945" y="4027471"/>
                <a:ext cx="326403" cy="3429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lIns="72000" tIns="54000" rIns="72000" bIns="54000" anchor="ctr"/>
              <a:lstStyle/>
              <a:p>
                <a:pPr algn="ctr"/>
                <a:r>
                  <a:rPr kumimoji="1" lang="en-US" altLang="zh-CN" sz="2400" b="1">
                    <a:solidFill>
                      <a:schemeClr val="bg2"/>
                    </a:solidFill>
                    <a:latin typeface="Times New Roman" pitchFamily="18" charset="0"/>
                  </a:rPr>
                  <a:t>3</a:t>
                </a:r>
                <a:endParaRPr kumimoji="1" lang="en-US" altLang="zh-CN" sz="2400">
                  <a:solidFill>
                    <a:schemeClr val="bg2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34940" name="Oval 20" descr="羊皮纸"/>
              <p:cNvSpPr>
                <a:spLocks noChangeArrowheads="1"/>
              </p:cNvSpPr>
              <p:nvPr/>
            </p:nvSpPr>
            <p:spPr bwMode="auto">
              <a:xfrm flipH="1">
                <a:off x="2370148" y="3341672"/>
                <a:ext cx="326403" cy="3429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lIns="72000" tIns="54000" rIns="72000" bIns="54000" anchor="ctr"/>
              <a:lstStyle/>
              <a:p>
                <a:pPr algn="ctr"/>
                <a:r>
                  <a:rPr kumimoji="1" lang="en-US" altLang="zh-CN" sz="2400" b="1">
                    <a:solidFill>
                      <a:schemeClr val="bg2"/>
                    </a:solidFill>
                    <a:latin typeface="Times New Roman" pitchFamily="18" charset="0"/>
                  </a:rPr>
                  <a:t>2</a:t>
                </a:r>
                <a:endParaRPr kumimoji="1" lang="en-US" altLang="zh-CN" sz="2400">
                  <a:solidFill>
                    <a:schemeClr val="bg2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34941" name="Text Box 22"/>
              <p:cNvSpPr txBox="1">
                <a:spLocks noChangeArrowheads="1"/>
              </p:cNvSpPr>
              <p:nvPr/>
            </p:nvSpPr>
            <p:spPr bwMode="auto">
              <a:xfrm>
                <a:off x="738135" y="2846509"/>
                <a:ext cx="415498" cy="3640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b="1">
                    <a:solidFill>
                      <a:srgbClr val="C00000"/>
                    </a:solidFill>
                    <a:latin typeface="Times New Roman" pitchFamily="18" charset="0"/>
                  </a:rPr>
                  <a:t>10</a:t>
                </a:r>
                <a:endParaRPr kumimoji="1" lang="en-US" altLang="zh-CN">
                  <a:solidFill>
                    <a:srgbClr val="C0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34942" name="Text Box 23"/>
              <p:cNvSpPr txBox="1">
                <a:spLocks noChangeArrowheads="1"/>
              </p:cNvSpPr>
              <p:nvPr/>
            </p:nvSpPr>
            <p:spPr bwMode="auto">
              <a:xfrm>
                <a:off x="760793" y="3714404"/>
                <a:ext cx="415498" cy="3640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b="1">
                    <a:solidFill>
                      <a:srgbClr val="C00000"/>
                    </a:solidFill>
                    <a:latin typeface="Times New Roman" pitchFamily="18" charset="0"/>
                  </a:rPr>
                  <a:t>25</a:t>
                </a:r>
                <a:endParaRPr kumimoji="1" lang="en-US" altLang="zh-CN">
                  <a:solidFill>
                    <a:srgbClr val="C0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34943" name="Text Box 24"/>
              <p:cNvSpPr txBox="1">
                <a:spLocks noChangeArrowheads="1"/>
              </p:cNvSpPr>
              <p:nvPr/>
            </p:nvSpPr>
            <p:spPr bwMode="auto">
              <a:xfrm>
                <a:off x="1527566" y="2895188"/>
                <a:ext cx="415498" cy="3640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b="1">
                    <a:solidFill>
                      <a:srgbClr val="C00000"/>
                    </a:solidFill>
                    <a:latin typeface="Times New Roman" pitchFamily="18" charset="0"/>
                  </a:rPr>
                  <a:t>14</a:t>
                </a:r>
                <a:endParaRPr kumimoji="1" lang="en-US" altLang="zh-CN">
                  <a:solidFill>
                    <a:srgbClr val="C0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34944" name="Text Box 25"/>
              <p:cNvSpPr txBox="1">
                <a:spLocks noChangeArrowheads="1"/>
              </p:cNvSpPr>
              <p:nvPr/>
            </p:nvSpPr>
            <p:spPr bwMode="auto">
              <a:xfrm>
                <a:off x="1198949" y="3638284"/>
                <a:ext cx="415498" cy="3640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b="1">
                    <a:solidFill>
                      <a:srgbClr val="C00000"/>
                    </a:solidFill>
                    <a:latin typeface="Times New Roman" pitchFamily="18" charset="0"/>
                  </a:rPr>
                  <a:t>24</a:t>
                </a:r>
                <a:endParaRPr kumimoji="1" lang="en-US" altLang="zh-CN">
                  <a:solidFill>
                    <a:srgbClr val="C0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34945" name="Text Box 26"/>
              <p:cNvSpPr txBox="1">
                <a:spLocks noChangeArrowheads="1"/>
              </p:cNvSpPr>
              <p:nvPr/>
            </p:nvSpPr>
            <p:spPr bwMode="auto">
              <a:xfrm>
                <a:off x="1499741" y="4137998"/>
                <a:ext cx="415498" cy="3640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b="1">
                    <a:solidFill>
                      <a:srgbClr val="C00000"/>
                    </a:solidFill>
                    <a:latin typeface="Times New Roman" pitchFamily="18" charset="0"/>
                  </a:rPr>
                  <a:t>22</a:t>
                </a:r>
                <a:endParaRPr kumimoji="1" lang="en-US" altLang="zh-CN">
                  <a:solidFill>
                    <a:srgbClr val="C0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34946" name="Text Box 27"/>
              <p:cNvSpPr txBox="1">
                <a:spLocks noChangeArrowheads="1"/>
              </p:cNvSpPr>
              <p:nvPr/>
            </p:nvSpPr>
            <p:spPr bwMode="auto">
              <a:xfrm>
                <a:off x="2271681" y="2895188"/>
                <a:ext cx="415498" cy="3640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b="1">
                    <a:solidFill>
                      <a:srgbClr val="C00000"/>
                    </a:solidFill>
                    <a:latin typeface="Times New Roman" pitchFamily="18" charset="0"/>
                  </a:rPr>
                  <a:t>16</a:t>
                </a:r>
                <a:endParaRPr kumimoji="1" lang="en-US" altLang="zh-CN">
                  <a:solidFill>
                    <a:srgbClr val="C0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34947" name="Text Box 28"/>
              <p:cNvSpPr txBox="1">
                <a:spLocks noChangeArrowheads="1"/>
              </p:cNvSpPr>
              <p:nvPr/>
            </p:nvSpPr>
            <p:spPr bwMode="auto">
              <a:xfrm>
                <a:off x="1797012" y="3570271"/>
                <a:ext cx="415498" cy="3640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b="1">
                    <a:solidFill>
                      <a:srgbClr val="C00000"/>
                    </a:solidFill>
                    <a:latin typeface="Times New Roman" pitchFamily="18" charset="0"/>
                  </a:rPr>
                  <a:t>18</a:t>
                </a:r>
                <a:endParaRPr kumimoji="1" lang="en-US" altLang="zh-CN">
                  <a:solidFill>
                    <a:srgbClr val="C0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34948" name="Text Box 29"/>
              <p:cNvSpPr txBox="1">
                <a:spLocks noChangeArrowheads="1"/>
              </p:cNvSpPr>
              <p:nvPr/>
            </p:nvSpPr>
            <p:spPr bwMode="auto">
              <a:xfrm>
                <a:off x="2271681" y="3752437"/>
                <a:ext cx="415498" cy="3640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b="1">
                    <a:solidFill>
                      <a:srgbClr val="C00000"/>
                    </a:solidFill>
                    <a:latin typeface="Times New Roman" pitchFamily="18" charset="0"/>
                  </a:rPr>
                  <a:t>12</a:t>
                </a:r>
                <a:endParaRPr kumimoji="1" lang="en-US" altLang="zh-CN">
                  <a:solidFill>
                    <a:srgbClr val="C00000"/>
                  </a:solidFill>
                  <a:latin typeface="Times New Roman" pitchFamily="18" charset="0"/>
                </a:endParaRPr>
              </a:p>
            </p:txBody>
          </p:sp>
        </p:grpSp>
      </p:grpSp>
      <p:grpSp>
        <p:nvGrpSpPr>
          <p:cNvPr id="4" name="组合 47"/>
          <p:cNvGrpSpPr>
            <a:grpSpLocks/>
          </p:cNvGrpSpPr>
          <p:nvPr/>
        </p:nvGrpSpPr>
        <p:grpSpPr bwMode="auto">
          <a:xfrm>
            <a:off x="2417763" y="2154238"/>
            <a:ext cx="1958975" cy="1771650"/>
            <a:chOff x="738135" y="2598723"/>
            <a:chExt cx="1958416" cy="1771648"/>
          </a:xfrm>
        </p:grpSpPr>
        <p:sp>
          <p:nvSpPr>
            <p:cNvPr id="34917" name="Oval 14" descr="羊皮纸"/>
            <p:cNvSpPr>
              <a:spLocks noChangeArrowheads="1"/>
            </p:cNvSpPr>
            <p:nvPr/>
          </p:nvSpPr>
          <p:spPr bwMode="auto">
            <a:xfrm>
              <a:off x="738135" y="3341672"/>
              <a:ext cx="326403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  <a:round/>
              <a:headEnd/>
              <a:tailEnd/>
            </a:ln>
          </p:spPr>
          <p:txBody>
            <a:bodyPr wrap="none" lIns="72000" tIns="54000" rIns="72000" bIns="54000" anchor="ctr"/>
            <a:lstStyle/>
            <a:p>
              <a:pPr algn="ctr"/>
              <a:r>
                <a:rPr kumimoji="1" lang="en-US" altLang="zh-CN" sz="2400" b="1">
                  <a:solidFill>
                    <a:schemeClr val="bg2"/>
                  </a:solidFill>
                  <a:latin typeface="Times New Roman" pitchFamily="18" charset="0"/>
                </a:rPr>
                <a:t>5</a:t>
              </a:r>
              <a:endParaRPr kumimoji="1" lang="en-US" altLang="zh-CN" sz="240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sp>
          <p:nvSpPr>
            <p:cNvPr id="34918" name="Oval 15" descr="羊皮纸"/>
            <p:cNvSpPr>
              <a:spLocks noChangeArrowheads="1"/>
            </p:cNvSpPr>
            <p:nvPr/>
          </p:nvSpPr>
          <p:spPr bwMode="auto">
            <a:xfrm>
              <a:off x="1118938" y="2598723"/>
              <a:ext cx="326403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  <a:round/>
              <a:headEnd/>
              <a:tailEnd/>
            </a:ln>
          </p:spPr>
          <p:txBody>
            <a:bodyPr wrap="none" lIns="72000" tIns="54000" rIns="72000" bIns="54000" anchor="ctr"/>
            <a:lstStyle/>
            <a:p>
              <a:pPr algn="ctr"/>
              <a:r>
                <a:rPr kumimoji="1" lang="en-US" altLang="zh-CN" sz="2400" b="1">
                  <a:solidFill>
                    <a:schemeClr val="bg2"/>
                  </a:solidFill>
                  <a:latin typeface="Times New Roman" pitchFamily="18" charset="0"/>
                </a:rPr>
                <a:t>0</a:t>
              </a:r>
              <a:endParaRPr kumimoji="1" lang="en-US" altLang="zh-CN" sz="240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sp>
          <p:nvSpPr>
            <p:cNvPr id="34919" name="Oval 16" descr="羊皮纸"/>
            <p:cNvSpPr>
              <a:spLocks noChangeArrowheads="1"/>
            </p:cNvSpPr>
            <p:nvPr/>
          </p:nvSpPr>
          <p:spPr bwMode="auto">
            <a:xfrm>
              <a:off x="1118938" y="4027471"/>
              <a:ext cx="326403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  <a:round/>
              <a:headEnd/>
              <a:tailEnd/>
            </a:ln>
          </p:spPr>
          <p:txBody>
            <a:bodyPr wrap="none" lIns="72000" tIns="54000" rIns="72000" bIns="54000" anchor="ctr"/>
            <a:lstStyle/>
            <a:p>
              <a:pPr algn="ctr"/>
              <a:r>
                <a:rPr kumimoji="1" lang="en-US" altLang="zh-CN" sz="2400" b="1">
                  <a:solidFill>
                    <a:schemeClr val="bg2"/>
                  </a:solidFill>
                  <a:latin typeface="Times New Roman" pitchFamily="18" charset="0"/>
                </a:rPr>
                <a:t>4</a:t>
              </a:r>
              <a:endParaRPr kumimoji="1" lang="en-US" altLang="zh-CN" sz="240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sp>
          <p:nvSpPr>
            <p:cNvPr id="34920" name="Oval 17" descr="羊皮纸"/>
            <p:cNvSpPr>
              <a:spLocks noChangeArrowheads="1"/>
            </p:cNvSpPr>
            <p:nvPr/>
          </p:nvSpPr>
          <p:spPr bwMode="auto">
            <a:xfrm>
              <a:off x="1554142" y="3341672"/>
              <a:ext cx="326403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  <a:round/>
              <a:headEnd/>
              <a:tailEnd/>
            </a:ln>
          </p:spPr>
          <p:txBody>
            <a:bodyPr wrap="none" lIns="72000" tIns="54000" rIns="72000" bIns="54000" anchor="ctr"/>
            <a:lstStyle/>
            <a:p>
              <a:pPr algn="ctr"/>
              <a:r>
                <a:rPr kumimoji="1" lang="en-US" altLang="zh-CN" sz="2400" b="1">
                  <a:solidFill>
                    <a:schemeClr val="bg2"/>
                  </a:solidFill>
                  <a:latin typeface="Times New Roman" pitchFamily="18" charset="0"/>
                </a:rPr>
                <a:t>6</a:t>
              </a:r>
              <a:endParaRPr kumimoji="1" lang="en-US" altLang="zh-CN" sz="240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sp>
          <p:nvSpPr>
            <p:cNvPr id="34921" name="Oval 18" descr="羊皮纸"/>
            <p:cNvSpPr>
              <a:spLocks noChangeArrowheads="1"/>
            </p:cNvSpPr>
            <p:nvPr/>
          </p:nvSpPr>
          <p:spPr bwMode="auto">
            <a:xfrm>
              <a:off x="1934945" y="2598723"/>
              <a:ext cx="326403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  <a:round/>
              <a:headEnd/>
              <a:tailEnd/>
            </a:ln>
          </p:spPr>
          <p:txBody>
            <a:bodyPr wrap="none" lIns="72000" tIns="54000" rIns="72000" bIns="54000" anchor="ctr"/>
            <a:lstStyle/>
            <a:p>
              <a:pPr algn="ctr"/>
              <a:r>
                <a:rPr kumimoji="1" lang="en-US" altLang="zh-CN" sz="2400" b="1">
                  <a:solidFill>
                    <a:schemeClr val="bg2"/>
                  </a:solidFill>
                  <a:latin typeface="Times New Roman" pitchFamily="18" charset="0"/>
                </a:rPr>
                <a:t>1</a:t>
              </a:r>
              <a:endParaRPr kumimoji="1" lang="en-US" altLang="zh-CN" sz="240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sp>
          <p:nvSpPr>
            <p:cNvPr id="34922" name="Oval 19" descr="羊皮纸"/>
            <p:cNvSpPr>
              <a:spLocks noChangeArrowheads="1"/>
            </p:cNvSpPr>
            <p:nvPr/>
          </p:nvSpPr>
          <p:spPr bwMode="auto">
            <a:xfrm>
              <a:off x="1934945" y="4027471"/>
              <a:ext cx="326403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  <a:round/>
              <a:headEnd/>
              <a:tailEnd/>
            </a:ln>
          </p:spPr>
          <p:txBody>
            <a:bodyPr wrap="none" lIns="72000" tIns="54000" rIns="72000" bIns="54000" anchor="ctr"/>
            <a:lstStyle/>
            <a:p>
              <a:pPr algn="ctr"/>
              <a:r>
                <a:rPr kumimoji="1" lang="en-US" altLang="zh-CN" sz="2400" b="1">
                  <a:solidFill>
                    <a:schemeClr val="bg2"/>
                  </a:solidFill>
                  <a:latin typeface="Times New Roman" pitchFamily="18" charset="0"/>
                </a:rPr>
                <a:t>3</a:t>
              </a:r>
              <a:endParaRPr kumimoji="1" lang="en-US" altLang="zh-CN" sz="240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sp>
          <p:nvSpPr>
            <p:cNvPr id="34923" name="Oval 20" descr="羊皮纸"/>
            <p:cNvSpPr>
              <a:spLocks noChangeArrowheads="1"/>
            </p:cNvSpPr>
            <p:nvPr/>
          </p:nvSpPr>
          <p:spPr bwMode="auto">
            <a:xfrm flipH="1">
              <a:off x="2370148" y="3341672"/>
              <a:ext cx="326403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  <a:round/>
              <a:headEnd/>
              <a:tailEnd/>
            </a:ln>
          </p:spPr>
          <p:txBody>
            <a:bodyPr wrap="none" lIns="72000" tIns="54000" rIns="72000" bIns="54000" anchor="ctr"/>
            <a:lstStyle/>
            <a:p>
              <a:pPr algn="ctr"/>
              <a:r>
                <a:rPr kumimoji="1" lang="en-US" altLang="zh-CN" sz="2400" b="1">
                  <a:solidFill>
                    <a:schemeClr val="bg2"/>
                  </a:solidFill>
                  <a:latin typeface="Times New Roman" pitchFamily="18" charset="0"/>
                </a:rPr>
                <a:t>2</a:t>
              </a:r>
              <a:endParaRPr kumimoji="1" lang="en-US" altLang="zh-CN" sz="240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5" name="组合 47"/>
          <p:cNvGrpSpPr>
            <a:grpSpLocks/>
          </p:cNvGrpSpPr>
          <p:nvPr/>
        </p:nvGrpSpPr>
        <p:grpSpPr bwMode="auto">
          <a:xfrm>
            <a:off x="4681538" y="2154238"/>
            <a:ext cx="1958975" cy="1771650"/>
            <a:chOff x="738135" y="2598723"/>
            <a:chExt cx="1958416" cy="1771648"/>
          </a:xfrm>
        </p:grpSpPr>
        <p:sp>
          <p:nvSpPr>
            <p:cNvPr id="138" name="Line 13"/>
            <p:cNvSpPr>
              <a:spLocks noChangeShapeType="1"/>
            </p:cNvSpPr>
            <p:nvPr/>
          </p:nvSpPr>
          <p:spPr bwMode="auto">
            <a:xfrm flipH="1">
              <a:off x="901600" y="2827323"/>
              <a:ext cx="326932" cy="628649"/>
            </a:xfrm>
            <a:prstGeom prst="line">
              <a:avLst/>
            </a:prstGeom>
            <a:noFill/>
            <a:ln w="28575">
              <a:solidFill>
                <a:schemeClr val="bg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400">
                <a:solidFill>
                  <a:schemeClr val="bg2"/>
                </a:solidFill>
                <a:ea typeface="宋体" pitchFamily="2" charset="-122"/>
              </a:endParaRPr>
            </a:p>
          </p:txBody>
        </p:sp>
        <p:sp>
          <p:nvSpPr>
            <p:cNvPr id="34909" name="Oval 14" descr="羊皮纸"/>
            <p:cNvSpPr>
              <a:spLocks noChangeArrowheads="1"/>
            </p:cNvSpPr>
            <p:nvPr/>
          </p:nvSpPr>
          <p:spPr bwMode="auto">
            <a:xfrm>
              <a:off x="738135" y="3341672"/>
              <a:ext cx="326403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  <a:round/>
              <a:headEnd/>
              <a:tailEnd/>
            </a:ln>
          </p:spPr>
          <p:txBody>
            <a:bodyPr wrap="none" lIns="72000" tIns="54000" rIns="72000" bIns="54000" anchor="ctr"/>
            <a:lstStyle/>
            <a:p>
              <a:pPr algn="ctr"/>
              <a:r>
                <a:rPr kumimoji="1" lang="en-US" altLang="zh-CN" sz="2400" b="1">
                  <a:solidFill>
                    <a:schemeClr val="bg2"/>
                  </a:solidFill>
                  <a:latin typeface="Times New Roman" pitchFamily="18" charset="0"/>
                </a:rPr>
                <a:t>5</a:t>
              </a:r>
              <a:endParaRPr kumimoji="1" lang="en-US" altLang="zh-CN" sz="240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sp>
          <p:nvSpPr>
            <p:cNvPr id="34910" name="Oval 15" descr="羊皮纸"/>
            <p:cNvSpPr>
              <a:spLocks noChangeArrowheads="1"/>
            </p:cNvSpPr>
            <p:nvPr/>
          </p:nvSpPr>
          <p:spPr bwMode="auto">
            <a:xfrm>
              <a:off x="1118938" y="2598723"/>
              <a:ext cx="326403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  <a:round/>
              <a:headEnd/>
              <a:tailEnd/>
            </a:ln>
          </p:spPr>
          <p:txBody>
            <a:bodyPr wrap="none" lIns="72000" tIns="54000" rIns="72000" bIns="54000" anchor="ctr"/>
            <a:lstStyle/>
            <a:p>
              <a:pPr algn="ctr"/>
              <a:r>
                <a:rPr kumimoji="1" lang="en-US" altLang="zh-CN" sz="2400" b="1">
                  <a:solidFill>
                    <a:schemeClr val="bg2"/>
                  </a:solidFill>
                  <a:latin typeface="Times New Roman" pitchFamily="18" charset="0"/>
                </a:rPr>
                <a:t>0</a:t>
              </a:r>
              <a:endParaRPr kumimoji="1" lang="en-US" altLang="zh-CN" sz="240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sp>
          <p:nvSpPr>
            <p:cNvPr id="34911" name="Oval 16" descr="羊皮纸"/>
            <p:cNvSpPr>
              <a:spLocks noChangeArrowheads="1"/>
            </p:cNvSpPr>
            <p:nvPr/>
          </p:nvSpPr>
          <p:spPr bwMode="auto">
            <a:xfrm>
              <a:off x="1118938" y="4027471"/>
              <a:ext cx="326403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  <a:round/>
              <a:headEnd/>
              <a:tailEnd/>
            </a:ln>
          </p:spPr>
          <p:txBody>
            <a:bodyPr wrap="none" lIns="72000" tIns="54000" rIns="72000" bIns="54000" anchor="ctr"/>
            <a:lstStyle/>
            <a:p>
              <a:pPr algn="ctr"/>
              <a:r>
                <a:rPr kumimoji="1" lang="en-US" altLang="zh-CN" sz="2400" b="1">
                  <a:solidFill>
                    <a:schemeClr val="bg2"/>
                  </a:solidFill>
                  <a:latin typeface="Times New Roman" pitchFamily="18" charset="0"/>
                </a:rPr>
                <a:t>4</a:t>
              </a:r>
              <a:endParaRPr kumimoji="1" lang="en-US" altLang="zh-CN" sz="240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sp>
          <p:nvSpPr>
            <p:cNvPr id="34912" name="Oval 17" descr="羊皮纸"/>
            <p:cNvSpPr>
              <a:spLocks noChangeArrowheads="1"/>
            </p:cNvSpPr>
            <p:nvPr/>
          </p:nvSpPr>
          <p:spPr bwMode="auto">
            <a:xfrm>
              <a:off x="1554142" y="3341672"/>
              <a:ext cx="326403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  <a:round/>
              <a:headEnd/>
              <a:tailEnd/>
            </a:ln>
          </p:spPr>
          <p:txBody>
            <a:bodyPr wrap="none" lIns="72000" tIns="54000" rIns="72000" bIns="54000" anchor="ctr"/>
            <a:lstStyle/>
            <a:p>
              <a:pPr algn="ctr"/>
              <a:r>
                <a:rPr kumimoji="1" lang="en-US" altLang="zh-CN" sz="2400" b="1">
                  <a:solidFill>
                    <a:schemeClr val="bg2"/>
                  </a:solidFill>
                  <a:latin typeface="Times New Roman" pitchFamily="18" charset="0"/>
                </a:rPr>
                <a:t>6</a:t>
              </a:r>
              <a:endParaRPr kumimoji="1" lang="en-US" altLang="zh-CN" sz="240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sp>
          <p:nvSpPr>
            <p:cNvPr id="34913" name="Oval 18" descr="羊皮纸"/>
            <p:cNvSpPr>
              <a:spLocks noChangeArrowheads="1"/>
            </p:cNvSpPr>
            <p:nvPr/>
          </p:nvSpPr>
          <p:spPr bwMode="auto">
            <a:xfrm>
              <a:off x="1934945" y="2598723"/>
              <a:ext cx="326403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  <a:round/>
              <a:headEnd/>
              <a:tailEnd/>
            </a:ln>
          </p:spPr>
          <p:txBody>
            <a:bodyPr wrap="none" lIns="72000" tIns="54000" rIns="72000" bIns="54000" anchor="ctr"/>
            <a:lstStyle/>
            <a:p>
              <a:pPr algn="ctr"/>
              <a:r>
                <a:rPr kumimoji="1" lang="en-US" altLang="zh-CN" sz="2400" b="1">
                  <a:solidFill>
                    <a:schemeClr val="bg2"/>
                  </a:solidFill>
                  <a:latin typeface="Times New Roman" pitchFamily="18" charset="0"/>
                </a:rPr>
                <a:t>1</a:t>
              </a:r>
              <a:endParaRPr kumimoji="1" lang="en-US" altLang="zh-CN" sz="240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sp>
          <p:nvSpPr>
            <p:cNvPr id="34914" name="Oval 19" descr="羊皮纸"/>
            <p:cNvSpPr>
              <a:spLocks noChangeArrowheads="1"/>
            </p:cNvSpPr>
            <p:nvPr/>
          </p:nvSpPr>
          <p:spPr bwMode="auto">
            <a:xfrm>
              <a:off x="1934945" y="4027471"/>
              <a:ext cx="326403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  <a:round/>
              <a:headEnd/>
              <a:tailEnd/>
            </a:ln>
          </p:spPr>
          <p:txBody>
            <a:bodyPr wrap="none" lIns="72000" tIns="54000" rIns="72000" bIns="54000" anchor="ctr"/>
            <a:lstStyle/>
            <a:p>
              <a:pPr algn="ctr"/>
              <a:r>
                <a:rPr kumimoji="1" lang="en-US" altLang="zh-CN" sz="2400" b="1">
                  <a:solidFill>
                    <a:schemeClr val="bg2"/>
                  </a:solidFill>
                  <a:latin typeface="Times New Roman" pitchFamily="18" charset="0"/>
                </a:rPr>
                <a:t>3</a:t>
              </a:r>
              <a:endParaRPr kumimoji="1" lang="en-US" altLang="zh-CN" sz="240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sp>
          <p:nvSpPr>
            <p:cNvPr id="34915" name="Oval 20" descr="羊皮纸"/>
            <p:cNvSpPr>
              <a:spLocks noChangeArrowheads="1"/>
            </p:cNvSpPr>
            <p:nvPr/>
          </p:nvSpPr>
          <p:spPr bwMode="auto">
            <a:xfrm flipH="1">
              <a:off x="2370148" y="3341672"/>
              <a:ext cx="326403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  <a:round/>
              <a:headEnd/>
              <a:tailEnd/>
            </a:ln>
          </p:spPr>
          <p:txBody>
            <a:bodyPr wrap="none" lIns="72000" tIns="54000" rIns="72000" bIns="54000" anchor="ctr"/>
            <a:lstStyle/>
            <a:p>
              <a:pPr algn="ctr"/>
              <a:r>
                <a:rPr kumimoji="1" lang="en-US" altLang="zh-CN" sz="2400" b="1">
                  <a:solidFill>
                    <a:schemeClr val="bg2"/>
                  </a:solidFill>
                  <a:latin typeface="Times New Roman" pitchFamily="18" charset="0"/>
                </a:rPr>
                <a:t>2</a:t>
              </a:r>
              <a:endParaRPr kumimoji="1" lang="en-US" altLang="zh-CN" sz="240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sp>
          <p:nvSpPr>
            <p:cNvPr id="34916" name="Text Box 22"/>
            <p:cNvSpPr txBox="1">
              <a:spLocks noChangeArrowheads="1"/>
            </p:cNvSpPr>
            <p:nvPr/>
          </p:nvSpPr>
          <p:spPr bwMode="auto">
            <a:xfrm>
              <a:off x="738135" y="2846509"/>
              <a:ext cx="415498" cy="3640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/>
              <a:r>
                <a:rPr kumimoji="1" lang="en-US" altLang="zh-CN" b="1">
                  <a:solidFill>
                    <a:srgbClr val="C00000"/>
                  </a:solidFill>
                  <a:latin typeface="Times New Roman" pitchFamily="18" charset="0"/>
                </a:rPr>
                <a:t>10</a:t>
              </a:r>
              <a:endParaRPr kumimoji="1" lang="en-US" altLang="zh-CN">
                <a:solidFill>
                  <a:srgbClr val="C00000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6" name="组合 47"/>
          <p:cNvGrpSpPr>
            <a:grpSpLocks/>
          </p:cNvGrpSpPr>
          <p:nvPr/>
        </p:nvGrpSpPr>
        <p:grpSpPr bwMode="auto">
          <a:xfrm>
            <a:off x="6945313" y="2154238"/>
            <a:ext cx="1958975" cy="1771650"/>
            <a:chOff x="738135" y="2598723"/>
            <a:chExt cx="1958416" cy="1771648"/>
          </a:xfrm>
        </p:grpSpPr>
        <p:sp>
          <p:nvSpPr>
            <p:cNvPr id="160" name="Line 9"/>
            <p:cNvSpPr>
              <a:spLocks noChangeShapeType="1"/>
            </p:cNvSpPr>
            <p:nvPr/>
          </p:nvSpPr>
          <p:spPr bwMode="auto">
            <a:xfrm flipH="1">
              <a:off x="2152193" y="3570272"/>
              <a:ext cx="326932" cy="628649"/>
            </a:xfrm>
            <a:prstGeom prst="line">
              <a:avLst/>
            </a:prstGeom>
            <a:noFill/>
            <a:ln w="28575">
              <a:solidFill>
                <a:schemeClr val="bg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400">
                <a:solidFill>
                  <a:schemeClr val="bg2"/>
                </a:solidFill>
                <a:ea typeface="宋体" pitchFamily="2" charset="-122"/>
              </a:endParaRPr>
            </a:p>
          </p:txBody>
        </p:sp>
        <p:sp>
          <p:nvSpPr>
            <p:cNvPr id="164" name="Line 13"/>
            <p:cNvSpPr>
              <a:spLocks noChangeShapeType="1"/>
            </p:cNvSpPr>
            <p:nvPr/>
          </p:nvSpPr>
          <p:spPr bwMode="auto">
            <a:xfrm flipH="1">
              <a:off x="901600" y="2827323"/>
              <a:ext cx="326932" cy="628649"/>
            </a:xfrm>
            <a:prstGeom prst="line">
              <a:avLst/>
            </a:prstGeom>
            <a:noFill/>
            <a:ln w="28575">
              <a:solidFill>
                <a:schemeClr val="bg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400">
                <a:solidFill>
                  <a:schemeClr val="bg2"/>
                </a:solidFill>
                <a:ea typeface="宋体" pitchFamily="2" charset="-122"/>
              </a:endParaRPr>
            </a:p>
          </p:txBody>
        </p:sp>
        <p:sp>
          <p:nvSpPr>
            <p:cNvPr id="34899" name="Oval 14" descr="羊皮纸"/>
            <p:cNvSpPr>
              <a:spLocks noChangeArrowheads="1"/>
            </p:cNvSpPr>
            <p:nvPr/>
          </p:nvSpPr>
          <p:spPr bwMode="auto">
            <a:xfrm>
              <a:off x="738135" y="3341672"/>
              <a:ext cx="326403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  <a:round/>
              <a:headEnd/>
              <a:tailEnd/>
            </a:ln>
          </p:spPr>
          <p:txBody>
            <a:bodyPr wrap="none" lIns="72000" tIns="54000" rIns="72000" bIns="54000" anchor="ctr"/>
            <a:lstStyle/>
            <a:p>
              <a:pPr algn="ctr"/>
              <a:r>
                <a:rPr kumimoji="1" lang="en-US" altLang="zh-CN" sz="2400" b="1">
                  <a:solidFill>
                    <a:schemeClr val="bg2"/>
                  </a:solidFill>
                  <a:latin typeface="Times New Roman" pitchFamily="18" charset="0"/>
                </a:rPr>
                <a:t>5</a:t>
              </a:r>
              <a:endParaRPr kumimoji="1" lang="en-US" altLang="zh-CN" sz="240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sp>
          <p:nvSpPr>
            <p:cNvPr id="34900" name="Oval 15" descr="羊皮纸"/>
            <p:cNvSpPr>
              <a:spLocks noChangeArrowheads="1"/>
            </p:cNvSpPr>
            <p:nvPr/>
          </p:nvSpPr>
          <p:spPr bwMode="auto">
            <a:xfrm>
              <a:off x="1118938" y="2598723"/>
              <a:ext cx="326403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  <a:round/>
              <a:headEnd/>
              <a:tailEnd/>
            </a:ln>
          </p:spPr>
          <p:txBody>
            <a:bodyPr wrap="none" lIns="72000" tIns="54000" rIns="72000" bIns="54000" anchor="ctr"/>
            <a:lstStyle/>
            <a:p>
              <a:pPr algn="ctr"/>
              <a:r>
                <a:rPr kumimoji="1" lang="en-US" altLang="zh-CN" sz="2400" b="1">
                  <a:solidFill>
                    <a:schemeClr val="bg2"/>
                  </a:solidFill>
                  <a:latin typeface="Times New Roman" pitchFamily="18" charset="0"/>
                </a:rPr>
                <a:t>0</a:t>
              </a:r>
              <a:endParaRPr kumimoji="1" lang="en-US" altLang="zh-CN" sz="240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sp>
          <p:nvSpPr>
            <p:cNvPr id="34901" name="Oval 16" descr="羊皮纸"/>
            <p:cNvSpPr>
              <a:spLocks noChangeArrowheads="1"/>
            </p:cNvSpPr>
            <p:nvPr/>
          </p:nvSpPr>
          <p:spPr bwMode="auto">
            <a:xfrm>
              <a:off x="1118938" y="4027471"/>
              <a:ext cx="326403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  <a:round/>
              <a:headEnd/>
              <a:tailEnd/>
            </a:ln>
          </p:spPr>
          <p:txBody>
            <a:bodyPr wrap="none" lIns="72000" tIns="54000" rIns="72000" bIns="54000" anchor="ctr"/>
            <a:lstStyle/>
            <a:p>
              <a:pPr algn="ctr"/>
              <a:r>
                <a:rPr kumimoji="1" lang="en-US" altLang="zh-CN" sz="2400" b="1">
                  <a:solidFill>
                    <a:schemeClr val="bg2"/>
                  </a:solidFill>
                  <a:latin typeface="Times New Roman" pitchFamily="18" charset="0"/>
                </a:rPr>
                <a:t>4</a:t>
              </a:r>
              <a:endParaRPr kumimoji="1" lang="en-US" altLang="zh-CN" sz="240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sp>
          <p:nvSpPr>
            <p:cNvPr id="34902" name="Oval 17" descr="羊皮纸"/>
            <p:cNvSpPr>
              <a:spLocks noChangeArrowheads="1"/>
            </p:cNvSpPr>
            <p:nvPr/>
          </p:nvSpPr>
          <p:spPr bwMode="auto">
            <a:xfrm>
              <a:off x="1554142" y="3341672"/>
              <a:ext cx="326403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  <a:round/>
              <a:headEnd/>
              <a:tailEnd/>
            </a:ln>
          </p:spPr>
          <p:txBody>
            <a:bodyPr wrap="none" lIns="72000" tIns="54000" rIns="72000" bIns="54000" anchor="ctr"/>
            <a:lstStyle/>
            <a:p>
              <a:pPr algn="ctr"/>
              <a:r>
                <a:rPr kumimoji="1" lang="en-US" altLang="zh-CN" sz="2400" b="1">
                  <a:solidFill>
                    <a:schemeClr val="bg2"/>
                  </a:solidFill>
                  <a:latin typeface="Times New Roman" pitchFamily="18" charset="0"/>
                </a:rPr>
                <a:t>6</a:t>
              </a:r>
              <a:endParaRPr kumimoji="1" lang="en-US" altLang="zh-CN" sz="240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sp>
          <p:nvSpPr>
            <p:cNvPr id="34903" name="Oval 18" descr="羊皮纸"/>
            <p:cNvSpPr>
              <a:spLocks noChangeArrowheads="1"/>
            </p:cNvSpPr>
            <p:nvPr/>
          </p:nvSpPr>
          <p:spPr bwMode="auto">
            <a:xfrm>
              <a:off x="1934945" y="2598723"/>
              <a:ext cx="326403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  <a:round/>
              <a:headEnd/>
              <a:tailEnd/>
            </a:ln>
          </p:spPr>
          <p:txBody>
            <a:bodyPr wrap="none" lIns="72000" tIns="54000" rIns="72000" bIns="54000" anchor="ctr"/>
            <a:lstStyle/>
            <a:p>
              <a:pPr algn="ctr"/>
              <a:r>
                <a:rPr kumimoji="1" lang="en-US" altLang="zh-CN" sz="2400" b="1">
                  <a:solidFill>
                    <a:schemeClr val="bg2"/>
                  </a:solidFill>
                  <a:latin typeface="Times New Roman" pitchFamily="18" charset="0"/>
                </a:rPr>
                <a:t>1</a:t>
              </a:r>
              <a:endParaRPr kumimoji="1" lang="en-US" altLang="zh-CN" sz="240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sp>
          <p:nvSpPr>
            <p:cNvPr id="34904" name="Oval 19" descr="羊皮纸"/>
            <p:cNvSpPr>
              <a:spLocks noChangeArrowheads="1"/>
            </p:cNvSpPr>
            <p:nvPr/>
          </p:nvSpPr>
          <p:spPr bwMode="auto">
            <a:xfrm>
              <a:off x="1934945" y="4027471"/>
              <a:ext cx="326403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  <a:round/>
              <a:headEnd/>
              <a:tailEnd/>
            </a:ln>
          </p:spPr>
          <p:txBody>
            <a:bodyPr wrap="none" lIns="72000" tIns="54000" rIns="72000" bIns="54000" anchor="ctr"/>
            <a:lstStyle/>
            <a:p>
              <a:pPr algn="ctr"/>
              <a:r>
                <a:rPr kumimoji="1" lang="en-US" altLang="zh-CN" sz="2400" b="1">
                  <a:solidFill>
                    <a:schemeClr val="bg2"/>
                  </a:solidFill>
                  <a:latin typeface="Times New Roman" pitchFamily="18" charset="0"/>
                </a:rPr>
                <a:t>3</a:t>
              </a:r>
              <a:endParaRPr kumimoji="1" lang="en-US" altLang="zh-CN" sz="240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sp>
          <p:nvSpPr>
            <p:cNvPr id="34905" name="Oval 20" descr="羊皮纸"/>
            <p:cNvSpPr>
              <a:spLocks noChangeArrowheads="1"/>
            </p:cNvSpPr>
            <p:nvPr/>
          </p:nvSpPr>
          <p:spPr bwMode="auto">
            <a:xfrm flipH="1">
              <a:off x="2370148" y="3341672"/>
              <a:ext cx="326403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  <a:round/>
              <a:headEnd/>
              <a:tailEnd/>
            </a:ln>
          </p:spPr>
          <p:txBody>
            <a:bodyPr wrap="none" lIns="72000" tIns="54000" rIns="72000" bIns="54000" anchor="ctr"/>
            <a:lstStyle/>
            <a:p>
              <a:pPr algn="ctr"/>
              <a:r>
                <a:rPr kumimoji="1" lang="en-US" altLang="zh-CN" sz="2400" b="1">
                  <a:solidFill>
                    <a:schemeClr val="bg2"/>
                  </a:solidFill>
                  <a:latin typeface="Times New Roman" pitchFamily="18" charset="0"/>
                </a:rPr>
                <a:t>2</a:t>
              </a:r>
              <a:endParaRPr kumimoji="1" lang="en-US" altLang="zh-CN" sz="240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sp>
          <p:nvSpPr>
            <p:cNvPr id="34906" name="Text Box 22"/>
            <p:cNvSpPr txBox="1">
              <a:spLocks noChangeArrowheads="1"/>
            </p:cNvSpPr>
            <p:nvPr/>
          </p:nvSpPr>
          <p:spPr bwMode="auto">
            <a:xfrm>
              <a:off x="738135" y="2846509"/>
              <a:ext cx="415498" cy="3640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/>
              <a:r>
                <a:rPr kumimoji="1" lang="en-US" altLang="zh-CN" b="1">
                  <a:solidFill>
                    <a:srgbClr val="C00000"/>
                  </a:solidFill>
                  <a:latin typeface="Times New Roman" pitchFamily="18" charset="0"/>
                </a:rPr>
                <a:t>10</a:t>
              </a:r>
              <a:endParaRPr kumimoji="1" lang="en-US" altLang="zh-CN">
                <a:solidFill>
                  <a:srgbClr val="C00000"/>
                </a:solidFill>
                <a:latin typeface="Times New Roman" pitchFamily="18" charset="0"/>
              </a:endParaRPr>
            </a:p>
          </p:txBody>
        </p:sp>
        <p:sp>
          <p:nvSpPr>
            <p:cNvPr id="34907" name="Text Box 29"/>
            <p:cNvSpPr txBox="1">
              <a:spLocks noChangeArrowheads="1"/>
            </p:cNvSpPr>
            <p:nvPr/>
          </p:nvSpPr>
          <p:spPr bwMode="auto">
            <a:xfrm>
              <a:off x="2271681" y="3752437"/>
              <a:ext cx="415498" cy="3640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/>
              <a:r>
                <a:rPr kumimoji="1" lang="en-US" altLang="zh-CN" b="1">
                  <a:solidFill>
                    <a:srgbClr val="C00000"/>
                  </a:solidFill>
                  <a:latin typeface="Times New Roman" pitchFamily="18" charset="0"/>
                </a:rPr>
                <a:t>12</a:t>
              </a:r>
              <a:endParaRPr kumimoji="1" lang="en-US" altLang="zh-CN">
                <a:solidFill>
                  <a:srgbClr val="C00000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7" name="组合 47"/>
          <p:cNvGrpSpPr>
            <a:grpSpLocks/>
          </p:cNvGrpSpPr>
          <p:nvPr/>
        </p:nvGrpSpPr>
        <p:grpSpPr bwMode="auto">
          <a:xfrm>
            <a:off x="117475" y="4710113"/>
            <a:ext cx="1958975" cy="1771650"/>
            <a:chOff x="738135" y="2598723"/>
            <a:chExt cx="1958416" cy="1771648"/>
          </a:xfrm>
        </p:grpSpPr>
        <p:sp>
          <p:nvSpPr>
            <p:cNvPr id="186" name="Line 9"/>
            <p:cNvSpPr>
              <a:spLocks noChangeShapeType="1"/>
            </p:cNvSpPr>
            <p:nvPr/>
          </p:nvSpPr>
          <p:spPr bwMode="auto">
            <a:xfrm flipH="1">
              <a:off x="2152194" y="3570272"/>
              <a:ext cx="326932" cy="628649"/>
            </a:xfrm>
            <a:prstGeom prst="line">
              <a:avLst/>
            </a:prstGeom>
            <a:noFill/>
            <a:ln w="28575">
              <a:solidFill>
                <a:schemeClr val="bg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400">
                <a:solidFill>
                  <a:schemeClr val="bg2"/>
                </a:solidFill>
                <a:ea typeface="宋体" pitchFamily="2" charset="-122"/>
              </a:endParaRPr>
            </a:p>
          </p:txBody>
        </p:sp>
        <p:sp>
          <p:nvSpPr>
            <p:cNvPr id="188" name="Line 11"/>
            <p:cNvSpPr>
              <a:spLocks noChangeShapeType="1"/>
            </p:cNvSpPr>
            <p:nvPr/>
          </p:nvSpPr>
          <p:spPr bwMode="auto">
            <a:xfrm flipV="1">
              <a:off x="1687189" y="2770173"/>
              <a:ext cx="411046" cy="811211"/>
            </a:xfrm>
            <a:prstGeom prst="line">
              <a:avLst/>
            </a:prstGeom>
            <a:noFill/>
            <a:ln w="28575">
              <a:solidFill>
                <a:schemeClr val="bg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400">
                <a:solidFill>
                  <a:schemeClr val="bg2"/>
                </a:solidFill>
                <a:ea typeface="宋体" pitchFamily="2" charset="-122"/>
              </a:endParaRPr>
            </a:p>
          </p:txBody>
        </p:sp>
        <p:sp>
          <p:nvSpPr>
            <p:cNvPr id="190" name="Line 13"/>
            <p:cNvSpPr>
              <a:spLocks noChangeShapeType="1"/>
            </p:cNvSpPr>
            <p:nvPr/>
          </p:nvSpPr>
          <p:spPr bwMode="auto">
            <a:xfrm flipH="1">
              <a:off x="901601" y="2827323"/>
              <a:ext cx="326932" cy="628649"/>
            </a:xfrm>
            <a:prstGeom prst="line">
              <a:avLst/>
            </a:prstGeom>
            <a:noFill/>
            <a:ln w="28575">
              <a:solidFill>
                <a:schemeClr val="bg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400">
                <a:solidFill>
                  <a:schemeClr val="bg2"/>
                </a:solidFill>
                <a:ea typeface="宋体" pitchFamily="2" charset="-122"/>
              </a:endParaRPr>
            </a:p>
          </p:txBody>
        </p:sp>
        <p:sp>
          <p:nvSpPr>
            <p:cNvPr id="34887" name="Oval 14" descr="羊皮纸"/>
            <p:cNvSpPr>
              <a:spLocks noChangeArrowheads="1"/>
            </p:cNvSpPr>
            <p:nvPr/>
          </p:nvSpPr>
          <p:spPr bwMode="auto">
            <a:xfrm>
              <a:off x="738135" y="3341672"/>
              <a:ext cx="326403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  <a:round/>
              <a:headEnd/>
              <a:tailEnd/>
            </a:ln>
          </p:spPr>
          <p:txBody>
            <a:bodyPr wrap="none" lIns="72000" tIns="54000" rIns="72000" bIns="54000" anchor="ctr"/>
            <a:lstStyle/>
            <a:p>
              <a:pPr algn="ctr"/>
              <a:r>
                <a:rPr kumimoji="1" lang="en-US" altLang="zh-CN" sz="2400" b="1">
                  <a:solidFill>
                    <a:schemeClr val="bg2"/>
                  </a:solidFill>
                  <a:latin typeface="Times New Roman" pitchFamily="18" charset="0"/>
                </a:rPr>
                <a:t>5</a:t>
              </a:r>
              <a:endParaRPr kumimoji="1" lang="en-US" altLang="zh-CN" sz="240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sp>
          <p:nvSpPr>
            <p:cNvPr id="34888" name="Oval 15" descr="羊皮纸"/>
            <p:cNvSpPr>
              <a:spLocks noChangeArrowheads="1"/>
            </p:cNvSpPr>
            <p:nvPr/>
          </p:nvSpPr>
          <p:spPr bwMode="auto">
            <a:xfrm>
              <a:off x="1118938" y="2598723"/>
              <a:ext cx="326403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  <a:round/>
              <a:headEnd/>
              <a:tailEnd/>
            </a:ln>
          </p:spPr>
          <p:txBody>
            <a:bodyPr wrap="none" lIns="72000" tIns="54000" rIns="72000" bIns="54000" anchor="ctr"/>
            <a:lstStyle/>
            <a:p>
              <a:pPr algn="ctr"/>
              <a:r>
                <a:rPr kumimoji="1" lang="en-US" altLang="zh-CN" sz="2400" b="1">
                  <a:solidFill>
                    <a:schemeClr val="bg2"/>
                  </a:solidFill>
                  <a:latin typeface="Times New Roman" pitchFamily="18" charset="0"/>
                </a:rPr>
                <a:t>0</a:t>
              </a:r>
              <a:endParaRPr kumimoji="1" lang="en-US" altLang="zh-CN" sz="240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sp>
          <p:nvSpPr>
            <p:cNvPr id="34889" name="Oval 16" descr="羊皮纸"/>
            <p:cNvSpPr>
              <a:spLocks noChangeArrowheads="1"/>
            </p:cNvSpPr>
            <p:nvPr/>
          </p:nvSpPr>
          <p:spPr bwMode="auto">
            <a:xfrm>
              <a:off x="1118938" y="4027471"/>
              <a:ext cx="326403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  <a:round/>
              <a:headEnd/>
              <a:tailEnd/>
            </a:ln>
          </p:spPr>
          <p:txBody>
            <a:bodyPr wrap="none" lIns="72000" tIns="54000" rIns="72000" bIns="54000" anchor="ctr"/>
            <a:lstStyle/>
            <a:p>
              <a:pPr algn="ctr"/>
              <a:r>
                <a:rPr kumimoji="1" lang="en-US" altLang="zh-CN" sz="2400" b="1">
                  <a:solidFill>
                    <a:schemeClr val="bg2"/>
                  </a:solidFill>
                  <a:latin typeface="Times New Roman" pitchFamily="18" charset="0"/>
                </a:rPr>
                <a:t>4</a:t>
              </a:r>
              <a:endParaRPr kumimoji="1" lang="en-US" altLang="zh-CN" sz="240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sp>
          <p:nvSpPr>
            <p:cNvPr id="34890" name="Oval 17" descr="羊皮纸"/>
            <p:cNvSpPr>
              <a:spLocks noChangeArrowheads="1"/>
            </p:cNvSpPr>
            <p:nvPr/>
          </p:nvSpPr>
          <p:spPr bwMode="auto">
            <a:xfrm>
              <a:off x="1554142" y="3341672"/>
              <a:ext cx="326403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  <a:round/>
              <a:headEnd/>
              <a:tailEnd/>
            </a:ln>
          </p:spPr>
          <p:txBody>
            <a:bodyPr wrap="none" lIns="72000" tIns="54000" rIns="72000" bIns="54000" anchor="ctr"/>
            <a:lstStyle/>
            <a:p>
              <a:pPr algn="ctr"/>
              <a:r>
                <a:rPr kumimoji="1" lang="en-US" altLang="zh-CN" sz="2400" b="1">
                  <a:solidFill>
                    <a:schemeClr val="bg2"/>
                  </a:solidFill>
                  <a:latin typeface="Times New Roman" pitchFamily="18" charset="0"/>
                </a:rPr>
                <a:t>6</a:t>
              </a:r>
              <a:endParaRPr kumimoji="1" lang="en-US" altLang="zh-CN" sz="240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sp>
          <p:nvSpPr>
            <p:cNvPr id="34891" name="Oval 18" descr="羊皮纸"/>
            <p:cNvSpPr>
              <a:spLocks noChangeArrowheads="1"/>
            </p:cNvSpPr>
            <p:nvPr/>
          </p:nvSpPr>
          <p:spPr bwMode="auto">
            <a:xfrm>
              <a:off x="1934945" y="2598723"/>
              <a:ext cx="326403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  <a:round/>
              <a:headEnd/>
              <a:tailEnd/>
            </a:ln>
          </p:spPr>
          <p:txBody>
            <a:bodyPr wrap="none" lIns="72000" tIns="54000" rIns="72000" bIns="54000" anchor="ctr"/>
            <a:lstStyle/>
            <a:p>
              <a:pPr algn="ctr"/>
              <a:r>
                <a:rPr kumimoji="1" lang="en-US" altLang="zh-CN" sz="2400" b="1">
                  <a:solidFill>
                    <a:schemeClr val="bg2"/>
                  </a:solidFill>
                  <a:latin typeface="Times New Roman" pitchFamily="18" charset="0"/>
                </a:rPr>
                <a:t>1</a:t>
              </a:r>
              <a:endParaRPr kumimoji="1" lang="en-US" altLang="zh-CN" sz="240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sp>
          <p:nvSpPr>
            <p:cNvPr id="34892" name="Oval 19" descr="羊皮纸"/>
            <p:cNvSpPr>
              <a:spLocks noChangeArrowheads="1"/>
            </p:cNvSpPr>
            <p:nvPr/>
          </p:nvSpPr>
          <p:spPr bwMode="auto">
            <a:xfrm>
              <a:off x="1934945" y="4027471"/>
              <a:ext cx="326403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  <a:round/>
              <a:headEnd/>
              <a:tailEnd/>
            </a:ln>
          </p:spPr>
          <p:txBody>
            <a:bodyPr wrap="none" lIns="72000" tIns="54000" rIns="72000" bIns="54000" anchor="ctr"/>
            <a:lstStyle/>
            <a:p>
              <a:pPr algn="ctr"/>
              <a:r>
                <a:rPr kumimoji="1" lang="en-US" altLang="zh-CN" sz="2400" b="1">
                  <a:solidFill>
                    <a:schemeClr val="bg2"/>
                  </a:solidFill>
                  <a:latin typeface="Times New Roman" pitchFamily="18" charset="0"/>
                </a:rPr>
                <a:t>3</a:t>
              </a:r>
              <a:endParaRPr kumimoji="1" lang="en-US" altLang="zh-CN" sz="240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sp>
          <p:nvSpPr>
            <p:cNvPr id="34893" name="Oval 20" descr="羊皮纸"/>
            <p:cNvSpPr>
              <a:spLocks noChangeArrowheads="1"/>
            </p:cNvSpPr>
            <p:nvPr/>
          </p:nvSpPr>
          <p:spPr bwMode="auto">
            <a:xfrm flipH="1">
              <a:off x="2370148" y="3341672"/>
              <a:ext cx="326403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  <a:round/>
              <a:headEnd/>
              <a:tailEnd/>
            </a:ln>
          </p:spPr>
          <p:txBody>
            <a:bodyPr wrap="none" lIns="72000" tIns="54000" rIns="72000" bIns="54000" anchor="ctr"/>
            <a:lstStyle/>
            <a:p>
              <a:pPr algn="ctr"/>
              <a:r>
                <a:rPr kumimoji="1" lang="en-US" altLang="zh-CN" sz="2400" b="1">
                  <a:solidFill>
                    <a:schemeClr val="bg2"/>
                  </a:solidFill>
                  <a:latin typeface="Times New Roman" pitchFamily="18" charset="0"/>
                </a:rPr>
                <a:t>2</a:t>
              </a:r>
              <a:endParaRPr kumimoji="1" lang="en-US" altLang="zh-CN" sz="240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sp>
          <p:nvSpPr>
            <p:cNvPr id="34894" name="Text Box 22"/>
            <p:cNvSpPr txBox="1">
              <a:spLocks noChangeArrowheads="1"/>
            </p:cNvSpPr>
            <p:nvPr/>
          </p:nvSpPr>
          <p:spPr bwMode="auto">
            <a:xfrm>
              <a:off x="738135" y="2846509"/>
              <a:ext cx="415498" cy="3640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/>
              <a:r>
                <a:rPr kumimoji="1" lang="en-US" altLang="zh-CN" b="1">
                  <a:solidFill>
                    <a:srgbClr val="C00000"/>
                  </a:solidFill>
                  <a:latin typeface="Times New Roman" pitchFamily="18" charset="0"/>
                </a:rPr>
                <a:t>10</a:t>
              </a:r>
              <a:endParaRPr kumimoji="1" lang="en-US" altLang="zh-CN">
                <a:solidFill>
                  <a:srgbClr val="C00000"/>
                </a:solidFill>
                <a:latin typeface="Times New Roman" pitchFamily="18" charset="0"/>
              </a:endParaRPr>
            </a:p>
          </p:txBody>
        </p:sp>
        <p:sp>
          <p:nvSpPr>
            <p:cNvPr id="34895" name="Text Box 24"/>
            <p:cNvSpPr txBox="1">
              <a:spLocks noChangeArrowheads="1"/>
            </p:cNvSpPr>
            <p:nvPr/>
          </p:nvSpPr>
          <p:spPr bwMode="auto">
            <a:xfrm>
              <a:off x="1527566" y="2895188"/>
              <a:ext cx="415498" cy="3640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/>
              <a:r>
                <a:rPr kumimoji="1" lang="en-US" altLang="zh-CN" b="1">
                  <a:solidFill>
                    <a:srgbClr val="C00000"/>
                  </a:solidFill>
                  <a:latin typeface="Times New Roman" pitchFamily="18" charset="0"/>
                </a:rPr>
                <a:t>14</a:t>
              </a:r>
              <a:endParaRPr kumimoji="1" lang="en-US" altLang="zh-CN">
                <a:solidFill>
                  <a:srgbClr val="C00000"/>
                </a:solidFill>
                <a:latin typeface="Times New Roman" pitchFamily="18" charset="0"/>
              </a:endParaRPr>
            </a:p>
          </p:txBody>
        </p:sp>
        <p:sp>
          <p:nvSpPr>
            <p:cNvPr id="34896" name="Text Box 29"/>
            <p:cNvSpPr txBox="1">
              <a:spLocks noChangeArrowheads="1"/>
            </p:cNvSpPr>
            <p:nvPr/>
          </p:nvSpPr>
          <p:spPr bwMode="auto">
            <a:xfrm>
              <a:off x="2271681" y="3752437"/>
              <a:ext cx="415498" cy="3640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/>
              <a:r>
                <a:rPr kumimoji="1" lang="en-US" altLang="zh-CN" b="1">
                  <a:solidFill>
                    <a:srgbClr val="C00000"/>
                  </a:solidFill>
                  <a:latin typeface="Times New Roman" pitchFamily="18" charset="0"/>
                </a:rPr>
                <a:t>12</a:t>
              </a:r>
              <a:endParaRPr kumimoji="1" lang="en-US" altLang="zh-CN">
                <a:solidFill>
                  <a:srgbClr val="C00000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16" name="组合 47"/>
          <p:cNvGrpSpPr>
            <a:grpSpLocks/>
          </p:cNvGrpSpPr>
          <p:nvPr/>
        </p:nvGrpSpPr>
        <p:grpSpPr bwMode="auto">
          <a:xfrm>
            <a:off x="2417763" y="4710113"/>
            <a:ext cx="1958975" cy="1771650"/>
            <a:chOff x="738135" y="2598723"/>
            <a:chExt cx="1958416" cy="1771648"/>
          </a:xfrm>
        </p:grpSpPr>
        <p:sp>
          <p:nvSpPr>
            <p:cNvPr id="212" name="Line 9"/>
            <p:cNvSpPr>
              <a:spLocks noChangeShapeType="1"/>
            </p:cNvSpPr>
            <p:nvPr/>
          </p:nvSpPr>
          <p:spPr bwMode="auto">
            <a:xfrm flipH="1">
              <a:off x="2152193" y="3570272"/>
              <a:ext cx="326932" cy="628649"/>
            </a:xfrm>
            <a:prstGeom prst="line">
              <a:avLst/>
            </a:prstGeom>
            <a:noFill/>
            <a:ln w="28575">
              <a:solidFill>
                <a:schemeClr val="bg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400">
                <a:solidFill>
                  <a:schemeClr val="bg2"/>
                </a:solidFill>
                <a:ea typeface="宋体" pitchFamily="2" charset="-122"/>
              </a:endParaRPr>
            </a:p>
          </p:txBody>
        </p:sp>
        <p:sp>
          <p:nvSpPr>
            <p:cNvPr id="213" name="Line 10"/>
            <p:cNvSpPr>
              <a:spLocks noChangeShapeType="1"/>
            </p:cNvSpPr>
            <p:nvPr/>
          </p:nvSpPr>
          <p:spPr bwMode="auto">
            <a:xfrm>
              <a:off x="2152193" y="2827323"/>
              <a:ext cx="326932" cy="628649"/>
            </a:xfrm>
            <a:prstGeom prst="line">
              <a:avLst/>
            </a:prstGeom>
            <a:noFill/>
            <a:ln w="28575">
              <a:solidFill>
                <a:schemeClr val="bg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400">
                <a:solidFill>
                  <a:schemeClr val="bg2"/>
                </a:solidFill>
                <a:ea typeface="宋体" pitchFamily="2" charset="-122"/>
              </a:endParaRPr>
            </a:p>
          </p:txBody>
        </p:sp>
        <p:sp>
          <p:nvSpPr>
            <p:cNvPr id="214" name="Line 11"/>
            <p:cNvSpPr>
              <a:spLocks noChangeShapeType="1"/>
            </p:cNvSpPr>
            <p:nvPr/>
          </p:nvSpPr>
          <p:spPr bwMode="auto">
            <a:xfrm flipV="1">
              <a:off x="1723691" y="2770173"/>
              <a:ext cx="374543" cy="774699"/>
            </a:xfrm>
            <a:prstGeom prst="line">
              <a:avLst/>
            </a:prstGeom>
            <a:noFill/>
            <a:ln w="28575">
              <a:solidFill>
                <a:schemeClr val="bg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400">
                <a:solidFill>
                  <a:schemeClr val="bg2"/>
                </a:solidFill>
                <a:ea typeface="宋体" pitchFamily="2" charset="-122"/>
              </a:endParaRPr>
            </a:p>
          </p:txBody>
        </p:sp>
        <p:sp>
          <p:nvSpPr>
            <p:cNvPr id="216" name="Line 13"/>
            <p:cNvSpPr>
              <a:spLocks noChangeShapeType="1"/>
            </p:cNvSpPr>
            <p:nvPr/>
          </p:nvSpPr>
          <p:spPr bwMode="auto">
            <a:xfrm flipH="1">
              <a:off x="901600" y="2827323"/>
              <a:ext cx="326932" cy="628649"/>
            </a:xfrm>
            <a:prstGeom prst="line">
              <a:avLst/>
            </a:prstGeom>
            <a:noFill/>
            <a:ln w="28575">
              <a:solidFill>
                <a:schemeClr val="bg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400">
                <a:solidFill>
                  <a:schemeClr val="bg2"/>
                </a:solidFill>
                <a:ea typeface="宋体" pitchFamily="2" charset="-122"/>
              </a:endParaRPr>
            </a:p>
          </p:txBody>
        </p:sp>
        <p:sp>
          <p:nvSpPr>
            <p:cNvPr id="34873" name="Oval 14" descr="羊皮纸"/>
            <p:cNvSpPr>
              <a:spLocks noChangeArrowheads="1"/>
            </p:cNvSpPr>
            <p:nvPr/>
          </p:nvSpPr>
          <p:spPr bwMode="auto">
            <a:xfrm>
              <a:off x="738135" y="3341672"/>
              <a:ext cx="326403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  <a:round/>
              <a:headEnd/>
              <a:tailEnd/>
            </a:ln>
          </p:spPr>
          <p:txBody>
            <a:bodyPr wrap="none" lIns="72000" tIns="54000" rIns="72000" bIns="54000" anchor="ctr"/>
            <a:lstStyle/>
            <a:p>
              <a:pPr algn="ctr"/>
              <a:r>
                <a:rPr kumimoji="1" lang="en-US" altLang="zh-CN" sz="2400" b="1">
                  <a:solidFill>
                    <a:schemeClr val="bg2"/>
                  </a:solidFill>
                  <a:latin typeface="Times New Roman" pitchFamily="18" charset="0"/>
                </a:rPr>
                <a:t>5</a:t>
              </a:r>
              <a:endParaRPr kumimoji="1" lang="en-US" altLang="zh-CN" sz="240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sp>
          <p:nvSpPr>
            <p:cNvPr id="34874" name="Oval 15" descr="羊皮纸"/>
            <p:cNvSpPr>
              <a:spLocks noChangeArrowheads="1"/>
            </p:cNvSpPr>
            <p:nvPr/>
          </p:nvSpPr>
          <p:spPr bwMode="auto">
            <a:xfrm>
              <a:off x="1118938" y="2598723"/>
              <a:ext cx="326403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  <a:round/>
              <a:headEnd/>
              <a:tailEnd/>
            </a:ln>
          </p:spPr>
          <p:txBody>
            <a:bodyPr wrap="none" lIns="72000" tIns="54000" rIns="72000" bIns="54000" anchor="ctr"/>
            <a:lstStyle/>
            <a:p>
              <a:pPr algn="ctr"/>
              <a:r>
                <a:rPr kumimoji="1" lang="en-US" altLang="zh-CN" sz="2400" b="1">
                  <a:solidFill>
                    <a:schemeClr val="bg2"/>
                  </a:solidFill>
                  <a:latin typeface="Times New Roman" pitchFamily="18" charset="0"/>
                </a:rPr>
                <a:t>0</a:t>
              </a:r>
              <a:endParaRPr kumimoji="1" lang="en-US" altLang="zh-CN" sz="240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sp>
          <p:nvSpPr>
            <p:cNvPr id="34875" name="Oval 16" descr="羊皮纸"/>
            <p:cNvSpPr>
              <a:spLocks noChangeArrowheads="1"/>
            </p:cNvSpPr>
            <p:nvPr/>
          </p:nvSpPr>
          <p:spPr bwMode="auto">
            <a:xfrm>
              <a:off x="1118938" y="4027471"/>
              <a:ext cx="326403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  <a:round/>
              <a:headEnd/>
              <a:tailEnd/>
            </a:ln>
          </p:spPr>
          <p:txBody>
            <a:bodyPr wrap="none" lIns="72000" tIns="54000" rIns="72000" bIns="54000" anchor="ctr"/>
            <a:lstStyle/>
            <a:p>
              <a:pPr algn="ctr"/>
              <a:r>
                <a:rPr kumimoji="1" lang="en-US" altLang="zh-CN" sz="2400" b="1">
                  <a:solidFill>
                    <a:schemeClr val="bg2"/>
                  </a:solidFill>
                  <a:latin typeface="Times New Roman" pitchFamily="18" charset="0"/>
                </a:rPr>
                <a:t>4</a:t>
              </a:r>
              <a:endParaRPr kumimoji="1" lang="en-US" altLang="zh-CN" sz="240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sp>
          <p:nvSpPr>
            <p:cNvPr id="34876" name="Oval 17" descr="羊皮纸"/>
            <p:cNvSpPr>
              <a:spLocks noChangeArrowheads="1"/>
            </p:cNvSpPr>
            <p:nvPr/>
          </p:nvSpPr>
          <p:spPr bwMode="auto">
            <a:xfrm>
              <a:off x="1554142" y="3341672"/>
              <a:ext cx="326403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  <a:round/>
              <a:headEnd/>
              <a:tailEnd/>
            </a:ln>
          </p:spPr>
          <p:txBody>
            <a:bodyPr wrap="none" lIns="72000" tIns="54000" rIns="72000" bIns="54000" anchor="ctr"/>
            <a:lstStyle/>
            <a:p>
              <a:pPr algn="ctr"/>
              <a:r>
                <a:rPr kumimoji="1" lang="en-US" altLang="zh-CN" sz="2400" b="1">
                  <a:solidFill>
                    <a:schemeClr val="bg2"/>
                  </a:solidFill>
                  <a:latin typeface="Times New Roman" pitchFamily="18" charset="0"/>
                </a:rPr>
                <a:t>6</a:t>
              </a:r>
              <a:endParaRPr kumimoji="1" lang="en-US" altLang="zh-CN" sz="240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sp>
          <p:nvSpPr>
            <p:cNvPr id="34877" name="Oval 18" descr="羊皮纸"/>
            <p:cNvSpPr>
              <a:spLocks noChangeArrowheads="1"/>
            </p:cNvSpPr>
            <p:nvPr/>
          </p:nvSpPr>
          <p:spPr bwMode="auto">
            <a:xfrm>
              <a:off x="1934945" y="2598723"/>
              <a:ext cx="326403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  <a:round/>
              <a:headEnd/>
              <a:tailEnd/>
            </a:ln>
          </p:spPr>
          <p:txBody>
            <a:bodyPr wrap="none" lIns="72000" tIns="54000" rIns="72000" bIns="54000" anchor="ctr"/>
            <a:lstStyle/>
            <a:p>
              <a:pPr algn="ctr"/>
              <a:r>
                <a:rPr kumimoji="1" lang="en-US" altLang="zh-CN" sz="2400" b="1">
                  <a:solidFill>
                    <a:schemeClr val="bg2"/>
                  </a:solidFill>
                  <a:latin typeface="Times New Roman" pitchFamily="18" charset="0"/>
                </a:rPr>
                <a:t>1</a:t>
              </a:r>
              <a:endParaRPr kumimoji="1" lang="en-US" altLang="zh-CN" sz="240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sp>
          <p:nvSpPr>
            <p:cNvPr id="34878" name="Oval 19" descr="羊皮纸"/>
            <p:cNvSpPr>
              <a:spLocks noChangeArrowheads="1"/>
            </p:cNvSpPr>
            <p:nvPr/>
          </p:nvSpPr>
          <p:spPr bwMode="auto">
            <a:xfrm>
              <a:off x="1934945" y="4027471"/>
              <a:ext cx="326403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  <a:round/>
              <a:headEnd/>
              <a:tailEnd/>
            </a:ln>
          </p:spPr>
          <p:txBody>
            <a:bodyPr wrap="none" lIns="72000" tIns="54000" rIns="72000" bIns="54000" anchor="ctr"/>
            <a:lstStyle/>
            <a:p>
              <a:pPr algn="ctr"/>
              <a:r>
                <a:rPr kumimoji="1" lang="en-US" altLang="zh-CN" sz="2400" b="1">
                  <a:solidFill>
                    <a:schemeClr val="bg2"/>
                  </a:solidFill>
                  <a:latin typeface="Times New Roman" pitchFamily="18" charset="0"/>
                </a:rPr>
                <a:t>3</a:t>
              </a:r>
              <a:endParaRPr kumimoji="1" lang="en-US" altLang="zh-CN" sz="240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sp>
          <p:nvSpPr>
            <p:cNvPr id="34879" name="Oval 20" descr="羊皮纸"/>
            <p:cNvSpPr>
              <a:spLocks noChangeArrowheads="1"/>
            </p:cNvSpPr>
            <p:nvPr/>
          </p:nvSpPr>
          <p:spPr bwMode="auto">
            <a:xfrm flipH="1">
              <a:off x="2370148" y="3341672"/>
              <a:ext cx="326403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  <a:round/>
              <a:headEnd/>
              <a:tailEnd/>
            </a:ln>
          </p:spPr>
          <p:txBody>
            <a:bodyPr wrap="none" lIns="72000" tIns="54000" rIns="72000" bIns="54000" anchor="ctr"/>
            <a:lstStyle/>
            <a:p>
              <a:pPr algn="ctr"/>
              <a:r>
                <a:rPr kumimoji="1" lang="en-US" altLang="zh-CN" sz="2400" b="1">
                  <a:solidFill>
                    <a:schemeClr val="bg2"/>
                  </a:solidFill>
                  <a:latin typeface="Times New Roman" pitchFamily="18" charset="0"/>
                </a:rPr>
                <a:t>2</a:t>
              </a:r>
              <a:endParaRPr kumimoji="1" lang="en-US" altLang="zh-CN" sz="240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sp>
          <p:nvSpPr>
            <p:cNvPr id="34880" name="Text Box 22"/>
            <p:cNvSpPr txBox="1">
              <a:spLocks noChangeArrowheads="1"/>
            </p:cNvSpPr>
            <p:nvPr/>
          </p:nvSpPr>
          <p:spPr bwMode="auto">
            <a:xfrm>
              <a:off x="738135" y="2846509"/>
              <a:ext cx="415498" cy="3640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/>
              <a:r>
                <a:rPr kumimoji="1" lang="en-US" altLang="zh-CN" b="1">
                  <a:solidFill>
                    <a:srgbClr val="C00000"/>
                  </a:solidFill>
                  <a:latin typeface="Times New Roman" pitchFamily="18" charset="0"/>
                </a:rPr>
                <a:t>10</a:t>
              </a:r>
              <a:endParaRPr kumimoji="1" lang="en-US" altLang="zh-CN">
                <a:solidFill>
                  <a:srgbClr val="C00000"/>
                </a:solidFill>
                <a:latin typeface="Times New Roman" pitchFamily="18" charset="0"/>
              </a:endParaRPr>
            </a:p>
          </p:txBody>
        </p:sp>
        <p:sp>
          <p:nvSpPr>
            <p:cNvPr id="34881" name="Text Box 24"/>
            <p:cNvSpPr txBox="1">
              <a:spLocks noChangeArrowheads="1"/>
            </p:cNvSpPr>
            <p:nvPr/>
          </p:nvSpPr>
          <p:spPr bwMode="auto">
            <a:xfrm>
              <a:off x="1527566" y="2895188"/>
              <a:ext cx="415498" cy="3640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/>
              <a:r>
                <a:rPr kumimoji="1" lang="en-US" altLang="zh-CN" b="1">
                  <a:solidFill>
                    <a:srgbClr val="C00000"/>
                  </a:solidFill>
                  <a:latin typeface="Times New Roman" pitchFamily="18" charset="0"/>
                </a:rPr>
                <a:t>14</a:t>
              </a:r>
              <a:endParaRPr kumimoji="1" lang="en-US" altLang="zh-CN">
                <a:solidFill>
                  <a:srgbClr val="C00000"/>
                </a:solidFill>
                <a:latin typeface="Times New Roman" pitchFamily="18" charset="0"/>
              </a:endParaRPr>
            </a:p>
          </p:txBody>
        </p:sp>
        <p:sp>
          <p:nvSpPr>
            <p:cNvPr id="34882" name="Text Box 27"/>
            <p:cNvSpPr txBox="1">
              <a:spLocks noChangeArrowheads="1"/>
            </p:cNvSpPr>
            <p:nvPr/>
          </p:nvSpPr>
          <p:spPr bwMode="auto">
            <a:xfrm>
              <a:off x="2271681" y="2895188"/>
              <a:ext cx="415498" cy="3640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/>
              <a:r>
                <a:rPr kumimoji="1" lang="en-US" altLang="zh-CN" b="1">
                  <a:solidFill>
                    <a:srgbClr val="C00000"/>
                  </a:solidFill>
                  <a:latin typeface="Times New Roman" pitchFamily="18" charset="0"/>
                </a:rPr>
                <a:t>16</a:t>
              </a:r>
              <a:endParaRPr kumimoji="1" lang="en-US" altLang="zh-CN">
                <a:solidFill>
                  <a:srgbClr val="C00000"/>
                </a:solidFill>
                <a:latin typeface="Times New Roman" pitchFamily="18" charset="0"/>
              </a:endParaRPr>
            </a:p>
          </p:txBody>
        </p:sp>
        <p:sp>
          <p:nvSpPr>
            <p:cNvPr id="34883" name="Text Box 29"/>
            <p:cNvSpPr txBox="1">
              <a:spLocks noChangeArrowheads="1"/>
            </p:cNvSpPr>
            <p:nvPr/>
          </p:nvSpPr>
          <p:spPr bwMode="auto">
            <a:xfrm>
              <a:off x="2271681" y="3752437"/>
              <a:ext cx="415498" cy="3640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/>
              <a:r>
                <a:rPr kumimoji="1" lang="en-US" altLang="zh-CN" b="1">
                  <a:solidFill>
                    <a:srgbClr val="C00000"/>
                  </a:solidFill>
                  <a:latin typeface="Times New Roman" pitchFamily="18" charset="0"/>
                </a:rPr>
                <a:t>12</a:t>
              </a:r>
              <a:endParaRPr kumimoji="1" lang="en-US" altLang="zh-CN">
                <a:solidFill>
                  <a:srgbClr val="C00000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17" name="组合 47"/>
          <p:cNvGrpSpPr>
            <a:grpSpLocks/>
          </p:cNvGrpSpPr>
          <p:nvPr/>
        </p:nvGrpSpPr>
        <p:grpSpPr bwMode="auto">
          <a:xfrm>
            <a:off x="4681538" y="4710113"/>
            <a:ext cx="1958975" cy="1903412"/>
            <a:chOff x="738135" y="2598723"/>
            <a:chExt cx="1958416" cy="1903314"/>
          </a:xfrm>
        </p:grpSpPr>
        <p:sp>
          <p:nvSpPr>
            <p:cNvPr id="236" name="Line 7"/>
            <p:cNvSpPr>
              <a:spLocks noChangeShapeType="1"/>
            </p:cNvSpPr>
            <p:nvPr/>
          </p:nvSpPr>
          <p:spPr bwMode="auto">
            <a:xfrm>
              <a:off x="1336451" y="4198841"/>
              <a:ext cx="815742" cy="0"/>
            </a:xfrm>
            <a:prstGeom prst="line">
              <a:avLst/>
            </a:prstGeom>
            <a:noFill/>
            <a:ln w="28575">
              <a:solidFill>
                <a:schemeClr val="bg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400">
                <a:solidFill>
                  <a:schemeClr val="bg2"/>
                </a:solidFill>
                <a:ea typeface="宋体" pitchFamily="2" charset="-122"/>
              </a:endParaRPr>
            </a:p>
          </p:txBody>
        </p:sp>
        <p:sp>
          <p:nvSpPr>
            <p:cNvPr id="238" name="Line 9"/>
            <p:cNvSpPr>
              <a:spLocks noChangeShapeType="1"/>
            </p:cNvSpPr>
            <p:nvPr/>
          </p:nvSpPr>
          <p:spPr bwMode="auto">
            <a:xfrm flipH="1">
              <a:off x="2152193" y="3570223"/>
              <a:ext cx="326932" cy="628618"/>
            </a:xfrm>
            <a:prstGeom prst="line">
              <a:avLst/>
            </a:prstGeom>
            <a:noFill/>
            <a:ln w="28575">
              <a:solidFill>
                <a:schemeClr val="bg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400">
                <a:solidFill>
                  <a:schemeClr val="bg2"/>
                </a:solidFill>
                <a:ea typeface="宋体" pitchFamily="2" charset="-122"/>
              </a:endParaRPr>
            </a:p>
          </p:txBody>
        </p:sp>
        <p:sp>
          <p:nvSpPr>
            <p:cNvPr id="239" name="Line 10"/>
            <p:cNvSpPr>
              <a:spLocks noChangeShapeType="1"/>
            </p:cNvSpPr>
            <p:nvPr/>
          </p:nvSpPr>
          <p:spPr bwMode="auto">
            <a:xfrm>
              <a:off x="2152193" y="2827311"/>
              <a:ext cx="326932" cy="628618"/>
            </a:xfrm>
            <a:prstGeom prst="line">
              <a:avLst/>
            </a:prstGeom>
            <a:noFill/>
            <a:ln w="28575">
              <a:solidFill>
                <a:schemeClr val="bg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400">
                <a:solidFill>
                  <a:schemeClr val="bg2"/>
                </a:solidFill>
                <a:ea typeface="宋体" pitchFamily="2" charset="-122"/>
              </a:endParaRPr>
            </a:p>
          </p:txBody>
        </p:sp>
        <p:sp>
          <p:nvSpPr>
            <p:cNvPr id="240" name="Line 11"/>
            <p:cNvSpPr>
              <a:spLocks noChangeShapeType="1"/>
            </p:cNvSpPr>
            <p:nvPr/>
          </p:nvSpPr>
          <p:spPr bwMode="auto">
            <a:xfrm flipV="1">
              <a:off x="1723691" y="2770164"/>
              <a:ext cx="374543" cy="701639"/>
            </a:xfrm>
            <a:prstGeom prst="line">
              <a:avLst/>
            </a:prstGeom>
            <a:noFill/>
            <a:ln w="28575">
              <a:solidFill>
                <a:schemeClr val="bg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400">
                <a:solidFill>
                  <a:schemeClr val="bg2"/>
                </a:solidFill>
                <a:ea typeface="宋体" pitchFamily="2" charset="-122"/>
              </a:endParaRPr>
            </a:p>
          </p:txBody>
        </p:sp>
        <p:sp>
          <p:nvSpPr>
            <p:cNvPr id="242" name="Line 13"/>
            <p:cNvSpPr>
              <a:spLocks noChangeShapeType="1"/>
            </p:cNvSpPr>
            <p:nvPr/>
          </p:nvSpPr>
          <p:spPr bwMode="auto">
            <a:xfrm flipH="1">
              <a:off x="901600" y="2827311"/>
              <a:ext cx="326932" cy="628618"/>
            </a:xfrm>
            <a:prstGeom prst="line">
              <a:avLst/>
            </a:prstGeom>
            <a:noFill/>
            <a:ln w="28575">
              <a:solidFill>
                <a:schemeClr val="bg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400">
                <a:solidFill>
                  <a:schemeClr val="bg2"/>
                </a:solidFill>
                <a:ea typeface="宋体" pitchFamily="2" charset="-122"/>
              </a:endParaRPr>
            </a:p>
          </p:txBody>
        </p:sp>
        <p:sp>
          <p:nvSpPr>
            <p:cNvPr id="34857" name="Oval 14" descr="羊皮纸"/>
            <p:cNvSpPr>
              <a:spLocks noChangeArrowheads="1"/>
            </p:cNvSpPr>
            <p:nvPr/>
          </p:nvSpPr>
          <p:spPr bwMode="auto">
            <a:xfrm>
              <a:off x="738135" y="3341672"/>
              <a:ext cx="326403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  <a:round/>
              <a:headEnd/>
              <a:tailEnd/>
            </a:ln>
          </p:spPr>
          <p:txBody>
            <a:bodyPr wrap="none" lIns="72000" tIns="54000" rIns="72000" bIns="54000" anchor="ctr"/>
            <a:lstStyle/>
            <a:p>
              <a:pPr algn="ctr"/>
              <a:r>
                <a:rPr kumimoji="1" lang="en-US" altLang="zh-CN" sz="2400" b="1">
                  <a:solidFill>
                    <a:schemeClr val="bg2"/>
                  </a:solidFill>
                  <a:latin typeface="Times New Roman" pitchFamily="18" charset="0"/>
                </a:rPr>
                <a:t>5</a:t>
              </a:r>
              <a:endParaRPr kumimoji="1" lang="en-US" altLang="zh-CN" sz="240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sp>
          <p:nvSpPr>
            <p:cNvPr id="34858" name="Oval 15" descr="羊皮纸"/>
            <p:cNvSpPr>
              <a:spLocks noChangeArrowheads="1"/>
            </p:cNvSpPr>
            <p:nvPr/>
          </p:nvSpPr>
          <p:spPr bwMode="auto">
            <a:xfrm>
              <a:off x="1118938" y="2598723"/>
              <a:ext cx="326403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  <a:round/>
              <a:headEnd/>
              <a:tailEnd/>
            </a:ln>
          </p:spPr>
          <p:txBody>
            <a:bodyPr wrap="none" lIns="72000" tIns="54000" rIns="72000" bIns="54000" anchor="ctr"/>
            <a:lstStyle/>
            <a:p>
              <a:pPr algn="ctr"/>
              <a:r>
                <a:rPr kumimoji="1" lang="en-US" altLang="zh-CN" sz="2400" b="1">
                  <a:solidFill>
                    <a:schemeClr val="bg2"/>
                  </a:solidFill>
                  <a:latin typeface="Times New Roman" pitchFamily="18" charset="0"/>
                </a:rPr>
                <a:t>0</a:t>
              </a:r>
              <a:endParaRPr kumimoji="1" lang="en-US" altLang="zh-CN" sz="240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sp>
          <p:nvSpPr>
            <p:cNvPr id="34859" name="Oval 16" descr="羊皮纸"/>
            <p:cNvSpPr>
              <a:spLocks noChangeArrowheads="1"/>
            </p:cNvSpPr>
            <p:nvPr/>
          </p:nvSpPr>
          <p:spPr bwMode="auto">
            <a:xfrm>
              <a:off x="1118938" y="4027471"/>
              <a:ext cx="326403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  <a:round/>
              <a:headEnd/>
              <a:tailEnd/>
            </a:ln>
          </p:spPr>
          <p:txBody>
            <a:bodyPr wrap="none" lIns="72000" tIns="54000" rIns="72000" bIns="54000" anchor="ctr"/>
            <a:lstStyle/>
            <a:p>
              <a:pPr algn="ctr"/>
              <a:r>
                <a:rPr kumimoji="1" lang="en-US" altLang="zh-CN" sz="2400" b="1">
                  <a:solidFill>
                    <a:schemeClr val="bg2"/>
                  </a:solidFill>
                  <a:latin typeface="Times New Roman" pitchFamily="18" charset="0"/>
                </a:rPr>
                <a:t>4</a:t>
              </a:r>
              <a:endParaRPr kumimoji="1" lang="en-US" altLang="zh-CN" sz="240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sp>
          <p:nvSpPr>
            <p:cNvPr id="34860" name="Oval 17" descr="羊皮纸"/>
            <p:cNvSpPr>
              <a:spLocks noChangeArrowheads="1"/>
            </p:cNvSpPr>
            <p:nvPr/>
          </p:nvSpPr>
          <p:spPr bwMode="auto">
            <a:xfrm>
              <a:off x="1554142" y="3341672"/>
              <a:ext cx="326403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  <a:round/>
              <a:headEnd/>
              <a:tailEnd/>
            </a:ln>
          </p:spPr>
          <p:txBody>
            <a:bodyPr wrap="none" lIns="72000" tIns="54000" rIns="72000" bIns="54000" anchor="ctr"/>
            <a:lstStyle/>
            <a:p>
              <a:pPr algn="ctr"/>
              <a:r>
                <a:rPr kumimoji="1" lang="en-US" altLang="zh-CN" sz="2400" b="1">
                  <a:solidFill>
                    <a:schemeClr val="bg2"/>
                  </a:solidFill>
                  <a:latin typeface="Times New Roman" pitchFamily="18" charset="0"/>
                </a:rPr>
                <a:t>6</a:t>
              </a:r>
              <a:endParaRPr kumimoji="1" lang="en-US" altLang="zh-CN" sz="240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sp>
          <p:nvSpPr>
            <p:cNvPr id="34861" name="Oval 18" descr="羊皮纸"/>
            <p:cNvSpPr>
              <a:spLocks noChangeArrowheads="1"/>
            </p:cNvSpPr>
            <p:nvPr/>
          </p:nvSpPr>
          <p:spPr bwMode="auto">
            <a:xfrm>
              <a:off x="1934945" y="2598723"/>
              <a:ext cx="326403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  <a:round/>
              <a:headEnd/>
              <a:tailEnd/>
            </a:ln>
          </p:spPr>
          <p:txBody>
            <a:bodyPr wrap="none" lIns="72000" tIns="54000" rIns="72000" bIns="54000" anchor="ctr"/>
            <a:lstStyle/>
            <a:p>
              <a:pPr algn="ctr"/>
              <a:r>
                <a:rPr kumimoji="1" lang="en-US" altLang="zh-CN" sz="2400" b="1">
                  <a:solidFill>
                    <a:schemeClr val="bg2"/>
                  </a:solidFill>
                  <a:latin typeface="Times New Roman" pitchFamily="18" charset="0"/>
                </a:rPr>
                <a:t>1</a:t>
              </a:r>
              <a:endParaRPr kumimoji="1" lang="en-US" altLang="zh-CN" sz="240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sp>
          <p:nvSpPr>
            <p:cNvPr id="34862" name="Oval 19" descr="羊皮纸"/>
            <p:cNvSpPr>
              <a:spLocks noChangeArrowheads="1"/>
            </p:cNvSpPr>
            <p:nvPr/>
          </p:nvSpPr>
          <p:spPr bwMode="auto">
            <a:xfrm>
              <a:off x="1934945" y="4027471"/>
              <a:ext cx="326403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  <a:round/>
              <a:headEnd/>
              <a:tailEnd/>
            </a:ln>
          </p:spPr>
          <p:txBody>
            <a:bodyPr wrap="none" lIns="72000" tIns="54000" rIns="72000" bIns="54000" anchor="ctr"/>
            <a:lstStyle/>
            <a:p>
              <a:pPr algn="ctr"/>
              <a:r>
                <a:rPr kumimoji="1" lang="en-US" altLang="zh-CN" sz="2400" b="1">
                  <a:solidFill>
                    <a:schemeClr val="bg2"/>
                  </a:solidFill>
                  <a:latin typeface="Times New Roman" pitchFamily="18" charset="0"/>
                </a:rPr>
                <a:t>3</a:t>
              </a:r>
              <a:endParaRPr kumimoji="1" lang="en-US" altLang="zh-CN" sz="240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sp>
          <p:nvSpPr>
            <p:cNvPr id="34863" name="Oval 20" descr="羊皮纸"/>
            <p:cNvSpPr>
              <a:spLocks noChangeArrowheads="1"/>
            </p:cNvSpPr>
            <p:nvPr/>
          </p:nvSpPr>
          <p:spPr bwMode="auto">
            <a:xfrm flipH="1">
              <a:off x="2370148" y="3341672"/>
              <a:ext cx="326403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  <a:round/>
              <a:headEnd/>
              <a:tailEnd/>
            </a:ln>
          </p:spPr>
          <p:txBody>
            <a:bodyPr wrap="none" lIns="72000" tIns="54000" rIns="72000" bIns="54000" anchor="ctr"/>
            <a:lstStyle/>
            <a:p>
              <a:pPr algn="ctr"/>
              <a:r>
                <a:rPr kumimoji="1" lang="en-US" altLang="zh-CN" sz="2400" b="1">
                  <a:solidFill>
                    <a:schemeClr val="bg2"/>
                  </a:solidFill>
                  <a:latin typeface="Times New Roman" pitchFamily="18" charset="0"/>
                </a:rPr>
                <a:t>2</a:t>
              </a:r>
              <a:endParaRPr kumimoji="1" lang="en-US" altLang="zh-CN" sz="240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sp>
          <p:nvSpPr>
            <p:cNvPr id="34864" name="Text Box 22"/>
            <p:cNvSpPr txBox="1">
              <a:spLocks noChangeArrowheads="1"/>
            </p:cNvSpPr>
            <p:nvPr/>
          </p:nvSpPr>
          <p:spPr bwMode="auto">
            <a:xfrm>
              <a:off x="738135" y="2846509"/>
              <a:ext cx="415498" cy="3640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/>
              <a:r>
                <a:rPr kumimoji="1" lang="en-US" altLang="zh-CN" b="1">
                  <a:solidFill>
                    <a:srgbClr val="C00000"/>
                  </a:solidFill>
                  <a:latin typeface="Times New Roman" pitchFamily="18" charset="0"/>
                </a:rPr>
                <a:t>10</a:t>
              </a:r>
              <a:endParaRPr kumimoji="1" lang="en-US" altLang="zh-CN">
                <a:solidFill>
                  <a:srgbClr val="C00000"/>
                </a:solidFill>
                <a:latin typeface="Times New Roman" pitchFamily="18" charset="0"/>
              </a:endParaRPr>
            </a:p>
          </p:txBody>
        </p:sp>
        <p:sp>
          <p:nvSpPr>
            <p:cNvPr id="34865" name="Text Box 24"/>
            <p:cNvSpPr txBox="1">
              <a:spLocks noChangeArrowheads="1"/>
            </p:cNvSpPr>
            <p:nvPr/>
          </p:nvSpPr>
          <p:spPr bwMode="auto">
            <a:xfrm>
              <a:off x="1527566" y="2895188"/>
              <a:ext cx="415498" cy="3640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/>
              <a:r>
                <a:rPr kumimoji="1" lang="en-US" altLang="zh-CN" b="1">
                  <a:solidFill>
                    <a:srgbClr val="C00000"/>
                  </a:solidFill>
                  <a:latin typeface="Times New Roman" pitchFamily="18" charset="0"/>
                </a:rPr>
                <a:t>14</a:t>
              </a:r>
              <a:endParaRPr kumimoji="1" lang="en-US" altLang="zh-CN">
                <a:solidFill>
                  <a:srgbClr val="C00000"/>
                </a:solidFill>
                <a:latin typeface="Times New Roman" pitchFamily="18" charset="0"/>
              </a:endParaRPr>
            </a:p>
          </p:txBody>
        </p:sp>
        <p:sp>
          <p:nvSpPr>
            <p:cNvPr id="34866" name="Text Box 26"/>
            <p:cNvSpPr txBox="1">
              <a:spLocks noChangeArrowheads="1"/>
            </p:cNvSpPr>
            <p:nvPr/>
          </p:nvSpPr>
          <p:spPr bwMode="auto">
            <a:xfrm>
              <a:off x="1499741" y="4137998"/>
              <a:ext cx="415498" cy="3640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/>
              <a:r>
                <a:rPr kumimoji="1" lang="en-US" altLang="zh-CN" b="1">
                  <a:solidFill>
                    <a:srgbClr val="C00000"/>
                  </a:solidFill>
                  <a:latin typeface="Times New Roman" pitchFamily="18" charset="0"/>
                </a:rPr>
                <a:t>22</a:t>
              </a:r>
              <a:endParaRPr kumimoji="1" lang="en-US" altLang="zh-CN">
                <a:solidFill>
                  <a:srgbClr val="C00000"/>
                </a:solidFill>
                <a:latin typeface="Times New Roman" pitchFamily="18" charset="0"/>
              </a:endParaRPr>
            </a:p>
          </p:txBody>
        </p:sp>
        <p:sp>
          <p:nvSpPr>
            <p:cNvPr id="34867" name="Text Box 27"/>
            <p:cNvSpPr txBox="1">
              <a:spLocks noChangeArrowheads="1"/>
            </p:cNvSpPr>
            <p:nvPr/>
          </p:nvSpPr>
          <p:spPr bwMode="auto">
            <a:xfrm>
              <a:off x="2271681" y="2895188"/>
              <a:ext cx="415498" cy="3640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/>
              <a:r>
                <a:rPr kumimoji="1" lang="en-US" altLang="zh-CN" b="1">
                  <a:solidFill>
                    <a:srgbClr val="C00000"/>
                  </a:solidFill>
                  <a:latin typeface="Times New Roman" pitchFamily="18" charset="0"/>
                </a:rPr>
                <a:t>16</a:t>
              </a:r>
              <a:endParaRPr kumimoji="1" lang="en-US" altLang="zh-CN">
                <a:solidFill>
                  <a:srgbClr val="C00000"/>
                </a:solidFill>
                <a:latin typeface="Times New Roman" pitchFamily="18" charset="0"/>
              </a:endParaRPr>
            </a:p>
          </p:txBody>
        </p:sp>
        <p:sp>
          <p:nvSpPr>
            <p:cNvPr id="34868" name="Text Box 29"/>
            <p:cNvSpPr txBox="1">
              <a:spLocks noChangeArrowheads="1"/>
            </p:cNvSpPr>
            <p:nvPr/>
          </p:nvSpPr>
          <p:spPr bwMode="auto">
            <a:xfrm>
              <a:off x="2271681" y="3752437"/>
              <a:ext cx="415498" cy="3640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/>
              <a:r>
                <a:rPr kumimoji="1" lang="en-US" altLang="zh-CN" b="1">
                  <a:solidFill>
                    <a:srgbClr val="C00000"/>
                  </a:solidFill>
                  <a:latin typeface="Times New Roman" pitchFamily="18" charset="0"/>
                </a:rPr>
                <a:t>12</a:t>
              </a:r>
              <a:endParaRPr kumimoji="1" lang="en-US" altLang="zh-CN">
                <a:solidFill>
                  <a:srgbClr val="C00000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18" name="组合 47"/>
          <p:cNvGrpSpPr>
            <a:grpSpLocks/>
          </p:cNvGrpSpPr>
          <p:nvPr/>
        </p:nvGrpSpPr>
        <p:grpSpPr bwMode="auto">
          <a:xfrm>
            <a:off x="6945313" y="4710113"/>
            <a:ext cx="1958975" cy="1903412"/>
            <a:chOff x="738135" y="2598723"/>
            <a:chExt cx="1958416" cy="1903314"/>
          </a:xfrm>
        </p:grpSpPr>
        <p:sp>
          <p:nvSpPr>
            <p:cNvPr id="262" name="Line 7"/>
            <p:cNvSpPr>
              <a:spLocks noChangeShapeType="1"/>
            </p:cNvSpPr>
            <p:nvPr/>
          </p:nvSpPr>
          <p:spPr bwMode="auto">
            <a:xfrm>
              <a:off x="1336451" y="4198841"/>
              <a:ext cx="815742" cy="0"/>
            </a:xfrm>
            <a:prstGeom prst="line">
              <a:avLst/>
            </a:prstGeom>
            <a:noFill/>
            <a:ln w="28575">
              <a:solidFill>
                <a:schemeClr val="bg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400">
                <a:solidFill>
                  <a:schemeClr val="bg2"/>
                </a:solidFill>
                <a:ea typeface="宋体" pitchFamily="2" charset="-122"/>
              </a:endParaRPr>
            </a:p>
          </p:txBody>
        </p:sp>
        <p:sp>
          <p:nvSpPr>
            <p:cNvPr id="264" name="Line 9"/>
            <p:cNvSpPr>
              <a:spLocks noChangeShapeType="1"/>
            </p:cNvSpPr>
            <p:nvPr/>
          </p:nvSpPr>
          <p:spPr bwMode="auto">
            <a:xfrm flipH="1">
              <a:off x="2152193" y="3570223"/>
              <a:ext cx="326932" cy="628618"/>
            </a:xfrm>
            <a:prstGeom prst="line">
              <a:avLst/>
            </a:prstGeom>
            <a:noFill/>
            <a:ln w="28575">
              <a:solidFill>
                <a:schemeClr val="bg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400">
                <a:solidFill>
                  <a:schemeClr val="bg2"/>
                </a:solidFill>
                <a:ea typeface="宋体" pitchFamily="2" charset="-122"/>
              </a:endParaRPr>
            </a:p>
          </p:txBody>
        </p:sp>
        <p:sp>
          <p:nvSpPr>
            <p:cNvPr id="265" name="Line 10"/>
            <p:cNvSpPr>
              <a:spLocks noChangeShapeType="1"/>
            </p:cNvSpPr>
            <p:nvPr/>
          </p:nvSpPr>
          <p:spPr bwMode="auto">
            <a:xfrm>
              <a:off x="2152193" y="2827311"/>
              <a:ext cx="326932" cy="628618"/>
            </a:xfrm>
            <a:prstGeom prst="line">
              <a:avLst/>
            </a:prstGeom>
            <a:noFill/>
            <a:ln w="28575">
              <a:solidFill>
                <a:schemeClr val="bg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400">
                <a:solidFill>
                  <a:schemeClr val="bg2"/>
                </a:solidFill>
                <a:ea typeface="宋体" pitchFamily="2" charset="-122"/>
              </a:endParaRPr>
            </a:p>
          </p:txBody>
        </p:sp>
        <p:sp>
          <p:nvSpPr>
            <p:cNvPr id="266" name="Line 11"/>
            <p:cNvSpPr>
              <a:spLocks noChangeShapeType="1"/>
            </p:cNvSpPr>
            <p:nvPr/>
          </p:nvSpPr>
          <p:spPr bwMode="auto">
            <a:xfrm flipV="1">
              <a:off x="1760193" y="2770164"/>
              <a:ext cx="338041" cy="665128"/>
            </a:xfrm>
            <a:prstGeom prst="line">
              <a:avLst/>
            </a:prstGeom>
            <a:noFill/>
            <a:ln w="28575">
              <a:solidFill>
                <a:schemeClr val="bg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400">
                <a:solidFill>
                  <a:schemeClr val="bg2"/>
                </a:solidFill>
                <a:ea typeface="宋体" pitchFamily="2" charset="-122"/>
              </a:endParaRPr>
            </a:p>
          </p:txBody>
        </p:sp>
        <p:sp>
          <p:nvSpPr>
            <p:cNvPr id="267" name="Line 12"/>
            <p:cNvSpPr>
              <a:spLocks noChangeShapeType="1"/>
            </p:cNvSpPr>
            <p:nvPr/>
          </p:nvSpPr>
          <p:spPr bwMode="auto">
            <a:xfrm>
              <a:off x="955560" y="3570223"/>
              <a:ext cx="326932" cy="628618"/>
            </a:xfrm>
            <a:prstGeom prst="line">
              <a:avLst/>
            </a:prstGeom>
            <a:noFill/>
            <a:ln w="28575">
              <a:solidFill>
                <a:schemeClr val="bg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400">
                <a:solidFill>
                  <a:schemeClr val="bg2"/>
                </a:solidFill>
                <a:ea typeface="宋体" pitchFamily="2" charset="-122"/>
              </a:endParaRPr>
            </a:p>
          </p:txBody>
        </p:sp>
        <p:sp>
          <p:nvSpPr>
            <p:cNvPr id="268" name="Line 13"/>
            <p:cNvSpPr>
              <a:spLocks noChangeShapeType="1"/>
            </p:cNvSpPr>
            <p:nvPr/>
          </p:nvSpPr>
          <p:spPr bwMode="auto">
            <a:xfrm flipH="1">
              <a:off x="901600" y="2827311"/>
              <a:ext cx="326932" cy="628618"/>
            </a:xfrm>
            <a:prstGeom prst="line">
              <a:avLst/>
            </a:prstGeom>
            <a:noFill/>
            <a:ln w="28575">
              <a:solidFill>
                <a:schemeClr val="bg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400">
                <a:solidFill>
                  <a:schemeClr val="bg2"/>
                </a:solidFill>
                <a:ea typeface="宋体" pitchFamily="2" charset="-122"/>
              </a:endParaRPr>
            </a:p>
          </p:txBody>
        </p:sp>
        <p:sp>
          <p:nvSpPr>
            <p:cNvPr id="34839" name="Oval 14" descr="羊皮纸"/>
            <p:cNvSpPr>
              <a:spLocks noChangeArrowheads="1"/>
            </p:cNvSpPr>
            <p:nvPr/>
          </p:nvSpPr>
          <p:spPr bwMode="auto">
            <a:xfrm>
              <a:off x="738135" y="3341672"/>
              <a:ext cx="326403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  <a:round/>
              <a:headEnd/>
              <a:tailEnd/>
            </a:ln>
          </p:spPr>
          <p:txBody>
            <a:bodyPr wrap="none" lIns="72000" tIns="54000" rIns="72000" bIns="54000" anchor="ctr"/>
            <a:lstStyle/>
            <a:p>
              <a:pPr algn="ctr"/>
              <a:r>
                <a:rPr kumimoji="1" lang="en-US" altLang="zh-CN" sz="2400" b="1">
                  <a:solidFill>
                    <a:schemeClr val="bg2"/>
                  </a:solidFill>
                  <a:latin typeface="Times New Roman" pitchFamily="18" charset="0"/>
                </a:rPr>
                <a:t>5</a:t>
              </a:r>
              <a:endParaRPr kumimoji="1" lang="en-US" altLang="zh-CN" sz="240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sp>
          <p:nvSpPr>
            <p:cNvPr id="34840" name="Oval 15" descr="羊皮纸"/>
            <p:cNvSpPr>
              <a:spLocks noChangeArrowheads="1"/>
            </p:cNvSpPr>
            <p:nvPr/>
          </p:nvSpPr>
          <p:spPr bwMode="auto">
            <a:xfrm>
              <a:off x="1118938" y="2598723"/>
              <a:ext cx="326403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  <a:round/>
              <a:headEnd/>
              <a:tailEnd/>
            </a:ln>
          </p:spPr>
          <p:txBody>
            <a:bodyPr wrap="none" lIns="72000" tIns="54000" rIns="72000" bIns="54000" anchor="ctr"/>
            <a:lstStyle/>
            <a:p>
              <a:pPr algn="ctr"/>
              <a:r>
                <a:rPr kumimoji="1" lang="en-US" altLang="zh-CN" sz="2400" b="1">
                  <a:solidFill>
                    <a:schemeClr val="bg2"/>
                  </a:solidFill>
                  <a:latin typeface="Times New Roman" pitchFamily="18" charset="0"/>
                </a:rPr>
                <a:t>0</a:t>
              </a:r>
              <a:endParaRPr kumimoji="1" lang="en-US" altLang="zh-CN" sz="240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sp>
          <p:nvSpPr>
            <p:cNvPr id="34841" name="Oval 16" descr="羊皮纸"/>
            <p:cNvSpPr>
              <a:spLocks noChangeArrowheads="1"/>
            </p:cNvSpPr>
            <p:nvPr/>
          </p:nvSpPr>
          <p:spPr bwMode="auto">
            <a:xfrm>
              <a:off x="1118938" y="4027471"/>
              <a:ext cx="326403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  <a:round/>
              <a:headEnd/>
              <a:tailEnd/>
            </a:ln>
          </p:spPr>
          <p:txBody>
            <a:bodyPr wrap="none" lIns="72000" tIns="54000" rIns="72000" bIns="54000" anchor="ctr"/>
            <a:lstStyle/>
            <a:p>
              <a:pPr algn="ctr"/>
              <a:r>
                <a:rPr kumimoji="1" lang="en-US" altLang="zh-CN" sz="2400" b="1">
                  <a:solidFill>
                    <a:schemeClr val="bg2"/>
                  </a:solidFill>
                  <a:latin typeface="Times New Roman" pitchFamily="18" charset="0"/>
                </a:rPr>
                <a:t>4</a:t>
              </a:r>
              <a:endParaRPr kumimoji="1" lang="en-US" altLang="zh-CN" sz="240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sp>
          <p:nvSpPr>
            <p:cNvPr id="34842" name="Oval 17" descr="羊皮纸"/>
            <p:cNvSpPr>
              <a:spLocks noChangeArrowheads="1"/>
            </p:cNvSpPr>
            <p:nvPr/>
          </p:nvSpPr>
          <p:spPr bwMode="auto">
            <a:xfrm>
              <a:off x="1554142" y="3341672"/>
              <a:ext cx="326403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  <a:round/>
              <a:headEnd/>
              <a:tailEnd/>
            </a:ln>
          </p:spPr>
          <p:txBody>
            <a:bodyPr wrap="none" lIns="72000" tIns="54000" rIns="72000" bIns="54000" anchor="ctr"/>
            <a:lstStyle/>
            <a:p>
              <a:pPr algn="ctr"/>
              <a:r>
                <a:rPr kumimoji="1" lang="en-US" altLang="zh-CN" sz="2400" b="1">
                  <a:solidFill>
                    <a:schemeClr val="bg2"/>
                  </a:solidFill>
                  <a:latin typeface="Times New Roman" pitchFamily="18" charset="0"/>
                </a:rPr>
                <a:t>6</a:t>
              </a:r>
              <a:endParaRPr kumimoji="1" lang="en-US" altLang="zh-CN" sz="240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sp>
          <p:nvSpPr>
            <p:cNvPr id="34843" name="Oval 18" descr="羊皮纸"/>
            <p:cNvSpPr>
              <a:spLocks noChangeArrowheads="1"/>
            </p:cNvSpPr>
            <p:nvPr/>
          </p:nvSpPr>
          <p:spPr bwMode="auto">
            <a:xfrm>
              <a:off x="1934945" y="2598723"/>
              <a:ext cx="326403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  <a:round/>
              <a:headEnd/>
              <a:tailEnd/>
            </a:ln>
          </p:spPr>
          <p:txBody>
            <a:bodyPr wrap="none" lIns="72000" tIns="54000" rIns="72000" bIns="54000" anchor="ctr"/>
            <a:lstStyle/>
            <a:p>
              <a:pPr algn="ctr"/>
              <a:r>
                <a:rPr kumimoji="1" lang="en-US" altLang="zh-CN" sz="2400" b="1">
                  <a:solidFill>
                    <a:schemeClr val="bg2"/>
                  </a:solidFill>
                  <a:latin typeface="Times New Roman" pitchFamily="18" charset="0"/>
                </a:rPr>
                <a:t>1</a:t>
              </a:r>
              <a:endParaRPr kumimoji="1" lang="en-US" altLang="zh-CN" sz="240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sp>
          <p:nvSpPr>
            <p:cNvPr id="34844" name="Oval 19" descr="羊皮纸"/>
            <p:cNvSpPr>
              <a:spLocks noChangeArrowheads="1"/>
            </p:cNvSpPr>
            <p:nvPr/>
          </p:nvSpPr>
          <p:spPr bwMode="auto">
            <a:xfrm>
              <a:off x="1934945" y="4027471"/>
              <a:ext cx="326403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  <a:round/>
              <a:headEnd/>
              <a:tailEnd/>
            </a:ln>
          </p:spPr>
          <p:txBody>
            <a:bodyPr wrap="none" lIns="72000" tIns="54000" rIns="72000" bIns="54000" anchor="ctr"/>
            <a:lstStyle/>
            <a:p>
              <a:pPr algn="ctr"/>
              <a:r>
                <a:rPr kumimoji="1" lang="en-US" altLang="zh-CN" sz="2400" b="1">
                  <a:solidFill>
                    <a:schemeClr val="bg2"/>
                  </a:solidFill>
                  <a:latin typeface="Times New Roman" pitchFamily="18" charset="0"/>
                </a:rPr>
                <a:t>3</a:t>
              </a:r>
              <a:endParaRPr kumimoji="1" lang="en-US" altLang="zh-CN" sz="240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sp>
          <p:nvSpPr>
            <p:cNvPr id="34845" name="Oval 20" descr="羊皮纸"/>
            <p:cNvSpPr>
              <a:spLocks noChangeArrowheads="1"/>
            </p:cNvSpPr>
            <p:nvPr/>
          </p:nvSpPr>
          <p:spPr bwMode="auto">
            <a:xfrm flipH="1">
              <a:off x="2370148" y="3341672"/>
              <a:ext cx="326403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  <a:round/>
              <a:headEnd/>
              <a:tailEnd/>
            </a:ln>
          </p:spPr>
          <p:txBody>
            <a:bodyPr wrap="none" lIns="72000" tIns="54000" rIns="72000" bIns="54000" anchor="ctr"/>
            <a:lstStyle/>
            <a:p>
              <a:pPr algn="ctr"/>
              <a:r>
                <a:rPr kumimoji="1" lang="en-US" altLang="zh-CN" sz="2400" b="1">
                  <a:solidFill>
                    <a:schemeClr val="bg2"/>
                  </a:solidFill>
                  <a:latin typeface="Times New Roman" pitchFamily="18" charset="0"/>
                </a:rPr>
                <a:t>2</a:t>
              </a:r>
              <a:endParaRPr kumimoji="1" lang="en-US" altLang="zh-CN" sz="240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sp>
          <p:nvSpPr>
            <p:cNvPr id="34846" name="Text Box 22"/>
            <p:cNvSpPr txBox="1">
              <a:spLocks noChangeArrowheads="1"/>
            </p:cNvSpPr>
            <p:nvPr/>
          </p:nvSpPr>
          <p:spPr bwMode="auto">
            <a:xfrm>
              <a:off x="738135" y="2846509"/>
              <a:ext cx="415498" cy="3640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/>
              <a:r>
                <a:rPr kumimoji="1" lang="en-US" altLang="zh-CN" b="1">
                  <a:solidFill>
                    <a:srgbClr val="C00000"/>
                  </a:solidFill>
                  <a:latin typeface="Times New Roman" pitchFamily="18" charset="0"/>
                </a:rPr>
                <a:t>10</a:t>
              </a:r>
              <a:endParaRPr kumimoji="1" lang="en-US" altLang="zh-CN">
                <a:solidFill>
                  <a:srgbClr val="C00000"/>
                </a:solidFill>
                <a:latin typeface="Times New Roman" pitchFamily="18" charset="0"/>
              </a:endParaRPr>
            </a:p>
          </p:txBody>
        </p:sp>
        <p:sp>
          <p:nvSpPr>
            <p:cNvPr id="34847" name="Text Box 23"/>
            <p:cNvSpPr txBox="1">
              <a:spLocks noChangeArrowheads="1"/>
            </p:cNvSpPr>
            <p:nvPr/>
          </p:nvSpPr>
          <p:spPr bwMode="auto">
            <a:xfrm>
              <a:off x="760793" y="3714404"/>
              <a:ext cx="415498" cy="3640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/>
              <a:r>
                <a:rPr kumimoji="1" lang="en-US" altLang="zh-CN" b="1">
                  <a:solidFill>
                    <a:srgbClr val="C00000"/>
                  </a:solidFill>
                  <a:latin typeface="Times New Roman" pitchFamily="18" charset="0"/>
                </a:rPr>
                <a:t>25</a:t>
              </a:r>
              <a:endParaRPr kumimoji="1" lang="en-US" altLang="zh-CN">
                <a:solidFill>
                  <a:srgbClr val="C00000"/>
                </a:solidFill>
                <a:latin typeface="Times New Roman" pitchFamily="18" charset="0"/>
              </a:endParaRPr>
            </a:p>
          </p:txBody>
        </p:sp>
        <p:sp>
          <p:nvSpPr>
            <p:cNvPr id="34848" name="Text Box 24"/>
            <p:cNvSpPr txBox="1">
              <a:spLocks noChangeArrowheads="1"/>
            </p:cNvSpPr>
            <p:nvPr/>
          </p:nvSpPr>
          <p:spPr bwMode="auto">
            <a:xfrm>
              <a:off x="1527566" y="2895188"/>
              <a:ext cx="415498" cy="3640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/>
              <a:r>
                <a:rPr kumimoji="1" lang="en-US" altLang="zh-CN" b="1">
                  <a:solidFill>
                    <a:srgbClr val="C00000"/>
                  </a:solidFill>
                  <a:latin typeface="Times New Roman" pitchFamily="18" charset="0"/>
                </a:rPr>
                <a:t>14</a:t>
              </a:r>
              <a:endParaRPr kumimoji="1" lang="en-US" altLang="zh-CN">
                <a:solidFill>
                  <a:srgbClr val="C00000"/>
                </a:solidFill>
                <a:latin typeface="Times New Roman" pitchFamily="18" charset="0"/>
              </a:endParaRPr>
            </a:p>
          </p:txBody>
        </p:sp>
        <p:sp>
          <p:nvSpPr>
            <p:cNvPr id="34849" name="Text Box 26"/>
            <p:cNvSpPr txBox="1">
              <a:spLocks noChangeArrowheads="1"/>
            </p:cNvSpPr>
            <p:nvPr/>
          </p:nvSpPr>
          <p:spPr bwMode="auto">
            <a:xfrm>
              <a:off x="1499741" y="4137998"/>
              <a:ext cx="415498" cy="3640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/>
              <a:r>
                <a:rPr kumimoji="1" lang="en-US" altLang="zh-CN" b="1">
                  <a:solidFill>
                    <a:srgbClr val="C00000"/>
                  </a:solidFill>
                  <a:latin typeface="Times New Roman" pitchFamily="18" charset="0"/>
                </a:rPr>
                <a:t>22</a:t>
              </a:r>
              <a:endParaRPr kumimoji="1" lang="en-US" altLang="zh-CN">
                <a:solidFill>
                  <a:srgbClr val="C00000"/>
                </a:solidFill>
                <a:latin typeface="Times New Roman" pitchFamily="18" charset="0"/>
              </a:endParaRPr>
            </a:p>
          </p:txBody>
        </p:sp>
        <p:sp>
          <p:nvSpPr>
            <p:cNvPr id="34850" name="Text Box 27"/>
            <p:cNvSpPr txBox="1">
              <a:spLocks noChangeArrowheads="1"/>
            </p:cNvSpPr>
            <p:nvPr/>
          </p:nvSpPr>
          <p:spPr bwMode="auto">
            <a:xfrm>
              <a:off x="2271681" y="2895188"/>
              <a:ext cx="415498" cy="3640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/>
              <a:r>
                <a:rPr kumimoji="1" lang="en-US" altLang="zh-CN" b="1">
                  <a:solidFill>
                    <a:srgbClr val="C00000"/>
                  </a:solidFill>
                  <a:latin typeface="Times New Roman" pitchFamily="18" charset="0"/>
                </a:rPr>
                <a:t>16</a:t>
              </a:r>
              <a:endParaRPr kumimoji="1" lang="en-US" altLang="zh-CN">
                <a:solidFill>
                  <a:srgbClr val="C00000"/>
                </a:solidFill>
                <a:latin typeface="Times New Roman" pitchFamily="18" charset="0"/>
              </a:endParaRPr>
            </a:p>
          </p:txBody>
        </p:sp>
        <p:sp>
          <p:nvSpPr>
            <p:cNvPr id="34851" name="Text Box 29"/>
            <p:cNvSpPr txBox="1">
              <a:spLocks noChangeArrowheads="1"/>
            </p:cNvSpPr>
            <p:nvPr/>
          </p:nvSpPr>
          <p:spPr bwMode="auto">
            <a:xfrm>
              <a:off x="2271681" y="3752437"/>
              <a:ext cx="415498" cy="3640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/>
              <a:r>
                <a:rPr kumimoji="1" lang="en-US" altLang="zh-CN" b="1">
                  <a:solidFill>
                    <a:srgbClr val="C00000"/>
                  </a:solidFill>
                  <a:latin typeface="Times New Roman" pitchFamily="18" charset="0"/>
                </a:rPr>
                <a:t>12</a:t>
              </a:r>
              <a:endParaRPr kumimoji="1" lang="en-US" altLang="zh-CN">
                <a:solidFill>
                  <a:srgbClr val="C00000"/>
                </a:solidFill>
                <a:latin typeface="Times New Roman" pitchFamily="18" charset="0"/>
              </a:endParaRPr>
            </a:p>
          </p:txBody>
        </p:sp>
      </p:grpSp>
      <p:cxnSp>
        <p:nvCxnSpPr>
          <p:cNvPr id="290" name="直接箭头连接符 289"/>
          <p:cNvCxnSpPr/>
          <p:nvPr/>
        </p:nvCxnSpPr>
        <p:spPr>
          <a:xfrm rot="5400000">
            <a:off x="81756" y="4304507"/>
            <a:ext cx="4454525" cy="1588"/>
          </a:xfrm>
          <a:prstGeom prst="straightConnector1">
            <a:avLst/>
          </a:prstGeom>
          <a:ln w="25400">
            <a:solidFill>
              <a:srgbClr val="006600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直接箭头连接符 291"/>
          <p:cNvCxnSpPr/>
          <p:nvPr/>
        </p:nvCxnSpPr>
        <p:spPr>
          <a:xfrm rot="5400000">
            <a:off x="2327275" y="4322763"/>
            <a:ext cx="4491037" cy="1588"/>
          </a:xfrm>
          <a:prstGeom prst="straightConnector1">
            <a:avLst/>
          </a:prstGeom>
          <a:ln w="25400">
            <a:solidFill>
              <a:srgbClr val="006600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直接箭头连接符 292"/>
          <p:cNvCxnSpPr/>
          <p:nvPr/>
        </p:nvCxnSpPr>
        <p:spPr>
          <a:xfrm rot="5400000">
            <a:off x="4554538" y="4322763"/>
            <a:ext cx="4491037" cy="1587"/>
          </a:xfrm>
          <a:prstGeom prst="straightConnector1">
            <a:avLst/>
          </a:prstGeom>
          <a:ln w="25400">
            <a:solidFill>
              <a:srgbClr val="006600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直接箭头连接符 297"/>
          <p:cNvCxnSpPr/>
          <p:nvPr/>
        </p:nvCxnSpPr>
        <p:spPr>
          <a:xfrm>
            <a:off x="192088" y="4268788"/>
            <a:ext cx="8951912" cy="36512"/>
          </a:xfrm>
          <a:prstGeom prst="straightConnector1">
            <a:avLst/>
          </a:prstGeom>
          <a:ln w="25400">
            <a:solidFill>
              <a:srgbClr val="006600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883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最小生成树</a:t>
            </a:r>
          </a:p>
        </p:txBody>
      </p:sp>
      <p:sp>
        <p:nvSpPr>
          <p:cNvPr id="3584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>
                <a:latin typeface="Arial" charset="0"/>
                <a:ea typeface="黑体" pitchFamily="2" charset="-122"/>
              </a:rPr>
              <a:t>克鲁斯卡尔 </a:t>
            </a:r>
            <a:r>
              <a:rPr lang="en-US" altLang="zh-CN">
                <a:latin typeface="Arial" charset="0"/>
                <a:ea typeface="黑体" pitchFamily="2" charset="-122"/>
              </a:rPr>
              <a:t>(Kruskal) </a:t>
            </a:r>
            <a:r>
              <a:rPr lang="zh-CN" altLang="en-US">
                <a:latin typeface="Arial" charset="0"/>
                <a:ea typeface="黑体" pitchFamily="2" charset="-122"/>
              </a:rPr>
              <a:t>算法</a:t>
            </a:r>
            <a:endParaRPr lang="en-US" altLang="zh-CN">
              <a:latin typeface="Arial" charset="0"/>
              <a:ea typeface="黑体" pitchFamily="2" charset="-122"/>
            </a:endParaRPr>
          </a:p>
          <a:p>
            <a:pPr lvl="1"/>
            <a:r>
              <a:rPr lang="zh-CN" altLang="en-US">
                <a:latin typeface="Arial" charset="0"/>
                <a:ea typeface="黑体" pitchFamily="2" charset="-122"/>
              </a:rPr>
              <a:t>经常需要判断权值最小的边的两端是否属于不同连通分量</a:t>
            </a:r>
            <a:endParaRPr lang="en-US" altLang="zh-CN">
              <a:latin typeface="Arial" charset="0"/>
              <a:ea typeface="黑体" pitchFamily="2" charset="-122"/>
            </a:endParaRPr>
          </a:p>
          <a:p>
            <a:pPr lvl="2"/>
            <a:r>
              <a:rPr lang="zh-CN" altLang="en-US">
                <a:latin typeface="Arial" charset="0"/>
                <a:ea typeface="黑体" pitchFamily="2" charset="-122"/>
              </a:rPr>
              <a:t>可使用并查集技术加快判断速度</a:t>
            </a:r>
          </a:p>
        </p:txBody>
      </p:sp>
      <p:sp>
        <p:nvSpPr>
          <p:cNvPr id="35844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fld id="{4561739F-E40D-4BEA-921A-8214E2AA6801}" type="slidenum">
              <a:rPr lang="en-US" altLang="zh-CN" smtClean="0">
                <a:solidFill>
                  <a:srgbClr val="006600"/>
                </a:solidFill>
                <a:latin typeface="Courier New" pitchFamily="49" charset="0"/>
                <a:ea typeface="华文新魏" pitchFamily="2" charset="-122"/>
              </a:rPr>
              <a:pPr eaLnBrk="1" hangingPunct="1"/>
              <a:t>30</a:t>
            </a:fld>
            <a:endParaRPr lang="en-US" altLang="zh-CN">
              <a:solidFill>
                <a:srgbClr val="006600"/>
              </a:solidFill>
              <a:latin typeface="Courier New" pitchFamily="49" charset="0"/>
              <a:ea typeface="华文新魏" pitchFamily="2" charset="-122"/>
            </a:endParaRPr>
          </a:p>
        </p:txBody>
      </p:sp>
      <p:grpSp>
        <p:nvGrpSpPr>
          <p:cNvPr id="35845" name="组合 4"/>
          <p:cNvGrpSpPr>
            <a:grpSpLocks/>
          </p:cNvGrpSpPr>
          <p:nvPr/>
        </p:nvGrpSpPr>
        <p:grpSpPr bwMode="auto">
          <a:xfrm>
            <a:off x="373063" y="3535363"/>
            <a:ext cx="1958975" cy="2081212"/>
            <a:chOff x="738135" y="2256382"/>
            <a:chExt cx="1958416" cy="2081241"/>
          </a:xfrm>
        </p:grpSpPr>
        <p:sp>
          <p:nvSpPr>
            <p:cNvPr id="35863" name="Text Box 21"/>
            <p:cNvSpPr txBox="1">
              <a:spLocks noChangeArrowheads="1"/>
            </p:cNvSpPr>
            <p:nvPr/>
          </p:nvSpPr>
          <p:spPr bwMode="auto">
            <a:xfrm>
              <a:off x="1504908" y="2256382"/>
              <a:ext cx="41549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/>
              <a:r>
                <a:rPr kumimoji="1" lang="en-US" altLang="zh-CN" b="1">
                  <a:solidFill>
                    <a:srgbClr val="C00000"/>
                  </a:solidFill>
                  <a:latin typeface="Times New Roman" pitchFamily="18" charset="0"/>
                </a:rPr>
                <a:t>28</a:t>
              </a:r>
              <a:endParaRPr kumimoji="1" lang="en-US" altLang="zh-CN">
                <a:solidFill>
                  <a:srgbClr val="C00000"/>
                </a:solidFill>
                <a:latin typeface="Times New Roman" pitchFamily="18" charset="0"/>
              </a:endParaRPr>
            </a:p>
          </p:txBody>
        </p:sp>
        <p:grpSp>
          <p:nvGrpSpPr>
            <p:cNvPr id="35864" name="组合 47"/>
            <p:cNvGrpSpPr>
              <a:grpSpLocks/>
            </p:cNvGrpSpPr>
            <p:nvPr/>
          </p:nvGrpSpPr>
          <p:grpSpPr bwMode="auto">
            <a:xfrm>
              <a:off x="738135" y="2368857"/>
              <a:ext cx="1958416" cy="1903314"/>
              <a:chOff x="738135" y="2598723"/>
              <a:chExt cx="1958416" cy="1903314"/>
            </a:xfrm>
          </p:grpSpPr>
          <p:sp>
            <p:nvSpPr>
              <p:cNvPr id="8" name="Line 6"/>
              <p:cNvSpPr>
                <a:spLocks noChangeShapeType="1"/>
              </p:cNvSpPr>
              <p:nvPr/>
            </p:nvSpPr>
            <p:spPr bwMode="auto">
              <a:xfrm>
                <a:off x="1336451" y="2770414"/>
                <a:ext cx="815742" cy="0"/>
              </a:xfrm>
              <a:prstGeom prst="line">
                <a:avLst/>
              </a:prstGeom>
              <a:noFill/>
              <a:ln w="28575">
                <a:solidFill>
                  <a:schemeClr val="bg2">
                    <a:lumMod val="60000"/>
                    <a:lumOff val="40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chemeClr val="bg2"/>
                  </a:solidFill>
                  <a:ea typeface="宋体" pitchFamily="2" charset="-122"/>
                </a:endParaRPr>
              </a:p>
            </p:txBody>
          </p:sp>
          <p:sp>
            <p:nvSpPr>
              <p:cNvPr id="9" name="Line 7"/>
              <p:cNvSpPr>
                <a:spLocks noChangeShapeType="1"/>
              </p:cNvSpPr>
              <p:nvPr/>
            </p:nvSpPr>
            <p:spPr bwMode="auto">
              <a:xfrm>
                <a:off x="1336451" y="4199185"/>
                <a:ext cx="815742" cy="0"/>
              </a:xfrm>
              <a:prstGeom prst="line">
                <a:avLst/>
              </a:prstGeom>
              <a:noFill/>
              <a:ln w="28575">
                <a:solidFill>
                  <a:schemeClr val="bg2">
                    <a:lumMod val="60000"/>
                    <a:lumOff val="40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chemeClr val="bg2"/>
                  </a:solidFill>
                  <a:ea typeface="宋体" pitchFamily="2" charset="-122"/>
                </a:endParaRPr>
              </a:p>
            </p:txBody>
          </p:sp>
          <p:sp>
            <p:nvSpPr>
              <p:cNvPr id="10" name="Line 8"/>
              <p:cNvSpPr>
                <a:spLocks noChangeShapeType="1"/>
              </p:cNvSpPr>
              <p:nvPr/>
            </p:nvSpPr>
            <p:spPr bwMode="auto">
              <a:xfrm flipH="1" flipV="1">
                <a:off x="1717343" y="3570526"/>
                <a:ext cx="326932" cy="514357"/>
              </a:xfrm>
              <a:prstGeom prst="line">
                <a:avLst/>
              </a:prstGeom>
              <a:noFill/>
              <a:ln w="28575">
                <a:solidFill>
                  <a:schemeClr val="bg2">
                    <a:lumMod val="60000"/>
                    <a:lumOff val="40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chemeClr val="bg2"/>
                  </a:solidFill>
                  <a:ea typeface="宋体" pitchFamily="2" charset="-122"/>
                </a:endParaRPr>
              </a:p>
            </p:txBody>
          </p:sp>
          <p:sp>
            <p:nvSpPr>
              <p:cNvPr id="11" name="Line 9"/>
              <p:cNvSpPr>
                <a:spLocks noChangeShapeType="1"/>
              </p:cNvSpPr>
              <p:nvPr/>
            </p:nvSpPr>
            <p:spPr bwMode="auto">
              <a:xfrm flipH="1">
                <a:off x="2152193" y="3570526"/>
                <a:ext cx="326932" cy="628659"/>
              </a:xfrm>
              <a:prstGeom prst="line">
                <a:avLst/>
              </a:prstGeom>
              <a:noFill/>
              <a:ln w="28575">
                <a:solidFill>
                  <a:schemeClr val="bg2">
                    <a:lumMod val="60000"/>
                    <a:lumOff val="40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chemeClr val="bg2"/>
                  </a:solidFill>
                  <a:ea typeface="宋体" pitchFamily="2" charset="-122"/>
                </a:endParaRPr>
              </a:p>
            </p:txBody>
          </p:sp>
          <p:sp>
            <p:nvSpPr>
              <p:cNvPr id="12" name="Line 10"/>
              <p:cNvSpPr>
                <a:spLocks noChangeShapeType="1"/>
              </p:cNvSpPr>
              <p:nvPr/>
            </p:nvSpPr>
            <p:spPr bwMode="auto">
              <a:xfrm>
                <a:off x="2152193" y="2827565"/>
                <a:ext cx="326932" cy="628659"/>
              </a:xfrm>
              <a:prstGeom prst="line">
                <a:avLst/>
              </a:prstGeom>
              <a:noFill/>
              <a:ln w="28575">
                <a:solidFill>
                  <a:schemeClr val="bg2">
                    <a:lumMod val="60000"/>
                    <a:lumOff val="40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chemeClr val="bg2"/>
                  </a:solidFill>
                  <a:ea typeface="宋体" pitchFamily="2" charset="-122"/>
                </a:endParaRPr>
              </a:p>
            </p:txBody>
          </p:sp>
          <p:sp>
            <p:nvSpPr>
              <p:cNvPr id="13" name="Line 11"/>
              <p:cNvSpPr>
                <a:spLocks noChangeShapeType="1"/>
              </p:cNvSpPr>
              <p:nvPr/>
            </p:nvSpPr>
            <p:spPr bwMode="auto">
              <a:xfrm flipV="1">
                <a:off x="1390411" y="2770414"/>
                <a:ext cx="707823" cy="1371619"/>
              </a:xfrm>
              <a:prstGeom prst="line">
                <a:avLst/>
              </a:prstGeom>
              <a:noFill/>
              <a:ln w="28575">
                <a:solidFill>
                  <a:schemeClr val="bg2">
                    <a:lumMod val="60000"/>
                    <a:lumOff val="40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chemeClr val="bg2"/>
                  </a:solidFill>
                  <a:ea typeface="宋体" pitchFamily="2" charset="-122"/>
                </a:endParaRPr>
              </a:p>
            </p:txBody>
          </p:sp>
          <p:sp>
            <p:nvSpPr>
              <p:cNvPr id="14" name="Line 12"/>
              <p:cNvSpPr>
                <a:spLocks noChangeShapeType="1"/>
              </p:cNvSpPr>
              <p:nvPr/>
            </p:nvSpPr>
            <p:spPr bwMode="auto">
              <a:xfrm>
                <a:off x="955560" y="3570526"/>
                <a:ext cx="326932" cy="628659"/>
              </a:xfrm>
              <a:prstGeom prst="line">
                <a:avLst/>
              </a:prstGeom>
              <a:noFill/>
              <a:ln w="28575">
                <a:solidFill>
                  <a:schemeClr val="bg2">
                    <a:lumMod val="60000"/>
                    <a:lumOff val="40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chemeClr val="bg2"/>
                  </a:solidFill>
                  <a:ea typeface="宋体" pitchFamily="2" charset="-122"/>
                </a:endParaRPr>
              </a:p>
            </p:txBody>
          </p:sp>
          <p:sp>
            <p:nvSpPr>
              <p:cNvPr id="15" name="Line 13"/>
              <p:cNvSpPr>
                <a:spLocks noChangeShapeType="1"/>
              </p:cNvSpPr>
              <p:nvPr/>
            </p:nvSpPr>
            <p:spPr bwMode="auto">
              <a:xfrm flipH="1">
                <a:off x="901600" y="2827565"/>
                <a:ext cx="326932" cy="628659"/>
              </a:xfrm>
              <a:prstGeom prst="line">
                <a:avLst/>
              </a:prstGeom>
              <a:noFill/>
              <a:ln w="28575">
                <a:solidFill>
                  <a:schemeClr val="bg2">
                    <a:lumMod val="60000"/>
                    <a:lumOff val="40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chemeClr val="bg2"/>
                  </a:solidFill>
                  <a:ea typeface="宋体" pitchFamily="2" charset="-122"/>
                </a:endParaRPr>
              </a:p>
            </p:txBody>
          </p:sp>
          <p:sp>
            <p:nvSpPr>
              <p:cNvPr id="35873" name="Oval 14" descr="羊皮纸"/>
              <p:cNvSpPr>
                <a:spLocks noChangeArrowheads="1"/>
              </p:cNvSpPr>
              <p:nvPr/>
            </p:nvSpPr>
            <p:spPr bwMode="auto">
              <a:xfrm>
                <a:off x="738135" y="3341672"/>
                <a:ext cx="326403" cy="3429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lIns="72000" tIns="54000" rIns="72000" bIns="54000" anchor="ctr"/>
              <a:lstStyle/>
              <a:p>
                <a:pPr algn="ctr"/>
                <a:r>
                  <a:rPr kumimoji="1" lang="en-US" altLang="zh-CN" sz="2400" b="1">
                    <a:solidFill>
                      <a:schemeClr val="bg2"/>
                    </a:solidFill>
                    <a:latin typeface="Times New Roman" pitchFamily="18" charset="0"/>
                  </a:rPr>
                  <a:t>5</a:t>
                </a:r>
                <a:endParaRPr kumimoji="1" lang="en-US" altLang="zh-CN" sz="2400">
                  <a:solidFill>
                    <a:schemeClr val="bg2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35874" name="Oval 15" descr="羊皮纸"/>
              <p:cNvSpPr>
                <a:spLocks noChangeArrowheads="1"/>
              </p:cNvSpPr>
              <p:nvPr/>
            </p:nvSpPr>
            <p:spPr bwMode="auto">
              <a:xfrm>
                <a:off x="1118938" y="2598723"/>
                <a:ext cx="326403" cy="3429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lIns="72000" tIns="54000" rIns="72000" bIns="54000" anchor="ctr"/>
              <a:lstStyle/>
              <a:p>
                <a:pPr algn="ctr"/>
                <a:r>
                  <a:rPr kumimoji="1" lang="en-US" altLang="zh-CN" sz="2400" b="1">
                    <a:solidFill>
                      <a:schemeClr val="bg2"/>
                    </a:solidFill>
                    <a:latin typeface="Times New Roman" pitchFamily="18" charset="0"/>
                  </a:rPr>
                  <a:t>0</a:t>
                </a:r>
                <a:endParaRPr kumimoji="1" lang="en-US" altLang="zh-CN" sz="2400">
                  <a:solidFill>
                    <a:schemeClr val="bg2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35875" name="Oval 16" descr="羊皮纸"/>
              <p:cNvSpPr>
                <a:spLocks noChangeArrowheads="1"/>
              </p:cNvSpPr>
              <p:nvPr/>
            </p:nvSpPr>
            <p:spPr bwMode="auto">
              <a:xfrm>
                <a:off x="1118938" y="4027471"/>
                <a:ext cx="326403" cy="3429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lIns="72000" tIns="54000" rIns="72000" bIns="54000" anchor="ctr"/>
              <a:lstStyle/>
              <a:p>
                <a:pPr algn="ctr"/>
                <a:r>
                  <a:rPr kumimoji="1" lang="en-US" altLang="zh-CN" sz="2400" b="1">
                    <a:solidFill>
                      <a:schemeClr val="bg2"/>
                    </a:solidFill>
                    <a:latin typeface="Times New Roman" pitchFamily="18" charset="0"/>
                  </a:rPr>
                  <a:t>4</a:t>
                </a:r>
                <a:endParaRPr kumimoji="1" lang="en-US" altLang="zh-CN" sz="2400">
                  <a:solidFill>
                    <a:schemeClr val="bg2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35876" name="Oval 17" descr="羊皮纸"/>
              <p:cNvSpPr>
                <a:spLocks noChangeArrowheads="1"/>
              </p:cNvSpPr>
              <p:nvPr/>
            </p:nvSpPr>
            <p:spPr bwMode="auto">
              <a:xfrm>
                <a:off x="1554142" y="3341672"/>
                <a:ext cx="326403" cy="3429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lIns="72000" tIns="54000" rIns="72000" bIns="54000" anchor="ctr"/>
              <a:lstStyle/>
              <a:p>
                <a:pPr algn="ctr"/>
                <a:r>
                  <a:rPr kumimoji="1" lang="en-US" altLang="zh-CN" sz="2400" b="1">
                    <a:solidFill>
                      <a:schemeClr val="bg2"/>
                    </a:solidFill>
                    <a:latin typeface="Times New Roman" pitchFamily="18" charset="0"/>
                  </a:rPr>
                  <a:t>6</a:t>
                </a:r>
                <a:endParaRPr kumimoji="1" lang="en-US" altLang="zh-CN" sz="2400">
                  <a:solidFill>
                    <a:schemeClr val="bg2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35877" name="Oval 18" descr="羊皮纸"/>
              <p:cNvSpPr>
                <a:spLocks noChangeArrowheads="1"/>
              </p:cNvSpPr>
              <p:nvPr/>
            </p:nvSpPr>
            <p:spPr bwMode="auto">
              <a:xfrm>
                <a:off x="1934945" y="2598723"/>
                <a:ext cx="326403" cy="3429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lIns="72000" tIns="54000" rIns="72000" bIns="54000" anchor="ctr"/>
              <a:lstStyle/>
              <a:p>
                <a:pPr algn="ctr"/>
                <a:r>
                  <a:rPr kumimoji="1" lang="en-US" altLang="zh-CN" sz="2400" b="1">
                    <a:solidFill>
                      <a:schemeClr val="bg2"/>
                    </a:solidFill>
                    <a:latin typeface="Times New Roman" pitchFamily="18" charset="0"/>
                  </a:rPr>
                  <a:t>1</a:t>
                </a:r>
                <a:endParaRPr kumimoji="1" lang="en-US" altLang="zh-CN" sz="2400">
                  <a:solidFill>
                    <a:schemeClr val="bg2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35878" name="Oval 19" descr="羊皮纸"/>
              <p:cNvSpPr>
                <a:spLocks noChangeArrowheads="1"/>
              </p:cNvSpPr>
              <p:nvPr/>
            </p:nvSpPr>
            <p:spPr bwMode="auto">
              <a:xfrm>
                <a:off x="1934945" y="4027471"/>
                <a:ext cx="326403" cy="3429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lIns="72000" tIns="54000" rIns="72000" bIns="54000" anchor="ctr"/>
              <a:lstStyle/>
              <a:p>
                <a:pPr algn="ctr"/>
                <a:r>
                  <a:rPr kumimoji="1" lang="en-US" altLang="zh-CN" sz="2400" b="1">
                    <a:solidFill>
                      <a:schemeClr val="bg2"/>
                    </a:solidFill>
                    <a:latin typeface="Times New Roman" pitchFamily="18" charset="0"/>
                  </a:rPr>
                  <a:t>3</a:t>
                </a:r>
                <a:endParaRPr kumimoji="1" lang="en-US" altLang="zh-CN" sz="2400">
                  <a:solidFill>
                    <a:schemeClr val="bg2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35879" name="Oval 20" descr="羊皮纸"/>
              <p:cNvSpPr>
                <a:spLocks noChangeArrowheads="1"/>
              </p:cNvSpPr>
              <p:nvPr/>
            </p:nvSpPr>
            <p:spPr bwMode="auto">
              <a:xfrm flipH="1">
                <a:off x="2370148" y="3341672"/>
                <a:ext cx="326403" cy="3429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lIns="72000" tIns="54000" rIns="72000" bIns="54000" anchor="ctr"/>
              <a:lstStyle/>
              <a:p>
                <a:pPr algn="ctr"/>
                <a:r>
                  <a:rPr kumimoji="1" lang="en-US" altLang="zh-CN" sz="2400" b="1">
                    <a:solidFill>
                      <a:schemeClr val="bg2"/>
                    </a:solidFill>
                    <a:latin typeface="Times New Roman" pitchFamily="18" charset="0"/>
                  </a:rPr>
                  <a:t>2</a:t>
                </a:r>
                <a:endParaRPr kumimoji="1" lang="en-US" altLang="zh-CN" sz="2400">
                  <a:solidFill>
                    <a:schemeClr val="bg2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35880" name="Text Box 22"/>
              <p:cNvSpPr txBox="1">
                <a:spLocks noChangeArrowheads="1"/>
              </p:cNvSpPr>
              <p:nvPr/>
            </p:nvSpPr>
            <p:spPr bwMode="auto">
              <a:xfrm>
                <a:off x="738135" y="2846509"/>
                <a:ext cx="415498" cy="3640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b="1">
                    <a:solidFill>
                      <a:srgbClr val="C00000"/>
                    </a:solidFill>
                    <a:latin typeface="Times New Roman" pitchFamily="18" charset="0"/>
                  </a:rPr>
                  <a:t>10</a:t>
                </a:r>
                <a:endParaRPr kumimoji="1" lang="en-US" altLang="zh-CN">
                  <a:solidFill>
                    <a:srgbClr val="C0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35881" name="Text Box 23"/>
              <p:cNvSpPr txBox="1">
                <a:spLocks noChangeArrowheads="1"/>
              </p:cNvSpPr>
              <p:nvPr/>
            </p:nvSpPr>
            <p:spPr bwMode="auto">
              <a:xfrm>
                <a:off x="760793" y="3714404"/>
                <a:ext cx="415498" cy="3640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b="1">
                    <a:solidFill>
                      <a:srgbClr val="C00000"/>
                    </a:solidFill>
                    <a:latin typeface="Times New Roman" pitchFamily="18" charset="0"/>
                  </a:rPr>
                  <a:t>25</a:t>
                </a:r>
                <a:endParaRPr kumimoji="1" lang="en-US" altLang="zh-CN">
                  <a:solidFill>
                    <a:srgbClr val="C0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35882" name="Text Box 24"/>
              <p:cNvSpPr txBox="1">
                <a:spLocks noChangeArrowheads="1"/>
              </p:cNvSpPr>
              <p:nvPr/>
            </p:nvSpPr>
            <p:spPr bwMode="auto">
              <a:xfrm>
                <a:off x="1527566" y="2895188"/>
                <a:ext cx="415498" cy="3640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b="1">
                    <a:solidFill>
                      <a:srgbClr val="C00000"/>
                    </a:solidFill>
                    <a:latin typeface="Times New Roman" pitchFamily="18" charset="0"/>
                  </a:rPr>
                  <a:t>14</a:t>
                </a:r>
                <a:endParaRPr kumimoji="1" lang="en-US" altLang="zh-CN">
                  <a:solidFill>
                    <a:srgbClr val="C0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35883" name="Text Box 25"/>
              <p:cNvSpPr txBox="1">
                <a:spLocks noChangeArrowheads="1"/>
              </p:cNvSpPr>
              <p:nvPr/>
            </p:nvSpPr>
            <p:spPr bwMode="auto">
              <a:xfrm>
                <a:off x="1198949" y="3638284"/>
                <a:ext cx="415498" cy="3640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b="1">
                    <a:solidFill>
                      <a:srgbClr val="C00000"/>
                    </a:solidFill>
                    <a:latin typeface="Times New Roman" pitchFamily="18" charset="0"/>
                  </a:rPr>
                  <a:t>24</a:t>
                </a:r>
                <a:endParaRPr kumimoji="1" lang="en-US" altLang="zh-CN">
                  <a:solidFill>
                    <a:srgbClr val="C0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35884" name="Text Box 26"/>
              <p:cNvSpPr txBox="1">
                <a:spLocks noChangeArrowheads="1"/>
              </p:cNvSpPr>
              <p:nvPr/>
            </p:nvSpPr>
            <p:spPr bwMode="auto">
              <a:xfrm>
                <a:off x="1499741" y="4137998"/>
                <a:ext cx="415498" cy="3640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b="1">
                    <a:solidFill>
                      <a:srgbClr val="C00000"/>
                    </a:solidFill>
                    <a:latin typeface="Times New Roman" pitchFamily="18" charset="0"/>
                  </a:rPr>
                  <a:t>22</a:t>
                </a:r>
                <a:endParaRPr kumimoji="1" lang="en-US" altLang="zh-CN">
                  <a:solidFill>
                    <a:srgbClr val="C0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35885" name="Text Box 27"/>
              <p:cNvSpPr txBox="1">
                <a:spLocks noChangeArrowheads="1"/>
              </p:cNvSpPr>
              <p:nvPr/>
            </p:nvSpPr>
            <p:spPr bwMode="auto">
              <a:xfrm>
                <a:off x="2271681" y="2895188"/>
                <a:ext cx="415498" cy="3640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b="1">
                    <a:solidFill>
                      <a:srgbClr val="C00000"/>
                    </a:solidFill>
                    <a:latin typeface="Times New Roman" pitchFamily="18" charset="0"/>
                  </a:rPr>
                  <a:t>16</a:t>
                </a:r>
                <a:endParaRPr kumimoji="1" lang="en-US" altLang="zh-CN">
                  <a:solidFill>
                    <a:srgbClr val="C0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35886" name="Text Box 28"/>
              <p:cNvSpPr txBox="1">
                <a:spLocks noChangeArrowheads="1"/>
              </p:cNvSpPr>
              <p:nvPr/>
            </p:nvSpPr>
            <p:spPr bwMode="auto">
              <a:xfrm>
                <a:off x="1797012" y="3570271"/>
                <a:ext cx="415498" cy="3640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b="1">
                    <a:solidFill>
                      <a:srgbClr val="C00000"/>
                    </a:solidFill>
                    <a:latin typeface="Times New Roman" pitchFamily="18" charset="0"/>
                  </a:rPr>
                  <a:t>18</a:t>
                </a:r>
                <a:endParaRPr kumimoji="1" lang="en-US" altLang="zh-CN">
                  <a:solidFill>
                    <a:srgbClr val="C0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35887" name="Text Box 29"/>
              <p:cNvSpPr txBox="1">
                <a:spLocks noChangeArrowheads="1"/>
              </p:cNvSpPr>
              <p:nvPr/>
            </p:nvSpPr>
            <p:spPr bwMode="auto">
              <a:xfrm>
                <a:off x="2271681" y="3752437"/>
                <a:ext cx="415498" cy="3640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b="1">
                    <a:solidFill>
                      <a:srgbClr val="C00000"/>
                    </a:solidFill>
                    <a:latin typeface="Times New Roman" pitchFamily="18" charset="0"/>
                  </a:rPr>
                  <a:t>12</a:t>
                </a:r>
                <a:endParaRPr kumimoji="1" lang="en-US" altLang="zh-CN">
                  <a:solidFill>
                    <a:srgbClr val="C00000"/>
                  </a:solidFill>
                  <a:latin typeface="Times New Roman" pitchFamily="18" charset="0"/>
                </a:endParaRPr>
              </a:p>
            </p:txBody>
          </p:sp>
        </p:grpSp>
      </p:grpSp>
      <p:grpSp>
        <p:nvGrpSpPr>
          <p:cNvPr id="35846" name="组合 38"/>
          <p:cNvGrpSpPr>
            <a:grpSpLocks/>
          </p:cNvGrpSpPr>
          <p:nvPr/>
        </p:nvGrpSpPr>
        <p:grpSpPr bwMode="auto">
          <a:xfrm>
            <a:off x="4040188" y="3502025"/>
            <a:ext cx="4510087" cy="342900"/>
            <a:chOff x="4039978" y="3648078"/>
            <a:chExt cx="4509725" cy="342900"/>
          </a:xfrm>
        </p:grpSpPr>
        <p:sp>
          <p:nvSpPr>
            <p:cNvPr id="35856" name="Oval 14" descr="羊皮纸"/>
            <p:cNvSpPr>
              <a:spLocks noChangeArrowheads="1"/>
            </p:cNvSpPr>
            <p:nvPr/>
          </p:nvSpPr>
          <p:spPr bwMode="auto">
            <a:xfrm>
              <a:off x="7456527" y="3648078"/>
              <a:ext cx="326403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  <a:round/>
              <a:headEnd/>
              <a:tailEnd/>
            </a:ln>
          </p:spPr>
          <p:txBody>
            <a:bodyPr wrap="none" lIns="72000" tIns="54000" rIns="72000" bIns="54000" anchor="ctr"/>
            <a:lstStyle/>
            <a:p>
              <a:pPr algn="ctr"/>
              <a:r>
                <a:rPr kumimoji="1" lang="en-US" altLang="zh-CN" sz="2400" b="1">
                  <a:solidFill>
                    <a:schemeClr val="bg2"/>
                  </a:solidFill>
                  <a:latin typeface="Times New Roman" pitchFamily="18" charset="0"/>
                </a:rPr>
                <a:t>5</a:t>
              </a:r>
              <a:endParaRPr kumimoji="1" lang="en-US" altLang="zh-CN" sz="240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sp>
          <p:nvSpPr>
            <p:cNvPr id="35857" name="Oval 15" descr="羊皮纸"/>
            <p:cNvSpPr>
              <a:spLocks noChangeArrowheads="1"/>
            </p:cNvSpPr>
            <p:nvPr/>
          </p:nvSpPr>
          <p:spPr bwMode="auto">
            <a:xfrm>
              <a:off x="4039978" y="3648078"/>
              <a:ext cx="326403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  <a:round/>
              <a:headEnd/>
              <a:tailEnd/>
            </a:ln>
          </p:spPr>
          <p:txBody>
            <a:bodyPr wrap="none" lIns="72000" tIns="54000" rIns="72000" bIns="54000" anchor="ctr"/>
            <a:lstStyle/>
            <a:p>
              <a:pPr algn="ctr"/>
              <a:r>
                <a:rPr kumimoji="1" lang="en-US" altLang="zh-CN" sz="2400" b="1">
                  <a:solidFill>
                    <a:schemeClr val="bg2"/>
                  </a:solidFill>
                  <a:latin typeface="Times New Roman" pitchFamily="18" charset="0"/>
                </a:rPr>
                <a:t>0</a:t>
              </a:r>
              <a:endParaRPr kumimoji="1" lang="en-US" altLang="zh-CN" sz="240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sp>
          <p:nvSpPr>
            <p:cNvPr id="35858" name="Oval 16" descr="羊皮纸"/>
            <p:cNvSpPr>
              <a:spLocks noChangeArrowheads="1"/>
            </p:cNvSpPr>
            <p:nvPr/>
          </p:nvSpPr>
          <p:spPr bwMode="auto">
            <a:xfrm>
              <a:off x="6762780" y="3648078"/>
              <a:ext cx="326403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  <a:round/>
              <a:headEnd/>
              <a:tailEnd/>
            </a:ln>
          </p:spPr>
          <p:txBody>
            <a:bodyPr wrap="none" lIns="72000" tIns="54000" rIns="72000" bIns="54000" anchor="ctr"/>
            <a:lstStyle/>
            <a:p>
              <a:pPr algn="ctr"/>
              <a:r>
                <a:rPr kumimoji="1" lang="en-US" altLang="zh-CN" sz="2400" b="1">
                  <a:solidFill>
                    <a:schemeClr val="bg2"/>
                  </a:solidFill>
                  <a:latin typeface="Times New Roman" pitchFamily="18" charset="0"/>
                </a:rPr>
                <a:t>4</a:t>
              </a:r>
              <a:endParaRPr kumimoji="1" lang="en-US" altLang="zh-CN" sz="240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sp>
          <p:nvSpPr>
            <p:cNvPr id="35859" name="Oval 17" descr="羊皮纸"/>
            <p:cNvSpPr>
              <a:spLocks noChangeArrowheads="1"/>
            </p:cNvSpPr>
            <p:nvPr/>
          </p:nvSpPr>
          <p:spPr bwMode="auto">
            <a:xfrm>
              <a:off x="8223300" y="3648078"/>
              <a:ext cx="326403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  <a:round/>
              <a:headEnd/>
              <a:tailEnd/>
            </a:ln>
          </p:spPr>
          <p:txBody>
            <a:bodyPr wrap="none" lIns="72000" tIns="54000" rIns="72000" bIns="54000" anchor="ctr"/>
            <a:lstStyle/>
            <a:p>
              <a:pPr algn="ctr"/>
              <a:r>
                <a:rPr kumimoji="1" lang="en-US" altLang="zh-CN" sz="2400" b="1">
                  <a:solidFill>
                    <a:schemeClr val="bg2"/>
                  </a:solidFill>
                  <a:latin typeface="Times New Roman" pitchFamily="18" charset="0"/>
                </a:rPr>
                <a:t>6</a:t>
              </a:r>
              <a:endParaRPr kumimoji="1" lang="en-US" altLang="zh-CN" sz="240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sp>
          <p:nvSpPr>
            <p:cNvPr id="35860" name="Oval 18" descr="羊皮纸"/>
            <p:cNvSpPr>
              <a:spLocks noChangeArrowheads="1"/>
            </p:cNvSpPr>
            <p:nvPr/>
          </p:nvSpPr>
          <p:spPr bwMode="auto">
            <a:xfrm>
              <a:off x="4681539" y="3648078"/>
              <a:ext cx="326403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  <a:round/>
              <a:headEnd/>
              <a:tailEnd/>
            </a:ln>
          </p:spPr>
          <p:txBody>
            <a:bodyPr wrap="none" lIns="72000" tIns="54000" rIns="72000" bIns="54000" anchor="ctr"/>
            <a:lstStyle/>
            <a:p>
              <a:pPr algn="ctr"/>
              <a:r>
                <a:rPr kumimoji="1" lang="en-US" altLang="zh-CN" sz="2400" b="1">
                  <a:solidFill>
                    <a:schemeClr val="bg2"/>
                  </a:solidFill>
                  <a:latin typeface="Times New Roman" pitchFamily="18" charset="0"/>
                </a:rPr>
                <a:t>1</a:t>
              </a:r>
              <a:endParaRPr kumimoji="1" lang="en-US" altLang="zh-CN" sz="240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sp>
          <p:nvSpPr>
            <p:cNvPr id="35861" name="Oval 19" descr="羊皮纸"/>
            <p:cNvSpPr>
              <a:spLocks noChangeArrowheads="1"/>
            </p:cNvSpPr>
            <p:nvPr/>
          </p:nvSpPr>
          <p:spPr bwMode="auto">
            <a:xfrm>
              <a:off x="6069033" y="3648078"/>
              <a:ext cx="326403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  <a:round/>
              <a:headEnd/>
              <a:tailEnd/>
            </a:ln>
          </p:spPr>
          <p:txBody>
            <a:bodyPr wrap="none" lIns="72000" tIns="54000" rIns="72000" bIns="54000" anchor="ctr"/>
            <a:lstStyle/>
            <a:p>
              <a:pPr algn="ctr"/>
              <a:r>
                <a:rPr kumimoji="1" lang="en-US" altLang="zh-CN" sz="2400" b="1">
                  <a:solidFill>
                    <a:schemeClr val="bg2"/>
                  </a:solidFill>
                  <a:latin typeface="Times New Roman" pitchFamily="18" charset="0"/>
                </a:rPr>
                <a:t>3</a:t>
              </a:r>
              <a:endParaRPr kumimoji="1" lang="en-US" altLang="zh-CN" sz="240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sp>
          <p:nvSpPr>
            <p:cNvPr id="35862" name="Oval 20" descr="羊皮纸"/>
            <p:cNvSpPr>
              <a:spLocks noChangeArrowheads="1"/>
            </p:cNvSpPr>
            <p:nvPr/>
          </p:nvSpPr>
          <p:spPr bwMode="auto">
            <a:xfrm flipH="1">
              <a:off x="5375286" y="3648078"/>
              <a:ext cx="326403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  <a:round/>
              <a:headEnd/>
              <a:tailEnd/>
            </a:ln>
          </p:spPr>
          <p:txBody>
            <a:bodyPr wrap="none" lIns="72000" tIns="54000" rIns="72000" bIns="54000" anchor="ctr"/>
            <a:lstStyle/>
            <a:p>
              <a:pPr algn="ctr"/>
              <a:r>
                <a:rPr kumimoji="1" lang="en-US" altLang="zh-CN" sz="2400" b="1">
                  <a:solidFill>
                    <a:schemeClr val="bg2"/>
                  </a:solidFill>
                  <a:latin typeface="Times New Roman" pitchFamily="18" charset="0"/>
                </a:rPr>
                <a:t>2</a:t>
              </a:r>
              <a:endParaRPr kumimoji="1" lang="en-US" altLang="zh-CN" sz="240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</p:grpSp>
      <p:sp>
        <p:nvSpPr>
          <p:cNvPr id="35847" name="TextBox 39"/>
          <p:cNvSpPr txBox="1">
            <a:spLocks noChangeArrowheads="1"/>
          </p:cNvSpPr>
          <p:nvPr/>
        </p:nvSpPr>
        <p:spPr bwMode="auto">
          <a:xfrm>
            <a:off x="2636838" y="3830638"/>
            <a:ext cx="9794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b="1">
                <a:solidFill>
                  <a:srgbClr val="000099"/>
                </a:solidFill>
                <a:ea typeface="黑体" pitchFamily="2" charset="-122"/>
              </a:rPr>
              <a:t>10 (0,5)</a:t>
            </a:r>
          </a:p>
        </p:txBody>
      </p:sp>
      <p:sp>
        <p:nvSpPr>
          <p:cNvPr id="35848" name="矩形 40"/>
          <p:cNvSpPr>
            <a:spLocks noChangeArrowheads="1"/>
          </p:cNvSpPr>
          <p:nvPr/>
        </p:nvSpPr>
        <p:spPr bwMode="auto">
          <a:xfrm>
            <a:off x="2636838" y="4154488"/>
            <a:ext cx="9794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b="1">
                <a:solidFill>
                  <a:srgbClr val="000099"/>
                </a:solidFill>
                <a:ea typeface="黑体" pitchFamily="2" charset="-122"/>
              </a:rPr>
              <a:t>12 (2,3)</a:t>
            </a:r>
          </a:p>
        </p:txBody>
      </p:sp>
      <p:sp>
        <p:nvSpPr>
          <p:cNvPr id="35849" name="矩形 41"/>
          <p:cNvSpPr>
            <a:spLocks noChangeArrowheads="1"/>
          </p:cNvSpPr>
          <p:nvPr/>
        </p:nvSpPr>
        <p:spPr bwMode="auto">
          <a:xfrm>
            <a:off x="2636838" y="4451350"/>
            <a:ext cx="9794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b="1">
                <a:solidFill>
                  <a:srgbClr val="000099"/>
                </a:solidFill>
                <a:ea typeface="黑体" pitchFamily="2" charset="-122"/>
              </a:rPr>
              <a:t>14 (1,6)</a:t>
            </a:r>
          </a:p>
        </p:txBody>
      </p:sp>
      <p:sp>
        <p:nvSpPr>
          <p:cNvPr id="35850" name="矩形 42"/>
          <p:cNvSpPr>
            <a:spLocks noChangeArrowheads="1"/>
          </p:cNvSpPr>
          <p:nvPr/>
        </p:nvSpPr>
        <p:spPr bwMode="auto">
          <a:xfrm>
            <a:off x="2636838" y="4779963"/>
            <a:ext cx="9794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b="1">
                <a:solidFill>
                  <a:srgbClr val="000099"/>
                </a:solidFill>
                <a:ea typeface="黑体" pitchFamily="2" charset="-122"/>
              </a:rPr>
              <a:t>16 (1,2)</a:t>
            </a:r>
          </a:p>
        </p:txBody>
      </p:sp>
      <p:sp>
        <p:nvSpPr>
          <p:cNvPr id="35851" name="矩形 43"/>
          <p:cNvSpPr>
            <a:spLocks noChangeArrowheads="1"/>
          </p:cNvSpPr>
          <p:nvPr/>
        </p:nvSpPr>
        <p:spPr bwMode="auto">
          <a:xfrm>
            <a:off x="2636838" y="5108575"/>
            <a:ext cx="9794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b="1">
                <a:solidFill>
                  <a:srgbClr val="000099"/>
                </a:solidFill>
                <a:ea typeface="黑体" pitchFamily="2" charset="-122"/>
              </a:rPr>
              <a:t>18 (3,6)</a:t>
            </a:r>
          </a:p>
        </p:txBody>
      </p:sp>
      <p:sp>
        <p:nvSpPr>
          <p:cNvPr id="35852" name="矩形 44"/>
          <p:cNvSpPr>
            <a:spLocks noChangeArrowheads="1"/>
          </p:cNvSpPr>
          <p:nvPr/>
        </p:nvSpPr>
        <p:spPr bwMode="auto">
          <a:xfrm>
            <a:off x="2636838" y="5437188"/>
            <a:ext cx="9794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b="1">
                <a:solidFill>
                  <a:srgbClr val="000099"/>
                </a:solidFill>
                <a:ea typeface="黑体" pitchFamily="2" charset="-122"/>
              </a:rPr>
              <a:t>22 (3,4)</a:t>
            </a:r>
          </a:p>
        </p:txBody>
      </p:sp>
      <p:sp>
        <p:nvSpPr>
          <p:cNvPr id="35853" name="矩形 45"/>
          <p:cNvSpPr>
            <a:spLocks noChangeArrowheads="1"/>
          </p:cNvSpPr>
          <p:nvPr/>
        </p:nvSpPr>
        <p:spPr bwMode="auto">
          <a:xfrm>
            <a:off x="2636838" y="5765800"/>
            <a:ext cx="9794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b="1">
                <a:solidFill>
                  <a:srgbClr val="000099"/>
                </a:solidFill>
                <a:ea typeface="黑体" pitchFamily="2" charset="-122"/>
              </a:rPr>
              <a:t>24 (4,6)</a:t>
            </a:r>
          </a:p>
        </p:txBody>
      </p:sp>
      <p:sp>
        <p:nvSpPr>
          <p:cNvPr id="35854" name="矩形 46"/>
          <p:cNvSpPr>
            <a:spLocks noChangeArrowheads="1"/>
          </p:cNvSpPr>
          <p:nvPr/>
        </p:nvSpPr>
        <p:spPr bwMode="auto">
          <a:xfrm>
            <a:off x="2636838" y="6094413"/>
            <a:ext cx="9794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b="1">
                <a:solidFill>
                  <a:srgbClr val="000099"/>
                </a:solidFill>
                <a:ea typeface="黑体" pitchFamily="2" charset="-122"/>
              </a:rPr>
              <a:t>25 (4,5)</a:t>
            </a:r>
            <a:endParaRPr lang="zh-CN" altLang="en-US" b="1">
              <a:solidFill>
                <a:srgbClr val="000099"/>
              </a:solidFill>
              <a:ea typeface="黑体" pitchFamily="2" charset="-122"/>
            </a:endParaRPr>
          </a:p>
        </p:txBody>
      </p:sp>
      <p:sp>
        <p:nvSpPr>
          <p:cNvPr id="35855" name="TextBox 47"/>
          <p:cNvSpPr txBox="1">
            <a:spLocks noChangeArrowheads="1"/>
          </p:cNvSpPr>
          <p:nvPr/>
        </p:nvSpPr>
        <p:spPr bwMode="auto">
          <a:xfrm>
            <a:off x="5740400" y="4013200"/>
            <a:ext cx="8826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zh-CN" altLang="en-US" b="1">
                <a:solidFill>
                  <a:srgbClr val="000099"/>
                </a:solidFill>
                <a:ea typeface="黑体" pitchFamily="2" charset="-122"/>
              </a:rPr>
              <a:t>初始时</a:t>
            </a:r>
          </a:p>
        </p:txBody>
      </p:sp>
    </p:spTree>
    <p:extLst>
      <p:ext uri="{BB962C8B-B14F-4D97-AF65-F5344CB8AC3E}">
        <p14:creationId xmlns:p14="http://schemas.microsoft.com/office/powerpoint/2010/main" val="5345115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最小生成树</a:t>
            </a:r>
          </a:p>
        </p:txBody>
      </p:sp>
      <p:sp>
        <p:nvSpPr>
          <p:cNvPr id="3686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>
                <a:latin typeface="Arial" charset="0"/>
                <a:ea typeface="黑体" pitchFamily="2" charset="-122"/>
              </a:rPr>
              <a:t>克鲁斯卡尔 </a:t>
            </a:r>
            <a:r>
              <a:rPr lang="en-US" altLang="zh-CN">
                <a:latin typeface="Arial" charset="0"/>
                <a:ea typeface="黑体" pitchFamily="2" charset="-122"/>
              </a:rPr>
              <a:t>(Kruskal) </a:t>
            </a:r>
            <a:r>
              <a:rPr lang="zh-CN" altLang="en-US">
                <a:latin typeface="Arial" charset="0"/>
                <a:ea typeface="黑体" pitchFamily="2" charset="-122"/>
              </a:rPr>
              <a:t>算法</a:t>
            </a:r>
            <a:endParaRPr lang="en-US" altLang="zh-CN">
              <a:latin typeface="Arial" charset="0"/>
              <a:ea typeface="黑体" pitchFamily="2" charset="-122"/>
            </a:endParaRPr>
          </a:p>
          <a:p>
            <a:pPr lvl="1"/>
            <a:r>
              <a:rPr lang="zh-CN" altLang="en-US">
                <a:latin typeface="Arial" charset="0"/>
                <a:ea typeface="黑体" pitchFamily="2" charset="-122"/>
              </a:rPr>
              <a:t>经常需要判断权值最小的边的两端是否属于不同连通分量</a:t>
            </a:r>
            <a:endParaRPr lang="en-US" altLang="zh-CN">
              <a:latin typeface="Arial" charset="0"/>
              <a:ea typeface="黑体" pitchFamily="2" charset="-122"/>
            </a:endParaRPr>
          </a:p>
          <a:p>
            <a:pPr lvl="2"/>
            <a:r>
              <a:rPr lang="zh-CN" altLang="en-US">
                <a:latin typeface="Arial" charset="0"/>
                <a:ea typeface="黑体" pitchFamily="2" charset="-122"/>
              </a:rPr>
              <a:t>可使用并查集技术加快判断速度</a:t>
            </a:r>
          </a:p>
        </p:txBody>
      </p:sp>
      <p:sp>
        <p:nvSpPr>
          <p:cNvPr id="36868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fld id="{D34DA1C1-5840-4C66-B98A-6D0F1BF4C9B4}" type="slidenum">
              <a:rPr lang="en-US" altLang="zh-CN" smtClean="0">
                <a:solidFill>
                  <a:srgbClr val="006600"/>
                </a:solidFill>
                <a:latin typeface="Courier New" pitchFamily="49" charset="0"/>
                <a:ea typeface="华文新魏" pitchFamily="2" charset="-122"/>
              </a:rPr>
              <a:pPr eaLnBrk="1" hangingPunct="1"/>
              <a:t>31</a:t>
            </a:fld>
            <a:endParaRPr lang="en-US" altLang="zh-CN">
              <a:solidFill>
                <a:srgbClr val="006600"/>
              </a:solidFill>
              <a:latin typeface="Courier New" pitchFamily="49" charset="0"/>
              <a:ea typeface="华文新魏" pitchFamily="2" charset="-122"/>
            </a:endParaRPr>
          </a:p>
        </p:txBody>
      </p:sp>
      <p:grpSp>
        <p:nvGrpSpPr>
          <p:cNvPr id="36869" name="组合 4"/>
          <p:cNvGrpSpPr>
            <a:grpSpLocks/>
          </p:cNvGrpSpPr>
          <p:nvPr/>
        </p:nvGrpSpPr>
        <p:grpSpPr bwMode="auto">
          <a:xfrm>
            <a:off x="373063" y="3535363"/>
            <a:ext cx="1958975" cy="2081212"/>
            <a:chOff x="738135" y="2256382"/>
            <a:chExt cx="1958416" cy="2081241"/>
          </a:xfrm>
        </p:grpSpPr>
        <p:sp>
          <p:nvSpPr>
            <p:cNvPr id="36888" name="Text Box 21"/>
            <p:cNvSpPr txBox="1">
              <a:spLocks noChangeArrowheads="1"/>
            </p:cNvSpPr>
            <p:nvPr/>
          </p:nvSpPr>
          <p:spPr bwMode="auto">
            <a:xfrm>
              <a:off x="1504908" y="2256382"/>
              <a:ext cx="41549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/>
              <a:r>
                <a:rPr kumimoji="1" lang="en-US" altLang="zh-CN" b="1">
                  <a:solidFill>
                    <a:srgbClr val="C00000"/>
                  </a:solidFill>
                  <a:latin typeface="Times New Roman" pitchFamily="18" charset="0"/>
                </a:rPr>
                <a:t>28</a:t>
              </a:r>
              <a:endParaRPr kumimoji="1" lang="en-US" altLang="zh-CN">
                <a:solidFill>
                  <a:srgbClr val="C00000"/>
                </a:solidFill>
                <a:latin typeface="Times New Roman" pitchFamily="18" charset="0"/>
              </a:endParaRPr>
            </a:p>
          </p:txBody>
        </p:sp>
        <p:grpSp>
          <p:nvGrpSpPr>
            <p:cNvPr id="36889" name="组合 47"/>
            <p:cNvGrpSpPr>
              <a:grpSpLocks/>
            </p:cNvGrpSpPr>
            <p:nvPr/>
          </p:nvGrpSpPr>
          <p:grpSpPr bwMode="auto">
            <a:xfrm>
              <a:off x="738135" y="2368857"/>
              <a:ext cx="1958416" cy="1903314"/>
              <a:chOff x="738135" y="2598723"/>
              <a:chExt cx="1958416" cy="1903314"/>
            </a:xfrm>
          </p:grpSpPr>
          <p:sp>
            <p:nvSpPr>
              <p:cNvPr id="8" name="Line 6"/>
              <p:cNvSpPr>
                <a:spLocks noChangeShapeType="1"/>
              </p:cNvSpPr>
              <p:nvPr/>
            </p:nvSpPr>
            <p:spPr bwMode="auto">
              <a:xfrm>
                <a:off x="1336451" y="2770414"/>
                <a:ext cx="815742" cy="0"/>
              </a:xfrm>
              <a:prstGeom prst="line">
                <a:avLst/>
              </a:prstGeom>
              <a:noFill/>
              <a:ln w="28575">
                <a:solidFill>
                  <a:schemeClr val="bg2">
                    <a:lumMod val="60000"/>
                    <a:lumOff val="40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chemeClr val="bg2"/>
                  </a:solidFill>
                  <a:ea typeface="宋体" pitchFamily="2" charset="-122"/>
                </a:endParaRPr>
              </a:p>
            </p:txBody>
          </p:sp>
          <p:sp>
            <p:nvSpPr>
              <p:cNvPr id="9" name="Line 7"/>
              <p:cNvSpPr>
                <a:spLocks noChangeShapeType="1"/>
              </p:cNvSpPr>
              <p:nvPr/>
            </p:nvSpPr>
            <p:spPr bwMode="auto">
              <a:xfrm>
                <a:off x="1336451" y="4199185"/>
                <a:ext cx="815742" cy="0"/>
              </a:xfrm>
              <a:prstGeom prst="line">
                <a:avLst/>
              </a:prstGeom>
              <a:noFill/>
              <a:ln w="28575">
                <a:solidFill>
                  <a:schemeClr val="bg2">
                    <a:lumMod val="60000"/>
                    <a:lumOff val="40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chemeClr val="bg2"/>
                  </a:solidFill>
                  <a:ea typeface="宋体" pitchFamily="2" charset="-122"/>
                </a:endParaRPr>
              </a:p>
            </p:txBody>
          </p:sp>
          <p:sp>
            <p:nvSpPr>
              <p:cNvPr id="10" name="Line 8"/>
              <p:cNvSpPr>
                <a:spLocks noChangeShapeType="1"/>
              </p:cNvSpPr>
              <p:nvPr/>
            </p:nvSpPr>
            <p:spPr bwMode="auto">
              <a:xfrm flipH="1" flipV="1">
                <a:off x="1717343" y="3570526"/>
                <a:ext cx="326932" cy="514357"/>
              </a:xfrm>
              <a:prstGeom prst="line">
                <a:avLst/>
              </a:prstGeom>
              <a:noFill/>
              <a:ln w="28575">
                <a:solidFill>
                  <a:schemeClr val="bg2">
                    <a:lumMod val="60000"/>
                    <a:lumOff val="40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chemeClr val="bg2"/>
                  </a:solidFill>
                  <a:ea typeface="宋体" pitchFamily="2" charset="-122"/>
                </a:endParaRPr>
              </a:p>
            </p:txBody>
          </p:sp>
          <p:sp>
            <p:nvSpPr>
              <p:cNvPr id="11" name="Line 9"/>
              <p:cNvSpPr>
                <a:spLocks noChangeShapeType="1"/>
              </p:cNvSpPr>
              <p:nvPr/>
            </p:nvSpPr>
            <p:spPr bwMode="auto">
              <a:xfrm flipH="1">
                <a:off x="2152193" y="3570526"/>
                <a:ext cx="326932" cy="628659"/>
              </a:xfrm>
              <a:prstGeom prst="line">
                <a:avLst/>
              </a:prstGeom>
              <a:noFill/>
              <a:ln w="28575">
                <a:solidFill>
                  <a:schemeClr val="bg2">
                    <a:lumMod val="60000"/>
                    <a:lumOff val="40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chemeClr val="bg2"/>
                  </a:solidFill>
                  <a:ea typeface="宋体" pitchFamily="2" charset="-122"/>
                </a:endParaRPr>
              </a:p>
            </p:txBody>
          </p:sp>
          <p:sp>
            <p:nvSpPr>
              <p:cNvPr id="12" name="Line 10"/>
              <p:cNvSpPr>
                <a:spLocks noChangeShapeType="1"/>
              </p:cNvSpPr>
              <p:nvPr/>
            </p:nvSpPr>
            <p:spPr bwMode="auto">
              <a:xfrm>
                <a:off x="2152193" y="2827565"/>
                <a:ext cx="326932" cy="628659"/>
              </a:xfrm>
              <a:prstGeom prst="line">
                <a:avLst/>
              </a:prstGeom>
              <a:noFill/>
              <a:ln w="28575">
                <a:solidFill>
                  <a:schemeClr val="bg2">
                    <a:lumMod val="60000"/>
                    <a:lumOff val="40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chemeClr val="bg2"/>
                  </a:solidFill>
                  <a:ea typeface="宋体" pitchFamily="2" charset="-122"/>
                </a:endParaRPr>
              </a:p>
            </p:txBody>
          </p:sp>
          <p:sp>
            <p:nvSpPr>
              <p:cNvPr id="13" name="Line 11"/>
              <p:cNvSpPr>
                <a:spLocks noChangeShapeType="1"/>
              </p:cNvSpPr>
              <p:nvPr/>
            </p:nvSpPr>
            <p:spPr bwMode="auto">
              <a:xfrm flipV="1">
                <a:off x="1390411" y="2770414"/>
                <a:ext cx="707823" cy="1371619"/>
              </a:xfrm>
              <a:prstGeom prst="line">
                <a:avLst/>
              </a:prstGeom>
              <a:noFill/>
              <a:ln w="28575">
                <a:solidFill>
                  <a:schemeClr val="bg2">
                    <a:lumMod val="60000"/>
                    <a:lumOff val="40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chemeClr val="bg2"/>
                  </a:solidFill>
                  <a:ea typeface="宋体" pitchFamily="2" charset="-122"/>
                </a:endParaRPr>
              </a:p>
            </p:txBody>
          </p:sp>
          <p:sp>
            <p:nvSpPr>
              <p:cNvPr id="14" name="Line 12"/>
              <p:cNvSpPr>
                <a:spLocks noChangeShapeType="1"/>
              </p:cNvSpPr>
              <p:nvPr/>
            </p:nvSpPr>
            <p:spPr bwMode="auto">
              <a:xfrm>
                <a:off x="955560" y="3570526"/>
                <a:ext cx="326932" cy="628659"/>
              </a:xfrm>
              <a:prstGeom prst="line">
                <a:avLst/>
              </a:prstGeom>
              <a:noFill/>
              <a:ln w="28575">
                <a:solidFill>
                  <a:schemeClr val="bg2">
                    <a:lumMod val="60000"/>
                    <a:lumOff val="40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chemeClr val="bg2"/>
                  </a:solidFill>
                  <a:ea typeface="宋体" pitchFamily="2" charset="-122"/>
                </a:endParaRPr>
              </a:p>
            </p:txBody>
          </p:sp>
          <p:sp>
            <p:nvSpPr>
              <p:cNvPr id="36897" name="Line 13"/>
              <p:cNvSpPr>
                <a:spLocks noChangeShapeType="1"/>
              </p:cNvSpPr>
              <p:nvPr/>
            </p:nvSpPr>
            <p:spPr bwMode="auto">
              <a:xfrm flipH="1">
                <a:off x="901600" y="2827565"/>
                <a:ext cx="326932" cy="628659"/>
              </a:xfrm>
              <a:prstGeom prst="line">
                <a:avLst/>
              </a:prstGeom>
              <a:noFill/>
              <a:ln w="508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6898" name="Oval 14" descr="羊皮纸"/>
              <p:cNvSpPr>
                <a:spLocks noChangeArrowheads="1"/>
              </p:cNvSpPr>
              <p:nvPr/>
            </p:nvSpPr>
            <p:spPr bwMode="auto">
              <a:xfrm>
                <a:off x="738135" y="3341672"/>
                <a:ext cx="326403" cy="3429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lIns="72000" tIns="54000" rIns="72000" bIns="54000" anchor="ctr"/>
              <a:lstStyle/>
              <a:p>
                <a:pPr algn="ctr"/>
                <a:r>
                  <a:rPr kumimoji="1" lang="en-US" altLang="zh-CN" sz="2400" b="1">
                    <a:solidFill>
                      <a:schemeClr val="bg2"/>
                    </a:solidFill>
                    <a:latin typeface="Times New Roman" pitchFamily="18" charset="0"/>
                  </a:rPr>
                  <a:t>5</a:t>
                </a:r>
                <a:endParaRPr kumimoji="1" lang="en-US" altLang="zh-CN" sz="2400">
                  <a:solidFill>
                    <a:schemeClr val="bg2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36899" name="Oval 15" descr="羊皮纸"/>
              <p:cNvSpPr>
                <a:spLocks noChangeArrowheads="1"/>
              </p:cNvSpPr>
              <p:nvPr/>
            </p:nvSpPr>
            <p:spPr bwMode="auto">
              <a:xfrm>
                <a:off x="1118938" y="2598723"/>
                <a:ext cx="326403" cy="3429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lIns="72000" tIns="54000" rIns="72000" bIns="54000" anchor="ctr"/>
              <a:lstStyle/>
              <a:p>
                <a:pPr algn="ctr"/>
                <a:r>
                  <a:rPr kumimoji="1" lang="en-US" altLang="zh-CN" sz="2400" b="1">
                    <a:solidFill>
                      <a:schemeClr val="bg2"/>
                    </a:solidFill>
                    <a:latin typeface="Times New Roman" pitchFamily="18" charset="0"/>
                  </a:rPr>
                  <a:t>0</a:t>
                </a:r>
                <a:endParaRPr kumimoji="1" lang="en-US" altLang="zh-CN" sz="2400">
                  <a:solidFill>
                    <a:schemeClr val="bg2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36900" name="Oval 16" descr="羊皮纸"/>
              <p:cNvSpPr>
                <a:spLocks noChangeArrowheads="1"/>
              </p:cNvSpPr>
              <p:nvPr/>
            </p:nvSpPr>
            <p:spPr bwMode="auto">
              <a:xfrm>
                <a:off x="1118938" y="4027471"/>
                <a:ext cx="326403" cy="3429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lIns="72000" tIns="54000" rIns="72000" bIns="54000" anchor="ctr"/>
              <a:lstStyle/>
              <a:p>
                <a:pPr algn="ctr"/>
                <a:r>
                  <a:rPr kumimoji="1" lang="en-US" altLang="zh-CN" sz="2400" b="1">
                    <a:solidFill>
                      <a:schemeClr val="bg2"/>
                    </a:solidFill>
                    <a:latin typeface="Times New Roman" pitchFamily="18" charset="0"/>
                  </a:rPr>
                  <a:t>4</a:t>
                </a:r>
                <a:endParaRPr kumimoji="1" lang="en-US" altLang="zh-CN" sz="2400">
                  <a:solidFill>
                    <a:schemeClr val="bg2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36901" name="Oval 17" descr="羊皮纸"/>
              <p:cNvSpPr>
                <a:spLocks noChangeArrowheads="1"/>
              </p:cNvSpPr>
              <p:nvPr/>
            </p:nvSpPr>
            <p:spPr bwMode="auto">
              <a:xfrm>
                <a:off x="1554142" y="3341672"/>
                <a:ext cx="326403" cy="3429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lIns="72000" tIns="54000" rIns="72000" bIns="54000" anchor="ctr"/>
              <a:lstStyle/>
              <a:p>
                <a:pPr algn="ctr"/>
                <a:r>
                  <a:rPr kumimoji="1" lang="en-US" altLang="zh-CN" sz="2400" b="1">
                    <a:solidFill>
                      <a:schemeClr val="bg2"/>
                    </a:solidFill>
                    <a:latin typeface="Times New Roman" pitchFamily="18" charset="0"/>
                  </a:rPr>
                  <a:t>6</a:t>
                </a:r>
                <a:endParaRPr kumimoji="1" lang="en-US" altLang="zh-CN" sz="2400">
                  <a:solidFill>
                    <a:schemeClr val="bg2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36902" name="Oval 18" descr="羊皮纸"/>
              <p:cNvSpPr>
                <a:spLocks noChangeArrowheads="1"/>
              </p:cNvSpPr>
              <p:nvPr/>
            </p:nvSpPr>
            <p:spPr bwMode="auto">
              <a:xfrm>
                <a:off x="1934945" y="2598723"/>
                <a:ext cx="326403" cy="3429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lIns="72000" tIns="54000" rIns="72000" bIns="54000" anchor="ctr"/>
              <a:lstStyle/>
              <a:p>
                <a:pPr algn="ctr"/>
                <a:r>
                  <a:rPr kumimoji="1" lang="en-US" altLang="zh-CN" sz="2400" b="1">
                    <a:solidFill>
                      <a:schemeClr val="bg2"/>
                    </a:solidFill>
                    <a:latin typeface="Times New Roman" pitchFamily="18" charset="0"/>
                  </a:rPr>
                  <a:t>1</a:t>
                </a:r>
                <a:endParaRPr kumimoji="1" lang="en-US" altLang="zh-CN" sz="2400">
                  <a:solidFill>
                    <a:schemeClr val="bg2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36903" name="Oval 19" descr="羊皮纸"/>
              <p:cNvSpPr>
                <a:spLocks noChangeArrowheads="1"/>
              </p:cNvSpPr>
              <p:nvPr/>
            </p:nvSpPr>
            <p:spPr bwMode="auto">
              <a:xfrm>
                <a:off x="1934945" y="4027471"/>
                <a:ext cx="326403" cy="3429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lIns="72000" tIns="54000" rIns="72000" bIns="54000" anchor="ctr"/>
              <a:lstStyle/>
              <a:p>
                <a:pPr algn="ctr"/>
                <a:r>
                  <a:rPr kumimoji="1" lang="en-US" altLang="zh-CN" sz="2400" b="1">
                    <a:solidFill>
                      <a:schemeClr val="bg2"/>
                    </a:solidFill>
                    <a:latin typeface="Times New Roman" pitchFamily="18" charset="0"/>
                  </a:rPr>
                  <a:t>3</a:t>
                </a:r>
                <a:endParaRPr kumimoji="1" lang="en-US" altLang="zh-CN" sz="2400">
                  <a:solidFill>
                    <a:schemeClr val="bg2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36904" name="Oval 20" descr="羊皮纸"/>
              <p:cNvSpPr>
                <a:spLocks noChangeArrowheads="1"/>
              </p:cNvSpPr>
              <p:nvPr/>
            </p:nvSpPr>
            <p:spPr bwMode="auto">
              <a:xfrm flipH="1">
                <a:off x="2370148" y="3341672"/>
                <a:ext cx="326403" cy="3429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lIns="72000" tIns="54000" rIns="72000" bIns="54000" anchor="ctr"/>
              <a:lstStyle/>
              <a:p>
                <a:pPr algn="ctr"/>
                <a:r>
                  <a:rPr kumimoji="1" lang="en-US" altLang="zh-CN" sz="2400" b="1">
                    <a:solidFill>
                      <a:schemeClr val="bg2"/>
                    </a:solidFill>
                    <a:latin typeface="Times New Roman" pitchFamily="18" charset="0"/>
                  </a:rPr>
                  <a:t>2</a:t>
                </a:r>
                <a:endParaRPr kumimoji="1" lang="en-US" altLang="zh-CN" sz="2400">
                  <a:solidFill>
                    <a:schemeClr val="bg2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36905" name="Text Box 22"/>
              <p:cNvSpPr txBox="1">
                <a:spLocks noChangeArrowheads="1"/>
              </p:cNvSpPr>
              <p:nvPr/>
            </p:nvSpPr>
            <p:spPr bwMode="auto">
              <a:xfrm>
                <a:off x="738135" y="2846509"/>
                <a:ext cx="415498" cy="3640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b="1">
                    <a:solidFill>
                      <a:srgbClr val="C00000"/>
                    </a:solidFill>
                    <a:latin typeface="Times New Roman" pitchFamily="18" charset="0"/>
                  </a:rPr>
                  <a:t>10</a:t>
                </a:r>
                <a:endParaRPr kumimoji="1" lang="en-US" altLang="zh-CN">
                  <a:solidFill>
                    <a:srgbClr val="C0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36906" name="Text Box 23"/>
              <p:cNvSpPr txBox="1">
                <a:spLocks noChangeArrowheads="1"/>
              </p:cNvSpPr>
              <p:nvPr/>
            </p:nvSpPr>
            <p:spPr bwMode="auto">
              <a:xfrm>
                <a:off x="760793" y="3714404"/>
                <a:ext cx="415498" cy="3640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b="1">
                    <a:solidFill>
                      <a:srgbClr val="C00000"/>
                    </a:solidFill>
                    <a:latin typeface="Times New Roman" pitchFamily="18" charset="0"/>
                  </a:rPr>
                  <a:t>25</a:t>
                </a:r>
                <a:endParaRPr kumimoji="1" lang="en-US" altLang="zh-CN">
                  <a:solidFill>
                    <a:srgbClr val="C0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36907" name="Text Box 24"/>
              <p:cNvSpPr txBox="1">
                <a:spLocks noChangeArrowheads="1"/>
              </p:cNvSpPr>
              <p:nvPr/>
            </p:nvSpPr>
            <p:spPr bwMode="auto">
              <a:xfrm>
                <a:off x="1527566" y="2895188"/>
                <a:ext cx="415498" cy="3640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b="1">
                    <a:solidFill>
                      <a:srgbClr val="C00000"/>
                    </a:solidFill>
                    <a:latin typeface="Times New Roman" pitchFamily="18" charset="0"/>
                  </a:rPr>
                  <a:t>14</a:t>
                </a:r>
                <a:endParaRPr kumimoji="1" lang="en-US" altLang="zh-CN">
                  <a:solidFill>
                    <a:srgbClr val="C0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36908" name="Text Box 25"/>
              <p:cNvSpPr txBox="1">
                <a:spLocks noChangeArrowheads="1"/>
              </p:cNvSpPr>
              <p:nvPr/>
            </p:nvSpPr>
            <p:spPr bwMode="auto">
              <a:xfrm>
                <a:off x="1198949" y="3638284"/>
                <a:ext cx="415498" cy="3640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b="1">
                    <a:solidFill>
                      <a:srgbClr val="C00000"/>
                    </a:solidFill>
                    <a:latin typeface="Times New Roman" pitchFamily="18" charset="0"/>
                  </a:rPr>
                  <a:t>24</a:t>
                </a:r>
                <a:endParaRPr kumimoji="1" lang="en-US" altLang="zh-CN">
                  <a:solidFill>
                    <a:srgbClr val="C0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36909" name="Text Box 26"/>
              <p:cNvSpPr txBox="1">
                <a:spLocks noChangeArrowheads="1"/>
              </p:cNvSpPr>
              <p:nvPr/>
            </p:nvSpPr>
            <p:spPr bwMode="auto">
              <a:xfrm>
                <a:off x="1499741" y="4137998"/>
                <a:ext cx="415498" cy="3640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b="1">
                    <a:solidFill>
                      <a:srgbClr val="C00000"/>
                    </a:solidFill>
                    <a:latin typeface="Times New Roman" pitchFamily="18" charset="0"/>
                  </a:rPr>
                  <a:t>22</a:t>
                </a:r>
                <a:endParaRPr kumimoji="1" lang="en-US" altLang="zh-CN">
                  <a:solidFill>
                    <a:srgbClr val="C0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36910" name="Text Box 27"/>
              <p:cNvSpPr txBox="1">
                <a:spLocks noChangeArrowheads="1"/>
              </p:cNvSpPr>
              <p:nvPr/>
            </p:nvSpPr>
            <p:spPr bwMode="auto">
              <a:xfrm>
                <a:off x="2271681" y="2895188"/>
                <a:ext cx="415498" cy="3640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b="1">
                    <a:solidFill>
                      <a:srgbClr val="C00000"/>
                    </a:solidFill>
                    <a:latin typeface="Times New Roman" pitchFamily="18" charset="0"/>
                  </a:rPr>
                  <a:t>16</a:t>
                </a:r>
                <a:endParaRPr kumimoji="1" lang="en-US" altLang="zh-CN">
                  <a:solidFill>
                    <a:srgbClr val="C0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36911" name="Text Box 28"/>
              <p:cNvSpPr txBox="1">
                <a:spLocks noChangeArrowheads="1"/>
              </p:cNvSpPr>
              <p:nvPr/>
            </p:nvSpPr>
            <p:spPr bwMode="auto">
              <a:xfrm>
                <a:off x="1797012" y="3570271"/>
                <a:ext cx="415498" cy="3640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b="1">
                    <a:solidFill>
                      <a:srgbClr val="C00000"/>
                    </a:solidFill>
                    <a:latin typeface="Times New Roman" pitchFamily="18" charset="0"/>
                  </a:rPr>
                  <a:t>18</a:t>
                </a:r>
                <a:endParaRPr kumimoji="1" lang="en-US" altLang="zh-CN">
                  <a:solidFill>
                    <a:srgbClr val="C0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36912" name="Text Box 29"/>
              <p:cNvSpPr txBox="1">
                <a:spLocks noChangeArrowheads="1"/>
              </p:cNvSpPr>
              <p:nvPr/>
            </p:nvSpPr>
            <p:spPr bwMode="auto">
              <a:xfrm>
                <a:off x="2271681" y="3752437"/>
                <a:ext cx="415498" cy="3640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b="1">
                    <a:solidFill>
                      <a:srgbClr val="C00000"/>
                    </a:solidFill>
                    <a:latin typeface="Times New Roman" pitchFamily="18" charset="0"/>
                  </a:rPr>
                  <a:t>12</a:t>
                </a:r>
                <a:endParaRPr kumimoji="1" lang="en-US" altLang="zh-CN">
                  <a:solidFill>
                    <a:srgbClr val="C00000"/>
                  </a:solidFill>
                  <a:latin typeface="Times New Roman" pitchFamily="18" charset="0"/>
                </a:endParaRPr>
              </a:p>
            </p:txBody>
          </p:sp>
        </p:grpSp>
      </p:grpSp>
      <p:sp>
        <p:nvSpPr>
          <p:cNvPr id="36870" name="TextBox 39"/>
          <p:cNvSpPr txBox="1">
            <a:spLocks noChangeArrowheads="1"/>
          </p:cNvSpPr>
          <p:nvPr/>
        </p:nvSpPr>
        <p:spPr bwMode="auto">
          <a:xfrm>
            <a:off x="2636838" y="3830638"/>
            <a:ext cx="9794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b="1">
                <a:solidFill>
                  <a:srgbClr val="C00000"/>
                </a:solidFill>
                <a:ea typeface="黑体" pitchFamily="2" charset="-122"/>
              </a:rPr>
              <a:t>10 (0,5)</a:t>
            </a:r>
          </a:p>
        </p:txBody>
      </p:sp>
      <p:sp>
        <p:nvSpPr>
          <p:cNvPr id="36871" name="矩形 40"/>
          <p:cNvSpPr>
            <a:spLocks noChangeArrowheads="1"/>
          </p:cNvSpPr>
          <p:nvPr/>
        </p:nvSpPr>
        <p:spPr bwMode="auto">
          <a:xfrm>
            <a:off x="2636838" y="4154488"/>
            <a:ext cx="9794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b="1">
                <a:solidFill>
                  <a:srgbClr val="000099"/>
                </a:solidFill>
                <a:ea typeface="黑体" pitchFamily="2" charset="-122"/>
              </a:rPr>
              <a:t>12 (2,3)</a:t>
            </a:r>
          </a:p>
        </p:txBody>
      </p:sp>
      <p:sp>
        <p:nvSpPr>
          <p:cNvPr id="36872" name="矩形 41"/>
          <p:cNvSpPr>
            <a:spLocks noChangeArrowheads="1"/>
          </p:cNvSpPr>
          <p:nvPr/>
        </p:nvSpPr>
        <p:spPr bwMode="auto">
          <a:xfrm>
            <a:off x="2636838" y="4451350"/>
            <a:ext cx="9794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b="1">
                <a:solidFill>
                  <a:srgbClr val="000099"/>
                </a:solidFill>
                <a:ea typeface="黑体" pitchFamily="2" charset="-122"/>
              </a:rPr>
              <a:t>14 (1,6)</a:t>
            </a:r>
          </a:p>
        </p:txBody>
      </p:sp>
      <p:sp>
        <p:nvSpPr>
          <p:cNvPr id="36873" name="矩形 42"/>
          <p:cNvSpPr>
            <a:spLocks noChangeArrowheads="1"/>
          </p:cNvSpPr>
          <p:nvPr/>
        </p:nvSpPr>
        <p:spPr bwMode="auto">
          <a:xfrm>
            <a:off x="2636838" y="4779963"/>
            <a:ext cx="9794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b="1">
                <a:solidFill>
                  <a:srgbClr val="000099"/>
                </a:solidFill>
                <a:ea typeface="黑体" pitchFamily="2" charset="-122"/>
              </a:rPr>
              <a:t>16 (1,2)</a:t>
            </a:r>
          </a:p>
        </p:txBody>
      </p:sp>
      <p:sp>
        <p:nvSpPr>
          <p:cNvPr id="36874" name="矩形 43"/>
          <p:cNvSpPr>
            <a:spLocks noChangeArrowheads="1"/>
          </p:cNvSpPr>
          <p:nvPr/>
        </p:nvSpPr>
        <p:spPr bwMode="auto">
          <a:xfrm>
            <a:off x="2636838" y="5108575"/>
            <a:ext cx="9794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b="1">
                <a:solidFill>
                  <a:srgbClr val="000099"/>
                </a:solidFill>
                <a:ea typeface="黑体" pitchFamily="2" charset="-122"/>
              </a:rPr>
              <a:t>18 (3,6)</a:t>
            </a:r>
          </a:p>
        </p:txBody>
      </p:sp>
      <p:sp>
        <p:nvSpPr>
          <p:cNvPr id="36875" name="矩形 44"/>
          <p:cNvSpPr>
            <a:spLocks noChangeArrowheads="1"/>
          </p:cNvSpPr>
          <p:nvPr/>
        </p:nvSpPr>
        <p:spPr bwMode="auto">
          <a:xfrm>
            <a:off x="2636838" y="5437188"/>
            <a:ext cx="9794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b="1">
                <a:solidFill>
                  <a:srgbClr val="000099"/>
                </a:solidFill>
                <a:ea typeface="黑体" pitchFamily="2" charset="-122"/>
              </a:rPr>
              <a:t>22 (3,4)</a:t>
            </a:r>
          </a:p>
        </p:txBody>
      </p:sp>
      <p:sp>
        <p:nvSpPr>
          <p:cNvPr id="36876" name="矩形 45"/>
          <p:cNvSpPr>
            <a:spLocks noChangeArrowheads="1"/>
          </p:cNvSpPr>
          <p:nvPr/>
        </p:nvSpPr>
        <p:spPr bwMode="auto">
          <a:xfrm>
            <a:off x="2636838" y="5765800"/>
            <a:ext cx="9794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b="1">
                <a:solidFill>
                  <a:srgbClr val="000099"/>
                </a:solidFill>
                <a:ea typeface="黑体" pitchFamily="2" charset="-122"/>
              </a:rPr>
              <a:t>24 (4,6)</a:t>
            </a:r>
          </a:p>
        </p:txBody>
      </p:sp>
      <p:sp>
        <p:nvSpPr>
          <p:cNvPr id="36877" name="矩形 46"/>
          <p:cNvSpPr>
            <a:spLocks noChangeArrowheads="1"/>
          </p:cNvSpPr>
          <p:nvPr/>
        </p:nvSpPr>
        <p:spPr bwMode="auto">
          <a:xfrm>
            <a:off x="2636838" y="6094413"/>
            <a:ext cx="9794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b="1">
                <a:solidFill>
                  <a:srgbClr val="000099"/>
                </a:solidFill>
                <a:ea typeface="黑体" pitchFamily="2" charset="-122"/>
              </a:rPr>
              <a:t>25 (4,5)</a:t>
            </a:r>
            <a:endParaRPr lang="zh-CN" altLang="en-US" b="1">
              <a:solidFill>
                <a:srgbClr val="000099"/>
              </a:solidFill>
              <a:ea typeface="黑体" pitchFamily="2" charset="-122"/>
            </a:endParaRPr>
          </a:p>
        </p:txBody>
      </p:sp>
      <p:grpSp>
        <p:nvGrpSpPr>
          <p:cNvPr id="36878" name="组合 59"/>
          <p:cNvGrpSpPr>
            <a:grpSpLocks/>
          </p:cNvGrpSpPr>
          <p:nvPr/>
        </p:nvGrpSpPr>
        <p:grpSpPr bwMode="auto">
          <a:xfrm>
            <a:off x="4040188" y="3502025"/>
            <a:ext cx="3743325" cy="1073150"/>
            <a:chOff x="4039978" y="5035572"/>
            <a:chExt cx="3742952" cy="1073160"/>
          </a:xfrm>
        </p:grpSpPr>
        <p:sp>
          <p:nvSpPr>
            <p:cNvPr id="36880" name="Oval 14" descr="羊皮纸"/>
            <p:cNvSpPr>
              <a:spLocks noChangeArrowheads="1"/>
            </p:cNvSpPr>
            <p:nvPr/>
          </p:nvSpPr>
          <p:spPr bwMode="auto">
            <a:xfrm>
              <a:off x="4039978" y="5765832"/>
              <a:ext cx="326403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  <a:round/>
              <a:headEnd/>
              <a:tailEnd/>
            </a:ln>
          </p:spPr>
          <p:txBody>
            <a:bodyPr wrap="none" lIns="72000" tIns="54000" rIns="72000" bIns="54000" anchor="ctr"/>
            <a:lstStyle/>
            <a:p>
              <a:pPr algn="ctr"/>
              <a:r>
                <a:rPr kumimoji="1" lang="en-US" altLang="zh-CN" sz="2400" b="1">
                  <a:solidFill>
                    <a:schemeClr val="bg2"/>
                  </a:solidFill>
                  <a:latin typeface="Times New Roman" pitchFamily="18" charset="0"/>
                </a:rPr>
                <a:t>5</a:t>
              </a:r>
              <a:endParaRPr kumimoji="1" lang="en-US" altLang="zh-CN" sz="240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sp>
          <p:nvSpPr>
            <p:cNvPr id="36881" name="Oval 15" descr="羊皮纸"/>
            <p:cNvSpPr>
              <a:spLocks noChangeArrowheads="1"/>
            </p:cNvSpPr>
            <p:nvPr/>
          </p:nvSpPr>
          <p:spPr bwMode="auto">
            <a:xfrm>
              <a:off x="4039978" y="5035572"/>
              <a:ext cx="326403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  <a:round/>
              <a:headEnd/>
              <a:tailEnd/>
            </a:ln>
          </p:spPr>
          <p:txBody>
            <a:bodyPr wrap="none" lIns="72000" tIns="54000" rIns="72000" bIns="54000" anchor="ctr"/>
            <a:lstStyle/>
            <a:p>
              <a:pPr algn="ctr"/>
              <a:r>
                <a:rPr kumimoji="1" lang="en-US" altLang="zh-CN" sz="2400" b="1">
                  <a:solidFill>
                    <a:schemeClr val="bg2"/>
                  </a:solidFill>
                  <a:latin typeface="Times New Roman" pitchFamily="18" charset="0"/>
                </a:rPr>
                <a:t>0</a:t>
              </a:r>
              <a:endParaRPr kumimoji="1" lang="en-US" altLang="zh-CN" sz="240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sp>
          <p:nvSpPr>
            <p:cNvPr id="36882" name="Oval 16" descr="羊皮纸"/>
            <p:cNvSpPr>
              <a:spLocks noChangeArrowheads="1"/>
            </p:cNvSpPr>
            <p:nvPr/>
          </p:nvSpPr>
          <p:spPr bwMode="auto">
            <a:xfrm>
              <a:off x="6762780" y="5035572"/>
              <a:ext cx="326403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  <a:round/>
              <a:headEnd/>
              <a:tailEnd/>
            </a:ln>
          </p:spPr>
          <p:txBody>
            <a:bodyPr wrap="none" lIns="72000" tIns="54000" rIns="72000" bIns="54000" anchor="ctr"/>
            <a:lstStyle/>
            <a:p>
              <a:pPr algn="ctr"/>
              <a:r>
                <a:rPr kumimoji="1" lang="en-US" altLang="zh-CN" sz="2400" b="1">
                  <a:solidFill>
                    <a:schemeClr val="bg2"/>
                  </a:solidFill>
                  <a:latin typeface="Times New Roman" pitchFamily="18" charset="0"/>
                </a:rPr>
                <a:t>4</a:t>
              </a:r>
              <a:endParaRPr kumimoji="1" lang="en-US" altLang="zh-CN" sz="240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sp>
          <p:nvSpPr>
            <p:cNvPr id="36883" name="Oval 17" descr="羊皮纸"/>
            <p:cNvSpPr>
              <a:spLocks noChangeArrowheads="1"/>
            </p:cNvSpPr>
            <p:nvPr/>
          </p:nvSpPr>
          <p:spPr bwMode="auto">
            <a:xfrm>
              <a:off x="7456527" y="5035572"/>
              <a:ext cx="326403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  <a:round/>
              <a:headEnd/>
              <a:tailEnd/>
            </a:ln>
          </p:spPr>
          <p:txBody>
            <a:bodyPr wrap="none" lIns="72000" tIns="54000" rIns="72000" bIns="54000" anchor="ctr"/>
            <a:lstStyle/>
            <a:p>
              <a:pPr algn="ctr"/>
              <a:r>
                <a:rPr kumimoji="1" lang="en-US" altLang="zh-CN" sz="2400" b="1">
                  <a:solidFill>
                    <a:schemeClr val="bg2"/>
                  </a:solidFill>
                  <a:latin typeface="Times New Roman" pitchFamily="18" charset="0"/>
                </a:rPr>
                <a:t>6</a:t>
              </a:r>
              <a:endParaRPr kumimoji="1" lang="en-US" altLang="zh-CN" sz="240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sp>
          <p:nvSpPr>
            <p:cNvPr id="36884" name="Oval 18" descr="羊皮纸"/>
            <p:cNvSpPr>
              <a:spLocks noChangeArrowheads="1"/>
            </p:cNvSpPr>
            <p:nvPr/>
          </p:nvSpPr>
          <p:spPr bwMode="auto">
            <a:xfrm>
              <a:off x="4681539" y="5035572"/>
              <a:ext cx="326403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  <a:round/>
              <a:headEnd/>
              <a:tailEnd/>
            </a:ln>
          </p:spPr>
          <p:txBody>
            <a:bodyPr wrap="none" lIns="72000" tIns="54000" rIns="72000" bIns="54000" anchor="ctr"/>
            <a:lstStyle/>
            <a:p>
              <a:pPr algn="ctr"/>
              <a:r>
                <a:rPr kumimoji="1" lang="en-US" altLang="zh-CN" sz="2400" b="1">
                  <a:solidFill>
                    <a:schemeClr val="bg2"/>
                  </a:solidFill>
                  <a:latin typeface="Times New Roman" pitchFamily="18" charset="0"/>
                </a:rPr>
                <a:t>1</a:t>
              </a:r>
              <a:endParaRPr kumimoji="1" lang="en-US" altLang="zh-CN" sz="240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sp>
          <p:nvSpPr>
            <p:cNvPr id="36885" name="Oval 19" descr="羊皮纸"/>
            <p:cNvSpPr>
              <a:spLocks noChangeArrowheads="1"/>
            </p:cNvSpPr>
            <p:nvPr/>
          </p:nvSpPr>
          <p:spPr bwMode="auto">
            <a:xfrm>
              <a:off x="6069033" y="5035572"/>
              <a:ext cx="326403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  <a:round/>
              <a:headEnd/>
              <a:tailEnd/>
            </a:ln>
          </p:spPr>
          <p:txBody>
            <a:bodyPr wrap="none" lIns="72000" tIns="54000" rIns="72000" bIns="54000" anchor="ctr"/>
            <a:lstStyle/>
            <a:p>
              <a:pPr algn="ctr"/>
              <a:r>
                <a:rPr kumimoji="1" lang="en-US" altLang="zh-CN" sz="2400" b="1">
                  <a:solidFill>
                    <a:schemeClr val="bg2"/>
                  </a:solidFill>
                  <a:latin typeface="Times New Roman" pitchFamily="18" charset="0"/>
                </a:rPr>
                <a:t>3</a:t>
              </a:r>
              <a:endParaRPr kumimoji="1" lang="en-US" altLang="zh-CN" sz="240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sp>
          <p:nvSpPr>
            <p:cNvPr id="36886" name="Oval 20" descr="羊皮纸"/>
            <p:cNvSpPr>
              <a:spLocks noChangeArrowheads="1"/>
            </p:cNvSpPr>
            <p:nvPr/>
          </p:nvSpPr>
          <p:spPr bwMode="auto">
            <a:xfrm flipH="1">
              <a:off x="5375286" y="5035572"/>
              <a:ext cx="326403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  <a:round/>
              <a:headEnd/>
              <a:tailEnd/>
            </a:ln>
          </p:spPr>
          <p:txBody>
            <a:bodyPr wrap="none" lIns="72000" tIns="54000" rIns="72000" bIns="54000" anchor="ctr"/>
            <a:lstStyle/>
            <a:p>
              <a:pPr algn="ctr"/>
              <a:r>
                <a:rPr kumimoji="1" lang="en-US" altLang="zh-CN" sz="2400" b="1">
                  <a:solidFill>
                    <a:schemeClr val="bg2"/>
                  </a:solidFill>
                  <a:latin typeface="Times New Roman" pitchFamily="18" charset="0"/>
                </a:rPr>
                <a:t>2</a:t>
              </a:r>
              <a:endParaRPr kumimoji="1" lang="en-US" altLang="zh-CN" sz="240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cxnSp>
          <p:nvCxnSpPr>
            <p:cNvPr id="58" name="直接箭头连接符 57"/>
            <p:cNvCxnSpPr>
              <a:stCxn id="36880" idx="0"/>
              <a:endCxn id="36881" idx="4"/>
            </p:cNvCxnSpPr>
            <p:nvPr/>
          </p:nvCxnSpPr>
          <p:spPr>
            <a:xfrm rot="5400000" flipH="1" flipV="1">
              <a:off x="4008210" y="5572152"/>
              <a:ext cx="388942" cy="1587"/>
            </a:xfrm>
            <a:prstGeom prst="straightConnector1">
              <a:avLst/>
            </a:prstGeom>
            <a:ln w="25400">
              <a:solidFill>
                <a:schemeClr val="bg2">
                  <a:lumMod val="40000"/>
                  <a:lumOff val="6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879" name="TextBox 58"/>
          <p:cNvSpPr txBox="1">
            <a:spLocks noChangeArrowheads="1"/>
          </p:cNvSpPr>
          <p:nvPr/>
        </p:nvSpPr>
        <p:spPr bwMode="auto">
          <a:xfrm>
            <a:off x="5411788" y="4560888"/>
            <a:ext cx="11239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zh-CN" altLang="en-US" b="1">
                <a:solidFill>
                  <a:srgbClr val="000099"/>
                </a:solidFill>
                <a:ea typeface="黑体" pitchFamily="2" charset="-122"/>
              </a:rPr>
              <a:t>取边</a:t>
            </a:r>
            <a:r>
              <a:rPr lang="en-US" altLang="zh-CN" b="1">
                <a:solidFill>
                  <a:srgbClr val="000099"/>
                </a:solidFill>
                <a:ea typeface="黑体" pitchFamily="2" charset="-122"/>
              </a:rPr>
              <a:t>(0,5)</a:t>
            </a:r>
            <a:endParaRPr lang="zh-CN" altLang="en-US" b="1">
              <a:solidFill>
                <a:srgbClr val="000099"/>
              </a:solidFill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109921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最小生成树</a:t>
            </a:r>
          </a:p>
        </p:txBody>
      </p:sp>
      <p:sp>
        <p:nvSpPr>
          <p:cNvPr id="3789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>
                <a:latin typeface="Arial" charset="0"/>
                <a:ea typeface="黑体" pitchFamily="2" charset="-122"/>
              </a:rPr>
              <a:t>克鲁斯卡尔 </a:t>
            </a:r>
            <a:r>
              <a:rPr lang="en-US" altLang="zh-CN">
                <a:latin typeface="Arial" charset="0"/>
                <a:ea typeface="黑体" pitchFamily="2" charset="-122"/>
              </a:rPr>
              <a:t>(Kruskal) </a:t>
            </a:r>
            <a:r>
              <a:rPr lang="zh-CN" altLang="en-US">
                <a:latin typeface="Arial" charset="0"/>
                <a:ea typeface="黑体" pitchFamily="2" charset="-122"/>
              </a:rPr>
              <a:t>算法</a:t>
            </a:r>
            <a:endParaRPr lang="en-US" altLang="zh-CN">
              <a:latin typeface="Arial" charset="0"/>
              <a:ea typeface="黑体" pitchFamily="2" charset="-122"/>
            </a:endParaRPr>
          </a:p>
          <a:p>
            <a:pPr lvl="1"/>
            <a:r>
              <a:rPr lang="zh-CN" altLang="en-US">
                <a:latin typeface="Arial" charset="0"/>
                <a:ea typeface="黑体" pitchFamily="2" charset="-122"/>
              </a:rPr>
              <a:t>经常需要判断权值最小的边的两端是否属于不同连通分量</a:t>
            </a:r>
            <a:endParaRPr lang="en-US" altLang="zh-CN">
              <a:latin typeface="Arial" charset="0"/>
              <a:ea typeface="黑体" pitchFamily="2" charset="-122"/>
            </a:endParaRPr>
          </a:p>
          <a:p>
            <a:pPr lvl="2"/>
            <a:r>
              <a:rPr lang="zh-CN" altLang="en-US">
                <a:latin typeface="Arial" charset="0"/>
                <a:ea typeface="黑体" pitchFamily="2" charset="-122"/>
              </a:rPr>
              <a:t>可使用并查集技术加快判断速度</a:t>
            </a:r>
          </a:p>
        </p:txBody>
      </p:sp>
      <p:sp>
        <p:nvSpPr>
          <p:cNvPr id="37892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fld id="{236FF8B1-7B99-43EE-B1BE-8556778510A4}" type="slidenum">
              <a:rPr lang="en-US" altLang="zh-CN" smtClean="0">
                <a:solidFill>
                  <a:srgbClr val="006600"/>
                </a:solidFill>
                <a:latin typeface="Courier New" pitchFamily="49" charset="0"/>
                <a:ea typeface="华文新魏" pitchFamily="2" charset="-122"/>
              </a:rPr>
              <a:pPr eaLnBrk="1" hangingPunct="1"/>
              <a:t>32</a:t>
            </a:fld>
            <a:endParaRPr lang="en-US" altLang="zh-CN">
              <a:solidFill>
                <a:srgbClr val="006600"/>
              </a:solidFill>
              <a:latin typeface="Courier New" pitchFamily="49" charset="0"/>
              <a:ea typeface="华文新魏" pitchFamily="2" charset="-122"/>
            </a:endParaRPr>
          </a:p>
        </p:txBody>
      </p:sp>
      <p:sp>
        <p:nvSpPr>
          <p:cNvPr id="37893" name="TextBox 39"/>
          <p:cNvSpPr txBox="1">
            <a:spLocks noChangeArrowheads="1"/>
          </p:cNvSpPr>
          <p:nvPr/>
        </p:nvSpPr>
        <p:spPr bwMode="auto">
          <a:xfrm>
            <a:off x="2636838" y="3830638"/>
            <a:ext cx="9794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b="1">
                <a:solidFill>
                  <a:srgbClr val="C00000"/>
                </a:solidFill>
                <a:ea typeface="黑体" pitchFamily="2" charset="-122"/>
              </a:rPr>
              <a:t>10 (0,5)</a:t>
            </a:r>
          </a:p>
        </p:txBody>
      </p:sp>
      <p:sp>
        <p:nvSpPr>
          <p:cNvPr id="37894" name="矩形 40"/>
          <p:cNvSpPr>
            <a:spLocks noChangeArrowheads="1"/>
          </p:cNvSpPr>
          <p:nvPr/>
        </p:nvSpPr>
        <p:spPr bwMode="auto">
          <a:xfrm>
            <a:off x="2636838" y="4154488"/>
            <a:ext cx="9794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b="1">
                <a:solidFill>
                  <a:srgbClr val="C00000"/>
                </a:solidFill>
                <a:ea typeface="黑体" pitchFamily="2" charset="-122"/>
              </a:rPr>
              <a:t>12 (2,3)</a:t>
            </a:r>
          </a:p>
        </p:txBody>
      </p:sp>
      <p:sp>
        <p:nvSpPr>
          <p:cNvPr id="37895" name="矩形 41"/>
          <p:cNvSpPr>
            <a:spLocks noChangeArrowheads="1"/>
          </p:cNvSpPr>
          <p:nvPr/>
        </p:nvSpPr>
        <p:spPr bwMode="auto">
          <a:xfrm>
            <a:off x="2636838" y="4451350"/>
            <a:ext cx="9794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b="1">
                <a:solidFill>
                  <a:srgbClr val="000099"/>
                </a:solidFill>
                <a:ea typeface="黑体" pitchFamily="2" charset="-122"/>
              </a:rPr>
              <a:t>14 (1,6)</a:t>
            </a:r>
          </a:p>
        </p:txBody>
      </p:sp>
      <p:sp>
        <p:nvSpPr>
          <p:cNvPr id="37896" name="矩形 42"/>
          <p:cNvSpPr>
            <a:spLocks noChangeArrowheads="1"/>
          </p:cNvSpPr>
          <p:nvPr/>
        </p:nvSpPr>
        <p:spPr bwMode="auto">
          <a:xfrm>
            <a:off x="2636838" y="4779963"/>
            <a:ext cx="9794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b="1">
                <a:solidFill>
                  <a:srgbClr val="000099"/>
                </a:solidFill>
                <a:ea typeface="黑体" pitchFamily="2" charset="-122"/>
              </a:rPr>
              <a:t>16 (1,2)</a:t>
            </a:r>
          </a:p>
        </p:txBody>
      </p:sp>
      <p:sp>
        <p:nvSpPr>
          <p:cNvPr id="37897" name="矩形 43"/>
          <p:cNvSpPr>
            <a:spLocks noChangeArrowheads="1"/>
          </p:cNvSpPr>
          <p:nvPr/>
        </p:nvSpPr>
        <p:spPr bwMode="auto">
          <a:xfrm>
            <a:off x="2636838" y="5108575"/>
            <a:ext cx="9794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b="1">
                <a:solidFill>
                  <a:srgbClr val="000099"/>
                </a:solidFill>
                <a:ea typeface="黑体" pitchFamily="2" charset="-122"/>
              </a:rPr>
              <a:t>18 (3,6)</a:t>
            </a:r>
          </a:p>
        </p:txBody>
      </p:sp>
      <p:sp>
        <p:nvSpPr>
          <p:cNvPr id="37898" name="矩形 44"/>
          <p:cNvSpPr>
            <a:spLocks noChangeArrowheads="1"/>
          </p:cNvSpPr>
          <p:nvPr/>
        </p:nvSpPr>
        <p:spPr bwMode="auto">
          <a:xfrm>
            <a:off x="2636838" y="5437188"/>
            <a:ext cx="9794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b="1">
                <a:solidFill>
                  <a:srgbClr val="000099"/>
                </a:solidFill>
                <a:ea typeface="黑体" pitchFamily="2" charset="-122"/>
              </a:rPr>
              <a:t>22 (3,4)</a:t>
            </a:r>
          </a:p>
        </p:txBody>
      </p:sp>
      <p:sp>
        <p:nvSpPr>
          <p:cNvPr id="37899" name="矩形 45"/>
          <p:cNvSpPr>
            <a:spLocks noChangeArrowheads="1"/>
          </p:cNvSpPr>
          <p:nvPr/>
        </p:nvSpPr>
        <p:spPr bwMode="auto">
          <a:xfrm>
            <a:off x="2636838" y="5765800"/>
            <a:ext cx="9794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b="1">
                <a:solidFill>
                  <a:srgbClr val="000099"/>
                </a:solidFill>
                <a:ea typeface="黑体" pitchFamily="2" charset="-122"/>
              </a:rPr>
              <a:t>24 (4,6)</a:t>
            </a:r>
          </a:p>
        </p:txBody>
      </p:sp>
      <p:sp>
        <p:nvSpPr>
          <p:cNvPr id="37900" name="矩形 46"/>
          <p:cNvSpPr>
            <a:spLocks noChangeArrowheads="1"/>
          </p:cNvSpPr>
          <p:nvPr/>
        </p:nvSpPr>
        <p:spPr bwMode="auto">
          <a:xfrm>
            <a:off x="2636838" y="6094413"/>
            <a:ext cx="9794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b="1">
                <a:solidFill>
                  <a:srgbClr val="000099"/>
                </a:solidFill>
                <a:ea typeface="黑体" pitchFamily="2" charset="-122"/>
              </a:rPr>
              <a:t>25 (4,5)</a:t>
            </a:r>
            <a:endParaRPr lang="zh-CN" altLang="en-US" b="1">
              <a:solidFill>
                <a:srgbClr val="000099"/>
              </a:solidFill>
              <a:ea typeface="黑体" pitchFamily="2" charset="-122"/>
            </a:endParaRPr>
          </a:p>
        </p:txBody>
      </p:sp>
      <p:sp>
        <p:nvSpPr>
          <p:cNvPr id="37901" name="TextBox 47"/>
          <p:cNvSpPr txBox="1">
            <a:spLocks noChangeArrowheads="1"/>
          </p:cNvSpPr>
          <p:nvPr/>
        </p:nvSpPr>
        <p:spPr bwMode="auto">
          <a:xfrm>
            <a:off x="5338763" y="4592638"/>
            <a:ext cx="11239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zh-CN" altLang="en-US" b="1">
                <a:solidFill>
                  <a:srgbClr val="000099"/>
                </a:solidFill>
                <a:ea typeface="黑体" pitchFamily="2" charset="-122"/>
              </a:rPr>
              <a:t>取边</a:t>
            </a:r>
            <a:r>
              <a:rPr lang="en-US" altLang="zh-CN" b="1">
                <a:solidFill>
                  <a:srgbClr val="000099"/>
                </a:solidFill>
                <a:ea typeface="黑体" pitchFamily="2" charset="-122"/>
              </a:rPr>
              <a:t>(2,3)</a:t>
            </a:r>
            <a:endParaRPr lang="zh-CN" altLang="en-US" b="1">
              <a:solidFill>
                <a:srgbClr val="000099"/>
              </a:solidFill>
              <a:ea typeface="黑体" pitchFamily="2" charset="-122"/>
            </a:endParaRPr>
          </a:p>
        </p:txBody>
      </p:sp>
      <p:grpSp>
        <p:nvGrpSpPr>
          <p:cNvPr id="37902" name="组合 70"/>
          <p:cNvGrpSpPr>
            <a:grpSpLocks/>
          </p:cNvGrpSpPr>
          <p:nvPr/>
        </p:nvGrpSpPr>
        <p:grpSpPr bwMode="auto">
          <a:xfrm>
            <a:off x="4040188" y="3502025"/>
            <a:ext cx="3049587" cy="1073150"/>
            <a:chOff x="4039978" y="3502026"/>
            <a:chExt cx="3049205" cy="1073160"/>
          </a:xfrm>
        </p:grpSpPr>
        <p:sp>
          <p:nvSpPr>
            <p:cNvPr id="37929" name="Oval 14" descr="羊皮纸"/>
            <p:cNvSpPr>
              <a:spLocks noChangeArrowheads="1"/>
            </p:cNvSpPr>
            <p:nvPr/>
          </p:nvSpPr>
          <p:spPr bwMode="auto">
            <a:xfrm>
              <a:off x="4039978" y="4232286"/>
              <a:ext cx="326403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  <a:round/>
              <a:headEnd/>
              <a:tailEnd/>
            </a:ln>
          </p:spPr>
          <p:txBody>
            <a:bodyPr wrap="none" lIns="72000" tIns="54000" rIns="72000" bIns="54000" anchor="ctr"/>
            <a:lstStyle/>
            <a:p>
              <a:pPr algn="ctr"/>
              <a:r>
                <a:rPr kumimoji="1" lang="en-US" altLang="zh-CN" sz="2400" b="1">
                  <a:solidFill>
                    <a:schemeClr val="bg2"/>
                  </a:solidFill>
                  <a:latin typeface="Times New Roman" pitchFamily="18" charset="0"/>
                </a:rPr>
                <a:t>5</a:t>
              </a:r>
              <a:endParaRPr kumimoji="1" lang="en-US" altLang="zh-CN" sz="240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sp>
          <p:nvSpPr>
            <p:cNvPr id="37930" name="Oval 15" descr="羊皮纸"/>
            <p:cNvSpPr>
              <a:spLocks noChangeArrowheads="1"/>
            </p:cNvSpPr>
            <p:nvPr/>
          </p:nvSpPr>
          <p:spPr bwMode="auto">
            <a:xfrm>
              <a:off x="4039978" y="3502026"/>
              <a:ext cx="326403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  <a:round/>
              <a:headEnd/>
              <a:tailEnd/>
            </a:ln>
          </p:spPr>
          <p:txBody>
            <a:bodyPr wrap="none" lIns="72000" tIns="54000" rIns="72000" bIns="54000" anchor="ctr"/>
            <a:lstStyle/>
            <a:p>
              <a:pPr algn="ctr"/>
              <a:r>
                <a:rPr kumimoji="1" lang="en-US" altLang="zh-CN" sz="2400" b="1">
                  <a:solidFill>
                    <a:schemeClr val="bg2"/>
                  </a:solidFill>
                  <a:latin typeface="Times New Roman" pitchFamily="18" charset="0"/>
                </a:rPr>
                <a:t>0</a:t>
              </a:r>
              <a:endParaRPr kumimoji="1" lang="en-US" altLang="zh-CN" sz="240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sp>
          <p:nvSpPr>
            <p:cNvPr id="37931" name="Oval 16" descr="羊皮纸"/>
            <p:cNvSpPr>
              <a:spLocks noChangeArrowheads="1"/>
            </p:cNvSpPr>
            <p:nvPr/>
          </p:nvSpPr>
          <p:spPr bwMode="auto">
            <a:xfrm>
              <a:off x="6762780" y="3502026"/>
              <a:ext cx="326403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  <a:round/>
              <a:headEnd/>
              <a:tailEnd/>
            </a:ln>
          </p:spPr>
          <p:txBody>
            <a:bodyPr wrap="none" lIns="72000" tIns="54000" rIns="72000" bIns="54000" anchor="ctr"/>
            <a:lstStyle/>
            <a:p>
              <a:pPr algn="ctr"/>
              <a:r>
                <a:rPr kumimoji="1" lang="en-US" altLang="zh-CN" sz="2400" b="1">
                  <a:solidFill>
                    <a:schemeClr val="bg2"/>
                  </a:solidFill>
                  <a:latin typeface="Times New Roman" pitchFamily="18" charset="0"/>
                </a:rPr>
                <a:t>6</a:t>
              </a:r>
              <a:endParaRPr kumimoji="1" lang="en-US" altLang="zh-CN" sz="240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sp>
          <p:nvSpPr>
            <p:cNvPr id="37932" name="Oval 17" descr="羊皮纸"/>
            <p:cNvSpPr>
              <a:spLocks noChangeArrowheads="1"/>
            </p:cNvSpPr>
            <p:nvPr/>
          </p:nvSpPr>
          <p:spPr bwMode="auto">
            <a:xfrm>
              <a:off x="5375286" y="4232286"/>
              <a:ext cx="326403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  <a:round/>
              <a:headEnd/>
              <a:tailEnd/>
            </a:ln>
          </p:spPr>
          <p:txBody>
            <a:bodyPr wrap="none" lIns="72000" tIns="54000" rIns="72000" bIns="54000" anchor="ctr"/>
            <a:lstStyle/>
            <a:p>
              <a:pPr algn="ctr"/>
              <a:r>
                <a:rPr kumimoji="1" lang="en-US" altLang="zh-CN" sz="2400" b="1">
                  <a:solidFill>
                    <a:schemeClr val="bg2"/>
                  </a:solidFill>
                  <a:latin typeface="Times New Roman" pitchFamily="18" charset="0"/>
                </a:rPr>
                <a:t>3</a:t>
              </a:r>
              <a:endParaRPr kumimoji="1" lang="en-US" altLang="zh-CN" sz="240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sp>
          <p:nvSpPr>
            <p:cNvPr id="37933" name="Oval 18" descr="羊皮纸"/>
            <p:cNvSpPr>
              <a:spLocks noChangeArrowheads="1"/>
            </p:cNvSpPr>
            <p:nvPr/>
          </p:nvSpPr>
          <p:spPr bwMode="auto">
            <a:xfrm>
              <a:off x="4681539" y="3502026"/>
              <a:ext cx="326403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  <a:round/>
              <a:headEnd/>
              <a:tailEnd/>
            </a:ln>
          </p:spPr>
          <p:txBody>
            <a:bodyPr wrap="none" lIns="72000" tIns="54000" rIns="72000" bIns="54000" anchor="ctr"/>
            <a:lstStyle/>
            <a:p>
              <a:pPr algn="ctr"/>
              <a:r>
                <a:rPr kumimoji="1" lang="en-US" altLang="zh-CN" sz="2400" b="1">
                  <a:solidFill>
                    <a:schemeClr val="bg2"/>
                  </a:solidFill>
                  <a:latin typeface="Times New Roman" pitchFamily="18" charset="0"/>
                </a:rPr>
                <a:t>1</a:t>
              </a:r>
              <a:endParaRPr kumimoji="1" lang="en-US" altLang="zh-CN" sz="240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sp>
          <p:nvSpPr>
            <p:cNvPr id="37934" name="Oval 19" descr="羊皮纸"/>
            <p:cNvSpPr>
              <a:spLocks noChangeArrowheads="1"/>
            </p:cNvSpPr>
            <p:nvPr/>
          </p:nvSpPr>
          <p:spPr bwMode="auto">
            <a:xfrm>
              <a:off x="6069033" y="3502026"/>
              <a:ext cx="326403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  <a:round/>
              <a:headEnd/>
              <a:tailEnd/>
            </a:ln>
          </p:spPr>
          <p:txBody>
            <a:bodyPr wrap="none" lIns="72000" tIns="54000" rIns="72000" bIns="54000" anchor="ctr"/>
            <a:lstStyle/>
            <a:p>
              <a:pPr algn="ctr"/>
              <a:r>
                <a:rPr kumimoji="1" lang="en-US" altLang="zh-CN" sz="2400" b="1">
                  <a:solidFill>
                    <a:schemeClr val="bg2"/>
                  </a:solidFill>
                  <a:latin typeface="Times New Roman" pitchFamily="18" charset="0"/>
                </a:rPr>
                <a:t>4</a:t>
              </a:r>
              <a:endParaRPr kumimoji="1" lang="en-US" altLang="zh-CN" sz="240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sp>
          <p:nvSpPr>
            <p:cNvPr id="37935" name="Oval 20" descr="羊皮纸"/>
            <p:cNvSpPr>
              <a:spLocks noChangeArrowheads="1"/>
            </p:cNvSpPr>
            <p:nvPr/>
          </p:nvSpPr>
          <p:spPr bwMode="auto">
            <a:xfrm flipH="1">
              <a:off x="5375286" y="3502026"/>
              <a:ext cx="326403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  <a:round/>
              <a:headEnd/>
              <a:tailEnd/>
            </a:ln>
          </p:spPr>
          <p:txBody>
            <a:bodyPr wrap="none" lIns="72000" tIns="54000" rIns="72000" bIns="54000" anchor="ctr"/>
            <a:lstStyle/>
            <a:p>
              <a:pPr algn="ctr"/>
              <a:r>
                <a:rPr kumimoji="1" lang="en-US" altLang="zh-CN" sz="2400" b="1">
                  <a:solidFill>
                    <a:schemeClr val="bg2"/>
                  </a:solidFill>
                  <a:latin typeface="Times New Roman" pitchFamily="18" charset="0"/>
                </a:rPr>
                <a:t>2</a:t>
              </a:r>
              <a:endParaRPr kumimoji="1" lang="en-US" altLang="zh-CN" sz="240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cxnSp>
          <p:nvCxnSpPr>
            <p:cNvPr id="68" name="直接箭头连接符 67"/>
            <p:cNvCxnSpPr>
              <a:stCxn id="37929" idx="0"/>
              <a:endCxn id="37930" idx="4"/>
            </p:cNvCxnSpPr>
            <p:nvPr/>
          </p:nvCxnSpPr>
          <p:spPr>
            <a:xfrm rot="5400000" flipH="1" flipV="1">
              <a:off x="4008206" y="4038606"/>
              <a:ext cx="388942" cy="1587"/>
            </a:xfrm>
            <a:prstGeom prst="straightConnector1">
              <a:avLst/>
            </a:prstGeom>
            <a:ln w="25400">
              <a:solidFill>
                <a:schemeClr val="bg2">
                  <a:lumMod val="40000"/>
                  <a:lumOff val="6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箭头连接符 69"/>
            <p:cNvCxnSpPr>
              <a:stCxn id="37932" idx="0"/>
              <a:endCxn id="37935" idx="4"/>
            </p:cNvCxnSpPr>
            <p:nvPr/>
          </p:nvCxnSpPr>
          <p:spPr>
            <a:xfrm rot="16200000" flipV="1">
              <a:off x="5344713" y="4038606"/>
              <a:ext cx="387354" cy="0"/>
            </a:xfrm>
            <a:prstGeom prst="straightConnector1">
              <a:avLst/>
            </a:prstGeom>
            <a:ln w="25400">
              <a:solidFill>
                <a:schemeClr val="bg2">
                  <a:lumMod val="40000"/>
                  <a:lumOff val="6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903" name="组合 4"/>
          <p:cNvGrpSpPr>
            <a:grpSpLocks/>
          </p:cNvGrpSpPr>
          <p:nvPr/>
        </p:nvGrpSpPr>
        <p:grpSpPr bwMode="auto">
          <a:xfrm>
            <a:off x="373063" y="3535363"/>
            <a:ext cx="1958975" cy="2081212"/>
            <a:chOff x="738135" y="2256382"/>
            <a:chExt cx="1958416" cy="2081241"/>
          </a:xfrm>
        </p:grpSpPr>
        <p:sp>
          <p:nvSpPr>
            <p:cNvPr id="37904" name="Text Box 21"/>
            <p:cNvSpPr txBox="1">
              <a:spLocks noChangeArrowheads="1"/>
            </p:cNvSpPr>
            <p:nvPr/>
          </p:nvSpPr>
          <p:spPr bwMode="auto">
            <a:xfrm>
              <a:off x="1504908" y="2256382"/>
              <a:ext cx="41549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 eaLnBrk="1" hangingPunct="1"/>
              <a:r>
                <a:rPr kumimoji="1" lang="en-US" altLang="zh-CN" b="1">
                  <a:solidFill>
                    <a:srgbClr val="C00000"/>
                  </a:solidFill>
                  <a:latin typeface="Times New Roman" pitchFamily="18" charset="0"/>
                </a:rPr>
                <a:t>28</a:t>
              </a:r>
              <a:endParaRPr kumimoji="1" lang="en-US" altLang="zh-CN">
                <a:solidFill>
                  <a:srgbClr val="C00000"/>
                </a:solidFill>
                <a:latin typeface="Times New Roman" pitchFamily="18" charset="0"/>
              </a:endParaRPr>
            </a:p>
          </p:txBody>
        </p:sp>
        <p:grpSp>
          <p:nvGrpSpPr>
            <p:cNvPr id="37905" name="组合 47"/>
            <p:cNvGrpSpPr>
              <a:grpSpLocks/>
            </p:cNvGrpSpPr>
            <p:nvPr/>
          </p:nvGrpSpPr>
          <p:grpSpPr bwMode="auto">
            <a:xfrm>
              <a:off x="738135" y="2368857"/>
              <a:ext cx="1958416" cy="1903314"/>
              <a:chOff x="738135" y="2598723"/>
              <a:chExt cx="1958416" cy="1903314"/>
            </a:xfrm>
          </p:grpSpPr>
          <p:sp>
            <p:nvSpPr>
              <p:cNvPr id="53" name="Line 6"/>
              <p:cNvSpPr>
                <a:spLocks noChangeShapeType="1"/>
              </p:cNvSpPr>
              <p:nvPr/>
            </p:nvSpPr>
            <p:spPr bwMode="auto">
              <a:xfrm>
                <a:off x="1336451" y="2770414"/>
                <a:ext cx="815742" cy="0"/>
              </a:xfrm>
              <a:prstGeom prst="line">
                <a:avLst/>
              </a:prstGeom>
              <a:noFill/>
              <a:ln w="28575">
                <a:solidFill>
                  <a:schemeClr val="bg2">
                    <a:lumMod val="60000"/>
                    <a:lumOff val="40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chemeClr val="bg2"/>
                  </a:solidFill>
                  <a:ea typeface="宋体" pitchFamily="2" charset="-122"/>
                </a:endParaRPr>
              </a:p>
            </p:txBody>
          </p:sp>
          <p:sp>
            <p:nvSpPr>
              <p:cNvPr id="54" name="Line 7"/>
              <p:cNvSpPr>
                <a:spLocks noChangeShapeType="1"/>
              </p:cNvSpPr>
              <p:nvPr/>
            </p:nvSpPr>
            <p:spPr bwMode="auto">
              <a:xfrm>
                <a:off x="1336451" y="4199185"/>
                <a:ext cx="815742" cy="0"/>
              </a:xfrm>
              <a:prstGeom prst="line">
                <a:avLst/>
              </a:prstGeom>
              <a:noFill/>
              <a:ln w="28575">
                <a:solidFill>
                  <a:schemeClr val="bg2">
                    <a:lumMod val="60000"/>
                    <a:lumOff val="40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chemeClr val="bg2"/>
                  </a:solidFill>
                  <a:ea typeface="宋体" pitchFamily="2" charset="-122"/>
                </a:endParaRPr>
              </a:p>
            </p:txBody>
          </p:sp>
          <p:sp>
            <p:nvSpPr>
              <p:cNvPr id="55" name="Line 8"/>
              <p:cNvSpPr>
                <a:spLocks noChangeShapeType="1"/>
              </p:cNvSpPr>
              <p:nvPr/>
            </p:nvSpPr>
            <p:spPr bwMode="auto">
              <a:xfrm flipH="1" flipV="1">
                <a:off x="1717343" y="3570526"/>
                <a:ext cx="326932" cy="514357"/>
              </a:xfrm>
              <a:prstGeom prst="line">
                <a:avLst/>
              </a:prstGeom>
              <a:noFill/>
              <a:ln w="28575">
                <a:solidFill>
                  <a:schemeClr val="bg2">
                    <a:lumMod val="60000"/>
                    <a:lumOff val="40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chemeClr val="bg2"/>
                  </a:solidFill>
                  <a:ea typeface="宋体" pitchFamily="2" charset="-122"/>
                </a:endParaRPr>
              </a:p>
            </p:txBody>
          </p:sp>
          <p:sp>
            <p:nvSpPr>
              <p:cNvPr id="37909" name="Line 9"/>
              <p:cNvSpPr>
                <a:spLocks noChangeShapeType="1"/>
              </p:cNvSpPr>
              <p:nvPr/>
            </p:nvSpPr>
            <p:spPr bwMode="auto">
              <a:xfrm flipH="1">
                <a:off x="2152193" y="3570526"/>
                <a:ext cx="326932" cy="628659"/>
              </a:xfrm>
              <a:prstGeom prst="line">
                <a:avLst/>
              </a:prstGeom>
              <a:noFill/>
              <a:ln w="508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7" name="Line 10"/>
              <p:cNvSpPr>
                <a:spLocks noChangeShapeType="1"/>
              </p:cNvSpPr>
              <p:nvPr/>
            </p:nvSpPr>
            <p:spPr bwMode="auto">
              <a:xfrm>
                <a:off x="2152193" y="2827565"/>
                <a:ext cx="326932" cy="628659"/>
              </a:xfrm>
              <a:prstGeom prst="line">
                <a:avLst/>
              </a:prstGeom>
              <a:noFill/>
              <a:ln w="28575">
                <a:solidFill>
                  <a:schemeClr val="bg2">
                    <a:lumMod val="60000"/>
                    <a:lumOff val="40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chemeClr val="bg2"/>
                  </a:solidFill>
                  <a:ea typeface="宋体" pitchFamily="2" charset="-122"/>
                </a:endParaRPr>
              </a:p>
            </p:txBody>
          </p:sp>
          <p:sp>
            <p:nvSpPr>
              <p:cNvPr id="58" name="Line 11"/>
              <p:cNvSpPr>
                <a:spLocks noChangeShapeType="1"/>
              </p:cNvSpPr>
              <p:nvPr/>
            </p:nvSpPr>
            <p:spPr bwMode="auto">
              <a:xfrm flipV="1">
                <a:off x="1390411" y="2770414"/>
                <a:ext cx="707823" cy="1371619"/>
              </a:xfrm>
              <a:prstGeom prst="line">
                <a:avLst/>
              </a:prstGeom>
              <a:noFill/>
              <a:ln w="28575">
                <a:solidFill>
                  <a:schemeClr val="bg2">
                    <a:lumMod val="60000"/>
                    <a:lumOff val="40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chemeClr val="bg2"/>
                  </a:solidFill>
                  <a:ea typeface="宋体" pitchFamily="2" charset="-122"/>
                </a:endParaRPr>
              </a:p>
            </p:txBody>
          </p:sp>
          <p:sp>
            <p:nvSpPr>
              <p:cNvPr id="59" name="Line 12"/>
              <p:cNvSpPr>
                <a:spLocks noChangeShapeType="1"/>
              </p:cNvSpPr>
              <p:nvPr/>
            </p:nvSpPr>
            <p:spPr bwMode="auto">
              <a:xfrm>
                <a:off x="955560" y="3570526"/>
                <a:ext cx="326932" cy="628659"/>
              </a:xfrm>
              <a:prstGeom prst="line">
                <a:avLst/>
              </a:prstGeom>
              <a:noFill/>
              <a:ln w="28575">
                <a:solidFill>
                  <a:schemeClr val="bg2">
                    <a:lumMod val="60000"/>
                    <a:lumOff val="40000"/>
                  </a:schemeClr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defRPr/>
                </a:pPr>
                <a:endParaRPr lang="zh-CN" altLang="en-US" sz="2400">
                  <a:solidFill>
                    <a:schemeClr val="bg2"/>
                  </a:solidFill>
                  <a:ea typeface="宋体" pitchFamily="2" charset="-122"/>
                </a:endParaRPr>
              </a:p>
            </p:txBody>
          </p:sp>
          <p:sp>
            <p:nvSpPr>
              <p:cNvPr id="37913" name="Line 13"/>
              <p:cNvSpPr>
                <a:spLocks noChangeShapeType="1"/>
              </p:cNvSpPr>
              <p:nvPr/>
            </p:nvSpPr>
            <p:spPr bwMode="auto">
              <a:xfrm flipH="1">
                <a:off x="901600" y="2827565"/>
                <a:ext cx="326932" cy="628659"/>
              </a:xfrm>
              <a:prstGeom prst="line">
                <a:avLst/>
              </a:prstGeom>
              <a:noFill/>
              <a:ln w="50800">
                <a:solidFill>
                  <a:srgbClr val="C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914" name="Oval 14" descr="羊皮纸"/>
              <p:cNvSpPr>
                <a:spLocks noChangeArrowheads="1"/>
              </p:cNvSpPr>
              <p:nvPr/>
            </p:nvSpPr>
            <p:spPr bwMode="auto">
              <a:xfrm>
                <a:off x="738135" y="3341672"/>
                <a:ext cx="326403" cy="3429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lIns="72000" tIns="54000" rIns="72000" bIns="54000" anchor="ctr"/>
              <a:lstStyle/>
              <a:p>
                <a:pPr algn="ctr"/>
                <a:r>
                  <a:rPr kumimoji="1" lang="en-US" altLang="zh-CN" sz="2400" b="1">
                    <a:solidFill>
                      <a:schemeClr val="bg2"/>
                    </a:solidFill>
                    <a:latin typeface="Times New Roman" pitchFamily="18" charset="0"/>
                  </a:rPr>
                  <a:t>5</a:t>
                </a:r>
                <a:endParaRPr kumimoji="1" lang="en-US" altLang="zh-CN" sz="2400">
                  <a:solidFill>
                    <a:schemeClr val="bg2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37915" name="Oval 15" descr="羊皮纸"/>
              <p:cNvSpPr>
                <a:spLocks noChangeArrowheads="1"/>
              </p:cNvSpPr>
              <p:nvPr/>
            </p:nvSpPr>
            <p:spPr bwMode="auto">
              <a:xfrm>
                <a:off x="1118938" y="2598723"/>
                <a:ext cx="326403" cy="3429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lIns="72000" tIns="54000" rIns="72000" bIns="54000" anchor="ctr"/>
              <a:lstStyle/>
              <a:p>
                <a:pPr algn="ctr"/>
                <a:r>
                  <a:rPr kumimoji="1" lang="en-US" altLang="zh-CN" sz="2400" b="1">
                    <a:solidFill>
                      <a:schemeClr val="bg2"/>
                    </a:solidFill>
                    <a:latin typeface="Times New Roman" pitchFamily="18" charset="0"/>
                  </a:rPr>
                  <a:t>0</a:t>
                </a:r>
                <a:endParaRPr kumimoji="1" lang="en-US" altLang="zh-CN" sz="2400">
                  <a:solidFill>
                    <a:schemeClr val="bg2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37916" name="Oval 16" descr="羊皮纸"/>
              <p:cNvSpPr>
                <a:spLocks noChangeArrowheads="1"/>
              </p:cNvSpPr>
              <p:nvPr/>
            </p:nvSpPr>
            <p:spPr bwMode="auto">
              <a:xfrm>
                <a:off x="1118938" y="4027471"/>
                <a:ext cx="326403" cy="3429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lIns="72000" tIns="54000" rIns="72000" bIns="54000" anchor="ctr"/>
              <a:lstStyle/>
              <a:p>
                <a:pPr algn="ctr"/>
                <a:r>
                  <a:rPr kumimoji="1" lang="en-US" altLang="zh-CN" sz="2400" b="1">
                    <a:solidFill>
                      <a:schemeClr val="bg2"/>
                    </a:solidFill>
                    <a:latin typeface="Times New Roman" pitchFamily="18" charset="0"/>
                  </a:rPr>
                  <a:t>4</a:t>
                </a:r>
                <a:endParaRPr kumimoji="1" lang="en-US" altLang="zh-CN" sz="2400">
                  <a:solidFill>
                    <a:schemeClr val="bg2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37917" name="Oval 17" descr="羊皮纸"/>
              <p:cNvSpPr>
                <a:spLocks noChangeArrowheads="1"/>
              </p:cNvSpPr>
              <p:nvPr/>
            </p:nvSpPr>
            <p:spPr bwMode="auto">
              <a:xfrm>
                <a:off x="1554142" y="3341672"/>
                <a:ext cx="326403" cy="3429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lIns="72000" tIns="54000" rIns="72000" bIns="54000" anchor="ctr"/>
              <a:lstStyle/>
              <a:p>
                <a:pPr algn="ctr"/>
                <a:r>
                  <a:rPr kumimoji="1" lang="en-US" altLang="zh-CN" sz="2400" b="1">
                    <a:solidFill>
                      <a:schemeClr val="bg2"/>
                    </a:solidFill>
                    <a:latin typeface="Times New Roman" pitchFamily="18" charset="0"/>
                  </a:rPr>
                  <a:t>6</a:t>
                </a:r>
                <a:endParaRPr kumimoji="1" lang="en-US" altLang="zh-CN" sz="2400">
                  <a:solidFill>
                    <a:schemeClr val="bg2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37918" name="Oval 18" descr="羊皮纸"/>
              <p:cNvSpPr>
                <a:spLocks noChangeArrowheads="1"/>
              </p:cNvSpPr>
              <p:nvPr/>
            </p:nvSpPr>
            <p:spPr bwMode="auto">
              <a:xfrm>
                <a:off x="1934945" y="2598723"/>
                <a:ext cx="326403" cy="3429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lIns="72000" tIns="54000" rIns="72000" bIns="54000" anchor="ctr"/>
              <a:lstStyle/>
              <a:p>
                <a:pPr algn="ctr"/>
                <a:r>
                  <a:rPr kumimoji="1" lang="en-US" altLang="zh-CN" sz="2400" b="1">
                    <a:solidFill>
                      <a:schemeClr val="bg2"/>
                    </a:solidFill>
                    <a:latin typeface="Times New Roman" pitchFamily="18" charset="0"/>
                  </a:rPr>
                  <a:t>1</a:t>
                </a:r>
                <a:endParaRPr kumimoji="1" lang="en-US" altLang="zh-CN" sz="2400">
                  <a:solidFill>
                    <a:schemeClr val="bg2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37919" name="Oval 19" descr="羊皮纸"/>
              <p:cNvSpPr>
                <a:spLocks noChangeArrowheads="1"/>
              </p:cNvSpPr>
              <p:nvPr/>
            </p:nvSpPr>
            <p:spPr bwMode="auto">
              <a:xfrm>
                <a:off x="1934945" y="4027471"/>
                <a:ext cx="326403" cy="3429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lIns="72000" tIns="54000" rIns="72000" bIns="54000" anchor="ctr"/>
              <a:lstStyle/>
              <a:p>
                <a:pPr algn="ctr"/>
                <a:r>
                  <a:rPr kumimoji="1" lang="en-US" altLang="zh-CN" sz="2400" b="1">
                    <a:solidFill>
                      <a:schemeClr val="bg2"/>
                    </a:solidFill>
                    <a:latin typeface="Times New Roman" pitchFamily="18" charset="0"/>
                  </a:rPr>
                  <a:t>3</a:t>
                </a:r>
                <a:endParaRPr kumimoji="1" lang="en-US" altLang="zh-CN" sz="2400">
                  <a:solidFill>
                    <a:schemeClr val="bg2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37920" name="Oval 20" descr="羊皮纸"/>
              <p:cNvSpPr>
                <a:spLocks noChangeArrowheads="1"/>
              </p:cNvSpPr>
              <p:nvPr/>
            </p:nvSpPr>
            <p:spPr bwMode="auto">
              <a:xfrm flipH="1">
                <a:off x="2370148" y="3341672"/>
                <a:ext cx="326403" cy="3429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lIns="72000" tIns="54000" rIns="72000" bIns="54000" anchor="ctr"/>
              <a:lstStyle/>
              <a:p>
                <a:pPr algn="ctr"/>
                <a:r>
                  <a:rPr kumimoji="1" lang="en-US" altLang="zh-CN" sz="2400" b="1">
                    <a:solidFill>
                      <a:schemeClr val="bg2"/>
                    </a:solidFill>
                    <a:latin typeface="Times New Roman" pitchFamily="18" charset="0"/>
                  </a:rPr>
                  <a:t>2</a:t>
                </a:r>
                <a:endParaRPr kumimoji="1" lang="en-US" altLang="zh-CN" sz="2400">
                  <a:solidFill>
                    <a:schemeClr val="bg2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37921" name="Text Box 22"/>
              <p:cNvSpPr txBox="1">
                <a:spLocks noChangeArrowheads="1"/>
              </p:cNvSpPr>
              <p:nvPr/>
            </p:nvSpPr>
            <p:spPr bwMode="auto">
              <a:xfrm>
                <a:off x="738135" y="2846509"/>
                <a:ext cx="415498" cy="3640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b="1">
                    <a:solidFill>
                      <a:srgbClr val="C00000"/>
                    </a:solidFill>
                    <a:latin typeface="Times New Roman" pitchFamily="18" charset="0"/>
                  </a:rPr>
                  <a:t>10</a:t>
                </a:r>
                <a:endParaRPr kumimoji="1" lang="en-US" altLang="zh-CN">
                  <a:solidFill>
                    <a:srgbClr val="C0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37922" name="Text Box 23"/>
              <p:cNvSpPr txBox="1">
                <a:spLocks noChangeArrowheads="1"/>
              </p:cNvSpPr>
              <p:nvPr/>
            </p:nvSpPr>
            <p:spPr bwMode="auto">
              <a:xfrm>
                <a:off x="760793" y="3714404"/>
                <a:ext cx="415498" cy="3640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b="1">
                    <a:solidFill>
                      <a:srgbClr val="C00000"/>
                    </a:solidFill>
                    <a:latin typeface="Times New Roman" pitchFamily="18" charset="0"/>
                  </a:rPr>
                  <a:t>25</a:t>
                </a:r>
                <a:endParaRPr kumimoji="1" lang="en-US" altLang="zh-CN">
                  <a:solidFill>
                    <a:srgbClr val="C0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37923" name="Text Box 24"/>
              <p:cNvSpPr txBox="1">
                <a:spLocks noChangeArrowheads="1"/>
              </p:cNvSpPr>
              <p:nvPr/>
            </p:nvSpPr>
            <p:spPr bwMode="auto">
              <a:xfrm>
                <a:off x="1527566" y="2895188"/>
                <a:ext cx="415498" cy="3640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b="1">
                    <a:solidFill>
                      <a:srgbClr val="C00000"/>
                    </a:solidFill>
                    <a:latin typeface="Times New Roman" pitchFamily="18" charset="0"/>
                  </a:rPr>
                  <a:t>14</a:t>
                </a:r>
                <a:endParaRPr kumimoji="1" lang="en-US" altLang="zh-CN">
                  <a:solidFill>
                    <a:srgbClr val="C0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37924" name="Text Box 25"/>
              <p:cNvSpPr txBox="1">
                <a:spLocks noChangeArrowheads="1"/>
              </p:cNvSpPr>
              <p:nvPr/>
            </p:nvSpPr>
            <p:spPr bwMode="auto">
              <a:xfrm>
                <a:off x="1198949" y="3638284"/>
                <a:ext cx="415498" cy="3640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b="1">
                    <a:solidFill>
                      <a:srgbClr val="C00000"/>
                    </a:solidFill>
                    <a:latin typeface="Times New Roman" pitchFamily="18" charset="0"/>
                  </a:rPr>
                  <a:t>24</a:t>
                </a:r>
                <a:endParaRPr kumimoji="1" lang="en-US" altLang="zh-CN">
                  <a:solidFill>
                    <a:srgbClr val="C0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37925" name="Text Box 26"/>
              <p:cNvSpPr txBox="1">
                <a:spLocks noChangeArrowheads="1"/>
              </p:cNvSpPr>
              <p:nvPr/>
            </p:nvSpPr>
            <p:spPr bwMode="auto">
              <a:xfrm>
                <a:off x="1499741" y="4137998"/>
                <a:ext cx="415498" cy="3640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b="1">
                    <a:solidFill>
                      <a:srgbClr val="C00000"/>
                    </a:solidFill>
                    <a:latin typeface="Times New Roman" pitchFamily="18" charset="0"/>
                  </a:rPr>
                  <a:t>22</a:t>
                </a:r>
                <a:endParaRPr kumimoji="1" lang="en-US" altLang="zh-CN">
                  <a:solidFill>
                    <a:srgbClr val="C0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37926" name="Text Box 27"/>
              <p:cNvSpPr txBox="1">
                <a:spLocks noChangeArrowheads="1"/>
              </p:cNvSpPr>
              <p:nvPr/>
            </p:nvSpPr>
            <p:spPr bwMode="auto">
              <a:xfrm>
                <a:off x="2271681" y="2895188"/>
                <a:ext cx="415498" cy="3640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b="1">
                    <a:solidFill>
                      <a:srgbClr val="C00000"/>
                    </a:solidFill>
                    <a:latin typeface="Times New Roman" pitchFamily="18" charset="0"/>
                  </a:rPr>
                  <a:t>16</a:t>
                </a:r>
                <a:endParaRPr kumimoji="1" lang="en-US" altLang="zh-CN">
                  <a:solidFill>
                    <a:srgbClr val="C0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37927" name="Text Box 28"/>
              <p:cNvSpPr txBox="1">
                <a:spLocks noChangeArrowheads="1"/>
              </p:cNvSpPr>
              <p:nvPr/>
            </p:nvSpPr>
            <p:spPr bwMode="auto">
              <a:xfrm>
                <a:off x="1797012" y="3570271"/>
                <a:ext cx="415498" cy="3640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b="1">
                    <a:solidFill>
                      <a:srgbClr val="C00000"/>
                    </a:solidFill>
                    <a:latin typeface="Times New Roman" pitchFamily="18" charset="0"/>
                  </a:rPr>
                  <a:t>18</a:t>
                </a:r>
                <a:endParaRPr kumimoji="1" lang="en-US" altLang="zh-CN">
                  <a:solidFill>
                    <a:srgbClr val="C0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37928" name="Text Box 29"/>
              <p:cNvSpPr txBox="1">
                <a:spLocks noChangeArrowheads="1"/>
              </p:cNvSpPr>
              <p:nvPr/>
            </p:nvSpPr>
            <p:spPr bwMode="auto">
              <a:xfrm>
                <a:off x="2271681" y="3752437"/>
                <a:ext cx="415498" cy="3640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b="1">
                    <a:solidFill>
                      <a:srgbClr val="C00000"/>
                    </a:solidFill>
                    <a:latin typeface="Times New Roman" pitchFamily="18" charset="0"/>
                  </a:rPr>
                  <a:t>12</a:t>
                </a:r>
                <a:endParaRPr kumimoji="1" lang="en-US" altLang="zh-CN">
                  <a:solidFill>
                    <a:srgbClr val="C00000"/>
                  </a:solidFill>
                  <a:latin typeface="Times New Roman" pitchFamily="18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786833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最小生成树</a:t>
            </a:r>
          </a:p>
        </p:txBody>
      </p:sp>
      <p:sp>
        <p:nvSpPr>
          <p:cNvPr id="3891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>
                <a:latin typeface="Arial" charset="0"/>
                <a:ea typeface="黑体" pitchFamily="2" charset="-122"/>
              </a:rPr>
              <a:t>克鲁斯卡尔 </a:t>
            </a:r>
            <a:r>
              <a:rPr lang="en-US" altLang="zh-CN">
                <a:latin typeface="Arial" charset="0"/>
                <a:ea typeface="黑体" pitchFamily="2" charset="-122"/>
              </a:rPr>
              <a:t>(Kruskal) </a:t>
            </a:r>
            <a:r>
              <a:rPr lang="zh-CN" altLang="en-US">
                <a:latin typeface="Arial" charset="0"/>
                <a:ea typeface="黑体" pitchFamily="2" charset="-122"/>
              </a:rPr>
              <a:t>算法</a:t>
            </a:r>
            <a:endParaRPr lang="en-US" altLang="zh-CN">
              <a:latin typeface="Arial" charset="0"/>
              <a:ea typeface="黑体" pitchFamily="2" charset="-122"/>
            </a:endParaRPr>
          </a:p>
          <a:p>
            <a:pPr lvl="1"/>
            <a:r>
              <a:rPr lang="zh-CN" altLang="en-US">
                <a:latin typeface="Arial" charset="0"/>
                <a:ea typeface="黑体" pitchFamily="2" charset="-122"/>
              </a:rPr>
              <a:t>经常需要判断权值最小的边的两端是否属于不同连通分量</a:t>
            </a:r>
            <a:endParaRPr lang="en-US" altLang="zh-CN">
              <a:latin typeface="Arial" charset="0"/>
              <a:ea typeface="黑体" pitchFamily="2" charset="-122"/>
            </a:endParaRPr>
          </a:p>
          <a:p>
            <a:pPr lvl="2"/>
            <a:r>
              <a:rPr lang="zh-CN" altLang="en-US">
                <a:latin typeface="Arial" charset="0"/>
                <a:ea typeface="黑体" pitchFamily="2" charset="-122"/>
              </a:rPr>
              <a:t>可使用并查集技术加快判断速度</a:t>
            </a:r>
          </a:p>
        </p:txBody>
      </p:sp>
      <p:sp>
        <p:nvSpPr>
          <p:cNvPr id="38916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fld id="{1ECCBC8C-849B-452A-B5E4-EED830BDBB95}" type="slidenum">
              <a:rPr lang="en-US" altLang="zh-CN" smtClean="0">
                <a:solidFill>
                  <a:srgbClr val="006600"/>
                </a:solidFill>
                <a:latin typeface="Courier New" pitchFamily="49" charset="0"/>
                <a:ea typeface="华文新魏" pitchFamily="2" charset="-122"/>
              </a:rPr>
              <a:pPr eaLnBrk="1" hangingPunct="1"/>
              <a:t>33</a:t>
            </a:fld>
            <a:endParaRPr lang="en-US" altLang="zh-CN">
              <a:solidFill>
                <a:srgbClr val="006600"/>
              </a:solidFill>
              <a:latin typeface="Courier New" pitchFamily="49" charset="0"/>
              <a:ea typeface="华文新魏" pitchFamily="2" charset="-122"/>
            </a:endParaRPr>
          </a:p>
        </p:txBody>
      </p:sp>
      <p:sp>
        <p:nvSpPr>
          <p:cNvPr id="38917" name="TextBox 39"/>
          <p:cNvSpPr txBox="1">
            <a:spLocks noChangeArrowheads="1"/>
          </p:cNvSpPr>
          <p:nvPr/>
        </p:nvSpPr>
        <p:spPr bwMode="auto">
          <a:xfrm>
            <a:off x="2636838" y="3830638"/>
            <a:ext cx="9794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b="1">
                <a:solidFill>
                  <a:srgbClr val="C00000"/>
                </a:solidFill>
                <a:ea typeface="黑体" pitchFamily="2" charset="-122"/>
              </a:rPr>
              <a:t>10 (0,5)</a:t>
            </a:r>
          </a:p>
        </p:txBody>
      </p:sp>
      <p:sp>
        <p:nvSpPr>
          <p:cNvPr id="38918" name="矩形 40"/>
          <p:cNvSpPr>
            <a:spLocks noChangeArrowheads="1"/>
          </p:cNvSpPr>
          <p:nvPr/>
        </p:nvSpPr>
        <p:spPr bwMode="auto">
          <a:xfrm>
            <a:off x="2636838" y="4154488"/>
            <a:ext cx="9794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b="1">
                <a:solidFill>
                  <a:srgbClr val="C00000"/>
                </a:solidFill>
                <a:ea typeface="黑体" pitchFamily="2" charset="-122"/>
              </a:rPr>
              <a:t>12 (2,3)</a:t>
            </a:r>
          </a:p>
        </p:txBody>
      </p:sp>
      <p:sp>
        <p:nvSpPr>
          <p:cNvPr id="38919" name="矩形 41"/>
          <p:cNvSpPr>
            <a:spLocks noChangeArrowheads="1"/>
          </p:cNvSpPr>
          <p:nvPr/>
        </p:nvSpPr>
        <p:spPr bwMode="auto">
          <a:xfrm>
            <a:off x="2636838" y="4451350"/>
            <a:ext cx="9794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b="1">
                <a:solidFill>
                  <a:srgbClr val="C00000"/>
                </a:solidFill>
                <a:ea typeface="黑体" pitchFamily="2" charset="-122"/>
              </a:rPr>
              <a:t>14 (1,6)</a:t>
            </a:r>
          </a:p>
        </p:txBody>
      </p:sp>
      <p:sp>
        <p:nvSpPr>
          <p:cNvPr id="38920" name="矩形 42"/>
          <p:cNvSpPr>
            <a:spLocks noChangeArrowheads="1"/>
          </p:cNvSpPr>
          <p:nvPr/>
        </p:nvSpPr>
        <p:spPr bwMode="auto">
          <a:xfrm>
            <a:off x="2636838" y="4779963"/>
            <a:ext cx="9794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b="1">
                <a:solidFill>
                  <a:srgbClr val="000099"/>
                </a:solidFill>
                <a:ea typeface="黑体" pitchFamily="2" charset="-122"/>
              </a:rPr>
              <a:t>16 (1,2)</a:t>
            </a:r>
          </a:p>
        </p:txBody>
      </p:sp>
      <p:sp>
        <p:nvSpPr>
          <p:cNvPr id="38921" name="矩形 43"/>
          <p:cNvSpPr>
            <a:spLocks noChangeArrowheads="1"/>
          </p:cNvSpPr>
          <p:nvPr/>
        </p:nvSpPr>
        <p:spPr bwMode="auto">
          <a:xfrm>
            <a:off x="2636838" y="5108575"/>
            <a:ext cx="9794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b="1">
                <a:solidFill>
                  <a:srgbClr val="000099"/>
                </a:solidFill>
                <a:ea typeface="黑体" pitchFamily="2" charset="-122"/>
              </a:rPr>
              <a:t>18 (3,6)</a:t>
            </a:r>
          </a:p>
        </p:txBody>
      </p:sp>
      <p:sp>
        <p:nvSpPr>
          <p:cNvPr id="38922" name="矩形 44"/>
          <p:cNvSpPr>
            <a:spLocks noChangeArrowheads="1"/>
          </p:cNvSpPr>
          <p:nvPr/>
        </p:nvSpPr>
        <p:spPr bwMode="auto">
          <a:xfrm>
            <a:off x="2636838" y="5437188"/>
            <a:ext cx="9794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b="1">
                <a:solidFill>
                  <a:srgbClr val="000099"/>
                </a:solidFill>
                <a:ea typeface="黑体" pitchFamily="2" charset="-122"/>
              </a:rPr>
              <a:t>22 (3,4)</a:t>
            </a:r>
          </a:p>
        </p:txBody>
      </p:sp>
      <p:sp>
        <p:nvSpPr>
          <p:cNvPr id="38923" name="矩形 45"/>
          <p:cNvSpPr>
            <a:spLocks noChangeArrowheads="1"/>
          </p:cNvSpPr>
          <p:nvPr/>
        </p:nvSpPr>
        <p:spPr bwMode="auto">
          <a:xfrm>
            <a:off x="2636838" y="5765800"/>
            <a:ext cx="9794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b="1">
                <a:solidFill>
                  <a:srgbClr val="000099"/>
                </a:solidFill>
                <a:ea typeface="黑体" pitchFamily="2" charset="-122"/>
              </a:rPr>
              <a:t>24 (4,6)</a:t>
            </a:r>
          </a:p>
        </p:txBody>
      </p:sp>
      <p:sp>
        <p:nvSpPr>
          <p:cNvPr id="38924" name="矩形 46"/>
          <p:cNvSpPr>
            <a:spLocks noChangeArrowheads="1"/>
          </p:cNvSpPr>
          <p:nvPr/>
        </p:nvSpPr>
        <p:spPr bwMode="auto">
          <a:xfrm>
            <a:off x="2636838" y="6094413"/>
            <a:ext cx="9794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b="1">
                <a:solidFill>
                  <a:srgbClr val="000099"/>
                </a:solidFill>
                <a:ea typeface="黑体" pitchFamily="2" charset="-122"/>
              </a:rPr>
              <a:t>25 (4,5)</a:t>
            </a:r>
            <a:endParaRPr lang="zh-CN" altLang="en-US" b="1">
              <a:solidFill>
                <a:srgbClr val="000099"/>
              </a:solidFill>
              <a:ea typeface="黑体" pitchFamily="2" charset="-122"/>
            </a:endParaRPr>
          </a:p>
        </p:txBody>
      </p:sp>
      <p:sp>
        <p:nvSpPr>
          <p:cNvPr id="38925" name="TextBox 58"/>
          <p:cNvSpPr txBox="1">
            <a:spLocks noChangeArrowheads="1"/>
          </p:cNvSpPr>
          <p:nvPr/>
        </p:nvSpPr>
        <p:spPr bwMode="auto">
          <a:xfrm>
            <a:off x="5192713" y="4670425"/>
            <a:ext cx="11239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zh-CN" altLang="en-US" b="1">
                <a:solidFill>
                  <a:srgbClr val="000099"/>
                </a:solidFill>
                <a:ea typeface="黑体" pitchFamily="2" charset="-122"/>
              </a:rPr>
              <a:t>取边</a:t>
            </a:r>
            <a:r>
              <a:rPr lang="en-US" altLang="zh-CN" b="1">
                <a:solidFill>
                  <a:srgbClr val="000099"/>
                </a:solidFill>
                <a:ea typeface="黑体" pitchFamily="2" charset="-122"/>
              </a:rPr>
              <a:t>(1,6)</a:t>
            </a:r>
            <a:endParaRPr lang="zh-CN" altLang="en-US" b="1">
              <a:solidFill>
                <a:srgbClr val="000099"/>
              </a:solidFill>
              <a:ea typeface="黑体" pitchFamily="2" charset="-122"/>
            </a:endParaRPr>
          </a:p>
        </p:txBody>
      </p:sp>
      <p:grpSp>
        <p:nvGrpSpPr>
          <p:cNvPr id="38926" name="组合 83"/>
          <p:cNvGrpSpPr>
            <a:grpSpLocks/>
          </p:cNvGrpSpPr>
          <p:nvPr/>
        </p:nvGrpSpPr>
        <p:grpSpPr bwMode="auto">
          <a:xfrm>
            <a:off x="4040188" y="3502025"/>
            <a:ext cx="2355850" cy="1073150"/>
            <a:chOff x="4039978" y="5313393"/>
            <a:chExt cx="2355458" cy="1073160"/>
          </a:xfrm>
        </p:grpSpPr>
        <p:sp>
          <p:nvSpPr>
            <p:cNvPr id="38955" name="Oval 14" descr="羊皮纸"/>
            <p:cNvSpPr>
              <a:spLocks noChangeArrowheads="1"/>
            </p:cNvSpPr>
            <p:nvPr/>
          </p:nvSpPr>
          <p:spPr bwMode="auto">
            <a:xfrm>
              <a:off x="4039978" y="6043653"/>
              <a:ext cx="326403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  <a:round/>
              <a:headEnd/>
              <a:tailEnd/>
            </a:ln>
          </p:spPr>
          <p:txBody>
            <a:bodyPr wrap="none" lIns="72000" tIns="54000" rIns="72000" bIns="54000" anchor="ctr"/>
            <a:lstStyle/>
            <a:p>
              <a:pPr algn="ctr"/>
              <a:r>
                <a:rPr kumimoji="1" lang="en-US" altLang="zh-CN" sz="2400" b="1">
                  <a:solidFill>
                    <a:schemeClr val="bg2"/>
                  </a:solidFill>
                  <a:latin typeface="Times New Roman" pitchFamily="18" charset="0"/>
                </a:rPr>
                <a:t>5</a:t>
              </a:r>
              <a:endParaRPr kumimoji="1" lang="en-US" altLang="zh-CN" sz="240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sp>
          <p:nvSpPr>
            <p:cNvPr id="38956" name="Oval 15" descr="羊皮纸"/>
            <p:cNvSpPr>
              <a:spLocks noChangeArrowheads="1"/>
            </p:cNvSpPr>
            <p:nvPr/>
          </p:nvSpPr>
          <p:spPr bwMode="auto">
            <a:xfrm>
              <a:off x="4039978" y="5313393"/>
              <a:ext cx="326403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  <a:round/>
              <a:headEnd/>
              <a:tailEnd/>
            </a:ln>
          </p:spPr>
          <p:txBody>
            <a:bodyPr wrap="none" lIns="72000" tIns="54000" rIns="72000" bIns="54000" anchor="ctr"/>
            <a:lstStyle/>
            <a:p>
              <a:pPr algn="ctr"/>
              <a:r>
                <a:rPr kumimoji="1" lang="en-US" altLang="zh-CN" sz="2400" b="1">
                  <a:solidFill>
                    <a:schemeClr val="bg2"/>
                  </a:solidFill>
                  <a:latin typeface="Times New Roman" pitchFamily="18" charset="0"/>
                </a:rPr>
                <a:t>0</a:t>
              </a:r>
              <a:endParaRPr kumimoji="1" lang="en-US" altLang="zh-CN" sz="240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sp>
          <p:nvSpPr>
            <p:cNvPr id="38957" name="Oval 16" descr="羊皮纸"/>
            <p:cNvSpPr>
              <a:spLocks noChangeArrowheads="1"/>
            </p:cNvSpPr>
            <p:nvPr/>
          </p:nvSpPr>
          <p:spPr bwMode="auto">
            <a:xfrm>
              <a:off x="4681539" y="6043653"/>
              <a:ext cx="326403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  <a:round/>
              <a:headEnd/>
              <a:tailEnd/>
            </a:ln>
          </p:spPr>
          <p:txBody>
            <a:bodyPr wrap="none" lIns="72000" tIns="54000" rIns="72000" bIns="54000" anchor="ctr"/>
            <a:lstStyle/>
            <a:p>
              <a:pPr algn="ctr"/>
              <a:r>
                <a:rPr kumimoji="1" lang="en-US" altLang="zh-CN" sz="2400" b="1">
                  <a:solidFill>
                    <a:schemeClr val="bg2"/>
                  </a:solidFill>
                  <a:latin typeface="Times New Roman" pitchFamily="18" charset="0"/>
                </a:rPr>
                <a:t>6</a:t>
              </a:r>
              <a:endParaRPr kumimoji="1" lang="en-US" altLang="zh-CN" sz="240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sp>
          <p:nvSpPr>
            <p:cNvPr id="38958" name="Oval 17" descr="羊皮纸"/>
            <p:cNvSpPr>
              <a:spLocks noChangeArrowheads="1"/>
            </p:cNvSpPr>
            <p:nvPr/>
          </p:nvSpPr>
          <p:spPr bwMode="auto">
            <a:xfrm>
              <a:off x="5375286" y="6043653"/>
              <a:ext cx="326403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  <a:round/>
              <a:headEnd/>
              <a:tailEnd/>
            </a:ln>
          </p:spPr>
          <p:txBody>
            <a:bodyPr wrap="none" lIns="72000" tIns="54000" rIns="72000" bIns="54000" anchor="ctr"/>
            <a:lstStyle/>
            <a:p>
              <a:pPr algn="ctr"/>
              <a:r>
                <a:rPr kumimoji="1" lang="en-US" altLang="zh-CN" sz="2400" b="1">
                  <a:solidFill>
                    <a:schemeClr val="bg2"/>
                  </a:solidFill>
                  <a:latin typeface="Times New Roman" pitchFamily="18" charset="0"/>
                </a:rPr>
                <a:t>3</a:t>
              </a:r>
              <a:endParaRPr kumimoji="1" lang="en-US" altLang="zh-CN" sz="240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sp>
          <p:nvSpPr>
            <p:cNvPr id="38959" name="Oval 18" descr="羊皮纸"/>
            <p:cNvSpPr>
              <a:spLocks noChangeArrowheads="1"/>
            </p:cNvSpPr>
            <p:nvPr/>
          </p:nvSpPr>
          <p:spPr bwMode="auto">
            <a:xfrm>
              <a:off x="4681539" y="5313393"/>
              <a:ext cx="326403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  <a:round/>
              <a:headEnd/>
              <a:tailEnd/>
            </a:ln>
          </p:spPr>
          <p:txBody>
            <a:bodyPr wrap="none" lIns="72000" tIns="54000" rIns="72000" bIns="54000" anchor="ctr"/>
            <a:lstStyle/>
            <a:p>
              <a:pPr algn="ctr"/>
              <a:r>
                <a:rPr kumimoji="1" lang="en-US" altLang="zh-CN" sz="2400" b="1">
                  <a:solidFill>
                    <a:schemeClr val="bg2"/>
                  </a:solidFill>
                  <a:latin typeface="Times New Roman" pitchFamily="18" charset="0"/>
                </a:rPr>
                <a:t>1</a:t>
              </a:r>
              <a:endParaRPr kumimoji="1" lang="en-US" altLang="zh-CN" sz="240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sp>
          <p:nvSpPr>
            <p:cNvPr id="38960" name="Oval 19" descr="羊皮纸"/>
            <p:cNvSpPr>
              <a:spLocks noChangeArrowheads="1"/>
            </p:cNvSpPr>
            <p:nvPr/>
          </p:nvSpPr>
          <p:spPr bwMode="auto">
            <a:xfrm>
              <a:off x="6069033" y="5313393"/>
              <a:ext cx="326403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  <a:round/>
              <a:headEnd/>
              <a:tailEnd/>
            </a:ln>
          </p:spPr>
          <p:txBody>
            <a:bodyPr wrap="none" lIns="72000" tIns="54000" rIns="72000" bIns="54000" anchor="ctr"/>
            <a:lstStyle/>
            <a:p>
              <a:pPr algn="ctr"/>
              <a:r>
                <a:rPr kumimoji="1" lang="en-US" altLang="zh-CN" sz="2400" b="1">
                  <a:solidFill>
                    <a:schemeClr val="bg2"/>
                  </a:solidFill>
                  <a:latin typeface="Times New Roman" pitchFamily="18" charset="0"/>
                </a:rPr>
                <a:t>4</a:t>
              </a:r>
              <a:endParaRPr kumimoji="1" lang="en-US" altLang="zh-CN" sz="240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sp>
          <p:nvSpPr>
            <p:cNvPr id="38961" name="Oval 20" descr="羊皮纸"/>
            <p:cNvSpPr>
              <a:spLocks noChangeArrowheads="1"/>
            </p:cNvSpPr>
            <p:nvPr/>
          </p:nvSpPr>
          <p:spPr bwMode="auto">
            <a:xfrm flipH="1">
              <a:off x="5375286" y="5313393"/>
              <a:ext cx="326403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  <a:round/>
              <a:headEnd/>
              <a:tailEnd/>
            </a:ln>
          </p:spPr>
          <p:txBody>
            <a:bodyPr wrap="none" lIns="72000" tIns="54000" rIns="72000" bIns="54000" anchor="ctr"/>
            <a:lstStyle/>
            <a:p>
              <a:pPr algn="ctr"/>
              <a:r>
                <a:rPr kumimoji="1" lang="en-US" altLang="zh-CN" sz="2400" b="1">
                  <a:solidFill>
                    <a:schemeClr val="bg2"/>
                  </a:solidFill>
                  <a:latin typeface="Times New Roman" pitchFamily="18" charset="0"/>
                </a:rPr>
                <a:t>2</a:t>
              </a:r>
              <a:endParaRPr kumimoji="1" lang="en-US" altLang="zh-CN" sz="240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cxnSp>
          <p:nvCxnSpPr>
            <p:cNvPr id="80" name="直接箭头连接符 79"/>
            <p:cNvCxnSpPr>
              <a:stCxn id="38955" idx="0"/>
              <a:endCxn id="38956" idx="4"/>
            </p:cNvCxnSpPr>
            <p:nvPr/>
          </p:nvCxnSpPr>
          <p:spPr>
            <a:xfrm rot="5400000" flipH="1" flipV="1">
              <a:off x="4008199" y="5849973"/>
              <a:ext cx="388942" cy="1587"/>
            </a:xfrm>
            <a:prstGeom prst="straightConnector1">
              <a:avLst/>
            </a:prstGeom>
            <a:ln w="25400">
              <a:solidFill>
                <a:schemeClr val="bg2">
                  <a:lumMod val="40000"/>
                  <a:lumOff val="6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箭头连接符 80"/>
            <p:cNvCxnSpPr>
              <a:stCxn id="38958" idx="0"/>
              <a:endCxn id="38961" idx="4"/>
            </p:cNvCxnSpPr>
            <p:nvPr/>
          </p:nvCxnSpPr>
          <p:spPr>
            <a:xfrm rot="16200000" flipV="1">
              <a:off x="5344652" y="5849973"/>
              <a:ext cx="387354" cy="0"/>
            </a:xfrm>
            <a:prstGeom prst="straightConnector1">
              <a:avLst/>
            </a:prstGeom>
            <a:ln w="25400">
              <a:solidFill>
                <a:schemeClr val="bg2">
                  <a:lumMod val="40000"/>
                  <a:lumOff val="6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箭头连接符 82"/>
            <p:cNvCxnSpPr>
              <a:stCxn id="38957" idx="0"/>
              <a:endCxn id="38959" idx="4"/>
            </p:cNvCxnSpPr>
            <p:nvPr/>
          </p:nvCxnSpPr>
          <p:spPr>
            <a:xfrm rot="5400000" flipH="1" flipV="1">
              <a:off x="4651029" y="5849973"/>
              <a:ext cx="388942" cy="1588"/>
            </a:xfrm>
            <a:prstGeom prst="straightConnector1">
              <a:avLst/>
            </a:prstGeom>
            <a:ln w="25400">
              <a:solidFill>
                <a:schemeClr val="bg2">
                  <a:lumMod val="40000"/>
                  <a:lumOff val="6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927" name="组合 78"/>
          <p:cNvGrpSpPr>
            <a:grpSpLocks/>
          </p:cNvGrpSpPr>
          <p:nvPr/>
        </p:nvGrpSpPr>
        <p:grpSpPr bwMode="auto">
          <a:xfrm>
            <a:off x="373063" y="3535363"/>
            <a:ext cx="1958975" cy="2081212"/>
            <a:chOff x="373063" y="3535363"/>
            <a:chExt cx="1958975" cy="2081212"/>
          </a:xfrm>
        </p:grpSpPr>
        <p:grpSp>
          <p:nvGrpSpPr>
            <p:cNvPr id="38928" name="组合 4"/>
            <p:cNvGrpSpPr>
              <a:grpSpLocks/>
            </p:cNvGrpSpPr>
            <p:nvPr/>
          </p:nvGrpSpPr>
          <p:grpSpPr bwMode="auto">
            <a:xfrm>
              <a:off x="373063" y="3535363"/>
              <a:ext cx="1958975" cy="2081212"/>
              <a:chOff x="738135" y="2256382"/>
              <a:chExt cx="1958416" cy="2081241"/>
            </a:xfrm>
          </p:grpSpPr>
          <p:sp>
            <p:nvSpPr>
              <p:cNvPr id="38930" name="Text Box 21"/>
              <p:cNvSpPr txBox="1">
                <a:spLocks noChangeArrowheads="1"/>
              </p:cNvSpPr>
              <p:nvPr/>
            </p:nvSpPr>
            <p:spPr bwMode="auto">
              <a:xfrm>
                <a:off x="1504908" y="2256382"/>
                <a:ext cx="415498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b="1">
                    <a:solidFill>
                      <a:srgbClr val="C00000"/>
                    </a:solidFill>
                    <a:latin typeface="Times New Roman" pitchFamily="18" charset="0"/>
                  </a:rPr>
                  <a:t>28</a:t>
                </a:r>
                <a:endParaRPr kumimoji="1" lang="en-US" altLang="zh-CN">
                  <a:solidFill>
                    <a:srgbClr val="C00000"/>
                  </a:solidFill>
                  <a:latin typeface="Times New Roman" pitchFamily="18" charset="0"/>
                </a:endParaRPr>
              </a:p>
            </p:txBody>
          </p:sp>
          <p:grpSp>
            <p:nvGrpSpPr>
              <p:cNvPr id="38931" name="组合 47"/>
              <p:cNvGrpSpPr>
                <a:grpSpLocks/>
              </p:cNvGrpSpPr>
              <p:nvPr/>
            </p:nvGrpSpPr>
            <p:grpSpPr bwMode="auto">
              <a:xfrm>
                <a:off x="738135" y="2368857"/>
                <a:ext cx="1958416" cy="1903314"/>
                <a:chOff x="738135" y="2598723"/>
                <a:chExt cx="1958416" cy="1903314"/>
              </a:xfrm>
            </p:grpSpPr>
            <p:sp>
              <p:nvSpPr>
                <p:cNvPr id="54" name="Line 6"/>
                <p:cNvSpPr>
                  <a:spLocks noChangeShapeType="1"/>
                </p:cNvSpPr>
                <p:nvPr/>
              </p:nvSpPr>
              <p:spPr bwMode="auto">
                <a:xfrm>
                  <a:off x="1336451" y="2770414"/>
                  <a:ext cx="815742" cy="0"/>
                </a:xfrm>
                <a:prstGeom prst="line">
                  <a:avLst/>
                </a:prstGeom>
                <a:noFill/>
                <a:ln w="28575">
                  <a:solidFill>
                    <a:schemeClr val="bg2">
                      <a:lumMod val="60000"/>
                      <a:lumOff val="40000"/>
                    </a:schemeClr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sz="2400">
                    <a:solidFill>
                      <a:schemeClr val="bg2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55" name="Line 7"/>
                <p:cNvSpPr>
                  <a:spLocks noChangeShapeType="1"/>
                </p:cNvSpPr>
                <p:nvPr/>
              </p:nvSpPr>
              <p:spPr bwMode="auto">
                <a:xfrm>
                  <a:off x="1336451" y="4199185"/>
                  <a:ext cx="815742" cy="0"/>
                </a:xfrm>
                <a:prstGeom prst="line">
                  <a:avLst/>
                </a:prstGeom>
                <a:noFill/>
                <a:ln w="28575">
                  <a:solidFill>
                    <a:schemeClr val="bg2">
                      <a:lumMod val="60000"/>
                      <a:lumOff val="40000"/>
                    </a:schemeClr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sz="2400">
                    <a:solidFill>
                      <a:schemeClr val="bg2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56" name="Line 8"/>
                <p:cNvSpPr>
                  <a:spLocks noChangeShapeType="1"/>
                </p:cNvSpPr>
                <p:nvPr/>
              </p:nvSpPr>
              <p:spPr bwMode="auto">
                <a:xfrm flipH="1" flipV="1">
                  <a:off x="1717343" y="3570526"/>
                  <a:ext cx="326932" cy="514357"/>
                </a:xfrm>
                <a:prstGeom prst="line">
                  <a:avLst/>
                </a:prstGeom>
                <a:noFill/>
                <a:ln w="28575">
                  <a:solidFill>
                    <a:schemeClr val="bg2">
                      <a:lumMod val="60000"/>
                      <a:lumOff val="40000"/>
                    </a:schemeClr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sz="2400">
                    <a:solidFill>
                      <a:schemeClr val="bg2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38935" name="Line 9"/>
                <p:cNvSpPr>
                  <a:spLocks noChangeShapeType="1"/>
                </p:cNvSpPr>
                <p:nvPr/>
              </p:nvSpPr>
              <p:spPr bwMode="auto">
                <a:xfrm flipH="1">
                  <a:off x="2152193" y="3570526"/>
                  <a:ext cx="326932" cy="628659"/>
                </a:xfrm>
                <a:prstGeom prst="line">
                  <a:avLst/>
                </a:prstGeom>
                <a:noFill/>
                <a:ln w="508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8" name="Line 10"/>
                <p:cNvSpPr>
                  <a:spLocks noChangeShapeType="1"/>
                </p:cNvSpPr>
                <p:nvPr/>
              </p:nvSpPr>
              <p:spPr bwMode="auto">
                <a:xfrm>
                  <a:off x="2152193" y="2827565"/>
                  <a:ext cx="326932" cy="628659"/>
                </a:xfrm>
                <a:prstGeom prst="line">
                  <a:avLst/>
                </a:prstGeom>
                <a:noFill/>
                <a:ln w="28575">
                  <a:solidFill>
                    <a:schemeClr val="bg2">
                      <a:lumMod val="60000"/>
                      <a:lumOff val="40000"/>
                    </a:schemeClr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sz="2400">
                    <a:solidFill>
                      <a:schemeClr val="bg2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38937" name="Line 11"/>
                <p:cNvSpPr>
                  <a:spLocks noChangeShapeType="1"/>
                </p:cNvSpPr>
                <p:nvPr/>
              </p:nvSpPr>
              <p:spPr bwMode="auto">
                <a:xfrm flipV="1">
                  <a:off x="1796652" y="2770414"/>
                  <a:ext cx="301582" cy="595334"/>
                </a:xfrm>
                <a:prstGeom prst="line">
                  <a:avLst/>
                </a:prstGeom>
                <a:noFill/>
                <a:ln w="508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0" name="Line 12"/>
                <p:cNvSpPr>
                  <a:spLocks noChangeShapeType="1"/>
                </p:cNvSpPr>
                <p:nvPr/>
              </p:nvSpPr>
              <p:spPr bwMode="auto">
                <a:xfrm>
                  <a:off x="955560" y="3570526"/>
                  <a:ext cx="326932" cy="628659"/>
                </a:xfrm>
                <a:prstGeom prst="line">
                  <a:avLst/>
                </a:prstGeom>
                <a:noFill/>
                <a:ln w="28575">
                  <a:solidFill>
                    <a:schemeClr val="bg2">
                      <a:lumMod val="60000"/>
                      <a:lumOff val="40000"/>
                    </a:schemeClr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sz="2400">
                    <a:solidFill>
                      <a:schemeClr val="bg2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38939" name="Line 13"/>
                <p:cNvSpPr>
                  <a:spLocks noChangeShapeType="1"/>
                </p:cNvSpPr>
                <p:nvPr/>
              </p:nvSpPr>
              <p:spPr bwMode="auto">
                <a:xfrm flipH="1">
                  <a:off x="901600" y="2827565"/>
                  <a:ext cx="326932" cy="628659"/>
                </a:xfrm>
                <a:prstGeom prst="line">
                  <a:avLst/>
                </a:prstGeom>
                <a:noFill/>
                <a:ln w="508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8940" name="Oval 14" descr="羊皮纸"/>
                <p:cNvSpPr>
                  <a:spLocks noChangeArrowheads="1"/>
                </p:cNvSpPr>
                <p:nvPr/>
              </p:nvSpPr>
              <p:spPr bwMode="auto">
                <a:xfrm>
                  <a:off x="738135" y="3341672"/>
                  <a:ext cx="326403" cy="34290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 wrap="none" lIns="72000" tIns="54000" rIns="72000" bIns="54000" anchor="ctr"/>
                <a:lstStyle/>
                <a:p>
                  <a:pPr algn="ctr"/>
                  <a:r>
                    <a:rPr kumimoji="1" lang="en-US" altLang="zh-CN" sz="2400" b="1">
                      <a:solidFill>
                        <a:schemeClr val="bg2"/>
                      </a:solidFill>
                      <a:latin typeface="Times New Roman" pitchFamily="18" charset="0"/>
                    </a:rPr>
                    <a:t>5</a:t>
                  </a:r>
                  <a:endParaRPr kumimoji="1" lang="en-US" altLang="zh-CN" sz="2400">
                    <a:solidFill>
                      <a:schemeClr val="bg2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38941" name="Oval 15" descr="羊皮纸"/>
                <p:cNvSpPr>
                  <a:spLocks noChangeArrowheads="1"/>
                </p:cNvSpPr>
                <p:nvPr/>
              </p:nvSpPr>
              <p:spPr bwMode="auto">
                <a:xfrm>
                  <a:off x="1118938" y="2598723"/>
                  <a:ext cx="326403" cy="34290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 wrap="none" lIns="72000" tIns="54000" rIns="72000" bIns="54000" anchor="ctr"/>
                <a:lstStyle/>
                <a:p>
                  <a:pPr algn="ctr"/>
                  <a:r>
                    <a:rPr kumimoji="1" lang="en-US" altLang="zh-CN" sz="2400" b="1">
                      <a:solidFill>
                        <a:schemeClr val="bg2"/>
                      </a:solidFill>
                      <a:latin typeface="Times New Roman" pitchFamily="18" charset="0"/>
                    </a:rPr>
                    <a:t>0</a:t>
                  </a:r>
                  <a:endParaRPr kumimoji="1" lang="en-US" altLang="zh-CN" sz="2400">
                    <a:solidFill>
                      <a:schemeClr val="bg2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38942" name="Oval 16" descr="羊皮纸"/>
                <p:cNvSpPr>
                  <a:spLocks noChangeArrowheads="1"/>
                </p:cNvSpPr>
                <p:nvPr/>
              </p:nvSpPr>
              <p:spPr bwMode="auto">
                <a:xfrm>
                  <a:off x="1118938" y="4027471"/>
                  <a:ext cx="326403" cy="34290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 wrap="none" lIns="72000" tIns="54000" rIns="72000" bIns="54000" anchor="ctr"/>
                <a:lstStyle/>
                <a:p>
                  <a:pPr algn="ctr"/>
                  <a:r>
                    <a:rPr kumimoji="1" lang="en-US" altLang="zh-CN" sz="2400" b="1">
                      <a:solidFill>
                        <a:schemeClr val="bg2"/>
                      </a:solidFill>
                      <a:latin typeface="Times New Roman" pitchFamily="18" charset="0"/>
                    </a:rPr>
                    <a:t>4</a:t>
                  </a:r>
                  <a:endParaRPr kumimoji="1" lang="en-US" altLang="zh-CN" sz="2400">
                    <a:solidFill>
                      <a:schemeClr val="bg2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38943" name="Oval 17" descr="羊皮纸"/>
                <p:cNvSpPr>
                  <a:spLocks noChangeArrowheads="1"/>
                </p:cNvSpPr>
                <p:nvPr/>
              </p:nvSpPr>
              <p:spPr bwMode="auto">
                <a:xfrm>
                  <a:off x="1554142" y="3341672"/>
                  <a:ext cx="326403" cy="34290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 wrap="none" lIns="72000" tIns="54000" rIns="72000" bIns="54000" anchor="ctr"/>
                <a:lstStyle/>
                <a:p>
                  <a:pPr algn="ctr"/>
                  <a:r>
                    <a:rPr kumimoji="1" lang="en-US" altLang="zh-CN" sz="2400" b="1">
                      <a:solidFill>
                        <a:schemeClr val="bg2"/>
                      </a:solidFill>
                      <a:latin typeface="Times New Roman" pitchFamily="18" charset="0"/>
                    </a:rPr>
                    <a:t>6</a:t>
                  </a:r>
                  <a:endParaRPr kumimoji="1" lang="en-US" altLang="zh-CN" sz="2400">
                    <a:solidFill>
                      <a:schemeClr val="bg2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38944" name="Oval 18" descr="羊皮纸"/>
                <p:cNvSpPr>
                  <a:spLocks noChangeArrowheads="1"/>
                </p:cNvSpPr>
                <p:nvPr/>
              </p:nvSpPr>
              <p:spPr bwMode="auto">
                <a:xfrm>
                  <a:off x="1934945" y="2598723"/>
                  <a:ext cx="326403" cy="34290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 wrap="none" lIns="72000" tIns="54000" rIns="72000" bIns="54000" anchor="ctr"/>
                <a:lstStyle/>
                <a:p>
                  <a:pPr algn="ctr"/>
                  <a:r>
                    <a:rPr kumimoji="1" lang="en-US" altLang="zh-CN" sz="2400" b="1">
                      <a:solidFill>
                        <a:schemeClr val="bg2"/>
                      </a:solidFill>
                      <a:latin typeface="Times New Roman" pitchFamily="18" charset="0"/>
                    </a:rPr>
                    <a:t>1</a:t>
                  </a:r>
                  <a:endParaRPr kumimoji="1" lang="en-US" altLang="zh-CN" sz="2400">
                    <a:solidFill>
                      <a:schemeClr val="bg2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38945" name="Oval 19" descr="羊皮纸"/>
                <p:cNvSpPr>
                  <a:spLocks noChangeArrowheads="1"/>
                </p:cNvSpPr>
                <p:nvPr/>
              </p:nvSpPr>
              <p:spPr bwMode="auto">
                <a:xfrm>
                  <a:off x="1934945" y="4027471"/>
                  <a:ext cx="326403" cy="34290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 wrap="none" lIns="72000" tIns="54000" rIns="72000" bIns="54000" anchor="ctr"/>
                <a:lstStyle/>
                <a:p>
                  <a:pPr algn="ctr"/>
                  <a:r>
                    <a:rPr kumimoji="1" lang="en-US" altLang="zh-CN" sz="2400" b="1">
                      <a:solidFill>
                        <a:schemeClr val="bg2"/>
                      </a:solidFill>
                      <a:latin typeface="Times New Roman" pitchFamily="18" charset="0"/>
                    </a:rPr>
                    <a:t>3</a:t>
                  </a:r>
                  <a:endParaRPr kumimoji="1" lang="en-US" altLang="zh-CN" sz="2400">
                    <a:solidFill>
                      <a:schemeClr val="bg2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38946" name="Oval 20" descr="羊皮纸"/>
                <p:cNvSpPr>
                  <a:spLocks noChangeArrowheads="1"/>
                </p:cNvSpPr>
                <p:nvPr/>
              </p:nvSpPr>
              <p:spPr bwMode="auto">
                <a:xfrm flipH="1">
                  <a:off x="2370148" y="3341672"/>
                  <a:ext cx="326403" cy="34290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 wrap="none" lIns="72000" tIns="54000" rIns="72000" bIns="54000" anchor="ctr"/>
                <a:lstStyle/>
                <a:p>
                  <a:pPr algn="ctr"/>
                  <a:r>
                    <a:rPr kumimoji="1" lang="en-US" altLang="zh-CN" sz="2400" b="1">
                      <a:solidFill>
                        <a:schemeClr val="bg2"/>
                      </a:solidFill>
                      <a:latin typeface="Times New Roman" pitchFamily="18" charset="0"/>
                    </a:rPr>
                    <a:t>2</a:t>
                  </a:r>
                  <a:endParaRPr kumimoji="1" lang="en-US" altLang="zh-CN" sz="2400">
                    <a:solidFill>
                      <a:schemeClr val="bg2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38947" name="Text Box 22"/>
                <p:cNvSpPr txBox="1">
                  <a:spLocks noChangeArrowheads="1"/>
                </p:cNvSpPr>
                <p:nvPr/>
              </p:nvSpPr>
              <p:spPr bwMode="auto">
                <a:xfrm>
                  <a:off x="738135" y="2846509"/>
                  <a:ext cx="415498" cy="3640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9pPr>
                </a:lstStyle>
                <a:p>
                  <a:pPr algn="ctr" eaLnBrk="1" hangingPunct="1"/>
                  <a:r>
                    <a:rPr kumimoji="1" lang="en-US" altLang="zh-CN" b="1">
                      <a:solidFill>
                        <a:srgbClr val="C00000"/>
                      </a:solidFill>
                      <a:latin typeface="Times New Roman" pitchFamily="18" charset="0"/>
                    </a:rPr>
                    <a:t>10</a:t>
                  </a:r>
                  <a:endParaRPr kumimoji="1" lang="en-US" altLang="zh-CN">
                    <a:solidFill>
                      <a:srgbClr val="C00000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38948" name="Text Box 23"/>
                <p:cNvSpPr txBox="1">
                  <a:spLocks noChangeArrowheads="1"/>
                </p:cNvSpPr>
                <p:nvPr/>
              </p:nvSpPr>
              <p:spPr bwMode="auto">
                <a:xfrm>
                  <a:off x="760793" y="3714404"/>
                  <a:ext cx="415498" cy="36403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9pPr>
                </a:lstStyle>
                <a:p>
                  <a:pPr algn="ctr" eaLnBrk="1" hangingPunct="1"/>
                  <a:r>
                    <a:rPr kumimoji="1" lang="en-US" altLang="zh-CN" b="1">
                      <a:solidFill>
                        <a:srgbClr val="C00000"/>
                      </a:solidFill>
                      <a:latin typeface="Times New Roman" pitchFamily="18" charset="0"/>
                    </a:rPr>
                    <a:t>25</a:t>
                  </a:r>
                  <a:endParaRPr kumimoji="1" lang="en-US" altLang="zh-CN">
                    <a:solidFill>
                      <a:srgbClr val="C00000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38949" name="Text Box 24"/>
                <p:cNvSpPr txBox="1">
                  <a:spLocks noChangeArrowheads="1"/>
                </p:cNvSpPr>
                <p:nvPr/>
              </p:nvSpPr>
              <p:spPr bwMode="auto">
                <a:xfrm>
                  <a:off x="1527566" y="2895188"/>
                  <a:ext cx="415498" cy="3640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9pPr>
                </a:lstStyle>
                <a:p>
                  <a:pPr algn="ctr" eaLnBrk="1" hangingPunct="1"/>
                  <a:r>
                    <a:rPr kumimoji="1" lang="en-US" altLang="zh-CN" b="1">
                      <a:solidFill>
                        <a:srgbClr val="C00000"/>
                      </a:solidFill>
                      <a:latin typeface="Times New Roman" pitchFamily="18" charset="0"/>
                    </a:rPr>
                    <a:t>14</a:t>
                  </a:r>
                  <a:endParaRPr kumimoji="1" lang="en-US" altLang="zh-CN">
                    <a:solidFill>
                      <a:srgbClr val="C00000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38950" name="Text Box 25"/>
                <p:cNvSpPr txBox="1">
                  <a:spLocks noChangeArrowheads="1"/>
                </p:cNvSpPr>
                <p:nvPr/>
              </p:nvSpPr>
              <p:spPr bwMode="auto">
                <a:xfrm>
                  <a:off x="1198949" y="3638284"/>
                  <a:ext cx="415498" cy="3640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9pPr>
                </a:lstStyle>
                <a:p>
                  <a:pPr algn="ctr" eaLnBrk="1" hangingPunct="1"/>
                  <a:r>
                    <a:rPr kumimoji="1" lang="en-US" altLang="zh-CN" b="1">
                      <a:solidFill>
                        <a:srgbClr val="C00000"/>
                      </a:solidFill>
                      <a:latin typeface="Times New Roman" pitchFamily="18" charset="0"/>
                    </a:rPr>
                    <a:t>24</a:t>
                  </a:r>
                  <a:endParaRPr kumimoji="1" lang="en-US" altLang="zh-CN">
                    <a:solidFill>
                      <a:srgbClr val="C00000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38951" name="Text Box 26"/>
                <p:cNvSpPr txBox="1">
                  <a:spLocks noChangeArrowheads="1"/>
                </p:cNvSpPr>
                <p:nvPr/>
              </p:nvSpPr>
              <p:spPr bwMode="auto">
                <a:xfrm>
                  <a:off x="1499741" y="4137998"/>
                  <a:ext cx="415498" cy="36403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9pPr>
                </a:lstStyle>
                <a:p>
                  <a:pPr algn="ctr" eaLnBrk="1" hangingPunct="1"/>
                  <a:r>
                    <a:rPr kumimoji="1" lang="en-US" altLang="zh-CN" b="1">
                      <a:solidFill>
                        <a:srgbClr val="C00000"/>
                      </a:solidFill>
                      <a:latin typeface="Times New Roman" pitchFamily="18" charset="0"/>
                    </a:rPr>
                    <a:t>22</a:t>
                  </a:r>
                  <a:endParaRPr kumimoji="1" lang="en-US" altLang="zh-CN">
                    <a:solidFill>
                      <a:srgbClr val="C00000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38952" name="Text Box 27"/>
                <p:cNvSpPr txBox="1">
                  <a:spLocks noChangeArrowheads="1"/>
                </p:cNvSpPr>
                <p:nvPr/>
              </p:nvSpPr>
              <p:spPr bwMode="auto">
                <a:xfrm>
                  <a:off x="2271681" y="2895188"/>
                  <a:ext cx="415498" cy="3640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9pPr>
                </a:lstStyle>
                <a:p>
                  <a:pPr algn="ctr" eaLnBrk="1" hangingPunct="1"/>
                  <a:r>
                    <a:rPr kumimoji="1" lang="en-US" altLang="zh-CN" b="1">
                      <a:solidFill>
                        <a:srgbClr val="C00000"/>
                      </a:solidFill>
                      <a:latin typeface="Times New Roman" pitchFamily="18" charset="0"/>
                    </a:rPr>
                    <a:t>16</a:t>
                  </a:r>
                  <a:endParaRPr kumimoji="1" lang="en-US" altLang="zh-CN">
                    <a:solidFill>
                      <a:srgbClr val="C00000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38953" name="Text Box 28"/>
                <p:cNvSpPr txBox="1">
                  <a:spLocks noChangeArrowheads="1"/>
                </p:cNvSpPr>
                <p:nvPr/>
              </p:nvSpPr>
              <p:spPr bwMode="auto">
                <a:xfrm>
                  <a:off x="1797012" y="3570271"/>
                  <a:ext cx="415498" cy="3640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9pPr>
                </a:lstStyle>
                <a:p>
                  <a:pPr algn="ctr" eaLnBrk="1" hangingPunct="1"/>
                  <a:r>
                    <a:rPr kumimoji="1" lang="en-US" altLang="zh-CN" b="1">
                      <a:solidFill>
                        <a:srgbClr val="C00000"/>
                      </a:solidFill>
                      <a:latin typeface="Times New Roman" pitchFamily="18" charset="0"/>
                    </a:rPr>
                    <a:t>18</a:t>
                  </a:r>
                  <a:endParaRPr kumimoji="1" lang="en-US" altLang="zh-CN">
                    <a:solidFill>
                      <a:srgbClr val="C00000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38954" name="Text Box 29"/>
                <p:cNvSpPr txBox="1">
                  <a:spLocks noChangeArrowheads="1"/>
                </p:cNvSpPr>
                <p:nvPr/>
              </p:nvSpPr>
              <p:spPr bwMode="auto">
                <a:xfrm>
                  <a:off x="2271681" y="3752437"/>
                  <a:ext cx="415498" cy="3640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9pPr>
                </a:lstStyle>
                <a:p>
                  <a:pPr algn="ctr" eaLnBrk="1" hangingPunct="1"/>
                  <a:r>
                    <a:rPr kumimoji="1" lang="en-US" altLang="zh-CN" b="1">
                      <a:solidFill>
                        <a:srgbClr val="C00000"/>
                      </a:solidFill>
                      <a:latin typeface="Times New Roman" pitchFamily="18" charset="0"/>
                    </a:rPr>
                    <a:t>12</a:t>
                  </a:r>
                  <a:endParaRPr kumimoji="1" lang="en-US" altLang="zh-CN">
                    <a:solidFill>
                      <a:srgbClr val="C00000"/>
                    </a:solidFill>
                    <a:latin typeface="Times New Roman" pitchFamily="18" charset="0"/>
                  </a:endParaRPr>
                </a:p>
              </p:txBody>
            </p:sp>
          </p:grpSp>
        </p:grpSp>
        <p:sp>
          <p:nvSpPr>
            <p:cNvPr id="77" name="Line 11"/>
            <p:cNvSpPr>
              <a:spLocks noChangeShapeType="1"/>
            </p:cNvSpPr>
            <p:nvPr/>
          </p:nvSpPr>
          <p:spPr bwMode="auto">
            <a:xfrm flipV="1">
              <a:off x="993775" y="4706938"/>
              <a:ext cx="255588" cy="449262"/>
            </a:xfrm>
            <a:prstGeom prst="line">
              <a:avLst/>
            </a:prstGeom>
            <a:noFill/>
            <a:ln w="28575">
              <a:solidFill>
                <a:schemeClr val="bg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400">
                <a:solidFill>
                  <a:schemeClr val="bg2"/>
                </a:solidFill>
                <a:ea typeface="宋体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290145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最小生成树</a:t>
            </a:r>
          </a:p>
        </p:txBody>
      </p:sp>
      <p:sp>
        <p:nvSpPr>
          <p:cNvPr id="39939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>
                <a:latin typeface="Arial" charset="0"/>
                <a:ea typeface="黑体" pitchFamily="2" charset="-122"/>
              </a:rPr>
              <a:t>克鲁斯卡尔 </a:t>
            </a:r>
            <a:r>
              <a:rPr lang="en-US" altLang="zh-CN">
                <a:latin typeface="Arial" charset="0"/>
                <a:ea typeface="黑体" pitchFamily="2" charset="-122"/>
              </a:rPr>
              <a:t>(Kruskal) </a:t>
            </a:r>
            <a:r>
              <a:rPr lang="zh-CN" altLang="en-US">
                <a:latin typeface="Arial" charset="0"/>
                <a:ea typeface="黑体" pitchFamily="2" charset="-122"/>
              </a:rPr>
              <a:t>算法</a:t>
            </a:r>
            <a:endParaRPr lang="en-US" altLang="zh-CN">
              <a:latin typeface="Arial" charset="0"/>
              <a:ea typeface="黑体" pitchFamily="2" charset="-122"/>
            </a:endParaRPr>
          </a:p>
          <a:p>
            <a:pPr lvl="1"/>
            <a:r>
              <a:rPr lang="zh-CN" altLang="en-US">
                <a:latin typeface="Arial" charset="0"/>
                <a:ea typeface="黑体" pitchFamily="2" charset="-122"/>
              </a:rPr>
              <a:t>经常需要判断权值最小的边的两端是否属于不同连通分量</a:t>
            </a:r>
            <a:endParaRPr lang="en-US" altLang="zh-CN">
              <a:latin typeface="Arial" charset="0"/>
              <a:ea typeface="黑体" pitchFamily="2" charset="-122"/>
            </a:endParaRPr>
          </a:p>
          <a:p>
            <a:pPr lvl="2"/>
            <a:r>
              <a:rPr lang="zh-CN" altLang="en-US">
                <a:latin typeface="Arial" charset="0"/>
                <a:ea typeface="黑体" pitchFamily="2" charset="-122"/>
              </a:rPr>
              <a:t>可使用并查集技术加快判断速度</a:t>
            </a:r>
          </a:p>
        </p:txBody>
      </p:sp>
      <p:sp>
        <p:nvSpPr>
          <p:cNvPr id="39940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fld id="{DF11023C-58DD-4975-B540-0256157B05E4}" type="slidenum">
              <a:rPr lang="en-US" altLang="zh-CN" smtClean="0">
                <a:solidFill>
                  <a:srgbClr val="006600"/>
                </a:solidFill>
                <a:latin typeface="Courier New" pitchFamily="49" charset="0"/>
                <a:ea typeface="华文新魏" pitchFamily="2" charset="-122"/>
              </a:rPr>
              <a:pPr eaLnBrk="1" hangingPunct="1"/>
              <a:t>34</a:t>
            </a:fld>
            <a:endParaRPr lang="en-US" altLang="zh-CN">
              <a:solidFill>
                <a:srgbClr val="006600"/>
              </a:solidFill>
              <a:latin typeface="Courier New" pitchFamily="49" charset="0"/>
              <a:ea typeface="华文新魏" pitchFamily="2" charset="-122"/>
            </a:endParaRPr>
          </a:p>
        </p:txBody>
      </p:sp>
      <p:sp>
        <p:nvSpPr>
          <p:cNvPr id="39941" name="TextBox 39"/>
          <p:cNvSpPr txBox="1">
            <a:spLocks noChangeArrowheads="1"/>
          </p:cNvSpPr>
          <p:nvPr/>
        </p:nvSpPr>
        <p:spPr bwMode="auto">
          <a:xfrm>
            <a:off x="2636838" y="3830638"/>
            <a:ext cx="9794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b="1">
                <a:solidFill>
                  <a:srgbClr val="C00000"/>
                </a:solidFill>
                <a:ea typeface="黑体" pitchFamily="2" charset="-122"/>
              </a:rPr>
              <a:t>10 (0,5)</a:t>
            </a:r>
          </a:p>
        </p:txBody>
      </p:sp>
      <p:sp>
        <p:nvSpPr>
          <p:cNvPr id="39942" name="矩形 40"/>
          <p:cNvSpPr>
            <a:spLocks noChangeArrowheads="1"/>
          </p:cNvSpPr>
          <p:nvPr/>
        </p:nvSpPr>
        <p:spPr bwMode="auto">
          <a:xfrm>
            <a:off x="2636838" y="4154488"/>
            <a:ext cx="9794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b="1">
                <a:solidFill>
                  <a:srgbClr val="C00000"/>
                </a:solidFill>
                <a:ea typeface="黑体" pitchFamily="2" charset="-122"/>
              </a:rPr>
              <a:t>12 (2,3)</a:t>
            </a:r>
          </a:p>
        </p:txBody>
      </p:sp>
      <p:sp>
        <p:nvSpPr>
          <p:cNvPr id="39943" name="矩形 41"/>
          <p:cNvSpPr>
            <a:spLocks noChangeArrowheads="1"/>
          </p:cNvSpPr>
          <p:nvPr/>
        </p:nvSpPr>
        <p:spPr bwMode="auto">
          <a:xfrm>
            <a:off x="2636838" y="4451350"/>
            <a:ext cx="9794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b="1">
                <a:solidFill>
                  <a:srgbClr val="C00000"/>
                </a:solidFill>
                <a:ea typeface="黑体" pitchFamily="2" charset="-122"/>
              </a:rPr>
              <a:t>14 (1,6)</a:t>
            </a:r>
          </a:p>
        </p:txBody>
      </p:sp>
      <p:sp>
        <p:nvSpPr>
          <p:cNvPr id="39944" name="矩形 42"/>
          <p:cNvSpPr>
            <a:spLocks noChangeArrowheads="1"/>
          </p:cNvSpPr>
          <p:nvPr/>
        </p:nvSpPr>
        <p:spPr bwMode="auto">
          <a:xfrm>
            <a:off x="2636838" y="4779963"/>
            <a:ext cx="9794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b="1">
                <a:solidFill>
                  <a:srgbClr val="C00000"/>
                </a:solidFill>
                <a:ea typeface="黑体" pitchFamily="2" charset="-122"/>
              </a:rPr>
              <a:t>16 (1,2)</a:t>
            </a:r>
          </a:p>
        </p:txBody>
      </p:sp>
      <p:sp>
        <p:nvSpPr>
          <p:cNvPr id="39945" name="矩形 43"/>
          <p:cNvSpPr>
            <a:spLocks noChangeArrowheads="1"/>
          </p:cNvSpPr>
          <p:nvPr/>
        </p:nvSpPr>
        <p:spPr bwMode="auto">
          <a:xfrm>
            <a:off x="2636838" y="5108575"/>
            <a:ext cx="9794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b="1">
                <a:solidFill>
                  <a:srgbClr val="000099"/>
                </a:solidFill>
                <a:ea typeface="黑体" pitchFamily="2" charset="-122"/>
              </a:rPr>
              <a:t>18 (3,6)</a:t>
            </a:r>
          </a:p>
        </p:txBody>
      </p:sp>
      <p:sp>
        <p:nvSpPr>
          <p:cNvPr id="39946" name="矩形 44"/>
          <p:cNvSpPr>
            <a:spLocks noChangeArrowheads="1"/>
          </p:cNvSpPr>
          <p:nvPr/>
        </p:nvSpPr>
        <p:spPr bwMode="auto">
          <a:xfrm>
            <a:off x="2636838" y="5437188"/>
            <a:ext cx="9794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b="1">
                <a:solidFill>
                  <a:srgbClr val="000099"/>
                </a:solidFill>
                <a:ea typeface="黑体" pitchFamily="2" charset="-122"/>
              </a:rPr>
              <a:t>22 (3,4)</a:t>
            </a:r>
          </a:p>
        </p:txBody>
      </p:sp>
      <p:sp>
        <p:nvSpPr>
          <p:cNvPr id="39947" name="矩形 45"/>
          <p:cNvSpPr>
            <a:spLocks noChangeArrowheads="1"/>
          </p:cNvSpPr>
          <p:nvPr/>
        </p:nvSpPr>
        <p:spPr bwMode="auto">
          <a:xfrm>
            <a:off x="2636838" y="5765800"/>
            <a:ext cx="9794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b="1">
                <a:solidFill>
                  <a:srgbClr val="000099"/>
                </a:solidFill>
                <a:ea typeface="黑体" pitchFamily="2" charset="-122"/>
              </a:rPr>
              <a:t>24 (4,6)</a:t>
            </a:r>
          </a:p>
        </p:txBody>
      </p:sp>
      <p:sp>
        <p:nvSpPr>
          <p:cNvPr id="39948" name="矩形 46"/>
          <p:cNvSpPr>
            <a:spLocks noChangeArrowheads="1"/>
          </p:cNvSpPr>
          <p:nvPr/>
        </p:nvSpPr>
        <p:spPr bwMode="auto">
          <a:xfrm>
            <a:off x="2636838" y="6094413"/>
            <a:ext cx="9794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b="1">
                <a:solidFill>
                  <a:srgbClr val="000099"/>
                </a:solidFill>
                <a:ea typeface="黑体" pitchFamily="2" charset="-122"/>
              </a:rPr>
              <a:t>25 (4,5)</a:t>
            </a:r>
            <a:endParaRPr lang="zh-CN" altLang="en-US" b="1">
              <a:solidFill>
                <a:srgbClr val="000099"/>
              </a:solidFill>
              <a:ea typeface="黑体" pitchFamily="2" charset="-122"/>
            </a:endParaRPr>
          </a:p>
        </p:txBody>
      </p:sp>
      <p:sp>
        <p:nvSpPr>
          <p:cNvPr id="39949" name="TextBox 47"/>
          <p:cNvSpPr txBox="1">
            <a:spLocks noChangeArrowheads="1"/>
          </p:cNvSpPr>
          <p:nvPr/>
        </p:nvSpPr>
        <p:spPr bwMode="auto">
          <a:xfrm>
            <a:off x="4645025" y="5473700"/>
            <a:ext cx="11239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zh-CN" altLang="en-US" b="1">
                <a:solidFill>
                  <a:srgbClr val="000099"/>
                </a:solidFill>
                <a:ea typeface="黑体" pitchFamily="2" charset="-122"/>
              </a:rPr>
              <a:t>取边</a:t>
            </a:r>
            <a:r>
              <a:rPr lang="en-US" altLang="zh-CN" b="1">
                <a:solidFill>
                  <a:srgbClr val="000099"/>
                </a:solidFill>
                <a:ea typeface="黑体" pitchFamily="2" charset="-122"/>
              </a:rPr>
              <a:t>(1,2)</a:t>
            </a:r>
            <a:endParaRPr lang="zh-CN" altLang="en-US" b="1">
              <a:solidFill>
                <a:srgbClr val="000099"/>
              </a:solidFill>
              <a:ea typeface="黑体" pitchFamily="2" charset="-122"/>
            </a:endParaRPr>
          </a:p>
        </p:txBody>
      </p:sp>
      <p:grpSp>
        <p:nvGrpSpPr>
          <p:cNvPr id="39950" name="组合 101"/>
          <p:cNvGrpSpPr>
            <a:grpSpLocks/>
          </p:cNvGrpSpPr>
          <p:nvPr/>
        </p:nvGrpSpPr>
        <p:grpSpPr bwMode="auto">
          <a:xfrm>
            <a:off x="4040188" y="3502025"/>
            <a:ext cx="2355850" cy="1803400"/>
            <a:chOff x="4039978" y="3502026"/>
            <a:chExt cx="2355458" cy="1803420"/>
          </a:xfrm>
        </p:grpSpPr>
        <p:sp>
          <p:nvSpPr>
            <p:cNvPr id="39979" name="Oval 14" descr="羊皮纸"/>
            <p:cNvSpPr>
              <a:spLocks noChangeArrowheads="1"/>
            </p:cNvSpPr>
            <p:nvPr/>
          </p:nvSpPr>
          <p:spPr bwMode="auto">
            <a:xfrm>
              <a:off x="4039978" y="4232286"/>
              <a:ext cx="326403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  <a:round/>
              <a:headEnd/>
              <a:tailEnd/>
            </a:ln>
          </p:spPr>
          <p:txBody>
            <a:bodyPr wrap="none" lIns="72000" tIns="54000" rIns="72000" bIns="54000" anchor="ctr"/>
            <a:lstStyle/>
            <a:p>
              <a:pPr algn="ctr"/>
              <a:r>
                <a:rPr kumimoji="1" lang="en-US" altLang="zh-CN" sz="2400" b="1">
                  <a:solidFill>
                    <a:schemeClr val="bg2"/>
                  </a:solidFill>
                  <a:latin typeface="Times New Roman" pitchFamily="18" charset="0"/>
                </a:rPr>
                <a:t>5</a:t>
              </a:r>
              <a:endParaRPr kumimoji="1" lang="en-US" altLang="zh-CN" sz="240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sp>
          <p:nvSpPr>
            <p:cNvPr id="39980" name="Oval 15" descr="羊皮纸"/>
            <p:cNvSpPr>
              <a:spLocks noChangeArrowheads="1"/>
            </p:cNvSpPr>
            <p:nvPr/>
          </p:nvSpPr>
          <p:spPr bwMode="auto">
            <a:xfrm>
              <a:off x="4039978" y="3502026"/>
              <a:ext cx="326403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  <a:round/>
              <a:headEnd/>
              <a:tailEnd/>
            </a:ln>
          </p:spPr>
          <p:txBody>
            <a:bodyPr wrap="none" lIns="72000" tIns="54000" rIns="72000" bIns="54000" anchor="ctr"/>
            <a:lstStyle/>
            <a:p>
              <a:pPr algn="ctr"/>
              <a:r>
                <a:rPr kumimoji="1" lang="en-US" altLang="zh-CN" sz="2400" b="1">
                  <a:solidFill>
                    <a:schemeClr val="bg2"/>
                  </a:solidFill>
                  <a:latin typeface="Times New Roman" pitchFamily="18" charset="0"/>
                </a:rPr>
                <a:t>0</a:t>
              </a:r>
              <a:endParaRPr kumimoji="1" lang="en-US" altLang="zh-CN" sz="240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sp>
          <p:nvSpPr>
            <p:cNvPr id="39981" name="Oval 16" descr="羊皮纸"/>
            <p:cNvSpPr>
              <a:spLocks noChangeArrowheads="1"/>
            </p:cNvSpPr>
            <p:nvPr/>
          </p:nvSpPr>
          <p:spPr bwMode="auto">
            <a:xfrm>
              <a:off x="4681539" y="4232286"/>
              <a:ext cx="326403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  <a:round/>
              <a:headEnd/>
              <a:tailEnd/>
            </a:ln>
          </p:spPr>
          <p:txBody>
            <a:bodyPr wrap="none" lIns="72000" tIns="54000" rIns="72000" bIns="54000" anchor="ctr"/>
            <a:lstStyle/>
            <a:p>
              <a:pPr algn="ctr"/>
              <a:r>
                <a:rPr kumimoji="1" lang="en-US" altLang="zh-CN" sz="2400" b="1">
                  <a:solidFill>
                    <a:schemeClr val="bg2"/>
                  </a:solidFill>
                  <a:latin typeface="Times New Roman" pitchFamily="18" charset="0"/>
                </a:rPr>
                <a:t>6</a:t>
              </a:r>
              <a:endParaRPr kumimoji="1" lang="en-US" altLang="zh-CN" sz="240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sp>
          <p:nvSpPr>
            <p:cNvPr id="39982" name="Oval 18" descr="羊皮纸"/>
            <p:cNvSpPr>
              <a:spLocks noChangeArrowheads="1"/>
            </p:cNvSpPr>
            <p:nvPr/>
          </p:nvSpPr>
          <p:spPr bwMode="auto">
            <a:xfrm>
              <a:off x="4681539" y="3502026"/>
              <a:ext cx="326403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  <a:round/>
              <a:headEnd/>
              <a:tailEnd/>
            </a:ln>
          </p:spPr>
          <p:txBody>
            <a:bodyPr wrap="none" lIns="72000" tIns="54000" rIns="72000" bIns="54000" anchor="ctr"/>
            <a:lstStyle/>
            <a:p>
              <a:pPr algn="ctr"/>
              <a:r>
                <a:rPr kumimoji="1" lang="en-US" altLang="zh-CN" sz="2400" b="1">
                  <a:solidFill>
                    <a:schemeClr val="bg2"/>
                  </a:solidFill>
                  <a:latin typeface="Times New Roman" pitchFamily="18" charset="0"/>
                </a:rPr>
                <a:t>1</a:t>
              </a:r>
              <a:endParaRPr kumimoji="1" lang="en-US" altLang="zh-CN" sz="240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sp>
          <p:nvSpPr>
            <p:cNvPr id="39983" name="Oval 19" descr="羊皮纸"/>
            <p:cNvSpPr>
              <a:spLocks noChangeArrowheads="1"/>
            </p:cNvSpPr>
            <p:nvPr/>
          </p:nvSpPr>
          <p:spPr bwMode="auto">
            <a:xfrm>
              <a:off x="6069033" y="3502026"/>
              <a:ext cx="326403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  <a:round/>
              <a:headEnd/>
              <a:tailEnd/>
            </a:ln>
          </p:spPr>
          <p:txBody>
            <a:bodyPr wrap="none" lIns="72000" tIns="54000" rIns="72000" bIns="54000" anchor="ctr"/>
            <a:lstStyle/>
            <a:p>
              <a:pPr algn="ctr"/>
              <a:r>
                <a:rPr kumimoji="1" lang="en-US" altLang="zh-CN" sz="2400" b="1">
                  <a:solidFill>
                    <a:schemeClr val="bg2"/>
                  </a:solidFill>
                  <a:latin typeface="Times New Roman" pitchFamily="18" charset="0"/>
                </a:rPr>
                <a:t>4</a:t>
              </a:r>
              <a:endParaRPr kumimoji="1" lang="en-US" altLang="zh-CN" sz="240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cxnSp>
          <p:nvCxnSpPr>
            <p:cNvPr id="88" name="直接箭头连接符 87"/>
            <p:cNvCxnSpPr>
              <a:stCxn id="39979" idx="0"/>
              <a:endCxn id="39980" idx="4"/>
            </p:cNvCxnSpPr>
            <p:nvPr/>
          </p:nvCxnSpPr>
          <p:spPr>
            <a:xfrm rot="5400000" flipH="1" flipV="1">
              <a:off x="4008199" y="4038607"/>
              <a:ext cx="388942" cy="1587"/>
            </a:xfrm>
            <a:prstGeom prst="straightConnector1">
              <a:avLst/>
            </a:prstGeom>
            <a:ln w="25400">
              <a:solidFill>
                <a:schemeClr val="bg2">
                  <a:lumMod val="40000"/>
                  <a:lumOff val="6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9985" name="组合 98"/>
            <p:cNvGrpSpPr>
              <a:grpSpLocks/>
            </p:cNvGrpSpPr>
            <p:nvPr/>
          </p:nvGrpSpPr>
          <p:grpSpPr bwMode="auto">
            <a:xfrm>
              <a:off x="5375286" y="4232286"/>
              <a:ext cx="326403" cy="1073160"/>
              <a:chOff x="5375286" y="4232286"/>
              <a:chExt cx="326403" cy="1073160"/>
            </a:xfrm>
          </p:grpSpPr>
          <p:sp>
            <p:nvSpPr>
              <p:cNvPr id="39988" name="Oval 17" descr="羊皮纸"/>
              <p:cNvSpPr>
                <a:spLocks noChangeArrowheads="1"/>
              </p:cNvSpPr>
              <p:nvPr/>
            </p:nvSpPr>
            <p:spPr bwMode="auto">
              <a:xfrm>
                <a:off x="5375286" y="4962546"/>
                <a:ext cx="326403" cy="3429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lIns="72000" tIns="54000" rIns="72000" bIns="54000" anchor="ctr"/>
              <a:lstStyle/>
              <a:p>
                <a:pPr algn="ctr"/>
                <a:r>
                  <a:rPr kumimoji="1" lang="en-US" altLang="zh-CN" sz="2400" b="1">
                    <a:solidFill>
                      <a:schemeClr val="bg2"/>
                    </a:solidFill>
                    <a:latin typeface="Times New Roman" pitchFamily="18" charset="0"/>
                  </a:rPr>
                  <a:t>3</a:t>
                </a:r>
                <a:endParaRPr kumimoji="1" lang="en-US" altLang="zh-CN" sz="2400">
                  <a:solidFill>
                    <a:schemeClr val="bg2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39989" name="Oval 20" descr="羊皮纸"/>
              <p:cNvSpPr>
                <a:spLocks noChangeArrowheads="1"/>
              </p:cNvSpPr>
              <p:nvPr/>
            </p:nvSpPr>
            <p:spPr bwMode="auto">
              <a:xfrm flipH="1">
                <a:off x="5375286" y="4232286"/>
                <a:ext cx="326403" cy="3429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lIns="72000" tIns="54000" rIns="72000" bIns="54000" anchor="ctr"/>
              <a:lstStyle/>
              <a:p>
                <a:pPr algn="ctr"/>
                <a:r>
                  <a:rPr kumimoji="1" lang="en-US" altLang="zh-CN" sz="2400" b="1">
                    <a:solidFill>
                      <a:schemeClr val="bg2"/>
                    </a:solidFill>
                    <a:latin typeface="Times New Roman" pitchFamily="18" charset="0"/>
                  </a:rPr>
                  <a:t>2</a:t>
                </a:r>
                <a:endParaRPr kumimoji="1" lang="en-US" altLang="zh-CN" sz="2400">
                  <a:solidFill>
                    <a:schemeClr val="bg2"/>
                  </a:solidFill>
                  <a:latin typeface="Times New Roman" pitchFamily="18" charset="0"/>
                </a:endParaRPr>
              </a:p>
            </p:txBody>
          </p:sp>
          <p:cxnSp>
            <p:nvCxnSpPr>
              <p:cNvPr id="89" name="直接箭头连接符 88"/>
              <p:cNvCxnSpPr>
                <a:stCxn id="39988" idx="0"/>
                <a:endCxn id="39989" idx="4"/>
              </p:cNvCxnSpPr>
              <p:nvPr/>
            </p:nvCxnSpPr>
            <p:spPr>
              <a:xfrm rot="16200000" flipV="1">
                <a:off x="5344652" y="4768865"/>
                <a:ext cx="387354" cy="0"/>
              </a:xfrm>
              <a:prstGeom prst="straightConnector1">
                <a:avLst/>
              </a:prstGeom>
              <a:ln w="25400">
                <a:solidFill>
                  <a:schemeClr val="bg2">
                    <a:lumMod val="40000"/>
                    <a:lumOff val="60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0" name="直接箭头连接符 89"/>
            <p:cNvCxnSpPr>
              <a:stCxn id="39981" idx="0"/>
              <a:endCxn id="39982" idx="4"/>
            </p:cNvCxnSpPr>
            <p:nvPr/>
          </p:nvCxnSpPr>
          <p:spPr>
            <a:xfrm rot="5400000" flipH="1" flipV="1">
              <a:off x="4651029" y="4038607"/>
              <a:ext cx="388942" cy="1588"/>
            </a:xfrm>
            <a:prstGeom prst="straightConnector1">
              <a:avLst/>
            </a:prstGeom>
            <a:ln w="25400">
              <a:solidFill>
                <a:schemeClr val="bg2">
                  <a:lumMod val="40000"/>
                  <a:lumOff val="6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箭头连接符 100"/>
            <p:cNvCxnSpPr>
              <a:stCxn id="39989" idx="7"/>
              <a:endCxn id="39982" idx="5"/>
            </p:cNvCxnSpPr>
            <p:nvPr/>
          </p:nvCxnSpPr>
          <p:spPr>
            <a:xfrm rot="16200000" flipV="1">
              <a:off x="4947040" y="3807664"/>
              <a:ext cx="488955" cy="461885"/>
            </a:xfrm>
            <a:prstGeom prst="straightConnector1">
              <a:avLst/>
            </a:prstGeom>
            <a:ln w="25400">
              <a:solidFill>
                <a:schemeClr val="bg2">
                  <a:lumMod val="40000"/>
                  <a:lumOff val="6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951" name="组合 52"/>
          <p:cNvGrpSpPr>
            <a:grpSpLocks/>
          </p:cNvGrpSpPr>
          <p:nvPr/>
        </p:nvGrpSpPr>
        <p:grpSpPr bwMode="auto">
          <a:xfrm>
            <a:off x="373063" y="3535363"/>
            <a:ext cx="1958975" cy="2016125"/>
            <a:chOff x="373061" y="3535364"/>
            <a:chExt cx="1958977" cy="2015762"/>
          </a:xfrm>
        </p:grpSpPr>
        <p:grpSp>
          <p:nvGrpSpPr>
            <p:cNvPr id="39952" name="组合 4"/>
            <p:cNvGrpSpPr>
              <a:grpSpLocks/>
            </p:cNvGrpSpPr>
            <p:nvPr/>
          </p:nvGrpSpPr>
          <p:grpSpPr bwMode="auto">
            <a:xfrm>
              <a:off x="373061" y="3535364"/>
              <a:ext cx="1958977" cy="2015762"/>
              <a:chOff x="738135" y="2256382"/>
              <a:chExt cx="1958416" cy="2015789"/>
            </a:xfrm>
          </p:grpSpPr>
          <p:sp>
            <p:nvSpPr>
              <p:cNvPr id="39954" name="Text Box 21"/>
              <p:cNvSpPr txBox="1">
                <a:spLocks noChangeArrowheads="1"/>
              </p:cNvSpPr>
              <p:nvPr/>
            </p:nvSpPr>
            <p:spPr bwMode="auto">
              <a:xfrm>
                <a:off x="1504908" y="2256382"/>
                <a:ext cx="415498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b="1">
                    <a:solidFill>
                      <a:srgbClr val="C00000"/>
                    </a:solidFill>
                    <a:latin typeface="Times New Roman" pitchFamily="18" charset="0"/>
                  </a:rPr>
                  <a:t>28</a:t>
                </a:r>
                <a:endParaRPr kumimoji="1" lang="en-US" altLang="zh-CN">
                  <a:solidFill>
                    <a:srgbClr val="C00000"/>
                  </a:solidFill>
                  <a:latin typeface="Times New Roman" pitchFamily="18" charset="0"/>
                </a:endParaRPr>
              </a:p>
            </p:txBody>
          </p:sp>
          <p:grpSp>
            <p:nvGrpSpPr>
              <p:cNvPr id="39955" name="组合 47"/>
              <p:cNvGrpSpPr>
                <a:grpSpLocks/>
              </p:cNvGrpSpPr>
              <p:nvPr/>
            </p:nvGrpSpPr>
            <p:grpSpPr bwMode="auto">
              <a:xfrm>
                <a:off x="738135" y="2368857"/>
                <a:ext cx="1958416" cy="1903314"/>
                <a:chOff x="738135" y="2598723"/>
                <a:chExt cx="1958416" cy="1903314"/>
              </a:xfrm>
            </p:grpSpPr>
            <p:sp>
              <p:nvSpPr>
                <p:cNvPr id="59" name="Line 6"/>
                <p:cNvSpPr>
                  <a:spLocks noChangeShapeType="1"/>
                </p:cNvSpPr>
                <p:nvPr/>
              </p:nvSpPr>
              <p:spPr bwMode="auto">
                <a:xfrm>
                  <a:off x="1336451" y="2770362"/>
                  <a:ext cx="815742" cy="0"/>
                </a:xfrm>
                <a:prstGeom prst="line">
                  <a:avLst/>
                </a:prstGeom>
                <a:noFill/>
                <a:ln w="28575">
                  <a:solidFill>
                    <a:schemeClr val="bg2">
                      <a:lumMod val="60000"/>
                      <a:lumOff val="40000"/>
                    </a:schemeClr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sz="2400">
                    <a:solidFill>
                      <a:schemeClr val="bg2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60" name="Line 7"/>
                <p:cNvSpPr>
                  <a:spLocks noChangeShapeType="1"/>
                </p:cNvSpPr>
                <p:nvPr/>
              </p:nvSpPr>
              <p:spPr bwMode="auto">
                <a:xfrm>
                  <a:off x="1336451" y="4198874"/>
                  <a:ext cx="815742" cy="0"/>
                </a:xfrm>
                <a:prstGeom prst="line">
                  <a:avLst/>
                </a:prstGeom>
                <a:noFill/>
                <a:ln w="28575">
                  <a:solidFill>
                    <a:schemeClr val="bg2">
                      <a:lumMod val="60000"/>
                      <a:lumOff val="40000"/>
                    </a:schemeClr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sz="2400">
                    <a:solidFill>
                      <a:schemeClr val="bg2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61" name="Line 8"/>
                <p:cNvSpPr>
                  <a:spLocks noChangeShapeType="1"/>
                </p:cNvSpPr>
                <p:nvPr/>
              </p:nvSpPr>
              <p:spPr bwMode="auto">
                <a:xfrm flipH="1" flipV="1">
                  <a:off x="1717343" y="3570329"/>
                  <a:ext cx="326932" cy="514264"/>
                </a:xfrm>
                <a:prstGeom prst="line">
                  <a:avLst/>
                </a:prstGeom>
                <a:noFill/>
                <a:ln w="28575">
                  <a:solidFill>
                    <a:schemeClr val="bg2">
                      <a:lumMod val="60000"/>
                      <a:lumOff val="40000"/>
                    </a:schemeClr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sz="2400">
                    <a:solidFill>
                      <a:schemeClr val="bg2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39959" name="Line 9"/>
                <p:cNvSpPr>
                  <a:spLocks noChangeShapeType="1"/>
                </p:cNvSpPr>
                <p:nvPr/>
              </p:nvSpPr>
              <p:spPr bwMode="auto">
                <a:xfrm flipH="1">
                  <a:off x="2152193" y="3570526"/>
                  <a:ext cx="326932" cy="628659"/>
                </a:xfrm>
                <a:prstGeom prst="line">
                  <a:avLst/>
                </a:prstGeom>
                <a:noFill/>
                <a:ln w="508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9960" name="Line 10"/>
                <p:cNvSpPr>
                  <a:spLocks noChangeShapeType="1"/>
                </p:cNvSpPr>
                <p:nvPr/>
              </p:nvSpPr>
              <p:spPr bwMode="auto">
                <a:xfrm>
                  <a:off x="2152193" y="2827565"/>
                  <a:ext cx="326932" cy="628659"/>
                </a:xfrm>
                <a:prstGeom prst="line">
                  <a:avLst/>
                </a:prstGeom>
                <a:noFill/>
                <a:ln w="508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9961" name="Line 11"/>
                <p:cNvSpPr>
                  <a:spLocks noChangeShapeType="1"/>
                </p:cNvSpPr>
                <p:nvPr/>
              </p:nvSpPr>
              <p:spPr bwMode="auto">
                <a:xfrm flipV="1">
                  <a:off x="1796652" y="2770414"/>
                  <a:ext cx="301582" cy="595334"/>
                </a:xfrm>
                <a:prstGeom prst="line">
                  <a:avLst/>
                </a:prstGeom>
                <a:noFill/>
                <a:ln w="508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5" name="Line 12"/>
                <p:cNvSpPr>
                  <a:spLocks noChangeShapeType="1"/>
                </p:cNvSpPr>
                <p:nvPr/>
              </p:nvSpPr>
              <p:spPr bwMode="auto">
                <a:xfrm>
                  <a:off x="955560" y="3570329"/>
                  <a:ext cx="326932" cy="628545"/>
                </a:xfrm>
                <a:prstGeom prst="line">
                  <a:avLst/>
                </a:prstGeom>
                <a:noFill/>
                <a:ln w="28575">
                  <a:solidFill>
                    <a:schemeClr val="bg2">
                      <a:lumMod val="60000"/>
                      <a:lumOff val="40000"/>
                    </a:schemeClr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sz="2400">
                    <a:solidFill>
                      <a:schemeClr val="bg2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39963" name="Line 13"/>
                <p:cNvSpPr>
                  <a:spLocks noChangeShapeType="1"/>
                </p:cNvSpPr>
                <p:nvPr/>
              </p:nvSpPr>
              <p:spPr bwMode="auto">
                <a:xfrm flipH="1">
                  <a:off x="901600" y="2827565"/>
                  <a:ext cx="326932" cy="628659"/>
                </a:xfrm>
                <a:prstGeom prst="line">
                  <a:avLst/>
                </a:prstGeom>
                <a:noFill/>
                <a:ln w="508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9964" name="Oval 14" descr="羊皮纸"/>
                <p:cNvSpPr>
                  <a:spLocks noChangeArrowheads="1"/>
                </p:cNvSpPr>
                <p:nvPr/>
              </p:nvSpPr>
              <p:spPr bwMode="auto">
                <a:xfrm>
                  <a:off x="738135" y="3341672"/>
                  <a:ext cx="326403" cy="34290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 wrap="none" lIns="72000" tIns="54000" rIns="72000" bIns="54000" anchor="ctr"/>
                <a:lstStyle/>
                <a:p>
                  <a:pPr algn="ctr"/>
                  <a:r>
                    <a:rPr kumimoji="1" lang="en-US" altLang="zh-CN" sz="2400" b="1">
                      <a:solidFill>
                        <a:schemeClr val="bg2"/>
                      </a:solidFill>
                      <a:latin typeface="Times New Roman" pitchFamily="18" charset="0"/>
                    </a:rPr>
                    <a:t>5</a:t>
                  </a:r>
                  <a:endParaRPr kumimoji="1" lang="en-US" altLang="zh-CN" sz="2400">
                    <a:solidFill>
                      <a:schemeClr val="bg2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39965" name="Oval 15" descr="羊皮纸"/>
                <p:cNvSpPr>
                  <a:spLocks noChangeArrowheads="1"/>
                </p:cNvSpPr>
                <p:nvPr/>
              </p:nvSpPr>
              <p:spPr bwMode="auto">
                <a:xfrm>
                  <a:off x="1118938" y="2598723"/>
                  <a:ext cx="326403" cy="34290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 wrap="none" lIns="72000" tIns="54000" rIns="72000" bIns="54000" anchor="ctr"/>
                <a:lstStyle/>
                <a:p>
                  <a:pPr algn="ctr"/>
                  <a:r>
                    <a:rPr kumimoji="1" lang="en-US" altLang="zh-CN" sz="2400" b="1">
                      <a:solidFill>
                        <a:schemeClr val="bg2"/>
                      </a:solidFill>
                      <a:latin typeface="Times New Roman" pitchFamily="18" charset="0"/>
                    </a:rPr>
                    <a:t>0</a:t>
                  </a:r>
                  <a:endParaRPr kumimoji="1" lang="en-US" altLang="zh-CN" sz="2400">
                    <a:solidFill>
                      <a:schemeClr val="bg2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39966" name="Oval 16" descr="羊皮纸"/>
                <p:cNvSpPr>
                  <a:spLocks noChangeArrowheads="1"/>
                </p:cNvSpPr>
                <p:nvPr/>
              </p:nvSpPr>
              <p:spPr bwMode="auto">
                <a:xfrm>
                  <a:off x="1118938" y="4027471"/>
                  <a:ext cx="326403" cy="34290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 wrap="none" lIns="72000" tIns="54000" rIns="72000" bIns="54000" anchor="ctr"/>
                <a:lstStyle/>
                <a:p>
                  <a:pPr algn="ctr"/>
                  <a:r>
                    <a:rPr kumimoji="1" lang="en-US" altLang="zh-CN" sz="2400" b="1">
                      <a:solidFill>
                        <a:schemeClr val="bg2"/>
                      </a:solidFill>
                      <a:latin typeface="Times New Roman" pitchFamily="18" charset="0"/>
                    </a:rPr>
                    <a:t>4</a:t>
                  </a:r>
                  <a:endParaRPr kumimoji="1" lang="en-US" altLang="zh-CN" sz="2400">
                    <a:solidFill>
                      <a:schemeClr val="bg2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39967" name="Oval 17" descr="羊皮纸"/>
                <p:cNvSpPr>
                  <a:spLocks noChangeArrowheads="1"/>
                </p:cNvSpPr>
                <p:nvPr/>
              </p:nvSpPr>
              <p:spPr bwMode="auto">
                <a:xfrm>
                  <a:off x="1554142" y="3341672"/>
                  <a:ext cx="326403" cy="34290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 wrap="none" lIns="72000" tIns="54000" rIns="72000" bIns="54000" anchor="ctr"/>
                <a:lstStyle/>
                <a:p>
                  <a:pPr algn="ctr"/>
                  <a:r>
                    <a:rPr kumimoji="1" lang="en-US" altLang="zh-CN" sz="2400" b="1">
                      <a:solidFill>
                        <a:schemeClr val="bg2"/>
                      </a:solidFill>
                      <a:latin typeface="Times New Roman" pitchFamily="18" charset="0"/>
                    </a:rPr>
                    <a:t>6</a:t>
                  </a:r>
                  <a:endParaRPr kumimoji="1" lang="en-US" altLang="zh-CN" sz="2400">
                    <a:solidFill>
                      <a:schemeClr val="bg2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39968" name="Oval 18" descr="羊皮纸"/>
                <p:cNvSpPr>
                  <a:spLocks noChangeArrowheads="1"/>
                </p:cNvSpPr>
                <p:nvPr/>
              </p:nvSpPr>
              <p:spPr bwMode="auto">
                <a:xfrm>
                  <a:off x="1934945" y="2598723"/>
                  <a:ext cx="326403" cy="34290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 wrap="none" lIns="72000" tIns="54000" rIns="72000" bIns="54000" anchor="ctr"/>
                <a:lstStyle/>
                <a:p>
                  <a:pPr algn="ctr"/>
                  <a:r>
                    <a:rPr kumimoji="1" lang="en-US" altLang="zh-CN" sz="2400" b="1">
                      <a:solidFill>
                        <a:schemeClr val="bg2"/>
                      </a:solidFill>
                      <a:latin typeface="Times New Roman" pitchFamily="18" charset="0"/>
                    </a:rPr>
                    <a:t>1</a:t>
                  </a:r>
                  <a:endParaRPr kumimoji="1" lang="en-US" altLang="zh-CN" sz="2400">
                    <a:solidFill>
                      <a:schemeClr val="bg2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39969" name="Oval 19" descr="羊皮纸"/>
                <p:cNvSpPr>
                  <a:spLocks noChangeArrowheads="1"/>
                </p:cNvSpPr>
                <p:nvPr/>
              </p:nvSpPr>
              <p:spPr bwMode="auto">
                <a:xfrm>
                  <a:off x="1934945" y="4027471"/>
                  <a:ext cx="326403" cy="34290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 wrap="none" lIns="72000" tIns="54000" rIns="72000" bIns="54000" anchor="ctr"/>
                <a:lstStyle/>
                <a:p>
                  <a:pPr algn="ctr"/>
                  <a:r>
                    <a:rPr kumimoji="1" lang="en-US" altLang="zh-CN" sz="2400" b="1">
                      <a:solidFill>
                        <a:schemeClr val="bg2"/>
                      </a:solidFill>
                      <a:latin typeface="Times New Roman" pitchFamily="18" charset="0"/>
                    </a:rPr>
                    <a:t>3</a:t>
                  </a:r>
                  <a:endParaRPr kumimoji="1" lang="en-US" altLang="zh-CN" sz="2400">
                    <a:solidFill>
                      <a:schemeClr val="bg2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39970" name="Oval 20" descr="羊皮纸"/>
                <p:cNvSpPr>
                  <a:spLocks noChangeArrowheads="1"/>
                </p:cNvSpPr>
                <p:nvPr/>
              </p:nvSpPr>
              <p:spPr bwMode="auto">
                <a:xfrm flipH="1">
                  <a:off x="2370148" y="3341672"/>
                  <a:ext cx="326403" cy="34290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 wrap="none" lIns="72000" tIns="54000" rIns="72000" bIns="54000" anchor="ctr"/>
                <a:lstStyle/>
                <a:p>
                  <a:pPr algn="ctr"/>
                  <a:r>
                    <a:rPr kumimoji="1" lang="en-US" altLang="zh-CN" sz="2400" b="1">
                      <a:solidFill>
                        <a:schemeClr val="bg2"/>
                      </a:solidFill>
                      <a:latin typeface="Times New Roman" pitchFamily="18" charset="0"/>
                    </a:rPr>
                    <a:t>2</a:t>
                  </a:r>
                  <a:endParaRPr kumimoji="1" lang="en-US" altLang="zh-CN" sz="2400">
                    <a:solidFill>
                      <a:schemeClr val="bg2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39971" name="Text Box 22"/>
                <p:cNvSpPr txBox="1">
                  <a:spLocks noChangeArrowheads="1"/>
                </p:cNvSpPr>
                <p:nvPr/>
              </p:nvSpPr>
              <p:spPr bwMode="auto">
                <a:xfrm>
                  <a:off x="738135" y="2846509"/>
                  <a:ext cx="415498" cy="3640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9pPr>
                </a:lstStyle>
                <a:p>
                  <a:pPr algn="ctr" eaLnBrk="1" hangingPunct="1"/>
                  <a:r>
                    <a:rPr kumimoji="1" lang="en-US" altLang="zh-CN" b="1">
                      <a:solidFill>
                        <a:srgbClr val="C00000"/>
                      </a:solidFill>
                      <a:latin typeface="Times New Roman" pitchFamily="18" charset="0"/>
                    </a:rPr>
                    <a:t>10</a:t>
                  </a:r>
                  <a:endParaRPr kumimoji="1" lang="en-US" altLang="zh-CN">
                    <a:solidFill>
                      <a:srgbClr val="C00000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39972" name="Text Box 23"/>
                <p:cNvSpPr txBox="1">
                  <a:spLocks noChangeArrowheads="1"/>
                </p:cNvSpPr>
                <p:nvPr/>
              </p:nvSpPr>
              <p:spPr bwMode="auto">
                <a:xfrm>
                  <a:off x="760793" y="3714404"/>
                  <a:ext cx="415498" cy="36403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9pPr>
                </a:lstStyle>
                <a:p>
                  <a:pPr algn="ctr" eaLnBrk="1" hangingPunct="1"/>
                  <a:r>
                    <a:rPr kumimoji="1" lang="en-US" altLang="zh-CN" b="1">
                      <a:solidFill>
                        <a:srgbClr val="C00000"/>
                      </a:solidFill>
                      <a:latin typeface="Times New Roman" pitchFamily="18" charset="0"/>
                    </a:rPr>
                    <a:t>25</a:t>
                  </a:r>
                  <a:endParaRPr kumimoji="1" lang="en-US" altLang="zh-CN">
                    <a:solidFill>
                      <a:srgbClr val="C00000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39973" name="Text Box 24"/>
                <p:cNvSpPr txBox="1">
                  <a:spLocks noChangeArrowheads="1"/>
                </p:cNvSpPr>
                <p:nvPr/>
              </p:nvSpPr>
              <p:spPr bwMode="auto">
                <a:xfrm>
                  <a:off x="1527566" y="2895188"/>
                  <a:ext cx="415498" cy="3640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9pPr>
                </a:lstStyle>
                <a:p>
                  <a:pPr algn="ctr" eaLnBrk="1" hangingPunct="1"/>
                  <a:r>
                    <a:rPr kumimoji="1" lang="en-US" altLang="zh-CN" b="1">
                      <a:solidFill>
                        <a:srgbClr val="C00000"/>
                      </a:solidFill>
                      <a:latin typeface="Times New Roman" pitchFamily="18" charset="0"/>
                    </a:rPr>
                    <a:t>14</a:t>
                  </a:r>
                  <a:endParaRPr kumimoji="1" lang="en-US" altLang="zh-CN">
                    <a:solidFill>
                      <a:srgbClr val="C00000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39974" name="Text Box 25"/>
                <p:cNvSpPr txBox="1">
                  <a:spLocks noChangeArrowheads="1"/>
                </p:cNvSpPr>
                <p:nvPr/>
              </p:nvSpPr>
              <p:spPr bwMode="auto">
                <a:xfrm>
                  <a:off x="1198949" y="3638284"/>
                  <a:ext cx="415498" cy="3640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9pPr>
                </a:lstStyle>
                <a:p>
                  <a:pPr algn="ctr" eaLnBrk="1" hangingPunct="1"/>
                  <a:r>
                    <a:rPr kumimoji="1" lang="en-US" altLang="zh-CN" b="1">
                      <a:solidFill>
                        <a:srgbClr val="C00000"/>
                      </a:solidFill>
                      <a:latin typeface="Times New Roman" pitchFamily="18" charset="0"/>
                    </a:rPr>
                    <a:t>24</a:t>
                  </a:r>
                  <a:endParaRPr kumimoji="1" lang="en-US" altLang="zh-CN">
                    <a:solidFill>
                      <a:srgbClr val="C00000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39975" name="Text Box 26"/>
                <p:cNvSpPr txBox="1">
                  <a:spLocks noChangeArrowheads="1"/>
                </p:cNvSpPr>
                <p:nvPr/>
              </p:nvSpPr>
              <p:spPr bwMode="auto">
                <a:xfrm>
                  <a:off x="1499741" y="4137998"/>
                  <a:ext cx="415498" cy="36403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9pPr>
                </a:lstStyle>
                <a:p>
                  <a:pPr algn="ctr" eaLnBrk="1" hangingPunct="1"/>
                  <a:r>
                    <a:rPr kumimoji="1" lang="en-US" altLang="zh-CN" b="1">
                      <a:solidFill>
                        <a:srgbClr val="C00000"/>
                      </a:solidFill>
                      <a:latin typeface="Times New Roman" pitchFamily="18" charset="0"/>
                    </a:rPr>
                    <a:t>22</a:t>
                  </a:r>
                  <a:endParaRPr kumimoji="1" lang="en-US" altLang="zh-CN">
                    <a:solidFill>
                      <a:srgbClr val="C00000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39976" name="Text Box 27"/>
                <p:cNvSpPr txBox="1">
                  <a:spLocks noChangeArrowheads="1"/>
                </p:cNvSpPr>
                <p:nvPr/>
              </p:nvSpPr>
              <p:spPr bwMode="auto">
                <a:xfrm>
                  <a:off x="2271681" y="2895188"/>
                  <a:ext cx="415498" cy="3640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9pPr>
                </a:lstStyle>
                <a:p>
                  <a:pPr algn="ctr" eaLnBrk="1" hangingPunct="1"/>
                  <a:r>
                    <a:rPr kumimoji="1" lang="en-US" altLang="zh-CN" b="1">
                      <a:solidFill>
                        <a:srgbClr val="C00000"/>
                      </a:solidFill>
                      <a:latin typeface="Times New Roman" pitchFamily="18" charset="0"/>
                    </a:rPr>
                    <a:t>16</a:t>
                  </a:r>
                  <a:endParaRPr kumimoji="1" lang="en-US" altLang="zh-CN">
                    <a:solidFill>
                      <a:srgbClr val="C00000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39977" name="Text Box 28"/>
                <p:cNvSpPr txBox="1">
                  <a:spLocks noChangeArrowheads="1"/>
                </p:cNvSpPr>
                <p:nvPr/>
              </p:nvSpPr>
              <p:spPr bwMode="auto">
                <a:xfrm>
                  <a:off x="1797012" y="3570271"/>
                  <a:ext cx="415498" cy="3640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9pPr>
                </a:lstStyle>
                <a:p>
                  <a:pPr algn="ctr" eaLnBrk="1" hangingPunct="1"/>
                  <a:r>
                    <a:rPr kumimoji="1" lang="en-US" altLang="zh-CN" b="1">
                      <a:solidFill>
                        <a:srgbClr val="C00000"/>
                      </a:solidFill>
                      <a:latin typeface="Times New Roman" pitchFamily="18" charset="0"/>
                    </a:rPr>
                    <a:t>18</a:t>
                  </a:r>
                  <a:endParaRPr kumimoji="1" lang="en-US" altLang="zh-CN">
                    <a:solidFill>
                      <a:srgbClr val="C00000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39978" name="Text Box 29"/>
                <p:cNvSpPr txBox="1">
                  <a:spLocks noChangeArrowheads="1"/>
                </p:cNvSpPr>
                <p:nvPr/>
              </p:nvSpPr>
              <p:spPr bwMode="auto">
                <a:xfrm>
                  <a:off x="2271681" y="3752437"/>
                  <a:ext cx="415498" cy="3640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9pPr>
                </a:lstStyle>
                <a:p>
                  <a:pPr algn="ctr" eaLnBrk="1" hangingPunct="1"/>
                  <a:r>
                    <a:rPr kumimoji="1" lang="en-US" altLang="zh-CN" b="1">
                      <a:solidFill>
                        <a:srgbClr val="C00000"/>
                      </a:solidFill>
                      <a:latin typeface="Times New Roman" pitchFamily="18" charset="0"/>
                    </a:rPr>
                    <a:t>12</a:t>
                  </a:r>
                  <a:endParaRPr kumimoji="1" lang="en-US" altLang="zh-CN">
                    <a:solidFill>
                      <a:srgbClr val="C00000"/>
                    </a:solidFill>
                    <a:latin typeface="Times New Roman" pitchFamily="18" charset="0"/>
                  </a:endParaRPr>
                </a:p>
              </p:txBody>
            </p:sp>
          </p:grpSp>
        </p:grpSp>
        <p:sp>
          <p:nvSpPr>
            <p:cNvPr id="55" name="Line 11"/>
            <p:cNvSpPr>
              <a:spLocks noChangeShapeType="1"/>
            </p:cNvSpPr>
            <p:nvPr/>
          </p:nvSpPr>
          <p:spPr bwMode="auto">
            <a:xfrm flipV="1">
              <a:off x="993774" y="4706728"/>
              <a:ext cx="255588" cy="449181"/>
            </a:xfrm>
            <a:prstGeom prst="line">
              <a:avLst/>
            </a:prstGeom>
            <a:noFill/>
            <a:ln w="28575">
              <a:solidFill>
                <a:schemeClr val="bg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400">
                <a:solidFill>
                  <a:schemeClr val="bg2"/>
                </a:solidFill>
                <a:ea typeface="宋体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330378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最小生成树</a:t>
            </a:r>
          </a:p>
        </p:txBody>
      </p:sp>
      <p:sp>
        <p:nvSpPr>
          <p:cNvPr id="4096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>
                <a:latin typeface="Arial" charset="0"/>
                <a:ea typeface="黑体" pitchFamily="2" charset="-122"/>
              </a:rPr>
              <a:t>克鲁斯卡尔 </a:t>
            </a:r>
            <a:r>
              <a:rPr lang="en-US" altLang="zh-CN">
                <a:latin typeface="Arial" charset="0"/>
                <a:ea typeface="黑体" pitchFamily="2" charset="-122"/>
              </a:rPr>
              <a:t>(Kruskal) </a:t>
            </a:r>
            <a:r>
              <a:rPr lang="zh-CN" altLang="en-US">
                <a:latin typeface="Arial" charset="0"/>
                <a:ea typeface="黑体" pitchFamily="2" charset="-122"/>
              </a:rPr>
              <a:t>算法</a:t>
            </a:r>
            <a:endParaRPr lang="en-US" altLang="zh-CN">
              <a:latin typeface="Arial" charset="0"/>
              <a:ea typeface="黑体" pitchFamily="2" charset="-122"/>
            </a:endParaRPr>
          </a:p>
          <a:p>
            <a:pPr lvl="1"/>
            <a:r>
              <a:rPr lang="zh-CN" altLang="en-US">
                <a:latin typeface="Arial" charset="0"/>
                <a:ea typeface="黑体" pitchFamily="2" charset="-122"/>
              </a:rPr>
              <a:t>经常需要判断权值最小的边的两端是否属于不同连通分量</a:t>
            </a:r>
            <a:endParaRPr lang="en-US" altLang="zh-CN">
              <a:latin typeface="Arial" charset="0"/>
              <a:ea typeface="黑体" pitchFamily="2" charset="-122"/>
            </a:endParaRPr>
          </a:p>
          <a:p>
            <a:pPr lvl="2"/>
            <a:r>
              <a:rPr lang="zh-CN" altLang="en-US">
                <a:latin typeface="Arial" charset="0"/>
                <a:ea typeface="黑体" pitchFamily="2" charset="-122"/>
              </a:rPr>
              <a:t>可使用并查集技术加快判断速度</a:t>
            </a:r>
          </a:p>
        </p:txBody>
      </p:sp>
      <p:sp>
        <p:nvSpPr>
          <p:cNvPr id="40964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fld id="{CE2D773C-ED9D-4404-A51E-F243C65FCFEC}" type="slidenum">
              <a:rPr lang="en-US" altLang="zh-CN" smtClean="0">
                <a:solidFill>
                  <a:srgbClr val="006600"/>
                </a:solidFill>
                <a:latin typeface="Courier New" pitchFamily="49" charset="0"/>
                <a:ea typeface="华文新魏" pitchFamily="2" charset="-122"/>
              </a:rPr>
              <a:pPr eaLnBrk="1" hangingPunct="1"/>
              <a:t>35</a:t>
            </a:fld>
            <a:endParaRPr lang="en-US" altLang="zh-CN">
              <a:solidFill>
                <a:srgbClr val="006600"/>
              </a:solidFill>
              <a:latin typeface="Courier New" pitchFamily="49" charset="0"/>
              <a:ea typeface="华文新魏" pitchFamily="2" charset="-122"/>
            </a:endParaRPr>
          </a:p>
        </p:txBody>
      </p:sp>
      <p:sp>
        <p:nvSpPr>
          <p:cNvPr id="40965" name="TextBox 39"/>
          <p:cNvSpPr txBox="1">
            <a:spLocks noChangeArrowheads="1"/>
          </p:cNvSpPr>
          <p:nvPr/>
        </p:nvSpPr>
        <p:spPr bwMode="auto">
          <a:xfrm>
            <a:off x="2636838" y="3830638"/>
            <a:ext cx="9794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b="1">
                <a:solidFill>
                  <a:srgbClr val="C00000"/>
                </a:solidFill>
                <a:ea typeface="黑体" pitchFamily="2" charset="-122"/>
              </a:rPr>
              <a:t>10 (0,5)</a:t>
            </a:r>
          </a:p>
        </p:txBody>
      </p:sp>
      <p:sp>
        <p:nvSpPr>
          <p:cNvPr id="40966" name="矩形 40"/>
          <p:cNvSpPr>
            <a:spLocks noChangeArrowheads="1"/>
          </p:cNvSpPr>
          <p:nvPr/>
        </p:nvSpPr>
        <p:spPr bwMode="auto">
          <a:xfrm>
            <a:off x="2636838" y="4154488"/>
            <a:ext cx="9794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b="1">
                <a:solidFill>
                  <a:srgbClr val="C00000"/>
                </a:solidFill>
                <a:ea typeface="黑体" pitchFamily="2" charset="-122"/>
              </a:rPr>
              <a:t>12 (2,3)</a:t>
            </a:r>
          </a:p>
        </p:txBody>
      </p:sp>
      <p:sp>
        <p:nvSpPr>
          <p:cNvPr id="40967" name="矩形 41"/>
          <p:cNvSpPr>
            <a:spLocks noChangeArrowheads="1"/>
          </p:cNvSpPr>
          <p:nvPr/>
        </p:nvSpPr>
        <p:spPr bwMode="auto">
          <a:xfrm>
            <a:off x="2636838" y="4451350"/>
            <a:ext cx="9794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b="1">
                <a:solidFill>
                  <a:srgbClr val="C00000"/>
                </a:solidFill>
                <a:ea typeface="黑体" pitchFamily="2" charset="-122"/>
              </a:rPr>
              <a:t>14 (1,6)</a:t>
            </a:r>
          </a:p>
        </p:txBody>
      </p:sp>
      <p:sp>
        <p:nvSpPr>
          <p:cNvPr id="40968" name="矩形 42"/>
          <p:cNvSpPr>
            <a:spLocks noChangeArrowheads="1"/>
          </p:cNvSpPr>
          <p:nvPr/>
        </p:nvSpPr>
        <p:spPr bwMode="auto">
          <a:xfrm>
            <a:off x="2636838" y="4779963"/>
            <a:ext cx="9794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b="1">
                <a:solidFill>
                  <a:srgbClr val="C00000"/>
                </a:solidFill>
                <a:ea typeface="黑体" pitchFamily="2" charset="-122"/>
              </a:rPr>
              <a:t>16 (1,2)</a:t>
            </a:r>
          </a:p>
        </p:txBody>
      </p:sp>
      <p:sp>
        <p:nvSpPr>
          <p:cNvPr id="40969" name="矩形 43"/>
          <p:cNvSpPr>
            <a:spLocks noChangeArrowheads="1"/>
          </p:cNvSpPr>
          <p:nvPr/>
        </p:nvSpPr>
        <p:spPr bwMode="auto">
          <a:xfrm>
            <a:off x="2636838" y="5108575"/>
            <a:ext cx="9794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b="1">
                <a:solidFill>
                  <a:srgbClr val="C00000"/>
                </a:solidFill>
                <a:ea typeface="黑体" pitchFamily="2" charset="-122"/>
              </a:rPr>
              <a:t>18 (3,6)</a:t>
            </a:r>
          </a:p>
        </p:txBody>
      </p:sp>
      <p:sp>
        <p:nvSpPr>
          <p:cNvPr id="40970" name="矩形 44"/>
          <p:cNvSpPr>
            <a:spLocks noChangeArrowheads="1"/>
          </p:cNvSpPr>
          <p:nvPr/>
        </p:nvSpPr>
        <p:spPr bwMode="auto">
          <a:xfrm>
            <a:off x="2636838" y="5437188"/>
            <a:ext cx="9794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b="1">
                <a:solidFill>
                  <a:srgbClr val="000099"/>
                </a:solidFill>
                <a:ea typeface="黑体" pitchFamily="2" charset="-122"/>
              </a:rPr>
              <a:t>22 (3,4)</a:t>
            </a:r>
          </a:p>
        </p:txBody>
      </p:sp>
      <p:sp>
        <p:nvSpPr>
          <p:cNvPr id="40971" name="矩形 45"/>
          <p:cNvSpPr>
            <a:spLocks noChangeArrowheads="1"/>
          </p:cNvSpPr>
          <p:nvPr/>
        </p:nvSpPr>
        <p:spPr bwMode="auto">
          <a:xfrm>
            <a:off x="2636838" y="5765800"/>
            <a:ext cx="9794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b="1">
                <a:solidFill>
                  <a:srgbClr val="000099"/>
                </a:solidFill>
                <a:ea typeface="黑体" pitchFamily="2" charset="-122"/>
              </a:rPr>
              <a:t>24 (4,6)</a:t>
            </a:r>
          </a:p>
        </p:txBody>
      </p:sp>
      <p:sp>
        <p:nvSpPr>
          <p:cNvPr id="40972" name="矩形 46"/>
          <p:cNvSpPr>
            <a:spLocks noChangeArrowheads="1"/>
          </p:cNvSpPr>
          <p:nvPr/>
        </p:nvSpPr>
        <p:spPr bwMode="auto">
          <a:xfrm>
            <a:off x="2636838" y="6094413"/>
            <a:ext cx="9794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b="1">
                <a:solidFill>
                  <a:srgbClr val="000099"/>
                </a:solidFill>
                <a:ea typeface="黑体" pitchFamily="2" charset="-122"/>
              </a:rPr>
              <a:t>25 (4,5)</a:t>
            </a:r>
            <a:endParaRPr lang="zh-CN" altLang="en-US" b="1">
              <a:solidFill>
                <a:srgbClr val="000099"/>
              </a:solidFill>
              <a:ea typeface="黑体" pitchFamily="2" charset="-122"/>
            </a:endParaRPr>
          </a:p>
        </p:txBody>
      </p:sp>
      <p:sp>
        <p:nvSpPr>
          <p:cNvPr id="40973" name="TextBox 47"/>
          <p:cNvSpPr txBox="1">
            <a:spLocks noChangeArrowheads="1"/>
          </p:cNvSpPr>
          <p:nvPr/>
        </p:nvSpPr>
        <p:spPr bwMode="auto">
          <a:xfrm>
            <a:off x="4645025" y="5473700"/>
            <a:ext cx="11239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zh-CN" altLang="en-US" b="1">
                <a:solidFill>
                  <a:srgbClr val="000099"/>
                </a:solidFill>
                <a:ea typeface="黑体" pitchFamily="2" charset="-122"/>
              </a:rPr>
              <a:t>取边</a:t>
            </a:r>
            <a:r>
              <a:rPr lang="en-US" altLang="zh-CN" b="1">
                <a:solidFill>
                  <a:srgbClr val="000099"/>
                </a:solidFill>
                <a:ea typeface="黑体" pitchFamily="2" charset="-122"/>
              </a:rPr>
              <a:t>(3,6)</a:t>
            </a:r>
            <a:endParaRPr lang="zh-CN" altLang="en-US" b="1">
              <a:solidFill>
                <a:srgbClr val="000099"/>
              </a:solidFill>
              <a:ea typeface="黑体" pitchFamily="2" charset="-122"/>
            </a:endParaRPr>
          </a:p>
        </p:txBody>
      </p:sp>
      <p:grpSp>
        <p:nvGrpSpPr>
          <p:cNvPr id="40974" name="组合 101"/>
          <p:cNvGrpSpPr>
            <a:grpSpLocks/>
          </p:cNvGrpSpPr>
          <p:nvPr/>
        </p:nvGrpSpPr>
        <p:grpSpPr bwMode="auto">
          <a:xfrm>
            <a:off x="4040188" y="3502025"/>
            <a:ext cx="2355850" cy="1803400"/>
            <a:chOff x="4039978" y="3502026"/>
            <a:chExt cx="2355458" cy="1803420"/>
          </a:xfrm>
        </p:grpSpPr>
        <p:sp>
          <p:nvSpPr>
            <p:cNvPr id="41003" name="Oval 14" descr="羊皮纸"/>
            <p:cNvSpPr>
              <a:spLocks noChangeArrowheads="1"/>
            </p:cNvSpPr>
            <p:nvPr/>
          </p:nvSpPr>
          <p:spPr bwMode="auto">
            <a:xfrm>
              <a:off x="4039978" y="4232286"/>
              <a:ext cx="326403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  <a:round/>
              <a:headEnd/>
              <a:tailEnd/>
            </a:ln>
          </p:spPr>
          <p:txBody>
            <a:bodyPr wrap="none" lIns="72000" tIns="54000" rIns="72000" bIns="54000" anchor="ctr"/>
            <a:lstStyle/>
            <a:p>
              <a:pPr algn="ctr"/>
              <a:r>
                <a:rPr kumimoji="1" lang="en-US" altLang="zh-CN" sz="2400" b="1">
                  <a:solidFill>
                    <a:schemeClr val="bg2"/>
                  </a:solidFill>
                  <a:latin typeface="Times New Roman" pitchFamily="18" charset="0"/>
                </a:rPr>
                <a:t>5</a:t>
              </a:r>
              <a:endParaRPr kumimoji="1" lang="en-US" altLang="zh-CN" sz="240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sp>
          <p:nvSpPr>
            <p:cNvPr id="41004" name="Oval 15" descr="羊皮纸"/>
            <p:cNvSpPr>
              <a:spLocks noChangeArrowheads="1"/>
            </p:cNvSpPr>
            <p:nvPr/>
          </p:nvSpPr>
          <p:spPr bwMode="auto">
            <a:xfrm>
              <a:off x="4039978" y="3502026"/>
              <a:ext cx="326403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  <a:round/>
              <a:headEnd/>
              <a:tailEnd/>
            </a:ln>
          </p:spPr>
          <p:txBody>
            <a:bodyPr wrap="none" lIns="72000" tIns="54000" rIns="72000" bIns="54000" anchor="ctr"/>
            <a:lstStyle/>
            <a:p>
              <a:pPr algn="ctr"/>
              <a:r>
                <a:rPr kumimoji="1" lang="en-US" altLang="zh-CN" sz="2400" b="1">
                  <a:solidFill>
                    <a:schemeClr val="bg2"/>
                  </a:solidFill>
                  <a:latin typeface="Times New Roman" pitchFamily="18" charset="0"/>
                </a:rPr>
                <a:t>0</a:t>
              </a:r>
              <a:endParaRPr kumimoji="1" lang="en-US" altLang="zh-CN" sz="240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sp>
          <p:nvSpPr>
            <p:cNvPr id="41005" name="Oval 16" descr="羊皮纸"/>
            <p:cNvSpPr>
              <a:spLocks noChangeArrowheads="1"/>
            </p:cNvSpPr>
            <p:nvPr/>
          </p:nvSpPr>
          <p:spPr bwMode="auto">
            <a:xfrm>
              <a:off x="4681539" y="4232286"/>
              <a:ext cx="326403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  <a:round/>
              <a:headEnd/>
              <a:tailEnd/>
            </a:ln>
          </p:spPr>
          <p:txBody>
            <a:bodyPr wrap="none" lIns="72000" tIns="54000" rIns="72000" bIns="54000" anchor="ctr"/>
            <a:lstStyle/>
            <a:p>
              <a:pPr algn="ctr"/>
              <a:r>
                <a:rPr kumimoji="1" lang="en-US" altLang="zh-CN" sz="2400" b="1">
                  <a:solidFill>
                    <a:schemeClr val="bg2"/>
                  </a:solidFill>
                  <a:latin typeface="Times New Roman" pitchFamily="18" charset="0"/>
                </a:rPr>
                <a:t>6</a:t>
              </a:r>
              <a:endParaRPr kumimoji="1" lang="en-US" altLang="zh-CN" sz="240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sp>
          <p:nvSpPr>
            <p:cNvPr id="41006" name="Oval 18" descr="羊皮纸"/>
            <p:cNvSpPr>
              <a:spLocks noChangeArrowheads="1"/>
            </p:cNvSpPr>
            <p:nvPr/>
          </p:nvSpPr>
          <p:spPr bwMode="auto">
            <a:xfrm>
              <a:off x="4681539" y="3502026"/>
              <a:ext cx="326403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  <a:round/>
              <a:headEnd/>
              <a:tailEnd/>
            </a:ln>
          </p:spPr>
          <p:txBody>
            <a:bodyPr wrap="none" lIns="72000" tIns="54000" rIns="72000" bIns="54000" anchor="ctr"/>
            <a:lstStyle/>
            <a:p>
              <a:pPr algn="ctr"/>
              <a:r>
                <a:rPr kumimoji="1" lang="en-US" altLang="zh-CN" sz="2400" b="1">
                  <a:solidFill>
                    <a:schemeClr val="bg2"/>
                  </a:solidFill>
                  <a:latin typeface="Times New Roman" pitchFamily="18" charset="0"/>
                </a:rPr>
                <a:t>1</a:t>
              </a:r>
              <a:endParaRPr kumimoji="1" lang="en-US" altLang="zh-CN" sz="240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sp>
          <p:nvSpPr>
            <p:cNvPr id="41007" name="Oval 19" descr="羊皮纸"/>
            <p:cNvSpPr>
              <a:spLocks noChangeArrowheads="1"/>
            </p:cNvSpPr>
            <p:nvPr/>
          </p:nvSpPr>
          <p:spPr bwMode="auto">
            <a:xfrm>
              <a:off x="6069033" y="3502026"/>
              <a:ext cx="326403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  <a:round/>
              <a:headEnd/>
              <a:tailEnd/>
            </a:ln>
          </p:spPr>
          <p:txBody>
            <a:bodyPr wrap="none" lIns="72000" tIns="54000" rIns="72000" bIns="54000" anchor="ctr"/>
            <a:lstStyle/>
            <a:p>
              <a:pPr algn="ctr"/>
              <a:r>
                <a:rPr kumimoji="1" lang="en-US" altLang="zh-CN" sz="2400" b="1">
                  <a:solidFill>
                    <a:schemeClr val="bg2"/>
                  </a:solidFill>
                  <a:latin typeface="Times New Roman" pitchFamily="18" charset="0"/>
                </a:rPr>
                <a:t>4</a:t>
              </a:r>
              <a:endParaRPr kumimoji="1" lang="en-US" altLang="zh-CN" sz="240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cxnSp>
          <p:nvCxnSpPr>
            <p:cNvPr id="88" name="直接箭头连接符 87"/>
            <p:cNvCxnSpPr>
              <a:stCxn id="41003" idx="0"/>
              <a:endCxn id="41004" idx="4"/>
            </p:cNvCxnSpPr>
            <p:nvPr/>
          </p:nvCxnSpPr>
          <p:spPr>
            <a:xfrm rot="5400000" flipH="1" flipV="1">
              <a:off x="4008199" y="4038607"/>
              <a:ext cx="388942" cy="1587"/>
            </a:xfrm>
            <a:prstGeom prst="straightConnector1">
              <a:avLst/>
            </a:prstGeom>
            <a:ln w="25400">
              <a:solidFill>
                <a:schemeClr val="bg2">
                  <a:lumMod val="40000"/>
                  <a:lumOff val="6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1009" name="组合 98"/>
            <p:cNvGrpSpPr>
              <a:grpSpLocks/>
            </p:cNvGrpSpPr>
            <p:nvPr/>
          </p:nvGrpSpPr>
          <p:grpSpPr bwMode="auto">
            <a:xfrm>
              <a:off x="5375286" y="4232286"/>
              <a:ext cx="326403" cy="1073160"/>
              <a:chOff x="5375286" y="4232286"/>
              <a:chExt cx="326403" cy="1073160"/>
            </a:xfrm>
          </p:grpSpPr>
          <p:sp>
            <p:nvSpPr>
              <p:cNvPr id="41012" name="Oval 17" descr="羊皮纸"/>
              <p:cNvSpPr>
                <a:spLocks noChangeArrowheads="1"/>
              </p:cNvSpPr>
              <p:nvPr/>
            </p:nvSpPr>
            <p:spPr bwMode="auto">
              <a:xfrm>
                <a:off x="5375286" y="4962546"/>
                <a:ext cx="326403" cy="3429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lIns="72000" tIns="54000" rIns="72000" bIns="54000" anchor="ctr"/>
              <a:lstStyle/>
              <a:p>
                <a:pPr algn="ctr"/>
                <a:r>
                  <a:rPr kumimoji="1" lang="en-US" altLang="zh-CN" sz="2400" b="1">
                    <a:solidFill>
                      <a:schemeClr val="bg2"/>
                    </a:solidFill>
                    <a:latin typeface="Times New Roman" pitchFamily="18" charset="0"/>
                  </a:rPr>
                  <a:t>3</a:t>
                </a:r>
                <a:endParaRPr kumimoji="1" lang="en-US" altLang="zh-CN" sz="2400">
                  <a:solidFill>
                    <a:schemeClr val="bg2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41013" name="Oval 20" descr="羊皮纸"/>
              <p:cNvSpPr>
                <a:spLocks noChangeArrowheads="1"/>
              </p:cNvSpPr>
              <p:nvPr/>
            </p:nvSpPr>
            <p:spPr bwMode="auto">
              <a:xfrm flipH="1">
                <a:off x="5375286" y="4232286"/>
                <a:ext cx="326403" cy="3429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lIns="72000" tIns="54000" rIns="72000" bIns="54000" anchor="ctr"/>
              <a:lstStyle/>
              <a:p>
                <a:pPr algn="ctr"/>
                <a:r>
                  <a:rPr kumimoji="1" lang="en-US" altLang="zh-CN" sz="2400" b="1">
                    <a:solidFill>
                      <a:schemeClr val="bg2"/>
                    </a:solidFill>
                    <a:latin typeface="Times New Roman" pitchFamily="18" charset="0"/>
                  </a:rPr>
                  <a:t>2</a:t>
                </a:r>
                <a:endParaRPr kumimoji="1" lang="en-US" altLang="zh-CN" sz="2400">
                  <a:solidFill>
                    <a:schemeClr val="bg2"/>
                  </a:solidFill>
                  <a:latin typeface="Times New Roman" pitchFamily="18" charset="0"/>
                </a:endParaRPr>
              </a:p>
            </p:txBody>
          </p:sp>
          <p:cxnSp>
            <p:nvCxnSpPr>
              <p:cNvPr id="89" name="直接箭头连接符 88"/>
              <p:cNvCxnSpPr>
                <a:stCxn id="41012" idx="0"/>
                <a:endCxn id="41013" idx="4"/>
              </p:cNvCxnSpPr>
              <p:nvPr/>
            </p:nvCxnSpPr>
            <p:spPr>
              <a:xfrm rot="16200000" flipV="1">
                <a:off x="5344652" y="4768865"/>
                <a:ext cx="387354" cy="0"/>
              </a:xfrm>
              <a:prstGeom prst="straightConnector1">
                <a:avLst/>
              </a:prstGeom>
              <a:ln w="25400">
                <a:solidFill>
                  <a:schemeClr val="bg2">
                    <a:lumMod val="40000"/>
                    <a:lumOff val="60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0" name="直接箭头连接符 89"/>
            <p:cNvCxnSpPr>
              <a:stCxn id="41005" idx="0"/>
              <a:endCxn id="41006" idx="4"/>
            </p:cNvCxnSpPr>
            <p:nvPr/>
          </p:nvCxnSpPr>
          <p:spPr>
            <a:xfrm rot="5400000" flipH="1" flipV="1">
              <a:off x="4651029" y="4038607"/>
              <a:ext cx="388942" cy="1588"/>
            </a:xfrm>
            <a:prstGeom prst="straightConnector1">
              <a:avLst/>
            </a:prstGeom>
            <a:ln w="25400">
              <a:solidFill>
                <a:schemeClr val="bg2">
                  <a:lumMod val="40000"/>
                  <a:lumOff val="6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箭头连接符 100"/>
            <p:cNvCxnSpPr>
              <a:stCxn id="41013" idx="7"/>
              <a:endCxn id="41006" idx="5"/>
            </p:cNvCxnSpPr>
            <p:nvPr/>
          </p:nvCxnSpPr>
          <p:spPr>
            <a:xfrm rot="16200000" flipV="1">
              <a:off x="4947040" y="3807664"/>
              <a:ext cx="488955" cy="461885"/>
            </a:xfrm>
            <a:prstGeom prst="straightConnector1">
              <a:avLst/>
            </a:prstGeom>
            <a:ln w="25400">
              <a:solidFill>
                <a:schemeClr val="bg2">
                  <a:lumMod val="40000"/>
                  <a:lumOff val="6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975" name="组合 52"/>
          <p:cNvGrpSpPr>
            <a:grpSpLocks/>
          </p:cNvGrpSpPr>
          <p:nvPr/>
        </p:nvGrpSpPr>
        <p:grpSpPr bwMode="auto">
          <a:xfrm>
            <a:off x="373063" y="3535363"/>
            <a:ext cx="1958975" cy="2016125"/>
            <a:chOff x="373061" y="3535364"/>
            <a:chExt cx="1958977" cy="2015762"/>
          </a:xfrm>
        </p:grpSpPr>
        <p:grpSp>
          <p:nvGrpSpPr>
            <p:cNvPr id="40976" name="组合 4"/>
            <p:cNvGrpSpPr>
              <a:grpSpLocks/>
            </p:cNvGrpSpPr>
            <p:nvPr/>
          </p:nvGrpSpPr>
          <p:grpSpPr bwMode="auto">
            <a:xfrm>
              <a:off x="373061" y="3535364"/>
              <a:ext cx="1958977" cy="2015762"/>
              <a:chOff x="738135" y="2256382"/>
              <a:chExt cx="1958416" cy="2015789"/>
            </a:xfrm>
          </p:grpSpPr>
          <p:sp>
            <p:nvSpPr>
              <p:cNvPr id="40978" name="Text Box 21"/>
              <p:cNvSpPr txBox="1">
                <a:spLocks noChangeArrowheads="1"/>
              </p:cNvSpPr>
              <p:nvPr/>
            </p:nvSpPr>
            <p:spPr bwMode="auto">
              <a:xfrm>
                <a:off x="1504908" y="2256382"/>
                <a:ext cx="415498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b="1">
                    <a:solidFill>
                      <a:srgbClr val="C00000"/>
                    </a:solidFill>
                    <a:latin typeface="Times New Roman" pitchFamily="18" charset="0"/>
                  </a:rPr>
                  <a:t>28</a:t>
                </a:r>
                <a:endParaRPr kumimoji="1" lang="en-US" altLang="zh-CN">
                  <a:solidFill>
                    <a:srgbClr val="C00000"/>
                  </a:solidFill>
                  <a:latin typeface="Times New Roman" pitchFamily="18" charset="0"/>
                </a:endParaRPr>
              </a:p>
            </p:txBody>
          </p:sp>
          <p:grpSp>
            <p:nvGrpSpPr>
              <p:cNvPr id="40979" name="组合 47"/>
              <p:cNvGrpSpPr>
                <a:grpSpLocks/>
              </p:cNvGrpSpPr>
              <p:nvPr/>
            </p:nvGrpSpPr>
            <p:grpSpPr bwMode="auto">
              <a:xfrm>
                <a:off x="738135" y="2368857"/>
                <a:ext cx="1958416" cy="1903314"/>
                <a:chOff x="738135" y="2598723"/>
                <a:chExt cx="1958416" cy="1903314"/>
              </a:xfrm>
            </p:grpSpPr>
            <p:sp>
              <p:nvSpPr>
                <p:cNvPr id="59" name="Line 6"/>
                <p:cNvSpPr>
                  <a:spLocks noChangeShapeType="1"/>
                </p:cNvSpPr>
                <p:nvPr/>
              </p:nvSpPr>
              <p:spPr bwMode="auto">
                <a:xfrm>
                  <a:off x="1336451" y="2770362"/>
                  <a:ext cx="815742" cy="0"/>
                </a:xfrm>
                <a:prstGeom prst="line">
                  <a:avLst/>
                </a:prstGeom>
                <a:noFill/>
                <a:ln w="28575">
                  <a:solidFill>
                    <a:schemeClr val="bg2">
                      <a:lumMod val="60000"/>
                      <a:lumOff val="40000"/>
                    </a:schemeClr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sz="2400">
                    <a:solidFill>
                      <a:schemeClr val="bg2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60" name="Line 7"/>
                <p:cNvSpPr>
                  <a:spLocks noChangeShapeType="1"/>
                </p:cNvSpPr>
                <p:nvPr/>
              </p:nvSpPr>
              <p:spPr bwMode="auto">
                <a:xfrm>
                  <a:off x="1336451" y="4198874"/>
                  <a:ext cx="815742" cy="0"/>
                </a:xfrm>
                <a:prstGeom prst="line">
                  <a:avLst/>
                </a:prstGeom>
                <a:noFill/>
                <a:ln w="28575">
                  <a:solidFill>
                    <a:schemeClr val="bg2">
                      <a:lumMod val="60000"/>
                      <a:lumOff val="40000"/>
                    </a:schemeClr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sz="2400">
                    <a:solidFill>
                      <a:schemeClr val="bg2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61" name="Line 8"/>
                <p:cNvSpPr>
                  <a:spLocks noChangeShapeType="1"/>
                </p:cNvSpPr>
                <p:nvPr/>
              </p:nvSpPr>
              <p:spPr bwMode="auto">
                <a:xfrm flipH="1" flipV="1">
                  <a:off x="1717343" y="3570329"/>
                  <a:ext cx="326932" cy="514264"/>
                </a:xfrm>
                <a:prstGeom prst="line">
                  <a:avLst/>
                </a:prstGeom>
                <a:noFill/>
                <a:ln w="28575">
                  <a:solidFill>
                    <a:schemeClr val="bg2">
                      <a:lumMod val="60000"/>
                      <a:lumOff val="40000"/>
                    </a:schemeClr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sz="2400">
                    <a:solidFill>
                      <a:schemeClr val="bg2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40983" name="Line 9"/>
                <p:cNvSpPr>
                  <a:spLocks noChangeShapeType="1"/>
                </p:cNvSpPr>
                <p:nvPr/>
              </p:nvSpPr>
              <p:spPr bwMode="auto">
                <a:xfrm flipH="1">
                  <a:off x="2152193" y="3570526"/>
                  <a:ext cx="326932" cy="628659"/>
                </a:xfrm>
                <a:prstGeom prst="line">
                  <a:avLst/>
                </a:prstGeom>
                <a:noFill/>
                <a:ln w="508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0984" name="Line 10"/>
                <p:cNvSpPr>
                  <a:spLocks noChangeShapeType="1"/>
                </p:cNvSpPr>
                <p:nvPr/>
              </p:nvSpPr>
              <p:spPr bwMode="auto">
                <a:xfrm>
                  <a:off x="2152193" y="2827565"/>
                  <a:ext cx="326932" cy="628659"/>
                </a:xfrm>
                <a:prstGeom prst="line">
                  <a:avLst/>
                </a:prstGeom>
                <a:noFill/>
                <a:ln w="508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0985" name="Line 11"/>
                <p:cNvSpPr>
                  <a:spLocks noChangeShapeType="1"/>
                </p:cNvSpPr>
                <p:nvPr/>
              </p:nvSpPr>
              <p:spPr bwMode="auto">
                <a:xfrm flipV="1">
                  <a:off x="1796652" y="2770414"/>
                  <a:ext cx="301582" cy="595334"/>
                </a:xfrm>
                <a:prstGeom prst="line">
                  <a:avLst/>
                </a:prstGeom>
                <a:noFill/>
                <a:ln w="508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5" name="Line 12"/>
                <p:cNvSpPr>
                  <a:spLocks noChangeShapeType="1"/>
                </p:cNvSpPr>
                <p:nvPr/>
              </p:nvSpPr>
              <p:spPr bwMode="auto">
                <a:xfrm>
                  <a:off x="955560" y="3570329"/>
                  <a:ext cx="326932" cy="628545"/>
                </a:xfrm>
                <a:prstGeom prst="line">
                  <a:avLst/>
                </a:prstGeom>
                <a:noFill/>
                <a:ln w="28575">
                  <a:solidFill>
                    <a:schemeClr val="bg2">
                      <a:lumMod val="60000"/>
                      <a:lumOff val="40000"/>
                    </a:schemeClr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sz="2400">
                    <a:solidFill>
                      <a:schemeClr val="bg2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40987" name="Line 13"/>
                <p:cNvSpPr>
                  <a:spLocks noChangeShapeType="1"/>
                </p:cNvSpPr>
                <p:nvPr/>
              </p:nvSpPr>
              <p:spPr bwMode="auto">
                <a:xfrm flipH="1">
                  <a:off x="901600" y="2827565"/>
                  <a:ext cx="326932" cy="628659"/>
                </a:xfrm>
                <a:prstGeom prst="line">
                  <a:avLst/>
                </a:prstGeom>
                <a:noFill/>
                <a:ln w="508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0988" name="Oval 14" descr="羊皮纸"/>
                <p:cNvSpPr>
                  <a:spLocks noChangeArrowheads="1"/>
                </p:cNvSpPr>
                <p:nvPr/>
              </p:nvSpPr>
              <p:spPr bwMode="auto">
                <a:xfrm>
                  <a:off x="738135" y="3341672"/>
                  <a:ext cx="326403" cy="34290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 wrap="none" lIns="72000" tIns="54000" rIns="72000" bIns="54000" anchor="ctr"/>
                <a:lstStyle/>
                <a:p>
                  <a:pPr algn="ctr"/>
                  <a:r>
                    <a:rPr kumimoji="1" lang="en-US" altLang="zh-CN" sz="2400" b="1">
                      <a:solidFill>
                        <a:schemeClr val="bg2"/>
                      </a:solidFill>
                      <a:latin typeface="Times New Roman" pitchFamily="18" charset="0"/>
                    </a:rPr>
                    <a:t>5</a:t>
                  </a:r>
                  <a:endParaRPr kumimoji="1" lang="en-US" altLang="zh-CN" sz="2400">
                    <a:solidFill>
                      <a:schemeClr val="bg2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40989" name="Oval 15" descr="羊皮纸"/>
                <p:cNvSpPr>
                  <a:spLocks noChangeArrowheads="1"/>
                </p:cNvSpPr>
                <p:nvPr/>
              </p:nvSpPr>
              <p:spPr bwMode="auto">
                <a:xfrm>
                  <a:off x="1118938" y="2598723"/>
                  <a:ext cx="326403" cy="34290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 wrap="none" lIns="72000" tIns="54000" rIns="72000" bIns="54000" anchor="ctr"/>
                <a:lstStyle/>
                <a:p>
                  <a:pPr algn="ctr"/>
                  <a:r>
                    <a:rPr kumimoji="1" lang="en-US" altLang="zh-CN" sz="2400" b="1">
                      <a:solidFill>
                        <a:schemeClr val="bg2"/>
                      </a:solidFill>
                      <a:latin typeface="Times New Roman" pitchFamily="18" charset="0"/>
                    </a:rPr>
                    <a:t>0</a:t>
                  </a:r>
                  <a:endParaRPr kumimoji="1" lang="en-US" altLang="zh-CN" sz="2400">
                    <a:solidFill>
                      <a:schemeClr val="bg2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40990" name="Oval 16" descr="羊皮纸"/>
                <p:cNvSpPr>
                  <a:spLocks noChangeArrowheads="1"/>
                </p:cNvSpPr>
                <p:nvPr/>
              </p:nvSpPr>
              <p:spPr bwMode="auto">
                <a:xfrm>
                  <a:off x="1118938" y="4027471"/>
                  <a:ext cx="326403" cy="34290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 wrap="none" lIns="72000" tIns="54000" rIns="72000" bIns="54000" anchor="ctr"/>
                <a:lstStyle/>
                <a:p>
                  <a:pPr algn="ctr"/>
                  <a:r>
                    <a:rPr kumimoji="1" lang="en-US" altLang="zh-CN" sz="2400" b="1">
                      <a:solidFill>
                        <a:schemeClr val="bg2"/>
                      </a:solidFill>
                      <a:latin typeface="Times New Roman" pitchFamily="18" charset="0"/>
                    </a:rPr>
                    <a:t>4</a:t>
                  </a:r>
                  <a:endParaRPr kumimoji="1" lang="en-US" altLang="zh-CN" sz="2400">
                    <a:solidFill>
                      <a:schemeClr val="bg2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40991" name="Oval 17" descr="羊皮纸"/>
                <p:cNvSpPr>
                  <a:spLocks noChangeArrowheads="1"/>
                </p:cNvSpPr>
                <p:nvPr/>
              </p:nvSpPr>
              <p:spPr bwMode="auto">
                <a:xfrm>
                  <a:off x="1554142" y="3341672"/>
                  <a:ext cx="326403" cy="34290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 wrap="none" lIns="72000" tIns="54000" rIns="72000" bIns="54000" anchor="ctr"/>
                <a:lstStyle/>
                <a:p>
                  <a:pPr algn="ctr"/>
                  <a:r>
                    <a:rPr kumimoji="1" lang="en-US" altLang="zh-CN" sz="2400" b="1">
                      <a:solidFill>
                        <a:schemeClr val="bg2"/>
                      </a:solidFill>
                      <a:latin typeface="Times New Roman" pitchFamily="18" charset="0"/>
                    </a:rPr>
                    <a:t>6</a:t>
                  </a:r>
                  <a:endParaRPr kumimoji="1" lang="en-US" altLang="zh-CN" sz="2400">
                    <a:solidFill>
                      <a:schemeClr val="bg2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40992" name="Oval 18" descr="羊皮纸"/>
                <p:cNvSpPr>
                  <a:spLocks noChangeArrowheads="1"/>
                </p:cNvSpPr>
                <p:nvPr/>
              </p:nvSpPr>
              <p:spPr bwMode="auto">
                <a:xfrm>
                  <a:off x="1934945" y="2598723"/>
                  <a:ext cx="326403" cy="34290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 wrap="none" lIns="72000" tIns="54000" rIns="72000" bIns="54000" anchor="ctr"/>
                <a:lstStyle/>
                <a:p>
                  <a:pPr algn="ctr"/>
                  <a:r>
                    <a:rPr kumimoji="1" lang="en-US" altLang="zh-CN" sz="2400" b="1">
                      <a:solidFill>
                        <a:schemeClr val="bg2"/>
                      </a:solidFill>
                      <a:latin typeface="Times New Roman" pitchFamily="18" charset="0"/>
                    </a:rPr>
                    <a:t>1</a:t>
                  </a:r>
                  <a:endParaRPr kumimoji="1" lang="en-US" altLang="zh-CN" sz="2400">
                    <a:solidFill>
                      <a:schemeClr val="bg2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40993" name="Oval 19" descr="羊皮纸"/>
                <p:cNvSpPr>
                  <a:spLocks noChangeArrowheads="1"/>
                </p:cNvSpPr>
                <p:nvPr/>
              </p:nvSpPr>
              <p:spPr bwMode="auto">
                <a:xfrm>
                  <a:off x="1934945" y="4027471"/>
                  <a:ext cx="326403" cy="34290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 wrap="none" lIns="72000" tIns="54000" rIns="72000" bIns="54000" anchor="ctr"/>
                <a:lstStyle/>
                <a:p>
                  <a:pPr algn="ctr"/>
                  <a:r>
                    <a:rPr kumimoji="1" lang="en-US" altLang="zh-CN" sz="2400" b="1">
                      <a:solidFill>
                        <a:schemeClr val="bg2"/>
                      </a:solidFill>
                      <a:latin typeface="Times New Roman" pitchFamily="18" charset="0"/>
                    </a:rPr>
                    <a:t>3</a:t>
                  </a:r>
                  <a:endParaRPr kumimoji="1" lang="en-US" altLang="zh-CN" sz="2400">
                    <a:solidFill>
                      <a:schemeClr val="bg2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40994" name="Oval 20" descr="羊皮纸"/>
                <p:cNvSpPr>
                  <a:spLocks noChangeArrowheads="1"/>
                </p:cNvSpPr>
                <p:nvPr/>
              </p:nvSpPr>
              <p:spPr bwMode="auto">
                <a:xfrm flipH="1">
                  <a:off x="2370148" y="3341672"/>
                  <a:ext cx="326403" cy="34290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 wrap="none" lIns="72000" tIns="54000" rIns="72000" bIns="54000" anchor="ctr"/>
                <a:lstStyle/>
                <a:p>
                  <a:pPr algn="ctr"/>
                  <a:r>
                    <a:rPr kumimoji="1" lang="en-US" altLang="zh-CN" sz="2400" b="1">
                      <a:solidFill>
                        <a:schemeClr val="bg2"/>
                      </a:solidFill>
                      <a:latin typeface="Times New Roman" pitchFamily="18" charset="0"/>
                    </a:rPr>
                    <a:t>2</a:t>
                  </a:r>
                  <a:endParaRPr kumimoji="1" lang="en-US" altLang="zh-CN" sz="2400">
                    <a:solidFill>
                      <a:schemeClr val="bg2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40995" name="Text Box 22"/>
                <p:cNvSpPr txBox="1">
                  <a:spLocks noChangeArrowheads="1"/>
                </p:cNvSpPr>
                <p:nvPr/>
              </p:nvSpPr>
              <p:spPr bwMode="auto">
                <a:xfrm>
                  <a:off x="738135" y="2846509"/>
                  <a:ext cx="415498" cy="3640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9pPr>
                </a:lstStyle>
                <a:p>
                  <a:pPr algn="ctr" eaLnBrk="1" hangingPunct="1"/>
                  <a:r>
                    <a:rPr kumimoji="1" lang="en-US" altLang="zh-CN" b="1">
                      <a:solidFill>
                        <a:srgbClr val="C00000"/>
                      </a:solidFill>
                      <a:latin typeface="Times New Roman" pitchFamily="18" charset="0"/>
                    </a:rPr>
                    <a:t>10</a:t>
                  </a:r>
                  <a:endParaRPr kumimoji="1" lang="en-US" altLang="zh-CN">
                    <a:solidFill>
                      <a:srgbClr val="C00000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40996" name="Text Box 23"/>
                <p:cNvSpPr txBox="1">
                  <a:spLocks noChangeArrowheads="1"/>
                </p:cNvSpPr>
                <p:nvPr/>
              </p:nvSpPr>
              <p:spPr bwMode="auto">
                <a:xfrm>
                  <a:off x="760793" y="3714404"/>
                  <a:ext cx="415498" cy="36403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9pPr>
                </a:lstStyle>
                <a:p>
                  <a:pPr algn="ctr" eaLnBrk="1" hangingPunct="1"/>
                  <a:r>
                    <a:rPr kumimoji="1" lang="en-US" altLang="zh-CN" b="1">
                      <a:solidFill>
                        <a:srgbClr val="C00000"/>
                      </a:solidFill>
                      <a:latin typeface="Times New Roman" pitchFamily="18" charset="0"/>
                    </a:rPr>
                    <a:t>25</a:t>
                  </a:r>
                  <a:endParaRPr kumimoji="1" lang="en-US" altLang="zh-CN">
                    <a:solidFill>
                      <a:srgbClr val="C00000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40997" name="Text Box 24"/>
                <p:cNvSpPr txBox="1">
                  <a:spLocks noChangeArrowheads="1"/>
                </p:cNvSpPr>
                <p:nvPr/>
              </p:nvSpPr>
              <p:spPr bwMode="auto">
                <a:xfrm>
                  <a:off x="1527566" y="2895188"/>
                  <a:ext cx="415498" cy="3640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9pPr>
                </a:lstStyle>
                <a:p>
                  <a:pPr algn="ctr" eaLnBrk="1" hangingPunct="1"/>
                  <a:r>
                    <a:rPr kumimoji="1" lang="en-US" altLang="zh-CN" b="1">
                      <a:solidFill>
                        <a:srgbClr val="C00000"/>
                      </a:solidFill>
                      <a:latin typeface="Times New Roman" pitchFamily="18" charset="0"/>
                    </a:rPr>
                    <a:t>14</a:t>
                  </a:r>
                  <a:endParaRPr kumimoji="1" lang="en-US" altLang="zh-CN">
                    <a:solidFill>
                      <a:srgbClr val="C00000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40998" name="Text Box 25"/>
                <p:cNvSpPr txBox="1">
                  <a:spLocks noChangeArrowheads="1"/>
                </p:cNvSpPr>
                <p:nvPr/>
              </p:nvSpPr>
              <p:spPr bwMode="auto">
                <a:xfrm>
                  <a:off x="1198949" y="3638284"/>
                  <a:ext cx="415498" cy="3640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9pPr>
                </a:lstStyle>
                <a:p>
                  <a:pPr algn="ctr" eaLnBrk="1" hangingPunct="1"/>
                  <a:r>
                    <a:rPr kumimoji="1" lang="en-US" altLang="zh-CN" b="1">
                      <a:solidFill>
                        <a:srgbClr val="C00000"/>
                      </a:solidFill>
                      <a:latin typeface="Times New Roman" pitchFamily="18" charset="0"/>
                    </a:rPr>
                    <a:t>24</a:t>
                  </a:r>
                  <a:endParaRPr kumimoji="1" lang="en-US" altLang="zh-CN">
                    <a:solidFill>
                      <a:srgbClr val="C00000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40999" name="Text Box 26"/>
                <p:cNvSpPr txBox="1">
                  <a:spLocks noChangeArrowheads="1"/>
                </p:cNvSpPr>
                <p:nvPr/>
              </p:nvSpPr>
              <p:spPr bwMode="auto">
                <a:xfrm>
                  <a:off x="1499741" y="4137998"/>
                  <a:ext cx="415498" cy="36403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9pPr>
                </a:lstStyle>
                <a:p>
                  <a:pPr algn="ctr" eaLnBrk="1" hangingPunct="1"/>
                  <a:r>
                    <a:rPr kumimoji="1" lang="en-US" altLang="zh-CN" b="1">
                      <a:solidFill>
                        <a:srgbClr val="C00000"/>
                      </a:solidFill>
                      <a:latin typeface="Times New Roman" pitchFamily="18" charset="0"/>
                    </a:rPr>
                    <a:t>22</a:t>
                  </a:r>
                  <a:endParaRPr kumimoji="1" lang="en-US" altLang="zh-CN">
                    <a:solidFill>
                      <a:srgbClr val="C00000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41000" name="Text Box 27"/>
                <p:cNvSpPr txBox="1">
                  <a:spLocks noChangeArrowheads="1"/>
                </p:cNvSpPr>
                <p:nvPr/>
              </p:nvSpPr>
              <p:spPr bwMode="auto">
                <a:xfrm>
                  <a:off x="2271681" y="2895188"/>
                  <a:ext cx="415498" cy="3640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9pPr>
                </a:lstStyle>
                <a:p>
                  <a:pPr algn="ctr" eaLnBrk="1" hangingPunct="1"/>
                  <a:r>
                    <a:rPr kumimoji="1" lang="en-US" altLang="zh-CN" b="1">
                      <a:solidFill>
                        <a:srgbClr val="C00000"/>
                      </a:solidFill>
                      <a:latin typeface="Times New Roman" pitchFamily="18" charset="0"/>
                    </a:rPr>
                    <a:t>16</a:t>
                  </a:r>
                  <a:endParaRPr kumimoji="1" lang="en-US" altLang="zh-CN">
                    <a:solidFill>
                      <a:srgbClr val="C00000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41001" name="Text Box 28"/>
                <p:cNvSpPr txBox="1">
                  <a:spLocks noChangeArrowheads="1"/>
                </p:cNvSpPr>
                <p:nvPr/>
              </p:nvSpPr>
              <p:spPr bwMode="auto">
                <a:xfrm>
                  <a:off x="1797012" y="3570271"/>
                  <a:ext cx="415498" cy="3640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9pPr>
                </a:lstStyle>
                <a:p>
                  <a:pPr algn="ctr" eaLnBrk="1" hangingPunct="1"/>
                  <a:r>
                    <a:rPr kumimoji="1" lang="en-US" altLang="zh-CN" b="1">
                      <a:solidFill>
                        <a:srgbClr val="C00000"/>
                      </a:solidFill>
                      <a:latin typeface="Times New Roman" pitchFamily="18" charset="0"/>
                    </a:rPr>
                    <a:t>18</a:t>
                  </a:r>
                  <a:endParaRPr kumimoji="1" lang="en-US" altLang="zh-CN">
                    <a:solidFill>
                      <a:srgbClr val="C00000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41002" name="Text Box 29"/>
                <p:cNvSpPr txBox="1">
                  <a:spLocks noChangeArrowheads="1"/>
                </p:cNvSpPr>
                <p:nvPr/>
              </p:nvSpPr>
              <p:spPr bwMode="auto">
                <a:xfrm>
                  <a:off x="2271681" y="3752437"/>
                  <a:ext cx="415498" cy="3640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9pPr>
                </a:lstStyle>
                <a:p>
                  <a:pPr algn="ctr" eaLnBrk="1" hangingPunct="1"/>
                  <a:r>
                    <a:rPr kumimoji="1" lang="en-US" altLang="zh-CN" b="1">
                      <a:solidFill>
                        <a:srgbClr val="C00000"/>
                      </a:solidFill>
                      <a:latin typeface="Times New Roman" pitchFamily="18" charset="0"/>
                    </a:rPr>
                    <a:t>12</a:t>
                  </a:r>
                  <a:endParaRPr kumimoji="1" lang="en-US" altLang="zh-CN">
                    <a:solidFill>
                      <a:srgbClr val="C00000"/>
                    </a:solidFill>
                    <a:latin typeface="Times New Roman" pitchFamily="18" charset="0"/>
                  </a:endParaRPr>
                </a:p>
              </p:txBody>
            </p:sp>
          </p:grpSp>
        </p:grpSp>
        <p:sp>
          <p:nvSpPr>
            <p:cNvPr id="55" name="Line 11"/>
            <p:cNvSpPr>
              <a:spLocks noChangeShapeType="1"/>
            </p:cNvSpPr>
            <p:nvPr/>
          </p:nvSpPr>
          <p:spPr bwMode="auto">
            <a:xfrm flipV="1">
              <a:off x="993774" y="4706728"/>
              <a:ext cx="255588" cy="449181"/>
            </a:xfrm>
            <a:prstGeom prst="line">
              <a:avLst/>
            </a:prstGeom>
            <a:noFill/>
            <a:ln w="28575">
              <a:solidFill>
                <a:schemeClr val="bg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400">
                <a:solidFill>
                  <a:schemeClr val="bg2"/>
                </a:solidFill>
                <a:ea typeface="宋体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53503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最小生成树</a:t>
            </a:r>
          </a:p>
        </p:txBody>
      </p:sp>
      <p:sp>
        <p:nvSpPr>
          <p:cNvPr id="41987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>
                <a:latin typeface="Arial" charset="0"/>
                <a:ea typeface="黑体" pitchFamily="2" charset="-122"/>
              </a:rPr>
              <a:t>克鲁斯卡尔 </a:t>
            </a:r>
            <a:r>
              <a:rPr lang="en-US" altLang="zh-CN">
                <a:latin typeface="Arial" charset="0"/>
                <a:ea typeface="黑体" pitchFamily="2" charset="-122"/>
              </a:rPr>
              <a:t>(Kruskal) </a:t>
            </a:r>
            <a:r>
              <a:rPr lang="zh-CN" altLang="en-US">
                <a:latin typeface="Arial" charset="0"/>
                <a:ea typeface="黑体" pitchFamily="2" charset="-122"/>
              </a:rPr>
              <a:t>算法</a:t>
            </a:r>
            <a:endParaRPr lang="en-US" altLang="zh-CN">
              <a:latin typeface="Arial" charset="0"/>
              <a:ea typeface="黑体" pitchFamily="2" charset="-122"/>
            </a:endParaRPr>
          </a:p>
          <a:p>
            <a:pPr lvl="1"/>
            <a:r>
              <a:rPr lang="zh-CN" altLang="en-US">
                <a:latin typeface="Arial" charset="0"/>
                <a:ea typeface="黑体" pitchFamily="2" charset="-122"/>
              </a:rPr>
              <a:t>经常需要判断权值最小的边的两端是否属于不同连通分量</a:t>
            </a:r>
            <a:endParaRPr lang="en-US" altLang="zh-CN">
              <a:latin typeface="Arial" charset="0"/>
              <a:ea typeface="黑体" pitchFamily="2" charset="-122"/>
            </a:endParaRPr>
          </a:p>
          <a:p>
            <a:pPr lvl="2"/>
            <a:r>
              <a:rPr lang="zh-CN" altLang="en-US">
                <a:latin typeface="Arial" charset="0"/>
                <a:ea typeface="黑体" pitchFamily="2" charset="-122"/>
              </a:rPr>
              <a:t>可使用并查集技术加快判断速度</a:t>
            </a:r>
          </a:p>
        </p:txBody>
      </p:sp>
      <p:sp>
        <p:nvSpPr>
          <p:cNvPr id="41988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fld id="{0DB1A66D-E99A-4F31-B027-EBECC5795D4E}" type="slidenum">
              <a:rPr lang="en-US" altLang="zh-CN" smtClean="0">
                <a:solidFill>
                  <a:srgbClr val="006600"/>
                </a:solidFill>
                <a:latin typeface="Courier New" pitchFamily="49" charset="0"/>
                <a:ea typeface="华文新魏" pitchFamily="2" charset="-122"/>
              </a:rPr>
              <a:pPr eaLnBrk="1" hangingPunct="1"/>
              <a:t>36</a:t>
            </a:fld>
            <a:endParaRPr lang="en-US" altLang="zh-CN">
              <a:solidFill>
                <a:srgbClr val="006600"/>
              </a:solidFill>
              <a:latin typeface="Courier New" pitchFamily="49" charset="0"/>
              <a:ea typeface="华文新魏" pitchFamily="2" charset="-122"/>
            </a:endParaRPr>
          </a:p>
        </p:txBody>
      </p:sp>
      <p:sp>
        <p:nvSpPr>
          <p:cNvPr id="41989" name="TextBox 39"/>
          <p:cNvSpPr txBox="1">
            <a:spLocks noChangeArrowheads="1"/>
          </p:cNvSpPr>
          <p:nvPr/>
        </p:nvSpPr>
        <p:spPr bwMode="auto">
          <a:xfrm>
            <a:off x="2636838" y="3830638"/>
            <a:ext cx="9794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b="1">
                <a:solidFill>
                  <a:srgbClr val="C00000"/>
                </a:solidFill>
                <a:ea typeface="黑体" pitchFamily="2" charset="-122"/>
              </a:rPr>
              <a:t>10 (0,5)</a:t>
            </a:r>
          </a:p>
        </p:txBody>
      </p:sp>
      <p:sp>
        <p:nvSpPr>
          <p:cNvPr id="41990" name="矩形 40"/>
          <p:cNvSpPr>
            <a:spLocks noChangeArrowheads="1"/>
          </p:cNvSpPr>
          <p:nvPr/>
        </p:nvSpPr>
        <p:spPr bwMode="auto">
          <a:xfrm>
            <a:off x="2636838" y="4154488"/>
            <a:ext cx="9794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b="1">
                <a:solidFill>
                  <a:srgbClr val="C00000"/>
                </a:solidFill>
                <a:ea typeface="黑体" pitchFamily="2" charset="-122"/>
              </a:rPr>
              <a:t>12 (2,3)</a:t>
            </a:r>
          </a:p>
        </p:txBody>
      </p:sp>
      <p:sp>
        <p:nvSpPr>
          <p:cNvPr id="41991" name="矩形 41"/>
          <p:cNvSpPr>
            <a:spLocks noChangeArrowheads="1"/>
          </p:cNvSpPr>
          <p:nvPr/>
        </p:nvSpPr>
        <p:spPr bwMode="auto">
          <a:xfrm>
            <a:off x="2636838" y="4451350"/>
            <a:ext cx="9794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b="1">
                <a:solidFill>
                  <a:srgbClr val="C00000"/>
                </a:solidFill>
                <a:ea typeface="黑体" pitchFamily="2" charset="-122"/>
              </a:rPr>
              <a:t>14 (1,6)</a:t>
            </a:r>
          </a:p>
        </p:txBody>
      </p:sp>
      <p:sp>
        <p:nvSpPr>
          <p:cNvPr id="41992" name="矩形 42"/>
          <p:cNvSpPr>
            <a:spLocks noChangeArrowheads="1"/>
          </p:cNvSpPr>
          <p:nvPr/>
        </p:nvSpPr>
        <p:spPr bwMode="auto">
          <a:xfrm>
            <a:off x="2636838" y="4779963"/>
            <a:ext cx="9794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b="1">
                <a:solidFill>
                  <a:srgbClr val="C00000"/>
                </a:solidFill>
                <a:ea typeface="黑体" pitchFamily="2" charset="-122"/>
              </a:rPr>
              <a:t>16 (1,2)</a:t>
            </a:r>
          </a:p>
        </p:txBody>
      </p:sp>
      <p:sp>
        <p:nvSpPr>
          <p:cNvPr id="41993" name="矩形 43"/>
          <p:cNvSpPr>
            <a:spLocks noChangeArrowheads="1"/>
          </p:cNvSpPr>
          <p:nvPr/>
        </p:nvSpPr>
        <p:spPr bwMode="auto">
          <a:xfrm>
            <a:off x="2636838" y="5108575"/>
            <a:ext cx="9794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b="1">
                <a:solidFill>
                  <a:srgbClr val="C00000"/>
                </a:solidFill>
                <a:ea typeface="黑体" pitchFamily="2" charset="-122"/>
              </a:rPr>
              <a:t>18 (3,6)</a:t>
            </a:r>
          </a:p>
        </p:txBody>
      </p:sp>
      <p:sp>
        <p:nvSpPr>
          <p:cNvPr id="41994" name="矩形 44"/>
          <p:cNvSpPr>
            <a:spLocks noChangeArrowheads="1"/>
          </p:cNvSpPr>
          <p:nvPr/>
        </p:nvSpPr>
        <p:spPr bwMode="auto">
          <a:xfrm>
            <a:off x="2636838" y="5437188"/>
            <a:ext cx="9794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b="1">
                <a:solidFill>
                  <a:srgbClr val="C00000"/>
                </a:solidFill>
                <a:ea typeface="黑体" pitchFamily="2" charset="-122"/>
              </a:rPr>
              <a:t>22 (3,4)</a:t>
            </a:r>
          </a:p>
        </p:txBody>
      </p:sp>
      <p:sp>
        <p:nvSpPr>
          <p:cNvPr id="41995" name="矩形 45"/>
          <p:cNvSpPr>
            <a:spLocks noChangeArrowheads="1"/>
          </p:cNvSpPr>
          <p:nvPr/>
        </p:nvSpPr>
        <p:spPr bwMode="auto">
          <a:xfrm>
            <a:off x="2636838" y="5765800"/>
            <a:ext cx="9794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b="1">
                <a:solidFill>
                  <a:srgbClr val="000099"/>
                </a:solidFill>
                <a:ea typeface="黑体" pitchFamily="2" charset="-122"/>
              </a:rPr>
              <a:t>24 (4,6)</a:t>
            </a:r>
          </a:p>
        </p:txBody>
      </p:sp>
      <p:sp>
        <p:nvSpPr>
          <p:cNvPr id="41996" name="矩形 46"/>
          <p:cNvSpPr>
            <a:spLocks noChangeArrowheads="1"/>
          </p:cNvSpPr>
          <p:nvPr/>
        </p:nvSpPr>
        <p:spPr bwMode="auto">
          <a:xfrm>
            <a:off x="2636838" y="6094413"/>
            <a:ext cx="9794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b="1">
                <a:solidFill>
                  <a:srgbClr val="000099"/>
                </a:solidFill>
                <a:ea typeface="黑体" pitchFamily="2" charset="-122"/>
              </a:rPr>
              <a:t>25 (4,5)</a:t>
            </a:r>
            <a:endParaRPr lang="zh-CN" altLang="en-US" b="1">
              <a:solidFill>
                <a:srgbClr val="000099"/>
              </a:solidFill>
              <a:ea typeface="黑体" pitchFamily="2" charset="-122"/>
            </a:endParaRPr>
          </a:p>
        </p:txBody>
      </p:sp>
      <p:sp>
        <p:nvSpPr>
          <p:cNvPr id="41997" name="TextBox 47"/>
          <p:cNvSpPr txBox="1">
            <a:spLocks noChangeArrowheads="1"/>
          </p:cNvSpPr>
          <p:nvPr/>
        </p:nvSpPr>
        <p:spPr bwMode="auto">
          <a:xfrm>
            <a:off x="4645025" y="5473700"/>
            <a:ext cx="11239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zh-CN" altLang="en-US" b="1">
                <a:solidFill>
                  <a:srgbClr val="000099"/>
                </a:solidFill>
                <a:ea typeface="黑体" pitchFamily="2" charset="-122"/>
              </a:rPr>
              <a:t>取边</a:t>
            </a:r>
            <a:r>
              <a:rPr lang="en-US" altLang="zh-CN" b="1">
                <a:solidFill>
                  <a:srgbClr val="000099"/>
                </a:solidFill>
                <a:ea typeface="黑体" pitchFamily="2" charset="-122"/>
              </a:rPr>
              <a:t>(3,4)</a:t>
            </a:r>
            <a:endParaRPr lang="zh-CN" altLang="en-US" b="1">
              <a:solidFill>
                <a:srgbClr val="000099"/>
              </a:solidFill>
              <a:ea typeface="黑体" pitchFamily="2" charset="-122"/>
            </a:endParaRPr>
          </a:p>
        </p:txBody>
      </p:sp>
      <p:grpSp>
        <p:nvGrpSpPr>
          <p:cNvPr id="41998" name="组合 53"/>
          <p:cNvGrpSpPr>
            <a:grpSpLocks/>
          </p:cNvGrpSpPr>
          <p:nvPr/>
        </p:nvGrpSpPr>
        <p:grpSpPr bwMode="auto">
          <a:xfrm>
            <a:off x="4040188" y="3502025"/>
            <a:ext cx="2355850" cy="1803400"/>
            <a:chOff x="4039978" y="3502026"/>
            <a:chExt cx="2355458" cy="1803420"/>
          </a:xfrm>
        </p:grpSpPr>
        <p:sp>
          <p:nvSpPr>
            <p:cNvPr id="42027" name="Oval 14" descr="羊皮纸"/>
            <p:cNvSpPr>
              <a:spLocks noChangeArrowheads="1"/>
            </p:cNvSpPr>
            <p:nvPr/>
          </p:nvSpPr>
          <p:spPr bwMode="auto">
            <a:xfrm>
              <a:off x="4039978" y="4232286"/>
              <a:ext cx="326403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  <a:round/>
              <a:headEnd/>
              <a:tailEnd/>
            </a:ln>
          </p:spPr>
          <p:txBody>
            <a:bodyPr wrap="none" lIns="72000" tIns="54000" rIns="72000" bIns="54000" anchor="ctr"/>
            <a:lstStyle/>
            <a:p>
              <a:pPr algn="ctr"/>
              <a:r>
                <a:rPr kumimoji="1" lang="en-US" altLang="zh-CN" sz="2400" b="1">
                  <a:solidFill>
                    <a:schemeClr val="bg2"/>
                  </a:solidFill>
                  <a:latin typeface="Times New Roman" pitchFamily="18" charset="0"/>
                </a:rPr>
                <a:t>5</a:t>
              </a:r>
              <a:endParaRPr kumimoji="1" lang="en-US" altLang="zh-CN" sz="240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sp>
          <p:nvSpPr>
            <p:cNvPr id="42028" name="Oval 15" descr="羊皮纸"/>
            <p:cNvSpPr>
              <a:spLocks noChangeArrowheads="1"/>
            </p:cNvSpPr>
            <p:nvPr/>
          </p:nvSpPr>
          <p:spPr bwMode="auto">
            <a:xfrm>
              <a:off x="4039978" y="3502026"/>
              <a:ext cx="326403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  <a:round/>
              <a:headEnd/>
              <a:tailEnd/>
            </a:ln>
          </p:spPr>
          <p:txBody>
            <a:bodyPr wrap="none" lIns="72000" tIns="54000" rIns="72000" bIns="54000" anchor="ctr"/>
            <a:lstStyle/>
            <a:p>
              <a:pPr algn="ctr"/>
              <a:r>
                <a:rPr kumimoji="1" lang="en-US" altLang="zh-CN" sz="2400" b="1">
                  <a:solidFill>
                    <a:schemeClr val="bg2"/>
                  </a:solidFill>
                  <a:latin typeface="Times New Roman" pitchFamily="18" charset="0"/>
                </a:rPr>
                <a:t>0</a:t>
              </a:r>
              <a:endParaRPr kumimoji="1" lang="en-US" altLang="zh-CN" sz="240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sp>
          <p:nvSpPr>
            <p:cNvPr id="42029" name="Oval 16" descr="羊皮纸"/>
            <p:cNvSpPr>
              <a:spLocks noChangeArrowheads="1"/>
            </p:cNvSpPr>
            <p:nvPr/>
          </p:nvSpPr>
          <p:spPr bwMode="auto">
            <a:xfrm>
              <a:off x="4681539" y="4232286"/>
              <a:ext cx="326403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  <a:round/>
              <a:headEnd/>
              <a:tailEnd/>
            </a:ln>
          </p:spPr>
          <p:txBody>
            <a:bodyPr wrap="none" lIns="72000" tIns="54000" rIns="72000" bIns="54000" anchor="ctr"/>
            <a:lstStyle/>
            <a:p>
              <a:pPr algn="ctr"/>
              <a:r>
                <a:rPr kumimoji="1" lang="en-US" altLang="zh-CN" sz="2400" b="1">
                  <a:solidFill>
                    <a:schemeClr val="bg2"/>
                  </a:solidFill>
                  <a:latin typeface="Times New Roman" pitchFamily="18" charset="0"/>
                </a:rPr>
                <a:t>6</a:t>
              </a:r>
              <a:endParaRPr kumimoji="1" lang="en-US" altLang="zh-CN" sz="240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sp>
          <p:nvSpPr>
            <p:cNvPr id="42030" name="Oval 18" descr="羊皮纸"/>
            <p:cNvSpPr>
              <a:spLocks noChangeArrowheads="1"/>
            </p:cNvSpPr>
            <p:nvPr/>
          </p:nvSpPr>
          <p:spPr bwMode="auto">
            <a:xfrm>
              <a:off x="4681539" y="3502026"/>
              <a:ext cx="326403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  <a:round/>
              <a:headEnd/>
              <a:tailEnd/>
            </a:ln>
          </p:spPr>
          <p:txBody>
            <a:bodyPr wrap="none" lIns="72000" tIns="54000" rIns="72000" bIns="54000" anchor="ctr"/>
            <a:lstStyle/>
            <a:p>
              <a:pPr algn="ctr"/>
              <a:r>
                <a:rPr kumimoji="1" lang="en-US" altLang="zh-CN" sz="2400" b="1">
                  <a:solidFill>
                    <a:schemeClr val="bg2"/>
                  </a:solidFill>
                  <a:latin typeface="Times New Roman" pitchFamily="18" charset="0"/>
                </a:rPr>
                <a:t>1</a:t>
              </a:r>
              <a:endParaRPr kumimoji="1" lang="en-US" altLang="zh-CN" sz="240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sp>
          <p:nvSpPr>
            <p:cNvPr id="42031" name="Oval 19" descr="羊皮纸"/>
            <p:cNvSpPr>
              <a:spLocks noChangeArrowheads="1"/>
            </p:cNvSpPr>
            <p:nvPr/>
          </p:nvSpPr>
          <p:spPr bwMode="auto">
            <a:xfrm>
              <a:off x="6069033" y="4232286"/>
              <a:ext cx="326403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  <a:round/>
              <a:headEnd/>
              <a:tailEnd/>
            </a:ln>
          </p:spPr>
          <p:txBody>
            <a:bodyPr wrap="none" lIns="72000" tIns="54000" rIns="72000" bIns="54000" anchor="ctr"/>
            <a:lstStyle/>
            <a:p>
              <a:pPr algn="ctr"/>
              <a:r>
                <a:rPr kumimoji="1" lang="en-US" altLang="zh-CN" sz="2400" b="1">
                  <a:solidFill>
                    <a:schemeClr val="bg2"/>
                  </a:solidFill>
                  <a:latin typeface="Times New Roman" pitchFamily="18" charset="0"/>
                </a:rPr>
                <a:t>4</a:t>
              </a:r>
              <a:endParaRPr kumimoji="1" lang="en-US" altLang="zh-CN" sz="240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cxnSp>
          <p:nvCxnSpPr>
            <p:cNvPr id="88" name="直接箭头连接符 87"/>
            <p:cNvCxnSpPr>
              <a:stCxn id="42027" idx="0"/>
              <a:endCxn id="42028" idx="4"/>
            </p:cNvCxnSpPr>
            <p:nvPr/>
          </p:nvCxnSpPr>
          <p:spPr>
            <a:xfrm rot="5400000" flipH="1" flipV="1">
              <a:off x="4008199" y="4038607"/>
              <a:ext cx="388942" cy="1587"/>
            </a:xfrm>
            <a:prstGeom prst="straightConnector1">
              <a:avLst/>
            </a:prstGeom>
            <a:ln w="25400">
              <a:solidFill>
                <a:schemeClr val="bg2">
                  <a:lumMod val="40000"/>
                  <a:lumOff val="6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2033" name="组合 98"/>
            <p:cNvGrpSpPr>
              <a:grpSpLocks/>
            </p:cNvGrpSpPr>
            <p:nvPr/>
          </p:nvGrpSpPr>
          <p:grpSpPr bwMode="auto">
            <a:xfrm>
              <a:off x="4844741" y="3844926"/>
              <a:ext cx="856948" cy="1460520"/>
              <a:chOff x="4844741" y="3844926"/>
              <a:chExt cx="856948" cy="1460520"/>
            </a:xfrm>
          </p:grpSpPr>
          <p:sp>
            <p:nvSpPr>
              <p:cNvPr id="42037" name="Oval 17" descr="羊皮纸"/>
              <p:cNvSpPr>
                <a:spLocks noChangeArrowheads="1"/>
              </p:cNvSpPr>
              <p:nvPr/>
            </p:nvSpPr>
            <p:spPr bwMode="auto">
              <a:xfrm>
                <a:off x="5375286" y="4962546"/>
                <a:ext cx="326403" cy="3429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lIns="72000" tIns="54000" rIns="72000" bIns="54000" anchor="ctr"/>
              <a:lstStyle/>
              <a:p>
                <a:pPr algn="ctr"/>
                <a:r>
                  <a:rPr kumimoji="1" lang="en-US" altLang="zh-CN" sz="2400" b="1">
                    <a:solidFill>
                      <a:schemeClr val="bg2"/>
                    </a:solidFill>
                    <a:latin typeface="Times New Roman" pitchFamily="18" charset="0"/>
                  </a:rPr>
                  <a:t>3</a:t>
                </a:r>
                <a:endParaRPr kumimoji="1" lang="en-US" altLang="zh-CN" sz="2400">
                  <a:solidFill>
                    <a:schemeClr val="bg2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42038" name="Oval 20" descr="羊皮纸"/>
              <p:cNvSpPr>
                <a:spLocks noChangeArrowheads="1"/>
              </p:cNvSpPr>
              <p:nvPr/>
            </p:nvSpPr>
            <p:spPr bwMode="auto">
              <a:xfrm flipH="1">
                <a:off x="5375286" y="4232286"/>
                <a:ext cx="326403" cy="3429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lIns="72000" tIns="54000" rIns="72000" bIns="54000" anchor="ctr"/>
              <a:lstStyle/>
              <a:p>
                <a:pPr algn="ctr"/>
                <a:r>
                  <a:rPr kumimoji="1" lang="en-US" altLang="zh-CN" sz="2400" b="1">
                    <a:solidFill>
                      <a:schemeClr val="bg2"/>
                    </a:solidFill>
                    <a:latin typeface="Times New Roman" pitchFamily="18" charset="0"/>
                  </a:rPr>
                  <a:t>2</a:t>
                </a:r>
                <a:endParaRPr kumimoji="1" lang="en-US" altLang="zh-CN" sz="2400">
                  <a:solidFill>
                    <a:schemeClr val="bg2"/>
                  </a:solidFill>
                  <a:latin typeface="Times New Roman" pitchFamily="18" charset="0"/>
                </a:endParaRPr>
              </a:p>
            </p:txBody>
          </p:sp>
          <p:cxnSp>
            <p:nvCxnSpPr>
              <p:cNvPr id="89" name="直接箭头连接符 88"/>
              <p:cNvCxnSpPr>
                <a:cxnSpLocks/>
                <a:stCxn id="42037" idx="0"/>
                <a:endCxn id="42030" idx="4"/>
              </p:cNvCxnSpPr>
              <p:nvPr/>
            </p:nvCxnSpPr>
            <p:spPr>
              <a:xfrm flipH="1" flipV="1">
                <a:off x="4844741" y="3844926"/>
                <a:ext cx="693747" cy="1117620"/>
              </a:xfrm>
              <a:prstGeom prst="straightConnector1">
                <a:avLst/>
              </a:prstGeom>
              <a:ln w="25400">
                <a:solidFill>
                  <a:schemeClr val="bg2">
                    <a:lumMod val="40000"/>
                    <a:lumOff val="60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0" name="直接箭头连接符 89"/>
            <p:cNvCxnSpPr>
              <a:stCxn id="42029" idx="0"/>
              <a:endCxn id="42030" idx="4"/>
            </p:cNvCxnSpPr>
            <p:nvPr/>
          </p:nvCxnSpPr>
          <p:spPr>
            <a:xfrm rot="5400000" flipH="1" flipV="1">
              <a:off x="4651029" y="4038607"/>
              <a:ext cx="388942" cy="1588"/>
            </a:xfrm>
            <a:prstGeom prst="straightConnector1">
              <a:avLst/>
            </a:prstGeom>
            <a:ln w="25400">
              <a:solidFill>
                <a:schemeClr val="bg2">
                  <a:lumMod val="40000"/>
                  <a:lumOff val="6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箭头连接符 100"/>
            <p:cNvCxnSpPr>
              <a:stCxn id="42038" idx="7"/>
              <a:endCxn id="42030" idx="5"/>
            </p:cNvCxnSpPr>
            <p:nvPr/>
          </p:nvCxnSpPr>
          <p:spPr>
            <a:xfrm rot="16200000" flipV="1">
              <a:off x="4947040" y="3807664"/>
              <a:ext cx="488955" cy="461885"/>
            </a:xfrm>
            <a:prstGeom prst="straightConnector1">
              <a:avLst/>
            </a:prstGeom>
            <a:ln w="25400">
              <a:solidFill>
                <a:schemeClr val="bg2">
                  <a:lumMod val="40000"/>
                  <a:lumOff val="6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箭头连接符 52"/>
            <p:cNvCxnSpPr>
              <a:stCxn id="42031" idx="1"/>
              <a:endCxn id="42030" idx="6"/>
            </p:cNvCxnSpPr>
            <p:nvPr/>
          </p:nvCxnSpPr>
          <p:spPr>
            <a:xfrm rot="16200000" flipV="1">
              <a:off x="5257334" y="3424335"/>
              <a:ext cx="609607" cy="1107891"/>
            </a:xfrm>
            <a:prstGeom prst="straightConnector1">
              <a:avLst/>
            </a:prstGeom>
            <a:ln w="25400">
              <a:solidFill>
                <a:schemeClr val="bg2">
                  <a:lumMod val="40000"/>
                  <a:lumOff val="6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999" name="组合 52"/>
          <p:cNvGrpSpPr>
            <a:grpSpLocks/>
          </p:cNvGrpSpPr>
          <p:nvPr/>
        </p:nvGrpSpPr>
        <p:grpSpPr bwMode="auto">
          <a:xfrm>
            <a:off x="373063" y="3535363"/>
            <a:ext cx="1958975" cy="2016125"/>
            <a:chOff x="373059" y="3535364"/>
            <a:chExt cx="1958977" cy="2015762"/>
          </a:xfrm>
        </p:grpSpPr>
        <p:grpSp>
          <p:nvGrpSpPr>
            <p:cNvPr id="42000" name="组合 4"/>
            <p:cNvGrpSpPr>
              <a:grpSpLocks/>
            </p:cNvGrpSpPr>
            <p:nvPr/>
          </p:nvGrpSpPr>
          <p:grpSpPr bwMode="auto">
            <a:xfrm>
              <a:off x="373059" y="3535364"/>
              <a:ext cx="1958977" cy="2015762"/>
              <a:chOff x="738135" y="2256382"/>
              <a:chExt cx="1958416" cy="2015789"/>
            </a:xfrm>
          </p:grpSpPr>
          <p:sp>
            <p:nvSpPr>
              <p:cNvPr id="42002" name="Text Box 21"/>
              <p:cNvSpPr txBox="1">
                <a:spLocks noChangeArrowheads="1"/>
              </p:cNvSpPr>
              <p:nvPr/>
            </p:nvSpPr>
            <p:spPr bwMode="auto">
              <a:xfrm>
                <a:off x="1504908" y="2256382"/>
                <a:ext cx="415498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b="1">
                    <a:solidFill>
                      <a:srgbClr val="C00000"/>
                    </a:solidFill>
                    <a:latin typeface="Times New Roman" pitchFamily="18" charset="0"/>
                  </a:rPr>
                  <a:t>28</a:t>
                </a:r>
                <a:endParaRPr kumimoji="1" lang="en-US" altLang="zh-CN">
                  <a:solidFill>
                    <a:srgbClr val="C00000"/>
                  </a:solidFill>
                  <a:latin typeface="Times New Roman" pitchFamily="18" charset="0"/>
                </a:endParaRPr>
              </a:p>
            </p:txBody>
          </p:sp>
          <p:grpSp>
            <p:nvGrpSpPr>
              <p:cNvPr id="42003" name="组合 47"/>
              <p:cNvGrpSpPr>
                <a:grpSpLocks/>
              </p:cNvGrpSpPr>
              <p:nvPr/>
            </p:nvGrpSpPr>
            <p:grpSpPr bwMode="auto">
              <a:xfrm>
                <a:off x="738135" y="2368857"/>
                <a:ext cx="1958416" cy="1903314"/>
                <a:chOff x="738135" y="2598723"/>
                <a:chExt cx="1958416" cy="1903314"/>
              </a:xfrm>
            </p:grpSpPr>
            <p:sp>
              <p:nvSpPr>
                <p:cNvPr id="42004" name="Text Box 26"/>
                <p:cNvSpPr txBox="1">
                  <a:spLocks noChangeArrowheads="1"/>
                </p:cNvSpPr>
                <p:nvPr/>
              </p:nvSpPr>
              <p:spPr bwMode="auto">
                <a:xfrm>
                  <a:off x="1499741" y="4137998"/>
                  <a:ext cx="415498" cy="36403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9pPr>
                </a:lstStyle>
                <a:p>
                  <a:pPr algn="ctr" eaLnBrk="1" hangingPunct="1"/>
                  <a:r>
                    <a:rPr kumimoji="1" lang="en-US" altLang="zh-CN" b="1">
                      <a:solidFill>
                        <a:srgbClr val="C00000"/>
                      </a:solidFill>
                      <a:latin typeface="Times New Roman" pitchFamily="18" charset="0"/>
                    </a:rPr>
                    <a:t>22</a:t>
                  </a:r>
                  <a:endParaRPr kumimoji="1" lang="en-US" altLang="zh-CN">
                    <a:solidFill>
                      <a:srgbClr val="C00000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60" name="Line 6"/>
                <p:cNvSpPr>
                  <a:spLocks noChangeShapeType="1"/>
                </p:cNvSpPr>
                <p:nvPr/>
              </p:nvSpPr>
              <p:spPr bwMode="auto">
                <a:xfrm>
                  <a:off x="1336451" y="2770362"/>
                  <a:ext cx="815742" cy="0"/>
                </a:xfrm>
                <a:prstGeom prst="line">
                  <a:avLst/>
                </a:prstGeom>
                <a:noFill/>
                <a:ln w="28575">
                  <a:solidFill>
                    <a:schemeClr val="bg2">
                      <a:lumMod val="60000"/>
                      <a:lumOff val="40000"/>
                    </a:schemeClr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sz="2400">
                    <a:solidFill>
                      <a:schemeClr val="bg2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42006" name="Line 7"/>
                <p:cNvSpPr>
                  <a:spLocks noChangeShapeType="1"/>
                </p:cNvSpPr>
                <p:nvPr/>
              </p:nvSpPr>
              <p:spPr bwMode="auto">
                <a:xfrm>
                  <a:off x="1336451" y="4199185"/>
                  <a:ext cx="815742" cy="0"/>
                </a:xfrm>
                <a:prstGeom prst="line">
                  <a:avLst/>
                </a:prstGeom>
                <a:noFill/>
                <a:ln w="508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2" name="Line 8"/>
                <p:cNvSpPr>
                  <a:spLocks noChangeShapeType="1"/>
                </p:cNvSpPr>
                <p:nvPr/>
              </p:nvSpPr>
              <p:spPr bwMode="auto">
                <a:xfrm flipH="1" flipV="1">
                  <a:off x="1717343" y="3570329"/>
                  <a:ext cx="326932" cy="514264"/>
                </a:xfrm>
                <a:prstGeom prst="line">
                  <a:avLst/>
                </a:prstGeom>
                <a:noFill/>
                <a:ln w="28575">
                  <a:solidFill>
                    <a:schemeClr val="bg2">
                      <a:lumMod val="60000"/>
                      <a:lumOff val="40000"/>
                    </a:schemeClr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sz="2400">
                    <a:solidFill>
                      <a:schemeClr val="bg2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42008" name="Line 9"/>
                <p:cNvSpPr>
                  <a:spLocks noChangeShapeType="1"/>
                </p:cNvSpPr>
                <p:nvPr/>
              </p:nvSpPr>
              <p:spPr bwMode="auto">
                <a:xfrm flipH="1">
                  <a:off x="2152193" y="3570526"/>
                  <a:ext cx="326932" cy="628659"/>
                </a:xfrm>
                <a:prstGeom prst="line">
                  <a:avLst/>
                </a:prstGeom>
                <a:noFill/>
                <a:ln w="508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2009" name="Line 10"/>
                <p:cNvSpPr>
                  <a:spLocks noChangeShapeType="1"/>
                </p:cNvSpPr>
                <p:nvPr/>
              </p:nvSpPr>
              <p:spPr bwMode="auto">
                <a:xfrm>
                  <a:off x="2152193" y="2827565"/>
                  <a:ext cx="326932" cy="628659"/>
                </a:xfrm>
                <a:prstGeom prst="line">
                  <a:avLst/>
                </a:prstGeom>
                <a:noFill/>
                <a:ln w="508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2010" name="Line 11"/>
                <p:cNvSpPr>
                  <a:spLocks noChangeShapeType="1"/>
                </p:cNvSpPr>
                <p:nvPr/>
              </p:nvSpPr>
              <p:spPr bwMode="auto">
                <a:xfrm flipV="1">
                  <a:off x="1796652" y="2770414"/>
                  <a:ext cx="301582" cy="595334"/>
                </a:xfrm>
                <a:prstGeom prst="line">
                  <a:avLst/>
                </a:prstGeom>
                <a:noFill/>
                <a:ln w="508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6" name="Line 12"/>
                <p:cNvSpPr>
                  <a:spLocks noChangeShapeType="1"/>
                </p:cNvSpPr>
                <p:nvPr/>
              </p:nvSpPr>
              <p:spPr bwMode="auto">
                <a:xfrm>
                  <a:off x="955560" y="3570329"/>
                  <a:ext cx="326932" cy="628545"/>
                </a:xfrm>
                <a:prstGeom prst="line">
                  <a:avLst/>
                </a:prstGeom>
                <a:noFill/>
                <a:ln w="28575">
                  <a:solidFill>
                    <a:schemeClr val="bg2">
                      <a:lumMod val="60000"/>
                      <a:lumOff val="40000"/>
                    </a:schemeClr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sz="2400">
                    <a:solidFill>
                      <a:schemeClr val="bg2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42012" name="Line 13"/>
                <p:cNvSpPr>
                  <a:spLocks noChangeShapeType="1"/>
                </p:cNvSpPr>
                <p:nvPr/>
              </p:nvSpPr>
              <p:spPr bwMode="auto">
                <a:xfrm flipH="1">
                  <a:off x="901600" y="2827565"/>
                  <a:ext cx="326932" cy="628659"/>
                </a:xfrm>
                <a:prstGeom prst="line">
                  <a:avLst/>
                </a:prstGeom>
                <a:noFill/>
                <a:ln w="508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2013" name="Oval 14" descr="羊皮纸"/>
                <p:cNvSpPr>
                  <a:spLocks noChangeArrowheads="1"/>
                </p:cNvSpPr>
                <p:nvPr/>
              </p:nvSpPr>
              <p:spPr bwMode="auto">
                <a:xfrm>
                  <a:off x="738135" y="3341672"/>
                  <a:ext cx="326403" cy="34290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 wrap="none" lIns="72000" tIns="54000" rIns="72000" bIns="54000" anchor="ctr"/>
                <a:lstStyle/>
                <a:p>
                  <a:pPr algn="ctr"/>
                  <a:r>
                    <a:rPr kumimoji="1" lang="en-US" altLang="zh-CN" sz="2400" b="1">
                      <a:solidFill>
                        <a:schemeClr val="bg2"/>
                      </a:solidFill>
                      <a:latin typeface="Times New Roman" pitchFamily="18" charset="0"/>
                    </a:rPr>
                    <a:t>5</a:t>
                  </a:r>
                  <a:endParaRPr kumimoji="1" lang="en-US" altLang="zh-CN" sz="2400">
                    <a:solidFill>
                      <a:schemeClr val="bg2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42014" name="Oval 15" descr="羊皮纸"/>
                <p:cNvSpPr>
                  <a:spLocks noChangeArrowheads="1"/>
                </p:cNvSpPr>
                <p:nvPr/>
              </p:nvSpPr>
              <p:spPr bwMode="auto">
                <a:xfrm>
                  <a:off x="1118938" y="2598723"/>
                  <a:ext cx="326403" cy="34290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 wrap="none" lIns="72000" tIns="54000" rIns="72000" bIns="54000" anchor="ctr"/>
                <a:lstStyle/>
                <a:p>
                  <a:pPr algn="ctr"/>
                  <a:r>
                    <a:rPr kumimoji="1" lang="en-US" altLang="zh-CN" sz="2400" b="1">
                      <a:solidFill>
                        <a:schemeClr val="bg2"/>
                      </a:solidFill>
                      <a:latin typeface="Times New Roman" pitchFamily="18" charset="0"/>
                    </a:rPr>
                    <a:t>0</a:t>
                  </a:r>
                  <a:endParaRPr kumimoji="1" lang="en-US" altLang="zh-CN" sz="2400">
                    <a:solidFill>
                      <a:schemeClr val="bg2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42015" name="Oval 16" descr="羊皮纸"/>
                <p:cNvSpPr>
                  <a:spLocks noChangeArrowheads="1"/>
                </p:cNvSpPr>
                <p:nvPr/>
              </p:nvSpPr>
              <p:spPr bwMode="auto">
                <a:xfrm>
                  <a:off x="1118938" y="4027471"/>
                  <a:ext cx="326403" cy="34290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 wrap="none" lIns="72000" tIns="54000" rIns="72000" bIns="54000" anchor="ctr"/>
                <a:lstStyle/>
                <a:p>
                  <a:pPr algn="ctr"/>
                  <a:r>
                    <a:rPr kumimoji="1" lang="en-US" altLang="zh-CN" sz="2400" b="1">
                      <a:solidFill>
                        <a:schemeClr val="bg2"/>
                      </a:solidFill>
                      <a:latin typeface="Times New Roman" pitchFamily="18" charset="0"/>
                    </a:rPr>
                    <a:t>4</a:t>
                  </a:r>
                  <a:endParaRPr kumimoji="1" lang="en-US" altLang="zh-CN" sz="2400">
                    <a:solidFill>
                      <a:schemeClr val="bg2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42016" name="Oval 17" descr="羊皮纸"/>
                <p:cNvSpPr>
                  <a:spLocks noChangeArrowheads="1"/>
                </p:cNvSpPr>
                <p:nvPr/>
              </p:nvSpPr>
              <p:spPr bwMode="auto">
                <a:xfrm>
                  <a:off x="1554142" y="3341672"/>
                  <a:ext cx="326403" cy="34290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 wrap="none" lIns="72000" tIns="54000" rIns="72000" bIns="54000" anchor="ctr"/>
                <a:lstStyle/>
                <a:p>
                  <a:pPr algn="ctr"/>
                  <a:r>
                    <a:rPr kumimoji="1" lang="en-US" altLang="zh-CN" sz="2400" b="1">
                      <a:solidFill>
                        <a:schemeClr val="bg2"/>
                      </a:solidFill>
                      <a:latin typeface="Times New Roman" pitchFamily="18" charset="0"/>
                    </a:rPr>
                    <a:t>6</a:t>
                  </a:r>
                  <a:endParaRPr kumimoji="1" lang="en-US" altLang="zh-CN" sz="2400">
                    <a:solidFill>
                      <a:schemeClr val="bg2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42017" name="Oval 18" descr="羊皮纸"/>
                <p:cNvSpPr>
                  <a:spLocks noChangeArrowheads="1"/>
                </p:cNvSpPr>
                <p:nvPr/>
              </p:nvSpPr>
              <p:spPr bwMode="auto">
                <a:xfrm>
                  <a:off x="1934945" y="2598723"/>
                  <a:ext cx="326403" cy="34290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 wrap="none" lIns="72000" tIns="54000" rIns="72000" bIns="54000" anchor="ctr"/>
                <a:lstStyle/>
                <a:p>
                  <a:pPr algn="ctr"/>
                  <a:r>
                    <a:rPr kumimoji="1" lang="en-US" altLang="zh-CN" sz="2400" b="1">
                      <a:solidFill>
                        <a:schemeClr val="bg2"/>
                      </a:solidFill>
                      <a:latin typeface="Times New Roman" pitchFamily="18" charset="0"/>
                    </a:rPr>
                    <a:t>1</a:t>
                  </a:r>
                  <a:endParaRPr kumimoji="1" lang="en-US" altLang="zh-CN" sz="2400">
                    <a:solidFill>
                      <a:schemeClr val="bg2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42018" name="Oval 19" descr="羊皮纸"/>
                <p:cNvSpPr>
                  <a:spLocks noChangeArrowheads="1"/>
                </p:cNvSpPr>
                <p:nvPr/>
              </p:nvSpPr>
              <p:spPr bwMode="auto">
                <a:xfrm>
                  <a:off x="1934945" y="4027471"/>
                  <a:ext cx="326403" cy="34290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 wrap="none" lIns="72000" tIns="54000" rIns="72000" bIns="54000" anchor="ctr"/>
                <a:lstStyle/>
                <a:p>
                  <a:pPr algn="ctr"/>
                  <a:r>
                    <a:rPr kumimoji="1" lang="en-US" altLang="zh-CN" sz="2400" b="1">
                      <a:solidFill>
                        <a:schemeClr val="bg2"/>
                      </a:solidFill>
                      <a:latin typeface="Times New Roman" pitchFamily="18" charset="0"/>
                    </a:rPr>
                    <a:t>3</a:t>
                  </a:r>
                  <a:endParaRPr kumimoji="1" lang="en-US" altLang="zh-CN" sz="2400">
                    <a:solidFill>
                      <a:schemeClr val="bg2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42019" name="Oval 20" descr="羊皮纸"/>
                <p:cNvSpPr>
                  <a:spLocks noChangeArrowheads="1"/>
                </p:cNvSpPr>
                <p:nvPr/>
              </p:nvSpPr>
              <p:spPr bwMode="auto">
                <a:xfrm flipH="1">
                  <a:off x="2370148" y="3341672"/>
                  <a:ext cx="326403" cy="34290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 wrap="none" lIns="72000" tIns="54000" rIns="72000" bIns="54000" anchor="ctr"/>
                <a:lstStyle/>
                <a:p>
                  <a:pPr algn="ctr"/>
                  <a:r>
                    <a:rPr kumimoji="1" lang="en-US" altLang="zh-CN" sz="2400" b="1">
                      <a:solidFill>
                        <a:schemeClr val="bg2"/>
                      </a:solidFill>
                      <a:latin typeface="Times New Roman" pitchFamily="18" charset="0"/>
                    </a:rPr>
                    <a:t>2</a:t>
                  </a:r>
                  <a:endParaRPr kumimoji="1" lang="en-US" altLang="zh-CN" sz="2400">
                    <a:solidFill>
                      <a:schemeClr val="bg2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42020" name="Text Box 22"/>
                <p:cNvSpPr txBox="1">
                  <a:spLocks noChangeArrowheads="1"/>
                </p:cNvSpPr>
                <p:nvPr/>
              </p:nvSpPr>
              <p:spPr bwMode="auto">
                <a:xfrm>
                  <a:off x="738135" y="2846509"/>
                  <a:ext cx="415498" cy="3640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9pPr>
                </a:lstStyle>
                <a:p>
                  <a:pPr algn="ctr" eaLnBrk="1" hangingPunct="1"/>
                  <a:r>
                    <a:rPr kumimoji="1" lang="en-US" altLang="zh-CN" b="1">
                      <a:solidFill>
                        <a:srgbClr val="C00000"/>
                      </a:solidFill>
                      <a:latin typeface="Times New Roman" pitchFamily="18" charset="0"/>
                    </a:rPr>
                    <a:t>10</a:t>
                  </a:r>
                  <a:endParaRPr kumimoji="1" lang="en-US" altLang="zh-CN">
                    <a:solidFill>
                      <a:srgbClr val="C00000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42021" name="Text Box 23"/>
                <p:cNvSpPr txBox="1">
                  <a:spLocks noChangeArrowheads="1"/>
                </p:cNvSpPr>
                <p:nvPr/>
              </p:nvSpPr>
              <p:spPr bwMode="auto">
                <a:xfrm>
                  <a:off x="760793" y="3714404"/>
                  <a:ext cx="415498" cy="36403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9pPr>
                </a:lstStyle>
                <a:p>
                  <a:pPr algn="ctr" eaLnBrk="1" hangingPunct="1"/>
                  <a:r>
                    <a:rPr kumimoji="1" lang="en-US" altLang="zh-CN" b="1">
                      <a:solidFill>
                        <a:srgbClr val="C00000"/>
                      </a:solidFill>
                      <a:latin typeface="Times New Roman" pitchFamily="18" charset="0"/>
                    </a:rPr>
                    <a:t>25</a:t>
                  </a:r>
                  <a:endParaRPr kumimoji="1" lang="en-US" altLang="zh-CN">
                    <a:solidFill>
                      <a:srgbClr val="C00000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42022" name="Text Box 24"/>
                <p:cNvSpPr txBox="1">
                  <a:spLocks noChangeArrowheads="1"/>
                </p:cNvSpPr>
                <p:nvPr/>
              </p:nvSpPr>
              <p:spPr bwMode="auto">
                <a:xfrm>
                  <a:off x="1527566" y="2895188"/>
                  <a:ext cx="415498" cy="3640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9pPr>
                </a:lstStyle>
                <a:p>
                  <a:pPr algn="ctr" eaLnBrk="1" hangingPunct="1"/>
                  <a:r>
                    <a:rPr kumimoji="1" lang="en-US" altLang="zh-CN" b="1">
                      <a:solidFill>
                        <a:srgbClr val="C00000"/>
                      </a:solidFill>
                      <a:latin typeface="Times New Roman" pitchFamily="18" charset="0"/>
                    </a:rPr>
                    <a:t>14</a:t>
                  </a:r>
                  <a:endParaRPr kumimoji="1" lang="en-US" altLang="zh-CN">
                    <a:solidFill>
                      <a:srgbClr val="C00000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42023" name="Text Box 25"/>
                <p:cNvSpPr txBox="1">
                  <a:spLocks noChangeArrowheads="1"/>
                </p:cNvSpPr>
                <p:nvPr/>
              </p:nvSpPr>
              <p:spPr bwMode="auto">
                <a:xfrm>
                  <a:off x="1198949" y="3638284"/>
                  <a:ext cx="415498" cy="3640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9pPr>
                </a:lstStyle>
                <a:p>
                  <a:pPr algn="ctr" eaLnBrk="1" hangingPunct="1"/>
                  <a:r>
                    <a:rPr kumimoji="1" lang="en-US" altLang="zh-CN" b="1">
                      <a:solidFill>
                        <a:srgbClr val="C00000"/>
                      </a:solidFill>
                      <a:latin typeface="Times New Roman" pitchFamily="18" charset="0"/>
                    </a:rPr>
                    <a:t>24</a:t>
                  </a:r>
                  <a:endParaRPr kumimoji="1" lang="en-US" altLang="zh-CN">
                    <a:solidFill>
                      <a:srgbClr val="C00000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42024" name="Text Box 27"/>
                <p:cNvSpPr txBox="1">
                  <a:spLocks noChangeArrowheads="1"/>
                </p:cNvSpPr>
                <p:nvPr/>
              </p:nvSpPr>
              <p:spPr bwMode="auto">
                <a:xfrm>
                  <a:off x="2271681" y="2895188"/>
                  <a:ext cx="415498" cy="3640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9pPr>
                </a:lstStyle>
                <a:p>
                  <a:pPr algn="ctr" eaLnBrk="1" hangingPunct="1"/>
                  <a:r>
                    <a:rPr kumimoji="1" lang="en-US" altLang="zh-CN" b="1">
                      <a:solidFill>
                        <a:srgbClr val="C00000"/>
                      </a:solidFill>
                      <a:latin typeface="Times New Roman" pitchFamily="18" charset="0"/>
                    </a:rPr>
                    <a:t>16</a:t>
                  </a:r>
                  <a:endParaRPr kumimoji="1" lang="en-US" altLang="zh-CN">
                    <a:solidFill>
                      <a:srgbClr val="C00000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42025" name="Text Box 28"/>
                <p:cNvSpPr txBox="1">
                  <a:spLocks noChangeArrowheads="1"/>
                </p:cNvSpPr>
                <p:nvPr/>
              </p:nvSpPr>
              <p:spPr bwMode="auto">
                <a:xfrm>
                  <a:off x="1797012" y="3570271"/>
                  <a:ext cx="415498" cy="3640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9pPr>
                </a:lstStyle>
                <a:p>
                  <a:pPr algn="ctr" eaLnBrk="1" hangingPunct="1"/>
                  <a:r>
                    <a:rPr kumimoji="1" lang="en-US" altLang="zh-CN" b="1">
                      <a:solidFill>
                        <a:srgbClr val="C00000"/>
                      </a:solidFill>
                      <a:latin typeface="Times New Roman" pitchFamily="18" charset="0"/>
                    </a:rPr>
                    <a:t>18</a:t>
                  </a:r>
                  <a:endParaRPr kumimoji="1" lang="en-US" altLang="zh-CN">
                    <a:solidFill>
                      <a:srgbClr val="C00000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42026" name="Text Box 29"/>
                <p:cNvSpPr txBox="1">
                  <a:spLocks noChangeArrowheads="1"/>
                </p:cNvSpPr>
                <p:nvPr/>
              </p:nvSpPr>
              <p:spPr bwMode="auto">
                <a:xfrm>
                  <a:off x="2271681" y="3752437"/>
                  <a:ext cx="415498" cy="3640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9pPr>
                </a:lstStyle>
                <a:p>
                  <a:pPr algn="ctr" eaLnBrk="1" hangingPunct="1"/>
                  <a:r>
                    <a:rPr kumimoji="1" lang="en-US" altLang="zh-CN" b="1">
                      <a:solidFill>
                        <a:srgbClr val="C00000"/>
                      </a:solidFill>
                      <a:latin typeface="Times New Roman" pitchFamily="18" charset="0"/>
                    </a:rPr>
                    <a:t>12</a:t>
                  </a:r>
                  <a:endParaRPr kumimoji="1" lang="en-US" altLang="zh-CN">
                    <a:solidFill>
                      <a:srgbClr val="C00000"/>
                    </a:solidFill>
                    <a:latin typeface="Times New Roman" pitchFamily="18" charset="0"/>
                  </a:endParaRPr>
                </a:p>
              </p:txBody>
            </p:sp>
          </p:grpSp>
        </p:grpSp>
        <p:sp>
          <p:nvSpPr>
            <p:cNvPr id="56" name="Line 11"/>
            <p:cNvSpPr>
              <a:spLocks noChangeShapeType="1"/>
            </p:cNvSpPr>
            <p:nvPr/>
          </p:nvSpPr>
          <p:spPr bwMode="auto">
            <a:xfrm flipV="1">
              <a:off x="993772" y="4706728"/>
              <a:ext cx="255588" cy="449181"/>
            </a:xfrm>
            <a:prstGeom prst="line">
              <a:avLst/>
            </a:prstGeom>
            <a:noFill/>
            <a:ln w="28575">
              <a:solidFill>
                <a:schemeClr val="bg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400">
                <a:solidFill>
                  <a:schemeClr val="bg2"/>
                </a:solidFill>
                <a:ea typeface="宋体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338826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最小生成树</a:t>
            </a:r>
          </a:p>
        </p:txBody>
      </p:sp>
      <p:sp>
        <p:nvSpPr>
          <p:cNvPr id="4301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>
                <a:latin typeface="Arial" charset="0"/>
                <a:ea typeface="黑体" pitchFamily="2" charset="-122"/>
              </a:rPr>
              <a:t>克鲁斯卡尔 </a:t>
            </a:r>
            <a:r>
              <a:rPr lang="en-US" altLang="zh-CN">
                <a:latin typeface="Arial" charset="0"/>
                <a:ea typeface="黑体" pitchFamily="2" charset="-122"/>
              </a:rPr>
              <a:t>(Kruskal) </a:t>
            </a:r>
            <a:r>
              <a:rPr lang="zh-CN" altLang="en-US">
                <a:latin typeface="Arial" charset="0"/>
                <a:ea typeface="黑体" pitchFamily="2" charset="-122"/>
              </a:rPr>
              <a:t>算法</a:t>
            </a:r>
            <a:endParaRPr lang="en-US" altLang="zh-CN">
              <a:latin typeface="Arial" charset="0"/>
              <a:ea typeface="黑体" pitchFamily="2" charset="-122"/>
            </a:endParaRPr>
          </a:p>
          <a:p>
            <a:pPr lvl="1"/>
            <a:r>
              <a:rPr lang="zh-CN" altLang="en-US">
                <a:latin typeface="Arial" charset="0"/>
                <a:ea typeface="黑体" pitchFamily="2" charset="-122"/>
              </a:rPr>
              <a:t>经常需要判断权值最小的边的两端是否属于不同连通分量</a:t>
            </a:r>
            <a:endParaRPr lang="en-US" altLang="zh-CN">
              <a:latin typeface="Arial" charset="0"/>
              <a:ea typeface="黑体" pitchFamily="2" charset="-122"/>
            </a:endParaRPr>
          </a:p>
          <a:p>
            <a:pPr lvl="2"/>
            <a:r>
              <a:rPr lang="zh-CN" altLang="en-US">
                <a:latin typeface="Arial" charset="0"/>
                <a:ea typeface="黑体" pitchFamily="2" charset="-122"/>
              </a:rPr>
              <a:t>可使用并查集技术加快判断速度</a:t>
            </a:r>
          </a:p>
        </p:txBody>
      </p:sp>
      <p:sp>
        <p:nvSpPr>
          <p:cNvPr id="43012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fld id="{CFBEE625-E5CF-4730-AC01-43E9AC17FFC0}" type="slidenum">
              <a:rPr lang="en-US" altLang="zh-CN" smtClean="0">
                <a:solidFill>
                  <a:srgbClr val="006600"/>
                </a:solidFill>
                <a:latin typeface="Courier New" pitchFamily="49" charset="0"/>
                <a:ea typeface="华文新魏" pitchFamily="2" charset="-122"/>
              </a:rPr>
              <a:pPr eaLnBrk="1" hangingPunct="1"/>
              <a:t>37</a:t>
            </a:fld>
            <a:endParaRPr lang="en-US" altLang="zh-CN">
              <a:solidFill>
                <a:srgbClr val="006600"/>
              </a:solidFill>
              <a:latin typeface="Courier New" pitchFamily="49" charset="0"/>
              <a:ea typeface="华文新魏" pitchFamily="2" charset="-122"/>
            </a:endParaRPr>
          </a:p>
        </p:txBody>
      </p:sp>
      <p:sp>
        <p:nvSpPr>
          <p:cNvPr id="43013" name="TextBox 39"/>
          <p:cNvSpPr txBox="1">
            <a:spLocks noChangeArrowheads="1"/>
          </p:cNvSpPr>
          <p:nvPr/>
        </p:nvSpPr>
        <p:spPr bwMode="auto">
          <a:xfrm>
            <a:off x="2636838" y="3830638"/>
            <a:ext cx="9794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b="1">
                <a:solidFill>
                  <a:srgbClr val="C00000"/>
                </a:solidFill>
                <a:ea typeface="黑体" pitchFamily="2" charset="-122"/>
              </a:rPr>
              <a:t>10 (0,5)</a:t>
            </a:r>
          </a:p>
        </p:txBody>
      </p:sp>
      <p:sp>
        <p:nvSpPr>
          <p:cNvPr id="43014" name="矩形 40"/>
          <p:cNvSpPr>
            <a:spLocks noChangeArrowheads="1"/>
          </p:cNvSpPr>
          <p:nvPr/>
        </p:nvSpPr>
        <p:spPr bwMode="auto">
          <a:xfrm>
            <a:off x="2636838" y="4154488"/>
            <a:ext cx="9794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b="1">
                <a:solidFill>
                  <a:srgbClr val="C00000"/>
                </a:solidFill>
                <a:ea typeface="黑体" pitchFamily="2" charset="-122"/>
              </a:rPr>
              <a:t>12 (2,3)</a:t>
            </a:r>
          </a:p>
        </p:txBody>
      </p:sp>
      <p:sp>
        <p:nvSpPr>
          <p:cNvPr id="43015" name="矩形 41"/>
          <p:cNvSpPr>
            <a:spLocks noChangeArrowheads="1"/>
          </p:cNvSpPr>
          <p:nvPr/>
        </p:nvSpPr>
        <p:spPr bwMode="auto">
          <a:xfrm>
            <a:off x="2636838" y="4451350"/>
            <a:ext cx="9794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b="1">
                <a:solidFill>
                  <a:srgbClr val="C00000"/>
                </a:solidFill>
                <a:ea typeface="黑体" pitchFamily="2" charset="-122"/>
              </a:rPr>
              <a:t>14 (1,6)</a:t>
            </a:r>
          </a:p>
        </p:txBody>
      </p:sp>
      <p:sp>
        <p:nvSpPr>
          <p:cNvPr id="43016" name="矩形 42"/>
          <p:cNvSpPr>
            <a:spLocks noChangeArrowheads="1"/>
          </p:cNvSpPr>
          <p:nvPr/>
        </p:nvSpPr>
        <p:spPr bwMode="auto">
          <a:xfrm>
            <a:off x="2636838" y="4779963"/>
            <a:ext cx="9794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b="1">
                <a:solidFill>
                  <a:srgbClr val="C00000"/>
                </a:solidFill>
                <a:ea typeface="黑体" pitchFamily="2" charset="-122"/>
              </a:rPr>
              <a:t>16 (1,2)</a:t>
            </a:r>
          </a:p>
        </p:txBody>
      </p:sp>
      <p:sp>
        <p:nvSpPr>
          <p:cNvPr id="43017" name="矩形 43"/>
          <p:cNvSpPr>
            <a:spLocks noChangeArrowheads="1"/>
          </p:cNvSpPr>
          <p:nvPr/>
        </p:nvSpPr>
        <p:spPr bwMode="auto">
          <a:xfrm>
            <a:off x="2636838" y="5108575"/>
            <a:ext cx="9794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b="1">
                <a:solidFill>
                  <a:srgbClr val="C00000"/>
                </a:solidFill>
                <a:ea typeface="黑体" pitchFamily="2" charset="-122"/>
              </a:rPr>
              <a:t>18 (3,6)</a:t>
            </a:r>
          </a:p>
        </p:txBody>
      </p:sp>
      <p:sp>
        <p:nvSpPr>
          <p:cNvPr id="43018" name="矩形 44"/>
          <p:cNvSpPr>
            <a:spLocks noChangeArrowheads="1"/>
          </p:cNvSpPr>
          <p:nvPr/>
        </p:nvSpPr>
        <p:spPr bwMode="auto">
          <a:xfrm>
            <a:off x="2636838" y="5437188"/>
            <a:ext cx="9794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b="1">
                <a:solidFill>
                  <a:srgbClr val="C00000"/>
                </a:solidFill>
                <a:ea typeface="黑体" pitchFamily="2" charset="-122"/>
              </a:rPr>
              <a:t>22 (3,4)</a:t>
            </a:r>
          </a:p>
        </p:txBody>
      </p:sp>
      <p:sp>
        <p:nvSpPr>
          <p:cNvPr id="43019" name="矩形 45"/>
          <p:cNvSpPr>
            <a:spLocks noChangeArrowheads="1"/>
          </p:cNvSpPr>
          <p:nvPr/>
        </p:nvSpPr>
        <p:spPr bwMode="auto">
          <a:xfrm>
            <a:off x="2636838" y="5765800"/>
            <a:ext cx="9794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b="1">
                <a:solidFill>
                  <a:srgbClr val="C00000"/>
                </a:solidFill>
                <a:ea typeface="黑体" pitchFamily="2" charset="-122"/>
              </a:rPr>
              <a:t>24 (4,6)</a:t>
            </a:r>
          </a:p>
        </p:txBody>
      </p:sp>
      <p:sp>
        <p:nvSpPr>
          <p:cNvPr id="43020" name="矩形 46"/>
          <p:cNvSpPr>
            <a:spLocks noChangeArrowheads="1"/>
          </p:cNvSpPr>
          <p:nvPr/>
        </p:nvSpPr>
        <p:spPr bwMode="auto">
          <a:xfrm>
            <a:off x="2636838" y="6094413"/>
            <a:ext cx="9794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b="1">
                <a:solidFill>
                  <a:srgbClr val="000099"/>
                </a:solidFill>
                <a:ea typeface="黑体" pitchFamily="2" charset="-122"/>
              </a:rPr>
              <a:t>25 (4,5)</a:t>
            </a:r>
            <a:endParaRPr lang="zh-CN" altLang="en-US" b="1">
              <a:solidFill>
                <a:srgbClr val="000099"/>
              </a:solidFill>
              <a:ea typeface="黑体" pitchFamily="2" charset="-122"/>
            </a:endParaRPr>
          </a:p>
        </p:txBody>
      </p:sp>
      <p:sp>
        <p:nvSpPr>
          <p:cNvPr id="43021" name="TextBox 47"/>
          <p:cNvSpPr txBox="1">
            <a:spLocks noChangeArrowheads="1"/>
          </p:cNvSpPr>
          <p:nvPr/>
        </p:nvSpPr>
        <p:spPr bwMode="auto">
          <a:xfrm>
            <a:off x="4645025" y="5473700"/>
            <a:ext cx="11239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zh-CN" altLang="en-US" b="1">
                <a:solidFill>
                  <a:srgbClr val="000099"/>
                </a:solidFill>
                <a:ea typeface="黑体" pitchFamily="2" charset="-122"/>
              </a:rPr>
              <a:t>取边</a:t>
            </a:r>
            <a:r>
              <a:rPr lang="en-US" altLang="zh-CN" b="1">
                <a:solidFill>
                  <a:srgbClr val="000099"/>
                </a:solidFill>
                <a:ea typeface="黑体" pitchFamily="2" charset="-122"/>
              </a:rPr>
              <a:t>(4,6)</a:t>
            </a:r>
            <a:endParaRPr lang="zh-CN" altLang="en-US" b="1">
              <a:solidFill>
                <a:srgbClr val="000099"/>
              </a:solidFill>
              <a:ea typeface="黑体" pitchFamily="2" charset="-122"/>
            </a:endParaRPr>
          </a:p>
        </p:txBody>
      </p:sp>
      <p:grpSp>
        <p:nvGrpSpPr>
          <p:cNvPr id="43022" name="组合 53"/>
          <p:cNvGrpSpPr>
            <a:grpSpLocks/>
          </p:cNvGrpSpPr>
          <p:nvPr/>
        </p:nvGrpSpPr>
        <p:grpSpPr bwMode="auto">
          <a:xfrm>
            <a:off x="4040188" y="3502025"/>
            <a:ext cx="2355850" cy="1803400"/>
            <a:chOff x="4039978" y="3502026"/>
            <a:chExt cx="2355458" cy="1803420"/>
          </a:xfrm>
        </p:grpSpPr>
        <p:sp>
          <p:nvSpPr>
            <p:cNvPr id="43051" name="Oval 14" descr="羊皮纸"/>
            <p:cNvSpPr>
              <a:spLocks noChangeArrowheads="1"/>
            </p:cNvSpPr>
            <p:nvPr/>
          </p:nvSpPr>
          <p:spPr bwMode="auto">
            <a:xfrm>
              <a:off x="4039978" y="4232286"/>
              <a:ext cx="326403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  <a:round/>
              <a:headEnd/>
              <a:tailEnd/>
            </a:ln>
          </p:spPr>
          <p:txBody>
            <a:bodyPr wrap="none" lIns="72000" tIns="54000" rIns="72000" bIns="54000" anchor="ctr"/>
            <a:lstStyle/>
            <a:p>
              <a:pPr algn="ctr"/>
              <a:r>
                <a:rPr kumimoji="1" lang="en-US" altLang="zh-CN" sz="2400" b="1">
                  <a:solidFill>
                    <a:schemeClr val="bg2"/>
                  </a:solidFill>
                  <a:latin typeface="Times New Roman" pitchFamily="18" charset="0"/>
                </a:rPr>
                <a:t>5</a:t>
              </a:r>
              <a:endParaRPr kumimoji="1" lang="en-US" altLang="zh-CN" sz="240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sp>
          <p:nvSpPr>
            <p:cNvPr id="43052" name="Oval 15" descr="羊皮纸"/>
            <p:cNvSpPr>
              <a:spLocks noChangeArrowheads="1"/>
            </p:cNvSpPr>
            <p:nvPr/>
          </p:nvSpPr>
          <p:spPr bwMode="auto">
            <a:xfrm>
              <a:off x="4039978" y="3502026"/>
              <a:ext cx="326403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  <a:round/>
              <a:headEnd/>
              <a:tailEnd/>
            </a:ln>
          </p:spPr>
          <p:txBody>
            <a:bodyPr wrap="none" lIns="72000" tIns="54000" rIns="72000" bIns="54000" anchor="ctr"/>
            <a:lstStyle/>
            <a:p>
              <a:pPr algn="ctr"/>
              <a:r>
                <a:rPr kumimoji="1" lang="en-US" altLang="zh-CN" sz="2400" b="1">
                  <a:solidFill>
                    <a:schemeClr val="bg2"/>
                  </a:solidFill>
                  <a:latin typeface="Times New Roman" pitchFamily="18" charset="0"/>
                </a:rPr>
                <a:t>0</a:t>
              </a:r>
              <a:endParaRPr kumimoji="1" lang="en-US" altLang="zh-CN" sz="240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sp>
          <p:nvSpPr>
            <p:cNvPr id="43053" name="Oval 16" descr="羊皮纸"/>
            <p:cNvSpPr>
              <a:spLocks noChangeArrowheads="1"/>
            </p:cNvSpPr>
            <p:nvPr/>
          </p:nvSpPr>
          <p:spPr bwMode="auto">
            <a:xfrm>
              <a:off x="4681539" y="4232286"/>
              <a:ext cx="326403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  <a:round/>
              <a:headEnd/>
              <a:tailEnd/>
            </a:ln>
          </p:spPr>
          <p:txBody>
            <a:bodyPr wrap="none" lIns="72000" tIns="54000" rIns="72000" bIns="54000" anchor="ctr"/>
            <a:lstStyle/>
            <a:p>
              <a:pPr algn="ctr"/>
              <a:r>
                <a:rPr kumimoji="1" lang="en-US" altLang="zh-CN" sz="2400" b="1">
                  <a:solidFill>
                    <a:schemeClr val="bg2"/>
                  </a:solidFill>
                  <a:latin typeface="Times New Roman" pitchFamily="18" charset="0"/>
                </a:rPr>
                <a:t>6</a:t>
              </a:r>
              <a:endParaRPr kumimoji="1" lang="en-US" altLang="zh-CN" sz="240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sp>
          <p:nvSpPr>
            <p:cNvPr id="43054" name="Oval 18" descr="羊皮纸"/>
            <p:cNvSpPr>
              <a:spLocks noChangeArrowheads="1"/>
            </p:cNvSpPr>
            <p:nvPr/>
          </p:nvSpPr>
          <p:spPr bwMode="auto">
            <a:xfrm>
              <a:off x="4681539" y="3502026"/>
              <a:ext cx="326403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  <a:round/>
              <a:headEnd/>
              <a:tailEnd/>
            </a:ln>
          </p:spPr>
          <p:txBody>
            <a:bodyPr wrap="none" lIns="72000" tIns="54000" rIns="72000" bIns="54000" anchor="ctr"/>
            <a:lstStyle/>
            <a:p>
              <a:pPr algn="ctr"/>
              <a:r>
                <a:rPr kumimoji="1" lang="en-US" altLang="zh-CN" sz="2400" b="1">
                  <a:solidFill>
                    <a:schemeClr val="bg2"/>
                  </a:solidFill>
                  <a:latin typeface="Times New Roman" pitchFamily="18" charset="0"/>
                </a:rPr>
                <a:t>1</a:t>
              </a:r>
              <a:endParaRPr kumimoji="1" lang="en-US" altLang="zh-CN" sz="240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sp>
          <p:nvSpPr>
            <p:cNvPr id="43055" name="Oval 19" descr="羊皮纸"/>
            <p:cNvSpPr>
              <a:spLocks noChangeArrowheads="1"/>
            </p:cNvSpPr>
            <p:nvPr/>
          </p:nvSpPr>
          <p:spPr bwMode="auto">
            <a:xfrm>
              <a:off x="6069033" y="4232286"/>
              <a:ext cx="326403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  <a:round/>
              <a:headEnd/>
              <a:tailEnd/>
            </a:ln>
          </p:spPr>
          <p:txBody>
            <a:bodyPr wrap="none" lIns="72000" tIns="54000" rIns="72000" bIns="54000" anchor="ctr"/>
            <a:lstStyle/>
            <a:p>
              <a:pPr algn="ctr"/>
              <a:r>
                <a:rPr kumimoji="1" lang="en-US" altLang="zh-CN" sz="2400" b="1">
                  <a:solidFill>
                    <a:schemeClr val="bg2"/>
                  </a:solidFill>
                  <a:latin typeface="Times New Roman" pitchFamily="18" charset="0"/>
                </a:rPr>
                <a:t>4</a:t>
              </a:r>
              <a:endParaRPr kumimoji="1" lang="en-US" altLang="zh-CN" sz="240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cxnSp>
          <p:nvCxnSpPr>
            <p:cNvPr id="88" name="直接箭头连接符 87"/>
            <p:cNvCxnSpPr>
              <a:stCxn id="43051" idx="0"/>
              <a:endCxn id="43052" idx="4"/>
            </p:cNvCxnSpPr>
            <p:nvPr/>
          </p:nvCxnSpPr>
          <p:spPr>
            <a:xfrm rot="5400000" flipH="1" flipV="1">
              <a:off x="4008199" y="4038607"/>
              <a:ext cx="388942" cy="1587"/>
            </a:xfrm>
            <a:prstGeom prst="straightConnector1">
              <a:avLst/>
            </a:prstGeom>
            <a:ln w="25400">
              <a:solidFill>
                <a:schemeClr val="bg2">
                  <a:lumMod val="40000"/>
                  <a:lumOff val="6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3057" name="组合 98"/>
            <p:cNvGrpSpPr>
              <a:grpSpLocks/>
            </p:cNvGrpSpPr>
            <p:nvPr/>
          </p:nvGrpSpPr>
          <p:grpSpPr bwMode="auto">
            <a:xfrm>
              <a:off x="4844741" y="3844926"/>
              <a:ext cx="856948" cy="1460520"/>
              <a:chOff x="4844741" y="3844926"/>
              <a:chExt cx="856948" cy="1460520"/>
            </a:xfrm>
          </p:grpSpPr>
          <p:sp>
            <p:nvSpPr>
              <p:cNvPr id="43061" name="Oval 17" descr="羊皮纸"/>
              <p:cNvSpPr>
                <a:spLocks noChangeArrowheads="1"/>
              </p:cNvSpPr>
              <p:nvPr/>
            </p:nvSpPr>
            <p:spPr bwMode="auto">
              <a:xfrm>
                <a:off x="5375286" y="4962546"/>
                <a:ext cx="326403" cy="3429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lIns="72000" tIns="54000" rIns="72000" bIns="54000" anchor="ctr"/>
              <a:lstStyle/>
              <a:p>
                <a:pPr algn="ctr"/>
                <a:r>
                  <a:rPr kumimoji="1" lang="en-US" altLang="zh-CN" sz="2400" b="1">
                    <a:solidFill>
                      <a:schemeClr val="bg2"/>
                    </a:solidFill>
                    <a:latin typeface="Times New Roman" pitchFamily="18" charset="0"/>
                  </a:rPr>
                  <a:t>3</a:t>
                </a:r>
                <a:endParaRPr kumimoji="1" lang="en-US" altLang="zh-CN" sz="2400">
                  <a:solidFill>
                    <a:schemeClr val="bg2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43062" name="Oval 20" descr="羊皮纸"/>
              <p:cNvSpPr>
                <a:spLocks noChangeArrowheads="1"/>
              </p:cNvSpPr>
              <p:nvPr/>
            </p:nvSpPr>
            <p:spPr bwMode="auto">
              <a:xfrm flipH="1">
                <a:off x="5375286" y="4232286"/>
                <a:ext cx="326403" cy="3429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lIns="72000" tIns="54000" rIns="72000" bIns="54000" anchor="ctr"/>
              <a:lstStyle/>
              <a:p>
                <a:pPr algn="ctr"/>
                <a:r>
                  <a:rPr kumimoji="1" lang="en-US" altLang="zh-CN" sz="2400" b="1">
                    <a:solidFill>
                      <a:schemeClr val="bg2"/>
                    </a:solidFill>
                    <a:latin typeface="Times New Roman" pitchFamily="18" charset="0"/>
                  </a:rPr>
                  <a:t>2</a:t>
                </a:r>
                <a:endParaRPr kumimoji="1" lang="en-US" altLang="zh-CN" sz="2400">
                  <a:solidFill>
                    <a:schemeClr val="bg2"/>
                  </a:solidFill>
                  <a:latin typeface="Times New Roman" pitchFamily="18" charset="0"/>
                </a:endParaRPr>
              </a:p>
            </p:txBody>
          </p:sp>
          <p:cxnSp>
            <p:nvCxnSpPr>
              <p:cNvPr id="89" name="直接箭头连接符 88"/>
              <p:cNvCxnSpPr>
                <a:cxnSpLocks/>
                <a:stCxn id="43061" idx="0"/>
                <a:endCxn id="43054" idx="4"/>
              </p:cNvCxnSpPr>
              <p:nvPr/>
            </p:nvCxnSpPr>
            <p:spPr>
              <a:xfrm flipH="1" flipV="1">
                <a:off x="4844741" y="3844926"/>
                <a:ext cx="693747" cy="1117620"/>
              </a:xfrm>
              <a:prstGeom prst="straightConnector1">
                <a:avLst/>
              </a:prstGeom>
              <a:ln w="25400">
                <a:solidFill>
                  <a:schemeClr val="bg2">
                    <a:lumMod val="40000"/>
                    <a:lumOff val="60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0" name="直接箭头连接符 89"/>
            <p:cNvCxnSpPr>
              <a:stCxn id="43053" idx="0"/>
              <a:endCxn id="43054" idx="4"/>
            </p:cNvCxnSpPr>
            <p:nvPr/>
          </p:nvCxnSpPr>
          <p:spPr>
            <a:xfrm rot="5400000" flipH="1" flipV="1">
              <a:off x="4651029" y="4038607"/>
              <a:ext cx="388942" cy="1588"/>
            </a:xfrm>
            <a:prstGeom prst="straightConnector1">
              <a:avLst/>
            </a:prstGeom>
            <a:ln w="25400">
              <a:solidFill>
                <a:schemeClr val="bg2">
                  <a:lumMod val="40000"/>
                  <a:lumOff val="6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箭头连接符 100"/>
            <p:cNvCxnSpPr>
              <a:stCxn id="43062" idx="7"/>
              <a:endCxn id="43054" idx="5"/>
            </p:cNvCxnSpPr>
            <p:nvPr/>
          </p:nvCxnSpPr>
          <p:spPr>
            <a:xfrm rot="16200000" flipV="1">
              <a:off x="4947040" y="3807664"/>
              <a:ext cx="488955" cy="461885"/>
            </a:xfrm>
            <a:prstGeom prst="straightConnector1">
              <a:avLst/>
            </a:prstGeom>
            <a:ln w="25400">
              <a:solidFill>
                <a:schemeClr val="bg2">
                  <a:lumMod val="40000"/>
                  <a:lumOff val="6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箭头连接符 52"/>
            <p:cNvCxnSpPr>
              <a:stCxn id="43055" idx="1"/>
              <a:endCxn id="43054" idx="6"/>
            </p:cNvCxnSpPr>
            <p:nvPr/>
          </p:nvCxnSpPr>
          <p:spPr>
            <a:xfrm rot="16200000" flipV="1">
              <a:off x="5257334" y="3424335"/>
              <a:ext cx="609607" cy="1107891"/>
            </a:xfrm>
            <a:prstGeom prst="straightConnector1">
              <a:avLst/>
            </a:prstGeom>
            <a:ln w="25400">
              <a:solidFill>
                <a:schemeClr val="bg2">
                  <a:lumMod val="40000"/>
                  <a:lumOff val="6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023" name="组合 52"/>
          <p:cNvGrpSpPr>
            <a:grpSpLocks/>
          </p:cNvGrpSpPr>
          <p:nvPr/>
        </p:nvGrpSpPr>
        <p:grpSpPr bwMode="auto">
          <a:xfrm>
            <a:off x="373063" y="3535363"/>
            <a:ext cx="1958975" cy="2016125"/>
            <a:chOff x="373059" y="3535364"/>
            <a:chExt cx="1958977" cy="2015762"/>
          </a:xfrm>
        </p:grpSpPr>
        <p:grpSp>
          <p:nvGrpSpPr>
            <p:cNvPr id="43024" name="组合 4"/>
            <p:cNvGrpSpPr>
              <a:grpSpLocks/>
            </p:cNvGrpSpPr>
            <p:nvPr/>
          </p:nvGrpSpPr>
          <p:grpSpPr bwMode="auto">
            <a:xfrm>
              <a:off x="373059" y="3535364"/>
              <a:ext cx="1958977" cy="2015762"/>
              <a:chOff x="738135" y="2256382"/>
              <a:chExt cx="1958416" cy="2015789"/>
            </a:xfrm>
          </p:grpSpPr>
          <p:sp>
            <p:nvSpPr>
              <p:cNvPr id="43026" name="Text Box 21"/>
              <p:cNvSpPr txBox="1">
                <a:spLocks noChangeArrowheads="1"/>
              </p:cNvSpPr>
              <p:nvPr/>
            </p:nvSpPr>
            <p:spPr bwMode="auto">
              <a:xfrm>
                <a:off x="1504908" y="2256382"/>
                <a:ext cx="415498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b="1">
                    <a:solidFill>
                      <a:srgbClr val="C00000"/>
                    </a:solidFill>
                    <a:latin typeface="Times New Roman" pitchFamily="18" charset="0"/>
                  </a:rPr>
                  <a:t>28</a:t>
                </a:r>
                <a:endParaRPr kumimoji="1" lang="en-US" altLang="zh-CN">
                  <a:solidFill>
                    <a:srgbClr val="C00000"/>
                  </a:solidFill>
                  <a:latin typeface="Times New Roman" pitchFamily="18" charset="0"/>
                </a:endParaRPr>
              </a:p>
            </p:txBody>
          </p:sp>
          <p:grpSp>
            <p:nvGrpSpPr>
              <p:cNvPr id="43027" name="组合 47"/>
              <p:cNvGrpSpPr>
                <a:grpSpLocks/>
              </p:cNvGrpSpPr>
              <p:nvPr/>
            </p:nvGrpSpPr>
            <p:grpSpPr bwMode="auto">
              <a:xfrm>
                <a:off x="738135" y="2368857"/>
                <a:ext cx="1958416" cy="1903314"/>
                <a:chOff x="738135" y="2598723"/>
                <a:chExt cx="1958416" cy="1903314"/>
              </a:xfrm>
            </p:grpSpPr>
            <p:sp>
              <p:nvSpPr>
                <p:cNvPr id="43028" name="Text Box 26"/>
                <p:cNvSpPr txBox="1">
                  <a:spLocks noChangeArrowheads="1"/>
                </p:cNvSpPr>
                <p:nvPr/>
              </p:nvSpPr>
              <p:spPr bwMode="auto">
                <a:xfrm>
                  <a:off x="1499741" y="4137998"/>
                  <a:ext cx="415498" cy="36403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9pPr>
                </a:lstStyle>
                <a:p>
                  <a:pPr algn="ctr" eaLnBrk="1" hangingPunct="1"/>
                  <a:r>
                    <a:rPr kumimoji="1" lang="en-US" altLang="zh-CN" b="1">
                      <a:solidFill>
                        <a:srgbClr val="C00000"/>
                      </a:solidFill>
                      <a:latin typeface="Times New Roman" pitchFamily="18" charset="0"/>
                    </a:rPr>
                    <a:t>22</a:t>
                  </a:r>
                  <a:endParaRPr kumimoji="1" lang="en-US" altLang="zh-CN">
                    <a:solidFill>
                      <a:srgbClr val="C00000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60" name="Line 6"/>
                <p:cNvSpPr>
                  <a:spLocks noChangeShapeType="1"/>
                </p:cNvSpPr>
                <p:nvPr/>
              </p:nvSpPr>
              <p:spPr bwMode="auto">
                <a:xfrm>
                  <a:off x="1336451" y="2770362"/>
                  <a:ext cx="815742" cy="0"/>
                </a:xfrm>
                <a:prstGeom prst="line">
                  <a:avLst/>
                </a:prstGeom>
                <a:noFill/>
                <a:ln w="28575">
                  <a:solidFill>
                    <a:schemeClr val="bg2">
                      <a:lumMod val="60000"/>
                      <a:lumOff val="40000"/>
                    </a:schemeClr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sz="2400">
                    <a:solidFill>
                      <a:schemeClr val="bg2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43030" name="Line 7"/>
                <p:cNvSpPr>
                  <a:spLocks noChangeShapeType="1"/>
                </p:cNvSpPr>
                <p:nvPr/>
              </p:nvSpPr>
              <p:spPr bwMode="auto">
                <a:xfrm>
                  <a:off x="1336451" y="4199185"/>
                  <a:ext cx="815742" cy="0"/>
                </a:xfrm>
                <a:prstGeom prst="line">
                  <a:avLst/>
                </a:prstGeom>
                <a:noFill/>
                <a:ln w="508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2" name="Line 8"/>
                <p:cNvSpPr>
                  <a:spLocks noChangeShapeType="1"/>
                </p:cNvSpPr>
                <p:nvPr/>
              </p:nvSpPr>
              <p:spPr bwMode="auto">
                <a:xfrm flipH="1" flipV="1">
                  <a:off x="1717343" y="3570329"/>
                  <a:ext cx="326932" cy="514264"/>
                </a:xfrm>
                <a:prstGeom prst="line">
                  <a:avLst/>
                </a:prstGeom>
                <a:noFill/>
                <a:ln w="28575">
                  <a:solidFill>
                    <a:schemeClr val="bg2">
                      <a:lumMod val="60000"/>
                      <a:lumOff val="40000"/>
                    </a:schemeClr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sz="2400">
                    <a:solidFill>
                      <a:schemeClr val="bg2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43032" name="Line 9"/>
                <p:cNvSpPr>
                  <a:spLocks noChangeShapeType="1"/>
                </p:cNvSpPr>
                <p:nvPr/>
              </p:nvSpPr>
              <p:spPr bwMode="auto">
                <a:xfrm flipH="1">
                  <a:off x="2152193" y="3570526"/>
                  <a:ext cx="326932" cy="628659"/>
                </a:xfrm>
                <a:prstGeom prst="line">
                  <a:avLst/>
                </a:prstGeom>
                <a:noFill/>
                <a:ln w="508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3033" name="Line 10"/>
                <p:cNvSpPr>
                  <a:spLocks noChangeShapeType="1"/>
                </p:cNvSpPr>
                <p:nvPr/>
              </p:nvSpPr>
              <p:spPr bwMode="auto">
                <a:xfrm>
                  <a:off x="2152193" y="2827565"/>
                  <a:ext cx="326932" cy="628659"/>
                </a:xfrm>
                <a:prstGeom prst="line">
                  <a:avLst/>
                </a:prstGeom>
                <a:noFill/>
                <a:ln w="508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3034" name="Line 11"/>
                <p:cNvSpPr>
                  <a:spLocks noChangeShapeType="1"/>
                </p:cNvSpPr>
                <p:nvPr/>
              </p:nvSpPr>
              <p:spPr bwMode="auto">
                <a:xfrm flipV="1">
                  <a:off x="1796652" y="2770414"/>
                  <a:ext cx="301582" cy="595334"/>
                </a:xfrm>
                <a:prstGeom prst="line">
                  <a:avLst/>
                </a:prstGeom>
                <a:noFill/>
                <a:ln w="508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6" name="Line 12"/>
                <p:cNvSpPr>
                  <a:spLocks noChangeShapeType="1"/>
                </p:cNvSpPr>
                <p:nvPr/>
              </p:nvSpPr>
              <p:spPr bwMode="auto">
                <a:xfrm>
                  <a:off x="955560" y="3570329"/>
                  <a:ext cx="326932" cy="628545"/>
                </a:xfrm>
                <a:prstGeom prst="line">
                  <a:avLst/>
                </a:prstGeom>
                <a:noFill/>
                <a:ln w="28575">
                  <a:solidFill>
                    <a:schemeClr val="bg2">
                      <a:lumMod val="60000"/>
                      <a:lumOff val="40000"/>
                    </a:schemeClr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sz="2400">
                    <a:solidFill>
                      <a:schemeClr val="bg2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43036" name="Line 13"/>
                <p:cNvSpPr>
                  <a:spLocks noChangeShapeType="1"/>
                </p:cNvSpPr>
                <p:nvPr/>
              </p:nvSpPr>
              <p:spPr bwMode="auto">
                <a:xfrm flipH="1">
                  <a:off x="901600" y="2827565"/>
                  <a:ext cx="326932" cy="628659"/>
                </a:xfrm>
                <a:prstGeom prst="line">
                  <a:avLst/>
                </a:prstGeom>
                <a:noFill/>
                <a:ln w="508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3037" name="Oval 14" descr="羊皮纸"/>
                <p:cNvSpPr>
                  <a:spLocks noChangeArrowheads="1"/>
                </p:cNvSpPr>
                <p:nvPr/>
              </p:nvSpPr>
              <p:spPr bwMode="auto">
                <a:xfrm>
                  <a:off x="738135" y="3341672"/>
                  <a:ext cx="326403" cy="34290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 wrap="none" lIns="72000" tIns="54000" rIns="72000" bIns="54000" anchor="ctr"/>
                <a:lstStyle/>
                <a:p>
                  <a:pPr algn="ctr"/>
                  <a:r>
                    <a:rPr kumimoji="1" lang="en-US" altLang="zh-CN" sz="2400" b="1">
                      <a:solidFill>
                        <a:schemeClr val="bg2"/>
                      </a:solidFill>
                      <a:latin typeface="Times New Roman" pitchFamily="18" charset="0"/>
                    </a:rPr>
                    <a:t>5</a:t>
                  </a:r>
                  <a:endParaRPr kumimoji="1" lang="en-US" altLang="zh-CN" sz="2400">
                    <a:solidFill>
                      <a:schemeClr val="bg2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43038" name="Oval 15" descr="羊皮纸"/>
                <p:cNvSpPr>
                  <a:spLocks noChangeArrowheads="1"/>
                </p:cNvSpPr>
                <p:nvPr/>
              </p:nvSpPr>
              <p:spPr bwMode="auto">
                <a:xfrm>
                  <a:off x="1118938" y="2598723"/>
                  <a:ext cx="326403" cy="34290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 wrap="none" lIns="72000" tIns="54000" rIns="72000" bIns="54000" anchor="ctr"/>
                <a:lstStyle/>
                <a:p>
                  <a:pPr algn="ctr"/>
                  <a:r>
                    <a:rPr kumimoji="1" lang="en-US" altLang="zh-CN" sz="2400" b="1">
                      <a:solidFill>
                        <a:schemeClr val="bg2"/>
                      </a:solidFill>
                      <a:latin typeface="Times New Roman" pitchFamily="18" charset="0"/>
                    </a:rPr>
                    <a:t>0</a:t>
                  </a:r>
                  <a:endParaRPr kumimoji="1" lang="en-US" altLang="zh-CN" sz="2400">
                    <a:solidFill>
                      <a:schemeClr val="bg2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43039" name="Oval 16" descr="羊皮纸"/>
                <p:cNvSpPr>
                  <a:spLocks noChangeArrowheads="1"/>
                </p:cNvSpPr>
                <p:nvPr/>
              </p:nvSpPr>
              <p:spPr bwMode="auto">
                <a:xfrm>
                  <a:off x="1118938" y="4027471"/>
                  <a:ext cx="326403" cy="34290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 wrap="none" lIns="72000" tIns="54000" rIns="72000" bIns="54000" anchor="ctr"/>
                <a:lstStyle/>
                <a:p>
                  <a:pPr algn="ctr"/>
                  <a:r>
                    <a:rPr kumimoji="1" lang="en-US" altLang="zh-CN" sz="2400" b="1">
                      <a:solidFill>
                        <a:schemeClr val="bg2"/>
                      </a:solidFill>
                      <a:latin typeface="Times New Roman" pitchFamily="18" charset="0"/>
                    </a:rPr>
                    <a:t>4</a:t>
                  </a:r>
                  <a:endParaRPr kumimoji="1" lang="en-US" altLang="zh-CN" sz="2400">
                    <a:solidFill>
                      <a:schemeClr val="bg2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43040" name="Oval 17" descr="羊皮纸"/>
                <p:cNvSpPr>
                  <a:spLocks noChangeArrowheads="1"/>
                </p:cNvSpPr>
                <p:nvPr/>
              </p:nvSpPr>
              <p:spPr bwMode="auto">
                <a:xfrm>
                  <a:off x="1554142" y="3341672"/>
                  <a:ext cx="326403" cy="34290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 wrap="none" lIns="72000" tIns="54000" rIns="72000" bIns="54000" anchor="ctr"/>
                <a:lstStyle/>
                <a:p>
                  <a:pPr algn="ctr"/>
                  <a:r>
                    <a:rPr kumimoji="1" lang="en-US" altLang="zh-CN" sz="2400" b="1">
                      <a:solidFill>
                        <a:schemeClr val="bg2"/>
                      </a:solidFill>
                      <a:latin typeface="Times New Roman" pitchFamily="18" charset="0"/>
                    </a:rPr>
                    <a:t>6</a:t>
                  </a:r>
                  <a:endParaRPr kumimoji="1" lang="en-US" altLang="zh-CN" sz="2400">
                    <a:solidFill>
                      <a:schemeClr val="bg2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43041" name="Oval 18" descr="羊皮纸"/>
                <p:cNvSpPr>
                  <a:spLocks noChangeArrowheads="1"/>
                </p:cNvSpPr>
                <p:nvPr/>
              </p:nvSpPr>
              <p:spPr bwMode="auto">
                <a:xfrm>
                  <a:off x="1934945" y="2598723"/>
                  <a:ext cx="326403" cy="34290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 wrap="none" lIns="72000" tIns="54000" rIns="72000" bIns="54000" anchor="ctr"/>
                <a:lstStyle/>
                <a:p>
                  <a:pPr algn="ctr"/>
                  <a:r>
                    <a:rPr kumimoji="1" lang="en-US" altLang="zh-CN" sz="2400" b="1">
                      <a:solidFill>
                        <a:schemeClr val="bg2"/>
                      </a:solidFill>
                      <a:latin typeface="Times New Roman" pitchFamily="18" charset="0"/>
                    </a:rPr>
                    <a:t>1</a:t>
                  </a:r>
                  <a:endParaRPr kumimoji="1" lang="en-US" altLang="zh-CN" sz="2400">
                    <a:solidFill>
                      <a:schemeClr val="bg2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43042" name="Oval 19" descr="羊皮纸"/>
                <p:cNvSpPr>
                  <a:spLocks noChangeArrowheads="1"/>
                </p:cNvSpPr>
                <p:nvPr/>
              </p:nvSpPr>
              <p:spPr bwMode="auto">
                <a:xfrm>
                  <a:off x="1934945" y="4027471"/>
                  <a:ext cx="326403" cy="34290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 wrap="none" lIns="72000" tIns="54000" rIns="72000" bIns="54000" anchor="ctr"/>
                <a:lstStyle/>
                <a:p>
                  <a:pPr algn="ctr"/>
                  <a:r>
                    <a:rPr kumimoji="1" lang="en-US" altLang="zh-CN" sz="2400" b="1">
                      <a:solidFill>
                        <a:schemeClr val="bg2"/>
                      </a:solidFill>
                      <a:latin typeface="Times New Roman" pitchFamily="18" charset="0"/>
                    </a:rPr>
                    <a:t>3</a:t>
                  </a:r>
                  <a:endParaRPr kumimoji="1" lang="en-US" altLang="zh-CN" sz="2400">
                    <a:solidFill>
                      <a:schemeClr val="bg2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43043" name="Oval 20" descr="羊皮纸"/>
                <p:cNvSpPr>
                  <a:spLocks noChangeArrowheads="1"/>
                </p:cNvSpPr>
                <p:nvPr/>
              </p:nvSpPr>
              <p:spPr bwMode="auto">
                <a:xfrm flipH="1">
                  <a:off x="2370148" y="3341672"/>
                  <a:ext cx="326403" cy="34290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 wrap="none" lIns="72000" tIns="54000" rIns="72000" bIns="54000" anchor="ctr"/>
                <a:lstStyle/>
                <a:p>
                  <a:pPr algn="ctr"/>
                  <a:r>
                    <a:rPr kumimoji="1" lang="en-US" altLang="zh-CN" sz="2400" b="1">
                      <a:solidFill>
                        <a:schemeClr val="bg2"/>
                      </a:solidFill>
                      <a:latin typeface="Times New Roman" pitchFamily="18" charset="0"/>
                    </a:rPr>
                    <a:t>2</a:t>
                  </a:r>
                  <a:endParaRPr kumimoji="1" lang="en-US" altLang="zh-CN" sz="2400">
                    <a:solidFill>
                      <a:schemeClr val="bg2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43044" name="Text Box 22"/>
                <p:cNvSpPr txBox="1">
                  <a:spLocks noChangeArrowheads="1"/>
                </p:cNvSpPr>
                <p:nvPr/>
              </p:nvSpPr>
              <p:spPr bwMode="auto">
                <a:xfrm>
                  <a:off x="738135" y="2846509"/>
                  <a:ext cx="415498" cy="3640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9pPr>
                </a:lstStyle>
                <a:p>
                  <a:pPr algn="ctr" eaLnBrk="1" hangingPunct="1"/>
                  <a:r>
                    <a:rPr kumimoji="1" lang="en-US" altLang="zh-CN" b="1">
                      <a:solidFill>
                        <a:srgbClr val="C00000"/>
                      </a:solidFill>
                      <a:latin typeface="Times New Roman" pitchFamily="18" charset="0"/>
                    </a:rPr>
                    <a:t>10</a:t>
                  </a:r>
                  <a:endParaRPr kumimoji="1" lang="en-US" altLang="zh-CN">
                    <a:solidFill>
                      <a:srgbClr val="C00000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43045" name="Text Box 23"/>
                <p:cNvSpPr txBox="1">
                  <a:spLocks noChangeArrowheads="1"/>
                </p:cNvSpPr>
                <p:nvPr/>
              </p:nvSpPr>
              <p:spPr bwMode="auto">
                <a:xfrm>
                  <a:off x="760793" y="3714404"/>
                  <a:ext cx="415498" cy="36403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9pPr>
                </a:lstStyle>
                <a:p>
                  <a:pPr algn="ctr" eaLnBrk="1" hangingPunct="1"/>
                  <a:r>
                    <a:rPr kumimoji="1" lang="en-US" altLang="zh-CN" b="1">
                      <a:solidFill>
                        <a:srgbClr val="C00000"/>
                      </a:solidFill>
                      <a:latin typeface="Times New Roman" pitchFamily="18" charset="0"/>
                    </a:rPr>
                    <a:t>25</a:t>
                  </a:r>
                  <a:endParaRPr kumimoji="1" lang="en-US" altLang="zh-CN">
                    <a:solidFill>
                      <a:srgbClr val="C00000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43046" name="Text Box 24"/>
                <p:cNvSpPr txBox="1">
                  <a:spLocks noChangeArrowheads="1"/>
                </p:cNvSpPr>
                <p:nvPr/>
              </p:nvSpPr>
              <p:spPr bwMode="auto">
                <a:xfrm>
                  <a:off x="1527566" y="2895188"/>
                  <a:ext cx="415498" cy="3640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9pPr>
                </a:lstStyle>
                <a:p>
                  <a:pPr algn="ctr" eaLnBrk="1" hangingPunct="1"/>
                  <a:r>
                    <a:rPr kumimoji="1" lang="en-US" altLang="zh-CN" b="1">
                      <a:solidFill>
                        <a:srgbClr val="C00000"/>
                      </a:solidFill>
                      <a:latin typeface="Times New Roman" pitchFamily="18" charset="0"/>
                    </a:rPr>
                    <a:t>14</a:t>
                  </a:r>
                  <a:endParaRPr kumimoji="1" lang="en-US" altLang="zh-CN">
                    <a:solidFill>
                      <a:srgbClr val="C00000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43047" name="Text Box 25"/>
                <p:cNvSpPr txBox="1">
                  <a:spLocks noChangeArrowheads="1"/>
                </p:cNvSpPr>
                <p:nvPr/>
              </p:nvSpPr>
              <p:spPr bwMode="auto">
                <a:xfrm>
                  <a:off x="1198949" y="3638284"/>
                  <a:ext cx="415498" cy="3640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9pPr>
                </a:lstStyle>
                <a:p>
                  <a:pPr algn="ctr" eaLnBrk="1" hangingPunct="1"/>
                  <a:r>
                    <a:rPr kumimoji="1" lang="en-US" altLang="zh-CN" b="1">
                      <a:solidFill>
                        <a:srgbClr val="C00000"/>
                      </a:solidFill>
                      <a:latin typeface="Times New Roman" pitchFamily="18" charset="0"/>
                    </a:rPr>
                    <a:t>24</a:t>
                  </a:r>
                  <a:endParaRPr kumimoji="1" lang="en-US" altLang="zh-CN">
                    <a:solidFill>
                      <a:srgbClr val="C00000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43048" name="Text Box 27"/>
                <p:cNvSpPr txBox="1">
                  <a:spLocks noChangeArrowheads="1"/>
                </p:cNvSpPr>
                <p:nvPr/>
              </p:nvSpPr>
              <p:spPr bwMode="auto">
                <a:xfrm>
                  <a:off x="2271681" y="2895188"/>
                  <a:ext cx="415498" cy="3640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9pPr>
                </a:lstStyle>
                <a:p>
                  <a:pPr algn="ctr" eaLnBrk="1" hangingPunct="1"/>
                  <a:r>
                    <a:rPr kumimoji="1" lang="en-US" altLang="zh-CN" b="1">
                      <a:solidFill>
                        <a:srgbClr val="C00000"/>
                      </a:solidFill>
                      <a:latin typeface="Times New Roman" pitchFamily="18" charset="0"/>
                    </a:rPr>
                    <a:t>16</a:t>
                  </a:r>
                  <a:endParaRPr kumimoji="1" lang="en-US" altLang="zh-CN">
                    <a:solidFill>
                      <a:srgbClr val="C00000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43049" name="Text Box 28"/>
                <p:cNvSpPr txBox="1">
                  <a:spLocks noChangeArrowheads="1"/>
                </p:cNvSpPr>
                <p:nvPr/>
              </p:nvSpPr>
              <p:spPr bwMode="auto">
                <a:xfrm>
                  <a:off x="1797012" y="3570271"/>
                  <a:ext cx="415498" cy="3640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9pPr>
                </a:lstStyle>
                <a:p>
                  <a:pPr algn="ctr" eaLnBrk="1" hangingPunct="1"/>
                  <a:r>
                    <a:rPr kumimoji="1" lang="en-US" altLang="zh-CN" b="1">
                      <a:solidFill>
                        <a:srgbClr val="C00000"/>
                      </a:solidFill>
                      <a:latin typeface="Times New Roman" pitchFamily="18" charset="0"/>
                    </a:rPr>
                    <a:t>18</a:t>
                  </a:r>
                  <a:endParaRPr kumimoji="1" lang="en-US" altLang="zh-CN">
                    <a:solidFill>
                      <a:srgbClr val="C00000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43050" name="Text Box 29"/>
                <p:cNvSpPr txBox="1">
                  <a:spLocks noChangeArrowheads="1"/>
                </p:cNvSpPr>
                <p:nvPr/>
              </p:nvSpPr>
              <p:spPr bwMode="auto">
                <a:xfrm>
                  <a:off x="2271681" y="3752437"/>
                  <a:ext cx="415498" cy="3640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9pPr>
                </a:lstStyle>
                <a:p>
                  <a:pPr algn="ctr" eaLnBrk="1" hangingPunct="1"/>
                  <a:r>
                    <a:rPr kumimoji="1" lang="en-US" altLang="zh-CN" b="1">
                      <a:solidFill>
                        <a:srgbClr val="C00000"/>
                      </a:solidFill>
                      <a:latin typeface="Times New Roman" pitchFamily="18" charset="0"/>
                    </a:rPr>
                    <a:t>12</a:t>
                  </a:r>
                  <a:endParaRPr kumimoji="1" lang="en-US" altLang="zh-CN">
                    <a:solidFill>
                      <a:srgbClr val="C00000"/>
                    </a:solidFill>
                    <a:latin typeface="Times New Roman" pitchFamily="18" charset="0"/>
                  </a:endParaRPr>
                </a:p>
              </p:txBody>
            </p:sp>
          </p:grpSp>
        </p:grpSp>
        <p:sp>
          <p:nvSpPr>
            <p:cNvPr id="56" name="Line 11"/>
            <p:cNvSpPr>
              <a:spLocks noChangeShapeType="1"/>
            </p:cNvSpPr>
            <p:nvPr/>
          </p:nvSpPr>
          <p:spPr bwMode="auto">
            <a:xfrm flipV="1">
              <a:off x="993772" y="4706728"/>
              <a:ext cx="255588" cy="449181"/>
            </a:xfrm>
            <a:prstGeom prst="line">
              <a:avLst/>
            </a:prstGeom>
            <a:noFill/>
            <a:ln w="28575">
              <a:solidFill>
                <a:schemeClr val="bg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400">
                <a:solidFill>
                  <a:schemeClr val="bg2"/>
                </a:solidFill>
                <a:ea typeface="宋体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739371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最小生成树</a:t>
            </a:r>
          </a:p>
        </p:txBody>
      </p:sp>
      <p:sp>
        <p:nvSpPr>
          <p:cNvPr id="4403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>
                <a:latin typeface="Arial" charset="0"/>
                <a:ea typeface="黑体" pitchFamily="2" charset="-122"/>
              </a:rPr>
              <a:t>克鲁斯卡尔 </a:t>
            </a:r>
            <a:r>
              <a:rPr lang="en-US" altLang="zh-CN">
                <a:latin typeface="Arial" charset="0"/>
                <a:ea typeface="黑体" pitchFamily="2" charset="-122"/>
              </a:rPr>
              <a:t>(Kruskal) </a:t>
            </a:r>
            <a:r>
              <a:rPr lang="zh-CN" altLang="en-US">
                <a:latin typeface="Arial" charset="0"/>
                <a:ea typeface="黑体" pitchFamily="2" charset="-122"/>
              </a:rPr>
              <a:t>算法</a:t>
            </a:r>
            <a:endParaRPr lang="en-US" altLang="zh-CN">
              <a:latin typeface="Arial" charset="0"/>
              <a:ea typeface="黑体" pitchFamily="2" charset="-122"/>
            </a:endParaRPr>
          </a:p>
          <a:p>
            <a:pPr lvl="1"/>
            <a:r>
              <a:rPr lang="zh-CN" altLang="en-US">
                <a:latin typeface="Arial" charset="0"/>
                <a:ea typeface="黑体" pitchFamily="2" charset="-122"/>
              </a:rPr>
              <a:t>经常需要判断权值最小的边的两端是否属于不同连通分量</a:t>
            </a:r>
            <a:endParaRPr lang="en-US" altLang="zh-CN">
              <a:latin typeface="Arial" charset="0"/>
              <a:ea typeface="黑体" pitchFamily="2" charset="-122"/>
            </a:endParaRPr>
          </a:p>
          <a:p>
            <a:pPr lvl="2"/>
            <a:r>
              <a:rPr lang="zh-CN" altLang="en-US">
                <a:latin typeface="Arial" charset="0"/>
                <a:ea typeface="黑体" pitchFamily="2" charset="-122"/>
              </a:rPr>
              <a:t>可使用并查集技术加快判断速度</a:t>
            </a:r>
          </a:p>
        </p:txBody>
      </p:sp>
      <p:sp>
        <p:nvSpPr>
          <p:cNvPr id="44036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fld id="{6AEDE2C1-BAB3-4174-B8B8-9C0D94873D22}" type="slidenum">
              <a:rPr lang="en-US" altLang="zh-CN" smtClean="0">
                <a:solidFill>
                  <a:srgbClr val="006600"/>
                </a:solidFill>
                <a:latin typeface="Courier New" pitchFamily="49" charset="0"/>
                <a:ea typeface="华文新魏" pitchFamily="2" charset="-122"/>
              </a:rPr>
              <a:pPr eaLnBrk="1" hangingPunct="1"/>
              <a:t>38</a:t>
            </a:fld>
            <a:endParaRPr lang="en-US" altLang="zh-CN">
              <a:solidFill>
                <a:srgbClr val="006600"/>
              </a:solidFill>
              <a:latin typeface="Courier New" pitchFamily="49" charset="0"/>
              <a:ea typeface="华文新魏" pitchFamily="2" charset="-122"/>
            </a:endParaRPr>
          </a:p>
        </p:txBody>
      </p:sp>
      <p:sp>
        <p:nvSpPr>
          <p:cNvPr id="44037" name="TextBox 39"/>
          <p:cNvSpPr txBox="1">
            <a:spLocks noChangeArrowheads="1"/>
          </p:cNvSpPr>
          <p:nvPr/>
        </p:nvSpPr>
        <p:spPr bwMode="auto">
          <a:xfrm>
            <a:off x="2636838" y="3830638"/>
            <a:ext cx="9794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CN" b="1">
                <a:solidFill>
                  <a:srgbClr val="C00000"/>
                </a:solidFill>
                <a:ea typeface="黑体" pitchFamily="2" charset="-122"/>
              </a:rPr>
              <a:t>10 (0,5)</a:t>
            </a:r>
          </a:p>
        </p:txBody>
      </p:sp>
      <p:sp>
        <p:nvSpPr>
          <p:cNvPr id="44038" name="矩形 40"/>
          <p:cNvSpPr>
            <a:spLocks noChangeArrowheads="1"/>
          </p:cNvSpPr>
          <p:nvPr/>
        </p:nvSpPr>
        <p:spPr bwMode="auto">
          <a:xfrm>
            <a:off x="2636838" y="4154488"/>
            <a:ext cx="9794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b="1">
                <a:solidFill>
                  <a:srgbClr val="C00000"/>
                </a:solidFill>
                <a:ea typeface="黑体" pitchFamily="2" charset="-122"/>
              </a:rPr>
              <a:t>12 (2,3)</a:t>
            </a:r>
          </a:p>
        </p:txBody>
      </p:sp>
      <p:sp>
        <p:nvSpPr>
          <p:cNvPr id="44039" name="矩形 41"/>
          <p:cNvSpPr>
            <a:spLocks noChangeArrowheads="1"/>
          </p:cNvSpPr>
          <p:nvPr/>
        </p:nvSpPr>
        <p:spPr bwMode="auto">
          <a:xfrm>
            <a:off x="2636838" y="4451350"/>
            <a:ext cx="9794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b="1">
                <a:solidFill>
                  <a:srgbClr val="C00000"/>
                </a:solidFill>
                <a:ea typeface="黑体" pitchFamily="2" charset="-122"/>
              </a:rPr>
              <a:t>14 (1,6)</a:t>
            </a:r>
          </a:p>
        </p:txBody>
      </p:sp>
      <p:sp>
        <p:nvSpPr>
          <p:cNvPr id="44040" name="矩形 42"/>
          <p:cNvSpPr>
            <a:spLocks noChangeArrowheads="1"/>
          </p:cNvSpPr>
          <p:nvPr/>
        </p:nvSpPr>
        <p:spPr bwMode="auto">
          <a:xfrm>
            <a:off x="2636838" y="4779963"/>
            <a:ext cx="9794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b="1">
                <a:solidFill>
                  <a:srgbClr val="C00000"/>
                </a:solidFill>
                <a:ea typeface="黑体" pitchFamily="2" charset="-122"/>
              </a:rPr>
              <a:t>16 (1,2)</a:t>
            </a:r>
          </a:p>
        </p:txBody>
      </p:sp>
      <p:sp>
        <p:nvSpPr>
          <p:cNvPr id="44041" name="矩形 43"/>
          <p:cNvSpPr>
            <a:spLocks noChangeArrowheads="1"/>
          </p:cNvSpPr>
          <p:nvPr/>
        </p:nvSpPr>
        <p:spPr bwMode="auto">
          <a:xfrm>
            <a:off x="2636838" y="5108575"/>
            <a:ext cx="9794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b="1">
                <a:solidFill>
                  <a:srgbClr val="C00000"/>
                </a:solidFill>
                <a:ea typeface="黑体" pitchFamily="2" charset="-122"/>
              </a:rPr>
              <a:t>18 (3,6)</a:t>
            </a:r>
          </a:p>
        </p:txBody>
      </p:sp>
      <p:sp>
        <p:nvSpPr>
          <p:cNvPr id="44042" name="矩形 44"/>
          <p:cNvSpPr>
            <a:spLocks noChangeArrowheads="1"/>
          </p:cNvSpPr>
          <p:nvPr/>
        </p:nvSpPr>
        <p:spPr bwMode="auto">
          <a:xfrm>
            <a:off x="2636838" y="5437188"/>
            <a:ext cx="9794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b="1">
                <a:solidFill>
                  <a:srgbClr val="C00000"/>
                </a:solidFill>
                <a:ea typeface="黑体" pitchFamily="2" charset="-122"/>
              </a:rPr>
              <a:t>22 (3,4)</a:t>
            </a:r>
          </a:p>
        </p:txBody>
      </p:sp>
      <p:sp>
        <p:nvSpPr>
          <p:cNvPr id="44043" name="矩形 45"/>
          <p:cNvSpPr>
            <a:spLocks noChangeArrowheads="1"/>
          </p:cNvSpPr>
          <p:nvPr/>
        </p:nvSpPr>
        <p:spPr bwMode="auto">
          <a:xfrm>
            <a:off x="2636838" y="5765800"/>
            <a:ext cx="9794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b="1">
                <a:solidFill>
                  <a:srgbClr val="C00000"/>
                </a:solidFill>
                <a:ea typeface="黑体" pitchFamily="2" charset="-122"/>
              </a:rPr>
              <a:t>24 (4,6)</a:t>
            </a:r>
          </a:p>
        </p:txBody>
      </p:sp>
      <p:sp>
        <p:nvSpPr>
          <p:cNvPr id="44044" name="矩形 46"/>
          <p:cNvSpPr>
            <a:spLocks noChangeArrowheads="1"/>
          </p:cNvSpPr>
          <p:nvPr/>
        </p:nvSpPr>
        <p:spPr bwMode="auto">
          <a:xfrm>
            <a:off x="2636838" y="6094413"/>
            <a:ext cx="9794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buFont typeface="Wingdings" pitchFamily="2" charset="2"/>
              <a:buNone/>
            </a:pPr>
            <a:r>
              <a:rPr lang="en-US" altLang="zh-CN" b="1">
                <a:solidFill>
                  <a:srgbClr val="C00000"/>
                </a:solidFill>
                <a:ea typeface="黑体" pitchFamily="2" charset="-122"/>
              </a:rPr>
              <a:t>25 (4,5)</a:t>
            </a:r>
            <a:endParaRPr lang="zh-CN" altLang="en-US" b="1">
              <a:solidFill>
                <a:srgbClr val="C00000"/>
              </a:solidFill>
              <a:ea typeface="黑体" pitchFamily="2" charset="-122"/>
            </a:endParaRPr>
          </a:p>
        </p:txBody>
      </p:sp>
      <p:sp>
        <p:nvSpPr>
          <p:cNvPr id="44045" name="TextBox 47"/>
          <p:cNvSpPr txBox="1">
            <a:spLocks noChangeArrowheads="1"/>
          </p:cNvSpPr>
          <p:nvPr/>
        </p:nvSpPr>
        <p:spPr bwMode="auto">
          <a:xfrm>
            <a:off x="4645025" y="5473700"/>
            <a:ext cx="413543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zh-CN" altLang="en-US" b="1">
                <a:solidFill>
                  <a:srgbClr val="000099"/>
                </a:solidFill>
                <a:ea typeface="黑体" pitchFamily="2" charset="-122"/>
              </a:rPr>
              <a:t>取边</a:t>
            </a:r>
            <a:r>
              <a:rPr lang="en-US" altLang="zh-CN" b="1">
                <a:solidFill>
                  <a:srgbClr val="000099"/>
                </a:solidFill>
                <a:ea typeface="黑体" pitchFamily="2" charset="-122"/>
              </a:rPr>
              <a:t>(4,5)</a:t>
            </a:r>
          </a:p>
          <a:p>
            <a:pPr eaLnBrk="1" hangingPunct="1">
              <a:buFont typeface="Wingdings" pitchFamily="2" charset="2"/>
              <a:buNone/>
            </a:pPr>
            <a:r>
              <a:rPr lang="zh-CN" altLang="en-US" b="1">
                <a:solidFill>
                  <a:srgbClr val="C00000"/>
                </a:solidFill>
                <a:ea typeface="黑体" pitchFamily="2" charset="-122"/>
              </a:rPr>
              <a:t>此时所有顶点属于同一连通分量，结束</a:t>
            </a:r>
          </a:p>
        </p:txBody>
      </p:sp>
      <p:grpSp>
        <p:nvGrpSpPr>
          <p:cNvPr id="44046" name="组合 56"/>
          <p:cNvGrpSpPr>
            <a:grpSpLocks/>
          </p:cNvGrpSpPr>
          <p:nvPr/>
        </p:nvGrpSpPr>
        <p:grpSpPr bwMode="auto">
          <a:xfrm>
            <a:off x="4040188" y="3502025"/>
            <a:ext cx="2355850" cy="1803400"/>
            <a:chOff x="4039978" y="3502026"/>
            <a:chExt cx="2355458" cy="1803420"/>
          </a:xfrm>
        </p:grpSpPr>
        <p:sp>
          <p:nvSpPr>
            <p:cNvPr id="44075" name="Oval 16" descr="羊皮纸"/>
            <p:cNvSpPr>
              <a:spLocks noChangeArrowheads="1"/>
            </p:cNvSpPr>
            <p:nvPr/>
          </p:nvSpPr>
          <p:spPr bwMode="auto">
            <a:xfrm>
              <a:off x="4681539" y="4232286"/>
              <a:ext cx="326403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  <a:round/>
              <a:headEnd/>
              <a:tailEnd/>
            </a:ln>
          </p:spPr>
          <p:txBody>
            <a:bodyPr wrap="none" lIns="72000" tIns="54000" rIns="72000" bIns="54000" anchor="ctr"/>
            <a:lstStyle/>
            <a:p>
              <a:pPr algn="ctr"/>
              <a:r>
                <a:rPr kumimoji="1" lang="en-US" altLang="zh-CN" sz="2400" b="1">
                  <a:solidFill>
                    <a:schemeClr val="bg2"/>
                  </a:solidFill>
                  <a:latin typeface="Times New Roman" pitchFamily="18" charset="0"/>
                </a:rPr>
                <a:t>6</a:t>
              </a:r>
              <a:endParaRPr kumimoji="1" lang="en-US" altLang="zh-CN" sz="240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sp>
          <p:nvSpPr>
            <p:cNvPr id="44076" name="Oval 18" descr="羊皮纸"/>
            <p:cNvSpPr>
              <a:spLocks noChangeArrowheads="1"/>
            </p:cNvSpPr>
            <p:nvPr/>
          </p:nvSpPr>
          <p:spPr bwMode="auto">
            <a:xfrm>
              <a:off x="4681539" y="3502026"/>
              <a:ext cx="326403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  <a:round/>
              <a:headEnd/>
              <a:tailEnd/>
            </a:ln>
          </p:spPr>
          <p:txBody>
            <a:bodyPr wrap="none" lIns="72000" tIns="54000" rIns="72000" bIns="54000" anchor="ctr"/>
            <a:lstStyle/>
            <a:p>
              <a:pPr algn="ctr"/>
              <a:r>
                <a:rPr kumimoji="1" lang="en-US" altLang="zh-CN" sz="2400" b="1">
                  <a:solidFill>
                    <a:schemeClr val="bg2"/>
                  </a:solidFill>
                  <a:latin typeface="Times New Roman" pitchFamily="18" charset="0"/>
                </a:rPr>
                <a:t>1</a:t>
              </a:r>
              <a:endParaRPr kumimoji="1" lang="en-US" altLang="zh-CN" sz="240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sp>
          <p:nvSpPr>
            <p:cNvPr id="44077" name="Oval 19" descr="羊皮纸"/>
            <p:cNvSpPr>
              <a:spLocks noChangeArrowheads="1"/>
            </p:cNvSpPr>
            <p:nvPr/>
          </p:nvSpPr>
          <p:spPr bwMode="auto">
            <a:xfrm>
              <a:off x="6069033" y="4232286"/>
              <a:ext cx="326403" cy="3429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bg2"/>
              </a:solidFill>
              <a:round/>
              <a:headEnd/>
              <a:tailEnd/>
            </a:ln>
          </p:spPr>
          <p:txBody>
            <a:bodyPr wrap="none" lIns="72000" tIns="54000" rIns="72000" bIns="54000" anchor="ctr"/>
            <a:lstStyle/>
            <a:p>
              <a:pPr algn="ctr"/>
              <a:r>
                <a:rPr kumimoji="1" lang="en-US" altLang="zh-CN" sz="2400" b="1">
                  <a:solidFill>
                    <a:schemeClr val="bg2"/>
                  </a:solidFill>
                  <a:latin typeface="Times New Roman" pitchFamily="18" charset="0"/>
                </a:rPr>
                <a:t>4</a:t>
              </a:r>
              <a:endParaRPr kumimoji="1" lang="en-US" altLang="zh-CN" sz="2400">
                <a:solidFill>
                  <a:schemeClr val="bg2"/>
                </a:solidFill>
                <a:latin typeface="Times New Roman" pitchFamily="18" charset="0"/>
              </a:endParaRPr>
            </a:p>
          </p:txBody>
        </p:sp>
        <p:grpSp>
          <p:nvGrpSpPr>
            <p:cNvPr id="44078" name="组合 53"/>
            <p:cNvGrpSpPr>
              <a:grpSpLocks/>
            </p:cNvGrpSpPr>
            <p:nvPr/>
          </p:nvGrpSpPr>
          <p:grpSpPr bwMode="auto">
            <a:xfrm>
              <a:off x="4039978" y="4232286"/>
              <a:ext cx="326403" cy="1073160"/>
              <a:chOff x="4039978" y="4327542"/>
              <a:chExt cx="326403" cy="1073160"/>
            </a:xfrm>
          </p:grpSpPr>
          <p:sp>
            <p:nvSpPr>
              <p:cNvPr id="44087" name="Oval 14" descr="羊皮纸"/>
              <p:cNvSpPr>
                <a:spLocks noChangeArrowheads="1"/>
              </p:cNvSpPr>
              <p:nvPr/>
            </p:nvSpPr>
            <p:spPr bwMode="auto">
              <a:xfrm>
                <a:off x="4039978" y="5057802"/>
                <a:ext cx="326403" cy="3429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lIns="72000" tIns="54000" rIns="72000" bIns="54000" anchor="ctr"/>
              <a:lstStyle/>
              <a:p>
                <a:pPr algn="ctr"/>
                <a:r>
                  <a:rPr kumimoji="1" lang="en-US" altLang="zh-CN" sz="2400" b="1">
                    <a:solidFill>
                      <a:schemeClr val="bg2"/>
                    </a:solidFill>
                    <a:latin typeface="Times New Roman" pitchFamily="18" charset="0"/>
                  </a:rPr>
                  <a:t>5</a:t>
                </a:r>
                <a:endParaRPr kumimoji="1" lang="en-US" altLang="zh-CN" sz="2400">
                  <a:solidFill>
                    <a:schemeClr val="bg2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44088" name="Oval 15" descr="羊皮纸"/>
              <p:cNvSpPr>
                <a:spLocks noChangeArrowheads="1"/>
              </p:cNvSpPr>
              <p:nvPr/>
            </p:nvSpPr>
            <p:spPr bwMode="auto">
              <a:xfrm>
                <a:off x="4039978" y="4327542"/>
                <a:ext cx="326403" cy="3429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lIns="72000" tIns="54000" rIns="72000" bIns="54000" anchor="ctr"/>
              <a:lstStyle/>
              <a:p>
                <a:pPr algn="ctr"/>
                <a:r>
                  <a:rPr kumimoji="1" lang="en-US" altLang="zh-CN" sz="2400" b="1">
                    <a:solidFill>
                      <a:schemeClr val="bg2"/>
                    </a:solidFill>
                    <a:latin typeface="Times New Roman" pitchFamily="18" charset="0"/>
                  </a:rPr>
                  <a:t>0</a:t>
                </a:r>
                <a:endParaRPr kumimoji="1" lang="en-US" altLang="zh-CN" sz="2400">
                  <a:solidFill>
                    <a:schemeClr val="bg2"/>
                  </a:solidFill>
                  <a:latin typeface="Times New Roman" pitchFamily="18" charset="0"/>
                </a:endParaRPr>
              </a:p>
            </p:txBody>
          </p:sp>
          <p:cxnSp>
            <p:nvCxnSpPr>
              <p:cNvPr id="88" name="直接箭头连接符 87"/>
              <p:cNvCxnSpPr>
                <a:stCxn id="44087" idx="0"/>
                <a:endCxn id="44088" idx="4"/>
              </p:cNvCxnSpPr>
              <p:nvPr/>
            </p:nvCxnSpPr>
            <p:spPr>
              <a:xfrm rot="5400000" flipH="1" flipV="1">
                <a:off x="4008993" y="4863327"/>
                <a:ext cx="388942" cy="3174"/>
              </a:xfrm>
              <a:prstGeom prst="straightConnector1">
                <a:avLst/>
              </a:prstGeom>
              <a:ln w="25400">
                <a:solidFill>
                  <a:schemeClr val="bg2">
                    <a:lumMod val="40000"/>
                    <a:lumOff val="60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4079" name="组合 98"/>
            <p:cNvGrpSpPr>
              <a:grpSpLocks/>
            </p:cNvGrpSpPr>
            <p:nvPr/>
          </p:nvGrpSpPr>
          <p:grpSpPr bwMode="auto">
            <a:xfrm>
              <a:off x="4844741" y="3844926"/>
              <a:ext cx="856948" cy="1460520"/>
              <a:chOff x="4844741" y="3844926"/>
              <a:chExt cx="856948" cy="1460520"/>
            </a:xfrm>
          </p:grpSpPr>
          <p:sp>
            <p:nvSpPr>
              <p:cNvPr id="44084" name="Oval 17" descr="羊皮纸"/>
              <p:cNvSpPr>
                <a:spLocks noChangeArrowheads="1"/>
              </p:cNvSpPr>
              <p:nvPr/>
            </p:nvSpPr>
            <p:spPr bwMode="auto">
              <a:xfrm>
                <a:off x="5375286" y="4962546"/>
                <a:ext cx="326403" cy="3429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lIns="72000" tIns="54000" rIns="72000" bIns="54000" anchor="ctr"/>
              <a:lstStyle/>
              <a:p>
                <a:pPr algn="ctr"/>
                <a:r>
                  <a:rPr kumimoji="1" lang="en-US" altLang="zh-CN" sz="2400" b="1">
                    <a:solidFill>
                      <a:schemeClr val="bg2"/>
                    </a:solidFill>
                    <a:latin typeface="Times New Roman" pitchFamily="18" charset="0"/>
                  </a:rPr>
                  <a:t>3</a:t>
                </a:r>
                <a:endParaRPr kumimoji="1" lang="en-US" altLang="zh-CN" sz="2400">
                  <a:solidFill>
                    <a:schemeClr val="bg2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44085" name="Oval 20" descr="羊皮纸"/>
              <p:cNvSpPr>
                <a:spLocks noChangeArrowheads="1"/>
              </p:cNvSpPr>
              <p:nvPr/>
            </p:nvSpPr>
            <p:spPr bwMode="auto">
              <a:xfrm flipH="1">
                <a:off x="5375286" y="4232286"/>
                <a:ext cx="326403" cy="342900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lIns="72000" tIns="54000" rIns="72000" bIns="54000" anchor="ctr"/>
              <a:lstStyle/>
              <a:p>
                <a:pPr algn="ctr"/>
                <a:r>
                  <a:rPr kumimoji="1" lang="en-US" altLang="zh-CN" sz="2400" b="1">
                    <a:solidFill>
                      <a:schemeClr val="bg2"/>
                    </a:solidFill>
                    <a:latin typeface="Times New Roman" pitchFamily="18" charset="0"/>
                  </a:rPr>
                  <a:t>2</a:t>
                </a:r>
                <a:endParaRPr kumimoji="1" lang="en-US" altLang="zh-CN" sz="2400">
                  <a:solidFill>
                    <a:schemeClr val="bg2"/>
                  </a:solidFill>
                  <a:latin typeface="Times New Roman" pitchFamily="18" charset="0"/>
                </a:endParaRPr>
              </a:p>
            </p:txBody>
          </p:sp>
          <p:cxnSp>
            <p:nvCxnSpPr>
              <p:cNvPr id="89" name="直接箭头连接符 88"/>
              <p:cNvCxnSpPr>
                <a:cxnSpLocks/>
                <a:stCxn id="44084" idx="0"/>
                <a:endCxn id="44076" idx="4"/>
              </p:cNvCxnSpPr>
              <p:nvPr/>
            </p:nvCxnSpPr>
            <p:spPr>
              <a:xfrm flipH="1" flipV="1">
                <a:off x="4844741" y="3844926"/>
                <a:ext cx="693747" cy="1117620"/>
              </a:xfrm>
              <a:prstGeom prst="straightConnector1">
                <a:avLst/>
              </a:prstGeom>
              <a:ln w="25400">
                <a:solidFill>
                  <a:schemeClr val="bg2">
                    <a:lumMod val="40000"/>
                    <a:lumOff val="60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0" name="直接箭头连接符 89"/>
            <p:cNvCxnSpPr>
              <a:stCxn id="44075" idx="0"/>
              <a:endCxn id="44076" idx="4"/>
            </p:cNvCxnSpPr>
            <p:nvPr/>
          </p:nvCxnSpPr>
          <p:spPr>
            <a:xfrm rot="5400000" flipH="1" flipV="1">
              <a:off x="4651029" y="4038607"/>
              <a:ext cx="388942" cy="1588"/>
            </a:xfrm>
            <a:prstGeom prst="straightConnector1">
              <a:avLst/>
            </a:prstGeom>
            <a:ln w="25400">
              <a:solidFill>
                <a:schemeClr val="bg2">
                  <a:lumMod val="40000"/>
                  <a:lumOff val="6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箭头连接符 100"/>
            <p:cNvCxnSpPr>
              <a:stCxn id="44085" idx="7"/>
              <a:endCxn id="44076" idx="5"/>
            </p:cNvCxnSpPr>
            <p:nvPr/>
          </p:nvCxnSpPr>
          <p:spPr>
            <a:xfrm rot="16200000" flipV="1">
              <a:off x="4947040" y="3807664"/>
              <a:ext cx="488955" cy="461885"/>
            </a:xfrm>
            <a:prstGeom prst="straightConnector1">
              <a:avLst/>
            </a:prstGeom>
            <a:ln w="25400">
              <a:solidFill>
                <a:schemeClr val="bg2">
                  <a:lumMod val="40000"/>
                  <a:lumOff val="6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箭头连接符 52"/>
            <p:cNvCxnSpPr>
              <a:stCxn id="44077" idx="1"/>
              <a:endCxn id="44076" idx="6"/>
            </p:cNvCxnSpPr>
            <p:nvPr/>
          </p:nvCxnSpPr>
          <p:spPr>
            <a:xfrm rot="16200000" flipV="1">
              <a:off x="5257334" y="3424335"/>
              <a:ext cx="609607" cy="1107891"/>
            </a:xfrm>
            <a:prstGeom prst="straightConnector1">
              <a:avLst/>
            </a:prstGeom>
            <a:ln w="25400">
              <a:solidFill>
                <a:schemeClr val="bg2">
                  <a:lumMod val="40000"/>
                  <a:lumOff val="6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箭头连接符 55"/>
            <p:cNvCxnSpPr>
              <a:stCxn id="44088" idx="7"/>
              <a:endCxn id="44076" idx="3"/>
            </p:cNvCxnSpPr>
            <p:nvPr/>
          </p:nvCxnSpPr>
          <p:spPr>
            <a:xfrm rot="5400000" flipH="1" flipV="1">
              <a:off x="4279608" y="3833853"/>
              <a:ext cx="488955" cy="409507"/>
            </a:xfrm>
            <a:prstGeom prst="straightConnector1">
              <a:avLst/>
            </a:prstGeom>
            <a:ln w="25400">
              <a:solidFill>
                <a:schemeClr val="bg2">
                  <a:lumMod val="40000"/>
                  <a:lumOff val="6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047" name="组合 52"/>
          <p:cNvGrpSpPr>
            <a:grpSpLocks/>
          </p:cNvGrpSpPr>
          <p:nvPr/>
        </p:nvGrpSpPr>
        <p:grpSpPr bwMode="auto">
          <a:xfrm>
            <a:off x="373063" y="3535363"/>
            <a:ext cx="1958975" cy="2016125"/>
            <a:chOff x="373059" y="3535364"/>
            <a:chExt cx="1958977" cy="2015762"/>
          </a:xfrm>
        </p:grpSpPr>
        <p:grpSp>
          <p:nvGrpSpPr>
            <p:cNvPr id="44048" name="组合 4"/>
            <p:cNvGrpSpPr>
              <a:grpSpLocks/>
            </p:cNvGrpSpPr>
            <p:nvPr/>
          </p:nvGrpSpPr>
          <p:grpSpPr bwMode="auto">
            <a:xfrm>
              <a:off x="373065" y="3535364"/>
              <a:ext cx="1958986" cy="2015762"/>
              <a:chOff x="738135" y="2256382"/>
              <a:chExt cx="1958416" cy="2015789"/>
            </a:xfrm>
          </p:grpSpPr>
          <p:sp>
            <p:nvSpPr>
              <p:cNvPr id="44050" name="Text Box 21"/>
              <p:cNvSpPr txBox="1">
                <a:spLocks noChangeArrowheads="1"/>
              </p:cNvSpPr>
              <p:nvPr/>
            </p:nvSpPr>
            <p:spPr bwMode="auto">
              <a:xfrm>
                <a:off x="1504908" y="2256382"/>
                <a:ext cx="415498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b="1">
                    <a:solidFill>
                      <a:srgbClr val="C00000"/>
                    </a:solidFill>
                    <a:latin typeface="Times New Roman" pitchFamily="18" charset="0"/>
                  </a:rPr>
                  <a:t>28</a:t>
                </a:r>
                <a:endParaRPr kumimoji="1" lang="en-US" altLang="zh-CN">
                  <a:solidFill>
                    <a:srgbClr val="C00000"/>
                  </a:solidFill>
                  <a:latin typeface="Times New Roman" pitchFamily="18" charset="0"/>
                </a:endParaRPr>
              </a:p>
            </p:txBody>
          </p:sp>
          <p:grpSp>
            <p:nvGrpSpPr>
              <p:cNvPr id="44051" name="组合 47"/>
              <p:cNvGrpSpPr>
                <a:grpSpLocks/>
              </p:cNvGrpSpPr>
              <p:nvPr/>
            </p:nvGrpSpPr>
            <p:grpSpPr bwMode="auto">
              <a:xfrm>
                <a:off x="738135" y="2368857"/>
                <a:ext cx="1958416" cy="1903314"/>
                <a:chOff x="738135" y="2598723"/>
                <a:chExt cx="1958416" cy="1903314"/>
              </a:xfrm>
            </p:grpSpPr>
            <p:sp>
              <p:nvSpPr>
                <p:cNvPr id="44052" name="Text Box 23"/>
                <p:cNvSpPr txBox="1">
                  <a:spLocks noChangeArrowheads="1"/>
                </p:cNvSpPr>
                <p:nvPr/>
              </p:nvSpPr>
              <p:spPr bwMode="auto">
                <a:xfrm>
                  <a:off x="760793" y="3714404"/>
                  <a:ext cx="415498" cy="36403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9pPr>
                </a:lstStyle>
                <a:p>
                  <a:pPr algn="ctr" eaLnBrk="1" hangingPunct="1"/>
                  <a:r>
                    <a:rPr kumimoji="1" lang="en-US" altLang="zh-CN" b="1">
                      <a:solidFill>
                        <a:srgbClr val="C00000"/>
                      </a:solidFill>
                      <a:latin typeface="Times New Roman" pitchFamily="18" charset="0"/>
                    </a:rPr>
                    <a:t>25</a:t>
                  </a:r>
                  <a:endParaRPr kumimoji="1" lang="en-US" altLang="zh-CN">
                    <a:solidFill>
                      <a:srgbClr val="C00000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44053" name="Text Box 26"/>
                <p:cNvSpPr txBox="1">
                  <a:spLocks noChangeArrowheads="1"/>
                </p:cNvSpPr>
                <p:nvPr/>
              </p:nvSpPr>
              <p:spPr bwMode="auto">
                <a:xfrm>
                  <a:off x="1499741" y="4137998"/>
                  <a:ext cx="415498" cy="36403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9pPr>
                </a:lstStyle>
                <a:p>
                  <a:pPr algn="ctr" eaLnBrk="1" hangingPunct="1"/>
                  <a:r>
                    <a:rPr kumimoji="1" lang="en-US" altLang="zh-CN" b="1">
                      <a:solidFill>
                        <a:srgbClr val="C00000"/>
                      </a:solidFill>
                      <a:latin typeface="Times New Roman" pitchFamily="18" charset="0"/>
                    </a:rPr>
                    <a:t>22</a:t>
                  </a:r>
                  <a:endParaRPr kumimoji="1" lang="en-US" altLang="zh-CN">
                    <a:solidFill>
                      <a:srgbClr val="C00000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63" name="Line 6"/>
                <p:cNvSpPr>
                  <a:spLocks noChangeShapeType="1"/>
                </p:cNvSpPr>
                <p:nvPr/>
              </p:nvSpPr>
              <p:spPr bwMode="auto">
                <a:xfrm>
                  <a:off x="1336442" y="2770362"/>
                  <a:ext cx="815738" cy="0"/>
                </a:xfrm>
                <a:prstGeom prst="line">
                  <a:avLst/>
                </a:prstGeom>
                <a:noFill/>
                <a:ln w="28575">
                  <a:solidFill>
                    <a:schemeClr val="bg2">
                      <a:lumMod val="60000"/>
                      <a:lumOff val="40000"/>
                    </a:schemeClr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sz="2400">
                    <a:solidFill>
                      <a:schemeClr val="bg2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44055" name="Line 7"/>
                <p:cNvSpPr>
                  <a:spLocks noChangeShapeType="1"/>
                </p:cNvSpPr>
                <p:nvPr/>
              </p:nvSpPr>
              <p:spPr bwMode="auto">
                <a:xfrm>
                  <a:off x="1336451" y="4199185"/>
                  <a:ext cx="815742" cy="0"/>
                </a:xfrm>
                <a:prstGeom prst="line">
                  <a:avLst/>
                </a:prstGeom>
                <a:noFill/>
                <a:ln w="508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5" name="Line 8"/>
                <p:cNvSpPr>
                  <a:spLocks noChangeShapeType="1"/>
                </p:cNvSpPr>
                <p:nvPr/>
              </p:nvSpPr>
              <p:spPr bwMode="auto">
                <a:xfrm flipH="1" flipV="1">
                  <a:off x="1717332" y="3570329"/>
                  <a:ext cx="326930" cy="514264"/>
                </a:xfrm>
                <a:prstGeom prst="line">
                  <a:avLst/>
                </a:prstGeom>
                <a:noFill/>
                <a:ln w="28575">
                  <a:solidFill>
                    <a:schemeClr val="bg2">
                      <a:lumMod val="60000"/>
                      <a:lumOff val="40000"/>
                    </a:schemeClr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lang="zh-CN" altLang="en-US" sz="2400">
                    <a:solidFill>
                      <a:schemeClr val="bg2"/>
                    </a:solidFill>
                    <a:ea typeface="宋体" pitchFamily="2" charset="-122"/>
                  </a:endParaRPr>
                </a:p>
              </p:txBody>
            </p:sp>
            <p:sp>
              <p:nvSpPr>
                <p:cNvPr id="44057" name="Line 9"/>
                <p:cNvSpPr>
                  <a:spLocks noChangeShapeType="1"/>
                </p:cNvSpPr>
                <p:nvPr/>
              </p:nvSpPr>
              <p:spPr bwMode="auto">
                <a:xfrm flipH="1">
                  <a:off x="2152193" y="3570526"/>
                  <a:ext cx="326932" cy="628659"/>
                </a:xfrm>
                <a:prstGeom prst="line">
                  <a:avLst/>
                </a:prstGeom>
                <a:noFill/>
                <a:ln w="508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4058" name="Line 10"/>
                <p:cNvSpPr>
                  <a:spLocks noChangeShapeType="1"/>
                </p:cNvSpPr>
                <p:nvPr/>
              </p:nvSpPr>
              <p:spPr bwMode="auto">
                <a:xfrm>
                  <a:off x="2152193" y="2827565"/>
                  <a:ext cx="326932" cy="628659"/>
                </a:xfrm>
                <a:prstGeom prst="line">
                  <a:avLst/>
                </a:prstGeom>
                <a:noFill/>
                <a:ln w="508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4059" name="Line 11"/>
                <p:cNvSpPr>
                  <a:spLocks noChangeShapeType="1"/>
                </p:cNvSpPr>
                <p:nvPr/>
              </p:nvSpPr>
              <p:spPr bwMode="auto">
                <a:xfrm flipV="1">
                  <a:off x="1796652" y="2770414"/>
                  <a:ext cx="301582" cy="595334"/>
                </a:xfrm>
                <a:prstGeom prst="line">
                  <a:avLst/>
                </a:prstGeom>
                <a:noFill/>
                <a:ln w="508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4060" name="Line 12"/>
                <p:cNvSpPr>
                  <a:spLocks noChangeShapeType="1"/>
                </p:cNvSpPr>
                <p:nvPr/>
              </p:nvSpPr>
              <p:spPr bwMode="auto">
                <a:xfrm>
                  <a:off x="955560" y="3570526"/>
                  <a:ext cx="326932" cy="628659"/>
                </a:xfrm>
                <a:prstGeom prst="line">
                  <a:avLst/>
                </a:prstGeom>
                <a:noFill/>
                <a:ln w="508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4061" name="Line 13"/>
                <p:cNvSpPr>
                  <a:spLocks noChangeShapeType="1"/>
                </p:cNvSpPr>
                <p:nvPr/>
              </p:nvSpPr>
              <p:spPr bwMode="auto">
                <a:xfrm flipH="1">
                  <a:off x="901600" y="2827565"/>
                  <a:ext cx="326932" cy="628659"/>
                </a:xfrm>
                <a:prstGeom prst="line">
                  <a:avLst/>
                </a:prstGeom>
                <a:noFill/>
                <a:ln w="50800">
                  <a:solidFill>
                    <a:srgbClr val="C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4062" name="Oval 14" descr="羊皮纸"/>
                <p:cNvSpPr>
                  <a:spLocks noChangeArrowheads="1"/>
                </p:cNvSpPr>
                <p:nvPr/>
              </p:nvSpPr>
              <p:spPr bwMode="auto">
                <a:xfrm>
                  <a:off x="738135" y="3341672"/>
                  <a:ext cx="326403" cy="34290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 wrap="none" lIns="72000" tIns="54000" rIns="72000" bIns="54000" anchor="ctr"/>
                <a:lstStyle/>
                <a:p>
                  <a:pPr algn="ctr"/>
                  <a:r>
                    <a:rPr kumimoji="1" lang="en-US" altLang="zh-CN" sz="2400" b="1">
                      <a:solidFill>
                        <a:schemeClr val="bg2"/>
                      </a:solidFill>
                      <a:latin typeface="Times New Roman" pitchFamily="18" charset="0"/>
                    </a:rPr>
                    <a:t>5</a:t>
                  </a:r>
                  <a:endParaRPr kumimoji="1" lang="en-US" altLang="zh-CN" sz="2400">
                    <a:solidFill>
                      <a:schemeClr val="bg2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44063" name="Oval 15" descr="羊皮纸"/>
                <p:cNvSpPr>
                  <a:spLocks noChangeArrowheads="1"/>
                </p:cNvSpPr>
                <p:nvPr/>
              </p:nvSpPr>
              <p:spPr bwMode="auto">
                <a:xfrm>
                  <a:off x="1118938" y="2598723"/>
                  <a:ext cx="326403" cy="34290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 wrap="none" lIns="72000" tIns="54000" rIns="72000" bIns="54000" anchor="ctr"/>
                <a:lstStyle/>
                <a:p>
                  <a:pPr algn="ctr"/>
                  <a:r>
                    <a:rPr kumimoji="1" lang="en-US" altLang="zh-CN" sz="2400" b="1">
                      <a:solidFill>
                        <a:schemeClr val="bg2"/>
                      </a:solidFill>
                      <a:latin typeface="Times New Roman" pitchFamily="18" charset="0"/>
                    </a:rPr>
                    <a:t>0</a:t>
                  </a:r>
                  <a:endParaRPr kumimoji="1" lang="en-US" altLang="zh-CN" sz="2400">
                    <a:solidFill>
                      <a:schemeClr val="bg2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44064" name="Oval 16" descr="羊皮纸"/>
                <p:cNvSpPr>
                  <a:spLocks noChangeArrowheads="1"/>
                </p:cNvSpPr>
                <p:nvPr/>
              </p:nvSpPr>
              <p:spPr bwMode="auto">
                <a:xfrm>
                  <a:off x="1118938" y="4027471"/>
                  <a:ext cx="326403" cy="34290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 wrap="none" lIns="72000" tIns="54000" rIns="72000" bIns="54000" anchor="ctr"/>
                <a:lstStyle/>
                <a:p>
                  <a:pPr algn="ctr"/>
                  <a:r>
                    <a:rPr kumimoji="1" lang="en-US" altLang="zh-CN" sz="2400" b="1">
                      <a:solidFill>
                        <a:schemeClr val="bg2"/>
                      </a:solidFill>
                      <a:latin typeface="Times New Roman" pitchFamily="18" charset="0"/>
                    </a:rPr>
                    <a:t>4</a:t>
                  </a:r>
                  <a:endParaRPr kumimoji="1" lang="en-US" altLang="zh-CN" sz="2400">
                    <a:solidFill>
                      <a:schemeClr val="bg2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44065" name="Oval 17" descr="羊皮纸"/>
                <p:cNvSpPr>
                  <a:spLocks noChangeArrowheads="1"/>
                </p:cNvSpPr>
                <p:nvPr/>
              </p:nvSpPr>
              <p:spPr bwMode="auto">
                <a:xfrm>
                  <a:off x="1554142" y="3341672"/>
                  <a:ext cx="326403" cy="34290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 wrap="none" lIns="72000" tIns="54000" rIns="72000" bIns="54000" anchor="ctr"/>
                <a:lstStyle/>
                <a:p>
                  <a:pPr algn="ctr"/>
                  <a:r>
                    <a:rPr kumimoji="1" lang="en-US" altLang="zh-CN" sz="2400" b="1">
                      <a:solidFill>
                        <a:schemeClr val="bg2"/>
                      </a:solidFill>
                      <a:latin typeface="Times New Roman" pitchFamily="18" charset="0"/>
                    </a:rPr>
                    <a:t>6</a:t>
                  </a:r>
                  <a:endParaRPr kumimoji="1" lang="en-US" altLang="zh-CN" sz="2400">
                    <a:solidFill>
                      <a:schemeClr val="bg2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44066" name="Oval 18" descr="羊皮纸"/>
                <p:cNvSpPr>
                  <a:spLocks noChangeArrowheads="1"/>
                </p:cNvSpPr>
                <p:nvPr/>
              </p:nvSpPr>
              <p:spPr bwMode="auto">
                <a:xfrm>
                  <a:off x="1934945" y="2598723"/>
                  <a:ext cx="326403" cy="34290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 wrap="none" lIns="72000" tIns="54000" rIns="72000" bIns="54000" anchor="ctr"/>
                <a:lstStyle/>
                <a:p>
                  <a:pPr algn="ctr"/>
                  <a:r>
                    <a:rPr kumimoji="1" lang="en-US" altLang="zh-CN" sz="2400" b="1">
                      <a:solidFill>
                        <a:schemeClr val="bg2"/>
                      </a:solidFill>
                      <a:latin typeface="Times New Roman" pitchFamily="18" charset="0"/>
                    </a:rPr>
                    <a:t>1</a:t>
                  </a:r>
                  <a:endParaRPr kumimoji="1" lang="en-US" altLang="zh-CN" sz="2400">
                    <a:solidFill>
                      <a:schemeClr val="bg2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44067" name="Oval 19" descr="羊皮纸"/>
                <p:cNvSpPr>
                  <a:spLocks noChangeArrowheads="1"/>
                </p:cNvSpPr>
                <p:nvPr/>
              </p:nvSpPr>
              <p:spPr bwMode="auto">
                <a:xfrm>
                  <a:off x="1934945" y="4027471"/>
                  <a:ext cx="326403" cy="34290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 wrap="none" lIns="72000" tIns="54000" rIns="72000" bIns="54000" anchor="ctr"/>
                <a:lstStyle/>
                <a:p>
                  <a:pPr algn="ctr"/>
                  <a:r>
                    <a:rPr kumimoji="1" lang="en-US" altLang="zh-CN" sz="2400" b="1">
                      <a:solidFill>
                        <a:schemeClr val="bg2"/>
                      </a:solidFill>
                      <a:latin typeface="Times New Roman" pitchFamily="18" charset="0"/>
                    </a:rPr>
                    <a:t>3</a:t>
                  </a:r>
                  <a:endParaRPr kumimoji="1" lang="en-US" altLang="zh-CN" sz="2400">
                    <a:solidFill>
                      <a:schemeClr val="bg2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44068" name="Oval 20" descr="羊皮纸"/>
                <p:cNvSpPr>
                  <a:spLocks noChangeArrowheads="1"/>
                </p:cNvSpPr>
                <p:nvPr/>
              </p:nvSpPr>
              <p:spPr bwMode="auto">
                <a:xfrm flipH="1">
                  <a:off x="2370148" y="3341672"/>
                  <a:ext cx="326403" cy="342900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bg2"/>
                  </a:solidFill>
                  <a:round/>
                  <a:headEnd/>
                  <a:tailEnd/>
                </a:ln>
              </p:spPr>
              <p:txBody>
                <a:bodyPr wrap="none" lIns="72000" tIns="54000" rIns="72000" bIns="54000" anchor="ctr"/>
                <a:lstStyle/>
                <a:p>
                  <a:pPr algn="ctr"/>
                  <a:r>
                    <a:rPr kumimoji="1" lang="en-US" altLang="zh-CN" sz="2400" b="1">
                      <a:solidFill>
                        <a:schemeClr val="bg2"/>
                      </a:solidFill>
                      <a:latin typeface="Times New Roman" pitchFamily="18" charset="0"/>
                    </a:rPr>
                    <a:t>2</a:t>
                  </a:r>
                  <a:endParaRPr kumimoji="1" lang="en-US" altLang="zh-CN" sz="2400">
                    <a:solidFill>
                      <a:schemeClr val="bg2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44069" name="Text Box 22"/>
                <p:cNvSpPr txBox="1">
                  <a:spLocks noChangeArrowheads="1"/>
                </p:cNvSpPr>
                <p:nvPr/>
              </p:nvSpPr>
              <p:spPr bwMode="auto">
                <a:xfrm>
                  <a:off x="738135" y="2846509"/>
                  <a:ext cx="415498" cy="3640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9pPr>
                </a:lstStyle>
                <a:p>
                  <a:pPr algn="ctr" eaLnBrk="1" hangingPunct="1"/>
                  <a:r>
                    <a:rPr kumimoji="1" lang="en-US" altLang="zh-CN" b="1">
                      <a:solidFill>
                        <a:srgbClr val="C00000"/>
                      </a:solidFill>
                      <a:latin typeface="Times New Roman" pitchFamily="18" charset="0"/>
                    </a:rPr>
                    <a:t>10</a:t>
                  </a:r>
                  <a:endParaRPr kumimoji="1" lang="en-US" altLang="zh-CN">
                    <a:solidFill>
                      <a:srgbClr val="C00000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44070" name="Text Box 24"/>
                <p:cNvSpPr txBox="1">
                  <a:spLocks noChangeArrowheads="1"/>
                </p:cNvSpPr>
                <p:nvPr/>
              </p:nvSpPr>
              <p:spPr bwMode="auto">
                <a:xfrm>
                  <a:off x="1527566" y="2895188"/>
                  <a:ext cx="415498" cy="3640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9pPr>
                </a:lstStyle>
                <a:p>
                  <a:pPr algn="ctr" eaLnBrk="1" hangingPunct="1"/>
                  <a:r>
                    <a:rPr kumimoji="1" lang="en-US" altLang="zh-CN" b="1">
                      <a:solidFill>
                        <a:srgbClr val="C00000"/>
                      </a:solidFill>
                      <a:latin typeface="Times New Roman" pitchFamily="18" charset="0"/>
                    </a:rPr>
                    <a:t>14</a:t>
                  </a:r>
                  <a:endParaRPr kumimoji="1" lang="en-US" altLang="zh-CN">
                    <a:solidFill>
                      <a:srgbClr val="C00000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44071" name="Text Box 25"/>
                <p:cNvSpPr txBox="1">
                  <a:spLocks noChangeArrowheads="1"/>
                </p:cNvSpPr>
                <p:nvPr/>
              </p:nvSpPr>
              <p:spPr bwMode="auto">
                <a:xfrm>
                  <a:off x="1198949" y="3638284"/>
                  <a:ext cx="415498" cy="3640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9pPr>
                </a:lstStyle>
                <a:p>
                  <a:pPr algn="ctr" eaLnBrk="1" hangingPunct="1"/>
                  <a:r>
                    <a:rPr kumimoji="1" lang="en-US" altLang="zh-CN" b="1">
                      <a:solidFill>
                        <a:srgbClr val="C00000"/>
                      </a:solidFill>
                      <a:latin typeface="Times New Roman" pitchFamily="18" charset="0"/>
                    </a:rPr>
                    <a:t>24</a:t>
                  </a:r>
                  <a:endParaRPr kumimoji="1" lang="en-US" altLang="zh-CN">
                    <a:solidFill>
                      <a:srgbClr val="C00000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44072" name="Text Box 27"/>
                <p:cNvSpPr txBox="1">
                  <a:spLocks noChangeArrowheads="1"/>
                </p:cNvSpPr>
                <p:nvPr/>
              </p:nvSpPr>
              <p:spPr bwMode="auto">
                <a:xfrm>
                  <a:off x="2271681" y="2895188"/>
                  <a:ext cx="415498" cy="3640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9pPr>
                </a:lstStyle>
                <a:p>
                  <a:pPr algn="ctr" eaLnBrk="1" hangingPunct="1"/>
                  <a:r>
                    <a:rPr kumimoji="1" lang="en-US" altLang="zh-CN" b="1">
                      <a:solidFill>
                        <a:srgbClr val="C00000"/>
                      </a:solidFill>
                      <a:latin typeface="Times New Roman" pitchFamily="18" charset="0"/>
                    </a:rPr>
                    <a:t>16</a:t>
                  </a:r>
                  <a:endParaRPr kumimoji="1" lang="en-US" altLang="zh-CN">
                    <a:solidFill>
                      <a:srgbClr val="C00000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44073" name="Text Box 28"/>
                <p:cNvSpPr txBox="1">
                  <a:spLocks noChangeArrowheads="1"/>
                </p:cNvSpPr>
                <p:nvPr/>
              </p:nvSpPr>
              <p:spPr bwMode="auto">
                <a:xfrm>
                  <a:off x="1797012" y="3570271"/>
                  <a:ext cx="415498" cy="3640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9pPr>
                </a:lstStyle>
                <a:p>
                  <a:pPr algn="ctr" eaLnBrk="1" hangingPunct="1"/>
                  <a:r>
                    <a:rPr kumimoji="1" lang="en-US" altLang="zh-CN" b="1" dirty="0">
                      <a:solidFill>
                        <a:srgbClr val="C00000"/>
                      </a:solidFill>
                      <a:latin typeface="Times New Roman" pitchFamily="18" charset="0"/>
                    </a:rPr>
                    <a:t>18</a:t>
                  </a:r>
                  <a:endParaRPr kumimoji="1" lang="en-US" altLang="zh-CN" dirty="0">
                    <a:solidFill>
                      <a:srgbClr val="C00000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44074" name="Text Box 29"/>
                <p:cNvSpPr txBox="1">
                  <a:spLocks noChangeArrowheads="1"/>
                </p:cNvSpPr>
                <p:nvPr/>
              </p:nvSpPr>
              <p:spPr bwMode="auto">
                <a:xfrm>
                  <a:off x="2271681" y="3752437"/>
                  <a:ext cx="415498" cy="36404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charset="-122"/>
                    </a:defRPr>
                  </a:lvl9pPr>
                </a:lstStyle>
                <a:p>
                  <a:pPr algn="ctr" eaLnBrk="1" hangingPunct="1"/>
                  <a:r>
                    <a:rPr kumimoji="1" lang="en-US" altLang="zh-CN" b="1">
                      <a:solidFill>
                        <a:srgbClr val="C00000"/>
                      </a:solidFill>
                      <a:latin typeface="Times New Roman" pitchFamily="18" charset="0"/>
                    </a:rPr>
                    <a:t>12</a:t>
                  </a:r>
                  <a:endParaRPr kumimoji="1" lang="en-US" altLang="zh-CN">
                    <a:solidFill>
                      <a:srgbClr val="C00000"/>
                    </a:solidFill>
                    <a:latin typeface="Times New Roman" pitchFamily="18" charset="0"/>
                  </a:endParaRPr>
                </a:p>
              </p:txBody>
            </p:sp>
          </p:grpSp>
        </p:grpSp>
        <p:sp>
          <p:nvSpPr>
            <p:cNvPr id="59" name="Line 11"/>
            <p:cNvSpPr>
              <a:spLocks noChangeShapeType="1"/>
            </p:cNvSpPr>
            <p:nvPr/>
          </p:nvSpPr>
          <p:spPr bwMode="auto">
            <a:xfrm flipV="1">
              <a:off x="993772" y="4706728"/>
              <a:ext cx="255588" cy="449181"/>
            </a:xfrm>
            <a:prstGeom prst="line">
              <a:avLst/>
            </a:prstGeom>
            <a:noFill/>
            <a:ln w="28575">
              <a:solidFill>
                <a:schemeClr val="bg2">
                  <a:lumMod val="60000"/>
                  <a:lumOff val="40000"/>
                </a:scheme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>
                <a:defRPr/>
              </a:pPr>
              <a:endParaRPr lang="zh-CN" altLang="en-US" sz="2400">
                <a:solidFill>
                  <a:schemeClr val="bg2"/>
                </a:solidFill>
                <a:ea typeface="宋体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0954835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最小生成树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最优子结构</a:t>
            </a:r>
            <a:endParaRPr lang="en-US" altLang="zh-CN" dirty="0"/>
          </a:p>
          <a:p>
            <a:pPr lvl="1"/>
            <a:r>
              <a:rPr lang="zh-CN" altLang="en-US" dirty="0">
                <a:latin typeface="+mj-lt"/>
              </a:rPr>
              <a:t>设</a:t>
            </a:r>
            <a:r>
              <a:rPr lang="en-US" altLang="zh-CN" dirty="0">
                <a:latin typeface="+mj-lt"/>
              </a:rPr>
              <a:t>T</a:t>
            </a:r>
            <a:r>
              <a:rPr lang="zh-CN" altLang="en-US" dirty="0">
                <a:latin typeface="+mj-lt"/>
              </a:rPr>
              <a:t>是 </a:t>
            </a:r>
            <a:r>
              <a:rPr lang="en-US" altLang="zh-CN" dirty="0">
                <a:latin typeface="+mj-lt"/>
              </a:rPr>
              <a:t>G</a:t>
            </a:r>
            <a:r>
              <a:rPr lang="zh-CN" altLang="en-US" dirty="0">
                <a:latin typeface="+mj-lt"/>
              </a:rPr>
              <a:t>的最小生成树。不妨设</a:t>
            </a:r>
            <a:r>
              <a:rPr lang="en-US" altLang="zh-CN" dirty="0">
                <a:latin typeface="+mj-lt"/>
              </a:rPr>
              <a:t>T </a:t>
            </a:r>
            <a:r>
              <a:rPr lang="zh-CN" altLang="en-US" dirty="0">
                <a:latin typeface="+mj-lt"/>
              </a:rPr>
              <a:t>包含子树</a:t>
            </a:r>
            <a:r>
              <a:rPr lang="en-US" altLang="zh-CN" dirty="0">
                <a:latin typeface="+mj-lt"/>
              </a:rPr>
              <a:t>T</a:t>
            </a:r>
            <a:r>
              <a:rPr lang="en-US" altLang="zh-CN" baseline="-25000" dirty="0">
                <a:latin typeface="+mj-lt"/>
              </a:rPr>
              <a:t>1</a:t>
            </a:r>
            <a:r>
              <a:rPr lang="zh-CN" altLang="en-US" dirty="0">
                <a:latin typeface="+mj-lt"/>
              </a:rPr>
              <a:t>和</a:t>
            </a:r>
            <a:r>
              <a:rPr lang="en-US" altLang="zh-CN" dirty="0">
                <a:latin typeface="+mj-lt"/>
              </a:rPr>
              <a:t>T</a:t>
            </a:r>
            <a:r>
              <a:rPr lang="en-US" altLang="zh-CN" baseline="-25000" dirty="0">
                <a:latin typeface="+mj-lt"/>
              </a:rPr>
              <a:t>2</a:t>
            </a:r>
            <a:r>
              <a:rPr lang="zh-CN" altLang="en-US" dirty="0">
                <a:latin typeface="+mj-lt"/>
              </a:rPr>
              <a:t>，</a:t>
            </a:r>
            <a:r>
              <a:rPr lang="en-US" altLang="zh-CN" dirty="0">
                <a:latin typeface="+mj-lt"/>
              </a:rPr>
              <a:t>T</a:t>
            </a:r>
            <a:r>
              <a:rPr lang="en-US" altLang="zh-CN" baseline="-25000" dirty="0">
                <a:latin typeface="+mj-lt"/>
              </a:rPr>
              <a:t>1</a:t>
            </a:r>
            <a:r>
              <a:rPr lang="zh-CN" altLang="en-US" dirty="0">
                <a:latin typeface="+mj-lt"/>
              </a:rPr>
              <a:t>是</a:t>
            </a:r>
            <a:r>
              <a:rPr lang="en-US" altLang="zh-CN" dirty="0">
                <a:latin typeface="+mj-lt"/>
              </a:rPr>
              <a:t>G</a:t>
            </a:r>
            <a:r>
              <a:rPr lang="zh-CN" altLang="en-US" dirty="0">
                <a:latin typeface="+mj-lt"/>
              </a:rPr>
              <a:t>的子连通图</a:t>
            </a:r>
            <a:r>
              <a:rPr lang="en-US" altLang="zh-CN" dirty="0">
                <a:latin typeface="+mj-lt"/>
              </a:rPr>
              <a:t>G</a:t>
            </a:r>
            <a:r>
              <a:rPr lang="en-US" altLang="zh-CN" baseline="-25000" dirty="0">
                <a:latin typeface="+mj-lt"/>
              </a:rPr>
              <a:t>1</a:t>
            </a:r>
            <a:r>
              <a:rPr lang="zh-CN" altLang="en-US" dirty="0">
                <a:latin typeface="+mj-lt"/>
              </a:rPr>
              <a:t>的生成树，</a:t>
            </a:r>
            <a:r>
              <a:rPr lang="en-US" altLang="zh-CN" dirty="0">
                <a:latin typeface="+mj-lt"/>
              </a:rPr>
              <a:t>T</a:t>
            </a:r>
            <a:r>
              <a:rPr lang="en-US" altLang="zh-CN" baseline="-25000" dirty="0">
                <a:latin typeface="+mj-lt"/>
              </a:rPr>
              <a:t>2</a:t>
            </a:r>
            <a:r>
              <a:rPr lang="zh-CN" altLang="en-US" dirty="0">
                <a:latin typeface="+mj-lt"/>
              </a:rPr>
              <a:t>是</a:t>
            </a:r>
            <a:r>
              <a:rPr lang="en-US" altLang="zh-CN" dirty="0">
                <a:latin typeface="+mj-lt"/>
              </a:rPr>
              <a:t>G</a:t>
            </a:r>
            <a:r>
              <a:rPr lang="zh-CN" altLang="en-US" dirty="0">
                <a:latin typeface="+mj-lt"/>
              </a:rPr>
              <a:t>的子连通图</a:t>
            </a:r>
            <a:r>
              <a:rPr lang="en-US" altLang="zh-CN" dirty="0">
                <a:latin typeface="+mj-lt"/>
              </a:rPr>
              <a:t>G</a:t>
            </a:r>
            <a:r>
              <a:rPr lang="en-US" altLang="zh-CN" baseline="-25000" dirty="0">
                <a:latin typeface="+mj-lt"/>
              </a:rPr>
              <a:t>2</a:t>
            </a:r>
            <a:r>
              <a:rPr lang="zh-CN" altLang="en-US" dirty="0">
                <a:latin typeface="+mj-lt"/>
              </a:rPr>
              <a:t>的生成树，则</a:t>
            </a:r>
            <a:r>
              <a:rPr lang="en-US" altLang="zh-CN" dirty="0">
                <a:latin typeface="+mj-lt"/>
              </a:rPr>
              <a:t>T</a:t>
            </a:r>
            <a:r>
              <a:rPr lang="en-US" altLang="zh-CN" baseline="-25000" dirty="0">
                <a:latin typeface="+mj-lt"/>
              </a:rPr>
              <a:t>1</a:t>
            </a:r>
            <a:r>
              <a:rPr lang="zh-CN" altLang="en-US" dirty="0">
                <a:latin typeface="+mj-lt"/>
              </a:rPr>
              <a:t>是</a:t>
            </a:r>
            <a:r>
              <a:rPr lang="en-US" altLang="zh-CN" dirty="0">
                <a:latin typeface="+mj-lt"/>
              </a:rPr>
              <a:t>G</a:t>
            </a:r>
            <a:r>
              <a:rPr lang="en-US" altLang="zh-CN" baseline="-25000" dirty="0">
                <a:latin typeface="+mj-lt"/>
              </a:rPr>
              <a:t>1</a:t>
            </a:r>
            <a:r>
              <a:rPr lang="zh-CN" altLang="en-US" dirty="0">
                <a:latin typeface="+mj-lt"/>
              </a:rPr>
              <a:t>的最小生成树，</a:t>
            </a:r>
            <a:r>
              <a:rPr lang="en-US" altLang="zh-CN" dirty="0">
                <a:latin typeface="+mj-lt"/>
              </a:rPr>
              <a:t>T</a:t>
            </a:r>
            <a:r>
              <a:rPr lang="en-US" altLang="zh-CN" baseline="-25000" dirty="0">
                <a:latin typeface="+mj-lt"/>
              </a:rPr>
              <a:t>2</a:t>
            </a:r>
            <a:r>
              <a:rPr lang="zh-CN" altLang="en-US" dirty="0">
                <a:latin typeface="+mj-lt"/>
              </a:rPr>
              <a:t>是</a:t>
            </a:r>
            <a:r>
              <a:rPr lang="en-US" altLang="zh-CN" dirty="0">
                <a:latin typeface="+mj-lt"/>
              </a:rPr>
              <a:t>G</a:t>
            </a:r>
            <a:r>
              <a:rPr lang="en-US" altLang="zh-CN" baseline="-25000" dirty="0">
                <a:latin typeface="+mj-lt"/>
              </a:rPr>
              <a:t>2</a:t>
            </a:r>
            <a:r>
              <a:rPr lang="zh-CN" altLang="en-US" dirty="0">
                <a:latin typeface="+mj-lt"/>
              </a:rPr>
              <a:t>的最小生成树</a:t>
            </a:r>
            <a:endParaRPr lang="en-US" altLang="zh-CN" dirty="0">
              <a:latin typeface="+mj-lt"/>
            </a:endParaRPr>
          </a:p>
          <a:p>
            <a:pPr lvl="1"/>
            <a:r>
              <a:rPr lang="zh-CN" altLang="en-US" dirty="0">
                <a:latin typeface="+mj-lt"/>
              </a:rPr>
              <a:t>证明：</a:t>
            </a:r>
            <a:endParaRPr lang="en-US" altLang="zh-CN" dirty="0">
              <a:latin typeface="+mj-lt"/>
            </a:endParaRPr>
          </a:p>
          <a:p>
            <a:pPr lvl="2"/>
            <a:r>
              <a:rPr lang="zh-CN" altLang="en-US" dirty="0">
                <a:latin typeface="+mj-lt"/>
              </a:rPr>
              <a:t>若</a:t>
            </a:r>
            <a:r>
              <a:rPr lang="en-US" altLang="zh-CN" dirty="0"/>
              <a:t>T</a:t>
            </a:r>
            <a:r>
              <a:rPr lang="en-US" altLang="zh-CN" baseline="-25000" dirty="0"/>
              <a:t>1</a:t>
            </a:r>
            <a:r>
              <a:rPr lang="zh-CN" altLang="en-US" dirty="0"/>
              <a:t>和</a:t>
            </a:r>
            <a:r>
              <a:rPr lang="en-US" altLang="zh-CN" dirty="0"/>
              <a:t>T</a:t>
            </a:r>
            <a:r>
              <a:rPr lang="en-US" altLang="zh-CN" baseline="-25000" dirty="0"/>
              <a:t>2</a:t>
            </a:r>
            <a:r>
              <a:rPr lang="zh-CN" altLang="en-US" dirty="0"/>
              <a:t>不是</a:t>
            </a:r>
            <a:r>
              <a:rPr lang="en-US" altLang="zh-CN" dirty="0"/>
              <a:t>G</a:t>
            </a:r>
            <a:r>
              <a:rPr lang="en-US" altLang="zh-CN" baseline="-25000" dirty="0"/>
              <a:t>1</a:t>
            </a:r>
            <a:r>
              <a:rPr lang="zh-CN" altLang="en-US" dirty="0"/>
              <a:t>和</a:t>
            </a:r>
            <a:r>
              <a:rPr lang="en-US" altLang="zh-CN" dirty="0"/>
              <a:t>G</a:t>
            </a:r>
            <a:r>
              <a:rPr lang="en-US" altLang="zh-CN" baseline="-25000" dirty="0"/>
              <a:t>2</a:t>
            </a:r>
            <a:r>
              <a:rPr lang="zh-CN" altLang="en-US" dirty="0"/>
              <a:t>的最小生成树，而最小生成树分别是</a:t>
            </a:r>
            <a:r>
              <a:rPr lang="en-US" altLang="zh-CN" dirty="0"/>
              <a:t>T’</a:t>
            </a:r>
            <a:r>
              <a:rPr lang="en-US" altLang="zh-CN" baseline="-25000" dirty="0"/>
              <a:t>1</a:t>
            </a:r>
            <a:r>
              <a:rPr lang="zh-CN" altLang="en-US" dirty="0"/>
              <a:t>和</a:t>
            </a:r>
            <a:r>
              <a:rPr lang="en-US" altLang="zh-CN" dirty="0"/>
              <a:t>T’</a:t>
            </a:r>
            <a:r>
              <a:rPr lang="en-US" altLang="zh-CN" baseline="-25000" dirty="0"/>
              <a:t>2</a:t>
            </a:r>
            <a:r>
              <a:rPr lang="zh-CN" altLang="en-US" dirty="0"/>
              <a:t>，即</a:t>
            </a:r>
            <a:r>
              <a:rPr lang="en-US" altLang="zh-CN" dirty="0"/>
              <a:t>W(T’</a:t>
            </a:r>
            <a:r>
              <a:rPr lang="en-US" altLang="zh-CN" baseline="-25000" dirty="0"/>
              <a:t>1</a:t>
            </a:r>
            <a:r>
              <a:rPr lang="en-US" altLang="zh-CN" dirty="0"/>
              <a:t>) ≤ W(T</a:t>
            </a:r>
            <a:r>
              <a:rPr lang="en-US" altLang="zh-CN" baseline="-25000" dirty="0"/>
              <a:t>1</a:t>
            </a:r>
            <a:r>
              <a:rPr lang="en-US" altLang="zh-CN" dirty="0"/>
              <a:t>)</a:t>
            </a:r>
            <a:r>
              <a:rPr lang="zh-CN" altLang="en-US" dirty="0"/>
              <a:t>，</a:t>
            </a:r>
            <a:r>
              <a:rPr lang="en-US" altLang="zh-CN" dirty="0"/>
              <a:t>W(T’</a:t>
            </a:r>
            <a:r>
              <a:rPr lang="en-US" altLang="zh-CN" baseline="-25000" dirty="0"/>
              <a:t>2</a:t>
            </a:r>
            <a:r>
              <a:rPr lang="en-US" altLang="zh-CN" dirty="0"/>
              <a:t>) ≤W(T</a:t>
            </a:r>
            <a:r>
              <a:rPr lang="en-US" altLang="zh-CN" baseline="-25000" dirty="0"/>
              <a:t>2</a:t>
            </a:r>
            <a:r>
              <a:rPr lang="en-US" altLang="zh-CN" dirty="0"/>
              <a:t>)</a:t>
            </a:r>
            <a:r>
              <a:rPr lang="zh-CN" altLang="en-US" dirty="0"/>
              <a:t>，则存在最小生成树</a:t>
            </a:r>
            <a:r>
              <a:rPr lang="en-US" altLang="zh-CN" dirty="0"/>
              <a:t>W(T’)=W(T’</a:t>
            </a:r>
            <a:r>
              <a:rPr lang="en-US" altLang="zh-CN" baseline="-25000" dirty="0"/>
              <a:t>1</a:t>
            </a:r>
            <a:r>
              <a:rPr lang="en-US" altLang="zh-CN" dirty="0"/>
              <a:t>)+W(T’</a:t>
            </a:r>
            <a:r>
              <a:rPr lang="en-US" altLang="zh-CN" baseline="-25000" dirty="0"/>
              <a:t>2</a:t>
            </a:r>
            <a:r>
              <a:rPr lang="en-US" altLang="zh-CN" dirty="0"/>
              <a:t>)+W(</a:t>
            </a:r>
            <a:r>
              <a:rPr lang="en-US" altLang="zh-CN" dirty="0" err="1"/>
              <a:t>u,v</a:t>
            </a:r>
            <a:r>
              <a:rPr lang="en-US" altLang="zh-CN" dirty="0"/>
              <a:t>)≤ W(T</a:t>
            </a:r>
            <a:r>
              <a:rPr lang="en-US" altLang="zh-CN" baseline="-25000" dirty="0"/>
              <a:t>1</a:t>
            </a:r>
            <a:r>
              <a:rPr lang="en-US" altLang="zh-CN" dirty="0"/>
              <a:t>)+W(T</a:t>
            </a:r>
            <a:r>
              <a:rPr lang="en-US" altLang="zh-CN" baseline="-25000" dirty="0"/>
              <a:t>2</a:t>
            </a:r>
            <a:r>
              <a:rPr lang="en-US" altLang="zh-CN" dirty="0"/>
              <a:t>)+W(</a:t>
            </a:r>
            <a:r>
              <a:rPr lang="en-US" altLang="zh-CN" dirty="0" err="1"/>
              <a:t>u,v</a:t>
            </a:r>
            <a:r>
              <a:rPr lang="en-US" altLang="zh-CN" dirty="0"/>
              <a:t>) W(T)</a:t>
            </a:r>
            <a:r>
              <a:rPr lang="zh-CN" altLang="en-US" dirty="0"/>
              <a:t>，与</a:t>
            </a:r>
            <a:r>
              <a:rPr lang="en-US" altLang="zh-CN" dirty="0"/>
              <a:t>T</a:t>
            </a:r>
            <a:r>
              <a:rPr lang="zh-CN" altLang="en-US" dirty="0"/>
              <a:t>是最小生成树矛盾。</a:t>
            </a:r>
            <a:endParaRPr lang="zh-CN" altLang="en-US" dirty="0">
              <a:latin typeface="+mj-l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3E6C03A-3073-401C-B837-061925A82BB2}" type="slidenum">
              <a:rPr lang="en-US" altLang="zh-CN" smtClean="0"/>
              <a:pPr>
                <a:defRPr/>
              </a:pPr>
              <a:t>39</a:t>
            </a:fld>
            <a:endParaRPr lang="en-US" altLang="zh-CN" dirty="0"/>
          </a:p>
        </p:txBody>
      </p:sp>
      <p:grpSp>
        <p:nvGrpSpPr>
          <p:cNvPr id="5" name="Group 23"/>
          <p:cNvGrpSpPr>
            <a:grpSpLocks/>
          </p:cNvGrpSpPr>
          <p:nvPr/>
        </p:nvGrpSpPr>
        <p:grpSpPr bwMode="auto">
          <a:xfrm>
            <a:off x="6335559" y="108530"/>
            <a:ext cx="2700937" cy="1691570"/>
            <a:chOff x="1653" y="2217"/>
            <a:chExt cx="1947" cy="1304"/>
          </a:xfrm>
        </p:grpSpPr>
        <p:sp>
          <p:nvSpPr>
            <p:cNvPr id="6" name="Line 10"/>
            <p:cNvSpPr>
              <a:spLocks noChangeShapeType="1"/>
            </p:cNvSpPr>
            <p:nvPr/>
          </p:nvSpPr>
          <p:spPr bwMode="auto">
            <a:xfrm>
              <a:off x="2197" y="2633"/>
              <a:ext cx="862" cy="0"/>
            </a:xfrm>
            <a:prstGeom prst="line">
              <a:avLst/>
            </a:prstGeom>
            <a:noFill/>
            <a:ln w="38100" cap="sq">
              <a:solidFill>
                <a:srgbClr val="FF0000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>
                <a:latin typeface="+mj-lt"/>
              </a:endParaRPr>
            </a:p>
          </p:txBody>
        </p:sp>
        <p:grpSp>
          <p:nvGrpSpPr>
            <p:cNvPr id="7" name="Group 15"/>
            <p:cNvGrpSpPr>
              <a:grpSpLocks/>
            </p:cNvGrpSpPr>
            <p:nvPr/>
          </p:nvGrpSpPr>
          <p:grpSpPr bwMode="auto">
            <a:xfrm>
              <a:off x="1653" y="2795"/>
              <a:ext cx="764" cy="726"/>
              <a:chOff x="1653" y="2795"/>
              <a:chExt cx="764" cy="726"/>
            </a:xfrm>
          </p:grpSpPr>
          <p:sp>
            <p:nvSpPr>
              <p:cNvPr id="17" name="Line 11"/>
              <p:cNvSpPr>
                <a:spLocks noChangeShapeType="1"/>
              </p:cNvSpPr>
              <p:nvPr/>
            </p:nvSpPr>
            <p:spPr bwMode="auto">
              <a:xfrm flipH="1">
                <a:off x="1653" y="2795"/>
                <a:ext cx="356" cy="726"/>
              </a:xfrm>
              <a:prstGeom prst="line">
                <a:avLst/>
              </a:prstGeom>
              <a:noFill/>
              <a:ln w="38100" cap="sq">
                <a:solidFill>
                  <a:srgbClr val="FF3300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>
                  <a:latin typeface="+mj-lt"/>
                </a:endParaRPr>
              </a:p>
            </p:txBody>
          </p:sp>
          <p:sp>
            <p:nvSpPr>
              <p:cNvPr id="18" name="Line 12"/>
              <p:cNvSpPr>
                <a:spLocks noChangeShapeType="1"/>
              </p:cNvSpPr>
              <p:nvPr/>
            </p:nvSpPr>
            <p:spPr bwMode="auto">
              <a:xfrm>
                <a:off x="1653" y="3521"/>
                <a:ext cx="764" cy="0"/>
              </a:xfrm>
              <a:prstGeom prst="line">
                <a:avLst/>
              </a:prstGeom>
              <a:noFill/>
              <a:ln w="38100" cap="sq">
                <a:solidFill>
                  <a:srgbClr val="FF3300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>
                  <a:latin typeface="+mj-lt"/>
                </a:endParaRPr>
              </a:p>
            </p:txBody>
          </p:sp>
          <p:sp>
            <p:nvSpPr>
              <p:cNvPr id="19" name="Line 14"/>
              <p:cNvSpPr>
                <a:spLocks noChangeShapeType="1"/>
              </p:cNvSpPr>
              <p:nvPr/>
            </p:nvSpPr>
            <p:spPr bwMode="auto">
              <a:xfrm>
                <a:off x="2054" y="2795"/>
                <a:ext cx="363" cy="726"/>
              </a:xfrm>
              <a:prstGeom prst="line">
                <a:avLst/>
              </a:prstGeom>
              <a:noFill/>
              <a:ln w="38100" cap="sq">
                <a:solidFill>
                  <a:srgbClr val="FF3300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>
                  <a:latin typeface="+mj-lt"/>
                </a:endParaRPr>
              </a:p>
            </p:txBody>
          </p:sp>
        </p:grpSp>
        <p:grpSp>
          <p:nvGrpSpPr>
            <p:cNvPr id="8" name="Group 16"/>
            <p:cNvGrpSpPr>
              <a:grpSpLocks/>
            </p:cNvGrpSpPr>
            <p:nvPr/>
          </p:nvGrpSpPr>
          <p:grpSpPr bwMode="auto">
            <a:xfrm>
              <a:off x="2863" y="2795"/>
              <a:ext cx="737" cy="726"/>
              <a:chOff x="1774" y="2795"/>
              <a:chExt cx="737" cy="726"/>
            </a:xfrm>
          </p:grpSpPr>
          <p:sp>
            <p:nvSpPr>
              <p:cNvPr id="14" name="Line 17"/>
              <p:cNvSpPr>
                <a:spLocks noChangeShapeType="1"/>
              </p:cNvSpPr>
              <p:nvPr/>
            </p:nvSpPr>
            <p:spPr bwMode="auto">
              <a:xfrm flipH="1">
                <a:off x="1774" y="2795"/>
                <a:ext cx="329" cy="726"/>
              </a:xfrm>
              <a:prstGeom prst="line">
                <a:avLst/>
              </a:prstGeom>
              <a:noFill/>
              <a:ln w="38100" cap="sq">
                <a:solidFill>
                  <a:srgbClr val="FF3300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>
                  <a:latin typeface="+mj-lt"/>
                </a:endParaRPr>
              </a:p>
            </p:txBody>
          </p:sp>
          <p:sp>
            <p:nvSpPr>
              <p:cNvPr id="15" name="Line 18"/>
              <p:cNvSpPr>
                <a:spLocks noChangeShapeType="1"/>
              </p:cNvSpPr>
              <p:nvPr/>
            </p:nvSpPr>
            <p:spPr bwMode="auto">
              <a:xfrm>
                <a:off x="1774" y="3521"/>
                <a:ext cx="737" cy="0"/>
              </a:xfrm>
              <a:prstGeom prst="line">
                <a:avLst/>
              </a:prstGeom>
              <a:noFill/>
              <a:ln w="38100" cap="sq">
                <a:solidFill>
                  <a:srgbClr val="FF3300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>
                  <a:latin typeface="+mj-lt"/>
                </a:endParaRPr>
              </a:p>
            </p:txBody>
          </p:sp>
          <p:sp>
            <p:nvSpPr>
              <p:cNvPr id="16" name="Line 19"/>
              <p:cNvSpPr>
                <a:spLocks noChangeShapeType="1"/>
              </p:cNvSpPr>
              <p:nvPr/>
            </p:nvSpPr>
            <p:spPr bwMode="auto">
              <a:xfrm>
                <a:off x="2148" y="2795"/>
                <a:ext cx="363" cy="726"/>
              </a:xfrm>
              <a:prstGeom prst="line">
                <a:avLst/>
              </a:prstGeom>
              <a:noFill/>
              <a:ln w="38100" cap="sq">
                <a:solidFill>
                  <a:srgbClr val="FF3300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>
                  <a:latin typeface="+mj-lt"/>
                </a:endParaRPr>
              </a:p>
            </p:txBody>
          </p:sp>
        </p:grpSp>
        <p:sp>
          <p:nvSpPr>
            <p:cNvPr id="9" name="Oval 8"/>
            <p:cNvSpPr>
              <a:spLocks noChangeArrowheads="1"/>
            </p:cNvSpPr>
            <p:nvPr/>
          </p:nvSpPr>
          <p:spPr bwMode="auto">
            <a:xfrm>
              <a:off x="1879" y="2454"/>
              <a:ext cx="318" cy="341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sz="3000" b="1" dirty="0">
                  <a:latin typeface="+mj-lt"/>
                </a:rPr>
                <a:t>u</a:t>
              </a:r>
            </a:p>
          </p:txBody>
        </p:sp>
        <p:sp>
          <p:nvSpPr>
            <p:cNvPr id="10" name="Oval 9"/>
            <p:cNvSpPr>
              <a:spLocks noChangeArrowheads="1"/>
            </p:cNvSpPr>
            <p:nvPr/>
          </p:nvSpPr>
          <p:spPr bwMode="auto">
            <a:xfrm>
              <a:off x="3059" y="2454"/>
              <a:ext cx="317" cy="341"/>
            </a:xfrm>
            <a:prstGeom prst="ellipse">
              <a:avLst/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sz="3000" b="1">
                  <a:latin typeface="+mj-lt"/>
                </a:rPr>
                <a:t>v</a:t>
              </a:r>
            </a:p>
          </p:txBody>
        </p:sp>
        <p:sp>
          <p:nvSpPr>
            <p:cNvPr id="11" name="Text Box 20"/>
            <p:cNvSpPr txBox="1">
              <a:spLocks noChangeArrowheads="1"/>
            </p:cNvSpPr>
            <p:nvPr/>
          </p:nvSpPr>
          <p:spPr bwMode="auto">
            <a:xfrm>
              <a:off x="1849" y="3020"/>
              <a:ext cx="37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 b="1" dirty="0">
                  <a:solidFill>
                    <a:srgbClr val="FF3300"/>
                  </a:solidFill>
                  <a:latin typeface="+mj-lt"/>
                </a:rPr>
                <a:t>T</a:t>
              </a:r>
              <a:r>
                <a:rPr lang="en-US" altLang="zh-CN" sz="3200" b="1" baseline="-25000" dirty="0">
                  <a:solidFill>
                    <a:srgbClr val="FF3300"/>
                  </a:solidFill>
                  <a:latin typeface="+mj-lt"/>
                </a:rPr>
                <a:t>1</a:t>
              </a:r>
            </a:p>
          </p:txBody>
        </p:sp>
        <p:sp>
          <p:nvSpPr>
            <p:cNvPr id="12" name="Text Box 21"/>
            <p:cNvSpPr txBox="1">
              <a:spLocks noChangeArrowheads="1"/>
            </p:cNvSpPr>
            <p:nvPr/>
          </p:nvSpPr>
          <p:spPr bwMode="auto">
            <a:xfrm>
              <a:off x="3017" y="3022"/>
              <a:ext cx="375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200" b="1">
                  <a:solidFill>
                    <a:srgbClr val="FF3300"/>
                  </a:solidFill>
                  <a:latin typeface="+mj-lt"/>
                </a:rPr>
                <a:t>T</a:t>
              </a:r>
              <a:r>
                <a:rPr lang="en-US" altLang="zh-CN" sz="3200" b="1" baseline="-25000">
                  <a:solidFill>
                    <a:srgbClr val="FF3300"/>
                  </a:solidFill>
                  <a:latin typeface="+mj-lt"/>
                </a:rPr>
                <a:t>2</a:t>
              </a:r>
            </a:p>
          </p:txBody>
        </p:sp>
        <p:sp>
          <p:nvSpPr>
            <p:cNvPr id="13" name="Text Box 22"/>
            <p:cNvSpPr txBox="1">
              <a:spLocks noChangeArrowheads="1"/>
            </p:cNvSpPr>
            <p:nvPr/>
          </p:nvSpPr>
          <p:spPr bwMode="auto">
            <a:xfrm>
              <a:off x="2424" y="2217"/>
              <a:ext cx="294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3600" b="1" dirty="0">
                  <a:latin typeface="+mj-lt"/>
                </a:rPr>
                <a:t>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6938768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最小生成树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贪心选择性</a:t>
            </a:r>
            <a:endParaRPr lang="en-US" altLang="zh-CN" dirty="0"/>
          </a:p>
          <a:p>
            <a:pPr lvl="1"/>
            <a:r>
              <a:rPr lang="zh-CN" altLang="en-US" dirty="0">
                <a:latin typeface="+mj-lt"/>
              </a:rPr>
              <a:t>设边</a:t>
            </a:r>
            <a:r>
              <a:rPr lang="en-US" altLang="zh-CN" dirty="0">
                <a:latin typeface="+mj-lt"/>
              </a:rPr>
              <a:t>(</a:t>
            </a:r>
            <a:r>
              <a:rPr lang="en-US" altLang="zh-CN" dirty="0" err="1">
                <a:latin typeface="+mj-lt"/>
              </a:rPr>
              <a:t>u,v</a:t>
            </a:r>
            <a:r>
              <a:rPr lang="en-US" altLang="zh-CN" dirty="0">
                <a:latin typeface="+mj-lt"/>
              </a:rPr>
              <a:t>)</a:t>
            </a:r>
            <a:r>
              <a:rPr lang="zh-CN" altLang="en-US" dirty="0">
                <a:latin typeface="+mj-lt"/>
              </a:rPr>
              <a:t>是当前权值最小且两端点分别属于不同两个集合</a:t>
            </a:r>
            <a:r>
              <a:rPr lang="en-US" altLang="zh-CN" dirty="0">
                <a:latin typeface="+mj-lt"/>
              </a:rPr>
              <a:t>A</a:t>
            </a:r>
            <a:r>
              <a:rPr lang="zh-CN" altLang="en-US" dirty="0">
                <a:latin typeface="+mj-lt"/>
              </a:rPr>
              <a:t>和</a:t>
            </a:r>
            <a:r>
              <a:rPr lang="en-US" altLang="zh-CN" dirty="0">
                <a:latin typeface="+mj-lt"/>
              </a:rPr>
              <a:t>B</a:t>
            </a:r>
            <a:r>
              <a:rPr lang="zh-CN" altLang="en-US" dirty="0">
                <a:latin typeface="+mj-lt"/>
              </a:rPr>
              <a:t>的边，则必然存在一棵最小生成生树包含边</a:t>
            </a:r>
            <a:r>
              <a:rPr lang="en-US" altLang="zh-CN" dirty="0">
                <a:latin typeface="+mj-lt"/>
              </a:rPr>
              <a:t>(</a:t>
            </a:r>
            <a:r>
              <a:rPr lang="en-US" altLang="zh-CN" dirty="0" err="1">
                <a:latin typeface="+mj-lt"/>
              </a:rPr>
              <a:t>u,v</a:t>
            </a:r>
            <a:r>
              <a:rPr lang="en-US" altLang="zh-CN" dirty="0">
                <a:latin typeface="+mj-lt"/>
              </a:rPr>
              <a:t>)</a:t>
            </a:r>
            <a:r>
              <a:rPr lang="zh-CN" altLang="en-US" dirty="0">
                <a:latin typeface="+mj-lt"/>
              </a:rPr>
              <a:t>。</a:t>
            </a:r>
            <a:endParaRPr lang="en-US" altLang="zh-CN" dirty="0">
              <a:latin typeface="+mj-lt"/>
            </a:endParaRPr>
          </a:p>
          <a:p>
            <a:pPr lvl="1"/>
            <a:r>
              <a:rPr lang="zh-CN" altLang="en-US" dirty="0">
                <a:latin typeface="+mj-lt"/>
              </a:rPr>
              <a:t>证明：</a:t>
            </a:r>
            <a:endParaRPr lang="en-US" altLang="zh-CN" dirty="0">
              <a:latin typeface="+mj-lt"/>
            </a:endParaRPr>
          </a:p>
          <a:p>
            <a:pPr lvl="2"/>
            <a:r>
              <a:rPr lang="zh-CN" altLang="en-US" dirty="0">
                <a:latin typeface="+mj-lt"/>
              </a:rPr>
              <a:t>如图所示，假设不存在一棵最小生成树包含边</a:t>
            </a:r>
            <a:r>
              <a:rPr lang="en-US" altLang="zh-CN" dirty="0">
                <a:latin typeface="+mj-lt"/>
              </a:rPr>
              <a:t>(</a:t>
            </a:r>
            <a:r>
              <a:rPr lang="en-US" altLang="zh-CN" dirty="0" err="1">
                <a:latin typeface="+mj-lt"/>
              </a:rPr>
              <a:t>u,v</a:t>
            </a:r>
            <a:r>
              <a:rPr lang="en-US" altLang="zh-CN" dirty="0">
                <a:latin typeface="+mj-lt"/>
              </a:rPr>
              <a:t>)</a:t>
            </a:r>
            <a:r>
              <a:rPr lang="zh-CN" altLang="en-US" dirty="0">
                <a:latin typeface="+mj-lt"/>
              </a:rPr>
              <a:t>。为了得到生成树，</a:t>
            </a:r>
            <a:r>
              <a:rPr lang="en-US" altLang="zh-CN" dirty="0">
                <a:latin typeface="+mj-lt"/>
              </a:rPr>
              <a:t>A</a:t>
            </a:r>
            <a:r>
              <a:rPr lang="zh-CN" altLang="en-US" dirty="0">
                <a:latin typeface="+mj-lt"/>
              </a:rPr>
              <a:t>和</a:t>
            </a:r>
            <a:r>
              <a:rPr lang="en-US" altLang="zh-CN" dirty="0">
                <a:latin typeface="+mj-lt"/>
              </a:rPr>
              <a:t>B</a:t>
            </a:r>
            <a:r>
              <a:rPr lang="zh-CN" altLang="en-US" dirty="0">
                <a:latin typeface="+mj-lt"/>
              </a:rPr>
              <a:t>之间必然有一条路径连接。假设这条路径</a:t>
            </a:r>
            <a:r>
              <a:rPr lang="zh-CN" altLang="en-US" dirty="0"/>
              <a:t>连接</a:t>
            </a:r>
            <a:r>
              <a:rPr lang="en-US" altLang="zh-CN" dirty="0"/>
              <a:t>A</a:t>
            </a:r>
            <a:r>
              <a:rPr lang="zh-CN" altLang="en-US" dirty="0"/>
              <a:t>和</a:t>
            </a:r>
            <a:r>
              <a:rPr lang="en-US" altLang="zh-CN" dirty="0"/>
              <a:t>B</a:t>
            </a:r>
            <a:r>
              <a:rPr lang="zh-CN" altLang="en-US" dirty="0">
                <a:latin typeface="+mj-lt"/>
              </a:rPr>
              <a:t>包含边</a:t>
            </a:r>
            <a:r>
              <a:rPr lang="en-US" altLang="zh-CN" dirty="0">
                <a:latin typeface="+mj-lt"/>
              </a:rPr>
              <a:t>(</a:t>
            </a:r>
            <a:r>
              <a:rPr lang="en-US" altLang="zh-CN" dirty="0" err="1">
                <a:latin typeface="+mj-lt"/>
              </a:rPr>
              <a:t>x,y</a:t>
            </a:r>
            <a:r>
              <a:rPr lang="en-US" altLang="zh-CN" dirty="0">
                <a:latin typeface="+mj-lt"/>
              </a:rPr>
              <a:t>)</a:t>
            </a:r>
            <a:r>
              <a:rPr lang="zh-CN" altLang="en-US" dirty="0">
                <a:latin typeface="+mj-lt"/>
              </a:rPr>
              <a:t> 得到最小生成树</a:t>
            </a:r>
            <a:r>
              <a:rPr lang="en-US" altLang="zh-CN" dirty="0">
                <a:latin typeface="+mj-lt"/>
              </a:rPr>
              <a:t>T</a:t>
            </a:r>
            <a:r>
              <a:rPr lang="zh-CN" altLang="en-US" dirty="0">
                <a:latin typeface="+mj-lt"/>
              </a:rPr>
              <a:t>。</a:t>
            </a:r>
            <a:r>
              <a:rPr lang="en-US" altLang="zh-CN" dirty="0">
                <a:latin typeface="+mj-lt"/>
              </a:rPr>
              <a:t>W(</a:t>
            </a:r>
            <a:r>
              <a:rPr lang="en-US" altLang="zh-CN" dirty="0" err="1">
                <a:latin typeface="+mj-lt"/>
              </a:rPr>
              <a:t>u,v</a:t>
            </a:r>
            <a:r>
              <a:rPr lang="en-US" altLang="zh-CN" dirty="0">
                <a:latin typeface="+mj-lt"/>
              </a:rPr>
              <a:t>)≤W(</a:t>
            </a:r>
            <a:r>
              <a:rPr lang="en-US" altLang="zh-CN" dirty="0" err="1">
                <a:latin typeface="+mj-lt"/>
              </a:rPr>
              <a:t>x,y</a:t>
            </a:r>
            <a:r>
              <a:rPr lang="en-US" altLang="zh-CN" dirty="0">
                <a:latin typeface="+mj-lt"/>
              </a:rPr>
              <a:t>)</a:t>
            </a:r>
            <a:r>
              <a:rPr lang="zh-CN" altLang="en-US" dirty="0">
                <a:latin typeface="+mj-lt"/>
              </a:rPr>
              <a:t>，</a:t>
            </a:r>
            <a:r>
              <a:rPr lang="zh-CN" altLang="en-US" dirty="0"/>
              <a:t>边</a:t>
            </a:r>
            <a:r>
              <a:rPr lang="en-US" altLang="zh-CN" dirty="0"/>
              <a:t>(</a:t>
            </a:r>
            <a:r>
              <a:rPr lang="en-US" altLang="zh-CN" dirty="0" err="1"/>
              <a:t>x,y</a:t>
            </a:r>
            <a:r>
              <a:rPr lang="en-US" altLang="zh-CN" dirty="0"/>
              <a:t>)</a:t>
            </a:r>
            <a:r>
              <a:rPr lang="zh-CN" altLang="en-US" dirty="0"/>
              <a:t>可将</a:t>
            </a:r>
            <a:r>
              <a:rPr lang="en-US" altLang="zh-CN" dirty="0"/>
              <a:t>T</a:t>
            </a:r>
            <a:r>
              <a:rPr lang="zh-CN" altLang="en-US" dirty="0"/>
              <a:t>划分两棵子树</a:t>
            </a:r>
            <a:r>
              <a:rPr lang="en-US" altLang="zh-CN" dirty="0"/>
              <a:t>T</a:t>
            </a:r>
            <a:r>
              <a:rPr lang="en-US" altLang="zh-CN" baseline="-25000" dirty="0"/>
              <a:t>1</a:t>
            </a:r>
            <a:r>
              <a:rPr lang="zh-CN" altLang="en-US" dirty="0"/>
              <a:t>和</a:t>
            </a:r>
            <a:r>
              <a:rPr lang="en-US" altLang="zh-CN" dirty="0"/>
              <a:t>T</a:t>
            </a:r>
            <a:r>
              <a:rPr lang="en-US" altLang="zh-CN" baseline="-25000" dirty="0"/>
              <a:t>2</a:t>
            </a:r>
            <a:r>
              <a:rPr lang="zh-CN" altLang="en-US" dirty="0"/>
              <a:t>。不妨设</a:t>
            </a:r>
            <a:r>
              <a:rPr lang="en-US" altLang="zh-CN" dirty="0">
                <a:latin typeface="+mj-lt"/>
              </a:rPr>
              <a:t>A</a:t>
            </a:r>
            <a:r>
              <a:rPr lang="en-US" altLang="zh-CN" dirty="0">
                <a:latin typeface="+mj-lt"/>
                <a:sym typeface="Symbol" pitchFamily="18" charset="2"/>
              </a:rPr>
              <a:t></a:t>
            </a:r>
            <a:r>
              <a:rPr lang="en-US" altLang="zh-CN" dirty="0"/>
              <a:t>T</a:t>
            </a:r>
            <a:r>
              <a:rPr lang="en-US" altLang="zh-CN" baseline="-25000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B</a:t>
            </a:r>
            <a:r>
              <a:rPr lang="en-US" altLang="zh-CN" sz="1800" dirty="0">
                <a:sym typeface="Symbol" pitchFamily="18" charset="2"/>
              </a:rPr>
              <a:t></a:t>
            </a:r>
            <a:r>
              <a:rPr lang="en-US" altLang="zh-CN" dirty="0"/>
              <a:t>T</a:t>
            </a:r>
            <a:r>
              <a:rPr lang="en-US" altLang="zh-CN" baseline="-25000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W(T’)=W(T</a:t>
            </a:r>
            <a:r>
              <a:rPr lang="en-US" altLang="zh-CN" baseline="-25000" dirty="0"/>
              <a:t>1</a:t>
            </a:r>
            <a:r>
              <a:rPr lang="en-US" altLang="zh-CN" dirty="0"/>
              <a:t>)+W(T</a:t>
            </a:r>
            <a:r>
              <a:rPr lang="en-US" altLang="zh-CN" baseline="-25000" dirty="0"/>
              <a:t>2</a:t>
            </a:r>
            <a:r>
              <a:rPr lang="en-US" altLang="zh-CN" dirty="0"/>
              <a:t>)+W(</a:t>
            </a:r>
            <a:r>
              <a:rPr lang="en-US" altLang="zh-CN" dirty="0" err="1"/>
              <a:t>u,v</a:t>
            </a:r>
            <a:r>
              <a:rPr lang="en-US" altLang="zh-CN" dirty="0"/>
              <a:t>)≤ W(T</a:t>
            </a:r>
            <a:r>
              <a:rPr lang="en-US" altLang="zh-CN" baseline="-25000" dirty="0"/>
              <a:t>1</a:t>
            </a:r>
            <a:r>
              <a:rPr lang="en-US" altLang="zh-CN" dirty="0"/>
              <a:t>)+W(T</a:t>
            </a:r>
            <a:r>
              <a:rPr lang="en-US" altLang="zh-CN" baseline="-25000" dirty="0"/>
              <a:t>2</a:t>
            </a:r>
            <a:r>
              <a:rPr lang="en-US" altLang="zh-CN" dirty="0"/>
              <a:t>)+W(</a:t>
            </a:r>
            <a:r>
              <a:rPr lang="en-US" altLang="zh-CN" dirty="0" err="1"/>
              <a:t>x,y</a:t>
            </a:r>
            <a:r>
              <a:rPr lang="en-US" altLang="zh-CN" dirty="0"/>
              <a:t>)=W(T)</a:t>
            </a:r>
            <a:r>
              <a:rPr lang="zh-CN" altLang="en-US" dirty="0"/>
              <a:t>，与</a:t>
            </a:r>
            <a:r>
              <a:rPr lang="en-US" altLang="zh-CN" dirty="0"/>
              <a:t>T</a:t>
            </a:r>
            <a:r>
              <a:rPr lang="zh-CN" altLang="en-US" dirty="0"/>
              <a:t>最小矛盾。得证。</a:t>
            </a:r>
            <a:endParaRPr lang="zh-CN" altLang="en-US" dirty="0">
              <a:latin typeface="+mj-lt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323528" y="6093296"/>
            <a:ext cx="8480207" cy="5232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选择当前权值最小且两端点属两集合结果并不会变坏</a:t>
            </a:r>
          </a:p>
        </p:txBody>
      </p:sp>
      <p:grpSp>
        <p:nvGrpSpPr>
          <p:cNvPr id="49" name="组合 48"/>
          <p:cNvGrpSpPr/>
          <p:nvPr/>
        </p:nvGrpSpPr>
        <p:grpSpPr>
          <a:xfrm>
            <a:off x="6075020" y="50532"/>
            <a:ext cx="2862612" cy="1866300"/>
            <a:chOff x="6075020" y="50532"/>
            <a:chExt cx="2862612" cy="1866300"/>
          </a:xfrm>
        </p:grpSpPr>
        <p:grpSp>
          <p:nvGrpSpPr>
            <p:cNvPr id="41" name="组合 40"/>
            <p:cNvGrpSpPr/>
            <p:nvPr/>
          </p:nvGrpSpPr>
          <p:grpSpPr>
            <a:xfrm>
              <a:off x="6444190" y="800710"/>
              <a:ext cx="2097159" cy="1116122"/>
              <a:chOff x="5198138" y="4755729"/>
              <a:chExt cx="3859058" cy="2054342"/>
            </a:xfrm>
          </p:grpSpPr>
          <p:grpSp>
            <p:nvGrpSpPr>
              <p:cNvPr id="36" name="组合 35"/>
              <p:cNvGrpSpPr/>
              <p:nvPr/>
            </p:nvGrpSpPr>
            <p:grpSpPr>
              <a:xfrm>
                <a:off x="5198138" y="5222394"/>
                <a:ext cx="3859058" cy="1587677"/>
                <a:chOff x="4962309" y="4751505"/>
                <a:chExt cx="3859058" cy="1587677"/>
              </a:xfrm>
            </p:grpSpPr>
            <p:sp>
              <p:nvSpPr>
                <p:cNvPr id="21" name="Line 10"/>
                <p:cNvSpPr>
                  <a:spLocks noChangeShapeType="1"/>
                </p:cNvSpPr>
                <p:nvPr/>
              </p:nvSpPr>
              <p:spPr bwMode="auto">
                <a:xfrm flipV="1">
                  <a:off x="6436724" y="5750036"/>
                  <a:ext cx="922501" cy="5514"/>
                </a:xfrm>
                <a:prstGeom prst="line">
                  <a:avLst/>
                </a:prstGeom>
                <a:noFill/>
                <a:ln w="38100" cap="sq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 sz="2400">
                    <a:latin typeface="+mj-lt"/>
                  </a:endParaRPr>
                </a:p>
              </p:txBody>
            </p:sp>
            <p:grpSp>
              <p:nvGrpSpPr>
                <p:cNvPr id="22" name="Group 15"/>
                <p:cNvGrpSpPr>
                  <a:grpSpLocks/>
                </p:cNvGrpSpPr>
                <p:nvPr/>
              </p:nvGrpSpPr>
              <p:grpSpPr bwMode="auto">
                <a:xfrm>
                  <a:off x="4962309" y="4751505"/>
                  <a:ext cx="1059844" cy="941779"/>
                  <a:chOff x="1653" y="2795"/>
                  <a:chExt cx="764" cy="726"/>
                </a:xfrm>
              </p:grpSpPr>
              <p:sp>
                <p:nvSpPr>
                  <p:cNvPr id="32" name="Line 11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653" y="2795"/>
                    <a:ext cx="383" cy="726"/>
                  </a:xfrm>
                  <a:prstGeom prst="line">
                    <a:avLst/>
                  </a:prstGeom>
                  <a:noFill/>
                  <a:ln w="38100" cap="sq">
                    <a:solidFill>
                      <a:srgbClr val="FF3300"/>
                    </a:solidFill>
                    <a:miter lim="800000"/>
                    <a:headEnd type="none" w="sm" len="sm"/>
                    <a:tailEnd type="none" w="sm" len="sm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 sz="2400">
                      <a:latin typeface="+mj-lt"/>
                    </a:endParaRPr>
                  </a:p>
                </p:txBody>
              </p:sp>
              <p:sp>
                <p:nvSpPr>
                  <p:cNvPr id="33" name="Line 12"/>
                  <p:cNvSpPr>
                    <a:spLocks noChangeShapeType="1"/>
                  </p:cNvSpPr>
                  <p:nvPr/>
                </p:nvSpPr>
                <p:spPr bwMode="auto">
                  <a:xfrm>
                    <a:off x="1653" y="3521"/>
                    <a:ext cx="764" cy="0"/>
                  </a:xfrm>
                  <a:prstGeom prst="line">
                    <a:avLst/>
                  </a:prstGeom>
                  <a:noFill/>
                  <a:ln w="38100" cap="sq">
                    <a:solidFill>
                      <a:srgbClr val="FF3300"/>
                    </a:solidFill>
                    <a:miter lim="800000"/>
                    <a:headEnd type="none" w="sm" len="sm"/>
                    <a:tailEnd type="none" w="sm" len="sm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 sz="2400">
                      <a:latin typeface="+mj-lt"/>
                    </a:endParaRPr>
                  </a:p>
                </p:txBody>
              </p:sp>
              <p:sp>
                <p:nvSpPr>
                  <p:cNvPr id="34" name="Line 14"/>
                  <p:cNvSpPr>
                    <a:spLocks noChangeShapeType="1"/>
                  </p:cNvSpPr>
                  <p:nvPr/>
                </p:nvSpPr>
                <p:spPr bwMode="auto">
                  <a:xfrm>
                    <a:off x="2054" y="2795"/>
                    <a:ext cx="363" cy="726"/>
                  </a:xfrm>
                  <a:prstGeom prst="line">
                    <a:avLst/>
                  </a:prstGeom>
                  <a:noFill/>
                  <a:ln w="38100" cap="sq">
                    <a:solidFill>
                      <a:srgbClr val="FF3300"/>
                    </a:solidFill>
                    <a:miter lim="800000"/>
                    <a:headEnd type="none" w="sm" len="sm"/>
                    <a:tailEnd type="none" w="sm" len="sm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 sz="2400">
                      <a:latin typeface="+mj-lt"/>
                    </a:endParaRPr>
                  </a:p>
                </p:txBody>
              </p:sp>
            </p:grpSp>
            <p:grpSp>
              <p:nvGrpSpPr>
                <p:cNvPr id="23" name="Group 16"/>
                <p:cNvGrpSpPr>
                  <a:grpSpLocks/>
                </p:cNvGrpSpPr>
                <p:nvPr/>
              </p:nvGrpSpPr>
              <p:grpSpPr bwMode="auto">
                <a:xfrm>
                  <a:off x="7798978" y="4751505"/>
                  <a:ext cx="1022389" cy="941779"/>
                  <a:chOff x="1774" y="2795"/>
                  <a:chExt cx="737" cy="726"/>
                </a:xfrm>
              </p:grpSpPr>
              <p:sp>
                <p:nvSpPr>
                  <p:cNvPr id="29" name="Line 17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774" y="2795"/>
                    <a:ext cx="368" cy="726"/>
                  </a:xfrm>
                  <a:prstGeom prst="line">
                    <a:avLst/>
                  </a:prstGeom>
                  <a:noFill/>
                  <a:ln w="38100" cap="sq">
                    <a:solidFill>
                      <a:srgbClr val="FF3300"/>
                    </a:solidFill>
                    <a:miter lim="800000"/>
                    <a:headEnd type="none" w="sm" len="sm"/>
                    <a:tailEnd type="none" w="sm" len="sm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 sz="2400">
                      <a:latin typeface="+mj-lt"/>
                    </a:endParaRPr>
                  </a:p>
                </p:txBody>
              </p:sp>
              <p:sp>
                <p:nvSpPr>
                  <p:cNvPr id="30" name="Line 18"/>
                  <p:cNvSpPr>
                    <a:spLocks noChangeShapeType="1"/>
                  </p:cNvSpPr>
                  <p:nvPr/>
                </p:nvSpPr>
                <p:spPr bwMode="auto">
                  <a:xfrm>
                    <a:off x="1774" y="3521"/>
                    <a:ext cx="737" cy="0"/>
                  </a:xfrm>
                  <a:prstGeom prst="line">
                    <a:avLst/>
                  </a:prstGeom>
                  <a:noFill/>
                  <a:ln w="38100" cap="sq">
                    <a:solidFill>
                      <a:srgbClr val="FF3300"/>
                    </a:solidFill>
                    <a:miter lim="800000"/>
                    <a:headEnd type="none" w="sm" len="sm"/>
                    <a:tailEnd type="none" w="sm" len="sm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 sz="2400">
                      <a:latin typeface="+mj-lt"/>
                    </a:endParaRPr>
                  </a:p>
                </p:txBody>
              </p:sp>
              <p:sp>
                <p:nvSpPr>
                  <p:cNvPr id="31" name="Line 19"/>
                  <p:cNvSpPr>
                    <a:spLocks noChangeShapeType="1"/>
                  </p:cNvSpPr>
                  <p:nvPr/>
                </p:nvSpPr>
                <p:spPr bwMode="auto">
                  <a:xfrm>
                    <a:off x="2148" y="2795"/>
                    <a:ext cx="363" cy="726"/>
                  </a:xfrm>
                  <a:prstGeom prst="line">
                    <a:avLst/>
                  </a:prstGeom>
                  <a:noFill/>
                  <a:ln w="38100" cap="sq">
                    <a:solidFill>
                      <a:srgbClr val="FF3300"/>
                    </a:solidFill>
                    <a:miter lim="800000"/>
                    <a:headEnd type="none" w="sm" len="sm"/>
                    <a:tailEnd type="none" w="sm" len="sm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zh-CN" altLang="en-US" sz="2400">
                      <a:latin typeface="+mj-lt"/>
                    </a:endParaRPr>
                  </a:p>
                </p:txBody>
              </p:sp>
            </p:grpSp>
            <p:sp>
              <p:nvSpPr>
                <p:cNvPr id="24" name="Oval 8"/>
                <p:cNvSpPr>
                  <a:spLocks noChangeArrowheads="1"/>
                </p:cNvSpPr>
                <p:nvPr/>
              </p:nvSpPr>
              <p:spPr bwMode="auto">
                <a:xfrm>
                  <a:off x="5995586" y="5523349"/>
                  <a:ext cx="441139" cy="442351"/>
                </a:xfrm>
                <a:prstGeom prst="ellipse">
                  <a:avLst/>
                </a:prstGeom>
                <a:noFill/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pPr algn="ctr">
                    <a:defRPr/>
                  </a:pPr>
                  <a:r>
                    <a:rPr lang="en-US" altLang="zh-CN" sz="2400" b="1" dirty="0">
                      <a:latin typeface="+mj-lt"/>
                    </a:rPr>
                    <a:t>x</a:t>
                  </a:r>
                </a:p>
              </p:txBody>
            </p:sp>
            <p:sp>
              <p:nvSpPr>
                <p:cNvPr id="25" name="Oval 9"/>
                <p:cNvSpPr>
                  <a:spLocks noChangeArrowheads="1"/>
                </p:cNvSpPr>
                <p:nvPr/>
              </p:nvSpPr>
              <p:spPr bwMode="auto">
                <a:xfrm>
                  <a:off x="7359226" y="5523349"/>
                  <a:ext cx="439752" cy="442351"/>
                </a:xfrm>
                <a:prstGeom prst="ellipse">
                  <a:avLst/>
                </a:prstGeom>
                <a:noFill/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0" tIns="0" rIns="0" bIns="0" anchor="ctr"/>
                <a:lstStyle/>
                <a:p>
                  <a:pPr algn="ctr">
                    <a:defRPr/>
                  </a:pPr>
                  <a:r>
                    <a:rPr lang="en-US" altLang="zh-CN" sz="2400" b="1" dirty="0">
                      <a:latin typeface="+mj-lt"/>
                    </a:rPr>
                    <a:t>y</a:t>
                  </a:r>
                </a:p>
              </p:txBody>
            </p:sp>
            <p:sp>
              <p:nvSpPr>
                <p:cNvPr id="26" name="Text Box 20"/>
                <p:cNvSpPr txBox="1">
                  <a:spLocks noChangeArrowheads="1"/>
                </p:cNvSpPr>
                <p:nvPr/>
              </p:nvSpPr>
              <p:spPr bwMode="auto">
                <a:xfrm>
                  <a:off x="5182647" y="4960322"/>
                  <a:ext cx="506199" cy="58363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cap="sq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>
                    <a:defRPr/>
                  </a:pPr>
                  <a:r>
                    <a:rPr lang="en-US" altLang="zh-CN" sz="2400" b="1" dirty="0">
                      <a:solidFill>
                        <a:srgbClr val="FF3300"/>
                      </a:solidFill>
                      <a:latin typeface="+mj-lt"/>
                    </a:rPr>
                    <a:t>A</a:t>
                  </a:r>
                </a:p>
              </p:txBody>
            </p:sp>
            <p:sp>
              <p:nvSpPr>
                <p:cNvPr id="27" name="Text Box 21"/>
                <p:cNvSpPr txBox="1">
                  <a:spLocks noChangeArrowheads="1"/>
                </p:cNvSpPr>
                <p:nvPr/>
              </p:nvSpPr>
              <p:spPr bwMode="auto">
                <a:xfrm>
                  <a:off x="7941423" y="4947532"/>
                  <a:ext cx="506199" cy="58363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cap="sq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>
                    <a:defRPr/>
                  </a:pPr>
                  <a:r>
                    <a:rPr lang="en-US" altLang="zh-CN" sz="2400" b="1" dirty="0">
                      <a:solidFill>
                        <a:srgbClr val="FF3300"/>
                      </a:solidFill>
                      <a:latin typeface="+mj-lt"/>
                    </a:rPr>
                    <a:t>B</a:t>
                  </a:r>
                </a:p>
              </p:txBody>
            </p:sp>
            <p:sp>
              <p:nvSpPr>
                <p:cNvPr id="28" name="Text Box 22"/>
                <p:cNvSpPr txBox="1">
                  <a:spLocks noChangeArrowheads="1"/>
                </p:cNvSpPr>
                <p:nvPr/>
              </p:nvSpPr>
              <p:spPr bwMode="auto">
                <a:xfrm>
                  <a:off x="6629110" y="5755550"/>
                  <a:ext cx="462391" cy="58363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cap="sq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>
                    <a:defRPr/>
                  </a:pPr>
                  <a:r>
                    <a:rPr lang="en-US" altLang="zh-CN" sz="2400" b="1" dirty="0">
                      <a:solidFill>
                        <a:srgbClr val="0000A8"/>
                      </a:solidFill>
                      <a:latin typeface="+mj-lt"/>
                    </a:rPr>
                    <a:t>T</a:t>
                  </a:r>
                </a:p>
              </p:txBody>
            </p:sp>
          </p:grpSp>
          <p:sp>
            <p:nvSpPr>
              <p:cNvPr id="39" name="Oval 8"/>
              <p:cNvSpPr>
                <a:spLocks noChangeArrowheads="1"/>
              </p:cNvSpPr>
              <p:nvPr/>
            </p:nvSpPr>
            <p:spPr bwMode="auto">
              <a:xfrm>
                <a:off x="5509570" y="4755729"/>
                <a:ext cx="441139" cy="442351"/>
              </a:xfrm>
              <a:prstGeom prst="ellips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altLang="zh-CN" sz="2400" b="1" dirty="0">
                    <a:latin typeface="+mj-lt"/>
                  </a:rPr>
                  <a:t>u</a:t>
                </a:r>
              </a:p>
            </p:txBody>
          </p:sp>
          <p:sp>
            <p:nvSpPr>
              <p:cNvPr id="40" name="Oval 8"/>
              <p:cNvSpPr>
                <a:spLocks noChangeArrowheads="1"/>
              </p:cNvSpPr>
              <p:nvPr/>
            </p:nvSpPr>
            <p:spPr bwMode="auto">
              <a:xfrm>
                <a:off x="8324738" y="4780043"/>
                <a:ext cx="441139" cy="442351"/>
              </a:xfrm>
              <a:prstGeom prst="ellipse">
                <a:avLst/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altLang="zh-CN" sz="2400" b="1" dirty="0">
                    <a:latin typeface="+mj-lt"/>
                  </a:rPr>
                  <a:t>v</a:t>
                </a:r>
              </a:p>
            </p:txBody>
          </p:sp>
        </p:grpSp>
        <p:sp>
          <p:nvSpPr>
            <p:cNvPr id="45" name="矩形 44"/>
            <p:cNvSpPr/>
            <p:nvPr/>
          </p:nvSpPr>
          <p:spPr bwMode="auto">
            <a:xfrm>
              <a:off x="6075020" y="50532"/>
              <a:ext cx="1233284" cy="1758288"/>
            </a:xfrm>
            <a:prstGeom prst="rect">
              <a:avLst/>
            </a:prstGeom>
            <a:noFill/>
            <a:ln w="50800">
              <a:solidFill>
                <a:srgbClr val="0066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8000" tIns="10800" rIns="18000" bIns="10800" rtlCol="0" anchor="ctr"/>
            <a:lstStyle/>
            <a:p>
              <a:pPr algn="ctr" eaLnBrk="1" hangingPunct="1">
                <a:lnSpc>
                  <a:spcPct val="96000"/>
                </a:lnSpc>
                <a:spcBef>
                  <a:spcPct val="0"/>
                </a:spcBef>
                <a:buClrTx/>
                <a:buFontTx/>
                <a:buNone/>
              </a:pPr>
              <a:endParaRPr lang="zh-CN" altLang="en-US" b="1" dirty="0">
                <a:solidFill>
                  <a:srgbClr val="000099"/>
                </a:solidFill>
                <a:ea typeface="黑体" pitchFamily="49" charset="-122"/>
              </a:endParaRPr>
            </a:p>
          </p:txBody>
        </p:sp>
        <p:sp>
          <p:nvSpPr>
            <p:cNvPr id="46" name="矩形 45"/>
            <p:cNvSpPr/>
            <p:nvPr/>
          </p:nvSpPr>
          <p:spPr bwMode="auto">
            <a:xfrm>
              <a:off x="7704348" y="50532"/>
              <a:ext cx="1233284" cy="1758288"/>
            </a:xfrm>
            <a:prstGeom prst="rect">
              <a:avLst/>
            </a:prstGeom>
            <a:noFill/>
            <a:ln w="50800">
              <a:solidFill>
                <a:srgbClr val="0066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8000" tIns="10800" rIns="18000" bIns="10800" rtlCol="0" anchor="ctr"/>
            <a:lstStyle/>
            <a:p>
              <a:pPr algn="ctr" eaLnBrk="1" hangingPunct="1">
                <a:lnSpc>
                  <a:spcPct val="96000"/>
                </a:lnSpc>
                <a:spcBef>
                  <a:spcPct val="0"/>
                </a:spcBef>
                <a:buClrTx/>
                <a:buFontTx/>
                <a:buNone/>
              </a:pPr>
              <a:endParaRPr lang="zh-CN" altLang="en-US" b="1" dirty="0">
                <a:solidFill>
                  <a:srgbClr val="000099"/>
                </a:solidFill>
                <a:ea typeface="黑体" pitchFamily="49" charset="-122"/>
              </a:endParaRPr>
            </a:p>
          </p:txBody>
        </p:sp>
        <p:sp>
          <p:nvSpPr>
            <p:cNvPr id="47" name="Text Box 22"/>
            <p:cNvSpPr txBox="1">
              <a:spLocks noChangeArrowheads="1"/>
            </p:cNvSpPr>
            <p:nvPr/>
          </p:nvSpPr>
          <p:spPr bwMode="auto">
            <a:xfrm>
              <a:off x="6495213" y="224644"/>
              <a:ext cx="48603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2400" b="1" dirty="0">
                  <a:solidFill>
                    <a:srgbClr val="0000A8"/>
                  </a:solidFill>
                </a:rPr>
                <a:t>T</a:t>
              </a:r>
              <a:r>
                <a:rPr lang="en-US" altLang="zh-CN" sz="2400" b="1" baseline="-25000" dirty="0">
                  <a:solidFill>
                    <a:srgbClr val="0000A8"/>
                  </a:solidFill>
                </a:rPr>
                <a:t>1</a:t>
              </a:r>
              <a:endParaRPr lang="en-US" altLang="zh-CN" sz="2400" b="1" dirty="0">
                <a:solidFill>
                  <a:srgbClr val="0000A8"/>
                </a:solidFill>
                <a:latin typeface="+mj-lt"/>
              </a:endParaRPr>
            </a:p>
          </p:txBody>
        </p:sp>
        <p:sp>
          <p:nvSpPr>
            <p:cNvPr id="48" name="Text Box 22"/>
            <p:cNvSpPr txBox="1">
              <a:spLocks noChangeArrowheads="1"/>
            </p:cNvSpPr>
            <p:nvPr/>
          </p:nvSpPr>
          <p:spPr bwMode="auto">
            <a:xfrm>
              <a:off x="8024678" y="224644"/>
              <a:ext cx="486030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altLang="zh-CN" sz="2400" b="1" dirty="0">
                  <a:solidFill>
                    <a:srgbClr val="0000A8"/>
                  </a:solidFill>
                </a:rPr>
                <a:t>T</a:t>
              </a:r>
              <a:r>
                <a:rPr lang="en-US" altLang="zh-CN" sz="2400" b="1" baseline="-25000" dirty="0">
                  <a:solidFill>
                    <a:srgbClr val="0000A8"/>
                  </a:solidFill>
                </a:rPr>
                <a:t>2</a:t>
              </a:r>
              <a:endParaRPr lang="en-US" altLang="zh-CN" sz="2400" b="1" dirty="0">
                <a:solidFill>
                  <a:srgbClr val="0000A8"/>
                </a:solidFill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20477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最短路径</a:t>
            </a:r>
          </a:p>
        </p:txBody>
      </p:sp>
      <p:sp>
        <p:nvSpPr>
          <p:cNvPr id="48131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Arial" charset="0"/>
                <a:ea typeface="黑体" pitchFamily="2" charset="-122"/>
              </a:rPr>
              <a:t>单源最短路径的</a:t>
            </a:r>
            <a:r>
              <a:rPr lang="en-US" altLang="zh-CN" dirty="0" err="1">
                <a:latin typeface="Arial" charset="0"/>
                <a:ea typeface="黑体" pitchFamily="2" charset="-122"/>
              </a:rPr>
              <a:t>Dijkstra</a:t>
            </a:r>
            <a:r>
              <a:rPr lang="zh-CN" altLang="en-US" dirty="0">
                <a:latin typeface="Arial" charset="0"/>
                <a:ea typeface="黑体" pitchFamily="2" charset="-122"/>
              </a:rPr>
              <a:t>算法</a:t>
            </a:r>
            <a:endParaRPr lang="en-US" altLang="zh-CN" dirty="0">
              <a:latin typeface="Arial" charset="0"/>
              <a:ea typeface="黑体" pitchFamily="2" charset="-122"/>
            </a:endParaRPr>
          </a:p>
          <a:p>
            <a:pPr lvl="1"/>
            <a:r>
              <a:rPr lang="zh-CN" altLang="en-US" dirty="0">
                <a:latin typeface="Arial" charset="0"/>
                <a:ea typeface="黑体" pitchFamily="2" charset="-122"/>
              </a:rPr>
              <a:t>给定带权图 </a:t>
            </a:r>
            <a:r>
              <a:rPr lang="en-US" altLang="zh-CN" dirty="0">
                <a:solidFill>
                  <a:srgbClr val="C00000"/>
                </a:solidFill>
                <a:latin typeface="Arial" charset="0"/>
                <a:ea typeface="黑体" pitchFamily="2" charset="-122"/>
              </a:rPr>
              <a:t>(</a:t>
            </a:r>
            <a:r>
              <a:rPr lang="zh-CN" altLang="en-US" dirty="0">
                <a:solidFill>
                  <a:srgbClr val="C00000"/>
                </a:solidFill>
                <a:latin typeface="Arial" charset="0"/>
                <a:ea typeface="黑体" pitchFamily="2" charset="-122"/>
              </a:rPr>
              <a:t>每条边权值 </a:t>
            </a:r>
            <a:r>
              <a:rPr lang="zh-CN" altLang="en-US" dirty="0">
                <a:solidFill>
                  <a:srgbClr val="C00000"/>
                </a:solidFill>
                <a:latin typeface="Arial" charset="0"/>
                <a:ea typeface="黑体" pitchFamily="2" charset="-122"/>
                <a:cs typeface="Arial" charset="0"/>
              </a:rPr>
              <a:t>≥ </a:t>
            </a:r>
            <a:r>
              <a:rPr lang="en-US" altLang="zh-CN" dirty="0">
                <a:solidFill>
                  <a:srgbClr val="C00000"/>
                </a:solidFill>
                <a:latin typeface="Arial" charset="0"/>
                <a:ea typeface="黑体" pitchFamily="2" charset="-122"/>
              </a:rPr>
              <a:t>0)</a:t>
            </a:r>
          </a:p>
          <a:p>
            <a:pPr lvl="1"/>
            <a:r>
              <a:rPr lang="zh-CN" altLang="en-US" dirty="0">
                <a:latin typeface="Arial" charset="0"/>
                <a:ea typeface="黑体" pitchFamily="2" charset="-122"/>
              </a:rPr>
              <a:t>给定源点</a:t>
            </a:r>
            <a:r>
              <a:rPr lang="en-US" altLang="zh-CN" dirty="0">
                <a:latin typeface="Arial" charset="0"/>
                <a:ea typeface="黑体" pitchFamily="2" charset="-122"/>
              </a:rPr>
              <a:t>v</a:t>
            </a:r>
            <a:r>
              <a:rPr lang="zh-CN" altLang="en-US" dirty="0">
                <a:latin typeface="Arial" charset="0"/>
                <a:ea typeface="黑体" pitchFamily="2" charset="-122"/>
              </a:rPr>
              <a:t>，求</a:t>
            </a:r>
            <a:r>
              <a:rPr lang="en-US" altLang="zh-CN" dirty="0">
                <a:latin typeface="Arial" charset="0"/>
                <a:ea typeface="黑体" pitchFamily="2" charset="-122"/>
              </a:rPr>
              <a:t>v</a:t>
            </a:r>
            <a:r>
              <a:rPr lang="zh-CN" altLang="en-US" dirty="0">
                <a:latin typeface="Arial" charset="0"/>
                <a:ea typeface="黑体" pitchFamily="2" charset="-122"/>
              </a:rPr>
              <a:t>到其他顶点的最短路径</a:t>
            </a:r>
            <a:endParaRPr lang="en-US" altLang="zh-CN" dirty="0">
              <a:latin typeface="Arial" charset="0"/>
              <a:ea typeface="黑体" pitchFamily="2" charset="-122"/>
            </a:endParaRPr>
          </a:p>
        </p:txBody>
      </p:sp>
      <p:sp>
        <p:nvSpPr>
          <p:cNvPr id="48132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D64ABC21-C7D4-4B36-BB85-04488DAAC770}" type="slidenum">
              <a:rPr lang="en-US" altLang="zh-CN" smtClean="0">
                <a:solidFill>
                  <a:srgbClr val="006600"/>
                </a:solidFill>
                <a:latin typeface="Courier New" pitchFamily="49" charset="0"/>
                <a:ea typeface="华文新魏" pitchFamily="2" charset="-122"/>
              </a:rPr>
              <a:pPr eaLnBrk="1" hangingPunct="1"/>
              <a:t>41</a:t>
            </a:fld>
            <a:endParaRPr lang="en-US" altLang="zh-CN">
              <a:solidFill>
                <a:srgbClr val="006600"/>
              </a:solidFill>
              <a:latin typeface="Courier New" pitchFamily="49" charset="0"/>
              <a:ea typeface="华文新魏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1640858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最短路径</a:t>
            </a:r>
          </a:p>
        </p:txBody>
      </p:sp>
      <p:sp>
        <p:nvSpPr>
          <p:cNvPr id="4096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 err="1">
                <a:latin typeface="Arial" charset="0"/>
                <a:ea typeface="黑体" pitchFamily="2" charset="-122"/>
              </a:rPr>
              <a:t>Dijkstra</a:t>
            </a:r>
            <a:r>
              <a:rPr lang="zh-CN" altLang="en-US" dirty="0">
                <a:latin typeface="Arial" charset="0"/>
                <a:ea typeface="黑体" pitchFamily="2" charset="-122"/>
              </a:rPr>
              <a:t>算法</a:t>
            </a:r>
            <a:endParaRPr lang="en-US" altLang="zh-CN" dirty="0">
              <a:latin typeface="Arial" charset="0"/>
              <a:ea typeface="黑体" pitchFamily="2" charset="-122"/>
            </a:endParaRPr>
          </a:p>
          <a:p>
            <a:pPr lvl="1">
              <a:defRPr/>
            </a:pPr>
            <a:r>
              <a:rPr lang="zh-CN" altLang="en-US" dirty="0">
                <a:latin typeface="Arial" charset="0"/>
                <a:ea typeface="黑体" pitchFamily="2" charset="-122"/>
              </a:rPr>
              <a:t>初始时令</a:t>
            </a:r>
            <a:r>
              <a:rPr lang="en-US" altLang="zh-CN" dirty="0">
                <a:latin typeface="Arial" charset="0"/>
                <a:ea typeface="黑体" pitchFamily="2" charset="-122"/>
              </a:rPr>
              <a:t>S={v</a:t>
            </a:r>
            <a:r>
              <a:rPr lang="en-US" altLang="zh-CN" baseline="-25000" dirty="0">
                <a:latin typeface="Arial" charset="0"/>
                <a:ea typeface="黑体" pitchFamily="2" charset="-122"/>
              </a:rPr>
              <a:t>0</a:t>
            </a:r>
            <a:r>
              <a:rPr lang="en-US" altLang="zh-CN" dirty="0">
                <a:latin typeface="Arial" charset="0"/>
                <a:ea typeface="黑体" pitchFamily="2" charset="-122"/>
              </a:rPr>
              <a:t>}</a:t>
            </a:r>
            <a:r>
              <a:rPr lang="zh-CN" altLang="en-US" dirty="0">
                <a:latin typeface="Arial" charset="0"/>
                <a:ea typeface="黑体" pitchFamily="2" charset="-122"/>
              </a:rPr>
              <a:t>，</a:t>
            </a:r>
            <a:r>
              <a:rPr lang="en-US" altLang="zh-CN" dirty="0" err="1">
                <a:latin typeface="Arial" charset="0"/>
                <a:ea typeface="黑体" pitchFamily="2" charset="-122"/>
              </a:rPr>
              <a:t>dist</a:t>
            </a:r>
            <a:r>
              <a:rPr lang="en-US" altLang="zh-CN" dirty="0">
                <a:latin typeface="Arial" charset="0"/>
                <a:ea typeface="黑体" pitchFamily="2" charset="-122"/>
              </a:rPr>
              <a:t>[v</a:t>
            </a:r>
            <a:r>
              <a:rPr lang="en-US" altLang="zh-CN" baseline="-25000" dirty="0">
                <a:latin typeface="Arial" charset="0"/>
                <a:ea typeface="黑体" pitchFamily="2" charset="-122"/>
              </a:rPr>
              <a:t>0</a:t>
            </a:r>
            <a:r>
              <a:rPr lang="en-US" altLang="zh-CN" dirty="0">
                <a:latin typeface="Arial" charset="0"/>
                <a:ea typeface="黑体" pitchFamily="2" charset="-122"/>
              </a:rPr>
              <a:t>]=0, </a:t>
            </a:r>
            <a:r>
              <a:rPr lang="en-US" altLang="zh-CN" dirty="0" err="1">
                <a:latin typeface="Arial" charset="0"/>
                <a:ea typeface="黑体" pitchFamily="2" charset="-122"/>
              </a:rPr>
              <a:t>dist</a:t>
            </a:r>
            <a:r>
              <a:rPr lang="en-US" altLang="zh-CN" dirty="0">
                <a:latin typeface="Arial" charset="0"/>
                <a:ea typeface="黑体" pitchFamily="2" charset="-122"/>
              </a:rPr>
              <a:t>[i]=Edge[v</a:t>
            </a:r>
            <a:r>
              <a:rPr lang="en-US" altLang="zh-CN" baseline="-25000" dirty="0">
                <a:latin typeface="Arial" charset="0"/>
                <a:ea typeface="黑体" pitchFamily="2" charset="-122"/>
              </a:rPr>
              <a:t>0</a:t>
            </a:r>
            <a:r>
              <a:rPr lang="en-US" altLang="zh-CN" dirty="0">
                <a:latin typeface="Arial" charset="0"/>
                <a:ea typeface="黑体" pitchFamily="2" charset="-122"/>
              </a:rPr>
              <a:t>][i]</a:t>
            </a:r>
          </a:p>
          <a:p>
            <a:pPr lvl="1">
              <a:defRPr/>
            </a:pPr>
            <a:r>
              <a:rPr lang="zh-CN" altLang="en-US" dirty="0">
                <a:latin typeface="Arial" charset="0"/>
                <a:ea typeface="黑体" pitchFamily="2" charset="-122"/>
              </a:rPr>
              <a:t>找</a:t>
            </a:r>
            <a:r>
              <a:rPr lang="en-US" altLang="zh-CN" dirty="0">
                <a:latin typeface="Arial" charset="0"/>
                <a:ea typeface="黑体" pitchFamily="2" charset="-122"/>
              </a:rPr>
              <a:t>u</a:t>
            </a:r>
            <a:r>
              <a:rPr lang="zh-CN" altLang="en-US" dirty="0">
                <a:latin typeface="+mj-lt"/>
              </a:rPr>
              <a:t>∈</a:t>
            </a:r>
            <a:r>
              <a:rPr lang="en-US" altLang="zh-CN" dirty="0" err="1">
                <a:latin typeface="Arial" charset="0"/>
                <a:ea typeface="黑体" pitchFamily="2" charset="-122"/>
              </a:rPr>
              <a:t>S,v</a:t>
            </a:r>
            <a:r>
              <a:rPr lang="zh-CN" altLang="en-US" dirty="0">
                <a:latin typeface="Arial" charset="0"/>
                <a:ea typeface="黑体" pitchFamily="2" charset="-122"/>
              </a:rPr>
              <a:t>∉</a:t>
            </a:r>
            <a:r>
              <a:rPr lang="en-US" altLang="zh-CN" dirty="0">
                <a:latin typeface="Arial" charset="0"/>
                <a:ea typeface="黑体" pitchFamily="2" charset="-122"/>
              </a:rPr>
              <a:t>S,</a:t>
            </a:r>
            <a:r>
              <a:rPr lang="zh-CN" altLang="en-US" dirty="0">
                <a:latin typeface="Arial" charset="0"/>
                <a:ea typeface="黑体" pitchFamily="2" charset="-122"/>
              </a:rPr>
              <a:t>且</a:t>
            </a:r>
            <a:r>
              <a:rPr lang="en-US" altLang="zh-CN" dirty="0" err="1">
                <a:latin typeface="Arial" charset="0"/>
                <a:ea typeface="黑体" pitchFamily="2" charset="-122"/>
              </a:rPr>
              <a:t>dist</a:t>
            </a:r>
            <a:r>
              <a:rPr lang="en-US" altLang="zh-CN" dirty="0">
                <a:latin typeface="Arial" charset="0"/>
                <a:ea typeface="黑体" pitchFamily="2" charset="-122"/>
              </a:rPr>
              <a:t>[u]+Edge[u][v]</a:t>
            </a:r>
            <a:r>
              <a:rPr lang="zh-CN" altLang="en-US" dirty="0">
                <a:latin typeface="Arial" charset="0"/>
                <a:ea typeface="黑体" pitchFamily="2" charset="-122"/>
              </a:rPr>
              <a:t>最小</a:t>
            </a:r>
            <a:r>
              <a:rPr lang="en-US" altLang="zh-CN" dirty="0">
                <a:latin typeface="Arial" charset="0"/>
                <a:ea typeface="黑体" pitchFamily="2" charset="-122"/>
              </a:rPr>
              <a:t>, </a:t>
            </a:r>
            <a:r>
              <a:rPr lang="zh-CN" altLang="en-US" dirty="0">
                <a:latin typeface="Arial" charset="0"/>
                <a:ea typeface="黑体" pitchFamily="2" charset="-122"/>
              </a:rPr>
              <a:t>则将</a:t>
            </a:r>
            <a:r>
              <a:rPr lang="en-US" altLang="zh-CN" dirty="0">
                <a:latin typeface="Arial" charset="0"/>
                <a:ea typeface="黑体" pitchFamily="2" charset="-122"/>
              </a:rPr>
              <a:t>v</a:t>
            </a:r>
            <a:r>
              <a:rPr lang="zh-CN" altLang="en-US" dirty="0">
                <a:latin typeface="Arial" charset="0"/>
                <a:ea typeface="黑体" pitchFamily="2" charset="-122"/>
              </a:rPr>
              <a:t>加入</a:t>
            </a:r>
            <a:r>
              <a:rPr lang="en-US" altLang="zh-CN" dirty="0">
                <a:latin typeface="Arial" charset="0"/>
                <a:ea typeface="黑体" pitchFamily="2" charset="-122"/>
              </a:rPr>
              <a:t>S</a:t>
            </a:r>
            <a:r>
              <a:rPr lang="zh-CN" altLang="en-US" dirty="0">
                <a:latin typeface="Arial" charset="0"/>
                <a:ea typeface="黑体" pitchFamily="2" charset="-122"/>
              </a:rPr>
              <a:t>中，</a:t>
            </a:r>
            <a:r>
              <a:rPr lang="en-US" altLang="zh-CN" dirty="0" err="1">
                <a:latin typeface="Arial" charset="0"/>
                <a:ea typeface="黑体" pitchFamily="2" charset="-122"/>
              </a:rPr>
              <a:t>dist</a:t>
            </a:r>
            <a:r>
              <a:rPr lang="en-US" altLang="zh-CN" dirty="0">
                <a:latin typeface="Arial" charset="0"/>
                <a:ea typeface="黑体" pitchFamily="2" charset="-122"/>
              </a:rPr>
              <a:t>[v]=</a:t>
            </a:r>
            <a:r>
              <a:rPr lang="en-US" altLang="zh-CN" dirty="0" err="1">
                <a:latin typeface="Arial" charset="0"/>
                <a:ea typeface="黑体" pitchFamily="2" charset="-122"/>
              </a:rPr>
              <a:t>dist</a:t>
            </a:r>
            <a:r>
              <a:rPr lang="en-US" altLang="zh-CN" dirty="0">
                <a:latin typeface="Arial" charset="0"/>
                <a:ea typeface="黑体" pitchFamily="2" charset="-122"/>
              </a:rPr>
              <a:t>[u]+Edge[u][v]</a:t>
            </a:r>
          </a:p>
          <a:p>
            <a:pPr lvl="1">
              <a:defRPr/>
            </a:pPr>
            <a:r>
              <a:rPr lang="zh-CN" altLang="en-US" dirty="0">
                <a:latin typeface="Arial" charset="0"/>
                <a:ea typeface="黑体" pitchFamily="2" charset="-122"/>
              </a:rPr>
              <a:t>重复上一步骤，直到所有顶点都加入</a:t>
            </a:r>
            <a:r>
              <a:rPr lang="en-US" altLang="zh-CN" dirty="0">
                <a:latin typeface="Arial" charset="0"/>
                <a:ea typeface="黑体" pitchFamily="2" charset="-122"/>
              </a:rPr>
              <a:t>S</a:t>
            </a:r>
            <a:r>
              <a:rPr lang="zh-CN" altLang="en-US" dirty="0">
                <a:latin typeface="Arial" charset="0"/>
                <a:ea typeface="黑体" pitchFamily="2" charset="-122"/>
              </a:rPr>
              <a:t>中</a:t>
            </a:r>
            <a:endParaRPr lang="en-US" altLang="zh-CN" dirty="0">
              <a:latin typeface="Arial" charset="0"/>
              <a:ea typeface="黑体" pitchFamily="2" charset="-122"/>
            </a:endParaRPr>
          </a:p>
          <a:p>
            <a:pPr lvl="1">
              <a:defRPr/>
            </a:pPr>
            <a:endParaRPr lang="en-US" altLang="zh-CN" dirty="0">
              <a:latin typeface="Arial" charset="0"/>
              <a:ea typeface="黑体" pitchFamily="2" charset="-122"/>
            </a:endParaRPr>
          </a:p>
          <a:p>
            <a:pPr lvl="1">
              <a:defRPr/>
            </a:pPr>
            <a:endParaRPr lang="zh-CN" altLang="en-US" dirty="0">
              <a:latin typeface="Arial" charset="0"/>
              <a:ea typeface="黑体" pitchFamily="2" charset="-122"/>
            </a:endParaRPr>
          </a:p>
        </p:txBody>
      </p:sp>
      <p:sp>
        <p:nvSpPr>
          <p:cNvPr id="49156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B60BB098-A0D4-4134-8AC1-240295DD033A}" type="slidenum">
              <a:rPr lang="en-US" altLang="zh-CN" smtClean="0">
                <a:solidFill>
                  <a:srgbClr val="006600"/>
                </a:solidFill>
                <a:latin typeface="Courier New" pitchFamily="49" charset="0"/>
                <a:ea typeface="华文新魏" pitchFamily="2" charset="-122"/>
              </a:rPr>
              <a:pPr eaLnBrk="1" hangingPunct="1"/>
              <a:t>42</a:t>
            </a:fld>
            <a:endParaRPr lang="en-US" altLang="zh-CN">
              <a:solidFill>
                <a:srgbClr val="006600"/>
              </a:solidFill>
              <a:latin typeface="Courier New" pitchFamily="49" charset="0"/>
              <a:ea typeface="华文新魏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8247673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最短路径</a:t>
            </a:r>
          </a:p>
        </p:txBody>
      </p:sp>
      <p:sp>
        <p:nvSpPr>
          <p:cNvPr id="3076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>
                <a:latin typeface="Arial" charset="0"/>
                <a:ea typeface="黑体" pitchFamily="2" charset="-122"/>
              </a:rPr>
              <a:t>Dijkstra</a:t>
            </a:r>
            <a:r>
              <a:rPr lang="zh-CN" altLang="en-US">
                <a:latin typeface="Arial" charset="0"/>
                <a:ea typeface="黑体" pitchFamily="2" charset="-122"/>
              </a:rPr>
              <a:t>算法</a:t>
            </a:r>
            <a:r>
              <a:rPr lang="en-US" altLang="zh-CN">
                <a:latin typeface="Arial" charset="0"/>
                <a:ea typeface="黑体" pitchFamily="2" charset="-122"/>
              </a:rPr>
              <a:t>(</a:t>
            </a:r>
            <a:r>
              <a:rPr lang="zh-CN" altLang="en-US">
                <a:latin typeface="Arial" charset="0"/>
                <a:ea typeface="黑体" pitchFamily="2" charset="-122"/>
              </a:rPr>
              <a:t>不记录路径</a:t>
            </a:r>
            <a:r>
              <a:rPr lang="en-US" altLang="zh-CN">
                <a:latin typeface="Arial" charset="0"/>
                <a:ea typeface="黑体" pitchFamily="2" charset="-122"/>
              </a:rPr>
              <a:t>)</a:t>
            </a:r>
            <a:endParaRPr lang="zh-CN" altLang="en-US">
              <a:latin typeface="Arial" charset="0"/>
              <a:ea typeface="黑体" pitchFamily="2" charset="-122"/>
            </a:endParaRPr>
          </a:p>
        </p:txBody>
      </p:sp>
      <p:grpSp>
        <p:nvGrpSpPr>
          <p:cNvPr id="3077" name="组合 53"/>
          <p:cNvGrpSpPr>
            <a:grpSpLocks/>
          </p:cNvGrpSpPr>
          <p:nvPr/>
        </p:nvGrpSpPr>
        <p:grpSpPr bwMode="auto">
          <a:xfrm>
            <a:off x="488950" y="2024063"/>
            <a:ext cx="2205038" cy="2035175"/>
            <a:chOff x="4650202" y="4027773"/>
            <a:chExt cx="2204955" cy="2034745"/>
          </a:xfrm>
        </p:grpSpPr>
        <p:sp>
          <p:nvSpPr>
            <p:cNvPr id="3141" name="Text Box 21"/>
            <p:cNvSpPr txBox="1">
              <a:spLocks noChangeArrowheads="1"/>
            </p:cNvSpPr>
            <p:nvPr/>
          </p:nvSpPr>
          <p:spPr bwMode="auto">
            <a:xfrm>
              <a:off x="5000255" y="4206570"/>
              <a:ext cx="38985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1600" b="1">
                  <a:solidFill>
                    <a:srgbClr val="C00000"/>
                  </a:solidFill>
                  <a:latin typeface="Times New Roman" pitchFamily="18" charset="0"/>
                </a:rPr>
                <a:t>10</a:t>
              </a:r>
              <a:endParaRPr kumimoji="1" lang="en-US" altLang="zh-CN" sz="1600">
                <a:solidFill>
                  <a:srgbClr val="C00000"/>
                </a:solidFill>
                <a:latin typeface="Times New Roman" pitchFamily="18" charset="0"/>
              </a:endParaRPr>
            </a:p>
          </p:txBody>
        </p:sp>
        <p:sp>
          <p:nvSpPr>
            <p:cNvPr id="3142" name="椭圆 29"/>
            <p:cNvSpPr>
              <a:spLocks noChangeArrowheads="1"/>
            </p:cNvSpPr>
            <p:nvPr/>
          </p:nvSpPr>
          <p:spPr bwMode="auto">
            <a:xfrm>
              <a:off x="5580132" y="4027773"/>
              <a:ext cx="360000" cy="358959"/>
            </a:xfrm>
            <a:prstGeom prst="ellipse">
              <a:avLst/>
            </a:prstGeom>
            <a:noFill/>
            <a:ln w="13970">
              <a:solidFill>
                <a:schemeClr val="bg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8000" tIns="10800" rIns="18000" bIns="10800" anchor="ctr"/>
            <a:lstStyle/>
            <a:p>
              <a:pPr algn="ctr">
                <a:lnSpc>
                  <a:spcPct val="96000"/>
                </a:lnSpc>
              </a:pPr>
              <a:r>
                <a:rPr lang="en-US" altLang="zh-CN" sz="2000" b="1">
                  <a:solidFill>
                    <a:srgbClr val="000099"/>
                  </a:solidFill>
                  <a:ea typeface="黑体" pitchFamily="2" charset="-122"/>
                </a:rPr>
                <a:t>0</a:t>
              </a:r>
              <a:endParaRPr lang="zh-CN" altLang="en-US" sz="2000" b="1">
                <a:solidFill>
                  <a:srgbClr val="000099"/>
                </a:solidFill>
                <a:ea typeface="黑体" pitchFamily="2" charset="-122"/>
              </a:endParaRPr>
            </a:p>
          </p:txBody>
        </p:sp>
        <p:sp>
          <p:nvSpPr>
            <p:cNvPr id="3143" name="椭圆 30"/>
            <p:cNvSpPr>
              <a:spLocks noChangeArrowheads="1"/>
            </p:cNvSpPr>
            <p:nvPr/>
          </p:nvSpPr>
          <p:spPr bwMode="auto">
            <a:xfrm>
              <a:off x="4680092" y="4617132"/>
              <a:ext cx="360000" cy="358959"/>
            </a:xfrm>
            <a:prstGeom prst="ellipse">
              <a:avLst/>
            </a:prstGeom>
            <a:noFill/>
            <a:ln w="13970">
              <a:solidFill>
                <a:schemeClr val="bg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8000" tIns="10800" rIns="18000" bIns="10800" anchor="ctr"/>
            <a:lstStyle/>
            <a:p>
              <a:pPr algn="ctr">
                <a:lnSpc>
                  <a:spcPct val="96000"/>
                </a:lnSpc>
              </a:pPr>
              <a:r>
                <a:rPr lang="en-US" altLang="zh-CN" sz="2000" b="1">
                  <a:solidFill>
                    <a:srgbClr val="000099"/>
                  </a:solidFill>
                  <a:ea typeface="黑体" pitchFamily="2" charset="-122"/>
                </a:rPr>
                <a:t>1</a:t>
              </a:r>
              <a:endParaRPr lang="zh-CN" altLang="en-US" sz="2000" b="1">
                <a:solidFill>
                  <a:srgbClr val="000099"/>
                </a:solidFill>
                <a:ea typeface="黑体" pitchFamily="2" charset="-122"/>
              </a:endParaRPr>
            </a:p>
          </p:txBody>
        </p:sp>
        <p:sp>
          <p:nvSpPr>
            <p:cNvPr id="3144" name="椭圆 31"/>
            <p:cNvSpPr>
              <a:spLocks noChangeArrowheads="1"/>
            </p:cNvSpPr>
            <p:nvPr/>
          </p:nvSpPr>
          <p:spPr bwMode="auto">
            <a:xfrm>
              <a:off x="6480232" y="4617132"/>
              <a:ext cx="360000" cy="358959"/>
            </a:xfrm>
            <a:prstGeom prst="ellipse">
              <a:avLst/>
            </a:prstGeom>
            <a:noFill/>
            <a:ln w="13970">
              <a:solidFill>
                <a:schemeClr val="bg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8000" tIns="10800" rIns="18000" bIns="10800" anchor="ctr"/>
            <a:lstStyle/>
            <a:p>
              <a:pPr algn="ctr">
                <a:lnSpc>
                  <a:spcPct val="96000"/>
                </a:lnSpc>
              </a:pPr>
              <a:r>
                <a:rPr lang="en-US" altLang="zh-CN" sz="2000" b="1">
                  <a:solidFill>
                    <a:srgbClr val="000099"/>
                  </a:solidFill>
                  <a:ea typeface="黑体" pitchFamily="2" charset="-122"/>
                </a:rPr>
                <a:t>4</a:t>
              </a:r>
              <a:endParaRPr lang="zh-CN" altLang="en-US" sz="2000" b="1">
                <a:solidFill>
                  <a:srgbClr val="000099"/>
                </a:solidFill>
                <a:ea typeface="黑体" pitchFamily="2" charset="-122"/>
              </a:endParaRPr>
            </a:p>
          </p:txBody>
        </p:sp>
        <p:sp>
          <p:nvSpPr>
            <p:cNvPr id="3145" name="椭圆 32"/>
            <p:cNvSpPr>
              <a:spLocks noChangeArrowheads="1"/>
            </p:cNvSpPr>
            <p:nvPr/>
          </p:nvSpPr>
          <p:spPr bwMode="auto">
            <a:xfrm>
              <a:off x="5040092" y="5618138"/>
              <a:ext cx="360000" cy="358959"/>
            </a:xfrm>
            <a:prstGeom prst="ellipse">
              <a:avLst/>
            </a:prstGeom>
            <a:noFill/>
            <a:ln w="13970">
              <a:solidFill>
                <a:schemeClr val="bg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8000" tIns="10800" rIns="18000" bIns="10800" anchor="ctr"/>
            <a:lstStyle/>
            <a:p>
              <a:pPr algn="ctr">
                <a:lnSpc>
                  <a:spcPct val="96000"/>
                </a:lnSpc>
              </a:pPr>
              <a:r>
                <a:rPr lang="en-US" altLang="zh-CN" sz="2000" b="1">
                  <a:solidFill>
                    <a:srgbClr val="000099"/>
                  </a:solidFill>
                  <a:ea typeface="黑体" pitchFamily="2" charset="-122"/>
                </a:rPr>
                <a:t>2</a:t>
              </a:r>
              <a:endParaRPr lang="zh-CN" altLang="en-US" sz="2000" b="1">
                <a:solidFill>
                  <a:srgbClr val="000099"/>
                </a:solidFill>
                <a:ea typeface="黑体" pitchFamily="2" charset="-122"/>
              </a:endParaRPr>
            </a:p>
          </p:txBody>
        </p:sp>
        <p:sp>
          <p:nvSpPr>
            <p:cNvPr id="3146" name="椭圆 33"/>
            <p:cNvSpPr>
              <a:spLocks noChangeArrowheads="1"/>
            </p:cNvSpPr>
            <p:nvPr/>
          </p:nvSpPr>
          <p:spPr bwMode="auto">
            <a:xfrm>
              <a:off x="6156176" y="5618139"/>
              <a:ext cx="360000" cy="358959"/>
            </a:xfrm>
            <a:prstGeom prst="ellipse">
              <a:avLst/>
            </a:prstGeom>
            <a:noFill/>
            <a:ln w="13970">
              <a:solidFill>
                <a:schemeClr val="bg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8000" tIns="10800" rIns="18000" bIns="10800" anchor="ctr"/>
            <a:lstStyle/>
            <a:p>
              <a:pPr algn="ctr">
                <a:lnSpc>
                  <a:spcPct val="96000"/>
                </a:lnSpc>
              </a:pPr>
              <a:r>
                <a:rPr lang="en-US" altLang="zh-CN" sz="2000" b="1">
                  <a:solidFill>
                    <a:srgbClr val="000099"/>
                  </a:solidFill>
                  <a:ea typeface="黑体" pitchFamily="2" charset="-122"/>
                </a:rPr>
                <a:t>3</a:t>
              </a:r>
              <a:endParaRPr lang="zh-CN" altLang="en-US" sz="2000" b="1">
                <a:solidFill>
                  <a:srgbClr val="000099"/>
                </a:solidFill>
                <a:ea typeface="黑体" pitchFamily="2" charset="-122"/>
              </a:endParaRPr>
            </a:p>
          </p:txBody>
        </p:sp>
        <p:cxnSp>
          <p:nvCxnSpPr>
            <p:cNvPr id="4" name="直接箭头连接符 3"/>
            <p:cNvCxnSpPr>
              <a:stCxn id="3142" idx="6"/>
              <a:endCxn id="3144" idx="1"/>
            </p:cNvCxnSpPr>
            <p:nvPr/>
          </p:nvCxnSpPr>
          <p:spPr>
            <a:xfrm>
              <a:off x="5940791" y="4207122"/>
              <a:ext cx="592115" cy="461865"/>
            </a:xfrm>
            <a:prstGeom prst="straightConnector1">
              <a:avLst/>
            </a:prstGeom>
            <a:ln w="25400">
              <a:solidFill>
                <a:schemeClr val="bg2">
                  <a:lumMod val="40000"/>
                  <a:lumOff val="6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箭头连接符 35"/>
            <p:cNvCxnSpPr>
              <a:stCxn id="3142" idx="2"/>
              <a:endCxn id="3143" idx="7"/>
            </p:cNvCxnSpPr>
            <p:nvPr/>
          </p:nvCxnSpPr>
          <p:spPr>
            <a:xfrm flipH="1">
              <a:off x="4986739" y="4207122"/>
              <a:ext cx="593703" cy="461865"/>
            </a:xfrm>
            <a:prstGeom prst="straightConnector1">
              <a:avLst/>
            </a:prstGeom>
            <a:ln w="25400">
              <a:solidFill>
                <a:schemeClr val="bg2">
                  <a:lumMod val="40000"/>
                  <a:lumOff val="6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箭头连接符 37"/>
            <p:cNvCxnSpPr>
              <a:stCxn id="3143" idx="4"/>
              <a:endCxn id="3145" idx="1"/>
            </p:cNvCxnSpPr>
            <p:nvPr/>
          </p:nvCxnSpPr>
          <p:spPr>
            <a:xfrm>
              <a:off x="4859744" y="4975310"/>
              <a:ext cx="233354" cy="695178"/>
            </a:xfrm>
            <a:prstGeom prst="straightConnector1">
              <a:avLst/>
            </a:prstGeom>
            <a:ln w="25400">
              <a:solidFill>
                <a:schemeClr val="bg2">
                  <a:lumMod val="40000"/>
                  <a:lumOff val="6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箭头连接符 39"/>
            <p:cNvCxnSpPr>
              <a:stCxn id="3146" idx="7"/>
              <a:endCxn id="3144" idx="4"/>
            </p:cNvCxnSpPr>
            <p:nvPr/>
          </p:nvCxnSpPr>
          <p:spPr>
            <a:xfrm flipV="1">
              <a:off x="6463059" y="4975310"/>
              <a:ext cx="196843" cy="695178"/>
            </a:xfrm>
            <a:prstGeom prst="straightConnector1">
              <a:avLst/>
            </a:prstGeom>
            <a:ln w="25400">
              <a:solidFill>
                <a:schemeClr val="bg2">
                  <a:lumMod val="40000"/>
                  <a:lumOff val="6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箭头连接符 41"/>
            <p:cNvCxnSpPr>
              <a:stCxn id="3142" idx="4"/>
              <a:endCxn id="3146" idx="0"/>
            </p:cNvCxnSpPr>
            <p:nvPr/>
          </p:nvCxnSpPr>
          <p:spPr>
            <a:xfrm>
              <a:off x="5759823" y="4386472"/>
              <a:ext cx="576240" cy="1231640"/>
            </a:xfrm>
            <a:prstGeom prst="straightConnector1">
              <a:avLst/>
            </a:prstGeom>
            <a:ln w="25400">
              <a:solidFill>
                <a:schemeClr val="bg2">
                  <a:lumMod val="40000"/>
                  <a:lumOff val="6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箭头连接符 43"/>
            <p:cNvCxnSpPr>
              <a:stCxn id="3146" idx="2"/>
              <a:endCxn id="3145" idx="6"/>
            </p:cNvCxnSpPr>
            <p:nvPr/>
          </p:nvCxnSpPr>
          <p:spPr>
            <a:xfrm flipH="1" flipV="1">
              <a:off x="5399474" y="5797461"/>
              <a:ext cx="757209" cy="0"/>
            </a:xfrm>
            <a:prstGeom prst="straightConnector1">
              <a:avLst/>
            </a:prstGeom>
            <a:ln w="25400">
              <a:solidFill>
                <a:schemeClr val="bg2">
                  <a:lumMod val="40000"/>
                  <a:lumOff val="6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箭头连接符 46"/>
            <p:cNvCxnSpPr>
              <a:stCxn id="3145" idx="7"/>
              <a:endCxn id="3144" idx="3"/>
            </p:cNvCxnSpPr>
            <p:nvPr/>
          </p:nvCxnSpPr>
          <p:spPr>
            <a:xfrm flipV="1">
              <a:off x="5347089" y="4922934"/>
              <a:ext cx="1185817" cy="747554"/>
            </a:xfrm>
            <a:prstGeom prst="straightConnector1">
              <a:avLst/>
            </a:prstGeom>
            <a:ln w="25400">
              <a:solidFill>
                <a:schemeClr val="bg2">
                  <a:lumMod val="40000"/>
                  <a:lumOff val="6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54" name="Text Box 21"/>
            <p:cNvSpPr txBox="1">
              <a:spLocks noChangeArrowheads="1"/>
            </p:cNvSpPr>
            <p:nvPr/>
          </p:nvSpPr>
          <p:spPr bwMode="auto">
            <a:xfrm>
              <a:off x="4650202" y="5138732"/>
              <a:ext cx="38985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1600" b="1">
                  <a:solidFill>
                    <a:srgbClr val="C00000"/>
                  </a:solidFill>
                  <a:latin typeface="Times New Roman" pitchFamily="18" charset="0"/>
                </a:rPr>
                <a:t>50</a:t>
              </a:r>
              <a:endParaRPr kumimoji="1" lang="en-US" altLang="zh-CN" sz="1600">
                <a:solidFill>
                  <a:srgbClr val="C00000"/>
                </a:solidFill>
                <a:latin typeface="Times New Roman" pitchFamily="18" charset="0"/>
              </a:endParaRPr>
            </a:p>
          </p:txBody>
        </p:sp>
        <p:sp>
          <p:nvSpPr>
            <p:cNvPr id="3155" name="Text Box 21"/>
            <p:cNvSpPr txBox="1">
              <a:spLocks noChangeArrowheads="1"/>
            </p:cNvSpPr>
            <p:nvPr/>
          </p:nvSpPr>
          <p:spPr bwMode="auto">
            <a:xfrm>
              <a:off x="5580112" y="4545124"/>
              <a:ext cx="38985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1600" b="1">
                  <a:solidFill>
                    <a:srgbClr val="C00000"/>
                  </a:solidFill>
                  <a:latin typeface="Times New Roman" pitchFamily="18" charset="0"/>
                </a:rPr>
                <a:t>30</a:t>
              </a:r>
              <a:endParaRPr kumimoji="1" lang="en-US" altLang="zh-CN" sz="1600">
                <a:solidFill>
                  <a:srgbClr val="C00000"/>
                </a:solidFill>
                <a:latin typeface="Times New Roman" pitchFamily="18" charset="0"/>
              </a:endParaRPr>
            </a:p>
          </p:txBody>
        </p:sp>
        <p:sp>
          <p:nvSpPr>
            <p:cNvPr id="3156" name="Text Box 21"/>
            <p:cNvSpPr txBox="1">
              <a:spLocks noChangeArrowheads="1"/>
            </p:cNvSpPr>
            <p:nvPr/>
          </p:nvSpPr>
          <p:spPr bwMode="auto">
            <a:xfrm>
              <a:off x="5412916" y="5214682"/>
              <a:ext cx="38985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1600" b="1">
                  <a:solidFill>
                    <a:srgbClr val="C00000"/>
                  </a:solidFill>
                  <a:latin typeface="Times New Roman" pitchFamily="18" charset="0"/>
                </a:rPr>
                <a:t>10</a:t>
              </a:r>
              <a:endParaRPr kumimoji="1" lang="en-US" altLang="zh-CN" sz="1600">
                <a:solidFill>
                  <a:srgbClr val="C00000"/>
                </a:solidFill>
                <a:latin typeface="Times New Roman" pitchFamily="18" charset="0"/>
              </a:endParaRPr>
            </a:p>
          </p:txBody>
        </p:sp>
        <p:sp>
          <p:nvSpPr>
            <p:cNvPr id="3157" name="Text Box 21"/>
            <p:cNvSpPr txBox="1">
              <a:spLocks noChangeArrowheads="1"/>
            </p:cNvSpPr>
            <p:nvPr/>
          </p:nvSpPr>
          <p:spPr bwMode="auto">
            <a:xfrm>
              <a:off x="6076545" y="4149339"/>
              <a:ext cx="492443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1600" b="1">
                  <a:solidFill>
                    <a:srgbClr val="C00000"/>
                  </a:solidFill>
                  <a:latin typeface="Times New Roman" pitchFamily="18" charset="0"/>
                </a:rPr>
                <a:t>100</a:t>
              </a:r>
              <a:endParaRPr kumimoji="1" lang="en-US" altLang="zh-CN" sz="1600">
                <a:solidFill>
                  <a:srgbClr val="C00000"/>
                </a:solidFill>
                <a:latin typeface="Times New Roman" pitchFamily="18" charset="0"/>
              </a:endParaRPr>
            </a:p>
          </p:txBody>
        </p:sp>
        <p:sp>
          <p:nvSpPr>
            <p:cNvPr id="3158" name="Text Box 21"/>
            <p:cNvSpPr txBox="1">
              <a:spLocks noChangeArrowheads="1"/>
            </p:cNvSpPr>
            <p:nvPr/>
          </p:nvSpPr>
          <p:spPr bwMode="auto">
            <a:xfrm>
              <a:off x="6465307" y="5246198"/>
              <a:ext cx="38985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1600" b="1">
                  <a:solidFill>
                    <a:srgbClr val="C00000"/>
                  </a:solidFill>
                  <a:latin typeface="Times New Roman" pitchFamily="18" charset="0"/>
                </a:rPr>
                <a:t>60</a:t>
              </a:r>
              <a:endParaRPr kumimoji="1" lang="en-US" altLang="zh-CN" sz="1600">
                <a:solidFill>
                  <a:srgbClr val="C00000"/>
                </a:solidFill>
                <a:latin typeface="Times New Roman" pitchFamily="18" charset="0"/>
              </a:endParaRPr>
            </a:p>
          </p:txBody>
        </p:sp>
        <p:sp>
          <p:nvSpPr>
            <p:cNvPr id="3159" name="Text Box 21"/>
            <p:cNvSpPr txBox="1">
              <a:spLocks noChangeArrowheads="1"/>
            </p:cNvSpPr>
            <p:nvPr/>
          </p:nvSpPr>
          <p:spPr bwMode="auto">
            <a:xfrm>
              <a:off x="5671144" y="5723964"/>
              <a:ext cx="38985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1600" b="1">
                  <a:solidFill>
                    <a:srgbClr val="C00000"/>
                  </a:solidFill>
                  <a:latin typeface="Times New Roman" pitchFamily="18" charset="0"/>
                </a:rPr>
                <a:t>20</a:t>
              </a:r>
              <a:endParaRPr kumimoji="1" lang="en-US" altLang="zh-CN" sz="1600">
                <a:solidFill>
                  <a:srgbClr val="C00000"/>
                </a:solidFill>
                <a:latin typeface="Times New Roman" pitchFamily="18" charset="0"/>
              </a:endParaRPr>
            </a:p>
          </p:txBody>
        </p:sp>
      </p:grpSp>
      <p:graphicFrame>
        <p:nvGraphicFramePr>
          <p:cNvPr id="3074" name="对象 1"/>
          <p:cNvGraphicFramePr>
            <a:graphicFrameLocks noChangeAspect="1"/>
          </p:cNvGraphicFramePr>
          <p:nvPr/>
        </p:nvGraphicFramePr>
        <p:xfrm>
          <a:off x="5795963" y="549275"/>
          <a:ext cx="3195637" cy="1535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771532" imgH="838080" progId="Equation.3">
                  <p:embed/>
                </p:oleObj>
              </mc:Choice>
              <mc:Fallback>
                <p:oleObj name="公式" r:id="rId2" imgW="1771532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5963" y="549275"/>
                        <a:ext cx="3195637" cy="1535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8" name="TextBox 2"/>
          <p:cNvSpPr txBox="1">
            <a:spLocks noChangeArrowheads="1"/>
          </p:cNvSpPr>
          <p:nvPr/>
        </p:nvSpPr>
        <p:spPr bwMode="auto">
          <a:xfrm>
            <a:off x="1281113" y="4059238"/>
            <a:ext cx="6492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zh-CN" altLang="en-US" b="1">
                <a:solidFill>
                  <a:srgbClr val="000099"/>
                </a:solidFill>
                <a:ea typeface="黑体" pitchFamily="2" charset="-122"/>
              </a:rPr>
              <a:t>原图</a:t>
            </a:r>
          </a:p>
        </p:txBody>
      </p:sp>
      <p:cxnSp>
        <p:nvCxnSpPr>
          <p:cNvPr id="146" name="直接箭头连接符 145"/>
          <p:cNvCxnSpPr/>
          <p:nvPr/>
        </p:nvCxnSpPr>
        <p:spPr>
          <a:xfrm rot="5400000">
            <a:off x="821531" y="4304507"/>
            <a:ext cx="4454525" cy="1588"/>
          </a:xfrm>
          <a:prstGeom prst="straightConnector1">
            <a:avLst/>
          </a:prstGeom>
          <a:ln w="25400">
            <a:solidFill>
              <a:srgbClr val="006600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接箭头连接符 146"/>
          <p:cNvCxnSpPr/>
          <p:nvPr/>
        </p:nvCxnSpPr>
        <p:spPr>
          <a:xfrm rot="5400000">
            <a:off x="3479800" y="4322763"/>
            <a:ext cx="4491037" cy="1588"/>
          </a:xfrm>
          <a:prstGeom prst="straightConnector1">
            <a:avLst/>
          </a:prstGeom>
          <a:ln w="25400">
            <a:solidFill>
              <a:srgbClr val="006600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接箭头连接符 148"/>
          <p:cNvCxnSpPr/>
          <p:nvPr/>
        </p:nvCxnSpPr>
        <p:spPr>
          <a:xfrm>
            <a:off x="215900" y="4364038"/>
            <a:ext cx="8951913" cy="36512"/>
          </a:xfrm>
          <a:prstGeom prst="straightConnector1">
            <a:avLst/>
          </a:prstGeom>
          <a:ln w="25400">
            <a:solidFill>
              <a:srgbClr val="006600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13"/>
          <p:cNvGrpSpPr>
            <a:grpSpLocks/>
          </p:cNvGrpSpPr>
          <p:nvPr/>
        </p:nvGrpSpPr>
        <p:grpSpPr bwMode="auto">
          <a:xfrm>
            <a:off x="4349750" y="2154238"/>
            <a:ext cx="806450" cy="409575"/>
            <a:chOff x="4349802" y="2154342"/>
            <a:chExt cx="807404" cy="410562"/>
          </a:xfrm>
        </p:grpSpPr>
        <p:sp>
          <p:nvSpPr>
            <p:cNvPr id="3139" name="椭圆 27"/>
            <p:cNvSpPr>
              <a:spLocks noChangeArrowheads="1"/>
            </p:cNvSpPr>
            <p:nvPr/>
          </p:nvSpPr>
          <p:spPr bwMode="auto">
            <a:xfrm>
              <a:off x="4349802" y="2205945"/>
              <a:ext cx="360000" cy="358959"/>
            </a:xfrm>
            <a:prstGeom prst="ellipse">
              <a:avLst/>
            </a:prstGeom>
            <a:noFill/>
            <a:ln w="13970">
              <a:solidFill>
                <a:schemeClr val="bg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8000" tIns="10800" rIns="18000" bIns="10800" anchor="ctr"/>
            <a:lstStyle/>
            <a:p>
              <a:pPr algn="ctr">
                <a:lnSpc>
                  <a:spcPct val="96000"/>
                </a:lnSpc>
              </a:pPr>
              <a:r>
                <a:rPr lang="en-US" altLang="zh-CN" sz="2000" b="1">
                  <a:solidFill>
                    <a:srgbClr val="000099"/>
                  </a:solidFill>
                  <a:ea typeface="黑体" pitchFamily="2" charset="-122"/>
                </a:rPr>
                <a:t>0</a:t>
              </a:r>
              <a:endParaRPr lang="zh-CN" altLang="en-US" sz="2000" b="1">
                <a:solidFill>
                  <a:srgbClr val="000099"/>
                </a:solidFill>
                <a:ea typeface="黑体" pitchFamily="2" charset="-122"/>
              </a:endParaRPr>
            </a:p>
          </p:txBody>
        </p:sp>
        <p:sp>
          <p:nvSpPr>
            <p:cNvPr id="3140" name="TextBox 9"/>
            <p:cNvSpPr txBox="1">
              <a:spLocks noChangeArrowheads="1"/>
            </p:cNvSpPr>
            <p:nvPr/>
          </p:nvSpPr>
          <p:spPr bwMode="auto">
            <a:xfrm>
              <a:off x="4613181" y="2154342"/>
              <a:ext cx="544025" cy="338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buFont typeface="Wingdings" pitchFamily="2" charset="2"/>
                <a:buNone/>
              </a:pPr>
              <a:r>
                <a:rPr lang="en-US" altLang="zh-CN" sz="1600" b="1">
                  <a:solidFill>
                    <a:srgbClr val="000099"/>
                  </a:solidFill>
                  <a:ea typeface="黑体" pitchFamily="2" charset="-122"/>
                </a:rPr>
                <a:t>d=0</a:t>
              </a:r>
              <a:endParaRPr lang="zh-CN" altLang="en-US" sz="1600" b="1">
                <a:solidFill>
                  <a:srgbClr val="000099"/>
                </a:solidFill>
                <a:ea typeface="黑体" pitchFamily="2" charset="-122"/>
              </a:endParaRPr>
            </a:p>
          </p:txBody>
        </p:sp>
      </p:grpSp>
      <p:grpSp>
        <p:nvGrpSpPr>
          <p:cNvPr id="5" name="组合 14"/>
          <p:cNvGrpSpPr>
            <a:grpSpLocks/>
          </p:cNvGrpSpPr>
          <p:nvPr/>
        </p:nvGrpSpPr>
        <p:grpSpPr bwMode="auto">
          <a:xfrm>
            <a:off x="6110288" y="2143125"/>
            <a:ext cx="1965325" cy="1249363"/>
            <a:chOff x="6111050" y="2143278"/>
            <a:chExt cx="1965242" cy="1249834"/>
          </a:xfrm>
        </p:grpSpPr>
        <p:grpSp>
          <p:nvGrpSpPr>
            <p:cNvPr id="3132" name="组合 63"/>
            <p:cNvGrpSpPr>
              <a:grpSpLocks/>
            </p:cNvGrpSpPr>
            <p:nvPr/>
          </p:nvGrpSpPr>
          <p:grpSpPr bwMode="auto">
            <a:xfrm>
              <a:off x="6366086" y="2192650"/>
              <a:ext cx="1260040" cy="948318"/>
              <a:chOff x="4680092" y="4027773"/>
              <a:chExt cx="1260040" cy="948318"/>
            </a:xfrm>
          </p:grpSpPr>
          <p:sp>
            <p:nvSpPr>
              <p:cNvPr id="3135" name="Text Box 21"/>
              <p:cNvSpPr txBox="1">
                <a:spLocks noChangeArrowheads="1"/>
              </p:cNvSpPr>
              <p:nvPr/>
            </p:nvSpPr>
            <p:spPr bwMode="auto">
              <a:xfrm>
                <a:off x="5000255" y="4206570"/>
                <a:ext cx="389850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sz="1600" b="1">
                    <a:solidFill>
                      <a:srgbClr val="C00000"/>
                    </a:solidFill>
                    <a:latin typeface="Times New Roman" pitchFamily="18" charset="0"/>
                  </a:rPr>
                  <a:t>10</a:t>
                </a:r>
                <a:endParaRPr kumimoji="1" lang="en-US" altLang="zh-CN" sz="1600">
                  <a:solidFill>
                    <a:srgbClr val="C0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3136" name="椭圆 65"/>
              <p:cNvSpPr>
                <a:spLocks noChangeArrowheads="1"/>
              </p:cNvSpPr>
              <p:nvPr/>
            </p:nvSpPr>
            <p:spPr bwMode="auto">
              <a:xfrm>
                <a:off x="5580132" y="4027773"/>
                <a:ext cx="360000" cy="358959"/>
              </a:xfrm>
              <a:prstGeom prst="ellipse">
                <a:avLst/>
              </a:prstGeom>
              <a:noFill/>
              <a:ln w="13970">
                <a:solidFill>
                  <a:schemeClr val="bg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8000" tIns="10800" rIns="18000" bIns="10800" anchor="ctr"/>
              <a:lstStyle/>
              <a:p>
                <a:pPr algn="ctr">
                  <a:lnSpc>
                    <a:spcPct val="96000"/>
                  </a:lnSpc>
                </a:pPr>
                <a:r>
                  <a:rPr lang="en-US" altLang="zh-CN" sz="2000" b="1">
                    <a:solidFill>
                      <a:srgbClr val="000099"/>
                    </a:solidFill>
                    <a:ea typeface="黑体" pitchFamily="2" charset="-122"/>
                  </a:rPr>
                  <a:t>0</a:t>
                </a:r>
                <a:endParaRPr lang="zh-CN" altLang="en-US" sz="2000" b="1">
                  <a:solidFill>
                    <a:srgbClr val="000099"/>
                  </a:solidFill>
                  <a:ea typeface="黑体" pitchFamily="2" charset="-122"/>
                </a:endParaRPr>
              </a:p>
            </p:txBody>
          </p:sp>
          <p:sp>
            <p:nvSpPr>
              <p:cNvPr id="3137" name="椭圆 66"/>
              <p:cNvSpPr>
                <a:spLocks noChangeArrowheads="1"/>
              </p:cNvSpPr>
              <p:nvPr/>
            </p:nvSpPr>
            <p:spPr bwMode="auto">
              <a:xfrm>
                <a:off x="4680092" y="4617132"/>
                <a:ext cx="360000" cy="358959"/>
              </a:xfrm>
              <a:prstGeom prst="ellipse">
                <a:avLst/>
              </a:prstGeom>
              <a:noFill/>
              <a:ln w="13970">
                <a:solidFill>
                  <a:schemeClr val="bg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8000" tIns="10800" rIns="18000" bIns="10800" anchor="ctr"/>
              <a:lstStyle/>
              <a:p>
                <a:pPr algn="ctr">
                  <a:lnSpc>
                    <a:spcPct val="96000"/>
                  </a:lnSpc>
                </a:pPr>
                <a:r>
                  <a:rPr lang="en-US" altLang="zh-CN" sz="2000" b="1">
                    <a:solidFill>
                      <a:srgbClr val="000099"/>
                    </a:solidFill>
                    <a:ea typeface="黑体" pitchFamily="2" charset="-122"/>
                  </a:rPr>
                  <a:t>1</a:t>
                </a:r>
                <a:endParaRPr lang="zh-CN" altLang="en-US" sz="2000" b="1">
                  <a:solidFill>
                    <a:srgbClr val="000099"/>
                  </a:solidFill>
                  <a:ea typeface="黑体" pitchFamily="2" charset="-122"/>
                </a:endParaRPr>
              </a:p>
            </p:txBody>
          </p:sp>
          <p:cxnSp>
            <p:nvCxnSpPr>
              <p:cNvPr id="72" name="直接箭头连接符 71"/>
              <p:cNvCxnSpPr>
                <a:stCxn id="3136" idx="2"/>
                <a:endCxn id="3137" idx="7"/>
              </p:cNvCxnSpPr>
              <p:nvPr/>
            </p:nvCxnSpPr>
            <p:spPr>
              <a:xfrm flipH="1">
                <a:off x="4987007" y="4207088"/>
                <a:ext cx="592112" cy="462137"/>
              </a:xfrm>
              <a:prstGeom prst="straightConnector1">
                <a:avLst/>
              </a:prstGeom>
              <a:ln w="25400">
                <a:solidFill>
                  <a:schemeClr val="bg2">
                    <a:lumMod val="40000"/>
                    <a:lumOff val="60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133" name="TextBox 152"/>
            <p:cNvSpPr txBox="1">
              <a:spLocks noChangeArrowheads="1"/>
            </p:cNvSpPr>
            <p:nvPr/>
          </p:nvSpPr>
          <p:spPr bwMode="auto">
            <a:xfrm>
              <a:off x="7532583" y="2143278"/>
              <a:ext cx="543709" cy="3386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buFont typeface="Wingdings" pitchFamily="2" charset="2"/>
                <a:buNone/>
              </a:pPr>
              <a:r>
                <a:rPr lang="en-US" altLang="zh-CN" sz="1600" b="1">
                  <a:solidFill>
                    <a:srgbClr val="000099"/>
                  </a:solidFill>
                  <a:ea typeface="黑体" pitchFamily="2" charset="-122"/>
                </a:rPr>
                <a:t>d=0</a:t>
              </a:r>
              <a:endParaRPr lang="zh-CN" altLang="en-US" sz="1600" b="1">
                <a:solidFill>
                  <a:srgbClr val="000099"/>
                </a:solidFill>
                <a:ea typeface="黑体" pitchFamily="2" charset="-122"/>
              </a:endParaRPr>
            </a:p>
          </p:txBody>
        </p:sp>
        <p:sp>
          <p:nvSpPr>
            <p:cNvPr id="3134" name="TextBox 153"/>
            <p:cNvSpPr txBox="1">
              <a:spLocks noChangeArrowheads="1"/>
            </p:cNvSpPr>
            <p:nvPr/>
          </p:nvSpPr>
          <p:spPr bwMode="auto">
            <a:xfrm>
              <a:off x="6111050" y="3054442"/>
              <a:ext cx="657516" cy="3386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buFont typeface="Wingdings" pitchFamily="2" charset="2"/>
                <a:buNone/>
              </a:pPr>
              <a:r>
                <a:rPr lang="en-US" altLang="zh-CN" sz="1600" b="1">
                  <a:solidFill>
                    <a:srgbClr val="000099"/>
                  </a:solidFill>
                  <a:ea typeface="黑体" pitchFamily="2" charset="-122"/>
                </a:rPr>
                <a:t>d=10</a:t>
              </a:r>
              <a:endParaRPr lang="zh-CN" altLang="en-US" sz="1600" b="1">
                <a:solidFill>
                  <a:srgbClr val="000099"/>
                </a:solidFill>
                <a:ea typeface="黑体" pitchFamily="2" charset="-122"/>
              </a:endParaRPr>
            </a:p>
          </p:txBody>
        </p:sp>
      </p:grpSp>
      <p:grpSp>
        <p:nvGrpSpPr>
          <p:cNvPr id="7" name="组合 12"/>
          <p:cNvGrpSpPr>
            <a:grpSpLocks/>
          </p:cNvGrpSpPr>
          <p:nvPr/>
        </p:nvGrpSpPr>
        <p:grpSpPr bwMode="auto">
          <a:xfrm>
            <a:off x="242888" y="4473575"/>
            <a:ext cx="2133600" cy="2232025"/>
            <a:chOff x="242397" y="4473116"/>
            <a:chExt cx="2133981" cy="2232300"/>
          </a:xfrm>
        </p:grpSpPr>
        <p:sp>
          <p:nvSpPr>
            <p:cNvPr id="3122" name="TextBox 154"/>
            <p:cNvSpPr txBox="1">
              <a:spLocks noChangeArrowheads="1"/>
            </p:cNvSpPr>
            <p:nvPr/>
          </p:nvSpPr>
          <p:spPr bwMode="auto">
            <a:xfrm>
              <a:off x="1691680" y="4473116"/>
              <a:ext cx="543958" cy="3386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buFont typeface="Wingdings" pitchFamily="2" charset="2"/>
                <a:buNone/>
              </a:pPr>
              <a:r>
                <a:rPr lang="en-US" altLang="zh-CN" sz="1600" b="1">
                  <a:solidFill>
                    <a:srgbClr val="000099"/>
                  </a:solidFill>
                  <a:ea typeface="黑体" pitchFamily="2" charset="-122"/>
                </a:rPr>
                <a:t>d=0</a:t>
              </a:r>
              <a:endParaRPr lang="zh-CN" altLang="en-US" sz="1600" b="1">
                <a:solidFill>
                  <a:srgbClr val="000099"/>
                </a:solidFill>
                <a:ea typeface="黑体" pitchFamily="2" charset="-122"/>
              </a:endParaRPr>
            </a:p>
          </p:txBody>
        </p:sp>
        <p:sp>
          <p:nvSpPr>
            <p:cNvPr id="3123" name="TextBox 155"/>
            <p:cNvSpPr txBox="1">
              <a:spLocks noChangeArrowheads="1"/>
            </p:cNvSpPr>
            <p:nvPr/>
          </p:nvSpPr>
          <p:spPr bwMode="auto">
            <a:xfrm>
              <a:off x="242397" y="5358698"/>
              <a:ext cx="657817" cy="3386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buFont typeface="Wingdings" pitchFamily="2" charset="2"/>
                <a:buNone/>
              </a:pPr>
              <a:r>
                <a:rPr lang="en-US" altLang="zh-CN" sz="1600" b="1">
                  <a:solidFill>
                    <a:srgbClr val="000099"/>
                  </a:solidFill>
                  <a:ea typeface="黑体" pitchFamily="2" charset="-122"/>
                </a:rPr>
                <a:t>d=10</a:t>
              </a:r>
              <a:endParaRPr lang="zh-CN" altLang="en-US" sz="1600" b="1">
                <a:solidFill>
                  <a:srgbClr val="000099"/>
                </a:solidFill>
                <a:ea typeface="黑体" pitchFamily="2" charset="-122"/>
              </a:endParaRPr>
            </a:p>
          </p:txBody>
        </p:sp>
        <p:sp>
          <p:nvSpPr>
            <p:cNvPr id="3124" name="Text Box 21"/>
            <p:cNvSpPr txBox="1">
              <a:spLocks noChangeArrowheads="1"/>
            </p:cNvSpPr>
            <p:nvPr/>
          </p:nvSpPr>
          <p:spPr bwMode="auto">
            <a:xfrm>
              <a:off x="838914" y="4687917"/>
              <a:ext cx="38985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1600" b="1">
                  <a:solidFill>
                    <a:srgbClr val="C00000"/>
                  </a:solidFill>
                  <a:latin typeface="Times New Roman" pitchFamily="18" charset="0"/>
                </a:rPr>
                <a:t>10</a:t>
              </a:r>
              <a:endParaRPr kumimoji="1" lang="en-US" altLang="zh-CN" sz="1600">
                <a:solidFill>
                  <a:srgbClr val="C00000"/>
                </a:solidFill>
                <a:latin typeface="Times New Roman" pitchFamily="18" charset="0"/>
              </a:endParaRPr>
            </a:p>
          </p:txBody>
        </p:sp>
        <p:sp>
          <p:nvSpPr>
            <p:cNvPr id="3125" name="椭圆 85"/>
            <p:cNvSpPr>
              <a:spLocks noChangeArrowheads="1"/>
            </p:cNvSpPr>
            <p:nvPr/>
          </p:nvSpPr>
          <p:spPr bwMode="auto">
            <a:xfrm>
              <a:off x="1418791" y="4509120"/>
              <a:ext cx="360000" cy="358959"/>
            </a:xfrm>
            <a:prstGeom prst="ellipse">
              <a:avLst/>
            </a:prstGeom>
            <a:noFill/>
            <a:ln w="13970">
              <a:solidFill>
                <a:schemeClr val="bg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8000" tIns="10800" rIns="18000" bIns="10800" anchor="ctr"/>
            <a:lstStyle/>
            <a:p>
              <a:pPr algn="ctr">
                <a:lnSpc>
                  <a:spcPct val="96000"/>
                </a:lnSpc>
              </a:pPr>
              <a:r>
                <a:rPr lang="en-US" altLang="zh-CN" sz="2000" b="1">
                  <a:solidFill>
                    <a:srgbClr val="000099"/>
                  </a:solidFill>
                  <a:ea typeface="黑体" pitchFamily="2" charset="-122"/>
                </a:rPr>
                <a:t>0</a:t>
              </a:r>
              <a:endParaRPr lang="zh-CN" altLang="en-US" sz="2000" b="1">
                <a:solidFill>
                  <a:srgbClr val="000099"/>
                </a:solidFill>
                <a:ea typeface="黑体" pitchFamily="2" charset="-122"/>
              </a:endParaRPr>
            </a:p>
          </p:txBody>
        </p:sp>
        <p:sp>
          <p:nvSpPr>
            <p:cNvPr id="3126" name="椭圆 86"/>
            <p:cNvSpPr>
              <a:spLocks noChangeArrowheads="1"/>
            </p:cNvSpPr>
            <p:nvPr/>
          </p:nvSpPr>
          <p:spPr bwMode="auto">
            <a:xfrm>
              <a:off x="518751" y="5098479"/>
              <a:ext cx="360000" cy="358959"/>
            </a:xfrm>
            <a:prstGeom prst="ellipse">
              <a:avLst/>
            </a:prstGeom>
            <a:noFill/>
            <a:ln w="13970">
              <a:solidFill>
                <a:schemeClr val="bg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8000" tIns="10800" rIns="18000" bIns="10800" anchor="ctr"/>
            <a:lstStyle/>
            <a:p>
              <a:pPr algn="ctr">
                <a:lnSpc>
                  <a:spcPct val="96000"/>
                </a:lnSpc>
              </a:pPr>
              <a:r>
                <a:rPr lang="en-US" altLang="zh-CN" sz="2000" b="1">
                  <a:solidFill>
                    <a:srgbClr val="000099"/>
                  </a:solidFill>
                  <a:ea typeface="黑体" pitchFamily="2" charset="-122"/>
                </a:rPr>
                <a:t>1</a:t>
              </a:r>
              <a:endParaRPr lang="zh-CN" altLang="en-US" sz="2000" b="1">
                <a:solidFill>
                  <a:srgbClr val="000099"/>
                </a:solidFill>
                <a:ea typeface="黑体" pitchFamily="2" charset="-122"/>
              </a:endParaRPr>
            </a:p>
          </p:txBody>
        </p:sp>
        <p:cxnSp>
          <p:nvCxnSpPr>
            <p:cNvPr id="92" name="直接箭头连接符 91"/>
            <p:cNvCxnSpPr>
              <a:stCxn id="3125" idx="2"/>
              <a:endCxn id="3126" idx="7"/>
            </p:cNvCxnSpPr>
            <p:nvPr/>
          </p:nvCxnSpPr>
          <p:spPr>
            <a:xfrm flipH="1">
              <a:off x="825113" y="4689043"/>
              <a:ext cx="593831" cy="462020"/>
            </a:xfrm>
            <a:prstGeom prst="straightConnector1">
              <a:avLst/>
            </a:prstGeom>
            <a:ln w="25400">
              <a:solidFill>
                <a:schemeClr val="bg2">
                  <a:lumMod val="40000"/>
                  <a:lumOff val="6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箭头连接符 94"/>
            <p:cNvCxnSpPr>
              <a:stCxn id="3125" idx="4"/>
              <a:endCxn id="3130" idx="0"/>
            </p:cNvCxnSpPr>
            <p:nvPr/>
          </p:nvCxnSpPr>
          <p:spPr>
            <a:xfrm>
              <a:off x="1598364" y="4868453"/>
              <a:ext cx="560487" cy="1227288"/>
            </a:xfrm>
            <a:prstGeom prst="straightConnector1">
              <a:avLst/>
            </a:prstGeom>
            <a:ln w="25400">
              <a:solidFill>
                <a:schemeClr val="bg2">
                  <a:lumMod val="40000"/>
                  <a:lumOff val="6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29" name="Text Box 21"/>
            <p:cNvSpPr txBox="1">
              <a:spLocks noChangeArrowheads="1"/>
            </p:cNvSpPr>
            <p:nvPr/>
          </p:nvSpPr>
          <p:spPr bwMode="auto">
            <a:xfrm>
              <a:off x="1418771" y="5026471"/>
              <a:ext cx="38985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1600" b="1">
                  <a:solidFill>
                    <a:srgbClr val="C00000"/>
                  </a:solidFill>
                  <a:latin typeface="Times New Roman" pitchFamily="18" charset="0"/>
                </a:rPr>
                <a:t>30</a:t>
              </a:r>
              <a:endParaRPr kumimoji="1" lang="en-US" altLang="zh-CN" sz="1600">
                <a:solidFill>
                  <a:srgbClr val="C00000"/>
                </a:solidFill>
                <a:latin typeface="Times New Roman" pitchFamily="18" charset="0"/>
              </a:endParaRPr>
            </a:p>
          </p:txBody>
        </p:sp>
        <p:sp>
          <p:nvSpPr>
            <p:cNvPr id="3130" name="椭圆 156"/>
            <p:cNvSpPr>
              <a:spLocks noChangeArrowheads="1"/>
            </p:cNvSpPr>
            <p:nvPr/>
          </p:nvSpPr>
          <p:spPr bwMode="auto">
            <a:xfrm>
              <a:off x="1979712" y="6095455"/>
              <a:ext cx="360000" cy="358959"/>
            </a:xfrm>
            <a:prstGeom prst="ellipse">
              <a:avLst/>
            </a:prstGeom>
            <a:noFill/>
            <a:ln w="13970">
              <a:solidFill>
                <a:schemeClr val="bg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8000" tIns="10800" rIns="18000" bIns="10800" anchor="ctr"/>
            <a:lstStyle/>
            <a:p>
              <a:pPr algn="ctr">
                <a:lnSpc>
                  <a:spcPct val="96000"/>
                </a:lnSpc>
              </a:pPr>
              <a:r>
                <a:rPr lang="en-US" altLang="zh-CN" sz="2000" b="1">
                  <a:solidFill>
                    <a:srgbClr val="000099"/>
                  </a:solidFill>
                  <a:ea typeface="黑体" pitchFamily="2" charset="-122"/>
                </a:rPr>
                <a:t>3</a:t>
              </a:r>
              <a:endParaRPr lang="zh-CN" altLang="en-US" sz="2000" b="1">
                <a:solidFill>
                  <a:srgbClr val="000099"/>
                </a:solidFill>
                <a:ea typeface="黑体" pitchFamily="2" charset="-122"/>
              </a:endParaRPr>
            </a:p>
          </p:txBody>
        </p:sp>
        <p:sp>
          <p:nvSpPr>
            <p:cNvPr id="3131" name="TextBox 158"/>
            <p:cNvSpPr txBox="1">
              <a:spLocks noChangeArrowheads="1"/>
            </p:cNvSpPr>
            <p:nvPr/>
          </p:nvSpPr>
          <p:spPr bwMode="auto">
            <a:xfrm>
              <a:off x="1718561" y="6366810"/>
              <a:ext cx="657817" cy="3386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buFont typeface="Wingdings" pitchFamily="2" charset="2"/>
                <a:buNone/>
              </a:pPr>
              <a:r>
                <a:rPr lang="en-US" altLang="zh-CN" sz="1600" b="1">
                  <a:solidFill>
                    <a:srgbClr val="000099"/>
                  </a:solidFill>
                  <a:ea typeface="黑体" pitchFamily="2" charset="-122"/>
                </a:rPr>
                <a:t>d=30</a:t>
              </a:r>
              <a:endParaRPr lang="zh-CN" altLang="en-US" sz="1600" b="1">
                <a:solidFill>
                  <a:srgbClr val="000099"/>
                </a:solidFill>
                <a:ea typeface="黑体" pitchFamily="2" charset="-122"/>
              </a:endParaRPr>
            </a:p>
          </p:txBody>
        </p:sp>
      </p:grpSp>
      <p:grpSp>
        <p:nvGrpSpPr>
          <p:cNvPr id="8" name="组合 17"/>
          <p:cNvGrpSpPr>
            <a:grpSpLocks/>
          </p:cNvGrpSpPr>
          <p:nvPr/>
        </p:nvGrpSpPr>
        <p:grpSpPr bwMode="auto">
          <a:xfrm>
            <a:off x="3159125" y="4476750"/>
            <a:ext cx="2241550" cy="2228850"/>
            <a:chOff x="3158721" y="4476129"/>
            <a:chExt cx="2241998" cy="2229309"/>
          </a:xfrm>
        </p:grpSpPr>
        <p:sp>
          <p:nvSpPr>
            <p:cNvPr id="3106" name="TextBox 161"/>
            <p:cNvSpPr txBox="1">
              <a:spLocks noChangeArrowheads="1"/>
            </p:cNvSpPr>
            <p:nvPr/>
          </p:nvSpPr>
          <p:spPr bwMode="auto">
            <a:xfrm>
              <a:off x="4742897" y="6366810"/>
              <a:ext cx="657822" cy="338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buFont typeface="Wingdings" pitchFamily="2" charset="2"/>
                <a:buNone/>
              </a:pPr>
              <a:r>
                <a:rPr lang="en-US" altLang="zh-CN" sz="1600" b="1">
                  <a:solidFill>
                    <a:srgbClr val="000099"/>
                  </a:solidFill>
                  <a:ea typeface="黑体" pitchFamily="2" charset="-122"/>
                </a:rPr>
                <a:t>d=30</a:t>
              </a:r>
              <a:endParaRPr lang="zh-CN" altLang="en-US" sz="1600" b="1">
                <a:solidFill>
                  <a:srgbClr val="000099"/>
                </a:solidFill>
                <a:ea typeface="黑体" pitchFamily="2" charset="-122"/>
              </a:endParaRPr>
            </a:p>
          </p:txBody>
        </p:sp>
        <p:grpSp>
          <p:nvGrpSpPr>
            <p:cNvPr id="3107" name="组合 16"/>
            <p:cNvGrpSpPr>
              <a:grpSpLocks/>
            </p:cNvGrpSpPr>
            <p:nvPr/>
          </p:nvGrpSpPr>
          <p:grpSpPr bwMode="auto">
            <a:xfrm>
              <a:off x="3158721" y="4476129"/>
              <a:ext cx="2127125" cy="2229309"/>
              <a:chOff x="3158721" y="4476129"/>
              <a:chExt cx="2127125" cy="2229309"/>
            </a:xfrm>
          </p:grpSpPr>
          <p:grpSp>
            <p:nvGrpSpPr>
              <p:cNvPr id="3108" name="组合 103"/>
              <p:cNvGrpSpPr>
                <a:grpSpLocks/>
              </p:cNvGrpSpPr>
              <p:nvPr/>
            </p:nvGrpSpPr>
            <p:grpSpPr bwMode="auto">
              <a:xfrm>
                <a:off x="3449762" y="4509120"/>
                <a:ext cx="1836084" cy="2034745"/>
                <a:chOff x="4680092" y="4027773"/>
                <a:chExt cx="1836084" cy="2034745"/>
              </a:xfrm>
            </p:grpSpPr>
            <p:sp>
              <p:nvSpPr>
                <p:cNvPr id="3113" name="Text Box 21"/>
                <p:cNvSpPr txBox="1">
                  <a:spLocks noChangeArrowheads="1"/>
                </p:cNvSpPr>
                <p:nvPr/>
              </p:nvSpPr>
              <p:spPr bwMode="auto">
                <a:xfrm>
                  <a:off x="5000255" y="4206570"/>
                  <a:ext cx="389850" cy="33855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9pPr>
                </a:lstStyle>
                <a:p>
                  <a:pPr algn="ctr" eaLnBrk="1" hangingPunct="1"/>
                  <a:r>
                    <a:rPr kumimoji="1" lang="en-US" altLang="zh-CN" sz="1600" b="1">
                      <a:solidFill>
                        <a:srgbClr val="C00000"/>
                      </a:solidFill>
                      <a:latin typeface="Times New Roman" pitchFamily="18" charset="0"/>
                    </a:rPr>
                    <a:t>10</a:t>
                  </a:r>
                  <a:endParaRPr kumimoji="1" lang="en-US" altLang="zh-CN" sz="1600">
                    <a:solidFill>
                      <a:srgbClr val="C00000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3114" name="椭圆 105"/>
                <p:cNvSpPr>
                  <a:spLocks noChangeArrowheads="1"/>
                </p:cNvSpPr>
                <p:nvPr/>
              </p:nvSpPr>
              <p:spPr bwMode="auto">
                <a:xfrm>
                  <a:off x="5580132" y="4027773"/>
                  <a:ext cx="360000" cy="358959"/>
                </a:xfrm>
                <a:prstGeom prst="ellipse">
                  <a:avLst/>
                </a:prstGeom>
                <a:noFill/>
                <a:ln w="13970">
                  <a:solidFill>
                    <a:schemeClr val="bg2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18000" tIns="10800" rIns="18000" bIns="10800" anchor="ctr"/>
                <a:lstStyle/>
                <a:p>
                  <a:pPr algn="ctr">
                    <a:lnSpc>
                      <a:spcPct val="96000"/>
                    </a:lnSpc>
                  </a:pPr>
                  <a:r>
                    <a:rPr lang="en-US" altLang="zh-CN" sz="2000" b="1">
                      <a:solidFill>
                        <a:srgbClr val="000099"/>
                      </a:solidFill>
                      <a:ea typeface="黑体" pitchFamily="2" charset="-122"/>
                    </a:rPr>
                    <a:t>0</a:t>
                  </a:r>
                  <a:endParaRPr lang="zh-CN" altLang="en-US" sz="2000" b="1">
                    <a:solidFill>
                      <a:srgbClr val="000099"/>
                    </a:solidFill>
                    <a:ea typeface="黑体" pitchFamily="2" charset="-122"/>
                  </a:endParaRPr>
                </a:p>
              </p:txBody>
            </p:sp>
            <p:sp>
              <p:nvSpPr>
                <p:cNvPr id="3115" name="椭圆 106"/>
                <p:cNvSpPr>
                  <a:spLocks noChangeArrowheads="1"/>
                </p:cNvSpPr>
                <p:nvPr/>
              </p:nvSpPr>
              <p:spPr bwMode="auto">
                <a:xfrm>
                  <a:off x="4680092" y="4617132"/>
                  <a:ext cx="360000" cy="358959"/>
                </a:xfrm>
                <a:prstGeom prst="ellipse">
                  <a:avLst/>
                </a:prstGeom>
                <a:noFill/>
                <a:ln w="13970">
                  <a:solidFill>
                    <a:schemeClr val="bg2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18000" tIns="10800" rIns="18000" bIns="10800" anchor="ctr"/>
                <a:lstStyle/>
                <a:p>
                  <a:pPr algn="ctr">
                    <a:lnSpc>
                      <a:spcPct val="96000"/>
                    </a:lnSpc>
                  </a:pPr>
                  <a:r>
                    <a:rPr lang="en-US" altLang="zh-CN" sz="2000" b="1">
                      <a:solidFill>
                        <a:srgbClr val="000099"/>
                      </a:solidFill>
                      <a:ea typeface="黑体" pitchFamily="2" charset="-122"/>
                    </a:rPr>
                    <a:t>1</a:t>
                  </a:r>
                  <a:endParaRPr lang="zh-CN" altLang="en-US" sz="2000" b="1">
                    <a:solidFill>
                      <a:srgbClr val="000099"/>
                    </a:solidFill>
                    <a:ea typeface="黑体" pitchFamily="2" charset="-122"/>
                  </a:endParaRPr>
                </a:p>
              </p:txBody>
            </p:sp>
            <p:sp>
              <p:nvSpPr>
                <p:cNvPr id="3116" name="椭圆 108"/>
                <p:cNvSpPr>
                  <a:spLocks noChangeArrowheads="1"/>
                </p:cNvSpPr>
                <p:nvPr/>
              </p:nvSpPr>
              <p:spPr bwMode="auto">
                <a:xfrm>
                  <a:off x="5040092" y="5618138"/>
                  <a:ext cx="360000" cy="358959"/>
                </a:xfrm>
                <a:prstGeom prst="ellipse">
                  <a:avLst/>
                </a:prstGeom>
                <a:noFill/>
                <a:ln w="13970">
                  <a:solidFill>
                    <a:schemeClr val="bg2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18000" tIns="10800" rIns="18000" bIns="10800" anchor="ctr"/>
                <a:lstStyle/>
                <a:p>
                  <a:pPr algn="ctr">
                    <a:lnSpc>
                      <a:spcPct val="96000"/>
                    </a:lnSpc>
                  </a:pPr>
                  <a:r>
                    <a:rPr lang="en-US" altLang="zh-CN" sz="2000" b="1">
                      <a:solidFill>
                        <a:srgbClr val="000099"/>
                      </a:solidFill>
                      <a:ea typeface="黑体" pitchFamily="2" charset="-122"/>
                    </a:rPr>
                    <a:t>2</a:t>
                  </a:r>
                  <a:endParaRPr lang="zh-CN" altLang="en-US" sz="2000" b="1">
                    <a:solidFill>
                      <a:srgbClr val="000099"/>
                    </a:solidFill>
                    <a:ea typeface="黑体" pitchFamily="2" charset="-122"/>
                  </a:endParaRPr>
                </a:p>
              </p:txBody>
            </p:sp>
            <p:sp>
              <p:nvSpPr>
                <p:cNvPr id="3117" name="椭圆 109"/>
                <p:cNvSpPr>
                  <a:spLocks noChangeArrowheads="1"/>
                </p:cNvSpPr>
                <p:nvPr/>
              </p:nvSpPr>
              <p:spPr bwMode="auto">
                <a:xfrm>
                  <a:off x="6156176" y="5618139"/>
                  <a:ext cx="360000" cy="358959"/>
                </a:xfrm>
                <a:prstGeom prst="ellipse">
                  <a:avLst/>
                </a:prstGeom>
                <a:noFill/>
                <a:ln w="13970">
                  <a:solidFill>
                    <a:schemeClr val="bg2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18000" tIns="10800" rIns="18000" bIns="10800" anchor="ctr"/>
                <a:lstStyle/>
                <a:p>
                  <a:pPr algn="ctr">
                    <a:lnSpc>
                      <a:spcPct val="96000"/>
                    </a:lnSpc>
                  </a:pPr>
                  <a:r>
                    <a:rPr lang="en-US" altLang="zh-CN" sz="2000" b="1">
                      <a:solidFill>
                        <a:srgbClr val="000099"/>
                      </a:solidFill>
                      <a:ea typeface="黑体" pitchFamily="2" charset="-122"/>
                    </a:rPr>
                    <a:t>3</a:t>
                  </a:r>
                  <a:endParaRPr lang="zh-CN" altLang="en-US" sz="2000" b="1">
                    <a:solidFill>
                      <a:srgbClr val="000099"/>
                    </a:solidFill>
                    <a:ea typeface="黑体" pitchFamily="2" charset="-122"/>
                  </a:endParaRPr>
                </a:p>
              </p:txBody>
            </p:sp>
            <p:cxnSp>
              <p:nvCxnSpPr>
                <p:cNvPr id="112" name="直接箭头连接符 111"/>
                <p:cNvCxnSpPr>
                  <a:stCxn id="3114" idx="2"/>
                  <a:endCxn id="3115" idx="7"/>
                </p:cNvCxnSpPr>
                <p:nvPr/>
              </p:nvCxnSpPr>
              <p:spPr>
                <a:xfrm flipH="1">
                  <a:off x="4986070" y="4207551"/>
                  <a:ext cx="593844" cy="462058"/>
                </a:xfrm>
                <a:prstGeom prst="straightConnector1">
                  <a:avLst/>
                </a:prstGeom>
                <a:ln w="25400">
                  <a:solidFill>
                    <a:schemeClr val="bg2">
                      <a:lumMod val="40000"/>
                      <a:lumOff val="60000"/>
                    </a:schemeClr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5" name="直接箭头连接符 114"/>
                <p:cNvCxnSpPr>
                  <a:stCxn id="3114" idx="4"/>
                  <a:endCxn id="3117" idx="0"/>
                </p:cNvCxnSpPr>
                <p:nvPr/>
              </p:nvCxnSpPr>
              <p:spPr>
                <a:xfrm>
                  <a:off x="5759338" y="4386976"/>
                  <a:ext cx="577966" cy="1230565"/>
                </a:xfrm>
                <a:prstGeom prst="straightConnector1">
                  <a:avLst/>
                </a:prstGeom>
                <a:ln w="25400">
                  <a:solidFill>
                    <a:schemeClr val="bg2">
                      <a:lumMod val="40000"/>
                      <a:lumOff val="60000"/>
                    </a:schemeClr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6" name="直接箭头连接符 115"/>
                <p:cNvCxnSpPr>
                  <a:stCxn id="3117" idx="2"/>
                  <a:endCxn id="3116" idx="6"/>
                </p:cNvCxnSpPr>
                <p:nvPr/>
              </p:nvCxnSpPr>
              <p:spPr>
                <a:xfrm flipH="1" flipV="1">
                  <a:off x="5398903" y="5796966"/>
                  <a:ext cx="755801" cy="0"/>
                </a:xfrm>
                <a:prstGeom prst="straightConnector1">
                  <a:avLst/>
                </a:prstGeom>
                <a:ln w="25400">
                  <a:solidFill>
                    <a:schemeClr val="bg2">
                      <a:lumMod val="40000"/>
                      <a:lumOff val="60000"/>
                    </a:schemeClr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121" name="Text Box 21"/>
                <p:cNvSpPr txBox="1">
                  <a:spLocks noChangeArrowheads="1"/>
                </p:cNvSpPr>
                <p:nvPr/>
              </p:nvSpPr>
              <p:spPr bwMode="auto">
                <a:xfrm>
                  <a:off x="5671144" y="5723964"/>
                  <a:ext cx="389850" cy="33855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9pPr>
                </a:lstStyle>
                <a:p>
                  <a:pPr algn="ctr" eaLnBrk="1" hangingPunct="1"/>
                  <a:r>
                    <a:rPr kumimoji="1" lang="en-US" altLang="zh-CN" sz="1600" b="1">
                      <a:solidFill>
                        <a:srgbClr val="C00000"/>
                      </a:solidFill>
                      <a:latin typeface="Times New Roman" pitchFamily="18" charset="0"/>
                    </a:rPr>
                    <a:t>20</a:t>
                  </a:r>
                  <a:endParaRPr kumimoji="1" lang="en-US" altLang="zh-CN" sz="1600">
                    <a:solidFill>
                      <a:srgbClr val="C00000"/>
                    </a:solidFill>
                    <a:latin typeface="Times New Roman" pitchFamily="18" charset="0"/>
                  </a:endParaRPr>
                </a:p>
              </p:txBody>
            </p:sp>
          </p:grpSp>
          <p:sp>
            <p:nvSpPr>
              <p:cNvPr id="3109" name="TextBox 159"/>
              <p:cNvSpPr txBox="1">
                <a:spLocks noChangeArrowheads="1"/>
              </p:cNvSpPr>
              <p:nvPr/>
            </p:nvSpPr>
            <p:spPr bwMode="auto">
              <a:xfrm>
                <a:off x="4605550" y="4476129"/>
                <a:ext cx="543963" cy="3386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Font typeface="Wingdings" pitchFamily="2" charset="2"/>
                  <a:buNone/>
                </a:pPr>
                <a:r>
                  <a:rPr lang="en-US" altLang="zh-CN" sz="1600" b="1">
                    <a:solidFill>
                      <a:srgbClr val="000099"/>
                    </a:solidFill>
                    <a:ea typeface="黑体" pitchFamily="2" charset="-122"/>
                  </a:rPr>
                  <a:t>d=0</a:t>
                </a:r>
                <a:endParaRPr lang="zh-CN" altLang="en-US" sz="1600" b="1">
                  <a:solidFill>
                    <a:srgbClr val="000099"/>
                  </a:solidFill>
                  <a:ea typeface="黑体" pitchFamily="2" charset="-122"/>
                </a:endParaRPr>
              </a:p>
            </p:txBody>
          </p:sp>
          <p:sp>
            <p:nvSpPr>
              <p:cNvPr id="3110" name="TextBox 160"/>
              <p:cNvSpPr txBox="1">
                <a:spLocks noChangeArrowheads="1"/>
              </p:cNvSpPr>
              <p:nvPr/>
            </p:nvSpPr>
            <p:spPr bwMode="auto">
              <a:xfrm>
                <a:off x="3158721" y="5358698"/>
                <a:ext cx="657822" cy="3386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Font typeface="Wingdings" pitchFamily="2" charset="2"/>
                  <a:buNone/>
                </a:pPr>
                <a:r>
                  <a:rPr lang="en-US" altLang="zh-CN" sz="1600" b="1">
                    <a:solidFill>
                      <a:srgbClr val="000099"/>
                    </a:solidFill>
                    <a:ea typeface="黑体" pitchFamily="2" charset="-122"/>
                  </a:rPr>
                  <a:t>d=10</a:t>
                </a:r>
                <a:endParaRPr lang="zh-CN" altLang="en-US" sz="1600" b="1">
                  <a:solidFill>
                    <a:srgbClr val="000099"/>
                  </a:solidFill>
                  <a:ea typeface="黑体" pitchFamily="2" charset="-122"/>
                </a:endParaRPr>
              </a:p>
            </p:txBody>
          </p:sp>
          <p:sp>
            <p:nvSpPr>
              <p:cNvPr id="3111" name="Text Box 21"/>
              <p:cNvSpPr txBox="1">
                <a:spLocks noChangeArrowheads="1"/>
              </p:cNvSpPr>
              <p:nvPr/>
            </p:nvSpPr>
            <p:spPr bwMode="auto">
              <a:xfrm>
                <a:off x="4355976" y="5026471"/>
                <a:ext cx="389850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sz="1600" b="1">
                    <a:solidFill>
                      <a:srgbClr val="C00000"/>
                    </a:solidFill>
                    <a:latin typeface="Times New Roman" pitchFamily="18" charset="0"/>
                  </a:rPr>
                  <a:t>30</a:t>
                </a:r>
                <a:endParaRPr kumimoji="1" lang="en-US" altLang="zh-CN" sz="1600">
                  <a:solidFill>
                    <a:srgbClr val="C0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3112" name="TextBox 163"/>
              <p:cNvSpPr txBox="1">
                <a:spLocks noChangeArrowheads="1"/>
              </p:cNvSpPr>
              <p:nvPr/>
            </p:nvSpPr>
            <p:spPr bwMode="auto">
              <a:xfrm>
                <a:off x="3563888" y="6366810"/>
                <a:ext cx="657822" cy="3386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Font typeface="Wingdings" pitchFamily="2" charset="2"/>
                  <a:buNone/>
                </a:pPr>
                <a:r>
                  <a:rPr lang="en-US" altLang="zh-CN" sz="1600" b="1">
                    <a:solidFill>
                      <a:srgbClr val="000099"/>
                    </a:solidFill>
                    <a:ea typeface="黑体" pitchFamily="2" charset="-122"/>
                  </a:rPr>
                  <a:t>d=50</a:t>
                </a:r>
                <a:endParaRPr lang="zh-CN" altLang="en-US" sz="1600" b="1">
                  <a:solidFill>
                    <a:srgbClr val="000099"/>
                  </a:solidFill>
                  <a:ea typeface="黑体" pitchFamily="2" charset="-122"/>
                </a:endParaRPr>
              </a:p>
            </p:txBody>
          </p:sp>
        </p:grpSp>
      </p:grpSp>
      <p:grpSp>
        <p:nvGrpSpPr>
          <p:cNvPr id="11" name="组合 15"/>
          <p:cNvGrpSpPr>
            <a:grpSpLocks/>
          </p:cNvGrpSpPr>
          <p:nvPr/>
        </p:nvGrpSpPr>
        <p:grpSpPr bwMode="auto">
          <a:xfrm>
            <a:off x="6084888" y="4476750"/>
            <a:ext cx="2741612" cy="2228850"/>
            <a:chOff x="6084168" y="4476129"/>
            <a:chExt cx="2741238" cy="2229309"/>
          </a:xfrm>
        </p:grpSpPr>
        <p:grpSp>
          <p:nvGrpSpPr>
            <p:cNvPr id="3087" name="组合 123"/>
            <p:cNvGrpSpPr>
              <a:grpSpLocks/>
            </p:cNvGrpSpPr>
            <p:nvPr/>
          </p:nvGrpSpPr>
          <p:grpSpPr bwMode="auto">
            <a:xfrm>
              <a:off x="6366086" y="4509120"/>
              <a:ext cx="2160140" cy="2034745"/>
              <a:chOff x="4680092" y="4027773"/>
              <a:chExt cx="2160140" cy="2034745"/>
            </a:xfrm>
          </p:grpSpPr>
          <p:sp>
            <p:nvSpPr>
              <p:cNvPr id="3093" name="Text Box 21"/>
              <p:cNvSpPr txBox="1">
                <a:spLocks noChangeArrowheads="1"/>
              </p:cNvSpPr>
              <p:nvPr/>
            </p:nvSpPr>
            <p:spPr bwMode="auto">
              <a:xfrm>
                <a:off x="5000255" y="4206570"/>
                <a:ext cx="389850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sz="1600" b="1">
                    <a:solidFill>
                      <a:srgbClr val="C00000"/>
                    </a:solidFill>
                    <a:latin typeface="Times New Roman" pitchFamily="18" charset="0"/>
                  </a:rPr>
                  <a:t>10</a:t>
                </a:r>
                <a:endParaRPr kumimoji="1" lang="en-US" altLang="zh-CN" sz="1600">
                  <a:solidFill>
                    <a:srgbClr val="C0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3094" name="椭圆 125"/>
              <p:cNvSpPr>
                <a:spLocks noChangeArrowheads="1"/>
              </p:cNvSpPr>
              <p:nvPr/>
            </p:nvSpPr>
            <p:spPr bwMode="auto">
              <a:xfrm>
                <a:off x="5580132" y="4027773"/>
                <a:ext cx="360000" cy="358959"/>
              </a:xfrm>
              <a:prstGeom prst="ellipse">
                <a:avLst/>
              </a:prstGeom>
              <a:noFill/>
              <a:ln w="13970">
                <a:solidFill>
                  <a:schemeClr val="bg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8000" tIns="10800" rIns="18000" bIns="10800" anchor="ctr"/>
              <a:lstStyle/>
              <a:p>
                <a:pPr algn="ctr">
                  <a:lnSpc>
                    <a:spcPct val="96000"/>
                  </a:lnSpc>
                </a:pPr>
                <a:r>
                  <a:rPr lang="en-US" altLang="zh-CN" sz="2000" b="1">
                    <a:solidFill>
                      <a:srgbClr val="000099"/>
                    </a:solidFill>
                    <a:ea typeface="黑体" pitchFamily="2" charset="-122"/>
                  </a:rPr>
                  <a:t>0</a:t>
                </a:r>
                <a:endParaRPr lang="zh-CN" altLang="en-US" sz="2000" b="1">
                  <a:solidFill>
                    <a:srgbClr val="000099"/>
                  </a:solidFill>
                  <a:ea typeface="黑体" pitchFamily="2" charset="-122"/>
                </a:endParaRPr>
              </a:p>
            </p:txBody>
          </p:sp>
          <p:sp>
            <p:nvSpPr>
              <p:cNvPr id="3095" name="椭圆 126"/>
              <p:cNvSpPr>
                <a:spLocks noChangeArrowheads="1"/>
              </p:cNvSpPr>
              <p:nvPr/>
            </p:nvSpPr>
            <p:spPr bwMode="auto">
              <a:xfrm>
                <a:off x="4680092" y="4617132"/>
                <a:ext cx="360000" cy="358959"/>
              </a:xfrm>
              <a:prstGeom prst="ellipse">
                <a:avLst/>
              </a:prstGeom>
              <a:noFill/>
              <a:ln w="13970">
                <a:solidFill>
                  <a:schemeClr val="bg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8000" tIns="10800" rIns="18000" bIns="10800" anchor="ctr"/>
              <a:lstStyle/>
              <a:p>
                <a:pPr algn="ctr">
                  <a:lnSpc>
                    <a:spcPct val="96000"/>
                  </a:lnSpc>
                </a:pPr>
                <a:r>
                  <a:rPr lang="en-US" altLang="zh-CN" sz="2000" b="1">
                    <a:solidFill>
                      <a:srgbClr val="000099"/>
                    </a:solidFill>
                    <a:ea typeface="黑体" pitchFamily="2" charset="-122"/>
                  </a:rPr>
                  <a:t>1</a:t>
                </a:r>
                <a:endParaRPr lang="zh-CN" altLang="en-US" sz="2000" b="1">
                  <a:solidFill>
                    <a:srgbClr val="000099"/>
                  </a:solidFill>
                  <a:ea typeface="黑体" pitchFamily="2" charset="-122"/>
                </a:endParaRPr>
              </a:p>
            </p:txBody>
          </p:sp>
          <p:sp>
            <p:nvSpPr>
              <p:cNvPr id="3096" name="椭圆 127"/>
              <p:cNvSpPr>
                <a:spLocks noChangeArrowheads="1"/>
              </p:cNvSpPr>
              <p:nvPr/>
            </p:nvSpPr>
            <p:spPr bwMode="auto">
              <a:xfrm>
                <a:off x="6480232" y="4617132"/>
                <a:ext cx="360000" cy="358959"/>
              </a:xfrm>
              <a:prstGeom prst="ellipse">
                <a:avLst/>
              </a:prstGeom>
              <a:noFill/>
              <a:ln w="13970">
                <a:solidFill>
                  <a:schemeClr val="bg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8000" tIns="10800" rIns="18000" bIns="10800" anchor="ctr"/>
              <a:lstStyle/>
              <a:p>
                <a:pPr algn="ctr">
                  <a:lnSpc>
                    <a:spcPct val="96000"/>
                  </a:lnSpc>
                </a:pPr>
                <a:r>
                  <a:rPr lang="en-US" altLang="zh-CN" sz="2000" b="1">
                    <a:solidFill>
                      <a:srgbClr val="000099"/>
                    </a:solidFill>
                    <a:ea typeface="黑体" pitchFamily="2" charset="-122"/>
                  </a:rPr>
                  <a:t>4</a:t>
                </a:r>
                <a:endParaRPr lang="zh-CN" altLang="en-US" sz="2000" b="1">
                  <a:solidFill>
                    <a:srgbClr val="000099"/>
                  </a:solidFill>
                  <a:ea typeface="黑体" pitchFamily="2" charset="-122"/>
                </a:endParaRPr>
              </a:p>
            </p:txBody>
          </p:sp>
          <p:sp>
            <p:nvSpPr>
              <p:cNvPr id="3097" name="椭圆 128"/>
              <p:cNvSpPr>
                <a:spLocks noChangeArrowheads="1"/>
              </p:cNvSpPr>
              <p:nvPr/>
            </p:nvSpPr>
            <p:spPr bwMode="auto">
              <a:xfrm>
                <a:off x="5040092" y="5618138"/>
                <a:ext cx="360000" cy="358959"/>
              </a:xfrm>
              <a:prstGeom prst="ellipse">
                <a:avLst/>
              </a:prstGeom>
              <a:noFill/>
              <a:ln w="13970">
                <a:solidFill>
                  <a:schemeClr val="bg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8000" tIns="10800" rIns="18000" bIns="10800" anchor="ctr"/>
              <a:lstStyle/>
              <a:p>
                <a:pPr algn="ctr">
                  <a:lnSpc>
                    <a:spcPct val="96000"/>
                  </a:lnSpc>
                </a:pPr>
                <a:r>
                  <a:rPr lang="en-US" altLang="zh-CN" sz="2000" b="1">
                    <a:solidFill>
                      <a:srgbClr val="000099"/>
                    </a:solidFill>
                    <a:ea typeface="黑体" pitchFamily="2" charset="-122"/>
                  </a:rPr>
                  <a:t>2</a:t>
                </a:r>
                <a:endParaRPr lang="zh-CN" altLang="en-US" sz="2000" b="1">
                  <a:solidFill>
                    <a:srgbClr val="000099"/>
                  </a:solidFill>
                  <a:ea typeface="黑体" pitchFamily="2" charset="-122"/>
                </a:endParaRPr>
              </a:p>
            </p:txBody>
          </p:sp>
          <p:sp>
            <p:nvSpPr>
              <p:cNvPr id="3098" name="椭圆 129"/>
              <p:cNvSpPr>
                <a:spLocks noChangeArrowheads="1"/>
              </p:cNvSpPr>
              <p:nvPr/>
            </p:nvSpPr>
            <p:spPr bwMode="auto">
              <a:xfrm>
                <a:off x="6156176" y="5618139"/>
                <a:ext cx="360000" cy="358959"/>
              </a:xfrm>
              <a:prstGeom prst="ellipse">
                <a:avLst/>
              </a:prstGeom>
              <a:noFill/>
              <a:ln w="13970">
                <a:solidFill>
                  <a:schemeClr val="bg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8000" tIns="10800" rIns="18000" bIns="10800" anchor="ctr"/>
              <a:lstStyle/>
              <a:p>
                <a:pPr algn="ctr">
                  <a:lnSpc>
                    <a:spcPct val="96000"/>
                  </a:lnSpc>
                </a:pPr>
                <a:r>
                  <a:rPr lang="en-US" altLang="zh-CN" sz="2000" b="1">
                    <a:solidFill>
                      <a:srgbClr val="000099"/>
                    </a:solidFill>
                    <a:ea typeface="黑体" pitchFamily="2" charset="-122"/>
                  </a:rPr>
                  <a:t>3</a:t>
                </a:r>
                <a:endParaRPr lang="zh-CN" altLang="en-US" sz="2000" b="1">
                  <a:solidFill>
                    <a:srgbClr val="000099"/>
                  </a:solidFill>
                  <a:ea typeface="黑体" pitchFamily="2" charset="-122"/>
                </a:endParaRPr>
              </a:p>
            </p:txBody>
          </p:sp>
          <p:cxnSp>
            <p:nvCxnSpPr>
              <p:cNvPr id="132" name="直接箭头连接符 131"/>
              <p:cNvCxnSpPr>
                <a:stCxn id="3094" idx="2"/>
                <a:endCxn id="3095" idx="7"/>
              </p:cNvCxnSpPr>
              <p:nvPr/>
            </p:nvCxnSpPr>
            <p:spPr>
              <a:xfrm flipH="1">
                <a:off x="4988644" y="4207551"/>
                <a:ext cx="593644" cy="462058"/>
              </a:xfrm>
              <a:prstGeom prst="straightConnector1">
                <a:avLst/>
              </a:prstGeom>
              <a:ln w="25400">
                <a:solidFill>
                  <a:schemeClr val="bg2">
                    <a:lumMod val="40000"/>
                    <a:lumOff val="60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直接箭头连接符 134"/>
              <p:cNvCxnSpPr>
                <a:stCxn id="3094" idx="4"/>
                <a:endCxn id="3098" idx="0"/>
              </p:cNvCxnSpPr>
              <p:nvPr/>
            </p:nvCxnSpPr>
            <p:spPr>
              <a:xfrm>
                <a:off x="5761650" y="4386976"/>
                <a:ext cx="576184" cy="1230565"/>
              </a:xfrm>
              <a:prstGeom prst="straightConnector1">
                <a:avLst/>
              </a:prstGeom>
              <a:ln w="25400">
                <a:solidFill>
                  <a:schemeClr val="bg2">
                    <a:lumMod val="40000"/>
                    <a:lumOff val="60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直接箭头连接符 135"/>
              <p:cNvCxnSpPr>
                <a:stCxn id="3098" idx="2"/>
                <a:endCxn id="3097" idx="6"/>
              </p:cNvCxnSpPr>
              <p:nvPr/>
            </p:nvCxnSpPr>
            <p:spPr>
              <a:xfrm flipH="1" flipV="1">
                <a:off x="5401338" y="5796966"/>
                <a:ext cx="755547" cy="0"/>
              </a:xfrm>
              <a:prstGeom prst="straightConnector1">
                <a:avLst/>
              </a:prstGeom>
              <a:ln w="25400">
                <a:solidFill>
                  <a:schemeClr val="bg2">
                    <a:lumMod val="40000"/>
                    <a:lumOff val="60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直接箭头连接符 136"/>
              <p:cNvCxnSpPr>
                <a:stCxn id="3097" idx="7"/>
                <a:endCxn id="3096" idx="3"/>
              </p:cNvCxnSpPr>
              <p:nvPr/>
            </p:nvCxnSpPr>
            <p:spPr>
              <a:xfrm flipV="1">
                <a:off x="5348957" y="4923661"/>
                <a:ext cx="1185701" cy="746279"/>
              </a:xfrm>
              <a:prstGeom prst="straightConnector1">
                <a:avLst/>
              </a:prstGeom>
              <a:ln w="25400">
                <a:solidFill>
                  <a:schemeClr val="bg2">
                    <a:lumMod val="40000"/>
                    <a:lumOff val="60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03" name="Text Box 21"/>
              <p:cNvSpPr txBox="1">
                <a:spLocks noChangeArrowheads="1"/>
              </p:cNvSpPr>
              <p:nvPr/>
            </p:nvSpPr>
            <p:spPr bwMode="auto">
              <a:xfrm>
                <a:off x="5580112" y="4545124"/>
                <a:ext cx="389850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sz="1600" b="1">
                    <a:solidFill>
                      <a:srgbClr val="C00000"/>
                    </a:solidFill>
                    <a:latin typeface="Times New Roman" pitchFamily="18" charset="0"/>
                  </a:rPr>
                  <a:t>30</a:t>
                </a:r>
                <a:endParaRPr kumimoji="1" lang="en-US" altLang="zh-CN" sz="1600">
                  <a:solidFill>
                    <a:srgbClr val="C0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3104" name="Text Box 21"/>
              <p:cNvSpPr txBox="1">
                <a:spLocks noChangeArrowheads="1"/>
              </p:cNvSpPr>
              <p:nvPr/>
            </p:nvSpPr>
            <p:spPr bwMode="auto">
              <a:xfrm>
                <a:off x="5412916" y="5214682"/>
                <a:ext cx="389850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sz="1600" b="1">
                    <a:solidFill>
                      <a:srgbClr val="C00000"/>
                    </a:solidFill>
                    <a:latin typeface="Times New Roman" pitchFamily="18" charset="0"/>
                  </a:rPr>
                  <a:t>10</a:t>
                </a:r>
                <a:endParaRPr kumimoji="1" lang="en-US" altLang="zh-CN" sz="1600">
                  <a:solidFill>
                    <a:srgbClr val="C0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3105" name="Text Box 21"/>
              <p:cNvSpPr txBox="1">
                <a:spLocks noChangeArrowheads="1"/>
              </p:cNvSpPr>
              <p:nvPr/>
            </p:nvSpPr>
            <p:spPr bwMode="auto">
              <a:xfrm>
                <a:off x="5671144" y="5723964"/>
                <a:ext cx="389850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sz="1600" b="1">
                    <a:solidFill>
                      <a:srgbClr val="C00000"/>
                    </a:solidFill>
                    <a:latin typeface="Times New Roman" pitchFamily="18" charset="0"/>
                  </a:rPr>
                  <a:t>20</a:t>
                </a:r>
                <a:endParaRPr kumimoji="1" lang="en-US" altLang="zh-CN" sz="1600">
                  <a:solidFill>
                    <a:srgbClr val="C00000"/>
                  </a:solidFill>
                  <a:latin typeface="Times New Roman" pitchFamily="18" charset="0"/>
                </a:endParaRPr>
              </a:p>
            </p:txBody>
          </p:sp>
        </p:grpSp>
        <p:sp>
          <p:nvSpPr>
            <p:cNvPr id="3088" name="TextBox 164"/>
            <p:cNvSpPr txBox="1">
              <a:spLocks noChangeArrowheads="1"/>
            </p:cNvSpPr>
            <p:nvPr/>
          </p:nvSpPr>
          <p:spPr bwMode="auto">
            <a:xfrm>
              <a:off x="7530997" y="4476129"/>
              <a:ext cx="543810" cy="338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buFont typeface="Wingdings" pitchFamily="2" charset="2"/>
                <a:buNone/>
              </a:pPr>
              <a:r>
                <a:rPr lang="en-US" altLang="zh-CN" sz="1600" b="1">
                  <a:solidFill>
                    <a:srgbClr val="000099"/>
                  </a:solidFill>
                  <a:ea typeface="黑体" pitchFamily="2" charset="-122"/>
                </a:rPr>
                <a:t>d=0</a:t>
              </a:r>
              <a:endParaRPr lang="zh-CN" altLang="en-US" sz="1600" b="1">
                <a:solidFill>
                  <a:srgbClr val="000099"/>
                </a:solidFill>
                <a:ea typeface="黑体" pitchFamily="2" charset="-122"/>
              </a:endParaRPr>
            </a:p>
          </p:txBody>
        </p:sp>
        <p:sp>
          <p:nvSpPr>
            <p:cNvPr id="3089" name="TextBox 165"/>
            <p:cNvSpPr txBox="1">
              <a:spLocks noChangeArrowheads="1"/>
            </p:cNvSpPr>
            <p:nvPr/>
          </p:nvSpPr>
          <p:spPr bwMode="auto">
            <a:xfrm>
              <a:off x="6084168" y="5358698"/>
              <a:ext cx="657637" cy="338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buFont typeface="Wingdings" pitchFamily="2" charset="2"/>
                <a:buNone/>
              </a:pPr>
              <a:r>
                <a:rPr lang="en-US" altLang="zh-CN" sz="1600" b="1">
                  <a:solidFill>
                    <a:srgbClr val="000099"/>
                  </a:solidFill>
                  <a:ea typeface="黑体" pitchFamily="2" charset="-122"/>
                </a:rPr>
                <a:t>d=10</a:t>
              </a:r>
              <a:endParaRPr lang="zh-CN" altLang="en-US" sz="1600" b="1">
                <a:solidFill>
                  <a:srgbClr val="000099"/>
                </a:solidFill>
                <a:ea typeface="黑体" pitchFamily="2" charset="-122"/>
              </a:endParaRPr>
            </a:p>
          </p:txBody>
        </p:sp>
        <p:sp>
          <p:nvSpPr>
            <p:cNvPr id="3090" name="TextBox 166"/>
            <p:cNvSpPr txBox="1">
              <a:spLocks noChangeArrowheads="1"/>
            </p:cNvSpPr>
            <p:nvPr/>
          </p:nvSpPr>
          <p:spPr bwMode="auto">
            <a:xfrm>
              <a:off x="7668343" y="6366810"/>
              <a:ext cx="657637" cy="338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buFont typeface="Wingdings" pitchFamily="2" charset="2"/>
                <a:buNone/>
              </a:pPr>
              <a:r>
                <a:rPr lang="en-US" altLang="zh-CN" sz="1600" b="1">
                  <a:solidFill>
                    <a:srgbClr val="000099"/>
                  </a:solidFill>
                  <a:ea typeface="黑体" pitchFamily="2" charset="-122"/>
                </a:rPr>
                <a:t>d=30</a:t>
              </a:r>
              <a:endParaRPr lang="zh-CN" altLang="en-US" sz="1600" b="1">
                <a:solidFill>
                  <a:srgbClr val="000099"/>
                </a:solidFill>
                <a:ea typeface="黑体" pitchFamily="2" charset="-122"/>
              </a:endParaRPr>
            </a:p>
          </p:txBody>
        </p:sp>
        <p:sp>
          <p:nvSpPr>
            <p:cNvPr id="3091" name="TextBox 167"/>
            <p:cNvSpPr txBox="1">
              <a:spLocks noChangeArrowheads="1"/>
            </p:cNvSpPr>
            <p:nvPr/>
          </p:nvSpPr>
          <p:spPr bwMode="auto">
            <a:xfrm>
              <a:off x="6489333" y="6366810"/>
              <a:ext cx="657637" cy="338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buFont typeface="Wingdings" pitchFamily="2" charset="2"/>
                <a:buNone/>
              </a:pPr>
              <a:r>
                <a:rPr lang="en-US" altLang="zh-CN" sz="1600" b="1">
                  <a:solidFill>
                    <a:srgbClr val="000099"/>
                  </a:solidFill>
                  <a:ea typeface="黑体" pitchFamily="2" charset="-122"/>
                </a:rPr>
                <a:t>d=50</a:t>
              </a:r>
              <a:endParaRPr lang="zh-CN" altLang="en-US" sz="1600" b="1">
                <a:solidFill>
                  <a:srgbClr val="000099"/>
                </a:solidFill>
                <a:ea typeface="黑体" pitchFamily="2" charset="-122"/>
              </a:endParaRPr>
            </a:p>
          </p:txBody>
        </p:sp>
        <p:sp>
          <p:nvSpPr>
            <p:cNvPr id="3092" name="TextBox 168"/>
            <p:cNvSpPr txBox="1">
              <a:spLocks noChangeArrowheads="1"/>
            </p:cNvSpPr>
            <p:nvPr/>
          </p:nvSpPr>
          <p:spPr bwMode="auto">
            <a:xfrm>
              <a:off x="8167769" y="5373216"/>
              <a:ext cx="657637" cy="3386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buFont typeface="Wingdings" pitchFamily="2" charset="2"/>
                <a:buNone/>
              </a:pPr>
              <a:r>
                <a:rPr lang="en-US" altLang="zh-CN" sz="1600" b="1">
                  <a:solidFill>
                    <a:srgbClr val="000099"/>
                  </a:solidFill>
                  <a:ea typeface="黑体" pitchFamily="2" charset="-122"/>
                </a:rPr>
                <a:t>d=60</a:t>
              </a:r>
              <a:endParaRPr lang="zh-CN" altLang="en-US" sz="1600" b="1">
                <a:solidFill>
                  <a:srgbClr val="000099"/>
                </a:solidFill>
                <a:ea typeface="黑体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50021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最短路径</a:t>
            </a:r>
          </a:p>
        </p:txBody>
      </p:sp>
      <p:sp>
        <p:nvSpPr>
          <p:cNvPr id="4100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>
                <a:latin typeface="Arial" charset="0"/>
                <a:ea typeface="黑体" pitchFamily="2" charset="-122"/>
              </a:rPr>
              <a:t>Dijkstra</a:t>
            </a:r>
            <a:r>
              <a:rPr lang="zh-CN" altLang="en-US">
                <a:latin typeface="Arial" charset="0"/>
                <a:ea typeface="黑体" pitchFamily="2" charset="-122"/>
              </a:rPr>
              <a:t>算法</a:t>
            </a:r>
            <a:r>
              <a:rPr lang="en-US" altLang="zh-CN">
                <a:latin typeface="Arial" charset="0"/>
                <a:ea typeface="黑体" pitchFamily="2" charset="-122"/>
              </a:rPr>
              <a:t>(</a:t>
            </a:r>
            <a:r>
              <a:rPr lang="zh-CN" altLang="en-US">
                <a:latin typeface="Arial" charset="0"/>
                <a:ea typeface="黑体" pitchFamily="2" charset="-122"/>
              </a:rPr>
              <a:t>记录路径</a:t>
            </a:r>
            <a:r>
              <a:rPr lang="en-US" altLang="zh-CN">
                <a:latin typeface="Arial" charset="0"/>
                <a:ea typeface="黑体" pitchFamily="2" charset="-122"/>
              </a:rPr>
              <a:t>)</a:t>
            </a:r>
            <a:endParaRPr lang="zh-CN" altLang="en-US">
              <a:latin typeface="Arial" charset="0"/>
              <a:ea typeface="黑体" pitchFamily="2" charset="-122"/>
            </a:endParaRPr>
          </a:p>
        </p:txBody>
      </p:sp>
      <p:grpSp>
        <p:nvGrpSpPr>
          <p:cNvPr id="4101" name="组合 53"/>
          <p:cNvGrpSpPr>
            <a:grpSpLocks/>
          </p:cNvGrpSpPr>
          <p:nvPr/>
        </p:nvGrpSpPr>
        <p:grpSpPr bwMode="auto">
          <a:xfrm>
            <a:off x="488950" y="2024063"/>
            <a:ext cx="2205038" cy="2035175"/>
            <a:chOff x="4650202" y="4027773"/>
            <a:chExt cx="2204955" cy="2034745"/>
          </a:xfrm>
        </p:grpSpPr>
        <p:sp>
          <p:nvSpPr>
            <p:cNvPr id="4165" name="Text Box 21"/>
            <p:cNvSpPr txBox="1">
              <a:spLocks noChangeArrowheads="1"/>
            </p:cNvSpPr>
            <p:nvPr/>
          </p:nvSpPr>
          <p:spPr bwMode="auto">
            <a:xfrm>
              <a:off x="5000255" y="4206570"/>
              <a:ext cx="38985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1600" b="1">
                  <a:solidFill>
                    <a:srgbClr val="C00000"/>
                  </a:solidFill>
                  <a:latin typeface="Times New Roman" pitchFamily="18" charset="0"/>
                </a:rPr>
                <a:t>10</a:t>
              </a:r>
              <a:endParaRPr kumimoji="1" lang="en-US" altLang="zh-CN" sz="1600">
                <a:solidFill>
                  <a:srgbClr val="C00000"/>
                </a:solidFill>
                <a:latin typeface="Times New Roman" pitchFamily="18" charset="0"/>
              </a:endParaRPr>
            </a:p>
          </p:txBody>
        </p:sp>
        <p:sp>
          <p:nvSpPr>
            <p:cNvPr id="4166" name="椭圆 29"/>
            <p:cNvSpPr>
              <a:spLocks noChangeArrowheads="1"/>
            </p:cNvSpPr>
            <p:nvPr/>
          </p:nvSpPr>
          <p:spPr bwMode="auto">
            <a:xfrm>
              <a:off x="5580132" y="4027773"/>
              <a:ext cx="360000" cy="358959"/>
            </a:xfrm>
            <a:prstGeom prst="ellipse">
              <a:avLst/>
            </a:prstGeom>
            <a:noFill/>
            <a:ln w="13970">
              <a:solidFill>
                <a:schemeClr val="bg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8000" tIns="10800" rIns="18000" bIns="10800" anchor="ctr"/>
            <a:lstStyle/>
            <a:p>
              <a:pPr algn="ctr">
                <a:lnSpc>
                  <a:spcPct val="96000"/>
                </a:lnSpc>
              </a:pPr>
              <a:r>
                <a:rPr lang="en-US" altLang="zh-CN" sz="2000" b="1">
                  <a:solidFill>
                    <a:srgbClr val="000099"/>
                  </a:solidFill>
                  <a:ea typeface="黑体" pitchFamily="2" charset="-122"/>
                </a:rPr>
                <a:t>0</a:t>
              </a:r>
              <a:endParaRPr lang="zh-CN" altLang="en-US" sz="2000" b="1">
                <a:solidFill>
                  <a:srgbClr val="000099"/>
                </a:solidFill>
                <a:ea typeface="黑体" pitchFamily="2" charset="-122"/>
              </a:endParaRPr>
            </a:p>
          </p:txBody>
        </p:sp>
        <p:sp>
          <p:nvSpPr>
            <p:cNvPr id="4167" name="椭圆 30"/>
            <p:cNvSpPr>
              <a:spLocks noChangeArrowheads="1"/>
            </p:cNvSpPr>
            <p:nvPr/>
          </p:nvSpPr>
          <p:spPr bwMode="auto">
            <a:xfrm>
              <a:off x="4680092" y="4617132"/>
              <a:ext cx="360000" cy="358959"/>
            </a:xfrm>
            <a:prstGeom prst="ellipse">
              <a:avLst/>
            </a:prstGeom>
            <a:noFill/>
            <a:ln w="13970">
              <a:solidFill>
                <a:schemeClr val="bg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8000" tIns="10800" rIns="18000" bIns="10800" anchor="ctr"/>
            <a:lstStyle/>
            <a:p>
              <a:pPr algn="ctr">
                <a:lnSpc>
                  <a:spcPct val="96000"/>
                </a:lnSpc>
              </a:pPr>
              <a:r>
                <a:rPr lang="en-US" altLang="zh-CN" sz="2000" b="1">
                  <a:solidFill>
                    <a:srgbClr val="000099"/>
                  </a:solidFill>
                  <a:ea typeface="黑体" pitchFamily="2" charset="-122"/>
                </a:rPr>
                <a:t>1</a:t>
              </a:r>
              <a:endParaRPr lang="zh-CN" altLang="en-US" sz="2000" b="1">
                <a:solidFill>
                  <a:srgbClr val="000099"/>
                </a:solidFill>
                <a:ea typeface="黑体" pitchFamily="2" charset="-122"/>
              </a:endParaRPr>
            </a:p>
          </p:txBody>
        </p:sp>
        <p:sp>
          <p:nvSpPr>
            <p:cNvPr id="4168" name="椭圆 31"/>
            <p:cNvSpPr>
              <a:spLocks noChangeArrowheads="1"/>
            </p:cNvSpPr>
            <p:nvPr/>
          </p:nvSpPr>
          <p:spPr bwMode="auto">
            <a:xfrm>
              <a:off x="6480232" y="4617132"/>
              <a:ext cx="360000" cy="358959"/>
            </a:xfrm>
            <a:prstGeom prst="ellipse">
              <a:avLst/>
            </a:prstGeom>
            <a:noFill/>
            <a:ln w="13970">
              <a:solidFill>
                <a:schemeClr val="bg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8000" tIns="10800" rIns="18000" bIns="10800" anchor="ctr"/>
            <a:lstStyle/>
            <a:p>
              <a:pPr algn="ctr">
                <a:lnSpc>
                  <a:spcPct val="96000"/>
                </a:lnSpc>
              </a:pPr>
              <a:r>
                <a:rPr lang="en-US" altLang="zh-CN" sz="2000" b="1">
                  <a:solidFill>
                    <a:srgbClr val="000099"/>
                  </a:solidFill>
                  <a:ea typeface="黑体" pitchFamily="2" charset="-122"/>
                </a:rPr>
                <a:t>4</a:t>
              </a:r>
              <a:endParaRPr lang="zh-CN" altLang="en-US" sz="2000" b="1">
                <a:solidFill>
                  <a:srgbClr val="000099"/>
                </a:solidFill>
                <a:ea typeface="黑体" pitchFamily="2" charset="-122"/>
              </a:endParaRPr>
            </a:p>
          </p:txBody>
        </p:sp>
        <p:sp>
          <p:nvSpPr>
            <p:cNvPr id="4169" name="椭圆 32"/>
            <p:cNvSpPr>
              <a:spLocks noChangeArrowheads="1"/>
            </p:cNvSpPr>
            <p:nvPr/>
          </p:nvSpPr>
          <p:spPr bwMode="auto">
            <a:xfrm>
              <a:off x="5040092" y="5618138"/>
              <a:ext cx="360000" cy="358959"/>
            </a:xfrm>
            <a:prstGeom prst="ellipse">
              <a:avLst/>
            </a:prstGeom>
            <a:noFill/>
            <a:ln w="13970">
              <a:solidFill>
                <a:schemeClr val="bg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8000" tIns="10800" rIns="18000" bIns="10800" anchor="ctr"/>
            <a:lstStyle/>
            <a:p>
              <a:pPr algn="ctr">
                <a:lnSpc>
                  <a:spcPct val="96000"/>
                </a:lnSpc>
              </a:pPr>
              <a:r>
                <a:rPr lang="en-US" altLang="zh-CN" sz="2000" b="1">
                  <a:solidFill>
                    <a:srgbClr val="000099"/>
                  </a:solidFill>
                  <a:ea typeface="黑体" pitchFamily="2" charset="-122"/>
                </a:rPr>
                <a:t>2</a:t>
              </a:r>
              <a:endParaRPr lang="zh-CN" altLang="en-US" sz="2000" b="1">
                <a:solidFill>
                  <a:srgbClr val="000099"/>
                </a:solidFill>
                <a:ea typeface="黑体" pitchFamily="2" charset="-122"/>
              </a:endParaRPr>
            </a:p>
          </p:txBody>
        </p:sp>
        <p:sp>
          <p:nvSpPr>
            <p:cNvPr id="4170" name="椭圆 33"/>
            <p:cNvSpPr>
              <a:spLocks noChangeArrowheads="1"/>
            </p:cNvSpPr>
            <p:nvPr/>
          </p:nvSpPr>
          <p:spPr bwMode="auto">
            <a:xfrm>
              <a:off x="6156176" y="5618139"/>
              <a:ext cx="360000" cy="358959"/>
            </a:xfrm>
            <a:prstGeom prst="ellipse">
              <a:avLst/>
            </a:prstGeom>
            <a:noFill/>
            <a:ln w="13970">
              <a:solidFill>
                <a:schemeClr val="bg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8000" tIns="10800" rIns="18000" bIns="10800" anchor="ctr"/>
            <a:lstStyle/>
            <a:p>
              <a:pPr algn="ctr">
                <a:lnSpc>
                  <a:spcPct val="96000"/>
                </a:lnSpc>
              </a:pPr>
              <a:r>
                <a:rPr lang="en-US" altLang="zh-CN" sz="2000" b="1">
                  <a:solidFill>
                    <a:srgbClr val="000099"/>
                  </a:solidFill>
                  <a:ea typeface="黑体" pitchFamily="2" charset="-122"/>
                </a:rPr>
                <a:t>3</a:t>
              </a:r>
              <a:endParaRPr lang="zh-CN" altLang="en-US" sz="2000" b="1">
                <a:solidFill>
                  <a:srgbClr val="000099"/>
                </a:solidFill>
                <a:ea typeface="黑体" pitchFamily="2" charset="-122"/>
              </a:endParaRPr>
            </a:p>
          </p:txBody>
        </p:sp>
        <p:cxnSp>
          <p:nvCxnSpPr>
            <p:cNvPr id="4" name="直接箭头连接符 3"/>
            <p:cNvCxnSpPr>
              <a:stCxn id="4166" idx="6"/>
              <a:endCxn id="4168" idx="1"/>
            </p:cNvCxnSpPr>
            <p:nvPr/>
          </p:nvCxnSpPr>
          <p:spPr>
            <a:xfrm>
              <a:off x="5940791" y="4207122"/>
              <a:ext cx="592115" cy="461865"/>
            </a:xfrm>
            <a:prstGeom prst="straightConnector1">
              <a:avLst/>
            </a:prstGeom>
            <a:ln w="25400">
              <a:solidFill>
                <a:schemeClr val="bg2">
                  <a:lumMod val="40000"/>
                  <a:lumOff val="6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箭头连接符 35"/>
            <p:cNvCxnSpPr>
              <a:stCxn id="4166" idx="2"/>
              <a:endCxn id="4167" idx="7"/>
            </p:cNvCxnSpPr>
            <p:nvPr/>
          </p:nvCxnSpPr>
          <p:spPr>
            <a:xfrm flipH="1">
              <a:off x="4986739" y="4207122"/>
              <a:ext cx="593703" cy="461865"/>
            </a:xfrm>
            <a:prstGeom prst="straightConnector1">
              <a:avLst/>
            </a:prstGeom>
            <a:ln w="25400">
              <a:solidFill>
                <a:schemeClr val="bg2">
                  <a:lumMod val="40000"/>
                  <a:lumOff val="6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箭头连接符 37"/>
            <p:cNvCxnSpPr>
              <a:stCxn id="4167" idx="4"/>
              <a:endCxn id="4169" idx="1"/>
            </p:cNvCxnSpPr>
            <p:nvPr/>
          </p:nvCxnSpPr>
          <p:spPr>
            <a:xfrm>
              <a:off x="4859744" y="4975310"/>
              <a:ext cx="233354" cy="695178"/>
            </a:xfrm>
            <a:prstGeom prst="straightConnector1">
              <a:avLst/>
            </a:prstGeom>
            <a:ln w="25400">
              <a:solidFill>
                <a:schemeClr val="bg2">
                  <a:lumMod val="40000"/>
                  <a:lumOff val="6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箭头连接符 39"/>
            <p:cNvCxnSpPr>
              <a:stCxn id="4170" idx="7"/>
              <a:endCxn id="4168" idx="4"/>
            </p:cNvCxnSpPr>
            <p:nvPr/>
          </p:nvCxnSpPr>
          <p:spPr>
            <a:xfrm flipV="1">
              <a:off x="6463059" y="4975310"/>
              <a:ext cx="196843" cy="695178"/>
            </a:xfrm>
            <a:prstGeom prst="straightConnector1">
              <a:avLst/>
            </a:prstGeom>
            <a:ln w="25400">
              <a:solidFill>
                <a:schemeClr val="bg2">
                  <a:lumMod val="40000"/>
                  <a:lumOff val="6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箭头连接符 41"/>
            <p:cNvCxnSpPr>
              <a:stCxn id="4166" idx="4"/>
              <a:endCxn id="4170" idx="0"/>
            </p:cNvCxnSpPr>
            <p:nvPr/>
          </p:nvCxnSpPr>
          <p:spPr>
            <a:xfrm>
              <a:off x="5759823" y="4386472"/>
              <a:ext cx="576240" cy="1231640"/>
            </a:xfrm>
            <a:prstGeom prst="straightConnector1">
              <a:avLst/>
            </a:prstGeom>
            <a:ln w="25400">
              <a:solidFill>
                <a:schemeClr val="bg2">
                  <a:lumMod val="40000"/>
                  <a:lumOff val="6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箭头连接符 43"/>
            <p:cNvCxnSpPr>
              <a:stCxn id="4170" idx="2"/>
              <a:endCxn id="4169" idx="6"/>
            </p:cNvCxnSpPr>
            <p:nvPr/>
          </p:nvCxnSpPr>
          <p:spPr>
            <a:xfrm flipH="1" flipV="1">
              <a:off x="5399474" y="5797461"/>
              <a:ext cx="757209" cy="0"/>
            </a:xfrm>
            <a:prstGeom prst="straightConnector1">
              <a:avLst/>
            </a:prstGeom>
            <a:ln w="25400">
              <a:solidFill>
                <a:schemeClr val="bg2">
                  <a:lumMod val="40000"/>
                  <a:lumOff val="6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箭头连接符 46"/>
            <p:cNvCxnSpPr>
              <a:stCxn id="4169" idx="7"/>
              <a:endCxn id="4168" idx="3"/>
            </p:cNvCxnSpPr>
            <p:nvPr/>
          </p:nvCxnSpPr>
          <p:spPr>
            <a:xfrm flipV="1">
              <a:off x="5347089" y="4922934"/>
              <a:ext cx="1185817" cy="747554"/>
            </a:xfrm>
            <a:prstGeom prst="straightConnector1">
              <a:avLst/>
            </a:prstGeom>
            <a:ln w="25400">
              <a:solidFill>
                <a:schemeClr val="bg2">
                  <a:lumMod val="40000"/>
                  <a:lumOff val="6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78" name="Text Box 21"/>
            <p:cNvSpPr txBox="1">
              <a:spLocks noChangeArrowheads="1"/>
            </p:cNvSpPr>
            <p:nvPr/>
          </p:nvSpPr>
          <p:spPr bwMode="auto">
            <a:xfrm>
              <a:off x="4650202" y="5138732"/>
              <a:ext cx="38985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1600" b="1">
                  <a:solidFill>
                    <a:srgbClr val="C00000"/>
                  </a:solidFill>
                  <a:latin typeface="Times New Roman" pitchFamily="18" charset="0"/>
                </a:rPr>
                <a:t>50</a:t>
              </a:r>
              <a:endParaRPr kumimoji="1" lang="en-US" altLang="zh-CN" sz="1600">
                <a:solidFill>
                  <a:srgbClr val="C00000"/>
                </a:solidFill>
                <a:latin typeface="Times New Roman" pitchFamily="18" charset="0"/>
              </a:endParaRPr>
            </a:p>
          </p:txBody>
        </p:sp>
        <p:sp>
          <p:nvSpPr>
            <p:cNvPr id="4179" name="Text Box 21"/>
            <p:cNvSpPr txBox="1">
              <a:spLocks noChangeArrowheads="1"/>
            </p:cNvSpPr>
            <p:nvPr/>
          </p:nvSpPr>
          <p:spPr bwMode="auto">
            <a:xfrm>
              <a:off x="5580112" y="4545124"/>
              <a:ext cx="38985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1600" b="1">
                  <a:solidFill>
                    <a:srgbClr val="C00000"/>
                  </a:solidFill>
                  <a:latin typeface="Times New Roman" pitchFamily="18" charset="0"/>
                </a:rPr>
                <a:t>30</a:t>
              </a:r>
              <a:endParaRPr kumimoji="1" lang="en-US" altLang="zh-CN" sz="1600">
                <a:solidFill>
                  <a:srgbClr val="C00000"/>
                </a:solidFill>
                <a:latin typeface="Times New Roman" pitchFamily="18" charset="0"/>
              </a:endParaRPr>
            </a:p>
          </p:txBody>
        </p:sp>
        <p:sp>
          <p:nvSpPr>
            <p:cNvPr id="4180" name="Text Box 21"/>
            <p:cNvSpPr txBox="1">
              <a:spLocks noChangeArrowheads="1"/>
            </p:cNvSpPr>
            <p:nvPr/>
          </p:nvSpPr>
          <p:spPr bwMode="auto">
            <a:xfrm>
              <a:off x="5412916" y="5214682"/>
              <a:ext cx="38985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1600" b="1">
                  <a:solidFill>
                    <a:srgbClr val="C00000"/>
                  </a:solidFill>
                  <a:latin typeface="Times New Roman" pitchFamily="18" charset="0"/>
                </a:rPr>
                <a:t>10</a:t>
              </a:r>
              <a:endParaRPr kumimoji="1" lang="en-US" altLang="zh-CN" sz="1600">
                <a:solidFill>
                  <a:srgbClr val="C00000"/>
                </a:solidFill>
                <a:latin typeface="Times New Roman" pitchFamily="18" charset="0"/>
              </a:endParaRPr>
            </a:p>
          </p:txBody>
        </p:sp>
        <p:sp>
          <p:nvSpPr>
            <p:cNvPr id="4181" name="Text Box 21"/>
            <p:cNvSpPr txBox="1">
              <a:spLocks noChangeArrowheads="1"/>
            </p:cNvSpPr>
            <p:nvPr/>
          </p:nvSpPr>
          <p:spPr bwMode="auto">
            <a:xfrm>
              <a:off x="6076545" y="4149339"/>
              <a:ext cx="492443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1600" b="1">
                  <a:solidFill>
                    <a:srgbClr val="C00000"/>
                  </a:solidFill>
                  <a:latin typeface="Times New Roman" pitchFamily="18" charset="0"/>
                </a:rPr>
                <a:t>100</a:t>
              </a:r>
              <a:endParaRPr kumimoji="1" lang="en-US" altLang="zh-CN" sz="1600">
                <a:solidFill>
                  <a:srgbClr val="C00000"/>
                </a:solidFill>
                <a:latin typeface="Times New Roman" pitchFamily="18" charset="0"/>
              </a:endParaRPr>
            </a:p>
          </p:txBody>
        </p:sp>
        <p:sp>
          <p:nvSpPr>
            <p:cNvPr id="4182" name="Text Box 21"/>
            <p:cNvSpPr txBox="1">
              <a:spLocks noChangeArrowheads="1"/>
            </p:cNvSpPr>
            <p:nvPr/>
          </p:nvSpPr>
          <p:spPr bwMode="auto">
            <a:xfrm>
              <a:off x="6465307" y="5246198"/>
              <a:ext cx="38985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1600" b="1">
                  <a:solidFill>
                    <a:srgbClr val="C00000"/>
                  </a:solidFill>
                  <a:latin typeface="Times New Roman" pitchFamily="18" charset="0"/>
                </a:rPr>
                <a:t>60</a:t>
              </a:r>
              <a:endParaRPr kumimoji="1" lang="en-US" altLang="zh-CN" sz="1600">
                <a:solidFill>
                  <a:srgbClr val="C00000"/>
                </a:solidFill>
                <a:latin typeface="Times New Roman" pitchFamily="18" charset="0"/>
              </a:endParaRPr>
            </a:p>
          </p:txBody>
        </p:sp>
        <p:sp>
          <p:nvSpPr>
            <p:cNvPr id="4183" name="Text Box 21"/>
            <p:cNvSpPr txBox="1">
              <a:spLocks noChangeArrowheads="1"/>
            </p:cNvSpPr>
            <p:nvPr/>
          </p:nvSpPr>
          <p:spPr bwMode="auto">
            <a:xfrm>
              <a:off x="5671144" y="5723964"/>
              <a:ext cx="38985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1600" b="1">
                  <a:solidFill>
                    <a:srgbClr val="C00000"/>
                  </a:solidFill>
                  <a:latin typeface="Times New Roman" pitchFamily="18" charset="0"/>
                </a:rPr>
                <a:t>20</a:t>
              </a:r>
              <a:endParaRPr kumimoji="1" lang="en-US" altLang="zh-CN" sz="1600">
                <a:solidFill>
                  <a:srgbClr val="C00000"/>
                </a:solidFill>
                <a:latin typeface="Times New Roman" pitchFamily="18" charset="0"/>
              </a:endParaRPr>
            </a:p>
          </p:txBody>
        </p:sp>
      </p:grpSp>
      <p:graphicFrame>
        <p:nvGraphicFramePr>
          <p:cNvPr id="4098" name="对象 1"/>
          <p:cNvGraphicFramePr>
            <a:graphicFrameLocks noChangeAspect="1"/>
          </p:cNvGraphicFramePr>
          <p:nvPr/>
        </p:nvGraphicFramePr>
        <p:xfrm>
          <a:off x="5795963" y="549275"/>
          <a:ext cx="3195637" cy="1535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771532" imgH="838080" progId="Equation.3">
                  <p:embed/>
                </p:oleObj>
              </mc:Choice>
              <mc:Fallback>
                <p:oleObj name="公式" r:id="rId2" imgW="1771532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5963" y="549275"/>
                        <a:ext cx="3195637" cy="1535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2" name="TextBox 2"/>
          <p:cNvSpPr txBox="1">
            <a:spLocks noChangeArrowheads="1"/>
          </p:cNvSpPr>
          <p:nvPr/>
        </p:nvSpPr>
        <p:spPr bwMode="auto">
          <a:xfrm>
            <a:off x="1281113" y="4059238"/>
            <a:ext cx="6492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zh-CN" altLang="en-US" b="1">
                <a:solidFill>
                  <a:srgbClr val="000099"/>
                </a:solidFill>
                <a:ea typeface="黑体" pitchFamily="2" charset="-122"/>
              </a:rPr>
              <a:t>原图</a:t>
            </a:r>
          </a:p>
        </p:txBody>
      </p:sp>
      <p:cxnSp>
        <p:nvCxnSpPr>
          <p:cNvPr id="146" name="直接箭头连接符 145"/>
          <p:cNvCxnSpPr/>
          <p:nvPr/>
        </p:nvCxnSpPr>
        <p:spPr>
          <a:xfrm rot="5400000">
            <a:off x="821531" y="4304507"/>
            <a:ext cx="4454525" cy="1588"/>
          </a:xfrm>
          <a:prstGeom prst="straightConnector1">
            <a:avLst/>
          </a:prstGeom>
          <a:ln w="25400">
            <a:solidFill>
              <a:srgbClr val="006600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接箭头连接符 146"/>
          <p:cNvCxnSpPr/>
          <p:nvPr/>
        </p:nvCxnSpPr>
        <p:spPr>
          <a:xfrm rot="5400000">
            <a:off x="3479800" y="4322763"/>
            <a:ext cx="4491037" cy="1588"/>
          </a:xfrm>
          <a:prstGeom prst="straightConnector1">
            <a:avLst/>
          </a:prstGeom>
          <a:ln w="25400">
            <a:solidFill>
              <a:srgbClr val="006600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接箭头连接符 148"/>
          <p:cNvCxnSpPr/>
          <p:nvPr/>
        </p:nvCxnSpPr>
        <p:spPr>
          <a:xfrm>
            <a:off x="215900" y="4364038"/>
            <a:ext cx="8951913" cy="36512"/>
          </a:xfrm>
          <a:prstGeom prst="straightConnector1">
            <a:avLst/>
          </a:prstGeom>
          <a:ln w="25400">
            <a:solidFill>
              <a:srgbClr val="006600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组合 13"/>
          <p:cNvGrpSpPr>
            <a:grpSpLocks/>
          </p:cNvGrpSpPr>
          <p:nvPr/>
        </p:nvGrpSpPr>
        <p:grpSpPr bwMode="auto">
          <a:xfrm>
            <a:off x="4349750" y="2154238"/>
            <a:ext cx="1127125" cy="584200"/>
            <a:chOff x="4349802" y="2154342"/>
            <a:chExt cx="1127718" cy="584775"/>
          </a:xfrm>
        </p:grpSpPr>
        <p:sp>
          <p:nvSpPr>
            <p:cNvPr id="4163" name="椭圆 27"/>
            <p:cNvSpPr>
              <a:spLocks noChangeArrowheads="1"/>
            </p:cNvSpPr>
            <p:nvPr/>
          </p:nvSpPr>
          <p:spPr bwMode="auto">
            <a:xfrm>
              <a:off x="4349802" y="2205945"/>
              <a:ext cx="360000" cy="358959"/>
            </a:xfrm>
            <a:prstGeom prst="ellipse">
              <a:avLst/>
            </a:prstGeom>
            <a:noFill/>
            <a:ln w="13970">
              <a:solidFill>
                <a:schemeClr val="bg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8000" tIns="10800" rIns="18000" bIns="10800" anchor="ctr"/>
            <a:lstStyle/>
            <a:p>
              <a:pPr algn="ctr">
                <a:lnSpc>
                  <a:spcPct val="96000"/>
                </a:lnSpc>
              </a:pPr>
              <a:r>
                <a:rPr lang="en-US" altLang="zh-CN" sz="2000" b="1">
                  <a:solidFill>
                    <a:srgbClr val="000099"/>
                  </a:solidFill>
                  <a:ea typeface="黑体" pitchFamily="2" charset="-122"/>
                </a:rPr>
                <a:t>0</a:t>
              </a:r>
              <a:endParaRPr lang="zh-CN" altLang="en-US" sz="2000" b="1">
                <a:solidFill>
                  <a:srgbClr val="000099"/>
                </a:solidFill>
                <a:ea typeface="黑体" pitchFamily="2" charset="-122"/>
              </a:endParaRPr>
            </a:p>
          </p:txBody>
        </p:sp>
        <p:sp>
          <p:nvSpPr>
            <p:cNvPr id="4164" name="TextBox 9"/>
            <p:cNvSpPr txBox="1">
              <a:spLocks noChangeArrowheads="1"/>
            </p:cNvSpPr>
            <p:nvPr/>
          </p:nvSpPr>
          <p:spPr bwMode="auto">
            <a:xfrm>
              <a:off x="4613181" y="2154342"/>
              <a:ext cx="864339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buFont typeface="Wingdings" pitchFamily="2" charset="2"/>
                <a:buNone/>
              </a:pPr>
              <a:r>
                <a:rPr lang="en-US" altLang="zh-CN" sz="1600" b="1">
                  <a:solidFill>
                    <a:srgbClr val="000099"/>
                  </a:solidFill>
                  <a:ea typeface="黑体" pitchFamily="2" charset="-122"/>
                </a:rPr>
                <a:t>d[0]=0</a:t>
              </a:r>
            </a:p>
            <a:p>
              <a:pPr eaLnBrk="1" hangingPunct="1">
                <a:buFont typeface="Wingdings" pitchFamily="2" charset="2"/>
                <a:buNone/>
              </a:pPr>
              <a:r>
                <a:rPr lang="en-US" altLang="zh-CN" sz="1600" b="1">
                  <a:solidFill>
                    <a:srgbClr val="000099"/>
                  </a:solidFill>
                  <a:ea typeface="黑体" pitchFamily="2" charset="-122"/>
                </a:rPr>
                <a:t>p[0]=-1</a:t>
              </a:r>
              <a:endParaRPr lang="zh-CN" altLang="en-US" sz="1600" b="1">
                <a:solidFill>
                  <a:srgbClr val="000099"/>
                </a:solidFill>
                <a:ea typeface="黑体" pitchFamily="2" charset="-122"/>
              </a:endParaRPr>
            </a:p>
          </p:txBody>
        </p:sp>
      </p:grpSp>
      <p:grpSp>
        <p:nvGrpSpPr>
          <p:cNvPr id="5" name="组合 14"/>
          <p:cNvGrpSpPr>
            <a:grpSpLocks/>
          </p:cNvGrpSpPr>
          <p:nvPr/>
        </p:nvGrpSpPr>
        <p:grpSpPr bwMode="auto">
          <a:xfrm>
            <a:off x="6110288" y="2143125"/>
            <a:ext cx="2286000" cy="1495425"/>
            <a:chOff x="6111049" y="2143278"/>
            <a:chExt cx="2285873" cy="1495939"/>
          </a:xfrm>
        </p:grpSpPr>
        <p:grpSp>
          <p:nvGrpSpPr>
            <p:cNvPr id="4156" name="组合 63"/>
            <p:cNvGrpSpPr>
              <a:grpSpLocks/>
            </p:cNvGrpSpPr>
            <p:nvPr/>
          </p:nvGrpSpPr>
          <p:grpSpPr bwMode="auto">
            <a:xfrm>
              <a:off x="6366086" y="2192650"/>
              <a:ext cx="1260040" cy="948318"/>
              <a:chOff x="4680092" y="4027773"/>
              <a:chExt cx="1260040" cy="948318"/>
            </a:xfrm>
          </p:grpSpPr>
          <p:sp>
            <p:nvSpPr>
              <p:cNvPr id="4159" name="Text Box 21"/>
              <p:cNvSpPr txBox="1">
                <a:spLocks noChangeArrowheads="1"/>
              </p:cNvSpPr>
              <p:nvPr/>
            </p:nvSpPr>
            <p:spPr bwMode="auto">
              <a:xfrm>
                <a:off x="5000255" y="4206570"/>
                <a:ext cx="389850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sz="1600" b="1">
                    <a:solidFill>
                      <a:srgbClr val="C00000"/>
                    </a:solidFill>
                    <a:latin typeface="Times New Roman" pitchFamily="18" charset="0"/>
                  </a:rPr>
                  <a:t>10</a:t>
                </a:r>
                <a:endParaRPr kumimoji="1" lang="en-US" altLang="zh-CN" sz="1600">
                  <a:solidFill>
                    <a:srgbClr val="C0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4160" name="椭圆 65"/>
              <p:cNvSpPr>
                <a:spLocks noChangeArrowheads="1"/>
              </p:cNvSpPr>
              <p:nvPr/>
            </p:nvSpPr>
            <p:spPr bwMode="auto">
              <a:xfrm>
                <a:off x="5580132" y="4027773"/>
                <a:ext cx="360000" cy="358959"/>
              </a:xfrm>
              <a:prstGeom prst="ellipse">
                <a:avLst/>
              </a:prstGeom>
              <a:noFill/>
              <a:ln w="13970">
                <a:solidFill>
                  <a:schemeClr val="bg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8000" tIns="10800" rIns="18000" bIns="10800" anchor="ctr"/>
              <a:lstStyle/>
              <a:p>
                <a:pPr algn="ctr">
                  <a:lnSpc>
                    <a:spcPct val="96000"/>
                  </a:lnSpc>
                </a:pPr>
                <a:r>
                  <a:rPr lang="en-US" altLang="zh-CN" sz="2000" b="1">
                    <a:solidFill>
                      <a:srgbClr val="000099"/>
                    </a:solidFill>
                    <a:ea typeface="黑体" pitchFamily="2" charset="-122"/>
                  </a:rPr>
                  <a:t>0</a:t>
                </a:r>
                <a:endParaRPr lang="zh-CN" altLang="en-US" sz="2000" b="1">
                  <a:solidFill>
                    <a:srgbClr val="000099"/>
                  </a:solidFill>
                  <a:ea typeface="黑体" pitchFamily="2" charset="-122"/>
                </a:endParaRPr>
              </a:p>
            </p:txBody>
          </p:sp>
          <p:sp>
            <p:nvSpPr>
              <p:cNvPr id="4161" name="椭圆 66"/>
              <p:cNvSpPr>
                <a:spLocks noChangeArrowheads="1"/>
              </p:cNvSpPr>
              <p:nvPr/>
            </p:nvSpPr>
            <p:spPr bwMode="auto">
              <a:xfrm>
                <a:off x="4680092" y="4617132"/>
                <a:ext cx="360000" cy="358959"/>
              </a:xfrm>
              <a:prstGeom prst="ellipse">
                <a:avLst/>
              </a:prstGeom>
              <a:noFill/>
              <a:ln w="13970">
                <a:solidFill>
                  <a:schemeClr val="bg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8000" tIns="10800" rIns="18000" bIns="10800" anchor="ctr"/>
              <a:lstStyle/>
              <a:p>
                <a:pPr algn="ctr">
                  <a:lnSpc>
                    <a:spcPct val="96000"/>
                  </a:lnSpc>
                </a:pPr>
                <a:r>
                  <a:rPr lang="en-US" altLang="zh-CN" sz="2000" b="1">
                    <a:solidFill>
                      <a:srgbClr val="000099"/>
                    </a:solidFill>
                    <a:ea typeface="黑体" pitchFamily="2" charset="-122"/>
                  </a:rPr>
                  <a:t>1</a:t>
                </a:r>
                <a:endParaRPr lang="zh-CN" altLang="en-US" sz="2000" b="1">
                  <a:solidFill>
                    <a:srgbClr val="000099"/>
                  </a:solidFill>
                  <a:ea typeface="黑体" pitchFamily="2" charset="-122"/>
                </a:endParaRPr>
              </a:p>
            </p:txBody>
          </p:sp>
          <p:cxnSp>
            <p:nvCxnSpPr>
              <p:cNvPr id="72" name="直接箭头连接符 71"/>
              <p:cNvCxnSpPr>
                <a:stCxn id="4160" idx="2"/>
                <a:endCxn id="4161" idx="7"/>
              </p:cNvCxnSpPr>
              <p:nvPr/>
            </p:nvCxnSpPr>
            <p:spPr>
              <a:xfrm flipH="1">
                <a:off x="4986999" y="4207080"/>
                <a:ext cx="592104" cy="462122"/>
              </a:xfrm>
              <a:prstGeom prst="straightConnector1">
                <a:avLst/>
              </a:prstGeom>
              <a:ln w="25400">
                <a:solidFill>
                  <a:schemeClr val="bg2">
                    <a:lumMod val="40000"/>
                    <a:lumOff val="60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157" name="TextBox 152"/>
            <p:cNvSpPr txBox="1">
              <a:spLocks noChangeArrowheads="1"/>
            </p:cNvSpPr>
            <p:nvPr/>
          </p:nvSpPr>
          <p:spPr bwMode="auto">
            <a:xfrm>
              <a:off x="7532583" y="2143278"/>
              <a:ext cx="864339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buFont typeface="Wingdings" pitchFamily="2" charset="2"/>
                <a:buNone/>
              </a:pPr>
              <a:r>
                <a:rPr lang="en-US" altLang="zh-CN" sz="1600" b="1">
                  <a:solidFill>
                    <a:srgbClr val="000099"/>
                  </a:solidFill>
                  <a:ea typeface="黑体" pitchFamily="2" charset="-122"/>
                </a:rPr>
                <a:t>d[0]=0</a:t>
              </a:r>
            </a:p>
            <a:p>
              <a:pPr eaLnBrk="1" hangingPunct="1">
                <a:buFont typeface="Wingdings" pitchFamily="2" charset="2"/>
                <a:buNone/>
              </a:pPr>
              <a:r>
                <a:rPr lang="en-US" altLang="zh-CN" sz="1600" b="1">
                  <a:solidFill>
                    <a:srgbClr val="000099"/>
                  </a:solidFill>
                  <a:ea typeface="黑体" pitchFamily="2" charset="-122"/>
                </a:rPr>
                <a:t>p[0]=-1</a:t>
              </a:r>
              <a:endParaRPr lang="zh-CN" altLang="en-US" sz="1600" b="1">
                <a:solidFill>
                  <a:srgbClr val="000099"/>
                </a:solidFill>
                <a:ea typeface="黑体" pitchFamily="2" charset="-122"/>
              </a:endParaRPr>
            </a:p>
          </p:txBody>
        </p:sp>
        <p:sp>
          <p:nvSpPr>
            <p:cNvPr id="4158" name="TextBox 153"/>
            <p:cNvSpPr txBox="1">
              <a:spLocks noChangeArrowheads="1"/>
            </p:cNvSpPr>
            <p:nvPr/>
          </p:nvSpPr>
          <p:spPr bwMode="auto">
            <a:xfrm>
              <a:off x="6111049" y="3054442"/>
              <a:ext cx="909223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buFont typeface="Wingdings" pitchFamily="2" charset="2"/>
                <a:buNone/>
              </a:pPr>
              <a:r>
                <a:rPr lang="en-US" altLang="zh-CN" sz="1600" b="1">
                  <a:solidFill>
                    <a:srgbClr val="000099"/>
                  </a:solidFill>
                  <a:ea typeface="黑体" pitchFamily="2" charset="-122"/>
                </a:rPr>
                <a:t>d[1]=10</a:t>
              </a:r>
            </a:p>
            <a:p>
              <a:pPr eaLnBrk="1" hangingPunct="1">
                <a:buFont typeface="Wingdings" pitchFamily="2" charset="2"/>
                <a:buNone/>
              </a:pPr>
              <a:r>
                <a:rPr lang="en-US" altLang="zh-CN" sz="1600" b="1">
                  <a:solidFill>
                    <a:srgbClr val="000099"/>
                  </a:solidFill>
                  <a:ea typeface="黑体" pitchFamily="2" charset="-122"/>
                </a:rPr>
                <a:t>p[1]=0</a:t>
              </a:r>
              <a:endParaRPr lang="zh-CN" altLang="en-US" sz="1600" b="1">
                <a:solidFill>
                  <a:srgbClr val="000099"/>
                </a:solidFill>
                <a:ea typeface="黑体" pitchFamily="2" charset="-122"/>
              </a:endParaRPr>
            </a:p>
          </p:txBody>
        </p:sp>
      </p:grpSp>
      <p:grpSp>
        <p:nvGrpSpPr>
          <p:cNvPr id="7" name="组合 12"/>
          <p:cNvGrpSpPr>
            <a:grpSpLocks/>
          </p:cNvGrpSpPr>
          <p:nvPr/>
        </p:nvGrpSpPr>
        <p:grpSpPr bwMode="auto">
          <a:xfrm>
            <a:off x="242888" y="4473575"/>
            <a:ext cx="2384425" cy="2478088"/>
            <a:chOff x="242397" y="4473116"/>
            <a:chExt cx="2385387" cy="2478469"/>
          </a:xfrm>
        </p:grpSpPr>
        <p:sp>
          <p:nvSpPr>
            <p:cNvPr id="4146" name="TextBox 154"/>
            <p:cNvSpPr txBox="1">
              <a:spLocks noChangeArrowheads="1"/>
            </p:cNvSpPr>
            <p:nvPr/>
          </p:nvSpPr>
          <p:spPr bwMode="auto">
            <a:xfrm>
              <a:off x="1691680" y="4473116"/>
              <a:ext cx="864339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buFont typeface="Wingdings" pitchFamily="2" charset="2"/>
                <a:buNone/>
              </a:pPr>
              <a:r>
                <a:rPr lang="en-US" altLang="zh-CN" sz="1600" b="1">
                  <a:solidFill>
                    <a:srgbClr val="000099"/>
                  </a:solidFill>
                  <a:ea typeface="黑体" pitchFamily="2" charset="-122"/>
                </a:rPr>
                <a:t>d[0]=0</a:t>
              </a:r>
            </a:p>
            <a:p>
              <a:pPr eaLnBrk="1" hangingPunct="1">
                <a:buFont typeface="Wingdings" pitchFamily="2" charset="2"/>
                <a:buNone/>
              </a:pPr>
              <a:r>
                <a:rPr lang="en-US" altLang="zh-CN" sz="1600" b="1">
                  <a:solidFill>
                    <a:srgbClr val="000099"/>
                  </a:solidFill>
                  <a:ea typeface="黑体" pitchFamily="2" charset="-122"/>
                </a:rPr>
                <a:t>p[0]=-1</a:t>
              </a:r>
              <a:endParaRPr lang="zh-CN" altLang="en-US" sz="1600" b="1">
                <a:solidFill>
                  <a:srgbClr val="000099"/>
                </a:solidFill>
                <a:ea typeface="黑体" pitchFamily="2" charset="-122"/>
              </a:endParaRPr>
            </a:p>
          </p:txBody>
        </p:sp>
        <p:sp>
          <p:nvSpPr>
            <p:cNvPr id="4147" name="TextBox 155"/>
            <p:cNvSpPr txBox="1">
              <a:spLocks noChangeArrowheads="1"/>
            </p:cNvSpPr>
            <p:nvPr/>
          </p:nvSpPr>
          <p:spPr bwMode="auto">
            <a:xfrm>
              <a:off x="242397" y="5358698"/>
              <a:ext cx="909223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buFont typeface="Wingdings" pitchFamily="2" charset="2"/>
                <a:buNone/>
              </a:pPr>
              <a:r>
                <a:rPr lang="en-US" altLang="zh-CN" sz="1600" b="1">
                  <a:solidFill>
                    <a:srgbClr val="000099"/>
                  </a:solidFill>
                  <a:ea typeface="黑体" pitchFamily="2" charset="-122"/>
                </a:rPr>
                <a:t>d[1]=10</a:t>
              </a:r>
            </a:p>
            <a:p>
              <a:pPr eaLnBrk="1" hangingPunct="1">
                <a:buFont typeface="Wingdings" pitchFamily="2" charset="2"/>
                <a:buNone/>
              </a:pPr>
              <a:r>
                <a:rPr lang="en-US" altLang="zh-CN" sz="1600" b="1">
                  <a:solidFill>
                    <a:srgbClr val="000099"/>
                  </a:solidFill>
                  <a:ea typeface="黑体" pitchFamily="2" charset="-122"/>
                </a:rPr>
                <a:t>p[1]=0</a:t>
              </a:r>
              <a:endParaRPr lang="zh-CN" altLang="en-US" sz="1600" b="1">
                <a:solidFill>
                  <a:srgbClr val="000099"/>
                </a:solidFill>
                <a:ea typeface="黑体" pitchFamily="2" charset="-122"/>
              </a:endParaRPr>
            </a:p>
          </p:txBody>
        </p:sp>
        <p:sp>
          <p:nvSpPr>
            <p:cNvPr id="4148" name="Text Box 21"/>
            <p:cNvSpPr txBox="1">
              <a:spLocks noChangeArrowheads="1"/>
            </p:cNvSpPr>
            <p:nvPr/>
          </p:nvSpPr>
          <p:spPr bwMode="auto">
            <a:xfrm>
              <a:off x="838914" y="4687917"/>
              <a:ext cx="38985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1600" b="1">
                  <a:solidFill>
                    <a:srgbClr val="C00000"/>
                  </a:solidFill>
                  <a:latin typeface="Times New Roman" pitchFamily="18" charset="0"/>
                </a:rPr>
                <a:t>10</a:t>
              </a:r>
              <a:endParaRPr kumimoji="1" lang="en-US" altLang="zh-CN" sz="1600">
                <a:solidFill>
                  <a:srgbClr val="C00000"/>
                </a:solidFill>
                <a:latin typeface="Times New Roman" pitchFamily="18" charset="0"/>
              </a:endParaRPr>
            </a:p>
          </p:txBody>
        </p:sp>
        <p:sp>
          <p:nvSpPr>
            <p:cNvPr id="4149" name="椭圆 85"/>
            <p:cNvSpPr>
              <a:spLocks noChangeArrowheads="1"/>
            </p:cNvSpPr>
            <p:nvPr/>
          </p:nvSpPr>
          <p:spPr bwMode="auto">
            <a:xfrm>
              <a:off x="1418791" y="4509120"/>
              <a:ext cx="360000" cy="358959"/>
            </a:xfrm>
            <a:prstGeom prst="ellipse">
              <a:avLst/>
            </a:prstGeom>
            <a:noFill/>
            <a:ln w="13970">
              <a:solidFill>
                <a:schemeClr val="bg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8000" tIns="10800" rIns="18000" bIns="10800" anchor="ctr"/>
            <a:lstStyle/>
            <a:p>
              <a:pPr algn="ctr">
                <a:lnSpc>
                  <a:spcPct val="96000"/>
                </a:lnSpc>
              </a:pPr>
              <a:r>
                <a:rPr lang="en-US" altLang="zh-CN" sz="2000" b="1">
                  <a:solidFill>
                    <a:srgbClr val="000099"/>
                  </a:solidFill>
                  <a:ea typeface="黑体" pitchFamily="2" charset="-122"/>
                </a:rPr>
                <a:t>0</a:t>
              </a:r>
              <a:endParaRPr lang="zh-CN" altLang="en-US" sz="2000" b="1">
                <a:solidFill>
                  <a:srgbClr val="000099"/>
                </a:solidFill>
                <a:ea typeface="黑体" pitchFamily="2" charset="-122"/>
              </a:endParaRPr>
            </a:p>
          </p:txBody>
        </p:sp>
        <p:sp>
          <p:nvSpPr>
            <p:cNvPr id="4150" name="椭圆 86"/>
            <p:cNvSpPr>
              <a:spLocks noChangeArrowheads="1"/>
            </p:cNvSpPr>
            <p:nvPr/>
          </p:nvSpPr>
          <p:spPr bwMode="auto">
            <a:xfrm>
              <a:off x="518751" y="5098479"/>
              <a:ext cx="360000" cy="358959"/>
            </a:xfrm>
            <a:prstGeom prst="ellipse">
              <a:avLst/>
            </a:prstGeom>
            <a:noFill/>
            <a:ln w="13970">
              <a:solidFill>
                <a:schemeClr val="bg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8000" tIns="10800" rIns="18000" bIns="10800" anchor="ctr"/>
            <a:lstStyle/>
            <a:p>
              <a:pPr algn="ctr">
                <a:lnSpc>
                  <a:spcPct val="96000"/>
                </a:lnSpc>
              </a:pPr>
              <a:r>
                <a:rPr lang="en-US" altLang="zh-CN" sz="2000" b="1">
                  <a:solidFill>
                    <a:srgbClr val="000099"/>
                  </a:solidFill>
                  <a:ea typeface="黑体" pitchFamily="2" charset="-122"/>
                </a:rPr>
                <a:t>1</a:t>
              </a:r>
              <a:endParaRPr lang="zh-CN" altLang="en-US" sz="2000" b="1">
                <a:solidFill>
                  <a:srgbClr val="000099"/>
                </a:solidFill>
                <a:ea typeface="黑体" pitchFamily="2" charset="-122"/>
              </a:endParaRPr>
            </a:p>
          </p:txBody>
        </p:sp>
        <p:cxnSp>
          <p:nvCxnSpPr>
            <p:cNvPr id="92" name="直接箭头连接符 91"/>
            <p:cNvCxnSpPr>
              <a:stCxn id="4149" idx="2"/>
              <a:endCxn id="4150" idx="7"/>
            </p:cNvCxnSpPr>
            <p:nvPr/>
          </p:nvCxnSpPr>
          <p:spPr>
            <a:xfrm flipH="1">
              <a:off x="825244" y="4689049"/>
              <a:ext cx="593965" cy="462034"/>
            </a:xfrm>
            <a:prstGeom prst="straightConnector1">
              <a:avLst/>
            </a:prstGeom>
            <a:ln w="25400">
              <a:solidFill>
                <a:schemeClr val="bg2">
                  <a:lumMod val="40000"/>
                  <a:lumOff val="6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箭头连接符 94"/>
            <p:cNvCxnSpPr>
              <a:stCxn id="4149" idx="4"/>
              <a:endCxn id="4154" idx="0"/>
            </p:cNvCxnSpPr>
            <p:nvPr/>
          </p:nvCxnSpPr>
          <p:spPr>
            <a:xfrm>
              <a:off x="1598669" y="4868465"/>
              <a:ext cx="560613" cy="1227326"/>
            </a:xfrm>
            <a:prstGeom prst="straightConnector1">
              <a:avLst/>
            </a:prstGeom>
            <a:ln w="25400">
              <a:solidFill>
                <a:schemeClr val="bg2">
                  <a:lumMod val="40000"/>
                  <a:lumOff val="6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53" name="Text Box 21"/>
            <p:cNvSpPr txBox="1">
              <a:spLocks noChangeArrowheads="1"/>
            </p:cNvSpPr>
            <p:nvPr/>
          </p:nvSpPr>
          <p:spPr bwMode="auto">
            <a:xfrm>
              <a:off x="1418771" y="5026471"/>
              <a:ext cx="38985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1600" b="1">
                  <a:solidFill>
                    <a:srgbClr val="C00000"/>
                  </a:solidFill>
                  <a:latin typeface="Times New Roman" pitchFamily="18" charset="0"/>
                </a:rPr>
                <a:t>30</a:t>
              </a:r>
              <a:endParaRPr kumimoji="1" lang="en-US" altLang="zh-CN" sz="1600">
                <a:solidFill>
                  <a:srgbClr val="C00000"/>
                </a:solidFill>
                <a:latin typeface="Times New Roman" pitchFamily="18" charset="0"/>
              </a:endParaRPr>
            </a:p>
          </p:txBody>
        </p:sp>
        <p:sp>
          <p:nvSpPr>
            <p:cNvPr id="4154" name="椭圆 156"/>
            <p:cNvSpPr>
              <a:spLocks noChangeArrowheads="1"/>
            </p:cNvSpPr>
            <p:nvPr/>
          </p:nvSpPr>
          <p:spPr bwMode="auto">
            <a:xfrm>
              <a:off x="1979712" y="6095455"/>
              <a:ext cx="360000" cy="358959"/>
            </a:xfrm>
            <a:prstGeom prst="ellipse">
              <a:avLst/>
            </a:prstGeom>
            <a:noFill/>
            <a:ln w="13970">
              <a:solidFill>
                <a:schemeClr val="bg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8000" tIns="10800" rIns="18000" bIns="10800" anchor="ctr"/>
            <a:lstStyle/>
            <a:p>
              <a:pPr algn="ctr">
                <a:lnSpc>
                  <a:spcPct val="96000"/>
                </a:lnSpc>
              </a:pPr>
              <a:r>
                <a:rPr lang="en-US" altLang="zh-CN" sz="2000" b="1">
                  <a:solidFill>
                    <a:srgbClr val="000099"/>
                  </a:solidFill>
                  <a:ea typeface="黑体" pitchFamily="2" charset="-122"/>
                </a:rPr>
                <a:t>3</a:t>
              </a:r>
              <a:endParaRPr lang="zh-CN" altLang="en-US" sz="2000" b="1">
                <a:solidFill>
                  <a:srgbClr val="000099"/>
                </a:solidFill>
                <a:ea typeface="黑体" pitchFamily="2" charset="-122"/>
              </a:endParaRPr>
            </a:p>
          </p:txBody>
        </p:sp>
        <p:sp>
          <p:nvSpPr>
            <p:cNvPr id="4155" name="TextBox 158"/>
            <p:cNvSpPr txBox="1">
              <a:spLocks noChangeArrowheads="1"/>
            </p:cNvSpPr>
            <p:nvPr/>
          </p:nvSpPr>
          <p:spPr bwMode="auto">
            <a:xfrm>
              <a:off x="1718561" y="6366810"/>
              <a:ext cx="909223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buFont typeface="Wingdings" pitchFamily="2" charset="2"/>
                <a:buNone/>
              </a:pPr>
              <a:r>
                <a:rPr lang="en-US" altLang="zh-CN" sz="1600" b="1">
                  <a:solidFill>
                    <a:srgbClr val="000099"/>
                  </a:solidFill>
                  <a:ea typeface="黑体" pitchFamily="2" charset="-122"/>
                </a:rPr>
                <a:t>d[3]=30</a:t>
              </a:r>
            </a:p>
            <a:p>
              <a:pPr eaLnBrk="1" hangingPunct="1">
                <a:buFont typeface="Wingdings" pitchFamily="2" charset="2"/>
                <a:buNone/>
              </a:pPr>
              <a:r>
                <a:rPr lang="en-US" altLang="zh-CN" sz="1600" b="1">
                  <a:solidFill>
                    <a:srgbClr val="000099"/>
                  </a:solidFill>
                  <a:ea typeface="黑体" pitchFamily="2" charset="-122"/>
                </a:rPr>
                <a:t>p[3]=0</a:t>
              </a:r>
              <a:endParaRPr lang="zh-CN" altLang="en-US" sz="1600" b="1">
                <a:solidFill>
                  <a:srgbClr val="000099"/>
                </a:solidFill>
                <a:ea typeface="黑体" pitchFamily="2" charset="-122"/>
              </a:endParaRPr>
            </a:p>
          </p:txBody>
        </p:sp>
      </p:grpSp>
      <p:grpSp>
        <p:nvGrpSpPr>
          <p:cNvPr id="8" name="组合 17"/>
          <p:cNvGrpSpPr>
            <a:grpSpLocks/>
          </p:cNvGrpSpPr>
          <p:nvPr/>
        </p:nvGrpSpPr>
        <p:grpSpPr bwMode="auto">
          <a:xfrm>
            <a:off x="3159125" y="4476750"/>
            <a:ext cx="2492375" cy="2474913"/>
            <a:chOff x="3158721" y="4476129"/>
            <a:chExt cx="2493399" cy="2475456"/>
          </a:xfrm>
        </p:grpSpPr>
        <p:sp>
          <p:nvSpPr>
            <p:cNvPr id="4130" name="TextBox 161"/>
            <p:cNvSpPr txBox="1">
              <a:spLocks noChangeArrowheads="1"/>
            </p:cNvSpPr>
            <p:nvPr/>
          </p:nvSpPr>
          <p:spPr bwMode="auto">
            <a:xfrm>
              <a:off x="4742897" y="6366810"/>
              <a:ext cx="909223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buFont typeface="Wingdings" pitchFamily="2" charset="2"/>
                <a:buNone/>
              </a:pPr>
              <a:r>
                <a:rPr lang="en-US" altLang="zh-CN" sz="1600" b="1">
                  <a:solidFill>
                    <a:srgbClr val="000099"/>
                  </a:solidFill>
                  <a:ea typeface="黑体" pitchFamily="2" charset="-122"/>
                </a:rPr>
                <a:t>d[3]=30</a:t>
              </a:r>
            </a:p>
            <a:p>
              <a:pPr eaLnBrk="1" hangingPunct="1">
                <a:buFont typeface="Wingdings" pitchFamily="2" charset="2"/>
                <a:buNone/>
              </a:pPr>
              <a:r>
                <a:rPr lang="en-US" altLang="zh-CN" sz="1600" b="1">
                  <a:solidFill>
                    <a:srgbClr val="000099"/>
                  </a:solidFill>
                  <a:ea typeface="黑体" pitchFamily="2" charset="-122"/>
                </a:rPr>
                <a:t>p[3]=0</a:t>
              </a:r>
              <a:endParaRPr lang="zh-CN" altLang="en-US" sz="1600" b="1">
                <a:solidFill>
                  <a:srgbClr val="000099"/>
                </a:solidFill>
                <a:ea typeface="黑体" pitchFamily="2" charset="-122"/>
              </a:endParaRPr>
            </a:p>
          </p:txBody>
        </p:sp>
        <p:grpSp>
          <p:nvGrpSpPr>
            <p:cNvPr id="4131" name="组合 16"/>
            <p:cNvGrpSpPr>
              <a:grpSpLocks/>
            </p:cNvGrpSpPr>
            <p:nvPr/>
          </p:nvGrpSpPr>
          <p:grpSpPr bwMode="auto">
            <a:xfrm>
              <a:off x="3158721" y="4476129"/>
              <a:ext cx="2311523" cy="2475456"/>
              <a:chOff x="3158721" y="4476129"/>
              <a:chExt cx="2311523" cy="2475456"/>
            </a:xfrm>
          </p:grpSpPr>
          <p:grpSp>
            <p:nvGrpSpPr>
              <p:cNvPr id="4132" name="组合 103"/>
              <p:cNvGrpSpPr>
                <a:grpSpLocks/>
              </p:cNvGrpSpPr>
              <p:nvPr/>
            </p:nvGrpSpPr>
            <p:grpSpPr bwMode="auto">
              <a:xfrm>
                <a:off x="3449762" y="4509120"/>
                <a:ext cx="1836084" cy="2034745"/>
                <a:chOff x="4680092" y="4027773"/>
                <a:chExt cx="1836084" cy="2034745"/>
              </a:xfrm>
            </p:grpSpPr>
            <p:sp>
              <p:nvSpPr>
                <p:cNvPr id="4137" name="Text Box 21"/>
                <p:cNvSpPr txBox="1">
                  <a:spLocks noChangeArrowheads="1"/>
                </p:cNvSpPr>
                <p:nvPr/>
              </p:nvSpPr>
              <p:spPr bwMode="auto">
                <a:xfrm>
                  <a:off x="5000255" y="4206570"/>
                  <a:ext cx="389850" cy="33855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9pPr>
                </a:lstStyle>
                <a:p>
                  <a:pPr algn="ctr" eaLnBrk="1" hangingPunct="1"/>
                  <a:r>
                    <a:rPr kumimoji="1" lang="en-US" altLang="zh-CN" sz="1600" b="1">
                      <a:solidFill>
                        <a:srgbClr val="C00000"/>
                      </a:solidFill>
                      <a:latin typeface="Times New Roman" pitchFamily="18" charset="0"/>
                    </a:rPr>
                    <a:t>10</a:t>
                  </a:r>
                  <a:endParaRPr kumimoji="1" lang="en-US" altLang="zh-CN" sz="1600">
                    <a:solidFill>
                      <a:srgbClr val="C00000"/>
                    </a:solidFill>
                    <a:latin typeface="Times New Roman" pitchFamily="18" charset="0"/>
                  </a:endParaRPr>
                </a:p>
              </p:txBody>
            </p:sp>
            <p:sp>
              <p:nvSpPr>
                <p:cNvPr id="4138" name="椭圆 105"/>
                <p:cNvSpPr>
                  <a:spLocks noChangeArrowheads="1"/>
                </p:cNvSpPr>
                <p:nvPr/>
              </p:nvSpPr>
              <p:spPr bwMode="auto">
                <a:xfrm>
                  <a:off x="5580132" y="4027773"/>
                  <a:ext cx="360000" cy="358959"/>
                </a:xfrm>
                <a:prstGeom prst="ellipse">
                  <a:avLst/>
                </a:prstGeom>
                <a:noFill/>
                <a:ln w="13970">
                  <a:solidFill>
                    <a:schemeClr val="bg2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18000" tIns="10800" rIns="18000" bIns="10800" anchor="ctr"/>
                <a:lstStyle/>
                <a:p>
                  <a:pPr algn="ctr">
                    <a:lnSpc>
                      <a:spcPct val="96000"/>
                    </a:lnSpc>
                  </a:pPr>
                  <a:r>
                    <a:rPr lang="en-US" altLang="zh-CN" sz="2000" b="1">
                      <a:solidFill>
                        <a:srgbClr val="000099"/>
                      </a:solidFill>
                      <a:ea typeface="黑体" pitchFamily="2" charset="-122"/>
                    </a:rPr>
                    <a:t>0</a:t>
                  </a:r>
                  <a:endParaRPr lang="zh-CN" altLang="en-US" sz="2000" b="1">
                    <a:solidFill>
                      <a:srgbClr val="000099"/>
                    </a:solidFill>
                    <a:ea typeface="黑体" pitchFamily="2" charset="-122"/>
                  </a:endParaRPr>
                </a:p>
              </p:txBody>
            </p:sp>
            <p:sp>
              <p:nvSpPr>
                <p:cNvPr id="4139" name="椭圆 106"/>
                <p:cNvSpPr>
                  <a:spLocks noChangeArrowheads="1"/>
                </p:cNvSpPr>
                <p:nvPr/>
              </p:nvSpPr>
              <p:spPr bwMode="auto">
                <a:xfrm>
                  <a:off x="4680092" y="4617132"/>
                  <a:ext cx="360000" cy="358959"/>
                </a:xfrm>
                <a:prstGeom prst="ellipse">
                  <a:avLst/>
                </a:prstGeom>
                <a:noFill/>
                <a:ln w="13970">
                  <a:solidFill>
                    <a:schemeClr val="bg2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18000" tIns="10800" rIns="18000" bIns="10800" anchor="ctr"/>
                <a:lstStyle/>
                <a:p>
                  <a:pPr algn="ctr">
                    <a:lnSpc>
                      <a:spcPct val="96000"/>
                    </a:lnSpc>
                  </a:pPr>
                  <a:r>
                    <a:rPr lang="en-US" altLang="zh-CN" sz="2000" b="1">
                      <a:solidFill>
                        <a:srgbClr val="000099"/>
                      </a:solidFill>
                      <a:ea typeface="黑体" pitchFamily="2" charset="-122"/>
                    </a:rPr>
                    <a:t>1</a:t>
                  </a:r>
                  <a:endParaRPr lang="zh-CN" altLang="en-US" sz="2000" b="1">
                    <a:solidFill>
                      <a:srgbClr val="000099"/>
                    </a:solidFill>
                    <a:ea typeface="黑体" pitchFamily="2" charset="-122"/>
                  </a:endParaRPr>
                </a:p>
              </p:txBody>
            </p:sp>
            <p:sp>
              <p:nvSpPr>
                <p:cNvPr id="4140" name="椭圆 108"/>
                <p:cNvSpPr>
                  <a:spLocks noChangeArrowheads="1"/>
                </p:cNvSpPr>
                <p:nvPr/>
              </p:nvSpPr>
              <p:spPr bwMode="auto">
                <a:xfrm>
                  <a:off x="5040092" y="5618138"/>
                  <a:ext cx="360000" cy="358959"/>
                </a:xfrm>
                <a:prstGeom prst="ellipse">
                  <a:avLst/>
                </a:prstGeom>
                <a:noFill/>
                <a:ln w="13970">
                  <a:solidFill>
                    <a:schemeClr val="bg2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18000" tIns="10800" rIns="18000" bIns="10800" anchor="ctr"/>
                <a:lstStyle/>
                <a:p>
                  <a:pPr algn="ctr">
                    <a:lnSpc>
                      <a:spcPct val="96000"/>
                    </a:lnSpc>
                  </a:pPr>
                  <a:r>
                    <a:rPr lang="en-US" altLang="zh-CN" sz="2000" b="1">
                      <a:solidFill>
                        <a:srgbClr val="000099"/>
                      </a:solidFill>
                      <a:ea typeface="黑体" pitchFamily="2" charset="-122"/>
                    </a:rPr>
                    <a:t>2</a:t>
                  </a:r>
                  <a:endParaRPr lang="zh-CN" altLang="en-US" sz="2000" b="1">
                    <a:solidFill>
                      <a:srgbClr val="000099"/>
                    </a:solidFill>
                    <a:ea typeface="黑体" pitchFamily="2" charset="-122"/>
                  </a:endParaRPr>
                </a:p>
              </p:txBody>
            </p:sp>
            <p:sp>
              <p:nvSpPr>
                <p:cNvPr id="4141" name="椭圆 109"/>
                <p:cNvSpPr>
                  <a:spLocks noChangeArrowheads="1"/>
                </p:cNvSpPr>
                <p:nvPr/>
              </p:nvSpPr>
              <p:spPr bwMode="auto">
                <a:xfrm>
                  <a:off x="6156176" y="5618139"/>
                  <a:ext cx="360000" cy="358959"/>
                </a:xfrm>
                <a:prstGeom prst="ellipse">
                  <a:avLst/>
                </a:prstGeom>
                <a:noFill/>
                <a:ln w="13970">
                  <a:solidFill>
                    <a:schemeClr val="bg2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18000" tIns="10800" rIns="18000" bIns="10800" anchor="ctr"/>
                <a:lstStyle/>
                <a:p>
                  <a:pPr algn="ctr">
                    <a:lnSpc>
                      <a:spcPct val="96000"/>
                    </a:lnSpc>
                  </a:pPr>
                  <a:r>
                    <a:rPr lang="en-US" altLang="zh-CN" sz="2000" b="1">
                      <a:solidFill>
                        <a:srgbClr val="000099"/>
                      </a:solidFill>
                      <a:ea typeface="黑体" pitchFamily="2" charset="-122"/>
                    </a:rPr>
                    <a:t>3</a:t>
                  </a:r>
                  <a:endParaRPr lang="zh-CN" altLang="en-US" sz="2000" b="1">
                    <a:solidFill>
                      <a:srgbClr val="000099"/>
                    </a:solidFill>
                    <a:ea typeface="黑体" pitchFamily="2" charset="-122"/>
                  </a:endParaRPr>
                </a:p>
              </p:txBody>
            </p:sp>
            <p:cxnSp>
              <p:nvCxnSpPr>
                <p:cNvPr id="112" name="直接箭头连接符 111"/>
                <p:cNvCxnSpPr>
                  <a:stCxn id="4138" idx="2"/>
                  <a:endCxn id="4139" idx="7"/>
                </p:cNvCxnSpPr>
                <p:nvPr/>
              </p:nvCxnSpPr>
              <p:spPr>
                <a:xfrm flipH="1">
                  <a:off x="4986196" y="4207553"/>
                  <a:ext cx="593969" cy="462064"/>
                </a:xfrm>
                <a:prstGeom prst="straightConnector1">
                  <a:avLst/>
                </a:prstGeom>
                <a:ln w="25400">
                  <a:solidFill>
                    <a:schemeClr val="bg2">
                      <a:lumMod val="40000"/>
                      <a:lumOff val="60000"/>
                    </a:schemeClr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5" name="直接箭头连接符 114"/>
                <p:cNvCxnSpPr>
                  <a:stCxn id="4138" idx="4"/>
                  <a:endCxn id="4141" idx="0"/>
                </p:cNvCxnSpPr>
                <p:nvPr/>
              </p:nvCxnSpPr>
              <p:spPr>
                <a:xfrm>
                  <a:off x="5759626" y="4386981"/>
                  <a:ext cx="576499" cy="1230582"/>
                </a:xfrm>
                <a:prstGeom prst="straightConnector1">
                  <a:avLst/>
                </a:prstGeom>
                <a:ln w="25400">
                  <a:solidFill>
                    <a:schemeClr val="bg2">
                      <a:lumMod val="40000"/>
                      <a:lumOff val="60000"/>
                    </a:schemeClr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6" name="直接箭头连接符 115"/>
                <p:cNvCxnSpPr>
                  <a:stCxn id="4141" idx="2"/>
                  <a:endCxn id="4140" idx="6"/>
                </p:cNvCxnSpPr>
                <p:nvPr/>
              </p:nvCxnSpPr>
              <p:spPr>
                <a:xfrm flipH="1" flipV="1">
                  <a:off x="5399115" y="5796990"/>
                  <a:ext cx="755960" cy="0"/>
                </a:xfrm>
                <a:prstGeom prst="straightConnector1">
                  <a:avLst/>
                </a:prstGeom>
                <a:ln w="25400">
                  <a:solidFill>
                    <a:schemeClr val="bg2">
                      <a:lumMod val="40000"/>
                      <a:lumOff val="60000"/>
                    </a:schemeClr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145" name="Text Box 21"/>
                <p:cNvSpPr txBox="1">
                  <a:spLocks noChangeArrowheads="1"/>
                </p:cNvSpPr>
                <p:nvPr/>
              </p:nvSpPr>
              <p:spPr bwMode="auto">
                <a:xfrm>
                  <a:off x="5671144" y="5723964"/>
                  <a:ext cx="389850" cy="33855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charset="0"/>
                      <a:ea typeface="宋体" pitchFamily="2" charset="-122"/>
                    </a:defRPr>
                  </a:lvl9pPr>
                </a:lstStyle>
                <a:p>
                  <a:pPr algn="ctr" eaLnBrk="1" hangingPunct="1"/>
                  <a:r>
                    <a:rPr kumimoji="1" lang="en-US" altLang="zh-CN" sz="1600" b="1">
                      <a:solidFill>
                        <a:srgbClr val="C00000"/>
                      </a:solidFill>
                      <a:latin typeface="Times New Roman" pitchFamily="18" charset="0"/>
                    </a:rPr>
                    <a:t>20</a:t>
                  </a:r>
                  <a:endParaRPr kumimoji="1" lang="en-US" altLang="zh-CN" sz="1600">
                    <a:solidFill>
                      <a:srgbClr val="C00000"/>
                    </a:solidFill>
                    <a:latin typeface="Times New Roman" pitchFamily="18" charset="0"/>
                  </a:endParaRPr>
                </a:p>
              </p:txBody>
            </p:sp>
          </p:grpSp>
          <p:sp>
            <p:nvSpPr>
              <p:cNvPr id="4133" name="TextBox 159"/>
              <p:cNvSpPr txBox="1">
                <a:spLocks noChangeArrowheads="1"/>
              </p:cNvSpPr>
              <p:nvPr/>
            </p:nvSpPr>
            <p:spPr bwMode="auto">
              <a:xfrm>
                <a:off x="4605550" y="4476129"/>
                <a:ext cx="864694" cy="5849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Font typeface="Wingdings" pitchFamily="2" charset="2"/>
                  <a:buNone/>
                </a:pPr>
                <a:r>
                  <a:rPr lang="en-US" altLang="zh-CN" sz="1600" b="1">
                    <a:solidFill>
                      <a:srgbClr val="000099"/>
                    </a:solidFill>
                    <a:ea typeface="黑体" pitchFamily="2" charset="-122"/>
                  </a:rPr>
                  <a:t>d[0]=0</a:t>
                </a:r>
              </a:p>
              <a:p>
                <a:pPr eaLnBrk="1" hangingPunct="1">
                  <a:buFont typeface="Wingdings" pitchFamily="2" charset="2"/>
                  <a:buNone/>
                </a:pPr>
                <a:r>
                  <a:rPr lang="en-US" altLang="zh-CN" sz="1600" b="1">
                    <a:solidFill>
                      <a:srgbClr val="000099"/>
                    </a:solidFill>
                    <a:ea typeface="黑体" pitchFamily="2" charset="-122"/>
                  </a:rPr>
                  <a:t>p[0]=-1</a:t>
                </a:r>
                <a:endParaRPr lang="zh-CN" altLang="en-US" sz="1600" b="1">
                  <a:solidFill>
                    <a:srgbClr val="000099"/>
                  </a:solidFill>
                  <a:ea typeface="黑体" pitchFamily="2" charset="-122"/>
                </a:endParaRPr>
              </a:p>
            </p:txBody>
          </p:sp>
          <p:sp>
            <p:nvSpPr>
              <p:cNvPr id="4134" name="TextBox 160"/>
              <p:cNvSpPr txBox="1">
                <a:spLocks noChangeArrowheads="1"/>
              </p:cNvSpPr>
              <p:nvPr/>
            </p:nvSpPr>
            <p:spPr bwMode="auto">
              <a:xfrm>
                <a:off x="3158721" y="5358698"/>
                <a:ext cx="909223" cy="5847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Font typeface="Wingdings" pitchFamily="2" charset="2"/>
                  <a:buNone/>
                </a:pPr>
                <a:r>
                  <a:rPr lang="en-US" altLang="zh-CN" sz="1600" b="1">
                    <a:solidFill>
                      <a:srgbClr val="000099"/>
                    </a:solidFill>
                    <a:ea typeface="黑体" pitchFamily="2" charset="-122"/>
                  </a:rPr>
                  <a:t>d[1]=10</a:t>
                </a:r>
              </a:p>
              <a:p>
                <a:pPr eaLnBrk="1" hangingPunct="1">
                  <a:buFont typeface="Wingdings" pitchFamily="2" charset="2"/>
                  <a:buNone/>
                </a:pPr>
                <a:r>
                  <a:rPr lang="en-US" altLang="zh-CN" sz="1600" b="1">
                    <a:solidFill>
                      <a:srgbClr val="000099"/>
                    </a:solidFill>
                    <a:ea typeface="黑体" pitchFamily="2" charset="-122"/>
                  </a:rPr>
                  <a:t>p[1]=0</a:t>
                </a:r>
                <a:endParaRPr lang="zh-CN" altLang="en-US" sz="1600" b="1">
                  <a:solidFill>
                    <a:srgbClr val="000099"/>
                  </a:solidFill>
                  <a:ea typeface="黑体" pitchFamily="2" charset="-122"/>
                </a:endParaRPr>
              </a:p>
            </p:txBody>
          </p:sp>
          <p:sp>
            <p:nvSpPr>
              <p:cNvPr id="4135" name="Text Box 21"/>
              <p:cNvSpPr txBox="1">
                <a:spLocks noChangeArrowheads="1"/>
              </p:cNvSpPr>
              <p:nvPr/>
            </p:nvSpPr>
            <p:spPr bwMode="auto">
              <a:xfrm>
                <a:off x="4355976" y="5026471"/>
                <a:ext cx="389850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sz="1600" b="1">
                    <a:solidFill>
                      <a:srgbClr val="C00000"/>
                    </a:solidFill>
                    <a:latin typeface="Times New Roman" pitchFamily="18" charset="0"/>
                  </a:rPr>
                  <a:t>30</a:t>
                </a:r>
                <a:endParaRPr kumimoji="1" lang="en-US" altLang="zh-CN" sz="1600">
                  <a:solidFill>
                    <a:srgbClr val="C0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4136" name="TextBox 163"/>
              <p:cNvSpPr txBox="1">
                <a:spLocks noChangeArrowheads="1"/>
              </p:cNvSpPr>
              <p:nvPr/>
            </p:nvSpPr>
            <p:spPr bwMode="auto">
              <a:xfrm>
                <a:off x="3563888" y="6366810"/>
                <a:ext cx="909223" cy="5847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eaLnBrk="1" hangingPunct="1">
                  <a:buFont typeface="Wingdings" pitchFamily="2" charset="2"/>
                  <a:buNone/>
                </a:pPr>
                <a:r>
                  <a:rPr lang="en-US" altLang="zh-CN" sz="1600" b="1">
                    <a:solidFill>
                      <a:srgbClr val="000099"/>
                    </a:solidFill>
                    <a:ea typeface="黑体" pitchFamily="2" charset="-122"/>
                  </a:rPr>
                  <a:t>d[2]=50</a:t>
                </a:r>
              </a:p>
              <a:p>
                <a:pPr eaLnBrk="1" hangingPunct="1">
                  <a:buFont typeface="Wingdings" pitchFamily="2" charset="2"/>
                  <a:buNone/>
                </a:pPr>
                <a:r>
                  <a:rPr lang="en-US" altLang="zh-CN" sz="1600" b="1">
                    <a:solidFill>
                      <a:srgbClr val="000099"/>
                    </a:solidFill>
                    <a:ea typeface="黑体" pitchFamily="2" charset="-122"/>
                  </a:rPr>
                  <a:t>p[2]=3</a:t>
                </a:r>
                <a:endParaRPr lang="zh-CN" altLang="en-US" sz="1600" b="1">
                  <a:solidFill>
                    <a:srgbClr val="000099"/>
                  </a:solidFill>
                  <a:ea typeface="黑体" pitchFamily="2" charset="-122"/>
                </a:endParaRPr>
              </a:p>
            </p:txBody>
          </p:sp>
        </p:grpSp>
      </p:grpSp>
      <p:grpSp>
        <p:nvGrpSpPr>
          <p:cNvPr id="11" name="组合 15"/>
          <p:cNvGrpSpPr>
            <a:grpSpLocks/>
          </p:cNvGrpSpPr>
          <p:nvPr/>
        </p:nvGrpSpPr>
        <p:grpSpPr bwMode="auto">
          <a:xfrm>
            <a:off x="6084888" y="4476750"/>
            <a:ext cx="2992437" cy="2474913"/>
            <a:chOff x="6084168" y="4476129"/>
            <a:chExt cx="2992825" cy="2475456"/>
          </a:xfrm>
        </p:grpSpPr>
        <p:grpSp>
          <p:nvGrpSpPr>
            <p:cNvPr id="4111" name="组合 123"/>
            <p:cNvGrpSpPr>
              <a:grpSpLocks/>
            </p:cNvGrpSpPr>
            <p:nvPr/>
          </p:nvGrpSpPr>
          <p:grpSpPr bwMode="auto">
            <a:xfrm>
              <a:off x="6366086" y="4509120"/>
              <a:ext cx="2160140" cy="2034745"/>
              <a:chOff x="4680092" y="4027773"/>
              <a:chExt cx="2160140" cy="2034745"/>
            </a:xfrm>
          </p:grpSpPr>
          <p:sp>
            <p:nvSpPr>
              <p:cNvPr id="4117" name="Text Box 21"/>
              <p:cNvSpPr txBox="1">
                <a:spLocks noChangeArrowheads="1"/>
              </p:cNvSpPr>
              <p:nvPr/>
            </p:nvSpPr>
            <p:spPr bwMode="auto">
              <a:xfrm>
                <a:off x="5000255" y="4206570"/>
                <a:ext cx="389850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sz="1600" b="1">
                    <a:solidFill>
                      <a:srgbClr val="C00000"/>
                    </a:solidFill>
                    <a:latin typeface="Times New Roman" pitchFamily="18" charset="0"/>
                  </a:rPr>
                  <a:t>10</a:t>
                </a:r>
                <a:endParaRPr kumimoji="1" lang="en-US" altLang="zh-CN" sz="1600">
                  <a:solidFill>
                    <a:srgbClr val="C0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4118" name="椭圆 125"/>
              <p:cNvSpPr>
                <a:spLocks noChangeArrowheads="1"/>
              </p:cNvSpPr>
              <p:nvPr/>
            </p:nvSpPr>
            <p:spPr bwMode="auto">
              <a:xfrm>
                <a:off x="5580132" y="4027773"/>
                <a:ext cx="360000" cy="358959"/>
              </a:xfrm>
              <a:prstGeom prst="ellipse">
                <a:avLst/>
              </a:prstGeom>
              <a:noFill/>
              <a:ln w="13970">
                <a:solidFill>
                  <a:schemeClr val="bg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8000" tIns="10800" rIns="18000" bIns="10800" anchor="ctr"/>
              <a:lstStyle/>
              <a:p>
                <a:pPr algn="ctr">
                  <a:lnSpc>
                    <a:spcPct val="96000"/>
                  </a:lnSpc>
                </a:pPr>
                <a:r>
                  <a:rPr lang="en-US" altLang="zh-CN" sz="2000" b="1">
                    <a:solidFill>
                      <a:srgbClr val="000099"/>
                    </a:solidFill>
                    <a:ea typeface="黑体" pitchFamily="2" charset="-122"/>
                  </a:rPr>
                  <a:t>0</a:t>
                </a:r>
                <a:endParaRPr lang="zh-CN" altLang="en-US" sz="2000" b="1">
                  <a:solidFill>
                    <a:srgbClr val="000099"/>
                  </a:solidFill>
                  <a:ea typeface="黑体" pitchFamily="2" charset="-122"/>
                </a:endParaRPr>
              </a:p>
            </p:txBody>
          </p:sp>
          <p:sp>
            <p:nvSpPr>
              <p:cNvPr id="4119" name="椭圆 126"/>
              <p:cNvSpPr>
                <a:spLocks noChangeArrowheads="1"/>
              </p:cNvSpPr>
              <p:nvPr/>
            </p:nvSpPr>
            <p:spPr bwMode="auto">
              <a:xfrm>
                <a:off x="4680092" y="4617132"/>
                <a:ext cx="360000" cy="358959"/>
              </a:xfrm>
              <a:prstGeom prst="ellipse">
                <a:avLst/>
              </a:prstGeom>
              <a:noFill/>
              <a:ln w="13970">
                <a:solidFill>
                  <a:schemeClr val="bg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8000" tIns="10800" rIns="18000" bIns="10800" anchor="ctr"/>
              <a:lstStyle/>
              <a:p>
                <a:pPr algn="ctr">
                  <a:lnSpc>
                    <a:spcPct val="96000"/>
                  </a:lnSpc>
                </a:pPr>
                <a:r>
                  <a:rPr lang="en-US" altLang="zh-CN" sz="2000" b="1">
                    <a:solidFill>
                      <a:srgbClr val="000099"/>
                    </a:solidFill>
                    <a:ea typeface="黑体" pitchFamily="2" charset="-122"/>
                  </a:rPr>
                  <a:t>1</a:t>
                </a:r>
                <a:endParaRPr lang="zh-CN" altLang="en-US" sz="2000" b="1">
                  <a:solidFill>
                    <a:srgbClr val="000099"/>
                  </a:solidFill>
                  <a:ea typeface="黑体" pitchFamily="2" charset="-122"/>
                </a:endParaRPr>
              </a:p>
            </p:txBody>
          </p:sp>
          <p:sp>
            <p:nvSpPr>
              <p:cNvPr id="4120" name="椭圆 127"/>
              <p:cNvSpPr>
                <a:spLocks noChangeArrowheads="1"/>
              </p:cNvSpPr>
              <p:nvPr/>
            </p:nvSpPr>
            <p:spPr bwMode="auto">
              <a:xfrm>
                <a:off x="6480232" y="4617132"/>
                <a:ext cx="360000" cy="358959"/>
              </a:xfrm>
              <a:prstGeom prst="ellipse">
                <a:avLst/>
              </a:prstGeom>
              <a:noFill/>
              <a:ln w="13970">
                <a:solidFill>
                  <a:schemeClr val="bg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8000" tIns="10800" rIns="18000" bIns="10800" anchor="ctr"/>
              <a:lstStyle/>
              <a:p>
                <a:pPr algn="ctr">
                  <a:lnSpc>
                    <a:spcPct val="96000"/>
                  </a:lnSpc>
                </a:pPr>
                <a:r>
                  <a:rPr lang="en-US" altLang="zh-CN" sz="2000" b="1">
                    <a:solidFill>
                      <a:srgbClr val="000099"/>
                    </a:solidFill>
                    <a:ea typeface="黑体" pitchFamily="2" charset="-122"/>
                  </a:rPr>
                  <a:t>4</a:t>
                </a:r>
                <a:endParaRPr lang="zh-CN" altLang="en-US" sz="2000" b="1">
                  <a:solidFill>
                    <a:srgbClr val="000099"/>
                  </a:solidFill>
                  <a:ea typeface="黑体" pitchFamily="2" charset="-122"/>
                </a:endParaRPr>
              </a:p>
            </p:txBody>
          </p:sp>
          <p:sp>
            <p:nvSpPr>
              <p:cNvPr id="4121" name="椭圆 128"/>
              <p:cNvSpPr>
                <a:spLocks noChangeArrowheads="1"/>
              </p:cNvSpPr>
              <p:nvPr/>
            </p:nvSpPr>
            <p:spPr bwMode="auto">
              <a:xfrm>
                <a:off x="5040092" y="5618138"/>
                <a:ext cx="360000" cy="358959"/>
              </a:xfrm>
              <a:prstGeom prst="ellipse">
                <a:avLst/>
              </a:prstGeom>
              <a:noFill/>
              <a:ln w="13970">
                <a:solidFill>
                  <a:schemeClr val="bg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8000" tIns="10800" rIns="18000" bIns="10800" anchor="ctr"/>
              <a:lstStyle/>
              <a:p>
                <a:pPr algn="ctr">
                  <a:lnSpc>
                    <a:spcPct val="96000"/>
                  </a:lnSpc>
                </a:pPr>
                <a:r>
                  <a:rPr lang="en-US" altLang="zh-CN" sz="2000" b="1">
                    <a:solidFill>
                      <a:srgbClr val="000099"/>
                    </a:solidFill>
                    <a:ea typeface="黑体" pitchFamily="2" charset="-122"/>
                  </a:rPr>
                  <a:t>2</a:t>
                </a:r>
                <a:endParaRPr lang="zh-CN" altLang="en-US" sz="2000" b="1">
                  <a:solidFill>
                    <a:srgbClr val="000099"/>
                  </a:solidFill>
                  <a:ea typeface="黑体" pitchFamily="2" charset="-122"/>
                </a:endParaRPr>
              </a:p>
            </p:txBody>
          </p:sp>
          <p:sp>
            <p:nvSpPr>
              <p:cNvPr id="4122" name="椭圆 129"/>
              <p:cNvSpPr>
                <a:spLocks noChangeArrowheads="1"/>
              </p:cNvSpPr>
              <p:nvPr/>
            </p:nvSpPr>
            <p:spPr bwMode="auto">
              <a:xfrm>
                <a:off x="6156176" y="5618139"/>
                <a:ext cx="360000" cy="358959"/>
              </a:xfrm>
              <a:prstGeom prst="ellipse">
                <a:avLst/>
              </a:prstGeom>
              <a:noFill/>
              <a:ln w="13970">
                <a:solidFill>
                  <a:schemeClr val="bg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8000" tIns="10800" rIns="18000" bIns="10800" anchor="ctr"/>
              <a:lstStyle/>
              <a:p>
                <a:pPr algn="ctr">
                  <a:lnSpc>
                    <a:spcPct val="96000"/>
                  </a:lnSpc>
                </a:pPr>
                <a:r>
                  <a:rPr lang="en-US" altLang="zh-CN" sz="2000" b="1">
                    <a:solidFill>
                      <a:srgbClr val="000099"/>
                    </a:solidFill>
                    <a:ea typeface="黑体" pitchFamily="2" charset="-122"/>
                  </a:rPr>
                  <a:t>3</a:t>
                </a:r>
                <a:endParaRPr lang="zh-CN" altLang="en-US" sz="2000" b="1">
                  <a:solidFill>
                    <a:srgbClr val="000099"/>
                  </a:solidFill>
                  <a:ea typeface="黑体" pitchFamily="2" charset="-122"/>
                </a:endParaRPr>
              </a:p>
            </p:txBody>
          </p:sp>
          <p:cxnSp>
            <p:nvCxnSpPr>
              <p:cNvPr id="132" name="直接箭头连接符 131"/>
              <p:cNvCxnSpPr>
                <a:stCxn id="4118" idx="2"/>
                <a:endCxn id="4119" idx="7"/>
              </p:cNvCxnSpPr>
              <p:nvPr/>
            </p:nvCxnSpPr>
            <p:spPr>
              <a:xfrm flipH="1">
                <a:off x="4987213" y="4207553"/>
                <a:ext cx="593802" cy="462064"/>
              </a:xfrm>
              <a:prstGeom prst="straightConnector1">
                <a:avLst/>
              </a:prstGeom>
              <a:ln w="25400">
                <a:solidFill>
                  <a:schemeClr val="bg2">
                    <a:lumMod val="40000"/>
                    <a:lumOff val="60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直接箭头连接符 134"/>
              <p:cNvCxnSpPr>
                <a:stCxn id="4118" idx="4"/>
                <a:endCxn id="4122" idx="0"/>
              </p:cNvCxnSpPr>
              <p:nvPr/>
            </p:nvCxnSpPr>
            <p:spPr>
              <a:xfrm>
                <a:off x="5760426" y="4386981"/>
                <a:ext cx="576337" cy="1230582"/>
              </a:xfrm>
              <a:prstGeom prst="straightConnector1">
                <a:avLst/>
              </a:prstGeom>
              <a:ln w="25400">
                <a:solidFill>
                  <a:schemeClr val="bg2">
                    <a:lumMod val="40000"/>
                    <a:lumOff val="60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直接箭头连接符 135"/>
              <p:cNvCxnSpPr>
                <a:stCxn id="4122" idx="2"/>
                <a:endCxn id="4121" idx="6"/>
              </p:cNvCxnSpPr>
              <p:nvPr/>
            </p:nvCxnSpPr>
            <p:spPr>
              <a:xfrm flipH="1" flipV="1">
                <a:off x="5400016" y="5796990"/>
                <a:ext cx="755748" cy="0"/>
              </a:xfrm>
              <a:prstGeom prst="straightConnector1">
                <a:avLst/>
              </a:prstGeom>
              <a:ln w="25400">
                <a:solidFill>
                  <a:schemeClr val="bg2">
                    <a:lumMod val="40000"/>
                    <a:lumOff val="60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直接箭头连接符 136"/>
              <p:cNvCxnSpPr>
                <a:stCxn id="4121" idx="7"/>
                <a:endCxn id="4120" idx="3"/>
              </p:cNvCxnSpPr>
              <p:nvPr/>
            </p:nvCxnSpPr>
            <p:spPr>
              <a:xfrm flipV="1">
                <a:off x="5347623" y="4923673"/>
                <a:ext cx="1186016" cy="746289"/>
              </a:xfrm>
              <a:prstGeom prst="straightConnector1">
                <a:avLst/>
              </a:prstGeom>
              <a:ln w="25400">
                <a:solidFill>
                  <a:schemeClr val="bg2">
                    <a:lumMod val="40000"/>
                    <a:lumOff val="60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27" name="Text Box 21"/>
              <p:cNvSpPr txBox="1">
                <a:spLocks noChangeArrowheads="1"/>
              </p:cNvSpPr>
              <p:nvPr/>
            </p:nvSpPr>
            <p:spPr bwMode="auto">
              <a:xfrm>
                <a:off x="5580112" y="4545124"/>
                <a:ext cx="389850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sz="1600" b="1">
                    <a:solidFill>
                      <a:srgbClr val="C00000"/>
                    </a:solidFill>
                    <a:latin typeface="Times New Roman" pitchFamily="18" charset="0"/>
                  </a:rPr>
                  <a:t>30</a:t>
                </a:r>
                <a:endParaRPr kumimoji="1" lang="en-US" altLang="zh-CN" sz="1600">
                  <a:solidFill>
                    <a:srgbClr val="C0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4128" name="Text Box 21"/>
              <p:cNvSpPr txBox="1">
                <a:spLocks noChangeArrowheads="1"/>
              </p:cNvSpPr>
              <p:nvPr/>
            </p:nvSpPr>
            <p:spPr bwMode="auto">
              <a:xfrm>
                <a:off x="5412916" y="5214682"/>
                <a:ext cx="389850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sz="1600" b="1">
                    <a:solidFill>
                      <a:srgbClr val="C00000"/>
                    </a:solidFill>
                    <a:latin typeface="Times New Roman" pitchFamily="18" charset="0"/>
                  </a:rPr>
                  <a:t>10</a:t>
                </a:r>
                <a:endParaRPr kumimoji="1" lang="en-US" altLang="zh-CN" sz="1600">
                  <a:solidFill>
                    <a:srgbClr val="C0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4129" name="Text Box 21"/>
              <p:cNvSpPr txBox="1">
                <a:spLocks noChangeArrowheads="1"/>
              </p:cNvSpPr>
              <p:nvPr/>
            </p:nvSpPr>
            <p:spPr bwMode="auto">
              <a:xfrm>
                <a:off x="5671144" y="5723964"/>
                <a:ext cx="389850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sz="1600" b="1">
                    <a:solidFill>
                      <a:srgbClr val="C00000"/>
                    </a:solidFill>
                    <a:latin typeface="Times New Roman" pitchFamily="18" charset="0"/>
                  </a:rPr>
                  <a:t>20</a:t>
                </a:r>
                <a:endParaRPr kumimoji="1" lang="en-US" altLang="zh-CN" sz="1600">
                  <a:solidFill>
                    <a:srgbClr val="C00000"/>
                  </a:solidFill>
                  <a:latin typeface="Times New Roman" pitchFamily="18" charset="0"/>
                </a:endParaRPr>
              </a:p>
            </p:txBody>
          </p:sp>
        </p:grpSp>
        <p:sp>
          <p:nvSpPr>
            <p:cNvPr id="4112" name="TextBox 164"/>
            <p:cNvSpPr txBox="1">
              <a:spLocks noChangeArrowheads="1"/>
            </p:cNvSpPr>
            <p:nvPr/>
          </p:nvSpPr>
          <p:spPr bwMode="auto">
            <a:xfrm>
              <a:off x="7530997" y="4476129"/>
              <a:ext cx="864451" cy="5849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buFont typeface="Wingdings" pitchFamily="2" charset="2"/>
                <a:buNone/>
              </a:pPr>
              <a:r>
                <a:rPr lang="en-US" altLang="zh-CN" sz="1600" b="1">
                  <a:solidFill>
                    <a:srgbClr val="000099"/>
                  </a:solidFill>
                  <a:ea typeface="黑体" pitchFamily="2" charset="-122"/>
                </a:rPr>
                <a:t>d[0]=0</a:t>
              </a:r>
            </a:p>
            <a:p>
              <a:pPr eaLnBrk="1" hangingPunct="1">
                <a:buFont typeface="Wingdings" pitchFamily="2" charset="2"/>
                <a:buNone/>
              </a:pPr>
              <a:r>
                <a:rPr lang="en-US" altLang="zh-CN" sz="1600" b="1">
                  <a:solidFill>
                    <a:srgbClr val="000099"/>
                  </a:solidFill>
                  <a:ea typeface="黑体" pitchFamily="2" charset="-122"/>
                </a:rPr>
                <a:t>p[0]=-1</a:t>
              </a:r>
              <a:endParaRPr lang="zh-CN" altLang="en-US" sz="1600" b="1">
                <a:solidFill>
                  <a:srgbClr val="000099"/>
                </a:solidFill>
                <a:ea typeface="黑体" pitchFamily="2" charset="-122"/>
              </a:endParaRPr>
            </a:p>
          </p:txBody>
        </p:sp>
        <p:sp>
          <p:nvSpPr>
            <p:cNvPr id="4113" name="TextBox 165"/>
            <p:cNvSpPr txBox="1">
              <a:spLocks noChangeArrowheads="1"/>
            </p:cNvSpPr>
            <p:nvPr/>
          </p:nvSpPr>
          <p:spPr bwMode="auto">
            <a:xfrm>
              <a:off x="6084168" y="5358698"/>
              <a:ext cx="909223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buFont typeface="Wingdings" pitchFamily="2" charset="2"/>
                <a:buNone/>
              </a:pPr>
              <a:r>
                <a:rPr lang="en-US" altLang="zh-CN" sz="1600" b="1">
                  <a:solidFill>
                    <a:srgbClr val="000099"/>
                  </a:solidFill>
                  <a:ea typeface="黑体" pitchFamily="2" charset="-122"/>
                </a:rPr>
                <a:t>d[1]=10</a:t>
              </a:r>
            </a:p>
            <a:p>
              <a:pPr eaLnBrk="1" hangingPunct="1">
                <a:buFont typeface="Wingdings" pitchFamily="2" charset="2"/>
                <a:buNone/>
              </a:pPr>
              <a:r>
                <a:rPr lang="en-US" altLang="zh-CN" sz="1600" b="1">
                  <a:solidFill>
                    <a:srgbClr val="000099"/>
                  </a:solidFill>
                  <a:ea typeface="黑体" pitchFamily="2" charset="-122"/>
                </a:rPr>
                <a:t>p[1]=0</a:t>
              </a:r>
              <a:endParaRPr lang="zh-CN" altLang="en-US" sz="1600" b="1">
                <a:solidFill>
                  <a:srgbClr val="000099"/>
                </a:solidFill>
                <a:ea typeface="黑体" pitchFamily="2" charset="-122"/>
              </a:endParaRPr>
            </a:p>
          </p:txBody>
        </p:sp>
        <p:sp>
          <p:nvSpPr>
            <p:cNvPr id="4114" name="TextBox 166"/>
            <p:cNvSpPr txBox="1">
              <a:spLocks noChangeArrowheads="1"/>
            </p:cNvSpPr>
            <p:nvPr/>
          </p:nvSpPr>
          <p:spPr bwMode="auto">
            <a:xfrm>
              <a:off x="7668344" y="6366810"/>
              <a:ext cx="909223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buFont typeface="Wingdings" pitchFamily="2" charset="2"/>
                <a:buNone/>
              </a:pPr>
              <a:r>
                <a:rPr lang="en-US" altLang="zh-CN" sz="1600" b="1">
                  <a:solidFill>
                    <a:srgbClr val="000099"/>
                  </a:solidFill>
                  <a:ea typeface="黑体" pitchFamily="2" charset="-122"/>
                </a:rPr>
                <a:t>d[3]=30</a:t>
              </a:r>
            </a:p>
            <a:p>
              <a:pPr eaLnBrk="1" hangingPunct="1">
                <a:buFont typeface="Wingdings" pitchFamily="2" charset="2"/>
                <a:buNone/>
              </a:pPr>
              <a:r>
                <a:rPr lang="en-US" altLang="zh-CN" sz="1600" b="1">
                  <a:solidFill>
                    <a:srgbClr val="000099"/>
                  </a:solidFill>
                  <a:ea typeface="黑体" pitchFamily="2" charset="-122"/>
                </a:rPr>
                <a:t>p[3]=0</a:t>
              </a:r>
              <a:endParaRPr lang="zh-CN" altLang="en-US" sz="1600" b="1">
                <a:solidFill>
                  <a:srgbClr val="000099"/>
                </a:solidFill>
                <a:ea typeface="黑体" pitchFamily="2" charset="-122"/>
              </a:endParaRPr>
            </a:p>
          </p:txBody>
        </p:sp>
        <p:sp>
          <p:nvSpPr>
            <p:cNvPr id="4115" name="TextBox 167"/>
            <p:cNvSpPr txBox="1">
              <a:spLocks noChangeArrowheads="1"/>
            </p:cNvSpPr>
            <p:nvPr/>
          </p:nvSpPr>
          <p:spPr bwMode="auto">
            <a:xfrm>
              <a:off x="6489335" y="6366810"/>
              <a:ext cx="909223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buFont typeface="Wingdings" pitchFamily="2" charset="2"/>
                <a:buNone/>
              </a:pPr>
              <a:r>
                <a:rPr lang="en-US" altLang="zh-CN" sz="1600" b="1">
                  <a:solidFill>
                    <a:srgbClr val="000099"/>
                  </a:solidFill>
                  <a:ea typeface="黑体" pitchFamily="2" charset="-122"/>
                </a:rPr>
                <a:t>d[2]=50</a:t>
              </a:r>
            </a:p>
            <a:p>
              <a:pPr eaLnBrk="1" hangingPunct="1">
                <a:buFont typeface="Wingdings" pitchFamily="2" charset="2"/>
                <a:buNone/>
              </a:pPr>
              <a:r>
                <a:rPr lang="en-US" altLang="zh-CN" sz="1600" b="1">
                  <a:solidFill>
                    <a:srgbClr val="000099"/>
                  </a:solidFill>
                  <a:ea typeface="黑体" pitchFamily="2" charset="-122"/>
                </a:rPr>
                <a:t>p[2]=3</a:t>
              </a:r>
              <a:endParaRPr lang="zh-CN" altLang="en-US" sz="1600" b="1">
                <a:solidFill>
                  <a:srgbClr val="000099"/>
                </a:solidFill>
                <a:ea typeface="黑体" pitchFamily="2" charset="-122"/>
              </a:endParaRPr>
            </a:p>
          </p:txBody>
        </p:sp>
        <p:sp>
          <p:nvSpPr>
            <p:cNvPr id="4116" name="TextBox 168"/>
            <p:cNvSpPr txBox="1">
              <a:spLocks noChangeArrowheads="1"/>
            </p:cNvSpPr>
            <p:nvPr/>
          </p:nvSpPr>
          <p:spPr bwMode="auto">
            <a:xfrm>
              <a:off x="8167770" y="5373216"/>
              <a:ext cx="909223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buFont typeface="Wingdings" pitchFamily="2" charset="2"/>
                <a:buNone/>
              </a:pPr>
              <a:r>
                <a:rPr lang="en-US" altLang="zh-CN" sz="1600" b="1">
                  <a:solidFill>
                    <a:srgbClr val="000099"/>
                  </a:solidFill>
                  <a:ea typeface="黑体" pitchFamily="2" charset="-122"/>
                </a:rPr>
                <a:t>d[4]=60</a:t>
              </a:r>
            </a:p>
            <a:p>
              <a:pPr eaLnBrk="1" hangingPunct="1">
                <a:buFont typeface="Wingdings" pitchFamily="2" charset="2"/>
                <a:buNone/>
              </a:pPr>
              <a:r>
                <a:rPr lang="en-US" altLang="zh-CN" sz="1600" b="1">
                  <a:solidFill>
                    <a:srgbClr val="000099"/>
                  </a:solidFill>
                  <a:ea typeface="黑体" pitchFamily="2" charset="-122"/>
                </a:rPr>
                <a:t>p[4]=2</a:t>
              </a:r>
              <a:endParaRPr lang="zh-CN" altLang="en-US" sz="1600" b="1">
                <a:solidFill>
                  <a:srgbClr val="000099"/>
                </a:solidFill>
                <a:ea typeface="黑体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95673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最短路径</a:t>
            </a:r>
          </a:p>
        </p:txBody>
      </p:sp>
      <p:sp>
        <p:nvSpPr>
          <p:cNvPr id="5124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>
                <a:latin typeface="Arial" charset="0"/>
                <a:ea typeface="黑体" pitchFamily="2" charset="-122"/>
              </a:rPr>
              <a:t>Dijkstra</a:t>
            </a:r>
            <a:r>
              <a:rPr lang="zh-CN" altLang="en-US">
                <a:latin typeface="Arial" charset="0"/>
                <a:ea typeface="黑体" pitchFamily="2" charset="-122"/>
              </a:rPr>
              <a:t>算法</a:t>
            </a:r>
            <a:r>
              <a:rPr lang="en-US" altLang="zh-CN">
                <a:latin typeface="Arial" charset="0"/>
                <a:ea typeface="黑体" pitchFamily="2" charset="-122"/>
              </a:rPr>
              <a:t>(</a:t>
            </a:r>
            <a:r>
              <a:rPr lang="zh-CN" altLang="en-US">
                <a:latin typeface="Arial" charset="0"/>
                <a:ea typeface="黑体" pitchFamily="2" charset="-122"/>
              </a:rPr>
              <a:t>记录路径</a:t>
            </a:r>
            <a:r>
              <a:rPr lang="en-US" altLang="zh-CN">
                <a:latin typeface="Arial" charset="0"/>
                <a:ea typeface="黑体" pitchFamily="2" charset="-122"/>
              </a:rPr>
              <a:t>)</a:t>
            </a:r>
            <a:endParaRPr lang="zh-CN" altLang="en-US">
              <a:latin typeface="Arial" charset="0"/>
              <a:ea typeface="黑体" pitchFamily="2" charset="-122"/>
            </a:endParaRPr>
          </a:p>
        </p:txBody>
      </p:sp>
      <p:grpSp>
        <p:nvGrpSpPr>
          <p:cNvPr id="5125" name="组合 53"/>
          <p:cNvGrpSpPr>
            <a:grpSpLocks/>
          </p:cNvGrpSpPr>
          <p:nvPr/>
        </p:nvGrpSpPr>
        <p:grpSpPr bwMode="auto">
          <a:xfrm>
            <a:off x="488950" y="2024063"/>
            <a:ext cx="2205038" cy="2035175"/>
            <a:chOff x="4650202" y="4027773"/>
            <a:chExt cx="2204955" cy="2034745"/>
          </a:xfrm>
        </p:grpSpPr>
        <p:sp>
          <p:nvSpPr>
            <p:cNvPr id="5156" name="Text Box 21"/>
            <p:cNvSpPr txBox="1">
              <a:spLocks noChangeArrowheads="1"/>
            </p:cNvSpPr>
            <p:nvPr/>
          </p:nvSpPr>
          <p:spPr bwMode="auto">
            <a:xfrm>
              <a:off x="5000255" y="4206570"/>
              <a:ext cx="38985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1600" b="1">
                  <a:solidFill>
                    <a:srgbClr val="C00000"/>
                  </a:solidFill>
                  <a:latin typeface="Times New Roman" pitchFamily="18" charset="0"/>
                </a:rPr>
                <a:t>10</a:t>
              </a:r>
              <a:endParaRPr kumimoji="1" lang="en-US" altLang="zh-CN" sz="1600">
                <a:solidFill>
                  <a:srgbClr val="C00000"/>
                </a:solidFill>
                <a:latin typeface="Times New Roman" pitchFamily="18" charset="0"/>
              </a:endParaRPr>
            </a:p>
          </p:txBody>
        </p:sp>
        <p:sp>
          <p:nvSpPr>
            <p:cNvPr id="5157" name="椭圆 29"/>
            <p:cNvSpPr>
              <a:spLocks noChangeArrowheads="1"/>
            </p:cNvSpPr>
            <p:nvPr/>
          </p:nvSpPr>
          <p:spPr bwMode="auto">
            <a:xfrm>
              <a:off x="5580132" y="4027773"/>
              <a:ext cx="360000" cy="358959"/>
            </a:xfrm>
            <a:prstGeom prst="ellipse">
              <a:avLst/>
            </a:prstGeom>
            <a:noFill/>
            <a:ln w="13970">
              <a:solidFill>
                <a:schemeClr val="bg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8000" tIns="10800" rIns="18000" bIns="10800" anchor="ctr"/>
            <a:lstStyle/>
            <a:p>
              <a:pPr algn="ctr">
                <a:lnSpc>
                  <a:spcPct val="96000"/>
                </a:lnSpc>
              </a:pPr>
              <a:r>
                <a:rPr lang="en-US" altLang="zh-CN" sz="2000" b="1">
                  <a:solidFill>
                    <a:srgbClr val="000099"/>
                  </a:solidFill>
                  <a:ea typeface="黑体" pitchFamily="2" charset="-122"/>
                </a:rPr>
                <a:t>0</a:t>
              </a:r>
              <a:endParaRPr lang="zh-CN" altLang="en-US" sz="2000" b="1">
                <a:solidFill>
                  <a:srgbClr val="000099"/>
                </a:solidFill>
                <a:ea typeface="黑体" pitchFamily="2" charset="-122"/>
              </a:endParaRPr>
            </a:p>
          </p:txBody>
        </p:sp>
        <p:sp>
          <p:nvSpPr>
            <p:cNvPr id="5158" name="椭圆 30"/>
            <p:cNvSpPr>
              <a:spLocks noChangeArrowheads="1"/>
            </p:cNvSpPr>
            <p:nvPr/>
          </p:nvSpPr>
          <p:spPr bwMode="auto">
            <a:xfrm>
              <a:off x="4680092" y="4617132"/>
              <a:ext cx="360000" cy="358959"/>
            </a:xfrm>
            <a:prstGeom prst="ellipse">
              <a:avLst/>
            </a:prstGeom>
            <a:noFill/>
            <a:ln w="13970">
              <a:solidFill>
                <a:schemeClr val="bg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8000" tIns="10800" rIns="18000" bIns="10800" anchor="ctr"/>
            <a:lstStyle/>
            <a:p>
              <a:pPr algn="ctr">
                <a:lnSpc>
                  <a:spcPct val="96000"/>
                </a:lnSpc>
              </a:pPr>
              <a:r>
                <a:rPr lang="en-US" altLang="zh-CN" sz="2000" b="1">
                  <a:solidFill>
                    <a:srgbClr val="000099"/>
                  </a:solidFill>
                  <a:ea typeface="黑体" pitchFamily="2" charset="-122"/>
                </a:rPr>
                <a:t>1</a:t>
              </a:r>
              <a:endParaRPr lang="zh-CN" altLang="en-US" sz="2000" b="1">
                <a:solidFill>
                  <a:srgbClr val="000099"/>
                </a:solidFill>
                <a:ea typeface="黑体" pitchFamily="2" charset="-122"/>
              </a:endParaRPr>
            </a:p>
          </p:txBody>
        </p:sp>
        <p:sp>
          <p:nvSpPr>
            <p:cNvPr id="5159" name="椭圆 31"/>
            <p:cNvSpPr>
              <a:spLocks noChangeArrowheads="1"/>
            </p:cNvSpPr>
            <p:nvPr/>
          </p:nvSpPr>
          <p:spPr bwMode="auto">
            <a:xfrm>
              <a:off x="6480232" y="4617132"/>
              <a:ext cx="360000" cy="358959"/>
            </a:xfrm>
            <a:prstGeom prst="ellipse">
              <a:avLst/>
            </a:prstGeom>
            <a:noFill/>
            <a:ln w="13970">
              <a:solidFill>
                <a:schemeClr val="bg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8000" tIns="10800" rIns="18000" bIns="10800" anchor="ctr"/>
            <a:lstStyle/>
            <a:p>
              <a:pPr algn="ctr">
                <a:lnSpc>
                  <a:spcPct val="96000"/>
                </a:lnSpc>
              </a:pPr>
              <a:r>
                <a:rPr lang="en-US" altLang="zh-CN" sz="2000" b="1">
                  <a:solidFill>
                    <a:srgbClr val="000099"/>
                  </a:solidFill>
                  <a:ea typeface="黑体" pitchFamily="2" charset="-122"/>
                </a:rPr>
                <a:t>4</a:t>
              </a:r>
              <a:endParaRPr lang="zh-CN" altLang="en-US" sz="2000" b="1">
                <a:solidFill>
                  <a:srgbClr val="000099"/>
                </a:solidFill>
                <a:ea typeface="黑体" pitchFamily="2" charset="-122"/>
              </a:endParaRPr>
            </a:p>
          </p:txBody>
        </p:sp>
        <p:sp>
          <p:nvSpPr>
            <p:cNvPr id="5160" name="椭圆 32"/>
            <p:cNvSpPr>
              <a:spLocks noChangeArrowheads="1"/>
            </p:cNvSpPr>
            <p:nvPr/>
          </p:nvSpPr>
          <p:spPr bwMode="auto">
            <a:xfrm>
              <a:off x="5040092" y="5618138"/>
              <a:ext cx="360000" cy="358959"/>
            </a:xfrm>
            <a:prstGeom prst="ellipse">
              <a:avLst/>
            </a:prstGeom>
            <a:noFill/>
            <a:ln w="13970">
              <a:solidFill>
                <a:schemeClr val="bg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8000" tIns="10800" rIns="18000" bIns="10800" anchor="ctr"/>
            <a:lstStyle/>
            <a:p>
              <a:pPr algn="ctr">
                <a:lnSpc>
                  <a:spcPct val="96000"/>
                </a:lnSpc>
              </a:pPr>
              <a:r>
                <a:rPr lang="en-US" altLang="zh-CN" sz="2000" b="1">
                  <a:solidFill>
                    <a:srgbClr val="000099"/>
                  </a:solidFill>
                  <a:ea typeface="黑体" pitchFamily="2" charset="-122"/>
                </a:rPr>
                <a:t>2</a:t>
              </a:r>
              <a:endParaRPr lang="zh-CN" altLang="en-US" sz="2000" b="1">
                <a:solidFill>
                  <a:srgbClr val="000099"/>
                </a:solidFill>
                <a:ea typeface="黑体" pitchFamily="2" charset="-122"/>
              </a:endParaRPr>
            </a:p>
          </p:txBody>
        </p:sp>
        <p:sp>
          <p:nvSpPr>
            <p:cNvPr id="5161" name="椭圆 33"/>
            <p:cNvSpPr>
              <a:spLocks noChangeArrowheads="1"/>
            </p:cNvSpPr>
            <p:nvPr/>
          </p:nvSpPr>
          <p:spPr bwMode="auto">
            <a:xfrm>
              <a:off x="6156176" y="5618139"/>
              <a:ext cx="360000" cy="358959"/>
            </a:xfrm>
            <a:prstGeom prst="ellipse">
              <a:avLst/>
            </a:prstGeom>
            <a:noFill/>
            <a:ln w="13970">
              <a:solidFill>
                <a:schemeClr val="bg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8000" tIns="10800" rIns="18000" bIns="10800" anchor="ctr"/>
            <a:lstStyle/>
            <a:p>
              <a:pPr algn="ctr">
                <a:lnSpc>
                  <a:spcPct val="96000"/>
                </a:lnSpc>
              </a:pPr>
              <a:r>
                <a:rPr lang="en-US" altLang="zh-CN" sz="2000" b="1">
                  <a:solidFill>
                    <a:srgbClr val="000099"/>
                  </a:solidFill>
                  <a:ea typeface="黑体" pitchFamily="2" charset="-122"/>
                </a:rPr>
                <a:t>3</a:t>
              </a:r>
              <a:endParaRPr lang="zh-CN" altLang="en-US" sz="2000" b="1">
                <a:solidFill>
                  <a:srgbClr val="000099"/>
                </a:solidFill>
                <a:ea typeface="黑体" pitchFamily="2" charset="-122"/>
              </a:endParaRPr>
            </a:p>
          </p:txBody>
        </p:sp>
        <p:cxnSp>
          <p:nvCxnSpPr>
            <p:cNvPr id="4" name="直接箭头连接符 3"/>
            <p:cNvCxnSpPr>
              <a:stCxn id="5157" idx="6"/>
              <a:endCxn id="5159" idx="1"/>
            </p:cNvCxnSpPr>
            <p:nvPr/>
          </p:nvCxnSpPr>
          <p:spPr>
            <a:xfrm>
              <a:off x="5940791" y="4207122"/>
              <a:ext cx="592115" cy="461865"/>
            </a:xfrm>
            <a:prstGeom prst="straightConnector1">
              <a:avLst/>
            </a:prstGeom>
            <a:ln w="25400">
              <a:solidFill>
                <a:schemeClr val="bg2">
                  <a:lumMod val="40000"/>
                  <a:lumOff val="6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箭头连接符 35"/>
            <p:cNvCxnSpPr>
              <a:stCxn id="5157" idx="2"/>
              <a:endCxn id="5158" idx="7"/>
            </p:cNvCxnSpPr>
            <p:nvPr/>
          </p:nvCxnSpPr>
          <p:spPr>
            <a:xfrm flipH="1">
              <a:off x="4986739" y="4207122"/>
              <a:ext cx="593703" cy="461865"/>
            </a:xfrm>
            <a:prstGeom prst="straightConnector1">
              <a:avLst/>
            </a:prstGeom>
            <a:ln w="25400">
              <a:solidFill>
                <a:schemeClr val="bg2">
                  <a:lumMod val="40000"/>
                  <a:lumOff val="6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箭头连接符 37"/>
            <p:cNvCxnSpPr>
              <a:stCxn id="5158" idx="4"/>
              <a:endCxn id="5160" idx="1"/>
            </p:cNvCxnSpPr>
            <p:nvPr/>
          </p:nvCxnSpPr>
          <p:spPr>
            <a:xfrm>
              <a:off x="4859744" y="4975310"/>
              <a:ext cx="233354" cy="695178"/>
            </a:xfrm>
            <a:prstGeom prst="straightConnector1">
              <a:avLst/>
            </a:prstGeom>
            <a:ln w="25400">
              <a:solidFill>
                <a:schemeClr val="bg2">
                  <a:lumMod val="40000"/>
                  <a:lumOff val="6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箭头连接符 39"/>
            <p:cNvCxnSpPr>
              <a:stCxn id="5161" idx="7"/>
              <a:endCxn id="5159" idx="4"/>
            </p:cNvCxnSpPr>
            <p:nvPr/>
          </p:nvCxnSpPr>
          <p:spPr>
            <a:xfrm flipV="1">
              <a:off x="6463059" y="4975310"/>
              <a:ext cx="196843" cy="695178"/>
            </a:xfrm>
            <a:prstGeom prst="straightConnector1">
              <a:avLst/>
            </a:prstGeom>
            <a:ln w="25400">
              <a:solidFill>
                <a:schemeClr val="bg2">
                  <a:lumMod val="40000"/>
                  <a:lumOff val="6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箭头连接符 41"/>
            <p:cNvCxnSpPr>
              <a:stCxn id="5157" idx="4"/>
              <a:endCxn id="5161" idx="0"/>
            </p:cNvCxnSpPr>
            <p:nvPr/>
          </p:nvCxnSpPr>
          <p:spPr>
            <a:xfrm>
              <a:off x="5759823" y="4386472"/>
              <a:ext cx="576240" cy="1231640"/>
            </a:xfrm>
            <a:prstGeom prst="straightConnector1">
              <a:avLst/>
            </a:prstGeom>
            <a:ln w="25400">
              <a:solidFill>
                <a:schemeClr val="bg2">
                  <a:lumMod val="40000"/>
                  <a:lumOff val="6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箭头连接符 43"/>
            <p:cNvCxnSpPr>
              <a:stCxn id="5161" idx="2"/>
              <a:endCxn id="5160" idx="6"/>
            </p:cNvCxnSpPr>
            <p:nvPr/>
          </p:nvCxnSpPr>
          <p:spPr>
            <a:xfrm flipH="1" flipV="1">
              <a:off x="5399474" y="5797461"/>
              <a:ext cx="757209" cy="0"/>
            </a:xfrm>
            <a:prstGeom prst="straightConnector1">
              <a:avLst/>
            </a:prstGeom>
            <a:ln w="25400">
              <a:solidFill>
                <a:schemeClr val="bg2">
                  <a:lumMod val="40000"/>
                  <a:lumOff val="6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箭头连接符 46"/>
            <p:cNvCxnSpPr>
              <a:stCxn id="5160" idx="7"/>
              <a:endCxn id="5159" idx="3"/>
            </p:cNvCxnSpPr>
            <p:nvPr/>
          </p:nvCxnSpPr>
          <p:spPr>
            <a:xfrm flipV="1">
              <a:off x="5347089" y="4922934"/>
              <a:ext cx="1185817" cy="747554"/>
            </a:xfrm>
            <a:prstGeom prst="straightConnector1">
              <a:avLst/>
            </a:prstGeom>
            <a:ln w="25400">
              <a:solidFill>
                <a:schemeClr val="bg2">
                  <a:lumMod val="40000"/>
                  <a:lumOff val="6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69" name="Text Box 21"/>
            <p:cNvSpPr txBox="1">
              <a:spLocks noChangeArrowheads="1"/>
            </p:cNvSpPr>
            <p:nvPr/>
          </p:nvSpPr>
          <p:spPr bwMode="auto">
            <a:xfrm>
              <a:off x="4650202" y="5138732"/>
              <a:ext cx="38985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1600" b="1">
                  <a:solidFill>
                    <a:srgbClr val="C00000"/>
                  </a:solidFill>
                  <a:latin typeface="Times New Roman" pitchFamily="18" charset="0"/>
                </a:rPr>
                <a:t>50</a:t>
              </a:r>
              <a:endParaRPr kumimoji="1" lang="en-US" altLang="zh-CN" sz="1600">
                <a:solidFill>
                  <a:srgbClr val="C00000"/>
                </a:solidFill>
                <a:latin typeface="Times New Roman" pitchFamily="18" charset="0"/>
              </a:endParaRPr>
            </a:p>
          </p:txBody>
        </p:sp>
        <p:sp>
          <p:nvSpPr>
            <p:cNvPr id="5170" name="Text Box 21"/>
            <p:cNvSpPr txBox="1">
              <a:spLocks noChangeArrowheads="1"/>
            </p:cNvSpPr>
            <p:nvPr/>
          </p:nvSpPr>
          <p:spPr bwMode="auto">
            <a:xfrm>
              <a:off x="5580112" y="4545124"/>
              <a:ext cx="38985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1600" b="1">
                  <a:solidFill>
                    <a:srgbClr val="C00000"/>
                  </a:solidFill>
                  <a:latin typeface="Times New Roman" pitchFamily="18" charset="0"/>
                </a:rPr>
                <a:t>30</a:t>
              </a:r>
              <a:endParaRPr kumimoji="1" lang="en-US" altLang="zh-CN" sz="1600">
                <a:solidFill>
                  <a:srgbClr val="C00000"/>
                </a:solidFill>
                <a:latin typeface="Times New Roman" pitchFamily="18" charset="0"/>
              </a:endParaRPr>
            </a:p>
          </p:txBody>
        </p:sp>
        <p:sp>
          <p:nvSpPr>
            <p:cNvPr id="5171" name="Text Box 21"/>
            <p:cNvSpPr txBox="1">
              <a:spLocks noChangeArrowheads="1"/>
            </p:cNvSpPr>
            <p:nvPr/>
          </p:nvSpPr>
          <p:spPr bwMode="auto">
            <a:xfrm>
              <a:off x="5412916" y="5214682"/>
              <a:ext cx="38985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1600" b="1">
                  <a:solidFill>
                    <a:srgbClr val="C00000"/>
                  </a:solidFill>
                  <a:latin typeface="Times New Roman" pitchFamily="18" charset="0"/>
                </a:rPr>
                <a:t>10</a:t>
              </a:r>
              <a:endParaRPr kumimoji="1" lang="en-US" altLang="zh-CN" sz="1600">
                <a:solidFill>
                  <a:srgbClr val="C00000"/>
                </a:solidFill>
                <a:latin typeface="Times New Roman" pitchFamily="18" charset="0"/>
              </a:endParaRPr>
            </a:p>
          </p:txBody>
        </p:sp>
        <p:sp>
          <p:nvSpPr>
            <p:cNvPr id="5172" name="Text Box 21"/>
            <p:cNvSpPr txBox="1">
              <a:spLocks noChangeArrowheads="1"/>
            </p:cNvSpPr>
            <p:nvPr/>
          </p:nvSpPr>
          <p:spPr bwMode="auto">
            <a:xfrm>
              <a:off x="6076545" y="4149339"/>
              <a:ext cx="492443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1600" b="1">
                  <a:solidFill>
                    <a:srgbClr val="C00000"/>
                  </a:solidFill>
                  <a:latin typeface="Times New Roman" pitchFamily="18" charset="0"/>
                </a:rPr>
                <a:t>100</a:t>
              </a:r>
              <a:endParaRPr kumimoji="1" lang="en-US" altLang="zh-CN" sz="1600">
                <a:solidFill>
                  <a:srgbClr val="C00000"/>
                </a:solidFill>
                <a:latin typeface="Times New Roman" pitchFamily="18" charset="0"/>
              </a:endParaRPr>
            </a:p>
          </p:txBody>
        </p:sp>
        <p:sp>
          <p:nvSpPr>
            <p:cNvPr id="5173" name="Text Box 21"/>
            <p:cNvSpPr txBox="1">
              <a:spLocks noChangeArrowheads="1"/>
            </p:cNvSpPr>
            <p:nvPr/>
          </p:nvSpPr>
          <p:spPr bwMode="auto">
            <a:xfrm>
              <a:off x="6465307" y="5246198"/>
              <a:ext cx="38985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1600" b="1">
                  <a:solidFill>
                    <a:srgbClr val="C00000"/>
                  </a:solidFill>
                  <a:latin typeface="Times New Roman" pitchFamily="18" charset="0"/>
                </a:rPr>
                <a:t>60</a:t>
              </a:r>
              <a:endParaRPr kumimoji="1" lang="en-US" altLang="zh-CN" sz="1600">
                <a:solidFill>
                  <a:srgbClr val="C00000"/>
                </a:solidFill>
                <a:latin typeface="Times New Roman" pitchFamily="18" charset="0"/>
              </a:endParaRPr>
            </a:p>
          </p:txBody>
        </p:sp>
        <p:sp>
          <p:nvSpPr>
            <p:cNvPr id="5174" name="Text Box 21"/>
            <p:cNvSpPr txBox="1">
              <a:spLocks noChangeArrowheads="1"/>
            </p:cNvSpPr>
            <p:nvPr/>
          </p:nvSpPr>
          <p:spPr bwMode="auto">
            <a:xfrm>
              <a:off x="5671144" y="5723964"/>
              <a:ext cx="38985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algn="ctr" eaLnBrk="1" hangingPunct="1"/>
              <a:r>
                <a:rPr kumimoji="1" lang="en-US" altLang="zh-CN" sz="1600" b="1">
                  <a:solidFill>
                    <a:srgbClr val="C00000"/>
                  </a:solidFill>
                  <a:latin typeface="Times New Roman" pitchFamily="18" charset="0"/>
                </a:rPr>
                <a:t>20</a:t>
              </a:r>
              <a:endParaRPr kumimoji="1" lang="en-US" altLang="zh-CN" sz="1600">
                <a:solidFill>
                  <a:srgbClr val="C00000"/>
                </a:solidFill>
                <a:latin typeface="Times New Roman" pitchFamily="18" charset="0"/>
              </a:endParaRPr>
            </a:p>
          </p:txBody>
        </p:sp>
      </p:grpSp>
      <p:graphicFrame>
        <p:nvGraphicFramePr>
          <p:cNvPr id="5122" name="对象 1"/>
          <p:cNvGraphicFramePr>
            <a:graphicFrameLocks noChangeAspect="1"/>
          </p:cNvGraphicFramePr>
          <p:nvPr/>
        </p:nvGraphicFramePr>
        <p:xfrm>
          <a:off x="5795963" y="549275"/>
          <a:ext cx="3195637" cy="1535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771532" imgH="838080" progId="Equation.3">
                  <p:embed/>
                </p:oleObj>
              </mc:Choice>
              <mc:Fallback>
                <p:oleObj name="公式" r:id="rId2" imgW="1771532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5963" y="549275"/>
                        <a:ext cx="3195637" cy="1535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6" name="TextBox 2"/>
          <p:cNvSpPr txBox="1">
            <a:spLocks noChangeArrowheads="1"/>
          </p:cNvSpPr>
          <p:nvPr/>
        </p:nvSpPr>
        <p:spPr bwMode="auto">
          <a:xfrm>
            <a:off x="1281113" y="4059238"/>
            <a:ext cx="6492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zh-CN" altLang="en-US" b="1">
                <a:solidFill>
                  <a:srgbClr val="000099"/>
                </a:solidFill>
                <a:ea typeface="黑体" pitchFamily="2" charset="-122"/>
              </a:rPr>
              <a:t>原图</a:t>
            </a:r>
          </a:p>
        </p:txBody>
      </p:sp>
      <p:grpSp>
        <p:nvGrpSpPr>
          <p:cNvPr id="3" name="组合 15"/>
          <p:cNvGrpSpPr>
            <a:grpSpLocks/>
          </p:cNvGrpSpPr>
          <p:nvPr/>
        </p:nvGrpSpPr>
        <p:grpSpPr bwMode="auto">
          <a:xfrm>
            <a:off x="3414713" y="1966913"/>
            <a:ext cx="2994025" cy="2476500"/>
            <a:chOff x="6084168" y="4476129"/>
            <a:chExt cx="2992825" cy="2475456"/>
          </a:xfrm>
        </p:grpSpPr>
        <p:grpSp>
          <p:nvGrpSpPr>
            <p:cNvPr id="5137" name="组合 123"/>
            <p:cNvGrpSpPr>
              <a:grpSpLocks/>
            </p:cNvGrpSpPr>
            <p:nvPr/>
          </p:nvGrpSpPr>
          <p:grpSpPr bwMode="auto">
            <a:xfrm>
              <a:off x="6366086" y="4509120"/>
              <a:ext cx="2160140" cy="2034745"/>
              <a:chOff x="4680092" y="4027773"/>
              <a:chExt cx="2160140" cy="2034745"/>
            </a:xfrm>
          </p:grpSpPr>
          <p:sp>
            <p:nvSpPr>
              <p:cNvPr id="5143" name="Text Box 21"/>
              <p:cNvSpPr txBox="1">
                <a:spLocks noChangeArrowheads="1"/>
              </p:cNvSpPr>
              <p:nvPr/>
            </p:nvSpPr>
            <p:spPr bwMode="auto">
              <a:xfrm>
                <a:off x="5000255" y="4206570"/>
                <a:ext cx="389850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sz="1600" b="1">
                    <a:solidFill>
                      <a:srgbClr val="C00000"/>
                    </a:solidFill>
                    <a:latin typeface="Times New Roman" pitchFamily="18" charset="0"/>
                  </a:rPr>
                  <a:t>10</a:t>
                </a:r>
                <a:endParaRPr kumimoji="1" lang="en-US" altLang="zh-CN" sz="1600">
                  <a:solidFill>
                    <a:srgbClr val="C0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5144" name="椭圆 125"/>
              <p:cNvSpPr>
                <a:spLocks noChangeArrowheads="1"/>
              </p:cNvSpPr>
              <p:nvPr/>
            </p:nvSpPr>
            <p:spPr bwMode="auto">
              <a:xfrm>
                <a:off x="5580132" y="4027773"/>
                <a:ext cx="360000" cy="358959"/>
              </a:xfrm>
              <a:prstGeom prst="ellipse">
                <a:avLst/>
              </a:prstGeom>
              <a:noFill/>
              <a:ln w="13970">
                <a:solidFill>
                  <a:schemeClr val="bg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8000" tIns="10800" rIns="18000" bIns="10800" anchor="ctr"/>
              <a:lstStyle/>
              <a:p>
                <a:pPr algn="ctr">
                  <a:lnSpc>
                    <a:spcPct val="96000"/>
                  </a:lnSpc>
                </a:pPr>
                <a:r>
                  <a:rPr lang="en-US" altLang="zh-CN" sz="2000" b="1">
                    <a:solidFill>
                      <a:srgbClr val="000099"/>
                    </a:solidFill>
                    <a:ea typeface="黑体" pitchFamily="2" charset="-122"/>
                  </a:rPr>
                  <a:t>0</a:t>
                </a:r>
                <a:endParaRPr lang="zh-CN" altLang="en-US" sz="2000" b="1">
                  <a:solidFill>
                    <a:srgbClr val="000099"/>
                  </a:solidFill>
                  <a:ea typeface="黑体" pitchFamily="2" charset="-122"/>
                </a:endParaRPr>
              </a:p>
            </p:txBody>
          </p:sp>
          <p:sp>
            <p:nvSpPr>
              <p:cNvPr id="5145" name="椭圆 126"/>
              <p:cNvSpPr>
                <a:spLocks noChangeArrowheads="1"/>
              </p:cNvSpPr>
              <p:nvPr/>
            </p:nvSpPr>
            <p:spPr bwMode="auto">
              <a:xfrm>
                <a:off x="4680092" y="4617132"/>
                <a:ext cx="360000" cy="358959"/>
              </a:xfrm>
              <a:prstGeom prst="ellipse">
                <a:avLst/>
              </a:prstGeom>
              <a:noFill/>
              <a:ln w="13970">
                <a:solidFill>
                  <a:schemeClr val="bg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8000" tIns="10800" rIns="18000" bIns="10800" anchor="ctr"/>
              <a:lstStyle/>
              <a:p>
                <a:pPr algn="ctr">
                  <a:lnSpc>
                    <a:spcPct val="96000"/>
                  </a:lnSpc>
                </a:pPr>
                <a:r>
                  <a:rPr lang="en-US" altLang="zh-CN" sz="2000" b="1">
                    <a:solidFill>
                      <a:srgbClr val="000099"/>
                    </a:solidFill>
                    <a:ea typeface="黑体" pitchFamily="2" charset="-122"/>
                  </a:rPr>
                  <a:t>1</a:t>
                </a:r>
                <a:endParaRPr lang="zh-CN" altLang="en-US" sz="2000" b="1">
                  <a:solidFill>
                    <a:srgbClr val="000099"/>
                  </a:solidFill>
                  <a:ea typeface="黑体" pitchFamily="2" charset="-122"/>
                </a:endParaRPr>
              </a:p>
            </p:txBody>
          </p:sp>
          <p:sp>
            <p:nvSpPr>
              <p:cNvPr id="5146" name="椭圆 127"/>
              <p:cNvSpPr>
                <a:spLocks noChangeArrowheads="1"/>
              </p:cNvSpPr>
              <p:nvPr/>
            </p:nvSpPr>
            <p:spPr bwMode="auto">
              <a:xfrm>
                <a:off x="6480232" y="4617132"/>
                <a:ext cx="360000" cy="358959"/>
              </a:xfrm>
              <a:prstGeom prst="ellipse">
                <a:avLst/>
              </a:prstGeom>
              <a:noFill/>
              <a:ln w="13970">
                <a:solidFill>
                  <a:schemeClr val="bg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8000" tIns="10800" rIns="18000" bIns="10800" anchor="ctr"/>
              <a:lstStyle/>
              <a:p>
                <a:pPr algn="ctr">
                  <a:lnSpc>
                    <a:spcPct val="96000"/>
                  </a:lnSpc>
                </a:pPr>
                <a:r>
                  <a:rPr lang="en-US" altLang="zh-CN" sz="2000" b="1">
                    <a:solidFill>
                      <a:srgbClr val="000099"/>
                    </a:solidFill>
                    <a:ea typeface="黑体" pitchFamily="2" charset="-122"/>
                  </a:rPr>
                  <a:t>4</a:t>
                </a:r>
                <a:endParaRPr lang="zh-CN" altLang="en-US" sz="2000" b="1">
                  <a:solidFill>
                    <a:srgbClr val="000099"/>
                  </a:solidFill>
                  <a:ea typeface="黑体" pitchFamily="2" charset="-122"/>
                </a:endParaRPr>
              </a:p>
            </p:txBody>
          </p:sp>
          <p:sp>
            <p:nvSpPr>
              <p:cNvPr id="5147" name="椭圆 128"/>
              <p:cNvSpPr>
                <a:spLocks noChangeArrowheads="1"/>
              </p:cNvSpPr>
              <p:nvPr/>
            </p:nvSpPr>
            <p:spPr bwMode="auto">
              <a:xfrm>
                <a:off x="5040092" y="5618138"/>
                <a:ext cx="360000" cy="358959"/>
              </a:xfrm>
              <a:prstGeom prst="ellipse">
                <a:avLst/>
              </a:prstGeom>
              <a:noFill/>
              <a:ln w="13970">
                <a:solidFill>
                  <a:schemeClr val="bg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8000" tIns="10800" rIns="18000" bIns="10800" anchor="ctr"/>
              <a:lstStyle/>
              <a:p>
                <a:pPr algn="ctr">
                  <a:lnSpc>
                    <a:spcPct val="96000"/>
                  </a:lnSpc>
                </a:pPr>
                <a:r>
                  <a:rPr lang="en-US" altLang="zh-CN" sz="2000" b="1">
                    <a:solidFill>
                      <a:srgbClr val="000099"/>
                    </a:solidFill>
                    <a:ea typeface="黑体" pitchFamily="2" charset="-122"/>
                  </a:rPr>
                  <a:t>2</a:t>
                </a:r>
                <a:endParaRPr lang="zh-CN" altLang="en-US" sz="2000" b="1">
                  <a:solidFill>
                    <a:srgbClr val="000099"/>
                  </a:solidFill>
                  <a:ea typeface="黑体" pitchFamily="2" charset="-122"/>
                </a:endParaRPr>
              </a:p>
            </p:txBody>
          </p:sp>
          <p:sp>
            <p:nvSpPr>
              <p:cNvPr id="5148" name="椭圆 129"/>
              <p:cNvSpPr>
                <a:spLocks noChangeArrowheads="1"/>
              </p:cNvSpPr>
              <p:nvPr/>
            </p:nvSpPr>
            <p:spPr bwMode="auto">
              <a:xfrm>
                <a:off x="6156176" y="5618139"/>
                <a:ext cx="360000" cy="358959"/>
              </a:xfrm>
              <a:prstGeom prst="ellipse">
                <a:avLst/>
              </a:prstGeom>
              <a:noFill/>
              <a:ln w="13970">
                <a:solidFill>
                  <a:schemeClr val="bg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8000" tIns="10800" rIns="18000" bIns="10800" anchor="ctr"/>
              <a:lstStyle/>
              <a:p>
                <a:pPr algn="ctr">
                  <a:lnSpc>
                    <a:spcPct val="96000"/>
                  </a:lnSpc>
                </a:pPr>
                <a:r>
                  <a:rPr lang="en-US" altLang="zh-CN" sz="2000" b="1">
                    <a:solidFill>
                      <a:srgbClr val="000099"/>
                    </a:solidFill>
                    <a:ea typeface="黑体" pitchFamily="2" charset="-122"/>
                  </a:rPr>
                  <a:t>3</a:t>
                </a:r>
                <a:endParaRPr lang="zh-CN" altLang="en-US" sz="2000" b="1">
                  <a:solidFill>
                    <a:srgbClr val="000099"/>
                  </a:solidFill>
                  <a:ea typeface="黑体" pitchFamily="2" charset="-122"/>
                </a:endParaRPr>
              </a:p>
            </p:txBody>
          </p:sp>
          <p:cxnSp>
            <p:nvCxnSpPr>
              <p:cNvPr id="132" name="直接箭头连接符 131"/>
              <p:cNvCxnSpPr>
                <a:stCxn id="5144" idx="2"/>
                <a:endCxn id="5145" idx="7"/>
              </p:cNvCxnSpPr>
              <p:nvPr/>
            </p:nvCxnSpPr>
            <p:spPr>
              <a:xfrm flipH="1">
                <a:off x="4988487" y="4207417"/>
                <a:ext cx="591900" cy="461767"/>
              </a:xfrm>
              <a:prstGeom prst="straightConnector1">
                <a:avLst/>
              </a:prstGeom>
              <a:ln w="25400">
                <a:solidFill>
                  <a:schemeClr val="bg2">
                    <a:lumMod val="40000"/>
                    <a:lumOff val="60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直接箭头连接符 134"/>
              <p:cNvCxnSpPr>
                <a:stCxn id="5144" idx="4"/>
                <a:endCxn id="5148" idx="0"/>
              </p:cNvCxnSpPr>
              <p:nvPr/>
            </p:nvCxnSpPr>
            <p:spPr>
              <a:xfrm>
                <a:off x="5759703" y="4386729"/>
                <a:ext cx="576031" cy="1231381"/>
              </a:xfrm>
              <a:prstGeom prst="straightConnector1">
                <a:avLst/>
              </a:prstGeom>
              <a:ln w="25400">
                <a:solidFill>
                  <a:schemeClr val="bg2">
                    <a:lumMod val="40000"/>
                    <a:lumOff val="60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直接箭头连接符 135"/>
              <p:cNvCxnSpPr>
                <a:stCxn id="5148" idx="2"/>
                <a:endCxn id="5147" idx="6"/>
              </p:cNvCxnSpPr>
              <p:nvPr/>
            </p:nvCxnSpPr>
            <p:spPr>
              <a:xfrm flipH="1" flipV="1">
                <a:off x="5401072" y="5797422"/>
                <a:ext cx="755347" cy="0"/>
              </a:xfrm>
              <a:prstGeom prst="straightConnector1">
                <a:avLst/>
              </a:prstGeom>
              <a:ln w="25400">
                <a:solidFill>
                  <a:schemeClr val="bg2">
                    <a:lumMod val="40000"/>
                    <a:lumOff val="60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直接箭头连接符 136"/>
              <p:cNvCxnSpPr>
                <a:stCxn id="5147" idx="7"/>
                <a:endCxn id="5146" idx="3"/>
              </p:cNvCxnSpPr>
              <p:nvPr/>
            </p:nvCxnSpPr>
            <p:spPr>
              <a:xfrm flipV="1">
                <a:off x="5347119" y="4923077"/>
                <a:ext cx="1185387" cy="747398"/>
              </a:xfrm>
              <a:prstGeom prst="straightConnector1">
                <a:avLst/>
              </a:prstGeom>
              <a:ln w="25400">
                <a:solidFill>
                  <a:schemeClr val="bg2">
                    <a:lumMod val="40000"/>
                    <a:lumOff val="60000"/>
                  </a:schemeClr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53" name="Text Box 21"/>
              <p:cNvSpPr txBox="1">
                <a:spLocks noChangeArrowheads="1"/>
              </p:cNvSpPr>
              <p:nvPr/>
            </p:nvSpPr>
            <p:spPr bwMode="auto">
              <a:xfrm>
                <a:off x="5580112" y="4545124"/>
                <a:ext cx="389850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sz="1600" b="1">
                    <a:solidFill>
                      <a:srgbClr val="C00000"/>
                    </a:solidFill>
                    <a:latin typeface="Times New Roman" pitchFamily="18" charset="0"/>
                  </a:rPr>
                  <a:t>30</a:t>
                </a:r>
                <a:endParaRPr kumimoji="1" lang="en-US" altLang="zh-CN" sz="1600">
                  <a:solidFill>
                    <a:srgbClr val="C0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5154" name="Text Box 21"/>
              <p:cNvSpPr txBox="1">
                <a:spLocks noChangeArrowheads="1"/>
              </p:cNvSpPr>
              <p:nvPr/>
            </p:nvSpPr>
            <p:spPr bwMode="auto">
              <a:xfrm>
                <a:off x="5412916" y="5214682"/>
                <a:ext cx="389850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sz="1600" b="1">
                    <a:solidFill>
                      <a:srgbClr val="C00000"/>
                    </a:solidFill>
                    <a:latin typeface="Times New Roman" pitchFamily="18" charset="0"/>
                  </a:rPr>
                  <a:t>10</a:t>
                </a:r>
                <a:endParaRPr kumimoji="1" lang="en-US" altLang="zh-CN" sz="1600">
                  <a:solidFill>
                    <a:srgbClr val="C000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5155" name="Text Box 21"/>
              <p:cNvSpPr txBox="1">
                <a:spLocks noChangeArrowheads="1"/>
              </p:cNvSpPr>
              <p:nvPr/>
            </p:nvSpPr>
            <p:spPr bwMode="auto">
              <a:xfrm>
                <a:off x="5671144" y="5723964"/>
                <a:ext cx="389850" cy="3385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algn="ctr" eaLnBrk="1" hangingPunct="1"/>
                <a:r>
                  <a:rPr kumimoji="1" lang="en-US" altLang="zh-CN" sz="1600" b="1">
                    <a:solidFill>
                      <a:srgbClr val="C00000"/>
                    </a:solidFill>
                    <a:latin typeface="Times New Roman" pitchFamily="18" charset="0"/>
                  </a:rPr>
                  <a:t>20</a:t>
                </a:r>
                <a:endParaRPr kumimoji="1" lang="en-US" altLang="zh-CN" sz="1600">
                  <a:solidFill>
                    <a:srgbClr val="C00000"/>
                  </a:solidFill>
                  <a:latin typeface="Times New Roman" pitchFamily="18" charset="0"/>
                </a:endParaRPr>
              </a:p>
            </p:txBody>
          </p:sp>
        </p:grpSp>
        <p:sp>
          <p:nvSpPr>
            <p:cNvPr id="5138" name="TextBox 164"/>
            <p:cNvSpPr txBox="1">
              <a:spLocks noChangeArrowheads="1"/>
            </p:cNvSpPr>
            <p:nvPr/>
          </p:nvSpPr>
          <p:spPr bwMode="auto">
            <a:xfrm>
              <a:off x="7530997" y="4476129"/>
              <a:ext cx="863993" cy="5845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buFont typeface="Wingdings" pitchFamily="2" charset="2"/>
                <a:buNone/>
              </a:pPr>
              <a:r>
                <a:rPr lang="en-US" altLang="zh-CN" sz="1600" b="1">
                  <a:solidFill>
                    <a:srgbClr val="000099"/>
                  </a:solidFill>
                  <a:ea typeface="黑体" pitchFamily="2" charset="-122"/>
                </a:rPr>
                <a:t>d[0]=0</a:t>
              </a:r>
            </a:p>
            <a:p>
              <a:pPr eaLnBrk="1" hangingPunct="1">
                <a:buFont typeface="Wingdings" pitchFamily="2" charset="2"/>
                <a:buNone/>
              </a:pPr>
              <a:r>
                <a:rPr lang="en-US" altLang="zh-CN" sz="1600" b="1">
                  <a:solidFill>
                    <a:srgbClr val="000099"/>
                  </a:solidFill>
                  <a:ea typeface="黑体" pitchFamily="2" charset="-122"/>
                </a:rPr>
                <a:t>p[0]=-1</a:t>
              </a:r>
              <a:endParaRPr lang="zh-CN" altLang="en-US" sz="1600" b="1">
                <a:solidFill>
                  <a:srgbClr val="000099"/>
                </a:solidFill>
                <a:ea typeface="黑体" pitchFamily="2" charset="-122"/>
              </a:endParaRPr>
            </a:p>
          </p:txBody>
        </p:sp>
        <p:sp>
          <p:nvSpPr>
            <p:cNvPr id="5139" name="TextBox 165"/>
            <p:cNvSpPr txBox="1">
              <a:spLocks noChangeArrowheads="1"/>
            </p:cNvSpPr>
            <p:nvPr/>
          </p:nvSpPr>
          <p:spPr bwMode="auto">
            <a:xfrm>
              <a:off x="6084168" y="5358698"/>
              <a:ext cx="909223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buFont typeface="Wingdings" pitchFamily="2" charset="2"/>
                <a:buNone/>
              </a:pPr>
              <a:r>
                <a:rPr lang="en-US" altLang="zh-CN" sz="1600" b="1">
                  <a:solidFill>
                    <a:srgbClr val="000099"/>
                  </a:solidFill>
                  <a:ea typeface="黑体" pitchFamily="2" charset="-122"/>
                </a:rPr>
                <a:t>d[1]=10</a:t>
              </a:r>
            </a:p>
            <a:p>
              <a:pPr eaLnBrk="1" hangingPunct="1">
                <a:buFont typeface="Wingdings" pitchFamily="2" charset="2"/>
                <a:buNone/>
              </a:pPr>
              <a:r>
                <a:rPr lang="en-US" altLang="zh-CN" sz="1600" b="1">
                  <a:solidFill>
                    <a:srgbClr val="000099"/>
                  </a:solidFill>
                  <a:ea typeface="黑体" pitchFamily="2" charset="-122"/>
                </a:rPr>
                <a:t>p[1]=0</a:t>
              </a:r>
              <a:endParaRPr lang="zh-CN" altLang="en-US" sz="1600" b="1">
                <a:solidFill>
                  <a:srgbClr val="000099"/>
                </a:solidFill>
                <a:ea typeface="黑体" pitchFamily="2" charset="-122"/>
              </a:endParaRPr>
            </a:p>
          </p:txBody>
        </p:sp>
        <p:sp>
          <p:nvSpPr>
            <p:cNvPr id="5140" name="TextBox 166"/>
            <p:cNvSpPr txBox="1">
              <a:spLocks noChangeArrowheads="1"/>
            </p:cNvSpPr>
            <p:nvPr/>
          </p:nvSpPr>
          <p:spPr bwMode="auto">
            <a:xfrm>
              <a:off x="7668344" y="6366810"/>
              <a:ext cx="909223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buFont typeface="Wingdings" pitchFamily="2" charset="2"/>
                <a:buNone/>
              </a:pPr>
              <a:r>
                <a:rPr lang="en-US" altLang="zh-CN" sz="1600" b="1">
                  <a:solidFill>
                    <a:srgbClr val="000099"/>
                  </a:solidFill>
                  <a:ea typeface="黑体" pitchFamily="2" charset="-122"/>
                </a:rPr>
                <a:t>d[3]=30</a:t>
              </a:r>
            </a:p>
            <a:p>
              <a:pPr eaLnBrk="1" hangingPunct="1">
                <a:buFont typeface="Wingdings" pitchFamily="2" charset="2"/>
                <a:buNone/>
              </a:pPr>
              <a:r>
                <a:rPr lang="en-US" altLang="zh-CN" sz="1600" b="1">
                  <a:solidFill>
                    <a:srgbClr val="000099"/>
                  </a:solidFill>
                  <a:ea typeface="黑体" pitchFamily="2" charset="-122"/>
                </a:rPr>
                <a:t>p[3]=0</a:t>
              </a:r>
              <a:endParaRPr lang="zh-CN" altLang="en-US" sz="1600" b="1">
                <a:solidFill>
                  <a:srgbClr val="000099"/>
                </a:solidFill>
                <a:ea typeface="黑体" pitchFamily="2" charset="-122"/>
              </a:endParaRPr>
            </a:p>
          </p:txBody>
        </p:sp>
        <p:sp>
          <p:nvSpPr>
            <p:cNvPr id="5141" name="TextBox 167"/>
            <p:cNvSpPr txBox="1">
              <a:spLocks noChangeArrowheads="1"/>
            </p:cNvSpPr>
            <p:nvPr/>
          </p:nvSpPr>
          <p:spPr bwMode="auto">
            <a:xfrm>
              <a:off x="6489335" y="6366810"/>
              <a:ext cx="909223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buFont typeface="Wingdings" pitchFamily="2" charset="2"/>
                <a:buNone/>
              </a:pPr>
              <a:r>
                <a:rPr lang="en-US" altLang="zh-CN" sz="1600" b="1">
                  <a:solidFill>
                    <a:srgbClr val="000099"/>
                  </a:solidFill>
                  <a:ea typeface="黑体" pitchFamily="2" charset="-122"/>
                </a:rPr>
                <a:t>d[2]=50</a:t>
              </a:r>
            </a:p>
            <a:p>
              <a:pPr eaLnBrk="1" hangingPunct="1">
                <a:buFont typeface="Wingdings" pitchFamily="2" charset="2"/>
                <a:buNone/>
              </a:pPr>
              <a:r>
                <a:rPr lang="en-US" altLang="zh-CN" sz="1600" b="1">
                  <a:solidFill>
                    <a:srgbClr val="000099"/>
                  </a:solidFill>
                  <a:ea typeface="黑体" pitchFamily="2" charset="-122"/>
                </a:rPr>
                <a:t>p[2]=3</a:t>
              </a:r>
              <a:endParaRPr lang="zh-CN" altLang="en-US" sz="1600" b="1">
                <a:solidFill>
                  <a:srgbClr val="000099"/>
                </a:solidFill>
                <a:ea typeface="黑体" pitchFamily="2" charset="-122"/>
              </a:endParaRPr>
            </a:p>
          </p:txBody>
        </p:sp>
        <p:sp>
          <p:nvSpPr>
            <p:cNvPr id="5142" name="TextBox 168"/>
            <p:cNvSpPr txBox="1">
              <a:spLocks noChangeArrowheads="1"/>
            </p:cNvSpPr>
            <p:nvPr/>
          </p:nvSpPr>
          <p:spPr bwMode="auto">
            <a:xfrm>
              <a:off x="8167770" y="5373216"/>
              <a:ext cx="909223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buFont typeface="Wingdings" pitchFamily="2" charset="2"/>
                <a:buNone/>
              </a:pPr>
              <a:r>
                <a:rPr lang="en-US" altLang="zh-CN" sz="1600" b="1">
                  <a:solidFill>
                    <a:srgbClr val="000099"/>
                  </a:solidFill>
                  <a:ea typeface="黑体" pitchFamily="2" charset="-122"/>
                </a:rPr>
                <a:t>d[4]=60</a:t>
              </a:r>
            </a:p>
            <a:p>
              <a:pPr eaLnBrk="1" hangingPunct="1">
                <a:buFont typeface="Wingdings" pitchFamily="2" charset="2"/>
                <a:buNone/>
              </a:pPr>
              <a:r>
                <a:rPr lang="en-US" altLang="zh-CN" sz="1600" b="1">
                  <a:solidFill>
                    <a:srgbClr val="000099"/>
                  </a:solidFill>
                  <a:ea typeface="黑体" pitchFamily="2" charset="-122"/>
                </a:rPr>
                <a:t>p[4]=2</a:t>
              </a:r>
              <a:endParaRPr lang="zh-CN" altLang="en-US" sz="1600" b="1">
                <a:solidFill>
                  <a:srgbClr val="000099"/>
                </a:solidFill>
                <a:ea typeface="黑体" pitchFamily="2" charset="-122"/>
              </a:endParaRPr>
            </a:p>
          </p:txBody>
        </p:sp>
      </p:grpSp>
      <p:grpSp>
        <p:nvGrpSpPr>
          <p:cNvPr id="6" name="组合 10"/>
          <p:cNvGrpSpPr>
            <a:grpSpLocks/>
          </p:cNvGrpSpPr>
          <p:nvPr/>
        </p:nvGrpSpPr>
        <p:grpSpPr bwMode="auto">
          <a:xfrm>
            <a:off x="3203575" y="4616450"/>
            <a:ext cx="3978275" cy="1436688"/>
            <a:chOff x="3697297" y="5049180"/>
            <a:chExt cx="3978264" cy="1435244"/>
          </a:xfrm>
        </p:grpSpPr>
        <p:sp>
          <p:nvSpPr>
            <p:cNvPr id="5129" name="TextBox 4"/>
            <p:cNvSpPr txBox="1">
              <a:spLocks noChangeArrowheads="1"/>
            </p:cNvSpPr>
            <p:nvPr/>
          </p:nvSpPr>
          <p:spPr bwMode="auto">
            <a:xfrm>
              <a:off x="3697297" y="5049180"/>
              <a:ext cx="18473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pitchFamily="2" charset="-122"/>
                </a:defRPr>
              </a:lvl9pPr>
            </a:lstStyle>
            <a:p>
              <a:pPr eaLnBrk="1" hangingPunct="1">
                <a:buFont typeface="Wingdings" pitchFamily="2" charset="2"/>
                <a:buNone/>
              </a:pPr>
              <a:endParaRPr lang="zh-CN" altLang="en-US" b="1">
                <a:solidFill>
                  <a:srgbClr val="000099"/>
                </a:solidFill>
                <a:ea typeface="黑体" pitchFamily="2" charset="-122"/>
              </a:endParaRPr>
            </a:p>
          </p:txBody>
        </p:sp>
        <p:sp>
          <p:nvSpPr>
            <p:cNvPr id="5130" name="矩形 6"/>
            <p:cNvSpPr>
              <a:spLocks noChangeArrowheads="1"/>
            </p:cNvSpPr>
            <p:nvPr/>
          </p:nvSpPr>
          <p:spPr bwMode="auto">
            <a:xfrm>
              <a:off x="3754295" y="5346504"/>
              <a:ext cx="379943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b="1">
                  <a:solidFill>
                    <a:srgbClr val="000099"/>
                  </a:solidFill>
                  <a:ea typeface="黑体" pitchFamily="2" charset="-122"/>
                </a:rPr>
                <a:t>获取最短路径方法，以顶点</a:t>
              </a:r>
              <a:r>
                <a:rPr lang="en-US" altLang="zh-CN" b="1">
                  <a:solidFill>
                    <a:srgbClr val="000099"/>
                  </a:solidFill>
                  <a:ea typeface="黑体" pitchFamily="2" charset="-122"/>
                </a:rPr>
                <a:t>4</a:t>
              </a:r>
              <a:r>
                <a:rPr lang="zh-CN" altLang="en-US" b="1">
                  <a:solidFill>
                    <a:srgbClr val="000099"/>
                  </a:solidFill>
                  <a:ea typeface="黑体" pitchFamily="2" charset="-122"/>
                </a:rPr>
                <a:t>为例：</a:t>
              </a:r>
              <a:endParaRPr lang="en-US" altLang="zh-CN" b="1">
                <a:solidFill>
                  <a:srgbClr val="000099"/>
                </a:solidFill>
                <a:ea typeface="黑体" pitchFamily="2" charset="-122"/>
              </a:endParaRPr>
            </a:p>
          </p:txBody>
        </p:sp>
        <p:sp>
          <p:nvSpPr>
            <p:cNvPr id="5131" name="矩形 7"/>
            <p:cNvSpPr>
              <a:spLocks noChangeArrowheads="1"/>
            </p:cNvSpPr>
            <p:nvPr/>
          </p:nvSpPr>
          <p:spPr bwMode="auto">
            <a:xfrm>
              <a:off x="3820546" y="5733256"/>
              <a:ext cx="87075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b="1">
                  <a:solidFill>
                    <a:srgbClr val="000099"/>
                  </a:solidFill>
                  <a:ea typeface="黑体" pitchFamily="2" charset="-122"/>
                </a:rPr>
                <a:t>p[4]=3</a:t>
              </a:r>
              <a:endParaRPr lang="zh-CN" altLang="en-US"/>
            </a:p>
          </p:txBody>
        </p:sp>
        <p:sp>
          <p:nvSpPr>
            <p:cNvPr id="5132" name="矩形 90"/>
            <p:cNvSpPr>
              <a:spLocks noChangeArrowheads="1"/>
            </p:cNvSpPr>
            <p:nvPr/>
          </p:nvSpPr>
          <p:spPr bwMode="auto">
            <a:xfrm>
              <a:off x="5048854" y="5733256"/>
              <a:ext cx="87075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b="1">
                  <a:solidFill>
                    <a:srgbClr val="000099"/>
                  </a:solidFill>
                  <a:ea typeface="黑体" pitchFamily="2" charset="-122"/>
                </a:rPr>
                <a:t>p[3]=2</a:t>
              </a:r>
              <a:endParaRPr lang="zh-CN" altLang="en-US"/>
            </a:p>
          </p:txBody>
        </p:sp>
        <p:sp>
          <p:nvSpPr>
            <p:cNvPr id="5133" name="矩形 92"/>
            <p:cNvSpPr>
              <a:spLocks noChangeArrowheads="1"/>
            </p:cNvSpPr>
            <p:nvPr/>
          </p:nvSpPr>
          <p:spPr bwMode="auto">
            <a:xfrm>
              <a:off x="6228184" y="5733256"/>
              <a:ext cx="870751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b="1">
                  <a:solidFill>
                    <a:srgbClr val="000099"/>
                  </a:solidFill>
                  <a:ea typeface="黑体" pitchFamily="2" charset="-122"/>
                </a:rPr>
                <a:t>p[2]=0</a:t>
              </a:r>
              <a:endParaRPr lang="zh-CN" altLang="en-US"/>
            </a:p>
          </p:txBody>
        </p:sp>
        <p:sp>
          <p:nvSpPr>
            <p:cNvPr id="9" name="右箭头 8"/>
            <p:cNvSpPr/>
            <p:nvPr/>
          </p:nvSpPr>
          <p:spPr bwMode="auto">
            <a:xfrm>
              <a:off x="4741869" y="5799313"/>
              <a:ext cx="282574" cy="236299"/>
            </a:xfrm>
            <a:prstGeom prst="rightArrow">
              <a:avLst/>
            </a:prstGeom>
            <a:solidFill>
              <a:schemeClr val="bg2">
                <a:lumMod val="40000"/>
                <a:lumOff val="60000"/>
              </a:schemeClr>
            </a:solidFill>
            <a:ln w="25400">
              <a:noFill/>
              <a:miter lim="800000"/>
              <a:headEnd/>
              <a:tailEnd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6000"/>
                </a:lnSpc>
                <a:defRPr/>
              </a:pPr>
              <a:endParaRPr lang="zh-CN" altLang="en-US" b="1" dirty="0">
                <a:solidFill>
                  <a:srgbClr val="000099"/>
                </a:solidFill>
                <a:ea typeface="黑体" pitchFamily="49" charset="-122"/>
              </a:endParaRPr>
            </a:p>
          </p:txBody>
        </p:sp>
        <p:sp>
          <p:nvSpPr>
            <p:cNvPr id="94" name="右箭头 93"/>
            <p:cNvSpPr/>
            <p:nvPr/>
          </p:nvSpPr>
          <p:spPr bwMode="auto">
            <a:xfrm>
              <a:off x="5953129" y="5799313"/>
              <a:ext cx="282574" cy="236299"/>
            </a:xfrm>
            <a:prstGeom prst="rightArrow">
              <a:avLst/>
            </a:prstGeom>
            <a:solidFill>
              <a:schemeClr val="bg2">
                <a:lumMod val="40000"/>
                <a:lumOff val="60000"/>
              </a:schemeClr>
            </a:solidFill>
            <a:ln w="25400">
              <a:noFill/>
              <a:miter lim="800000"/>
              <a:headEnd/>
              <a:tailEnd/>
            </a:ln>
          </p:spPr>
          <p:txBody>
            <a:bodyPr lIns="18000" tIns="10800" rIns="18000" bIns="10800" anchor="ctr"/>
            <a:lstStyle/>
            <a:p>
              <a:pPr algn="ctr">
                <a:lnSpc>
                  <a:spcPct val="96000"/>
                </a:lnSpc>
                <a:defRPr/>
              </a:pPr>
              <a:endParaRPr lang="zh-CN" altLang="en-US" b="1" dirty="0">
                <a:solidFill>
                  <a:srgbClr val="000099"/>
                </a:solidFill>
                <a:ea typeface="黑体" pitchFamily="49" charset="-122"/>
              </a:endParaRPr>
            </a:p>
          </p:txBody>
        </p:sp>
        <p:sp>
          <p:nvSpPr>
            <p:cNvPr id="5136" name="矩形 95"/>
            <p:cNvSpPr>
              <a:spLocks noChangeArrowheads="1"/>
            </p:cNvSpPr>
            <p:nvPr/>
          </p:nvSpPr>
          <p:spPr bwMode="auto">
            <a:xfrm>
              <a:off x="3754295" y="6115092"/>
              <a:ext cx="392126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b="1">
                  <a:solidFill>
                    <a:srgbClr val="000099"/>
                  </a:solidFill>
                  <a:ea typeface="黑体" pitchFamily="2" charset="-122"/>
                </a:rPr>
                <a:t>反向读得</a:t>
              </a:r>
              <a:r>
                <a:rPr lang="en-US" altLang="zh-CN" b="1">
                  <a:solidFill>
                    <a:srgbClr val="000099"/>
                  </a:solidFill>
                  <a:ea typeface="黑体" pitchFamily="2" charset="-122"/>
                </a:rPr>
                <a:t>0</a:t>
              </a:r>
              <a:r>
                <a:rPr lang="zh-CN" altLang="en-US" b="1">
                  <a:solidFill>
                    <a:srgbClr val="000099"/>
                  </a:solidFill>
                  <a:ea typeface="黑体" pitchFamily="2" charset="-122"/>
                </a:rPr>
                <a:t>到</a:t>
              </a:r>
              <a:r>
                <a:rPr lang="en-US" altLang="zh-CN" b="1">
                  <a:solidFill>
                    <a:srgbClr val="000099"/>
                  </a:solidFill>
                  <a:ea typeface="黑体" pitchFamily="2" charset="-122"/>
                </a:rPr>
                <a:t>4</a:t>
              </a:r>
              <a:r>
                <a:rPr lang="zh-CN" altLang="en-US" b="1">
                  <a:solidFill>
                    <a:srgbClr val="000099"/>
                  </a:solidFill>
                  <a:ea typeface="黑体" pitchFamily="2" charset="-122"/>
                </a:rPr>
                <a:t>的最短路径为 </a:t>
              </a:r>
              <a:r>
                <a:rPr lang="en-US" altLang="zh-CN" b="1">
                  <a:solidFill>
                    <a:srgbClr val="000099"/>
                  </a:solidFill>
                  <a:ea typeface="黑体" pitchFamily="2" charset="-122"/>
                </a:rPr>
                <a:t>(0,3,2,4)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51864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最短路径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最优子结构</a:t>
            </a:r>
            <a:endParaRPr lang="en-US" altLang="zh-CN" dirty="0"/>
          </a:p>
          <a:p>
            <a:pPr lvl="1"/>
            <a:r>
              <a:rPr lang="zh-CN" altLang="en-US" dirty="0">
                <a:latin typeface="+mj-lt"/>
              </a:rPr>
              <a:t>设</a:t>
            </a:r>
            <a:r>
              <a:rPr lang="en-US" altLang="zh-CN" dirty="0">
                <a:latin typeface="+mj-lt"/>
              </a:rPr>
              <a:t>P(</a:t>
            </a:r>
            <a:r>
              <a:rPr lang="en-US" altLang="zh-CN" dirty="0" err="1">
                <a:latin typeface="+mj-lt"/>
              </a:rPr>
              <a:t>s,d</a:t>
            </a:r>
            <a:r>
              <a:rPr lang="en-US" altLang="zh-CN" dirty="0">
                <a:latin typeface="+mj-lt"/>
              </a:rPr>
              <a:t>)</a:t>
            </a:r>
            <a:r>
              <a:rPr lang="zh-CN" altLang="en-US" dirty="0">
                <a:latin typeface="+mj-lt"/>
              </a:rPr>
              <a:t>是</a:t>
            </a:r>
            <a:r>
              <a:rPr lang="en-US" altLang="zh-CN" dirty="0">
                <a:latin typeface="+mj-lt"/>
              </a:rPr>
              <a:t>s</a:t>
            </a:r>
            <a:r>
              <a:rPr lang="zh-CN" altLang="en-US" dirty="0">
                <a:latin typeface="+mj-lt"/>
              </a:rPr>
              <a:t>到</a:t>
            </a:r>
            <a:r>
              <a:rPr lang="en-US" altLang="zh-CN" dirty="0">
                <a:latin typeface="+mj-lt"/>
              </a:rPr>
              <a:t>d</a:t>
            </a:r>
            <a:r>
              <a:rPr lang="zh-CN" altLang="en-US" dirty="0">
                <a:latin typeface="+mj-lt"/>
              </a:rPr>
              <a:t>的最短路径，那么这条路径上的子路径</a:t>
            </a:r>
            <a:r>
              <a:rPr lang="en-US" altLang="zh-CN" dirty="0">
                <a:latin typeface="+mj-lt"/>
              </a:rPr>
              <a:t>P(</a:t>
            </a:r>
            <a:r>
              <a:rPr lang="en-US" altLang="zh-CN" dirty="0" err="1">
                <a:latin typeface="+mj-lt"/>
              </a:rPr>
              <a:t>u,v</a:t>
            </a:r>
            <a:r>
              <a:rPr lang="en-US" altLang="zh-CN" dirty="0">
                <a:latin typeface="+mj-lt"/>
              </a:rPr>
              <a:t>)</a:t>
            </a:r>
            <a:r>
              <a:rPr lang="zh-CN" altLang="en-US" dirty="0">
                <a:latin typeface="+mj-lt"/>
              </a:rPr>
              <a:t>是</a:t>
            </a:r>
            <a:r>
              <a:rPr lang="en-US" altLang="zh-CN" dirty="0">
                <a:latin typeface="+mj-lt"/>
              </a:rPr>
              <a:t>u</a:t>
            </a:r>
            <a:r>
              <a:rPr lang="zh-CN" altLang="en-US" dirty="0">
                <a:latin typeface="+mj-lt"/>
              </a:rPr>
              <a:t>到</a:t>
            </a:r>
            <a:r>
              <a:rPr lang="en-US" altLang="zh-CN" dirty="0">
                <a:latin typeface="+mj-lt"/>
              </a:rPr>
              <a:t>v</a:t>
            </a:r>
            <a:r>
              <a:rPr lang="zh-CN" altLang="en-US" dirty="0">
                <a:latin typeface="+mj-lt"/>
              </a:rPr>
              <a:t>的最短路径。</a:t>
            </a:r>
            <a:endParaRPr lang="en-US" altLang="zh-CN" dirty="0">
              <a:latin typeface="+mj-lt"/>
            </a:endParaRPr>
          </a:p>
          <a:p>
            <a:pPr lvl="1"/>
            <a:r>
              <a:rPr lang="zh-CN" altLang="en-US" dirty="0">
                <a:latin typeface="+mj-lt"/>
              </a:rPr>
              <a:t>证明：</a:t>
            </a:r>
            <a:endParaRPr lang="en-US" altLang="zh-CN" dirty="0">
              <a:latin typeface="+mj-lt"/>
            </a:endParaRPr>
          </a:p>
          <a:p>
            <a:pPr lvl="2"/>
            <a:r>
              <a:rPr lang="zh-CN" altLang="en-US" dirty="0">
                <a:latin typeface="+mj-lt"/>
              </a:rPr>
              <a:t>如若不然，假设</a:t>
            </a:r>
            <a:r>
              <a:rPr lang="en-US" altLang="zh-CN" dirty="0">
                <a:latin typeface="+mj-lt"/>
              </a:rPr>
              <a:t>u</a:t>
            </a:r>
            <a:r>
              <a:rPr lang="zh-CN" altLang="en-US" dirty="0">
                <a:latin typeface="+mj-lt"/>
              </a:rPr>
              <a:t>到</a:t>
            </a:r>
            <a:r>
              <a:rPr lang="en-US" altLang="zh-CN" dirty="0">
                <a:latin typeface="+mj-lt"/>
              </a:rPr>
              <a:t>v</a:t>
            </a:r>
            <a:r>
              <a:rPr lang="zh-CN" altLang="en-US" dirty="0">
                <a:latin typeface="+mj-lt"/>
              </a:rPr>
              <a:t>之间存在更短路径</a:t>
            </a:r>
            <a:r>
              <a:rPr lang="en-US" altLang="zh-CN" dirty="0">
                <a:latin typeface="+mj-lt"/>
              </a:rPr>
              <a:t>P’(</a:t>
            </a:r>
            <a:r>
              <a:rPr lang="en-US" altLang="zh-CN" dirty="0" err="1">
                <a:latin typeface="+mj-lt"/>
              </a:rPr>
              <a:t>u,v</a:t>
            </a:r>
            <a:r>
              <a:rPr lang="en-US" altLang="zh-CN" dirty="0">
                <a:latin typeface="+mj-lt"/>
              </a:rPr>
              <a:t>)</a:t>
            </a:r>
            <a:r>
              <a:rPr lang="zh-CN" altLang="en-US" dirty="0">
                <a:latin typeface="+mj-lt"/>
              </a:rPr>
              <a:t>，则用其替代</a:t>
            </a:r>
            <a:r>
              <a:rPr lang="en-US" altLang="zh-CN" dirty="0">
                <a:latin typeface="+mj-lt"/>
              </a:rPr>
              <a:t>P(</a:t>
            </a:r>
            <a:r>
              <a:rPr lang="en-US" altLang="zh-CN" dirty="0" err="1">
                <a:latin typeface="+mj-lt"/>
              </a:rPr>
              <a:t>u,v</a:t>
            </a:r>
            <a:r>
              <a:rPr lang="en-US" altLang="zh-CN" dirty="0">
                <a:latin typeface="+mj-lt"/>
              </a:rPr>
              <a:t>)</a:t>
            </a:r>
            <a:r>
              <a:rPr lang="zh-CN" altLang="en-US" dirty="0">
                <a:latin typeface="+mj-lt"/>
              </a:rPr>
              <a:t>，得到一条</a:t>
            </a:r>
            <a:r>
              <a:rPr lang="en-US" altLang="zh-CN" dirty="0">
                <a:latin typeface="+mj-lt"/>
              </a:rPr>
              <a:t>s</a:t>
            </a:r>
            <a:r>
              <a:rPr lang="zh-CN" altLang="en-US" dirty="0">
                <a:latin typeface="+mj-lt"/>
              </a:rPr>
              <a:t>到</a:t>
            </a:r>
            <a:r>
              <a:rPr lang="en-US" altLang="zh-CN" dirty="0">
                <a:latin typeface="+mj-lt"/>
              </a:rPr>
              <a:t>d</a:t>
            </a:r>
            <a:r>
              <a:rPr lang="zh-CN" altLang="en-US" dirty="0">
                <a:latin typeface="+mj-lt"/>
              </a:rPr>
              <a:t>的更短路径</a:t>
            </a:r>
            <a:r>
              <a:rPr lang="en-US" altLang="zh-CN" dirty="0">
                <a:latin typeface="+mj-lt"/>
              </a:rPr>
              <a:t>P’(</a:t>
            </a:r>
            <a:r>
              <a:rPr lang="en-US" altLang="zh-CN" dirty="0" err="1">
                <a:latin typeface="+mj-lt"/>
              </a:rPr>
              <a:t>s,d</a:t>
            </a:r>
            <a:r>
              <a:rPr lang="en-US" altLang="zh-CN" dirty="0">
                <a:latin typeface="+mj-lt"/>
              </a:rPr>
              <a:t>)</a:t>
            </a:r>
            <a:r>
              <a:rPr lang="zh-CN" altLang="en-US" dirty="0">
                <a:latin typeface="+mj-lt"/>
              </a:rPr>
              <a:t>，与</a:t>
            </a:r>
            <a:r>
              <a:rPr lang="en-US" altLang="zh-CN" dirty="0">
                <a:latin typeface="+mj-lt"/>
              </a:rPr>
              <a:t>P(</a:t>
            </a:r>
            <a:r>
              <a:rPr lang="en-US" altLang="zh-CN" dirty="0" err="1">
                <a:latin typeface="+mj-lt"/>
              </a:rPr>
              <a:t>s,d</a:t>
            </a:r>
            <a:r>
              <a:rPr lang="en-US" altLang="zh-CN" dirty="0">
                <a:latin typeface="+mj-lt"/>
              </a:rPr>
              <a:t>)</a:t>
            </a:r>
            <a:r>
              <a:rPr lang="zh-CN" altLang="en-US" dirty="0">
                <a:latin typeface="+mj-lt"/>
              </a:rPr>
              <a:t>是</a:t>
            </a:r>
            <a:r>
              <a:rPr lang="en-US" altLang="zh-CN" dirty="0">
                <a:latin typeface="+mj-lt"/>
              </a:rPr>
              <a:t>s</a:t>
            </a:r>
            <a:r>
              <a:rPr lang="zh-CN" altLang="en-US" dirty="0">
                <a:latin typeface="+mj-lt"/>
              </a:rPr>
              <a:t>到</a:t>
            </a:r>
            <a:r>
              <a:rPr lang="en-US" altLang="zh-CN" dirty="0">
                <a:latin typeface="+mj-lt"/>
              </a:rPr>
              <a:t>d</a:t>
            </a:r>
            <a:r>
              <a:rPr lang="zh-CN" altLang="en-US" dirty="0">
                <a:latin typeface="+mj-lt"/>
              </a:rPr>
              <a:t>是最短路径矛盾。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3E6C03A-3073-401C-B837-061925A82BB2}" type="slidenum">
              <a:rPr lang="en-US" altLang="zh-CN" smtClean="0"/>
              <a:pPr>
                <a:defRPr/>
              </a:pPr>
              <a:t>46</a:t>
            </a:fld>
            <a:endParaRPr lang="en-US" altLang="zh-CN" dirty="0"/>
          </a:p>
        </p:txBody>
      </p:sp>
      <p:grpSp>
        <p:nvGrpSpPr>
          <p:cNvPr id="31" name="组合 30"/>
          <p:cNvGrpSpPr/>
          <p:nvPr/>
        </p:nvGrpSpPr>
        <p:grpSpPr>
          <a:xfrm>
            <a:off x="1249346" y="5589240"/>
            <a:ext cx="6862547" cy="445709"/>
            <a:chOff x="4017857" y="3564396"/>
            <a:chExt cx="6862547" cy="445709"/>
          </a:xfrm>
        </p:grpSpPr>
        <p:sp>
          <p:nvSpPr>
            <p:cNvPr id="20" name="Line 10"/>
            <p:cNvSpPr>
              <a:spLocks noChangeShapeType="1"/>
            </p:cNvSpPr>
            <p:nvPr/>
          </p:nvSpPr>
          <p:spPr bwMode="auto">
            <a:xfrm>
              <a:off x="4458996" y="3796600"/>
              <a:ext cx="833084" cy="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>
                <a:latin typeface="+mj-lt"/>
              </a:endParaRPr>
            </a:p>
          </p:txBody>
        </p:sp>
        <p:sp>
          <p:nvSpPr>
            <p:cNvPr id="21" name="Oval 8"/>
            <p:cNvSpPr>
              <a:spLocks noChangeArrowheads="1"/>
            </p:cNvSpPr>
            <p:nvPr/>
          </p:nvSpPr>
          <p:spPr bwMode="auto">
            <a:xfrm>
              <a:off x="4017857" y="3564398"/>
              <a:ext cx="441139" cy="442351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sz="3000" b="1" dirty="0">
                  <a:latin typeface="+mj-lt"/>
                </a:rPr>
                <a:t>s</a:t>
              </a:r>
            </a:p>
          </p:txBody>
        </p:sp>
        <p:sp>
          <p:nvSpPr>
            <p:cNvPr id="22" name="Oval 9"/>
            <p:cNvSpPr>
              <a:spLocks noChangeArrowheads="1"/>
            </p:cNvSpPr>
            <p:nvPr/>
          </p:nvSpPr>
          <p:spPr bwMode="auto">
            <a:xfrm>
              <a:off x="5292080" y="3564398"/>
              <a:ext cx="439752" cy="442351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sz="3000" b="1" dirty="0">
                  <a:latin typeface="+mj-lt"/>
                </a:rPr>
                <a:t>u</a:t>
              </a:r>
            </a:p>
          </p:txBody>
        </p:sp>
        <p:sp>
          <p:nvSpPr>
            <p:cNvPr id="23" name="Line 10"/>
            <p:cNvSpPr>
              <a:spLocks noChangeShapeType="1"/>
            </p:cNvSpPr>
            <p:nvPr/>
          </p:nvSpPr>
          <p:spPr bwMode="auto">
            <a:xfrm>
              <a:off x="5755140" y="3797925"/>
              <a:ext cx="833084" cy="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>
                <a:latin typeface="+mj-lt"/>
              </a:endParaRPr>
            </a:p>
          </p:txBody>
        </p:sp>
        <p:sp>
          <p:nvSpPr>
            <p:cNvPr id="24" name="Oval 9"/>
            <p:cNvSpPr>
              <a:spLocks noChangeArrowheads="1"/>
            </p:cNvSpPr>
            <p:nvPr/>
          </p:nvSpPr>
          <p:spPr bwMode="auto">
            <a:xfrm>
              <a:off x="6588224" y="3565723"/>
              <a:ext cx="439752" cy="442351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sz="3000" b="1" dirty="0">
                  <a:latin typeface="+mj-lt"/>
                </a:rPr>
                <a:t>…</a:t>
              </a:r>
            </a:p>
          </p:txBody>
        </p:sp>
        <p:sp>
          <p:nvSpPr>
            <p:cNvPr id="25" name="Line 10"/>
            <p:cNvSpPr>
              <a:spLocks noChangeShapeType="1"/>
            </p:cNvSpPr>
            <p:nvPr/>
          </p:nvSpPr>
          <p:spPr bwMode="auto">
            <a:xfrm>
              <a:off x="7051284" y="3796599"/>
              <a:ext cx="833084" cy="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>
                <a:latin typeface="+mj-lt"/>
              </a:endParaRPr>
            </a:p>
          </p:txBody>
        </p:sp>
        <p:sp>
          <p:nvSpPr>
            <p:cNvPr id="26" name="Oval 9"/>
            <p:cNvSpPr>
              <a:spLocks noChangeArrowheads="1"/>
            </p:cNvSpPr>
            <p:nvPr/>
          </p:nvSpPr>
          <p:spPr bwMode="auto">
            <a:xfrm>
              <a:off x="7884368" y="3564397"/>
              <a:ext cx="439752" cy="442351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sz="3000" b="1" dirty="0">
                  <a:latin typeface="+mj-lt"/>
                </a:rPr>
                <a:t>…</a:t>
              </a:r>
            </a:p>
          </p:txBody>
        </p:sp>
        <p:sp>
          <p:nvSpPr>
            <p:cNvPr id="27" name="Line 10"/>
            <p:cNvSpPr>
              <a:spLocks noChangeShapeType="1"/>
            </p:cNvSpPr>
            <p:nvPr/>
          </p:nvSpPr>
          <p:spPr bwMode="auto">
            <a:xfrm>
              <a:off x="8316416" y="3796598"/>
              <a:ext cx="833084" cy="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>
                <a:latin typeface="+mj-lt"/>
              </a:endParaRPr>
            </a:p>
          </p:txBody>
        </p:sp>
        <p:sp>
          <p:nvSpPr>
            <p:cNvPr id="28" name="Oval 9"/>
            <p:cNvSpPr>
              <a:spLocks noChangeArrowheads="1"/>
            </p:cNvSpPr>
            <p:nvPr/>
          </p:nvSpPr>
          <p:spPr bwMode="auto">
            <a:xfrm>
              <a:off x="9144508" y="3564396"/>
              <a:ext cx="439752" cy="442351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sz="3000" b="1" dirty="0">
                  <a:latin typeface="+mj-lt"/>
                </a:rPr>
                <a:t>v</a:t>
              </a:r>
            </a:p>
          </p:txBody>
        </p:sp>
        <p:sp>
          <p:nvSpPr>
            <p:cNvPr id="29" name="Line 10"/>
            <p:cNvSpPr>
              <a:spLocks noChangeShapeType="1"/>
            </p:cNvSpPr>
            <p:nvPr/>
          </p:nvSpPr>
          <p:spPr bwMode="auto">
            <a:xfrm>
              <a:off x="9612560" y="3799956"/>
              <a:ext cx="833084" cy="0"/>
            </a:xfrm>
            <a:prstGeom prst="line">
              <a:avLst/>
            </a:prstGeom>
            <a:noFill/>
            <a:ln w="381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>
                <a:latin typeface="+mj-lt"/>
              </a:endParaRPr>
            </a:p>
          </p:txBody>
        </p:sp>
        <p:sp>
          <p:nvSpPr>
            <p:cNvPr id="30" name="Oval 9"/>
            <p:cNvSpPr>
              <a:spLocks noChangeArrowheads="1"/>
            </p:cNvSpPr>
            <p:nvPr/>
          </p:nvSpPr>
          <p:spPr bwMode="auto">
            <a:xfrm>
              <a:off x="10440652" y="3567754"/>
              <a:ext cx="439752" cy="442351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altLang="zh-CN" sz="3000" b="1" dirty="0">
                  <a:latin typeface="+mj-lt"/>
                </a:rPr>
                <a:t>d</a:t>
              </a:r>
            </a:p>
          </p:txBody>
        </p:sp>
      </p:grpSp>
      <p:sp>
        <p:nvSpPr>
          <p:cNvPr id="33" name="弧形 32"/>
          <p:cNvSpPr/>
          <p:nvPr/>
        </p:nvSpPr>
        <p:spPr bwMode="auto">
          <a:xfrm>
            <a:off x="2923465" y="5049180"/>
            <a:ext cx="3520743" cy="1296144"/>
          </a:xfrm>
          <a:prstGeom prst="arc">
            <a:avLst>
              <a:gd name="adj1" fmla="val 10941344"/>
              <a:gd name="adj2" fmla="val 21500629"/>
            </a:avLst>
          </a:prstGeom>
          <a:ln w="38100">
            <a:solidFill>
              <a:srgbClr val="006600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/>
        </p:nvSpPr>
        <p:spPr>
          <a:xfrm>
            <a:off x="4315638" y="4685074"/>
            <a:ext cx="96693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>
                <a:solidFill>
                  <a:srgbClr val="0000A8"/>
                </a:solidFill>
              </a:rPr>
              <a:t>P’(</a:t>
            </a:r>
            <a:r>
              <a:rPr lang="en-US" altLang="zh-CN" sz="2000" b="1" dirty="0" err="1">
                <a:solidFill>
                  <a:srgbClr val="0000A8"/>
                </a:solidFill>
              </a:rPr>
              <a:t>u,v</a:t>
            </a:r>
            <a:r>
              <a:rPr lang="en-US" altLang="zh-CN" sz="2000" b="1" dirty="0">
                <a:solidFill>
                  <a:srgbClr val="0000A8"/>
                </a:solidFill>
              </a:rPr>
              <a:t>)</a:t>
            </a:r>
            <a:endParaRPr lang="zh-CN" altLang="en-US" sz="2000" b="1" dirty="0">
              <a:solidFill>
                <a:srgbClr val="0000A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727862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最短路径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贪心选择性</a:t>
            </a:r>
            <a:endParaRPr lang="en-US" altLang="zh-CN" dirty="0"/>
          </a:p>
          <a:p>
            <a:pPr lvl="1"/>
            <a:r>
              <a:rPr lang="zh-CN" altLang="en-US" dirty="0">
                <a:latin typeface="+mj-lt"/>
              </a:rPr>
              <a:t>设</a:t>
            </a:r>
            <a:r>
              <a:rPr lang="en-US" altLang="zh-CN" dirty="0">
                <a:latin typeface="+mj-lt"/>
              </a:rPr>
              <a:t>A</a:t>
            </a:r>
            <a:r>
              <a:rPr lang="zh-CN" altLang="en-US" dirty="0">
                <a:latin typeface="+mj-lt"/>
              </a:rPr>
              <a:t>是已计算好最短路径的顶点集合，</a:t>
            </a:r>
            <a:r>
              <a:rPr lang="en-US" altLang="zh-CN" dirty="0">
                <a:latin typeface="+mj-lt"/>
              </a:rPr>
              <a:t>B</a:t>
            </a:r>
            <a:r>
              <a:rPr lang="zh-CN" altLang="en-US" dirty="0">
                <a:latin typeface="+mj-lt"/>
              </a:rPr>
              <a:t>是未计算好最短路径的顶点集合。</a:t>
            </a:r>
            <a:r>
              <a:rPr lang="en-US" altLang="zh-CN" dirty="0">
                <a:latin typeface="+mj-lt"/>
              </a:rPr>
              <a:t>P</a:t>
            </a:r>
            <a:r>
              <a:rPr lang="zh-CN" altLang="en-US" dirty="0">
                <a:latin typeface="+mj-lt"/>
              </a:rPr>
              <a:t>是</a:t>
            </a:r>
            <a:r>
              <a:rPr lang="en-US" altLang="zh-CN" dirty="0">
                <a:latin typeface="+mj-lt"/>
              </a:rPr>
              <a:t>s</a:t>
            </a:r>
            <a:r>
              <a:rPr lang="zh-CN" altLang="en-US" dirty="0">
                <a:latin typeface="+mj-lt"/>
              </a:rPr>
              <a:t>到</a:t>
            </a:r>
            <a:r>
              <a:rPr lang="en-US" altLang="zh-CN" dirty="0">
                <a:latin typeface="+mj-lt"/>
              </a:rPr>
              <a:t>u</a:t>
            </a:r>
            <a:r>
              <a:rPr lang="zh-CN" altLang="en-US" dirty="0">
                <a:latin typeface="+mj-lt"/>
              </a:rPr>
              <a:t>的最短路径。假设</a:t>
            </a:r>
            <a:r>
              <a:rPr lang="en-US" altLang="zh-CN" dirty="0">
                <a:latin typeface="+mj-lt"/>
              </a:rPr>
              <a:t>W(P)+W(</a:t>
            </a:r>
            <a:r>
              <a:rPr lang="en-US" altLang="zh-CN" dirty="0" err="1">
                <a:latin typeface="+mj-lt"/>
              </a:rPr>
              <a:t>u,v</a:t>
            </a:r>
            <a:r>
              <a:rPr lang="en-US" altLang="zh-CN" dirty="0">
                <a:latin typeface="+mj-lt"/>
              </a:rPr>
              <a:t>)</a:t>
            </a:r>
            <a:r>
              <a:rPr lang="zh-CN" altLang="en-US" dirty="0">
                <a:latin typeface="+mj-lt"/>
              </a:rPr>
              <a:t>对任意</a:t>
            </a:r>
            <a:r>
              <a:rPr lang="en-US" altLang="zh-CN" dirty="0">
                <a:latin typeface="+mj-lt"/>
              </a:rPr>
              <a:t>u</a:t>
            </a:r>
            <a:r>
              <a:rPr lang="zh-CN" altLang="en-US" dirty="0">
                <a:latin typeface="+mj-lt"/>
              </a:rPr>
              <a:t>∈</a:t>
            </a:r>
            <a:r>
              <a:rPr lang="en-US" altLang="zh-CN" dirty="0">
                <a:latin typeface="+mj-lt"/>
              </a:rPr>
              <a:t>A, v</a:t>
            </a:r>
            <a:r>
              <a:rPr lang="zh-CN" altLang="en-US" dirty="0">
                <a:latin typeface="+mj-lt"/>
              </a:rPr>
              <a:t>∈</a:t>
            </a:r>
            <a:r>
              <a:rPr lang="en-US" altLang="zh-CN" dirty="0">
                <a:latin typeface="+mj-lt"/>
              </a:rPr>
              <a:t>B</a:t>
            </a:r>
            <a:r>
              <a:rPr lang="zh-CN" altLang="en-US" dirty="0">
                <a:latin typeface="+mj-lt"/>
              </a:rPr>
              <a:t>最小，则</a:t>
            </a:r>
            <a:r>
              <a:rPr lang="en-US" altLang="zh-CN" dirty="0">
                <a:latin typeface="+mj-lt"/>
              </a:rPr>
              <a:t>P+{(</a:t>
            </a:r>
            <a:r>
              <a:rPr lang="en-US" altLang="zh-CN" dirty="0" err="1">
                <a:latin typeface="+mj-lt"/>
              </a:rPr>
              <a:t>u,v</a:t>
            </a:r>
            <a:r>
              <a:rPr lang="en-US" altLang="zh-CN" dirty="0">
                <a:latin typeface="+mj-lt"/>
              </a:rPr>
              <a:t>)}</a:t>
            </a:r>
            <a:r>
              <a:rPr lang="zh-CN" altLang="en-US" dirty="0">
                <a:latin typeface="+mj-lt"/>
              </a:rPr>
              <a:t>是</a:t>
            </a:r>
            <a:r>
              <a:rPr lang="en-US" altLang="zh-CN" dirty="0">
                <a:latin typeface="+mj-lt"/>
              </a:rPr>
              <a:t>s</a:t>
            </a:r>
            <a:r>
              <a:rPr lang="zh-CN" altLang="en-US" dirty="0">
                <a:latin typeface="+mj-lt"/>
              </a:rPr>
              <a:t>到</a:t>
            </a:r>
            <a:r>
              <a:rPr lang="en-US" altLang="zh-CN" dirty="0">
                <a:latin typeface="+mj-lt"/>
              </a:rPr>
              <a:t>v</a:t>
            </a:r>
            <a:r>
              <a:rPr lang="zh-CN" altLang="en-US" dirty="0">
                <a:latin typeface="+mj-lt"/>
              </a:rPr>
              <a:t>的最短路径</a:t>
            </a:r>
            <a:endParaRPr lang="en-US" altLang="zh-CN" dirty="0">
              <a:latin typeface="+mj-lt"/>
            </a:endParaRPr>
          </a:p>
          <a:p>
            <a:pPr lvl="1"/>
            <a:r>
              <a:rPr lang="zh-CN" altLang="en-US" dirty="0">
                <a:latin typeface="+mj-lt"/>
              </a:rPr>
              <a:t>证明：</a:t>
            </a:r>
            <a:endParaRPr lang="en-US" altLang="zh-CN" dirty="0">
              <a:latin typeface="+mj-lt"/>
            </a:endParaRPr>
          </a:p>
          <a:p>
            <a:pPr lvl="2"/>
            <a:r>
              <a:rPr lang="zh-CN" altLang="en-US" dirty="0">
                <a:latin typeface="+mj-lt"/>
              </a:rPr>
              <a:t>略</a:t>
            </a:r>
          </a:p>
        </p:txBody>
      </p:sp>
      <p:sp>
        <p:nvSpPr>
          <p:cNvPr id="42" name="矩形 41"/>
          <p:cNvSpPr/>
          <p:nvPr/>
        </p:nvSpPr>
        <p:spPr>
          <a:xfrm>
            <a:off x="195614" y="5916047"/>
            <a:ext cx="8840882" cy="5232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选择当前累积权值最小且两端点属两集合结果不会变坏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3044842" y="4077072"/>
            <a:ext cx="4885560" cy="1817123"/>
            <a:chOff x="4654993" y="103775"/>
            <a:chExt cx="4885560" cy="1817123"/>
          </a:xfrm>
        </p:grpSpPr>
        <p:grpSp>
          <p:nvGrpSpPr>
            <p:cNvPr id="80" name="组合 79"/>
            <p:cNvGrpSpPr/>
            <p:nvPr/>
          </p:nvGrpSpPr>
          <p:grpSpPr>
            <a:xfrm>
              <a:off x="4771274" y="234306"/>
              <a:ext cx="4649146" cy="1038965"/>
              <a:chOff x="1352926" y="296652"/>
              <a:chExt cx="5566403" cy="1260140"/>
            </a:xfrm>
          </p:grpSpPr>
          <p:grpSp>
            <p:nvGrpSpPr>
              <p:cNvPr id="81" name="组合 80"/>
              <p:cNvGrpSpPr/>
              <p:nvPr/>
            </p:nvGrpSpPr>
            <p:grpSpPr>
              <a:xfrm>
                <a:off x="1352926" y="296652"/>
                <a:ext cx="5566403" cy="443678"/>
                <a:chOff x="4017857" y="3564396"/>
                <a:chExt cx="5566403" cy="443678"/>
              </a:xfrm>
            </p:grpSpPr>
            <p:sp>
              <p:nvSpPr>
                <p:cNvPr id="87" name="Line 10"/>
                <p:cNvSpPr>
                  <a:spLocks noChangeShapeType="1"/>
                </p:cNvSpPr>
                <p:nvPr/>
              </p:nvSpPr>
              <p:spPr bwMode="auto">
                <a:xfrm>
                  <a:off x="4458996" y="3796600"/>
                  <a:ext cx="833084" cy="0"/>
                </a:xfrm>
                <a:prstGeom prst="line">
                  <a:avLst/>
                </a:prstGeom>
                <a:noFill/>
                <a:ln w="381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 sz="2000">
                    <a:latin typeface="+mj-lt"/>
                  </a:endParaRPr>
                </a:p>
              </p:txBody>
            </p:sp>
            <p:sp>
              <p:nvSpPr>
                <p:cNvPr id="88" name="Oval 8"/>
                <p:cNvSpPr>
                  <a:spLocks noChangeArrowheads="1"/>
                </p:cNvSpPr>
                <p:nvPr/>
              </p:nvSpPr>
              <p:spPr bwMode="auto">
                <a:xfrm>
                  <a:off x="4017857" y="3564398"/>
                  <a:ext cx="441139" cy="442351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>
                    <a:defRPr/>
                  </a:pPr>
                  <a:r>
                    <a:rPr lang="en-US" altLang="zh-CN" sz="2000" b="1" dirty="0">
                      <a:latin typeface="+mj-lt"/>
                    </a:rPr>
                    <a:t>s</a:t>
                  </a:r>
                </a:p>
              </p:txBody>
            </p:sp>
            <p:sp>
              <p:nvSpPr>
                <p:cNvPr id="89" name="Oval 9"/>
                <p:cNvSpPr>
                  <a:spLocks noChangeArrowheads="1"/>
                </p:cNvSpPr>
                <p:nvPr/>
              </p:nvSpPr>
              <p:spPr bwMode="auto">
                <a:xfrm>
                  <a:off x="5292080" y="3564398"/>
                  <a:ext cx="439752" cy="442351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>
                    <a:defRPr/>
                  </a:pPr>
                  <a:r>
                    <a:rPr lang="en-US" altLang="zh-CN" sz="2000" b="1" dirty="0">
                      <a:latin typeface="+mj-lt"/>
                    </a:rPr>
                    <a:t>…</a:t>
                  </a:r>
                </a:p>
              </p:txBody>
            </p:sp>
            <p:sp>
              <p:nvSpPr>
                <p:cNvPr id="90" name="Line 10"/>
                <p:cNvSpPr>
                  <a:spLocks noChangeShapeType="1"/>
                </p:cNvSpPr>
                <p:nvPr/>
              </p:nvSpPr>
              <p:spPr bwMode="auto">
                <a:xfrm>
                  <a:off x="5755140" y="3797925"/>
                  <a:ext cx="833084" cy="0"/>
                </a:xfrm>
                <a:prstGeom prst="line">
                  <a:avLst/>
                </a:prstGeom>
                <a:noFill/>
                <a:ln w="381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 sz="2000">
                    <a:latin typeface="+mj-lt"/>
                  </a:endParaRPr>
                </a:p>
              </p:txBody>
            </p:sp>
            <p:sp>
              <p:nvSpPr>
                <p:cNvPr id="91" name="Oval 9"/>
                <p:cNvSpPr>
                  <a:spLocks noChangeArrowheads="1"/>
                </p:cNvSpPr>
                <p:nvPr/>
              </p:nvSpPr>
              <p:spPr bwMode="auto">
                <a:xfrm>
                  <a:off x="6588224" y="3565723"/>
                  <a:ext cx="439752" cy="442351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>
                    <a:defRPr/>
                  </a:pPr>
                  <a:r>
                    <a:rPr lang="en-US" altLang="zh-CN" sz="2000" b="1" dirty="0">
                      <a:latin typeface="+mj-lt"/>
                    </a:rPr>
                    <a:t>u</a:t>
                  </a:r>
                </a:p>
              </p:txBody>
            </p:sp>
            <p:sp>
              <p:nvSpPr>
                <p:cNvPr id="92" name="Line 10"/>
                <p:cNvSpPr>
                  <a:spLocks noChangeShapeType="1"/>
                </p:cNvSpPr>
                <p:nvPr/>
              </p:nvSpPr>
              <p:spPr bwMode="auto">
                <a:xfrm flipV="1">
                  <a:off x="7051284" y="3785571"/>
                  <a:ext cx="2093224" cy="11028"/>
                </a:xfrm>
                <a:prstGeom prst="line">
                  <a:avLst/>
                </a:prstGeom>
                <a:noFill/>
                <a:ln w="381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zh-CN" altLang="en-US" sz="2000">
                    <a:latin typeface="+mj-lt"/>
                  </a:endParaRPr>
                </a:p>
              </p:txBody>
            </p:sp>
            <p:sp>
              <p:nvSpPr>
                <p:cNvPr id="95" name="Oval 9"/>
                <p:cNvSpPr>
                  <a:spLocks noChangeArrowheads="1"/>
                </p:cNvSpPr>
                <p:nvPr/>
              </p:nvSpPr>
              <p:spPr bwMode="auto">
                <a:xfrm>
                  <a:off x="9144508" y="3564396"/>
                  <a:ext cx="439752" cy="442351"/>
                </a:xfrm>
                <a:prstGeom prst="ellipse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>
                    <a:defRPr/>
                  </a:pPr>
                  <a:r>
                    <a:rPr lang="en-US" altLang="zh-CN" sz="2000" b="1" dirty="0">
                      <a:latin typeface="+mj-lt"/>
                    </a:rPr>
                    <a:t>v</a:t>
                  </a:r>
                </a:p>
              </p:txBody>
            </p:sp>
          </p:grpSp>
          <p:sp>
            <p:nvSpPr>
              <p:cNvPr id="82" name="Oval 9"/>
              <p:cNvSpPr>
                <a:spLocks noChangeArrowheads="1"/>
              </p:cNvSpPr>
              <p:nvPr/>
            </p:nvSpPr>
            <p:spPr bwMode="auto">
              <a:xfrm>
                <a:off x="3923928" y="1114441"/>
                <a:ext cx="439752" cy="442351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altLang="zh-CN" sz="2000" b="1" dirty="0">
                    <a:latin typeface="+mj-lt"/>
                  </a:rPr>
                  <a:t>x</a:t>
                </a:r>
              </a:p>
            </p:txBody>
          </p:sp>
          <p:sp>
            <p:nvSpPr>
              <p:cNvPr id="83" name="Line 10"/>
              <p:cNvSpPr>
                <a:spLocks noChangeShapeType="1"/>
              </p:cNvSpPr>
              <p:nvPr/>
            </p:nvSpPr>
            <p:spPr bwMode="auto">
              <a:xfrm>
                <a:off x="4386988" y="1345317"/>
                <a:ext cx="833084" cy="0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2000">
                  <a:latin typeface="+mj-lt"/>
                </a:endParaRPr>
              </a:p>
            </p:txBody>
          </p:sp>
          <p:sp>
            <p:nvSpPr>
              <p:cNvPr id="84" name="Oval 9"/>
              <p:cNvSpPr>
                <a:spLocks noChangeArrowheads="1"/>
              </p:cNvSpPr>
              <p:nvPr/>
            </p:nvSpPr>
            <p:spPr bwMode="auto">
              <a:xfrm>
                <a:off x="5220072" y="1113115"/>
                <a:ext cx="439752" cy="442351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defRPr/>
                </a:pPr>
                <a:r>
                  <a:rPr lang="en-US" altLang="zh-CN" sz="2000" b="1" dirty="0">
                    <a:latin typeface="+mj-lt"/>
                  </a:rPr>
                  <a:t>y</a:t>
                </a:r>
              </a:p>
            </p:txBody>
          </p:sp>
          <p:sp>
            <p:nvSpPr>
              <p:cNvPr id="85" name="Line 10"/>
              <p:cNvSpPr>
                <a:spLocks noChangeShapeType="1"/>
              </p:cNvSpPr>
              <p:nvPr/>
            </p:nvSpPr>
            <p:spPr bwMode="auto">
              <a:xfrm flipV="1">
                <a:off x="5659824" y="656692"/>
                <a:ext cx="833084" cy="677598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2000">
                  <a:latin typeface="+mj-lt"/>
                </a:endParaRPr>
              </a:p>
            </p:txBody>
          </p:sp>
          <p:sp>
            <p:nvSpPr>
              <p:cNvPr id="86" name="Line 10"/>
              <p:cNvSpPr>
                <a:spLocks noChangeShapeType="1"/>
              </p:cNvSpPr>
              <p:nvPr/>
            </p:nvSpPr>
            <p:spPr bwMode="auto">
              <a:xfrm>
                <a:off x="2951819" y="752282"/>
                <a:ext cx="971473" cy="582007"/>
              </a:xfrm>
              <a:prstGeom prst="line">
                <a:avLst/>
              </a:prstGeom>
              <a:noFill/>
              <a:ln w="381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2000">
                  <a:latin typeface="+mj-lt"/>
                </a:endParaRPr>
              </a:p>
            </p:txBody>
          </p:sp>
        </p:grpSp>
        <p:sp>
          <p:nvSpPr>
            <p:cNvPr id="5" name="矩形 4"/>
            <p:cNvSpPr/>
            <p:nvPr/>
          </p:nvSpPr>
          <p:spPr bwMode="auto">
            <a:xfrm>
              <a:off x="4654993" y="116632"/>
              <a:ext cx="2689315" cy="1296144"/>
            </a:xfrm>
            <a:prstGeom prst="rect">
              <a:avLst/>
            </a:prstGeom>
            <a:noFill/>
            <a:ln w="508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8000" tIns="10800" rIns="18000" bIns="10800" rtlCol="0" anchor="ctr"/>
            <a:lstStyle/>
            <a:p>
              <a:pPr algn="ctr" eaLnBrk="1" hangingPunct="1">
                <a:lnSpc>
                  <a:spcPct val="96000"/>
                </a:lnSpc>
                <a:spcBef>
                  <a:spcPct val="0"/>
                </a:spcBef>
                <a:buClrTx/>
                <a:buFontTx/>
                <a:buNone/>
              </a:pPr>
              <a:endParaRPr lang="zh-CN" altLang="en-US" sz="2000" b="1" dirty="0">
                <a:solidFill>
                  <a:srgbClr val="000099"/>
                </a:solidFill>
                <a:ea typeface="黑体" pitchFamily="49" charset="-122"/>
              </a:endParaRPr>
            </a:p>
          </p:txBody>
        </p:sp>
        <p:sp>
          <p:nvSpPr>
            <p:cNvPr id="98" name="矩形 97"/>
            <p:cNvSpPr/>
            <p:nvPr/>
          </p:nvSpPr>
          <p:spPr bwMode="auto">
            <a:xfrm>
              <a:off x="7892119" y="103775"/>
              <a:ext cx="1648434" cy="1296144"/>
            </a:xfrm>
            <a:prstGeom prst="rect">
              <a:avLst/>
            </a:prstGeom>
            <a:noFill/>
            <a:ln w="508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8000" tIns="10800" rIns="18000" bIns="10800" rtlCol="0" anchor="ctr"/>
            <a:lstStyle/>
            <a:p>
              <a:pPr algn="ctr" eaLnBrk="1" hangingPunct="1">
                <a:lnSpc>
                  <a:spcPct val="96000"/>
                </a:lnSpc>
                <a:spcBef>
                  <a:spcPct val="0"/>
                </a:spcBef>
                <a:buClrTx/>
                <a:buFontTx/>
                <a:buNone/>
              </a:pPr>
              <a:endParaRPr lang="zh-CN" altLang="en-US" sz="2000" b="1" dirty="0">
                <a:solidFill>
                  <a:srgbClr val="000099"/>
                </a:solidFill>
                <a:ea typeface="黑体" pitchFamily="49" charset="-122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5724128" y="1520788"/>
              <a:ext cx="370614" cy="40011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rtlCol="0">
              <a:spAutoFit/>
            </a:bodyPr>
            <a:lstStyle/>
            <a:p>
              <a:pPr eaLnBrk="1" hangingPunct="1">
                <a:buFont typeface="Wingdings" pitchFamily="2" charset="2"/>
                <a:buNone/>
              </a:pPr>
              <a:r>
                <a:rPr lang="en-US" altLang="zh-CN" sz="2000" b="1" dirty="0">
                  <a:solidFill>
                    <a:srgbClr val="000099"/>
                  </a:solidFill>
                  <a:ea typeface="黑体" pitchFamily="49" charset="-122"/>
                </a:rPr>
                <a:t>A</a:t>
              </a:r>
              <a:endParaRPr lang="zh-CN" altLang="en-US" sz="2000" b="1" dirty="0">
                <a:solidFill>
                  <a:srgbClr val="000099"/>
                </a:solidFill>
                <a:ea typeface="黑体" pitchFamily="49" charset="-122"/>
              </a:endParaRP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8540647" y="1483381"/>
              <a:ext cx="370614" cy="400110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rtlCol="0">
              <a:spAutoFit/>
            </a:bodyPr>
            <a:lstStyle/>
            <a:p>
              <a:pPr eaLnBrk="1" hangingPunct="1">
                <a:buFont typeface="Wingdings" pitchFamily="2" charset="2"/>
                <a:buNone/>
              </a:pPr>
              <a:r>
                <a:rPr lang="en-US" altLang="zh-CN" sz="2000" b="1" dirty="0">
                  <a:solidFill>
                    <a:srgbClr val="000099"/>
                  </a:solidFill>
                  <a:ea typeface="黑体" pitchFamily="49" charset="-122"/>
                </a:rPr>
                <a:t>B</a:t>
              </a:r>
              <a:endParaRPr lang="zh-CN" altLang="en-US" sz="2000" b="1" dirty="0">
                <a:solidFill>
                  <a:srgbClr val="000099"/>
                </a:solidFill>
                <a:ea typeface="黑体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65704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POJ 2393 </a:t>
            </a:r>
            <a:r>
              <a:rPr lang="en-US" altLang="zh-CN" dirty="0"/>
              <a:t>1328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sz="2000" dirty="0"/>
                  <a:t>（</a:t>
                </a:r>
                <a:r>
                  <a:rPr lang="en-US" altLang="zh-CN" sz="2000" dirty="0"/>
                  <a:t>1</a:t>
                </a:r>
                <a:r>
                  <a:rPr lang="zh-CN" altLang="en-US" sz="2000" dirty="0"/>
                  <a:t>）</a:t>
                </a:r>
                <a:r>
                  <a:rPr lang="zh-CN" altLang="zh-CN" sz="2000" dirty="0"/>
                  <a:t>给定</a:t>
                </a:r>
                <a:r>
                  <a:rPr lang="en-US" altLang="zh-CN" sz="2000" i="1" dirty="0"/>
                  <a:t>n</a:t>
                </a:r>
                <a:r>
                  <a:rPr lang="zh-CN" altLang="zh-CN" sz="2000" dirty="0"/>
                  <a:t>个物品，物品价值分别为</a:t>
                </a:r>
                <a:r>
                  <a:rPr lang="en-US" altLang="zh-CN" sz="2000" i="1" dirty="0"/>
                  <a:t>P</a:t>
                </a:r>
                <a:r>
                  <a:rPr lang="en-US" altLang="zh-CN" sz="2000" baseline="-25000" dirty="0"/>
                  <a:t>1</a:t>
                </a:r>
                <a:r>
                  <a:rPr lang="zh-CN" altLang="zh-CN" sz="2000" dirty="0"/>
                  <a:t>，</a:t>
                </a:r>
                <a:r>
                  <a:rPr lang="en-US" altLang="zh-CN" sz="2000" i="1" dirty="0"/>
                  <a:t>P</a:t>
                </a:r>
                <a:r>
                  <a:rPr lang="en-US" altLang="zh-CN" sz="2000" baseline="-25000" dirty="0"/>
                  <a:t>2</a:t>
                </a:r>
                <a:r>
                  <a:rPr lang="zh-CN" altLang="zh-CN" sz="2000" dirty="0"/>
                  <a:t>，</a:t>
                </a:r>
                <a:r>
                  <a:rPr lang="en-US" altLang="zh-CN" sz="2000" dirty="0"/>
                  <a:t>…</a:t>
                </a:r>
                <a:r>
                  <a:rPr lang="zh-CN" altLang="zh-CN" sz="2000" dirty="0"/>
                  <a:t>，</a:t>
                </a:r>
                <a:r>
                  <a:rPr lang="en-US" altLang="zh-CN" sz="2000" i="1" dirty="0" err="1"/>
                  <a:t>Pn</a:t>
                </a:r>
                <a:r>
                  <a:rPr lang="zh-CN" altLang="zh-CN" sz="2000" dirty="0"/>
                  <a:t>，物品重量分别</a:t>
                </a:r>
                <a:r>
                  <a:rPr lang="en-US" altLang="zh-CN" sz="2000" i="1" dirty="0"/>
                  <a:t>W</a:t>
                </a:r>
                <a:r>
                  <a:rPr lang="en-US" altLang="zh-CN" sz="2000" baseline="-25000" dirty="0"/>
                  <a:t>1</a:t>
                </a:r>
                <a:r>
                  <a:rPr lang="zh-CN" altLang="zh-CN" sz="2000" dirty="0"/>
                  <a:t>，</a:t>
                </a:r>
                <a:r>
                  <a:rPr lang="en-US" altLang="zh-CN" sz="2000" i="1" dirty="0"/>
                  <a:t>W</a:t>
                </a:r>
                <a:r>
                  <a:rPr lang="en-US" altLang="zh-CN" sz="2000" baseline="-25000" dirty="0"/>
                  <a:t>2</a:t>
                </a:r>
                <a:r>
                  <a:rPr lang="en-US" altLang="zh-CN" sz="2000" dirty="0"/>
                  <a:t>, …, </a:t>
                </a:r>
                <a:r>
                  <a:rPr lang="en-US" altLang="zh-CN" sz="2000" i="1" dirty="0" err="1"/>
                  <a:t>Wn</a:t>
                </a:r>
                <a:r>
                  <a:rPr lang="zh-CN" altLang="zh-CN" sz="2000" dirty="0"/>
                  <a:t>，背包容量为</a:t>
                </a:r>
                <a:r>
                  <a:rPr lang="en-US" altLang="zh-CN" sz="2000" i="1" dirty="0"/>
                  <a:t>M</a:t>
                </a:r>
                <a:r>
                  <a:rPr lang="zh-CN" altLang="zh-CN" sz="2000" dirty="0"/>
                  <a:t>。每种物品可部分装入到背包中</a:t>
                </a:r>
                <a:r>
                  <a:rPr lang="zh-CN" altLang="en-US" sz="2000" dirty="0"/>
                  <a:t>。输出</a:t>
                </a:r>
                <a:r>
                  <a:rPr lang="en-US" altLang="zh-CN" sz="2000" i="1" dirty="0"/>
                  <a:t>X</a:t>
                </a:r>
                <a:r>
                  <a:rPr lang="en-US" altLang="zh-CN" sz="2000" baseline="-25000" dirty="0"/>
                  <a:t>1</a:t>
                </a:r>
                <a:r>
                  <a:rPr lang="zh-CN" altLang="zh-CN" sz="2000" dirty="0"/>
                  <a:t>，</a:t>
                </a:r>
                <a:r>
                  <a:rPr lang="en-US" altLang="zh-CN" sz="2000" i="1" dirty="0"/>
                  <a:t>X</a:t>
                </a:r>
                <a:r>
                  <a:rPr lang="en-US" altLang="zh-CN" sz="2000" baseline="-25000" dirty="0"/>
                  <a:t>2</a:t>
                </a:r>
                <a:r>
                  <a:rPr lang="zh-CN" altLang="zh-CN" sz="2000" dirty="0"/>
                  <a:t>，</a:t>
                </a:r>
                <a:r>
                  <a:rPr lang="en-US" altLang="zh-CN" sz="2000" dirty="0"/>
                  <a:t>…</a:t>
                </a:r>
                <a:r>
                  <a:rPr lang="zh-CN" altLang="zh-CN" sz="2000" dirty="0"/>
                  <a:t>，</a:t>
                </a:r>
                <a:r>
                  <a:rPr lang="en-US" altLang="zh-CN" sz="2000" i="1" dirty="0" err="1"/>
                  <a:t>X</a:t>
                </a:r>
                <a:r>
                  <a:rPr lang="en-US" altLang="zh-CN" sz="2000" i="1" baseline="-25000" dirty="0" err="1"/>
                  <a:t>n</a:t>
                </a:r>
                <a:r>
                  <a:rPr lang="zh-CN" altLang="zh-CN" sz="2000" dirty="0"/>
                  <a:t>，</a:t>
                </a:r>
                <a:r>
                  <a:rPr lang="en-US" altLang="zh-CN" sz="2000" dirty="0"/>
                  <a:t>0</a:t>
                </a:r>
                <a:r>
                  <a:rPr lang="en-US" altLang="zh-CN" sz="2000" dirty="0">
                    <a:sym typeface="Symbol"/>
                  </a:rPr>
                  <a:t></a:t>
                </a:r>
                <a:r>
                  <a:rPr lang="en-US" altLang="zh-CN" sz="2000" i="1" dirty="0"/>
                  <a:t>X</a:t>
                </a:r>
                <a:r>
                  <a:rPr lang="en-US" altLang="zh-CN" sz="2000" i="1" baseline="-25000" dirty="0"/>
                  <a:t>i</a:t>
                </a:r>
                <a:r>
                  <a:rPr lang="en-US" altLang="zh-CN" sz="2000" dirty="0">
                    <a:sym typeface="Symbol"/>
                  </a:rPr>
                  <a:t></a:t>
                </a:r>
                <a:r>
                  <a:rPr lang="en-US" altLang="zh-CN" sz="2000" dirty="0"/>
                  <a:t>1, </a:t>
                </a:r>
                <a:r>
                  <a:rPr lang="zh-CN" altLang="zh-CN" sz="2000" dirty="0"/>
                  <a:t>使得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000">
                            <a:latin typeface="Cambria Math"/>
                          </a:rPr>
                          <m:t>1</m:t>
                        </m:r>
                        <m:r>
                          <a:rPr lang="en-US" altLang="zh-CN" sz="2000">
                            <a:latin typeface="Cambria Math"/>
                            <a:sym typeface="Symbol"/>
                          </a:rPr>
                          <m:t></m:t>
                        </m:r>
                        <m:r>
                          <a:rPr lang="en-US" altLang="zh-CN" sz="2000">
                            <a:latin typeface="Cambria Math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CN" sz="2000">
                            <a:latin typeface="Cambria Math"/>
                          </a:rPr>
                          <m:t>i</m:t>
                        </m:r>
                        <m:r>
                          <a:rPr lang="en-US" altLang="zh-CN" sz="2000">
                            <a:latin typeface="Cambria Math"/>
                            <a:sym typeface="Symbol"/>
                          </a:rPr>
                          <m:t></m:t>
                        </m:r>
                        <m:r>
                          <a:rPr lang="en-US" altLang="zh-CN" sz="2000">
                            <a:latin typeface="Cambria Math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CN" sz="2000">
                            <a:latin typeface="Cambria Math"/>
                          </a:rPr>
                          <m:t>n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/>
                              </a:rPr>
                              <m:t>𝑃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000">
                                <a:latin typeface="Cambria Math"/>
                              </a:rPr>
                              <m:t>i</m:t>
                            </m:r>
                          </m:sub>
                        </m:sSub>
                        <m:sSub>
                          <m:sSubPr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>
                                <a:latin typeface="Cambria Math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000">
                                <a:latin typeface="Cambria Math"/>
                              </a:rPr>
                              <m:t>i</m:t>
                            </m:r>
                          </m:sub>
                        </m:sSub>
                      </m:e>
                    </m:nary>
                  </m:oMath>
                </a14:m>
                <a:r>
                  <a:rPr lang="zh-CN" altLang="zh-CN" sz="2000" dirty="0"/>
                  <a:t>最大</a:t>
                </a:r>
                <a:r>
                  <a:rPr lang="zh-CN" altLang="en-US" sz="2000" dirty="0"/>
                  <a:t>，且</a:t>
                </a:r>
                <a:r>
                  <a:rPr lang="en-US" altLang="zh-CN" sz="2000" dirty="0"/>
                  <a:t>     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000">
                            <a:latin typeface="Cambria Math"/>
                          </a:rPr>
                          <m:t>1</m:t>
                        </m:r>
                        <m:r>
                          <a:rPr lang="en-US" altLang="zh-CN" sz="2000">
                            <a:latin typeface="Cambria Math"/>
                            <a:sym typeface="Symbol"/>
                          </a:rPr>
                          <m:t></m:t>
                        </m:r>
                        <m:r>
                          <a:rPr lang="en-US" altLang="zh-CN" sz="2000">
                            <a:latin typeface="Cambria Math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CN" sz="2000">
                            <a:latin typeface="Cambria Math"/>
                          </a:rPr>
                          <m:t>i</m:t>
                        </m:r>
                        <m:r>
                          <a:rPr lang="en-US" altLang="zh-CN" sz="2000">
                            <a:latin typeface="Cambria Math"/>
                            <a:sym typeface="Symbol"/>
                          </a:rPr>
                          <m:t></m:t>
                        </m:r>
                        <m:r>
                          <a:rPr lang="en-US" altLang="zh-CN" sz="2000">
                            <a:latin typeface="Cambria Math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CN" sz="2000">
                            <a:latin typeface="Cambria Math"/>
                          </a:rPr>
                          <m:t>n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>
                                <a:latin typeface="Cambria Math"/>
                              </a:rPr>
                              <m:t>W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000">
                                <a:latin typeface="Cambria Math"/>
                              </a:rPr>
                              <m:t>i</m:t>
                            </m:r>
                          </m:sub>
                        </m:sSub>
                        <m:sSub>
                          <m:sSubPr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000">
                                <a:latin typeface="Cambria Math"/>
                              </a:rPr>
                              <m:t>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000">
                                <a:latin typeface="Cambria Math"/>
                              </a:rPr>
                              <m:t>i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altLang="zh-CN" sz="2000" dirty="0">
                    <a:sym typeface="Symbol"/>
                  </a:rPr>
                  <a:t></a:t>
                </a:r>
                <a:r>
                  <a:rPr lang="en-US" altLang="zh-CN" sz="2000" dirty="0"/>
                  <a:t>M</a:t>
                </a:r>
                <a:r>
                  <a:rPr lang="zh-CN" altLang="en-US" sz="2000" dirty="0"/>
                  <a:t>。</a:t>
                </a:r>
                <a:r>
                  <a:rPr lang="zh-CN" altLang="zh-CN" sz="2000" dirty="0"/>
                  <a:t>试设计一个算法求解该问题</a:t>
                </a:r>
                <a:r>
                  <a:rPr lang="zh-CN" altLang="en-US" sz="2000" dirty="0"/>
                  <a:t>，</a:t>
                </a:r>
                <a:r>
                  <a:rPr lang="zh-CN" altLang="zh-CN" sz="2000" dirty="0"/>
                  <a:t>分析算法的正确性</a:t>
                </a:r>
                <a:r>
                  <a:rPr lang="zh-CN" altLang="en-US" sz="2000" dirty="0"/>
                  <a:t>。</a:t>
                </a:r>
                <a:endParaRPr lang="en-US" altLang="zh-CN" sz="2000" dirty="0"/>
              </a:p>
              <a:p>
                <a:endParaRPr lang="en-US" altLang="zh-CN" sz="2000" dirty="0"/>
              </a:p>
              <a:p>
                <a:r>
                  <a:rPr lang="zh-CN" altLang="en-US" sz="2000" dirty="0"/>
                  <a:t>（</a:t>
                </a:r>
                <a:r>
                  <a:rPr lang="en-US" altLang="zh-CN" sz="2000" dirty="0"/>
                  <a:t>2</a:t>
                </a:r>
                <a:r>
                  <a:rPr lang="zh-CN" altLang="en-US" sz="2000" dirty="0"/>
                  <a:t>）</a:t>
                </a:r>
                <a:r>
                  <a:rPr lang="zh-CN" altLang="zh-CN" sz="2000" dirty="0"/>
                  <a:t>海面上有一些船需要与陆地进行通信，需要在海岸线上布置一些基站。现将问题抽象为，在</a:t>
                </a:r>
                <a:r>
                  <a:rPr lang="en-US" altLang="zh-CN" sz="2000" dirty="0"/>
                  <a:t>x</a:t>
                </a:r>
                <a:r>
                  <a:rPr lang="zh-CN" altLang="zh-CN" sz="2000" dirty="0"/>
                  <a:t>轴上方，给出</a:t>
                </a:r>
                <a:r>
                  <a:rPr lang="en-US" altLang="zh-CN" sz="2000" i="1" dirty="0"/>
                  <a:t>N</a:t>
                </a:r>
                <a:r>
                  <a:rPr lang="zh-CN" altLang="zh-CN" sz="2000" dirty="0"/>
                  <a:t>条船的坐标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/>
                          </a:rPr>
                          <m:t>𝑝</m:t>
                        </m:r>
                      </m:e>
                      <m:sub>
                        <m:r>
                          <a:rPr lang="en-US" altLang="zh-CN" sz="20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altLang="zh-CN" sz="2000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/>
                          </a:rPr>
                          <m:t>𝑝</m:t>
                        </m:r>
                      </m:e>
                      <m:sub>
                        <m:r>
                          <a:rPr lang="en-US" altLang="zh-CN" sz="20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altLang="zh-CN" sz="2000" i="1"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/>
                          </a:rPr>
                          <m:t>𝑝</m:t>
                        </m:r>
                      </m:e>
                      <m:sub>
                        <m:r>
                          <a:rPr lang="en-US" altLang="zh-CN" sz="2000" i="1">
                            <a:latin typeface="Cambria Math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zh-CN" altLang="zh-CN" sz="2000" dirty="0"/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/>
                          </a:rPr>
                          <m:t>𝑝</m:t>
                        </m:r>
                      </m:e>
                      <m:sub>
                        <m:r>
                          <a:rPr lang="en-US" altLang="zh-CN" sz="2000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altLang="zh-CN" sz="2000" i="1">
                        <a:latin typeface="Cambria Math"/>
                      </a:rPr>
                      <m:t>=(</m:t>
                    </m:r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altLang="zh-CN" sz="200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altLang="zh-CN" sz="2000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altLang="zh-CN" sz="2000" i="1">
                        <a:latin typeface="Cambria Math"/>
                      </a:rPr>
                      <m:t>)</m:t>
                    </m:r>
                  </m:oMath>
                </a14:m>
                <a:r>
                  <a:rPr lang="zh-CN" altLang="zh-CN" sz="2000" dirty="0"/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altLang="zh-CN" sz="2000">
                        <a:latin typeface="Cambria Math"/>
                      </a:rPr>
                      <m:t>≥0, </m:t>
                    </m:r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altLang="zh-CN" sz="2000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en-US" altLang="zh-CN" sz="2000">
                        <a:latin typeface="Cambria Math"/>
                      </a:rPr>
                      <m:t>≤</m:t>
                    </m:r>
                    <m:r>
                      <m:rPr>
                        <m:sty m:val="p"/>
                      </m:rPr>
                      <a:rPr lang="en-US" altLang="zh-CN" sz="2000">
                        <a:latin typeface="Cambria Math"/>
                      </a:rPr>
                      <m:t>d</m:t>
                    </m:r>
                    <m:r>
                      <a:rPr lang="en-US" altLang="zh-CN" sz="2000">
                        <a:latin typeface="Cambria Math"/>
                      </a:rPr>
                      <m:t>,1≤</m:t>
                    </m:r>
                    <m:r>
                      <a:rPr lang="en-US" altLang="zh-CN" sz="2000" i="1">
                        <a:latin typeface="Cambria Math"/>
                      </a:rPr>
                      <m:t>𝑖</m:t>
                    </m:r>
                    <m:r>
                      <a:rPr lang="en-US" altLang="zh-CN" sz="2000">
                        <a:latin typeface="Cambria Math"/>
                      </a:rPr>
                      <m:t>≤</m:t>
                    </m:r>
                    <m:r>
                      <a:rPr lang="en-US" altLang="zh-CN" sz="2000" i="1">
                        <a:latin typeface="Cambria Math"/>
                      </a:rPr>
                      <m:t>𝑁</m:t>
                    </m:r>
                  </m:oMath>
                </a14:m>
                <a:r>
                  <a:rPr lang="zh-CN" altLang="zh-CN" sz="2000" dirty="0"/>
                  <a:t>，在</a:t>
                </a:r>
                <a:r>
                  <a:rPr lang="en-US" altLang="zh-CN" sz="2000" dirty="0"/>
                  <a:t>x</a:t>
                </a:r>
                <a:r>
                  <a:rPr lang="zh-CN" altLang="zh-CN" sz="2000" dirty="0"/>
                  <a:t>轴上安放的基站可以覆盖半径为</a:t>
                </a:r>
                <a:r>
                  <a:rPr lang="en-US" altLang="zh-CN" sz="2000" dirty="0"/>
                  <a:t>d</a:t>
                </a:r>
                <a:r>
                  <a:rPr lang="zh-CN" altLang="zh-CN" sz="2000" dirty="0"/>
                  <a:t>的区域内的所有点，问在</a:t>
                </a:r>
                <a:r>
                  <a:rPr lang="en-US" altLang="zh-CN" sz="2000" dirty="0"/>
                  <a:t>x</a:t>
                </a:r>
                <a:r>
                  <a:rPr lang="zh-CN" altLang="zh-CN" sz="2000" dirty="0"/>
                  <a:t>轴上至少要安放几个点才可以将</a:t>
                </a:r>
                <a:r>
                  <a:rPr lang="en-US" altLang="zh-CN" sz="2000" dirty="0"/>
                  <a:t>x</a:t>
                </a:r>
                <a:r>
                  <a:rPr lang="zh-CN" altLang="zh-CN" sz="2000" dirty="0"/>
                  <a:t>轴上方的点都覆盖起来。试设计一个算法求解该问题，并分析算法的正确性。</a:t>
                </a: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370" t="-1154" r="-7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3E6C03A-3073-401C-B837-061925A82BB2}" type="slidenum">
              <a:rPr lang="en-US" altLang="zh-CN" smtClean="0"/>
              <a:pPr>
                <a:defRPr/>
              </a:pPr>
              <a:t>48</a:t>
            </a:fld>
            <a:endParaRPr lang="en-US" altLang="zh-CN" dirty="0"/>
          </a:p>
        </p:txBody>
      </p:sp>
      <p:pic>
        <p:nvPicPr>
          <p:cNvPr id="5" name="图片 4" descr="C:\Users\swim\Desktop\图片1.pn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9952" y="4833156"/>
            <a:ext cx="3204356" cy="180707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0060721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zh-CN" sz="1800" dirty="0"/>
                  <a:t>某公司有个工厂和仓库。由于原材料等价格波动，工厂每个月的生产成本也会波动，令第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zh-CN" sz="1800" dirty="0"/>
                  <a:t>个月产品的单位生产成本为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zh-CN" sz="1800" dirty="0"/>
                  <a:t>（该月生产一个产品的成本为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zh-CN" sz="1800" dirty="0"/>
                  <a:t>）。仓库储存产品的也有成本，假设每个月产品的单位储存成本为固定值</a:t>
                </a:r>
                <a:r>
                  <a:rPr lang="en-US" altLang="zh-CN" sz="1800" dirty="0"/>
                  <a:t>1</a:t>
                </a:r>
                <a:r>
                  <a:rPr lang="zh-CN" altLang="zh-CN" sz="1800" dirty="0"/>
                  <a:t>（存储一个产品一个月的成本为</a:t>
                </a:r>
                <a:r>
                  <a:rPr lang="en-US" altLang="zh-CN" sz="1800" dirty="0">
                    <a:solidFill>
                      <a:srgbClr val="FF0000"/>
                    </a:solidFill>
                  </a:rPr>
                  <a:t>1</a:t>
                </a:r>
                <a:r>
                  <a:rPr lang="zh-CN" altLang="zh-CN" sz="1800" dirty="0"/>
                  <a:t>）。令第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zh-CN" altLang="zh-CN" sz="1800" dirty="0"/>
                  <a:t>个月需要供应给客户的产品数量为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zh-CN" sz="1800" dirty="0"/>
                  <a:t>，仓库里的和生产的产品均可供应给客户。假设仓库的容量无限大，供应给客户剩余的产品可储存在仓库中。若已知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zh-CN" sz="1800" dirty="0"/>
                  <a:t>个月中各月的单位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zh-CN" altLang="zh-CN" sz="1800" dirty="0">
                            <a:solidFill>
                              <a:srgbClr val="FF0000"/>
                            </a:solidFill>
                          </a:rPr>
                          <m:t>生产成本</m:t>
                        </m:r>
                        <m:r>
                          <a:rPr lang="en-US" altLang="zh-CN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zh-CN" sz="1800" dirty="0"/>
                  <a:t>、以及产品</a:t>
                </a:r>
                <a:r>
                  <a:rPr lang="zh-CN" altLang="zh-CN" sz="1800" dirty="0">
                    <a:solidFill>
                      <a:srgbClr val="FF0000"/>
                    </a:solidFill>
                  </a:rPr>
                  <a:t>供应量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zh-CN" sz="1800" dirty="0"/>
                  <a:t>，设计一算法决策每个月的产品</a:t>
                </a:r>
                <a:r>
                  <a:rPr lang="zh-CN" altLang="zh-CN" sz="1800" dirty="0">
                    <a:solidFill>
                      <a:srgbClr val="FF0000"/>
                    </a:solidFill>
                  </a:rPr>
                  <a:t>生产数量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zh-CN" sz="1800" dirty="0"/>
                  <a:t>，使得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zh-CN" sz="1800" dirty="0"/>
                  <a:t>个月的总成本最低。例如：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zh-CN" altLang="zh-CN" sz="1800" dirty="0"/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</a:rPr>
                      <m:t>:2,5,3</m:t>
                    </m:r>
                  </m:oMath>
                </a14:m>
                <a:r>
                  <a:rPr lang="zh-CN" altLang="zh-CN" sz="1800" dirty="0"/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</a:rPr>
                      <m:t>:2,4,5</m:t>
                    </m:r>
                  </m:oMath>
                </a14:m>
                <a:r>
                  <a:rPr lang="zh-CN" altLang="zh-CN" sz="1800" dirty="0"/>
                  <a:t>，则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</a:rPr>
                      <m:t>:6,0,5</m:t>
                    </m:r>
                  </m:oMath>
                </a14:m>
                <a:r>
                  <a:rPr lang="zh-CN" altLang="zh-CN" sz="1800" dirty="0"/>
                  <a:t>，即第</a:t>
                </a:r>
                <a:r>
                  <a:rPr lang="en-US" altLang="zh-CN" sz="1800" dirty="0"/>
                  <a:t>1</a:t>
                </a:r>
                <a:r>
                  <a:rPr lang="zh-CN" altLang="zh-CN" sz="1800" dirty="0"/>
                  <a:t>个月生产</a:t>
                </a:r>
                <a:r>
                  <a:rPr lang="en-US" altLang="zh-CN" sz="1800" dirty="0"/>
                  <a:t>6</a:t>
                </a:r>
                <a:r>
                  <a:rPr lang="zh-CN" altLang="zh-CN" sz="1800" dirty="0"/>
                  <a:t>个供应</a:t>
                </a:r>
                <a:r>
                  <a:rPr lang="en-US" altLang="zh-CN" sz="1800" dirty="0"/>
                  <a:t>2</a:t>
                </a:r>
                <a:r>
                  <a:rPr lang="zh-CN" altLang="zh-CN" sz="1800" dirty="0"/>
                  <a:t>个（代价</a:t>
                </a:r>
                <a:r>
                  <a:rPr lang="en-US" altLang="zh-CN" sz="1800" dirty="0"/>
                  <a:t>2</a:t>
                </a:r>
                <a14:m>
                  <m:oMath xmlns:m="http://schemas.openxmlformats.org/officeDocument/2006/math">
                    <m:r>
                      <a:rPr lang="en-US" altLang="zh-CN" sz="180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zh-CN" sz="1800" dirty="0"/>
                  <a:t>2=4</a:t>
                </a:r>
                <a:r>
                  <a:rPr lang="zh-CN" altLang="zh-CN" sz="1800" dirty="0"/>
                  <a:t>），储存</a:t>
                </a:r>
                <a:r>
                  <a:rPr lang="en-US" altLang="zh-CN" sz="1800" dirty="0"/>
                  <a:t>4</a:t>
                </a:r>
                <a:r>
                  <a:rPr lang="zh-CN" altLang="zh-CN" sz="1800" dirty="0"/>
                  <a:t>个供应给第</a:t>
                </a:r>
                <a:r>
                  <a:rPr lang="en-US" altLang="zh-CN" sz="1800" dirty="0"/>
                  <a:t>2</a:t>
                </a:r>
                <a:r>
                  <a:rPr lang="zh-CN" altLang="zh-CN" sz="1800" dirty="0"/>
                  <a:t>个月（代价</a:t>
                </a:r>
                <a:r>
                  <a:rPr lang="en-US" altLang="zh-CN" sz="1800" dirty="0"/>
                  <a:t>(2+1)</a:t>
                </a:r>
                <a14:m>
                  <m:oMath xmlns:m="http://schemas.openxmlformats.org/officeDocument/2006/math">
                    <m:r>
                      <a:rPr lang="en-US" altLang="zh-CN" sz="180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zh-CN" sz="1800" dirty="0"/>
                  <a:t>4=12</a:t>
                </a:r>
                <a:r>
                  <a:rPr lang="zh-CN" altLang="zh-CN" sz="1800" dirty="0"/>
                  <a:t>），第</a:t>
                </a:r>
                <a:r>
                  <a:rPr lang="en-US" altLang="zh-CN" sz="1800" dirty="0"/>
                  <a:t>3</a:t>
                </a:r>
                <a:r>
                  <a:rPr lang="zh-CN" altLang="zh-CN" sz="1800" dirty="0"/>
                  <a:t>个月生产</a:t>
                </a:r>
                <a:r>
                  <a:rPr lang="en-US" altLang="zh-CN" sz="1800" dirty="0"/>
                  <a:t>5</a:t>
                </a:r>
                <a:r>
                  <a:rPr lang="zh-CN" altLang="zh-CN" sz="1800" dirty="0"/>
                  <a:t>个供应</a:t>
                </a:r>
                <a:r>
                  <a:rPr lang="en-US" altLang="zh-CN" sz="1800" dirty="0"/>
                  <a:t>5</a:t>
                </a:r>
                <a:r>
                  <a:rPr lang="zh-CN" altLang="zh-CN" sz="1800" dirty="0"/>
                  <a:t>个（代价</a:t>
                </a:r>
                <a:r>
                  <a:rPr lang="en-US" altLang="zh-CN" sz="1800" dirty="0"/>
                  <a:t>3</a:t>
                </a:r>
                <a14:m>
                  <m:oMath xmlns:m="http://schemas.openxmlformats.org/officeDocument/2006/math">
                    <m:r>
                      <a:rPr lang="en-US" altLang="zh-CN" sz="180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zh-CN" sz="1800" dirty="0"/>
                  <a:t>5=15</a:t>
                </a:r>
                <a:r>
                  <a:rPr lang="zh-CN" altLang="zh-CN" sz="1800" dirty="0"/>
                  <a:t>），</a:t>
                </a:r>
                <a:r>
                  <a:rPr lang="zh-CN" altLang="zh-CN" sz="1800" dirty="0">
                    <a:solidFill>
                      <a:srgbClr val="FF0000"/>
                    </a:solidFill>
                  </a:rPr>
                  <a:t>使总成本</a:t>
                </a:r>
                <a:r>
                  <a:rPr lang="en-US" altLang="zh-CN" sz="1800" dirty="0">
                    <a:solidFill>
                      <a:srgbClr val="FF0000"/>
                    </a:solidFill>
                  </a:rPr>
                  <a:t>4+12+15=31</a:t>
                </a:r>
                <a:r>
                  <a:rPr lang="zh-CN" altLang="zh-CN" sz="1800" dirty="0">
                    <a:solidFill>
                      <a:srgbClr val="FF0000"/>
                    </a:solidFill>
                  </a:rPr>
                  <a:t>最小</a:t>
                </a:r>
                <a:r>
                  <a:rPr lang="zh-CN" altLang="zh-CN" sz="1800" dirty="0"/>
                  <a:t>。</a:t>
                </a:r>
                <a:endParaRPr lang="en-US" altLang="zh-CN" sz="1800" dirty="0"/>
              </a:p>
              <a:p>
                <a:endParaRPr lang="en-US" altLang="zh-CN" sz="1800" dirty="0"/>
              </a:p>
              <a:p>
                <a:r>
                  <a:rPr lang="zh-CN" altLang="en-US" sz="1800" dirty="0"/>
                  <a:t>给定直线上 </a:t>
                </a:r>
                <a:r>
                  <a:rPr lang="en-US" altLang="zh-CN" sz="1800" dirty="0"/>
                  <a:t>2n</a:t>
                </a:r>
                <a:r>
                  <a:rPr lang="zh-CN" altLang="en-US" sz="1800" dirty="0"/>
                  <a:t>个点的序列</a:t>
                </a:r>
                <a:r>
                  <a:rPr lang="en-US" altLang="zh-CN" sz="1800" dirty="0"/>
                  <a:t>P[1,2,… ,2n]</a:t>
                </a:r>
                <a:r>
                  <a:rPr lang="zh-CN" altLang="en-US" sz="1800" dirty="0"/>
                  <a:t>，每个点 </a:t>
                </a:r>
                <a:r>
                  <a:rPr lang="en-US" altLang="zh-CN" sz="1800" dirty="0"/>
                  <a:t>P[</a:t>
                </a:r>
                <a:r>
                  <a:rPr lang="en-US" altLang="zh-CN" sz="1800" dirty="0" err="1"/>
                  <a:t>i</a:t>
                </a:r>
                <a:r>
                  <a:rPr lang="en-US" altLang="zh-CN" sz="1800" dirty="0"/>
                  <a:t>]</a:t>
                </a:r>
                <a:r>
                  <a:rPr lang="zh-CN" altLang="en-US" sz="1800" dirty="0"/>
                  <a:t>要么是白点要么是黑点，其中共有</a:t>
                </a:r>
                <a:r>
                  <a:rPr lang="en-US" altLang="zh-CN" sz="1800" dirty="0"/>
                  <a:t>n</a:t>
                </a:r>
                <a:r>
                  <a:rPr lang="zh-CN" altLang="en-US" sz="1800" dirty="0"/>
                  <a:t>个白点和 </a:t>
                </a:r>
                <a:r>
                  <a:rPr lang="en-US" altLang="zh-CN" sz="1800" dirty="0"/>
                  <a:t>n</a:t>
                </a:r>
                <a:r>
                  <a:rPr lang="zh-CN" altLang="en-US" sz="1800" dirty="0"/>
                  <a:t>个黑点，相邻两个点之间距离均为</a:t>
                </a:r>
                <a:r>
                  <a:rPr lang="en-US" altLang="zh-CN" sz="1800" dirty="0"/>
                  <a:t>1</a:t>
                </a:r>
                <a:r>
                  <a:rPr lang="zh-CN" altLang="en-US" sz="1800" dirty="0"/>
                  <a:t>，请设计一个算法将每个白点与一黑点相连，使得连线的总长度最小。例如，图中有</a:t>
                </a:r>
                <a:r>
                  <a:rPr lang="en-US" altLang="zh-CN" sz="1800" dirty="0"/>
                  <a:t>4</a:t>
                </a:r>
                <a:r>
                  <a:rPr lang="zh-CN" altLang="en-US" sz="1800" dirty="0"/>
                  <a:t>个白点和</a:t>
                </a:r>
                <a:r>
                  <a:rPr lang="en-US" altLang="zh-CN" sz="1800" dirty="0"/>
                  <a:t>4</a:t>
                </a:r>
                <a:r>
                  <a:rPr lang="zh-CN" altLang="en-US" sz="1800" dirty="0"/>
                  <a:t>个黑点，以图中方式相连，连线总长度为</a:t>
                </a:r>
                <a:r>
                  <a:rPr lang="en-US" altLang="zh-CN" sz="1800" dirty="0"/>
                  <a:t>1+1+1+5=8</a:t>
                </a:r>
                <a:r>
                  <a:rPr lang="zh-CN" altLang="en-US" sz="1800" dirty="0"/>
                  <a:t>。</a:t>
                </a:r>
              </a:p>
            </p:txBody>
          </p:sp>
        </mc:Choice>
        <mc:Fallback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154" r="-5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3E6C03A-3073-401C-B837-061925A82BB2}" type="slidenum">
              <a:rPr lang="en-US" altLang="zh-CN" smtClean="0"/>
              <a:pPr>
                <a:defRPr/>
              </a:pPr>
              <a:t>49</a:t>
            </a:fld>
            <a:endParaRPr lang="en-US" altLang="zh-CN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3167844" y="593254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8142705"/>
              </p:ext>
            </p:extLst>
          </p:nvPr>
        </p:nvGraphicFramePr>
        <p:xfrm>
          <a:off x="3167844" y="5932540"/>
          <a:ext cx="2752725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MP 图像" r:id="rId3" imgW="2752381" imgH="323981" progId="Paint.Picture">
                  <p:embed/>
                </p:oleObj>
              </mc:Choice>
              <mc:Fallback>
                <p:oleObj name="BMP 图像" r:id="rId3" imgW="2752381" imgH="323981" progId="Paint.Picture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7844" y="5932540"/>
                        <a:ext cx="2752725" cy="323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8027706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841D09-3CB9-4B86-BA13-52917750A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2FC9258-123C-486F-86CF-54DA6FE1D3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3E6C03A-3073-401C-B837-061925A82BB2}" type="slidenum">
              <a:rPr lang="en-US" altLang="zh-CN" smtClean="0"/>
              <a:pPr>
                <a:defRPr/>
              </a:pPr>
              <a:t>50</a:t>
            </a:fld>
            <a:endParaRPr lang="en-US" altLang="zh-CN" dirty="0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4B1960EC-9B1E-4005-B941-8751A06795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有</a:t>
            </a:r>
            <a:r>
              <a:rPr lang="en-US" altLang="zh-CN" dirty="0"/>
              <a:t>n</a:t>
            </a:r>
            <a:r>
              <a:rPr lang="zh-CN" altLang="en-US" dirty="0"/>
              <a:t>个作业需要在一台机器上执行，一个时刻机器上只能执行一个作业，每个作业可在单位时间内完成，作业</a:t>
            </a:r>
            <a:r>
              <a:rPr lang="en-US" altLang="zh-CN" dirty="0" err="1"/>
              <a:t>i</a:t>
            </a:r>
            <a:r>
              <a:rPr lang="zh-CN" altLang="en-US" dirty="0"/>
              <a:t>有截止时间</a:t>
            </a:r>
            <a:r>
              <a:rPr lang="en-US" altLang="zh-CN" dirty="0"/>
              <a:t>di</a:t>
            </a:r>
            <a:r>
              <a:rPr lang="zh-CN" altLang="en-US" dirty="0"/>
              <a:t>，当作业</a:t>
            </a:r>
            <a:r>
              <a:rPr lang="en-US" altLang="zh-CN" dirty="0" err="1"/>
              <a:t>i</a:t>
            </a:r>
            <a:r>
              <a:rPr lang="zh-CN" altLang="en-US" dirty="0"/>
              <a:t>在截止时间被执行完，则可获得</a:t>
            </a:r>
            <a:r>
              <a:rPr lang="en-US" altLang="zh-CN" dirty="0"/>
              <a:t>pi</a:t>
            </a:r>
            <a:r>
              <a:rPr lang="zh-CN" altLang="en-US" dirty="0"/>
              <a:t>的收益，请设计算法获得最大收益，并分析算法的正确性。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假设有数目不限的面值为</a:t>
            </a:r>
            <a:r>
              <a:rPr lang="en-US" altLang="zh-CN" dirty="0"/>
              <a:t>25</a:t>
            </a:r>
            <a:r>
              <a:rPr lang="zh-CN" altLang="en-US" dirty="0"/>
              <a:t>美分，</a:t>
            </a:r>
            <a:r>
              <a:rPr lang="en-US" altLang="zh-CN" dirty="0"/>
              <a:t>10</a:t>
            </a:r>
            <a:r>
              <a:rPr lang="zh-CN" altLang="en-US" dirty="0"/>
              <a:t>美分，</a:t>
            </a:r>
            <a:r>
              <a:rPr lang="en-US" altLang="zh-CN" dirty="0"/>
              <a:t>5</a:t>
            </a:r>
            <a:r>
              <a:rPr lang="zh-CN" altLang="en-US" dirty="0"/>
              <a:t>美分，</a:t>
            </a:r>
            <a:r>
              <a:rPr lang="en-US" altLang="zh-CN" dirty="0"/>
              <a:t>1</a:t>
            </a:r>
            <a:r>
              <a:rPr lang="zh-CN" altLang="en-US" dirty="0"/>
              <a:t>美分的硬币，请使用最少个数的硬币凑出</a:t>
            </a:r>
            <a:r>
              <a:rPr lang="en-US" altLang="zh-CN" dirty="0"/>
              <a:t>3.33</a:t>
            </a:r>
            <a:r>
              <a:rPr lang="zh-CN" altLang="en-US" dirty="0"/>
              <a:t>美元。</a:t>
            </a:r>
          </a:p>
        </p:txBody>
      </p:sp>
    </p:spTree>
    <p:extLst>
      <p:ext uri="{BB962C8B-B14F-4D97-AF65-F5344CB8AC3E}">
        <p14:creationId xmlns:p14="http://schemas.microsoft.com/office/powerpoint/2010/main" val="321344118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166E48-8F1F-462A-B754-16F3D82D5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87F170-049D-4B38-8C95-9554B733D8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1CA2F88-B511-4C02-B07A-6F0F3A087E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3E6C03A-3073-401C-B837-061925A82BB2}" type="slidenum">
              <a:rPr lang="en-US" altLang="zh-CN" smtClean="0"/>
              <a:pPr>
                <a:defRPr/>
              </a:pPr>
              <a:t>51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65076553"/>
      </p:ext>
    </p:extLst>
  </p:cSld>
  <p:clrMapOvr>
    <a:masterClrMapping/>
  </p:clrMapOvr>
</p:sld>
</file>

<file path=ppt/theme/theme1.xml><?xml version="1.0" encoding="utf-8"?>
<a:theme xmlns:a="http://schemas.openxmlformats.org/drawingml/2006/main" name="Pixel">
  <a:themeElements>
    <a:clrScheme name="自定义 1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自定义 1">
      <a:majorFont>
        <a:latin typeface="Arial"/>
        <a:ea typeface="隶书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25400">
          <a:solidFill>
            <a:srgbClr val="000000"/>
          </a:solidFill>
          <a:miter lim="800000"/>
          <a:headEnd/>
          <a:tailEnd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</a:extLst>
      </a:spPr>
      <a:bodyPr lIns="18000" tIns="10800" rIns="18000" bIns="10800" rtlCol="0" anchor="ctr"/>
      <a:lstStyle>
        <a:defPPr algn="ctr" eaLnBrk="1" hangingPunct="1">
          <a:lnSpc>
            <a:spcPct val="96000"/>
          </a:lnSpc>
          <a:spcBef>
            <a:spcPct val="0"/>
          </a:spcBef>
          <a:buClrTx/>
          <a:buFontTx/>
          <a:buNone/>
          <a:defRPr b="1" dirty="0">
            <a:solidFill>
              <a:srgbClr val="000099"/>
            </a:solidFill>
            <a:ea typeface="黑体" pitchFamily="49" charset="-122"/>
          </a:defRPr>
        </a:defPPr>
      </a:lstStyle>
    </a:spDef>
    <a:lnDef>
      <a:spPr bwMode="auto">
        <a:ln w="19050">
          <a:solidFill>
            <a:srgbClr val="006600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25400">
          <a:noFill/>
        </a:ln>
      </a:spPr>
      <a:bodyPr wrap="none" rtlCol="0">
        <a:spAutoFit/>
      </a:bodyPr>
      <a:lstStyle>
        <a:defPPr eaLnBrk="1" hangingPunct="1">
          <a:buFont typeface="Wingdings" pitchFamily="2" charset="2"/>
          <a:buNone/>
          <a:defRPr b="1" dirty="0" smtClean="0">
            <a:solidFill>
              <a:srgbClr val="000099"/>
            </a:solidFill>
            <a:ea typeface="黑体" pitchFamily="49" charset="-122"/>
          </a:defRPr>
        </a:defPPr>
      </a:lstStyle>
    </a:tx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3">
        <a:dk1>
          <a:srgbClr val="000099"/>
        </a:dk1>
        <a:lt1>
          <a:srgbClr val="FFFFFF"/>
        </a:lt1>
        <a:dk2>
          <a:srgbClr val="CC0000"/>
        </a:dk2>
        <a:lt2>
          <a:srgbClr val="808080"/>
        </a:lt2>
        <a:accent1>
          <a:srgbClr val="FFFF66"/>
        </a:accent1>
        <a:accent2>
          <a:srgbClr val="000099"/>
        </a:accent2>
        <a:accent3>
          <a:srgbClr val="FFFFFF"/>
        </a:accent3>
        <a:accent4>
          <a:srgbClr val="000082"/>
        </a:accent4>
        <a:accent5>
          <a:srgbClr val="FFFFB8"/>
        </a:accent5>
        <a:accent6>
          <a:srgbClr val="00008A"/>
        </a:accent6>
        <a:hlink>
          <a:srgbClr val="CC0000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4">
        <a:dk1>
          <a:srgbClr val="000099"/>
        </a:dk1>
        <a:lt1>
          <a:srgbClr val="FFFFFF"/>
        </a:lt1>
        <a:dk2>
          <a:srgbClr val="CC0000"/>
        </a:dk2>
        <a:lt2>
          <a:srgbClr val="0033CC"/>
        </a:lt2>
        <a:accent1>
          <a:srgbClr val="FFFF66"/>
        </a:accent1>
        <a:accent2>
          <a:srgbClr val="000099"/>
        </a:accent2>
        <a:accent3>
          <a:srgbClr val="FFFFFF"/>
        </a:accent3>
        <a:accent4>
          <a:srgbClr val="000082"/>
        </a:accent4>
        <a:accent5>
          <a:srgbClr val="FFFFB8"/>
        </a:accent5>
        <a:accent6>
          <a:srgbClr val="00008A"/>
        </a:accent6>
        <a:hlink>
          <a:srgbClr val="CC0000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9944</TotalTime>
  <Words>5242</Words>
  <Application>Microsoft Office PowerPoint</Application>
  <PresentationFormat>全屏显示(4:3)</PresentationFormat>
  <Paragraphs>1149</Paragraphs>
  <Slides>51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51</vt:i4>
      </vt:variant>
    </vt:vector>
  </HeadingPairs>
  <TitlesOfParts>
    <vt:vector size="66" baseType="lpstr">
      <vt:lpstr>仿宋_GB2312</vt:lpstr>
      <vt:lpstr>黑体</vt:lpstr>
      <vt:lpstr>华文行楷</vt:lpstr>
      <vt:lpstr>宋体</vt:lpstr>
      <vt:lpstr>Arial</vt:lpstr>
      <vt:lpstr>Calibri</vt:lpstr>
      <vt:lpstr>Cambria Math</vt:lpstr>
      <vt:lpstr>Courier New</vt:lpstr>
      <vt:lpstr>Symbol</vt:lpstr>
      <vt:lpstr>Times New Roman</vt:lpstr>
      <vt:lpstr>Wingdings</vt:lpstr>
      <vt:lpstr>Pixel</vt:lpstr>
      <vt:lpstr>自定义设计方案</vt:lpstr>
      <vt:lpstr>公式</vt:lpstr>
      <vt:lpstr>BMP 图像</vt:lpstr>
      <vt:lpstr>贪心算法</vt:lpstr>
      <vt:lpstr>本章内容</vt:lpstr>
      <vt:lpstr>贪心算法要素</vt:lpstr>
      <vt:lpstr>贪心算法要素</vt:lpstr>
      <vt:lpstr>贪心算法要素</vt:lpstr>
      <vt:lpstr>活动选择问题</vt:lpstr>
      <vt:lpstr>活动选择问题</vt:lpstr>
      <vt:lpstr>活动选择问题</vt:lpstr>
      <vt:lpstr>活动选择问题</vt:lpstr>
      <vt:lpstr>活动选择问题</vt:lpstr>
      <vt:lpstr>哈夫曼编码</vt:lpstr>
      <vt:lpstr>哈夫曼编码</vt:lpstr>
      <vt:lpstr>哈夫曼编码</vt:lpstr>
      <vt:lpstr>哈夫曼编码</vt:lpstr>
      <vt:lpstr>哈夫曼编码</vt:lpstr>
      <vt:lpstr>哈夫曼编码</vt:lpstr>
      <vt:lpstr>哈夫曼编码</vt:lpstr>
      <vt:lpstr>哈夫曼编码</vt:lpstr>
      <vt:lpstr>并查集</vt:lpstr>
      <vt:lpstr>并查集</vt:lpstr>
      <vt:lpstr>并查集</vt:lpstr>
      <vt:lpstr>并查集</vt:lpstr>
      <vt:lpstr>并查集</vt:lpstr>
      <vt:lpstr>并查集</vt:lpstr>
      <vt:lpstr>并查集</vt:lpstr>
      <vt:lpstr>并查集</vt:lpstr>
      <vt:lpstr>最小生成树</vt:lpstr>
      <vt:lpstr>最小生成树</vt:lpstr>
      <vt:lpstr>最小生成树</vt:lpstr>
      <vt:lpstr>最小生成树</vt:lpstr>
      <vt:lpstr>最小生成树</vt:lpstr>
      <vt:lpstr>最小生成树</vt:lpstr>
      <vt:lpstr>最小生成树</vt:lpstr>
      <vt:lpstr>最小生成树</vt:lpstr>
      <vt:lpstr>最小生成树</vt:lpstr>
      <vt:lpstr>最小生成树</vt:lpstr>
      <vt:lpstr>最小生成树</vt:lpstr>
      <vt:lpstr>最小生成树</vt:lpstr>
      <vt:lpstr>最小生成树</vt:lpstr>
      <vt:lpstr>最小生成树</vt:lpstr>
      <vt:lpstr>最短路径</vt:lpstr>
      <vt:lpstr>最短路径</vt:lpstr>
      <vt:lpstr>最短路径</vt:lpstr>
      <vt:lpstr>最短路径</vt:lpstr>
      <vt:lpstr>最短路径</vt:lpstr>
      <vt:lpstr>最短路径</vt:lpstr>
      <vt:lpstr>最短路径</vt:lpstr>
      <vt:lpstr>POJ 2393 1328</vt:lpstr>
      <vt:lpstr>PowerPoint 演示文稿</vt:lpstr>
      <vt:lpstr>PowerPoint 演示文稿</vt:lpstr>
      <vt:lpstr>PowerPoint 演示文稿</vt:lpstr>
    </vt:vector>
  </TitlesOfParts>
  <Company>计算机系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100</dc:title>
  <dc:creator>清华大学</dc:creator>
  <cp:lastModifiedBy>xl f</cp:lastModifiedBy>
  <cp:revision>1245</cp:revision>
  <cp:lastPrinted>1601-01-01T00:00:00Z</cp:lastPrinted>
  <dcterms:created xsi:type="dcterms:W3CDTF">2009-06-26T00:04:30Z</dcterms:created>
  <dcterms:modified xsi:type="dcterms:W3CDTF">2024-09-03T10:12:44Z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6</vt:i4>
  </property>
</Properties>
</file>