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12"/>
  </p:notesMasterIdLst>
  <p:handoutMasterIdLst>
    <p:handoutMasterId r:id="rId33"/>
  </p:handoutMasterIdLst>
  <p:sldIdLst>
    <p:sldId id="256" r:id="rId4"/>
    <p:sldId id="276" r:id="rId5"/>
    <p:sldId id="287" r:id="rId6"/>
    <p:sldId id="286" r:id="rId7"/>
    <p:sldId id="277" r:id="rId8"/>
    <p:sldId id="288" r:id="rId9"/>
    <p:sldId id="289" r:id="rId10"/>
    <p:sldId id="290" r:id="rId11"/>
    <p:sldId id="313" r:id="rId13"/>
    <p:sldId id="291" r:id="rId14"/>
    <p:sldId id="314" r:id="rId15"/>
    <p:sldId id="292" r:id="rId16"/>
    <p:sldId id="315" r:id="rId17"/>
    <p:sldId id="293" r:id="rId18"/>
    <p:sldId id="316" r:id="rId19"/>
    <p:sldId id="295" r:id="rId20"/>
    <p:sldId id="296" r:id="rId21"/>
    <p:sldId id="317" r:id="rId22"/>
    <p:sldId id="310" r:id="rId23"/>
    <p:sldId id="311" r:id="rId24"/>
    <p:sldId id="299" r:id="rId25"/>
    <p:sldId id="312" r:id="rId26"/>
    <p:sldId id="300" r:id="rId27"/>
    <p:sldId id="303" r:id="rId28"/>
    <p:sldId id="301" r:id="rId29"/>
    <p:sldId id="302" r:id="rId30"/>
    <p:sldId id="308" r:id="rId31"/>
    <p:sldId id="309" r:id="rId3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8"/>
    <a:srgbClr val="006600"/>
    <a:srgbClr val="660066"/>
    <a:srgbClr val="339933"/>
    <a:srgbClr val="003366"/>
    <a:srgbClr val="CCFF66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1930" autoAdjust="0"/>
  </p:normalViewPr>
  <p:slideViewPr>
    <p:cSldViewPr showGuides="1">
      <p:cViewPr varScale="1">
        <p:scale>
          <a:sx n="79" d="100"/>
          <a:sy n="79" d="100"/>
        </p:scale>
        <p:origin x="179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2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83CCC5-86F3-4930-B4DA-8136FE63C6C9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8D0EA48-5ED8-475C-824D-BCAD6F948D95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8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78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8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649336-58DB-4A2C-A514-83F2AD1F4EA5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设有</a:t>
            </a:r>
            <a:r>
              <a:rPr lang="en-US" altLang="zh-CN" dirty="0"/>
              <a:t>5</a:t>
            </a:r>
            <a:r>
              <a:rPr lang="zh-CN" altLang="en-US" dirty="0"/>
              <a:t>个哲学家，共享一张放有</a:t>
            </a:r>
            <a:r>
              <a:rPr lang="en-US" altLang="zh-CN" dirty="0"/>
              <a:t>5</a:t>
            </a:r>
            <a:r>
              <a:rPr lang="zh-CN" altLang="en-US" dirty="0"/>
              <a:t>把椅子的桌子，每人分得一把椅子，但是，桌子上共有</a:t>
            </a:r>
            <a:r>
              <a:rPr lang="en-US" altLang="zh-CN" dirty="0"/>
              <a:t>5</a:t>
            </a:r>
            <a:r>
              <a:rPr lang="zh-CN" altLang="en-US" dirty="0"/>
              <a:t>只筷子，在每人两边各放一只，哲学家们在肚子饥饿时才试图分两次从两边拿起筷子就餐。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Alan Turing</a:t>
            </a:r>
            <a:r>
              <a:rPr lang="zh-CN" altLang="en-US" dirty="0"/>
              <a:t>是</a:t>
            </a:r>
            <a:r>
              <a:rPr lang="en-US" altLang="zh-CN" dirty="0"/>
              <a:t>Church</a:t>
            </a:r>
            <a:r>
              <a:rPr lang="zh-CN" altLang="en-US" dirty="0"/>
              <a:t>的学生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2000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年因为其在计算机科学与教育上做出的贡献被封为爵士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22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7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87675" y="6308725"/>
            <a:ext cx="2133600" cy="457200"/>
          </a:xfr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AEB4698-B8DB-437D-A72F-79E963AC2888}" type="slidenum">
              <a:rPr lang="en-US" altLang="zh-CN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2600" baseline="0">
                <a:solidFill>
                  <a:srgbClr val="0000A8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2300" baseline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6C03A-3073-401C-B837-061925A82BB2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A1BF9-52A6-4013-A43A-751A8425BA20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F1A7D-1F63-4B89-8DC4-C738F58AF122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B48B2-4D1C-45B9-9848-D47D570717DE}" type="slidenum">
              <a:rPr lang="en-US" altLang="zh-CN"/>
            </a:fld>
            <a:endParaRPr lang="en-US" altLang="zh-CN" dirty="0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D1EC4-2614-4F9E-A769-62D082C185DB}" type="slidenum">
              <a:rPr lang="en-US" altLang="zh-CN"/>
            </a:fld>
            <a:endParaRPr lang="en-US" altLang="zh-CN" dirty="0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2F55C-006F-4F76-95B1-5623E00EC138}" type="slidenum">
              <a:rPr lang="en-US" altLang="zh-CN"/>
            </a:fld>
            <a:endParaRPr lang="en-US" altLang="zh-CN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911F1-6F5E-4B3B-92F6-002D744C979D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78AA7-693C-4FF7-83DC-7A426B683855}" type="slidenum">
              <a:rPr lang="en-US" altLang="zh-CN"/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6E1B8-0929-44C3-A2D6-F90DEC31D1DE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80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80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7344-BF8B-411A-8C37-5524D9E96C7D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E580A-F19A-465C-93C7-460F6608EF71}" type="slidenum">
              <a:rPr lang="en-US" altLang="zh-CN"/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E090-A4F8-4FCA-A060-2F6DD3C03F8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411C-4242-416B-8DE9-EB4039463D7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686EC-D099-4372-BDD9-829E58E9472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24DA9-208B-43E8-967B-080BBF2467D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7BAF2-1327-4969-A6F0-E2F0EB18D6A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392BB-9F00-4281-8DF2-7539A32DE85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BFF3D-9272-4EA0-B621-809FFF106DC9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00FED-3FCF-416E-A710-E1D08CCAF41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81068-A6A7-40BA-AA51-9CE1E7FB103D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56E54-46E6-4D0E-BAB5-7C81DCF5D72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200B1-7CE9-4E03-974C-3D2C9CF08633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4B600-6BBE-4D9E-8827-53588239764E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DD764-0E3E-4350-9825-04C34050A9A1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5DF58-CD75-4FC7-9039-C4B424AD60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423E9-2F86-4BBB-A8E4-AED299374AA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ABA0-EEF2-4F79-AF85-D1D2C5852D9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8C9A-BDE2-4BF5-8AEE-B1CB72B63FF3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76CE0-A9E1-4689-8D3E-1078A01564E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924B9-AC47-41FD-BB83-1E08B998B4C8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11340-A4AF-466A-9F84-BE901AABC08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C1FB0-0586-4020-80FA-AF0E6D23BE7F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4D320-C711-4AC7-B92C-5584F52B93F2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6075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2000" b="1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defRPr>
            </a:lvl1pPr>
          </a:lstStyle>
          <a:p>
            <a:pPr>
              <a:defRPr/>
            </a:pPr>
            <a:fld id="{5CCA33BB-C97C-478A-8B6B-6E2EDE14E7F6}" type="slidenum">
              <a:rPr lang="en-US" altLang="zh-CN"/>
            </a:fld>
            <a:endParaRPr lang="en-US" altLang="zh-CN" dirty="0"/>
          </a:p>
        </p:txBody>
      </p:sp>
      <p:grpSp>
        <p:nvGrpSpPr>
          <p:cNvPr id="1028" name="Group 35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660066"/>
        </a:buClr>
        <a:buSzPct val="55000"/>
        <a:buFont typeface="Wingdings" panose="05000000000000000000" pitchFamily="2" charset="2"/>
        <a:buChar char="n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006600"/>
        </a:buClr>
        <a:buSzPct val="55000"/>
        <a:buFont typeface="Wingdings" panose="05000000000000000000" pitchFamily="2" charset="2"/>
        <a:buChar char="r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FF0000"/>
        </a:buClr>
        <a:buSzPct val="65000"/>
        <a:buFont typeface="Wingdings" panose="05000000000000000000" pitchFamily="2" charset="2"/>
        <a:buChar char="Ø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BAF7AE8-7FB0-4406-90AB-6887A4CACEF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8CD665-E0F7-4569-8194-B257B5EB731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>
                <a:latin typeface="仿宋_GB2312" pitchFamily="49" charset="-122"/>
              </a:rPr>
              <a:t>东南大学计算机学院 方效林</a:t>
            </a:r>
            <a:endParaRPr lang="en-US" altLang="zh-CN" sz="3600">
              <a:latin typeface="仿宋_GB2312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+mj-ea"/>
              </a:rPr>
              <a:t>算法设计与分析</a:t>
            </a:r>
            <a:endParaRPr lang="en-US" altLang="zh-CN" sz="5400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课程说明</a:t>
            </a:r>
            <a:endParaRPr lang="zh-CN" altLang="en-US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课程编号：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09012120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授课学时：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32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学时（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至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周，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学时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周）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课程分类：专业基础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考核形式：</a:t>
            </a:r>
            <a:endParaRPr lang="zh-CN" altLang="en-US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期末笔试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6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0%+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平时成绩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0%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作业：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布置作业时候告诉，若未告知默认周一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23:00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前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电子版，发送到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homeworkseu1@163.com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文件命名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(04012501_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肖迪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，文件格式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(.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</a:rPr>
              <a:t>pdf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.doc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.</a:t>
            </a:r>
            <a:r>
              <a:rPr lang="en-US" altLang="zh-CN" sz="1600" dirty="0" err="1">
                <a:latin typeface="Arial" panose="020B0604020202020204" pitchFamily="34" charset="0"/>
                <a:ea typeface="黑体" panose="02010609060101010101" pitchFamily="49" charset="-122"/>
              </a:rPr>
              <a:t>docx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.jpg)</a:t>
            </a:r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，大小≤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500K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联系方式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计算机楼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212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1600" dirty="0">
                <a:latin typeface="Arial" panose="020B0604020202020204" pitchFamily="34" charset="0"/>
                <a:ea typeface="黑体" panose="02010609060101010101" pitchFamily="49" charset="-122"/>
              </a:rPr>
              <a:t>电话</a:t>
            </a:r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: 13951855973</a:t>
            </a:r>
            <a:endParaRPr lang="en-US" altLang="zh-CN" sz="16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1600" dirty="0">
                <a:latin typeface="Arial" panose="020B0604020202020204" pitchFamily="34" charset="0"/>
                <a:ea typeface="黑体" panose="02010609060101010101" pitchFamily="49" charset="-122"/>
              </a:rPr>
              <a:t>Email: xiaolin@seu.edu.cn</a:t>
            </a:r>
            <a:endParaRPr lang="zh-CN" altLang="en-US" sz="16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9B7701-47A3-4755-A48F-582186808312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教材与参考书</a:t>
            </a:r>
            <a:endParaRPr lang="zh-CN" altLang="en-US"/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算法导论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(MIT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2/3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版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). Thomas H.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Cormen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Charles E.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Leiserson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Ronald L.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Rivest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, Clifford Stein. 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算法设计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 Kleinberg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J.,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Tardos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E. 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清华大学出版社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张立昂等译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计算机算法基础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沈孝钧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机械工业出版社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算法设计技巧与分析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 M. H.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Alsuwaiyel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电子工业出版社影印本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方世昌等译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9E340D0-CB1B-4AC9-BFB3-576F564C8157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>
                <a:latin typeface="仿宋_GB2312" pitchFamily="49" charset="-122"/>
              </a:rPr>
              <a:t>东南大学计算机学院 方效林</a:t>
            </a:r>
            <a:endParaRPr lang="en-US" altLang="zh-CN" sz="3600">
              <a:latin typeface="仿宋_GB2312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+mj-ea"/>
              </a:rPr>
              <a:t>引言</a:t>
            </a:r>
            <a:endParaRPr lang="en-US" altLang="zh-CN" sz="5400" dirty="0">
              <a:latin typeface="+mj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课程主要内容</a:t>
            </a:r>
            <a:endParaRPr lang="zh-CN" altLang="en-US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在计算机应用中经常遇到的问题和求解的算法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设计算法基本原理、技巧以及算法复杂性分析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分治法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动态规划法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贪心法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随机算法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近似算法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计算理论简介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NP-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完全性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课程目的</a:t>
            </a:r>
            <a:endParaRPr lang="zh-CN" altLang="en-US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具备抽象描述、解决实际问题的能力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学会运用算法设计与分析的典型方法进行算法的设计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具备分析算法效率的能力。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D7D00F-CA26-4853-A1F0-20EC0497C7F8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算法的重要性</a:t>
            </a:r>
            <a:endParaRPr lang="zh-CN" altLang="en-US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有超过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1/3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Turing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奖获奖者，其成果与算法有关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图灵奖于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1966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年开始设立，是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ACM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美国计算机协会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 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在计算机科学技术领域中所授予的最高奖项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308851-64CB-462A-B102-08B491EB9A19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0245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0" y="3581400"/>
            <a:ext cx="32766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1972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Edsger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W.Dijkstra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求最短路径的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</a:rPr>
              <a:t>Dijkstra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算法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PV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操作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解决了“哲学家聚餐”问题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第一个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</a:rPr>
              <a:t>Algol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 60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编译器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结构化程序设计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, </a:t>
            </a:r>
            <a:endParaRPr lang="en-US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en-US" altLang="zh-CN" sz="2800" dirty="0" err="1">
                <a:latin typeface="Arial" panose="020B0604020202020204" pitchFamily="34" charset="0"/>
                <a:ea typeface="黑体" panose="02010609060101010101" pitchFamily="49" charset="-122"/>
              </a:rPr>
              <a:t>goto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有害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等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FF0FAF-EDE0-47B0-85CA-D6008E92858A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1269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c.hiphotos.baidu.com/baike/w%3D268%3Bg%3D0/sign=abe86541213fb80e0cd166d10eea4813/b8014a90f603738d03766552b31bb051f819ec8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0761" y="1664804"/>
            <a:ext cx="2326885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1974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Donald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E.Knuth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stanford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算法最早的奠基人之一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计算机程序设计艺术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zh-CN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现代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算法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与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数据结构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名词及内涵的提出，</a:t>
            </a:r>
            <a:endParaRPr lang="zh-CN" altLang="zh-CN" sz="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KMP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算法，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LR(k)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文法，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Tex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编辑器等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FF0FAF-EDE0-47B0-85CA-D6008E92858A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1269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http://e.hiphotos.baidu.com/baike/w%3D268%3Bg%3D0/sign=c69eda6db912c8fcb4f3f1cbc438f578/d8f9d72a6059252d603fb549349b033b5bb5b95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36" y="3609020"/>
            <a:ext cx="255270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1976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Michael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O.Rabin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以色列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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Dana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S.Scott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英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 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师兄弟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导师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A.Church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非确定有穷自动机的提出、判定问题等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Rabin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：计算复杂性概念的雏形、随机算法的思想奠定、寻找及判定素数算法，单向函数等</a:t>
            </a:r>
            <a:endParaRPr lang="zh-CN" altLang="zh-CN" sz="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Scott: </a:t>
            </a: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</a:rPr>
              <a:t>语义学等。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73ECC4-3F5C-4D08-96D3-0A49B5FD3894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2293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M O Rab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644" y="4401108"/>
            <a:ext cx="1591444" cy="2343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cott Dana smal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96" y="4397444"/>
            <a:ext cx="1807468" cy="234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1978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Robert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W.Floyd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美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求最短路径的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Floyd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算法，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Heap-sort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算法等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编译及优化（优先文法等）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程序正确性证明等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B73ECC4-3F5C-4D08-96D3-0A49B5FD3894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2293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 descr="Robert W. Floy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732" y="3717032"/>
            <a:ext cx="2780655" cy="262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1980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C. Anthony 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R.Hoare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英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1983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年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ACM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评出的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1/4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世纪最有影响的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25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篇论文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中，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Hoare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与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Dijkstra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有两篇入选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其余人只有一篇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算法的代表作：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Quick-sort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算法，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程序设计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(CASE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While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语句等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，数据通信等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0D4521-8B93-4427-8FF2-CEAE0AC2DB25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3317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 descr="http://f.hiphotos.baidu.com/baike/w%3D268%3Bg%3D0/sign=f0c50f9ea786c9170803553ff10617f2/0df3d7ca7bcb0a469710605f6b63f6246b60afa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005064"/>
            <a:ext cx="2551938" cy="233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33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1982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Steven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A.Cook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加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Toronto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大学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“NP-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完全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概念的提出与理论的奠定，算法复杂性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0D4521-8B93-4427-8FF2-CEAE0AC2DB25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3317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 descr="Prof.Coo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888939"/>
            <a:ext cx="3060340" cy="370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1984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Niklaus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Wirth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瑞士苏黎世高工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程序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=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算法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+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数据结构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，结构化程序设计创始人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“Pascal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之父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”, 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数据结构，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Extended BNF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7C8220-93FC-4999-B024-DA0AF3A86F3C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4341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 descr="尼古拉斯·沃斯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668" y="3176972"/>
            <a:ext cx="2448272" cy="332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1985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Richard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M.Karp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(UC-Berkeley)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分枝限界法的创始人（与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Held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），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Rabin-Karp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子串匹配算法，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求网络最大流的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Edmonds-Karp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算法，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NP-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完全理论（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Karp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规约等），随机算法，并行算法等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07C8220-93FC-4999-B024-DA0AF3A86F3C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4341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2" descr="https://www2.eecs.berkeley.edu/Faculty/Photos/Homepages/kar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836" y="4128071"/>
            <a:ext cx="1692188" cy="236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1993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Juris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Hartmanis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(Cornell) &amp; Richard E. Stearns (Albany)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计算复杂性理论的主要奠基人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Hartmanis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Hartmanis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矩阵乘法，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Hartmanis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快速离散傅立叶变换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Stearns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：首先提出将上下文无关文法理论应用于编译器设计等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6D8481-C2BC-4A1A-B9CA-5465D75B8F88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6389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 descr="Juris Hartmanis(200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797152"/>
            <a:ext cx="142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ichard E Stear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4730476"/>
            <a:ext cx="2085975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2000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Andrew Yao(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姚期智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唯一华裔图灵奖获得者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计算复杂性，量子计算，密码学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(e.g. 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单向函数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、通信理论等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5DB5E81-3B5B-4D8D-8523-2B463B70CB34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7413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2" name="Picture 2" descr="http://c.hiphotos.baidu.com/baike/w%3D268%3Bg%3D0/sign=c1cb8ea215ce36d3a204843602c85dba/0824ab18972bd407af84a1857b899e510fb309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675492"/>
            <a:ext cx="2228664" cy="2977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图灵奖获得者</a:t>
            </a:r>
            <a:endParaRPr lang="zh-CN" altLang="en-US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2002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Ronald L.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Rivest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Adi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Shamir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Leonard M. Adelman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公共密钥算法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(RSA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算法是当前在互联网传输、银行以及信用卡产业中被广泛使用的安全基本机制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5DB5E81-3B5B-4D8D-8523-2B463B70CB34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  <p:pic>
        <p:nvPicPr>
          <p:cNvPr id="17413" name="Picture 2" descr="20100310-014218-pic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5381625"/>
            <a:ext cx="14763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 descr="http://h.hiphotos.baidu.com/baike/w%3D268%3Bg%3D0/sign=fc643140ca8065387beaa315afe6c679/d01373f082025aafcb78cac5fbedab64034f1a7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716" y="3392996"/>
            <a:ext cx="4569444" cy="3205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算法的相关概念</a:t>
            </a:r>
            <a:endParaRPr lang="zh-CN" altLang="en-US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是对特定问题求解步骤的一种描述，是指令的有限序列。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具有下列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个特性：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有穷性：算法有限步结束，指令有限时间完成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确定性：每条指令都是明确的、无二义的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可行性：每条指令都能够被执行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输入：有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个或多个输入量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输出：有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个或多个输出量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D3042FD-E716-4034-B85A-DB9F02F7A266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算法的正确性分析</a:t>
            </a:r>
            <a:endParaRPr lang="zh-CN" altLang="en-US"/>
          </a:p>
        </p:txBody>
      </p:sp>
      <p:sp>
        <p:nvSpPr>
          <p:cNvPr id="215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一个算法是正确的，如果它对于每一个输入都最终停止,而且产生正确的输出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不正确算法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不停止(在某个输入上)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对所有输入都停止，但对某输入产生不正确结果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近似算法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对所有输入都停止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产生近似正确的解或产生不多的不正确解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调试程序 </a:t>
            </a:r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  <a:sym typeface="Symbol" panose="05050102010706020507" pitchFamily="18" charset="2"/>
              </a:rPr>
              <a:t> </a:t>
            </a:r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程序正确性证明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程序调试只能证明程序有错，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algn="just"/>
            <a:r>
              <a:rPr lang="zh-CN" altLang="en-US">
                <a:latin typeface="Arial" panose="020B0604020202020204" pitchFamily="34" charset="0"/>
                <a:ea typeface="黑体" panose="02010609060101010101" pitchFamily="49" charset="-122"/>
              </a:rPr>
              <a:t>不能证明程序无错误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! 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 algn="just"/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150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34D9BE8-2334-4879-B8C9-5CAC25C8AE45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算法好坏的衡量尺度</a:t>
            </a:r>
            <a:endParaRPr lang="zh-CN" altLang="en-US"/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最初，用所需计算时间来衡量算法的好坏</a:t>
            </a:r>
            <a:endParaRPr lang="zh-CN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但不同的机器相互之间无法比较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故需要用独立于具体计算机的客观衡量标准</a:t>
            </a:r>
            <a:endParaRPr lang="zh-CN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问题的规模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基本运算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算法的计算量函数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253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671591-9ABE-4AF7-8680-01A52A6A3BA4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算法好坏的衡量尺度</a:t>
            </a:r>
            <a:endParaRPr lang="zh-CN" altLang="en-US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时间复杂度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基本运算（原子操作）执行次数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空间复杂度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需要的存储空间大小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4396DB-A757-4EF0-A5FF-25E93306827F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算法好坏的衡量尺度</a:t>
            </a:r>
            <a:endParaRPr lang="zh-CN" altLang="en-US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问题的规模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一个或多个整数，作为输入数据量的测度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数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组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的长度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数据项的个数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问题：在一个数</a:t>
            </a:r>
            <a:r>
              <a:rPr lang="zh-CN" altLang="en-US" sz="2500" dirty="0">
                <a:latin typeface="Arial" panose="020B0604020202020204" pitchFamily="34" charset="0"/>
                <a:ea typeface="黑体" panose="02010609060101010101" pitchFamily="49" charset="-122"/>
              </a:rPr>
              <a:t>组</a:t>
            </a:r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中寻找</a:t>
            </a:r>
            <a:r>
              <a:rPr lang="en-US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endParaRPr lang="zh-CN" altLang="zh-CN" sz="5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矩阵的最大维数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阶数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问题：求两个实矩阵相乘的结果</a:t>
            </a:r>
            <a:endParaRPr lang="zh-CN" altLang="zh-CN" sz="5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输入规模通常用</a:t>
            </a: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zh-CN" sz="3200" dirty="0">
                <a:latin typeface="Arial" panose="020B0604020202020204" pitchFamily="34" charset="0"/>
                <a:ea typeface="黑体" panose="02010609060101010101" pitchFamily="49" charset="-122"/>
              </a:rPr>
              <a:t>来表示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也可有两个以上的参数，如图中的顶点数和边数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 (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图论中的问题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4C9689-24A1-4022-8930-BB0A1E88EB96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算法好坏的衡量尺度</a:t>
            </a:r>
            <a:endParaRPr lang="zh-CN" altLang="en-US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基本运算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解决给定问题时占支配地位的运算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在一个表中寻找数据元素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与表中的一个项进行比较</a:t>
            </a:r>
            <a:endParaRPr lang="zh-CN" altLang="zh-CN" sz="5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两个实矩阵的乘法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实数的乘法</a:t>
            </a:r>
            <a:r>
              <a:rPr lang="en-US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及加法</a:t>
            </a:r>
            <a:r>
              <a:rPr lang="en-US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)C=AB</a:t>
            </a:r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则</a:t>
            </a:r>
            <a:r>
              <a:rPr lang="en-US" altLang="zh-CN" sz="2500" dirty="0" err="1">
                <a:latin typeface="Arial" panose="020B0604020202020204" pitchFamily="34" charset="0"/>
                <a:ea typeface="黑体" panose="02010609060101010101" pitchFamily="49" charset="-122"/>
              </a:rPr>
              <a:t>c</a:t>
            </a:r>
            <a:r>
              <a:rPr lang="en-US" altLang="zh-CN" sz="2500" baseline="-25000" dirty="0" err="1">
                <a:latin typeface="Arial" panose="020B0604020202020204" pitchFamily="34" charset="0"/>
                <a:ea typeface="黑体" panose="02010609060101010101" pitchFamily="49" charset="-122"/>
              </a:rPr>
              <a:t>ij</a:t>
            </a:r>
            <a:r>
              <a:rPr lang="en-US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=∑</a:t>
            </a:r>
            <a:r>
              <a:rPr lang="en-US" altLang="zh-CN" sz="2500" dirty="0" err="1">
                <a:latin typeface="Arial" panose="020B0604020202020204" pitchFamily="34" charset="0"/>
                <a:ea typeface="黑体" panose="02010609060101010101" pitchFamily="49" charset="-122"/>
              </a:rPr>
              <a:t>a</a:t>
            </a:r>
            <a:r>
              <a:rPr lang="en-US" altLang="zh-CN" sz="2500" baseline="-25000" dirty="0" err="1">
                <a:latin typeface="Arial" panose="020B0604020202020204" pitchFamily="34" charset="0"/>
                <a:ea typeface="黑体" panose="02010609060101010101" pitchFamily="49" charset="-122"/>
              </a:rPr>
              <a:t>ik</a:t>
            </a:r>
            <a:r>
              <a:rPr lang="en-US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*</a:t>
            </a:r>
            <a:r>
              <a:rPr lang="en-US" altLang="zh-CN" sz="2500" dirty="0" err="1"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  <a:r>
              <a:rPr lang="en-US" altLang="zh-CN" sz="2500" baseline="-25000" dirty="0" err="1">
                <a:latin typeface="Arial" panose="020B0604020202020204" pitchFamily="34" charset="0"/>
                <a:ea typeface="黑体" panose="02010609060101010101" pitchFamily="49" charset="-122"/>
              </a:rPr>
              <a:t>kj</a:t>
            </a:r>
            <a:endParaRPr lang="zh-CN" altLang="zh-CN" sz="5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将一个数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组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进行排序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en-US" sz="2500" dirty="0">
                <a:latin typeface="Arial" panose="020B0604020202020204" pitchFamily="34" charset="0"/>
                <a:ea typeface="黑体" panose="02010609060101010101" pitchFamily="49" charset="-122"/>
              </a:rPr>
              <a:t>数组</a:t>
            </a:r>
            <a:r>
              <a:rPr lang="zh-CN" altLang="zh-CN" sz="2500" dirty="0">
                <a:latin typeface="Arial" panose="020B0604020202020204" pitchFamily="34" charset="0"/>
                <a:ea typeface="黑体" panose="02010609060101010101" pitchFamily="49" charset="-122"/>
              </a:rPr>
              <a:t>中的两个数据项进行比较</a:t>
            </a:r>
            <a:endParaRPr lang="en-US" altLang="zh-CN" sz="25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2EB69DA-A2EC-467C-A9ED-B31155503F85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算法好坏的衡量尺度</a:t>
            </a:r>
            <a:endParaRPr lang="zh-CN" altLang="en-US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基本运算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通常情况下，讨论一个算法优劣时，我们只讨论基本运算的执行次数</a:t>
            </a:r>
            <a:endParaRPr lang="zh-CN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因为它是占支配地位的，而其它的运算可以忽略不计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EB7FA26-6C08-4ED1-946A-EDAC234B64AF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算法好坏的衡量尺度</a:t>
            </a:r>
            <a:endParaRPr lang="zh-CN" altLang="en-US"/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算法的计算量函数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用输入规模的某个函数来表示算法的基本运算量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en-US" sz="2800">
                <a:latin typeface="Arial" panose="020B0604020202020204" pitchFamily="34" charset="0"/>
                <a:ea typeface="黑体" panose="02010609060101010101" pitchFamily="49" charset="-122"/>
              </a:rPr>
              <a:t>该</a:t>
            </a:r>
            <a:r>
              <a:rPr lang="zh-CN" altLang="zh-CN" sz="2800">
                <a:latin typeface="Arial" panose="020B0604020202020204" pitchFamily="34" charset="0"/>
                <a:ea typeface="黑体" panose="02010609060101010101" pitchFamily="49" charset="-122"/>
              </a:rPr>
              <a:t>函数称为算法的时间复杂性</a:t>
            </a:r>
            <a:r>
              <a:rPr lang="en-US" altLang="zh-CN" sz="280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zh-CN" sz="2800">
                <a:latin typeface="Arial" panose="020B0604020202020204" pitchFamily="34" charset="0"/>
                <a:ea typeface="黑体" panose="02010609060101010101" pitchFamily="49" charset="-122"/>
              </a:rPr>
              <a:t>度</a:t>
            </a:r>
            <a:r>
              <a:rPr lang="en-US" altLang="zh-CN" sz="280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sz="2800">
                <a:latin typeface="Arial" panose="020B0604020202020204" pitchFamily="34" charset="0"/>
                <a:ea typeface="黑体" panose="02010609060101010101" pitchFamily="49" charset="-122"/>
              </a:rPr>
              <a:t>，一般</a:t>
            </a:r>
            <a:r>
              <a:rPr lang="zh-CN" altLang="zh-CN" sz="2800">
                <a:latin typeface="Arial" panose="020B0604020202020204" pitchFamily="34" charset="0"/>
                <a:ea typeface="黑体" panose="02010609060101010101" pitchFamily="49" charset="-122"/>
              </a:rPr>
              <a:t>用</a:t>
            </a:r>
            <a:r>
              <a:rPr lang="en-US" altLang="zh-CN" sz="2800">
                <a:latin typeface="Arial" panose="020B0604020202020204" pitchFamily="34" charset="0"/>
                <a:ea typeface="黑体" panose="02010609060101010101" pitchFamily="49" charset="-122"/>
              </a:rPr>
              <a:t>T(n)</a:t>
            </a:r>
            <a:r>
              <a:rPr lang="zh-CN" altLang="zh-CN" sz="2800">
                <a:latin typeface="Arial" panose="020B0604020202020204" pitchFamily="34" charset="0"/>
                <a:ea typeface="黑体" panose="02010609060101010101" pitchFamily="49" charset="-122"/>
              </a:rPr>
              <a:t>或</a:t>
            </a:r>
            <a:r>
              <a:rPr lang="en-US" altLang="zh-CN" sz="2800">
                <a:latin typeface="Arial" panose="020B0604020202020204" pitchFamily="34" charset="0"/>
                <a:ea typeface="黑体" panose="02010609060101010101" pitchFamily="49" charset="-122"/>
              </a:rPr>
              <a:t>T(n,m)</a:t>
            </a:r>
            <a:r>
              <a:rPr lang="zh-CN" altLang="zh-CN" sz="2800">
                <a:latin typeface="Arial" panose="020B0604020202020204" pitchFamily="34" charset="0"/>
                <a:ea typeface="黑体" panose="02010609060101010101" pitchFamily="49" charset="-122"/>
              </a:rPr>
              <a:t>等表示</a:t>
            </a:r>
            <a:endParaRPr lang="en-US" altLang="zh-CN" sz="28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T(n)=5n</a:t>
            </a:r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T(n)=3n*logn</a:t>
            </a:r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T(n)=4n</a:t>
            </a:r>
            <a:r>
              <a:rPr lang="en-US" altLang="zh-CN" baseline="30000">
                <a:latin typeface="Arial" panose="020B0604020202020204" pitchFamily="34" charset="0"/>
                <a:ea typeface="黑体" panose="02010609060101010101" pitchFamily="49" charset="-122"/>
              </a:rPr>
              <a:t>3</a:t>
            </a:r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T(n)=2</a:t>
            </a:r>
            <a:r>
              <a:rPr lang="en-US" altLang="zh-CN" baseline="3000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，</a:t>
            </a:r>
            <a:endParaRPr lang="en-US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T(n,m)=2(n+m)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DB1204-1B51-4F3C-95AB-89C08332F100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最坏情况时间复杂性</a:t>
            </a:r>
            <a:endParaRPr lang="zh-CN" altLang="en-US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规模为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的所有输入中，基本运算执行次数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最多的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时间复杂性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在一个顺序表中寻找数据元素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顺序查找：最坏情况为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O(n)</a:t>
            </a:r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endParaRPr lang="zh-CN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zh-CN" dirty="0">
                <a:latin typeface="Arial" panose="020B0604020202020204" pitchFamily="34" charset="0"/>
                <a:ea typeface="黑体" panose="02010609060101010101" pitchFamily="49" charset="-122"/>
              </a:rPr>
              <a:t>二分查找：最坏情况为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O(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</a:rPr>
              <a:t>logn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0D76923-2F64-452F-86A2-02CE4097F676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平均情况时间复杂性</a:t>
            </a:r>
            <a:endParaRPr lang="zh-CN" altLang="en-US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规模为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的所有输入的算法时间复杂度的平均值（一般均假设每种输入情况以等概率出现）</a:t>
            </a:r>
            <a:endParaRPr lang="zh-CN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1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在一个顺序表中寻找数据元素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x</a:t>
            </a:r>
            <a:endParaRPr lang="zh-CN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顺序查找：平均情况仍为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O(n)</a:t>
            </a:r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；</a:t>
            </a:r>
            <a:endParaRPr lang="zh-CN" altLang="zh-CN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lvl="2"/>
            <a:r>
              <a:rPr lang="zh-CN" altLang="zh-CN">
                <a:latin typeface="Arial" panose="020B0604020202020204" pitchFamily="34" charset="0"/>
                <a:ea typeface="黑体" panose="02010609060101010101" pitchFamily="49" charset="-122"/>
              </a:rPr>
              <a:t>二分查找：平均情况仍为</a:t>
            </a:r>
            <a:r>
              <a:rPr lang="en-US" altLang="zh-CN">
                <a:latin typeface="Arial" panose="020B0604020202020204" pitchFamily="34" charset="0"/>
                <a:ea typeface="黑体" panose="02010609060101010101" pitchFamily="49" charset="-122"/>
              </a:rPr>
              <a:t>O(logn)</a:t>
            </a:r>
            <a:endParaRPr lang="zh-CN" altLang="en-US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40DED34-3603-4E4C-BF74-D914CE0D4A1F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itchFamily="2" charset="-122"/>
              </a:rPr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rgbClr val="000000"/>
          </a:solidFill>
          <a:miter lim="800000"/>
        </a:ln>
      </a:spPr>
      <a:bodyPr lIns="18000" tIns="10800" rIns="18000" bIns="10800" rtlCol="0" anchor="ctr"/>
      <a:lstStyle>
        <a:defPPr algn="ctr" eaLnBrk="1" hangingPunct="1">
          <a:lnSpc>
            <a:spcPct val="96000"/>
          </a:lnSpc>
          <a:spcBef>
            <a:spcPct val="0"/>
          </a:spcBef>
          <a:buClrTx/>
          <a:buFontTx/>
          <a:buNone/>
          <a:defRPr b="1" dirty="0">
            <a:solidFill>
              <a:srgbClr val="000099"/>
            </a:solidFill>
            <a:ea typeface="黑体" panose="02010609060101010101" pitchFamily="49" charset="-122"/>
          </a:defRPr>
        </a:defPPr>
      </a:lstStyle>
    </a:spDef>
    <a:lnDef>
      <a:spPr bwMode="auto">
        <a:ln w="19050">
          <a:solidFill>
            <a:srgbClr val="0066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eaLnBrk="1" hangingPunct="1">
          <a:buFont typeface="Wingdings" panose="05000000000000000000" pitchFamily="2" charset="2"/>
          <a:buNone/>
          <a:defRPr b="1" dirty="0" smtClean="0">
            <a:solidFill>
              <a:srgbClr val="000099"/>
            </a:solidFill>
            <a:ea typeface="黑体" panose="02010609060101010101" pitchFamily="49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33CC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2829</Words>
  <Application>WPS 演示</Application>
  <PresentationFormat>全屏显示(4:3)</PresentationFormat>
  <Paragraphs>274</Paragraphs>
  <Slides>28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黑体</vt:lpstr>
      <vt:lpstr>Courier New</vt:lpstr>
      <vt:lpstr>华文新魏</vt:lpstr>
      <vt:lpstr>Droid Sans Fallback</vt:lpstr>
      <vt:lpstr>Times New Roman</vt:lpstr>
      <vt:lpstr>隶书</vt:lpstr>
      <vt:lpstr>微软雅黑</vt:lpstr>
      <vt:lpstr>Calibri</vt:lpstr>
      <vt:lpstr>仿宋_GB2312</vt:lpstr>
      <vt:lpstr>仿宋</vt:lpstr>
      <vt:lpstr>Arial Unicode MS</vt:lpstr>
      <vt:lpstr>Symbol</vt:lpstr>
      <vt:lpstr>Pixel</vt:lpstr>
      <vt:lpstr>自定义设计方案</vt:lpstr>
      <vt:lpstr>算法设计与分析</vt:lpstr>
      <vt:lpstr>课程说明</vt:lpstr>
      <vt:lpstr>教材与参考书</vt:lpstr>
      <vt:lpstr>引言</vt:lpstr>
      <vt:lpstr>课程主要内容</vt:lpstr>
      <vt:lpstr>课程目的</vt:lpstr>
      <vt:lpstr>算法的重要性</vt:lpstr>
      <vt:lpstr>图灵奖获得者</vt:lpstr>
      <vt:lpstr>图灵奖获得者</vt:lpstr>
      <vt:lpstr>图灵奖获得者</vt:lpstr>
      <vt:lpstr>图灵奖获得者</vt:lpstr>
      <vt:lpstr>图灵奖获得者</vt:lpstr>
      <vt:lpstr>图灵奖获得者</vt:lpstr>
      <vt:lpstr>图灵奖获得者</vt:lpstr>
      <vt:lpstr>图灵奖获得者</vt:lpstr>
      <vt:lpstr>图灵奖获得者</vt:lpstr>
      <vt:lpstr>图灵奖获得者</vt:lpstr>
      <vt:lpstr>图灵奖获得者</vt:lpstr>
      <vt:lpstr>算法的相关概念</vt:lpstr>
      <vt:lpstr>算法的正确性分析</vt:lpstr>
      <vt:lpstr>算法好坏的衡量尺度</vt:lpstr>
      <vt:lpstr>算法好坏的衡量尺度</vt:lpstr>
      <vt:lpstr>算法好坏的衡量尺度</vt:lpstr>
      <vt:lpstr>算法好坏的衡量尺度</vt:lpstr>
      <vt:lpstr>算法好坏的衡量尺度</vt:lpstr>
      <vt:lpstr>算法好坏的衡量尺度</vt:lpstr>
      <vt:lpstr>最坏情况时间复杂性</vt:lpstr>
      <vt:lpstr>平均情况时间复杂性</vt:lpstr>
    </vt:vector>
  </TitlesOfParts>
  <Company>计算机系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</dc:title>
  <dc:creator>清华大学</dc:creator>
  <cp:lastModifiedBy>xiaolin</cp:lastModifiedBy>
  <cp:revision>982</cp:revision>
  <cp:lastPrinted>2026-03-03T13:19:01Z</cp:lastPrinted>
  <dcterms:created xsi:type="dcterms:W3CDTF">2026-03-03T13:19:01Z</dcterms:created>
  <dcterms:modified xsi:type="dcterms:W3CDTF">2026-03-03T13:19:01Z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  <property fmtid="{D5CDD505-2E9C-101B-9397-08002B2CF9AE}" pid="3" name="ICV">
    <vt:lpwstr>3192D1B049868C19A5DFA669091AC669_42</vt:lpwstr>
  </property>
  <property fmtid="{D5CDD505-2E9C-101B-9397-08002B2CF9AE}" pid="4" name="KSOProductBuildVer">
    <vt:lpwstr>2052-12.1.2.24722</vt:lpwstr>
  </property>
</Properties>
</file>