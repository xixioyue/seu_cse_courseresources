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57"/>
  </p:handoutMasterIdLst>
  <p:sldIdLst>
    <p:sldId id="256" r:id="rId3"/>
    <p:sldId id="374" r:id="rId4"/>
    <p:sldId id="429" r:id="rId6"/>
    <p:sldId id="272" r:id="rId7"/>
    <p:sldId id="274" r:id="rId8"/>
    <p:sldId id="273" r:id="rId9"/>
    <p:sldId id="394" r:id="rId10"/>
    <p:sldId id="397" r:id="rId11"/>
    <p:sldId id="512" r:id="rId12"/>
    <p:sldId id="513" r:id="rId13"/>
    <p:sldId id="398" r:id="rId14"/>
    <p:sldId id="514" r:id="rId15"/>
    <p:sldId id="400" r:id="rId16"/>
    <p:sldId id="433" r:id="rId17"/>
    <p:sldId id="426" r:id="rId18"/>
    <p:sldId id="427" r:id="rId19"/>
    <p:sldId id="475" r:id="rId20"/>
    <p:sldId id="309" r:id="rId21"/>
    <p:sldId id="470" r:id="rId22"/>
    <p:sldId id="471" r:id="rId23"/>
    <p:sldId id="472" r:id="rId24"/>
    <p:sldId id="473" r:id="rId25"/>
    <p:sldId id="474" r:id="rId26"/>
    <p:sldId id="392" r:id="rId27"/>
    <p:sldId id="393" r:id="rId28"/>
    <p:sldId id="434" r:id="rId29"/>
    <p:sldId id="435" r:id="rId30"/>
    <p:sldId id="407" r:id="rId31"/>
    <p:sldId id="408" r:id="rId32"/>
    <p:sldId id="454" r:id="rId33"/>
    <p:sldId id="466" r:id="rId34"/>
    <p:sldId id="455" r:id="rId35"/>
    <p:sldId id="456" r:id="rId36"/>
    <p:sldId id="457" r:id="rId37"/>
    <p:sldId id="458" r:id="rId38"/>
    <p:sldId id="459" r:id="rId39"/>
    <p:sldId id="460" r:id="rId40"/>
    <p:sldId id="461" r:id="rId41"/>
    <p:sldId id="462" r:id="rId42"/>
    <p:sldId id="479" r:id="rId43"/>
    <p:sldId id="480" r:id="rId44"/>
    <p:sldId id="465" r:id="rId45"/>
    <p:sldId id="379" r:id="rId46"/>
    <p:sldId id="350" r:id="rId47"/>
    <p:sldId id="412" r:id="rId48"/>
    <p:sldId id="415" r:id="rId49"/>
    <p:sldId id="416" r:id="rId50"/>
    <p:sldId id="467" r:id="rId51"/>
    <p:sldId id="468" r:id="rId52"/>
    <p:sldId id="306" r:id="rId53"/>
    <p:sldId id="477" r:id="rId54"/>
    <p:sldId id="476" r:id="rId55"/>
    <p:sldId id="478" r:id="rId56"/>
  </p:sldIdLst>
  <p:sldSz cx="9144000" cy="6858000" type="screen4x3"/>
  <p:notesSz cx="6858000" cy="9144000"/>
  <p:custDataLst>
    <p:tags r:id="rId6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2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6AD"/>
    <a:srgbClr val="990099"/>
    <a:srgbClr val="FFCC99"/>
    <a:srgbClr val="CCFFFF"/>
    <a:srgbClr val="CCCCFF"/>
    <a:srgbClr val="FF3399"/>
    <a:srgbClr val="3333FF"/>
    <a:srgbClr val="FFCCFF"/>
    <a:srgbClr val="FFFFCC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34" autoAdjust="0"/>
    <p:restoredTop sz="96051" autoAdjust="0"/>
  </p:normalViewPr>
  <p:slideViewPr>
    <p:cSldViewPr showGuides="1">
      <p:cViewPr varScale="1">
        <p:scale>
          <a:sx n="91" d="100"/>
          <a:sy n="91" d="100"/>
        </p:scale>
        <p:origin x="1828" y="36"/>
      </p:cViewPr>
      <p:guideLst>
        <p:guide orient="horz" pos="2180"/>
        <p:guide pos="28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tags" Target="tags/tag978.xml"/><Relationship Id="rId60" Type="http://schemas.openxmlformats.org/officeDocument/2006/relationships/tableStyles" Target="tableStyles.xml"/><Relationship Id="rId6" Type="http://schemas.openxmlformats.org/officeDocument/2006/relationships/slide" Target="slides/slide3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handoutMaster" Target="handoutMasters/handoutMaster1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8B35EC1F-2690-4843-938C-292B0745816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CA1028-0474-4237-97ED-7DD9A9F9F20B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3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3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5278BF-B3A1-4F44-8B36-56B73E962ECD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P7-</a:t>
            </a:r>
            <a:r>
              <a:rPr lang="zh-CN" altLang="en-US" dirty="0"/>
              <a:t>看指令地址计算与执行指令并行，上页</a:t>
            </a:r>
            <a:r>
              <a:rPr lang="en-US" altLang="zh-CN" dirty="0"/>
              <a:t>-</a:t>
            </a:r>
            <a:r>
              <a:rPr lang="zh-CN" altLang="en-US" dirty="0"/>
              <a:t>基本操作的组成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数据通路的功能是实现指令执行过程中的所有操作</a:t>
            </a:r>
            <a:br>
              <a:rPr lang="zh-CN" altLang="en-US" dirty="0"/>
            </a:br>
            <a:br>
              <a:rPr lang="zh-CN" altLang="en-US" dirty="0"/>
            </a:br>
            <a:r>
              <a:rPr lang="zh-CN" altLang="en-US" dirty="0"/>
              <a:t>思考：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源数据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结果在</a:t>
            </a:r>
            <a:r>
              <a:rPr lang="zh-CN" altLang="en-US" sz="1200" b="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状态部件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原子操作，</a:t>
            </a:r>
            <a:r>
              <a:rPr lang="zh-CN" altLang="en-US" sz="1200" b="0" dirty="0">
                <a:latin typeface="+mn-ea"/>
                <a:ea typeface="+mn-ea"/>
              </a:rPr>
              <a:t>向相关部件</a:t>
            </a:r>
            <a:r>
              <a:rPr lang="zh-CN" altLang="en-US" sz="1200" b="0" u="none" dirty="0">
                <a:solidFill>
                  <a:srgbClr val="0070C0"/>
                </a:solidFill>
                <a:latin typeface="+mn-ea"/>
                <a:ea typeface="+mn-ea"/>
              </a:rPr>
              <a:t>发送控制信号。</a:t>
            </a:r>
            <a:endParaRPr lang="zh-CN" altLang="en-US" b="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看状态转换图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P10-</a:t>
            </a:r>
            <a:r>
              <a:rPr lang="zh-CN" altLang="en-US" dirty="0"/>
              <a:t>看数据转换电路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思考：</a:t>
            </a:r>
            <a:r>
              <a:rPr lang="en-US" altLang="zh-CN" sz="1200" b="0" dirty="0">
                <a:latin typeface="宋体" panose="02010600030101010101" pitchFamily="2" charset="-122"/>
              </a:rPr>
              <a:t>&lt;&lt;1</a:t>
            </a:r>
            <a:r>
              <a:rPr lang="zh-CN" altLang="en-US" sz="1200" b="0" dirty="0">
                <a:latin typeface="宋体" panose="02010600030101010101" pitchFamily="2" charset="-122"/>
              </a:rPr>
              <a:t>可</a:t>
            </a:r>
            <a:r>
              <a:rPr lang="zh-CN" altLang="en-US" dirty="0"/>
              <a:t>扩大</a:t>
            </a:r>
            <a:r>
              <a:rPr lang="en-US" altLang="zh-CN" dirty="0"/>
              <a:t>1</a:t>
            </a:r>
            <a:r>
              <a:rPr lang="zh-CN" altLang="en-US" dirty="0"/>
              <a:t>倍偏移空间（指令采用定长指令字格式），基址寻址用于数据（最小为字节）。左移</a:t>
            </a:r>
            <a:r>
              <a:rPr lang="en-US" altLang="zh-CN" dirty="0"/>
              <a:t>1</a:t>
            </a:r>
            <a:r>
              <a:rPr lang="zh-CN" altLang="en-US" dirty="0"/>
              <a:t>位在不增加指令长度的情况下，获得更大的跳转范围。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P8-</a:t>
            </a:r>
            <a:r>
              <a:rPr lang="zh-CN" altLang="en-US" dirty="0"/>
              <a:t>看</a:t>
            </a:r>
            <a:r>
              <a:rPr lang="en-US" altLang="zh-CN" dirty="0"/>
              <a:t>CPU</a:t>
            </a:r>
            <a:r>
              <a:rPr lang="zh-CN" altLang="en-US" dirty="0"/>
              <a:t>的组成部件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DP</a:t>
            </a:r>
            <a:r>
              <a:rPr lang="zh-CN" altLang="en-US" dirty="0"/>
              <a:t>：</a:t>
            </a:r>
            <a:r>
              <a:rPr lang="en-US" altLang="zh-CN" dirty="0"/>
              <a:t>3In=</a:t>
            </a:r>
            <a:r>
              <a:rPr lang="zh-CN" altLang="en-US" dirty="0"/>
              <a:t>工作脉冲、</a:t>
            </a:r>
            <a:r>
              <a:rPr lang="en-US" altLang="zh-CN" dirty="0" err="1"/>
              <a:t>uOPCmd</a:t>
            </a:r>
            <a:r>
              <a:rPr lang="zh-CN" altLang="en-US" dirty="0"/>
              <a:t>、复位，</a:t>
            </a:r>
            <a:r>
              <a:rPr lang="en-US" altLang="zh-CN" dirty="0"/>
              <a:t>2Out=IR</a:t>
            </a:r>
            <a:r>
              <a:rPr lang="zh-CN" altLang="en-US" dirty="0"/>
              <a:t>、</a:t>
            </a:r>
            <a:r>
              <a:rPr lang="en-US" altLang="zh-CN" dirty="0"/>
              <a:t>PSR</a:t>
            </a:r>
            <a:r>
              <a:rPr lang="zh-CN" altLang="en-US" dirty="0"/>
              <a:t>，</a:t>
            </a:r>
            <a:r>
              <a:rPr lang="en-US" altLang="zh-CN" dirty="0"/>
              <a:t>1IO=BIU</a:t>
            </a:r>
            <a:r>
              <a:rPr lang="zh-CN" altLang="en-US" dirty="0"/>
              <a:t>；</a:t>
            </a:r>
            <a:r>
              <a:rPr lang="en-US" altLang="zh-CN" dirty="0"/>
              <a:t>CU</a:t>
            </a:r>
            <a:r>
              <a:rPr lang="zh-CN" altLang="en-US" dirty="0"/>
              <a:t>：</a:t>
            </a:r>
            <a:r>
              <a:rPr lang="en-US" altLang="zh-CN" dirty="0"/>
              <a:t>4In=IR</a:t>
            </a:r>
            <a:r>
              <a:rPr lang="zh-CN" altLang="en-US" dirty="0"/>
              <a:t>、</a:t>
            </a:r>
            <a:r>
              <a:rPr lang="en-US" altLang="zh-CN" dirty="0"/>
              <a:t>PSR</a:t>
            </a:r>
            <a:r>
              <a:rPr lang="zh-CN" altLang="en-US" dirty="0"/>
              <a:t>、操作状态、复位，</a:t>
            </a:r>
            <a:r>
              <a:rPr lang="en-US" altLang="zh-CN" dirty="0"/>
              <a:t>2Out=</a:t>
            </a:r>
            <a:r>
              <a:rPr lang="zh-CN" altLang="en-US" dirty="0"/>
              <a:t>工作脉冲、</a:t>
            </a:r>
            <a:r>
              <a:rPr lang="en-US" altLang="zh-CN" dirty="0" err="1"/>
              <a:t>uOPCmd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看运算部件须细化，</a:t>
            </a:r>
            <a:r>
              <a:rPr lang="en-US" altLang="zh-CN" dirty="0"/>
              <a:t>P13-</a:t>
            </a:r>
            <a:r>
              <a:rPr lang="zh-CN" altLang="en-US" dirty="0"/>
              <a:t>看如何组织测试数据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P11-</a:t>
            </a:r>
            <a:r>
              <a:rPr lang="zh-CN" altLang="en-US" dirty="0"/>
              <a:t>看</a:t>
            </a:r>
            <a:r>
              <a:rPr lang="en-US" altLang="zh-CN" dirty="0"/>
              <a:t>CU</a:t>
            </a:r>
            <a:r>
              <a:rPr lang="zh-CN" altLang="en-US" dirty="0"/>
              <a:t>结构图，上页</a:t>
            </a:r>
            <a:r>
              <a:rPr lang="en-US" altLang="zh-CN" dirty="0"/>
              <a:t>-</a:t>
            </a:r>
            <a:r>
              <a:rPr lang="zh-CN" altLang="en-US" dirty="0"/>
              <a:t>看数据通路的实现、调试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P24-</a:t>
            </a:r>
            <a:r>
              <a:rPr lang="zh-CN" altLang="en-US" dirty="0"/>
              <a:t>看</a:t>
            </a:r>
            <a:r>
              <a:rPr lang="en-US" altLang="zh-CN" dirty="0"/>
              <a:t>CPU</a:t>
            </a:r>
            <a:r>
              <a:rPr lang="zh-CN" altLang="en-US" dirty="0"/>
              <a:t>外部接口信号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P22-</a:t>
            </a:r>
            <a:r>
              <a:rPr lang="zh-CN" altLang="en-US" dirty="0"/>
              <a:t>看设计要求，</a:t>
            </a:r>
            <a:r>
              <a:rPr lang="en-US" altLang="zh-CN" dirty="0"/>
              <a:t>P23-</a:t>
            </a:r>
            <a:r>
              <a:rPr lang="zh-CN" altLang="en-US" dirty="0"/>
              <a:t>看需求分析内容，</a:t>
            </a:r>
            <a:r>
              <a:rPr lang="en-US" altLang="zh-CN" dirty="0"/>
              <a:t>P16-</a:t>
            </a:r>
            <a:r>
              <a:rPr lang="zh-CN" altLang="en-US" dirty="0"/>
              <a:t>看寄存器、存储器参数需求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P26-</a:t>
            </a:r>
            <a:r>
              <a:rPr lang="zh-CN" altLang="en-US" dirty="0"/>
              <a:t>看总体设计内容，</a:t>
            </a:r>
            <a:r>
              <a:rPr lang="en-US" altLang="zh-CN" dirty="0"/>
              <a:t>P12-</a:t>
            </a:r>
            <a:r>
              <a:rPr lang="zh-CN" altLang="en-US" dirty="0"/>
              <a:t>看</a:t>
            </a:r>
            <a:r>
              <a:rPr lang="en-US" altLang="zh-CN" dirty="0"/>
              <a:t>BIU</a:t>
            </a:r>
            <a:r>
              <a:rPr lang="zh-CN" altLang="en-US" dirty="0"/>
              <a:t>的数据转换电路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思考：用加减法器的结果。       </a:t>
            </a:r>
            <a:r>
              <a:rPr lang="en-US" altLang="zh-CN" dirty="0"/>
              <a:t>P26-</a:t>
            </a:r>
            <a:r>
              <a:rPr lang="zh-CN" altLang="en-US" dirty="0"/>
              <a:t>看数据通路设计过程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P31-</a:t>
            </a:r>
            <a:r>
              <a:rPr lang="zh-CN" altLang="en-US" dirty="0"/>
              <a:t>看指令寻址功能  </a:t>
            </a:r>
            <a:r>
              <a:rPr lang="en-US" altLang="zh-CN" dirty="0"/>
              <a:t>P22-</a:t>
            </a:r>
            <a:r>
              <a:rPr lang="zh-CN" altLang="en-US" dirty="0"/>
              <a:t>看转移型指令格式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P30-</a:t>
            </a:r>
            <a:r>
              <a:rPr lang="zh-CN" altLang="en-US" dirty="0"/>
              <a:t>看</a:t>
            </a:r>
            <a:r>
              <a:rPr lang="en-US" altLang="zh-CN" dirty="0"/>
              <a:t>GPRs</a:t>
            </a:r>
            <a:r>
              <a:rPr lang="zh-CN" altLang="en-US" dirty="0"/>
              <a:t>、指令部件功能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思考：按字节交叉连接。     </a:t>
            </a:r>
            <a:r>
              <a:rPr lang="en-US" altLang="zh-CN" dirty="0"/>
              <a:t>P30-</a:t>
            </a:r>
            <a:r>
              <a:rPr lang="zh-CN" altLang="en-US" dirty="0"/>
              <a:t>看</a:t>
            </a:r>
            <a:r>
              <a:rPr lang="en-US" altLang="zh-CN" dirty="0"/>
              <a:t>MMU</a:t>
            </a:r>
            <a:r>
              <a:rPr lang="zh-CN" altLang="en-US" dirty="0"/>
              <a:t>、</a:t>
            </a:r>
            <a:r>
              <a:rPr lang="en-US" altLang="zh-CN" dirty="0"/>
              <a:t>BIU</a:t>
            </a:r>
            <a:r>
              <a:rPr lang="zh-CN" altLang="en-US" dirty="0"/>
              <a:t>功能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P22-</a:t>
            </a:r>
            <a:r>
              <a:rPr lang="zh-CN" altLang="en-US" dirty="0"/>
              <a:t>看</a:t>
            </a:r>
            <a:r>
              <a:rPr lang="en-US" altLang="zh-CN" dirty="0" err="1"/>
              <a:t>Rt</a:t>
            </a:r>
            <a:r>
              <a:rPr lang="zh-CN" altLang="en-US" dirty="0"/>
              <a:t>位置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P32-</a:t>
            </a:r>
            <a:r>
              <a:rPr lang="zh-CN" altLang="en-US" dirty="0"/>
              <a:t>看</a:t>
            </a:r>
            <a:r>
              <a:rPr lang="en-US" altLang="zh-CN" dirty="0"/>
              <a:t>ACU</a:t>
            </a:r>
            <a:r>
              <a:rPr lang="zh-CN" altLang="en-US" dirty="0"/>
              <a:t>组成，</a:t>
            </a:r>
            <a:r>
              <a:rPr lang="en-US" altLang="zh-CN" dirty="0"/>
              <a:t>P33-</a:t>
            </a:r>
            <a:r>
              <a:rPr lang="zh-CN" altLang="en-US" dirty="0"/>
              <a:t>看写</a:t>
            </a:r>
            <a:r>
              <a:rPr lang="en-US" altLang="zh-CN" dirty="0"/>
              <a:t>PC</a:t>
            </a:r>
            <a:r>
              <a:rPr lang="zh-CN" altLang="en-US" dirty="0"/>
              <a:t>时机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P25-</a:t>
            </a:r>
            <a:r>
              <a:rPr lang="zh-CN" altLang="en-US" dirty="0"/>
              <a:t>看数据通路设计验证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P26-</a:t>
            </a:r>
            <a:r>
              <a:rPr lang="zh-CN" altLang="en-US" dirty="0"/>
              <a:t>看</a:t>
            </a:r>
            <a:r>
              <a:rPr lang="en-US" altLang="zh-CN" dirty="0"/>
              <a:t>CU</a:t>
            </a:r>
            <a:r>
              <a:rPr lang="zh-CN" altLang="en-US" dirty="0"/>
              <a:t>设计步骤，</a:t>
            </a:r>
            <a:r>
              <a:rPr lang="en-US" altLang="zh-CN" dirty="0"/>
              <a:t>P39-</a:t>
            </a:r>
            <a:r>
              <a:rPr lang="zh-CN" altLang="en-US" dirty="0"/>
              <a:t>看数据通路需要的工作脉冲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P26-</a:t>
            </a:r>
            <a:r>
              <a:rPr lang="zh-CN" altLang="en-US" dirty="0"/>
              <a:t>看</a:t>
            </a:r>
            <a:r>
              <a:rPr lang="en-US" altLang="zh-CN" dirty="0"/>
              <a:t>CU</a:t>
            </a:r>
            <a:r>
              <a:rPr lang="zh-CN" altLang="en-US" dirty="0"/>
              <a:t>设计步骤，上页</a:t>
            </a:r>
            <a:r>
              <a:rPr lang="en-US" altLang="zh-CN" dirty="0"/>
              <a:t>-</a:t>
            </a:r>
            <a:r>
              <a:rPr lang="zh-CN" altLang="en-US" dirty="0"/>
              <a:t>看状态转换图、转入条件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P22-</a:t>
            </a:r>
            <a:r>
              <a:rPr lang="zh-CN" altLang="en-US" dirty="0"/>
              <a:t>看设计要求，</a:t>
            </a:r>
            <a:r>
              <a:rPr lang="en-US" altLang="zh-CN" dirty="0"/>
              <a:t>P34-</a:t>
            </a:r>
            <a:r>
              <a:rPr lang="zh-CN" altLang="en-US" dirty="0"/>
              <a:t>看</a:t>
            </a:r>
            <a:r>
              <a:rPr lang="en-US" altLang="zh-CN" dirty="0"/>
              <a:t>BIU</a:t>
            </a:r>
            <a:r>
              <a:rPr lang="zh-CN" altLang="en-US" dirty="0"/>
              <a:t>接口信号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35EC1F-2690-4843-938C-292B0745816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(1)</a:t>
            </a:r>
            <a:r>
              <a:rPr lang="zh-CN" altLang="en-US" dirty="0"/>
              <a:t>数据寻址</a:t>
            </a:r>
            <a:r>
              <a:rPr lang="en-US" altLang="zh-CN" dirty="0" err="1"/>
              <a:t>lui</a:t>
            </a:r>
            <a:r>
              <a:rPr lang="zh-CN" altLang="en-US" dirty="0"/>
              <a:t>有变化，扩展</a:t>
            </a:r>
            <a:r>
              <a:rPr lang="en-US" altLang="zh-CN" dirty="0" err="1"/>
              <a:t>ExtU+ALU</a:t>
            </a:r>
            <a:r>
              <a:rPr lang="zh-CN" altLang="en-US" dirty="0"/>
              <a:t>，或扩展</a:t>
            </a:r>
            <a:r>
              <a:rPr lang="en-US" altLang="zh-CN" dirty="0"/>
              <a:t>ExtU+MUX2</a:t>
            </a:r>
            <a:r>
              <a:rPr lang="zh-CN" altLang="en-US" dirty="0"/>
              <a:t>   </a:t>
            </a:r>
            <a:r>
              <a:rPr lang="en-US" altLang="zh-CN" dirty="0"/>
              <a:t>(2)</a:t>
            </a:r>
            <a:r>
              <a:rPr lang="zh-CN" altLang="en-US" dirty="0"/>
              <a:t>可复用，但没必要</a:t>
            </a:r>
            <a:r>
              <a:rPr lang="en-US" altLang="zh-CN" dirty="0"/>
              <a:t>(</a:t>
            </a:r>
            <a:r>
              <a:rPr lang="zh-CN" altLang="en-US" dirty="0"/>
              <a:t>增加复杂度</a:t>
            </a:r>
            <a:r>
              <a:rPr lang="en-US" altLang="zh-CN" dirty="0"/>
              <a:t>)</a:t>
            </a:r>
            <a:r>
              <a:rPr lang="zh-CN" altLang="en-US" dirty="0"/>
              <a:t>     </a:t>
            </a:r>
            <a:r>
              <a:rPr lang="en-US" altLang="zh-CN" dirty="0"/>
              <a:t>(3)</a:t>
            </a:r>
            <a:r>
              <a:rPr lang="zh-CN" altLang="en-US" dirty="0"/>
              <a:t>还是</a:t>
            </a:r>
            <a:r>
              <a:rPr lang="en-US" altLang="zh-CN" dirty="0"/>
              <a:t>25</a:t>
            </a:r>
            <a:r>
              <a:rPr lang="zh-CN" altLang="en-US" dirty="0"/>
              <a:t>位    </a:t>
            </a:r>
            <a:r>
              <a:rPr lang="en-US" altLang="zh-CN" dirty="0"/>
              <a:t>(4)DP</a:t>
            </a:r>
            <a:r>
              <a:rPr lang="zh-CN" altLang="en-US" dirty="0"/>
              <a:t>，</a:t>
            </a:r>
            <a:r>
              <a:rPr lang="en-US" altLang="zh-CN" dirty="0"/>
              <a:t>CU</a:t>
            </a:r>
            <a:r>
              <a:rPr lang="zh-CN" altLang="en-US" dirty="0"/>
              <a:t>只需解析操作码   </a:t>
            </a:r>
            <a:r>
              <a:rPr lang="en-US" altLang="zh-CN" dirty="0"/>
              <a:t>(5)</a:t>
            </a:r>
            <a:r>
              <a:rPr lang="zh-CN" altLang="en-US" dirty="0"/>
              <a:t>看清</a:t>
            </a:r>
            <a:r>
              <a:rPr lang="en-US" altLang="zh-CN" dirty="0"/>
              <a:t>lpm</a:t>
            </a:r>
            <a:r>
              <a:rPr lang="zh-CN" altLang="en-US" dirty="0"/>
              <a:t>器件名，提前生成相同器件  </a:t>
            </a:r>
            <a:r>
              <a:rPr lang="en-US" altLang="zh-CN" dirty="0"/>
              <a:t>(6)</a:t>
            </a:r>
            <a:r>
              <a:rPr lang="zh-CN" altLang="en-US" dirty="0"/>
              <a:t>用</a:t>
            </a:r>
            <a:r>
              <a:rPr lang="en-US" altLang="zh-CN" dirty="0"/>
              <a:t>wire</a:t>
            </a:r>
            <a:r>
              <a:rPr lang="zh-CN" altLang="en-US" dirty="0"/>
              <a:t>器件，同取数组元素</a:t>
            </a:r>
            <a:r>
              <a:rPr lang="en-US" altLang="zh-CN" dirty="0"/>
              <a:t>/</a:t>
            </a:r>
            <a:r>
              <a:rPr lang="zh-CN" altLang="en-US" dirty="0"/>
              <a:t>子数组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SEU.CSE.RGL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A4EC6-579C-489A-8E58-0BE7CC3B2F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SEU.CSE.RGL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01327-92AC-42D6-BB9A-125D7E00B33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SEU.CSE.RGL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8F18B8-9026-43A4-9172-985A4DC768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SEU.CSE.RGL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141073-8B0A-465A-96C5-0B9EABC817F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SEU.CSE.RGL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6BFC4-CFCF-4BA9-AF89-7C774E076CC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SEU.CSE.RGL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2C969-2318-4E81-A983-BD751800E38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453336"/>
            <a:ext cx="1259632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SEU.CSE.RGL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EFDBD-DCA6-4778-8716-30C636E4236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SEU.CSE.RGL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7D504-2BC2-4E53-96F6-8C5A88673D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SEU.CSE.RGL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8C9BB-078A-4382-A4B7-5CDD0D5F73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SEU.CSE.RGL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EB66A-C905-4316-9601-3CA40C15F84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r>
              <a:rPr lang="en-US" altLang="zh-CN"/>
              <a:t>SEU.CSE.RGL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3CDFC9A6-B767-4ABD-8AF8-F5EB5C38ABD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1.xml"/></Relationships>
</file>

<file path=ppt/slides/_rels/slide8.xml.rels><?xml version="1.0" encoding="UTF-8" standalone="yes"?>
<Relationships xmlns="http://schemas.openxmlformats.org/package/2006/relationships"><Relationship Id="rId99" Type="http://schemas.openxmlformats.org/officeDocument/2006/relationships/tags" Target="../tags/tag98.xml"/><Relationship Id="rId98" Type="http://schemas.openxmlformats.org/officeDocument/2006/relationships/tags" Target="../tags/tag97.xml"/><Relationship Id="rId97" Type="http://schemas.openxmlformats.org/officeDocument/2006/relationships/tags" Target="../tags/tag96.xml"/><Relationship Id="rId96" Type="http://schemas.openxmlformats.org/officeDocument/2006/relationships/tags" Target="../tags/tag95.xml"/><Relationship Id="rId95" Type="http://schemas.openxmlformats.org/officeDocument/2006/relationships/tags" Target="../tags/tag94.xml"/><Relationship Id="rId94" Type="http://schemas.openxmlformats.org/officeDocument/2006/relationships/tags" Target="../tags/tag93.xml"/><Relationship Id="rId93" Type="http://schemas.openxmlformats.org/officeDocument/2006/relationships/tags" Target="../tags/tag92.xml"/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6" Type="http://schemas.openxmlformats.org/officeDocument/2006/relationships/slideLayout" Target="../slideLayouts/slideLayout7.xml"/><Relationship Id="rId105" Type="http://schemas.openxmlformats.org/officeDocument/2006/relationships/tags" Target="../tags/tag104.xml"/><Relationship Id="rId104" Type="http://schemas.openxmlformats.org/officeDocument/2006/relationships/tags" Target="../tags/tag103.xml"/><Relationship Id="rId103" Type="http://schemas.openxmlformats.org/officeDocument/2006/relationships/tags" Target="../tags/tag102.xml"/><Relationship Id="rId102" Type="http://schemas.openxmlformats.org/officeDocument/2006/relationships/tags" Target="../tags/tag101.xml"/><Relationship Id="rId101" Type="http://schemas.openxmlformats.org/officeDocument/2006/relationships/tags" Target="../tags/tag100.xml"/><Relationship Id="rId100" Type="http://schemas.openxmlformats.org/officeDocument/2006/relationships/tags" Target="../tags/tag99.xml"/><Relationship Id="rId10" Type="http://schemas.openxmlformats.org/officeDocument/2006/relationships/tags" Target="../tags/tag9.xml"/><Relationship Id="rId1" Type="http://schemas.openxmlformats.org/officeDocument/2006/relationships/slide" Target="slide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slide" Target="slide4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slide" Target="slide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7" Type="http://schemas.openxmlformats.org/officeDocument/2006/relationships/notesSlide" Target="../notesSlides/notesSlide5.xml"/><Relationship Id="rId46" Type="http://schemas.openxmlformats.org/officeDocument/2006/relationships/slideLayout" Target="../slideLayouts/slideLayout7.xml"/><Relationship Id="rId45" Type="http://schemas.openxmlformats.org/officeDocument/2006/relationships/tags" Target="../tags/tag148.xml"/><Relationship Id="rId44" Type="http://schemas.openxmlformats.org/officeDocument/2006/relationships/tags" Target="../tags/tag147.xml"/><Relationship Id="rId43" Type="http://schemas.openxmlformats.org/officeDocument/2006/relationships/tags" Target="../tags/tag146.xml"/><Relationship Id="rId42" Type="http://schemas.openxmlformats.org/officeDocument/2006/relationships/tags" Target="../tags/tag145.xml"/><Relationship Id="rId41" Type="http://schemas.openxmlformats.org/officeDocument/2006/relationships/tags" Target="../tags/tag144.xml"/><Relationship Id="rId40" Type="http://schemas.openxmlformats.org/officeDocument/2006/relationships/tags" Target="../tags/tag143.xml"/><Relationship Id="rId4" Type="http://schemas.openxmlformats.org/officeDocument/2006/relationships/tags" Target="../tags/tag107.xml"/><Relationship Id="rId39" Type="http://schemas.openxmlformats.org/officeDocument/2006/relationships/tags" Target="../tags/tag142.xml"/><Relationship Id="rId38" Type="http://schemas.openxmlformats.org/officeDocument/2006/relationships/tags" Target="../tags/tag141.xml"/><Relationship Id="rId37" Type="http://schemas.openxmlformats.org/officeDocument/2006/relationships/tags" Target="../tags/tag140.xml"/><Relationship Id="rId36" Type="http://schemas.openxmlformats.org/officeDocument/2006/relationships/tags" Target="../tags/tag139.xml"/><Relationship Id="rId35" Type="http://schemas.openxmlformats.org/officeDocument/2006/relationships/tags" Target="../tags/tag138.xml"/><Relationship Id="rId34" Type="http://schemas.openxmlformats.org/officeDocument/2006/relationships/tags" Target="../tags/tag137.xml"/><Relationship Id="rId33" Type="http://schemas.openxmlformats.org/officeDocument/2006/relationships/tags" Target="../tags/tag136.xml"/><Relationship Id="rId32" Type="http://schemas.openxmlformats.org/officeDocument/2006/relationships/tags" Target="../tags/tag135.xml"/><Relationship Id="rId31" Type="http://schemas.openxmlformats.org/officeDocument/2006/relationships/tags" Target="../tags/tag134.xml"/><Relationship Id="rId30" Type="http://schemas.openxmlformats.org/officeDocument/2006/relationships/tags" Target="../tags/tag133.xml"/><Relationship Id="rId3" Type="http://schemas.openxmlformats.org/officeDocument/2006/relationships/tags" Target="../tags/tag106.xml"/><Relationship Id="rId29" Type="http://schemas.openxmlformats.org/officeDocument/2006/relationships/tags" Target="../tags/tag132.xml"/><Relationship Id="rId28" Type="http://schemas.openxmlformats.org/officeDocument/2006/relationships/tags" Target="../tags/tag131.xml"/><Relationship Id="rId27" Type="http://schemas.openxmlformats.org/officeDocument/2006/relationships/tags" Target="../tags/tag130.xml"/><Relationship Id="rId26" Type="http://schemas.openxmlformats.org/officeDocument/2006/relationships/tags" Target="../tags/tag129.xml"/><Relationship Id="rId25" Type="http://schemas.openxmlformats.org/officeDocument/2006/relationships/tags" Target="../tags/tag128.xml"/><Relationship Id="rId24" Type="http://schemas.openxmlformats.org/officeDocument/2006/relationships/tags" Target="../tags/tag127.xml"/><Relationship Id="rId23" Type="http://schemas.openxmlformats.org/officeDocument/2006/relationships/tags" Target="../tags/tag126.xml"/><Relationship Id="rId22" Type="http://schemas.openxmlformats.org/officeDocument/2006/relationships/tags" Target="../tags/tag125.xml"/><Relationship Id="rId21" Type="http://schemas.openxmlformats.org/officeDocument/2006/relationships/tags" Target="../tags/tag124.xml"/><Relationship Id="rId20" Type="http://schemas.openxmlformats.org/officeDocument/2006/relationships/tags" Target="../tags/tag123.xml"/><Relationship Id="rId2" Type="http://schemas.openxmlformats.org/officeDocument/2006/relationships/tags" Target="../tags/tag105.xml"/><Relationship Id="rId19" Type="http://schemas.openxmlformats.org/officeDocument/2006/relationships/tags" Target="../tags/tag122.xml"/><Relationship Id="rId18" Type="http://schemas.openxmlformats.org/officeDocument/2006/relationships/tags" Target="../tags/tag121.xml"/><Relationship Id="rId17" Type="http://schemas.openxmlformats.org/officeDocument/2006/relationships/tags" Target="../tags/tag120.xml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slide" Target="slide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0" Type="http://schemas.openxmlformats.org/officeDocument/2006/relationships/notesSlide" Target="../notesSlides/notesSlide6.xml"/><Relationship Id="rId8" Type="http://schemas.openxmlformats.org/officeDocument/2006/relationships/tags" Target="../tags/tag156.xml"/><Relationship Id="rId79" Type="http://schemas.openxmlformats.org/officeDocument/2006/relationships/slideLayout" Target="../slideLayouts/slideLayout7.xml"/><Relationship Id="rId78" Type="http://schemas.openxmlformats.org/officeDocument/2006/relationships/tags" Target="../tags/tag226.xml"/><Relationship Id="rId77" Type="http://schemas.openxmlformats.org/officeDocument/2006/relationships/tags" Target="../tags/tag225.xml"/><Relationship Id="rId76" Type="http://schemas.openxmlformats.org/officeDocument/2006/relationships/tags" Target="../tags/tag224.xml"/><Relationship Id="rId75" Type="http://schemas.openxmlformats.org/officeDocument/2006/relationships/tags" Target="../tags/tag223.xml"/><Relationship Id="rId74" Type="http://schemas.openxmlformats.org/officeDocument/2006/relationships/tags" Target="../tags/tag222.xml"/><Relationship Id="rId73" Type="http://schemas.openxmlformats.org/officeDocument/2006/relationships/tags" Target="../tags/tag221.xml"/><Relationship Id="rId72" Type="http://schemas.openxmlformats.org/officeDocument/2006/relationships/tags" Target="../tags/tag220.xml"/><Relationship Id="rId71" Type="http://schemas.openxmlformats.org/officeDocument/2006/relationships/tags" Target="../tags/tag219.xml"/><Relationship Id="rId70" Type="http://schemas.openxmlformats.org/officeDocument/2006/relationships/tags" Target="../tags/tag218.xml"/><Relationship Id="rId7" Type="http://schemas.openxmlformats.org/officeDocument/2006/relationships/tags" Target="../tags/tag155.xml"/><Relationship Id="rId69" Type="http://schemas.openxmlformats.org/officeDocument/2006/relationships/tags" Target="../tags/tag217.xml"/><Relationship Id="rId68" Type="http://schemas.openxmlformats.org/officeDocument/2006/relationships/tags" Target="../tags/tag216.xml"/><Relationship Id="rId67" Type="http://schemas.openxmlformats.org/officeDocument/2006/relationships/tags" Target="../tags/tag215.xml"/><Relationship Id="rId66" Type="http://schemas.openxmlformats.org/officeDocument/2006/relationships/tags" Target="../tags/tag214.xml"/><Relationship Id="rId65" Type="http://schemas.openxmlformats.org/officeDocument/2006/relationships/tags" Target="../tags/tag213.xml"/><Relationship Id="rId64" Type="http://schemas.openxmlformats.org/officeDocument/2006/relationships/tags" Target="../tags/tag212.xml"/><Relationship Id="rId63" Type="http://schemas.openxmlformats.org/officeDocument/2006/relationships/tags" Target="../tags/tag211.xml"/><Relationship Id="rId62" Type="http://schemas.openxmlformats.org/officeDocument/2006/relationships/tags" Target="../tags/tag210.xml"/><Relationship Id="rId61" Type="http://schemas.openxmlformats.org/officeDocument/2006/relationships/tags" Target="../tags/tag209.xml"/><Relationship Id="rId60" Type="http://schemas.openxmlformats.org/officeDocument/2006/relationships/tags" Target="../tags/tag208.xml"/><Relationship Id="rId6" Type="http://schemas.openxmlformats.org/officeDocument/2006/relationships/tags" Target="../tags/tag154.xml"/><Relationship Id="rId59" Type="http://schemas.openxmlformats.org/officeDocument/2006/relationships/tags" Target="../tags/tag207.xml"/><Relationship Id="rId58" Type="http://schemas.openxmlformats.org/officeDocument/2006/relationships/tags" Target="../tags/tag206.xml"/><Relationship Id="rId57" Type="http://schemas.openxmlformats.org/officeDocument/2006/relationships/tags" Target="../tags/tag205.xml"/><Relationship Id="rId56" Type="http://schemas.openxmlformats.org/officeDocument/2006/relationships/tags" Target="../tags/tag204.xml"/><Relationship Id="rId55" Type="http://schemas.openxmlformats.org/officeDocument/2006/relationships/tags" Target="../tags/tag203.xml"/><Relationship Id="rId54" Type="http://schemas.openxmlformats.org/officeDocument/2006/relationships/tags" Target="../tags/tag202.xml"/><Relationship Id="rId53" Type="http://schemas.openxmlformats.org/officeDocument/2006/relationships/tags" Target="../tags/tag201.xml"/><Relationship Id="rId52" Type="http://schemas.openxmlformats.org/officeDocument/2006/relationships/tags" Target="../tags/tag200.xml"/><Relationship Id="rId51" Type="http://schemas.openxmlformats.org/officeDocument/2006/relationships/tags" Target="../tags/tag199.xml"/><Relationship Id="rId50" Type="http://schemas.openxmlformats.org/officeDocument/2006/relationships/tags" Target="../tags/tag198.xml"/><Relationship Id="rId5" Type="http://schemas.openxmlformats.org/officeDocument/2006/relationships/tags" Target="../tags/tag153.xml"/><Relationship Id="rId49" Type="http://schemas.openxmlformats.org/officeDocument/2006/relationships/tags" Target="../tags/tag197.xml"/><Relationship Id="rId48" Type="http://schemas.openxmlformats.org/officeDocument/2006/relationships/tags" Target="../tags/tag196.xml"/><Relationship Id="rId47" Type="http://schemas.openxmlformats.org/officeDocument/2006/relationships/tags" Target="../tags/tag195.xml"/><Relationship Id="rId46" Type="http://schemas.openxmlformats.org/officeDocument/2006/relationships/tags" Target="../tags/tag194.xml"/><Relationship Id="rId45" Type="http://schemas.openxmlformats.org/officeDocument/2006/relationships/tags" Target="../tags/tag193.xml"/><Relationship Id="rId44" Type="http://schemas.openxmlformats.org/officeDocument/2006/relationships/tags" Target="../tags/tag192.xml"/><Relationship Id="rId43" Type="http://schemas.openxmlformats.org/officeDocument/2006/relationships/tags" Target="../tags/tag191.xml"/><Relationship Id="rId42" Type="http://schemas.openxmlformats.org/officeDocument/2006/relationships/tags" Target="../tags/tag190.xml"/><Relationship Id="rId41" Type="http://schemas.openxmlformats.org/officeDocument/2006/relationships/tags" Target="../tags/tag189.xml"/><Relationship Id="rId40" Type="http://schemas.openxmlformats.org/officeDocument/2006/relationships/tags" Target="../tags/tag188.xml"/><Relationship Id="rId4" Type="http://schemas.openxmlformats.org/officeDocument/2006/relationships/tags" Target="../tags/tag152.xml"/><Relationship Id="rId39" Type="http://schemas.openxmlformats.org/officeDocument/2006/relationships/tags" Target="../tags/tag187.xml"/><Relationship Id="rId38" Type="http://schemas.openxmlformats.org/officeDocument/2006/relationships/tags" Target="../tags/tag186.xml"/><Relationship Id="rId37" Type="http://schemas.openxmlformats.org/officeDocument/2006/relationships/tags" Target="../tags/tag185.xml"/><Relationship Id="rId36" Type="http://schemas.openxmlformats.org/officeDocument/2006/relationships/tags" Target="../tags/tag184.xml"/><Relationship Id="rId35" Type="http://schemas.openxmlformats.org/officeDocument/2006/relationships/tags" Target="../tags/tag183.xml"/><Relationship Id="rId34" Type="http://schemas.openxmlformats.org/officeDocument/2006/relationships/tags" Target="../tags/tag182.xml"/><Relationship Id="rId33" Type="http://schemas.openxmlformats.org/officeDocument/2006/relationships/tags" Target="../tags/tag181.xml"/><Relationship Id="rId32" Type="http://schemas.openxmlformats.org/officeDocument/2006/relationships/tags" Target="../tags/tag180.xml"/><Relationship Id="rId31" Type="http://schemas.openxmlformats.org/officeDocument/2006/relationships/tags" Target="../tags/tag179.xml"/><Relationship Id="rId30" Type="http://schemas.openxmlformats.org/officeDocument/2006/relationships/tags" Target="../tags/tag178.xml"/><Relationship Id="rId3" Type="http://schemas.openxmlformats.org/officeDocument/2006/relationships/tags" Target="../tags/tag151.xml"/><Relationship Id="rId29" Type="http://schemas.openxmlformats.org/officeDocument/2006/relationships/tags" Target="../tags/tag177.xml"/><Relationship Id="rId28" Type="http://schemas.openxmlformats.org/officeDocument/2006/relationships/tags" Target="../tags/tag176.xml"/><Relationship Id="rId27" Type="http://schemas.openxmlformats.org/officeDocument/2006/relationships/tags" Target="../tags/tag175.xml"/><Relationship Id="rId26" Type="http://schemas.openxmlformats.org/officeDocument/2006/relationships/tags" Target="../tags/tag174.xml"/><Relationship Id="rId25" Type="http://schemas.openxmlformats.org/officeDocument/2006/relationships/tags" Target="../tags/tag173.xml"/><Relationship Id="rId24" Type="http://schemas.openxmlformats.org/officeDocument/2006/relationships/tags" Target="../tags/tag172.xml"/><Relationship Id="rId23" Type="http://schemas.openxmlformats.org/officeDocument/2006/relationships/tags" Target="../tags/tag171.xml"/><Relationship Id="rId22" Type="http://schemas.openxmlformats.org/officeDocument/2006/relationships/tags" Target="../tags/tag170.xml"/><Relationship Id="rId21" Type="http://schemas.openxmlformats.org/officeDocument/2006/relationships/tags" Target="../tags/tag169.xml"/><Relationship Id="rId20" Type="http://schemas.openxmlformats.org/officeDocument/2006/relationships/tags" Target="../tags/tag168.xml"/><Relationship Id="rId2" Type="http://schemas.openxmlformats.org/officeDocument/2006/relationships/tags" Target="../tags/tag150.xml"/><Relationship Id="rId19" Type="http://schemas.openxmlformats.org/officeDocument/2006/relationships/tags" Target="../tags/tag167.xml"/><Relationship Id="rId18" Type="http://schemas.openxmlformats.org/officeDocument/2006/relationships/tags" Target="../tags/tag166.xml"/><Relationship Id="rId17" Type="http://schemas.openxmlformats.org/officeDocument/2006/relationships/tags" Target="../tags/tag165.xml"/><Relationship Id="rId16" Type="http://schemas.openxmlformats.org/officeDocument/2006/relationships/tags" Target="../tags/tag164.xml"/><Relationship Id="rId15" Type="http://schemas.openxmlformats.org/officeDocument/2006/relationships/tags" Target="../tags/tag163.xml"/><Relationship Id="rId14" Type="http://schemas.openxmlformats.org/officeDocument/2006/relationships/tags" Target="../tags/tag162.xml"/><Relationship Id="rId13" Type="http://schemas.openxmlformats.org/officeDocument/2006/relationships/tags" Target="../tags/tag161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tags" Target="../tags/tag14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slide" Target="slide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slide" Target="slide27.xml"/><Relationship Id="rId1" Type="http://schemas.openxmlformats.org/officeDocument/2006/relationships/slide" Target="slide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30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7.xml"/><Relationship Id="rId5" Type="http://schemas.openxmlformats.org/officeDocument/2006/relationships/slide" Target="slide22.xml"/><Relationship Id="rId4" Type="http://schemas.openxmlformats.org/officeDocument/2006/relationships/slide" Target="slide23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tags" Target="../tags/tag2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31.xml"/><Relationship Id="rId1" Type="http://schemas.openxmlformats.org/officeDocument/2006/relationships/tags" Target="../tags/tag23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2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slide" Target="slide34.xml"/><Relationship Id="rId4" Type="http://schemas.openxmlformats.org/officeDocument/2006/relationships/slide" Target="slide19.xml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" Type="http://schemas.openxmlformats.org/officeDocument/2006/relationships/tags" Target="../tags/tag233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slide" Target="slide19.xml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" Type="http://schemas.openxmlformats.org/officeDocument/2006/relationships/tags" Target="../tags/tag236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slide" Target="slide30.xml"/><Relationship Id="rId2" Type="http://schemas.openxmlformats.org/officeDocument/2006/relationships/slide" Target="slide46.xml"/><Relationship Id="rId1" Type="http://schemas.openxmlformats.org/officeDocument/2006/relationships/slide" Target="slide8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slide" Target="slide31.xml"/><Relationship Id="rId1" Type="http://schemas.openxmlformats.org/officeDocument/2006/relationships/slide" Target="slide30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slide" Target="slide32.xml"/><Relationship Id="rId1" Type="http://schemas.openxmlformats.org/officeDocument/2006/relationships/slide" Target="slide29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slide" Target="slide43.xml"/><Relationship Id="rId2" Type="http://schemas.openxmlformats.org/officeDocument/2006/relationships/slide" Target="slide33.xml"/><Relationship Id="rId1" Type="http://schemas.openxmlformats.org/officeDocument/2006/relationships/slide" Target="slide15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slide" Target="slide45.xml"/><Relationship Id="rId2" Type="http://schemas.openxmlformats.org/officeDocument/2006/relationships/slide" Target="slide13.xml"/><Relationship Id="rId1" Type="http://schemas.openxmlformats.org/officeDocument/2006/relationships/slide" Target="slide4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slide" Target="slide26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7.xml"/><Relationship Id="rId3" Type="http://schemas.openxmlformats.org/officeDocument/2006/relationships/slide" Target="slide24.xml"/><Relationship Id="rId2" Type="http://schemas.openxmlformats.org/officeDocument/2006/relationships/slide" Target="slide18.xml"/><Relationship Id="rId1" Type="http://schemas.openxmlformats.org/officeDocument/2006/relationships/slide" Target="slide25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7.xml"/><Relationship Id="rId4" Type="http://schemas.openxmlformats.org/officeDocument/2006/relationships/slide" Target="slide33.xml"/><Relationship Id="rId3" Type="http://schemas.openxmlformats.org/officeDocument/2006/relationships/tags" Target="../tags/tag239.xml"/><Relationship Id="rId2" Type="http://schemas.openxmlformats.org/officeDocument/2006/relationships/slide" Target="slide34.xml"/><Relationship Id="rId1" Type="http://schemas.openxmlformats.org/officeDocument/2006/relationships/slide" Target="slide25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7.xml"/><Relationship Id="rId3" Type="http://schemas.openxmlformats.org/officeDocument/2006/relationships/slide" Target="slide35.xml"/><Relationship Id="rId2" Type="http://schemas.openxmlformats.org/officeDocument/2006/relationships/slide" Target="slide1.xml"/><Relationship Id="rId1" Type="http://schemas.openxmlformats.org/officeDocument/2006/relationships/slide" Target="slide26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247.xml"/><Relationship Id="rId8" Type="http://schemas.openxmlformats.org/officeDocument/2006/relationships/tags" Target="../tags/tag246.xml"/><Relationship Id="rId7" Type="http://schemas.openxmlformats.org/officeDocument/2006/relationships/tags" Target="../tags/tag245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4" Type="http://schemas.openxmlformats.org/officeDocument/2006/relationships/notesSlide" Target="../notesSlides/notesSlide20.xml"/><Relationship Id="rId43" Type="http://schemas.openxmlformats.org/officeDocument/2006/relationships/slideLayout" Target="../slideLayouts/slideLayout7.xml"/><Relationship Id="rId42" Type="http://schemas.openxmlformats.org/officeDocument/2006/relationships/slide" Target="slide31.xml"/><Relationship Id="rId41" Type="http://schemas.openxmlformats.org/officeDocument/2006/relationships/tags" Target="../tags/tag279.xml"/><Relationship Id="rId40" Type="http://schemas.openxmlformats.org/officeDocument/2006/relationships/tags" Target="../tags/tag278.xml"/><Relationship Id="rId4" Type="http://schemas.openxmlformats.org/officeDocument/2006/relationships/tags" Target="../tags/tag242.xml"/><Relationship Id="rId39" Type="http://schemas.openxmlformats.org/officeDocument/2006/relationships/tags" Target="../tags/tag277.xml"/><Relationship Id="rId38" Type="http://schemas.openxmlformats.org/officeDocument/2006/relationships/tags" Target="../tags/tag276.xml"/><Relationship Id="rId37" Type="http://schemas.openxmlformats.org/officeDocument/2006/relationships/tags" Target="../tags/tag275.xml"/><Relationship Id="rId36" Type="http://schemas.openxmlformats.org/officeDocument/2006/relationships/tags" Target="../tags/tag274.xml"/><Relationship Id="rId35" Type="http://schemas.openxmlformats.org/officeDocument/2006/relationships/tags" Target="../tags/tag273.xml"/><Relationship Id="rId34" Type="http://schemas.openxmlformats.org/officeDocument/2006/relationships/tags" Target="../tags/tag272.xml"/><Relationship Id="rId33" Type="http://schemas.openxmlformats.org/officeDocument/2006/relationships/tags" Target="../tags/tag271.xml"/><Relationship Id="rId32" Type="http://schemas.openxmlformats.org/officeDocument/2006/relationships/tags" Target="../tags/tag270.xml"/><Relationship Id="rId31" Type="http://schemas.openxmlformats.org/officeDocument/2006/relationships/tags" Target="../tags/tag269.xml"/><Relationship Id="rId30" Type="http://schemas.openxmlformats.org/officeDocument/2006/relationships/tags" Target="../tags/tag268.xml"/><Relationship Id="rId3" Type="http://schemas.openxmlformats.org/officeDocument/2006/relationships/tags" Target="../tags/tag241.xml"/><Relationship Id="rId29" Type="http://schemas.openxmlformats.org/officeDocument/2006/relationships/tags" Target="../tags/tag267.xml"/><Relationship Id="rId28" Type="http://schemas.openxmlformats.org/officeDocument/2006/relationships/tags" Target="../tags/tag266.xml"/><Relationship Id="rId27" Type="http://schemas.openxmlformats.org/officeDocument/2006/relationships/tags" Target="../tags/tag265.xml"/><Relationship Id="rId26" Type="http://schemas.openxmlformats.org/officeDocument/2006/relationships/tags" Target="../tags/tag264.xml"/><Relationship Id="rId25" Type="http://schemas.openxmlformats.org/officeDocument/2006/relationships/tags" Target="../tags/tag263.xml"/><Relationship Id="rId24" Type="http://schemas.openxmlformats.org/officeDocument/2006/relationships/tags" Target="../tags/tag262.xml"/><Relationship Id="rId23" Type="http://schemas.openxmlformats.org/officeDocument/2006/relationships/tags" Target="../tags/tag261.xml"/><Relationship Id="rId22" Type="http://schemas.openxmlformats.org/officeDocument/2006/relationships/tags" Target="../tags/tag260.xml"/><Relationship Id="rId21" Type="http://schemas.openxmlformats.org/officeDocument/2006/relationships/tags" Target="../tags/tag259.xml"/><Relationship Id="rId20" Type="http://schemas.openxmlformats.org/officeDocument/2006/relationships/tags" Target="../tags/tag258.xml"/><Relationship Id="rId2" Type="http://schemas.openxmlformats.org/officeDocument/2006/relationships/tags" Target="../tags/tag240.xml"/><Relationship Id="rId19" Type="http://schemas.openxmlformats.org/officeDocument/2006/relationships/tags" Target="../tags/tag257.xml"/><Relationship Id="rId18" Type="http://schemas.openxmlformats.org/officeDocument/2006/relationships/tags" Target="../tags/tag256.xml"/><Relationship Id="rId17" Type="http://schemas.openxmlformats.org/officeDocument/2006/relationships/tags" Target="../tags/tag255.xml"/><Relationship Id="rId16" Type="http://schemas.openxmlformats.org/officeDocument/2006/relationships/tags" Target="../tags/tag254.xml"/><Relationship Id="rId15" Type="http://schemas.openxmlformats.org/officeDocument/2006/relationships/tags" Target="../tags/tag253.xml"/><Relationship Id="rId14" Type="http://schemas.openxmlformats.org/officeDocument/2006/relationships/tags" Target="../tags/tag252.xml"/><Relationship Id="rId13" Type="http://schemas.openxmlformats.org/officeDocument/2006/relationships/tags" Target="../tags/tag251.xml"/><Relationship Id="rId12" Type="http://schemas.openxmlformats.org/officeDocument/2006/relationships/tags" Target="../tags/tag250.xml"/><Relationship Id="rId11" Type="http://schemas.openxmlformats.org/officeDocument/2006/relationships/tags" Target="../tags/tag249.xml"/><Relationship Id="rId10" Type="http://schemas.openxmlformats.org/officeDocument/2006/relationships/tags" Target="../tags/tag248.xml"/><Relationship Id="rId1" Type="http://schemas.openxmlformats.org/officeDocument/2006/relationships/slide" Target="slide27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7.xml"/><Relationship Id="rId3" Type="http://schemas.openxmlformats.org/officeDocument/2006/relationships/slide" Target="slide22.xml"/><Relationship Id="rId2" Type="http://schemas.openxmlformats.org/officeDocument/2006/relationships/slide" Target="slide40.xml"/><Relationship Id="rId1" Type="http://schemas.openxmlformats.org/officeDocument/2006/relationships/slide" Target="slide31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7.xml"/><Relationship Id="rId2" Type="http://schemas.openxmlformats.org/officeDocument/2006/relationships/slide" Target="slide40.xml"/><Relationship Id="rId1" Type="http://schemas.openxmlformats.org/officeDocument/2006/relationships/slide" Target="slide32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288.xml"/><Relationship Id="rId8" Type="http://schemas.openxmlformats.org/officeDocument/2006/relationships/tags" Target="../tags/tag287.xml"/><Relationship Id="rId73" Type="http://schemas.openxmlformats.org/officeDocument/2006/relationships/notesSlide" Target="../notesSlides/notesSlide23.xml"/><Relationship Id="rId72" Type="http://schemas.openxmlformats.org/officeDocument/2006/relationships/slideLayout" Target="../slideLayouts/slideLayout7.xml"/><Relationship Id="rId71" Type="http://schemas.openxmlformats.org/officeDocument/2006/relationships/slide" Target="slide46.xml"/><Relationship Id="rId70" Type="http://schemas.openxmlformats.org/officeDocument/2006/relationships/slide" Target="slide32.xml"/><Relationship Id="rId7" Type="http://schemas.openxmlformats.org/officeDocument/2006/relationships/tags" Target="../tags/tag286.xml"/><Relationship Id="rId69" Type="http://schemas.openxmlformats.org/officeDocument/2006/relationships/tags" Target="../tags/tag348.xml"/><Relationship Id="rId68" Type="http://schemas.openxmlformats.org/officeDocument/2006/relationships/tags" Target="../tags/tag347.xml"/><Relationship Id="rId67" Type="http://schemas.openxmlformats.org/officeDocument/2006/relationships/tags" Target="../tags/tag346.xml"/><Relationship Id="rId66" Type="http://schemas.openxmlformats.org/officeDocument/2006/relationships/tags" Target="../tags/tag345.xml"/><Relationship Id="rId65" Type="http://schemas.openxmlformats.org/officeDocument/2006/relationships/tags" Target="../tags/tag344.xml"/><Relationship Id="rId64" Type="http://schemas.openxmlformats.org/officeDocument/2006/relationships/tags" Target="../tags/tag343.xml"/><Relationship Id="rId63" Type="http://schemas.openxmlformats.org/officeDocument/2006/relationships/tags" Target="../tags/tag342.xml"/><Relationship Id="rId62" Type="http://schemas.openxmlformats.org/officeDocument/2006/relationships/tags" Target="../tags/tag341.xml"/><Relationship Id="rId61" Type="http://schemas.openxmlformats.org/officeDocument/2006/relationships/tags" Target="../tags/tag340.xml"/><Relationship Id="rId60" Type="http://schemas.openxmlformats.org/officeDocument/2006/relationships/tags" Target="../tags/tag339.xml"/><Relationship Id="rId6" Type="http://schemas.openxmlformats.org/officeDocument/2006/relationships/tags" Target="../tags/tag285.xml"/><Relationship Id="rId59" Type="http://schemas.openxmlformats.org/officeDocument/2006/relationships/tags" Target="../tags/tag338.xml"/><Relationship Id="rId58" Type="http://schemas.openxmlformats.org/officeDocument/2006/relationships/tags" Target="../tags/tag337.xml"/><Relationship Id="rId57" Type="http://schemas.openxmlformats.org/officeDocument/2006/relationships/tags" Target="../tags/tag336.xml"/><Relationship Id="rId56" Type="http://schemas.openxmlformats.org/officeDocument/2006/relationships/tags" Target="../tags/tag335.xml"/><Relationship Id="rId55" Type="http://schemas.openxmlformats.org/officeDocument/2006/relationships/tags" Target="../tags/tag334.xml"/><Relationship Id="rId54" Type="http://schemas.openxmlformats.org/officeDocument/2006/relationships/tags" Target="../tags/tag333.xml"/><Relationship Id="rId53" Type="http://schemas.openxmlformats.org/officeDocument/2006/relationships/tags" Target="../tags/tag332.xml"/><Relationship Id="rId52" Type="http://schemas.openxmlformats.org/officeDocument/2006/relationships/tags" Target="../tags/tag331.xml"/><Relationship Id="rId51" Type="http://schemas.openxmlformats.org/officeDocument/2006/relationships/tags" Target="../tags/tag330.xml"/><Relationship Id="rId50" Type="http://schemas.openxmlformats.org/officeDocument/2006/relationships/tags" Target="../tags/tag329.xml"/><Relationship Id="rId5" Type="http://schemas.openxmlformats.org/officeDocument/2006/relationships/tags" Target="../tags/tag284.xml"/><Relationship Id="rId49" Type="http://schemas.openxmlformats.org/officeDocument/2006/relationships/tags" Target="../tags/tag328.xml"/><Relationship Id="rId48" Type="http://schemas.openxmlformats.org/officeDocument/2006/relationships/tags" Target="../tags/tag327.xml"/><Relationship Id="rId47" Type="http://schemas.openxmlformats.org/officeDocument/2006/relationships/tags" Target="../tags/tag326.xml"/><Relationship Id="rId46" Type="http://schemas.openxmlformats.org/officeDocument/2006/relationships/tags" Target="../tags/tag325.xml"/><Relationship Id="rId45" Type="http://schemas.openxmlformats.org/officeDocument/2006/relationships/tags" Target="../tags/tag324.xml"/><Relationship Id="rId44" Type="http://schemas.openxmlformats.org/officeDocument/2006/relationships/tags" Target="../tags/tag323.xml"/><Relationship Id="rId43" Type="http://schemas.openxmlformats.org/officeDocument/2006/relationships/tags" Target="../tags/tag322.xml"/><Relationship Id="rId42" Type="http://schemas.openxmlformats.org/officeDocument/2006/relationships/tags" Target="../tags/tag321.xml"/><Relationship Id="rId41" Type="http://schemas.openxmlformats.org/officeDocument/2006/relationships/tags" Target="../tags/tag320.xml"/><Relationship Id="rId40" Type="http://schemas.openxmlformats.org/officeDocument/2006/relationships/tags" Target="../tags/tag319.xml"/><Relationship Id="rId4" Type="http://schemas.openxmlformats.org/officeDocument/2006/relationships/tags" Target="../tags/tag283.xml"/><Relationship Id="rId39" Type="http://schemas.openxmlformats.org/officeDocument/2006/relationships/tags" Target="../tags/tag318.xml"/><Relationship Id="rId38" Type="http://schemas.openxmlformats.org/officeDocument/2006/relationships/tags" Target="../tags/tag317.xml"/><Relationship Id="rId37" Type="http://schemas.openxmlformats.org/officeDocument/2006/relationships/tags" Target="../tags/tag316.xml"/><Relationship Id="rId36" Type="http://schemas.openxmlformats.org/officeDocument/2006/relationships/tags" Target="../tags/tag315.xml"/><Relationship Id="rId35" Type="http://schemas.openxmlformats.org/officeDocument/2006/relationships/tags" Target="../tags/tag314.xml"/><Relationship Id="rId34" Type="http://schemas.openxmlformats.org/officeDocument/2006/relationships/tags" Target="../tags/tag313.xml"/><Relationship Id="rId33" Type="http://schemas.openxmlformats.org/officeDocument/2006/relationships/tags" Target="../tags/tag312.xml"/><Relationship Id="rId32" Type="http://schemas.openxmlformats.org/officeDocument/2006/relationships/tags" Target="../tags/tag311.xml"/><Relationship Id="rId31" Type="http://schemas.openxmlformats.org/officeDocument/2006/relationships/tags" Target="../tags/tag310.xml"/><Relationship Id="rId30" Type="http://schemas.openxmlformats.org/officeDocument/2006/relationships/tags" Target="../tags/tag309.xml"/><Relationship Id="rId3" Type="http://schemas.openxmlformats.org/officeDocument/2006/relationships/tags" Target="../tags/tag282.xml"/><Relationship Id="rId29" Type="http://schemas.openxmlformats.org/officeDocument/2006/relationships/tags" Target="../tags/tag308.xml"/><Relationship Id="rId28" Type="http://schemas.openxmlformats.org/officeDocument/2006/relationships/tags" Target="../tags/tag307.xml"/><Relationship Id="rId27" Type="http://schemas.openxmlformats.org/officeDocument/2006/relationships/tags" Target="../tags/tag306.xml"/><Relationship Id="rId26" Type="http://schemas.openxmlformats.org/officeDocument/2006/relationships/tags" Target="../tags/tag305.xml"/><Relationship Id="rId25" Type="http://schemas.openxmlformats.org/officeDocument/2006/relationships/tags" Target="../tags/tag304.xml"/><Relationship Id="rId24" Type="http://schemas.openxmlformats.org/officeDocument/2006/relationships/tags" Target="../tags/tag303.xml"/><Relationship Id="rId23" Type="http://schemas.openxmlformats.org/officeDocument/2006/relationships/tags" Target="../tags/tag302.xml"/><Relationship Id="rId22" Type="http://schemas.openxmlformats.org/officeDocument/2006/relationships/tags" Target="../tags/tag301.xml"/><Relationship Id="rId21" Type="http://schemas.openxmlformats.org/officeDocument/2006/relationships/tags" Target="../tags/tag300.xml"/><Relationship Id="rId20" Type="http://schemas.openxmlformats.org/officeDocument/2006/relationships/tags" Target="../tags/tag299.xml"/><Relationship Id="rId2" Type="http://schemas.openxmlformats.org/officeDocument/2006/relationships/tags" Target="../tags/tag281.xml"/><Relationship Id="rId19" Type="http://schemas.openxmlformats.org/officeDocument/2006/relationships/tags" Target="../tags/tag298.xml"/><Relationship Id="rId18" Type="http://schemas.openxmlformats.org/officeDocument/2006/relationships/tags" Target="../tags/tag297.xml"/><Relationship Id="rId17" Type="http://schemas.openxmlformats.org/officeDocument/2006/relationships/tags" Target="../tags/tag296.xml"/><Relationship Id="rId16" Type="http://schemas.openxmlformats.org/officeDocument/2006/relationships/tags" Target="../tags/tag295.xml"/><Relationship Id="rId15" Type="http://schemas.openxmlformats.org/officeDocument/2006/relationships/tags" Target="../tags/tag294.xml"/><Relationship Id="rId14" Type="http://schemas.openxmlformats.org/officeDocument/2006/relationships/tags" Target="../tags/tag293.xml"/><Relationship Id="rId13" Type="http://schemas.openxmlformats.org/officeDocument/2006/relationships/tags" Target="../tags/tag292.xml"/><Relationship Id="rId12" Type="http://schemas.openxmlformats.org/officeDocument/2006/relationships/tags" Target="../tags/tag291.xml"/><Relationship Id="rId11" Type="http://schemas.openxmlformats.org/officeDocument/2006/relationships/tags" Target="../tags/tag290.xml"/><Relationship Id="rId10" Type="http://schemas.openxmlformats.org/officeDocument/2006/relationships/tags" Target="../tags/tag289.xml"/><Relationship Id="rId1" Type="http://schemas.openxmlformats.org/officeDocument/2006/relationships/tags" Target="../tags/tag280.xml"/></Relationships>
</file>

<file path=ppt/slides/_rels/slide37.xml.rels><?xml version="1.0" encoding="UTF-8" standalone="yes"?>
<Relationships xmlns="http://schemas.openxmlformats.org/package/2006/relationships"><Relationship Id="rId97" Type="http://schemas.openxmlformats.org/officeDocument/2006/relationships/slideLayout" Target="../slideLayouts/slideLayout7.xml"/><Relationship Id="rId96" Type="http://schemas.openxmlformats.org/officeDocument/2006/relationships/tags" Target="../tags/tag444.xml"/><Relationship Id="rId95" Type="http://schemas.openxmlformats.org/officeDocument/2006/relationships/tags" Target="../tags/tag443.xml"/><Relationship Id="rId94" Type="http://schemas.openxmlformats.org/officeDocument/2006/relationships/tags" Target="../tags/tag442.xml"/><Relationship Id="rId93" Type="http://schemas.openxmlformats.org/officeDocument/2006/relationships/tags" Target="../tags/tag441.xml"/><Relationship Id="rId92" Type="http://schemas.openxmlformats.org/officeDocument/2006/relationships/tags" Target="../tags/tag440.xml"/><Relationship Id="rId91" Type="http://schemas.openxmlformats.org/officeDocument/2006/relationships/tags" Target="../tags/tag439.xml"/><Relationship Id="rId90" Type="http://schemas.openxmlformats.org/officeDocument/2006/relationships/tags" Target="../tags/tag438.xml"/><Relationship Id="rId9" Type="http://schemas.openxmlformats.org/officeDocument/2006/relationships/tags" Target="../tags/tag357.xml"/><Relationship Id="rId89" Type="http://schemas.openxmlformats.org/officeDocument/2006/relationships/tags" Target="../tags/tag437.xml"/><Relationship Id="rId88" Type="http://schemas.openxmlformats.org/officeDocument/2006/relationships/tags" Target="../tags/tag436.xml"/><Relationship Id="rId87" Type="http://schemas.openxmlformats.org/officeDocument/2006/relationships/tags" Target="../tags/tag435.xml"/><Relationship Id="rId86" Type="http://schemas.openxmlformats.org/officeDocument/2006/relationships/tags" Target="../tags/tag434.xml"/><Relationship Id="rId85" Type="http://schemas.openxmlformats.org/officeDocument/2006/relationships/tags" Target="../tags/tag433.xml"/><Relationship Id="rId84" Type="http://schemas.openxmlformats.org/officeDocument/2006/relationships/tags" Target="../tags/tag432.xml"/><Relationship Id="rId83" Type="http://schemas.openxmlformats.org/officeDocument/2006/relationships/tags" Target="../tags/tag431.xml"/><Relationship Id="rId82" Type="http://schemas.openxmlformats.org/officeDocument/2006/relationships/tags" Target="../tags/tag430.xml"/><Relationship Id="rId81" Type="http://schemas.openxmlformats.org/officeDocument/2006/relationships/tags" Target="../tags/tag429.xml"/><Relationship Id="rId80" Type="http://schemas.openxmlformats.org/officeDocument/2006/relationships/tags" Target="../tags/tag428.xml"/><Relationship Id="rId8" Type="http://schemas.openxmlformats.org/officeDocument/2006/relationships/tags" Target="../tags/tag356.xml"/><Relationship Id="rId79" Type="http://schemas.openxmlformats.org/officeDocument/2006/relationships/tags" Target="../tags/tag427.xml"/><Relationship Id="rId78" Type="http://schemas.openxmlformats.org/officeDocument/2006/relationships/tags" Target="../tags/tag426.xml"/><Relationship Id="rId77" Type="http://schemas.openxmlformats.org/officeDocument/2006/relationships/tags" Target="../tags/tag425.xml"/><Relationship Id="rId76" Type="http://schemas.openxmlformats.org/officeDocument/2006/relationships/tags" Target="../tags/tag424.xml"/><Relationship Id="rId75" Type="http://schemas.openxmlformats.org/officeDocument/2006/relationships/tags" Target="../tags/tag423.xml"/><Relationship Id="rId74" Type="http://schemas.openxmlformats.org/officeDocument/2006/relationships/tags" Target="../tags/tag422.xml"/><Relationship Id="rId73" Type="http://schemas.openxmlformats.org/officeDocument/2006/relationships/tags" Target="../tags/tag421.xml"/><Relationship Id="rId72" Type="http://schemas.openxmlformats.org/officeDocument/2006/relationships/tags" Target="../tags/tag420.xml"/><Relationship Id="rId71" Type="http://schemas.openxmlformats.org/officeDocument/2006/relationships/tags" Target="../tags/tag419.xml"/><Relationship Id="rId70" Type="http://schemas.openxmlformats.org/officeDocument/2006/relationships/tags" Target="../tags/tag418.xml"/><Relationship Id="rId7" Type="http://schemas.openxmlformats.org/officeDocument/2006/relationships/tags" Target="../tags/tag355.xml"/><Relationship Id="rId69" Type="http://schemas.openxmlformats.org/officeDocument/2006/relationships/tags" Target="../tags/tag417.xml"/><Relationship Id="rId68" Type="http://schemas.openxmlformats.org/officeDocument/2006/relationships/tags" Target="../tags/tag416.xml"/><Relationship Id="rId67" Type="http://schemas.openxmlformats.org/officeDocument/2006/relationships/tags" Target="../tags/tag415.xml"/><Relationship Id="rId66" Type="http://schemas.openxmlformats.org/officeDocument/2006/relationships/tags" Target="../tags/tag414.xml"/><Relationship Id="rId65" Type="http://schemas.openxmlformats.org/officeDocument/2006/relationships/tags" Target="../tags/tag413.xml"/><Relationship Id="rId64" Type="http://schemas.openxmlformats.org/officeDocument/2006/relationships/tags" Target="../tags/tag412.xml"/><Relationship Id="rId63" Type="http://schemas.openxmlformats.org/officeDocument/2006/relationships/tags" Target="../tags/tag411.xml"/><Relationship Id="rId62" Type="http://schemas.openxmlformats.org/officeDocument/2006/relationships/tags" Target="../tags/tag410.xml"/><Relationship Id="rId61" Type="http://schemas.openxmlformats.org/officeDocument/2006/relationships/tags" Target="../tags/tag409.xml"/><Relationship Id="rId60" Type="http://schemas.openxmlformats.org/officeDocument/2006/relationships/tags" Target="../tags/tag408.xml"/><Relationship Id="rId6" Type="http://schemas.openxmlformats.org/officeDocument/2006/relationships/tags" Target="../tags/tag354.xml"/><Relationship Id="rId59" Type="http://schemas.openxmlformats.org/officeDocument/2006/relationships/tags" Target="../tags/tag407.xml"/><Relationship Id="rId58" Type="http://schemas.openxmlformats.org/officeDocument/2006/relationships/tags" Target="../tags/tag406.xml"/><Relationship Id="rId57" Type="http://schemas.openxmlformats.org/officeDocument/2006/relationships/tags" Target="../tags/tag405.xml"/><Relationship Id="rId56" Type="http://schemas.openxmlformats.org/officeDocument/2006/relationships/tags" Target="../tags/tag404.xml"/><Relationship Id="rId55" Type="http://schemas.openxmlformats.org/officeDocument/2006/relationships/tags" Target="../tags/tag403.xml"/><Relationship Id="rId54" Type="http://schemas.openxmlformats.org/officeDocument/2006/relationships/tags" Target="../tags/tag402.xml"/><Relationship Id="rId53" Type="http://schemas.openxmlformats.org/officeDocument/2006/relationships/tags" Target="../tags/tag401.xml"/><Relationship Id="rId52" Type="http://schemas.openxmlformats.org/officeDocument/2006/relationships/tags" Target="../tags/tag400.xml"/><Relationship Id="rId51" Type="http://schemas.openxmlformats.org/officeDocument/2006/relationships/tags" Target="../tags/tag399.xml"/><Relationship Id="rId50" Type="http://schemas.openxmlformats.org/officeDocument/2006/relationships/tags" Target="../tags/tag398.xml"/><Relationship Id="rId5" Type="http://schemas.openxmlformats.org/officeDocument/2006/relationships/tags" Target="../tags/tag353.xml"/><Relationship Id="rId49" Type="http://schemas.openxmlformats.org/officeDocument/2006/relationships/tags" Target="../tags/tag397.xml"/><Relationship Id="rId48" Type="http://schemas.openxmlformats.org/officeDocument/2006/relationships/tags" Target="../tags/tag396.xml"/><Relationship Id="rId47" Type="http://schemas.openxmlformats.org/officeDocument/2006/relationships/tags" Target="../tags/tag395.xml"/><Relationship Id="rId46" Type="http://schemas.openxmlformats.org/officeDocument/2006/relationships/tags" Target="../tags/tag394.xml"/><Relationship Id="rId45" Type="http://schemas.openxmlformats.org/officeDocument/2006/relationships/tags" Target="../tags/tag393.xml"/><Relationship Id="rId44" Type="http://schemas.openxmlformats.org/officeDocument/2006/relationships/tags" Target="../tags/tag392.xml"/><Relationship Id="rId43" Type="http://schemas.openxmlformats.org/officeDocument/2006/relationships/tags" Target="../tags/tag391.xml"/><Relationship Id="rId42" Type="http://schemas.openxmlformats.org/officeDocument/2006/relationships/tags" Target="../tags/tag390.xml"/><Relationship Id="rId41" Type="http://schemas.openxmlformats.org/officeDocument/2006/relationships/tags" Target="../tags/tag389.xml"/><Relationship Id="rId40" Type="http://schemas.openxmlformats.org/officeDocument/2006/relationships/tags" Target="../tags/tag388.xml"/><Relationship Id="rId4" Type="http://schemas.openxmlformats.org/officeDocument/2006/relationships/tags" Target="../tags/tag352.xml"/><Relationship Id="rId39" Type="http://schemas.openxmlformats.org/officeDocument/2006/relationships/tags" Target="../tags/tag387.xml"/><Relationship Id="rId38" Type="http://schemas.openxmlformats.org/officeDocument/2006/relationships/tags" Target="../tags/tag386.xml"/><Relationship Id="rId37" Type="http://schemas.openxmlformats.org/officeDocument/2006/relationships/tags" Target="../tags/tag385.xml"/><Relationship Id="rId36" Type="http://schemas.openxmlformats.org/officeDocument/2006/relationships/tags" Target="../tags/tag384.xml"/><Relationship Id="rId35" Type="http://schemas.openxmlformats.org/officeDocument/2006/relationships/tags" Target="../tags/tag383.xml"/><Relationship Id="rId34" Type="http://schemas.openxmlformats.org/officeDocument/2006/relationships/tags" Target="../tags/tag382.xml"/><Relationship Id="rId33" Type="http://schemas.openxmlformats.org/officeDocument/2006/relationships/tags" Target="../tags/tag381.xml"/><Relationship Id="rId32" Type="http://schemas.openxmlformats.org/officeDocument/2006/relationships/tags" Target="../tags/tag380.xml"/><Relationship Id="rId31" Type="http://schemas.openxmlformats.org/officeDocument/2006/relationships/tags" Target="../tags/tag379.xml"/><Relationship Id="rId30" Type="http://schemas.openxmlformats.org/officeDocument/2006/relationships/tags" Target="../tags/tag378.xml"/><Relationship Id="rId3" Type="http://schemas.openxmlformats.org/officeDocument/2006/relationships/tags" Target="../tags/tag351.xml"/><Relationship Id="rId29" Type="http://schemas.openxmlformats.org/officeDocument/2006/relationships/tags" Target="../tags/tag377.xml"/><Relationship Id="rId28" Type="http://schemas.openxmlformats.org/officeDocument/2006/relationships/tags" Target="../tags/tag376.xml"/><Relationship Id="rId27" Type="http://schemas.openxmlformats.org/officeDocument/2006/relationships/tags" Target="../tags/tag375.xml"/><Relationship Id="rId26" Type="http://schemas.openxmlformats.org/officeDocument/2006/relationships/tags" Target="../tags/tag374.xml"/><Relationship Id="rId25" Type="http://schemas.openxmlformats.org/officeDocument/2006/relationships/tags" Target="../tags/tag373.xml"/><Relationship Id="rId24" Type="http://schemas.openxmlformats.org/officeDocument/2006/relationships/tags" Target="../tags/tag372.xml"/><Relationship Id="rId23" Type="http://schemas.openxmlformats.org/officeDocument/2006/relationships/tags" Target="../tags/tag371.xml"/><Relationship Id="rId22" Type="http://schemas.openxmlformats.org/officeDocument/2006/relationships/tags" Target="../tags/tag370.xml"/><Relationship Id="rId21" Type="http://schemas.openxmlformats.org/officeDocument/2006/relationships/tags" Target="../tags/tag369.xml"/><Relationship Id="rId20" Type="http://schemas.openxmlformats.org/officeDocument/2006/relationships/tags" Target="../tags/tag368.xml"/><Relationship Id="rId2" Type="http://schemas.openxmlformats.org/officeDocument/2006/relationships/tags" Target="../tags/tag350.xml"/><Relationship Id="rId19" Type="http://schemas.openxmlformats.org/officeDocument/2006/relationships/tags" Target="../tags/tag367.xml"/><Relationship Id="rId18" Type="http://schemas.openxmlformats.org/officeDocument/2006/relationships/tags" Target="../tags/tag366.xml"/><Relationship Id="rId17" Type="http://schemas.openxmlformats.org/officeDocument/2006/relationships/tags" Target="../tags/tag365.xml"/><Relationship Id="rId16" Type="http://schemas.openxmlformats.org/officeDocument/2006/relationships/tags" Target="../tags/tag364.xml"/><Relationship Id="rId15" Type="http://schemas.openxmlformats.org/officeDocument/2006/relationships/tags" Target="../tags/tag363.xml"/><Relationship Id="rId14" Type="http://schemas.openxmlformats.org/officeDocument/2006/relationships/tags" Target="../tags/tag362.xml"/><Relationship Id="rId13" Type="http://schemas.openxmlformats.org/officeDocument/2006/relationships/tags" Target="../tags/tag361.xml"/><Relationship Id="rId12" Type="http://schemas.openxmlformats.org/officeDocument/2006/relationships/tags" Target="../tags/tag360.xml"/><Relationship Id="rId11" Type="http://schemas.openxmlformats.org/officeDocument/2006/relationships/tags" Target="../tags/tag359.xml"/><Relationship Id="rId10" Type="http://schemas.openxmlformats.org/officeDocument/2006/relationships/tags" Target="../tags/tag358.xml"/><Relationship Id="rId1" Type="http://schemas.openxmlformats.org/officeDocument/2006/relationships/tags" Target="../tags/tag349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453.xml"/><Relationship Id="rId8" Type="http://schemas.openxmlformats.org/officeDocument/2006/relationships/tags" Target="../tags/tag452.xml"/><Relationship Id="rId7" Type="http://schemas.openxmlformats.org/officeDocument/2006/relationships/tags" Target="../tags/tag451.xml"/><Relationship Id="rId6" Type="http://schemas.openxmlformats.org/officeDocument/2006/relationships/tags" Target="../tags/tag450.xml"/><Relationship Id="rId5" Type="http://schemas.openxmlformats.org/officeDocument/2006/relationships/tags" Target="../tags/tag449.xml"/><Relationship Id="rId40" Type="http://schemas.openxmlformats.org/officeDocument/2006/relationships/slideLayout" Target="../slideLayouts/slideLayout7.xml"/><Relationship Id="rId4" Type="http://schemas.openxmlformats.org/officeDocument/2006/relationships/tags" Target="../tags/tag448.xml"/><Relationship Id="rId39" Type="http://schemas.openxmlformats.org/officeDocument/2006/relationships/tags" Target="../tags/tag483.xml"/><Relationship Id="rId38" Type="http://schemas.openxmlformats.org/officeDocument/2006/relationships/tags" Target="../tags/tag482.xml"/><Relationship Id="rId37" Type="http://schemas.openxmlformats.org/officeDocument/2006/relationships/tags" Target="../tags/tag481.xml"/><Relationship Id="rId36" Type="http://schemas.openxmlformats.org/officeDocument/2006/relationships/tags" Target="../tags/tag480.xml"/><Relationship Id="rId35" Type="http://schemas.openxmlformats.org/officeDocument/2006/relationships/tags" Target="../tags/tag479.xml"/><Relationship Id="rId34" Type="http://schemas.openxmlformats.org/officeDocument/2006/relationships/tags" Target="../tags/tag478.xml"/><Relationship Id="rId33" Type="http://schemas.openxmlformats.org/officeDocument/2006/relationships/tags" Target="../tags/tag477.xml"/><Relationship Id="rId32" Type="http://schemas.openxmlformats.org/officeDocument/2006/relationships/tags" Target="../tags/tag476.xml"/><Relationship Id="rId31" Type="http://schemas.openxmlformats.org/officeDocument/2006/relationships/tags" Target="../tags/tag475.xml"/><Relationship Id="rId30" Type="http://schemas.openxmlformats.org/officeDocument/2006/relationships/tags" Target="../tags/tag474.xml"/><Relationship Id="rId3" Type="http://schemas.openxmlformats.org/officeDocument/2006/relationships/tags" Target="../tags/tag447.xml"/><Relationship Id="rId29" Type="http://schemas.openxmlformats.org/officeDocument/2006/relationships/tags" Target="../tags/tag473.xml"/><Relationship Id="rId28" Type="http://schemas.openxmlformats.org/officeDocument/2006/relationships/tags" Target="../tags/tag472.xml"/><Relationship Id="rId27" Type="http://schemas.openxmlformats.org/officeDocument/2006/relationships/tags" Target="../tags/tag471.xml"/><Relationship Id="rId26" Type="http://schemas.openxmlformats.org/officeDocument/2006/relationships/tags" Target="../tags/tag470.xml"/><Relationship Id="rId25" Type="http://schemas.openxmlformats.org/officeDocument/2006/relationships/tags" Target="../tags/tag469.xml"/><Relationship Id="rId24" Type="http://schemas.openxmlformats.org/officeDocument/2006/relationships/tags" Target="../tags/tag468.xml"/><Relationship Id="rId23" Type="http://schemas.openxmlformats.org/officeDocument/2006/relationships/tags" Target="../tags/tag467.xml"/><Relationship Id="rId22" Type="http://schemas.openxmlformats.org/officeDocument/2006/relationships/tags" Target="../tags/tag466.xml"/><Relationship Id="rId21" Type="http://schemas.openxmlformats.org/officeDocument/2006/relationships/tags" Target="../tags/tag465.xml"/><Relationship Id="rId20" Type="http://schemas.openxmlformats.org/officeDocument/2006/relationships/tags" Target="../tags/tag464.xml"/><Relationship Id="rId2" Type="http://schemas.openxmlformats.org/officeDocument/2006/relationships/tags" Target="../tags/tag446.xml"/><Relationship Id="rId19" Type="http://schemas.openxmlformats.org/officeDocument/2006/relationships/tags" Target="../tags/tag463.xml"/><Relationship Id="rId18" Type="http://schemas.openxmlformats.org/officeDocument/2006/relationships/tags" Target="../tags/tag462.xml"/><Relationship Id="rId17" Type="http://schemas.openxmlformats.org/officeDocument/2006/relationships/tags" Target="../tags/tag461.xml"/><Relationship Id="rId16" Type="http://schemas.openxmlformats.org/officeDocument/2006/relationships/tags" Target="../tags/tag460.xml"/><Relationship Id="rId15" Type="http://schemas.openxmlformats.org/officeDocument/2006/relationships/tags" Target="../tags/tag459.xml"/><Relationship Id="rId14" Type="http://schemas.openxmlformats.org/officeDocument/2006/relationships/tags" Target="../tags/tag458.xml"/><Relationship Id="rId13" Type="http://schemas.openxmlformats.org/officeDocument/2006/relationships/tags" Target="../tags/tag457.xml"/><Relationship Id="rId12" Type="http://schemas.openxmlformats.org/officeDocument/2006/relationships/tags" Target="../tags/tag456.xml"/><Relationship Id="rId11" Type="http://schemas.openxmlformats.org/officeDocument/2006/relationships/tags" Target="../tags/tag455.xml"/><Relationship Id="rId10" Type="http://schemas.openxmlformats.org/officeDocument/2006/relationships/tags" Target="../tags/tag454.xml"/><Relationship Id="rId1" Type="http://schemas.openxmlformats.org/officeDocument/2006/relationships/tags" Target="../tags/tag445.xml"/></Relationships>
</file>

<file path=ppt/slides/_rels/slide39.xml.rels><?xml version="1.0" encoding="UTF-8" standalone="yes"?>
<Relationships xmlns="http://schemas.openxmlformats.org/package/2006/relationships"><Relationship Id="rId90" Type="http://schemas.openxmlformats.org/officeDocument/2006/relationships/notesSlide" Target="../notesSlides/notesSlide24.xml"/><Relationship Id="rId9" Type="http://schemas.openxmlformats.org/officeDocument/2006/relationships/tags" Target="../tags/tag492.xml"/><Relationship Id="rId89" Type="http://schemas.openxmlformats.org/officeDocument/2006/relationships/slideLayout" Target="../slideLayouts/slideLayout7.xml"/><Relationship Id="rId88" Type="http://schemas.openxmlformats.org/officeDocument/2006/relationships/tags" Target="../tags/tag571.xml"/><Relationship Id="rId87" Type="http://schemas.openxmlformats.org/officeDocument/2006/relationships/tags" Target="../tags/tag570.xml"/><Relationship Id="rId86" Type="http://schemas.openxmlformats.org/officeDocument/2006/relationships/tags" Target="../tags/tag569.xml"/><Relationship Id="rId85" Type="http://schemas.openxmlformats.org/officeDocument/2006/relationships/tags" Target="../tags/tag568.xml"/><Relationship Id="rId84" Type="http://schemas.openxmlformats.org/officeDocument/2006/relationships/tags" Target="../tags/tag567.xml"/><Relationship Id="rId83" Type="http://schemas.openxmlformats.org/officeDocument/2006/relationships/tags" Target="../tags/tag566.xml"/><Relationship Id="rId82" Type="http://schemas.openxmlformats.org/officeDocument/2006/relationships/tags" Target="../tags/tag565.xml"/><Relationship Id="rId81" Type="http://schemas.openxmlformats.org/officeDocument/2006/relationships/tags" Target="../tags/tag564.xml"/><Relationship Id="rId80" Type="http://schemas.openxmlformats.org/officeDocument/2006/relationships/tags" Target="../tags/tag563.xml"/><Relationship Id="rId8" Type="http://schemas.openxmlformats.org/officeDocument/2006/relationships/tags" Target="../tags/tag491.xml"/><Relationship Id="rId79" Type="http://schemas.openxmlformats.org/officeDocument/2006/relationships/tags" Target="../tags/tag562.xml"/><Relationship Id="rId78" Type="http://schemas.openxmlformats.org/officeDocument/2006/relationships/tags" Target="../tags/tag561.xml"/><Relationship Id="rId77" Type="http://schemas.openxmlformats.org/officeDocument/2006/relationships/tags" Target="../tags/tag560.xml"/><Relationship Id="rId76" Type="http://schemas.openxmlformats.org/officeDocument/2006/relationships/tags" Target="../tags/tag559.xml"/><Relationship Id="rId75" Type="http://schemas.openxmlformats.org/officeDocument/2006/relationships/tags" Target="../tags/tag558.xml"/><Relationship Id="rId74" Type="http://schemas.openxmlformats.org/officeDocument/2006/relationships/tags" Target="../tags/tag557.xml"/><Relationship Id="rId73" Type="http://schemas.openxmlformats.org/officeDocument/2006/relationships/tags" Target="../tags/tag556.xml"/><Relationship Id="rId72" Type="http://schemas.openxmlformats.org/officeDocument/2006/relationships/tags" Target="../tags/tag555.xml"/><Relationship Id="rId71" Type="http://schemas.openxmlformats.org/officeDocument/2006/relationships/tags" Target="../tags/tag554.xml"/><Relationship Id="rId70" Type="http://schemas.openxmlformats.org/officeDocument/2006/relationships/tags" Target="../tags/tag553.xml"/><Relationship Id="rId7" Type="http://schemas.openxmlformats.org/officeDocument/2006/relationships/tags" Target="../tags/tag490.xml"/><Relationship Id="rId69" Type="http://schemas.openxmlformats.org/officeDocument/2006/relationships/tags" Target="../tags/tag552.xml"/><Relationship Id="rId68" Type="http://schemas.openxmlformats.org/officeDocument/2006/relationships/tags" Target="../tags/tag551.xml"/><Relationship Id="rId67" Type="http://schemas.openxmlformats.org/officeDocument/2006/relationships/tags" Target="../tags/tag550.xml"/><Relationship Id="rId66" Type="http://schemas.openxmlformats.org/officeDocument/2006/relationships/tags" Target="../tags/tag549.xml"/><Relationship Id="rId65" Type="http://schemas.openxmlformats.org/officeDocument/2006/relationships/tags" Target="../tags/tag548.xml"/><Relationship Id="rId64" Type="http://schemas.openxmlformats.org/officeDocument/2006/relationships/tags" Target="../tags/tag547.xml"/><Relationship Id="rId63" Type="http://schemas.openxmlformats.org/officeDocument/2006/relationships/tags" Target="../tags/tag546.xml"/><Relationship Id="rId62" Type="http://schemas.openxmlformats.org/officeDocument/2006/relationships/tags" Target="../tags/tag545.xml"/><Relationship Id="rId61" Type="http://schemas.openxmlformats.org/officeDocument/2006/relationships/tags" Target="../tags/tag544.xml"/><Relationship Id="rId60" Type="http://schemas.openxmlformats.org/officeDocument/2006/relationships/tags" Target="../tags/tag543.xml"/><Relationship Id="rId6" Type="http://schemas.openxmlformats.org/officeDocument/2006/relationships/tags" Target="../tags/tag489.xml"/><Relationship Id="rId59" Type="http://schemas.openxmlformats.org/officeDocument/2006/relationships/tags" Target="../tags/tag542.xml"/><Relationship Id="rId58" Type="http://schemas.openxmlformats.org/officeDocument/2006/relationships/tags" Target="../tags/tag541.xml"/><Relationship Id="rId57" Type="http://schemas.openxmlformats.org/officeDocument/2006/relationships/tags" Target="../tags/tag540.xml"/><Relationship Id="rId56" Type="http://schemas.openxmlformats.org/officeDocument/2006/relationships/tags" Target="../tags/tag539.xml"/><Relationship Id="rId55" Type="http://schemas.openxmlformats.org/officeDocument/2006/relationships/tags" Target="../tags/tag538.xml"/><Relationship Id="rId54" Type="http://schemas.openxmlformats.org/officeDocument/2006/relationships/tags" Target="../tags/tag537.xml"/><Relationship Id="rId53" Type="http://schemas.openxmlformats.org/officeDocument/2006/relationships/tags" Target="../tags/tag536.xml"/><Relationship Id="rId52" Type="http://schemas.openxmlformats.org/officeDocument/2006/relationships/tags" Target="../tags/tag535.xml"/><Relationship Id="rId51" Type="http://schemas.openxmlformats.org/officeDocument/2006/relationships/tags" Target="../tags/tag534.xml"/><Relationship Id="rId50" Type="http://schemas.openxmlformats.org/officeDocument/2006/relationships/tags" Target="../tags/tag533.xml"/><Relationship Id="rId5" Type="http://schemas.openxmlformats.org/officeDocument/2006/relationships/tags" Target="../tags/tag488.xml"/><Relationship Id="rId49" Type="http://schemas.openxmlformats.org/officeDocument/2006/relationships/tags" Target="../tags/tag532.xml"/><Relationship Id="rId48" Type="http://schemas.openxmlformats.org/officeDocument/2006/relationships/tags" Target="../tags/tag531.xml"/><Relationship Id="rId47" Type="http://schemas.openxmlformats.org/officeDocument/2006/relationships/tags" Target="../tags/tag530.xml"/><Relationship Id="rId46" Type="http://schemas.openxmlformats.org/officeDocument/2006/relationships/tags" Target="../tags/tag529.xml"/><Relationship Id="rId45" Type="http://schemas.openxmlformats.org/officeDocument/2006/relationships/tags" Target="../tags/tag528.xml"/><Relationship Id="rId44" Type="http://schemas.openxmlformats.org/officeDocument/2006/relationships/tags" Target="../tags/tag527.xml"/><Relationship Id="rId43" Type="http://schemas.openxmlformats.org/officeDocument/2006/relationships/tags" Target="../tags/tag526.xml"/><Relationship Id="rId42" Type="http://schemas.openxmlformats.org/officeDocument/2006/relationships/tags" Target="../tags/tag525.xml"/><Relationship Id="rId41" Type="http://schemas.openxmlformats.org/officeDocument/2006/relationships/tags" Target="../tags/tag524.xml"/><Relationship Id="rId40" Type="http://schemas.openxmlformats.org/officeDocument/2006/relationships/tags" Target="../tags/tag523.xml"/><Relationship Id="rId4" Type="http://schemas.openxmlformats.org/officeDocument/2006/relationships/tags" Target="../tags/tag487.xml"/><Relationship Id="rId39" Type="http://schemas.openxmlformats.org/officeDocument/2006/relationships/tags" Target="../tags/tag522.xml"/><Relationship Id="rId38" Type="http://schemas.openxmlformats.org/officeDocument/2006/relationships/tags" Target="../tags/tag521.xml"/><Relationship Id="rId37" Type="http://schemas.openxmlformats.org/officeDocument/2006/relationships/tags" Target="../tags/tag520.xml"/><Relationship Id="rId36" Type="http://schemas.openxmlformats.org/officeDocument/2006/relationships/tags" Target="../tags/tag519.xml"/><Relationship Id="rId35" Type="http://schemas.openxmlformats.org/officeDocument/2006/relationships/tags" Target="../tags/tag518.xml"/><Relationship Id="rId34" Type="http://schemas.openxmlformats.org/officeDocument/2006/relationships/tags" Target="../tags/tag517.xml"/><Relationship Id="rId33" Type="http://schemas.openxmlformats.org/officeDocument/2006/relationships/tags" Target="../tags/tag516.xml"/><Relationship Id="rId32" Type="http://schemas.openxmlformats.org/officeDocument/2006/relationships/tags" Target="../tags/tag515.xml"/><Relationship Id="rId31" Type="http://schemas.openxmlformats.org/officeDocument/2006/relationships/tags" Target="../tags/tag514.xml"/><Relationship Id="rId30" Type="http://schemas.openxmlformats.org/officeDocument/2006/relationships/tags" Target="../tags/tag513.xml"/><Relationship Id="rId3" Type="http://schemas.openxmlformats.org/officeDocument/2006/relationships/tags" Target="../tags/tag486.xml"/><Relationship Id="rId29" Type="http://schemas.openxmlformats.org/officeDocument/2006/relationships/tags" Target="../tags/tag512.xml"/><Relationship Id="rId28" Type="http://schemas.openxmlformats.org/officeDocument/2006/relationships/tags" Target="../tags/tag511.xml"/><Relationship Id="rId27" Type="http://schemas.openxmlformats.org/officeDocument/2006/relationships/tags" Target="../tags/tag510.xml"/><Relationship Id="rId26" Type="http://schemas.openxmlformats.org/officeDocument/2006/relationships/tags" Target="../tags/tag509.xml"/><Relationship Id="rId25" Type="http://schemas.openxmlformats.org/officeDocument/2006/relationships/tags" Target="../tags/tag508.xml"/><Relationship Id="rId24" Type="http://schemas.openxmlformats.org/officeDocument/2006/relationships/tags" Target="../tags/tag507.xml"/><Relationship Id="rId23" Type="http://schemas.openxmlformats.org/officeDocument/2006/relationships/tags" Target="../tags/tag506.xml"/><Relationship Id="rId22" Type="http://schemas.openxmlformats.org/officeDocument/2006/relationships/tags" Target="../tags/tag505.xml"/><Relationship Id="rId21" Type="http://schemas.openxmlformats.org/officeDocument/2006/relationships/tags" Target="../tags/tag504.xml"/><Relationship Id="rId20" Type="http://schemas.openxmlformats.org/officeDocument/2006/relationships/tags" Target="../tags/tag503.xml"/><Relationship Id="rId2" Type="http://schemas.openxmlformats.org/officeDocument/2006/relationships/tags" Target="../tags/tag485.xml"/><Relationship Id="rId19" Type="http://schemas.openxmlformats.org/officeDocument/2006/relationships/tags" Target="../tags/tag502.xml"/><Relationship Id="rId18" Type="http://schemas.openxmlformats.org/officeDocument/2006/relationships/tags" Target="../tags/tag501.xml"/><Relationship Id="rId17" Type="http://schemas.openxmlformats.org/officeDocument/2006/relationships/tags" Target="../tags/tag500.xml"/><Relationship Id="rId16" Type="http://schemas.openxmlformats.org/officeDocument/2006/relationships/tags" Target="../tags/tag499.xml"/><Relationship Id="rId15" Type="http://schemas.openxmlformats.org/officeDocument/2006/relationships/tags" Target="../tags/tag498.xml"/><Relationship Id="rId14" Type="http://schemas.openxmlformats.org/officeDocument/2006/relationships/tags" Target="../tags/tag497.xml"/><Relationship Id="rId13" Type="http://schemas.openxmlformats.org/officeDocument/2006/relationships/tags" Target="../tags/tag496.xml"/><Relationship Id="rId12" Type="http://schemas.openxmlformats.org/officeDocument/2006/relationships/tags" Target="../tags/tag495.xml"/><Relationship Id="rId11" Type="http://schemas.openxmlformats.org/officeDocument/2006/relationships/tags" Target="../tags/tag494.xml"/><Relationship Id="rId10" Type="http://schemas.openxmlformats.org/officeDocument/2006/relationships/tags" Target="../tags/tag493.xml"/><Relationship Id="rId1" Type="http://schemas.openxmlformats.org/officeDocument/2006/relationships/tags" Target="../tags/tag484.xml"/></Relationships>
</file>

<file path=ppt/slides/_rels/slide40.xml.rels><?xml version="1.0" encoding="UTF-8" standalone="yes"?>
<Relationships xmlns="http://schemas.openxmlformats.org/package/2006/relationships"><Relationship Id="rId99" Type="http://schemas.openxmlformats.org/officeDocument/2006/relationships/tags" Target="../tags/tag670.xml"/><Relationship Id="rId98" Type="http://schemas.openxmlformats.org/officeDocument/2006/relationships/tags" Target="../tags/tag669.xml"/><Relationship Id="rId97" Type="http://schemas.openxmlformats.org/officeDocument/2006/relationships/tags" Target="../tags/tag668.xml"/><Relationship Id="rId96" Type="http://schemas.openxmlformats.org/officeDocument/2006/relationships/tags" Target="../tags/tag667.xml"/><Relationship Id="rId95" Type="http://schemas.openxmlformats.org/officeDocument/2006/relationships/tags" Target="../tags/tag666.xml"/><Relationship Id="rId94" Type="http://schemas.openxmlformats.org/officeDocument/2006/relationships/tags" Target="../tags/tag665.xml"/><Relationship Id="rId93" Type="http://schemas.openxmlformats.org/officeDocument/2006/relationships/tags" Target="../tags/tag664.xml"/><Relationship Id="rId92" Type="http://schemas.openxmlformats.org/officeDocument/2006/relationships/tags" Target="../tags/tag663.xml"/><Relationship Id="rId91" Type="http://schemas.openxmlformats.org/officeDocument/2006/relationships/tags" Target="../tags/tag662.xml"/><Relationship Id="rId90" Type="http://schemas.openxmlformats.org/officeDocument/2006/relationships/tags" Target="../tags/tag661.xml"/><Relationship Id="rId9" Type="http://schemas.openxmlformats.org/officeDocument/2006/relationships/tags" Target="../tags/tag580.xml"/><Relationship Id="rId89" Type="http://schemas.openxmlformats.org/officeDocument/2006/relationships/tags" Target="../tags/tag660.xml"/><Relationship Id="rId88" Type="http://schemas.openxmlformats.org/officeDocument/2006/relationships/tags" Target="../tags/tag659.xml"/><Relationship Id="rId87" Type="http://schemas.openxmlformats.org/officeDocument/2006/relationships/tags" Target="../tags/tag658.xml"/><Relationship Id="rId86" Type="http://schemas.openxmlformats.org/officeDocument/2006/relationships/tags" Target="../tags/tag657.xml"/><Relationship Id="rId85" Type="http://schemas.openxmlformats.org/officeDocument/2006/relationships/tags" Target="../tags/tag656.xml"/><Relationship Id="rId84" Type="http://schemas.openxmlformats.org/officeDocument/2006/relationships/tags" Target="../tags/tag655.xml"/><Relationship Id="rId83" Type="http://schemas.openxmlformats.org/officeDocument/2006/relationships/tags" Target="../tags/tag654.xml"/><Relationship Id="rId82" Type="http://schemas.openxmlformats.org/officeDocument/2006/relationships/tags" Target="../tags/tag653.xml"/><Relationship Id="rId81" Type="http://schemas.openxmlformats.org/officeDocument/2006/relationships/tags" Target="../tags/tag652.xml"/><Relationship Id="rId80" Type="http://schemas.openxmlformats.org/officeDocument/2006/relationships/tags" Target="../tags/tag651.xml"/><Relationship Id="rId8" Type="http://schemas.openxmlformats.org/officeDocument/2006/relationships/tags" Target="../tags/tag579.xml"/><Relationship Id="rId79" Type="http://schemas.openxmlformats.org/officeDocument/2006/relationships/tags" Target="../tags/tag650.xml"/><Relationship Id="rId78" Type="http://schemas.openxmlformats.org/officeDocument/2006/relationships/tags" Target="../tags/tag649.xml"/><Relationship Id="rId77" Type="http://schemas.openxmlformats.org/officeDocument/2006/relationships/tags" Target="../tags/tag648.xml"/><Relationship Id="rId76" Type="http://schemas.openxmlformats.org/officeDocument/2006/relationships/tags" Target="../tags/tag647.xml"/><Relationship Id="rId75" Type="http://schemas.openxmlformats.org/officeDocument/2006/relationships/tags" Target="../tags/tag646.xml"/><Relationship Id="rId74" Type="http://schemas.openxmlformats.org/officeDocument/2006/relationships/tags" Target="../tags/tag645.xml"/><Relationship Id="rId73" Type="http://schemas.openxmlformats.org/officeDocument/2006/relationships/tags" Target="../tags/tag644.xml"/><Relationship Id="rId72" Type="http://schemas.openxmlformats.org/officeDocument/2006/relationships/tags" Target="../tags/tag643.xml"/><Relationship Id="rId71" Type="http://schemas.openxmlformats.org/officeDocument/2006/relationships/tags" Target="../tags/tag642.xml"/><Relationship Id="rId70" Type="http://schemas.openxmlformats.org/officeDocument/2006/relationships/tags" Target="../tags/tag641.xml"/><Relationship Id="rId7" Type="http://schemas.openxmlformats.org/officeDocument/2006/relationships/tags" Target="../tags/tag578.xml"/><Relationship Id="rId69" Type="http://schemas.openxmlformats.org/officeDocument/2006/relationships/tags" Target="../tags/tag640.xml"/><Relationship Id="rId68" Type="http://schemas.openxmlformats.org/officeDocument/2006/relationships/tags" Target="../tags/tag639.xml"/><Relationship Id="rId67" Type="http://schemas.openxmlformats.org/officeDocument/2006/relationships/tags" Target="../tags/tag638.xml"/><Relationship Id="rId66" Type="http://schemas.openxmlformats.org/officeDocument/2006/relationships/tags" Target="../tags/tag637.xml"/><Relationship Id="rId65" Type="http://schemas.openxmlformats.org/officeDocument/2006/relationships/tags" Target="../tags/tag636.xml"/><Relationship Id="rId64" Type="http://schemas.openxmlformats.org/officeDocument/2006/relationships/tags" Target="../tags/tag635.xml"/><Relationship Id="rId63" Type="http://schemas.openxmlformats.org/officeDocument/2006/relationships/tags" Target="../tags/tag634.xml"/><Relationship Id="rId62" Type="http://schemas.openxmlformats.org/officeDocument/2006/relationships/tags" Target="../tags/tag633.xml"/><Relationship Id="rId61" Type="http://schemas.openxmlformats.org/officeDocument/2006/relationships/tags" Target="../tags/tag632.xml"/><Relationship Id="rId60" Type="http://schemas.openxmlformats.org/officeDocument/2006/relationships/tags" Target="../tags/tag631.xml"/><Relationship Id="rId6" Type="http://schemas.openxmlformats.org/officeDocument/2006/relationships/tags" Target="../tags/tag577.xml"/><Relationship Id="rId59" Type="http://schemas.openxmlformats.org/officeDocument/2006/relationships/tags" Target="../tags/tag630.xml"/><Relationship Id="rId58" Type="http://schemas.openxmlformats.org/officeDocument/2006/relationships/tags" Target="../tags/tag629.xml"/><Relationship Id="rId57" Type="http://schemas.openxmlformats.org/officeDocument/2006/relationships/tags" Target="../tags/tag628.xml"/><Relationship Id="rId56" Type="http://schemas.openxmlformats.org/officeDocument/2006/relationships/tags" Target="../tags/tag627.xml"/><Relationship Id="rId55" Type="http://schemas.openxmlformats.org/officeDocument/2006/relationships/tags" Target="../tags/tag626.xml"/><Relationship Id="rId54" Type="http://schemas.openxmlformats.org/officeDocument/2006/relationships/tags" Target="../tags/tag625.xml"/><Relationship Id="rId53" Type="http://schemas.openxmlformats.org/officeDocument/2006/relationships/tags" Target="../tags/tag624.xml"/><Relationship Id="rId52" Type="http://schemas.openxmlformats.org/officeDocument/2006/relationships/tags" Target="../tags/tag623.xml"/><Relationship Id="rId51" Type="http://schemas.openxmlformats.org/officeDocument/2006/relationships/tags" Target="../tags/tag622.xml"/><Relationship Id="rId50" Type="http://schemas.openxmlformats.org/officeDocument/2006/relationships/tags" Target="../tags/tag621.xml"/><Relationship Id="rId5" Type="http://schemas.openxmlformats.org/officeDocument/2006/relationships/tags" Target="../tags/tag576.xml"/><Relationship Id="rId49" Type="http://schemas.openxmlformats.org/officeDocument/2006/relationships/tags" Target="../tags/tag620.xml"/><Relationship Id="rId48" Type="http://schemas.openxmlformats.org/officeDocument/2006/relationships/tags" Target="../tags/tag619.xml"/><Relationship Id="rId47" Type="http://schemas.openxmlformats.org/officeDocument/2006/relationships/tags" Target="../tags/tag618.xml"/><Relationship Id="rId46" Type="http://schemas.openxmlformats.org/officeDocument/2006/relationships/tags" Target="../tags/tag617.xml"/><Relationship Id="rId45" Type="http://schemas.openxmlformats.org/officeDocument/2006/relationships/tags" Target="../tags/tag616.xml"/><Relationship Id="rId44" Type="http://schemas.openxmlformats.org/officeDocument/2006/relationships/tags" Target="../tags/tag615.xml"/><Relationship Id="rId43" Type="http://schemas.openxmlformats.org/officeDocument/2006/relationships/tags" Target="../tags/tag614.xml"/><Relationship Id="rId42" Type="http://schemas.openxmlformats.org/officeDocument/2006/relationships/tags" Target="../tags/tag613.xml"/><Relationship Id="rId41" Type="http://schemas.openxmlformats.org/officeDocument/2006/relationships/tags" Target="../tags/tag612.xml"/><Relationship Id="rId40" Type="http://schemas.openxmlformats.org/officeDocument/2006/relationships/tags" Target="../tags/tag611.xml"/><Relationship Id="rId4" Type="http://schemas.openxmlformats.org/officeDocument/2006/relationships/tags" Target="../tags/tag575.xml"/><Relationship Id="rId39" Type="http://schemas.openxmlformats.org/officeDocument/2006/relationships/tags" Target="../tags/tag610.xml"/><Relationship Id="rId38" Type="http://schemas.openxmlformats.org/officeDocument/2006/relationships/tags" Target="../tags/tag609.xml"/><Relationship Id="rId37" Type="http://schemas.openxmlformats.org/officeDocument/2006/relationships/tags" Target="../tags/tag608.xml"/><Relationship Id="rId36" Type="http://schemas.openxmlformats.org/officeDocument/2006/relationships/tags" Target="../tags/tag607.xml"/><Relationship Id="rId35" Type="http://schemas.openxmlformats.org/officeDocument/2006/relationships/tags" Target="../tags/tag606.xml"/><Relationship Id="rId34" Type="http://schemas.openxmlformats.org/officeDocument/2006/relationships/tags" Target="../tags/tag605.xml"/><Relationship Id="rId33" Type="http://schemas.openxmlformats.org/officeDocument/2006/relationships/tags" Target="../tags/tag604.xml"/><Relationship Id="rId32" Type="http://schemas.openxmlformats.org/officeDocument/2006/relationships/tags" Target="../tags/tag603.xml"/><Relationship Id="rId31" Type="http://schemas.openxmlformats.org/officeDocument/2006/relationships/tags" Target="../tags/tag602.xml"/><Relationship Id="rId30" Type="http://schemas.openxmlformats.org/officeDocument/2006/relationships/tags" Target="../tags/tag601.xml"/><Relationship Id="rId3" Type="http://schemas.openxmlformats.org/officeDocument/2006/relationships/tags" Target="../tags/tag574.xml"/><Relationship Id="rId29" Type="http://schemas.openxmlformats.org/officeDocument/2006/relationships/tags" Target="../tags/tag600.xml"/><Relationship Id="rId28" Type="http://schemas.openxmlformats.org/officeDocument/2006/relationships/tags" Target="../tags/tag599.xml"/><Relationship Id="rId27" Type="http://schemas.openxmlformats.org/officeDocument/2006/relationships/tags" Target="../tags/tag598.xml"/><Relationship Id="rId26" Type="http://schemas.openxmlformats.org/officeDocument/2006/relationships/tags" Target="../tags/tag597.xml"/><Relationship Id="rId25" Type="http://schemas.openxmlformats.org/officeDocument/2006/relationships/tags" Target="../tags/tag596.xml"/><Relationship Id="rId24" Type="http://schemas.openxmlformats.org/officeDocument/2006/relationships/tags" Target="../tags/tag595.xml"/><Relationship Id="rId23" Type="http://schemas.openxmlformats.org/officeDocument/2006/relationships/tags" Target="../tags/tag594.xml"/><Relationship Id="rId22" Type="http://schemas.openxmlformats.org/officeDocument/2006/relationships/tags" Target="../tags/tag593.xml"/><Relationship Id="rId21" Type="http://schemas.openxmlformats.org/officeDocument/2006/relationships/tags" Target="../tags/tag592.xml"/><Relationship Id="rId20" Type="http://schemas.openxmlformats.org/officeDocument/2006/relationships/tags" Target="../tags/tag591.xml"/><Relationship Id="rId2" Type="http://schemas.openxmlformats.org/officeDocument/2006/relationships/tags" Target="../tags/tag573.xml"/><Relationship Id="rId19" Type="http://schemas.openxmlformats.org/officeDocument/2006/relationships/tags" Target="../tags/tag590.xml"/><Relationship Id="rId18" Type="http://schemas.openxmlformats.org/officeDocument/2006/relationships/tags" Target="../tags/tag589.xml"/><Relationship Id="rId17" Type="http://schemas.openxmlformats.org/officeDocument/2006/relationships/tags" Target="../tags/tag588.xml"/><Relationship Id="rId16" Type="http://schemas.openxmlformats.org/officeDocument/2006/relationships/tags" Target="../tags/tag587.xml"/><Relationship Id="rId15" Type="http://schemas.openxmlformats.org/officeDocument/2006/relationships/tags" Target="../tags/tag586.xml"/><Relationship Id="rId14" Type="http://schemas.openxmlformats.org/officeDocument/2006/relationships/tags" Target="../tags/tag585.xml"/><Relationship Id="rId13" Type="http://schemas.openxmlformats.org/officeDocument/2006/relationships/tags" Target="../tags/tag584.xml"/><Relationship Id="rId125" Type="http://schemas.openxmlformats.org/officeDocument/2006/relationships/notesSlide" Target="../notesSlides/notesSlide25.xml"/><Relationship Id="rId124" Type="http://schemas.openxmlformats.org/officeDocument/2006/relationships/slideLayout" Target="../slideLayouts/slideLayout7.xml"/><Relationship Id="rId123" Type="http://schemas.openxmlformats.org/officeDocument/2006/relationships/tags" Target="../tags/tag692.xml"/><Relationship Id="rId122" Type="http://schemas.openxmlformats.org/officeDocument/2006/relationships/tags" Target="../tags/tag691.xml"/><Relationship Id="rId121" Type="http://schemas.openxmlformats.org/officeDocument/2006/relationships/tags" Target="../tags/tag690.xml"/><Relationship Id="rId120" Type="http://schemas.openxmlformats.org/officeDocument/2006/relationships/tags" Target="../tags/tag689.xml"/><Relationship Id="rId12" Type="http://schemas.openxmlformats.org/officeDocument/2006/relationships/tags" Target="../tags/tag583.xml"/><Relationship Id="rId119" Type="http://schemas.openxmlformats.org/officeDocument/2006/relationships/tags" Target="../tags/tag688.xml"/><Relationship Id="rId118" Type="http://schemas.openxmlformats.org/officeDocument/2006/relationships/tags" Target="../tags/tag687.xml"/><Relationship Id="rId117" Type="http://schemas.openxmlformats.org/officeDocument/2006/relationships/tags" Target="../tags/tag686.xml"/><Relationship Id="rId116" Type="http://schemas.openxmlformats.org/officeDocument/2006/relationships/tags" Target="../tags/tag685.xml"/><Relationship Id="rId115" Type="http://schemas.openxmlformats.org/officeDocument/2006/relationships/tags" Target="../tags/tag684.xml"/><Relationship Id="rId114" Type="http://schemas.openxmlformats.org/officeDocument/2006/relationships/tags" Target="../tags/tag683.xml"/><Relationship Id="rId113" Type="http://schemas.openxmlformats.org/officeDocument/2006/relationships/tags" Target="../tags/tag682.xml"/><Relationship Id="rId112" Type="http://schemas.openxmlformats.org/officeDocument/2006/relationships/tags" Target="../tags/tag681.xml"/><Relationship Id="rId111" Type="http://schemas.openxmlformats.org/officeDocument/2006/relationships/tags" Target="../tags/tag680.xml"/><Relationship Id="rId110" Type="http://schemas.openxmlformats.org/officeDocument/2006/relationships/tags" Target="../tags/tag679.xml"/><Relationship Id="rId11" Type="http://schemas.openxmlformats.org/officeDocument/2006/relationships/tags" Target="../tags/tag582.xml"/><Relationship Id="rId109" Type="http://schemas.openxmlformats.org/officeDocument/2006/relationships/slide" Target="slide34.xml"/><Relationship Id="rId108" Type="http://schemas.openxmlformats.org/officeDocument/2006/relationships/slide" Target="slide35.xml"/><Relationship Id="rId107" Type="http://schemas.openxmlformats.org/officeDocument/2006/relationships/tags" Target="../tags/tag678.xml"/><Relationship Id="rId106" Type="http://schemas.openxmlformats.org/officeDocument/2006/relationships/tags" Target="../tags/tag677.xml"/><Relationship Id="rId105" Type="http://schemas.openxmlformats.org/officeDocument/2006/relationships/tags" Target="../tags/tag676.xml"/><Relationship Id="rId104" Type="http://schemas.openxmlformats.org/officeDocument/2006/relationships/tags" Target="../tags/tag675.xml"/><Relationship Id="rId103" Type="http://schemas.openxmlformats.org/officeDocument/2006/relationships/tags" Target="../tags/tag674.xml"/><Relationship Id="rId102" Type="http://schemas.openxmlformats.org/officeDocument/2006/relationships/tags" Target="../tags/tag673.xml"/><Relationship Id="rId101" Type="http://schemas.openxmlformats.org/officeDocument/2006/relationships/tags" Target="../tags/tag672.xml"/><Relationship Id="rId100" Type="http://schemas.openxmlformats.org/officeDocument/2006/relationships/tags" Target="../tags/tag671.xml"/><Relationship Id="rId10" Type="http://schemas.openxmlformats.org/officeDocument/2006/relationships/tags" Target="../tags/tag581.xml"/><Relationship Id="rId1" Type="http://schemas.openxmlformats.org/officeDocument/2006/relationships/tags" Target="../tags/tag572.xml"/></Relationships>
</file>

<file path=ppt/slides/_rels/slide41.xml.rels><?xml version="1.0" encoding="UTF-8" standalone="yes"?>
<Relationships xmlns="http://schemas.openxmlformats.org/package/2006/relationships"><Relationship Id="rId99" Type="http://schemas.openxmlformats.org/officeDocument/2006/relationships/tags" Target="../tags/tag791.xml"/><Relationship Id="rId98" Type="http://schemas.openxmlformats.org/officeDocument/2006/relationships/tags" Target="../tags/tag790.xml"/><Relationship Id="rId97" Type="http://schemas.openxmlformats.org/officeDocument/2006/relationships/tags" Target="../tags/tag789.xml"/><Relationship Id="rId96" Type="http://schemas.openxmlformats.org/officeDocument/2006/relationships/tags" Target="../tags/tag788.xml"/><Relationship Id="rId95" Type="http://schemas.openxmlformats.org/officeDocument/2006/relationships/tags" Target="../tags/tag787.xml"/><Relationship Id="rId94" Type="http://schemas.openxmlformats.org/officeDocument/2006/relationships/tags" Target="../tags/tag786.xml"/><Relationship Id="rId93" Type="http://schemas.openxmlformats.org/officeDocument/2006/relationships/tags" Target="../tags/tag785.xml"/><Relationship Id="rId92" Type="http://schemas.openxmlformats.org/officeDocument/2006/relationships/tags" Target="../tags/tag784.xml"/><Relationship Id="rId91" Type="http://schemas.openxmlformats.org/officeDocument/2006/relationships/tags" Target="../tags/tag783.xml"/><Relationship Id="rId90" Type="http://schemas.openxmlformats.org/officeDocument/2006/relationships/tags" Target="../tags/tag782.xml"/><Relationship Id="rId9" Type="http://schemas.openxmlformats.org/officeDocument/2006/relationships/tags" Target="../tags/tag701.xml"/><Relationship Id="rId89" Type="http://schemas.openxmlformats.org/officeDocument/2006/relationships/tags" Target="../tags/tag781.xml"/><Relationship Id="rId88" Type="http://schemas.openxmlformats.org/officeDocument/2006/relationships/tags" Target="../tags/tag780.xml"/><Relationship Id="rId87" Type="http://schemas.openxmlformats.org/officeDocument/2006/relationships/tags" Target="../tags/tag779.xml"/><Relationship Id="rId86" Type="http://schemas.openxmlformats.org/officeDocument/2006/relationships/tags" Target="../tags/tag778.xml"/><Relationship Id="rId85" Type="http://schemas.openxmlformats.org/officeDocument/2006/relationships/tags" Target="../tags/tag777.xml"/><Relationship Id="rId84" Type="http://schemas.openxmlformats.org/officeDocument/2006/relationships/tags" Target="../tags/tag776.xml"/><Relationship Id="rId83" Type="http://schemas.openxmlformats.org/officeDocument/2006/relationships/tags" Target="../tags/tag775.xml"/><Relationship Id="rId82" Type="http://schemas.openxmlformats.org/officeDocument/2006/relationships/tags" Target="../tags/tag774.xml"/><Relationship Id="rId81" Type="http://schemas.openxmlformats.org/officeDocument/2006/relationships/tags" Target="../tags/tag773.xml"/><Relationship Id="rId80" Type="http://schemas.openxmlformats.org/officeDocument/2006/relationships/tags" Target="../tags/tag772.xml"/><Relationship Id="rId8" Type="http://schemas.openxmlformats.org/officeDocument/2006/relationships/tags" Target="../tags/tag700.xml"/><Relationship Id="rId79" Type="http://schemas.openxmlformats.org/officeDocument/2006/relationships/tags" Target="../tags/tag771.xml"/><Relationship Id="rId78" Type="http://schemas.openxmlformats.org/officeDocument/2006/relationships/tags" Target="../tags/tag770.xml"/><Relationship Id="rId77" Type="http://schemas.openxmlformats.org/officeDocument/2006/relationships/tags" Target="../tags/tag769.xml"/><Relationship Id="rId76" Type="http://schemas.openxmlformats.org/officeDocument/2006/relationships/tags" Target="../tags/tag768.xml"/><Relationship Id="rId75" Type="http://schemas.openxmlformats.org/officeDocument/2006/relationships/tags" Target="../tags/tag767.xml"/><Relationship Id="rId74" Type="http://schemas.openxmlformats.org/officeDocument/2006/relationships/tags" Target="../tags/tag766.xml"/><Relationship Id="rId73" Type="http://schemas.openxmlformats.org/officeDocument/2006/relationships/tags" Target="../tags/tag765.xml"/><Relationship Id="rId72" Type="http://schemas.openxmlformats.org/officeDocument/2006/relationships/tags" Target="../tags/tag764.xml"/><Relationship Id="rId71" Type="http://schemas.openxmlformats.org/officeDocument/2006/relationships/tags" Target="../tags/tag763.xml"/><Relationship Id="rId70" Type="http://schemas.openxmlformats.org/officeDocument/2006/relationships/tags" Target="../tags/tag762.xml"/><Relationship Id="rId7" Type="http://schemas.openxmlformats.org/officeDocument/2006/relationships/tags" Target="../tags/tag699.xml"/><Relationship Id="rId69" Type="http://schemas.openxmlformats.org/officeDocument/2006/relationships/tags" Target="../tags/tag761.xml"/><Relationship Id="rId68" Type="http://schemas.openxmlformats.org/officeDocument/2006/relationships/tags" Target="../tags/tag760.xml"/><Relationship Id="rId67" Type="http://schemas.openxmlformats.org/officeDocument/2006/relationships/tags" Target="../tags/tag759.xml"/><Relationship Id="rId66" Type="http://schemas.openxmlformats.org/officeDocument/2006/relationships/tags" Target="../tags/tag758.xml"/><Relationship Id="rId65" Type="http://schemas.openxmlformats.org/officeDocument/2006/relationships/tags" Target="../tags/tag757.xml"/><Relationship Id="rId64" Type="http://schemas.openxmlformats.org/officeDocument/2006/relationships/tags" Target="../tags/tag756.xml"/><Relationship Id="rId63" Type="http://schemas.openxmlformats.org/officeDocument/2006/relationships/tags" Target="../tags/tag755.xml"/><Relationship Id="rId62" Type="http://schemas.openxmlformats.org/officeDocument/2006/relationships/tags" Target="../tags/tag754.xml"/><Relationship Id="rId61" Type="http://schemas.openxmlformats.org/officeDocument/2006/relationships/tags" Target="../tags/tag753.xml"/><Relationship Id="rId60" Type="http://schemas.openxmlformats.org/officeDocument/2006/relationships/tags" Target="../tags/tag752.xml"/><Relationship Id="rId6" Type="http://schemas.openxmlformats.org/officeDocument/2006/relationships/tags" Target="../tags/tag698.xml"/><Relationship Id="rId59" Type="http://schemas.openxmlformats.org/officeDocument/2006/relationships/tags" Target="../tags/tag751.xml"/><Relationship Id="rId58" Type="http://schemas.openxmlformats.org/officeDocument/2006/relationships/tags" Target="../tags/tag750.xml"/><Relationship Id="rId57" Type="http://schemas.openxmlformats.org/officeDocument/2006/relationships/tags" Target="../tags/tag749.xml"/><Relationship Id="rId56" Type="http://schemas.openxmlformats.org/officeDocument/2006/relationships/tags" Target="../tags/tag748.xml"/><Relationship Id="rId55" Type="http://schemas.openxmlformats.org/officeDocument/2006/relationships/tags" Target="../tags/tag747.xml"/><Relationship Id="rId54" Type="http://schemas.openxmlformats.org/officeDocument/2006/relationships/tags" Target="../tags/tag746.xml"/><Relationship Id="rId53" Type="http://schemas.openxmlformats.org/officeDocument/2006/relationships/tags" Target="../tags/tag745.xml"/><Relationship Id="rId52" Type="http://schemas.openxmlformats.org/officeDocument/2006/relationships/tags" Target="../tags/tag744.xml"/><Relationship Id="rId51" Type="http://schemas.openxmlformats.org/officeDocument/2006/relationships/tags" Target="../tags/tag743.xml"/><Relationship Id="rId50" Type="http://schemas.openxmlformats.org/officeDocument/2006/relationships/tags" Target="../tags/tag742.xml"/><Relationship Id="rId5" Type="http://schemas.openxmlformats.org/officeDocument/2006/relationships/tags" Target="../tags/tag697.xml"/><Relationship Id="rId49" Type="http://schemas.openxmlformats.org/officeDocument/2006/relationships/tags" Target="../tags/tag741.xml"/><Relationship Id="rId48" Type="http://schemas.openxmlformats.org/officeDocument/2006/relationships/tags" Target="../tags/tag740.xml"/><Relationship Id="rId47" Type="http://schemas.openxmlformats.org/officeDocument/2006/relationships/tags" Target="../tags/tag739.xml"/><Relationship Id="rId46" Type="http://schemas.openxmlformats.org/officeDocument/2006/relationships/tags" Target="../tags/tag738.xml"/><Relationship Id="rId45" Type="http://schemas.openxmlformats.org/officeDocument/2006/relationships/tags" Target="../tags/tag737.xml"/><Relationship Id="rId44" Type="http://schemas.openxmlformats.org/officeDocument/2006/relationships/tags" Target="../tags/tag736.xml"/><Relationship Id="rId43" Type="http://schemas.openxmlformats.org/officeDocument/2006/relationships/tags" Target="../tags/tag735.xml"/><Relationship Id="rId42" Type="http://schemas.openxmlformats.org/officeDocument/2006/relationships/tags" Target="../tags/tag734.xml"/><Relationship Id="rId41" Type="http://schemas.openxmlformats.org/officeDocument/2006/relationships/tags" Target="../tags/tag733.xml"/><Relationship Id="rId40" Type="http://schemas.openxmlformats.org/officeDocument/2006/relationships/tags" Target="../tags/tag732.xml"/><Relationship Id="rId4" Type="http://schemas.openxmlformats.org/officeDocument/2006/relationships/tags" Target="../tags/tag696.xml"/><Relationship Id="rId39" Type="http://schemas.openxmlformats.org/officeDocument/2006/relationships/tags" Target="../tags/tag731.xml"/><Relationship Id="rId38" Type="http://schemas.openxmlformats.org/officeDocument/2006/relationships/tags" Target="../tags/tag730.xml"/><Relationship Id="rId37" Type="http://schemas.openxmlformats.org/officeDocument/2006/relationships/tags" Target="../tags/tag729.xml"/><Relationship Id="rId36" Type="http://schemas.openxmlformats.org/officeDocument/2006/relationships/tags" Target="../tags/tag728.xml"/><Relationship Id="rId35" Type="http://schemas.openxmlformats.org/officeDocument/2006/relationships/tags" Target="../tags/tag727.xml"/><Relationship Id="rId34" Type="http://schemas.openxmlformats.org/officeDocument/2006/relationships/tags" Target="../tags/tag726.xml"/><Relationship Id="rId33" Type="http://schemas.openxmlformats.org/officeDocument/2006/relationships/tags" Target="../tags/tag725.xml"/><Relationship Id="rId32" Type="http://schemas.openxmlformats.org/officeDocument/2006/relationships/tags" Target="../tags/tag724.xml"/><Relationship Id="rId31" Type="http://schemas.openxmlformats.org/officeDocument/2006/relationships/tags" Target="../tags/tag723.xml"/><Relationship Id="rId30" Type="http://schemas.openxmlformats.org/officeDocument/2006/relationships/tags" Target="../tags/tag722.xml"/><Relationship Id="rId3" Type="http://schemas.openxmlformats.org/officeDocument/2006/relationships/tags" Target="../tags/tag695.xml"/><Relationship Id="rId29" Type="http://schemas.openxmlformats.org/officeDocument/2006/relationships/tags" Target="../tags/tag721.xml"/><Relationship Id="rId28" Type="http://schemas.openxmlformats.org/officeDocument/2006/relationships/tags" Target="../tags/tag720.xml"/><Relationship Id="rId27" Type="http://schemas.openxmlformats.org/officeDocument/2006/relationships/tags" Target="../tags/tag719.xml"/><Relationship Id="rId26" Type="http://schemas.openxmlformats.org/officeDocument/2006/relationships/tags" Target="../tags/tag718.xml"/><Relationship Id="rId25" Type="http://schemas.openxmlformats.org/officeDocument/2006/relationships/tags" Target="../tags/tag717.xml"/><Relationship Id="rId24" Type="http://schemas.openxmlformats.org/officeDocument/2006/relationships/tags" Target="../tags/tag716.xml"/><Relationship Id="rId23" Type="http://schemas.openxmlformats.org/officeDocument/2006/relationships/tags" Target="../tags/tag715.xml"/><Relationship Id="rId22" Type="http://schemas.openxmlformats.org/officeDocument/2006/relationships/tags" Target="../tags/tag714.xml"/><Relationship Id="rId21" Type="http://schemas.openxmlformats.org/officeDocument/2006/relationships/tags" Target="../tags/tag713.xml"/><Relationship Id="rId20" Type="http://schemas.openxmlformats.org/officeDocument/2006/relationships/tags" Target="../tags/tag712.xml"/><Relationship Id="rId2" Type="http://schemas.openxmlformats.org/officeDocument/2006/relationships/tags" Target="../tags/tag694.xml"/><Relationship Id="rId19" Type="http://schemas.openxmlformats.org/officeDocument/2006/relationships/tags" Target="../tags/tag711.xml"/><Relationship Id="rId18" Type="http://schemas.openxmlformats.org/officeDocument/2006/relationships/tags" Target="../tags/tag710.xml"/><Relationship Id="rId17" Type="http://schemas.openxmlformats.org/officeDocument/2006/relationships/tags" Target="../tags/tag709.xml"/><Relationship Id="rId16" Type="http://schemas.openxmlformats.org/officeDocument/2006/relationships/tags" Target="../tags/tag708.xml"/><Relationship Id="rId15" Type="http://schemas.openxmlformats.org/officeDocument/2006/relationships/tags" Target="../tags/tag707.xml"/><Relationship Id="rId141" Type="http://schemas.openxmlformats.org/officeDocument/2006/relationships/slideLayout" Target="../slideLayouts/slideLayout7.xml"/><Relationship Id="rId140" Type="http://schemas.openxmlformats.org/officeDocument/2006/relationships/tags" Target="../tags/tag832.xml"/><Relationship Id="rId14" Type="http://schemas.openxmlformats.org/officeDocument/2006/relationships/tags" Target="../tags/tag706.xml"/><Relationship Id="rId139" Type="http://schemas.openxmlformats.org/officeDocument/2006/relationships/tags" Target="../tags/tag831.xml"/><Relationship Id="rId138" Type="http://schemas.openxmlformats.org/officeDocument/2006/relationships/tags" Target="../tags/tag830.xml"/><Relationship Id="rId137" Type="http://schemas.openxmlformats.org/officeDocument/2006/relationships/tags" Target="../tags/tag829.xml"/><Relationship Id="rId136" Type="http://schemas.openxmlformats.org/officeDocument/2006/relationships/tags" Target="../tags/tag828.xml"/><Relationship Id="rId135" Type="http://schemas.openxmlformats.org/officeDocument/2006/relationships/tags" Target="../tags/tag827.xml"/><Relationship Id="rId134" Type="http://schemas.openxmlformats.org/officeDocument/2006/relationships/tags" Target="../tags/tag826.xml"/><Relationship Id="rId133" Type="http://schemas.openxmlformats.org/officeDocument/2006/relationships/tags" Target="../tags/tag825.xml"/><Relationship Id="rId132" Type="http://schemas.openxmlformats.org/officeDocument/2006/relationships/tags" Target="../tags/tag824.xml"/><Relationship Id="rId131" Type="http://schemas.openxmlformats.org/officeDocument/2006/relationships/tags" Target="../tags/tag823.xml"/><Relationship Id="rId130" Type="http://schemas.openxmlformats.org/officeDocument/2006/relationships/tags" Target="../tags/tag822.xml"/><Relationship Id="rId13" Type="http://schemas.openxmlformats.org/officeDocument/2006/relationships/tags" Target="../tags/tag705.xml"/><Relationship Id="rId129" Type="http://schemas.openxmlformats.org/officeDocument/2006/relationships/tags" Target="../tags/tag821.xml"/><Relationship Id="rId128" Type="http://schemas.openxmlformats.org/officeDocument/2006/relationships/tags" Target="../tags/tag820.xml"/><Relationship Id="rId127" Type="http://schemas.openxmlformats.org/officeDocument/2006/relationships/tags" Target="../tags/tag819.xml"/><Relationship Id="rId126" Type="http://schemas.openxmlformats.org/officeDocument/2006/relationships/tags" Target="../tags/tag818.xml"/><Relationship Id="rId125" Type="http://schemas.openxmlformats.org/officeDocument/2006/relationships/tags" Target="../tags/tag817.xml"/><Relationship Id="rId124" Type="http://schemas.openxmlformats.org/officeDocument/2006/relationships/tags" Target="../tags/tag816.xml"/><Relationship Id="rId123" Type="http://schemas.openxmlformats.org/officeDocument/2006/relationships/tags" Target="../tags/tag815.xml"/><Relationship Id="rId122" Type="http://schemas.openxmlformats.org/officeDocument/2006/relationships/tags" Target="../tags/tag814.xml"/><Relationship Id="rId121" Type="http://schemas.openxmlformats.org/officeDocument/2006/relationships/tags" Target="../tags/tag813.xml"/><Relationship Id="rId120" Type="http://schemas.openxmlformats.org/officeDocument/2006/relationships/tags" Target="../tags/tag812.xml"/><Relationship Id="rId12" Type="http://schemas.openxmlformats.org/officeDocument/2006/relationships/tags" Target="../tags/tag704.xml"/><Relationship Id="rId119" Type="http://schemas.openxmlformats.org/officeDocument/2006/relationships/tags" Target="../tags/tag811.xml"/><Relationship Id="rId118" Type="http://schemas.openxmlformats.org/officeDocument/2006/relationships/tags" Target="../tags/tag810.xml"/><Relationship Id="rId117" Type="http://schemas.openxmlformats.org/officeDocument/2006/relationships/tags" Target="../tags/tag809.xml"/><Relationship Id="rId116" Type="http://schemas.openxmlformats.org/officeDocument/2006/relationships/tags" Target="../tags/tag808.xml"/><Relationship Id="rId115" Type="http://schemas.openxmlformats.org/officeDocument/2006/relationships/tags" Target="../tags/tag807.xml"/><Relationship Id="rId114" Type="http://schemas.openxmlformats.org/officeDocument/2006/relationships/tags" Target="../tags/tag806.xml"/><Relationship Id="rId113" Type="http://schemas.openxmlformats.org/officeDocument/2006/relationships/tags" Target="../tags/tag805.xml"/><Relationship Id="rId112" Type="http://schemas.openxmlformats.org/officeDocument/2006/relationships/tags" Target="../tags/tag804.xml"/><Relationship Id="rId111" Type="http://schemas.openxmlformats.org/officeDocument/2006/relationships/tags" Target="../tags/tag803.xml"/><Relationship Id="rId110" Type="http://schemas.openxmlformats.org/officeDocument/2006/relationships/tags" Target="../tags/tag802.xml"/><Relationship Id="rId11" Type="http://schemas.openxmlformats.org/officeDocument/2006/relationships/tags" Target="../tags/tag703.xml"/><Relationship Id="rId109" Type="http://schemas.openxmlformats.org/officeDocument/2006/relationships/tags" Target="../tags/tag801.xml"/><Relationship Id="rId108" Type="http://schemas.openxmlformats.org/officeDocument/2006/relationships/tags" Target="../tags/tag800.xml"/><Relationship Id="rId107" Type="http://schemas.openxmlformats.org/officeDocument/2006/relationships/tags" Target="../tags/tag799.xml"/><Relationship Id="rId106" Type="http://schemas.openxmlformats.org/officeDocument/2006/relationships/tags" Target="../tags/tag798.xml"/><Relationship Id="rId105" Type="http://schemas.openxmlformats.org/officeDocument/2006/relationships/tags" Target="../tags/tag797.xml"/><Relationship Id="rId104" Type="http://schemas.openxmlformats.org/officeDocument/2006/relationships/tags" Target="../tags/tag796.xml"/><Relationship Id="rId103" Type="http://schemas.openxmlformats.org/officeDocument/2006/relationships/tags" Target="../tags/tag795.xml"/><Relationship Id="rId102" Type="http://schemas.openxmlformats.org/officeDocument/2006/relationships/tags" Target="../tags/tag794.xml"/><Relationship Id="rId101" Type="http://schemas.openxmlformats.org/officeDocument/2006/relationships/tags" Target="../tags/tag793.xml"/><Relationship Id="rId100" Type="http://schemas.openxmlformats.org/officeDocument/2006/relationships/tags" Target="../tags/tag792.xml"/><Relationship Id="rId10" Type="http://schemas.openxmlformats.org/officeDocument/2006/relationships/tags" Target="../tags/tag702.xml"/><Relationship Id="rId1" Type="http://schemas.openxmlformats.org/officeDocument/2006/relationships/tags" Target="../tags/tag693.xml"/></Relationships>
</file>

<file path=ppt/slides/_rels/slide42.xml.rels><?xml version="1.0" encoding="UTF-8" standalone="yes"?>
<Relationships xmlns="http://schemas.openxmlformats.org/package/2006/relationships"><Relationship Id="rId99" Type="http://schemas.openxmlformats.org/officeDocument/2006/relationships/tags" Target="../tags/tag930.xml"/><Relationship Id="rId98" Type="http://schemas.openxmlformats.org/officeDocument/2006/relationships/tags" Target="../tags/tag929.xml"/><Relationship Id="rId97" Type="http://schemas.openxmlformats.org/officeDocument/2006/relationships/tags" Target="../tags/tag928.xml"/><Relationship Id="rId96" Type="http://schemas.openxmlformats.org/officeDocument/2006/relationships/tags" Target="../tags/tag927.xml"/><Relationship Id="rId95" Type="http://schemas.openxmlformats.org/officeDocument/2006/relationships/tags" Target="../tags/tag926.xml"/><Relationship Id="rId94" Type="http://schemas.openxmlformats.org/officeDocument/2006/relationships/tags" Target="../tags/tag925.xml"/><Relationship Id="rId93" Type="http://schemas.openxmlformats.org/officeDocument/2006/relationships/tags" Target="../tags/tag924.xml"/><Relationship Id="rId92" Type="http://schemas.openxmlformats.org/officeDocument/2006/relationships/tags" Target="../tags/tag923.xml"/><Relationship Id="rId91" Type="http://schemas.openxmlformats.org/officeDocument/2006/relationships/tags" Target="../tags/tag922.xml"/><Relationship Id="rId90" Type="http://schemas.openxmlformats.org/officeDocument/2006/relationships/tags" Target="../tags/tag921.xml"/><Relationship Id="rId9" Type="http://schemas.openxmlformats.org/officeDocument/2006/relationships/tags" Target="../tags/tag840.xml"/><Relationship Id="rId89" Type="http://schemas.openxmlformats.org/officeDocument/2006/relationships/tags" Target="../tags/tag920.xml"/><Relationship Id="rId88" Type="http://schemas.openxmlformats.org/officeDocument/2006/relationships/tags" Target="../tags/tag919.xml"/><Relationship Id="rId87" Type="http://schemas.openxmlformats.org/officeDocument/2006/relationships/tags" Target="../tags/tag918.xml"/><Relationship Id="rId86" Type="http://schemas.openxmlformats.org/officeDocument/2006/relationships/tags" Target="../tags/tag917.xml"/><Relationship Id="rId85" Type="http://schemas.openxmlformats.org/officeDocument/2006/relationships/tags" Target="../tags/tag916.xml"/><Relationship Id="rId84" Type="http://schemas.openxmlformats.org/officeDocument/2006/relationships/tags" Target="../tags/tag915.xml"/><Relationship Id="rId83" Type="http://schemas.openxmlformats.org/officeDocument/2006/relationships/tags" Target="../tags/tag914.xml"/><Relationship Id="rId82" Type="http://schemas.openxmlformats.org/officeDocument/2006/relationships/tags" Target="../tags/tag913.xml"/><Relationship Id="rId81" Type="http://schemas.openxmlformats.org/officeDocument/2006/relationships/tags" Target="../tags/tag912.xml"/><Relationship Id="rId80" Type="http://schemas.openxmlformats.org/officeDocument/2006/relationships/tags" Target="../tags/tag911.xml"/><Relationship Id="rId8" Type="http://schemas.openxmlformats.org/officeDocument/2006/relationships/tags" Target="../tags/tag839.xml"/><Relationship Id="rId79" Type="http://schemas.openxmlformats.org/officeDocument/2006/relationships/tags" Target="../tags/tag910.xml"/><Relationship Id="rId78" Type="http://schemas.openxmlformats.org/officeDocument/2006/relationships/tags" Target="../tags/tag909.xml"/><Relationship Id="rId77" Type="http://schemas.openxmlformats.org/officeDocument/2006/relationships/tags" Target="../tags/tag908.xml"/><Relationship Id="rId76" Type="http://schemas.openxmlformats.org/officeDocument/2006/relationships/tags" Target="../tags/tag907.xml"/><Relationship Id="rId75" Type="http://schemas.openxmlformats.org/officeDocument/2006/relationships/tags" Target="../tags/tag906.xml"/><Relationship Id="rId74" Type="http://schemas.openxmlformats.org/officeDocument/2006/relationships/tags" Target="../tags/tag905.xml"/><Relationship Id="rId73" Type="http://schemas.openxmlformats.org/officeDocument/2006/relationships/tags" Target="../tags/tag904.xml"/><Relationship Id="rId72" Type="http://schemas.openxmlformats.org/officeDocument/2006/relationships/tags" Target="../tags/tag903.xml"/><Relationship Id="rId71" Type="http://schemas.openxmlformats.org/officeDocument/2006/relationships/tags" Target="../tags/tag902.xml"/><Relationship Id="rId70" Type="http://schemas.openxmlformats.org/officeDocument/2006/relationships/tags" Target="../tags/tag901.xml"/><Relationship Id="rId7" Type="http://schemas.openxmlformats.org/officeDocument/2006/relationships/tags" Target="../tags/tag838.xml"/><Relationship Id="rId69" Type="http://schemas.openxmlformats.org/officeDocument/2006/relationships/tags" Target="../tags/tag900.xml"/><Relationship Id="rId68" Type="http://schemas.openxmlformats.org/officeDocument/2006/relationships/tags" Target="../tags/tag899.xml"/><Relationship Id="rId67" Type="http://schemas.openxmlformats.org/officeDocument/2006/relationships/tags" Target="../tags/tag898.xml"/><Relationship Id="rId66" Type="http://schemas.openxmlformats.org/officeDocument/2006/relationships/tags" Target="../tags/tag897.xml"/><Relationship Id="rId65" Type="http://schemas.openxmlformats.org/officeDocument/2006/relationships/tags" Target="../tags/tag896.xml"/><Relationship Id="rId64" Type="http://schemas.openxmlformats.org/officeDocument/2006/relationships/tags" Target="../tags/tag895.xml"/><Relationship Id="rId63" Type="http://schemas.openxmlformats.org/officeDocument/2006/relationships/tags" Target="../tags/tag894.xml"/><Relationship Id="rId62" Type="http://schemas.openxmlformats.org/officeDocument/2006/relationships/tags" Target="../tags/tag893.xml"/><Relationship Id="rId61" Type="http://schemas.openxmlformats.org/officeDocument/2006/relationships/tags" Target="../tags/tag892.xml"/><Relationship Id="rId60" Type="http://schemas.openxmlformats.org/officeDocument/2006/relationships/tags" Target="../tags/tag891.xml"/><Relationship Id="rId6" Type="http://schemas.openxmlformats.org/officeDocument/2006/relationships/tags" Target="../tags/tag837.xml"/><Relationship Id="rId59" Type="http://schemas.openxmlformats.org/officeDocument/2006/relationships/tags" Target="../tags/tag890.xml"/><Relationship Id="rId58" Type="http://schemas.openxmlformats.org/officeDocument/2006/relationships/tags" Target="../tags/tag889.xml"/><Relationship Id="rId57" Type="http://schemas.openxmlformats.org/officeDocument/2006/relationships/tags" Target="../tags/tag888.xml"/><Relationship Id="rId56" Type="http://schemas.openxmlformats.org/officeDocument/2006/relationships/tags" Target="../tags/tag887.xml"/><Relationship Id="rId55" Type="http://schemas.openxmlformats.org/officeDocument/2006/relationships/tags" Target="../tags/tag886.xml"/><Relationship Id="rId54" Type="http://schemas.openxmlformats.org/officeDocument/2006/relationships/tags" Target="../tags/tag885.xml"/><Relationship Id="rId53" Type="http://schemas.openxmlformats.org/officeDocument/2006/relationships/tags" Target="../tags/tag884.xml"/><Relationship Id="rId52" Type="http://schemas.openxmlformats.org/officeDocument/2006/relationships/tags" Target="../tags/tag883.xml"/><Relationship Id="rId51" Type="http://schemas.openxmlformats.org/officeDocument/2006/relationships/tags" Target="../tags/tag882.xml"/><Relationship Id="rId50" Type="http://schemas.openxmlformats.org/officeDocument/2006/relationships/tags" Target="../tags/tag881.xml"/><Relationship Id="rId5" Type="http://schemas.openxmlformats.org/officeDocument/2006/relationships/tags" Target="../tags/tag836.xml"/><Relationship Id="rId49" Type="http://schemas.openxmlformats.org/officeDocument/2006/relationships/tags" Target="../tags/tag880.xml"/><Relationship Id="rId48" Type="http://schemas.openxmlformats.org/officeDocument/2006/relationships/tags" Target="../tags/tag879.xml"/><Relationship Id="rId47" Type="http://schemas.openxmlformats.org/officeDocument/2006/relationships/tags" Target="../tags/tag878.xml"/><Relationship Id="rId46" Type="http://schemas.openxmlformats.org/officeDocument/2006/relationships/tags" Target="../tags/tag877.xml"/><Relationship Id="rId45" Type="http://schemas.openxmlformats.org/officeDocument/2006/relationships/tags" Target="../tags/tag876.xml"/><Relationship Id="rId44" Type="http://schemas.openxmlformats.org/officeDocument/2006/relationships/tags" Target="../tags/tag875.xml"/><Relationship Id="rId43" Type="http://schemas.openxmlformats.org/officeDocument/2006/relationships/tags" Target="../tags/tag874.xml"/><Relationship Id="rId42" Type="http://schemas.openxmlformats.org/officeDocument/2006/relationships/tags" Target="../tags/tag873.xml"/><Relationship Id="rId41" Type="http://schemas.openxmlformats.org/officeDocument/2006/relationships/tags" Target="../tags/tag872.xml"/><Relationship Id="rId40" Type="http://schemas.openxmlformats.org/officeDocument/2006/relationships/tags" Target="../tags/tag871.xml"/><Relationship Id="rId4" Type="http://schemas.openxmlformats.org/officeDocument/2006/relationships/tags" Target="../tags/tag835.xml"/><Relationship Id="rId39" Type="http://schemas.openxmlformats.org/officeDocument/2006/relationships/tags" Target="../tags/tag870.xml"/><Relationship Id="rId38" Type="http://schemas.openxmlformats.org/officeDocument/2006/relationships/tags" Target="../tags/tag869.xml"/><Relationship Id="rId37" Type="http://schemas.openxmlformats.org/officeDocument/2006/relationships/tags" Target="../tags/tag868.xml"/><Relationship Id="rId36" Type="http://schemas.openxmlformats.org/officeDocument/2006/relationships/tags" Target="../tags/tag867.xml"/><Relationship Id="rId35" Type="http://schemas.openxmlformats.org/officeDocument/2006/relationships/tags" Target="../tags/tag866.xml"/><Relationship Id="rId34" Type="http://schemas.openxmlformats.org/officeDocument/2006/relationships/tags" Target="../tags/tag865.xml"/><Relationship Id="rId33" Type="http://schemas.openxmlformats.org/officeDocument/2006/relationships/tags" Target="../tags/tag864.xml"/><Relationship Id="rId32" Type="http://schemas.openxmlformats.org/officeDocument/2006/relationships/tags" Target="../tags/tag863.xml"/><Relationship Id="rId31" Type="http://schemas.openxmlformats.org/officeDocument/2006/relationships/tags" Target="../tags/tag862.xml"/><Relationship Id="rId30" Type="http://schemas.openxmlformats.org/officeDocument/2006/relationships/tags" Target="../tags/tag861.xml"/><Relationship Id="rId3" Type="http://schemas.openxmlformats.org/officeDocument/2006/relationships/tags" Target="../tags/tag834.xml"/><Relationship Id="rId29" Type="http://schemas.openxmlformats.org/officeDocument/2006/relationships/tags" Target="../tags/tag860.xml"/><Relationship Id="rId28" Type="http://schemas.openxmlformats.org/officeDocument/2006/relationships/tags" Target="../tags/tag859.xml"/><Relationship Id="rId27" Type="http://schemas.openxmlformats.org/officeDocument/2006/relationships/tags" Target="../tags/tag858.xml"/><Relationship Id="rId26" Type="http://schemas.openxmlformats.org/officeDocument/2006/relationships/tags" Target="../tags/tag857.xml"/><Relationship Id="rId25" Type="http://schemas.openxmlformats.org/officeDocument/2006/relationships/tags" Target="../tags/tag856.xml"/><Relationship Id="rId24" Type="http://schemas.openxmlformats.org/officeDocument/2006/relationships/tags" Target="../tags/tag855.xml"/><Relationship Id="rId23" Type="http://schemas.openxmlformats.org/officeDocument/2006/relationships/tags" Target="../tags/tag854.xml"/><Relationship Id="rId22" Type="http://schemas.openxmlformats.org/officeDocument/2006/relationships/tags" Target="../tags/tag853.xml"/><Relationship Id="rId21" Type="http://schemas.openxmlformats.org/officeDocument/2006/relationships/tags" Target="../tags/tag852.xml"/><Relationship Id="rId20" Type="http://schemas.openxmlformats.org/officeDocument/2006/relationships/tags" Target="../tags/tag851.xml"/><Relationship Id="rId2" Type="http://schemas.openxmlformats.org/officeDocument/2006/relationships/tags" Target="../tags/tag833.xml"/><Relationship Id="rId19" Type="http://schemas.openxmlformats.org/officeDocument/2006/relationships/tags" Target="../tags/tag850.xml"/><Relationship Id="rId18" Type="http://schemas.openxmlformats.org/officeDocument/2006/relationships/tags" Target="../tags/tag849.xml"/><Relationship Id="rId17" Type="http://schemas.openxmlformats.org/officeDocument/2006/relationships/tags" Target="../tags/tag848.xml"/><Relationship Id="rId16" Type="http://schemas.openxmlformats.org/officeDocument/2006/relationships/tags" Target="../tags/tag847.xml"/><Relationship Id="rId15" Type="http://schemas.openxmlformats.org/officeDocument/2006/relationships/tags" Target="../tags/tag846.xml"/><Relationship Id="rId14" Type="http://schemas.openxmlformats.org/officeDocument/2006/relationships/tags" Target="../tags/tag845.xml"/><Relationship Id="rId13" Type="http://schemas.openxmlformats.org/officeDocument/2006/relationships/tags" Target="../tags/tag844.xml"/><Relationship Id="rId12" Type="http://schemas.openxmlformats.org/officeDocument/2006/relationships/tags" Target="../tags/tag843.xml"/><Relationship Id="rId11" Type="http://schemas.openxmlformats.org/officeDocument/2006/relationships/tags" Target="../tags/tag842.xml"/><Relationship Id="rId106" Type="http://schemas.openxmlformats.org/officeDocument/2006/relationships/slideLayout" Target="../slideLayouts/slideLayout7.xml"/><Relationship Id="rId105" Type="http://schemas.openxmlformats.org/officeDocument/2006/relationships/tags" Target="../tags/tag936.xml"/><Relationship Id="rId104" Type="http://schemas.openxmlformats.org/officeDocument/2006/relationships/tags" Target="../tags/tag935.xml"/><Relationship Id="rId103" Type="http://schemas.openxmlformats.org/officeDocument/2006/relationships/tags" Target="../tags/tag934.xml"/><Relationship Id="rId102" Type="http://schemas.openxmlformats.org/officeDocument/2006/relationships/tags" Target="../tags/tag933.xml"/><Relationship Id="rId101" Type="http://schemas.openxmlformats.org/officeDocument/2006/relationships/tags" Target="../tags/tag932.xml"/><Relationship Id="rId100" Type="http://schemas.openxmlformats.org/officeDocument/2006/relationships/tags" Target="../tags/tag931.xml"/><Relationship Id="rId10" Type="http://schemas.openxmlformats.org/officeDocument/2006/relationships/tags" Target="../tags/tag841.xml"/><Relationship Id="rId1" Type="http://schemas.openxmlformats.org/officeDocument/2006/relationships/slide" Target="slide4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slide" Target="slide27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943.xml"/><Relationship Id="rId8" Type="http://schemas.openxmlformats.org/officeDocument/2006/relationships/tags" Target="../tags/tag942.xml"/><Relationship Id="rId7" Type="http://schemas.openxmlformats.org/officeDocument/2006/relationships/tags" Target="../tags/tag941.xml"/><Relationship Id="rId6" Type="http://schemas.openxmlformats.org/officeDocument/2006/relationships/tags" Target="../tags/tag940.xml"/><Relationship Id="rId5" Type="http://schemas.openxmlformats.org/officeDocument/2006/relationships/tags" Target="../tags/tag939.xml"/><Relationship Id="rId42" Type="http://schemas.openxmlformats.org/officeDocument/2006/relationships/notesSlide" Target="../notesSlides/notesSlide27.xml"/><Relationship Id="rId41" Type="http://schemas.openxmlformats.org/officeDocument/2006/relationships/slideLayout" Target="../slideLayouts/slideLayout7.xml"/><Relationship Id="rId40" Type="http://schemas.openxmlformats.org/officeDocument/2006/relationships/tags" Target="../tags/tag974.xml"/><Relationship Id="rId4" Type="http://schemas.openxmlformats.org/officeDocument/2006/relationships/tags" Target="../tags/tag938.xml"/><Relationship Id="rId39" Type="http://schemas.openxmlformats.org/officeDocument/2006/relationships/tags" Target="../tags/tag973.xml"/><Relationship Id="rId38" Type="http://schemas.openxmlformats.org/officeDocument/2006/relationships/tags" Target="../tags/tag972.xml"/><Relationship Id="rId37" Type="http://schemas.openxmlformats.org/officeDocument/2006/relationships/tags" Target="../tags/tag971.xml"/><Relationship Id="rId36" Type="http://schemas.openxmlformats.org/officeDocument/2006/relationships/tags" Target="../tags/tag970.xml"/><Relationship Id="rId35" Type="http://schemas.openxmlformats.org/officeDocument/2006/relationships/tags" Target="../tags/tag969.xml"/><Relationship Id="rId34" Type="http://schemas.openxmlformats.org/officeDocument/2006/relationships/tags" Target="../tags/tag968.xml"/><Relationship Id="rId33" Type="http://schemas.openxmlformats.org/officeDocument/2006/relationships/tags" Target="../tags/tag967.xml"/><Relationship Id="rId32" Type="http://schemas.openxmlformats.org/officeDocument/2006/relationships/tags" Target="../tags/tag966.xml"/><Relationship Id="rId31" Type="http://schemas.openxmlformats.org/officeDocument/2006/relationships/tags" Target="../tags/tag965.xml"/><Relationship Id="rId30" Type="http://schemas.openxmlformats.org/officeDocument/2006/relationships/tags" Target="../tags/tag964.xml"/><Relationship Id="rId3" Type="http://schemas.openxmlformats.org/officeDocument/2006/relationships/tags" Target="../tags/tag937.xml"/><Relationship Id="rId29" Type="http://schemas.openxmlformats.org/officeDocument/2006/relationships/tags" Target="../tags/tag963.xml"/><Relationship Id="rId28" Type="http://schemas.openxmlformats.org/officeDocument/2006/relationships/tags" Target="../tags/tag962.xml"/><Relationship Id="rId27" Type="http://schemas.openxmlformats.org/officeDocument/2006/relationships/tags" Target="../tags/tag961.xml"/><Relationship Id="rId26" Type="http://schemas.openxmlformats.org/officeDocument/2006/relationships/tags" Target="../tags/tag960.xml"/><Relationship Id="rId25" Type="http://schemas.openxmlformats.org/officeDocument/2006/relationships/tags" Target="../tags/tag959.xml"/><Relationship Id="rId24" Type="http://schemas.openxmlformats.org/officeDocument/2006/relationships/tags" Target="../tags/tag958.xml"/><Relationship Id="rId23" Type="http://schemas.openxmlformats.org/officeDocument/2006/relationships/tags" Target="../tags/tag957.xml"/><Relationship Id="rId22" Type="http://schemas.openxmlformats.org/officeDocument/2006/relationships/tags" Target="../tags/tag956.xml"/><Relationship Id="rId21" Type="http://schemas.openxmlformats.org/officeDocument/2006/relationships/tags" Target="../tags/tag955.xml"/><Relationship Id="rId20" Type="http://schemas.openxmlformats.org/officeDocument/2006/relationships/tags" Target="../tags/tag954.xml"/><Relationship Id="rId2" Type="http://schemas.openxmlformats.org/officeDocument/2006/relationships/slide" Target="slide42.xml"/><Relationship Id="rId19" Type="http://schemas.openxmlformats.org/officeDocument/2006/relationships/tags" Target="../tags/tag953.xml"/><Relationship Id="rId18" Type="http://schemas.openxmlformats.org/officeDocument/2006/relationships/tags" Target="../tags/tag952.xml"/><Relationship Id="rId17" Type="http://schemas.openxmlformats.org/officeDocument/2006/relationships/tags" Target="../tags/tag951.xml"/><Relationship Id="rId16" Type="http://schemas.openxmlformats.org/officeDocument/2006/relationships/tags" Target="../tags/tag950.xml"/><Relationship Id="rId15" Type="http://schemas.openxmlformats.org/officeDocument/2006/relationships/tags" Target="../tags/tag949.xml"/><Relationship Id="rId14" Type="http://schemas.openxmlformats.org/officeDocument/2006/relationships/tags" Target="../tags/tag948.xml"/><Relationship Id="rId13" Type="http://schemas.openxmlformats.org/officeDocument/2006/relationships/tags" Target="../tags/tag947.xml"/><Relationship Id="rId12" Type="http://schemas.openxmlformats.org/officeDocument/2006/relationships/tags" Target="../tags/tag946.xml"/><Relationship Id="rId11" Type="http://schemas.openxmlformats.org/officeDocument/2006/relationships/tags" Target="../tags/tag945.xml"/><Relationship Id="rId10" Type="http://schemas.openxmlformats.org/officeDocument/2006/relationships/tags" Target="../tags/tag944.xml"/><Relationship Id="rId1" Type="http://schemas.openxmlformats.org/officeDocument/2006/relationships/slide" Target="slide2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slide" Target="slide28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7.xml"/><Relationship Id="rId2" Type="http://schemas.openxmlformats.org/officeDocument/2006/relationships/slide" Target="slide36.xml"/><Relationship Id="rId1" Type="http://schemas.openxmlformats.org/officeDocument/2006/relationships/slide" Target="slide2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7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7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7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1065213" y="2132856"/>
            <a:ext cx="7240587" cy="769441"/>
          </a:xfrm>
          <a:prstGeom prst="rect">
            <a:avLst/>
          </a:prstGeom>
          <a:solidFill>
            <a:srgbClr val="99CCFF">
              <a:alpha val="79999"/>
            </a:srgbClr>
          </a:solidFill>
          <a:ln w="9525">
            <a:noFill/>
            <a:miter lim="800000"/>
          </a:ln>
        </p:spPr>
        <p:txBody>
          <a:bodyPr anchor="ctr" anchorCtr="1">
            <a:spAutoFit/>
          </a:bodyPr>
          <a:lstStyle/>
          <a:p>
            <a:pPr algn="ctr"/>
            <a:r>
              <a:rPr kumimoji="1"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计算机组成原理专题实践</a:t>
            </a:r>
            <a:endParaRPr kumimoji="1" lang="en-US" altLang="zh-CN" sz="44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1403350" y="3411079"/>
            <a:ext cx="6624638" cy="107632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C3300"/>
                </a:solidFill>
              </a:rPr>
              <a:t>东南大学计算机学院  </a:t>
            </a:r>
            <a:endParaRPr lang="zh-CN" altLang="en-US" sz="3200" b="1" dirty="0">
              <a:solidFill>
                <a:srgbClr val="CC3300"/>
              </a:solidFill>
            </a:endParaRPr>
          </a:p>
          <a:p>
            <a:pPr algn="ctr"/>
            <a:r>
              <a:rPr lang="zh-CN" altLang="en-US" sz="3200" b="1" dirty="0">
                <a:solidFill>
                  <a:srgbClr val="CC3300"/>
                </a:solidFill>
              </a:rPr>
              <a:t>时霄</a:t>
            </a:r>
            <a:r>
              <a:rPr lang="en-US" altLang="zh-CN" sz="3200" b="1" dirty="0">
                <a:solidFill>
                  <a:srgbClr val="CC3300"/>
                </a:solidFill>
              </a:rPr>
              <a:t> </a:t>
            </a:r>
            <a:r>
              <a:rPr lang="zh-CN" altLang="en-US" sz="3200" b="1" dirty="0">
                <a:solidFill>
                  <a:srgbClr val="CC3300"/>
                </a:solidFill>
              </a:rPr>
              <a:t>陈芸丽</a:t>
            </a:r>
            <a:endParaRPr lang="zh-CN" altLang="en-US" sz="3200" b="1" dirty="0">
              <a:solidFill>
                <a:srgbClr val="CC33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179512" y="972000"/>
            <a:ext cx="8785101" cy="32073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*教学方式：</a:t>
            </a:r>
            <a:r>
              <a:rPr lang="zh-CN" altLang="en-US" sz="2200" b="1" dirty="0">
                <a:latin typeface="宋体" panose="02010600030101010101" pitchFamily="2" charset="-122"/>
              </a:rPr>
              <a:t>理论</a:t>
            </a:r>
            <a:r>
              <a:rPr lang="en-US" altLang="zh-CN" sz="1800" b="1" dirty="0">
                <a:latin typeface="宋体" panose="02010600030101010101" pitchFamily="2" charset="-122"/>
              </a:rPr>
              <a:t>(8</a:t>
            </a:r>
            <a:r>
              <a:rPr lang="zh-CN" altLang="en-US" sz="1800" b="1" dirty="0">
                <a:latin typeface="宋体" panose="02010600030101010101" pitchFamily="2" charset="-122"/>
              </a:rPr>
              <a:t>学时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＋实验</a:t>
            </a:r>
            <a:r>
              <a:rPr lang="en-US" altLang="zh-CN" sz="1800" b="1" dirty="0">
                <a:latin typeface="宋体" panose="02010600030101010101" pitchFamily="2" charset="-122"/>
              </a:rPr>
              <a:t>(24</a:t>
            </a:r>
            <a:r>
              <a:rPr lang="zh-CN" altLang="en-US" sz="1800" b="1" dirty="0">
                <a:latin typeface="宋体" panose="02010600030101010101" pitchFamily="2" charset="-122"/>
              </a:rPr>
              <a:t>学时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*参考教材：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>
                <a:latin typeface="宋体" panose="02010600030101010101" pitchFamily="2" charset="-122"/>
              </a:rPr>
              <a:t>任国林</a:t>
            </a:r>
            <a:r>
              <a:rPr lang="en-US" altLang="zh-CN" sz="2200" b="1" dirty="0">
                <a:latin typeface="宋体" panose="02010600030101010101" pitchFamily="2" charset="-122"/>
              </a:rPr>
              <a:t>.</a:t>
            </a:r>
            <a:r>
              <a:rPr lang="zh-CN" altLang="en-US" sz="2200" b="1" dirty="0">
                <a:latin typeface="宋体" panose="02010600030101010101" pitchFamily="2" charset="-122"/>
              </a:rPr>
              <a:t>计算机组成原理专题实践</a:t>
            </a:r>
            <a:r>
              <a:rPr lang="en-US" altLang="zh-CN" sz="2200" b="1" dirty="0">
                <a:latin typeface="宋体" panose="02010600030101010101" pitchFamily="2" charset="-122"/>
              </a:rPr>
              <a:t>(2026</a:t>
            </a:r>
            <a:r>
              <a:rPr lang="zh-CN" altLang="en-US" sz="2200" b="1" dirty="0">
                <a:latin typeface="宋体" panose="02010600030101010101" pitchFamily="2" charset="-122"/>
              </a:rPr>
              <a:t>版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，自编讲义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   任国林</a:t>
            </a:r>
            <a:r>
              <a:rPr lang="en-US" altLang="zh-CN" sz="2200" b="1" dirty="0">
                <a:latin typeface="宋体" panose="02010600030101010101" pitchFamily="2" charset="-122"/>
              </a:rPr>
              <a:t>.</a:t>
            </a:r>
            <a:r>
              <a:rPr lang="zh-CN" altLang="en-US" sz="2200" b="1" dirty="0">
                <a:latin typeface="宋体" panose="02010600030101010101" pitchFamily="2" charset="-122"/>
              </a:rPr>
              <a:t>计算机组成原理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zh-CN" altLang="en-US" sz="2200" b="1" dirty="0">
                <a:latin typeface="宋体" panose="02010600030101010101" pitchFamily="2" charset="-122"/>
              </a:rPr>
              <a:t>第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版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，电子工业出版社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*先修课程：</a:t>
            </a:r>
            <a:r>
              <a:rPr lang="zh-CN" altLang="en-US" sz="2200" b="1" dirty="0">
                <a:latin typeface="宋体" panose="02010600030101010101" pitchFamily="2" charset="-122"/>
              </a:rPr>
              <a:t>计算机组成原理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*教学安排：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理论课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        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实验课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 Box 78"/>
          <p:cNvSpPr txBox="1">
            <a:spLocks noChangeArrowheads="1"/>
          </p:cNvSpPr>
          <p:nvPr/>
        </p:nvSpPr>
        <p:spPr bwMode="auto">
          <a:xfrm>
            <a:off x="179388" y="467295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en-US" altLang="zh-CN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※ </a:t>
            </a:r>
            <a:r>
              <a:rPr kumimoji="1" lang="zh-CN" altLang="en-US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教学安排</a:t>
            </a:r>
            <a:endParaRPr kumimoji="1" lang="zh-CN" altLang="en-US" sz="2400" b="1" dirty="0">
              <a:solidFill>
                <a:srgbClr val="FF3300"/>
              </a:solidFill>
              <a:latin typeface="宋体" panose="0201060003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8" name="Text Box 191"/>
          <p:cNvSpPr txBox="1">
            <a:spLocks noChangeArrowheads="1"/>
          </p:cNvSpPr>
          <p:nvPr/>
        </p:nvSpPr>
        <p:spPr bwMode="auto">
          <a:xfrm>
            <a:off x="3059430" y="3239770"/>
            <a:ext cx="5895340" cy="1214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</a:rPr>
              <a:t>第</a:t>
            </a:r>
            <a:r>
              <a:rPr lang="en-US" altLang="zh-CN" sz="2200" b="1" dirty="0">
                <a:latin typeface="+mn-ea"/>
              </a:rPr>
              <a:t>1</a:t>
            </a:r>
            <a:r>
              <a:rPr lang="zh-CN" altLang="en-US" sz="2200" b="1" dirty="0">
                <a:latin typeface="+mn-ea"/>
              </a:rPr>
              <a:t>周～第</a:t>
            </a:r>
            <a:r>
              <a:rPr lang="en-US" altLang="zh-CN" sz="2200" b="1" dirty="0">
                <a:latin typeface="+mn-ea"/>
              </a:rPr>
              <a:t>3</a:t>
            </a:r>
            <a:r>
              <a:rPr lang="zh-CN" altLang="en-US" sz="2200" b="1" dirty="0">
                <a:latin typeface="+mn-ea"/>
              </a:rPr>
              <a:t>周，</a:t>
            </a:r>
            <a:r>
              <a:rPr lang="en-US" altLang="zh-CN" sz="2200" b="1" dirty="0">
                <a:latin typeface="+mn-ea"/>
              </a:rPr>
              <a:t>3</a:t>
            </a:r>
            <a:r>
              <a:rPr lang="zh-CN" altLang="en-US" sz="2200" b="1" dirty="0">
                <a:latin typeface="+mn-ea"/>
              </a:rPr>
              <a:t>学时</a:t>
            </a:r>
            <a:r>
              <a:rPr lang="en-US" sz="2200" b="1" dirty="0">
                <a:latin typeface="+mn-ea"/>
              </a:rPr>
              <a:t>+</a:t>
            </a:r>
            <a:r>
              <a:rPr lang="en-US" altLang="zh-CN" sz="2200" b="1" dirty="0">
                <a:latin typeface="+mn-ea"/>
                <a:sym typeface="+mn-ea"/>
              </a:rPr>
              <a:t>3</a:t>
            </a:r>
            <a:r>
              <a:rPr lang="zh-CN" altLang="en-US" sz="2200" b="1" dirty="0">
                <a:latin typeface="+mn-ea"/>
                <a:sym typeface="+mn-ea"/>
              </a:rPr>
              <a:t>学时</a:t>
            </a:r>
            <a:r>
              <a:rPr lang="en-US" altLang="zh-CN" sz="2200" b="1" dirty="0">
                <a:latin typeface="+mn-ea"/>
                <a:sym typeface="+mn-ea"/>
              </a:rPr>
              <a:t>+2</a:t>
            </a:r>
            <a:r>
              <a:rPr lang="zh-CN" altLang="en-US" sz="2200" b="1" dirty="0">
                <a:latin typeface="+mn-ea"/>
                <a:sym typeface="+mn-ea"/>
              </a:rPr>
              <a:t>学时</a:t>
            </a:r>
            <a:r>
              <a:rPr lang="zh-CN" altLang="en-US" sz="2200" b="1" dirty="0">
                <a:latin typeface="+mn-ea"/>
              </a:rPr>
              <a:t>，共</a:t>
            </a:r>
            <a:r>
              <a:rPr lang="en-US" altLang="zh-CN" sz="2200" b="1" dirty="0">
                <a:latin typeface="+mn-ea"/>
              </a:rPr>
              <a:t>3</a:t>
            </a:r>
            <a:r>
              <a:rPr lang="zh-CN" altLang="en-US" sz="2200" b="1" dirty="0">
                <a:latin typeface="+mn-ea"/>
              </a:rPr>
              <a:t>次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lang="zh-CN" altLang="en-US" sz="2200" b="1" dirty="0">
                <a:latin typeface="+mn-ea"/>
              </a:rPr>
              <a:t>第4周～第11周，3学时/次、共8次</a:t>
            </a:r>
            <a:endParaRPr lang="zh-CN" altLang="en-US" sz="2200" b="1" dirty="0">
              <a:latin typeface="+mn-ea"/>
            </a:endParaRPr>
          </a:p>
          <a:p>
            <a:pPr>
              <a:lnSpc>
                <a:spcPct val="90000"/>
              </a:lnSpc>
              <a:spcBef>
                <a:spcPts val="0"/>
              </a:spcBef>
              <a:defRPr/>
            </a:pPr>
            <a:r>
              <a:rPr lang="en-US" altLang="zh-CN" sz="2000" b="1" dirty="0">
                <a:latin typeface="+mn-ea"/>
                <a:ea typeface="+mn-ea"/>
              </a:rPr>
              <a:t> 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课外需要预习、提前实现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endParaRPr lang="en-US" altLang="zh-CN" b="1" dirty="0">
              <a:latin typeface="+mn-ea"/>
              <a:ea typeface="+mn-ea"/>
            </a:endParaRPr>
          </a:p>
        </p:txBody>
      </p:sp>
      <p:sp>
        <p:nvSpPr>
          <p:cNvPr id="10" name="Text Box 349"/>
          <p:cNvSpPr txBox="1">
            <a:spLocks noChangeArrowheads="1"/>
          </p:cNvSpPr>
          <p:nvPr/>
        </p:nvSpPr>
        <p:spPr bwMode="auto">
          <a:xfrm>
            <a:off x="1259632" y="4941168"/>
            <a:ext cx="5976664" cy="429895"/>
          </a:xfrm>
          <a:prstGeom prst="rect">
            <a:avLst/>
          </a:prstGeom>
          <a:noFill/>
          <a:ln w="12700">
            <a:noFill/>
            <a:prstDash val="sysDot"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课程群：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群号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1087469874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78"/>
          <p:cNvSpPr txBox="1">
            <a:spLocks noChangeArrowheads="1"/>
          </p:cNvSpPr>
          <p:nvPr/>
        </p:nvSpPr>
        <p:spPr bwMode="auto">
          <a:xfrm>
            <a:off x="179388" y="468000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kumimoji="1"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 altLang="zh-CN" sz="2400" dirty="0"/>
              <a:t>※ </a:t>
            </a:r>
            <a:r>
              <a:rPr lang="zh-CN" altLang="en-US" sz="2400" dirty="0"/>
              <a:t>设计要求</a:t>
            </a:r>
            <a:endParaRPr lang="zh-CN" altLang="en-US" sz="2400" dirty="0"/>
          </a:p>
        </p:txBody>
      </p:sp>
      <p:sp>
        <p:nvSpPr>
          <p:cNvPr id="5" name="Text Box 191"/>
          <p:cNvSpPr txBox="1">
            <a:spLocks noChangeArrowheads="1"/>
          </p:cNvSpPr>
          <p:nvPr/>
        </p:nvSpPr>
        <p:spPr bwMode="auto">
          <a:xfrm>
            <a:off x="206375" y="994265"/>
            <a:ext cx="7101929" cy="4812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*设计目标：</a:t>
            </a:r>
            <a:r>
              <a:rPr lang="zh-CN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支持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RISC-V</a:t>
            </a:r>
            <a:r>
              <a:rPr lang="zh-CN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指令集的模型机主机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*设计要求：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    CPU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功能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—</a:t>
            </a:r>
            <a:endParaRPr lang="en-US" altLang="zh-CN" sz="2200" b="1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    CPU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结构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主存参数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*实现要求：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Text Box 191"/>
          <p:cNvSpPr txBox="1">
            <a:spLocks noChangeArrowheads="1"/>
          </p:cNvSpPr>
          <p:nvPr/>
        </p:nvSpPr>
        <p:spPr bwMode="auto">
          <a:xfrm>
            <a:off x="1907703" y="1844824"/>
            <a:ext cx="7029921" cy="42661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支持</a:t>
            </a:r>
            <a:r>
              <a:rPr lang="en-US" altLang="zh-CN" sz="22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15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条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指令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已指定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不支持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异常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中断处理；</a:t>
            </a:r>
            <a:endParaRPr lang="zh-CN" altLang="en-US" sz="2200" b="1" dirty="0"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pt-BR" altLang="zh-CN" sz="2200" b="1" spc="-50" dirty="0">
                <a:latin typeface="+mn-ea"/>
                <a:ea typeface="+mn-ea"/>
              </a:rPr>
              <a:t> </a:t>
            </a:r>
            <a:r>
              <a:rPr lang="pt-BR" altLang="zh-CN" sz="2200" b="1" u="sng" spc="-50" dirty="0">
                <a:latin typeface="+mn-ea"/>
                <a:ea typeface="+mn-ea"/>
              </a:rPr>
              <a:t>MMU</a:t>
            </a:r>
            <a:r>
              <a:rPr lang="zh-CN" altLang="en-US" sz="2200" b="1" spc="-50" dirty="0">
                <a:latin typeface="+mn-ea"/>
                <a:ea typeface="+mn-ea"/>
              </a:rPr>
              <a:t>采用</a:t>
            </a:r>
            <a:r>
              <a:rPr lang="zh-CN" altLang="en-US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实地址</a:t>
            </a:r>
            <a:r>
              <a:rPr lang="zh-CN" altLang="en-US" sz="2200" b="1" spc="-50" dirty="0">
                <a:latin typeface="+mn-ea"/>
                <a:ea typeface="+mn-ea"/>
              </a:rPr>
              <a:t>管理方式</a:t>
            </a:r>
            <a:endParaRPr lang="en-US" altLang="zh-CN" sz="2200" b="1" spc="-50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spc="-50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200" b="1" u="sng" spc="-50" dirty="0">
                <a:latin typeface="+mn-ea"/>
                <a:ea typeface="+mn-ea"/>
                <a:cs typeface="Times New Roman" panose="02020603050405020304" pitchFamily="18" charset="0"/>
              </a:rPr>
              <a:t>指令周期</a:t>
            </a:r>
            <a:r>
              <a:rPr lang="zh-CN" altLang="en-US" sz="2200" b="1" spc="-50" dirty="0">
                <a:latin typeface="+mn-ea"/>
                <a:ea typeface="+mn-ea"/>
                <a:cs typeface="Times New Roman" panose="02020603050405020304" pitchFamily="18" charset="0"/>
              </a:rPr>
              <a:t>为</a:t>
            </a:r>
            <a:r>
              <a:rPr lang="zh-CN" altLang="zh-CN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单</a:t>
            </a:r>
            <a:r>
              <a:rPr lang="zh-CN" altLang="en-US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周期</a:t>
            </a:r>
            <a:r>
              <a:rPr lang="zh-CN" altLang="en-US" sz="2200" b="1" spc="-50" dirty="0">
                <a:solidFill>
                  <a:srgbClr val="FF3399"/>
                </a:solidFill>
                <a:latin typeface="+mn-ea"/>
                <a:ea typeface="+mn-ea"/>
              </a:rPr>
              <a:t>或</a:t>
            </a:r>
            <a:r>
              <a:rPr lang="zh-CN" altLang="en-US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多</a:t>
            </a:r>
            <a:r>
              <a:rPr lang="zh-CN" altLang="zh-CN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周期</a:t>
            </a:r>
            <a:r>
              <a:rPr lang="zh-CN" altLang="en-US" sz="2200" b="1" spc="-50" dirty="0">
                <a:latin typeface="+mn-ea"/>
                <a:ea typeface="+mn-ea"/>
              </a:rPr>
              <a:t>，</a:t>
            </a:r>
            <a:endParaRPr lang="en-US" altLang="zh-CN" sz="2200" b="1" spc="-50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spc="-50" dirty="0">
                <a:latin typeface="+mn-ea"/>
                <a:ea typeface="+mn-ea"/>
              </a:rPr>
              <a:t> </a:t>
            </a:r>
            <a:r>
              <a:rPr lang="zh-CN" altLang="zh-CN" sz="2200" b="1" u="sng" spc="-50" dirty="0">
                <a:latin typeface="+mn-ea"/>
                <a:ea typeface="+mn-ea"/>
              </a:rPr>
              <a:t>数据通路</a:t>
            </a:r>
            <a:r>
              <a:rPr lang="zh-CN" altLang="en-US" sz="2200" b="1" spc="-50" dirty="0">
                <a:latin typeface="+mn-ea"/>
                <a:ea typeface="+mn-ea"/>
              </a:rPr>
              <a:t>为</a:t>
            </a:r>
            <a:r>
              <a:rPr lang="zh-CN" altLang="en-US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专用结构</a:t>
            </a:r>
            <a:r>
              <a:rPr lang="zh-CN" altLang="en-US" sz="2200" b="1" spc="-50" dirty="0">
                <a:latin typeface="+mn-ea"/>
                <a:ea typeface="+mn-ea"/>
              </a:rPr>
              <a:t>，</a:t>
            </a:r>
            <a:r>
              <a:rPr lang="zh-CN" altLang="en-US" sz="2200" b="1" u="sng" spc="-50" dirty="0">
                <a:latin typeface="+mn-ea"/>
                <a:ea typeface="+mn-ea"/>
              </a:rPr>
              <a:t>存储器</a:t>
            </a:r>
            <a:r>
              <a:rPr lang="zh-CN" altLang="en-US" sz="2200" b="1" spc="-50" dirty="0">
                <a:latin typeface="+mn-ea"/>
                <a:ea typeface="+mn-ea"/>
              </a:rPr>
              <a:t>为</a:t>
            </a:r>
            <a:r>
              <a:rPr lang="zh-CN" altLang="en-US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哈佛结构</a:t>
            </a:r>
            <a:r>
              <a:rPr lang="zh-CN" altLang="en-US" sz="2200" b="1" spc="-50" dirty="0">
                <a:latin typeface="+mn-ea"/>
                <a:ea typeface="+mn-ea"/>
              </a:rPr>
              <a:t>，</a:t>
            </a:r>
            <a:endParaRPr lang="en-US" altLang="zh-CN" sz="2200" b="1" spc="-50" dirty="0">
              <a:latin typeface="+mn-ea"/>
              <a:ea typeface="+mn-ea"/>
            </a:endParaRPr>
          </a:p>
          <a:p>
            <a:pPr marL="3234055" indent="-3234055"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spc="-5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200" b="1" u="sng" spc="-50" dirty="0">
                <a:latin typeface="+mn-ea"/>
                <a:ea typeface="+mn-ea"/>
              </a:rPr>
              <a:t>BIU</a:t>
            </a:r>
            <a:r>
              <a:rPr lang="zh-CN" altLang="en-US" sz="2200" b="1" spc="-50" dirty="0">
                <a:latin typeface="+mn-ea"/>
                <a:ea typeface="+mn-ea"/>
              </a:rPr>
              <a:t>为数据线</a:t>
            </a:r>
            <a:r>
              <a:rPr lang="en-US" altLang="zh-CN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32</a:t>
            </a:r>
            <a:r>
              <a:rPr lang="zh-CN" altLang="en-US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位</a:t>
            </a:r>
            <a:r>
              <a:rPr lang="zh-CN" altLang="en-US" sz="2200" b="1" spc="-50" dirty="0">
                <a:latin typeface="+mn-ea"/>
                <a:ea typeface="+mn-ea"/>
              </a:rPr>
              <a:t>、地址空间</a:t>
            </a:r>
            <a:r>
              <a:rPr lang="en-US" altLang="zh-CN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32</a:t>
            </a:r>
            <a:r>
              <a:rPr lang="zh-CN" altLang="zh-CN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位</a:t>
            </a:r>
            <a:r>
              <a:rPr lang="zh-CN" altLang="en-US" sz="2200" b="1" spc="-50" dirty="0">
                <a:latin typeface="+mn-ea"/>
                <a:ea typeface="+mn-ea"/>
              </a:rPr>
              <a:t>、控制线</a:t>
            </a:r>
            <a:r>
              <a:rPr lang="en-US" altLang="zh-CN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3</a:t>
            </a:r>
            <a:r>
              <a:rPr lang="zh-CN" altLang="en-US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根</a:t>
            </a:r>
            <a:r>
              <a:rPr lang="en-US" altLang="zh-CN" b="1" spc="-50" dirty="0">
                <a:latin typeface="+mn-ea"/>
                <a:ea typeface="+mn-ea"/>
              </a:rPr>
              <a:t>(R/W/CLK)</a:t>
            </a:r>
            <a:r>
              <a:rPr lang="zh-CN" altLang="en-US" sz="2200" b="1" spc="-50" dirty="0">
                <a:latin typeface="+mn-ea"/>
                <a:ea typeface="+mn-ea"/>
              </a:rPr>
              <a:t>，</a:t>
            </a:r>
            <a:endParaRPr lang="en-US" altLang="zh-CN" sz="2200" b="1" spc="-50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spc="-5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200" b="1" u="sng" spc="-50" dirty="0">
                <a:latin typeface="+mn-ea"/>
              </a:rPr>
              <a:t>CU</a:t>
            </a:r>
            <a:r>
              <a:rPr lang="zh-CN" altLang="en-US" sz="2200" b="1" spc="-50" dirty="0">
                <a:latin typeface="+mn-ea"/>
              </a:rPr>
              <a:t>采用</a:t>
            </a:r>
            <a:r>
              <a:rPr lang="zh-CN" altLang="zh-CN" sz="2200" b="1" u="sng" spc="-50" dirty="0">
                <a:solidFill>
                  <a:srgbClr val="0070C0"/>
                </a:solidFill>
                <a:latin typeface="+mn-ea"/>
              </a:rPr>
              <a:t>硬布线</a:t>
            </a:r>
            <a:r>
              <a:rPr lang="zh-CN" altLang="en-US" sz="2200" b="1" spc="-50" dirty="0">
                <a:latin typeface="+mn-ea"/>
              </a:rPr>
              <a:t>方式实现、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μOP</a:t>
            </a:r>
            <a:r>
              <a:rPr lang="zh-CN" altLang="zh-CN" sz="2200" b="1" dirty="0"/>
              <a:t>采用</a:t>
            </a:r>
            <a:r>
              <a:rPr lang="zh-CN" altLang="zh-CN" sz="2200" b="1" u="sng" spc="-50" dirty="0">
                <a:solidFill>
                  <a:srgbClr val="0070C0"/>
                </a:solidFill>
                <a:latin typeface="+mn-ea"/>
              </a:rPr>
              <a:t>同步</a:t>
            </a:r>
            <a:r>
              <a:rPr lang="zh-CN" altLang="zh-CN" sz="2200" b="1" spc="-50" dirty="0">
                <a:latin typeface="+mn-ea"/>
              </a:rPr>
              <a:t>方式定时</a:t>
            </a:r>
            <a:endParaRPr lang="en-US" altLang="zh-CN" sz="2200" b="1" spc="-50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  分别为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同步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ROM/SRAM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，容量均为</a:t>
            </a:r>
            <a:r>
              <a:rPr lang="en-US" altLang="zh-CN" sz="22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4KB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；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主存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直接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连接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CPU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200" b="1" dirty="0">
                <a:latin typeface="+mn-ea"/>
                <a:ea typeface="+mn-ea"/>
              </a:rPr>
              <a:t>存取</a:t>
            </a:r>
            <a:r>
              <a:rPr lang="zh-CN" altLang="zh-CN" sz="2200" b="1" dirty="0">
                <a:latin typeface="+mn-ea"/>
                <a:ea typeface="+mn-ea"/>
              </a:rPr>
              <a:t>周期＜</a:t>
            </a:r>
            <a:r>
              <a:rPr lang="pt-BR" altLang="zh-CN" sz="2200" b="1" dirty="0">
                <a:latin typeface="+mn-ea"/>
                <a:ea typeface="+mn-ea"/>
              </a:rPr>
              <a:t>1</a:t>
            </a:r>
            <a:r>
              <a:rPr lang="zh-CN" altLang="zh-CN" sz="2200" b="1" dirty="0">
                <a:latin typeface="+mn-ea"/>
                <a:ea typeface="+mn-ea"/>
              </a:rPr>
              <a:t>个时钟周期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</a:rPr>
              <a:t>基于</a:t>
            </a:r>
            <a:r>
              <a:rPr lang="en-US" altLang="zh-CN" sz="2200" b="1" dirty="0">
                <a:latin typeface="+mn-ea"/>
              </a:rPr>
              <a:t>Quartus II</a:t>
            </a:r>
            <a:r>
              <a:rPr lang="zh-CN" altLang="en-US" sz="2200" b="1" dirty="0">
                <a:latin typeface="+mn-ea"/>
              </a:rPr>
              <a:t>进行，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u="sng" dirty="0">
                <a:latin typeface="+mn-ea"/>
              </a:rPr>
              <a:t>电路实现</a:t>
            </a:r>
            <a:r>
              <a:rPr lang="zh-CN" altLang="en-US" sz="2200" b="1" dirty="0">
                <a:latin typeface="+mn-ea"/>
              </a:rPr>
              <a:t>采用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</a:rPr>
              <a:t>原理图</a:t>
            </a:r>
            <a:r>
              <a:rPr lang="zh-CN" altLang="en-US" sz="2200" b="1" dirty="0">
                <a:latin typeface="+mn-ea"/>
              </a:rPr>
              <a:t>方式，</a:t>
            </a:r>
            <a:r>
              <a:rPr lang="zh-CN" altLang="en-US" sz="2200" b="1" u="sng" dirty="0">
                <a:latin typeface="+mn-ea"/>
              </a:rPr>
              <a:t>电路测试</a:t>
            </a:r>
            <a:r>
              <a:rPr lang="zh-CN" altLang="en-US" sz="2200" b="1" dirty="0">
                <a:latin typeface="+mn-ea"/>
              </a:rPr>
              <a:t>采用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</a:rPr>
              <a:t>功能仿真</a:t>
            </a:r>
            <a:r>
              <a:rPr lang="zh-CN" altLang="en-US" sz="2200" b="1" dirty="0">
                <a:latin typeface="+mn-ea"/>
              </a:rPr>
              <a:t>方式</a:t>
            </a:r>
            <a:endParaRPr lang="en-US" altLang="zh-CN" sz="2200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78"/>
          <p:cNvSpPr txBox="1">
            <a:spLocks noChangeArrowheads="1"/>
          </p:cNvSpPr>
          <p:nvPr/>
        </p:nvSpPr>
        <p:spPr bwMode="auto">
          <a:xfrm>
            <a:off x="179388" y="468000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kumimoji="1"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 altLang="zh-CN" sz="2400" dirty="0"/>
              <a:t>※ </a:t>
            </a:r>
            <a:r>
              <a:rPr lang="zh-CN" altLang="en-US" sz="2400" dirty="0"/>
              <a:t>考核方法</a:t>
            </a:r>
            <a:endParaRPr lang="zh-CN" altLang="en-US" sz="2400" dirty="0"/>
          </a:p>
        </p:txBody>
      </p:sp>
      <p:sp>
        <p:nvSpPr>
          <p:cNvPr id="4" name="Text Box 191"/>
          <p:cNvSpPr txBox="1">
            <a:spLocks noChangeArrowheads="1"/>
          </p:cNvSpPr>
          <p:nvPr/>
        </p:nvSpPr>
        <p:spPr bwMode="auto">
          <a:xfrm>
            <a:off x="179512" y="972000"/>
            <a:ext cx="8856984" cy="43430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*考核单位：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</a:rPr>
              <a:t>组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  <a:sym typeface="+mn-ea"/>
              </a:rPr>
              <a:t>≤</a:t>
            </a:r>
            <a:r>
              <a:rPr lang="en-US" altLang="zh-CN" sz="1800" b="1" dirty="0">
                <a:latin typeface="+mn-ea"/>
                <a:sym typeface="+mn-ea"/>
              </a:rPr>
              <a:t>2</a:t>
            </a:r>
            <a:r>
              <a:rPr lang="zh-CN" altLang="en-US" sz="1800" b="1" dirty="0">
                <a:latin typeface="+mn-ea"/>
                <a:sym typeface="+mn-ea"/>
              </a:rPr>
              <a:t>人、</a:t>
            </a:r>
            <a:r>
              <a:rPr lang="zh-CN" altLang="en-US" b="1" dirty="0">
                <a:latin typeface="+mn-ea"/>
              </a:rPr>
              <a:t>自由组合</a:t>
            </a:r>
            <a:r>
              <a:rPr lang="en-US" altLang="zh-CN" b="1" dirty="0">
                <a:latin typeface="+mn-ea"/>
              </a:rPr>
              <a:t>)</a:t>
            </a:r>
            <a:r>
              <a:rPr lang="zh-CN" altLang="en-US" sz="2200" b="1" dirty="0">
                <a:latin typeface="+mn-ea"/>
              </a:rPr>
              <a:t>，细化到个人</a:t>
            </a: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*考核内容：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</a:rPr>
              <a:t>设计验收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</a:rPr>
              <a:t>和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</a:rPr>
              <a:t>设计报告</a:t>
            </a:r>
            <a:endParaRPr lang="zh-CN" altLang="en-US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考核要求：</a:t>
            </a:r>
            <a:endParaRPr lang="zh-CN" altLang="en-US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</a:rPr>
              <a:t> 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</a:rPr>
              <a:t>设计验收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sym typeface="+mn-ea"/>
              </a:rPr>
              <a:t>—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</a:t>
            </a: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设计报告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sym typeface="+mn-ea"/>
              </a:rPr>
              <a:t>—</a:t>
            </a:r>
            <a:endParaRPr lang="zh-CN" altLang="en-US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提交内容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&amp;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方法：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</a:rPr>
              <a:t>以</a:t>
            </a:r>
            <a:r>
              <a:rPr lang="zh-CN" altLang="en-US" sz="1800" b="1" dirty="0">
                <a:solidFill>
                  <a:srgbClr val="FF3399"/>
                </a:solidFill>
                <a:latin typeface="+mn-ea"/>
              </a:rPr>
              <a:t>组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</a:rPr>
              <a:t>为单位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</a:rPr>
              <a:t>)</a:t>
            </a:r>
            <a:endParaRPr lang="en-US" altLang="zh-CN" sz="24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</a:rPr>
              <a:t>设计报告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sym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</a:rPr>
              <a:t>实现电路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</a:rPr>
              <a:t>提交方法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sym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sym typeface="+mn-ea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</p:spPr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9" name="Text Box 191"/>
          <p:cNvSpPr txBox="1">
            <a:spLocks noChangeArrowheads="1"/>
          </p:cNvSpPr>
          <p:nvPr/>
        </p:nvSpPr>
        <p:spPr bwMode="auto">
          <a:xfrm>
            <a:off x="2195736" y="2204864"/>
            <a:ext cx="6627495" cy="37241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tIns="64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内容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为</a:t>
            </a:r>
            <a:r>
              <a:rPr lang="zh-CN" altLang="en-US" sz="2200" b="1" dirty="0">
                <a:latin typeface="+mn-ea"/>
                <a:ea typeface="+mn-ea"/>
              </a:rPr>
              <a:t>设计方案、实现结果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方法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为</a:t>
            </a:r>
            <a:r>
              <a:rPr lang="zh-CN" altLang="en-US" sz="2200" b="1" dirty="0">
                <a:latin typeface="+mn-ea"/>
                <a:ea typeface="+mn-ea"/>
              </a:rPr>
              <a:t>现场验收</a:t>
            </a:r>
            <a:r>
              <a:rPr lang="zh-CN" altLang="en-US" sz="2200" b="1" dirty="0">
                <a:solidFill>
                  <a:srgbClr val="0070C0"/>
                </a:solidFill>
                <a:latin typeface="+mn-ea"/>
                <a:ea typeface="+mn-ea"/>
              </a:rPr>
              <a:t>或</a:t>
            </a:r>
            <a:r>
              <a:rPr lang="zh-CN" altLang="en-US" sz="2200" b="1" dirty="0">
                <a:latin typeface="+mn-ea"/>
                <a:ea typeface="+mn-ea"/>
              </a:rPr>
              <a:t>查看报告       </a:t>
            </a:r>
            <a:r>
              <a:rPr lang="zh-CN" altLang="en-US" b="1" dirty="0">
                <a:latin typeface="+mn-ea"/>
                <a:ea typeface="+mn-ea"/>
              </a:rPr>
              <a:t>←验收仅在结课前</a:t>
            </a:r>
            <a:endParaRPr lang="zh-CN" altLang="en-US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+mn-ea"/>
                <a:ea typeface="+mn-ea"/>
                <a:sym typeface="+mn-ea"/>
              </a:rPr>
              <a:t>单周期主机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或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多周期主机的设计报告</a:t>
            </a:r>
            <a:endParaRPr lang="zh-CN" altLang="en-US" sz="2200" b="1" dirty="0">
              <a:latin typeface="+mn-ea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200" b="1" dirty="0">
              <a:latin typeface="+mn-ea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+mn-ea"/>
                <a:ea typeface="+mn-ea"/>
                <a:sym typeface="+mn-ea"/>
              </a:rPr>
              <a:t>电子稿＋纸质稿                 </a:t>
            </a:r>
            <a:r>
              <a:rPr lang="zh-CN" altLang="en-US" b="1" dirty="0">
                <a:latin typeface="+mn-ea"/>
                <a:ea typeface="+mn-ea"/>
              </a:rPr>
              <a:t>←</a:t>
            </a:r>
            <a:r>
              <a:rPr lang="zh-CN" altLang="en-US" b="1" dirty="0">
                <a:latin typeface="+mn-ea"/>
                <a:ea typeface="+mn-ea"/>
                <a:sym typeface="+mn-ea"/>
              </a:rPr>
              <a:t>按给定模板撰写</a:t>
            </a:r>
            <a:endParaRPr lang="zh-CN" altLang="en-US" b="1" dirty="0">
              <a:latin typeface="+mn-ea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+mn-ea"/>
                <a:ea typeface="+mn-ea"/>
                <a:sym typeface="+mn-ea"/>
              </a:rPr>
              <a:t>工程文件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含电路图＋仿真波形图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)</a:t>
            </a:r>
            <a:endParaRPr lang="en-US" altLang="zh-CN" sz="18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电子稿为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个文件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文件名为</a:t>
            </a:r>
            <a:r>
              <a:rPr lang="en-US" altLang="zh-CN" sz="1800" b="1" dirty="0">
                <a:latin typeface="+mn-ea"/>
                <a:sym typeface="+mn-ea"/>
              </a:rPr>
              <a:t>[</a:t>
            </a:r>
            <a:r>
              <a:rPr lang="zh-CN" altLang="en-US" sz="1800" b="1" dirty="0">
                <a:latin typeface="+mn-ea"/>
                <a:sym typeface="+mn-ea"/>
              </a:rPr>
              <a:t>学号及姓名</a:t>
            </a:r>
            <a:r>
              <a:rPr lang="en-US" altLang="zh-CN" sz="1800" b="1" dirty="0">
                <a:latin typeface="+mn-ea"/>
                <a:sym typeface="+mn-ea"/>
              </a:rPr>
              <a:t>×2]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文件名示例：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09021106沈周洲09021334徐家齐-设计报告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doc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09021106沈周洲09021334徐家齐-工程文件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rar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78"/>
          <p:cNvSpPr txBox="1">
            <a:spLocks noChangeArrowheads="1"/>
          </p:cNvSpPr>
          <p:nvPr/>
        </p:nvSpPr>
        <p:spPr bwMode="auto">
          <a:xfrm>
            <a:off x="179388" y="468000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kumimoji="1"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 altLang="zh-CN" sz="2400" dirty="0"/>
              <a:t>※ </a:t>
            </a:r>
            <a:r>
              <a:rPr lang="zh-CN" altLang="en-US" sz="2400" dirty="0"/>
              <a:t>课程评分标准</a:t>
            </a:r>
            <a:endParaRPr lang="zh-CN" altLang="en-US" sz="2400" dirty="0"/>
          </a:p>
        </p:txBody>
      </p:sp>
      <p:sp>
        <p:nvSpPr>
          <p:cNvPr id="6" name="Text Box 191"/>
          <p:cNvSpPr txBox="1">
            <a:spLocks noChangeArrowheads="1"/>
          </p:cNvSpPr>
          <p:nvPr/>
        </p:nvSpPr>
        <p:spPr bwMode="auto">
          <a:xfrm>
            <a:off x="206375" y="972000"/>
            <a:ext cx="8758238" cy="46310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*成绩组成：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平时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20%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en-US" sz="2200" b="1" dirty="0">
                <a:latin typeface="+mn-ea"/>
                <a:ea typeface="+mn-ea"/>
              </a:rPr>
              <a:t>考勤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占</a:t>
            </a:r>
            <a:r>
              <a:rPr lang="en-US" altLang="zh-CN" b="1" dirty="0">
                <a:latin typeface="+mn-ea"/>
                <a:ea typeface="+mn-ea"/>
              </a:rPr>
              <a:t>40%)</a:t>
            </a:r>
            <a:r>
              <a:rPr lang="zh-CN" altLang="en-US" sz="2200" b="1" dirty="0">
                <a:latin typeface="+mn-ea"/>
                <a:ea typeface="+mn-ea"/>
              </a:rPr>
              <a:t>＋表现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占</a:t>
            </a:r>
            <a:r>
              <a:rPr lang="en-US" b="1" dirty="0">
                <a:latin typeface="+mn-ea"/>
                <a:ea typeface="+mn-ea"/>
              </a:rPr>
              <a:t>60%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验收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50%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en-US" sz="2200" b="1" dirty="0">
                <a:latin typeface="+mn-ea"/>
                <a:ea typeface="+mn-ea"/>
              </a:rPr>
              <a:t>方案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占</a:t>
            </a:r>
            <a:r>
              <a:rPr lang="en-US" altLang="zh-CN" b="1" dirty="0">
                <a:latin typeface="+mn-ea"/>
                <a:ea typeface="+mn-ea"/>
              </a:rPr>
              <a:t>4</a:t>
            </a:r>
            <a:r>
              <a:rPr lang="en-US" altLang="zh-CN" b="1" dirty="0">
                <a:latin typeface="+mn-ea"/>
                <a:ea typeface="+mn-ea"/>
              </a:rPr>
              <a:t>0%)</a:t>
            </a:r>
            <a:r>
              <a:rPr lang="zh-CN" altLang="en-US" sz="2200" b="1" dirty="0">
                <a:latin typeface="+mn-ea"/>
                <a:ea typeface="+mn-ea"/>
              </a:rPr>
              <a:t>＋结果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占</a:t>
            </a:r>
            <a:r>
              <a:rPr lang="en-US" altLang="zh-CN" b="1" dirty="0">
                <a:latin typeface="+mn-ea"/>
                <a:ea typeface="+mn-ea"/>
              </a:rPr>
              <a:t>5</a:t>
            </a:r>
            <a:r>
              <a:rPr lang="en-US" altLang="zh-CN" b="1" dirty="0">
                <a:latin typeface="+mn-ea"/>
                <a:ea typeface="+mn-ea"/>
              </a:rPr>
              <a:t>0%)</a:t>
            </a:r>
            <a:r>
              <a:rPr lang="zh-CN" altLang="en-US" sz="2200" b="1" dirty="0">
                <a:latin typeface="+mn-ea"/>
                <a:ea typeface="+mn-ea"/>
              </a:rPr>
              <a:t>＋创新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占</a:t>
            </a:r>
            <a:r>
              <a:rPr lang="en-US" altLang="zh-CN" b="1" dirty="0">
                <a:latin typeface="+mn-ea"/>
                <a:ea typeface="+mn-ea"/>
              </a:rPr>
              <a:t>10%)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    报告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30%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zh-CN" sz="2200" b="1" dirty="0">
                <a:latin typeface="+mn-ea"/>
              </a:rPr>
              <a:t>方案</a:t>
            </a:r>
            <a:r>
              <a:rPr lang="en-US" altLang="zh-CN" sz="2200" b="1" dirty="0">
                <a:latin typeface="+mn-ea"/>
              </a:rPr>
              <a:t>&amp;</a:t>
            </a:r>
            <a:r>
              <a:rPr lang="zh-CN" altLang="en-US" sz="2200" b="1" dirty="0">
                <a:latin typeface="+mn-ea"/>
              </a:rPr>
              <a:t>验证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占</a:t>
            </a:r>
            <a:r>
              <a:rPr lang="en-US" altLang="zh-CN" b="1" dirty="0">
                <a:latin typeface="+mn-ea"/>
              </a:rPr>
              <a:t>50%)</a:t>
            </a:r>
            <a:r>
              <a:rPr lang="zh-CN" altLang="en-US" sz="2200" b="1" dirty="0">
                <a:latin typeface="+mn-ea"/>
              </a:rPr>
              <a:t>＋</a:t>
            </a:r>
            <a:r>
              <a:rPr lang="zh-CN" altLang="zh-CN" sz="2200" b="1" dirty="0">
                <a:latin typeface="+mn-ea"/>
              </a:rPr>
              <a:t>文字表述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占</a:t>
            </a:r>
            <a:r>
              <a:rPr lang="en-US" altLang="zh-CN" b="1" dirty="0">
                <a:latin typeface="+mn-ea"/>
              </a:rPr>
              <a:t>35%)</a:t>
            </a:r>
            <a:r>
              <a:rPr lang="zh-CN" altLang="en-US" sz="2200" b="1" dirty="0">
                <a:latin typeface="+mn-ea"/>
              </a:rPr>
              <a:t>＋</a:t>
            </a:r>
            <a:r>
              <a:rPr lang="zh-CN" altLang="zh-CN" sz="2200" b="1" dirty="0">
                <a:latin typeface="+mn-ea"/>
              </a:rPr>
              <a:t>总结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占</a:t>
            </a:r>
            <a:r>
              <a:rPr lang="en-US" altLang="zh-CN" b="1" dirty="0">
                <a:latin typeface="+mn-ea"/>
              </a:rPr>
              <a:t>15%)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*评分标准：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平时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验收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latin typeface="+mn-ea"/>
                <a:ea typeface="+mn-ea"/>
              </a:rPr>
              <a:t> 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latin typeface="+mn-ea"/>
                <a:ea typeface="+mn-ea"/>
              </a:rPr>
              <a:t> 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报告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1600" b="1" dirty="0">
              <a:latin typeface="+mn-ea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8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</p:spPr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10" name="Text Box 191"/>
          <p:cNvSpPr txBox="1">
            <a:spLocks noChangeArrowheads="1"/>
          </p:cNvSpPr>
          <p:nvPr/>
        </p:nvSpPr>
        <p:spPr bwMode="auto">
          <a:xfrm>
            <a:off x="1684212" y="3060000"/>
            <a:ext cx="7424291" cy="30537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考勤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(4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</a:rPr>
              <a:t>次扣</a:t>
            </a:r>
            <a:r>
              <a:rPr 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完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；态度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进度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方案的正确性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b="1" dirty="0">
                <a:latin typeface="宋体" panose="02010600030101010101" pitchFamily="2" charset="-122"/>
                <a:cs typeface="宋体" panose="02010600030101010101" pitchFamily="2" charset="-122"/>
              </a:rPr>
              <a:t>75%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、设计理由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25</a:t>
            </a:r>
            <a:r>
              <a:rPr lang="en-US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%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电路的实现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(70%)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、仿真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(30%)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创新的成果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</a:rPr>
              <a:t>多周期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</a:rPr>
              <a:t>、增加指令、功能扩展等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分析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设计的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过程及逻辑性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70%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，测试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组织</a:t>
            </a:r>
            <a:r>
              <a:rPr lang="en-US" altLang="zh-CN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结果分析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30%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报告内容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完整性及条理性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70%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，写作能力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(30%)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课程小结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</a:rPr>
              <a:t>工作小结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设计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</a:rPr>
              <a:t>体会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ext Box 78"/>
          <p:cNvSpPr txBox="1">
            <a:spLocks noChangeArrowheads="1"/>
          </p:cNvSpPr>
          <p:nvPr/>
        </p:nvSpPr>
        <p:spPr bwMode="auto">
          <a:xfrm>
            <a:off x="179388" y="468000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kumimoji="1"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 altLang="zh-CN" sz="2400" dirty="0"/>
              <a:t>※ </a:t>
            </a:r>
            <a:r>
              <a:rPr lang="zh-CN" altLang="en-US" sz="2400" dirty="0"/>
              <a:t>教学要求及建议</a:t>
            </a:r>
            <a:endParaRPr lang="zh-CN" altLang="en-US" sz="2400" dirty="0"/>
          </a:p>
        </p:txBody>
      </p:sp>
      <p:sp>
        <p:nvSpPr>
          <p:cNvPr id="5" name="Text Box 191"/>
          <p:cNvSpPr txBox="1">
            <a:spLocks noChangeArrowheads="1"/>
          </p:cNvSpPr>
          <p:nvPr/>
        </p:nvSpPr>
        <p:spPr bwMode="auto">
          <a:xfrm>
            <a:off x="179512" y="972000"/>
            <a:ext cx="8785101" cy="39198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*教学要求：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+mn-ea"/>
                <a:ea typeface="+mn-ea"/>
              </a:rPr>
              <a:t>   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·</a:t>
            </a:r>
            <a:r>
              <a:rPr lang="zh-CN" altLang="en-US" sz="2200" b="1" dirty="0">
                <a:latin typeface="+mn-ea"/>
                <a:ea typeface="+mn-ea"/>
              </a:rPr>
              <a:t>在实验室实验，</a:t>
            </a:r>
            <a:r>
              <a:rPr lang="zh-CN" altLang="en-US" sz="2200" b="1" u="sng" dirty="0">
                <a:latin typeface="+mn-ea"/>
                <a:ea typeface="+mn-ea"/>
              </a:rPr>
              <a:t>考勤</a:t>
            </a:r>
            <a:r>
              <a:rPr lang="en-US" altLang="zh-CN" sz="2200" b="1" u="sng" dirty="0">
                <a:latin typeface="+mn-ea"/>
                <a:ea typeface="+mn-ea"/>
              </a:rPr>
              <a:t>&amp;</a:t>
            </a:r>
            <a:r>
              <a:rPr lang="zh-CN" altLang="en-US" sz="2200" b="1" u="sng" dirty="0">
                <a:latin typeface="+mn-ea"/>
                <a:ea typeface="+mn-ea"/>
              </a:rPr>
              <a:t>表现</a:t>
            </a:r>
            <a:r>
              <a:rPr lang="zh-CN" altLang="en-US" sz="2200" b="1" dirty="0">
                <a:latin typeface="+mn-ea"/>
                <a:ea typeface="+mn-ea"/>
              </a:rPr>
              <a:t>计入平时成绩</a:t>
            </a:r>
            <a:endParaRPr lang="zh-CN" altLang="en-US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+mn-ea"/>
                <a:ea typeface="+mn-ea"/>
              </a:rPr>
              <a:t>   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·</a:t>
            </a:r>
            <a:r>
              <a:rPr lang="zh-CN" altLang="en-US" sz="2200" b="1" dirty="0">
                <a:latin typeface="+mn-ea"/>
              </a:rPr>
              <a:t>及时进行实验，</a:t>
            </a:r>
            <a:r>
              <a:rPr lang="zh-CN" altLang="en-US" sz="2200" b="1" u="sng" dirty="0">
                <a:latin typeface="+mn-ea"/>
              </a:rPr>
              <a:t>实验进度</a:t>
            </a:r>
            <a:r>
              <a:rPr lang="zh-CN" altLang="en-US" sz="2200" b="1" dirty="0">
                <a:latin typeface="+mn-ea"/>
              </a:rPr>
              <a:t>计入平时成绩、验收成绩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参考</a:t>
            </a:r>
            <a:r>
              <a:rPr lang="en-US" altLang="zh-CN" b="1" dirty="0">
                <a:latin typeface="+mn-ea"/>
              </a:rPr>
              <a:t>)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*学习建议： 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</a:rPr>
              <a:t>提高学习效率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) 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·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尽快掌握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Quartus II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，提高工作效率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心到手到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en-US" altLang="zh-CN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·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及时保存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文件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电路＋仿真文件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，避免捶脑袋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</a:rPr>
              <a:t>需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重新做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en-US" altLang="zh-CN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·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按序进行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实验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</a:rPr>
              <a:t>分析→设计→实现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，防止总叹气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</a:rPr>
              <a:t>需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反复多次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en-US" altLang="zh-CN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·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独立完成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实验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</a:rPr>
              <a:t>组间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可以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</a:rPr>
              <a:t>讨论、不要拷贝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，提高效率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</a:rPr>
              <a:t>改拷贝错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很麻烦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en-US" altLang="zh-CN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·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组内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分工合作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，提高速度，要防挂科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</a:rPr>
              <a:t>有过优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</a:rPr>
              <a:t>差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</p:spPr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38200" y="323945"/>
            <a:ext cx="746760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+mn-ea"/>
                <a:ea typeface="+mn-ea"/>
              </a:rPr>
              <a:t>§1 </a:t>
            </a:r>
            <a:r>
              <a:rPr lang="zh-CN" altLang="en-US" sz="3200" b="1" dirty="0">
                <a:latin typeface="+mn-ea"/>
                <a:ea typeface="+mn-ea"/>
              </a:rPr>
              <a:t>计算机组成原理回顾</a:t>
            </a:r>
            <a:endParaRPr lang="zh-CN" altLang="en-US" sz="3200" b="1" dirty="0">
              <a:latin typeface="+mn-ea"/>
              <a:ea typeface="+mn-ea"/>
            </a:endParaRPr>
          </a:p>
        </p:txBody>
      </p:sp>
      <p:sp>
        <p:nvSpPr>
          <p:cNvPr id="4" name="Text Box 78"/>
          <p:cNvSpPr txBox="1">
            <a:spLocks noChangeArrowheads="1"/>
          </p:cNvSpPr>
          <p:nvPr/>
        </p:nvSpPr>
        <p:spPr bwMode="auto">
          <a:xfrm>
            <a:off x="179388" y="1037680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一、计算机组成与工作过程</a:t>
            </a:r>
            <a:endParaRPr kumimoji="1" lang="zh-CN" altLang="en-US" sz="2400" b="1" dirty="0">
              <a:solidFill>
                <a:srgbClr val="FF3300"/>
              </a:solidFill>
              <a:latin typeface="宋体" panose="0201060003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" name="Text Box 191"/>
          <p:cNvSpPr txBox="1">
            <a:spLocks noChangeArrowheads="1"/>
          </p:cNvSpPr>
          <p:nvPr/>
        </p:nvSpPr>
        <p:spPr bwMode="auto">
          <a:xfrm>
            <a:off x="206375" y="1556286"/>
            <a:ext cx="3212791" cy="38366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*硬件组成：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14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*软件组成：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3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*工作过程：</a:t>
            </a: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</a:rPr>
              <a:t>    执行准备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</a:rPr>
              <a:t>执行过程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</a:rPr>
              <a:t>—</a:t>
            </a:r>
            <a:endParaRPr lang="en-US" altLang="zh-CN" sz="2200" b="1" dirty="0">
              <a:latin typeface="+mn-ea"/>
            </a:endParaRPr>
          </a:p>
        </p:txBody>
      </p:sp>
      <p:sp>
        <p:nvSpPr>
          <p:cNvPr id="105" name="线形标注 2 104"/>
          <p:cNvSpPr/>
          <p:nvPr/>
        </p:nvSpPr>
        <p:spPr bwMode="auto">
          <a:xfrm>
            <a:off x="7092280" y="5445256"/>
            <a:ext cx="1944000" cy="288000"/>
          </a:xfrm>
          <a:prstGeom prst="borderCallout2">
            <a:avLst>
              <a:gd name="adj1" fmla="val 48931"/>
              <a:gd name="adj2" fmla="val -326"/>
              <a:gd name="adj3" fmla="val 48799"/>
              <a:gd name="adj4" fmla="val -10399"/>
              <a:gd name="adj5" fmla="val -50661"/>
              <a:gd name="adj6" fmla="val -16614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+mn-ea"/>
                <a:ea typeface="+mn-ea"/>
              </a:rPr>
              <a:t>先地址变换</a:t>
            </a:r>
            <a:r>
              <a:rPr lang="en-US" altLang="zh-CN" sz="1600" b="1" dirty="0">
                <a:latin typeface="+mn-ea"/>
                <a:ea typeface="+mn-ea"/>
              </a:rPr>
              <a:t>(LA</a:t>
            </a:r>
            <a:r>
              <a:rPr lang="zh-CN" altLang="en-US" sz="1600" b="1" dirty="0">
                <a:latin typeface="+mn-ea"/>
                <a:ea typeface="+mn-ea"/>
              </a:rPr>
              <a:t>→</a:t>
            </a:r>
            <a:r>
              <a:rPr lang="en-US" altLang="zh-CN" sz="1600" b="1" dirty="0">
                <a:latin typeface="+mn-ea"/>
                <a:ea typeface="+mn-ea"/>
              </a:rPr>
              <a:t>PA)</a:t>
            </a:r>
            <a:endParaRPr lang="en-US" altLang="zh-CN" sz="1600" b="1" dirty="0">
              <a:latin typeface="+mn-ea"/>
              <a:ea typeface="+mn-ea"/>
            </a:endParaRPr>
          </a:p>
        </p:txBody>
      </p:sp>
      <p:sp>
        <p:nvSpPr>
          <p:cNvPr id="106" name="Text Box 191"/>
          <p:cNvSpPr txBox="1">
            <a:spLocks noChangeArrowheads="1"/>
          </p:cNvSpPr>
          <p:nvPr/>
        </p:nvSpPr>
        <p:spPr bwMode="auto">
          <a:xfrm>
            <a:off x="1907704" y="3140968"/>
            <a:ext cx="6407801" cy="21886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</a:rPr>
              <a:t>指令序列，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</a:rPr>
              <a:t>指令位置</a:t>
            </a:r>
            <a:r>
              <a:rPr lang="zh-CN" altLang="en-US" sz="2200" b="1" dirty="0">
                <a:latin typeface="+mn-ea"/>
              </a:rPr>
              <a:t>用</a:t>
            </a:r>
            <a:r>
              <a:rPr lang="zh-CN" altLang="en-US" sz="2200" b="1" u="sng" dirty="0">
                <a:latin typeface="+mn-ea"/>
              </a:rPr>
              <a:t>指令地址</a:t>
            </a:r>
            <a:r>
              <a:rPr lang="zh-CN" altLang="en-US" sz="2200" b="1" dirty="0">
                <a:latin typeface="+mn-ea"/>
              </a:rPr>
              <a:t>表示；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u="sng" dirty="0">
                <a:solidFill>
                  <a:srgbClr val="990099"/>
                </a:solidFill>
                <a:latin typeface="+mn-ea"/>
              </a:rPr>
              <a:t>执行顺序</a:t>
            </a:r>
            <a:r>
              <a:rPr lang="zh-CN" altLang="en-US" sz="2200" b="1" dirty="0">
                <a:latin typeface="+mn-ea"/>
              </a:rPr>
              <a:t>取决于</a:t>
            </a:r>
            <a:r>
              <a:rPr lang="zh-CN" altLang="en-US" sz="2200" b="1" u="sng" dirty="0">
                <a:latin typeface="+mn-ea"/>
              </a:rPr>
              <a:t>指令类型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顺序</a:t>
            </a:r>
            <a:r>
              <a:rPr lang="en-US" altLang="zh-CN" b="1" dirty="0">
                <a:latin typeface="+mn-ea"/>
              </a:rPr>
              <a:t>/</a:t>
            </a:r>
            <a:r>
              <a:rPr lang="zh-CN" altLang="en-US" b="1" dirty="0">
                <a:latin typeface="+mn-ea"/>
              </a:rPr>
              <a:t>转移</a:t>
            </a:r>
            <a:r>
              <a:rPr lang="en-US" altLang="zh-CN" b="1" dirty="0">
                <a:latin typeface="+mn-ea"/>
              </a:rPr>
              <a:t>)</a:t>
            </a:r>
            <a:r>
              <a:rPr lang="zh-CN" altLang="en-US" sz="2200" b="1" dirty="0">
                <a:latin typeface="+mn-ea"/>
              </a:rPr>
              <a:t>及</a:t>
            </a:r>
            <a:r>
              <a:rPr lang="zh-CN" altLang="en-US" sz="2200" b="1" u="sng" dirty="0">
                <a:latin typeface="+mn-ea"/>
              </a:rPr>
              <a:t>执行结果</a:t>
            </a:r>
            <a:endParaRPr lang="en-US" altLang="zh-CN" sz="2200" b="1" u="sng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zh-CN" altLang="en-US" sz="2200" b="1" dirty="0">
                <a:latin typeface="+mn-ea"/>
                <a:ea typeface="+mn-ea"/>
                <a:sym typeface="+mn-ea"/>
              </a:rPr>
              <a:t>采用</a:t>
            </a:r>
            <a:r>
              <a:rPr lang="zh-CN" altLang="en-US" sz="2200" b="1" u="sng" dirty="0">
                <a:latin typeface="+mn-ea"/>
                <a:ea typeface="+mn-ea"/>
                <a:sym typeface="+mn-ea"/>
              </a:rPr>
              <a:t>存储程序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工作方式</a:t>
            </a:r>
            <a:r>
              <a:rPr lang="en-US" altLang="zh-CN" b="1" dirty="0">
                <a:latin typeface="+mn-ea"/>
                <a:ea typeface="+mn-ea"/>
                <a:sym typeface="+mn-ea"/>
              </a:rPr>
              <a:t>(2</a:t>
            </a:r>
            <a:r>
              <a:rPr lang="zh-CN" altLang="en-US" b="1" dirty="0">
                <a:latin typeface="+mn-ea"/>
                <a:ea typeface="+mn-ea"/>
                <a:sym typeface="+mn-ea"/>
              </a:rPr>
              <a:t>个阶段</a:t>
            </a:r>
            <a:r>
              <a:rPr lang="en-US" altLang="zh-CN" b="1" dirty="0">
                <a:latin typeface="+mn-ea"/>
                <a:ea typeface="+mn-ea"/>
                <a:sym typeface="+mn-ea"/>
              </a:rPr>
              <a:t>)</a:t>
            </a:r>
            <a:endParaRPr lang="zh-CN" altLang="en-US" sz="2200" b="1" dirty="0">
              <a:latin typeface="+mn-ea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</a:rPr>
              <a:t>  程序装入主存，</a:t>
            </a:r>
            <a:r>
              <a:rPr lang="en-US" altLang="zh-CN" sz="2200" b="1" dirty="0">
                <a:latin typeface="+mn-ea"/>
                <a:ea typeface="+mn-ea"/>
              </a:rPr>
              <a:t>PC</a:t>
            </a:r>
            <a:r>
              <a:rPr lang="zh-CN" altLang="en-US" sz="2200" b="1" dirty="0">
                <a:latin typeface="+mn-ea"/>
                <a:ea typeface="+mn-ea"/>
              </a:rPr>
              <a:t>←程序入口地址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</a:rPr>
              <a:t>  循环的指令执行过程，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136" name="页脚占位符 13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grpSp>
        <p:nvGrpSpPr>
          <p:cNvPr id="139" name="组合 138"/>
          <p:cNvGrpSpPr/>
          <p:nvPr/>
        </p:nvGrpSpPr>
        <p:grpSpPr>
          <a:xfrm>
            <a:off x="2196200" y="5364000"/>
            <a:ext cx="4176000" cy="828024"/>
            <a:chOff x="1259454" y="4797152"/>
            <a:chExt cx="4176000" cy="828024"/>
          </a:xfrm>
        </p:grpSpPr>
        <p:sp>
          <p:nvSpPr>
            <p:cNvPr id="84" name="Text Box 311"/>
            <p:cNvSpPr txBox="1">
              <a:spLocks noChangeArrowheads="1"/>
            </p:cNvSpPr>
            <p:nvPr/>
          </p:nvSpPr>
          <p:spPr bwMode="auto">
            <a:xfrm>
              <a:off x="1475742" y="4797152"/>
              <a:ext cx="1080000" cy="28676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b="1" dirty="0">
                  <a:latin typeface="宋体" panose="02010600030101010101" pitchFamily="2" charset="-122"/>
                </a:rPr>
                <a:t>取指令</a:t>
              </a:r>
              <a:endParaRPr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85" name="Text Box 314"/>
            <p:cNvSpPr txBox="1">
              <a:spLocks noChangeArrowheads="1"/>
            </p:cNvSpPr>
            <p:nvPr/>
          </p:nvSpPr>
          <p:spPr bwMode="auto">
            <a:xfrm>
              <a:off x="2915454" y="4797152"/>
              <a:ext cx="1080000" cy="28676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b="1" dirty="0">
                  <a:latin typeface="宋体" panose="02010600030101010101" pitchFamily="2" charset="-122"/>
                </a:rPr>
                <a:t>分析指令</a:t>
              </a:r>
              <a:endParaRPr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86" name="Text Box 316"/>
            <p:cNvSpPr txBox="1">
              <a:spLocks noChangeArrowheads="1"/>
            </p:cNvSpPr>
            <p:nvPr/>
          </p:nvSpPr>
          <p:spPr bwMode="auto">
            <a:xfrm>
              <a:off x="4355454" y="4797152"/>
              <a:ext cx="1080000" cy="2867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b="1" dirty="0">
                  <a:latin typeface="宋体" panose="02010600030101010101" pitchFamily="2" charset="-122"/>
                </a:rPr>
                <a:t>执行指令</a:t>
              </a:r>
              <a:endParaRPr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7" name="直接箭头连接符 86"/>
            <p:cNvCxnSpPr>
              <a:stCxn id="84" idx="3"/>
              <a:endCxn id="85" idx="1"/>
            </p:cNvCxnSpPr>
            <p:nvPr/>
          </p:nvCxnSpPr>
          <p:spPr bwMode="auto">
            <a:xfrm>
              <a:off x="2555742" y="4940536"/>
              <a:ext cx="359712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8" name="直接箭头连接符 87"/>
            <p:cNvCxnSpPr>
              <a:stCxn id="85" idx="3"/>
              <a:endCxn id="86" idx="1"/>
            </p:cNvCxnSpPr>
            <p:nvPr/>
          </p:nvCxnSpPr>
          <p:spPr bwMode="auto">
            <a:xfrm>
              <a:off x="3995454" y="4940536"/>
              <a:ext cx="36000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9" name="Text Box 316"/>
            <p:cNvSpPr txBox="1">
              <a:spLocks noChangeArrowheads="1"/>
            </p:cNvSpPr>
            <p:nvPr/>
          </p:nvSpPr>
          <p:spPr bwMode="auto">
            <a:xfrm>
              <a:off x="2411454" y="5229152"/>
              <a:ext cx="2988000" cy="288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b="1" dirty="0">
                  <a:latin typeface="宋体" panose="02010600030101010101" pitchFamily="2" charset="-122"/>
                </a:rPr>
                <a:t>计算指令地址</a:t>
              </a:r>
              <a:endParaRPr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0" name="直接箭头连接符 27"/>
            <p:cNvCxnSpPr>
              <a:stCxn id="86" idx="3"/>
              <a:endCxn id="84" idx="1"/>
            </p:cNvCxnSpPr>
            <p:nvPr/>
          </p:nvCxnSpPr>
          <p:spPr bwMode="auto">
            <a:xfrm flipH="1">
              <a:off x="1475742" y="4940536"/>
              <a:ext cx="3959712" cy="12700"/>
            </a:xfrm>
            <a:prstGeom prst="bentConnector5">
              <a:avLst>
                <a:gd name="adj1" fmla="val -5236"/>
                <a:gd name="adj2" fmla="val 5663898"/>
                <a:gd name="adj3" fmla="val 105773"/>
              </a:avLst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1" name="直接箭头连接符 90"/>
            <p:cNvCxnSpPr/>
            <p:nvPr/>
          </p:nvCxnSpPr>
          <p:spPr bwMode="auto">
            <a:xfrm flipH="1">
              <a:off x="3852005" y="5083919"/>
              <a:ext cx="86" cy="144000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6" name="直接箭头连接符 95"/>
            <p:cNvCxnSpPr/>
            <p:nvPr/>
          </p:nvCxnSpPr>
          <p:spPr bwMode="auto">
            <a:xfrm rot="10800000">
              <a:off x="1835454" y="5085152"/>
              <a:ext cx="576000" cy="288000"/>
            </a:xfrm>
            <a:prstGeom prst="bentConnector3">
              <a:avLst>
                <a:gd name="adj1" fmla="val 100265"/>
              </a:avLst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137" name="Text Box 80"/>
            <p:cNvSpPr txBox="1">
              <a:spLocks noChangeArrowheads="1"/>
            </p:cNvSpPr>
            <p:nvPr/>
          </p:nvSpPr>
          <p:spPr bwMode="auto">
            <a:xfrm>
              <a:off x="1259454" y="5409152"/>
              <a:ext cx="936104" cy="216024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/>
                <a:t>指令地址</a:t>
              </a:r>
              <a:endParaRPr lang="zh-CN" altLang="en-US" sz="1600" b="1" dirty="0"/>
            </a:p>
          </p:txBody>
        </p:sp>
      </p:grpSp>
      <p:sp>
        <p:nvSpPr>
          <p:cNvPr id="68" name="Text Box 191"/>
          <p:cNvSpPr txBox="1">
            <a:spLocks noChangeArrowheads="1"/>
          </p:cNvSpPr>
          <p:nvPr/>
        </p:nvSpPr>
        <p:spPr bwMode="auto">
          <a:xfrm>
            <a:off x="1908463" y="1556286"/>
            <a:ext cx="6833198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u="sng" dirty="0">
                <a:latin typeface="+mn-ea"/>
                <a:ea typeface="+mn-ea"/>
              </a:rPr>
              <a:t>冯</a:t>
            </a:r>
            <a:r>
              <a:rPr lang="en-US" altLang="zh-CN" sz="2200" b="1" u="sng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·</a:t>
            </a:r>
            <a:r>
              <a:rPr lang="zh-CN" altLang="en-US" sz="2200" b="1" u="sng" dirty="0">
                <a:latin typeface="+mn-ea"/>
                <a:ea typeface="+mn-ea"/>
              </a:rPr>
              <a:t>诺依曼</a:t>
            </a:r>
            <a:r>
              <a:rPr lang="zh-CN" altLang="en-US" sz="2200" b="1" dirty="0">
                <a:latin typeface="+mn-ea"/>
                <a:ea typeface="+mn-ea"/>
              </a:rPr>
              <a:t>模型，</a:t>
            </a:r>
            <a:r>
              <a:rPr lang="zh-CN" altLang="en-US" sz="2200" b="1" u="sng" dirty="0">
                <a:latin typeface="+mn-ea"/>
                <a:ea typeface="+mn-ea"/>
              </a:rPr>
              <a:t>层次结构</a:t>
            </a:r>
            <a:r>
              <a:rPr lang="zh-CN" altLang="en-US" sz="2200" b="1" dirty="0">
                <a:latin typeface="+mn-ea"/>
                <a:ea typeface="+mn-ea"/>
              </a:rPr>
              <a:t>存储器、</a:t>
            </a:r>
            <a:r>
              <a:rPr lang="zh-CN" altLang="en-US" sz="2200" b="1" u="sng" dirty="0">
                <a:latin typeface="+mn-ea"/>
                <a:ea typeface="+mn-ea"/>
              </a:rPr>
              <a:t>总线方式</a:t>
            </a:r>
            <a:r>
              <a:rPr lang="zh-CN" altLang="en-US" sz="2200" b="1" dirty="0">
                <a:latin typeface="+mn-ea"/>
                <a:ea typeface="+mn-ea"/>
              </a:rPr>
              <a:t>互连</a:t>
            </a:r>
            <a:endParaRPr lang="en-US" altLang="zh-CN" sz="2200" b="1" dirty="0">
              <a:latin typeface="+mn-ea"/>
            </a:endParaRPr>
          </a:p>
        </p:txBody>
      </p:sp>
      <p:sp>
        <p:nvSpPr>
          <p:cNvPr id="73" name="Text Box 191"/>
          <p:cNvSpPr txBox="1">
            <a:spLocks noChangeArrowheads="1"/>
          </p:cNvSpPr>
          <p:nvPr/>
        </p:nvSpPr>
        <p:spPr bwMode="auto">
          <a:xfrm>
            <a:off x="5005819" y="4893662"/>
            <a:ext cx="3015952" cy="4319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u="sng" dirty="0">
                <a:latin typeface="+mn-ea"/>
                <a:ea typeface="+mn-ea"/>
              </a:rPr>
              <a:t>按逻辑地址</a:t>
            </a:r>
            <a:r>
              <a:rPr lang="zh-CN" altLang="en-US" sz="2200" b="1" dirty="0">
                <a:latin typeface="+mn-ea"/>
                <a:ea typeface="+mn-ea"/>
              </a:rPr>
              <a:t>访问</a:t>
            </a:r>
            <a:r>
              <a:rPr lang="zh-CN" altLang="en-US" sz="2200" b="1" u="sng" dirty="0">
                <a:latin typeface="+mn-ea"/>
                <a:ea typeface="+mn-ea"/>
              </a:rPr>
              <a:t>主存</a:t>
            </a:r>
            <a:endParaRPr lang="en-US" altLang="zh-CN" sz="2200" b="1" u="sng" dirty="0"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804248" y="2062800"/>
            <a:ext cx="1800200" cy="1275396"/>
            <a:chOff x="7236296" y="2153604"/>
            <a:chExt cx="1800200" cy="1275396"/>
          </a:xfrm>
        </p:grpSpPr>
        <p:sp>
          <p:nvSpPr>
            <p:cNvPr id="75" name="Text Box 36"/>
            <p:cNvSpPr txBox="1">
              <a:spLocks noChangeArrowheads="1"/>
            </p:cNvSpPr>
            <p:nvPr/>
          </p:nvSpPr>
          <p:spPr bwMode="auto">
            <a:xfrm>
              <a:off x="7668344" y="2420888"/>
              <a:ext cx="1368152" cy="936104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R0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M[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0004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]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(R1)+(R0)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>
                  <a:latin typeface="+mn-lt"/>
                </a:rPr>
                <a:t>…</a:t>
              </a:r>
              <a:endParaRPr lang="en-US" altLang="zh-CN" sz="1600" b="1" u="none" dirty="0">
                <a:latin typeface="+mn-lt"/>
              </a:endParaRPr>
            </a:p>
            <a:p>
              <a:pPr algn="ctr">
                <a:lnSpc>
                  <a:spcPct val="90000"/>
                </a:lnSpc>
                <a:spcBef>
                  <a:spcPts val="300"/>
                </a:spcBef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x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76" name="直接连接符 75"/>
            <p:cNvCxnSpPr/>
            <p:nvPr/>
          </p:nvCxnSpPr>
          <p:spPr bwMode="auto">
            <a:xfrm>
              <a:off x="7668344" y="2655962"/>
              <a:ext cx="136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直接连接符 79"/>
            <p:cNvCxnSpPr/>
            <p:nvPr/>
          </p:nvCxnSpPr>
          <p:spPr bwMode="auto">
            <a:xfrm>
              <a:off x="7668344" y="2349000"/>
              <a:ext cx="0" cy="108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直接连接符 80"/>
            <p:cNvCxnSpPr/>
            <p:nvPr/>
          </p:nvCxnSpPr>
          <p:spPr bwMode="auto">
            <a:xfrm>
              <a:off x="9036496" y="2349000"/>
              <a:ext cx="0" cy="1080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/>
            <p:cNvCxnSpPr/>
            <p:nvPr/>
          </p:nvCxnSpPr>
          <p:spPr bwMode="auto">
            <a:xfrm>
              <a:off x="7668344" y="2420888"/>
              <a:ext cx="136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 bwMode="auto">
            <a:xfrm>
              <a:off x="7668344" y="2887571"/>
              <a:ext cx="1368000" cy="142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" name="直接连接符 91"/>
            <p:cNvCxnSpPr/>
            <p:nvPr/>
          </p:nvCxnSpPr>
          <p:spPr bwMode="auto">
            <a:xfrm>
              <a:off x="7668344" y="3139544"/>
              <a:ext cx="1368000" cy="142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3" name="Text Box 36"/>
            <p:cNvSpPr txBox="1">
              <a:spLocks noChangeArrowheads="1"/>
            </p:cNvSpPr>
            <p:nvPr/>
          </p:nvSpPr>
          <p:spPr bwMode="auto">
            <a:xfrm>
              <a:off x="7236296" y="2153604"/>
              <a:ext cx="432048" cy="122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990099"/>
                  </a:solidFill>
                  <a:highlight>
                    <a:srgbClr val="CCFFFF"/>
                  </a:highlight>
                  <a:latin typeface="宋体" panose="02010600030101010101" pitchFamily="2" charset="-122"/>
                </a:rPr>
                <a:t>LA</a:t>
              </a:r>
              <a:endParaRPr lang="en-US" altLang="zh-CN" sz="1600" b="1" u="none" dirty="0">
                <a:solidFill>
                  <a:srgbClr val="990099"/>
                </a:solidFill>
                <a:highlight>
                  <a:srgbClr val="CCFFFF"/>
                </a:highlight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0000</a:t>
              </a:r>
              <a:endParaRPr lang="en-US" altLang="zh-CN" sz="14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0001</a:t>
              </a:r>
              <a:endParaRPr lang="en-US" altLang="zh-CN" sz="14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u="none" dirty="0">
                  <a:solidFill>
                    <a:srgbClr val="990099"/>
                  </a:solidFill>
                  <a:latin typeface="+mn-lt"/>
                </a:rPr>
                <a:t>…</a:t>
              </a:r>
              <a:endParaRPr lang="en-US" altLang="zh-CN" sz="1600" b="1" u="none" dirty="0">
                <a:solidFill>
                  <a:srgbClr val="990099"/>
                </a:solidFill>
                <a:latin typeface="+mn-lt"/>
              </a:endParaRPr>
            </a:p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0004</a:t>
              </a:r>
              <a:endParaRPr lang="en-US" altLang="zh-CN" sz="14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99" name="直接连接符 98"/>
            <p:cNvCxnSpPr/>
            <p:nvPr/>
          </p:nvCxnSpPr>
          <p:spPr bwMode="auto">
            <a:xfrm>
              <a:off x="7668344" y="3355568"/>
              <a:ext cx="1368000" cy="1424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4" name="Text Box 36"/>
          <p:cNvSpPr txBox="1">
            <a:spLocks noChangeArrowheads="1"/>
          </p:cNvSpPr>
          <p:nvPr/>
        </p:nvSpPr>
        <p:spPr bwMode="auto">
          <a:xfrm>
            <a:off x="8604448" y="2062800"/>
            <a:ext cx="432048" cy="1224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600" b="1" dirty="0">
                <a:solidFill>
                  <a:srgbClr val="CC6600"/>
                </a:solidFill>
                <a:highlight>
                  <a:srgbClr val="CCFFFF"/>
                </a:highlight>
                <a:latin typeface="宋体" panose="02010600030101010101" pitchFamily="2" charset="-122"/>
              </a:rPr>
              <a:t>PA</a:t>
            </a:r>
            <a:endParaRPr lang="en-US" altLang="zh-CN" sz="1600" b="1" dirty="0">
              <a:solidFill>
                <a:srgbClr val="CC6600"/>
              </a:solidFill>
              <a:highlight>
                <a:srgbClr val="CCFFFF"/>
              </a:highlight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altLang="zh-CN" sz="1400" b="1" dirty="0">
                <a:solidFill>
                  <a:srgbClr val="CC6600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1400" b="1" u="none" dirty="0">
                <a:solidFill>
                  <a:srgbClr val="CC6600"/>
                </a:solidFill>
                <a:latin typeface="宋体" panose="02010600030101010101" pitchFamily="2" charset="-122"/>
              </a:rPr>
              <a:t>000</a:t>
            </a:r>
            <a:endParaRPr lang="en-US" altLang="zh-CN" sz="1400" b="1" u="none" dirty="0">
              <a:solidFill>
                <a:srgbClr val="CC6600"/>
              </a:solidFill>
              <a:latin typeface="宋体" panose="0201060003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CC6600"/>
                </a:solidFill>
                <a:latin typeface="宋体" panose="02010600030101010101" pitchFamily="2" charset="-122"/>
              </a:rPr>
              <a:t>2001</a:t>
            </a:r>
            <a:endParaRPr lang="en-US" altLang="zh-CN" sz="1400" b="1" u="none" dirty="0">
              <a:solidFill>
                <a:srgbClr val="CC6600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en-US" altLang="zh-CN" sz="1600" b="1" u="none" dirty="0">
                <a:solidFill>
                  <a:srgbClr val="CC6600"/>
                </a:solidFill>
                <a:latin typeface="+mn-lt"/>
              </a:rPr>
              <a:t>…</a:t>
            </a:r>
            <a:endParaRPr lang="en-US" altLang="zh-CN" sz="1600" b="1" u="none" dirty="0">
              <a:solidFill>
                <a:srgbClr val="CC6600"/>
              </a:solidFill>
              <a:latin typeface="+mn-lt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altLang="zh-CN" sz="1400" b="1" dirty="0">
                <a:solidFill>
                  <a:srgbClr val="CC6600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1400" b="1" u="none" dirty="0">
                <a:solidFill>
                  <a:srgbClr val="CC6600"/>
                </a:solidFill>
                <a:latin typeface="宋体" panose="02010600030101010101" pitchFamily="2" charset="-122"/>
              </a:rPr>
              <a:t>004</a:t>
            </a:r>
            <a:endParaRPr lang="en-US" altLang="zh-CN" sz="1400" b="1" u="none" dirty="0">
              <a:solidFill>
                <a:srgbClr val="CC66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300397" y="2528420"/>
            <a:ext cx="2447887" cy="2448287"/>
            <a:chOff x="6300397" y="2456918"/>
            <a:chExt cx="2447887" cy="2448287"/>
          </a:xfrm>
        </p:grpSpPr>
        <p:cxnSp>
          <p:nvCxnSpPr>
            <p:cNvPr id="9" name="直接箭头连接符 8"/>
            <p:cNvCxnSpPr/>
            <p:nvPr/>
          </p:nvCxnSpPr>
          <p:spPr>
            <a:xfrm flipV="1">
              <a:off x="6948059" y="3213205"/>
              <a:ext cx="1800225" cy="1692000"/>
            </a:xfrm>
            <a:prstGeom prst="straightConnector1">
              <a:avLst/>
            </a:prstGeom>
            <a:ln w="15875">
              <a:solidFill>
                <a:srgbClr val="0070C0"/>
              </a:solidFill>
              <a:prstDash val="sysDash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/>
            <p:cNvCxnSpPr/>
            <p:nvPr/>
          </p:nvCxnSpPr>
          <p:spPr>
            <a:xfrm flipV="1">
              <a:off x="6300397" y="2456918"/>
              <a:ext cx="1871980" cy="2448000"/>
            </a:xfrm>
            <a:prstGeom prst="straightConnector1">
              <a:avLst/>
            </a:prstGeom>
            <a:ln w="15875">
              <a:solidFill>
                <a:srgbClr val="0070C0"/>
              </a:solidFill>
              <a:prstDash val="sysDash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 Box 36"/>
          <p:cNvSpPr txBox="1">
            <a:spLocks noChangeArrowheads="1"/>
          </p:cNvSpPr>
          <p:nvPr/>
        </p:nvSpPr>
        <p:spPr bwMode="auto">
          <a:xfrm>
            <a:off x="7452320" y="2060342"/>
            <a:ext cx="936104" cy="238963"/>
          </a:xfrm>
          <a:prstGeom prst="rect">
            <a:avLst/>
          </a:prstGeom>
          <a:solidFill>
            <a:srgbClr val="CCFFFF"/>
          </a:solidFill>
          <a:ln w="19050">
            <a:noFill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程序</a:t>
            </a:r>
            <a:r>
              <a:rPr lang="en-US" altLang="zh-CN" b="1" u="none" dirty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endParaRPr lang="zh-CN" altLang="en-US" b="1" u="none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97" name="AutoShape 32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77" name="直接箭头连接符 76"/>
          <p:cNvCxnSpPr/>
          <p:nvPr/>
        </p:nvCxnSpPr>
        <p:spPr>
          <a:xfrm flipH="1" flipV="1">
            <a:off x="4212551" y="3573522"/>
            <a:ext cx="287441" cy="108000"/>
          </a:xfrm>
          <a:prstGeom prst="straightConnector1">
            <a:avLst/>
          </a:prstGeom>
          <a:ln w="15875">
            <a:solidFill>
              <a:srgbClr val="0070C0"/>
            </a:solidFill>
            <a:prstDash val="sysDash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组合 97"/>
          <p:cNvGrpSpPr/>
          <p:nvPr/>
        </p:nvGrpSpPr>
        <p:grpSpPr>
          <a:xfrm>
            <a:off x="971600" y="2088000"/>
            <a:ext cx="5400400" cy="1008000"/>
            <a:chOff x="971599" y="4368696"/>
            <a:chExt cx="5400400" cy="1008000"/>
          </a:xfrm>
        </p:grpSpPr>
        <p:sp>
          <p:nvSpPr>
            <p:cNvPr id="100" name="Text Box 72"/>
            <p:cNvSpPr txBox="1">
              <a:spLocks noChangeArrowheads="1"/>
            </p:cNvSpPr>
            <p:nvPr/>
          </p:nvSpPr>
          <p:spPr bwMode="auto">
            <a:xfrm>
              <a:off x="971599" y="4368696"/>
              <a:ext cx="2448061" cy="1008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1" name="Text Box 72"/>
            <p:cNvSpPr txBox="1">
              <a:spLocks noChangeArrowheads="1"/>
            </p:cNvSpPr>
            <p:nvPr/>
          </p:nvSpPr>
          <p:spPr bwMode="auto">
            <a:xfrm>
              <a:off x="1115999" y="4580235"/>
              <a:ext cx="648072" cy="57809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44000" rIns="18000" bIns="10800" anchor="ctr"/>
            <a:lstStyle/>
            <a:p>
              <a:pPr algn="ctr">
                <a:spcBef>
                  <a:spcPts val="0"/>
                </a:spcBef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2" name="Text Box 74"/>
            <p:cNvSpPr txBox="1">
              <a:spLocks noChangeArrowheads="1"/>
            </p:cNvSpPr>
            <p:nvPr/>
          </p:nvSpPr>
          <p:spPr bwMode="auto">
            <a:xfrm>
              <a:off x="2123480" y="4580235"/>
              <a:ext cx="1224384" cy="2889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主存控制器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3" name="Text Box 75"/>
            <p:cNvSpPr txBox="1">
              <a:spLocks noChangeArrowheads="1"/>
            </p:cNvSpPr>
            <p:nvPr/>
          </p:nvSpPr>
          <p:spPr bwMode="auto">
            <a:xfrm>
              <a:off x="3636069" y="4581128"/>
              <a:ext cx="1008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4" name="Text Box 79"/>
            <p:cNvSpPr txBox="1">
              <a:spLocks noChangeArrowheads="1"/>
            </p:cNvSpPr>
            <p:nvPr/>
          </p:nvSpPr>
          <p:spPr bwMode="auto">
            <a:xfrm>
              <a:off x="4715999" y="4872696"/>
              <a:ext cx="504000" cy="324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b="1" dirty="0"/>
                <a:t>…</a:t>
              </a:r>
              <a:endParaRPr lang="en-US" altLang="zh-CN" b="1" dirty="0"/>
            </a:p>
          </p:txBody>
        </p:sp>
        <p:sp>
          <p:nvSpPr>
            <p:cNvPr id="107" name="Text Box 80"/>
            <p:cNvSpPr txBox="1">
              <a:spLocks noChangeArrowheads="1"/>
            </p:cNvSpPr>
            <p:nvPr/>
          </p:nvSpPr>
          <p:spPr bwMode="auto">
            <a:xfrm>
              <a:off x="4679999" y="4440696"/>
              <a:ext cx="576000" cy="288032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/>
                <a:t>总线</a:t>
              </a:r>
              <a:endParaRPr lang="zh-CN" altLang="en-US" sz="1800" b="1" dirty="0"/>
            </a:p>
          </p:txBody>
        </p:sp>
        <p:sp>
          <p:nvSpPr>
            <p:cNvPr id="108" name="Text Box 81"/>
            <p:cNvSpPr txBox="1">
              <a:spLocks noChangeArrowheads="1"/>
            </p:cNvSpPr>
            <p:nvPr/>
          </p:nvSpPr>
          <p:spPr bwMode="auto">
            <a:xfrm>
              <a:off x="3634655" y="5015458"/>
              <a:ext cx="1008000" cy="28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键盘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9" name="Text Box 83"/>
            <p:cNvSpPr txBox="1">
              <a:spLocks noChangeArrowheads="1"/>
            </p:cNvSpPr>
            <p:nvPr/>
          </p:nvSpPr>
          <p:spPr bwMode="auto">
            <a:xfrm>
              <a:off x="5291999" y="4583410"/>
              <a:ext cx="1080000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n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85"/>
            <p:cNvSpPr txBox="1">
              <a:spLocks noChangeArrowheads="1"/>
            </p:cNvSpPr>
            <p:nvPr/>
          </p:nvSpPr>
          <p:spPr bwMode="auto">
            <a:xfrm>
              <a:off x="5291999" y="5015458"/>
              <a:ext cx="1080000" cy="28575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磁盘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1" name="直接连接符 110"/>
            <p:cNvCxnSpPr/>
            <p:nvPr/>
          </p:nvCxnSpPr>
          <p:spPr bwMode="auto">
            <a:xfrm flipV="1">
              <a:off x="1439999" y="4440696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直接连接符 111"/>
            <p:cNvCxnSpPr/>
            <p:nvPr/>
          </p:nvCxnSpPr>
          <p:spPr bwMode="auto">
            <a:xfrm flipV="1">
              <a:off x="2735672" y="4440696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直接连接符 112"/>
            <p:cNvCxnSpPr/>
            <p:nvPr/>
          </p:nvCxnSpPr>
          <p:spPr bwMode="auto">
            <a:xfrm>
              <a:off x="1115999" y="4440696"/>
              <a:ext cx="5256000" cy="1415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直接连接符 113"/>
            <p:cNvCxnSpPr/>
            <p:nvPr/>
          </p:nvCxnSpPr>
          <p:spPr bwMode="auto">
            <a:xfrm>
              <a:off x="4176129" y="4440696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直接连接符 114"/>
            <p:cNvCxnSpPr/>
            <p:nvPr/>
          </p:nvCxnSpPr>
          <p:spPr bwMode="auto">
            <a:xfrm>
              <a:off x="5867999" y="4440696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直接连接符 115"/>
            <p:cNvCxnSpPr>
              <a:stCxn id="103" idx="2"/>
              <a:endCxn id="108" idx="0"/>
            </p:cNvCxnSpPr>
            <p:nvPr/>
          </p:nvCxnSpPr>
          <p:spPr bwMode="auto">
            <a:xfrm flipH="1">
              <a:off x="4138655" y="4869128"/>
              <a:ext cx="1414" cy="14633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直接连接符 116"/>
            <p:cNvCxnSpPr>
              <a:stCxn id="109" idx="2"/>
              <a:endCxn id="110" idx="0"/>
            </p:cNvCxnSpPr>
            <p:nvPr/>
          </p:nvCxnSpPr>
          <p:spPr bwMode="auto">
            <a:xfrm>
              <a:off x="5831999" y="4870748"/>
              <a:ext cx="0" cy="14471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8" name="Text Box 80"/>
            <p:cNvSpPr txBox="1">
              <a:spLocks noChangeArrowheads="1"/>
            </p:cNvSpPr>
            <p:nvPr/>
          </p:nvSpPr>
          <p:spPr bwMode="auto">
            <a:xfrm>
              <a:off x="1763999" y="5088696"/>
              <a:ext cx="504000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/>
                <a:t>主机</a:t>
              </a:r>
              <a:endParaRPr lang="zh-CN" altLang="en-US" sz="1800" b="1" dirty="0"/>
            </a:p>
          </p:txBody>
        </p:sp>
        <p:sp>
          <p:nvSpPr>
            <p:cNvPr id="119" name="Text Box 114"/>
            <p:cNvSpPr txBox="1">
              <a:spLocks noChangeArrowheads="1"/>
            </p:cNvSpPr>
            <p:nvPr/>
          </p:nvSpPr>
          <p:spPr bwMode="auto">
            <a:xfrm>
              <a:off x="1187999" y="4581128"/>
              <a:ext cx="497576" cy="2160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BIU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120" name="Text Box 74"/>
            <p:cNvSpPr txBox="1">
              <a:spLocks noChangeArrowheads="1"/>
            </p:cNvSpPr>
            <p:nvPr/>
          </p:nvSpPr>
          <p:spPr bwMode="auto">
            <a:xfrm>
              <a:off x="2340000" y="5012283"/>
              <a:ext cx="1007864" cy="2889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主存芯片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1" name="直接连接符 120"/>
            <p:cNvCxnSpPr/>
            <p:nvPr/>
          </p:nvCxnSpPr>
          <p:spPr bwMode="auto">
            <a:xfrm flipH="1">
              <a:off x="2627784" y="4859834"/>
              <a:ext cx="707" cy="153342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直接连接符 121"/>
            <p:cNvCxnSpPr/>
            <p:nvPr/>
          </p:nvCxnSpPr>
          <p:spPr bwMode="auto">
            <a:xfrm flipH="1">
              <a:off x="2843101" y="4859834"/>
              <a:ext cx="707" cy="153342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直接连接符 122"/>
            <p:cNvCxnSpPr/>
            <p:nvPr/>
          </p:nvCxnSpPr>
          <p:spPr bwMode="auto">
            <a:xfrm flipH="1">
              <a:off x="3059125" y="4859834"/>
              <a:ext cx="707" cy="15334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5" grpId="0" bldLvl="0" animBg="1"/>
      <p:bldP spid="68" grpId="0"/>
      <p:bldP spid="73" grpId="0"/>
      <p:bldP spid="74" grpId="0"/>
      <p:bldP spid="9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8"/>
          <p:cNvSpPr txBox="1">
            <a:spLocks noChangeArrowheads="1"/>
          </p:cNvSpPr>
          <p:nvPr/>
        </p:nvSpPr>
        <p:spPr bwMode="auto">
          <a:xfrm>
            <a:off x="179512" y="404664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二、</a:t>
            </a:r>
            <a:r>
              <a:rPr kumimoji="1" lang="en-US" altLang="zh-CN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CPU</a:t>
            </a:r>
            <a:r>
              <a:rPr kumimoji="1" lang="zh-CN" altLang="en-US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组成与工作原理</a:t>
            </a:r>
            <a:endParaRPr kumimoji="1" lang="zh-CN" altLang="en-US" sz="2400" b="1" dirty="0">
              <a:solidFill>
                <a:srgbClr val="FF3300"/>
              </a:solidFill>
              <a:latin typeface="宋体" panose="0201060003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Text Box 191"/>
          <p:cNvSpPr txBox="1">
            <a:spLocks noChangeArrowheads="1"/>
          </p:cNvSpPr>
          <p:nvPr/>
        </p:nvSpPr>
        <p:spPr bwMode="auto">
          <a:xfrm>
            <a:off x="206375" y="908720"/>
            <a:ext cx="6452840" cy="56030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CPU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功能：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  <a:spcBef>
                <a:spcPts val="0"/>
              </a:spcBef>
              <a:defRPr/>
            </a:pPr>
            <a:endParaRPr lang="en-US" altLang="zh-CN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CPU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组成：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b="1" dirty="0">
              <a:latin typeface="+mn-ea"/>
              <a:ea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CPU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工作流程：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</a:rPr>
              <a:t>    </a:t>
            </a:r>
            <a:r>
              <a:rPr lang="zh-CN" altLang="en-US" sz="2200" b="1" spc="-50" dirty="0">
                <a:latin typeface="+mn-ea"/>
              </a:rPr>
              <a:t>循环的指令周期</a:t>
            </a:r>
            <a:r>
              <a:rPr lang="en-US" altLang="zh-CN" sz="2200" b="1" spc="-50" dirty="0">
                <a:latin typeface="+mn-ea"/>
              </a:rPr>
              <a:t>+</a:t>
            </a:r>
            <a:r>
              <a:rPr lang="zh-CN" altLang="en-US" sz="2200" b="1" spc="-50" dirty="0">
                <a:latin typeface="+mn-ea"/>
              </a:rPr>
              <a:t>中断周期，由</a:t>
            </a:r>
            <a:r>
              <a:rPr lang="zh-CN" altLang="en-US" sz="2200" b="1" u="sng" spc="-50" dirty="0">
                <a:latin typeface="+mn-ea"/>
              </a:rPr>
              <a:t>操作序列</a:t>
            </a:r>
            <a:r>
              <a:rPr lang="zh-CN" altLang="en-US" sz="2200" b="1" spc="-50" dirty="0">
                <a:latin typeface="+mn-ea"/>
              </a:rPr>
              <a:t>组成</a:t>
            </a:r>
            <a:endParaRPr lang="en-US" altLang="zh-CN" sz="2200" b="1" spc="-50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CPU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工作原理： 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工作流程的实现方法</a:t>
            </a:r>
            <a:r>
              <a:rPr lang="en-US" altLang="zh-CN" b="1" dirty="0">
                <a:latin typeface="+mn-ea"/>
              </a:rPr>
              <a:t>)</a:t>
            </a:r>
            <a:endParaRPr lang="en-US" altLang="zh-CN" sz="2200" b="1" dirty="0">
              <a:latin typeface="+mn-ea"/>
            </a:endParaRPr>
          </a:p>
          <a:p>
            <a:pPr marL="1885950" indent="-1885950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  <a:sym typeface="+mn-ea"/>
              </a:rPr>
              <a:t>    CU</a:t>
            </a:r>
            <a:r>
              <a:rPr lang="zh-CN" altLang="en-US" sz="2200" b="1" dirty="0">
                <a:latin typeface="+mn-ea"/>
                <a:sym typeface="+mn-ea"/>
              </a:rPr>
              <a:t>循环地</a:t>
            </a:r>
            <a:r>
              <a:rPr lang="zh-CN" altLang="en-US" sz="2200" b="1" u="sng" dirty="0">
                <a:solidFill>
                  <a:srgbClr val="FF3399"/>
                </a:solidFill>
                <a:latin typeface="+mn-ea"/>
                <a:sym typeface="+mn-ea"/>
              </a:rPr>
              <a:t>产生</a:t>
            </a:r>
            <a:r>
              <a:rPr lang="zh-CN" altLang="en-US" sz="2200" b="1" dirty="0">
                <a:latin typeface="+mn-ea"/>
                <a:sym typeface="+mn-ea"/>
              </a:rPr>
              <a:t>工作流程所需的</a:t>
            </a:r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操作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控制信号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数据通路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工作流程所需的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操作功能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en-US" altLang="zh-CN" sz="1600" dirty="0">
                <a:latin typeface="+mn-ea"/>
              </a:rPr>
              <a:t>└</a:t>
            </a:r>
            <a:r>
              <a:rPr lang="en-US" altLang="zh-CN" sz="1600" b="1" dirty="0">
                <a:latin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方法</a:t>
            </a:r>
            <a:r>
              <a:rPr lang="zh-CN" altLang="en-US" sz="1600" b="1" dirty="0">
                <a:latin typeface="+mn-ea"/>
              </a:rPr>
              <a:t>＝部件＋控制信号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来自</a:t>
            </a:r>
            <a:r>
              <a:rPr lang="en-US" altLang="zh-CN" sz="1600" b="1" dirty="0">
                <a:latin typeface="+mn-ea"/>
              </a:rPr>
              <a:t>CU)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1" name="页脚占位符 14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/>
              <a:t>SEU.CSE.RGL</a:t>
            </a:r>
            <a:endParaRPr lang="en-US" altLang="zh-CN" b="1" dirty="0"/>
          </a:p>
        </p:txBody>
      </p:sp>
      <p:sp>
        <p:nvSpPr>
          <p:cNvPr id="142" name="灯片编号占位符 1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98" name="Text Box 191"/>
          <p:cNvSpPr txBox="1">
            <a:spLocks noChangeArrowheads="1"/>
          </p:cNvSpPr>
          <p:nvPr/>
        </p:nvSpPr>
        <p:spPr bwMode="auto">
          <a:xfrm>
            <a:off x="1764194" y="908720"/>
            <a:ext cx="7237097" cy="112986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</a:rPr>
              <a:t>循环地</a:t>
            </a:r>
            <a:r>
              <a:rPr lang="zh-CN" altLang="en-US" sz="2200" b="1" u="sng" dirty="0">
                <a:latin typeface="+mn-ea"/>
                <a:ea typeface="+mn-ea"/>
              </a:rPr>
              <a:t>执行指令</a:t>
            </a:r>
            <a:r>
              <a:rPr lang="zh-CN" altLang="en-US" sz="2200" b="1" u="sng" dirty="0">
                <a:latin typeface="+mn-ea"/>
              </a:rPr>
              <a:t>＋</a:t>
            </a:r>
            <a:r>
              <a:rPr lang="zh-CN" altLang="en-US" sz="2200" b="1" u="sng" dirty="0">
                <a:latin typeface="+mn-ea"/>
                <a:ea typeface="+mn-ea"/>
              </a:rPr>
              <a:t>处理异常</a:t>
            </a:r>
            <a:r>
              <a:rPr lang="en-US" altLang="zh-CN" sz="2200" b="1" u="sng" dirty="0">
                <a:latin typeface="+mn-ea"/>
                <a:ea typeface="+mn-ea"/>
              </a:rPr>
              <a:t>/</a:t>
            </a:r>
            <a:r>
              <a:rPr lang="zh-CN" altLang="en-US" sz="2200" b="1" u="sng" dirty="0">
                <a:latin typeface="+mn-ea"/>
                <a:ea typeface="+mn-ea"/>
              </a:rPr>
              <a:t>中断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90000"/>
              </a:lnSpc>
              <a:spcBef>
                <a:spcPts val="0"/>
              </a:spcBef>
              <a:defRPr/>
            </a:pPr>
            <a:r>
              <a:rPr lang="en-US" altLang="zh-CN" b="1" dirty="0">
                <a:latin typeface="+mn-ea"/>
                <a:ea typeface="+mn-ea"/>
              </a:rPr>
              <a:t>                    </a:t>
            </a:r>
            <a:r>
              <a:rPr lang="en-US" altLang="zh-CN" dirty="0">
                <a:latin typeface="+mn-ea"/>
                <a:ea typeface="+mn-ea"/>
              </a:rPr>
              <a:t>└</a:t>
            </a:r>
            <a:r>
              <a:rPr lang="en-US" altLang="zh-CN" b="1" dirty="0">
                <a:latin typeface="+mn-ea"/>
                <a:ea typeface="+mn-ea"/>
              </a:rPr>
              <a:t>←</a:t>
            </a:r>
            <a:r>
              <a:rPr lang="zh-CN" altLang="en-US" b="1" dirty="0">
                <a:latin typeface="+mn-ea"/>
                <a:ea typeface="+mn-ea"/>
              </a:rPr>
              <a:t>过程＝检测</a:t>
            </a:r>
            <a:r>
              <a:rPr lang="en-US" altLang="zh-CN" b="1" dirty="0">
                <a:latin typeface="+mn-ea"/>
                <a:ea typeface="+mn-ea"/>
              </a:rPr>
              <a:t>&amp;</a:t>
            </a:r>
            <a:r>
              <a:rPr lang="zh-CN" altLang="en-US" b="1" dirty="0">
                <a:latin typeface="宋体" panose="02010600030101010101" pitchFamily="2" charset="-122"/>
              </a:rPr>
              <a:t>响应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硬件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+mn-ea"/>
              </a:rPr>
              <a:t>＋</a:t>
            </a:r>
            <a:r>
              <a:rPr lang="zh-CN" altLang="en-US" b="1" dirty="0">
                <a:latin typeface="宋体" panose="02010600030101010101" pitchFamily="2" charset="-122"/>
              </a:rPr>
              <a:t>处理</a:t>
            </a:r>
            <a:r>
              <a:rPr lang="en-US" altLang="zh-CN" b="1" dirty="0">
                <a:latin typeface="宋体" panose="02010600030101010101" pitchFamily="2" charset="-122"/>
              </a:rPr>
              <a:t>&amp;</a:t>
            </a:r>
            <a:r>
              <a:rPr lang="zh-CN" altLang="en-US" b="1" dirty="0">
                <a:latin typeface="宋体" panose="02010600030101010101" pitchFamily="2" charset="-122"/>
              </a:rPr>
              <a:t>返回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软件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  <a:endParaRPr lang="en-US" altLang="zh-CN" sz="1600" b="1" dirty="0">
              <a:solidFill>
                <a:srgbClr val="0070C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latin typeface="+mn-ea"/>
                <a:ea typeface="+mn-ea"/>
              </a:rPr>
              <a:t>6</a:t>
            </a:r>
            <a:r>
              <a:rPr lang="zh-CN" altLang="en-US" sz="2200" b="1" dirty="0">
                <a:latin typeface="+mn-ea"/>
                <a:ea typeface="+mn-ea"/>
              </a:rPr>
              <a:t>个部分，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划分</a:t>
            </a:r>
            <a:r>
              <a:rPr lang="zh-CN" altLang="en-US" sz="2200" b="1" dirty="0">
                <a:latin typeface="+mn-ea"/>
                <a:ea typeface="+mn-ea"/>
              </a:rPr>
              <a:t>为</a:t>
            </a:r>
            <a:r>
              <a:rPr lang="zh-CN" altLang="en-US" sz="2200" b="1" u="sng" dirty="0">
                <a:latin typeface="+mn-ea"/>
                <a:ea typeface="+mn-ea"/>
              </a:rPr>
              <a:t>数据通路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操作实现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u="sng" dirty="0">
                <a:latin typeface="+mn-ea"/>
                <a:ea typeface="+mn-ea"/>
              </a:rPr>
              <a:t>＋控制器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操作控制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en-US" altLang="zh-CN" sz="1800" b="1" dirty="0">
              <a:latin typeface="+mn-ea"/>
              <a:ea typeface="+mn-ea"/>
            </a:endParaRPr>
          </a:p>
        </p:txBody>
      </p:sp>
      <p:sp>
        <p:nvSpPr>
          <p:cNvPr id="100" name="AutoShape 32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3995937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156870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4" name="组合 103"/>
          <p:cNvGrpSpPr/>
          <p:nvPr/>
        </p:nvGrpSpPr>
        <p:grpSpPr>
          <a:xfrm>
            <a:off x="1115531" y="2060848"/>
            <a:ext cx="6120765" cy="1943735"/>
            <a:chOff x="2123510" y="3096195"/>
            <a:chExt cx="6120765" cy="1943735"/>
          </a:xfrm>
        </p:grpSpPr>
        <p:sp>
          <p:nvSpPr>
            <p:cNvPr id="105" name="Rectangle 27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6372295" y="3096195"/>
              <a:ext cx="1151890" cy="539750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106" name="Rectangle 27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860360" y="3096195"/>
              <a:ext cx="1511935" cy="252095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107" name="Rectangle 27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996125" y="3096195"/>
              <a:ext cx="864235" cy="539750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108" name="Rectangle 27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123510" y="3096195"/>
              <a:ext cx="1332230" cy="154813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109" name="Text Box 29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139635" y="3132390"/>
              <a:ext cx="575945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292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139635" y="3383850"/>
              <a:ext cx="575945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1" name="Text Box 29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876485" y="3132390"/>
              <a:ext cx="647700" cy="46799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2" name="Text Box 39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444685" y="3276535"/>
              <a:ext cx="36004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BIU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3" name="直接箭头连接符 112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4715580" y="3276535"/>
              <a:ext cx="2160270" cy="127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4" name="直接箭头连接符 113"/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4715580" y="3204145"/>
              <a:ext cx="2160270" cy="63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5" name="直接箭头连接符 114"/>
            <p:cNvCxnSpPr/>
            <p:nvPr>
              <p:custDataLst>
                <p:tags r:id="rId12"/>
              </p:custDataLst>
            </p:nvPr>
          </p:nvCxnSpPr>
          <p:spPr bwMode="auto">
            <a:xfrm>
              <a:off x="3851345" y="3203510"/>
              <a:ext cx="28829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6" name="直接箭头连接符 115"/>
            <p:cNvCxnSpPr/>
            <p:nvPr>
              <p:custDataLst>
                <p:tags r:id="rId13"/>
              </p:custDataLst>
            </p:nvPr>
          </p:nvCxnSpPr>
          <p:spPr bwMode="auto">
            <a:xfrm flipH="1" flipV="1">
              <a:off x="3851345" y="3276535"/>
              <a:ext cx="28829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7" name="直接箭头连接符 116"/>
            <p:cNvCxnSpPr/>
            <p:nvPr>
              <p:custDataLst>
                <p:tags r:id="rId14"/>
              </p:custDataLst>
            </p:nvPr>
          </p:nvCxnSpPr>
          <p:spPr bwMode="auto">
            <a:xfrm>
              <a:off x="3851345" y="3491800"/>
              <a:ext cx="28829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18" name="Text Box 292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220405" y="3383850"/>
              <a:ext cx="720090" cy="2159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MMU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9" name="直接箭头连接符 118"/>
            <p:cNvCxnSpPr/>
            <p:nvPr>
              <p:custDataLst>
                <p:tags r:id="rId16"/>
              </p:custDataLst>
            </p:nvPr>
          </p:nvCxnSpPr>
          <p:spPr bwMode="auto">
            <a:xfrm>
              <a:off x="3347155" y="3239705"/>
              <a:ext cx="215900" cy="63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0" name="直接箭头连接符 119"/>
            <p:cNvCxnSpPr/>
            <p:nvPr>
              <p:custDataLst>
                <p:tags r:id="rId17"/>
              </p:custDataLst>
            </p:nvPr>
          </p:nvCxnSpPr>
          <p:spPr bwMode="auto">
            <a:xfrm flipH="1" flipV="1">
              <a:off x="3347155" y="3456240"/>
              <a:ext cx="2159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1" name="直接箭头连接符 120"/>
            <p:cNvCxnSpPr/>
            <p:nvPr>
              <p:custDataLst>
                <p:tags r:id="rId18"/>
              </p:custDataLst>
            </p:nvPr>
          </p:nvCxnSpPr>
          <p:spPr bwMode="auto">
            <a:xfrm>
              <a:off x="3347155" y="3312095"/>
              <a:ext cx="215900" cy="63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22" name="AutoShape 189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483555" y="3851845"/>
              <a:ext cx="864235" cy="288290"/>
            </a:xfrm>
            <a:custGeom>
              <a:avLst/>
              <a:gdLst>
                <a:gd name="G0" fmla="+- 4060 0 0"/>
                <a:gd name="G1" fmla="+- 21600 0 4060"/>
                <a:gd name="G2" fmla="*/ 4060 1 2"/>
                <a:gd name="G3" fmla="+- 21600 0 G2"/>
                <a:gd name="G4" fmla="+/ 4060 21600 2"/>
                <a:gd name="G5" fmla="+/ G1 0 2"/>
                <a:gd name="G6" fmla="*/ 21600 21600 4060"/>
                <a:gd name="G7" fmla="*/ G6 1 2"/>
                <a:gd name="G8" fmla="+- 21600 0 G7"/>
                <a:gd name="G9" fmla="*/ 21600 1 2"/>
                <a:gd name="G10" fmla="+- 4060 0 G9"/>
                <a:gd name="G11" fmla="?: G10 G8 0"/>
                <a:gd name="G12" fmla="?: G10 G7 21600"/>
                <a:gd name="T0" fmla="*/ 19570 w 21600"/>
                <a:gd name="T1" fmla="*/ 10800 h 21600"/>
                <a:gd name="T2" fmla="*/ 10800 w 21600"/>
                <a:gd name="T3" fmla="*/ 21600 h 21600"/>
                <a:gd name="T4" fmla="*/ 2030 w 21600"/>
                <a:gd name="T5" fmla="*/ 10800 h 21600"/>
                <a:gd name="T6" fmla="*/ 10800 w 21600"/>
                <a:gd name="T7" fmla="*/ 0 h 21600"/>
                <a:gd name="T8" fmla="*/ 3830 w 21600"/>
                <a:gd name="T9" fmla="*/ 3830 h 21600"/>
                <a:gd name="T10" fmla="*/ 17770 w 21600"/>
                <a:gd name="T11" fmla="*/ 177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060" y="21600"/>
                  </a:lnTo>
                  <a:lnTo>
                    <a:pt x="175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ALU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3" name="直接箭头连接符 97"/>
            <p:cNvCxnSpPr/>
            <p:nvPr>
              <p:custDataLst>
                <p:tags r:id="rId20"/>
              </p:custDataLst>
            </p:nvPr>
          </p:nvCxnSpPr>
          <p:spPr bwMode="auto">
            <a:xfrm rot="10800000" flipV="1">
              <a:off x="2627700" y="3599750"/>
              <a:ext cx="935990" cy="252095"/>
            </a:xfrm>
            <a:prstGeom prst="bentConnector3">
              <a:avLst>
                <a:gd name="adj1" fmla="val 100000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4" name="直接箭头连接符 98"/>
            <p:cNvCxnSpPr/>
            <p:nvPr>
              <p:custDataLst>
                <p:tags r:id="rId21"/>
              </p:custDataLst>
            </p:nvPr>
          </p:nvCxnSpPr>
          <p:spPr bwMode="auto">
            <a:xfrm rot="10800000" flipV="1">
              <a:off x="3203645" y="3707700"/>
              <a:ext cx="360045" cy="144780"/>
            </a:xfrm>
            <a:prstGeom prst="bentConnector3">
              <a:avLst>
                <a:gd name="adj1" fmla="val 99598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5" name="直接箭头连接符 98"/>
            <p:cNvCxnSpPr/>
            <p:nvPr>
              <p:custDataLst>
                <p:tags r:id="rId22"/>
              </p:custDataLst>
            </p:nvPr>
          </p:nvCxnSpPr>
          <p:spPr bwMode="auto">
            <a:xfrm>
              <a:off x="2915355" y="4140135"/>
              <a:ext cx="647700" cy="144145"/>
            </a:xfrm>
            <a:prstGeom prst="bentConnector3">
              <a:avLst>
                <a:gd name="adj1" fmla="val -460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6" name="直接箭头连接符 125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3347155" y="4500180"/>
              <a:ext cx="2159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7" name="直接箭头连接符 126"/>
            <p:cNvCxnSpPr/>
            <p:nvPr>
              <p:custDataLst>
                <p:tags r:id="rId24"/>
              </p:custDataLst>
            </p:nvPr>
          </p:nvCxnSpPr>
          <p:spPr bwMode="auto">
            <a:xfrm>
              <a:off x="3347155" y="4427790"/>
              <a:ext cx="2159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8" name="直接箭头连接符 127"/>
            <p:cNvCxnSpPr/>
            <p:nvPr>
              <p:custDataLst>
                <p:tags r:id="rId25"/>
              </p:custDataLst>
            </p:nvPr>
          </p:nvCxnSpPr>
          <p:spPr bwMode="auto">
            <a:xfrm>
              <a:off x="3996125" y="3096195"/>
              <a:ext cx="0" cy="53975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9" name="直接箭头连接符 128"/>
            <p:cNvCxnSpPr/>
            <p:nvPr>
              <p:custDataLst>
                <p:tags r:id="rId26"/>
              </p:custDataLst>
            </p:nvPr>
          </p:nvCxnSpPr>
          <p:spPr bwMode="auto">
            <a:xfrm>
              <a:off x="3996125" y="3635945"/>
              <a:ext cx="86423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0" name="直接箭头连接符 129"/>
            <p:cNvCxnSpPr/>
            <p:nvPr>
              <p:custDataLst>
                <p:tags r:id="rId27"/>
              </p:custDataLst>
            </p:nvPr>
          </p:nvCxnSpPr>
          <p:spPr bwMode="auto">
            <a:xfrm flipH="1">
              <a:off x="4860360" y="3348290"/>
              <a:ext cx="635" cy="28829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1" name="直接箭头连接符 130"/>
            <p:cNvCxnSpPr/>
            <p:nvPr>
              <p:custDataLst>
                <p:tags r:id="rId28"/>
              </p:custDataLst>
            </p:nvPr>
          </p:nvCxnSpPr>
          <p:spPr bwMode="auto">
            <a:xfrm>
              <a:off x="4860360" y="3348290"/>
              <a:ext cx="151193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2" name="直接箭头连接符 131"/>
            <p:cNvCxnSpPr/>
            <p:nvPr>
              <p:custDataLst>
                <p:tags r:id="rId29"/>
              </p:custDataLst>
            </p:nvPr>
          </p:nvCxnSpPr>
          <p:spPr bwMode="auto">
            <a:xfrm>
              <a:off x="6372295" y="3635945"/>
              <a:ext cx="115189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3" name="直接箭头连接符 132"/>
            <p:cNvCxnSpPr/>
            <p:nvPr>
              <p:custDataLst>
                <p:tags r:id="rId30"/>
              </p:custDataLst>
            </p:nvPr>
          </p:nvCxnSpPr>
          <p:spPr bwMode="auto">
            <a:xfrm flipH="1">
              <a:off x="6372295" y="334829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4" name="直接箭头连接符 133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4715580" y="3491800"/>
              <a:ext cx="50419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5" name="直接箭头连接符 134"/>
            <p:cNvCxnSpPr/>
            <p:nvPr>
              <p:custDataLst>
                <p:tags r:id="rId32"/>
              </p:custDataLst>
            </p:nvPr>
          </p:nvCxnSpPr>
          <p:spPr bwMode="auto">
            <a:xfrm>
              <a:off x="5940495" y="3491800"/>
              <a:ext cx="93599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6" name="直接箭头连接符 135"/>
            <p:cNvCxnSpPr/>
            <p:nvPr>
              <p:custDataLst>
                <p:tags r:id="rId33"/>
              </p:custDataLst>
            </p:nvPr>
          </p:nvCxnSpPr>
          <p:spPr bwMode="auto">
            <a:xfrm>
              <a:off x="2771210" y="4140135"/>
              <a:ext cx="1270" cy="2159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37" name="Text Box 276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2267655" y="4356035"/>
              <a:ext cx="1080135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spc="-100" dirty="0">
                  <a:latin typeface="宋体" panose="02010600030101010101" pitchFamily="2" charset="-122"/>
                </a:rPr>
                <a:t>状态寄存器</a:t>
              </a:r>
              <a:endParaRPr lang="zh-CN" altLang="en-US" sz="1600" b="1" spc="-100" dirty="0">
                <a:latin typeface="宋体" panose="02010600030101010101" pitchFamily="2" charset="-122"/>
              </a:endParaRPr>
            </a:p>
          </p:txBody>
        </p:sp>
        <p:sp>
          <p:nvSpPr>
            <p:cNvPr id="138" name="Text Box 314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339410" y="3167950"/>
              <a:ext cx="1007745" cy="36004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寄存器组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9" name="Text Box 392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195265" y="3564190"/>
              <a:ext cx="215900" cy="7918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spc="3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运算器</a:t>
              </a:r>
              <a:endParaRPr lang="zh-CN" altLang="en-US" sz="1600" b="1" spc="300" dirty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40" name="Rectangle 274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004435" y="3924195"/>
              <a:ext cx="2124075" cy="89979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143" name="Text Box 257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220335" y="3959755"/>
              <a:ext cx="1800225" cy="21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时序信号形成电路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4" name="Text Box 25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5796280" y="4320435"/>
              <a:ext cx="1224280" cy="46799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>
                  <a:cs typeface="Times New Roman" panose="02020603050405020304" pitchFamily="18" charset="0"/>
                </a:rPr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  <a:cs typeface="宋体" panose="02010600030101010101" pitchFamily="2" charset="-122"/>
                </a:rPr>
                <a:t>OP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控制信号形成电路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5" name="Text Box 271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228715" y="4823990"/>
              <a:ext cx="504190" cy="14478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……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6" name="Text Box 392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004435" y="4211850"/>
              <a:ext cx="288290" cy="2095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7" name="直接箭头连接符 117"/>
            <p:cNvCxnSpPr/>
            <p:nvPr>
              <p:custDataLst>
                <p:tags r:id="rId42"/>
              </p:custDataLst>
            </p:nvPr>
          </p:nvCxnSpPr>
          <p:spPr bwMode="auto">
            <a:xfrm rot="16200000" flipH="1">
              <a:off x="4121150" y="3059960"/>
              <a:ext cx="179705" cy="3168015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8" name="直接箭头连接符 147"/>
            <p:cNvCxnSpPr/>
            <p:nvPr>
              <p:custDataLst>
                <p:tags r:id="rId43"/>
              </p:custDataLst>
            </p:nvPr>
          </p:nvCxnSpPr>
          <p:spPr bwMode="auto">
            <a:xfrm>
              <a:off x="6588125" y="4184545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9" name="直接箭头连接符 148"/>
            <p:cNvCxnSpPr/>
            <p:nvPr>
              <p:custDataLst>
                <p:tags r:id="rId44"/>
              </p:custDataLst>
            </p:nvPr>
          </p:nvCxnSpPr>
          <p:spPr bwMode="auto">
            <a:xfrm>
              <a:off x="6156325" y="4175655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50" name="Text Box 271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6228080" y="4175655"/>
              <a:ext cx="288290" cy="14478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1" name="直接箭头连接符 150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6804025" y="4787795"/>
              <a:ext cx="635" cy="14414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47"/>
              </p:custDataLst>
            </p:nvPr>
          </p:nvCxnSpPr>
          <p:spPr bwMode="auto">
            <a:xfrm>
              <a:off x="6156325" y="4787795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3" name="直接箭头连接符 152"/>
            <p:cNvCxnSpPr/>
            <p:nvPr>
              <p:custDataLst>
                <p:tags r:id="rId48"/>
              </p:custDataLst>
            </p:nvPr>
          </p:nvCxnSpPr>
          <p:spPr bwMode="auto">
            <a:xfrm>
              <a:off x="5580380" y="4392190"/>
              <a:ext cx="2159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4" name="直接箭头连接符 153"/>
            <p:cNvCxnSpPr/>
            <p:nvPr>
              <p:custDataLst>
                <p:tags r:id="rId49"/>
              </p:custDataLst>
            </p:nvPr>
          </p:nvCxnSpPr>
          <p:spPr bwMode="auto">
            <a:xfrm>
              <a:off x="5580380" y="4608090"/>
              <a:ext cx="2159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55" name="Text Box 271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 rot="16200000">
              <a:off x="5544820" y="4427750"/>
              <a:ext cx="215900" cy="14478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…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56" name="Rectangle 274"/>
            <p:cNvSpPr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3996125" y="3924235"/>
              <a:ext cx="864235" cy="72009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157" name="Text Box 254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4139635" y="4140135"/>
              <a:ext cx="575945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8" name="Text Box 255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4139635" y="4392230"/>
              <a:ext cx="575945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9" name="Text Box 256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5328355" y="4319840"/>
              <a:ext cx="252095" cy="36004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0" name="Rectangle 299"/>
            <p:cNvSpPr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2123510" y="3096195"/>
              <a:ext cx="5400040" cy="194373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179" name="Text Box 333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563690" y="3167950"/>
              <a:ext cx="288925" cy="140398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数据通路结构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0" name="直接箭头连接符 179"/>
            <p:cNvCxnSpPr/>
            <p:nvPr>
              <p:custDataLst>
                <p:tags r:id="rId57"/>
              </p:custDataLst>
            </p:nvPr>
          </p:nvCxnSpPr>
          <p:spPr bwMode="auto">
            <a:xfrm>
              <a:off x="7527995" y="3204145"/>
              <a:ext cx="28829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181" name="直接箭头连接符 180"/>
            <p:cNvCxnSpPr/>
            <p:nvPr>
              <p:custDataLst>
                <p:tags r:id="rId58"/>
              </p:custDataLst>
            </p:nvPr>
          </p:nvCxnSpPr>
          <p:spPr bwMode="auto">
            <a:xfrm>
              <a:off x="3851345" y="4221415"/>
              <a:ext cx="288290" cy="63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2" name="直接箭头连接符 181"/>
            <p:cNvCxnSpPr/>
            <p:nvPr>
              <p:custDataLst>
                <p:tags r:id="rId59"/>
              </p:custDataLst>
            </p:nvPr>
          </p:nvCxnSpPr>
          <p:spPr bwMode="auto">
            <a:xfrm flipH="1" flipV="1">
              <a:off x="3851345" y="4293170"/>
              <a:ext cx="28829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3" name="直接箭头连接符 182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3851345" y="4500180"/>
              <a:ext cx="288290" cy="63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4" name="直接箭头连接符 183"/>
            <p:cNvCxnSpPr/>
            <p:nvPr>
              <p:custDataLst>
                <p:tags r:id="rId61"/>
              </p:custDataLst>
            </p:nvPr>
          </p:nvCxnSpPr>
          <p:spPr bwMode="auto">
            <a:xfrm>
              <a:off x="4715580" y="4500180"/>
              <a:ext cx="61214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85" name="Text Box 392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3986600" y="3933125"/>
              <a:ext cx="86423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指令部件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6" name="直接箭头连接符 185"/>
            <p:cNvCxnSpPr/>
            <p:nvPr>
              <p:custDataLst>
                <p:tags r:id="rId63"/>
              </p:custDataLst>
            </p:nvPr>
          </p:nvCxnSpPr>
          <p:spPr bwMode="auto">
            <a:xfrm>
              <a:off x="7524820" y="3383850"/>
              <a:ext cx="28829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7" name="直接箭头连接符 186"/>
            <p:cNvCxnSpPr/>
            <p:nvPr>
              <p:custDataLst>
                <p:tags r:id="rId64"/>
              </p:custDataLst>
            </p:nvPr>
          </p:nvCxnSpPr>
          <p:spPr bwMode="auto">
            <a:xfrm>
              <a:off x="7527995" y="3527995"/>
              <a:ext cx="28829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88" name="Text Box 392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7812475" y="3167950"/>
              <a:ext cx="431800" cy="4318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70000"/>
                </a:lnSpc>
              </a:pPr>
              <a:r>
                <a:rPr lang="en-US" altLang="zh-CN" sz="1400" b="1" dirty="0" err="1">
                  <a:latin typeface="宋体" panose="02010600030101010101" pitchFamily="2" charset="-122"/>
                </a:rPr>
                <a:t>DBus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400" b="1" dirty="0" err="1">
                  <a:latin typeface="宋体" panose="02010600030101010101" pitchFamily="2" charset="-122"/>
                </a:rPr>
                <a:t>CBus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400" b="1" dirty="0" err="1">
                  <a:latin typeface="宋体" panose="02010600030101010101" pitchFamily="2" charset="-122"/>
                </a:rPr>
                <a:t>ABus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89" name="Text Box 227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7235825" y="3995995"/>
              <a:ext cx="288290" cy="8280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spc="-50" dirty="0">
                  <a:latin typeface="宋体" panose="02010600030101010101" pitchFamily="2" charset="-122"/>
                </a:rPr>
                <a:t>中断机构</a:t>
              </a:r>
              <a:endParaRPr lang="zh-CN" altLang="en-US" sz="1600" b="1" spc="-50" dirty="0">
                <a:latin typeface="宋体" panose="02010600030101010101" pitchFamily="2" charset="-122"/>
              </a:endParaRPr>
            </a:p>
          </p:txBody>
        </p:sp>
        <p:cxnSp>
          <p:nvCxnSpPr>
            <p:cNvPr id="190" name="直接箭头连接符 189"/>
            <p:cNvCxnSpPr/>
            <p:nvPr>
              <p:custDataLst>
                <p:tags r:id="rId67"/>
              </p:custDataLst>
            </p:nvPr>
          </p:nvCxnSpPr>
          <p:spPr bwMode="auto">
            <a:xfrm flipH="1">
              <a:off x="7020560" y="4608135"/>
              <a:ext cx="2159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1" name="直接箭头连接符 190"/>
            <p:cNvCxnSpPr/>
            <p:nvPr>
              <p:custDataLst>
                <p:tags r:id="rId68"/>
              </p:custDataLst>
            </p:nvPr>
          </p:nvCxnSpPr>
          <p:spPr bwMode="auto">
            <a:xfrm>
              <a:off x="3851275" y="3851850"/>
              <a:ext cx="345630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92" name="直接箭头连接符 191"/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3851275" y="3780095"/>
              <a:ext cx="352806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3" name="直接箭头连接符 173"/>
            <p:cNvCxnSpPr/>
            <p:nvPr>
              <p:custDataLst>
                <p:tags r:id="rId70"/>
              </p:custDataLst>
            </p:nvPr>
          </p:nvCxnSpPr>
          <p:spPr bwMode="auto">
            <a:xfrm>
              <a:off x="5580380" y="3599755"/>
              <a:ext cx="1871980" cy="107950"/>
            </a:xfrm>
            <a:prstGeom prst="bentConnector3">
              <a:avLst>
                <a:gd name="adj1" fmla="val -328"/>
              </a:avLst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94" name="直接箭头连接符 193"/>
            <p:cNvCxnSpPr/>
            <p:nvPr>
              <p:custDataLst>
                <p:tags r:id="rId71"/>
              </p:custDataLst>
            </p:nvPr>
          </p:nvCxnSpPr>
          <p:spPr bwMode="auto">
            <a:xfrm>
              <a:off x="7308215" y="385185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5" name="直接箭头连接符 194"/>
            <p:cNvCxnSpPr/>
            <p:nvPr>
              <p:custDataLst>
                <p:tags r:id="rId72"/>
              </p:custDataLst>
            </p:nvPr>
          </p:nvCxnSpPr>
          <p:spPr bwMode="auto">
            <a:xfrm flipH="1" flipV="1">
              <a:off x="7379970" y="3778825"/>
              <a:ext cx="635" cy="2159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96" name="直接箭头连接符 195"/>
            <p:cNvCxnSpPr/>
            <p:nvPr>
              <p:custDataLst>
                <p:tags r:id="rId73"/>
              </p:custDataLst>
            </p:nvPr>
          </p:nvCxnSpPr>
          <p:spPr bwMode="auto">
            <a:xfrm>
              <a:off x="7452360" y="3707705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7" name="直接箭头连接符 196"/>
            <p:cNvCxnSpPr/>
            <p:nvPr>
              <p:custDataLst>
                <p:tags r:id="rId74"/>
              </p:custDataLst>
            </p:nvPr>
          </p:nvCxnSpPr>
          <p:spPr bwMode="auto">
            <a:xfrm flipH="1" flipV="1">
              <a:off x="7379335" y="4824035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8" name="直接箭头连接符 197"/>
            <p:cNvCxnSpPr/>
            <p:nvPr>
              <p:custDataLst>
                <p:tags r:id="rId75"/>
              </p:custDataLst>
            </p:nvPr>
          </p:nvCxnSpPr>
          <p:spPr bwMode="auto">
            <a:xfrm flipH="1">
              <a:off x="2195195" y="3995995"/>
              <a:ext cx="36004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99" name="直接箭头连接符 198"/>
            <p:cNvCxnSpPr/>
            <p:nvPr>
              <p:custDataLst>
                <p:tags r:id="rId76"/>
              </p:custDataLst>
            </p:nvPr>
          </p:nvCxnSpPr>
          <p:spPr bwMode="auto">
            <a:xfrm>
              <a:off x="2195195" y="3995995"/>
              <a:ext cx="0" cy="97218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00" name="直接箭头连接符 199"/>
            <p:cNvCxnSpPr/>
            <p:nvPr>
              <p:custDataLst>
                <p:tags r:id="rId77"/>
              </p:custDataLst>
            </p:nvPr>
          </p:nvCxnSpPr>
          <p:spPr bwMode="auto">
            <a:xfrm>
              <a:off x="2195195" y="4968180"/>
              <a:ext cx="51841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01" name="直接箭头连接符 200"/>
            <p:cNvCxnSpPr/>
            <p:nvPr>
              <p:custDataLst>
                <p:tags r:id="rId78"/>
              </p:custDataLst>
            </p:nvPr>
          </p:nvCxnSpPr>
          <p:spPr bwMode="auto">
            <a:xfrm flipH="1">
              <a:off x="7524750" y="4427795"/>
              <a:ext cx="28829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2" name="直接箭头连接符 201"/>
            <p:cNvCxnSpPr/>
            <p:nvPr>
              <p:custDataLst>
                <p:tags r:id="rId79"/>
              </p:custDataLst>
            </p:nvPr>
          </p:nvCxnSpPr>
          <p:spPr bwMode="auto">
            <a:xfrm>
              <a:off x="7524750" y="4644330"/>
              <a:ext cx="28829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03" name="Text Box 392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7812405" y="4356040"/>
              <a:ext cx="431800" cy="3600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请求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响应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04" name="组合 203"/>
          <p:cNvGrpSpPr/>
          <p:nvPr/>
        </p:nvGrpSpPr>
        <p:grpSpPr>
          <a:xfrm>
            <a:off x="6193601" y="4257129"/>
            <a:ext cx="2842895" cy="1908175"/>
            <a:chOff x="9071" y="5272"/>
            <a:chExt cx="4477" cy="3005"/>
          </a:xfrm>
        </p:grpSpPr>
        <p:sp>
          <p:nvSpPr>
            <p:cNvPr id="205" name="Text Box 74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10715" y="5953"/>
              <a:ext cx="147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/>
                <a:t>取指令</a:t>
              </a:r>
              <a:endParaRPr lang="zh-CN" altLang="en-US" sz="1600" b="1" dirty="0"/>
            </a:p>
          </p:txBody>
        </p:sp>
        <p:sp>
          <p:nvSpPr>
            <p:cNvPr id="206" name="Text Box 76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10715" y="6633"/>
              <a:ext cx="147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/>
                <a:t>执行指令</a:t>
              </a:r>
              <a:endParaRPr lang="zh-CN" altLang="en-US" sz="1600" b="1" dirty="0"/>
            </a:p>
          </p:txBody>
        </p:sp>
        <p:sp>
          <p:nvSpPr>
            <p:cNvPr id="207" name="Text Box 77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12074" y="7767"/>
              <a:ext cx="1474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/>
                <a:t>中断响应</a:t>
              </a:r>
              <a:endParaRPr lang="zh-CN" altLang="en-US" sz="1600" b="1" dirty="0"/>
            </a:p>
          </p:txBody>
        </p:sp>
        <p:sp>
          <p:nvSpPr>
            <p:cNvPr id="208" name="AutoShape 79"/>
            <p:cNvSpPr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10998" y="5272"/>
              <a:ext cx="907" cy="340"/>
            </a:xfrm>
            <a:prstGeom prst="flowChartTerminator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dirty="0"/>
                <a:t>启动</a:t>
              </a:r>
              <a:endParaRPr lang="zh-CN" altLang="en-US" sz="1600" b="1" dirty="0"/>
            </a:p>
          </p:txBody>
        </p:sp>
        <p:sp>
          <p:nvSpPr>
            <p:cNvPr id="209" name="Text Box 105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12699" y="7200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0" name="AutoShape 107"/>
            <p:cNvSpPr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10148" y="7314"/>
              <a:ext cx="2608" cy="454"/>
            </a:xfrm>
            <a:prstGeom prst="flowChartDecision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spc="-100" dirty="0">
                  <a:solidFill>
                    <a:srgbClr val="990099"/>
                  </a:solidFill>
                </a:rPr>
                <a:t>有</a:t>
              </a:r>
              <a:r>
                <a:rPr lang="zh-CN" altLang="en-US" sz="1600" b="1" spc="-100" dirty="0"/>
                <a:t>中断请求？</a:t>
              </a:r>
              <a:endParaRPr lang="zh-CN" altLang="en-US" sz="1600" b="1" spc="-100" dirty="0"/>
            </a:p>
          </p:txBody>
        </p:sp>
        <p:sp>
          <p:nvSpPr>
            <p:cNvPr id="211" name="Text Box 110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11169" y="776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2" name="AutoShape 114"/>
            <p:cNvSpPr/>
            <p:nvPr>
              <p:custDataLst>
                <p:tags r:id="rId88"/>
              </p:custDataLst>
            </p:nvPr>
          </p:nvSpPr>
          <p:spPr bwMode="auto">
            <a:xfrm>
              <a:off x="9865" y="6009"/>
              <a:ext cx="113" cy="907"/>
            </a:xfrm>
            <a:prstGeom prst="leftBrace">
              <a:avLst>
                <a:gd name="adj1" fmla="val 47585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13" name="Text Box 115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9071" y="6123"/>
              <a:ext cx="794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指令周期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4" name="AutoShape 117"/>
            <p:cNvSpPr/>
            <p:nvPr>
              <p:custDataLst>
                <p:tags r:id="rId90"/>
              </p:custDataLst>
            </p:nvPr>
          </p:nvSpPr>
          <p:spPr bwMode="auto">
            <a:xfrm>
              <a:off x="9865" y="7767"/>
              <a:ext cx="112" cy="340"/>
            </a:xfrm>
            <a:prstGeom prst="leftBrace">
              <a:avLst>
                <a:gd name="adj1" fmla="val 24714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15" name="Text Box 119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9071" y="7597"/>
              <a:ext cx="794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响应周期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6" name="直接箭头连接符 215"/>
            <p:cNvCxnSpPr>
              <a:stCxn id="205" idx="2"/>
              <a:endCxn id="206" idx="0"/>
            </p:cNvCxnSpPr>
            <p:nvPr>
              <p:custDataLst>
                <p:tags r:id="rId92"/>
              </p:custDataLst>
            </p:nvPr>
          </p:nvCxnSpPr>
          <p:spPr bwMode="auto">
            <a:xfrm>
              <a:off x="11452" y="6293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7" name="直接箭头连接符 216"/>
            <p:cNvCxnSpPr>
              <a:stCxn id="208" idx="2"/>
              <a:endCxn id="205" idx="0"/>
            </p:cNvCxnSpPr>
            <p:nvPr>
              <p:custDataLst>
                <p:tags r:id="rId93"/>
              </p:custDataLst>
            </p:nvPr>
          </p:nvCxnSpPr>
          <p:spPr bwMode="auto">
            <a:xfrm>
              <a:off x="11452" y="5613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8" name="直接箭头连接符 217"/>
            <p:cNvCxnSpPr/>
            <p:nvPr>
              <p:custDataLst>
                <p:tags r:id="rId94"/>
              </p:custDataLst>
            </p:nvPr>
          </p:nvCxnSpPr>
          <p:spPr bwMode="auto">
            <a:xfrm>
              <a:off x="11452" y="6972"/>
              <a:ext cx="0" cy="34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9" name="直接箭头连接符 98"/>
            <p:cNvCxnSpPr/>
            <p:nvPr>
              <p:custDataLst>
                <p:tags r:id="rId95"/>
              </p:custDataLst>
            </p:nvPr>
          </p:nvCxnSpPr>
          <p:spPr bwMode="auto">
            <a:xfrm>
              <a:off x="12756" y="7541"/>
              <a:ext cx="283" cy="226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0" name="AutoShape 79"/>
            <p:cNvSpPr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12585" y="5272"/>
              <a:ext cx="907" cy="340"/>
            </a:xfrm>
            <a:prstGeom prst="flowChartTerminator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600" b="1" dirty="0"/>
                <a:t>停机</a:t>
              </a:r>
              <a:endParaRPr lang="zh-CN" altLang="en-US" sz="1600" b="1" dirty="0"/>
            </a:p>
          </p:txBody>
        </p:sp>
        <p:cxnSp>
          <p:nvCxnSpPr>
            <p:cNvPr id="221" name="直接箭头连接符 98"/>
            <p:cNvCxnSpPr/>
            <p:nvPr>
              <p:custDataLst>
                <p:tags r:id="rId97"/>
              </p:custDataLst>
            </p:nvPr>
          </p:nvCxnSpPr>
          <p:spPr bwMode="auto">
            <a:xfrm rot="5400000" flipH="1" flipV="1">
              <a:off x="12047" y="5754"/>
              <a:ext cx="1191" cy="907"/>
            </a:xfrm>
            <a:prstGeom prst="bentConnector3">
              <a:avLst>
                <a:gd name="adj1" fmla="val -495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2" name="Text Box 119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12359" y="6066"/>
              <a:ext cx="737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停机指令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23" name="直接箭头连接符 222"/>
            <p:cNvCxnSpPr/>
            <p:nvPr>
              <p:custDataLst>
                <p:tags r:id="rId99"/>
              </p:custDataLst>
            </p:nvPr>
          </p:nvCxnSpPr>
          <p:spPr bwMode="auto">
            <a:xfrm>
              <a:off x="11452" y="7767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4" name="直接箭头连接符 223"/>
            <p:cNvCxnSpPr/>
            <p:nvPr>
              <p:custDataLst>
                <p:tags r:id="rId100"/>
              </p:custDataLst>
            </p:nvPr>
          </p:nvCxnSpPr>
          <p:spPr bwMode="auto">
            <a:xfrm flipH="1">
              <a:off x="10035" y="8277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5" name="直接箭头连接符 224"/>
            <p:cNvCxnSpPr/>
            <p:nvPr>
              <p:custDataLst>
                <p:tags r:id="rId101"/>
              </p:custDataLst>
            </p:nvPr>
          </p:nvCxnSpPr>
          <p:spPr bwMode="auto">
            <a:xfrm>
              <a:off x="10035" y="5726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6" name="直接箭头连接符 225"/>
            <p:cNvCxnSpPr/>
            <p:nvPr>
              <p:custDataLst>
                <p:tags r:id="rId102"/>
              </p:custDataLst>
            </p:nvPr>
          </p:nvCxnSpPr>
          <p:spPr bwMode="auto">
            <a:xfrm>
              <a:off x="10035" y="5726"/>
              <a:ext cx="0" cy="255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7" name="直接箭头连接符 226"/>
            <p:cNvCxnSpPr/>
            <p:nvPr>
              <p:custDataLst>
                <p:tags r:id="rId103"/>
              </p:custDataLst>
            </p:nvPr>
          </p:nvCxnSpPr>
          <p:spPr bwMode="auto">
            <a:xfrm>
              <a:off x="13039" y="8107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8" name="直接箭头连接符 227"/>
            <p:cNvCxnSpPr/>
            <p:nvPr>
              <p:custDataLst>
                <p:tags r:id="rId104"/>
              </p:custDataLst>
            </p:nvPr>
          </p:nvCxnSpPr>
          <p:spPr bwMode="auto">
            <a:xfrm flipH="1" flipV="1">
              <a:off x="11452" y="8277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78" name="组合 77"/>
          <p:cNvGrpSpPr/>
          <p:nvPr/>
        </p:nvGrpSpPr>
        <p:grpSpPr>
          <a:xfrm>
            <a:off x="5076429" y="4221088"/>
            <a:ext cx="2265690" cy="972000"/>
            <a:chOff x="4968200" y="5076000"/>
            <a:chExt cx="2265690" cy="972000"/>
          </a:xfrm>
        </p:grpSpPr>
        <p:sp>
          <p:nvSpPr>
            <p:cNvPr id="231" name="Text Box 77"/>
            <p:cNvSpPr txBox="1"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4968200" y="5076000"/>
              <a:ext cx="1404000" cy="2159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zh-CN" sz="1600" b="1" dirty="0">
                  <a:latin typeface="宋体" panose="02010600030101010101" pitchFamily="2" charset="-122"/>
                </a:rPr>
                <a:t>异常检测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r>
                <a:rPr lang="zh-CN" altLang="zh-CN" sz="1600" b="1" dirty="0">
                  <a:latin typeface="宋体" panose="02010600030101010101" pitchFamily="2" charset="-122"/>
                </a:rPr>
                <a:t>响应</a:t>
              </a:r>
              <a:endParaRPr lang="zh-CN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2" name="直接箭头连接符 231"/>
            <p:cNvCxnSpPr/>
            <p:nvPr/>
          </p:nvCxnSpPr>
          <p:spPr>
            <a:xfrm>
              <a:off x="6372200" y="5147999"/>
              <a:ext cx="861690" cy="468000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ysDash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箭头连接符 232"/>
            <p:cNvCxnSpPr/>
            <p:nvPr/>
          </p:nvCxnSpPr>
          <p:spPr>
            <a:xfrm>
              <a:off x="6372000" y="5148000"/>
              <a:ext cx="828000" cy="900000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ysDash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4" name="线形标注 2 104"/>
          <p:cNvSpPr/>
          <p:nvPr/>
        </p:nvSpPr>
        <p:spPr bwMode="auto">
          <a:xfrm>
            <a:off x="7308304" y="2420888"/>
            <a:ext cx="1620000" cy="1080000"/>
          </a:xfrm>
          <a:prstGeom prst="borderCallout2">
            <a:avLst>
              <a:gd name="adj1" fmla="val 48931"/>
              <a:gd name="adj2" fmla="val -326"/>
              <a:gd name="adj3" fmla="val 48799"/>
              <a:gd name="adj4" fmla="val -17293"/>
              <a:gd name="adj5" fmla="val 70658"/>
              <a:gd name="adj6" fmla="val -53935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105000"/>
              </a:lnSpc>
            </a:pP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检测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响应时机：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180975" indent="-180975">
              <a:lnSpc>
                <a:spcPct val="105000"/>
              </a:lnSpc>
            </a:pP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1600" b="1" dirty="0">
                <a:solidFill>
                  <a:srgbClr val="3333FF"/>
                </a:solidFill>
                <a:latin typeface="宋体" panose="02010600030101010101" pitchFamily="2" charset="-122"/>
              </a:rPr>
              <a:t>异常</a:t>
            </a:r>
            <a:r>
              <a:rPr lang="zh-CN" altLang="en-US" sz="1600" b="1" dirty="0">
                <a:latin typeface="宋体" panose="02010600030101010101" pitchFamily="2" charset="-122"/>
              </a:rPr>
              <a:t>为立即，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marL="628650" indent="-628650">
              <a:lnSpc>
                <a:spcPct val="105000"/>
              </a:lnSpc>
            </a:pPr>
            <a:r>
              <a:rPr lang="en-US" altLang="zh-CN" sz="1600" b="1" dirty="0">
                <a:solidFill>
                  <a:srgbClr val="3333FF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1600" b="1" dirty="0">
                <a:solidFill>
                  <a:srgbClr val="3333FF"/>
                </a:solidFill>
                <a:latin typeface="宋体" panose="02010600030101010101" pitchFamily="2" charset="-122"/>
              </a:rPr>
              <a:t>中断</a:t>
            </a:r>
            <a:r>
              <a:rPr lang="zh-CN" altLang="en-US" sz="1600" b="1" dirty="0">
                <a:latin typeface="宋体" panose="02010600030101010101" pitchFamily="2" charset="-122"/>
              </a:rPr>
              <a:t>为指令周期结束时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cxnSp>
        <p:nvCxnSpPr>
          <p:cNvPr id="235" name="直接箭头连接符 234"/>
          <p:cNvCxnSpPr/>
          <p:nvPr/>
        </p:nvCxnSpPr>
        <p:spPr>
          <a:xfrm flipH="1">
            <a:off x="3744000" y="4905464"/>
            <a:ext cx="828000" cy="467695"/>
          </a:xfrm>
          <a:prstGeom prst="straightConnector1">
            <a:avLst/>
          </a:prstGeom>
          <a:ln w="15875">
            <a:solidFill>
              <a:srgbClr val="0070C0"/>
            </a:solidFill>
            <a:prstDash val="sysDash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 bwMode="auto">
          <a:xfrm>
            <a:off x="7884369" y="5085674"/>
            <a:ext cx="396043" cy="873105"/>
          </a:xfrm>
          <a:prstGeom prst="ellipse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sysDot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线形标注 2 12"/>
          <p:cNvSpPr/>
          <p:nvPr/>
        </p:nvSpPr>
        <p:spPr bwMode="auto">
          <a:xfrm>
            <a:off x="504056" y="5949280"/>
            <a:ext cx="1763688" cy="321471"/>
          </a:xfrm>
          <a:prstGeom prst="borderCallout2">
            <a:avLst>
              <a:gd name="adj1" fmla="val -1814"/>
              <a:gd name="adj2" fmla="val 17530"/>
              <a:gd name="adj3" fmla="val -226429"/>
              <a:gd name="adj4" fmla="val 17029"/>
              <a:gd name="adj5" fmla="val -387679"/>
              <a:gd name="adj6" fmla="val 108812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Intel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称为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FLAG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0594DC-E66F-4A49-A83A-6262F0E1F719}" type="slidenum"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979" name="Text Box 235"/>
          <p:cNvSpPr txBox="1">
            <a:spLocks noChangeArrowheads="1"/>
          </p:cNvSpPr>
          <p:nvPr/>
        </p:nvSpPr>
        <p:spPr bwMode="auto">
          <a:xfrm>
            <a:off x="179389" y="332656"/>
            <a:ext cx="7993012" cy="45796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CPU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的寄存器组织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3399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所有寄存器＝用户可见寄存器＋专用寄存器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*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用户可见寄存器：  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─程序中使用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数据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REG—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地址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REG—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状态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REG(PSR)—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999" name="Text Box 255"/>
          <p:cNvSpPr txBox="1">
            <a:spLocks noChangeArrowheads="1"/>
          </p:cNvSpPr>
          <p:nvPr/>
        </p:nvSpPr>
        <p:spPr bwMode="auto">
          <a:xfrm>
            <a:off x="1259632" y="4303836"/>
            <a:ext cx="7704856" cy="19682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存放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程序运行状态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，又称标志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REG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    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└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→其内容称为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PSW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Program Status Word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①结果状态标志：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ZF/CF/SF/OF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等，常用作条件码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可修改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②执行方式标志：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跟踪标志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TF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、中断允许标志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IF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等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可设置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(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如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TF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＝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时单步执行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(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如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IF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＝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时禁止中断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8061" name="Text Box 317"/>
          <p:cNvSpPr txBox="1">
            <a:spLocks noChangeArrowheads="1"/>
          </p:cNvSpPr>
          <p:nvPr/>
        </p:nvSpPr>
        <p:spPr bwMode="auto">
          <a:xfrm>
            <a:off x="1474838" y="1700808"/>
            <a:ext cx="7418338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存放操作数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(OPD)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，长度＝机器字长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n</a:t>
            </a:r>
            <a:endParaRPr kumimoji="1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累加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REG(AC)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可同时存放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源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OPD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及目的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OPD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REG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8062" name="Text Box 318"/>
          <p:cNvSpPr txBox="1">
            <a:spLocks noChangeArrowheads="1"/>
          </p:cNvSpPr>
          <p:nvPr/>
        </p:nvSpPr>
        <p:spPr bwMode="auto">
          <a:xfrm>
            <a:off x="2411760" y="2636912"/>
            <a:ext cx="6048672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存放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OPD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地址或指令地址，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长度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＝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逻辑地址位数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←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可有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≠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8064" name="Text Box 320"/>
          <p:cNvSpPr txBox="1">
            <a:spLocks noChangeArrowheads="1"/>
          </p:cNvSpPr>
          <p:nvPr/>
        </p:nvSpPr>
        <p:spPr bwMode="auto">
          <a:xfrm>
            <a:off x="179388" y="3532249"/>
            <a:ext cx="8713787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通用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REG(GPR)—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可用作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数据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和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地址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REG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           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└────┴─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→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长度相同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m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＝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990099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8065" name="AutoShape 32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454030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8069" name="AutoShape 32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 rot="10800000">
            <a:off x="1907704" y="645244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左大括号 1"/>
          <p:cNvSpPr/>
          <p:nvPr/>
        </p:nvSpPr>
        <p:spPr bwMode="auto">
          <a:xfrm>
            <a:off x="899592" y="1916832"/>
            <a:ext cx="108012" cy="1944216"/>
          </a:xfrm>
          <a:prstGeom prst="leftBrace">
            <a:avLst>
              <a:gd name="adj1" fmla="val 31849"/>
              <a:gd name="adj2" fmla="val 50000"/>
            </a:avLst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Text Box 320"/>
          <p:cNvSpPr txBox="1">
            <a:spLocks noChangeArrowheads="1"/>
          </p:cNvSpPr>
          <p:nvPr/>
        </p:nvSpPr>
        <p:spPr bwMode="auto">
          <a:xfrm>
            <a:off x="899468" y="3933056"/>
            <a:ext cx="2808436" cy="11526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lstStyle/>
          <a:p>
            <a:pPr marL="2599055" marR="0" lvl="0" indent="-259905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General Purpose Register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Program Status Register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AutoShape 402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804942" y="6452442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线形标注 2 15"/>
          <p:cNvSpPr/>
          <p:nvPr/>
        </p:nvSpPr>
        <p:spPr bwMode="auto">
          <a:xfrm>
            <a:off x="5868144" y="1412776"/>
            <a:ext cx="3025031" cy="288000"/>
          </a:xfrm>
          <a:prstGeom prst="borderCallout2">
            <a:avLst>
              <a:gd name="adj1" fmla="val 48457"/>
              <a:gd name="adj2" fmla="val -233"/>
              <a:gd name="adj3" fmla="val 46092"/>
              <a:gd name="adj4" fmla="val -7263"/>
              <a:gd name="adj5" fmla="val 141110"/>
              <a:gd name="adj6" fmla="val -15411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指整数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REG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，浮点数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REG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无此特性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8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8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87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879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879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879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879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13" grpId="0" bldLvl="0" animBg="1"/>
      <p:bldP spid="288061" grpId="0" bldLvl="0" animBg="1"/>
      <p:bldP spid="288062" grpId="0" bldLvl="0" animBg="1"/>
      <p:bldP spid="288064" grpId="0" bldLvl="0" animBg="1"/>
      <p:bldP spid="2" grpId="0" bldLvl="0" animBg="1"/>
      <p:bldP spid="16" grpId="0" bldLvl="0" animBg="1"/>
      <p:bldP spid="16" grpId="1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46CBD6-8443-4A16-B13F-F178D676DA18}" type="slidenum"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3103" name="Text Box 15"/>
          <p:cNvSpPr txBox="1">
            <a:spLocks noChangeArrowheads="1"/>
          </p:cNvSpPr>
          <p:nvPr/>
        </p:nvSpPr>
        <p:spPr bwMode="auto">
          <a:xfrm>
            <a:off x="179387" y="332656"/>
            <a:ext cx="6552853" cy="40149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*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专用寄存器：    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─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CPU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控制所用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程序不可见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PC—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IR—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ts val="15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MAR—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MDR—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3104" name="Text Box 16"/>
          <p:cNvSpPr txBox="1">
            <a:spLocks noChangeArrowheads="1"/>
          </p:cNvSpPr>
          <p:nvPr/>
        </p:nvSpPr>
        <p:spPr bwMode="auto">
          <a:xfrm>
            <a:off x="1619671" y="838349"/>
            <a:ext cx="7344941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存放指令地址，用作循环变量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存放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当前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指令内容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3128" name="Text Box 40"/>
          <p:cNvSpPr txBox="1">
            <a:spLocks noChangeArrowheads="1"/>
          </p:cNvSpPr>
          <p:nvPr/>
        </p:nvSpPr>
        <p:spPr bwMode="auto">
          <a:xfrm>
            <a:off x="2484438" y="2293112"/>
            <a:ext cx="1943100" cy="288925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  <a:miter lim="800000"/>
          </a:ln>
          <a:effectLst/>
        </p:spPr>
        <p:txBody>
          <a:bodyPr lIns="18000" tIns="10800" rIns="18000" bIns="10800"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未用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上条内容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73171" name="Group 83"/>
          <p:cNvGrpSpPr/>
          <p:nvPr/>
        </p:nvGrpSpPr>
        <p:grpSpPr bwMode="auto">
          <a:xfrm>
            <a:off x="1619250" y="1934338"/>
            <a:ext cx="6121400" cy="1352550"/>
            <a:chOff x="1020" y="1208"/>
            <a:chExt cx="3856" cy="852"/>
          </a:xfrm>
        </p:grpSpPr>
        <p:sp>
          <p:nvSpPr>
            <p:cNvPr id="473109" name="Text Box 21"/>
            <p:cNvSpPr txBox="1">
              <a:spLocks noChangeArrowheads="1"/>
            </p:cNvSpPr>
            <p:nvPr/>
          </p:nvSpPr>
          <p:spPr bwMode="auto">
            <a:xfrm>
              <a:off x="1021" y="1433"/>
              <a:ext cx="453" cy="18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IR:</a:t>
              </a:r>
              <a:endPara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3117" name="Text Box 29"/>
            <p:cNvSpPr txBox="1">
              <a:spLocks noChangeArrowheads="1"/>
            </p:cNvSpPr>
            <p:nvPr/>
          </p:nvSpPr>
          <p:spPr bwMode="auto">
            <a:xfrm>
              <a:off x="2789" y="1434"/>
              <a:ext cx="2087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当前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指令内容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3106" name="Text Box 18"/>
            <p:cNvSpPr txBox="1">
              <a:spLocks noChangeArrowheads="1"/>
            </p:cNvSpPr>
            <p:nvPr/>
          </p:nvSpPr>
          <p:spPr bwMode="auto">
            <a:xfrm>
              <a:off x="1020" y="1208"/>
              <a:ext cx="453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PC:</a:t>
              </a:r>
              <a:endPara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3127" name="Text Box 39"/>
            <p:cNvSpPr txBox="1">
              <a:spLocks noChangeArrowheads="1"/>
            </p:cNvSpPr>
            <p:nvPr/>
          </p:nvSpPr>
          <p:spPr bwMode="auto">
            <a:xfrm>
              <a:off x="1565" y="1208"/>
              <a:ext cx="1224" cy="181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当前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指令地址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3129" name="Text Box 41"/>
            <p:cNvSpPr txBox="1">
              <a:spLocks noChangeArrowheads="1"/>
            </p:cNvSpPr>
            <p:nvPr/>
          </p:nvSpPr>
          <p:spPr bwMode="auto">
            <a:xfrm>
              <a:off x="1949" y="1651"/>
              <a:ext cx="2767" cy="40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取指令     </a:t>
              </a: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分析指令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取指令阶段          </a:t>
              </a:r>
              <a:r>
                <a:rPr kumimoji="1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  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执行指令阶段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3133" name="Line 45"/>
            <p:cNvSpPr>
              <a:spLocks noChangeShapeType="1"/>
            </p:cNvSpPr>
            <p:nvPr/>
          </p:nvSpPr>
          <p:spPr bwMode="auto">
            <a:xfrm>
              <a:off x="1565" y="1651"/>
              <a:ext cx="0" cy="36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3134" name="Line 46"/>
            <p:cNvSpPr>
              <a:spLocks noChangeShapeType="1"/>
            </p:cNvSpPr>
            <p:nvPr/>
          </p:nvSpPr>
          <p:spPr bwMode="auto">
            <a:xfrm>
              <a:off x="3424" y="1651"/>
              <a:ext cx="0" cy="408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3135" name="Line 47"/>
            <p:cNvSpPr>
              <a:spLocks noChangeShapeType="1"/>
            </p:cNvSpPr>
            <p:nvPr/>
          </p:nvSpPr>
          <p:spPr bwMode="auto">
            <a:xfrm>
              <a:off x="4876" y="1651"/>
              <a:ext cx="0" cy="409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3136" name="Line 48"/>
            <p:cNvSpPr>
              <a:spLocks noChangeShapeType="1"/>
            </p:cNvSpPr>
            <p:nvPr/>
          </p:nvSpPr>
          <p:spPr bwMode="auto">
            <a:xfrm flipH="1">
              <a:off x="1565" y="1741"/>
              <a:ext cx="36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3137" name="Line 49"/>
            <p:cNvSpPr>
              <a:spLocks noChangeShapeType="1"/>
            </p:cNvSpPr>
            <p:nvPr/>
          </p:nvSpPr>
          <p:spPr bwMode="auto">
            <a:xfrm>
              <a:off x="2472" y="1741"/>
              <a:ext cx="31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3138" name="Line 50"/>
            <p:cNvSpPr>
              <a:spLocks noChangeShapeType="1"/>
            </p:cNvSpPr>
            <p:nvPr/>
          </p:nvSpPr>
          <p:spPr bwMode="auto">
            <a:xfrm flipH="1">
              <a:off x="3424" y="1947"/>
              <a:ext cx="27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3139" name="Line 51"/>
            <p:cNvSpPr>
              <a:spLocks noChangeShapeType="1"/>
            </p:cNvSpPr>
            <p:nvPr/>
          </p:nvSpPr>
          <p:spPr bwMode="auto">
            <a:xfrm>
              <a:off x="4604" y="1947"/>
              <a:ext cx="27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3140" name="Line 52"/>
            <p:cNvSpPr>
              <a:spLocks noChangeShapeType="1"/>
            </p:cNvSpPr>
            <p:nvPr/>
          </p:nvSpPr>
          <p:spPr bwMode="auto">
            <a:xfrm flipH="1">
              <a:off x="1565" y="1947"/>
              <a:ext cx="54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3141" name="Line 53"/>
            <p:cNvSpPr>
              <a:spLocks noChangeShapeType="1"/>
            </p:cNvSpPr>
            <p:nvPr/>
          </p:nvSpPr>
          <p:spPr bwMode="auto">
            <a:xfrm>
              <a:off x="2789" y="1651"/>
              <a:ext cx="0" cy="18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3142" name="Line 54"/>
            <p:cNvSpPr>
              <a:spLocks noChangeShapeType="1"/>
            </p:cNvSpPr>
            <p:nvPr/>
          </p:nvSpPr>
          <p:spPr bwMode="auto">
            <a:xfrm>
              <a:off x="2925" y="1947"/>
              <a:ext cx="49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73152" name="Text Box 64"/>
          <p:cNvSpPr txBox="1">
            <a:spLocks noChangeArrowheads="1"/>
          </p:cNvSpPr>
          <p:nvPr/>
        </p:nvSpPr>
        <p:spPr bwMode="auto">
          <a:xfrm>
            <a:off x="1763688" y="3284984"/>
            <a:ext cx="7200925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存放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CPU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外部访问的部件地址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(MEM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地址或外设地址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存放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CPU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已读出或欲写入的数据</a:t>
            </a:r>
            <a:endParaRPr kumimoji="1" lang="zh-CN" altLang="en-US" sz="2000" b="1" i="0" u="sng" strike="noStrike" kern="1200" cap="none" spc="0" normalizeH="0" baseline="0" noProof="0" dirty="0">
              <a:ln>
                <a:noFill/>
              </a:ln>
              <a:solidFill>
                <a:srgbClr val="FF3399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3126" name="Text Box 38"/>
          <p:cNvSpPr txBox="1">
            <a:spLocks noChangeArrowheads="1"/>
          </p:cNvSpPr>
          <p:nvPr/>
        </p:nvSpPr>
        <p:spPr bwMode="auto">
          <a:xfrm>
            <a:off x="4427538" y="1932749"/>
            <a:ext cx="3313112" cy="287338"/>
          </a:xfrm>
          <a:prstGeom prst="rect">
            <a:avLst/>
          </a:prstGeom>
          <a:solidFill>
            <a:srgbClr val="FFCCFF">
              <a:alpha val="80000"/>
            </a:srgbClr>
          </a:solidFill>
          <a:ln w="19050">
            <a:solidFill>
              <a:schemeClr val="tx1"/>
            </a:solidFill>
            <a:prstDash val="sysDash"/>
            <a:miter lim="800000"/>
          </a:ln>
          <a:effectLst/>
        </p:spPr>
        <p:txBody>
          <a:bodyPr lIns="18000" tIns="10800" rIns="18000" bIns="10800" anchor="ctr"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下条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指令地址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循环的要求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3160" name="Text Box 72"/>
          <p:cNvSpPr txBox="1">
            <a:spLocks noChangeArrowheads="1"/>
          </p:cNvSpPr>
          <p:nvPr/>
        </p:nvSpPr>
        <p:spPr bwMode="auto">
          <a:xfrm>
            <a:off x="179388" y="5827330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599055" marR="0" lvl="0" indent="-2599055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控制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REG—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系统模式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、段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REG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等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Text Box 636"/>
          <p:cNvSpPr txBox="1">
            <a:spLocks noChangeArrowheads="1"/>
          </p:cNvSpPr>
          <p:nvPr/>
        </p:nvSpPr>
        <p:spPr bwMode="auto">
          <a:xfrm>
            <a:off x="142844" y="4171146"/>
            <a:ext cx="8786874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00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设置原因：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外部操作与内部操作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可并行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性能好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452989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线形标注 2 42"/>
          <p:cNvSpPr/>
          <p:nvPr/>
        </p:nvSpPr>
        <p:spPr bwMode="auto">
          <a:xfrm>
            <a:off x="6804248" y="1452416"/>
            <a:ext cx="1801874" cy="306000"/>
          </a:xfrm>
          <a:prstGeom prst="borderCallout2">
            <a:avLst>
              <a:gd name="adj1" fmla="val 48951"/>
              <a:gd name="adj2" fmla="val 212"/>
              <a:gd name="adj3" fmla="val 48870"/>
              <a:gd name="adj4" fmla="val -8894"/>
              <a:gd name="adj5" fmla="val 134630"/>
              <a:gd name="adj6" fmla="val -32316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改变时间可任意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71600" y="4707176"/>
            <a:ext cx="7704856" cy="288034"/>
            <a:chOff x="971600" y="4707176"/>
            <a:chExt cx="7704856" cy="288034"/>
          </a:xfrm>
        </p:grpSpPr>
        <p:sp>
          <p:nvSpPr>
            <p:cNvPr id="47" name="Text Box 682"/>
            <p:cNvSpPr txBox="1">
              <a:spLocks noChangeArrowheads="1"/>
            </p:cNvSpPr>
            <p:nvPr/>
          </p:nvSpPr>
          <p:spPr bwMode="auto">
            <a:xfrm>
              <a:off x="2123728" y="4707176"/>
              <a:ext cx="4536504" cy="28803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ABus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←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PC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)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CBus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←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Read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IR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←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M[(MAR)]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Text Box 682"/>
            <p:cNvSpPr txBox="1">
              <a:spLocks noChangeArrowheads="1"/>
            </p:cNvSpPr>
            <p:nvPr/>
          </p:nvSpPr>
          <p:spPr bwMode="auto">
            <a:xfrm>
              <a:off x="6660232" y="4707176"/>
              <a:ext cx="2016224" cy="28803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PC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←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(PC)+4…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Text Box 682"/>
            <p:cNvSpPr txBox="1">
              <a:spLocks noChangeArrowheads="1"/>
            </p:cNvSpPr>
            <p:nvPr/>
          </p:nvSpPr>
          <p:spPr bwMode="auto">
            <a:xfrm>
              <a:off x="971600" y="4732576"/>
              <a:ext cx="1152128" cy="2626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不设置时：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1" name="线形标注 2 50"/>
          <p:cNvSpPr/>
          <p:nvPr/>
        </p:nvSpPr>
        <p:spPr bwMode="auto">
          <a:xfrm>
            <a:off x="7956376" y="5634297"/>
            <a:ext cx="864096" cy="306000"/>
          </a:xfrm>
          <a:prstGeom prst="borderCallout2">
            <a:avLst>
              <a:gd name="adj1" fmla="val 48951"/>
              <a:gd name="adj2" fmla="val 212"/>
              <a:gd name="adj3" fmla="val 48870"/>
              <a:gd name="adj4" fmla="val -8894"/>
              <a:gd name="adj5" fmla="val -200716"/>
              <a:gd name="adj6" fmla="val -134610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需等待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线形标注 2 51"/>
          <p:cNvSpPr/>
          <p:nvPr/>
        </p:nvSpPr>
        <p:spPr bwMode="auto">
          <a:xfrm>
            <a:off x="5868144" y="5643280"/>
            <a:ext cx="864096" cy="306000"/>
          </a:xfrm>
          <a:prstGeom prst="borderCallout2">
            <a:avLst>
              <a:gd name="adj1" fmla="val 48951"/>
              <a:gd name="adj2" fmla="val 212"/>
              <a:gd name="adj3" fmla="val 48870"/>
              <a:gd name="adj4" fmla="val -8894"/>
              <a:gd name="adj5" fmla="val 8460"/>
              <a:gd name="adj6" fmla="val -60535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可并行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187624" y="5185832"/>
            <a:ext cx="7776864" cy="601465"/>
            <a:chOff x="1187624" y="5185832"/>
            <a:chExt cx="7776864" cy="601465"/>
          </a:xfrm>
        </p:grpSpPr>
        <p:sp>
          <p:nvSpPr>
            <p:cNvPr id="44" name="Text Box 682"/>
            <p:cNvSpPr txBox="1">
              <a:spLocks noChangeArrowheads="1"/>
            </p:cNvSpPr>
            <p:nvPr/>
          </p:nvSpPr>
          <p:spPr bwMode="auto">
            <a:xfrm>
              <a:off x="2104348" y="5185832"/>
              <a:ext cx="1171508" cy="28803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MAR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←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(PC)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Text Box 682"/>
            <p:cNvSpPr txBox="1">
              <a:spLocks noChangeArrowheads="1"/>
            </p:cNvSpPr>
            <p:nvPr/>
          </p:nvSpPr>
          <p:spPr bwMode="auto">
            <a:xfrm>
              <a:off x="3275856" y="5185833"/>
              <a:ext cx="4536504" cy="28803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ABus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←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MAR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)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CBus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←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Read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、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90099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MDR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←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M[(MAR)]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Text Box 682"/>
            <p:cNvSpPr txBox="1">
              <a:spLocks noChangeArrowheads="1"/>
            </p:cNvSpPr>
            <p:nvPr/>
          </p:nvSpPr>
          <p:spPr bwMode="auto">
            <a:xfrm>
              <a:off x="7812360" y="5185832"/>
              <a:ext cx="1152128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IR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←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(MDR)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Text Box 682"/>
            <p:cNvSpPr txBox="1">
              <a:spLocks noChangeArrowheads="1"/>
            </p:cNvSpPr>
            <p:nvPr/>
          </p:nvSpPr>
          <p:spPr bwMode="auto">
            <a:xfrm>
              <a:off x="3275856" y="5499264"/>
              <a:ext cx="1763663" cy="28803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PC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←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(PC)+4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…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Text Box 682"/>
            <p:cNvSpPr txBox="1">
              <a:spLocks noChangeArrowheads="1"/>
            </p:cNvSpPr>
            <p:nvPr/>
          </p:nvSpPr>
          <p:spPr bwMode="auto">
            <a:xfrm>
              <a:off x="1187624" y="5216374"/>
              <a:ext cx="971444" cy="30085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设置时：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7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7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7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73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73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104" grpId="0" bldLvl="0" animBg="1"/>
      <p:bldP spid="473128" grpId="0" bldLvl="0" animBg="1"/>
      <p:bldP spid="473126" grpId="0" bldLvl="0" animBg="1"/>
      <p:bldP spid="36" grpId="0" bldLvl="0" animBg="1"/>
      <p:bldP spid="43" grpId="0" bldLvl="0" animBg="1"/>
      <p:bldP spid="51" grpId="0" bldLvl="0" animBg="1"/>
      <p:bldP spid="5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Box 191"/>
          <p:cNvSpPr txBox="1">
            <a:spLocks noChangeArrowheads="1"/>
          </p:cNvSpPr>
          <p:nvPr/>
        </p:nvSpPr>
        <p:spPr bwMode="auto">
          <a:xfrm>
            <a:off x="179511" y="404664"/>
            <a:ext cx="6191916" cy="56218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*指令的执行过程：   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工作流程的细化</a:t>
            </a:r>
            <a:r>
              <a:rPr lang="en-US" altLang="zh-CN" b="1" dirty="0">
                <a:latin typeface="+mn-ea"/>
                <a:ea typeface="+mn-ea"/>
              </a:rPr>
              <a:t>[→</a:t>
            </a:r>
            <a:r>
              <a:rPr lang="zh-CN" altLang="en-US" b="1" dirty="0">
                <a:latin typeface="+mn-ea"/>
                <a:ea typeface="+mn-ea"/>
              </a:rPr>
              <a:t>操作</a:t>
            </a:r>
            <a:r>
              <a:rPr lang="en-US" altLang="zh-CN" b="1" dirty="0">
                <a:latin typeface="+mn-ea"/>
                <a:ea typeface="+mn-ea"/>
              </a:rPr>
              <a:t>])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步骤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特征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指令周期的组织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单周期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多周期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34" name="页脚占位符 3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49" name="Text Box 191"/>
          <p:cNvSpPr txBox="1">
            <a:spLocks noChangeArrowheads="1"/>
          </p:cNvSpPr>
          <p:nvPr/>
        </p:nvSpPr>
        <p:spPr bwMode="auto">
          <a:xfrm>
            <a:off x="1619715" y="836712"/>
            <a:ext cx="4608469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</a:rPr>
              <a:t>指令地址计算常与其他步骤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</a:rPr>
              <a:t>并行</a:t>
            </a:r>
            <a:endParaRPr lang="en-US" altLang="zh-CN" sz="2200" b="1" dirty="0">
              <a:solidFill>
                <a:srgbClr val="990099"/>
              </a:solidFill>
              <a:latin typeface="+mn-ea"/>
            </a:endParaRPr>
          </a:p>
        </p:txBody>
      </p:sp>
      <p:cxnSp>
        <p:nvCxnSpPr>
          <p:cNvPr id="50" name="直接箭头连接符 49"/>
          <p:cNvCxnSpPr/>
          <p:nvPr/>
        </p:nvCxnSpPr>
        <p:spPr bwMode="auto">
          <a:xfrm flipH="1">
            <a:off x="3276000" y="2628000"/>
            <a:ext cx="1" cy="1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3399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1" name="Text Box 191"/>
          <p:cNvSpPr txBox="1">
            <a:spLocks noChangeArrowheads="1"/>
          </p:cNvSpPr>
          <p:nvPr/>
        </p:nvSpPr>
        <p:spPr bwMode="auto">
          <a:xfrm>
            <a:off x="1619672" y="2924944"/>
            <a:ext cx="7200800" cy="339791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u="sng" dirty="0">
                <a:solidFill>
                  <a:srgbClr val="990099"/>
                </a:solidFill>
                <a:latin typeface="+mn-ea"/>
              </a:rPr>
              <a:t>执行过程</a:t>
            </a:r>
            <a:r>
              <a:rPr lang="zh-CN" altLang="en-US" sz="2200" b="1" dirty="0">
                <a:latin typeface="+mn-ea"/>
              </a:rPr>
              <a:t>由</a:t>
            </a:r>
            <a:r>
              <a:rPr lang="zh-CN" altLang="en-US" sz="2200" b="1" u="sng" dirty="0">
                <a:latin typeface="+mn-ea"/>
              </a:rPr>
              <a:t>基本操作序列</a:t>
            </a:r>
            <a:r>
              <a:rPr lang="zh-CN" altLang="en-US" sz="2200" b="1" dirty="0">
                <a:latin typeface="+mn-ea"/>
              </a:rPr>
              <a:t>组成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u="sng" dirty="0">
              <a:solidFill>
                <a:srgbClr val="990099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defRPr/>
            </a:pPr>
            <a:r>
              <a:rPr lang="zh-CN" altLang="en-US" sz="2200" b="1" u="sng" dirty="0">
                <a:solidFill>
                  <a:srgbClr val="990099"/>
                </a:solidFill>
                <a:latin typeface="+mn-ea"/>
              </a:rPr>
              <a:t>基本操作</a:t>
            </a:r>
            <a:r>
              <a:rPr lang="zh-CN" altLang="en-US" sz="2200" b="1" dirty="0">
                <a:latin typeface="+mn-ea"/>
              </a:rPr>
              <a:t>有</a:t>
            </a:r>
            <a:r>
              <a:rPr lang="en-US" altLang="zh-CN" sz="2200" b="1" dirty="0">
                <a:latin typeface="+mn-ea"/>
              </a:rPr>
              <a:t>REG</a:t>
            </a:r>
            <a:r>
              <a:rPr lang="zh-CN" altLang="en-US" sz="2200" b="1" dirty="0">
                <a:latin typeface="+mn-ea"/>
              </a:rPr>
              <a:t>间传送、</a:t>
            </a:r>
            <a:r>
              <a:rPr lang="en-US" altLang="zh-CN" sz="2200" b="1" dirty="0">
                <a:latin typeface="+mn-ea"/>
              </a:rPr>
              <a:t>MEM</a:t>
            </a:r>
            <a:r>
              <a:rPr lang="zh-CN" altLang="en-US" sz="2200" b="1" dirty="0">
                <a:latin typeface="+mn-ea"/>
              </a:rPr>
              <a:t>读、</a:t>
            </a:r>
            <a:r>
              <a:rPr lang="en-US" altLang="zh-CN" sz="2200" b="1" dirty="0">
                <a:latin typeface="+mn-ea"/>
              </a:rPr>
              <a:t>MEM</a:t>
            </a:r>
            <a:r>
              <a:rPr lang="zh-CN" altLang="en-US" sz="2200" b="1" dirty="0">
                <a:latin typeface="+mn-ea"/>
              </a:rPr>
              <a:t>写、算逻运算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defRPr/>
            </a:pPr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dirty="0">
                <a:latin typeface="+mn-ea"/>
              </a:rPr>
              <a:t>└</a:t>
            </a:r>
            <a:r>
              <a:rPr lang="en-US" altLang="zh-CN" sz="1600" b="1" dirty="0">
                <a:latin typeface="+mn-ea"/>
              </a:rPr>
              <a:t>←</a:t>
            </a:r>
            <a:r>
              <a:rPr lang="zh-CN" altLang="en-US" sz="1600" b="1" dirty="0">
                <a:latin typeface="+mn-ea"/>
              </a:rPr>
              <a:t>即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1600" b="1" dirty="0" err="1">
                <a:latin typeface="+mn-ea"/>
              </a:rPr>
              <a:t>OP</a:t>
            </a:r>
            <a:r>
              <a:rPr lang="zh-CN" altLang="en-US" sz="1600" b="1" dirty="0">
                <a:latin typeface="+mn-ea"/>
              </a:rPr>
              <a:t>，原数据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结果均在</a:t>
            </a:r>
            <a:r>
              <a:rPr lang="zh-CN" altLang="en-US" sz="1600" b="1" u="sng" dirty="0">
                <a:latin typeface="+mn-ea"/>
              </a:rPr>
              <a:t>时序逻辑</a:t>
            </a:r>
            <a:r>
              <a:rPr lang="zh-CN" altLang="en-US" sz="1600" b="1" dirty="0">
                <a:latin typeface="+mn-ea"/>
              </a:rPr>
              <a:t>部件中，</a:t>
            </a:r>
            <a:r>
              <a:rPr lang="en-US" altLang="zh-CN" sz="1600" b="1" dirty="0">
                <a:latin typeface="+mn-ea"/>
              </a:rPr>
              <a:t>OP</a:t>
            </a:r>
            <a:r>
              <a:rPr lang="zh-CN" altLang="en-US" sz="1600" b="1" dirty="0">
                <a:latin typeface="+mn-ea"/>
              </a:rPr>
              <a:t>是</a:t>
            </a:r>
            <a:r>
              <a:rPr lang="zh-CN" altLang="en-US" sz="1600" b="1" u="sng" dirty="0">
                <a:latin typeface="+mn-ea"/>
              </a:rPr>
              <a:t>原子</a:t>
            </a:r>
            <a:r>
              <a:rPr lang="zh-CN" altLang="en-US" sz="1600" b="1" dirty="0">
                <a:latin typeface="+mn-ea"/>
              </a:rPr>
              <a:t>操作</a:t>
            </a:r>
            <a:endParaRPr lang="en-US" altLang="zh-CN" sz="16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altLang="zh-CN" sz="2200" b="1" dirty="0">
                <a:latin typeface="+mn-ea"/>
              </a:rPr>
              <a:t>            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操作的定时</a:t>
            </a:r>
            <a:r>
              <a:rPr lang="en-US" altLang="zh-CN" b="1" dirty="0">
                <a:latin typeface="+mn-ea"/>
              </a:rPr>
              <a:t>[</a:t>
            </a:r>
            <a:r>
              <a:rPr lang="zh-CN" altLang="en-US" b="1" dirty="0">
                <a:latin typeface="+mn-ea"/>
              </a:rPr>
              <a:t>使用</a:t>
            </a:r>
            <a:r>
              <a:rPr lang="en-US" altLang="zh-CN" b="1" dirty="0">
                <a:latin typeface="+mn-ea"/>
              </a:rPr>
              <a:t>CLK])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    指令周期＝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1T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max{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各指令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∑OP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时长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指令周期＝</a:t>
            </a:r>
            <a:r>
              <a:rPr lang="en-US" altLang="zh-CN" sz="22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nT</a:t>
            </a:r>
            <a:r>
              <a:rPr lang="en-US" altLang="zh-CN" sz="2200" b="1" baseline="-25000" dirty="0" err="1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200" b="1" baseline="-25000" dirty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max{</a:t>
            </a:r>
            <a:r>
              <a:rPr lang="zh-CN" altLang="en-US" sz="22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指令中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</a:rPr>
              <a:t>时长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可为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基本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最复杂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2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156176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828675" y="1363927"/>
            <a:ext cx="7919085" cy="1475740"/>
            <a:chOff x="828675" y="1363927"/>
            <a:chExt cx="7919085" cy="1475740"/>
          </a:xfrm>
        </p:grpSpPr>
        <p:sp>
          <p:nvSpPr>
            <p:cNvPr id="44" name="Rectangle 27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031615" y="1363927"/>
              <a:ext cx="4716145" cy="1475740"/>
            </a:xfrm>
            <a:prstGeom prst="rect">
              <a:avLst/>
            </a:prstGeom>
            <a:noFill/>
            <a:ln w="12700">
              <a:solidFill>
                <a:srgbClr val="CC3300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Text Box 65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798955" y="1651582"/>
              <a:ext cx="720090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6" name="Text Box 6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331595" y="2263722"/>
              <a:ext cx="1296035" cy="2159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指令地址计算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7" name="Text Box 65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879725" y="2119577"/>
              <a:ext cx="899795" cy="50419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指令操作译码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2" name="直接箭头连接符 51"/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2122805" y="1867482"/>
              <a:ext cx="0" cy="3962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3" name="Text Box 8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28675" y="2011627"/>
              <a:ext cx="129603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当前指令地址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4" name="直接箭头连接符 53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3779520" y="2371672"/>
              <a:ext cx="36004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接连接符 54"/>
            <p:cNvCxnSpPr/>
            <p:nvPr>
              <p:custDataLst>
                <p:tags r:id="rId9"/>
              </p:custDataLst>
            </p:nvPr>
          </p:nvCxnSpPr>
          <p:spPr bwMode="auto">
            <a:xfrm>
              <a:off x="828675" y="1975432"/>
              <a:ext cx="777621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箭头连接符 55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2122805" y="2479622"/>
              <a:ext cx="0" cy="32385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直接箭头连接符 56"/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2122805" y="2803472"/>
              <a:ext cx="201612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9" name="直接箭头连接符 58"/>
            <p:cNvCxnSpPr/>
            <p:nvPr>
              <p:custDataLst>
                <p:tags r:id="rId12"/>
              </p:custDataLst>
            </p:nvPr>
          </p:nvCxnSpPr>
          <p:spPr bwMode="auto">
            <a:xfrm>
              <a:off x="3311525" y="1759532"/>
              <a:ext cx="0" cy="36004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" name="直接箭头连接符 59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2519045" y="1759532"/>
              <a:ext cx="79184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1" name="Text Box 8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936625" y="2552012"/>
              <a:ext cx="1007745" cy="2159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仅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内部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2" name="Text Box 80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36625" y="1363927"/>
              <a:ext cx="1224280" cy="2159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>
                  <a:latin typeface="宋体" panose="02010600030101010101" pitchFamily="2" charset="-122"/>
                </a:rPr>
                <a:t>涉及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外部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3" name="Text Box 80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156960" y="1399487"/>
              <a:ext cx="89979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执行指令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5" name="Text Box 65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140835" y="2264357"/>
              <a:ext cx="1224280" cy="2159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地址计算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6" name="Text Box 65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615940" y="2264357"/>
              <a:ext cx="935990" cy="2159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数据操作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7" name="Text Box 65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911975" y="2264357"/>
              <a:ext cx="1224280" cy="2159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地址计算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8" name="Text Box 65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356735" y="1651582"/>
              <a:ext cx="720090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9" name="Text Box 6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164070" y="1651582"/>
              <a:ext cx="720090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0" name="直接箭头连接符 69"/>
            <p:cNvCxnSpPr/>
            <p:nvPr>
              <p:custDataLst>
                <p:tags r:id="rId22"/>
              </p:custDataLst>
            </p:nvPr>
          </p:nvCxnSpPr>
          <p:spPr bwMode="auto">
            <a:xfrm>
              <a:off x="6551930" y="2371672"/>
              <a:ext cx="36004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1" name="直接箭头连接符 70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4788535" y="2479622"/>
              <a:ext cx="0" cy="32385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2" name="Text Box 80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823460" y="2551377"/>
              <a:ext cx="136779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串或向量指令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3" name="直接箭头连接符 72"/>
            <p:cNvCxnSpPr/>
            <p:nvPr>
              <p:custDataLst>
                <p:tags r:id="rId25"/>
              </p:custDataLst>
            </p:nvPr>
          </p:nvCxnSpPr>
          <p:spPr bwMode="auto">
            <a:xfrm flipH="1" flipV="1">
              <a:off x="7523480" y="1867482"/>
              <a:ext cx="0" cy="3962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4" name="直接箭头连接符 73"/>
            <p:cNvCxnSpPr/>
            <p:nvPr>
              <p:custDataLst>
                <p:tags r:id="rId26"/>
              </p:custDataLst>
            </p:nvPr>
          </p:nvCxnSpPr>
          <p:spPr bwMode="auto">
            <a:xfrm>
              <a:off x="7740015" y="1867482"/>
              <a:ext cx="0" cy="3962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5" name="Text Box 80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967605" y="2011627"/>
              <a:ext cx="79184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多个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6" name="Text Box 80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7775575" y="2011627"/>
              <a:ext cx="86423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多个结果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7" name="Text Box 80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932045" y="1399487"/>
              <a:ext cx="86423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间接寻址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8" name="直接箭头连接符 77"/>
            <p:cNvCxnSpPr/>
            <p:nvPr>
              <p:custDataLst>
                <p:tags r:id="rId30"/>
              </p:custDataLst>
            </p:nvPr>
          </p:nvCxnSpPr>
          <p:spPr bwMode="auto">
            <a:xfrm flipH="1" flipV="1">
              <a:off x="4751705" y="1867482"/>
              <a:ext cx="0" cy="3962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9" name="直接箭头连接符 78"/>
            <p:cNvCxnSpPr/>
            <p:nvPr>
              <p:custDataLst>
                <p:tags r:id="rId31"/>
              </p:custDataLst>
            </p:nvPr>
          </p:nvCxnSpPr>
          <p:spPr bwMode="auto">
            <a:xfrm>
              <a:off x="4932045" y="1867482"/>
              <a:ext cx="0" cy="3962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0" name="直接箭头连接符 79"/>
            <p:cNvCxnSpPr/>
            <p:nvPr>
              <p:custDataLst>
                <p:tags r:id="rId32"/>
              </p:custDataLst>
            </p:nvPr>
          </p:nvCxnSpPr>
          <p:spPr bwMode="auto">
            <a:xfrm>
              <a:off x="8676005" y="1759532"/>
              <a:ext cx="0" cy="10439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1" name="直接箭头连接符 80"/>
            <p:cNvCxnSpPr/>
            <p:nvPr>
              <p:custDataLst>
                <p:tags r:id="rId33"/>
              </p:custDataLst>
            </p:nvPr>
          </p:nvCxnSpPr>
          <p:spPr bwMode="auto">
            <a:xfrm>
              <a:off x="7883525" y="1759532"/>
              <a:ext cx="79184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2" name="弧形 81"/>
            <p:cNvSpPr/>
            <p:nvPr>
              <p:custDataLst>
                <p:tags r:id="rId34"/>
              </p:custDataLst>
            </p:nvPr>
          </p:nvSpPr>
          <p:spPr bwMode="auto">
            <a:xfrm>
              <a:off x="4607560" y="1399487"/>
              <a:ext cx="288290" cy="252095"/>
            </a:xfrm>
            <a:prstGeom prst="arc">
              <a:avLst>
                <a:gd name="adj1" fmla="val 7139042"/>
                <a:gd name="adj2" fmla="val 3932591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3" name="直接箭头连接符 82"/>
            <p:cNvCxnSpPr/>
            <p:nvPr>
              <p:custDataLst>
                <p:tags r:id="rId35"/>
              </p:custDataLst>
            </p:nvPr>
          </p:nvCxnSpPr>
          <p:spPr bwMode="auto">
            <a:xfrm>
              <a:off x="6049010" y="1759532"/>
              <a:ext cx="0" cy="5041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4" name="直接箭头连接符 83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5075555" y="1760167"/>
              <a:ext cx="97218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5" name="直接箭头连接符 84"/>
            <p:cNvCxnSpPr/>
            <p:nvPr>
              <p:custDataLst>
                <p:tags r:id="rId37"/>
              </p:custDataLst>
            </p:nvPr>
          </p:nvCxnSpPr>
          <p:spPr bwMode="auto">
            <a:xfrm flipH="1">
              <a:off x="4104640" y="2803472"/>
              <a:ext cx="4572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86" name="组合 85"/>
          <p:cNvGrpSpPr/>
          <p:nvPr/>
        </p:nvGrpSpPr>
        <p:grpSpPr>
          <a:xfrm>
            <a:off x="2124136" y="3436536"/>
            <a:ext cx="5112160" cy="496520"/>
            <a:chOff x="1403648" y="1556792"/>
            <a:chExt cx="5112160" cy="496520"/>
          </a:xfrm>
        </p:grpSpPr>
        <p:sp>
          <p:nvSpPr>
            <p:cNvPr id="87" name="Text Box 65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403648" y="1557627"/>
              <a:ext cx="1584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序列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8" name="Text Box 66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715808" y="1557627"/>
              <a:ext cx="1800000" cy="252000"/>
            </a:xfrm>
            <a:prstGeom prst="rect">
              <a:avLst/>
            </a:prstGeom>
            <a:solidFill>
              <a:srgbClr val="FFCC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执行指令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序列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B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9" name="Text Box 65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2987808" y="1556792"/>
              <a:ext cx="172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分析指令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无操作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0" name="直接连接符 89"/>
            <p:cNvCxnSpPr/>
            <p:nvPr>
              <p:custDataLst>
                <p:tags r:id="rId41"/>
              </p:custDataLst>
            </p:nvPr>
          </p:nvCxnSpPr>
          <p:spPr bwMode="auto">
            <a:xfrm>
              <a:off x="1403648" y="1845627"/>
              <a:ext cx="0" cy="180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" name="直接连接符 90"/>
            <p:cNvCxnSpPr/>
            <p:nvPr>
              <p:custDataLst>
                <p:tags r:id="rId42"/>
              </p:custDataLst>
            </p:nvPr>
          </p:nvCxnSpPr>
          <p:spPr bwMode="auto">
            <a:xfrm>
              <a:off x="6515808" y="1845627"/>
              <a:ext cx="0" cy="180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" name="直接连接符 91"/>
            <p:cNvCxnSpPr/>
            <p:nvPr>
              <p:custDataLst>
                <p:tags r:id="rId43"/>
              </p:custDataLst>
            </p:nvPr>
          </p:nvCxnSpPr>
          <p:spPr bwMode="auto">
            <a:xfrm flipH="1" flipV="1">
              <a:off x="1403648" y="1917627"/>
              <a:ext cx="2088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3" name="直接连接符 92"/>
            <p:cNvCxnSpPr/>
            <p:nvPr>
              <p:custDataLst>
                <p:tags r:id="rId44"/>
              </p:custDataLst>
            </p:nvPr>
          </p:nvCxnSpPr>
          <p:spPr bwMode="auto">
            <a:xfrm>
              <a:off x="4427808" y="1917627"/>
              <a:ext cx="2088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4" name="Text Box 80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3491808" y="1837312"/>
              <a:ext cx="9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指令周期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91"/>
          <p:cNvSpPr txBox="1">
            <a:spLocks noChangeArrowheads="1"/>
          </p:cNvSpPr>
          <p:nvPr/>
        </p:nvSpPr>
        <p:spPr bwMode="auto">
          <a:xfrm>
            <a:off x="179511" y="3574281"/>
            <a:ext cx="6623433" cy="32073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</a:rPr>
              <a:t>    指令执行过程的组织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</a:rPr>
              <a:t>—     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基于已有的数据通路</a:t>
            </a:r>
            <a:r>
              <a:rPr lang="en-US" altLang="zh-CN" b="1" dirty="0">
                <a:latin typeface="+mn-ea"/>
              </a:rPr>
              <a:t>)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</a:rPr>
              <a:t>      </a:t>
            </a:r>
            <a:r>
              <a:rPr lang="en-US" altLang="zh-CN" sz="2200" dirty="0" err="1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solidFill>
                  <a:srgbClr val="990099"/>
                </a:solidFill>
                <a:latin typeface="+mn-ea"/>
              </a:rPr>
              <a:t>OP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</a:rPr>
              <a:t>的类型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</a:rPr>
              <a:t>&amp;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</a:rPr>
              <a:t>实现：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20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指令周期的</a:t>
            </a:r>
            <a:r>
              <a:rPr lang="en-US" altLang="zh-CN" sz="2200" dirty="0" err="1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solidFill>
                  <a:srgbClr val="990099"/>
                </a:solidFill>
                <a:latin typeface="+mn-ea"/>
              </a:rPr>
              <a:t>OP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组织：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    数据通路设计与功能实现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基于工作流程的需求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      方法：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结果：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91"/>
          <p:cNvSpPr txBox="1">
            <a:spLocks noChangeArrowheads="1"/>
          </p:cNvSpPr>
          <p:nvPr/>
        </p:nvSpPr>
        <p:spPr bwMode="auto">
          <a:xfrm>
            <a:off x="206374" y="45889"/>
            <a:ext cx="7677068" cy="1303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*数据通路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(DP)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的组成：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</a:rPr>
              <a:t>目标是</a:t>
            </a:r>
            <a:r>
              <a:rPr lang="zh-CN" altLang="en-US" b="1" u="sng" dirty="0">
                <a:solidFill>
                  <a:srgbClr val="FF3399"/>
                </a:solidFill>
                <a:latin typeface="+mn-ea"/>
              </a:rPr>
              <a:t>实现</a:t>
            </a:r>
            <a:r>
              <a:rPr lang="en-US" altLang="zh-CN" b="1" dirty="0">
                <a:latin typeface="+mn-ea"/>
              </a:rPr>
              <a:t>CPU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工作流程所需</a:t>
            </a:r>
            <a:r>
              <a:rPr lang="zh-CN" altLang="en-US" b="1" dirty="0">
                <a:latin typeface="+mn-ea"/>
              </a:rPr>
              <a:t>的</a:t>
            </a:r>
            <a:r>
              <a:rPr lang="en-US" altLang="zh-CN" u="sng" dirty="0" err="1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b="1" u="sng" dirty="0" err="1">
                <a:solidFill>
                  <a:srgbClr val="FF3399"/>
                </a:solidFill>
                <a:latin typeface="+mn-ea"/>
              </a:rPr>
              <a:t>OP</a:t>
            </a:r>
            <a:r>
              <a:rPr lang="zh-CN" altLang="en-US" b="1" u="sng" dirty="0">
                <a:solidFill>
                  <a:srgbClr val="FF3399"/>
                </a:solidFill>
                <a:latin typeface="+mn-ea"/>
              </a:rPr>
              <a:t>功能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功能部件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互连结构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145" name="Text Box 191"/>
          <p:cNvSpPr txBox="1">
            <a:spLocks noChangeArrowheads="1"/>
          </p:cNvSpPr>
          <p:nvPr/>
        </p:nvSpPr>
        <p:spPr bwMode="auto">
          <a:xfrm>
            <a:off x="2195736" y="477937"/>
            <a:ext cx="6552728" cy="880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</a:rPr>
              <a:t>部件类型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操作</a:t>
            </a:r>
            <a:r>
              <a:rPr lang="en-US" altLang="zh-CN" b="1" dirty="0">
                <a:latin typeface="+mn-ea"/>
              </a:rPr>
              <a:t>/</a:t>
            </a:r>
            <a:r>
              <a:rPr lang="zh-CN" altLang="en-US" b="1" dirty="0">
                <a:latin typeface="+mn-ea"/>
              </a:rPr>
              <a:t>状态</a:t>
            </a:r>
            <a:r>
              <a:rPr lang="en-US" altLang="zh-CN" b="1" dirty="0">
                <a:latin typeface="+mn-ea"/>
              </a:rPr>
              <a:t>)</a:t>
            </a:r>
            <a:r>
              <a:rPr lang="zh-CN" altLang="en-US" sz="2200" b="1" dirty="0">
                <a:latin typeface="+mn-ea"/>
              </a:rPr>
              <a:t>，部件组成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取指</a:t>
            </a:r>
            <a:r>
              <a:rPr lang="en-US" altLang="zh-CN" b="1" dirty="0">
                <a:latin typeface="+mn-ea"/>
              </a:rPr>
              <a:t>+</a:t>
            </a:r>
            <a:r>
              <a:rPr lang="zh-CN" altLang="en-US" b="1" dirty="0">
                <a:latin typeface="+mn-ea"/>
              </a:rPr>
              <a:t>执行阶段等</a:t>
            </a:r>
            <a:r>
              <a:rPr lang="en-US" altLang="zh-CN" b="1" dirty="0">
                <a:latin typeface="+mn-ea"/>
              </a:rPr>
              <a:t>)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</a:rPr>
              <a:t>总线结构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增加三态门</a:t>
            </a:r>
            <a:r>
              <a:rPr lang="en-US" altLang="zh-CN" b="1" dirty="0">
                <a:latin typeface="+mn-ea"/>
              </a:rPr>
              <a:t>+</a:t>
            </a:r>
            <a:r>
              <a:rPr lang="zh-CN" altLang="en-US" b="1" dirty="0">
                <a:latin typeface="+mn-ea"/>
              </a:rPr>
              <a:t>锁存器</a:t>
            </a:r>
            <a:r>
              <a:rPr lang="en-US" altLang="zh-CN" b="1" dirty="0">
                <a:latin typeface="+mn-ea"/>
              </a:rPr>
              <a:t>)</a:t>
            </a:r>
            <a:r>
              <a:rPr lang="zh-CN" altLang="en-US" sz="2200" b="1" dirty="0">
                <a:latin typeface="+mn-ea"/>
              </a:rPr>
              <a:t>，专用结构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增加选择器</a:t>
            </a:r>
            <a:r>
              <a:rPr lang="en-US" altLang="zh-CN" b="1" dirty="0">
                <a:latin typeface="+mn-ea"/>
              </a:rPr>
              <a:t>) </a:t>
            </a:r>
            <a:endParaRPr lang="en-US" altLang="zh-CN" b="1" dirty="0">
              <a:latin typeface="+mn-ea"/>
              <a:ea typeface="+mn-ea"/>
            </a:endParaRPr>
          </a:p>
        </p:txBody>
      </p:sp>
      <p:grpSp>
        <p:nvGrpSpPr>
          <p:cNvPr id="182" name="组合 181"/>
          <p:cNvGrpSpPr/>
          <p:nvPr/>
        </p:nvGrpSpPr>
        <p:grpSpPr>
          <a:xfrm>
            <a:off x="899974" y="1486431"/>
            <a:ext cx="5292090" cy="1261745"/>
            <a:chOff x="1080135" y="2088390"/>
            <a:chExt cx="5292090" cy="1261745"/>
          </a:xfrm>
        </p:grpSpPr>
        <p:cxnSp>
          <p:nvCxnSpPr>
            <p:cNvPr id="183" name="直接连接符 182"/>
            <p:cNvCxnSpPr/>
            <p:nvPr>
              <p:custDataLst>
                <p:tags r:id="rId1"/>
              </p:custDataLst>
            </p:nvPr>
          </p:nvCxnSpPr>
          <p:spPr bwMode="auto">
            <a:xfrm flipV="1">
              <a:off x="4752340" y="3170430"/>
              <a:ext cx="0" cy="17970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84" name="直接连接符 183"/>
            <p:cNvCxnSpPr/>
            <p:nvPr>
              <p:custDataLst>
                <p:tags r:id="rId2"/>
              </p:custDataLst>
            </p:nvPr>
          </p:nvCxnSpPr>
          <p:spPr bwMode="auto">
            <a:xfrm>
              <a:off x="3132455" y="2160145"/>
              <a:ext cx="219583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直接连接符 184"/>
            <p:cNvCxnSpPr/>
            <p:nvPr>
              <p:custDataLst>
                <p:tags r:id="rId3"/>
              </p:custDataLst>
            </p:nvPr>
          </p:nvCxnSpPr>
          <p:spPr bwMode="auto">
            <a:xfrm>
              <a:off x="1403985" y="2448435"/>
              <a:ext cx="32385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6" name="直接连接符 185"/>
            <p:cNvCxnSpPr/>
            <p:nvPr>
              <p:custDataLst>
                <p:tags r:id="rId4"/>
              </p:custDataLst>
            </p:nvPr>
          </p:nvCxnSpPr>
          <p:spPr bwMode="auto">
            <a:xfrm flipV="1">
              <a:off x="1296035" y="2808480"/>
              <a:ext cx="0" cy="5397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7" name="直接连接符 186"/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1224280" y="2340485"/>
              <a:ext cx="0" cy="25209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88" name="Text Box 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80135" y="2160145"/>
              <a:ext cx="288290" cy="17970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9" name="直接连接符 188"/>
            <p:cNvCxnSpPr/>
            <p:nvPr>
              <p:custDataLst>
                <p:tags r:id="rId7"/>
              </p:custDataLst>
            </p:nvPr>
          </p:nvCxnSpPr>
          <p:spPr bwMode="auto">
            <a:xfrm>
              <a:off x="3132455" y="2160145"/>
              <a:ext cx="0" cy="57594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90" name="直接连接符 189"/>
            <p:cNvCxnSpPr/>
            <p:nvPr>
              <p:custDataLst>
                <p:tags r:id="rId8"/>
              </p:custDataLst>
            </p:nvPr>
          </p:nvCxnSpPr>
          <p:spPr bwMode="auto">
            <a:xfrm>
              <a:off x="4032250" y="2807210"/>
              <a:ext cx="2159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1" name="直接连接符 190"/>
            <p:cNvCxnSpPr/>
            <p:nvPr>
              <p:custDataLst>
                <p:tags r:id="rId9"/>
              </p:custDataLst>
            </p:nvPr>
          </p:nvCxnSpPr>
          <p:spPr bwMode="auto">
            <a:xfrm>
              <a:off x="4032250" y="2555115"/>
              <a:ext cx="2159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2" name="直接连接符 191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3204210" y="2628140"/>
              <a:ext cx="0" cy="7200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193" name="Text Box 1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824095" y="2520190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94" name="直接连接符 193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4536440" y="2627505"/>
              <a:ext cx="2882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5" name="直接连接符 194"/>
            <p:cNvCxnSpPr/>
            <p:nvPr>
              <p:custDataLst>
                <p:tags r:id="rId13"/>
              </p:custDataLst>
            </p:nvPr>
          </p:nvCxnSpPr>
          <p:spPr bwMode="auto">
            <a:xfrm>
              <a:off x="4536440" y="2736090"/>
              <a:ext cx="2159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6" name="直接连接符 195"/>
            <p:cNvCxnSpPr/>
            <p:nvPr>
              <p:custDataLst>
                <p:tags r:id="rId14"/>
              </p:custDataLst>
            </p:nvPr>
          </p:nvCxnSpPr>
          <p:spPr bwMode="auto">
            <a:xfrm>
              <a:off x="1727835" y="2268095"/>
              <a:ext cx="53975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7" name="直接连接符 196"/>
            <p:cNvCxnSpPr/>
            <p:nvPr>
              <p:custDataLst>
                <p:tags r:id="rId15"/>
              </p:custDataLst>
            </p:nvPr>
          </p:nvCxnSpPr>
          <p:spPr bwMode="auto">
            <a:xfrm>
              <a:off x="5328285" y="3276475"/>
              <a:ext cx="10439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8" name="直接连接符 197"/>
            <p:cNvCxnSpPr/>
            <p:nvPr>
              <p:custDataLst>
                <p:tags r:id="rId16"/>
              </p:custDataLst>
            </p:nvPr>
          </p:nvCxnSpPr>
          <p:spPr bwMode="auto">
            <a:xfrm>
              <a:off x="6156325" y="3024380"/>
              <a:ext cx="2159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9" name="直接连接符 198"/>
            <p:cNvCxnSpPr/>
            <p:nvPr>
              <p:custDataLst>
                <p:tags r:id="rId17"/>
              </p:custDataLst>
            </p:nvPr>
          </p:nvCxnSpPr>
          <p:spPr bwMode="auto">
            <a:xfrm>
              <a:off x="5436235" y="2951990"/>
              <a:ext cx="17970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0" name="直接连接符 199"/>
            <p:cNvCxnSpPr/>
            <p:nvPr>
              <p:custDataLst>
                <p:tags r:id="rId18"/>
              </p:custDataLst>
            </p:nvPr>
          </p:nvCxnSpPr>
          <p:spPr bwMode="auto">
            <a:xfrm>
              <a:off x="5112385" y="3096135"/>
              <a:ext cx="5041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1" name="直接连接符 200"/>
            <p:cNvCxnSpPr/>
            <p:nvPr>
              <p:custDataLst>
                <p:tags r:id="rId19"/>
              </p:custDataLst>
            </p:nvPr>
          </p:nvCxnSpPr>
          <p:spPr bwMode="auto">
            <a:xfrm>
              <a:off x="4752340" y="2736090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2" name="直接连接符 201"/>
            <p:cNvCxnSpPr/>
            <p:nvPr>
              <p:custDataLst>
                <p:tags r:id="rId20"/>
              </p:custDataLst>
            </p:nvPr>
          </p:nvCxnSpPr>
          <p:spPr bwMode="auto">
            <a:xfrm>
              <a:off x="4572000" y="3024380"/>
              <a:ext cx="17970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03" name="直接连接符 202"/>
            <p:cNvCxnSpPr/>
            <p:nvPr>
              <p:custDataLst>
                <p:tags r:id="rId21"/>
              </p:custDataLst>
            </p:nvPr>
          </p:nvCxnSpPr>
          <p:spPr bwMode="auto">
            <a:xfrm>
              <a:off x="4572000" y="3168525"/>
              <a:ext cx="17970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04" name="直接连接符 203"/>
            <p:cNvCxnSpPr/>
            <p:nvPr>
              <p:custDataLst>
                <p:tags r:id="rId22"/>
              </p:custDataLst>
            </p:nvPr>
          </p:nvCxnSpPr>
          <p:spPr bwMode="auto">
            <a:xfrm>
              <a:off x="2844165" y="2736090"/>
              <a:ext cx="6477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5" name="直接连接符 204"/>
            <p:cNvCxnSpPr/>
            <p:nvPr>
              <p:custDataLst>
                <p:tags r:id="rId23"/>
              </p:custDataLst>
            </p:nvPr>
          </p:nvCxnSpPr>
          <p:spPr bwMode="auto">
            <a:xfrm>
              <a:off x="3312160" y="2880235"/>
              <a:ext cx="17970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6" name="直接连接符 205"/>
            <p:cNvCxnSpPr/>
            <p:nvPr>
              <p:custDataLst>
                <p:tags r:id="rId24"/>
              </p:custDataLst>
            </p:nvPr>
          </p:nvCxnSpPr>
          <p:spPr bwMode="auto">
            <a:xfrm>
              <a:off x="3312160" y="2304290"/>
              <a:ext cx="17970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7" name="直接连接符 206"/>
            <p:cNvCxnSpPr/>
            <p:nvPr>
              <p:custDataLst>
                <p:tags r:id="rId25"/>
              </p:custDataLst>
            </p:nvPr>
          </p:nvCxnSpPr>
          <p:spPr bwMode="auto">
            <a:xfrm>
              <a:off x="2915920" y="2412240"/>
              <a:ext cx="57594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08" name="Text Box 1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168015" y="2231900"/>
              <a:ext cx="144145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09" name="直接连接符 208"/>
            <p:cNvCxnSpPr/>
            <p:nvPr>
              <p:custDataLst>
                <p:tags r:id="rId27"/>
              </p:custDataLst>
            </p:nvPr>
          </p:nvCxnSpPr>
          <p:spPr bwMode="auto">
            <a:xfrm>
              <a:off x="3204210" y="2628140"/>
              <a:ext cx="2882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0" name="直接连接符 209"/>
            <p:cNvCxnSpPr/>
            <p:nvPr>
              <p:custDataLst>
                <p:tags r:id="rId28"/>
              </p:custDataLst>
            </p:nvPr>
          </p:nvCxnSpPr>
          <p:spPr bwMode="auto">
            <a:xfrm>
              <a:off x="2844165" y="2520190"/>
              <a:ext cx="6477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211" name="直接连接符 210"/>
            <p:cNvCxnSpPr/>
            <p:nvPr>
              <p:custDataLst>
                <p:tags r:id="rId29"/>
              </p:custDataLst>
            </p:nvPr>
          </p:nvCxnSpPr>
          <p:spPr bwMode="auto">
            <a:xfrm>
              <a:off x="5436235" y="2088390"/>
              <a:ext cx="0" cy="86423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2" name="直接连接符 211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2701290" y="2808480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13" name="直接连接符 212"/>
            <p:cNvCxnSpPr/>
            <p:nvPr>
              <p:custDataLst>
                <p:tags r:id="rId31"/>
              </p:custDataLst>
            </p:nvPr>
          </p:nvCxnSpPr>
          <p:spPr bwMode="auto">
            <a:xfrm>
              <a:off x="1727835" y="2736090"/>
              <a:ext cx="6121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4" name="直接连接符 213"/>
            <p:cNvCxnSpPr/>
            <p:nvPr>
              <p:custDataLst>
                <p:tags r:id="rId32"/>
              </p:custDataLst>
            </p:nvPr>
          </p:nvCxnSpPr>
          <p:spPr bwMode="auto">
            <a:xfrm>
              <a:off x="2915920" y="2268095"/>
              <a:ext cx="0" cy="14414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5" name="直接连接符 214"/>
            <p:cNvCxnSpPr/>
            <p:nvPr>
              <p:custDataLst>
                <p:tags r:id="rId33"/>
              </p:custDataLst>
            </p:nvPr>
          </p:nvCxnSpPr>
          <p:spPr bwMode="auto">
            <a:xfrm>
              <a:off x="1727835" y="2520190"/>
              <a:ext cx="6121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6" name="直接连接符 215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2772410" y="2268095"/>
              <a:ext cx="14414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7" name="直接连接符 216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2484120" y="2808480"/>
              <a:ext cx="635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8" name="直接连接符 217"/>
            <p:cNvCxnSpPr/>
            <p:nvPr>
              <p:custDataLst>
                <p:tags r:id="rId36"/>
              </p:custDataLst>
            </p:nvPr>
          </p:nvCxnSpPr>
          <p:spPr bwMode="auto">
            <a:xfrm>
              <a:off x="2160270" y="2736725"/>
              <a:ext cx="0" cy="2159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19" name="直接连接符 218"/>
            <p:cNvCxnSpPr/>
            <p:nvPr>
              <p:custDataLst>
                <p:tags r:id="rId37"/>
              </p:custDataLst>
            </p:nvPr>
          </p:nvCxnSpPr>
          <p:spPr bwMode="auto">
            <a:xfrm>
              <a:off x="2160270" y="2952625"/>
              <a:ext cx="32385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0" name="直接连接符 219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3312160" y="2880235"/>
              <a:ext cx="0" cy="3962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21" name="直接连接符 220"/>
            <p:cNvCxnSpPr/>
            <p:nvPr>
              <p:custDataLst>
                <p:tags r:id="rId39"/>
              </p:custDataLst>
            </p:nvPr>
          </p:nvCxnSpPr>
          <p:spPr bwMode="auto">
            <a:xfrm>
              <a:off x="5328285" y="2160145"/>
              <a:ext cx="0" cy="111569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2" name="直接连接符 221"/>
            <p:cNvCxnSpPr/>
            <p:nvPr>
              <p:custDataLst>
                <p:tags r:id="rId40"/>
              </p:custDataLst>
            </p:nvPr>
          </p:nvCxnSpPr>
          <p:spPr bwMode="auto">
            <a:xfrm>
              <a:off x="3023870" y="2088390"/>
              <a:ext cx="241173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3" name="直接连接符 222"/>
            <p:cNvCxnSpPr/>
            <p:nvPr>
              <p:custDataLst>
                <p:tags r:id="rId41"/>
              </p:custDataLst>
            </p:nvPr>
          </p:nvCxnSpPr>
          <p:spPr bwMode="auto">
            <a:xfrm>
              <a:off x="3023870" y="2088390"/>
              <a:ext cx="0" cy="4318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224" name="直接连接符 223"/>
            <p:cNvCxnSpPr/>
            <p:nvPr>
              <p:custDataLst>
                <p:tags r:id="rId42"/>
              </p:custDataLst>
            </p:nvPr>
          </p:nvCxnSpPr>
          <p:spPr bwMode="auto">
            <a:xfrm>
              <a:off x="5112385" y="3096135"/>
              <a:ext cx="0" cy="17970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5" name="直接连接符 224"/>
            <p:cNvCxnSpPr/>
            <p:nvPr>
              <p:custDataLst>
                <p:tags r:id="rId43"/>
              </p:custDataLst>
            </p:nvPr>
          </p:nvCxnSpPr>
          <p:spPr bwMode="auto">
            <a:xfrm flipH="1">
              <a:off x="1619885" y="3276475"/>
              <a:ext cx="349186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6" name="直接连接符 225"/>
            <p:cNvCxnSpPr/>
            <p:nvPr>
              <p:custDataLst>
                <p:tags r:id="rId44"/>
              </p:custDataLst>
            </p:nvPr>
          </p:nvCxnSpPr>
          <p:spPr bwMode="auto">
            <a:xfrm>
              <a:off x="1727835" y="2160145"/>
              <a:ext cx="0" cy="6477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7" name="Text Box 18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727835" y="2304290"/>
              <a:ext cx="28829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28" name="Text Box 18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727835" y="2088390"/>
              <a:ext cx="50419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29" name="Text Box 18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1727835" y="2520190"/>
              <a:ext cx="28829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0" name="直接连接符 229"/>
            <p:cNvCxnSpPr/>
            <p:nvPr>
              <p:custDataLst>
                <p:tags r:id="rId48"/>
              </p:custDataLst>
            </p:nvPr>
          </p:nvCxnSpPr>
          <p:spPr bwMode="auto">
            <a:xfrm>
              <a:off x="1836420" y="3096135"/>
              <a:ext cx="3962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31" name="直接连接符 230"/>
            <p:cNvCxnSpPr/>
            <p:nvPr>
              <p:custDataLst>
                <p:tags r:id="rId49"/>
              </p:custDataLst>
            </p:nvPr>
          </p:nvCxnSpPr>
          <p:spPr bwMode="auto">
            <a:xfrm>
              <a:off x="1619885" y="3168525"/>
              <a:ext cx="0" cy="1079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2" name="直接连接符 231"/>
            <p:cNvCxnSpPr/>
            <p:nvPr>
              <p:custDataLst>
                <p:tags r:id="rId50"/>
              </p:custDataLst>
            </p:nvPr>
          </p:nvCxnSpPr>
          <p:spPr bwMode="auto">
            <a:xfrm>
              <a:off x="1403985" y="2448435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3" name="直接连接符 232"/>
            <p:cNvCxnSpPr/>
            <p:nvPr>
              <p:custDataLst>
                <p:tags r:id="rId51"/>
              </p:custDataLst>
            </p:nvPr>
          </p:nvCxnSpPr>
          <p:spPr bwMode="auto">
            <a:xfrm flipH="1" flipV="1">
              <a:off x="1296035" y="3348000"/>
              <a:ext cx="50761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4" name="Text Box 18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3491865" y="2268000"/>
              <a:ext cx="539750" cy="3962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MUX2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5" name="矩形 234"/>
            <p:cNvSpPr/>
            <p:nvPr>
              <p:custDataLst>
                <p:tags r:id="rId53"/>
              </p:custDataLst>
            </p:nvPr>
          </p:nvSpPr>
          <p:spPr bwMode="auto">
            <a:xfrm>
              <a:off x="3491865" y="2592485"/>
              <a:ext cx="71755" cy="7175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" name="矩形 235"/>
            <p:cNvSpPr/>
            <p:nvPr>
              <p:custDataLst>
                <p:tags r:id="rId54"/>
              </p:custDataLst>
            </p:nvPr>
          </p:nvSpPr>
          <p:spPr bwMode="auto">
            <a:xfrm>
              <a:off x="3491865" y="2268000"/>
              <a:ext cx="71755" cy="71755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7" name="Text Box 18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5617210" y="2916335"/>
              <a:ext cx="539750" cy="2159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MUX4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8" name="矩形 237"/>
            <p:cNvSpPr/>
            <p:nvPr>
              <p:custDataLst>
                <p:tags r:id="rId56"/>
              </p:custDataLst>
            </p:nvPr>
          </p:nvSpPr>
          <p:spPr bwMode="auto">
            <a:xfrm>
              <a:off x="5617210" y="3060480"/>
              <a:ext cx="71755" cy="7175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9" name="矩形 238"/>
            <p:cNvSpPr/>
            <p:nvPr>
              <p:custDataLst>
                <p:tags r:id="rId57"/>
              </p:custDataLst>
            </p:nvPr>
          </p:nvSpPr>
          <p:spPr bwMode="auto">
            <a:xfrm>
              <a:off x="5617210" y="2916335"/>
              <a:ext cx="71755" cy="71755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0" name="Text Box 18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4031615" y="2988090"/>
              <a:ext cx="539750" cy="2159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MUX3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1" name="矩形 240"/>
            <p:cNvSpPr/>
            <p:nvPr>
              <p:custDataLst>
                <p:tags r:id="rId59"/>
              </p:custDataLst>
            </p:nvPr>
          </p:nvSpPr>
          <p:spPr bwMode="auto">
            <a:xfrm>
              <a:off x="4499610" y="3132235"/>
              <a:ext cx="71755" cy="71755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2" name="矩形 241"/>
            <p:cNvSpPr/>
            <p:nvPr>
              <p:custDataLst>
                <p:tags r:id="rId60"/>
              </p:custDataLst>
            </p:nvPr>
          </p:nvSpPr>
          <p:spPr bwMode="auto">
            <a:xfrm>
              <a:off x="4499610" y="2988090"/>
              <a:ext cx="71755" cy="7175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3" name="Text Box 18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3491865" y="2700435"/>
              <a:ext cx="539750" cy="2159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MUX1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4" name="矩形 243"/>
            <p:cNvSpPr/>
            <p:nvPr>
              <p:custDataLst>
                <p:tags r:id="rId62"/>
              </p:custDataLst>
            </p:nvPr>
          </p:nvSpPr>
          <p:spPr bwMode="auto">
            <a:xfrm>
              <a:off x="3491865" y="2844580"/>
              <a:ext cx="71755" cy="7175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" name="矩形 244"/>
            <p:cNvSpPr/>
            <p:nvPr>
              <p:custDataLst>
                <p:tags r:id="rId63"/>
              </p:custDataLst>
            </p:nvPr>
          </p:nvSpPr>
          <p:spPr bwMode="auto">
            <a:xfrm>
              <a:off x="3491865" y="2700435"/>
              <a:ext cx="71755" cy="71755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46" name="直接连接符 245"/>
            <p:cNvCxnSpPr/>
            <p:nvPr>
              <p:custDataLst>
                <p:tags r:id="rId64"/>
              </p:custDataLst>
            </p:nvPr>
          </p:nvCxnSpPr>
          <p:spPr bwMode="auto">
            <a:xfrm flipH="1">
              <a:off x="2195736" y="3096000"/>
              <a:ext cx="183578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47" name="组合 246"/>
          <p:cNvGrpSpPr/>
          <p:nvPr/>
        </p:nvGrpSpPr>
        <p:grpSpPr>
          <a:xfrm>
            <a:off x="827584" y="1414041"/>
            <a:ext cx="8208250" cy="1476000"/>
            <a:chOff x="1007745" y="2016000"/>
            <a:chExt cx="8208250" cy="1476000"/>
          </a:xfrm>
        </p:grpSpPr>
        <p:sp>
          <p:nvSpPr>
            <p:cNvPr id="248" name="Text Box 18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1007745" y="2016000"/>
              <a:ext cx="7524000" cy="147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9" name="Text Box 18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403985" y="2951990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0" name="Text Box 18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1080135" y="2591945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1" name="AutoShape 15"/>
            <p:cNvSpPr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 rot="16200000">
              <a:off x="4140200" y="2555115"/>
              <a:ext cx="504190" cy="288290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252" name="Text Box 23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8748000" y="2916430"/>
              <a:ext cx="467995" cy="50419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3" name="Text Box 18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2268220" y="2160145"/>
              <a:ext cx="504190" cy="2159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ExtU</a:t>
              </a:r>
              <a:endParaRPr lang="en-US" altLang="zh-CN" sz="1600" b="1" dirty="0" err="1">
                <a:latin typeface="宋体" panose="02010600030101010101" pitchFamily="2" charset="-122"/>
              </a:endParaRPr>
            </a:p>
          </p:txBody>
        </p:sp>
        <p:sp>
          <p:nvSpPr>
            <p:cNvPr id="254" name="Text Box 10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2341245" y="2448435"/>
              <a:ext cx="504190" cy="36004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5" name="Text Box 18"/>
            <p:cNvSpPr txBox="1">
              <a:spLocks noChangeArrowheads="1"/>
            </p:cNvSpPr>
            <p:nvPr/>
          </p:nvSpPr>
          <p:spPr bwMode="auto">
            <a:xfrm>
              <a:off x="6372200" y="2880000"/>
              <a:ext cx="2160000" cy="57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296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    BIU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>
              <a:off x="8532440" y="3024000"/>
              <a:ext cx="21602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57" name="直接连接符 256"/>
            <p:cNvCxnSpPr/>
            <p:nvPr/>
          </p:nvCxnSpPr>
          <p:spPr bwMode="auto">
            <a:xfrm>
              <a:off x="8532440" y="3149799"/>
              <a:ext cx="21602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58" name="直接连接符 257"/>
            <p:cNvCxnSpPr/>
            <p:nvPr/>
          </p:nvCxnSpPr>
          <p:spPr bwMode="auto">
            <a:xfrm flipV="1">
              <a:off x="8532440" y="3276000"/>
              <a:ext cx="216024" cy="68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3333FF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</p:grpSp>
      <p:grpSp>
        <p:nvGrpSpPr>
          <p:cNvPr id="259" name="组合 258"/>
          <p:cNvGrpSpPr/>
          <p:nvPr/>
        </p:nvGrpSpPr>
        <p:grpSpPr>
          <a:xfrm>
            <a:off x="6192279" y="2314041"/>
            <a:ext cx="2160000" cy="504000"/>
            <a:chOff x="4572000" y="3708000"/>
            <a:chExt cx="2160000" cy="504000"/>
          </a:xfrm>
        </p:grpSpPr>
        <p:cxnSp>
          <p:nvCxnSpPr>
            <p:cNvPr id="260" name="直接连接符 259"/>
            <p:cNvCxnSpPr/>
            <p:nvPr>
              <p:custDataLst>
                <p:tags r:id="rId72"/>
              </p:custDataLst>
            </p:nvPr>
          </p:nvCxnSpPr>
          <p:spPr bwMode="auto">
            <a:xfrm>
              <a:off x="5003165" y="3825483"/>
              <a:ext cx="126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1" name="直接连接符 260"/>
            <p:cNvCxnSpPr/>
            <p:nvPr>
              <p:custDataLst>
                <p:tags r:id="rId73"/>
              </p:custDataLst>
            </p:nvPr>
          </p:nvCxnSpPr>
          <p:spPr bwMode="auto">
            <a:xfrm>
              <a:off x="5003165" y="4068000"/>
              <a:ext cx="1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3333FF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62" name="直接连接符 261"/>
            <p:cNvCxnSpPr/>
            <p:nvPr>
              <p:custDataLst>
                <p:tags r:id="rId74"/>
              </p:custDataLst>
            </p:nvPr>
          </p:nvCxnSpPr>
          <p:spPr bwMode="auto">
            <a:xfrm flipH="1">
              <a:off x="5003165" y="4140000"/>
              <a:ext cx="1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3333FF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263" name="Text Box 18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4572000" y="3708000"/>
              <a:ext cx="431800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64" name="Text Box 18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4572000" y="3996000"/>
              <a:ext cx="431800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65" name="Text Box 23"/>
            <p:cNvSpPr txBox="1">
              <a:spLocks noChangeArrowheads="1"/>
            </p:cNvSpPr>
            <p:nvPr/>
          </p:nvSpPr>
          <p:spPr bwMode="auto">
            <a:xfrm>
              <a:off x="6264000" y="3708000"/>
              <a:ext cx="468000" cy="504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总线逻辑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66" name="Text Box 18"/>
            <p:cNvSpPr txBox="1">
              <a:spLocks noChangeArrowheads="1"/>
            </p:cNvSpPr>
            <p:nvPr/>
          </p:nvSpPr>
          <p:spPr bwMode="auto">
            <a:xfrm>
              <a:off x="5184000" y="3996000"/>
              <a:ext cx="89916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转换电路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67" name="直接连接符 266"/>
            <p:cNvCxnSpPr/>
            <p:nvPr>
              <p:custDataLst>
                <p:tags r:id="rId77"/>
              </p:custDataLst>
            </p:nvPr>
          </p:nvCxnSpPr>
          <p:spPr bwMode="auto">
            <a:xfrm>
              <a:off x="6084168" y="4068000"/>
              <a:ext cx="1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3333FF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68" name="直接连接符 267"/>
            <p:cNvCxnSpPr/>
            <p:nvPr>
              <p:custDataLst>
                <p:tags r:id="rId78"/>
              </p:custDataLst>
            </p:nvPr>
          </p:nvCxnSpPr>
          <p:spPr bwMode="auto">
            <a:xfrm flipH="1">
              <a:off x="6084168" y="4140000"/>
              <a:ext cx="18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3333FF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grpSp>
        <p:nvGrpSpPr>
          <p:cNvPr id="269" name="组合 268"/>
          <p:cNvGrpSpPr/>
          <p:nvPr/>
        </p:nvGrpSpPr>
        <p:grpSpPr>
          <a:xfrm>
            <a:off x="827839" y="1558041"/>
            <a:ext cx="7884000" cy="1620000"/>
            <a:chOff x="1152016" y="2259664"/>
            <a:chExt cx="7884000" cy="1620000"/>
          </a:xfrm>
        </p:grpSpPr>
        <p:sp>
          <p:nvSpPr>
            <p:cNvPr id="270" name="Text Box 18"/>
            <p:cNvSpPr txBox="1">
              <a:spLocks noChangeArrowheads="1"/>
            </p:cNvSpPr>
            <p:nvPr/>
          </p:nvSpPr>
          <p:spPr bwMode="auto">
            <a:xfrm>
              <a:off x="2592016" y="3645024"/>
              <a:ext cx="396000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71" name="Text Box 18"/>
            <p:cNvSpPr txBox="1">
              <a:spLocks noChangeArrowheads="1"/>
            </p:cNvSpPr>
            <p:nvPr/>
          </p:nvSpPr>
          <p:spPr bwMode="auto">
            <a:xfrm>
              <a:off x="1152016" y="3663664"/>
              <a:ext cx="39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IR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72" name="Text Box 18"/>
            <p:cNvSpPr txBox="1">
              <a:spLocks noChangeArrowheads="1"/>
            </p:cNvSpPr>
            <p:nvPr/>
          </p:nvSpPr>
          <p:spPr bwMode="auto">
            <a:xfrm>
              <a:off x="4464016" y="2259664"/>
              <a:ext cx="252216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73" name="直接连接符 272"/>
            <p:cNvCxnSpPr/>
            <p:nvPr/>
          </p:nvCxnSpPr>
          <p:spPr bwMode="auto">
            <a:xfrm flipV="1">
              <a:off x="2736016" y="2907663"/>
              <a:ext cx="0" cy="75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74" name="Text Box 18"/>
            <p:cNvSpPr txBox="1">
              <a:spLocks noChangeArrowheads="1"/>
            </p:cNvSpPr>
            <p:nvPr/>
          </p:nvSpPr>
          <p:spPr bwMode="auto">
            <a:xfrm>
              <a:off x="1980016" y="3663664"/>
              <a:ext cx="43204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18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+1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75" name="直接连接符 274"/>
            <p:cNvCxnSpPr/>
            <p:nvPr/>
          </p:nvCxnSpPr>
          <p:spPr bwMode="auto">
            <a:xfrm flipV="1">
              <a:off x="1692016" y="3267664"/>
              <a:ext cx="1" cy="39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76" name="直接连接符 275"/>
            <p:cNvCxnSpPr/>
            <p:nvPr/>
          </p:nvCxnSpPr>
          <p:spPr bwMode="auto">
            <a:xfrm flipV="1">
              <a:off x="1908016" y="3267664"/>
              <a:ext cx="0" cy="25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77" name="直接连接符 276"/>
            <p:cNvCxnSpPr/>
            <p:nvPr/>
          </p:nvCxnSpPr>
          <p:spPr bwMode="auto">
            <a:xfrm flipV="1">
              <a:off x="1332016" y="2907664"/>
              <a:ext cx="0" cy="75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78" name="直接连接符 277"/>
            <p:cNvCxnSpPr/>
            <p:nvPr/>
          </p:nvCxnSpPr>
          <p:spPr bwMode="auto">
            <a:xfrm flipV="1">
              <a:off x="3528016" y="3015664"/>
              <a:ext cx="216000" cy="64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79" name="Text Box 18"/>
            <p:cNvSpPr txBox="1">
              <a:spLocks noChangeArrowheads="1"/>
            </p:cNvSpPr>
            <p:nvPr/>
          </p:nvSpPr>
          <p:spPr bwMode="auto">
            <a:xfrm>
              <a:off x="1548016" y="3663664"/>
              <a:ext cx="43204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80" name="直接连接符 279"/>
            <p:cNvCxnSpPr/>
            <p:nvPr/>
          </p:nvCxnSpPr>
          <p:spPr bwMode="auto">
            <a:xfrm flipH="1" flipV="1">
              <a:off x="1908016" y="3519664"/>
              <a:ext cx="18000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81" name="直接连接符 280"/>
            <p:cNvCxnSpPr/>
            <p:nvPr/>
          </p:nvCxnSpPr>
          <p:spPr bwMode="auto">
            <a:xfrm flipV="1">
              <a:off x="4068016" y="2691664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82" name="直接连接符 281"/>
            <p:cNvCxnSpPr/>
            <p:nvPr/>
          </p:nvCxnSpPr>
          <p:spPr bwMode="auto">
            <a:xfrm flipV="1">
              <a:off x="4608016" y="3303664"/>
              <a:ext cx="0" cy="36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83" name="直接连接符 282"/>
            <p:cNvCxnSpPr/>
            <p:nvPr/>
          </p:nvCxnSpPr>
          <p:spPr bwMode="auto">
            <a:xfrm>
              <a:off x="4572016" y="2475664"/>
              <a:ext cx="0" cy="1296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84" name="直接连接符 283"/>
            <p:cNvCxnSpPr/>
            <p:nvPr/>
          </p:nvCxnSpPr>
          <p:spPr bwMode="auto">
            <a:xfrm flipV="1">
              <a:off x="5940016" y="3231664"/>
              <a:ext cx="0" cy="43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85" name="Text Box 18"/>
            <p:cNvSpPr txBox="1">
              <a:spLocks noChangeArrowheads="1"/>
            </p:cNvSpPr>
            <p:nvPr/>
          </p:nvSpPr>
          <p:spPr bwMode="auto">
            <a:xfrm>
              <a:off x="3096016" y="3663664"/>
              <a:ext cx="68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ALUA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6" name="Text Box 18"/>
            <p:cNvSpPr txBox="1">
              <a:spLocks noChangeArrowheads="1"/>
            </p:cNvSpPr>
            <p:nvPr/>
          </p:nvSpPr>
          <p:spPr bwMode="auto">
            <a:xfrm>
              <a:off x="3780016" y="3663664"/>
              <a:ext cx="72008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ALUB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7" name="Text Box 18"/>
            <p:cNvSpPr txBox="1">
              <a:spLocks noChangeArrowheads="1"/>
            </p:cNvSpPr>
            <p:nvPr/>
          </p:nvSpPr>
          <p:spPr bwMode="auto">
            <a:xfrm>
              <a:off x="4500016" y="3663664"/>
              <a:ext cx="468052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8" name="Text Box 18"/>
            <p:cNvSpPr txBox="1">
              <a:spLocks noChangeArrowheads="1"/>
            </p:cNvSpPr>
            <p:nvPr/>
          </p:nvSpPr>
          <p:spPr bwMode="auto">
            <a:xfrm>
              <a:off x="5724016" y="3663664"/>
              <a:ext cx="61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MAR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9" name="Text Box 18"/>
            <p:cNvSpPr txBox="1">
              <a:spLocks noChangeArrowheads="1"/>
            </p:cNvSpPr>
            <p:nvPr/>
          </p:nvSpPr>
          <p:spPr bwMode="auto">
            <a:xfrm>
              <a:off x="7920016" y="3663664"/>
              <a:ext cx="1116000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Read Write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90" name="直接连接符 289"/>
            <p:cNvCxnSpPr/>
            <p:nvPr/>
          </p:nvCxnSpPr>
          <p:spPr bwMode="auto">
            <a:xfrm flipH="1" flipV="1">
              <a:off x="8280016" y="3519663"/>
              <a:ext cx="198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91" name="直接连接符 290"/>
            <p:cNvCxnSpPr/>
            <p:nvPr/>
          </p:nvCxnSpPr>
          <p:spPr bwMode="auto">
            <a:xfrm flipH="1" flipV="1">
              <a:off x="8532016" y="3519663"/>
              <a:ext cx="198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92" name="直接连接符 291"/>
            <p:cNvCxnSpPr/>
            <p:nvPr/>
          </p:nvCxnSpPr>
          <p:spPr bwMode="auto">
            <a:xfrm flipH="1" flipV="1">
              <a:off x="6660016" y="3519663"/>
              <a:ext cx="198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93" name="直接连接符 292"/>
            <p:cNvCxnSpPr/>
            <p:nvPr/>
          </p:nvCxnSpPr>
          <p:spPr bwMode="auto">
            <a:xfrm>
              <a:off x="6660016" y="2871664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94" name="Text Box 18"/>
            <p:cNvSpPr txBox="1">
              <a:spLocks noChangeArrowheads="1"/>
            </p:cNvSpPr>
            <p:nvPr/>
          </p:nvSpPr>
          <p:spPr bwMode="auto">
            <a:xfrm>
              <a:off x="6444016" y="3663664"/>
              <a:ext cx="540597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MDR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95" name="Text Box 18"/>
            <p:cNvSpPr txBox="1">
              <a:spLocks noChangeArrowheads="1"/>
            </p:cNvSpPr>
            <p:nvPr/>
          </p:nvSpPr>
          <p:spPr bwMode="auto">
            <a:xfrm>
              <a:off x="6444016" y="2655664"/>
              <a:ext cx="54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MAR</a:t>
              </a:r>
              <a:r>
                <a:rPr lang="en-US" altLang="zh-CN" sz="1600" b="1" baseline="-18000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02" name="线形标注 2 101"/>
          <p:cNvSpPr/>
          <p:nvPr/>
        </p:nvSpPr>
        <p:spPr bwMode="auto">
          <a:xfrm>
            <a:off x="6516000" y="1558041"/>
            <a:ext cx="2448000" cy="252000"/>
          </a:xfrm>
          <a:prstGeom prst="borderCallout2">
            <a:avLst>
              <a:gd name="adj1" fmla="val 101325"/>
              <a:gd name="adj2" fmla="val 46556"/>
              <a:gd name="adj3" fmla="val 218267"/>
              <a:gd name="adj4" fmla="val 46324"/>
              <a:gd name="adj5" fmla="val 403519"/>
              <a:gd name="adj6" fmla="val 3754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0000"/>
              </a:lnSpc>
            </a:pPr>
            <a:r>
              <a:rPr lang="zh-CN" altLang="en-US" sz="1600" b="1" dirty="0">
                <a:latin typeface="+mn-ea"/>
                <a:ea typeface="+mn-ea"/>
              </a:rPr>
              <a:t>存放方式、位数扩展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截断</a:t>
            </a:r>
            <a:endParaRPr lang="en-US" altLang="zh-CN" sz="1600" b="1" dirty="0">
              <a:latin typeface="+mn-ea"/>
              <a:ea typeface="+mn-ea"/>
            </a:endParaRPr>
          </a:p>
        </p:txBody>
      </p:sp>
      <p:sp>
        <p:nvSpPr>
          <p:cNvPr id="128" name="Text Box 116"/>
          <p:cNvSpPr txBox="1">
            <a:spLocks noChangeArrowheads="1"/>
          </p:cNvSpPr>
          <p:nvPr/>
        </p:nvSpPr>
        <p:spPr bwMode="auto">
          <a:xfrm>
            <a:off x="2088289" y="3286249"/>
            <a:ext cx="3779855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kumimoji="1"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b="1" dirty="0" err="1">
                <a:latin typeface="+mn-ea"/>
              </a:rPr>
              <a:t>OP</a:t>
            </a:r>
            <a:r>
              <a:rPr kumimoji="1" lang="zh-CN" altLang="en-US" b="1" dirty="0">
                <a:latin typeface="宋体" panose="02010600030101010101" pitchFamily="2" charset="-122"/>
              </a:rPr>
              <a:t>的组成要求、实现方法？</a:t>
            </a:r>
            <a:endParaRPr kumimoji="1"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29" name="Text Box 116"/>
          <p:cNvSpPr txBox="1">
            <a:spLocks noChangeArrowheads="1"/>
          </p:cNvSpPr>
          <p:nvPr/>
        </p:nvSpPr>
        <p:spPr bwMode="auto">
          <a:xfrm>
            <a:off x="5976504" y="3214241"/>
            <a:ext cx="3132000" cy="50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源数据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结果在</a:t>
            </a:r>
            <a:r>
              <a:rPr lang="zh-CN" altLang="en-US" sz="16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状态部件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原子</a:t>
            </a:r>
            <a:r>
              <a:rPr lang="en-US" altLang="zh-CN" sz="1600" b="1" dirty="0">
                <a:latin typeface="+mn-ea"/>
                <a:ea typeface="+mn-ea"/>
                <a:cs typeface="Times New Roman" panose="02020603050405020304" pitchFamily="18" charset="0"/>
              </a:rPr>
              <a:t>OP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</a:t>
            </a:r>
            <a:r>
              <a:rPr lang="zh-CN" alt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相关部件</a:t>
            </a:r>
            <a:r>
              <a:rPr lang="zh-CN" alt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发送控制信号</a:t>
            </a:r>
            <a:endParaRPr kumimoji="1"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36010" y="5012690"/>
            <a:ext cx="543179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000" b="1" dirty="0">
                <a:latin typeface="+mn-ea"/>
                <a:sym typeface="+mn-ea"/>
              </a:rPr>
              <a:t>基于指令功能，组织μOP序列/μOPCmd序列</a:t>
            </a:r>
            <a:endParaRPr lang="zh-CN" altLang="en-US" sz="2000" b="1" dirty="0">
              <a:latin typeface="+mn-ea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95780" y="5804535"/>
            <a:ext cx="6513195" cy="937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sym typeface="+mn-ea"/>
              </a:rPr>
              <a:t>基于需求，设计</a:t>
            </a:r>
            <a:r>
              <a:rPr lang="en-US" altLang="zh-CN" sz="2200" b="1" dirty="0">
                <a:latin typeface="+mn-ea"/>
                <a:sym typeface="+mn-ea"/>
              </a:rPr>
              <a:t>&amp;</a:t>
            </a:r>
            <a:r>
              <a:rPr lang="zh-CN" altLang="en-US" sz="2200" b="1" dirty="0">
                <a:latin typeface="+mn-ea"/>
                <a:sym typeface="+mn-ea"/>
              </a:rPr>
              <a:t>连接部件，组织各指令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μ</a:t>
            </a:r>
            <a:r>
              <a:rPr lang="en-US" altLang="zh-CN" sz="2200" b="1" dirty="0" err="1">
                <a:latin typeface="+mn-ea"/>
                <a:sym typeface="+mn-ea"/>
              </a:rPr>
              <a:t>OPCmd</a:t>
            </a:r>
            <a:r>
              <a:rPr lang="zh-CN" altLang="en-US" sz="2200" b="1" dirty="0">
                <a:latin typeface="+mn-ea"/>
                <a:sym typeface="+mn-ea"/>
              </a:rPr>
              <a:t>序列</a:t>
            </a:r>
            <a:endParaRPr lang="en-US" altLang="zh-CN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sym typeface="+mn-ea"/>
              </a:rPr>
              <a:t>数据通路电路＋各指令的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μ</a:t>
            </a:r>
            <a:r>
              <a:rPr lang="en-US" altLang="zh-CN" sz="2200" b="1" dirty="0" err="1">
                <a:latin typeface="+mn-ea"/>
                <a:sym typeface="+mn-ea"/>
              </a:rPr>
              <a:t>OPCmd</a:t>
            </a:r>
            <a:r>
              <a:rPr lang="zh-CN" altLang="en-US" sz="2200" b="1" dirty="0">
                <a:latin typeface="+mn-ea"/>
                <a:sym typeface="+mn-ea"/>
              </a:rPr>
              <a:t>序列</a:t>
            </a:r>
            <a:endParaRPr lang="zh-CN" altLang="en-US" sz="2200" b="1" dirty="0">
              <a:latin typeface="+mn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04210" y="4076700"/>
            <a:ext cx="5620385" cy="1045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000" b="1" dirty="0">
                <a:latin typeface="+mn-ea"/>
                <a:sym typeface="+mn-ea"/>
              </a:rPr>
              <a:t>基本操作</a:t>
            </a:r>
            <a:r>
              <a:rPr lang="en-US" altLang="zh-CN" b="1" dirty="0">
                <a:latin typeface="+mn-ea"/>
                <a:sym typeface="+mn-ea"/>
              </a:rPr>
              <a:t>(4</a:t>
            </a:r>
            <a:r>
              <a:rPr lang="zh-CN" altLang="en-US" b="1" dirty="0">
                <a:latin typeface="+mn-ea"/>
                <a:sym typeface="+mn-ea"/>
              </a:rPr>
              <a:t>种，REG间传送、存储器读、存储器写、算逻运算</a:t>
            </a:r>
            <a:r>
              <a:rPr lang="en-US" altLang="zh-CN" b="1" dirty="0">
                <a:latin typeface="+mn-ea"/>
                <a:sym typeface="+mn-ea"/>
              </a:rPr>
              <a:t>)</a:t>
            </a:r>
            <a:r>
              <a:rPr lang="en-US" altLang="zh-CN" sz="2200" b="1" dirty="0">
                <a:latin typeface="+mn-ea"/>
                <a:sym typeface="+mn-ea"/>
              </a:rPr>
              <a:t>+</a:t>
            </a:r>
            <a:r>
              <a:rPr lang="zh-CN" altLang="en-US" sz="2000" b="1" dirty="0">
                <a:latin typeface="+mn-ea"/>
                <a:sym typeface="+mn-ea"/>
              </a:rPr>
              <a:t>特殊操作</a:t>
            </a:r>
            <a:r>
              <a:rPr lang="en-US" altLang="zh-CN" b="1" dirty="0">
                <a:latin typeface="+mn-ea"/>
                <a:sym typeface="+mn-ea"/>
              </a:rPr>
              <a:t>(</a:t>
            </a:r>
            <a:r>
              <a:rPr lang="zh-CN" altLang="en-US" b="1" dirty="0">
                <a:latin typeface="+mn-ea"/>
                <a:sym typeface="+mn-ea"/>
              </a:rPr>
              <a:t>置</a:t>
            </a:r>
            <a:r>
              <a:rPr lang="en-US" altLang="zh-CN" b="1" dirty="0">
                <a:latin typeface="+mn-ea"/>
                <a:sym typeface="+mn-ea"/>
              </a:rPr>
              <a:t>0/1</a:t>
            </a:r>
            <a:r>
              <a:rPr lang="zh-CN" altLang="en-US" b="1" dirty="0">
                <a:latin typeface="+mn-ea"/>
                <a:sym typeface="+mn-ea"/>
              </a:rPr>
              <a:t>，PC增量、信号置位/复位等</a:t>
            </a:r>
            <a:r>
              <a:rPr lang="en-US" altLang="zh-CN" b="1" dirty="0">
                <a:latin typeface="+mn-ea"/>
                <a:sym typeface="+mn-ea"/>
              </a:rPr>
              <a:t>)</a:t>
            </a:r>
            <a:r>
              <a:rPr lang="zh-CN" altLang="en-US" b="1" dirty="0">
                <a:latin typeface="+mn-ea"/>
                <a:sym typeface="+mn-ea"/>
              </a:rPr>
              <a:t>，</a:t>
            </a:r>
            <a:r>
              <a:rPr lang="zh-CN" altLang="en-US" sz="2000" b="1" dirty="0">
                <a:latin typeface="+mn-ea"/>
                <a:sym typeface="+mn-ea"/>
              </a:rPr>
              <a:t>发送μOPCmd</a:t>
            </a:r>
            <a:endParaRPr lang="zh-CN" altLang="en-US" sz="2000" b="1" dirty="0">
              <a:latin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bldLvl="0" animBg="1"/>
      <p:bldP spid="128" grpId="0" bldLvl="0" animBg="1"/>
      <p:bldP spid="1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Box 191"/>
          <p:cNvSpPr txBox="1">
            <a:spLocks noChangeArrowheads="1"/>
          </p:cNvSpPr>
          <p:nvPr/>
        </p:nvSpPr>
        <p:spPr bwMode="auto">
          <a:xfrm>
            <a:off x="179512" y="404664"/>
            <a:ext cx="8640960" cy="603581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*控制器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(CU)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的组成：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</a:rPr>
              <a:t>目标是</a:t>
            </a:r>
            <a:r>
              <a:rPr lang="zh-CN" altLang="en-US" b="1" u="sng" dirty="0">
                <a:solidFill>
                  <a:srgbClr val="FF3399"/>
                </a:solidFill>
                <a:latin typeface="+mn-ea"/>
              </a:rPr>
              <a:t>产生</a:t>
            </a:r>
            <a:r>
              <a:rPr lang="en-US" altLang="zh-CN" b="1" dirty="0">
                <a:latin typeface="+mn-ea"/>
              </a:rPr>
              <a:t>CPU</a:t>
            </a:r>
            <a:r>
              <a:rPr lang="zh-CN" altLang="en-US" b="1" dirty="0">
                <a:latin typeface="+mn-ea"/>
              </a:rPr>
              <a:t>工作流程所需的</a:t>
            </a:r>
            <a:r>
              <a:rPr lang="en-US" altLang="zh-CN" u="sng" dirty="0" err="1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b="1" u="sng" dirty="0" err="1">
                <a:solidFill>
                  <a:srgbClr val="FF3399"/>
                </a:solidFill>
                <a:latin typeface="+mn-ea"/>
              </a:rPr>
              <a:t>OPCmd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defRPr/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时序系统的组织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</a:rPr>
              <a:t>以硬布线</a:t>
            </a:r>
            <a:r>
              <a:rPr lang="en-US" altLang="zh-CN" b="1" dirty="0">
                <a:latin typeface="+mn-ea"/>
              </a:rPr>
              <a:t>CU</a:t>
            </a:r>
            <a:r>
              <a:rPr lang="zh-CN" altLang="en-US" b="1" dirty="0">
                <a:latin typeface="+mn-ea"/>
              </a:rPr>
              <a:t>为例，</a:t>
            </a:r>
            <a:r>
              <a:rPr lang="en-US" altLang="zh-CN" b="1" dirty="0">
                <a:latin typeface="+mn-ea"/>
                <a:ea typeface="+mn-ea"/>
              </a:rPr>
              <a:t>2</a:t>
            </a:r>
            <a:r>
              <a:rPr lang="zh-CN" altLang="en-US" b="1" dirty="0">
                <a:latin typeface="+mn-ea"/>
                <a:ea typeface="+mn-ea"/>
              </a:rPr>
              <a:t>级时序信号</a:t>
            </a:r>
            <a:r>
              <a:rPr lang="en-US" altLang="zh-CN" b="1" dirty="0">
                <a:latin typeface="+mn-ea"/>
                <a:ea typeface="+mn-ea"/>
              </a:rPr>
              <a:t>) 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</a:rPr>
              <a:t>       </a:t>
            </a:r>
            <a:r>
              <a:rPr lang="zh-CN" altLang="en-US" sz="2200" b="1" spc="-80" dirty="0">
                <a:latin typeface="+mn-ea"/>
              </a:rPr>
              <a:t>确定每级时序信号的个数</a:t>
            </a:r>
            <a:r>
              <a:rPr lang="en-US" altLang="zh-CN" sz="2200" b="1" spc="-80" dirty="0">
                <a:latin typeface="+mn-ea"/>
              </a:rPr>
              <a:t>/</a:t>
            </a:r>
            <a:r>
              <a:rPr lang="zh-CN" altLang="en-US" sz="2200" b="1" spc="-80" dirty="0">
                <a:latin typeface="+mn-ea"/>
              </a:rPr>
              <a:t>定时方式、信号序列组成</a:t>
            </a:r>
            <a:r>
              <a:rPr lang="en-US" altLang="zh-CN" b="1" spc="-80" dirty="0">
                <a:latin typeface="+mn-ea"/>
              </a:rPr>
              <a:t>(</a:t>
            </a:r>
            <a:r>
              <a:rPr lang="zh-CN" altLang="en-US" b="1" spc="-80" dirty="0">
                <a:latin typeface="+mn-ea"/>
              </a:rPr>
              <a:t>≥</a:t>
            </a:r>
            <a:r>
              <a:rPr lang="en-US" altLang="zh-CN" b="1" spc="-80" dirty="0">
                <a:latin typeface="+mn-ea"/>
              </a:rPr>
              <a:t>1</a:t>
            </a:r>
            <a:r>
              <a:rPr lang="zh-CN" altLang="en-US" b="1" spc="-80" dirty="0">
                <a:latin typeface="+mn-ea"/>
              </a:rPr>
              <a:t>种</a:t>
            </a:r>
            <a:r>
              <a:rPr lang="en-US" altLang="zh-CN" b="1" spc="-80" dirty="0">
                <a:latin typeface="+mn-ea"/>
              </a:rPr>
              <a:t>)</a:t>
            </a:r>
            <a:endParaRPr lang="en-US" altLang="zh-CN" sz="2200" b="1" spc="-80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时序信号形成电路的组成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990099"/>
                </a:solidFill>
                <a:latin typeface="+mn-ea"/>
              </a:rPr>
              <a:t>      定序逻辑：</a:t>
            </a:r>
            <a:r>
              <a:rPr lang="zh-CN" altLang="en-US" sz="2200" b="1" dirty="0">
                <a:latin typeface="+mn-ea"/>
              </a:rPr>
              <a:t>信号发生器</a:t>
            </a:r>
            <a:r>
              <a:rPr lang="en-US" altLang="zh-CN" sz="2200" b="1" dirty="0">
                <a:latin typeface="+mn-ea"/>
              </a:rPr>
              <a:t>/</a:t>
            </a:r>
            <a:r>
              <a:rPr lang="zh-CN" altLang="en-US" sz="2200" b="1" u="sng" dirty="0">
                <a:latin typeface="+mn-ea"/>
              </a:rPr>
              <a:t>门电路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</a:rPr>
              <a:t>定时逻辑：</a:t>
            </a:r>
            <a:r>
              <a:rPr lang="zh-CN" altLang="en-US" sz="2200" b="1" dirty="0">
                <a:latin typeface="+mn-ea"/>
              </a:rPr>
              <a:t>同步</a:t>
            </a:r>
            <a:r>
              <a:rPr lang="en-US" altLang="zh-CN" sz="2200" b="1" dirty="0">
                <a:latin typeface="+mn-ea"/>
              </a:rPr>
              <a:t>/</a:t>
            </a:r>
            <a:r>
              <a:rPr lang="zh-CN" altLang="en-US" sz="2200" b="1" dirty="0">
                <a:latin typeface="+mn-ea"/>
              </a:rPr>
              <a:t>异步</a:t>
            </a:r>
            <a:r>
              <a:rPr lang="en-US" altLang="zh-CN" sz="2200" b="1" dirty="0">
                <a:latin typeface="+mn-ea"/>
              </a:rPr>
              <a:t>/</a:t>
            </a:r>
            <a:r>
              <a:rPr lang="zh-CN" altLang="en-US" sz="2200" b="1" dirty="0">
                <a:latin typeface="+mn-ea"/>
              </a:rPr>
              <a:t>联合</a:t>
            </a:r>
            <a:endParaRPr lang="en-US" altLang="zh-CN" sz="2200" b="1" u="sng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</a:rPr>
              <a:t> </a:t>
            </a:r>
            <a:r>
              <a:rPr lang="en-US" altLang="zh-CN" sz="220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solidFill>
                  <a:srgbClr val="3333FF"/>
                </a:solidFill>
                <a:latin typeface="+mn-ea"/>
              </a:rPr>
              <a:t>OP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</a:rPr>
              <a:t>控制信号形成电路的组成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+mn-ea"/>
              </a:rPr>
              <a:t>       组合逻辑电路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实现状态装换图</a:t>
            </a:r>
            <a:r>
              <a:rPr lang="en-US" altLang="zh-CN" b="1" dirty="0">
                <a:latin typeface="+mn-ea"/>
              </a:rPr>
              <a:t>)</a:t>
            </a:r>
            <a:r>
              <a:rPr lang="zh-CN" altLang="en-US" sz="2200" b="1" dirty="0">
                <a:latin typeface="+mn-ea"/>
              </a:rPr>
              <a:t>，输入信号有</a:t>
            </a:r>
            <a:r>
              <a:rPr lang="en-US" altLang="zh-CN" sz="2200" b="1" dirty="0">
                <a:latin typeface="+mn-ea"/>
              </a:rPr>
              <a:t>4</a:t>
            </a:r>
            <a:r>
              <a:rPr lang="zh-CN" altLang="en-US" sz="2200" b="1" dirty="0">
                <a:latin typeface="+mn-ea"/>
              </a:rPr>
              <a:t>种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见图</a:t>
            </a:r>
            <a:r>
              <a:rPr lang="en-US" altLang="zh-CN" b="1" dirty="0">
                <a:latin typeface="+mn-ea"/>
              </a:rPr>
              <a:t>)</a:t>
            </a:r>
            <a:endParaRPr lang="en-US" altLang="zh-CN" b="1" dirty="0">
              <a:latin typeface="+mn-ea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76" name="AutoShape 32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87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9" name="组合 78"/>
          <p:cNvGrpSpPr/>
          <p:nvPr/>
        </p:nvGrpSpPr>
        <p:grpSpPr>
          <a:xfrm>
            <a:off x="5220072" y="4365104"/>
            <a:ext cx="3600399" cy="1296144"/>
            <a:chOff x="1259633" y="1844824"/>
            <a:chExt cx="3600399" cy="1296144"/>
          </a:xfrm>
        </p:grpSpPr>
        <p:sp>
          <p:nvSpPr>
            <p:cNvPr id="80" name="矩形 79"/>
            <p:cNvSpPr/>
            <p:nvPr/>
          </p:nvSpPr>
          <p:spPr>
            <a:xfrm>
              <a:off x="1835696" y="1844824"/>
              <a:ext cx="2309726" cy="1224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1" name="矩形 80"/>
            <p:cNvSpPr/>
            <p:nvPr/>
          </p:nvSpPr>
          <p:spPr>
            <a:xfrm>
              <a:off x="3281325" y="2564904"/>
              <a:ext cx="792087" cy="43204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2" name="Text Box 237"/>
            <p:cNvSpPr txBox="1">
              <a:spLocks noChangeArrowheads="1"/>
            </p:cNvSpPr>
            <p:nvPr/>
          </p:nvSpPr>
          <p:spPr bwMode="auto">
            <a:xfrm>
              <a:off x="3059831" y="1916832"/>
              <a:ext cx="1012427" cy="57606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环形信号发生器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3" name="Text Box 248"/>
            <p:cNvSpPr txBox="1">
              <a:spLocks noChangeArrowheads="1"/>
            </p:cNvSpPr>
            <p:nvPr/>
          </p:nvSpPr>
          <p:spPr bwMode="auto">
            <a:xfrm rot="16200000">
              <a:off x="4109071" y="2097199"/>
              <a:ext cx="288032" cy="21533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…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4" name="Text Box 252"/>
            <p:cNvSpPr txBox="1">
              <a:spLocks noChangeArrowheads="1"/>
            </p:cNvSpPr>
            <p:nvPr/>
          </p:nvSpPr>
          <p:spPr bwMode="auto">
            <a:xfrm>
              <a:off x="4365095" y="1930026"/>
              <a:ext cx="494937" cy="70735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10800" anchor="t" anchorCtr="0"/>
            <a:lstStyle/>
            <a:p>
              <a:pPr algn="l"/>
              <a:r>
                <a:rPr lang="en-US" altLang="zh-CN" sz="1800" b="1" dirty="0">
                  <a:solidFill>
                    <a:srgbClr val="3333FF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b="1" baseline="-14000" dirty="0">
                  <a:solidFill>
                    <a:srgbClr val="3333FF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1800" b="1" dirty="0">
                  <a:solidFill>
                    <a:srgbClr val="3333FF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="1" dirty="0">
                <a:solidFill>
                  <a:srgbClr val="3333FF"/>
                </a:solidFill>
                <a:latin typeface="宋体" panose="02010600030101010101" pitchFamily="2" charset="-122"/>
              </a:endParaRPr>
            </a:p>
            <a:p>
              <a:pPr algn="l">
                <a:spcBef>
                  <a:spcPts val="300"/>
                </a:spcBef>
              </a:pPr>
              <a:r>
                <a:rPr lang="en-US" altLang="zh-CN" sz="1800" b="1" dirty="0">
                  <a:solidFill>
                    <a:srgbClr val="3333FF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b="1" i="1" baseline="-14000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14000" dirty="0">
                  <a:solidFill>
                    <a:srgbClr val="3333FF"/>
                  </a:solidFill>
                  <a:latin typeface="+mn-ea"/>
                  <a:ea typeface="+mn-ea"/>
                </a:rPr>
                <a:t>-1</a:t>
              </a:r>
              <a:endParaRPr lang="en-US" altLang="zh-CN" b="1" baseline="-14000" dirty="0">
                <a:solidFill>
                  <a:srgbClr val="3333FF"/>
                </a:solidFill>
                <a:latin typeface="+mn-ea"/>
                <a:ea typeface="+mn-ea"/>
              </a:endParaRPr>
            </a:p>
          </p:txBody>
        </p:sp>
        <p:sp>
          <p:nvSpPr>
            <p:cNvPr id="85" name="Text Box 253"/>
            <p:cNvSpPr txBox="1">
              <a:spLocks noChangeArrowheads="1"/>
            </p:cNvSpPr>
            <p:nvPr/>
          </p:nvSpPr>
          <p:spPr bwMode="auto">
            <a:xfrm>
              <a:off x="4382737" y="2493367"/>
              <a:ext cx="291408" cy="50358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10800" anchor="t" anchorCtr="0"/>
            <a:lstStyle/>
            <a:p>
              <a:pPr algn="l"/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P</a:t>
              </a:r>
              <a:r>
                <a:rPr lang="en-US" altLang="zh-CN" sz="1800" b="1" baseline="-14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P</a:t>
              </a:r>
              <a:r>
                <a:rPr lang="en-US" altLang="zh-CN" sz="1800" b="1" baseline="-14000" dirty="0">
                  <a:solidFill>
                    <a:srgbClr val="990099"/>
                  </a:solidFill>
                  <a:latin typeface="+mn-ea"/>
                  <a:ea typeface="+mn-ea"/>
                </a:rPr>
                <a:t>1</a:t>
              </a:r>
              <a:endParaRPr lang="en-US" altLang="zh-CN" sz="1800" b="1" baseline="-14000" dirty="0">
                <a:solidFill>
                  <a:srgbClr val="990099"/>
                </a:solidFill>
                <a:latin typeface="+mn-ea"/>
                <a:ea typeface="+mn-ea"/>
              </a:endParaRPr>
            </a:p>
          </p:txBody>
        </p:sp>
        <p:sp>
          <p:nvSpPr>
            <p:cNvPr id="86" name="Text Box 238"/>
            <p:cNvSpPr txBox="1">
              <a:spLocks noChangeArrowheads="1"/>
            </p:cNvSpPr>
            <p:nvPr/>
          </p:nvSpPr>
          <p:spPr bwMode="auto">
            <a:xfrm>
              <a:off x="1979711" y="2204863"/>
              <a:ext cx="504055" cy="57606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定时逻辑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 bwMode="auto">
            <a:xfrm>
              <a:off x="1259633" y="2384883"/>
              <a:ext cx="720079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8" name="直接箭头连接符 87"/>
            <p:cNvCxnSpPr/>
            <p:nvPr/>
          </p:nvCxnSpPr>
          <p:spPr bwMode="auto">
            <a:xfrm flipV="1">
              <a:off x="3929397" y="2851978"/>
              <a:ext cx="431355" cy="95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9" name="直接箭头连接符 88"/>
            <p:cNvCxnSpPr/>
            <p:nvPr/>
          </p:nvCxnSpPr>
          <p:spPr bwMode="auto">
            <a:xfrm>
              <a:off x="2483767" y="2384883"/>
              <a:ext cx="57606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0" name="直接箭头连接符 89"/>
            <p:cNvCxnSpPr/>
            <p:nvPr/>
          </p:nvCxnSpPr>
          <p:spPr bwMode="auto">
            <a:xfrm>
              <a:off x="1259633" y="2096852"/>
              <a:ext cx="1800199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1" name="Text Box 260"/>
            <p:cNvSpPr txBox="1">
              <a:spLocks noChangeArrowheads="1"/>
            </p:cNvSpPr>
            <p:nvPr/>
          </p:nvSpPr>
          <p:spPr bwMode="auto">
            <a:xfrm>
              <a:off x="3648988" y="2708920"/>
              <a:ext cx="209992" cy="25202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dirty="0">
                  <a:latin typeface="宋体" panose="02010600030101010101" pitchFamily="2" charset="-122"/>
                </a:rPr>
                <a:t>1</a:t>
              </a:r>
              <a:endParaRPr lang="en-US" altLang="zh-CN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2" name="直接箭头连接符 64"/>
            <p:cNvCxnSpPr/>
            <p:nvPr/>
          </p:nvCxnSpPr>
          <p:spPr bwMode="auto">
            <a:xfrm>
              <a:off x="2771453" y="2384883"/>
              <a:ext cx="1589994" cy="252031"/>
            </a:xfrm>
            <a:prstGeom prst="bentConnector3">
              <a:avLst>
                <a:gd name="adj1" fmla="val -505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93" name="椭圆 92"/>
            <p:cNvSpPr/>
            <p:nvPr/>
          </p:nvSpPr>
          <p:spPr bwMode="auto">
            <a:xfrm>
              <a:off x="3858980" y="2823626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94" name="直接箭头连接符 64"/>
            <p:cNvCxnSpPr>
              <a:endCxn id="91" idx="1"/>
            </p:cNvCxnSpPr>
            <p:nvPr/>
          </p:nvCxnSpPr>
          <p:spPr bwMode="auto">
            <a:xfrm rot="16200000" flipH="1">
              <a:off x="3471661" y="2657605"/>
              <a:ext cx="197549" cy="157106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95" name="直接箭头连接符 94"/>
            <p:cNvCxnSpPr/>
            <p:nvPr/>
          </p:nvCxnSpPr>
          <p:spPr bwMode="auto">
            <a:xfrm>
              <a:off x="4072260" y="2060847"/>
              <a:ext cx="28918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6" name="直接箭头连接符 95"/>
            <p:cNvCxnSpPr/>
            <p:nvPr/>
          </p:nvCxnSpPr>
          <p:spPr bwMode="auto">
            <a:xfrm>
              <a:off x="4073413" y="2403302"/>
              <a:ext cx="28918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7" name="Text Box 320"/>
            <p:cNvSpPr txBox="1">
              <a:spLocks noChangeArrowheads="1"/>
            </p:cNvSpPr>
            <p:nvPr/>
          </p:nvSpPr>
          <p:spPr bwMode="auto">
            <a:xfrm>
              <a:off x="1403065" y="2132855"/>
              <a:ext cx="432049" cy="2185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CLK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8" name="Text Box 320"/>
            <p:cNvSpPr txBox="1">
              <a:spLocks noChangeArrowheads="1"/>
            </p:cNvSpPr>
            <p:nvPr/>
          </p:nvSpPr>
          <p:spPr bwMode="auto">
            <a:xfrm>
              <a:off x="2693726" y="2132855"/>
              <a:ext cx="288629" cy="2185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CP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9" name="Text Box 320"/>
            <p:cNvSpPr txBox="1">
              <a:spLocks noChangeArrowheads="1"/>
            </p:cNvSpPr>
            <p:nvPr/>
          </p:nvSpPr>
          <p:spPr bwMode="auto">
            <a:xfrm>
              <a:off x="1259633" y="1844824"/>
              <a:ext cx="576063" cy="2185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err="1">
                  <a:latin typeface="宋体" panose="02010600030101010101" pitchFamily="2" charset="-122"/>
                </a:rPr>
                <a:t>ClrN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00" name="直接箭头连接符 99"/>
            <p:cNvCxnSpPr/>
            <p:nvPr/>
          </p:nvCxnSpPr>
          <p:spPr bwMode="auto">
            <a:xfrm flipV="1">
              <a:off x="2123728" y="2780929"/>
              <a:ext cx="0" cy="36003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1" name="直接箭头连接符 100"/>
            <p:cNvCxnSpPr/>
            <p:nvPr/>
          </p:nvCxnSpPr>
          <p:spPr bwMode="auto">
            <a:xfrm flipV="1">
              <a:off x="2339752" y="2780927"/>
              <a:ext cx="0" cy="36004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2" name="直接箭头连接符 101"/>
            <p:cNvCxnSpPr/>
            <p:nvPr/>
          </p:nvCxnSpPr>
          <p:spPr bwMode="auto">
            <a:xfrm flipV="1">
              <a:off x="3137309" y="2492896"/>
              <a:ext cx="0" cy="64807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3" name="直接连接符 102"/>
            <p:cNvCxnSpPr/>
            <p:nvPr/>
          </p:nvCxnSpPr>
          <p:spPr bwMode="auto">
            <a:xfrm>
              <a:off x="2622315" y="1844824"/>
              <a:ext cx="0" cy="12241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" name="组合 3"/>
          <p:cNvGrpSpPr/>
          <p:nvPr/>
        </p:nvGrpSpPr>
        <p:grpSpPr>
          <a:xfrm>
            <a:off x="1187624" y="908720"/>
            <a:ext cx="7632848" cy="1943521"/>
            <a:chOff x="1187624" y="908720"/>
            <a:chExt cx="7632848" cy="1943521"/>
          </a:xfrm>
        </p:grpSpPr>
        <p:sp>
          <p:nvSpPr>
            <p:cNvPr id="105" name="Rectangle 274"/>
            <p:cNvSpPr>
              <a:spLocks noChangeArrowheads="1"/>
            </p:cNvSpPr>
            <p:nvPr/>
          </p:nvSpPr>
          <p:spPr bwMode="auto">
            <a:xfrm>
              <a:off x="3347864" y="1060103"/>
              <a:ext cx="3024336" cy="12241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Rectangle 274"/>
            <p:cNvSpPr>
              <a:spLocks noChangeArrowheads="1"/>
            </p:cNvSpPr>
            <p:nvPr/>
          </p:nvSpPr>
          <p:spPr bwMode="auto">
            <a:xfrm>
              <a:off x="1187624" y="1059408"/>
              <a:ext cx="1155068" cy="1006859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Text Box 227"/>
            <p:cNvSpPr txBox="1">
              <a:spLocks noChangeArrowheads="1"/>
            </p:cNvSpPr>
            <p:nvPr/>
          </p:nvSpPr>
          <p:spPr bwMode="auto">
            <a:xfrm>
              <a:off x="7344816" y="1124744"/>
              <a:ext cx="360040" cy="115212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中断机构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8" name="Text Box 254"/>
            <p:cNvSpPr txBox="1">
              <a:spLocks noChangeArrowheads="1"/>
            </p:cNvSpPr>
            <p:nvPr/>
          </p:nvSpPr>
          <p:spPr bwMode="auto">
            <a:xfrm>
              <a:off x="1334580" y="1130511"/>
              <a:ext cx="866576" cy="2889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PC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9" name="Text Box 255"/>
            <p:cNvSpPr txBox="1">
              <a:spLocks noChangeArrowheads="1"/>
            </p:cNvSpPr>
            <p:nvPr/>
          </p:nvSpPr>
          <p:spPr bwMode="auto">
            <a:xfrm>
              <a:off x="1336166" y="1707270"/>
              <a:ext cx="864989" cy="2873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256"/>
            <p:cNvSpPr txBox="1">
              <a:spLocks noChangeArrowheads="1"/>
            </p:cNvSpPr>
            <p:nvPr/>
          </p:nvSpPr>
          <p:spPr bwMode="auto">
            <a:xfrm>
              <a:off x="3493393" y="1636663"/>
              <a:ext cx="286519" cy="43239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1" name="Text Box 257"/>
            <p:cNvSpPr txBox="1">
              <a:spLocks noChangeArrowheads="1"/>
            </p:cNvSpPr>
            <p:nvPr/>
          </p:nvSpPr>
          <p:spPr bwMode="auto">
            <a:xfrm>
              <a:off x="4211736" y="1131416"/>
              <a:ext cx="1944440" cy="28892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时序信号形成电路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2" name="Text Box 258"/>
            <p:cNvSpPr txBox="1">
              <a:spLocks noChangeArrowheads="1"/>
            </p:cNvSpPr>
            <p:nvPr/>
          </p:nvSpPr>
          <p:spPr bwMode="auto">
            <a:xfrm>
              <a:off x="4283968" y="1629495"/>
              <a:ext cx="1368896" cy="582736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μ</a:t>
              </a:r>
              <a:r>
                <a:rPr lang="en-US" altLang="zh-CN" sz="18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控制信号形成电路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3" name="Text Box 271"/>
            <p:cNvSpPr txBox="1">
              <a:spLocks noChangeArrowheads="1"/>
            </p:cNvSpPr>
            <p:nvPr/>
          </p:nvSpPr>
          <p:spPr bwMode="auto">
            <a:xfrm>
              <a:off x="4644008" y="2284239"/>
              <a:ext cx="576064" cy="1446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</a:rPr>
                <a:t>……</a:t>
              </a:r>
              <a:endParaRPr lang="en-US" altLang="zh-CN" sz="1800" b="1" dirty="0">
                <a:solidFill>
                  <a:srgbClr val="FF3399"/>
                </a:solidFill>
              </a:endParaRPr>
            </a:p>
          </p:txBody>
        </p:sp>
        <p:sp>
          <p:nvSpPr>
            <p:cNvPr id="114" name="Text Box 392"/>
            <p:cNvSpPr txBox="1">
              <a:spLocks noChangeArrowheads="1"/>
            </p:cNvSpPr>
            <p:nvPr/>
          </p:nvSpPr>
          <p:spPr bwMode="auto">
            <a:xfrm>
              <a:off x="3426737" y="1162544"/>
              <a:ext cx="288032" cy="20935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5" name="直接箭头连接符 114"/>
            <p:cNvCxnSpPr/>
            <p:nvPr/>
          </p:nvCxnSpPr>
          <p:spPr bwMode="auto">
            <a:xfrm>
              <a:off x="3779912" y="1707477"/>
              <a:ext cx="504056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6" name="直接箭头连接符 115"/>
            <p:cNvCxnSpPr/>
            <p:nvPr/>
          </p:nvCxnSpPr>
          <p:spPr bwMode="auto">
            <a:xfrm>
              <a:off x="3779912" y="1995512"/>
              <a:ext cx="505569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2" name="Text Box 271"/>
            <p:cNvSpPr txBox="1">
              <a:spLocks noChangeArrowheads="1"/>
            </p:cNvSpPr>
            <p:nvPr/>
          </p:nvSpPr>
          <p:spPr bwMode="auto">
            <a:xfrm rot="16200000">
              <a:off x="3703849" y="1775867"/>
              <a:ext cx="296898" cy="14477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CC3300"/>
                  </a:solidFill>
                </a:rPr>
                <a:t>…</a:t>
              </a:r>
              <a:endParaRPr lang="en-US" altLang="zh-CN" sz="1800" b="1" dirty="0">
                <a:solidFill>
                  <a:srgbClr val="CC3300"/>
                </a:solidFill>
              </a:endParaRPr>
            </a:p>
          </p:txBody>
        </p:sp>
        <p:cxnSp>
          <p:nvCxnSpPr>
            <p:cNvPr id="143" name="直接箭头连接符 117"/>
            <p:cNvCxnSpPr>
              <a:stCxn id="171" idx="0"/>
            </p:cNvCxnSpPr>
            <p:nvPr/>
          </p:nvCxnSpPr>
          <p:spPr bwMode="auto">
            <a:xfrm rot="5400000" flipH="1" flipV="1">
              <a:off x="3171431" y="1452367"/>
              <a:ext cx="424428" cy="1800646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4" name="直接箭头连接符 143"/>
            <p:cNvCxnSpPr/>
            <p:nvPr/>
          </p:nvCxnSpPr>
          <p:spPr bwMode="auto">
            <a:xfrm>
              <a:off x="5148064" y="1429196"/>
              <a:ext cx="0" cy="20885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5" name="直接箭头连接符 144"/>
            <p:cNvCxnSpPr/>
            <p:nvPr/>
          </p:nvCxnSpPr>
          <p:spPr bwMode="auto">
            <a:xfrm>
              <a:off x="4716016" y="1420639"/>
              <a:ext cx="0" cy="20885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6" name="Text Box 271"/>
            <p:cNvSpPr txBox="1">
              <a:spLocks noChangeArrowheads="1"/>
            </p:cNvSpPr>
            <p:nvPr/>
          </p:nvSpPr>
          <p:spPr bwMode="auto">
            <a:xfrm>
              <a:off x="4788024" y="1427493"/>
              <a:ext cx="296898" cy="14477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  <p:cxnSp>
          <p:nvCxnSpPr>
            <p:cNvPr id="147" name="直接箭头连接符 146"/>
            <p:cNvCxnSpPr>
              <a:endCxn id="112" idx="3"/>
            </p:cNvCxnSpPr>
            <p:nvPr/>
          </p:nvCxnSpPr>
          <p:spPr bwMode="auto">
            <a:xfrm flipH="1">
              <a:off x="5652864" y="1920863"/>
              <a:ext cx="169195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8" name="直接箭头连接符 147"/>
            <p:cNvCxnSpPr/>
            <p:nvPr/>
          </p:nvCxnSpPr>
          <p:spPr bwMode="auto">
            <a:xfrm>
              <a:off x="2201156" y="1842913"/>
              <a:ext cx="1292237" cy="1911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9" name="直接箭头连接符 148"/>
            <p:cNvCxnSpPr/>
            <p:nvPr/>
          </p:nvCxnSpPr>
          <p:spPr bwMode="auto">
            <a:xfrm>
              <a:off x="5292080" y="2212231"/>
              <a:ext cx="0" cy="35267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50" name="直接箭头连接符 149"/>
            <p:cNvCxnSpPr/>
            <p:nvPr/>
          </p:nvCxnSpPr>
          <p:spPr bwMode="auto">
            <a:xfrm flipH="1">
              <a:off x="4568610" y="2212231"/>
              <a:ext cx="3390" cy="35267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51" name="Text Box 392"/>
            <p:cNvSpPr txBox="1">
              <a:spLocks noChangeArrowheads="1"/>
            </p:cNvSpPr>
            <p:nvPr/>
          </p:nvSpPr>
          <p:spPr bwMode="auto">
            <a:xfrm>
              <a:off x="1262572" y="1418542"/>
              <a:ext cx="1006526" cy="2803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指令部件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2" name="直接箭头连接符 173"/>
            <p:cNvCxnSpPr/>
            <p:nvPr/>
          </p:nvCxnSpPr>
          <p:spPr bwMode="auto">
            <a:xfrm flipH="1" flipV="1">
              <a:off x="7521388" y="2276873"/>
              <a:ext cx="3448" cy="28803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3" name="直接箭头连接符 152"/>
            <p:cNvCxnSpPr/>
            <p:nvPr/>
          </p:nvCxnSpPr>
          <p:spPr bwMode="auto">
            <a:xfrm flipH="1">
              <a:off x="7704856" y="1556792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4" name="直接箭头连接符 153"/>
            <p:cNvCxnSpPr/>
            <p:nvPr/>
          </p:nvCxnSpPr>
          <p:spPr bwMode="auto">
            <a:xfrm>
              <a:off x="7704856" y="1772816"/>
              <a:ext cx="216024" cy="45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5" name="Text Box 392"/>
            <p:cNvSpPr txBox="1">
              <a:spLocks noChangeArrowheads="1"/>
            </p:cNvSpPr>
            <p:nvPr/>
          </p:nvSpPr>
          <p:spPr bwMode="auto">
            <a:xfrm>
              <a:off x="7920880" y="1412776"/>
              <a:ext cx="899592" cy="50081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中断请求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中断响应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6" name="直接箭头连接符 117"/>
            <p:cNvCxnSpPr/>
            <p:nvPr/>
          </p:nvCxnSpPr>
          <p:spPr bwMode="auto">
            <a:xfrm rot="5400000" flipH="1" flipV="1">
              <a:off x="3809670" y="1305414"/>
              <a:ext cx="516324" cy="287808"/>
            </a:xfrm>
            <a:prstGeom prst="bentConnector3">
              <a:avLst>
                <a:gd name="adj1" fmla="val 100351"/>
              </a:avLst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57" name="直接箭头连接符 117"/>
            <p:cNvCxnSpPr/>
            <p:nvPr/>
          </p:nvCxnSpPr>
          <p:spPr bwMode="auto">
            <a:xfrm rot="5400000" flipH="1" flipV="1">
              <a:off x="3797802" y="1581578"/>
              <a:ext cx="648072" cy="179796"/>
            </a:xfrm>
            <a:prstGeom prst="bentConnector3">
              <a:avLst>
                <a:gd name="adj1" fmla="val 99798"/>
              </a:avLst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158" name="Text Box 392"/>
            <p:cNvSpPr txBox="1">
              <a:spLocks noChangeArrowheads="1"/>
            </p:cNvSpPr>
            <p:nvPr/>
          </p:nvSpPr>
          <p:spPr bwMode="auto">
            <a:xfrm>
              <a:off x="2411760" y="1908264"/>
              <a:ext cx="933164" cy="20935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程序状态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9" name="直接箭头连接符 123"/>
            <p:cNvCxnSpPr/>
            <p:nvPr/>
          </p:nvCxnSpPr>
          <p:spPr bwMode="auto">
            <a:xfrm>
              <a:off x="5436096" y="2212231"/>
              <a:ext cx="1077180" cy="216644"/>
            </a:xfrm>
            <a:prstGeom prst="bentConnector3">
              <a:avLst>
                <a:gd name="adj1" fmla="val -461"/>
              </a:avLst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0" name="直接箭头连接符 124"/>
            <p:cNvCxnSpPr/>
            <p:nvPr/>
          </p:nvCxnSpPr>
          <p:spPr bwMode="auto">
            <a:xfrm>
              <a:off x="5580434" y="2212231"/>
              <a:ext cx="216024" cy="144016"/>
            </a:xfrm>
            <a:prstGeom prst="bentConnector3">
              <a:avLst>
                <a:gd name="adj1" fmla="val -1873"/>
              </a:avLst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1" name="直接箭头连接符 160"/>
            <p:cNvCxnSpPr/>
            <p:nvPr/>
          </p:nvCxnSpPr>
          <p:spPr bwMode="auto">
            <a:xfrm flipH="1" flipV="1">
              <a:off x="5796136" y="1420341"/>
              <a:ext cx="322" cy="93590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62" name="直接箭头连接符 117"/>
            <p:cNvCxnSpPr/>
            <p:nvPr/>
          </p:nvCxnSpPr>
          <p:spPr bwMode="auto">
            <a:xfrm rot="16200000" flipV="1">
              <a:off x="5886661" y="1512280"/>
              <a:ext cx="678099" cy="139068"/>
            </a:xfrm>
            <a:prstGeom prst="bentConnector3">
              <a:avLst>
                <a:gd name="adj1" fmla="val 100568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63" name="直接箭头连接符 173"/>
            <p:cNvCxnSpPr/>
            <p:nvPr/>
          </p:nvCxnSpPr>
          <p:spPr bwMode="auto">
            <a:xfrm>
              <a:off x="5072450" y="908720"/>
              <a:ext cx="0" cy="22269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64" name="Text Box 392"/>
            <p:cNvSpPr txBox="1">
              <a:spLocks noChangeArrowheads="1"/>
            </p:cNvSpPr>
            <p:nvPr/>
          </p:nvSpPr>
          <p:spPr bwMode="auto">
            <a:xfrm>
              <a:off x="6445108" y="1707480"/>
              <a:ext cx="863196" cy="20935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机器状态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5" name="直接箭头连接符 164"/>
            <p:cNvCxnSpPr/>
            <p:nvPr/>
          </p:nvCxnSpPr>
          <p:spPr bwMode="auto">
            <a:xfrm flipV="1">
              <a:off x="6513276" y="2068218"/>
              <a:ext cx="828600" cy="356701"/>
            </a:xfrm>
            <a:prstGeom prst="bentConnector3">
              <a:avLst>
                <a:gd name="adj1" fmla="val -886"/>
              </a:avLst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66" name="Text Box 392"/>
            <p:cNvSpPr txBox="1">
              <a:spLocks noChangeArrowheads="1"/>
            </p:cNvSpPr>
            <p:nvPr/>
          </p:nvSpPr>
          <p:spPr bwMode="auto">
            <a:xfrm>
              <a:off x="2411760" y="938052"/>
              <a:ext cx="863196" cy="18669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操作状态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7" name="Text Box 392"/>
            <p:cNvSpPr txBox="1">
              <a:spLocks noChangeArrowheads="1"/>
            </p:cNvSpPr>
            <p:nvPr/>
          </p:nvSpPr>
          <p:spPr bwMode="auto">
            <a:xfrm>
              <a:off x="6585284" y="2276872"/>
              <a:ext cx="939552" cy="28136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异常请求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8" name="Text Box 392"/>
            <p:cNvSpPr txBox="1">
              <a:spLocks noChangeArrowheads="1"/>
            </p:cNvSpPr>
            <p:nvPr/>
          </p:nvSpPr>
          <p:spPr bwMode="auto">
            <a:xfrm>
              <a:off x="2733258" y="2325072"/>
              <a:ext cx="1835802" cy="20935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所有的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控制信号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9" name="Text Box 255"/>
            <p:cNvSpPr txBox="1">
              <a:spLocks noChangeArrowheads="1"/>
            </p:cNvSpPr>
            <p:nvPr/>
          </p:nvSpPr>
          <p:spPr bwMode="auto">
            <a:xfrm>
              <a:off x="1906796" y="2564904"/>
              <a:ext cx="5798060" cy="28733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数据通路等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70" name="直接箭头连接符 117"/>
            <p:cNvCxnSpPr>
              <a:stCxn id="169" idx="1"/>
            </p:cNvCxnSpPr>
            <p:nvPr/>
          </p:nvCxnSpPr>
          <p:spPr bwMode="auto">
            <a:xfrm rot="10800000" flipH="1">
              <a:off x="1906796" y="908721"/>
              <a:ext cx="3165654" cy="1799853"/>
            </a:xfrm>
            <a:prstGeom prst="bentConnector3">
              <a:avLst>
                <a:gd name="adj1" fmla="val -26478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1" name="Text Box 255"/>
            <p:cNvSpPr txBox="1">
              <a:spLocks noChangeArrowheads="1"/>
            </p:cNvSpPr>
            <p:nvPr/>
          </p:nvSpPr>
          <p:spPr bwMode="auto">
            <a:xfrm>
              <a:off x="2050827" y="2564904"/>
              <a:ext cx="864989" cy="2873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PSR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8" name="直接箭头连接符 77"/>
            <p:cNvCxnSpPr/>
            <p:nvPr/>
          </p:nvCxnSpPr>
          <p:spPr bwMode="auto">
            <a:xfrm>
              <a:off x="6084168" y="1421333"/>
              <a:ext cx="0" cy="115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箭头连接符 116"/>
            <p:cNvCxnSpPr/>
            <p:nvPr/>
          </p:nvCxnSpPr>
          <p:spPr bwMode="auto">
            <a:xfrm>
              <a:off x="5940152" y="1412776"/>
              <a:ext cx="0" cy="115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04" name="Text Box 116"/>
          <p:cNvSpPr txBox="1">
            <a:spLocks noChangeArrowheads="1"/>
          </p:cNvSpPr>
          <p:nvPr/>
        </p:nvSpPr>
        <p:spPr bwMode="auto">
          <a:xfrm>
            <a:off x="1619672" y="2996952"/>
            <a:ext cx="3564575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kumimoji="1"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工作流程所需指的是什么</a:t>
            </a:r>
            <a:r>
              <a:rPr kumimoji="1" lang="zh-CN" altLang="en-US" b="1" dirty="0">
                <a:latin typeface="宋体" panose="02010600030101010101" pitchFamily="2" charset="-122"/>
              </a:rPr>
              <a:t>？</a:t>
            </a:r>
            <a:endParaRPr kumimoji="1"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18" name="Text Box 116"/>
          <p:cNvSpPr txBox="1">
            <a:spLocks noChangeArrowheads="1"/>
          </p:cNvSpPr>
          <p:nvPr/>
        </p:nvSpPr>
        <p:spPr bwMode="auto">
          <a:xfrm>
            <a:off x="5292080" y="2924944"/>
            <a:ext cx="3564574" cy="50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r>
              <a:rPr lang="zh-CN" alt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所有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指令执行过程所需的</a:t>
            </a:r>
            <a:r>
              <a:rPr lang="en-US" altLang="zh-CN" sz="16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1600" b="1" u="sng" dirty="0" err="1">
                <a:latin typeface="+mn-ea"/>
              </a:rPr>
              <a:t>OPCmd</a:t>
            </a:r>
            <a:r>
              <a:rPr lang="zh-CN" altLang="en-US" sz="1600" b="1" u="sng" dirty="0">
                <a:latin typeface="+mn-ea"/>
              </a:rPr>
              <a:t>序列</a:t>
            </a:r>
            <a:r>
              <a:rPr lang="zh-CN" altLang="en-US" sz="1600" b="1" dirty="0">
                <a:latin typeface="+mn-ea"/>
              </a:rPr>
              <a:t>，或由此构成的</a:t>
            </a:r>
            <a:r>
              <a:rPr lang="zh-CN" altLang="en-US" sz="1600" b="1" u="sng" dirty="0">
                <a:latin typeface="+mn-ea"/>
              </a:rPr>
              <a:t>状态转换图</a:t>
            </a:r>
            <a:endParaRPr kumimoji="1" lang="en-US" altLang="zh-CN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91"/>
          <p:cNvSpPr txBox="1">
            <a:spLocks noChangeArrowheads="1"/>
          </p:cNvSpPr>
          <p:nvPr/>
        </p:nvSpPr>
        <p:spPr bwMode="auto">
          <a:xfrm>
            <a:off x="134619" y="908720"/>
            <a:ext cx="8542090" cy="409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*主存的组成与设计：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</a:rPr>
              <a:t>设主存编址单位为</a:t>
            </a:r>
            <a:r>
              <a:rPr lang="en-US" altLang="zh-CN" b="1" dirty="0">
                <a:latin typeface="+mn-ea"/>
              </a:rPr>
              <a:t>w</a:t>
            </a:r>
            <a:r>
              <a:rPr lang="zh-CN" altLang="en-US" b="1" dirty="0">
                <a:latin typeface="+mn-ea"/>
              </a:rPr>
              <a:t>位，</a:t>
            </a:r>
            <a:r>
              <a:rPr lang="en-US" altLang="zh-CN" b="1" dirty="0">
                <a:latin typeface="+mn-ea"/>
              </a:rPr>
              <a:t>CPU</a:t>
            </a:r>
            <a:r>
              <a:rPr lang="zh-CN" altLang="en-US" b="1" dirty="0">
                <a:latin typeface="+mn-ea"/>
              </a:rPr>
              <a:t>数据引脚为</a:t>
            </a:r>
            <a:r>
              <a:rPr lang="en-US" altLang="zh-CN" b="1" dirty="0">
                <a:latin typeface="+mn-ea"/>
              </a:rPr>
              <a:t>W</a:t>
            </a:r>
            <a:r>
              <a:rPr lang="zh-CN" altLang="en-US" b="1" dirty="0">
                <a:latin typeface="+mn-ea"/>
              </a:rPr>
              <a:t>位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    引脚组织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内部组成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4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4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*主存与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CPU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的连接：  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默认主存占用</a:t>
            </a:r>
            <a:r>
              <a:rPr lang="en-US" altLang="zh-CN" sz="1800" b="1" dirty="0">
                <a:latin typeface="+mn-ea"/>
                <a:ea typeface="+mn-ea"/>
              </a:rPr>
              <a:t>CPU</a:t>
            </a:r>
            <a:r>
              <a:rPr lang="zh-CN" altLang="en-US" sz="1800" b="1" dirty="0">
                <a:latin typeface="+mn-ea"/>
                <a:ea typeface="+mn-ea"/>
              </a:rPr>
              <a:t>可寻址空间的</a:t>
            </a:r>
            <a:r>
              <a:rPr lang="zh-CN" altLang="en-US" sz="1800" b="1" u="sng" dirty="0">
                <a:latin typeface="+mn-ea"/>
                <a:ea typeface="+mn-ea"/>
              </a:rPr>
              <a:t>低端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en-US" altLang="zh-CN" sz="1800" b="1" dirty="0">
              <a:latin typeface="+mn-ea"/>
              <a:ea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979965" y="2708919"/>
            <a:ext cx="5184576" cy="1728193"/>
            <a:chOff x="2051720" y="2852935"/>
            <a:chExt cx="5184576" cy="1728193"/>
          </a:xfrm>
        </p:grpSpPr>
        <p:sp>
          <p:nvSpPr>
            <p:cNvPr id="80" name="Rectangle 141"/>
            <p:cNvSpPr>
              <a:spLocks noChangeArrowheads="1"/>
            </p:cNvSpPr>
            <p:nvPr/>
          </p:nvSpPr>
          <p:spPr bwMode="auto">
            <a:xfrm>
              <a:off x="2646661" y="3140968"/>
              <a:ext cx="4195866" cy="144016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Line 142"/>
            <p:cNvSpPr>
              <a:spLocks noChangeShapeType="1"/>
            </p:cNvSpPr>
            <p:nvPr/>
          </p:nvSpPr>
          <p:spPr bwMode="auto">
            <a:xfrm>
              <a:off x="3006701" y="3068959"/>
              <a:ext cx="0" cy="504055"/>
            </a:xfrm>
            <a:prstGeom prst="line">
              <a:avLst/>
            </a:prstGeom>
            <a:noFill/>
            <a:ln w="19050" cmpd="sng">
              <a:solidFill>
                <a:srgbClr val="3333FF"/>
              </a:solidFill>
              <a:round/>
              <a:headEnd type="none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Text Box 162"/>
            <p:cNvSpPr txBox="1">
              <a:spLocks noChangeArrowheads="1"/>
            </p:cNvSpPr>
            <p:nvPr/>
          </p:nvSpPr>
          <p:spPr bwMode="auto">
            <a:xfrm>
              <a:off x="6895133" y="3458332"/>
              <a:ext cx="341163" cy="2016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3" name="Line 142"/>
            <p:cNvSpPr>
              <a:spLocks noChangeShapeType="1"/>
            </p:cNvSpPr>
            <p:nvPr/>
          </p:nvSpPr>
          <p:spPr bwMode="auto">
            <a:xfrm flipH="1">
              <a:off x="4086821" y="3068959"/>
              <a:ext cx="1806" cy="504949"/>
            </a:xfrm>
            <a:prstGeom prst="line">
              <a:avLst/>
            </a:prstGeom>
            <a:noFill/>
            <a:ln w="19050" cmpd="sng">
              <a:solidFill>
                <a:srgbClr val="3333FF"/>
              </a:solidFill>
              <a:round/>
              <a:headEnd type="none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142"/>
            <p:cNvSpPr>
              <a:spLocks noChangeShapeType="1"/>
            </p:cNvSpPr>
            <p:nvPr/>
          </p:nvSpPr>
          <p:spPr bwMode="auto">
            <a:xfrm>
              <a:off x="5094933" y="3068959"/>
              <a:ext cx="0" cy="507866"/>
            </a:xfrm>
            <a:prstGeom prst="line">
              <a:avLst/>
            </a:prstGeom>
            <a:noFill/>
            <a:ln w="19050" cmpd="sng">
              <a:solidFill>
                <a:srgbClr val="3333FF"/>
              </a:solidFill>
              <a:round/>
              <a:headEnd type="none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142"/>
            <p:cNvSpPr>
              <a:spLocks noChangeShapeType="1"/>
            </p:cNvSpPr>
            <p:nvPr/>
          </p:nvSpPr>
          <p:spPr bwMode="auto">
            <a:xfrm flipH="1">
              <a:off x="6099870" y="3068959"/>
              <a:ext cx="3175" cy="508759"/>
            </a:xfrm>
            <a:prstGeom prst="line">
              <a:avLst/>
            </a:prstGeom>
            <a:noFill/>
            <a:ln w="19050" cmpd="sng">
              <a:solidFill>
                <a:srgbClr val="3333FF"/>
              </a:solidFill>
              <a:round/>
              <a:headEnd type="none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Text Box 140"/>
            <p:cNvSpPr txBox="1">
              <a:spLocks noChangeArrowheads="1"/>
            </p:cNvSpPr>
            <p:nvPr/>
          </p:nvSpPr>
          <p:spPr bwMode="auto">
            <a:xfrm>
              <a:off x="2051720" y="3717031"/>
              <a:ext cx="522933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87" name="Line 159"/>
            <p:cNvSpPr>
              <a:spLocks noChangeShapeType="1"/>
            </p:cNvSpPr>
            <p:nvPr/>
          </p:nvSpPr>
          <p:spPr bwMode="auto">
            <a:xfrm flipH="1">
              <a:off x="6751117" y="3573015"/>
              <a:ext cx="18282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Text Box 140"/>
            <p:cNvSpPr txBox="1">
              <a:spLocks noChangeArrowheads="1"/>
            </p:cNvSpPr>
            <p:nvPr/>
          </p:nvSpPr>
          <p:spPr bwMode="auto">
            <a:xfrm>
              <a:off x="2718669" y="2853059"/>
              <a:ext cx="648072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31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24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89" name="Text Box 162"/>
            <p:cNvSpPr txBox="1">
              <a:spLocks noChangeArrowheads="1"/>
            </p:cNvSpPr>
            <p:nvPr/>
          </p:nvSpPr>
          <p:spPr bwMode="auto">
            <a:xfrm>
              <a:off x="6895133" y="3083372"/>
              <a:ext cx="341163" cy="20161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90" name="Line 159"/>
            <p:cNvSpPr>
              <a:spLocks noChangeShapeType="1"/>
            </p:cNvSpPr>
            <p:nvPr/>
          </p:nvSpPr>
          <p:spPr bwMode="auto">
            <a:xfrm flipH="1">
              <a:off x="3582765" y="3068959"/>
              <a:ext cx="0" cy="216024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159"/>
            <p:cNvSpPr>
              <a:spLocks noChangeShapeType="1"/>
            </p:cNvSpPr>
            <p:nvPr/>
          </p:nvSpPr>
          <p:spPr bwMode="auto">
            <a:xfrm flipV="1">
              <a:off x="3468311" y="3217346"/>
              <a:ext cx="346562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159"/>
            <p:cNvSpPr>
              <a:spLocks noChangeShapeType="1"/>
            </p:cNvSpPr>
            <p:nvPr/>
          </p:nvSpPr>
          <p:spPr bwMode="auto">
            <a:xfrm>
              <a:off x="4585940" y="3068835"/>
              <a:ext cx="4937" cy="216147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159"/>
            <p:cNvSpPr>
              <a:spLocks noChangeShapeType="1"/>
            </p:cNvSpPr>
            <p:nvPr/>
          </p:nvSpPr>
          <p:spPr bwMode="auto">
            <a:xfrm flipH="1">
              <a:off x="5598989" y="3068959"/>
              <a:ext cx="0" cy="216024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159"/>
            <p:cNvSpPr>
              <a:spLocks noChangeShapeType="1"/>
            </p:cNvSpPr>
            <p:nvPr/>
          </p:nvSpPr>
          <p:spPr bwMode="auto">
            <a:xfrm flipH="1">
              <a:off x="6607101" y="3068959"/>
              <a:ext cx="0" cy="216024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151"/>
            <p:cNvSpPr>
              <a:spLocks noChangeShapeType="1"/>
            </p:cNvSpPr>
            <p:nvPr/>
          </p:nvSpPr>
          <p:spPr bwMode="auto">
            <a:xfrm flipV="1">
              <a:off x="2574653" y="3861045"/>
              <a:ext cx="144016" cy="2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Text Box 140"/>
            <p:cNvSpPr txBox="1">
              <a:spLocks noChangeArrowheads="1"/>
            </p:cNvSpPr>
            <p:nvPr/>
          </p:nvSpPr>
          <p:spPr bwMode="auto">
            <a:xfrm>
              <a:off x="5849303" y="2852935"/>
              <a:ext cx="504898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97" name="Text Box 140"/>
            <p:cNvSpPr txBox="1">
              <a:spLocks noChangeArrowheads="1"/>
            </p:cNvSpPr>
            <p:nvPr/>
          </p:nvSpPr>
          <p:spPr bwMode="auto">
            <a:xfrm>
              <a:off x="4806901" y="2852935"/>
              <a:ext cx="617592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15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8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98" name="Text Box 140"/>
            <p:cNvSpPr txBox="1">
              <a:spLocks noChangeArrowheads="1"/>
            </p:cNvSpPr>
            <p:nvPr/>
          </p:nvSpPr>
          <p:spPr bwMode="auto">
            <a:xfrm>
              <a:off x="3775929" y="2852935"/>
              <a:ext cx="648072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23</a:t>
              </a:r>
              <a:r>
                <a:rPr lang="en-US" altLang="zh-CN" sz="1600" b="1" u="none" dirty="0"/>
                <a:t>~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16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99" name="Text Box 140"/>
            <p:cNvSpPr txBox="1">
              <a:spLocks noChangeArrowheads="1"/>
            </p:cNvSpPr>
            <p:nvPr/>
          </p:nvSpPr>
          <p:spPr bwMode="auto">
            <a:xfrm>
              <a:off x="3402781" y="2853059"/>
              <a:ext cx="324000" cy="215900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DM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3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00" name="Text Box 140"/>
            <p:cNvSpPr txBox="1">
              <a:spLocks noChangeArrowheads="1"/>
            </p:cNvSpPr>
            <p:nvPr/>
          </p:nvSpPr>
          <p:spPr bwMode="auto">
            <a:xfrm>
              <a:off x="4446861" y="2852935"/>
              <a:ext cx="324000" cy="215900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DM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2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01" name="Text Box 140"/>
            <p:cNvSpPr txBox="1">
              <a:spLocks noChangeArrowheads="1"/>
            </p:cNvSpPr>
            <p:nvPr/>
          </p:nvSpPr>
          <p:spPr bwMode="auto">
            <a:xfrm>
              <a:off x="5454973" y="2852935"/>
              <a:ext cx="324000" cy="215900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DM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1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102" name="Text Box 140"/>
            <p:cNvSpPr txBox="1">
              <a:spLocks noChangeArrowheads="1"/>
            </p:cNvSpPr>
            <p:nvPr/>
          </p:nvSpPr>
          <p:spPr bwMode="auto">
            <a:xfrm>
              <a:off x="6463085" y="2852935"/>
              <a:ext cx="324000" cy="215900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DM</a:t>
              </a:r>
              <a:r>
                <a:rPr lang="en-US" altLang="zh-CN" sz="1600" b="1" u="none" baseline="-16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78"/>
          <p:cNvSpPr txBox="1">
            <a:spLocks noChangeArrowheads="1"/>
          </p:cNvSpPr>
          <p:nvPr/>
        </p:nvSpPr>
        <p:spPr bwMode="auto">
          <a:xfrm>
            <a:off x="179512" y="404664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三、主存组成与其连接</a:t>
            </a:r>
            <a:endParaRPr kumimoji="1" lang="zh-CN" altLang="en-US" sz="2400" b="1" dirty="0">
              <a:solidFill>
                <a:srgbClr val="FF3300"/>
              </a:solidFill>
              <a:latin typeface="宋体" panose="0201060003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" name="Text Box 191"/>
          <p:cNvSpPr txBox="1">
            <a:spLocks noChangeArrowheads="1"/>
          </p:cNvSpPr>
          <p:nvPr/>
        </p:nvSpPr>
        <p:spPr bwMode="auto">
          <a:xfrm>
            <a:off x="2160493" y="1340768"/>
            <a:ext cx="6804248" cy="1303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</a:rPr>
              <a:t>数据线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＝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W</a:t>
            </a:r>
            <a:r>
              <a:rPr lang="zh-CN" altLang="en-US" sz="2200" b="1" dirty="0">
                <a:latin typeface="+mn-ea"/>
                <a:ea typeface="+mn-ea"/>
              </a:rPr>
              <a:t>位，数据掩码线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</a:rPr>
              <a:t>＝</a:t>
            </a:r>
            <a:r>
              <a:rPr lang="en-US" altLang="zh-CN" sz="2200" b="1" dirty="0">
                <a:latin typeface="+mn-ea"/>
              </a:rPr>
              <a:t>m</a:t>
            </a:r>
            <a:r>
              <a:rPr lang="zh-CN" altLang="en-US" sz="2200" b="1" dirty="0">
                <a:latin typeface="+mn-ea"/>
              </a:rPr>
              <a:t>位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多种</a:t>
            </a:r>
            <a:r>
              <a:rPr lang="zh-CN" altLang="en-US" b="1" dirty="0">
                <a:solidFill>
                  <a:srgbClr val="990099"/>
                </a:solidFill>
                <a:latin typeface="+mn-ea"/>
                <a:ea typeface="+mn-ea"/>
              </a:rPr>
              <a:t>写</a:t>
            </a:r>
            <a:r>
              <a:rPr lang="zh-CN" altLang="en-US" b="1" dirty="0">
                <a:latin typeface="+mn-ea"/>
                <a:ea typeface="+mn-ea"/>
              </a:rPr>
              <a:t>粒度时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；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</a:rPr>
              <a:t>地址线＝</a:t>
            </a:r>
            <a:r>
              <a:rPr lang="en-US" altLang="zh-CN" sz="2200" b="1" dirty="0">
                <a:latin typeface="+mn-ea"/>
                <a:ea typeface="+mn-ea"/>
              </a:rPr>
              <a:t>log</a:t>
            </a:r>
            <a:r>
              <a:rPr lang="en-US" altLang="zh-CN" sz="2200" b="1" baseline="-26000" dirty="0">
                <a:latin typeface="+mn-ea"/>
                <a:ea typeface="+mn-ea"/>
              </a:rPr>
              <a:t>2</a:t>
            </a:r>
            <a:r>
              <a:rPr lang="en-US" altLang="zh-CN" sz="2200" b="1" dirty="0">
                <a:latin typeface="+mn-ea"/>
                <a:ea typeface="+mn-ea"/>
              </a:rPr>
              <a:t>(S/W)</a:t>
            </a:r>
            <a:r>
              <a:rPr lang="zh-CN" altLang="en-US" sz="2200" b="1" dirty="0">
                <a:latin typeface="+mn-ea"/>
                <a:ea typeface="+mn-ea"/>
              </a:rPr>
              <a:t>，控制线＝</a:t>
            </a:r>
            <a:r>
              <a:rPr lang="en-US" altLang="zh-CN" sz="2200" b="1" dirty="0">
                <a:latin typeface="+mn-ea"/>
                <a:ea typeface="+mn-ea"/>
              </a:rPr>
              <a:t>CS</a:t>
            </a:r>
            <a:r>
              <a:rPr lang="zh-CN" altLang="en-US" sz="2200" b="1" dirty="0">
                <a:latin typeface="+mn-ea"/>
                <a:ea typeface="+mn-ea"/>
              </a:rPr>
              <a:t>＋</a:t>
            </a:r>
            <a:r>
              <a:rPr lang="en-US" altLang="zh-CN" sz="2200" b="1" dirty="0">
                <a:latin typeface="+mn-ea"/>
                <a:ea typeface="+mn-ea"/>
              </a:rPr>
              <a:t>WE[</a:t>
            </a:r>
            <a:r>
              <a:rPr lang="zh-CN" altLang="en-US" sz="2200" b="1" dirty="0">
                <a:latin typeface="+mn-ea"/>
              </a:rPr>
              <a:t>＋</a:t>
            </a:r>
            <a:r>
              <a:rPr lang="en-US" altLang="zh-CN" sz="2200" b="1" dirty="0">
                <a:latin typeface="+mn-ea"/>
              </a:rPr>
              <a:t>CLK]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</a:rPr>
              <a:t>单体</a:t>
            </a:r>
            <a:r>
              <a:rPr lang="en-US" altLang="zh-CN" sz="2200" b="1" dirty="0">
                <a:latin typeface="+mn-ea"/>
                <a:ea typeface="+mn-ea"/>
              </a:rPr>
              <a:t>MEM</a:t>
            </a:r>
            <a:r>
              <a:rPr lang="en-US" altLang="zh-CN" b="1" dirty="0">
                <a:latin typeface="+mn-ea"/>
                <a:ea typeface="+mn-ea"/>
              </a:rPr>
              <a:t>(1</a:t>
            </a:r>
            <a:r>
              <a:rPr lang="zh-CN" altLang="en-US" b="1" dirty="0">
                <a:latin typeface="+mn-ea"/>
                <a:ea typeface="+mn-ea"/>
              </a:rPr>
              <a:t>种写粒度时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，或多体交叉</a:t>
            </a:r>
            <a:r>
              <a:rPr lang="en-US" altLang="zh-CN" sz="2200" b="1" dirty="0">
                <a:latin typeface="+mn-ea"/>
                <a:ea typeface="+mn-ea"/>
              </a:rPr>
              <a:t>MEM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</a:rPr>
              <a:t>多种写粒度</a:t>
            </a:r>
            <a:r>
              <a:rPr lang="zh-CN" altLang="en-US" b="1" dirty="0">
                <a:latin typeface="+mn-ea"/>
                <a:ea typeface="+mn-ea"/>
              </a:rPr>
              <a:t>时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endParaRPr lang="en-US" altLang="zh-CN" sz="1600" b="1" dirty="0">
              <a:latin typeface="+mn-ea"/>
              <a:ea typeface="+mn-ea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641977" y="3067382"/>
            <a:ext cx="4037385" cy="1297722"/>
            <a:chOff x="3198911" y="3499431"/>
            <a:chExt cx="4037385" cy="1297722"/>
          </a:xfrm>
        </p:grpSpPr>
        <p:sp>
          <p:nvSpPr>
            <p:cNvPr id="108" name="Line 149"/>
            <p:cNvSpPr>
              <a:spLocks noChangeShapeType="1"/>
            </p:cNvSpPr>
            <p:nvPr/>
          </p:nvSpPr>
          <p:spPr bwMode="auto">
            <a:xfrm flipH="1">
              <a:off x="7236296" y="3861047"/>
              <a:ext cx="0" cy="93610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151"/>
            <p:cNvSpPr>
              <a:spLocks noChangeShapeType="1"/>
            </p:cNvSpPr>
            <p:nvPr/>
          </p:nvSpPr>
          <p:spPr bwMode="auto">
            <a:xfrm flipV="1">
              <a:off x="3201379" y="4725143"/>
              <a:ext cx="339002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152"/>
            <p:cNvSpPr>
              <a:spLocks noChangeShapeType="1"/>
            </p:cNvSpPr>
            <p:nvPr/>
          </p:nvSpPr>
          <p:spPr bwMode="auto">
            <a:xfrm flipH="1">
              <a:off x="3198911" y="4149081"/>
              <a:ext cx="0" cy="576062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none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159"/>
            <p:cNvSpPr>
              <a:spLocks noChangeShapeType="1"/>
            </p:cNvSpPr>
            <p:nvPr/>
          </p:nvSpPr>
          <p:spPr bwMode="auto">
            <a:xfrm flipH="1">
              <a:off x="3995936" y="3787151"/>
              <a:ext cx="0" cy="7984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Text Box 143"/>
            <p:cNvSpPr txBox="1">
              <a:spLocks noChangeArrowheads="1"/>
            </p:cNvSpPr>
            <p:nvPr/>
          </p:nvSpPr>
          <p:spPr bwMode="auto">
            <a:xfrm>
              <a:off x="3270919" y="3861048"/>
              <a:ext cx="851219" cy="71963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dirty="0"/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WE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3</a:t>
              </a:r>
              <a:endParaRPr lang="en-US" altLang="zh-CN" b="1" u="none" baseline="-18000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dirty="0"/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CS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7" name="Line 159"/>
            <p:cNvSpPr>
              <a:spLocks noChangeShapeType="1"/>
            </p:cNvSpPr>
            <p:nvPr/>
          </p:nvSpPr>
          <p:spPr bwMode="auto">
            <a:xfrm flipV="1">
              <a:off x="3995937" y="4797152"/>
              <a:ext cx="3240359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159"/>
            <p:cNvSpPr>
              <a:spLocks noChangeShapeType="1"/>
            </p:cNvSpPr>
            <p:nvPr/>
          </p:nvSpPr>
          <p:spPr bwMode="auto">
            <a:xfrm flipH="1">
              <a:off x="3995936" y="4581128"/>
              <a:ext cx="0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145"/>
            <p:cNvSpPr>
              <a:spLocks noChangeShapeType="1"/>
            </p:cNvSpPr>
            <p:nvPr/>
          </p:nvSpPr>
          <p:spPr bwMode="auto">
            <a:xfrm flipV="1">
              <a:off x="6591399" y="4581128"/>
              <a:ext cx="0" cy="144016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none" w="sm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145"/>
            <p:cNvSpPr>
              <a:spLocks noChangeShapeType="1"/>
            </p:cNvSpPr>
            <p:nvPr/>
          </p:nvSpPr>
          <p:spPr bwMode="auto">
            <a:xfrm flipV="1">
              <a:off x="5580112" y="4581128"/>
              <a:ext cx="0" cy="144016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145"/>
            <p:cNvSpPr>
              <a:spLocks noChangeShapeType="1"/>
            </p:cNvSpPr>
            <p:nvPr/>
          </p:nvSpPr>
          <p:spPr bwMode="auto">
            <a:xfrm flipV="1">
              <a:off x="4572000" y="4581128"/>
              <a:ext cx="0" cy="144016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145"/>
            <p:cNvSpPr>
              <a:spLocks noChangeShapeType="1"/>
            </p:cNvSpPr>
            <p:nvPr/>
          </p:nvSpPr>
          <p:spPr bwMode="auto">
            <a:xfrm flipV="1">
              <a:off x="3558951" y="4581128"/>
              <a:ext cx="0" cy="144016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oval" w="sm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159"/>
            <p:cNvSpPr>
              <a:spLocks noChangeShapeType="1"/>
            </p:cNvSpPr>
            <p:nvPr/>
          </p:nvSpPr>
          <p:spPr bwMode="auto">
            <a:xfrm flipH="1">
              <a:off x="5002767" y="4581128"/>
              <a:ext cx="1281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159"/>
            <p:cNvSpPr>
              <a:spLocks noChangeShapeType="1"/>
            </p:cNvSpPr>
            <p:nvPr/>
          </p:nvSpPr>
          <p:spPr bwMode="auto">
            <a:xfrm flipH="1">
              <a:off x="6012160" y="4581128"/>
              <a:ext cx="0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159"/>
            <p:cNvSpPr>
              <a:spLocks noChangeShapeType="1"/>
            </p:cNvSpPr>
            <p:nvPr/>
          </p:nvSpPr>
          <p:spPr bwMode="auto">
            <a:xfrm flipH="1">
              <a:off x="7020272" y="4581128"/>
              <a:ext cx="0" cy="21602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Text Box 381"/>
            <p:cNvSpPr txBox="1">
              <a:spLocks noChangeArrowheads="1"/>
            </p:cNvSpPr>
            <p:nvPr/>
          </p:nvSpPr>
          <p:spPr bwMode="auto">
            <a:xfrm>
              <a:off x="3883363" y="3573140"/>
              <a:ext cx="238775" cy="21224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2" name="Line 159"/>
            <p:cNvSpPr>
              <a:spLocks noChangeShapeType="1"/>
            </p:cNvSpPr>
            <p:nvPr/>
          </p:nvSpPr>
          <p:spPr bwMode="auto">
            <a:xfrm flipH="1">
              <a:off x="3954551" y="3499431"/>
              <a:ext cx="0" cy="6763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Text Box 381"/>
            <p:cNvSpPr txBox="1">
              <a:spLocks noChangeArrowheads="1"/>
            </p:cNvSpPr>
            <p:nvPr/>
          </p:nvSpPr>
          <p:spPr bwMode="auto">
            <a:xfrm>
              <a:off x="4911147" y="3573140"/>
              <a:ext cx="235635" cy="215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&amp;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36" name="Line 159"/>
            <p:cNvSpPr>
              <a:spLocks noChangeShapeType="1"/>
            </p:cNvSpPr>
            <p:nvPr/>
          </p:nvSpPr>
          <p:spPr bwMode="auto">
            <a:xfrm flipH="1">
              <a:off x="4973568" y="3505379"/>
              <a:ext cx="0" cy="6763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Text Box 381"/>
            <p:cNvSpPr txBox="1">
              <a:spLocks noChangeArrowheads="1"/>
            </p:cNvSpPr>
            <p:nvPr/>
          </p:nvSpPr>
          <p:spPr bwMode="auto">
            <a:xfrm>
              <a:off x="5919259" y="3573140"/>
              <a:ext cx="236917" cy="215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&amp;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39" name="Line 159"/>
            <p:cNvSpPr>
              <a:spLocks noChangeShapeType="1"/>
            </p:cNvSpPr>
            <p:nvPr/>
          </p:nvSpPr>
          <p:spPr bwMode="auto">
            <a:xfrm flipH="1">
              <a:off x="5981680" y="3505379"/>
              <a:ext cx="0" cy="6763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Text Box 381"/>
            <p:cNvSpPr txBox="1">
              <a:spLocks noChangeArrowheads="1"/>
            </p:cNvSpPr>
            <p:nvPr/>
          </p:nvSpPr>
          <p:spPr bwMode="auto">
            <a:xfrm>
              <a:off x="6925513" y="3573016"/>
              <a:ext cx="238775" cy="215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u="none">
                  <a:latin typeface="宋体" panose="02010600030101010101" pitchFamily="2" charset="-122"/>
                </a:rPr>
                <a:t>&amp;</a:t>
              </a:r>
              <a:endParaRPr lang="en-US" altLang="zh-CN" sz="1600" b="1" u="none">
                <a:latin typeface="宋体" panose="02010600030101010101" pitchFamily="2" charset="-122"/>
              </a:endParaRPr>
            </a:p>
          </p:txBody>
        </p:sp>
        <p:sp>
          <p:nvSpPr>
            <p:cNvPr id="142" name="Line 159"/>
            <p:cNvSpPr>
              <a:spLocks noChangeShapeType="1"/>
            </p:cNvSpPr>
            <p:nvPr/>
          </p:nvSpPr>
          <p:spPr bwMode="auto">
            <a:xfrm flipH="1">
              <a:off x="6989792" y="3505379"/>
              <a:ext cx="0" cy="6763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Text Box 143"/>
            <p:cNvSpPr txBox="1">
              <a:spLocks noChangeArrowheads="1"/>
            </p:cNvSpPr>
            <p:nvPr/>
          </p:nvSpPr>
          <p:spPr bwMode="auto">
            <a:xfrm>
              <a:off x="4283968" y="3861048"/>
              <a:ext cx="862815" cy="71963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dirty="0"/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WE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2</a:t>
              </a:r>
              <a:endParaRPr lang="en-US" altLang="zh-CN" b="1" u="none" baseline="-18000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dirty="0"/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CS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2" name="Text Box 143"/>
            <p:cNvSpPr txBox="1">
              <a:spLocks noChangeArrowheads="1"/>
            </p:cNvSpPr>
            <p:nvPr/>
          </p:nvSpPr>
          <p:spPr bwMode="auto">
            <a:xfrm>
              <a:off x="5292080" y="3861048"/>
              <a:ext cx="869033" cy="71963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dirty="0"/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WE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1</a:t>
              </a:r>
              <a:endParaRPr lang="en-US" altLang="zh-CN" b="1" u="none" baseline="-18000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dirty="0"/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CS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3" name="Text Box 143"/>
            <p:cNvSpPr txBox="1">
              <a:spLocks noChangeArrowheads="1"/>
            </p:cNvSpPr>
            <p:nvPr/>
          </p:nvSpPr>
          <p:spPr bwMode="auto">
            <a:xfrm>
              <a:off x="6300192" y="3861048"/>
              <a:ext cx="862815" cy="71963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b="1" dirty="0"/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WE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0</a:t>
              </a:r>
              <a:endParaRPr lang="en-US" altLang="zh-CN" b="1" u="none" baseline="-18000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9</a:t>
              </a:r>
              <a:r>
                <a:rPr lang="en-US" altLang="zh-CN" sz="1600" b="1" dirty="0"/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6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CS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4" name="Line 159"/>
            <p:cNvSpPr>
              <a:spLocks noChangeShapeType="1"/>
            </p:cNvSpPr>
            <p:nvPr/>
          </p:nvSpPr>
          <p:spPr bwMode="auto">
            <a:xfrm flipH="1">
              <a:off x="5002767" y="3789040"/>
              <a:ext cx="0" cy="7984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159"/>
            <p:cNvSpPr>
              <a:spLocks noChangeShapeType="1"/>
            </p:cNvSpPr>
            <p:nvPr/>
          </p:nvSpPr>
          <p:spPr bwMode="auto">
            <a:xfrm flipH="1">
              <a:off x="6033053" y="3789040"/>
              <a:ext cx="0" cy="7984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159"/>
            <p:cNvSpPr>
              <a:spLocks noChangeShapeType="1"/>
            </p:cNvSpPr>
            <p:nvPr/>
          </p:nvSpPr>
          <p:spPr bwMode="auto">
            <a:xfrm flipH="1">
              <a:off x="7020272" y="3790929"/>
              <a:ext cx="0" cy="7984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7" name="线形标注 2 156"/>
          <p:cNvSpPr/>
          <p:nvPr/>
        </p:nvSpPr>
        <p:spPr bwMode="auto">
          <a:xfrm>
            <a:off x="7557214" y="2716531"/>
            <a:ext cx="1368152" cy="576063"/>
          </a:xfrm>
          <a:prstGeom prst="borderCallout2">
            <a:avLst>
              <a:gd name="adj1" fmla="val 47963"/>
              <a:gd name="adj2" fmla="val -1035"/>
              <a:gd name="adj3" fmla="val 47887"/>
              <a:gd name="adj4" fmla="val -14234"/>
              <a:gd name="adj5" fmla="val -167738"/>
              <a:gd name="adj6" fmla="val -49507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0000"/>
              </a:lnSpc>
            </a:pPr>
            <a:r>
              <a:rPr lang="zh-CN" altLang="en-US" sz="1600" b="1" dirty="0">
                <a:latin typeface="+mn-ea"/>
                <a:ea typeface="+mn-ea"/>
              </a:rPr>
              <a:t>读处理通常由</a:t>
            </a:r>
            <a:r>
              <a:rPr lang="en-US" altLang="zh-CN" sz="1600" b="1" dirty="0">
                <a:latin typeface="+mn-ea"/>
                <a:ea typeface="+mn-ea"/>
              </a:rPr>
              <a:t>CPU</a:t>
            </a:r>
            <a:r>
              <a:rPr lang="zh-CN" altLang="en-US" sz="1600" b="1" dirty="0">
                <a:latin typeface="+mn-ea"/>
                <a:ea typeface="+mn-ea"/>
              </a:rPr>
              <a:t>中</a:t>
            </a:r>
            <a:r>
              <a:rPr lang="en-US" altLang="zh-CN" sz="1600" b="1" dirty="0">
                <a:latin typeface="+mn-ea"/>
                <a:ea typeface="+mn-ea"/>
              </a:rPr>
              <a:t>BIU</a:t>
            </a:r>
            <a:r>
              <a:rPr lang="zh-CN" altLang="en-US" sz="1600" b="1" dirty="0">
                <a:latin typeface="+mn-ea"/>
                <a:ea typeface="+mn-ea"/>
              </a:rPr>
              <a:t>完成</a:t>
            </a:r>
            <a:endParaRPr lang="en-US" altLang="zh-CN" sz="1600" b="1" dirty="0">
              <a:latin typeface="+mn-ea"/>
              <a:ea typeface="+mn-ea"/>
            </a:endParaRPr>
          </a:p>
        </p:txBody>
      </p:sp>
      <p:grpSp>
        <p:nvGrpSpPr>
          <p:cNvPr id="179" name="组合 178"/>
          <p:cNvGrpSpPr/>
          <p:nvPr/>
        </p:nvGrpSpPr>
        <p:grpSpPr>
          <a:xfrm>
            <a:off x="2412013" y="4932000"/>
            <a:ext cx="3886225" cy="937196"/>
            <a:chOff x="3347864" y="4941168"/>
            <a:chExt cx="3886225" cy="937196"/>
          </a:xfrm>
        </p:grpSpPr>
        <p:sp>
          <p:nvSpPr>
            <p:cNvPr id="178" name="Rectangle 145"/>
            <p:cNvSpPr>
              <a:spLocks noChangeArrowheads="1"/>
            </p:cNvSpPr>
            <p:nvPr/>
          </p:nvSpPr>
          <p:spPr bwMode="auto">
            <a:xfrm>
              <a:off x="4968131" y="4942364"/>
              <a:ext cx="938462" cy="93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ash"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Text Box 155"/>
            <p:cNvSpPr txBox="1">
              <a:spLocks noChangeArrowheads="1"/>
            </p:cNvSpPr>
            <p:nvPr/>
          </p:nvSpPr>
          <p:spPr bwMode="auto">
            <a:xfrm>
              <a:off x="6156176" y="4941168"/>
              <a:ext cx="1077913" cy="937196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b="1" u="none" dirty="0">
                  <a:latin typeface="宋体" panose="02010600030101010101" pitchFamily="2" charset="-122"/>
                </a:rPr>
                <a:t>    </a:t>
              </a:r>
              <a:r>
                <a:rPr lang="zh-CN" altLang="en-US" b="1" u="none" dirty="0">
                  <a:latin typeface="宋体" panose="02010600030101010101" pitchFamily="2" charset="-122"/>
                </a:rPr>
                <a:t>主存</a:t>
              </a:r>
              <a:endParaRPr lang="zh-CN" altLang="en-US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2" name="Text Box 157"/>
            <p:cNvSpPr txBox="1">
              <a:spLocks noChangeArrowheads="1"/>
            </p:cNvSpPr>
            <p:nvPr/>
          </p:nvSpPr>
          <p:spPr bwMode="auto">
            <a:xfrm>
              <a:off x="6183158" y="5373216"/>
              <a:ext cx="287338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CS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3" name="Text Box 160"/>
            <p:cNvSpPr txBox="1">
              <a:spLocks noChangeArrowheads="1"/>
            </p:cNvSpPr>
            <p:nvPr/>
          </p:nvSpPr>
          <p:spPr bwMode="auto">
            <a:xfrm>
              <a:off x="6183158" y="5157192"/>
              <a:ext cx="287338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WE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64" name="Text Box 162"/>
            <p:cNvSpPr txBox="1">
              <a:spLocks noChangeArrowheads="1"/>
            </p:cNvSpPr>
            <p:nvPr/>
          </p:nvSpPr>
          <p:spPr bwMode="auto">
            <a:xfrm>
              <a:off x="6187926" y="4941168"/>
              <a:ext cx="820534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W-1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5" name="Text Box 163"/>
            <p:cNvSpPr txBox="1">
              <a:spLocks noChangeArrowheads="1"/>
            </p:cNvSpPr>
            <p:nvPr/>
          </p:nvSpPr>
          <p:spPr bwMode="auto">
            <a:xfrm>
              <a:off x="6191851" y="5661168"/>
              <a:ext cx="79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18000" dirty="0">
                  <a:latin typeface="宋体" panose="02010600030101010101" pitchFamily="2" charset="-122"/>
                </a:rPr>
                <a:t>m-1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6" name="Text Box 165"/>
            <p:cNvSpPr txBox="1">
              <a:spLocks noChangeArrowheads="1"/>
            </p:cNvSpPr>
            <p:nvPr/>
          </p:nvSpPr>
          <p:spPr bwMode="auto">
            <a:xfrm>
              <a:off x="3347864" y="4941168"/>
              <a:ext cx="1367408" cy="93719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b="1" u="none" dirty="0">
                  <a:latin typeface="宋体" panose="02010600030101010101" pitchFamily="2" charset="-122"/>
                </a:rPr>
                <a:t> CPU</a:t>
              </a:r>
              <a:endParaRPr lang="en-US" altLang="zh-CN" b="1" u="none" dirty="0">
                <a:latin typeface="宋体" panose="02010600030101010101" pitchFamily="2" charset="-122"/>
              </a:endParaRPr>
            </a:p>
            <a:p>
              <a:endParaRPr lang="en-US" altLang="zh-CN" sz="18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7" name="Text Box 166"/>
            <p:cNvSpPr txBox="1">
              <a:spLocks noChangeArrowheads="1"/>
            </p:cNvSpPr>
            <p:nvPr/>
          </p:nvSpPr>
          <p:spPr bwMode="auto">
            <a:xfrm>
              <a:off x="3851851" y="4941168"/>
              <a:ext cx="828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W-1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～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8" name="Text Box 167"/>
            <p:cNvSpPr txBox="1">
              <a:spLocks noChangeArrowheads="1"/>
            </p:cNvSpPr>
            <p:nvPr/>
          </p:nvSpPr>
          <p:spPr bwMode="auto">
            <a:xfrm>
              <a:off x="3815851" y="5157168"/>
              <a:ext cx="864000" cy="72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8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控制线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31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～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m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m-1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～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u="none" baseline="-20000" dirty="0">
                  <a:latin typeface="宋体" panose="02010600030101010101" pitchFamily="2" charset="-122"/>
                </a:rPr>
                <a:t>0</a:t>
              </a:r>
              <a:endParaRPr lang="en-US" altLang="zh-CN" sz="1600" b="1" u="none" baseline="-20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74" name="组合 173"/>
          <p:cNvGrpSpPr/>
          <p:nvPr/>
        </p:nvGrpSpPr>
        <p:grpSpPr>
          <a:xfrm>
            <a:off x="3779422" y="5084489"/>
            <a:ext cx="1440904" cy="703189"/>
            <a:chOff x="2483025" y="5373215"/>
            <a:chExt cx="1440904" cy="703189"/>
          </a:xfrm>
        </p:grpSpPr>
        <p:sp>
          <p:nvSpPr>
            <p:cNvPr id="175" name="Line 150"/>
            <p:cNvSpPr>
              <a:spLocks noChangeShapeType="1"/>
            </p:cNvSpPr>
            <p:nvPr/>
          </p:nvSpPr>
          <p:spPr bwMode="auto">
            <a:xfrm flipV="1">
              <a:off x="2483025" y="6074618"/>
              <a:ext cx="1440904" cy="1786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164"/>
            <p:cNvSpPr>
              <a:spLocks noChangeShapeType="1"/>
            </p:cNvSpPr>
            <p:nvPr/>
          </p:nvSpPr>
          <p:spPr bwMode="auto">
            <a:xfrm>
              <a:off x="2483025" y="5373215"/>
              <a:ext cx="1440904" cy="347"/>
            </a:xfrm>
            <a:prstGeom prst="line">
              <a:avLst/>
            </a:prstGeom>
            <a:noFill/>
            <a:ln w="19050" cmpd="sng">
              <a:solidFill>
                <a:srgbClr val="3333FF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152"/>
            <p:cNvSpPr>
              <a:spLocks noChangeShapeType="1"/>
            </p:cNvSpPr>
            <p:nvPr/>
          </p:nvSpPr>
          <p:spPr bwMode="auto">
            <a:xfrm>
              <a:off x="2483868" y="5877966"/>
              <a:ext cx="504031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1" name="组合 180"/>
          <p:cNvGrpSpPr/>
          <p:nvPr/>
        </p:nvGrpSpPr>
        <p:grpSpPr>
          <a:xfrm>
            <a:off x="3779422" y="5157192"/>
            <a:ext cx="1440904" cy="503362"/>
            <a:chOff x="4715273" y="5263108"/>
            <a:chExt cx="1440904" cy="503362"/>
          </a:xfrm>
        </p:grpSpPr>
        <p:sp>
          <p:nvSpPr>
            <p:cNvPr id="170" name="Line 187"/>
            <p:cNvSpPr>
              <a:spLocks noChangeShapeType="1"/>
            </p:cNvSpPr>
            <p:nvPr/>
          </p:nvSpPr>
          <p:spPr bwMode="auto">
            <a:xfrm>
              <a:off x="4715273" y="5407124"/>
              <a:ext cx="504874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149"/>
            <p:cNvSpPr>
              <a:spLocks noChangeShapeType="1"/>
            </p:cNvSpPr>
            <p:nvPr/>
          </p:nvSpPr>
          <p:spPr bwMode="auto">
            <a:xfrm flipV="1">
              <a:off x="5724327" y="5621487"/>
              <a:ext cx="431849" cy="166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Text Box 154"/>
            <p:cNvSpPr txBox="1">
              <a:spLocks noChangeArrowheads="1"/>
            </p:cNvSpPr>
            <p:nvPr/>
          </p:nvSpPr>
          <p:spPr bwMode="auto">
            <a:xfrm>
              <a:off x="5220072" y="5263108"/>
              <a:ext cx="504056" cy="50336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控制逻辑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173" name="Line 149"/>
            <p:cNvSpPr>
              <a:spLocks noChangeShapeType="1"/>
            </p:cNvSpPr>
            <p:nvPr/>
          </p:nvSpPr>
          <p:spPr bwMode="auto">
            <a:xfrm flipV="1">
              <a:off x="5724129" y="5407124"/>
              <a:ext cx="432048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187"/>
            <p:cNvSpPr>
              <a:spLocks noChangeShapeType="1"/>
            </p:cNvSpPr>
            <p:nvPr/>
          </p:nvSpPr>
          <p:spPr bwMode="auto">
            <a:xfrm>
              <a:off x="4716016" y="5479826"/>
              <a:ext cx="504874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4" name="Text Box 79"/>
          <p:cNvSpPr txBox="1">
            <a:spLocks noChangeArrowheads="1"/>
          </p:cNvSpPr>
          <p:nvPr/>
        </p:nvSpPr>
        <p:spPr bwMode="auto">
          <a:xfrm>
            <a:off x="179512" y="5923959"/>
            <a:ext cx="8785225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0000"/>
                </a:solidFill>
                <a:latin typeface="+mn-ea"/>
                <a:ea typeface="+mn-ea"/>
              </a:rPr>
              <a:t>  ★要点：理论是实践的基础！先巩固基本原理</a:t>
            </a:r>
            <a:endParaRPr lang="en-US" altLang="zh-CN" sz="2000" b="1" u="sng" dirty="0">
              <a:latin typeface="+mn-ea"/>
              <a:ea typeface="+mn-ea"/>
            </a:endParaRPr>
          </a:p>
        </p:txBody>
      </p:sp>
      <p:sp>
        <p:nvSpPr>
          <p:cNvPr id="103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bldLvl="0" animBg="1"/>
      <p:bldP spid="10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Box 116"/>
          <p:cNvSpPr txBox="1">
            <a:spLocks noChangeArrowheads="1"/>
          </p:cNvSpPr>
          <p:nvPr/>
        </p:nvSpPr>
        <p:spPr bwMode="auto">
          <a:xfrm>
            <a:off x="179512" y="953955"/>
            <a:ext cx="2664296" cy="20347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kumimoji="1"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、基本模块掌握</a:t>
            </a:r>
            <a:endParaRPr kumimoji="1" lang="en-US" altLang="zh-CN" sz="24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目标：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kumimoji="1" lang="en-US" altLang="zh-CN" b="1" u="sng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kumimoji="1" lang="en-US" altLang="zh-CN" b="1" u="sng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*达成方法：</a:t>
            </a:r>
            <a:endParaRPr kumimoji="1"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78"/>
          <p:cNvSpPr txBox="1">
            <a:spLocks noChangeArrowheads="1"/>
          </p:cNvSpPr>
          <p:nvPr/>
        </p:nvSpPr>
        <p:spPr bwMode="auto">
          <a:xfrm>
            <a:off x="179388" y="454174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四、</a:t>
            </a:r>
            <a:r>
              <a:rPr kumimoji="1" lang="en-US" altLang="zh-CN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Quartus II</a:t>
            </a:r>
            <a:r>
              <a:rPr kumimoji="1" lang="zh-CN" altLang="en-US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回顾                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不熟者≥</a:t>
            </a:r>
            <a:r>
              <a:rPr kumimoji="1" lang="en-US" altLang="zh-CN" b="1" dirty="0">
                <a:latin typeface="宋体" panose="02010600030101010101" pitchFamily="2" charset="-122"/>
              </a:rPr>
              <a:t>1/4[2</a:t>
            </a:r>
            <a:r>
              <a:rPr kumimoji="1" lang="zh-CN" altLang="en-US" b="1" dirty="0">
                <a:latin typeface="宋体" panose="02010600030101010101" pitchFamily="2" charset="-122"/>
              </a:rPr>
              <a:t>门课已用过</a:t>
            </a:r>
            <a:r>
              <a:rPr kumimoji="1" lang="en-US" altLang="zh-CN" b="1" dirty="0">
                <a:latin typeface="宋体" panose="02010600030101010101" pitchFamily="2" charset="-122"/>
              </a:rPr>
              <a:t>!])</a:t>
            </a:r>
            <a:endParaRPr kumimoji="1" lang="zh-CN" altLang="en-US" sz="2400" b="1" dirty="0">
              <a:solidFill>
                <a:srgbClr val="FF3300"/>
              </a:solidFill>
              <a:latin typeface="宋体" panose="0201060003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9" name="Text Box 116"/>
          <p:cNvSpPr txBox="1">
            <a:spLocks noChangeArrowheads="1"/>
          </p:cNvSpPr>
          <p:nvPr/>
        </p:nvSpPr>
        <p:spPr bwMode="auto">
          <a:xfrm>
            <a:off x="1332016" y="1412776"/>
            <a:ext cx="7632096" cy="15730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u="sng" dirty="0">
                <a:solidFill>
                  <a:srgbClr val="FF0000"/>
                </a:solidFill>
                <a:latin typeface="宋体" panose="02010600030101010101" pitchFamily="2" charset="-122"/>
              </a:rPr>
              <a:t>掌握</a:t>
            </a:r>
            <a:r>
              <a:rPr kumimoji="1"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Quartus</a:t>
            </a:r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II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提供的</a:t>
            </a:r>
            <a:r>
              <a:rPr kumimoji="1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模块功能及特性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教训</a:t>
            </a:r>
            <a:r>
              <a:rPr kumimoji="1"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1—</a:t>
            </a:r>
            <a:r>
              <a:rPr kumimoji="1" lang="en-US" altLang="zh-CN" b="1" dirty="0">
                <a:latin typeface="宋体" panose="02010600030101010101" pitchFamily="2" charset="-122"/>
              </a:rPr>
              <a:t>DP</a:t>
            </a:r>
            <a:r>
              <a:rPr kumimoji="1" lang="zh-CN" altLang="en-US" b="1" dirty="0">
                <a:latin typeface="宋体" panose="02010600030101010101" pitchFamily="2" charset="-122"/>
              </a:rPr>
              <a:t>仿真时</a:t>
            </a:r>
            <a:r>
              <a:rPr kumimoji="1" lang="en-US" altLang="zh-CN" b="1" dirty="0">
                <a:latin typeface="宋体" panose="02010600030101010101" pitchFamily="2" charset="-122"/>
              </a:rPr>
              <a:t>sub</a:t>
            </a:r>
            <a:r>
              <a:rPr kumimoji="1" lang="zh-CN" altLang="en-US" b="1" dirty="0">
                <a:latin typeface="宋体" panose="02010600030101010101" pitchFamily="2" charset="-122"/>
              </a:rPr>
              <a:t>指令有错→</a:t>
            </a:r>
            <a:r>
              <a:rPr kumimoji="1" lang="en-US" altLang="zh-CN" b="1" dirty="0">
                <a:latin typeface="宋体" panose="02010600030101010101" pitchFamily="2" charset="-122"/>
              </a:rPr>
              <a:t>ALU</a:t>
            </a:r>
            <a:r>
              <a:rPr kumimoji="1" lang="zh-CN" altLang="en-US" b="1" dirty="0">
                <a:latin typeface="宋体" panose="02010600030101010101" pitchFamily="2" charset="-122"/>
              </a:rPr>
              <a:t>中</a:t>
            </a:r>
            <a:r>
              <a:rPr kumimoji="1" lang="en-US" altLang="zh-CN" b="1" dirty="0">
                <a:latin typeface="宋体" panose="02010600030101010101" pitchFamily="2" charset="-122"/>
              </a:rPr>
              <a:t>OF</a:t>
            </a:r>
            <a:r>
              <a:rPr kumimoji="1" lang="zh-CN" altLang="en-US" b="1" dirty="0">
                <a:latin typeface="宋体" panose="02010600030101010101" pitchFamily="2" charset="-122"/>
              </a:rPr>
              <a:t>错→加减法器</a:t>
            </a:r>
            <a:r>
              <a:rPr kumimoji="1" lang="zh-CN" altLang="en-US" b="1" u="sng" dirty="0">
                <a:latin typeface="宋体" panose="02010600030101010101" pitchFamily="2" charset="-122"/>
              </a:rPr>
              <a:t>参数选错</a:t>
            </a:r>
            <a:r>
              <a:rPr kumimoji="1" lang="zh-CN" altLang="en-US" b="1" dirty="0">
                <a:latin typeface="宋体" panose="02010600030101010101" pitchFamily="2" charset="-122"/>
              </a:rPr>
              <a:t>，花</a:t>
            </a:r>
            <a:r>
              <a:rPr kumimoji="1" lang="en-US" altLang="zh-CN" b="1" dirty="0">
                <a:latin typeface="宋体" panose="02010600030101010101" pitchFamily="2" charset="-122"/>
              </a:rPr>
              <a:t>30min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教训</a:t>
            </a:r>
            <a:r>
              <a:rPr kumimoji="1"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2—</a:t>
            </a:r>
            <a:r>
              <a:rPr kumimoji="1" lang="en-US" altLang="zh-CN" b="1" dirty="0">
                <a:latin typeface="宋体" panose="02010600030101010101" pitchFamily="2" charset="-122"/>
              </a:rPr>
              <a:t>DP</a:t>
            </a:r>
            <a:r>
              <a:rPr kumimoji="1" lang="zh-CN" altLang="en-US" b="1" dirty="0">
                <a:latin typeface="宋体" panose="02010600030101010101" pitchFamily="2" charset="-122"/>
              </a:rPr>
              <a:t>仿真时</a:t>
            </a:r>
            <a:r>
              <a:rPr kumimoji="1" lang="en-US" altLang="zh-CN" b="1" dirty="0" err="1">
                <a:latin typeface="宋体" panose="02010600030101010101" pitchFamily="2" charset="-122"/>
              </a:rPr>
              <a:t>lw</a:t>
            </a:r>
            <a:r>
              <a:rPr kumimoji="1" lang="zh-CN" altLang="en-US" b="1" dirty="0">
                <a:latin typeface="宋体" panose="02010600030101010101" pitchFamily="2" charset="-122"/>
              </a:rPr>
              <a:t>指令有错→</a:t>
            </a:r>
            <a:r>
              <a:rPr kumimoji="1" lang="en-US" altLang="zh-CN" b="1" dirty="0">
                <a:latin typeface="宋体" panose="02010600030101010101" pitchFamily="2" charset="-122"/>
              </a:rPr>
              <a:t>RAM</a:t>
            </a:r>
            <a:r>
              <a:rPr kumimoji="1" lang="zh-CN" altLang="en-US" b="1" dirty="0">
                <a:latin typeface="宋体" panose="02010600030101010101" pitchFamily="2" charset="-122"/>
              </a:rPr>
              <a:t>输出滞后</a:t>
            </a:r>
            <a:r>
              <a:rPr kumimoji="1" lang="en-US" altLang="zh-CN" b="1" dirty="0">
                <a:latin typeface="宋体" panose="02010600030101010101" pitchFamily="2" charset="-122"/>
              </a:rPr>
              <a:t>1CLK</a:t>
            </a:r>
            <a:r>
              <a:rPr kumimoji="1" lang="zh-CN" altLang="en-US" b="1" dirty="0">
                <a:latin typeface="宋体" panose="02010600030101010101" pitchFamily="2" charset="-122"/>
              </a:rPr>
              <a:t>→</a:t>
            </a:r>
            <a:r>
              <a:rPr kumimoji="1" lang="en-US" altLang="zh-CN" b="1" dirty="0">
                <a:latin typeface="宋体" panose="02010600030101010101" pitchFamily="2" charset="-122"/>
              </a:rPr>
              <a:t>RAM</a:t>
            </a:r>
            <a:r>
              <a:rPr kumimoji="1" lang="zh-CN" altLang="en-US" b="1" u="sng" dirty="0">
                <a:latin typeface="宋体" panose="02010600030101010101" pitchFamily="2" charset="-122"/>
              </a:rPr>
              <a:t>参数选错</a:t>
            </a:r>
            <a:r>
              <a:rPr kumimoji="1" lang="zh-CN" altLang="en-US" b="1" dirty="0">
                <a:latin typeface="宋体" panose="02010600030101010101" pitchFamily="2" charset="-122"/>
              </a:rPr>
              <a:t>，花</a:t>
            </a:r>
            <a:r>
              <a:rPr kumimoji="1" lang="en-US" altLang="zh-CN" b="1" dirty="0">
                <a:latin typeface="宋体" panose="02010600030101010101" pitchFamily="2" charset="-122"/>
              </a:rPr>
              <a:t>20min</a:t>
            </a:r>
            <a:endParaRPr kumimoji="1" lang="en-US" altLang="zh-CN" b="1" u="sng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200" b="1" dirty="0">
                <a:latin typeface="宋体" panose="02010600030101010101" pitchFamily="2" charset="-122"/>
              </a:rPr>
              <a:t>    认真</a:t>
            </a:r>
            <a:r>
              <a:rPr kumimoji="1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测试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add_sub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D-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dff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RAM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，</a:t>
            </a:r>
            <a:r>
              <a:rPr kumimoji="1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保存文件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可反复测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sz="2200" b="1" dirty="0">
              <a:latin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23528" y="3454319"/>
            <a:ext cx="8640584" cy="1296002"/>
            <a:chOff x="323528" y="3140966"/>
            <a:chExt cx="8640584" cy="1296002"/>
          </a:xfrm>
        </p:grpSpPr>
        <p:grpSp>
          <p:nvGrpSpPr>
            <p:cNvPr id="12" name="组合 11"/>
            <p:cNvGrpSpPr/>
            <p:nvPr/>
          </p:nvGrpSpPr>
          <p:grpSpPr>
            <a:xfrm>
              <a:off x="323528" y="3204002"/>
              <a:ext cx="1656000" cy="1044001"/>
              <a:chOff x="1014784" y="3422916"/>
              <a:chExt cx="1656000" cy="1161263"/>
            </a:xfrm>
          </p:grpSpPr>
          <p:sp>
            <p:nvSpPr>
              <p:cNvPr id="41" name="AutoShape 47"/>
              <p:cNvSpPr>
                <a:spLocks noChangeArrowheads="1"/>
              </p:cNvSpPr>
              <p:nvPr/>
            </p:nvSpPr>
            <p:spPr bwMode="auto">
              <a:xfrm rot="10800000">
                <a:off x="1518784" y="3703216"/>
                <a:ext cx="648000" cy="720782"/>
              </a:xfrm>
              <a:prstGeom prst="moon">
                <a:avLst>
                  <a:gd name="adj" fmla="val 72818"/>
                </a:avLst>
              </a:prstGeom>
              <a:noFill/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1266784" y="3823348"/>
                <a:ext cx="216000" cy="2464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32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3" name="直接连接符 42"/>
              <p:cNvCxnSpPr/>
              <p:nvPr/>
            </p:nvCxnSpPr>
            <p:spPr>
              <a:xfrm>
                <a:off x="1014784" y="3823344"/>
                <a:ext cx="61200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5400000" flipH="1" flipV="1">
                <a:off x="1187090" y="3771900"/>
                <a:ext cx="152400" cy="762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/>
              <p:cNvSpPr txBox="1"/>
              <p:nvPr/>
            </p:nvSpPr>
            <p:spPr>
              <a:xfrm>
                <a:off x="1266784" y="4263828"/>
                <a:ext cx="216000" cy="2464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32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6" name="直接连接符 45"/>
              <p:cNvCxnSpPr/>
              <p:nvPr/>
            </p:nvCxnSpPr>
            <p:spPr>
              <a:xfrm>
                <a:off x="1014784" y="4263825"/>
                <a:ext cx="64800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5400000" flipH="1" flipV="1">
                <a:off x="1187090" y="4229100"/>
                <a:ext cx="152400" cy="762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2310784" y="4063610"/>
                <a:ext cx="216000" cy="2464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32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9" name="直接连接符 48"/>
              <p:cNvCxnSpPr/>
              <p:nvPr/>
            </p:nvCxnSpPr>
            <p:spPr>
              <a:xfrm>
                <a:off x="2166784" y="4038599"/>
                <a:ext cx="50400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5400000" flipH="1" flipV="1">
                <a:off x="2231089" y="4000500"/>
                <a:ext cx="152400" cy="762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矩形 50"/>
              <p:cNvSpPr/>
              <p:nvPr/>
            </p:nvSpPr>
            <p:spPr>
              <a:xfrm>
                <a:off x="1122784" y="3422917"/>
                <a:ext cx="1440000" cy="1161262"/>
              </a:xfrm>
              <a:prstGeom prst="rect">
                <a:avLst/>
              </a:prstGeom>
              <a:noFill/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1374784" y="3422916"/>
                <a:ext cx="864000" cy="24026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lpm_</a:t>
                </a:r>
                <a:r>
                  <a:rPr lang="en-US" altLang="zh-CN" sz="1600" b="1" dirty="0">
                    <a:solidFill>
                      <a:srgbClr val="3333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or</a:t>
                </a: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2123728" y="3140966"/>
              <a:ext cx="3348184" cy="1215033"/>
              <a:chOff x="4495800" y="3276600"/>
              <a:chExt cx="3348184" cy="1357978"/>
            </a:xfrm>
          </p:grpSpPr>
          <p:cxnSp>
            <p:nvCxnSpPr>
              <p:cNvPr id="30" name="直接连接符 29"/>
              <p:cNvCxnSpPr/>
              <p:nvPr/>
            </p:nvCxnSpPr>
            <p:spPr>
              <a:xfrm>
                <a:off x="4495800" y="3749400"/>
                <a:ext cx="147600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4495800" y="4191000"/>
                <a:ext cx="147600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6331984" y="3962400"/>
                <a:ext cx="1512000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矩形 32"/>
              <p:cNvSpPr/>
              <p:nvPr/>
            </p:nvSpPr>
            <p:spPr>
              <a:xfrm>
                <a:off x="4603984" y="3276600"/>
                <a:ext cx="3168000" cy="1247294"/>
              </a:xfrm>
              <a:prstGeom prst="rect">
                <a:avLst/>
              </a:prstGeom>
              <a:noFill/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5791200" y="3276601"/>
                <a:ext cx="900000" cy="24141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lpm_</a:t>
                </a:r>
                <a:r>
                  <a:rPr lang="en-US" altLang="zh-CN" sz="1600" b="1" dirty="0">
                    <a:solidFill>
                      <a:srgbClr val="3333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mux</a:t>
                </a: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2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4603984" y="3507989"/>
                <a:ext cx="1368000" cy="24141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data</a:t>
                </a:r>
                <a:r>
                  <a:rPr lang="en-US" altLang="zh-CN" sz="1600" b="1" dirty="0">
                    <a:solidFill>
                      <a:srgbClr val="990099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1x</a:t>
                </a: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[31..0]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流程图: 手动操作 35"/>
              <p:cNvSpPr/>
              <p:nvPr/>
            </p:nvSpPr>
            <p:spPr>
              <a:xfrm rot="16200000">
                <a:off x="5711970" y="3770577"/>
                <a:ext cx="885176" cy="360000"/>
              </a:xfrm>
              <a:prstGeom prst="flowChartManualOperation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4603984" y="3950577"/>
                <a:ext cx="1368000" cy="24141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data</a:t>
                </a:r>
                <a:r>
                  <a:rPr lang="en-US" altLang="zh-CN" sz="1600" b="1" dirty="0">
                    <a:solidFill>
                      <a:srgbClr val="990099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0x</a:t>
                </a: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[31..0]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6367984" y="3709165"/>
                <a:ext cx="1368000" cy="24141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result[31..0]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9" name="直接连接符 38"/>
              <p:cNvCxnSpPr/>
              <p:nvPr/>
            </p:nvCxnSpPr>
            <p:spPr>
              <a:xfrm flipH="1" flipV="1">
                <a:off x="6151984" y="4312696"/>
                <a:ext cx="0" cy="321882"/>
              </a:xfrm>
              <a:prstGeom prst="line">
                <a:avLst/>
              </a:prstGeom>
              <a:ln w="15875">
                <a:solidFill>
                  <a:srgbClr val="FF3399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/>
              <p:cNvSpPr txBox="1"/>
              <p:nvPr/>
            </p:nvSpPr>
            <p:spPr>
              <a:xfrm>
                <a:off x="6151984" y="4272460"/>
                <a:ext cx="360000" cy="2414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err="1">
                    <a:latin typeface="+mn-ea"/>
                    <a:ea typeface="+mn-ea"/>
                    <a:cs typeface="Times New Roman" panose="02020603050405020304" pitchFamily="18" charset="0"/>
                  </a:rPr>
                  <a:t>sel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5580112" y="3140968"/>
              <a:ext cx="3384000" cy="1296000"/>
              <a:chOff x="591784" y="5055886"/>
              <a:chExt cx="3384000" cy="1446808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591784" y="5578346"/>
                <a:ext cx="1440000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591784" y="6020426"/>
                <a:ext cx="1440000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2427784" y="5779289"/>
                <a:ext cx="1548000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矩形 17"/>
              <p:cNvSpPr/>
              <p:nvPr/>
            </p:nvSpPr>
            <p:spPr>
              <a:xfrm>
                <a:off x="700231" y="5055886"/>
                <a:ext cx="3204000" cy="1326241"/>
              </a:xfrm>
              <a:prstGeom prst="rect">
                <a:avLst/>
              </a:prstGeom>
              <a:noFill/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707784" y="5055887"/>
                <a:ext cx="1371600" cy="2411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lpm_</a:t>
                </a:r>
                <a:r>
                  <a:rPr lang="en-US" altLang="zh-CN" sz="1600" b="1" dirty="0">
                    <a:solidFill>
                      <a:srgbClr val="3333FF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add_sub</a:t>
                </a: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735784" y="5337211"/>
                <a:ext cx="1260000" cy="2411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 err="1">
                    <a:latin typeface="+mn-ea"/>
                    <a:ea typeface="+mn-ea"/>
                    <a:cs typeface="Times New Roman" panose="02020603050405020304" pitchFamily="18" charset="0"/>
                  </a:rPr>
                  <a:t>data</a:t>
                </a:r>
                <a:r>
                  <a:rPr lang="en-US" altLang="zh-CN" sz="1600" b="1" dirty="0" err="1">
                    <a:solidFill>
                      <a:srgbClr val="990099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a</a:t>
                </a: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[31..0]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流程图: 手动操作 20"/>
              <p:cNvSpPr/>
              <p:nvPr/>
            </p:nvSpPr>
            <p:spPr>
              <a:xfrm rot="16200000">
                <a:off x="1768128" y="5600700"/>
                <a:ext cx="914400" cy="381000"/>
              </a:xfrm>
              <a:prstGeom prst="flowChartManualOperation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735784" y="5779291"/>
                <a:ext cx="1260000" cy="2411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 err="1">
                    <a:latin typeface="+mn-ea"/>
                    <a:ea typeface="+mn-ea"/>
                    <a:cs typeface="Times New Roman" panose="02020603050405020304" pitchFamily="18" charset="0"/>
                  </a:rPr>
                  <a:t>data</a:t>
                </a:r>
                <a:r>
                  <a:rPr lang="en-US" altLang="zh-CN" sz="1600" b="1" dirty="0" err="1">
                    <a:solidFill>
                      <a:srgbClr val="990099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b</a:t>
                </a: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[31..0]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499784" y="5538154"/>
                <a:ext cx="1368000" cy="2411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result[31..0]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4" name="直接连接符 23"/>
              <p:cNvCxnSpPr/>
              <p:nvPr/>
            </p:nvCxnSpPr>
            <p:spPr>
              <a:xfrm rot="16200000" flipV="1">
                <a:off x="2051004" y="6341938"/>
                <a:ext cx="321513" cy="0"/>
              </a:xfrm>
              <a:prstGeom prst="line">
                <a:avLst/>
              </a:prstGeom>
              <a:ln w="15875">
                <a:solidFill>
                  <a:srgbClr val="FF3399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/>
              <p:cNvSpPr txBox="1"/>
              <p:nvPr/>
            </p:nvSpPr>
            <p:spPr>
              <a:xfrm>
                <a:off x="2247784" y="6100802"/>
                <a:ext cx="252000" cy="2411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op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6" name="直接连接符 96"/>
              <p:cNvCxnSpPr/>
              <p:nvPr/>
            </p:nvCxnSpPr>
            <p:spPr>
              <a:xfrm>
                <a:off x="2427784" y="5859667"/>
                <a:ext cx="1548000" cy="160756"/>
              </a:xfrm>
              <a:prstGeom prst="bentConnector3">
                <a:avLst>
                  <a:gd name="adj1" fmla="val 16166"/>
                </a:avLst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2743200" y="5791200"/>
                <a:ext cx="864000" cy="2411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overflow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8" name="直接连接符 96"/>
              <p:cNvCxnSpPr/>
              <p:nvPr/>
            </p:nvCxnSpPr>
            <p:spPr>
              <a:xfrm>
                <a:off x="2427784" y="5980234"/>
                <a:ext cx="1548000" cy="281324"/>
              </a:xfrm>
              <a:prstGeom prst="bentConnector3">
                <a:avLst>
                  <a:gd name="adj1" fmla="val 11654"/>
                </a:avLst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2751784" y="6020424"/>
                <a:ext cx="468000" cy="2411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 err="1">
                    <a:latin typeface="+mn-ea"/>
                    <a:ea typeface="+mn-ea"/>
                    <a:cs typeface="Times New Roman" panose="02020603050405020304" pitchFamily="18" charset="0"/>
                  </a:rPr>
                  <a:t>cout</a:t>
                </a:r>
                <a:endPara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56" name="Text Box 116"/>
          <p:cNvSpPr txBox="1">
            <a:spLocks noChangeArrowheads="1"/>
          </p:cNvSpPr>
          <p:nvPr/>
        </p:nvSpPr>
        <p:spPr bwMode="auto">
          <a:xfrm>
            <a:off x="179512" y="2924944"/>
            <a:ext cx="8785225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*组合逻辑模块：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门电路、多路选择器、</a:t>
            </a:r>
            <a:r>
              <a:rPr kumimoji="1" lang="zh-CN" altLang="en-US" sz="2200" b="1" u="sng" dirty="0">
                <a:latin typeface="宋体" panose="02010600030101010101" pitchFamily="2" charset="-122"/>
              </a:rPr>
              <a:t>加减法器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、译码器</a:t>
            </a:r>
            <a:endParaRPr kumimoji="1"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59" name="Text Box 116"/>
          <p:cNvSpPr txBox="1">
            <a:spLocks noChangeArrowheads="1"/>
          </p:cNvSpPr>
          <p:nvPr/>
        </p:nvSpPr>
        <p:spPr bwMode="auto">
          <a:xfrm>
            <a:off x="179513" y="4653136"/>
            <a:ext cx="5976663" cy="8088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注意点</a:t>
            </a:r>
            <a:r>
              <a:rPr kumimoji="1"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kumimoji="1" lang="en-US" altLang="zh-CN" sz="2000" b="1" dirty="0">
                <a:latin typeface="宋体" panose="02010600030101010101" pitchFamily="2" charset="-122"/>
              </a:rPr>
              <a:t>①</a:t>
            </a:r>
            <a:r>
              <a:rPr kumimoji="1" lang="en-US" altLang="zh-CN" sz="2000" b="1" dirty="0" err="1">
                <a:latin typeface="宋体" panose="02010600030101010101" pitchFamily="2" charset="-122"/>
              </a:rPr>
              <a:t>lmp</a:t>
            </a:r>
            <a:r>
              <a:rPr kumimoji="1" lang="en-US" altLang="zh-CN" sz="2000" b="1" dirty="0">
                <a:latin typeface="宋体" panose="02010600030101010101" pitchFamily="2" charset="-122"/>
              </a:rPr>
              <a:t>_</a:t>
            </a:r>
            <a:r>
              <a:rPr kumimoji="1" lang="zh-CN" altLang="en-US" sz="2000" b="1" dirty="0">
                <a:latin typeface="宋体" panose="02010600030101010101" pitchFamily="2" charset="-122"/>
              </a:rPr>
              <a:t>器件引脚</a:t>
            </a:r>
            <a:r>
              <a:rPr kumimoji="1" lang="en-US" altLang="zh-CN" sz="2000" b="1" dirty="0">
                <a:latin typeface="宋体" panose="02010600030101010101" pitchFamily="2" charset="-122"/>
              </a:rPr>
              <a:t>/</a:t>
            </a:r>
            <a:r>
              <a:rPr kumimoji="1" lang="zh-CN" altLang="en-US" sz="2000" b="1" dirty="0">
                <a:latin typeface="宋体" panose="02010600030101010101" pitchFamily="2" charset="-122"/>
              </a:rPr>
              <a:t>参数</a:t>
            </a:r>
            <a:r>
              <a:rPr kumimoji="1" lang="en-US" altLang="zh-CN" sz="2000" b="1" dirty="0">
                <a:latin typeface="宋体" panose="02010600030101010101" pitchFamily="2" charset="-122"/>
              </a:rPr>
              <a:t>-</a:t>
            </a:r>
            <a:r>
              <a:rPr kumimoji="1" lang="zh-CN" altLang="en-US" sz="2000" b="1" dirty="0">
                <a:latin typeface="宋体" panose="02010600030101010101" pitchFamily="2" charset="-122"/>
              </a:rPr>
              <a:t>功能表的</a:t>
            </a:r>
            <a:r>
              <a:rPr kumimoji="1"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关系</a:t>
            </a:r>
            <a:endParaRPr kumimoji="1"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000" b="1" dirty="0">
                <a:latin typeface="宋体" panose="02010600030101010101" pitchFamily="2" charset="-122"/>
              </a:rPr>
              <a:t>            </a:t>
            </a:r>
            <a:r>
              <a:rPr kumimoji="1" lang="zh-CN" altLang="en-US" sz="2000" b="1" dirty="0">
                <a:latin typeface="宋体" panose="02010600030101010101" pitchFamily="2" charset="-122"/>
              </a:rPr>
              <a:t>②测试时应枚举功能表中</a:t>
            </a:r>
            <a:r>
              <a:rPr kumimoji="1"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所有功能</a:t>
            </a:r>
            <a:r>
              <a:rPr kumimoji="1" lang="zh-CN" altLang="en-US" sz="2000" b="1" dirty="0">
                <a:latin typeface="宋体" panose="02010600030101010101" pitchFamily="2" charset="-122"/>
              </a:rPr>
              <a:t>！</a:t>
            </a:r>
            <a:endParaRPr kumimoji="1" lang="en-US" altLang="zh-CN" sz="2000" b="1" baseline="-14000" dirty="0">
              <a:latin typeface="宋体" panose="02010600030101010101" pitchFamily="2" charset="-122"/>
            </a:endParaRPr>
          </a:p>
        </p:txBody>
      </p:sp>
      <p:sp>
        <p:nvSpPr>
          <p:cNvPr id="58" name="AutoShape 32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6840488" y="4822473"/>
            <a:ext cx="2124000" cy="792000"/>
            <a:chOff x="6804000" y="4430450"/>
            <a:chExt cx="2124000" cy="792000"/>
          </a:xfrm>
        </p:grpSpPr>
        <p:sp>
          <p:nvSpPr>
            <p:cNvPr id="61" name="线形标注 1 60"/>
            <p:cNvSpPr/>
            <p:nvPr/>
          </p:nvSpPr>
          <p:spPr bwMode="auto">
            <a:xfrm>
              <a:off x="6804000" y="4430450"/>
              <a:ext cx="2124000" cy="792000"/>
            </a:xfrm>
            <a:prstGeom prst="borderCallout1">
              <a:avLst>
                <a:gd name="adj1" fmla="val 48516"/>
                <a:gd name="adj2" fmla="val 642"/>
                <a:gd name="adj3" fmla="val -23361"/>
                <a:gd name="adj4" fmla="val -12433"/>
              </a:avLst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med" len="med"/>
            </a:ln>
            <a:effectLst/>
          </p:spPr>
          <p:txBody>
            <a:bodyPr vert="horz" wrap="square" lIns="36000" tIns="10800" rIns="36000" bIns="10800" numCol="1" rtlCol="0" anchor="t" anchorCtr="0" compatLnSpc="1"/>
            <a:lstStyle/>
            <a:p>
              <a:r>
                <a:rPr lang="en-US" altLang="zh-CN" sz="1600" b="1" dirty="0" err="1">
                  <a:latin typeface="+mn-ea"/>
                  <a:ea typeface="+mn-ea"/>
                </a:rPr>
                <a:t>cin</a:t>
              </a:r>
              <a:r>
                <a:rPr lang="zh-CN" altLang="en-US" sz="1600" b="1" dirty="0">
                  <a:latin typeface="+mn-ea"/>
                  <a:ea typeface="+mn-ea"/>
                </a:rPr>
                <a:t>功能为</a:t>
              </a:r>
              <a:r>
                <a:rPr lang="en-US" altLang="zh-CN" sz="1600" b="1" dirty="0">
                  <a:latin typeface="+mn-ea"/>
                  <a:ea typeface="+mn-ea"/>
                </a:rPr>
                <a:t>A</a:t>
              </a:r>
              <a:r>
                <a:rPr lang="zh-CN" altLang="en-US" sz="1600" b="1" dirty="0">
                  <a:latin typeface="+mn-ea"/>
                  <a:ea typeface="+mn-ea"/>
                </a:rPr>
                <a:t>＋</a:t>
              </a:r>
              <a:r>
                <a:rPr lang="en-US" altLang="zh-CN" sz="1600" b="1" dirty="0">
                  <a:latin typeface="+mn-ea"/>
                  <a:ea typeface="+mn-ea"/>
                </a:rPr>
                <a:t>B</a:t>
              </a:r>
              <a:r>
                <a:rPr lang="zh-CN" altLang="en-US" sz="1600" b="1" dirty="0">
                  <a:latin typeface="+mn-ea"/>
                  <a:ea typeface="+mn-ea"/>
                </a:rPr>
                <a:t>＋</a:t>
              </a:r>
              <a:r>
                <a:rPr lang="en-US" altLang="zh-CN" sz="1600" b="1" dirty="0" err="1">
                  <a:latin typeface="+mn-ea"/>
                  <a:ea typeface="+mn-ea"/>
                </a:rPr>
                <a:t>cin</a:t>
              </a:r>
              <a:r>
                <a:rPr lang="zh-CN" altLang="en-US" sz="1600" b="1" dirty="0">
                  <a:latin typeface="+mn-ea"/>
                  <a:ea typeface="+mn-ea"/>
                </a:rPr>
                <a:t>、</a:t>
              </a:r>
              <a:r>
                <a:rPr lang="en-US" altLang="zh-CN" sz="1600" b="1" dirty="0">
                  <a:latin typeface="+mn-ea"/>
                </a:rPr>
                <a:t> A</a:t>
              </a:r>
              <a:r>
                <a:rPr lang="zh-CN" altLang="en-US" sz="1600" b="1" dirty="0">
                  <a:latin typeface="+mn-ea"/>
                </a:rPr>
                <a:t>－</a:t>
              </a:r>
              <a:r>
                <a:rPr lang="en-US" altLang="zh-CN" sz="1600" b="1" dirty="0">
                  <a:latin typeface="+mn-ea"/>
                </a:rPr>
                <a:t>B</a:t>
              </a:r>
              <a:r>
                <a:rPr lang="zh-CN" altLang="en-US" sz="1600" b="1" dirty="0">
                  <a:latin typeface="+mn-ea"/>
                </a:rPr>
                <a:t>－</a:t>
              </a:r>
              <a:r>
                <a:rPr lang="en-US" altLang="zh-CN" sz="1600" b="1" dirty="0" err="1">
                  <a:latin typeface="+mn-ea"/>
                </a:rPr>
                <a:t>cin</a:t>
              </a:r>
              <a:r>
                <a:rPr lang="zh-CN" altLang="en-US" sz="1600" b="1" dirty="0">
                  <a:latin typeface="+mn-ea"/>
                </a:rPr>
                <a:t>，未用时应缺省</a:t>
              </a:r>
              <a:r>
                <a:rPr lang="en-US" altLang="zh-CN" sz="1600" b="1" dirty="0">
                  <a:latin typeface="+mn-ea"/>
                </a:rPr>
                <a:t>(</a:t>
              </a:r>
              <a:r>
                <a:rPr lang="zh-CN" altLang="en-US" sz="1600" b="1" dirty="0">
                  <a:latin typeface="+mn-ea"/>
                </a:rPr>
                <a:t>＋</a:t>
              </a:r>
              <a:r>
                <a:rPr lang="en-US" altLang="zh-CN" sz="1600" b="1" dirty="0">
                  <a:latin typeface="+mn-ea"/>
                </a:rPr>
                <a:t>/</a:t>
              </a:r>
              <a:r>
                <a:rPr lang="zh-CN" altLang="en-US" sz="1600" b="1" dirty="0">
                  <a:latin typeface="+mn-ea"/>
                </a:rPr>
                <a:t>－时为</a:t>
              </a:r>
              <a:r>
                <a:rPr lang="en-US" altLang="zh-CN" sz="1600" b="1" dirty="0">
                  <a:latin typeface="+mn-ea"/>
                </a:rPr>
                <a:t>0/1)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62" name="直接连接符 61"/>
            <p:cNvCxnSpPr/>
            <p:nvPr/>
          </p:nvCxnSpPr>
          <p:spPr bwMode="auto">
            <a:xfrm>
              <a:off x="7452000" y="4727330"/>
              <a:ext cx="32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5" name="Text Box 116"/>
          <p:cNvSpPr txBox="1">
            <a:spLocks noChangeArrowheads="1"/>
          </p:cNvSpPr>
          <p:nvPr/>
        </p:nvSpPr>
        <p:spPr bwMode="auto">
          <a:xfrm>
            <a:off x="1152143" y="5805264"/>
            <a:ext cx="7740415" cy="57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8000" tIns="10800" rIns="18000" bIns="10800">
            <a:noAutofit/>
          </a:bodyPr>
          <a:lstStyle/>
          <a:p>
            <a:r>
              <a:rPr kumimoji="1" lang="zh-CN" altLang="en-US" b="1" dirty="0">
                <a:solidFill>
                  <a:srgbClr val="0070C0"/>
                </a:solidFill>
                <a:latin typeface="宋体" panose="02010600030101010101" pitchFamily="2" charset="-122"/>
              </a:rPr>
              <a:t>分析内容：</a:t>
            </a:r>
            <a:r>
              <a:rPr kumimoji="1" lang="en-US" altLang="zh-CN" b="1" dirty="0">
                <a:latin typeface="宋体" panose="02010600030101010101" pitchFamily="2" charset="-122"/>
              </a:rPr>
              <a:t>result</a:t>
            </a:r>
            <a:r>
              <a:rPr kumimoji="1" lang="zh-CN" altLang="en-US" b="1" dirty="0">
                <a:latin typeface="宋体" panose="02010600030101010101" pitchFamily="2" charset="-122"/>
              </a:rPr>
              <a:t>、</a:t>
            </a:r>
            <a:r>
              <a:rPr kumimoji="1" lang="en-US" altLang="zh-CN" b="1" dirty="0">
                <a:latin typeface="宋体" panose="02010600030101010101" pitchFamily="2" charset="-122"/>
              </a:rPr>
              <a:t>OF</a:t>
            </a:r>
            <a:r>
              <a:rPr kumimoji="1" lang="zh-CN" altLang="en-US" b="1" dirty="0">
                <a:latin typeface="宋体" panose="02010600030101010101" pitchFamily="2" charset="-122"/>
              </a:rPr>
              <a:t>、</a:t>
            </a:r>
            <a:r>
              <a:rPr kumimoji="1" lang="en-US" altLang="zh-CN" b="1" dirty="0" err="1"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[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即</a:t>
            </a:r>
            <a:r>
              <a:rPr kumimoji="1"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1600" b="1" i="1" baseline="-1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1600" b="1" baseline="-14000" dirty="0">
                <a:latin typeface="宋体" panose="02010600030101010101" pitchFamily="2" charset="-122"/>
              </a:rPr>
              <a:t>-1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]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r>
              <a:rPr kumimoji="1" lang="zh-CN" altLang="en-US" b="1" dirty="0">
                <a:solidFill>
                  <a:srgbClr val="0070C0"/>
                </a:solidFill>
                <a:latin typeface="宋体" panose="02010600030101010101" pitchFamily="2" charset="-122"/>
              </a:rPr>
              <a:t>数据组织：</a:t>
            </a:r>
            <a:r>
              <a:rPr kumimoji="1" lang="en-US" altLang="zh-CN" b="1" dirty="0">
                <a:latin typeface="宋体" panose="02010600030101010101" pitchFamily="2" charset="-122"/>
              </a:rPr>
              <a:t>OF</a:t>
            </a:r>
            <a:r>
              <a:rPr kumimoji="1" lang="zh-CN" altLang="en-US" b="1" dirty="0">
                <a:latin typeface="宋体" panose="02010600030101010101" pitchFamily="2" charset="-122"/>
              </a:rPr>
              <a:t>需</a:t>
            </a:r>
            <a:r>
              <a:rPr kumimoji="1" lang="en-US" altLang="zh-CN" b="1" dirty="0">
                <a:latin typeface="宋体" panose="02010600030101010101" pitchFamily="2" charset="-122"/>
              </a:rPr>
              <a:t>6</a:t>
            </a:r>
            <a:r>
              <a:rPr kumimoji="1" lang="zh-CN" altLang="en-US" b="1" dirty="0">
                <a:latin typeface="宋体" panose="02010600030101010101" pitchFamily="2" charset="-122"/>
              </a:rPr>
              <a:t>组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/>
              <a:t>正溢出</a:t>
            </a:r>
            <a:r>
              <a:rPr lang="en-US" altLang="zh-CN" sz="1600" b="1" dirty="0"/>
              <a:t>/</a:t>
            </a:r>
            <a:r>
              <a:rPr lang="zh-CN" altLang="en-US" sz="1600" b="1" dirty="0"/>
              <a:t>负溢出</a:t>
            </a:r>
            <a:r>
              <a:rPr lang="en-US" altLang="zh-CN" sz="1600" b="1" dirty="0"/>
              <a:t>/</a:t>
            </a:r>
            <a:r>
              <a:rPr lang="zh-CN" altLang="en-US" sz="1600" b="1" dirty="0"/>
              <a:t>不溢出</a:t>
            </a:r>
            <a:r>
              <a:rPr lang="en-US" altLang="zh-CN" sz="1600" b="1" dirty="0"/>
              <a:t>×</a:t>
            </a:r>
            <a:r>
              <a:rPr lang="en-US" altLang="zh-CN" sz="1600" b="1" dirty="0">
                <a:latin typeface="+mn-ea"/>
                <a:ea typeface="+mn-ea"/>
              </a:rPr>
              <a:t>2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)</a:t>
            </a:r>
            <a:r>
              <a:rPr kumimoji="1" lang="zh-CN" altLang="en-US" b="1" dirty="0">
                <a:latin typeface="宋体" panose="02010600030101010101" pitchFamily="2" charset="-122"/>
              </a:rPr>
              <a:t>、</a:t>
            </a:r>
            <a:r>
              <a:rPr kumimoji="1" lang="en-US" altLang="zh-CN" b="1" dirty="0" err="1">
                <a:latin typeface="宋体" panose="02010600030101010101" pitchFamily="2" charset="-122"/>
              </a:rPr>
              <a:t>cout</a:t>
            </a:r>
            <a:r>
              <a:rPr kumimoji="1" lang="zh-CN" altLang="en-US" b="1" dirty="0">
                <a:latin typeface="宋体" panose="02010600030101010101" pitchFamily="2" charset="-122"/>
              </a:rPr>
              <a:t>需</a:t>
            </a:r>
            <a:r>
              <a:rPr kumimoji="1" lang="en-US" altLang="zh-CN" b="1" dirty="0">
                <a:latin typeface="宋体" panose="02010600030101010101" pitchFamily="2" charset="-122"/>
              </a:rPr>
              <a:t>4</a:t>
            </a:r>
            <a:r>
              <a:rPr kumimoji="1" lang="zh-CN" altLang="en-US" b="1" dirty="0">
                <a:latin typeface="宋体" panose="02010600030101010101" pitchFamily="2" charset="-122"/>
              </a:rPr>
              <a:t>组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可与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OF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重叠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)</a:t>
            </a:r>
            <a:endParaRPr kumimoji="1"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60" name="Text Box 116"/>
          <p:cNvSpPr txBox="1">
            <a:spLocks noChangeArrowheads="1"/>
          </p:cNvSpPr>
          <p:nvPr/>
        </p:nvSpPr>
        <p:spPr bwMode="auto">
          <a:xfrm>
            <a:off x="756224" y="5517232"/>
            <a:ext cx="583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kumimoji="1"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kumimoji="1" lang="zh-CN" altLang="en-US" b="1" dirty="0">
                <a:latin typeface="宋体" panose="02010600030101010101" pitchFamily="2" charset="-122"/>
              </a:rPr>
              <a:t>测试加减法器时，应分析哪些内容？数据需几组？</a:t>
            </a:r>
            <a:endParaRPr kumimoji="1"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63" name="AutoShape 32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6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16"/>
          <p:cNvSpPr txBox="1">
            <a:spLocks noChangeArrowheads="1"/>
          </p:cNvSpPr>
          <p:nvPr/>
        </p:nvSpPr>
        <p:spPr bwMode="auto">
          <a:xfrm>
            <a:off x="130175" y="404664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*时序逻辑模块：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寄存器、计数器，存储器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寄存器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仅写、同步清零为时序逻辑操作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受</a:t>
            </a:r>
            <a:r>
              <a:rPr kumimoji="1" lang="en-US" altLang="zh-CN" b="1" dirty="0">
                <a:latin typeface="宋体" panose="02010600030101010101" pitchFamily="2" charset="-122"/>
              </a:rPr>
              <a:t>clock</a:t>
            </a:r>
            <a:r>
              <a:rPr kumimoji="1" lang="zh-CN" altLang="en-US" b="1" dirty="0">
                <a:latin typeface="宋体" panose="02010600030101010101" pitchFamily="2" charset="-122"/>
              </a:rPr>
              <a:t>控制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sz="2000" b="1" dirty="0">
              <a:latin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068000" y="1332000"/>
          <a:ext cx="4343400" cy="1275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599"/>
                <a:gridCol w="838200"/>
                <a:gridCol w="685802"/>
                <a:gridCol w="685800"/>
                <a:gridCol w="609599"/>
                <a:gridCol w="914400"/>
              </a:tblGrid>
              <a:tr h="255166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aclr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enable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clock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data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功能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</a:tr>
              <a:tr h="255166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×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×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×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清零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5166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↑</a:t>
                      </a:r>
                      <a:endParaRPr lang="zh-CN" altLang="en-US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写入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  <a:tr h="255166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非↑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×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原</a:t>
                      </a:r>
                      <a:endParaRPr lang="zh-CN" altLang="en-US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保持</a:t>
                      </a:r>
                      <a:endParaRPr lang="en-US" altLang="zh-CN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读出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5166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×</a:t>
                      </a:r>
                      <a:endParaRPr lang="zh-CN" altLang="en-US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×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原</a:t>
                      </a:r>
                      <a:endParaRPr lang="zh-CN" altLang="en-US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000" marR="36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41" name="组合 40"/>
          <p:cNvGrpSpPr/>
          <p:nvPr/>
        </p:nvGrpSpPr>
        <p:grpSpPr>
          <a:xfrm>
            <a:off x="1368000" y="1368000"/>
            <a:ext cx="2376000" cy="1098794"/>
            <a:chOff x="2538000" y="4401979"/>
            <a:chExt cx="2376000" cy="1098794"/>
          </a:xfrm>
        </p:grpSpPr>
        <p:sp>
          <p:nvSpPr>
            <p:cNvPr id="26" name="矩形 25"/>
            <p:cNvSpPr/>
            <p:nvPr/>
          </p:nvSpPr>
          <p:spPr>
            <a:xfrm>
              <a:off x="2667000" y="4648200"/>
              <a:ext cx="2088000" cy="720000"/>
            </a:xfrm>
            <a:prstGeom prst="rect">
              <a:avLst/>
            </a:prstGeom>
            <a:solidFill>
              <a:srgbClr val="FFCC99">
                <a:alpha val="7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2538000" y="4797979"/>
              <a:ext cx="1440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4770000" y="4797979"/>
              <a:ext cx="144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186000" y="4401979"/>
              <a:ext cx="828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lpm_dff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18000" y="4689979"/>
              <a:ext cx="1152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data[31..0]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70000" y="4689979"/>
              <a:ext cx="86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q[31..0]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 rot="5400000" flipH="1" flipV="1">
              <a:off x="3672000" y="5427979"/>
              <a:ext cx="144000" cy="1588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3546000" y="5121979"/>
              <a:ext cx="468000" cy="216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aclr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790000" y="4905979"/>
              <a:ext cx="576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clock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718000" y="5121979"/>
              <a:ext cx="68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enable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rot="5400000" flipH="1" flipV="1">
              <a:off x="2682000" y="5013979"/>
              <a:ext cx="72000" cy="72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rot="16200000" flipH="1">
              <a:off x="2682000" y="4941979"/>
              <a:ext cx="72000" cy="72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2538000" y="5013979"/>
              <a:ext cx="14400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2538000" y="5265979"/>
              <a:ext cx="144000" cy="1588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139" name="Text Box 116"/>
          <p:cNvSpPr txBox="1">
            <a:spLocks noChangeArrowheads="1"/>
          </p:cNvSpPr>
          <p:nvPr/>
        </p:nvSpPr>
        <p:spPr bwMode="auto">
          <a:xfrm>
            <a:off x="179263" y="2626879"/>
            <a:ext cx="8785225" cy="764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存储器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Quartus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 II</a:t>
            </a:r>
            <a:r>
              <a:rPr kumimoji="1"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仅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提供</a:t>
            </a:r>
            <a:r>
              <a:rPr kumimoji="1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同步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SRAM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，输出端</a:t>
            </a:r>
            <a:r>
              <a:rPr kumimoji="1"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默认</a:t>
            </a:r>
            <a:r>
              <a:rPr kumimoji="1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带锁存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功能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b="1" dirty="0">
                <a:latin typeface="宋体" panose="02010600030101010101" pitchFamily="2" charset="-122"/>
              </a:rPr>
              <a:t>                         (</a:t>
            </a:r>
            <a:r>
              <a:rPr kumimoji="1" lang="zh-CN" altLang="en-US" b="1" dirty="0">
                <a:latin typeface="宋体" panose="02010600030101010101" pitchFamily="2" charset="-122"/>
              </a:rPr>
              <a:t>读</a:t>
            </a:r>
            <a:r>
              <a:rPr kumimoji="1" lang="en-US" altLang="zh-CN" b="1" dirty="0">
                <a:latin typeface="宋体" panose="02010600030101010101" pitchFamily="2" charset="-122"/>
              </a:rPr>
              <a:t>/</a:t>
            </a:r>
            <a:r>
              <a:rPr kumimoji="1" lang="zh-CN" altLang="en-US" b="1" dirty="0">
                <a:latin typeface="宋体" panose="02010600030101010101" pitchFamily="2" charset="-122"/>
              </a:rPr>
              <a:t>写均受</a:t>
            </a:r>
            <a:r>
              <a:rPr kumimoji="1" lang="en-US" altLang="zh-CN" b="1" dirty="0">
                <a:latin typeface="宋体" panose="02010600030101010101" pitchFamily="2" charset="-122"/>
              </a:rPr>
              <a:t>clock</a:t>
            </a:r>
            <a:r>
              <a:rPr kumimoji="1" lang="zh-CN" altLang="en-US" b="1" dirty="0">
                <a:latin typeface="宋体" panose="02010600030101010101" pitchFamily="2" charset="-122"/>
              </a:rPr>
              <a:t>控制</a:t>
            </a:r>
            <a:r>
              <a:rPr kumimoji="1" lang="en-US" altLang="zh-CN" b="1" dirty="0">
                <a:latin typeface="宋体" panose="02010600030101010101" pitchFamily="2" charset="-122"/>
              </a:rPr>
              <a:t>)      (</a:t>
            </a:r>
            <a:r>
              <a:rPr kumimoji="1" lang="zh-CN" altLang="en-US" b="1" dirty="0">
                <a:latin typeface="宋体" panose="02010600030101010101" pitchFamily="2" charset="-122"/>
              </a:rPr>
              <a:t>读操作</a:t>
            </a:r>
            <a:r>
              <a:rPr kumimoji="1" lang="en-US" altLang="zh-CN" b="1" dirty="0">
                <a:latin typeface="宋体" panose="02010600030101010101" pitchFamily="2" charset="-122"/>
              </a:rPr>
              <a:t>2</a:t>
            </a:r>
            <a:r>
              <a:rPr kumimoji="1" lang="zh-CN" altLang="en-US" b="1" dirty="0">
                <a:latin typeface="宋体" panose="02010600030101010101" pitchFamily="2" charset="-122"/>
              </a:rPr>
              <a:t>个</a:t>
            </a:r>
            <a:r>
              <a:rPr kumimoji="1" lang="en-US" altLang="zh-CN" b="1" dirty="0">
                <a:latin typeface="宋体" panose="02010600030101010101" pitchFamily="2" charset="-122"/>
              </a:rPr>
              <a:t>CLK</a:t>
            </a:r>
            <a:r>
              <a:rPr kumimoji="1" lang="zh-CN" altLang="en-US" b="1" dirty="0">
                <a:latin typeface="宋体" panose="02010600030101010101" pitchFamily="2" charset="-122"/>
              </a:rPr>
              <a:t>完成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b="1" dirty="0">
              <a:latin typeface="宋体" panose="02010600030101010101" pitchFamily="2" charset="-122"/>
            </a:endParaRPr>
          </a:p>
        </p:txBody>
      </p:sp>
      <p:graphicFrame>
        <p:nvGraphicFramePr>
          <p:cNvPr id="142" name="表格 141"/>
          <p:cNvGraphicFramePr>
            <a:graphicFrameLocks noGrp="1"/>
          </p:cNvGraphicFramePr>
          <p:nvPr/>
        </p:nvGraphicFramePr>
        <p:xfrm>
          <a:off x="3779663" y="3420000"/>
          <a:ext cx="5112567" cy="141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563"/>
                <a:gridCol w="537882"/>
                <a:gridCol w="672353"/>
                <a:gridCol w="585481"/>
                <a:gridCol w="576064"/>
                <a:gridCol w="648072"/>
                <a:gridCol w="1368152"/>
              </a:tblGrid>
              <a:tr h="173056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 err="1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clken</a:t>
                      </a:r>
                      <a:endParaRPr lang="zh-CN" altLang="en-US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wren</a:t>
                      </a:r>
                      <a:endParaRPr lang="zh-CN" altLang="en-US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clock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addr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data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功能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</a:tr>
              <a:tr h="173056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↑</a:t>
                      </a:r>
                      <a:endParaRPr lang="zh-CN" altLang="en-US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原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/d</a:t>
                      </a:r>
                      <a:endParaRPr lang="zh-CN" altLang="en-US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写入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M[a]=d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  <a:tr h="173056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↑</a:t>
                      </a:r>
                      <a:endParaRPr lang="zh-CN" altLang="en-US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×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M[a]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读出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  <a:tr h="173056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×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非↑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×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b="1" baseline="-16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原</a:t>
                      </a:r>
                      <a:endParaRPr lang="zh-CN" altLang="en-US" b="1" baseline="-16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保持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3056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×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×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b="1" baseline="-16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原</a:t>
                      </a:r>
                      <a:endParaRPr lang="zh-CN" altLang="en-US" b="1" baseline="-16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保持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44" name="组合 143"/>
          <p:cNvGrpSpPr/>
          <p:nvPr/>
        </p:nvGrpSpPr>
        <p:grpSpPr>
          <a:xfrm>
            <a:off x="1116000" y="3346712"/>
            <a:ext cx="2412000" cy="1368000"/>
            <a:chOff x="1359657" y="818232"/>
            <a:chExt cx="2412000" cy="1368000"/>
          </a:xfrm>
        </p:grpSpPr>
        <p:sp>
          <p:nvSpPr>
            <p:cNvPr id="146" name="矩形 145"/>
            <p:cNvSpPr/>
            <p:nvPr/>
          </p:nvSpPr>
          <p:spPr>
            <a:xfrm>
              <a:off x="1503657" y="1034232"/>
              <a:ext cx="2124000" cy="1152000"/>
            </a:xfrm>
            <a:prstGeom prst="rect">
              <a:avLst/>
            </a:prstGeom>
            <a:solidFill>
              <a:srgbClr val="99CCFF">
                <a:alpha val="70000"/>
              </a:srgb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48" name="直接连接符 147"/>
            <p:cNvCxnSpPr/>
            <p:nvPr/>
          </p:nvCxnSpPr>
          <p:spPr>
            <a:xfrm>
              <a:off x="1359657" y="1178232"/>
              <a:ext cx="1440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3627657" y="1178232"/>
              <a:ext cx="1440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Box 150"/>
            <p:cNvSpPr txBox="1"/>
            <p:nvPr/>
          </p:nvSpPr>
          <p:spPr>
            <a:xfrm>
              <a:off x="1971657" y="818232"/>
              <a:ext cx="1116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lpm_ram_dq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1539657" y="1070232"/>
              <a:ext cx="1152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data[31..0]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2727657" y="1070232"/>
              <a:ext cx="86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q[31..0]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1611657" y="1754232"/>
              <a:ext cx="576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clock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1539657" y="1286232"/>
              <a:ext cx="468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wren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57" name="直接连接符 156"/>
            <p:cNvCxnSpPr/>
            <p:nvPr/>
          </p:nvCxnSpPr>
          <p:spPr>
            <a:xfrm rot="5400000" flipH="1" flipV="1">
              <a:off x="1503657" y="1862232"/>
              <a:ext cx="72000" cy="72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rot="16200000" flipH="1">
              <a:off x="1503657" y="1790232"/>
              <a:ext cx="72000" cy="72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1359657" y="1862232"/>
              <a:ext cx="14400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>
              <a:off x="1359657" y="1394232"/>
              <a:ext cx="144000" cy="1588"/>
            </a:xfrm>
            <a:prstGeom prst="line">
              <a:avLst/>
            </a:prstGeom>
            <a:ln w="15875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>
              <a:off x="1359657" y="1610232"/>
              <a:ext cx="1440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TextBox 169"/>
            <p:cNvSpPr txBox="1"/>
            <p:nvPr/>
          </p:nvSpPr>
          <p:spPr>
            <a:xfrm>
              <a:off x="1539657" y="1502232"/>
              <a:ext cx="1080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addr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[9..0]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1539657" y="1970232"/>
              <a:ext cx="576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clken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72" name="直接连接符 171"/>
            <p:cNvCxnSpPr/>
            <p:nvPr/>
          </p:nvCxnSpPr>
          <p:spPr>
            <a:xfrm>
              <a:off x="1359657" y="2114232"/>
              <a:ext cx="144000" cy="1588"/>
            </a:xfrm>
            <a:prstGeom prst="line">
              <a:avLst/>
            </a:prstGeom>
            <a:ln w="12700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3" name="直接连接符 179"/>
          <p:cNvCxnSpPr/>
          <p:nvPr/>
        </p:nvCxnSpPr>
        <p:spPr>
          <a:xfrm>
            <a:off x="7092544" y="3310761"/>
            <a:ext cx="143752" cy="503951"/>
          </a:xfrm>
          <a:prstGeom prst="straightConnector1">
            <a:avLst/>
          </a:prstGeom>
          <a:ln w="12700">
            <a:solidFill>
              <a:srgbClr val="990099"/>
            </a:solidFill>
            <a:prstDash val="sysDash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16"/>
          <p:cNvSpPr txBox="1">
            <a:spLocks noChangeArrowheads="1"/>
          </p:cNvSpPr>
          <p:nvPr/>
        </p:nvSpPr>
        <p:spPr bwMode="auto">
          <a:xfrm>
            <a:off x="1105922" y="5284067"/>
            <a:ext cx="5698325" cy="57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8000" tIns="10800" rIns="18000" bIns="10800">
            <a:noAutofit/>
          </a:bodyPr>
          <a:lstStyle/>
          <a:p>
            <a:r>
              <a:rPr kumimoji="1" lang="zh-CN" altLang="en-US" b="1" dirty="0">
                <a:solidFill>
                  <a:srgbClr val="0070C0"/>
                </a:solidFill>
                <a:latin typeface="宋体" panose="02010600030101010101" pitchFamily="2" charset="-122"/>
              </a:rPr>
              <a:t>分析内容：</a:t>
            </a:r>
            <a:r>
              <a:rPr kumimoji="1" lang="zh-CN" altLang="en-US" b="1" dirty="0">
                <a:latin typeface="宋体" panose="02010600030101010101" pitchFamily="2" charset="-122"/>
              </a:rPr>
              <a:t>保存内容</a:t>
            </a:r>
            <a:r>
              <a:rPr kumimoji="1" lang="en-US" altLang="zh-CN" b="1" dirty="0">
                <a:latin typeface="宋体" panose="02010600030101010101" pitchFamily="2" charset="-122"/>
              </a:rPr>
              <a:t>/</a:t>
            </a:r>
            <a:r>
              <a:rPr kumimoji="1" lang="zh-CN" altLang="en-US" b="1" dirty="0">
                <a:latin typeface="宋体" panose="02010600030101010101" pitchFamily="2" charset="-122"/>
              </a:rPr>
              <a:t>输出值、改变时刻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r>
              <a:rPr kumimoji="1" lang="zh-CN" altLang="en-US" b="1" dirty="0">
                <a:solidFill>
                  <a:srgbClr val="0070C0"/>
                </a:solidFill>
                <a:latin typeface="宋体" panose="02010600030101010101" pitchFamily="2" charset="-122"/>
              </a:rPr>
              <a:t>数据组织：</a:t>
            </a:r>
            <a:r>
              <a:rPr kumimoji="1" lang="zh-CN" altLang="en-US" b="1" dirty="0">
                <a:latin typeface="宋体" panose="02010600030101010101" pitchFamily="2" charset="-122"/>
              </a:rPr>
              <a:t>写</a:t>
            </a:r>
            <a:r>
              <a:rPr kumimoji="1" lang="en-US" altLang="zh-CN" b="1" dirty="0">
                <a:latin typeface="宋体" panose="02010600030101010101" pitchFamily="2" charset="-122"/>
              </a:rPr>
              <a:t>RAM</a:t>
            </a:r>
            <a:r>
              <a:rPr kumimoji="1" lang="zh-CN" altLang="en-US" b="1" dirty="0">
                <a:latin typeface="宋体" panose="02010600030101010101" pitchFamily="2" charset="-122"/>
              </a:rPr>
              <a:t>、读</a:t>
            </a:r>
            <a:r>
              <a:rPr kumimoji="1" lang="en-US" altLang="zh-CN" b="1" dirty="0">
                <a:latin typeface="宋体" panose="02010600030101010101" pitchFamily="2" charset="-122"/>
              </a:rPr>
              <a:t>RAM</a:t>
            </a:r>
            <a:r>
              <a:rPr kumimoji="1" lang="zh-CN" altLang="en-US" b="1" dirty="0">
                <a:latin typeface="宋体" panose="02010600030101010101" pitchFamily="2" charset="-122"/>
              </a:rPr>
              <a:t>、保持各需</a:t>
            </a:r>
            <a:r>
              <a:rPr kumimoji="1" lang="en-US" altLang="zh-CN" b="1" dirty="0">
                <a:latin typeface="宋体" panose="02010600030101010101" pitchFamily="2" charset="-122"/>
              </a:rPr>
              <a:t>2</a:t>
            </a:r>
            <a:r>
              <a:rPr kumimoji="1" lang="zh-CN" altLang="en-US" b="1" dirty="0">
                <a:latin typeface="宋体" panose="02010600030101010101" pitchFamily="2" charset="-122"/>
              </a:rPr>
              <a:t>组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地址</a:t>
            </a:r>
            <a:r>
              <a:rPr kumimoji="1" lang="en-US" altLang="zh-CN" b="1" dirty="0">
                <a:latin typeface="宋体" panose="02010600030101010101" pitchFamily="2" charset="-122"/>
              </a:rPr>
              <a:t>a/b</a:t>
            </a:r>
            <a:r>
              <a:rPr kumimoji="1" lang="zh-CN" altLang="en-US" b="1" dirty="0">
                <a:latin typeface="宋体" panose="02010600030101010101" pitchFamily="2" charset="-122"/>
              </a:rPr>
              <a:t>交替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b="1" baseline="-14000" dirty="0">
              <a:latin typeface="宋体" panose="02010600030101010101" pitchFamily="2" charset="-122"/>
            </a:endParaRPr>
          </a:p>
        </p:txBody>
      </p:sp>
      <p:sp>
        <p:nvSpPr>
          <p:cNvPr id="45" name="Text Box 116"/>
          <p:cNvSpPr txBox="1">
            <a:spLocks noChangeArrowheads="1"/>
          </p:cNvSpPr>
          <p:nvPr/>
        </p:nvSpPr>
        <p:spPr bwMode="auto">
          <a:xfrm>
            <a:off x="1116200" y="4941168"/>
            <a:ext cx="525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kumimoji="1"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kumimoji="1" lang="zh-CN" altLang="en-US" b="1" dirty="0">
                <a:latin typeface="宋体" panose="02010600030101010101" pitchFamily="2" charset="-122"/>
              </a:rPr>
              <a:t>测试</a:t>
            </a:r>
            <a:r>
              <a:rPr kumimoji="1" lang="en-US" altLang="zh-CN" b="1" dirty="0">
                <a:latin typeface="宋体" panose="02010600030101010101" pitchFamily="2" charset="-122"/>
              </a:rPr>
              <a:t>RAM</a:t>
            </a:r>
            <a:r>
              <a:rPr kumimoji="1" lang="zh-CN" altLang="en-US" b="1" dirty="0">
                <a:latin typeface="宋体" panose="02010600030101010101" pitchFamily="2" charset="-122"/>
              </a:rPr>
              <a:t>时，应分析哪些内容？数据需几组？</a:t>
            </a:r>
            <a:endParaRPr kumimoji="1"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46" name="Text Box 79"/>
          <p:cNvSpPr txBox="1">
            <a:spLocks noChangeArrowheads="1"/>
          </p:cNvSpPr>
          <p:nvPr/>
        </p:nvSpPr>
        <p:spPr bwMode="auto">
          <a:xfrm>
            <a:off x="179512" y="5877272"/>
            <a:ext cx="8785225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0000"/>
                </a:solidFill>
                <a:latin typeface="+mn-ea"/>
                <a:ea typeface="+mn-ea"/>
              </a:rPr>
              <a:t>  ★要点：器件是电路的基础！应熟练使用</a:t>
            </a:r>
            <a:endParaRPr lang="en-US" altLang="zh-CN" sz="2200" b="1" u="sng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/>
      <p:bldP spid="45" grpId="0" animBg="1"/>
      <p:bldP spid="4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16"/>
          <p:cNvSpPr txBox="1">
            <a:spLocks noChangeArrowheads="1"/>
          </p:cNvSpPr>
          <p:nvPr/>
        </p:nvSpPr>
        <p:spPr bwMode="auto">
          <a:xfrm>
            <a:off x="152400" y="360000"/>
            <a:ext cx="8956104" cy="55130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kumimoji="1"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kumimoji="1"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Quartus</a:t>
            </a:r>
            <a:r>
              <a:rPr kumimoji="1"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使用注意事项</a:t>
            </a:r>
            <a:endParaRPr kumimoji="1" lang="en-US" altLang="zh-CN" sz="24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 (1)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所有电路使用</a:t>
            </a:r>
            <a:r>
              <a:rPr kumimoji="1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同一个工程文件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，文件放在</a:t>
            </a:r>
            <a:r>
              <a:rPr kumimoji="1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同一个文件夹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中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kumimoji="1" lang="en-US" altLang="zh-CN" b="1" dirty="0">
                <a:latin typeface="宋体" panose="02010600030101010101" pitchFamily="2" charset="-122"/>
              </a:rPr>
              <a:t>         (</a:t>
            </a:r>
            <a:r>
              <a:rPr kumimoji="1" lang="en-US" altLang="zh-CN" b="1" u="sng" dirty="0">
                <a:latin typeface="宋体" panose="02010600030101010101" pitchFamily="2" charset="-122"/>
              </a:rPr>
              <a:t>lpm</a:t>
            </a:r>
            <a:r>
              <a:rPr kumimoji="1" lang="zh-CN" altLang="en-US" b="1" u="sng" dirty="0">
                <a:latin typeface="宋体" panose="02010600030101010101" pitchFamily="2" charset="-122"/>
              </a:rPr>
              <a:t>器件名</a:t>
            </a:r>
            <a:r>
              <a:rPr kumimoji="1" lang="zh-CN" altLang="en-US" b="1" dirty="0">
                <a:latin typeface="宋体" panose="02010600030101010101" pitchFamily="2" charset="-122"/>
              </a:rPr>
              <a:t>自动形成</a:t>
            </a:r>
            <a:r>
              <a:rPr kumimoji="1" lang="en-US" altLang="zh-CN" b="1" dirty="0">
                <a:latin typeface="宋体" panose="02010600030101010101" pitchFamily="2" charset="-122"/>
              </a:rPr>
              <a:t>[</a:t>
            </a:r>
            <a:r>
              <a:rPr kumimoji="1" lang="zh-CN" altLang="en-US" b="1" dirty="0">
                <a:latin typeface="宋体" panose="02010600030101010101" pitchFamily="2" charset="-122"/>
              </a:rPr>
              <a:t>名称末尾的数字</a:t>
            </a:r>
            <a:r>
              <a:rPr kumimoji="1" lang="en-US" altLang="zh-CN" b="1" dirty="0">
                <a:latin typeface="宋体" panose="02010600030101010101" pitchFamily="2" charset="-122"/>
              </a:rPr>
              <a:t>]</a:t>
            </a:r>
            <a:r>
              <a:rPr kumimoji="1" lang="zh-CN" altLang="en-US" b="1" dirty="0">
                <a:latin typeface="宋体" panose="02010600030101010101" pitchFamily="2" charset="-122"/>
              </a:rPr>
              <a:t>，不同工程文件均从</a:t>
            </a:r>
            <a:r>
              <a:rPr kumimoji="1" lang="en-US" altLang="zh-CN" b="1" dirty="0">
                <a:latin typeface="宋体" panose="02010600030101010101" pitchFamily="2" charset="-122"/>
              </a:rPr>
              <a:t>0</a:t>
            </a:r>
            <a:r>
              <a:rPr kumimoji="1" lang="zh-CN" altLang="en-US" b="1" dirty="0">
                <a:latin typeface="宋体" panose="02010600030101010101" pitchFamily="2" charset="-122"/>
              </a:rPr>
              <a:t>开始</a:t>
            </a:r>
            <a:r>
              <a:rPr kumimoji="1" lang="en-US" altLang="zh-CN" b="1" dirty="0">
                <a:latin typeface="宋体" panose="02010600030101010101" pitchFamily="2" charset="-122"/>
              </a:rPr>
              <a:t>[</a:t>
            </a:r>
            <a:r>
              <a:rPr kumimoji="1" lang="zh-CN" altLang="en-US" b="1" dirty="0">
                <a:latin typeface="宋体" panose="02010600030101010101" pitchFamily="2" charset="-122"/>
              </a:rPr>
              <a:t>会重名</a:t>
            </a:r>
            <a:r>
              <a:rPr kumimoji="1" lang="en-US" altLang="zh-CN" b="1" dirty="0">
                <a:latin typeface="宋体" panose="02010600030101010101" pitchFamily="2" charset="-122"/>
              </a:rPr>
              <a:t>]</a:t>
            </a:r>
            <a:r>
              <a:rPr kumimoji="1" lang="zh-CN" altLang="en-US" b="1" dirty="0">
                <a:latin typeface="宋体" panose="02010600030101010101" pitchFamily="2" charset="-122"/>
              </a:rPr>
              <a:t>，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kumimoji="1" lang="en-US" altLang="zh-CN" b="1" dirty="0">
                <a:latin typeface="宋体" panose="02010600030101010101" pitchFamily="2" charset="-122"/>
              </a:rPr>
              <a:t>          </a:t>
            </a:r>
            <a:r>
              <a:rPr kumimoji="1" lang="zh-CN" altLang="en-US" b="1" u="sng" dirty="0">
                <a:latin typeface="宋体" panose="02010600030101010101" pitchFamily="2" charset="-122"/>
              </a:rPr>
              <a:t>路径混乱</a:t>
            </a:r>
            <a:r>
              <a:rPr kumimoji="1" lang="zh-CN" altLang="en-US" b="1" dirty="0">
                <a:latin typeface="宋体" panose="02010600030101010101" pitchFamily="2" charset="-122"/>
              </a:rPr>
              <a:t>易导致电路</a:t>
            </a:r>
            <a:r>
              <a:rPr kumimoji="1" lang="en-US" altLang="zh-CN" b="1" dirty="0">
                <a:latin typeface="宋体" panose="02010600030101010101" pitchFamily="2" charset="-122"/>
              </a:rPr>
              <a:t>/</a:t>
            </a:r>
            <a:r>
              <a:rPr kumimoji="1" lang="zh-CN" altLang="en-US" b="1" dirty="0">
                <a:latin typeface="宋体" panose="02010600030101010101" pitchFamily="2" charset="-122"/>
              </a:rPr>
              <a:t>器件引用出错，悔不当初！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kumimoji="1" lang="en-US" altLang="zh-CN" sz="2400" b="1" dirty="0">
                <a:latin typeface="宋体" panose="02010600030101010101" pitchFamily="2" charset="-122"/>
              </a:rPr>
              <a:t>   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(2)lpm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器件在</a:t>
            </a:r>
            <a:r>
              <a:rPr kumimoji="1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看清选项说明后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再选择功能、</a:t>
            </a:r>
            <a:r>
              <a:rPr kumimoji="1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测试后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再使用 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kumimoji="1" lang="en-US" altLang="zh-CN" b="1" dirty="0">
                <a:latin typeface="宋体" panose="02010600030101010101" pitchFamily="2" charset="-122"/>
              </a:rPr>
              <a:t>         (</a:t>
            </a:r>
            <a:r>
              <a:rPr kumimoji="1" lang="zh-CN" altLang="en-US" b="1" dirty="0">
                <a:latin typeface="宋体" panose="02010600030101010101" pitchFamily="2" charset="-122"/>
              </a:rPr>
              <a:t>常见现象：</a:t>
            </a:r>
            <a:r>
              <a:rPr kumimoji="1" lang="en-US" altLang="zh-CN" b="1" dirty="0">
                <a:latin typeface="宋体" panose="02010600030101010101" pitchFamily="2" charset="-122"/>
              </a:rPr>
              <a:t>ALU</a:t>
            </a:r>
            <a:r>
              <a:rPr kumimoji="1" lang="zh-CN" altLang="en-US" b="1" dirty="0">
                <a:latin typeface="宋体" panose="02010600030101010101" pitchFamily="2" charset="-122"/>
              </a:rPr>
              <a:t>有错→</a:t>
            </a:r>
            <a:r>
              <a:rPr kumimoji="1" lang="en-US" altLang="zh-CN" b="1" dirty="0" err="1">
                <a:latin typeface="宋体" panose="02010600030101010101" pitchFamily="2" charset="-122"/>
              </a:rPr>
              <a:t>lpm_add</a:t>
            </a:r>
            <a:r>
              <a:rPr kumimoji="1" lang="en-US" altLang="zh-CN" b="1" dirty="0">
                <a:latin typeface="宋体" panose="02010600030101010101" pitchFamily="2" charset="-122"/>
              </a:rPr>
              <a:t>/sub</a:t>
            </a:r>
            <a:r>
              <a:rPr kumimoji="1" lang="zh-CN" altLang="en-US" b="1" dirty="0">
                <a:latin typeface="宋体" panose="02010600030101010101" pitchFamily="2" charset="-122"/>
              </a:rPr>
              <a:t>错→参数选错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300"/>
              </a:spcBef>
            </a:pPr>
            <a:r>
              <a:rPr kumimoji="1" lang="en-US" altLang="zh-CN" b="1" dirty="0">
                <a:latin typeface="宋体" panose="02010600030101010101" pitchFamily="2" charset="-122"/>
              </a:rPr>
              <a:t>         (</a:t>
            </a:r>
            <a:r>
              <a:rPr kumimoji="1" lang="zh-CN" altLang="en-US" b="1" dirty="0">
                <a:highlight>
                  <a:srgbClr val="FFCC99"/>
                </a:highlight>
                <a:latin typeface="宋体" panose="02010600030101010101" pitchFamily="2" charset="-122"/>
              </a:rPr>
              <a:t>建议：</a:t>
            </a:r>
            <a:r>
              <a:rPr kumimoji="1" lang="zh-CN" altLang="en-US" b="1" dirty="0">
                <a:latin typeface="宋体" panose="02010600030101010101" pitchFamily="2" charset="-122"/>
              </a:rPr>
              <a:t>已提供的</a:t>
            </a:r>
            <a:r>
              <a:rPr kumimoji="1" lang="en-US" altLang="zh-CN" b="1" dirty="0">
                <a:latin typeface="宋体" panose="02010600030101010101" pitchFamily="2" charset="-122"/>
              </a:rPr>
              <a:t>GPRs</a:t>
            </a:r>
            <a:r>
              <a:rPr kumimoji="1" lang="zh-CN" altLang="en-US" b="1" dirty="0">
                <a:latin typeface="宋体" panose="02010600030101010101" pitchFamily="2" charset="-122"/>
              </a:rPr>
              <a:t>电路中用到</a:t>
            </a:r>
            <a:r>
              <a:rPr kumimoji="1" lang="en-US" altLang="zh-CN" b="1" dirty="0">
                <a:latin typeface="宋体" panose="02010600030101010101" pitchFamily="2" charset="-122"/>
              </a:rPr>
              <a:t>lpm_</a:t>
            </a:r>
            <a:r>
              <a:rPr kumimoji="1" lang="zh-CN" altLang="en-US" b="1" dirty="0">
                <a:latin typeface="宋体" panose="02010600030101010101" pitchFamily="2" charset="-122"/>
              </a:rPr>
              <a:t>器件，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kumimoji="1" lang="en-US" altLang="zh-CN" b="1" dirty="0">
                <a:latin typeface="宋体" panose="02010600030101010101" pitchFamily="2" charset="-122"/>
              </a:rPr>
              <a:t>                </a:t>
            </a:r>
            <a:r>
              <a:rPr kumimoji="1" lang="zh-CN" altLang="en-US" b="1" dirty="0">
                <a:latin typeface="宋体" panose="02010600030101010101" pitchFamily="2" charset="-122"/>
              </a:rPr>
              <a:t>先创建相关器件</a:t>
            </a:r>
            <a:r>
              <a:rPr kumimoji="1" lang="en-US" altLang="zh-CN" b="1" dirty="0">
                <a:latin typeface="宋体" panose="02010600030101010101" pitchFamily="2" charset="-122"/>
              </a:rPr>
              <a:t>[</a:t>
            </a:r>
            <a:r>
              <a:rPr kumimoji="1" lang="zh-CN" altLang="en-US" b="1" dirty="0">
                <a:latin typeface="宋体" panose="02010600030101010101" pitchFamily="2" charset="-122"/>
              </a:rPr>
              <a:t>与电路中同名</a:t>
            </a:r>
            <a:r>
              <a:rPr kumimoji="1" lang="en-US" altLang="zh-CN" b="1" dirty="0">
                <a:latin typeface="宋体" panose="02010600030101010101" pitchFamily="2" charset="-122"/>
              </a:rPr>
              <a:t>]</a:t>
            </a:r>
            <a:r>
              <a:rPr kumimoji="1" lang="zh-CN" altLang="en-US" b="1" dirty="0">
                <a:latin typeface="宋体" panose="02010600030101010101" pitchFamily="2" charset="-122"/>
              </a:rPr>
              <a:t>，便于电路可直接使用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 (3)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采用</a:t>
            </a:r>
            <a:r>
              <a:rPr kumimoji="1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模块化设计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方法，电路</a:t>
            </a:r>
            <a:r>
              <a:rPr kumimoji="1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实现与调试同步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进行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kumimoji="1" lang="en-US" altLang="zh-CN" b="1" dirty="0">
                <a:latin typeface="宋体" panose="02010600030101010101" pitchFamily="2" charset="-122"/>
              </a:rPr>
              <a:t>         (</a:t>
            </a:r>
            <a:r>
              <a:rPr kumimoji="1" lang="zh-CN" altLang="en-US" b="1" dirty="0">
                <a:latin typeface="宋体" panose="02010600030101010101" pitchFamily="2" charset="-122"/>
              </a:rPr>
              <a:t>边实现边调试，同态调整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 (4)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注意</a:t>
            </a:r>
            <a:r>
              <a:rPr kumimoji="1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提高学习效率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看资料</a:t>
            </a:r>
            <a:r>
              <a:rPr kumimoji="1" lang="en-US" altLang="zh-CN" b="1" dirty="0">
                <a:latin typeface="宋体" panose="02010600030101010101" pitchFamily="2" charset="-122"/>
              </a:rPr>
              <a:t>/</a:t>
            </a:r>
            <a:r>
              <a:rPr kumimoji="1" lang="zh-CN" altLang="en-US" b="1" dirty="0">
                <a:latin typeface="宋体" panose="02010600030101010101" pitchFamily="2" charset="-122"/>
              </a:rPr>
              <a:t>查百度</a:t>
            </a:r>
            <a:r>
              <a:rPr kumimoji="1" lang="en-US" altLang="zh-CN" b="1" dirty="0">
                <a:latin typeface="宋体" panose="02010600030101010101" pitchFamily="2" charset="-122"/>
              </a:rPr>
              <a:t>/</a:t>
            </a:r>
            <a:r>
              <a:rPr kumimoji="1" lang="zh-CN" altLang="en-US" b="1" dirty="0">
                <a:latin typeface="宋体" panose="02010600030101010101" pitchFamily="2" charset="-122"/>
              </a:rPr>
              <a:t>多交流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kumimoji="1" lang="zh-CN" altLang="en-US" b="1" dirty="0">
                <a:latin typeface="宋体" panose="02010600030101010101" pitchFamily="2" charset="-122"/>
              </a:rPr>
              <a:t>         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如信号线换名、快速设置调试数据、仿真错误找不到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kumimoji="1" lang="en-US" altLang="zh-CN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   </a:t>
            </a:r>
            <a:r>
              <a:rPr kumimoji="1"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要求：课外也尽可能多花时间和</a:t>
            </a:r>
            <a:r>
              <a:rPr kumimoji="1"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心思！</a:t>
            </a:r>
            <a:endParaRPr kumimoji="1" lang="en-US" altLang="zh-CN" sz="22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  <a:spcBef>
                <a:spcPts val="100"/>
              </a:spcBef>
            </a:pPr>
            <a:r>
              <a:rPr kumimoji="1" lang="en-US" altLang="zh-CN" b="1" dirty="0">
                <a:latin typeface="宋体" panose="02010600030101010101" pitchFamily="2" charset="-122"/>
              </a:rPr>
              <a:t>           (</a:t>
            </a:r>
            <a:r>
              <a:rPr kumimoji="1" lang="zh-CN" altLang="en-US" b="1" dirty="0">
                <a:latin typeface="宋体" panose="02010600030101010101" pitchFamily="2" charset="-122"/>
              </a:rPr>
              <a:t>不要拖到</a:t>
            </a:r>
            <a:r>
              <a:rPr kumimoji="1" lang="en-US" altLang="zh-CN" b="1" dirty="0">
                <a:latin typeface="宋体" panose="02010600030101010101" pitchFamily="2" charset="-122"/>
              </a:rPr>
              <a:t>DDL</a:t>
            </a:r>
            <a:r>
              <a:rPr kumimoji="1" lang="zh-CN" altLang="en-US" b="1" dirty="0">
                <a:latin typeface="宋体" panose="02010600030101010101" pitchFamily="2" charset="-122"/>
              </a:rPr>
              <a:t>发现来不及了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39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页脚占位符 3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17" name="AutoShape 32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838200" y="304800"/>
            <a:ext cx="746760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§</a:t>
            </a:r>
            <a:r>
              <a:rPr lang="en-US" altLang="zh-CN" sz="3200" b="1" dirty="0">
                <a:latin typeface="+mn-ea"/>
                <a:ea typeface="+mn-ea"/>
              </a:rPr>
              <a:t>2 RISC-V</a:t>
            </a:r>
            <a:r>
              <a:rPr lang="zh-CN" altLang="en-US" sz="3200" b="1" dirty="0">
                <a:latin typeface="+mn-ea"/>
                <a:ea typeface="+mn-ea"/>
              </a:rPr>
              <a:t>指令系统介绍</a:t>
            </a:r>
            <a:endParaRPr lang="zh-CN" altLang="en-US" sz="3200" b="1" dirty="0">
              <a:latin typeface="+mn-ea"/>
              <a:ea typeface="+mn-ea"/>
            </a:endParaRPr>
          </a:p>
        </p:txBody>
      </p:sp>
      <p:sp>
        <p:nvSpPr>
          <p:cNvPr id="23" name="Text Box 191"/>
          <p:cNvSpPr txBox="1">
            <a:spLocks noChangeArrowheads="1"/>
          </p:cNvSpPr>
          <p:nvPr/>
        </p:nvSpPr>
        <p:spPr bwMode="auto">
          <a:xfrm>
            <a:off x="179263" y="930786"/>
            <a:ext cx="8785225" cy="11849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RISC-V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：</a:t>
            </a:r>
            <a:r>
              <a:rPr lang="en-US" altLang="zh-CN" sz="2200" b="1" dirty="0">
                <a:latin typeface="+mn-ea"/>
                <a:ea typeface="+mn-ea"/>
              </a:rPr>
              <a:t>32</a:t>
            </a:r>
            <a:r>
              <a:rPr lang="zh-CN" altLang="en-US" sz="2200" b="1" dirty="0">
                <a:latin typeface="+mn-ea"/>
                <a:ea typeface="+mn-ea"/>
              </a:rPr>
              <a:t>位</a:t>
            </a:r>
            <a:r>
              <a:rPr lang="en-US" altLang="zh-CN" sz="2200" b="1" dirty="0">
                <a:latin typeface="+mn-ea"/>
                <a:ea typeface="+mn-ea"/>
              </a:rPr>
              <a:t>ISA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＝核心指令集＋标准扩展指令集，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RV32I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RV32M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RV32F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RV32D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RV32A]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  </a:t>
            </a: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整数</a:t>
            </a: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)    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乘除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单精度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4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双精度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原子操作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4" name="Text Box 191"/>
          <p:cNvSpPr txBox="1">
            <a:spLocks noChangeArrowheads="1"/>
          </p:cNvSpPr>
          <p:nvPr/>
        </p:nvSpPr>
        <p:spPr bwMode="auto">
          <a:xfrm>
            <a:off x="152400" y="2564904"/>
            <a:ext cx="8812088" cy="31119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rgbClr val="FF3399"/>
                </a:solidFill>
                <a:latin typeface="+mn-ea"/>
                <a:ea typeface="+mn-ea"/>
              </a:rPr>
              <a:t>1</a:t>
            </a:r>
            <a:r>
              <a:rPr lang="zh-CN" altLang="en-US" sz="2400" b="1" dirty="0">
                <a:solidFill>
                  <a:srgbClr val="FF3399"/>
                </a:solidFill>
                <a:latin typeface="+mn-ea"/>
                <a:ea typeface="+mn-ea"/>
              </a:rPr>
              <a:t>、</a:t>
            </a:r>
            <a:r>
              <a:rPr lang="en-US" altLang="zh-CN" sz="2400" b="1" dirty="0">
                <a:solidFill>
                  <a:srgbClr val="FF3399"/>
                </a:solidFill>
                <a:latin typeface="+mn-ea"/>
                <a:ea typeface="+mn-ea"/>
              </a:rPr>
              <a:t>RV32I</a:t>
            </a:r>
            <a:r>
              <a:rPr lang="zh-CN" altLang="en-US" sz="2400" b="1" dirty="0">
                <a:solidFill>
                  <a:srgbClr val="FF3399"/>
                </a:solidFill>
                <a:latin typeface="+mn-ea"/>
                <a:ea typeface="+mn-ea"/>
              </a:rPr>
              <a:t>的数据表示</a:t>
            </a:r>
            <a:endParaRPr lang="zh-CN" altLang="en-US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宋体" panose="02010600030101010101" pitchFamily="2" charset="-122"/>
                <a:ea typeface="+mn-ea"/>
              </a:rPr>
              <a:t>   只支持整数，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二</a:t>
            </a:r>
            <a:r>
              <a:rPr lang="zh-CN" altLang="en-US" sz="2200" b="1" dirty="0">
                <a:latin typeface="宋体" panose="02010600030101010101" pitchFamily="2" charset="-122"/>
              </a:rPr>
              <a:t>进制＋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定点</a:t>
            </a:r>
            <a:r>
              <a:rPr lang="zh-CN" altLang="en-US" sz="2200" b="1" dirty="0">
                <a:latin typeface="宋体" panose="02010600030101010101" pitchFamily="2" charset="-122"/>
              </a:rPr>
              <a:t>格式</a:t>
            </a:r>
            <a:r>
              <a:rPr lang="en-US" altLang="zh-CN" b="1" dirty="0">
                <a:latin typeface="宋体" panose="02010600030101010101" pitchFamily="2" charset="-122"/>
              </a:rPr>
              <a:t>(8/16/32</a:t>
            </a:r>
            <a:r>
              <a:rPr lang="zh-CN" altLang="en-US" b="1" dirty="0">
                <a:latin typeface="宋体" panose="02010600030101010101" pitchFamily="2" charset="-122"/>
              </a:rPr>
              <a:t>位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补码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无符号</a:t>
            </a:r>
            <a:r>
              <a:rPr lang="zh-CN" altLang="en-US" sz="2200" b="1" dirty="0">
                <a:latin typeface="宋体" panose="02010600030101010101" pitchFamily="2" charset="-122"/>
              </a:rPr>
              <a:t>编码 </a:t>
            </a:r>
            <a:endParaRPr lang="en-US" altLang="zh-CN" sz="2200" b="1" dirty="0">
              <a:latin typeface="宋体" panose="02010600030101010101" pitchFamily="2" charset="-122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altLang="zh-CN" sz="2400" b="1" dirty="0">
                <a:solidFill>
                  <a:srgbClr val="FF3399"/>
                </a:solidFill>
                <a:latin typeface="+mn-ea"/>
              </a:rPr>
              <a:t>2</a:t>
            </a:r>
            <a:r>
              <a:rPr lang="zh-CN" altLang="en-US" sz="2400" b="1" dirty="0">
                <a:solidFill>
                  <a:srgbClr val="FF3399"/>
                </a:solidFill>
                <a:latin typeface="+mn-ea"/>
              </a:rPr>
              <a:t>、</a:t>
            </a:r>
            <a:r>
              <a:rPr lang="en-US" altLang="zh-CN" sz="2400" b="1" dirty="0">
                <a:solidFill>
                  <a:srgbClr val="FF3399"/>
                </a:solidFill>
                <a:latin typeface="+mn-ea"/>
              </a:rPr>
              <a:t>RV32I</a:t>
            </a:r>
            <a:r>
              <a:rPr lang="zh-CN" altLang="en-US" sz="2400" b="1" dirty="0">
                <a:solidFill>
                  <a:srgbClr val="FF3399"/>
                </a:solidFill>
                <a:latin typeface="+mn-ea"/>
              </a:rPr>
              <a:t>的操作数存放</a:t>
            </a:r>
            <a:endParaRPr lang="en-US" altLang="zh-CN" sz="2400" b="1" dirty="0">
              <a:solidFill>
                <a:srgbClr val="FF3399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</a:rPr>
              <a:t>存储器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指令中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寄存器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</p:txBody>
      </p:sp>
      <p:sp>
        <p:nvSpPr>
          <p:cNvPr id="25" name="Text Box 191"/>
          <p:cNvSpPr txBox="1">
            <a:spLocks noChangeArrowheads="1"/>
          </p:cNvSpPr>
          <p:nvPr/>
        </p:nvSpPr>
        <p:spPr bwMode="auto">
          <a:xfrm>
            <a:off x="1880592" y="3933056"/>
            <a:ext cx="7111008" cy="249638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编址单位为</a:t>
            </a:r>
            <a:r>
              <a:rPr lang="zh-CN" altLang="en-US" sz="2200" b="1" u="sng" spc="-10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字节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b="1" spc="-100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b="1" spc="-100" dirty="0">
                <a:latin typeface="宋体" panose="02010600030101010101" pitchFamily="2" charset="-122"/>
                <a:sym typeface="+mn-ea"/>
              </a:rPr>
              <a:t>逻辑</a:t>
            </a:r>
            <a:r>
              <a:rPr lang="en-US" altLang="zh-CN" b="1" spc="-100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地址空间为</a:t>
            </a:r>
            <a:r>
              <a:rPr lang="en-US" altLang="zh-CN" sz="2200" b="1" u="sng" spc="-10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2200" b="1" u="sng" spc="-10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位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200" b="1" spc="-10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可存放</a:t>
            </a:r>
            <a:r>
              <a:rPr lang="en-US" altLang="zh-CN" sz="2200" b="1" u="sng" spc="-10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8/16/32</a:t>
            </a:r>
            <a:r>
              <a:rPr lang="zh-CN" altLang="en-US" sz="2200" b="1" u="sng" spc="-10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位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数据，采用</a:t>
            </a:r>
            <a:r>
              <a:rPr lang="zh-CN" altLang="en-US" sz="2200" b="1" u="sng" spc="-10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小端、不对齐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方式</a:t>
            </a:r>
            <a:endParaRPr lang="en-US" altLang="zh-CN" sz="2200" b="1" spc="-10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存放</a:t>
            </a:r>
            <a:r>
              <a:rPr lang="en-US" altLang="zh-CN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12/20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位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数据，采用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约定格式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方式   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←基于指令格式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GPRs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×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位，只存放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OPD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存取时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先转换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类型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使用约定：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R0≡0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R1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过程调用返回地址，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R2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栈指针，…</a:t>
            </a:r>
            <a:endParaRPr lang="zh-CN" altLang="en-US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状态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不保存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结果标志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6" name="线形标注 2 156"/>
          <p:cNvSpPr/>
          <p:nvPr/>
        </p:nvSpPr>
        <p:spPr bwMode="auto">
          <a:xfrm>
            <a:off x="3600160" y="2708920"/>
            <a:ext cx="2412000" cy="252000"/>
          </a:xfrm>
          <a:prstGeom prst="borderCallout2">
            <a:avLst>
              <a:gd name="adj1" fmla="val 45150"/>
              <a:gd name="adj2" fmla="val -153"/>
              <a:gd name="adj3" fmla="val 45074"/>
              <a:gd name="adj4" fmla="val -12708"/>
              <a:gd name="adj5" fmla="val 215503"/>
              <a:gd name="adj6" fmla="val -63692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+mn-ea"/>
                <a:ea typeface="+mn-ea"/>
              </a:rPr>
              <a:t>含逻辑数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支持逻辑运算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1600" b="1" dirty="0">
              <a:latin typeface="+mn-ea"/>
              <a:ea typeface="+mn-ea"/>
            </a:endParaRPr>
          </a:p>
        </p:txBody>
      </p:sp>
      <p:sp>
        <p:nvSpPr>
          <p:cNvPr id="27" name="线形标注 2 156"/>
          <p:cNvSpPr/>
          <p:nvPr/>
        </p:nvSpPr>
        <p:spPr bwMode="auto">
          <a:xfrm>
            <a:off x="7020272" y="4077072"/>
            <a:ext cx="1980000" cy="252000"/>
          </a:xfrm>
          <a:prstGeom prst="borderCallout2">
            <a:avLst>
              <a:gd name="adj1" fmla="val 45150"/>
              <a:gd name="adj2" fmla="val -153"/>
              <a:gd name="adj3" fmla="val 45074"/>
              <a:gd name="adj4" fmla="val -9183"/>
              <a:gd name="adj5" fmla="val 170498"/>
              <a:gd name="adj6" fmla="val -20673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+mn-ea"/>
                <a:ea typeface="+mn-ea"/>
              </a:rPr>
              <a:t>实现时常为</a:t>
            </a:r>
            <a:r>
              <a:rPr lang="zh-CN" altLang="en-US" sz="1600" b="1" dirty="0">
                <a:solidFill>
                  <a:srgbClr val="990099"/>
                </a:solidFill>
                <a:latin typeface="+mn-ea"/>
                <a:ea typeface="+mn-ea"/>
              </a:rPr>
              <a:t>对齐</a:t>
            </a:r>
            <a:r>
              <a:rPr lang="zh-CN" altLang="en-US" sz="1600" b="1" dirty="0">
                <a:latin typeface="+mn-ea"/>
                <a:ea typeface="+mn-ea"/>
              </a:rPr>
              <a:t>方式</a:t>
            </a:r>
            <a:endParaRPr lang="en-US" altLang="zh-CN" sz="1600" b="1" dirty="0">
              <a:latin typeface="+mn-ea"/>
              <a:ea typeface="+mn-ea"/>
            </a:endParaRPr>
          </a:p>
        </p:txBody>
      </p:sp>
      <p:cxnSp>
        <p:nvCxnSpPr>
          <p:cNvPr id="33" name="直接箭头连接符 14"/>
          <p:cNvCxnSpPr/>
          <p:nvPr/>
        </p:nvCxnSpPr>
        <p:spPr>
          <a:xfrm flipH="1">
            <a:off x="3599984" y="3429000"/>
            <a:ext cx="1152000" cy="612000"/>
          </a:xfrm>
          <a:prstGeom prst="straightConnector1">
            <a:avLst/>
          </a:prstGeom>
          <a:ln w="15875">
            <a:solidFill>
              <a:srgbClr val="990099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线形标注 1 20"/>
          <p:cNvSpPr/>
          <p:nvPr/>
        </p:nvSpPr>
        <p:spPr bwMode="auto">
          <a:xfrm>
            <a:off x="6084168" y="6093296"/>
            <a:ext cx="1908000" cy="252000"/>
          </a:xfrm>
          <a:prstGeom prst="borderCallout1">
            <a:avLst>
              <a:gd name="adj1" fmla="val 48514"/>
              <a:gd name="adj2" fmla="val 451"/>
              <a:gd name="adj3" fmla="val -180374"/>
              <a:gd name="adj4" fmla="val -19018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ALU</a:t>
            </a:r>
            <a:r>
              <a:rPr lang="zh-CN" altLang="en-US" sz="1600" b="1" dirty="0">
                <a:latin typeface="宋体" panose="02010600030101010101" pitchFamily="2" charset="-122"/>
              </a:rPr>
              <a:t>只支持</a:t>
            </a:r>
            <a:r>
              <a:rPr lang="en-US" altLang="zh-CN" sz="1600" b="1" dirty="0">
                <a:latin typeface="宋体" panose="02010600030101010101" pitchFamily="2" charset="-122"/>
              </a:rPr>
              <a:t>32</a:t>
            </a:r>
            <a:r>
              <a:rPr lang="zh-CN" altLang="en-US" sz="1600" b="1" dirty="0">
                <a:latin typeface="宋体" panose="02010600030101010101" pitchFamily="2" charset="-122"/>
              </a:rPr>
              <a:t>位运算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14" name="Text Box 116"/>
          <p:cNvSpPr txBox="1">
            <a:spLocks noChangeArrowheads="1"/>
          </p:cNvSpPr>
          <p:nvPr/>
        </p:nvSpPr>
        <p:spPr bwMode="auto">
          <a:xfrm>
            <a:off x="683569" y="2132856"/>
            <a:ext cx="2808312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kumimoji="1"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ISA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包含哪些内容</a:t>
            </a:r>
            <a:r>
              <a:rPr kumimoji="1" lang="zh-CN" altLang="en-US" b="1" dirty="0">
                <a:latin typeface="宋体" panose="02010600030101010101" pitchFamily="2" charset="-122"/>
              </a:rPr>
              <a:t>？</a:t>
            </a:r>
            <a:endParaRPr kumimoji="1"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5" name="Text Box 116"/>
          <p:cNvSpPr txBox="1">
            <a:spLocks noChangeArrowheads="1"/>
          </p:cNvSpPr>
          <p:nvPr/>
        </p:nvSpPr>
        <p:spPr bwMode="auto">
          <a:xfrm>
            <a:off x="3563888" y="2132856"/>
            <a:ext cx="5400600" cy="540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</p:spPr>
        <p:txBody>
          <a:bodyPr wrap="square" lIns="18000" tIns="10800" rIns="18000" bIns="10800" anchor="t" anchorCtr="0">
            <a:no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数据表示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数据存放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寻址方式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指令功能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指令格式</a:t>
            </a:r>
            <a:endParaRPr lang="en-US" altLang="zh-CN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1600" b="1" dirty="0">
                <a:latin typeface="+mn-ea"/>
                <a:ea typeface="+mn-ea"/>
                <a:cs typeface="Times New Roman" panose="02020603050405020304" pitchFamily="18" charset="0"/>
              </a:rPr>
              <a:t>            (→</a:t>
            </a:r>
            <a:r>
              <a:rPr kumimoji="1"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地址</a:t>
            </a:r>
            <a:r>
              <a:rPr kumimoji="1" lang="en-US" altLang="zh-CN" sz="1600" b="1" dirty="0">
                <a:latin typeface="+mn-ea"/>
                <a:ea typeface="+mn-ea"/>
                <a:cs typeface="Times New Roman" panose="02020603050405020304" pitchFamily="18" charset="0"/>
              </a:rPr>
              <a:t>→</a:t>
            </a:r>
            <a:r>
              <a:rPr kumimoji="1"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地址码</a:t>
            </a:r>
            <a:r>
              <a:rPr kumimoji="1" lang="en-US" altLang="zh-CN" sz="1600" b="1" dirty="0">
                <a:latin typeface="+mn-ea"/>
                <a:ea typeface="+mn-ea"/>
                <a:cs typeface="Times New Roman" panose="02020603050405020304" pitchFamily="18" charset="0"/>
              </a:rPr>
              <a:t>)              (</a:t>
            </a:r>
            <a:r>
              <a:rPr kumimoji="1"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编码</a:t>
            </a:r>
            <a:r>
              <a:rPr kumimoji="1" lang="en-US" altLang="zh-CN" sz="1600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kumimoji="1" lang="en-US" altLang="zh-CN" sz="16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 bldLvl="0" animBg="1"/>
      <p:bldP spid="51" grpId="0" bldLvl="0" animBg="1"/>
      <p:bldP spid="14" grpId="0" animBg="1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4" y="360045"/>
            <a:ext cx="5400407" cy="3745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RV32I</a:t>
            </a:r>
            <a:r>
              <a:rPr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的寻址方式</a:t>
            </a:r>
            <a:endParaRPr lang="zh-CN" altLang="en-US" sz="24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  <a:sym typeface="+mn-ea"/>
              </a:rPr>
              <a:t>数据寻址方式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  <a:sym typeface="+mn-ea"/>
              </a:rPr>
              <a:t>指令寻址方式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RISC-V</a:t>
            </a:r>
            <a:r>
              <a:rPr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指令格式</a:t>
            </a:r>
            <a:endParaRPr lang="zh-CN" altLang="en-US" sz="2400" b="1" dirty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5" name="Group 14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043608" y="908720"/>
          <a:ext cx="6840760" cy="1854216"/>
        </p:xfrm>
        <a:graphic>
          <a:graphicData uri="http://schemas.openxmlformats.org/drawingml/2006/table">
            <a:tbl>
              <a:tblPr/>
              <a:tblGrid>
                <a:gridCol w="1744345"/>
                <a:gridCol w="2082165"/>
                <a:gridCol w="3014250"/>
              </a:tblGrid>
              <a:tr h="264160">
                <a:tc>
                  <a:txBody>
                    <a:bodyPr/>
                    <a:lstStyle/>
                    <a:p>
                      <a:pPr marL="0"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寻址方式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地址形成方法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注释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立即寻址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12/20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位立即数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寄存器寻址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rx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rx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GPRs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编号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基址寻址</a:t>
                      </a:r>
                      <a:endParaRPr kumimoji="1" lang="zh-CN" altLang="en-US" sz="18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rx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1" dirty="0" err="1">
                          <a:latin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zh-CN" altLang="en-US" sz="1800" b="1" dirty="0" err="1">
                          <a:latin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800" b="1" dirty="0" err="1">
                          <a:latin typeface="宋体" panose="02010600030101010101" pitchFamily="2" charset="-122"/>
                          <a:sym typeface="+mn-ea"/>
                        </a:rPr>
                        <a:t>12</a:t>
                      </a:r>
                      <a:r>
                        <a:rPr lang="zh-CN" altLang="en-US" sz="1800" b="1" dirty="0">
                          <a:latin typeface="宋体" panose="02010600030101010101" pitchFamily="2" charset="-122"/>
                          <a:sym typeface="+mn-ea"/>
                        </a:rPr>
                        <a:t>位</a:t>
                      </a:r>
                      <a:r>
                        <a:rPr kumimoji="1" lang="zh-CN" altLang="en-US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偏移地址</a:t>
                      </a: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kumimoji="1" lang="zh-CN" altLang="en-US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有符号</a:t>
                      </a: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PC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相对寻址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(PC)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&lt;&lt;1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kumimoji="1" lang="zh-CN" altLang="en-US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12/20</a:t>
                      </a:r>
                      <a:r>
                        <a:rPr kumimoji="1" lang="zh-CN" altLang="en-US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位偏移量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寄存器相对寻址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(rx)</a:t>
                      </a:r>
                      <a:r>
                        <a:rPr kumimoji="1" lang="zh-CN" altLang="en-US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kumimoji="1" lang="en-US" altLang="zh-CN" sz="18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kumimoji="1" lang="en-US" altLang="zh-CN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&lt;&lt;1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1" dirty="0" err="1">
                          <a:latin typeface="宋体" panose="02010600030101010101" pitchFamily="2" charset="-122"/>
                        </a:rPr>
                        <a:t>imm</a:t>
                      </a:r>
                      <a:r>
                        <a:rPr lang="zh-CN" altLang="en-US" sz="1800" b="1" dirty="0" err="1">
                          <a:latin typeface="宋体" panose="02010600030101010101" pitchFamily="2" charset="-122"/>
                        </a:rPr>
                        <a:t>为</a:t>
                      </a:r>
                      <a:r>
                        <a:rPr lang="en-US" altLang="zh-CN" sz="1800" b="1" dirty="0" err="1">
                          <a:latin typeface="宋体" panose="02010600030101010101" pitchFamily="2" charset="-122"/>
                        </a:rPr>
                        <a:t>12</a:t>
                      </a:r>
                      <a:r>
                        <a:rPr lang="zh-CN" altLang="en-US" sz="1800" b="1" dirty="0" err="1">
                          <a:latin typeface="宋体" panose="02010600030101010101" pitchFamily="2" charset="-122"/>
                        </a:rPr>
                        <a:t>位</a:t>
                      </a:r>
                      <a:r>
                        <a:rPr kumimoji="1" lang="zh-CN" altLang="en-US" sz="18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偏移量</a:t>
                      </a:r>
                      <a:endParaRPr kumimoji="1" lang="zh-CN" altLang="en-US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264160">
                <a:tc gridSpan="3">
                  <a:txBody>
                    <a:bodyPr/>
                    <a:lstStyle/>
                    <a:p>
                      <a:pPr marL="812800" marR="0" lvl="0" indent="-812800" algn="l" defTabSz="914400" rtl="0" fontAlgn="base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说明：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GPRs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R0≡0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过程调用返回地址，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栈指针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 Box 42"/>
          <p:cNvSpPr txBox="1">
            <a:spLocks noChangeArrowheads="1"/>
          </p:cNvSpPr>
          <p:nvPr/>
        </p:nvSpPr>
        <p:spPr bwMode="auto">
          <a:xfrm>
            <a:off x="1871980" y="2736215"/>
            <a:ext cx="7091045" cy="13422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立即、寄存器、基址</a:t>
            </a: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en-US" altLang="zh-CN" b="1" dirty="0">
                <a:latin typeface="宋体" panose="02010600030101010101" pitchFamily="2" charset="-122"/>
              </a:rPr>
              <a:t>←</a:t>
            </a:r>
            <a:r>
              <a:rPr lang="zh-CN" altLang="en-US" b="1" dirty="0">
                <a:latin typeface="宋体" panose="02010600030101010101" pitchFamily="2" charset="-122"/>
              </a:rPr>
              <a:t>寄存器间接可用</a:t>
            </a:r>
            <a:r>
              <a:rPr lang="en-US" b="1" dirty="0">
                <a:latin typeface="宋体" panose="02010600030101010101" pitchFamily="2" charset="-122"/>
              </a:rPr>
              <a:t>imm=0</a:t>
            </a:r>
            <a:r>
              <a:rPr lang="zh-CN" altLang="en-US" b="1" dirty="0">
                <a:latin typeface="宋体" panose="02010600030101010101" pitchFamily="2" charset="-122"/>
              </a:rPr>
              <a:t>实现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PC</a:t>
            </a:r>
            <a:r>
              <a:rPr lang="zh-CN" altLang="en-US" sz="2200" b="1" dirty="0">
                <a:latin typeface="宋体" panose="02010600030101010101" pitchFamily="2" charset="-122"/>
              </a:rPr>
              <a:t>相对、寄存器相对，隐含</a:t>
            </a:r>
            <a:r>
              <a:rPr lang="en-US" altLang="zh-CN" b="1" dirty="0">
                <a:latin typeface="宋体" panose="02010600030101010101" pitchFamily="2" charset="-122"/>
              </a:rPr>
              <a:t>(EA</a:t>
            </a:r>
            <a:r>
              <a:rPr lang="zh-CN" altLang="en-US" b="1" dirty="0">
                <a:latin typeface="宋体" panose="02010600030101010101" pitchFamily="2" charset="-122"/>
              </a:rPr>
              <a:t>＝</a:t>
            </a:r>
            <a:r>
              <a:rPr lang="en-US" altLang="zh-CN" b="1" dirty="0">
                <a:latin typeface="宋体" panose="02010600030101010101" pitchFamily="2" charset="-122"/>
              </a:rPr>
              <a:t>(PC)</a:t>
            </a: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r>
              <a:rPr lang="en-US" altLang="zh-CN" b="1" dirty="0">
                <a:latin typeface="宋体" panose="02010600030101010101" pitchFamily="2" charset="-122"/>
              </a:rPr>
              <a:t>4</a:t>
            </a:r>
            <a:r>
              <a:rPr lang="zh-CN" altLang="en-US" b="1" dirty="0">
                <a:latin typeface="宋体" panose="02010600030101010101" pitchFamily="2" charset="-122"/>
              </a:rPr>
              <a:t>等</a:t>
            </a:r>
            <a:r>
              <a:rPr lang="en-US" altLang="zh-CN" b="1" dirty="0">
                <a:latin typeface="宋体" panose="02010600030101010101" pitchFamily="2" charset="-122"/>
              </a:rPr>
              <a:t>) 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有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6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种，采用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位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定长指令字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结构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graphicFrame>
        <p:nvGraphicFramePr>
          <p:cNvPr id="8" name="Group 14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55576" y="4047913"/>
          <a:ext cx="6120680" cy="2339483"/>
        </p:xfrm>
        <a:graphic>
          <a:graphicData uri="http://schemas.openxmlformats.org/drawingml/2006/table">
            <a:tbl>
              <a:tblPr/>
              <a:tblGrid>
                <a:gridCol w="339090"/>
                <a:gridCol w="1478915"/>
                <a:gridCol w="630267"/>
                <a:gridCol w="576064"/>
                <a:gridCol w="792088"/>
                <a:gridCol w="1368152"/>
                <a:gridCol w="936104"/>
              </a:tblGrid>
              <a:tr h="244475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24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funct7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funct3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opcode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imm[11:0]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funct3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opcode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imm[11:5]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funct3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imm[4:0]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opcode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imm[12|10:5]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funct3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imm[4:1|11]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opcode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imm[31:12]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opcode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J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imm[20|10:1|11|19:12]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opcode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505460">
                <a:tc gridSpan="7">
                  <a:txBody>
                    <a:bodyPr/>
                    <a:lstStyle/>
                    <a:p>
                      <a:pPr indent="0" algn="just" fontAlgn="auto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注：</a:t>
                      </a: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opcode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600" b="1" dirty="0" err="1">
                          <a:latin typeface="+mn-ea"/>
                          <a:sym typeface="+mn-ea"/>
                        </a:rPr>
                        <a:t>funct3</a:t>
                      </a:r>
                      <a:r>
                        <a:rPr lang="zh-CN" altLang="en-US" sz="1600" b="1" dirty="0" err="1">
                          <a:latin typeface="+mn-ea"/>
                          <a:sym typeface="+mn-ea"/>
                        </a:rPr>
                        <a:t>及</a:t>
                      </a:r>
                      <a:r>
                        <a:rPr lang="en-US" altLang="zh-CN" sz="1600" b="1" dirty="0" err="1">
                          <a:latin typeface="+mn-ea"/>
                          <a:sym typeface="+mn-ea"/>
                        </a:rPr>
                        <a:t>funct7</a:t>
                      </a: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—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操作码，</a:t>
                      </a:r>
                      <a:r>
                        <a:rPr lang="en-US" altLang="zh-CN" sz="1600" b="1" dirty="0" err="1">
                          <a:latin typeface="+mn-ea"/>
                          <a:sym typeface="+mn-ea"/>
                        </a:rPr>
                        <a:t>rs1</a:t>
                      </a:r>
                      <a:r>
                        <a:rPr lang="zh-CN" altLang="en-US" sz="1600" b="1" dirty="0" err="1">
                          <a:latin typeface="+mn-ea"/>
                          <a:sym typeface="+mn-ea"/>
                        </a:rPr>
                        <a:t>及</a:t>
                      </a:r>
                      <a:r>
                        <a:rPr lang="en-US" altLang="zh-CN" sz="1600" b="1" dirty="0" err="1">
                          <a:latin typeface="+mn-ea"/>
                          <a:sym typeface="+mn-ea"/>
                        </a:rPr>
                        <a:t>rs2</a:t>
                      </a: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—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源寄存器号，</a:t>
                      </a:r>
                      <a:endParaRPr lang="zh-CN" altLang="en-US" sz="1600" b="1" dirty="0">
                        <a:latin typeface="+mn-ea"/>
                        <a:sym typeface="+mn-ea"/>
                      </a:endParaRPr>
                    </a:p>
                    <a:p>
                      <a:pPr indent="0" algn="just" fontAlgn="auto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 </a:t>
                      </a: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    </a:t>
                      </a:r>
                      <a:r>
                        <a:rPr lang="en-US" altLang="zh-CN" sz="1600" b="1" dirty="0" err="1">
                          <a:latin typeface="+mn-ea"/>
                          <a:sym typeface="+mn-ea"/>
                        </a:rPr>
                        <a:t>rd</a:t>
                      </a: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—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目的寄存器号，</a:t>
                      </a:r>
                      <a:r>
                        <a:rPr lang="en-US" altLang="zh-CN" sz="1600" b="1" dirty="0" err="1">
                          <a:latin typeface="+mn-ea"/>
                          <a:sym typeface="+mn-ea"/>
                        </a:rPr>
                        <a:t>imm</a:t>
                      </a:r>
                      <a:r>
                        <a:rPr lang="en-US" altLang="zh-CN" sz="1600" b="1" dirty="0">
                          <a:latin typeface="+mn-ea"/>
                          <a:sym typeface="+mn-ea"/>
                        </a:rPr>
                        <a:t>—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立即数或偏移量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18000" marB="0" anchor="ctr" horzOverflow="overflow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18000" marB="0" anchor="ctr" horzOverflow="overflow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329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329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00" y="6525344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228000" y="6525344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116"/>
          <p:cNvSpPr txBox="1">
            <a:spLocks noChangeArrowheads="1"/>
          </p:cNvSpPr>
          <p:nvPr/>
        </p:nvSpPr>
        <p:spPr bwMode="auto">
          <a:xfrm>
            <a:off x="7056488" y="3645024"/>
            <a:ext cx="1908000" cy="86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18000" tIns="10800" rIns="18000" bIns="10800">
            <a:noAutofit/>
          </a:bodyPr>
          <a:lstStyle/>
          <a:p>
            <a:pPr marL="269875" indent="-269875"/>
            <a:r>
              <a:rPr kumimoji="1"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kumimoji="1"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dirty="0">
                <a:latin typeface="宋体" panose="02010600030101010101" pitchFamily="2" charset="-122"/>
              </a:rPr>
              <a:t>相对寻址为何要</a:t>
            </a:r>
            <a:r>
              <a:rPr lang="en-US" altLang="zh-CN" sz="1800" b="1" dirty="0">
                <a:latin typeface="宋体" panose="02010600030101010101" pitchFamily="2" charset="-122"/>
              </a:rPr>
              <a:t>&lt;&lt;1</a:t>
            </a:r>
            <a:r>
              <a:rPr lang="zh-CN" altLang="en-US" sz="1800" b="1" dirty="0">
                <a:latin typeface="宋体" panose="02010600030101010101" pitchFamily="2" charset="-122"/>
              </a:rPr>
              <a:t>？而基址寻址没有？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4" name="Group 14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99592" y="1548245"/>
          <a:ext cx="7715711" cy="4835271"/>
        </p:xfrm>
        <a:graphic>
          <a:graphicData uri="http://schemas.openxmlformats.org/drawingml/2006/table">
            <a:tbl>
              <a:tblPr/>
              <a:tblGrid>
                <a:gridCol w="864096"/>
                <a:gridCol w="648072"/>
                <a:gridCol w="648072"/>
                <a:gridCol w="432048"/>
                <a:gridCol w="648072"/>
                <a:gridCol w="783461"/>
                <a:gridCol w="826135"/>
                <a:gridCol w="2865755"/>
              </a:tblGrid>
              <a:tr h="229870">
                <a:tc gridSpan="4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imm[31:12]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0110111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 lui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‖000H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4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imm[31:12]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0010111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 auipc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PC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(imm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‖000H)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addi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imm)</a:t>
                      </a: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slti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＜</a:t>
                      </a:r>
                      <a:r>
                        <a:rPr lang="zh-CN" altLang="en-US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有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? 1:0</a:t>
                      </a: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sltiu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＜</a:t>
                      </a:r>
                      <a:r>
                        <a:rPr lang="zh-CN" altLang="en-US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无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ZExt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? 1:0</a:t>
                      </a: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xori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)⊕ZExt(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imm)</a:t>
                      </a: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ori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)|ZExt(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imm)</a:t>
                      </a: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andi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)&amp;ZExt(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imm)</a:t>
                      </a: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shamt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slli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)&lt;&lt;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shamt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shamt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lrli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)&gt;&gt;</a:t>
                      </a:r>
                      <a:r>
                        <a:rPr lang="en-US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L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shamt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shamt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srai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)&gt;&gt;</a:t>
                      </a:r>
                      <a:r>
                        <a:rPr lang="en-US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shamt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 add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 sub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－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 sll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)&lt;&lt;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 slt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＜</a:t>
                      </a:r>
                      <a:r>
                        <a:rPr lang="zh-CN" altLang="en-US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有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)? 1:0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 sltu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＜</a:t>
                      </a:r>
                      <a:r>
                        <a:rPr lang="zh-CN" altLang="en-US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无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)? 1:0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 xor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)⊕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 srl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)&gt;&gt;</a:t>
                      </a:r>
                      <a:r>
                        <a:rPr lang="en-US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L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 sra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)&gt;&gt;</a:t>
                      </a:r>
                      <a:r>
                        <a:rPr lang="en-US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 or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)|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 and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)&amp;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360045"/>
            <a:ext cx="8961591" cy="11987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5</a:t>
            </a:r>
            <a:r>
              <a:rPr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RV32I</a:t>
            </a:r>
            <a:r>
              <a:rPr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的指令功能</a:t>
            </a:r>
            <a:r>
              <a:rPr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共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47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条，含整数运算、转移控制、访存、系统控制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整数运算指令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共</a:t>
            </a:r>
            <a:r>
              <a:rPr lang="en-US" altLang="zh-CN" sz="2200" b="1" dirty="0">
                <a:latin typeface="宋体" panose="02010600030101010101" pitchFamily="2" charset="-122"/>
              </a:rPr>
              <a:t>21</a:t>
            </a:r>
            <a:r>
              <a:rPr lang="zh-CN" altLang="en-US" sz="2200" b="1" dirty="0">
                <a:latin typeface="宋体" panose="02010600030101010101" pitchFamily="2" charset="-122"/>
              </a:rPr>
              <a:t>条，包括算术、逻辑、移位、比较、赋值等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                      </a:t>
            </a:r>
            <a:r>
              <a: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不判断溢出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→</a:t>
            </a:r>
            <a:r>
              <a: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┘       └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结果不存到</a:t>
            </a: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PSR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中</a:t>
            </a:r>
            <a:endParaRPr lang="en-US" altLang="zh-CN" sz="1600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6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228000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611560" y="1556792"/>
            <a:ext cx="216000" cy="442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lIns="18000" tIns="36000" rIns="18000" bIns="10800" anchor="t" anchorCtr="0"/>
          <a:lstStyle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√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√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210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√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 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 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√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√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10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√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√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√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√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9705" y="431800"/>
            <a:ext cx="8773160" cy="15436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写出实现</a:t>
            </a:r>
            <a:r>
              <a:rPr lang="en-US" altLang="zh-CN" sz="2000" b="1" dirty="0">
                <a:latin typeface="宋体" panose="02010600030101010101" pitchFamily="2" charset="-122"/>
              </a:rPr>
              <a:t>x5←4098</a:t>
            </a:r>
            <a:r>
              <a:rPr lang="zh-CN" altLang="en-US" sz="2000" b="1" dirty="0">
                <a:latin typeface="宋体" panose="02010600030101010101" pitchFamily="2" charset="-122"/>
              </a:rPr>
              <a:t>的</a:t>
            </a:r>
            <a:r>
              <a:rPr lang="en-US" altLang="zh-CN" sz="2000" b="1" dirty="0">
                <a:latin typeface="宋体" panose="02010600030101010101" pitchFamily="2" charset="-122"/>
              </a:rPr>
              <a:t>RISC-V</a:t>
            </a:r>
            <a:r>
              <a:rPr lang="zh-CN" altLang="en-US" sz="2000" b="1" dirty="0">
                <a:latin typeface="宋体" panose="02010600030101010101" pitchFamily="2" charset="-122"/>
              </a:rPr>
              <a:t>机器代码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解：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4098=</a:t>
            </a:r>
            <a:r>
              <a:rPr lang="en-US" altLang="zh-CN" sz="2000" b="1" u="sng" dirty="0">
                <a:latin typeface="宋体" panose="02010600030101010101" pitchFamily="2" charset="-122"/>
                <a:sym typeface="+mn-ea"/>
              </a:rPr>
              <a:t>00001</a:t>
            </a:r>
            <a:r>
              <a:rPr lang="en-US" altLang="zh-CN" sz="20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000" b="1" u="sng" dirty="0">
                <a:latin typeface="宋体" panose="02010600030101010101" pitchFamily="2" charset="-122"/>
                <a:sym typeface="+mn-ea"/>
              </a:rPr>
              <a:t>002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，可用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lui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addi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指令赋值高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20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位、低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12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位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       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代码为</a:t>
            </a:r>
            <a:r>
              <a:rPr lang="en-US" altLang="zh-CN" b="1" u="sng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00000000000000000001</a:t>
            </a:r>
            <a:r>
              <a:rPr lang="en-US" altLang="zh-CN" b="1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u="sng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00100</a:t>
            </a:r>
            <a:r>
              <a:rPr lang="en-US" altLang="zh-CN" b="1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0110111 </a:t>
            </a:r>
            <a:r>
              <a:rPr lang="en-US" altLang="zh-CN" b="1" baseline="-18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# x4</a:t>
            </a:r>
            <a:r>
              <a:rPr lang="zh-CN" altLang="en-US" b="1" baseline="-250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高位</a:t>
            </a:r>
            <a:r>
              <a:rPr lang="en-US" altLang="zh-CN" b="1" dirty="0">
                <a:latin typeface="+mn-ea"/>
                <a:ea typeface="+mn-ea"/>
                <a:sym typeface="+mn-ea"/>
              </a:rPr>
              <a:t>←1</a:t>
            </a:r>
            <a:endParaRPr lang="en-US" altLang="zh-CN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          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   </a:t>
            </a:r>
            <a:r>
              <a:rPr lang="en-US" altLang="zh-CN" sz="1600" b="1" dirty="0">
                <a:solidFill>
                  <a:schemeClr val="tx1"/>
                </a:solidFill>
                <a:uFillTx/>
                <a:latin typeface="+mn-ea"/>
                <a:ea typeface="+mn-ea"/>
                <a:sym typeface="+mn-ea"/>
              </a:rPr>
              <a:t> </a:t>
            </a:r>
            <a:r>
              <a:rPr lang="en-US" altLang="zh-CN" b="1" u="sng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000000000010</a:t>
            </a:r>
            <a:r>
              <a:rPr lang="en-US" altLang="zh-CN" b="1" baseline="-250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00100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000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u="sng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00101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0010011  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# x5←(x4)+2</a:t>
            </a:r>
            <a:endParaRPr lang="en-US" altLang="zh-CN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80000" y="2924944"/>
            <a:ext cx="8721725" cy="269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294765" indent="-129476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若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64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位有符号整数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的高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32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位及低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32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位分别保存在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x4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x5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x6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x7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x8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x9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中，写出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C=A+B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的机器代码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解：需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次加法实现，高位加法带进位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可用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sltu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指令判断进位</a:t>
            </a:r>
            <a:r>
              <a:rPr 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低位加法为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无符号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←x9&lt;x5?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代码为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0000000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00111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00101</a:t>
            </a:r>
            <a:r>
              <a:rPr lang="en-US" altLang="zh-CN" sz="1800" b="1" baseline="-250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000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01001</a:t>
            </a:r>
            <a:r>
              <a:rPr lang="en-US" altLang="zh-CN" sz="1800" b="1" baseline="-250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0110011  # x</a:t>
            </a:r>
            <a:r>
              <a:rPr 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9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←(x5)+(x7)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0000000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00110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00100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000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01000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0110011  # x</a:t>
            </a:r>
            <a:r>
              <a:rPr lang="en-US" sz="1800" b="1" dirty="0">
                <a:latin typeface="宋体" panose="02010600030101010101" pitchFamily="2" charset="-122"/>
                <a:sym typeface="+mn-ea"/>
              </a:rPr>
              <a:t>8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←(x4)+(x6)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0000000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00101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01001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011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00011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0110011  # x</a:t>
            </a:r>
            <a:r>
              <a:rPr lang="en-US" sz="1800" b="1" dirty="0">
                <a:latin typeface="宋体" panose="02010600030101010101" pitchFamily="2" charset="-122"/>
                <a:sym typeface="+mn-ea"/>
              </a:rPr>
              <a:t>3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←(x9)&lt;(x5)?</a:t>
            </a:r>
            <a:endParaRPr lang="en-US" altLang="zh-CN" sz="18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0000000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00011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01000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000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01000</a:t>
            </a:r>
            <a:r>
              <a:rPr lang="en-US" altLang="zh-CN" sz="1800" b="1" baseline="-250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0110011  # x</a:t>
            </a:r>
            <a:r>
              <a:rPr lang="en-US" sz="1800" b="1" dirty="0">
                <a:latin typeface="宋体" panose="02010600030101010101" pitchFamily="2" charset="-122"/>
                <a:sym typeface="+mn-ea"/>
              </a:rPr>
              <a:t>8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←(x8)+(x3)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6" name="Text Box 4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02715" y="1988840"/>
            <a:ext cx="6516000" cy="86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RISC-V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指令的汇编格式：</a:t>
            </a:r>
            <a:r>
              <a:rPr lang="zh-CN" sz="1800" b="1" dirty="0">
                <a:latin typeface="宋体" panose="02010600030101010101" pitchFamily="2" charset="-122"/>
              </a:rPr>
              <a:t>助记符</a:t>
            </a: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</a:rPr>
              <a:t>目的地址</a:t>
            </a:r>
            <a:r>
              <a:rPr lang="en-US" altLang="zh-CN" sz="1800" b="1" dirty="0">
                <a:latin typeface="宋体" panose="02010600030101010101" pitchFamily="2" charset="-122"/>
              </a:rPr>
              <a:t>, </a:t>
            </a:r>
            <a:r>
              <a:rPr lang="zh-CN" altLang="en-US" sz="1800" b="1" dirty="0">
                <a:latin typeface="宋体" panose="02010600030101010101" pitchFamily="2" charset="-122"/>
              </a:rPr>
              <a:t>源</a:t>
            </a:r>
            <a:r>
              <a:rPr lang="en-US" altLang="zh-CN" sz="1800" b="1" dirty="0"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</a:rPr>
              <a:t>地址</a:t>
            </a:r>
            <a:r>
              <a:rPr lang="en-US" altLang="zh-CN" sz="1800" b="1" dirty="0">
                <a:latin typeface="宋体" panose="02010600030101010101" pitchFamily="2" charset="-122"/>
              </a:rPr>
              <a:t>, </a:t>
            </a:r>
            <a:r>
              <a:rPr lang="zh-CN" altLang="en-US" sz="1800" b="1" dirty="0">
                <a:latin typeface="宋体" panose="02010600030101010101" pitchFamily="2" charset="-122"/>
              </a:rPr>
              <a:t>源</a:t>
            </a:r>
            <a:r>
              <a:rPr lang="en-US" altLang="zh-CN" sz="1800" b="1" dirty="0">
                <a:latin typeface="宋体" panose="02010600030101010101" pitchFamily="2" charset="-122"/>
              </a:rPr>
              <a:t>2</a:t>
            </a:r>
            <a:r>
              <a:rPr lang="zh-CN" altLang="en-US" sz="1800" b="1" dirty="0">
                <a:latin typeface="宋体" panose="02010600030101010101" pitchFamily="2" charset="-122"/>
              </a:rPr>
              <a:t>地址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r>
              <a:rPr lang="en-US" altLang="zh-CN" sz="1800" b="1" dirty="0">
                <a:latin typeface="宋体" panose="02010600030101010101" pitchFamily="2" charset="-122"/>
              </a:rPr>
              <a:t>               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lui x4, 1   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# R[x4]</a:t>
            </a:r>
            <a:r>
              <a:rPr lang="zh-CN" altLang="en-US" sz="1800" b="1" baseline="-25000" dirty="0">
                <a:latin typeface="宋体" panose="02010600030101010101" pitchFamily="2" charset="-122"/>
                <a:sym typeface="+mn-ea"/>
              </a:rPr>
              <a:t>高位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←1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   addi x5, x4, +2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# R[x5]←R[x4]+2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872172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转移控制指令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共</a:t>
            </a:r>
            <a:r>
              <a:rPr lang="en-US" altLang="zh-CN" sz="2200" b="1" dirty="0">
                <a:latin typeface="宋体" panose="02010600030101010101" pitchFamily="2" charset="-122"/>
              </a:rPr>
              <a:t>8</a:t>
            </a:r>
            <a:r>
              <a:rPr lang="zh-CN" altLang="en-US" sz="2200" b="1" dirty="0">
                <a:latin typeface="宋体" panose="02010600030101010101" pitchFamily="2" charset="-122"/>
              </a:rPr>
              <a:t>条，</a:t>
            </a:r>
            <a:r>
              <a:rPr lang="zh-CN" sz="2200" b="1" dirty="0">
                <a:latin typeface="宋体" panose="02010600030101010101" pitchFamily="2" charset="-122"/>
              </a:rPr>
              <a:t>包括跳转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含调用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返回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sz="2200" b="1" dirty="0">
                <a:latin typeface="宋体" panose="02010600030101010101" pitchFamily="2" charset="-122"/>
              </a:rPr>
              <a:t>、分支</a:t>
            </a:r>
            <a:endParaRPr 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5" name="Group 14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42645" y="902335"/>
          <a:ext cx="8010525" cy="3597656"/>
        </p:xfrm>
        <a:graphic>
          <a:graphicData uri="http://schemas.openxmlformats.org/drawingml/2006/table">
            <a:tbl>
              <a:tblPr/>
              <a:tblGrid>
                <a:gridCol w="1304925"/>
                <a:gridCol w="460375"/>
                <a:gridCol w="469265"/>
                <a:gridCol w="433070"/>
                <a:gridCol w="1212850"/>
                <a:gridCol w="822325"/>
                <a:gridCol w="770255"/>
                <a:gridCol w="2537460"/>
              </a:tblGrid>
              <a:tr h="448945">
                <a:tc gridSpan="4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imm[20|10:1|11|19:12]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1101111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J jal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←(PC)+4,</a:t>
                      </a:r>
                      <a:endParaRPr lang="en-US" altLang="zh-CN" sz="1600" b="1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PC←(PC)+SExt(</a:t>
                      </a:r>
                      <a:r>
                        <a:rPr lang="en-US" altLang="zh-CN" sz="1600" b="1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&lt;&lt;1)</a:t>
                      </a:r>
                      <a:endParaRPr kumimoji="1" lang="en-US" altLang="zh-CN" sz="1600" b="1" i="0" u="none" strike="noStrike" kern="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958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1100111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jalr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←(PC)+4,</a:t>
                      </a:r>
                      <a:endParaRPr lang="en-US" altLang="zh-CN" sz="1600" b="1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PC←(rs1)+SExt(</a:t>
                      </a:r>
                      <a:r>
                        <a:rPr lang="en-US" altLang="zh-CN" sz="1600" b="1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imm[12|10:5]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imm[4:1|11]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 beq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if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((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＝</a:t>
                      </a: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))</a:t>
                      </a:r>
                      <a:endParaRPr lang="en-US" sz="1600" b="1" kern="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  PC←(PC)+SExt(</a:t>
                      </a:r>
                      <a:r>
                        <a:rPr lang="en-US" altLang="zh-CN" sz="1600" b="1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&lt;&lt;1)</a:t>
                      </a:r>
                      <a:endParaRPr kumimoji="1" lang="en-US" altLang="zh-CN" sz="1600" b="1" i="0" u="none" strike="noStrike" kern="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imm[12|10:5]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imm[4:1|11]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 bne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if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((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≠(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))</a:t>
                      </a:r>
                      <a:endParaRPr lang="en-US" sz="1600" b="1" kern="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  PC←(PC)+SExt(</a:t>
                      </a:r>
                      <a:r>
                        <a:rPr lang="en-US" altLang="zh-CN" sz="1600" b="1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&lt;&lt;1)</a:t>
                      </a:r>
                      <a:endParaRPr kumimoji="1" lang="en-US" altLang="zh-CN" sz="1600" b="1" i="0" u="none" strike="noStrike" kern="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imm[12|10:5]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imm[4:1|11]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 blt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if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((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＜</a:t>
                      </a:r>
                      <a:r>
                        <a:rPr lang="zh-CN" altLang="en-US" sz="1600" b="1" kern="0" baseline="-2500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有</a:t>
                      </a: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))</a:t>
                      </a:r>
                      <a:endParaRPr lang="en-US" sz="1600" b="1" kern="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  PC←(PC)+SExt(</a:t>
                      </a:r>
                      <a:r>
                        <a:rPr lang="en-US" altLang="zh-CN" sz="1600" b="1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&lt;&lt;1)</a:t>
                      </a:r>
                      <a:endParaRPr kumimoji="1" lang="en-US" altLang="zh-CN" sz="1600" b="1" i="0" u="none" strike="noStrike" kern="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imm[12|10:5]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imm[4:1|11]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 bge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if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((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≥</a:t>
                      </a:r>
                      <a:r>
                        <a:rPr lang="zh-CN" altLang="en-US" sz="1600" b="1" kern="0" baseline="-2500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有</a:t>
                      </a: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))</a:t>
                      </a:r>
                      <a:endParaRPr lang="en-US" sz="1600" b="1" kern="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  PC←(PC)+SExt(</a:t>
                      </a:r>
                      <a:r>
                        <a:rPr lang="en-US" altLang="zh-CN" sz="1600" b="1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&lt;&lt;1)</a:t>
                      </a:r>
                      <a:endParaRPr kumimoji="1" lang="en-US" altLang="zh-CN" sz="1600" b="1" i="0" u="none" strike="noStrike" kern="0" cap="none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imm[12|10:5]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imm[4:1|11]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1100011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 bltu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if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((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＜</a:t>
                      </a:r>
                      <a:r>
                        <a:rPr lang="zh-CN" altLang="en-US" sz="1600" b="1" kern="0" baseline="-2500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无</a:t>
                      </a: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))</a:t>
                      </a:r>
                      <a:endParaRPr lang="en-US" sz="1600" b="1" kern="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  PC←(PC)+SExt(</a:t>
                      </a:r>
                      <a:r>
                        <a:rPr lang="en-US" altLang="zh-CN" sz="1600" b="1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&lt;&lt;1)</a:t>
                      </a:r>
                      <a:endParaRPr kumimoji="1" lang="en-US" altLang="zh-CN" sz="1600" b="1" i="0" u="none" strike="noStrike" kern="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imm[12|10:5]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imm[4:1|11]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 bgeu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if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((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≥</a:t>
                      </a:r>
                      <a:r>
                        <a:rPr lang="zh-CN" altLang="en-US" sz="1600" b="1" kern="0" baseline="-2500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无</a:t>
                      </a: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))</a:t>
                      </a:r>
                      <a:endParaRPr lang="en-US" sz="1600" b="1" kern="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  PC←(PC)+SExt(</a:t>
                      </a:r>
                      <a:r>
                        <a:rPr lang="en-US" altLang="zh-CN" sz="1600" b="1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&lt;&lt;1)</a:t>
                      </a:r>
                      <a:endParaRPr kumimoji="1" lang="en-US" altLang="zh-CN" sz="1600" b="1" i="0" u="none" strike="noStrike" kern="0" cap="none" normalizeH="0" baseline="-2500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0000" y="4505525"/>
            <a:ext cx="8721725" cy="15783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294765" indent="-1294765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如何实现过程调用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、过程返回</a:t>
            </a:r>
            <a:r>
              <a:rPr 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？</a:t>
            </a:r>
            <a:r>
              <a:rPr lang="zh-CN" altLang="zh-CN" sz="2000" b="1" dirty="0">
                <a:latin typeface="宋体" panose="02010600030101010101" pitchFamily="2" charset="-122"/>
                <a:sym typeface="+mn-ea"/>
              </a:rPr>
              <a:t>如何实现无条件转移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？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解：可用</a:t>
            </a:r>
            <a:r>
              <a:rPr lang="en-US" altLang="zh-CN" sz="20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ISA</a:t>
            </a:r>
            <a:r>
              <a:rPr lang="zh-CN" altLang="en-US" sz="20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约定的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x1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保存过程调用返回地址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及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x0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(≡0)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实现。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过程调用指令为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jal x1,LL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过程返回指令为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 err="1">
                <a:latin typeface="宋体" panose="02010600030101010101" pitchFamily="2" charset="-122"/>
                <a:sym typeface="+mn-ea"/>
              </a:rPr>
              <a:t>jalr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x0,x1,0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；</a:t>
            </a: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          无条件转移指令为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jal x0,LL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。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0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539552" y="1052984"/>
            <a:ext cx="216000" cy="212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lIns="18000" tIns="36000" rIns="18000" bIns="10800" anchor="t" anchorCtr="0"/>
          <a:lstStyle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√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4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4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√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210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√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9" name="AutoShape 329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000" y="6525344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80000" y="2926715"/>
            <a:ext cx="872172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系统控制指令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共</a:t>
            </a:r>
            <a:r>
              <a:rPr lang="en-US" altLang="zh-CN" sz="2200" b="1" dirty="0">
                <a:latin typeface="宋体" panose="02010600030101010101" pitchFamily="2" charset="-122"/>
              </a:rPr>
              <a:t>10</a:t>
            </a:r>
            <a:r>
              <a:rPr lang="zh-CN" altLang="en-US" sz="2200" b="1" dirty="0">
                <a:latin typeface="宋体" panose="02010600030101010101" pitchFamily="2" charset="-122"/>
              </a:rPr>
              <a:t>条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5" name="Group 14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0650" y="3456000"/>
          <a:ext cx="8362950" cy="2302510"/>
        </p:xfrm>
        <a:graphic>
          <a:graphicData uri="http://schemas.openxmlformats.org/drawingml/2006/table">
            <a:tbl>
              <a:tblPr/>
              <a:tblGrid>
                <a:gridCol w="524510"/>
                <a:gridCol w="510540"/>
                <a:gridCol w="503555"/>
                <a:gridCol w="626745"/>
                <a:gridCol w="385445"/>
                <a:gridCol w="594995"/>
                <a:gridCol w="810260"/>
                <a:gridCol w="1020445"/>
                <a:gridCol w="3386455"/>
              </a:tblGrid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pred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succ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0001111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fence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kern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内存</a:t>
                      </a:r>
                      <a:r>
                        <a:rPr kumimoji="1" lang="zh-CN" altLang="en-US" sz="1600" b="1" i="0" u="none" strike="noStrike" kern="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操作排序</a:t>
                      </a:r>
                      <a:r>
                        <a:rPr kumimoji="1" lang="en-US" altLang="zh-CN" sz="1600" b="1" i="0" u="none" strike="noStrike" kern="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kumimoji="1" lang="zh-CN" altLang="en-US" sz="1600" b="1" i="0" u="none" strike="noStrike" kern="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设置存储模型</a:t>
                      </a:r>
                      <a:r>
                        <a:rPr kumimoji="1" lang="en-US" altLang="zh-CN" sz="1600" b="1" i="0" u="none" strike="noStrike" kern="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0001111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fence.i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ecall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kern="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环境调用</a:t>
                      </a:r>
                      <a:r>
                        <a:rPr kumimoji="1" lang="en-US" altLang="zh-CN" sz="1600" b="1" i="0" u="none" strike="noStrike" kern="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kumimoji="1" lang="zh-CN" altLang="en-US" sz="1600" b="1" i="0" u="none" strike="noStrike" kern="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产生调用异常</a:t>
                      </a:r>
                      <a:r>
                        <a:rPr kumimoji="1" lang="en-US" altLang="zh-CN" sz="1600" b="1" i="0" u="none" strike="noStrike" kern="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ebreak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kern="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环境断点</a:t>
                      </a:r>
                      <a:r>
                        <a:rPr kumimoji="1" lang="en-US" altLang="zh-CN" sz="1600" b="1" kern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kumimoji="1" lang="zh-CN" altLang="en-US" sz="1600" b="1" kern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产生断点异常</a:t>
                      </a:r>
                      <a:r>
                        <a:rPr kumimoji="1" lang="en-US" altLang="zh-CN" sz="1600" b="1" kern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endParaRPr kumimoji="1" lang="zh-CN" altLang="en-US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csr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csrrw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(csr)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csr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(rs1)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csr</a:t>
                      </a:r>
                      <a:endParaRPr kumimoji="1" lang="en-US" altLang="zh-CN" sz="1600" b="1" dirty="0" err="1">
                        <a:ln>
                          <a:noFill/>
                        </a:ln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 csrrs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(csr)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csr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(csr)|(rs1)</a:t>
                      </a:r>
                      <a:endParaRPr kumimoji="1" lang="zh-CN" altLang="en-US" sz="1600" b="1" i="0" u="none" strike="noStrike" kern="0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csr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 csrrc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(csr)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csr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(csr)&amp;(rs1)</a:t>
                      </a:r>
                      <a:endParaRPr kumimoji="1" lang="zh-CN" altLang="en-US" sz="1600" b="1" i="0" u="none" strike="noStrike" kern="0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csr</a:t>
                      </a:r>
                      <a:endParaRPr kumimoji="1" lang="en-US" altLang="zh-CN" sz="1600" b="1" dirty="0" err="1">
                        <a:ln>
                          <a:noFill/>
                        </a:ln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zimm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 csrrwi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(csr)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csr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ZExt(zimm)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csr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zimm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 csrrsi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(csr)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csr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(csr)|ZExt(zimm)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3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csr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zimm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1110011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 csrrci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(csr)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csr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(csr)&amp;ZExt(zimm)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7000" y="360000"/>
            <a:ext cx="872172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访存指令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共</a:t>
            </a:r>
            <a:r>
              <a:rPr lang="en-US" altLang="zh-CN" sz="2200" b="1" dirty="0">
                <a:latin typeface="宋体" panose="02010600030101010101" pitchFamily="2" charset="-122"/>
              </a:rPr>
              <a:t>8</a:t>
            </a:r>
            <a:r>
              <a:rPr lang="zh-CN" altLang="en-US" sz="2200" b="1" dirty="0">
                <a:latin typeface="宋体" panose="02010600030101010101" pitchFamily="2" charset="-122"/>
              </a:rPr>
              <a:t>条，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可存取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8/16/32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位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7" name="Group 14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84000" y="908820"/>
          <a:ext cx="8136890" cy="2072259"/>
        </p:xfrm>
        <a:graphic>
          <a:graphicData uri="http://schemas.openxmlformats.org/drawingml/2006/table">
            <a:tbl>
              <a:tblPr/>
              <a:tblGrid>
                <a:gridCol w="999490"/>
                <a:gridCol w="440690"/>
                <a:gridCol w="427990"/>
                <a:gridCol w="407035"/>
                <a:gridCol w="898525"/>
                <a:gridCol w="803275"/>
                <a:gridCol w="654050"/>
                <a:gridCol w="3505835"/>
              </a:tblGrid>
              <a:tr h="22987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lb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SExt(M[(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imm),8])</a:t>
                      </a: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lh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SExt(M[(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imm),16])</a:t>
                      </a: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lw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M[(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imm),32]</a:t>
                      </a: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lbu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ZExt(M[(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imm),8])</a:t>
                      </a: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 lhu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ZExt(M[(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imm),16])</a:t>
                      </a: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imm[11:5]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imm[4:0]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 sb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M[(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imm),8]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altLang="en-US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低</a:t>
                      </a:r>
                      <a:r>
                        <a:rPr lang="en-US" altLang="zh-CN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8</a:t>
                      </a:r>
                      <a:r>
                        <a:rPr lang="zh-CN" altLang="en-US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位</a:t>
                      </a:r>
                      <a:endParaRPr kumimoji="1" lang="zh-CN" altLang="en-US" sz="1600" b="1" i="0" u="none" strike="noStrike" kern="0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imm[11:5]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imm[4:0]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0100011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 sh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M[(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imm),16]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altLang="en-US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低</a:t>
                      </a:r>
                      <a:r>
                        <a:rPr lang="en-US" altLang="zh-CN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16</a:t>
                      </a:r>
                      <a:r>
                        <a:rPr lang="zh-CN" altLang="en-US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位</a:t>
                      </a:r>
                      <a:endParaRPr kumimoji="1" lang="zh-CN" altLang="en-US" sz="1600" b="1" i="0" u="none" strike="noStrike" kern="0" cap="none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imm[11:5]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imm[4:0]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 sw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M[(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imm),32]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0795" marB="0" anchor="ctr" horzOverflow="overflow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0795" marB="0" anchor="ctr" horzOverflow="overflow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3975" marR="18000" marT="1079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kern="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注：</a:t>
                      </a:r>
                      <a:r>
                        <a:rPr kumimoji="1" lang="en-US" altLang="zh-CN" sz="1600" b="1" i="0" u="none" strike="noStrike" kern="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M[x,b]</a:t>
                      </a:r>
                      <a:r>
                        <a:rPr kumimoji="1" lang="zh-CN" altLang="en-US" sz="1600" b="1" i="0" u="none" strike="noStrike" kern="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表示从</a:t>
                      </a:r>
                      <a:r>
                        <a:rPr kumimoji="1" lang="en-US" altLang="zh-CN" sz="1600" b="1" i="0" u="none" strike="noStrike" kern="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x#</a:t>
                      </a:r>
                      <a:r>
                        <a:rPr kumimoji="1" lang="zh-CN" altLang="en-US" sz="1600" b="1" i="0" u="none" strike="noStrike" kern="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单元起的</a:t>
                      </a:r>
                      <a:r>
                        <a:rPr kumimoji="1" lang="en-US" altLang="zh-CN" sz="1600" b="1" i="0" u="none" strike="noStrike" kern="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  <a:r>
                        <a:rPr kumimoji="1" lang="zh-CN" altLang="en-US" sz="1600" b="1" i="0" u="none" strike="noStrike" kern="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位数据</a:t>
                      </a:r>
                      <a:endParaRPr kumimoji="1" lang="zh-CN" altLang="en-US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53975" marR="18000" marT="10795" marB="0" anchor="ctr" horzOverflow="overflow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395560" y="908720"/>
            <a:ext cx="216000" cy="1836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lIns="18000" tIns="36000" rIns="18000" bIns="10800" anchor="t" anchorCtr="0"/>
          <a:lstStyle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√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√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spcBef>
                <a:spcPts val="2100"/>
              </a:spcBef>
            </a:pPr>
            <a:r>
              <a:rPr lang="zh-CN" altLang="en-US" sz="1600" b="1" dirty="0">
                <a:latin typeface="宋体" panose="02010600030101010101" pitchFamily="2" charset="-122"/>
              </a:rPr>
              <a:t>√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38200" y="323945"/>
            <a:ext cx="746760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+mn-ea"/>
                <a:ea typeface="+mn-ea"/>
              </a:rPr>
              <a:t>§3 </a:t>
            </a:r>
            <a:r>
              <a:rPr lang="zh-CN" altLang="en-US" sz="3200" b="1" dirty="0">
                <a:latin typeface="+mn-ea"/>
                <a:ea typeface="+mn-ea"/>
              </a:rPr>
              <a:t>模型机主机设计过程</a:t>
            </a:r>
            <a:endParaRPr lang="zh-CN" altLang="en-US" sz="3200" b="1" dirty="0">
              <a:latin typeface="+mn-ea"/>
              <a:ea typeface="+mn-ea"/>
            </a:endParaRPr>
          </a:p>
        </p:txBody>
      </p:sp>
      <p:sp>
        <p:nvSpPr>
          <p:cNvPr id="4" name="Text Box 78"/>
          <p:cNvSpPr txBox="1">
            <a:spLocks noChangeArrowheads="1"/>
          </p:cNvSpPr>
          <p:nvPr/>
        </p:nvSpPr>
        <p:spPr bwMode="auto">
          <a:xfrm>
            <a:off x="179388" y="1052736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kumimoji="1"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一、课程设计要求</a:t>
            </a:r>
            <a:endParaRPr lang="zh-CN" altLang="en-US" sz="240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1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1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2" name="Text Box 191"/>
          <p:cNvSpPr txBox="1">
            <a:spLocks noChangeArrowheads="1"/>
          </p:cNvSpPr>
          <p:nvPr/>
        </p:nvSpPr>
        <p:spPr bwMode="auto">
          <a:xfrm>
            <a:off x="206375" y="1557947"/>
            <a:ext cx="7317953" cy="39001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*设计目标：</a:t>
            </a:r>
            <a:r>
              <a:rPr lang="zh-CN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支持</a:t>
            </a:r>
            <a:r>
              <a:rPr lang="en-US" altLang="zh-CN" sz="2200" b="1" dirty="0">
                <a:latin typeface="+mn-ea"/>
                <a:cs typeface="Times New Roman" panose="02020603050405020304" pitchFamily="18" charset="0"/>
              </a:rPr>
              <a:t>RISC-V</a:t>
            </a:r>
            <a:r>
              <a:rPr lang="zh-CN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指令集的模型机主机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*设计要求：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    CPU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功能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—</a:t>
            </a:r>
            <a:endParaRPr lang="en-US" altLang="zh-CN" sz="2200" b="1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    CPU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结构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主存参数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AutoShape 32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91"/>
          <p:cNvSpPr txBox="1">
            <a:spLocks noChangeArrowheads="1"/>
          </p:cNvSpPr>
          <p:nvPr/>
        </p:nvSpPr>
        <p:spPr bwMode="auto">
          <a:xfrm>
            <a:off x="1934567" y="2403256"/>
            <a:ext cx="7029921" cy="341971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支持</a:t>
            </a:r>
            <a:r>
              <a:rPr lang="en-US" altLang="zh-CN" sz="22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15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条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指令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已指定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不支持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异常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中断处理；</a:t>
            </a:r>
            <a:endParaRPr lang="zh-CN" altLang="en-US" sz="2200" b="1" dirty="0"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pt-BR" altLang="zh-CN" sz="2200" b="1" spc="-50" dirty="0">
                <a:latin typeface="+mn-ea"/>
                <a:ea typeface="+mn-ea"/>
              </a:rPr>
              <a:t> </a:t>
            </a:r>
            <a:r>
              <a:rPr lang="pt-BR" altLang="zh-CN" sz="2200" b="1" u="sng" spc="-50" dirty="0">
                <a:latin typeface="+mn-ea"/>
                <a:ea typeface="+mn-ea"/>
              </a:rPr>
              <a:t>MMU</a:t>
            </a:r>
            <a:r>
              <a:rPr lang="zh-CN" altLang="en-US" sz="2200" b="1" spc="-50" dirty="0">
                <a:latin typeface="+mn-ea"/>
                <a:ea typeface="+mn-ea"/>
              </a:rPr>
              <a:t>采用</a:t>
            </a:r>
            <a:r>
              <a:rPr lang="zh-CN" altLang="en-US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实地址</a:t>
            </a:r>
            <a:r>
              <a:rPr lang="zh-CN" altLang="en-US" sz="2200" b="1" spc="-50" dirty="0">
                <a:latin typeface="+mn-ea"/>
                <a:ea typeface="+mn-ea"/>
              </a:rPr>
              <a:t>管理方式</a:t>
            </a:r>
            <a:endParaRPr lang="en-US" altLang="zh-CN" sz="2200" b="1" spc="-50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spc="-50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200" b="1" u="sng" spc="-50" dirty="0">
                <a:latin typeface="+mn-ea"/>
                <a:ea typeface="+mn-ea"/>
                <a:cs typeface="Times New Roman" panose="02020603050405020304" pitchFamily="18" charset="0"/>
              </a:rPr>
              <a:t>指令周期</a:t>
            </a:r>
            <a:r>
              <a:rPr lang="zh-CN" altLang="en-US" sz="2200" b="1" spc="-50" dirty="0">
                <a:latin typeface="+mn-ea"/>
                <a:ea typeface="+mn-ea"/>
                <a:cs typeface="Times New Roman" panose="02020603050405020304" pitchFamily="18" charset="0"/>
              </a:rPr>
              <a:t>为</a:t>
            </a:r>
            <a:r>
              <a:rPr lang="zh-CN" altLang="zh-CN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单</a:t>
            </a:r>
            <a:r>
              <a:rPr lang="zh-CN" altLang="en-US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周期</a:t>
            </a:r>
            <a:r>
              <a:rPr lang="zh-CN" altLang="en-US" sz="2200" b="1" spc="-50" dirty="0">
                <a:solidFill>
                  <a:srgbClr val="FF3399"/>
                </a:solidFill>
                <a:latin typeface="+mn-ea"/>
                <a:ea typeface="+mn-ea"/>
              </a:rPr>
              <a:t>或</a:t>
            </a:r>
            <a:r>
              <a:rPr lang="zh-CN" altLang="en-US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多</a:t>
            </a:r>
            <a:r>
              <a:rPr lang="zh-CN" altLang="zh-CN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周期</a:t>
            </a:r>
            <a:r>
              <a:rPr lang="zh-CN" altLang="en-US" sz="2200" b="1" spc="-50" dirty="0">
                <a:latin typeface="+mn-ea"/>
                <a:ea typeface="+mn-ea"/>
              </a:rPr>
              <a:t>，</a:t>
            </a:r>
            <a:endParaRPr lang="en-US" altLang="zh-CN" sz="2200" b="1" spc="-50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spc="-50" dirty="0">
                <a:latin typeface="+mn-ea"/>
                <a:ea typeface="+mn-ea"/>
              </a:rPr>
              <a:t> </a:t>
            </a:r>
            <a:r>
              <a:rPr lang="zh-CN" altLang="zh-CN" sz="2200" b="1" u="sng" spc="-50" dirty="0">
                <a:latin typeface="+mn-ea"/>
                <a:ea typeface="+mn-ea"/>
              </a:rPr>
              <a:t>数据通路</a:t>
            </a:r>
            <a:r>
              <a:rPr lang="zh-CN" altLang="en-US" sz="2200" b="1" spc="-50" dirty="0">
                <a:latin typeface="+mn-ea"/>
                <a:ea typeface="+mn-ea"/>
              </a:rPr>
              <a:t>为</a:t>
            </a:r>
            <a:r>
              <a:rPr lang="zh-CN" altLang="en-US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专用结构</a:t>
            </a:r>
            <a:r>
              <a:rPr lang="zh-CN" altLang="en-US" sz="2200" b="1" spc="-50" dirty="0">
                <a:latin typeface="+mn-ea"/>
                <a:ea typeface="+mn-ea"/>
              </a:rPr>
              <a:t>，</a:t>
            </a:r>
            <a:r>
              <a:rPr lang="zh-CN" altLang="en-US" sz="2200" b="1" u="sng" spc="-50" dirty="0">
                <a:latin typeface="+mn-ea"/>
                <a:ea typeface="+mn-ea"/>
              </a:rPr>
              <a:t>存储器</a:t>
            </a:r>
            <a:r>
              <a:rPr lang="zh-CN" altLang="en-US" sz="2200" b="1" spc="-50" dirty="0">
                <a:latin typeface="+mn-ea"/>
                <a:ea typeface="+mn-ea"/>
              </a:rPr>
              <a:t>为</a:t>
            </a:r>
            <a:r>
              <a:rPr lang="zh-CN" altLang="en-US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哈佛结构</a:t>
            </a:r>
            <a:r>
              <a:rPr lang="zh-CN" altLang="en-US" sz="2200" b="1" spc="-50" dirty="0">
                <a:latin typeface="+mn-ea"/>
                <a:ea typeface="+mn-ea"/>
              </a:rPr>
              <a:t>，</a:t>
            </a:r>
            <a:endParaRPr lang="en-US" altLang="zh-CN" sz="2200" b="1" spc="-50" dirty="0">
              <a:latin typeface="+mn-ea"/>
              <a:ea typeface="+mn-ea"/>
            </a:endParaRPr>
          </a:p>
          <a:p>
            <a:pPr marL="3234055" indent="-3234055"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spc="-5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200" b="1" u="sng" spc="-50" dirty="0">
                <a:latin typeface="+mn-ea"/>
                <a:ea typeface="+mn-ea"/>
              </a:rPr>
              <a:t>BIU</a:t>
            </a:r>
            <a:r>
              <a:rPr lang="zh-CN" altLang="en-US" sz="2200" b="1" spc="-50" dirty="0">
                <a:latin typeface="+mn-ea"/>
                <a:ea typeface="+mn-ea"/>
              </a:rPr>
              <a:t>为数据线</a:t>
            </a:r>
            <a:r>
              <a:rPr lang="en-US" altLang="zh-CN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32</a:t>
            </a:r>
            <a:r>
              <a:rPr lang="zh-CN" altLang="en-US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位</a:t>
            </a:r>
            <a:r>
              <a:rPr lang="zh-CN" altLang="en-US" sz="2200" b="1" spc="-50" dirty="0">
                <a:latin typeface="+mn-ea"/>
                <a:ea typeface="+mn-ea"/>
              </a:rPr>
              <a:t>、地址空间</a:t>
            </a:r>
            <a:r>
              <a:rPr lang="en-US" altLang="zh-CN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32</a:t>
            </a:r>
            <a:r>
              <a:rPr lang="zh-CN" altLang="zh-CN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位</a:t>
            </a:r>
            <a:r>
              <a:rPr lang="zh-CN" altLang="en-US" sz="2200" b="1" spc="-50" dirty="0">
                <a:latin typeface="+mn-ea"/>
                <a:ea typeface="+mn-ea"/>
              </a:rPr>
              <a:t>、控制线</a:t>
            </a:r>
            <a:r>
              <a:rPr lang="en-US" altLang="zh-CN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3</a:t>
            </a:r>
            <a:r>
              <a:rPr lang="zh-CN" altLang="en-US" sz="2200" b="1" u="sng" spc="-50" dirty="0">
                <a:solidFill>
                  <a:srgbClr val="0070C0"/>
                </a:solidFill>
                <a:latin typeface="+mn-ea"/>
                <a:ea typeface="+mn-ea"/>
              </a:rPr>
              <a:t>根</a:t>
            </a:r>
            <a:r>
              <a:rPr lang="en-US" altLang="zh-CN" b="1" spc="-50" dirty="0">
                <a:latin typeface="+mn-ea"/>
                <a:ea typeface="+mn-ea"/>
              </a:rPr>
              <a:t>(R/W/CLK)</a:t>
            </a:r>
            <a:r>
              <a:rPr lang="zh-CN" altLang="en-US" sz="2200" b="1" spc="-50" dirty="0">
                <a:latin typeface="+mn-ea"/>
                <a:ea typeface="+mn-ea"/>
              </a:rPr>
              <a:t>，</a:t>
            </a:r>
            <a:endParaRPr lang="en-US" altLang="zh-CN" sz="2200" b="1" spc="-50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spc="-5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200" b="1" u="sng" spc="-50" dirty="0">
                <a:latin typeface="+mn-ea"/>
              </a:rPr>
              <a:t>CU</a:t>
            </a:r>
            <a:r>
              <a:rPr lang="zh-CN" altLang="en-US" sz="2200" b="1" spc="-50" dirty="0">
                <a:latin typeface="+mn-ea"/>
              </a:rPr>
              <a:t>采用</a:t>
            </a:r>
            <a:r>
              <a:rPr lang="zh-CN" altLang="zh-CN" sz="2200" b="1" u="sng" spc="-50" dirty="0">
                <a:solidFill>
                  <a:srgbClr val="0070C0"/>
                </a:solidFill>
                <a:latin typeface="+mn-ea"/>
              </a:rPr>
              <a:t>硬布线</a:t>
            </a:r>
            <a:r>
              <a:rPr lang="zh-CN" altLang="en-US" sz="2200" b="1" spc="-50" dirty="0">
                <a:latin typeface="+mn-ea"/>
              </a:rPr>
              <a:t>方式实现、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μOP</a:t>
            </a:r>
            <a:r>
              <a:rPr lang="zh-CN" altLang="zh-CN" sz="2200" b="1" dirty="0"/>
              <a:t>采用</a:t>
            </a:r>
            <a:r>
              <a:rPr lang="zh-CN" altLang="zh-CN" sz="2200" b="1" u="sng" spc="-50" dirty="0">
                <a:solidFill>
                  <a:srgbClr val="0070C0"/>
                </a:solidFill>
                <a:latin typeface="+mn-ea"/>
              </a:rPr>
              <a:t>同步</a:t>
            </a:r>
            <a:r>
              <a:rPr lang="zh-CN" altLang="zh-CN" sz="2200" b="1" spc="-50" dirty="0">
                <a:latin typeface="+mn-ea"/>
              </a:rPr>
              <a:t>方式定时</a:t>
            </a:r>
            <a:endParaRPr lang="en-US" altLang="zh-CN" sz="2200" b="1" spc="-50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  分别为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同步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ROM/SRAM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，容量均为</a:t>
            </a:r>
            <a:r>
              <a:rPr lang="en-US" altLang="zh-CN" sz="22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4KB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；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主存</a:t>
            </a:r>
            <a:r>
              <a:rPr lang="zh-CN" altLang="en-US" sz="2200" b="1" u="sng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直接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连接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CPU</a:t>
            </a:r>
            <a:r>
              <a:rPr lang="zh-CN" altLang="en-US" sz="2200" b="1" dirty="0">
                <a:latin typeface="+mn-ea"/>
                <a:cs typeface="Times New Roman" panose="02020603050405020304" pitchFamily="18" charset="0"/>
              </a:rPr>
              <a:t>、</a:t>
            </a:r>
            <a:r>
              <a:rPr lang="zh-CN" altLang="en-US" sz="2200" b="1" dirty="0">
                <a:latin typeface="+mn-ea"/>
              </a:rPr>
              <a:t>存取</a:t>
            </a:r>
            <a:r>
              <a:rPr lang="zh-CN" altLang="zh-CN" sz="2200" b="1" dirty="0">
                <a:latin typeface="+mn-ea"/>
              </a:rPr>
              <a:t>周期＜</a:t>
            </a:r>
            <a:r>
              <a:rPr lang="pt-BR" altLang="zh-CN" sz="2200" b="1" dirty="0">
                <a:latin typeface="+mn-ea"/>
              </a:rPr>
              <a:t>1</a:t>
            </a:r>
            <a:r>
              <a:rPr lang="zh-CN" altLang="zh-CN" sz="2200" b="1" dirty="0">
                <a:latin typeface="+mn-ea"/>
              </a:rPr>
              <a:t>个时钟周期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AutoShape 32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1908000" y="6525344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91"/>
          <p:cNvSpPr txBox="1">
            <a:spLocks noChangeArrowheads="1"/>
          </p:cNvSpPr>
          <p:nvPr/>
        </p:nvSpPr>
        <p:spPr bwMode="auto">
          <a:xfrm>
            <a:off x="206375" y="1692910"/>
            <a:ext cx="8934921" cy="37844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⑴需求分析   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明确</a:t>
            </a:r>
            <a:r>
              <a:rPr lang="zh-CN" altLang="en-US" b="1" u="sng" dirty="0">
                <a:latin typeface="+mn-ea"/>
                <a:ea typeface="+mn-ea"/>
              </a:rPr>
              <a:t>操作需求</a:t>
            </a:r>
            <a:r>
              <a:rPr lang="en-US" altLang="zh-CN" b="1" u="sng" dirty="0">
                <a:latin typeface="+mn-ea"/>
                <a:ea typeface="+mn-ea"/>
              </a:rPr>
              <a:t>&amp;</a:t>
            </a:r>
            <a:r>
              <a:rPr lang="zh-CN" altLang="en-US" b="1" u="sng" dirty="0">
                <a:latin typeface="+mn-ea"/>
                <a:ea typeface="+mn-ea"/>
              </a:rPr>
              <a:t>部件参数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  设计要求分析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r>
              <a:rPr lang="zh-CN" altLang="en-US" sz="2400" b="1" u="sng" spc="-50" dirty="0">
                <a:latin typeface="+mn-ea"/>
                <a:ea typeface="+mn-ea"/>
              </a:rPr>
              <a:t>形成</a:t>
            </a:r>
            <a:r>
              <a:rPr lang="en-US" altLang="zh-CN" sz="2400" b="1" spc="-50" dirty="0">
                <a:latin typeface="+mn-ea"/>
                <a:ea typeface="+mn-ea"/>
              </a:rPr>
              <a:t>CPU</a:t>
            </a:r>
            <a:r>
              <a:rPr lang="zh-CN" altLang="en-US" sz="2400" b="1" spc="-50" dirty="0">
                <a:latin typeface="+mn-ea"/>
                <a:ea typeface="+mn-ea"/>
              </a:rPr>
              <a:t>功能需求、</a:t>
            </a:r>
            <a:r>
              <a:rPr lang="en-US" altLang="zh-CN" sz="2400" b="1" spc="-50" dirty="0">
                <a:latin typeface="+mn-ea"/>
                <a:ea typeface="+mn-ea"/>
              </a:rPr>
              <a:t>CPU</a:t>
            </a:r>
            <a:r>
              <a:rPr lang="zh-CN" altLang="en-US" sz="2400" b="1" spc="-50" dirty="0">
                <a:latin typeface="+mn-ea"/>
                <a:ea typeface="+mn-ea"/>
              </a:rPr>
              <a:t>结构需求、主存组成需求</a:t>
            </a:r>
            <a:endParaRPr lang="en-US" altLang="zh-CN" sz="2400" b="1" spc="-50" dirty="0">
              <a:latin typeface="+mn-ea"/>
              <a:ea typeface="+mn-ea"/>
            </a:endParaRPr>
          </a:p>
          <a:p>
            <a:pPr>
              <a:lnSpc>
                <a:spcPct val="90000"/>
              </a:lnSpc>
              <a:spcBef>
                <a:spcPts val="0"/>
              </a:spcBef>
              <a:defRPr/>
            </a:pPr>
            <a:r>
              <a:rPr lang="en-US" altLang="zh-CN" b="1" dirty="0">
                <a:latin typeface="+mn-ea"/>
                <a:ea typeface="+mn-ea"/>
              </a:rPr>
              <a:t>                                               </a:t>
            </a:r>
            <a:r>
              <a:rPr lang="zh-CN" altLang="en-US" dirty="0">
                <a:latin typeface="+mn-ea"/>
                <a:ea typeface="+mn-ea"/>
              </a:rPr>
              <a:t>└</a:t>
            </a:r>
            <a:r>
              <a:rPr lang="zh-CN" altLang="en-US" b="1" dirty="0">
                <a:latin typeface="+mn-ea"/>
                <a:ea typeface="+mn-ea"/>
              </a:rPr>
              <a:t>←含内部结构</a:t>
            </a:r>
            <a:r>
              <a:rPr lang="en-US" altLang="zh-CN" b="1" dirty="0">
                <a:latin typeface="+mn-ea"/>
                <a:ea typeface="+mn-ea"/>
              </a:rPr>
              <a:t>+</a:t>
            </a:r>
            <a:r>
              <a:rPr lang="zh-CN" altLang="en-US" b="1" dirty="0">
                <a:latin typeface="+mn-ea"/>
                <a:ea typeface="+mn-ea"/>
              </a:rPr>
              <a:t>外部接口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      可选项：</a:t>
            </a:r>
            <a:r>
              <a:rPr lang="zh-CN" altLang="en-US" sz="2200" b="1" dirty="0">
                <a:latin typeface="+mn-ea"/>
                <a:ea typeface="+mn-ea"/>
              </a:rPr>
              <a:t>指令周期类型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单</a:t>
            </a:r>
            <a:r>
              <a:rPr lang="en-US" altLang="zh-CN" b="1" dirty="0">
                <a:latin typeface="+mn-ea"/>
                <a:ea typeface="+mn-ea"/>
              </a:rPr>
              <a:t>/</a:t>
            </a:r>
            <a:r>
              <a:rPr lang="zh-CN" altLang="en-US" b="1" dirty="0">
                <a:latin typeface="+mn-ea"/>
                <a:ea typeface="+mn-ea"/>
              </a:rPr>
              <a:t>多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、指令数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≥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15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条</a:t>
            </a:r>
            <a:r>
              <a:rPr lang="en-US" altLang="zh-CN" b="1" dirty="0">
                <a:latin typeface="+mn-ea"/>
                <a:ea typeface="+mn-ea"/>
              </a:rPr>
              <a:t>)   ←</a:t>
            </a:r>
            <a:r>
              <a:rPr lang="zh-CN" altLang="en-US" b="1" dirty="0">
                <a:latin typeface="+mn-ea"/>
                <a:ea typeface="+mn-ea"/>
              </a:rPr>
              <a:t>先</a:t>
            </a:r>
            <a:r>
              <a:rPr lang="zh-CN" altLang="en-US" b="1" dirty="0">
                <a:latin typeface="+mn-ea"/>
                <a:ea typeface="+mn-ea"/>
                <a:sym typeface="+mn-ea"/>
              </a:rPr>
              <a:t>完成基本</a:t>
            </a:r>
            <a:r>
              <a:rPr lang="en-US" altLang="zh-CN" b="1" dirty="0">
                <a:latin typeface="+mn-ea"/>
                <a:ea typeface="+mn-ea"/>
                <a:sym typeface="+mn-ea"/>
              </a:rPr>
              <a:t>DP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指令系统分析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r>
              <a:rPr lang="zh-CN" altLang="en-US" sz="2400" b="1" u="sng" dirty="0">
                <a:latin typeface="+mn-ea"/>
                <a:ea typeface="+mn-ea"/>
              </a:rPr>
              <a:t>细化</a:t>
            </a:r>
            <a:r>
              <a:rPr lang="en-US" altLang="zh-CN" sz="2400" b="1" dirty="0">
                <a:latin typeface="+mn-ea"/>
                <a:ea typeface="+mn-ea"/>
              </a:rPr>
              <a:t>CPU</a:t>
            </a:r>
            <a:r>
              <a:rPr lang="zh-CN" altLang="en-US" sz="2400" b="1" dirty="0">
                <a:latin typeface="+mn-ea"/>
                <a:ea typeface="+mn-ea"/>
              </a:rPr>
              <a:t>功能需求              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r>
              <a:rPr lang="en-US" altLang="zh-CN" sz="2200" b="1" spc="230" dirty="0">
                <a:solidFill>
                  <a:srgbClr val="990099"/>
                </a:solidFill>
                <a:latin typeface="+mn-ea"/>
                <a:ea typeface="+mn-ea"/>
              </a:rPr>
              <a:t>ISA</a:t>
            </a:r>
            <a:r>
              <a:rPr lang="zh-CN" altLang="en-US" sz="2200" b="1" spc="230" dirty="0">
                <a:solidFill>
                  <a:srgbClr val="990099"/>
                </a:solidFill>
                <a:latin typeface="+mn-ea"/>
                <a:ea typeface="+mn-ea"/>
              </a:rPr>
              <a:t>结构需求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指令功能需求：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存储管理需求：</a:t>
            </a:r>
            <a:endParaRPr lang="zh-CN" altLang="en-US" sz="22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系统启动需求：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78"/>
          <p:cNvSpPr txBox="1">
            <a:spLocks noChangeArrowheads="1"/>
          </p:cNvSpPr>
          <p:nvPr/>
        </p:nvSpPr>
        <p:spPr bwMode="auto">
          <a:xfrm>
            <a:off x="179512" y="404664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kumimoji="1"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二、课程设计过程</a:t>
            </a:r>
            <a:endParaRPr lang="zh-CN" altLang="en-US" sz="240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SEU.CSE.RGL</a:t>
            </a:r>
            <a:endParaRPr lang="en-US" altLang="zh-CN" dirty="0"/>
          </a:p>
        </p:txBody>
      </p:sp>
      <p:sp>
        <p:nvSpPr>
          <p:cNvPr id="13" name="AutoShape 32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Text Box 191"/>
          <p:cNvSpPr txBox="1">
            <a:spLocks noChangeArrowheads="1"/>
          </p:cNvSpPr>
          <p:nvPr/>
        </p:nvSpPr>
        <p:spPr bwMode="auto">
          <a:xfrm>
            <a:off x="467543" y="5394903"/>
            <a:ext cx="8497193" cy="9144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分析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-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设计的关系：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结构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/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操作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/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参数需求→</a:t>
            </a:r>
            <a:r>
              <a:rPr lang="zh-CN" altLang="en-US" sz="2200" b="1" dirty="0">
                <a:latin typeface="+mn-ea"/>
                <a:ea typeface="+mn-ea"/>
              </a:rPr>
              <a:t>数据通路部件的组织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                 </a:t>
            </a:r>
            <a:r>
              <a:rPr lang="zh-CN" altLang="en-US" sz="2200" b="1" spc="700" dirty="0">
                <a:solidFill>
                  <a:srgbClr val="990099"/>
                </a:solidFill>
                <a:latin typeface="+mn-ea"/>
                <a:ea typeface="+mn-ea"/>
              </a:rPr>
              <a:t> </a:t>
            </a:r>
            <a:r>
              <a:rPr lang="zh-CN" altLang="en-US" sz="2000" b="1" spc="700" dirty="0">
                <a:solidFill>
                  <a:srgbClr val="990099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数据路径需求→</a:t>
            </a:r>
            <a:r>
              <a:rPr lang="zh-CN" altLang="en-US" sz="2200" b="1" dirty="0">
                <a:latin typeface="+mn-ea"/>
                <a:ea typeface="+mn-ea"/>
              </a:rPr>
              <a:t>数据通路部件的互连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16" name="Text Box 191"/>
          <p:cNvSpPr txBox="1">
            <a:spLocks noChangeArrowheads="1"/>
          </p:cNvSpPr>
          <p:nvPr/>
        </p:nvSpPr>
        <p:spPr bwMode="auto">
          <a:xfrm>
            <a:off x="206374" y="892640"/>
            <a:ext cx="8830122" cy="880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  设计步骤：</a:t>
            </a:r>
            <a:r>
              <a:rPr lang="zh-CN" altLang="en-US" sz="2200" b="1" dirty="0">
                <a:latin typeface="+mn-ea"/>
                <a:ea typeface="+mn-ea"/>
              </a:rPr>
              <a:t>需求分析→总体设计→数据通路设计与实现→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</a:rPr>
              <a:t>            →</a:t>
            </a:r>
            <a:r>
              <a:rPr lang="zh-CN" altLang="en-US" sz="2200" b="1" dirty="0">
                <a:latin typeface="+mn-ea"/>
                <a:ea typeface="+mn-ea"/>
              </a:rPr>
              <a:t>控制单元设计与实现→</a:t>
            </a:r>
            <a:r>
              <a:rPr lang="en-US" altLang="zh-CN" sz="2200" b="1" dirty="0">
                <a:latin typeface="+mn-ea"/>
                <a:ea typeface="+mn-ea"/>
              </a:rPr>
              <a:t>CPU</a:t>
            </a:r>
            <a:r>
              <a:rPr lang="zh-CN" altLang="en-US" sz="2200" b="1" dirty="0">
                <a:latin typeface="+mn-ea"/>
                <a:ea typeface="+mn-ea"/>
              </a:rPr>
              <a:t>封装→主机实现与测试</a:t>
            </a:r>
            <a:endParaRPr lang="en-US" altLang="zh-CN" sz="2200" dirty="0">
              <a:latin typeface="+mn-ea"/>
              <a:ea typeface="+mn-ea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3132093" y="3805525"/>
            <a:ext cx="3612316" cy="1130219"/>
            <a:chOff x="2700139" y="3350263"/>
            <a:chExt cx="3612316" cy="1130219"/>
          </a:xfrm>
        </p:grpSpPr>
        <p:sp>
          <p:nvSpPr>
            <p:cNvPr id="11" name="Text Box 255"/>
            <p:cNvSpPr txBox="1">
              <a:spLocks noChangeArrowheads="1"/>
            </p:cNvSpPr>
            <p:nvPr/>
          </p:nvSpPr>
          <p:spPr bwMode="auto">
            <a:xfrm>
              <a:off x="2700139" y="3350263"/>
              <a:ext cx="1728192" cy="76362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5" name="Text Box 14"/>
            <p:cNvSpPr txBox="1">
              <a:spLocks noChangeArrowheads="1"/>
            </p:cNvSpPr>
            <p:nvPr/>
          </p:nvSpPr>
          <p:spPr bwMode="auto">
            <a:xfrm>
              <a:off x="4788371" y="4185895"/>
              <a:ext cx="1524084" cy="294587"/>
            </a:xfrm>
            <a:prstGeom prst="rect">
              <a:avLst/>
            </a:prstGeom>
            <a:noFill/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b="1" dirty="0">
                  <a:latin typeface="宋体" panose="02010600030101010101" pitchFamily="2" charset="-122"/>
                </a:rPr>
                <a:t>合称数据操作</a:t>
              </a:r>
              <a:endParaRPr lang="en-US" altLang="zh-CN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6" name="直接箭头连接符 25"/>
            <p:cNvCxnSpPr>
              <a:endCxn id="25" idx="1"/>
            </p:cNvCxnSpPr>
            <p:nvPr/>
          </p:nvCxnSpPr>
          <p:spPr>
            <a:xfrm>
              <a:off x="4428331" y="4113887"/>
              <a:ext cx="360040" cy="219302"/>
            </a:xfrm>
            <a:prstGeom prst="straightConnector1">
              <a:avLst/>
            </a:prstGeom>
            <a:ln w="12700">
              <a:solidFill>
                <a:srgbClr val="990099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 Box 191"/>
          <p:cNvSpPr txBox="1">
            <a:spLocks noChangeArrowheads="1"/>
          </p:cNvSpPr>
          <p:nvPr/>
        </p:nvSpPr>
        <p:spPr bwMode="auto">
          <a:xfrm>
            <a:off x="3059836" y="3733517"/>
            <a:ext cx="5904905" cy="17837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</a:rPr>
              <a:t>数据寻址操作、指令寻址操作，</a:t>
            </a:r>
            <a:r>
              <a:rPr lang="en-US" altLang="zh-CN" sz="2200" b="1" dirty="0">
                <a:latin typeface="+mn-ea"/>
              </a:rPr>
              <a:t>REG</a:t>
            </a:r>
            <a:r>
              <a:rPr lang="zh-CN" altLang="en-US" sz="2200" b="1" dirty="0">
                <a:latin typeface="+mn-ea"/>
              </a:rPr>
              <a:t>及</a:t>
            </a:r>
            <a:r>
              <a:rPr lang="en-US" altLang="zh-CN" sz="2200" b="1" dirty="0">
                <a:latin typeface="+mn-ea"/>
              </a:rPr>
              <a:t>MEM</a:t>
            </a:r>
            <a:r>
              <a:rPr lang="zh-CN" altLang="en-US" sz="2200" b="1" dirty="0">
                <a:latin typeface="+mn-ea"/>
              </a:rPr>
              <a:t>参数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</a:rPr>
              <a:t>指令功能操作，所需数据路径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</a:rPr>
              <a:t>地址变换操作</a:t>
            </a:r>
            <a:endParaRPr lang="zh-CN" altLang="en-US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</a:rPr>
              <a:t>总清操作</a:t>
            </a:r>
            <a:endParaRPr lang="en-US" altLang="zh-CN" sz="2200" b="1" dirty="0">
              <a:latin typeface="+mn-ea"/>
            </a:endParaRPr>
          </a:p>
        </p:txBody>
      </p:sp>
      <p:sp>
        <p:nvSpPr>
          <p:cNvPr id="22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8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AutoShape 32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5" name="Text Box 191"/>
          <p:cNvSpPr txBox="1">
            <a:spLocks noChangeArrowheads="1"/>
          </p:cNvSpPr>
          <p:nvPr/>
        </p:nvSpPr>
        <p:spPr bwMode="auto">
          <a:xfrm>
            <a:off x="179512" y="385207"/>
            <a:ext cx="4969246" cy="29657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⑵总体设计   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应用模型→电路模型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   功能模块划分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300"/>
              </a:spcBef>
              <a:defRPr/>
            </a:pPr>
            <a:endParaRPr lang="en-US" altLang="zh-CN" sz="16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   各模块功能组织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  <a:spcBef>
                <a:spcPts val="0"/>
              </a:spcBef>
              <a:defRPr/>
            </a:pPr>
            <a:r>
              <a:rPr lang="en-US" altLang="zh-CN" b="1" dirty="0">
                <a:latin typeface="+mn-ea"/>
                <a:ea typeface="+mn-ea"/>
              </a:rPr>
              <a:t>      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模块→子模块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各模块接口设计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</p:txBody>
      </p:sp>
      <p:sp>
        <p:nvSpPr>
          <p:cNvPr id="12" name="Text Box 191"/>
          <p:cNvSpPr txBox="1">
            <a:spLocks noChangeArrowheads="1"/>
          </p:cNvSpPr>
          <p:nvPr/>
        </p:nvSpPr>
        <p:spPr bwMode="auto">
          <a:xfrm>
            <a:off x="2627783" y="817195"/>
            <a:ext cx="6513514" cy="29191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</a:rPr>
              <a:t>数据通路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指令部件</a:t>
            </a:r>
            <a:r>
              <a:rPr lang="en-US" altLang="zh-CN" b="1" dirty="0">
                <a:latin typeface="+mn-ea"/>
              </a:rPr>
              <a:t>/</a:t>
            </a:r>
            <a:r>
              <a:rPr lang="zh-CN" altLang="en-US" b="1" dirty="0">
                <a:latin typeface="+mn-ea"/>
              </a:rPr>
              <a:t>运算器</a:t>
            </a:r>
            <a:r>
              <a:rPr lang="en-US" altLang="zh-CN" b="1" dirty="0">
                <a:latin typeface="+mn-ea"/>
              </a:rPr>
              <a:t>/BIU/MMU)</a:t>
            </a:r>
            <a:r>
              <a:rPr lang="zh-CN" altLang="en-US" sz="2200" b="1" dirty="0">
                <a:latin typeface="+mn-ea"/>
              </a:rPr>
              <a:t>，控制器</a:t>
            </a:r>
            <a:r>
              <a:rPr lang="en-US" altLang="zh-CN" b="1" dirty="0">
                <a:latin typeface="+mn-ea"/>
              </a:rPr>
              <a:t>(CU)</a:t>
            </a:r>
            <a:endParaRPr lang="en-US" altLang="zh-CN" b="1" dirty="0">
              <a:latin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defRPr/>
            </a:pPr>
            <a:r>
              <a:rPr lang="zh-CN" altLang="en-US" sz="1600" dirty="0">
                <a:latin typeface="+mn-ea"/>
              </a:rPr>
              <a:t>    └←</a:t>
            </a:r>
            <a:r>
              <a:rPr lang="zh-CN" altLang="en-US" sz="1600" b="1" dirty="0">
                <a:latin typeface="+mn-ea"/>
              </a:rPr>
              <a:t>常简写为</a:t>
            </a:r>
            <a:r>
              <a:rPr lang="en-US" altLang="zh-CN" sz="1600" b="1" dirty="0">
                <a:latin typeface="+mn-ea"/>
              </a:rPr>
              <a:t>DP(</a:t>
            </a:r>
            <a:r>
              <a:rPr lang="en-US" altLang="zh-CN" sz="1600" b="1" dirty="0" err="1">
                <a:latin typeface="+mn-ea"/>
              </a:rPr>
              <a:t>DataPath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dirty="0">
                <a:latin typeface="+mn-ea"/>
              </a:rPr>
              <a:t>     └←</a:t>
            </a:r>
            <a:r>
              <a:rPr lang="zh-CN" altLang="en-US" sz="1600" b="1" dirty="0">
                <a:latin typeface="+mn-ea"/>
              </a:rPr>
              <a:t>本设计缺省中断机构</a:t>
            </a:r>
            <a:endParaRPr lang="zh-CN" altLang="en-US" sz="1600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DP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en-US" sz="2200" b="1" dirty="0">
                <a:latin typeface="+mn-ea"/>
                <a:ea typeface="+mn-ea"/>
              </a:rPr>
              <a:t>实现所需操作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部件及互连</a:t>
            </a:r>
            <a:r>
              <a:rPr lang="en-US" altLang="zh-CN" b="1" dirty="0">
                <a:latin typeface="+mn-ea"/>
                <a:ea typeface="+mn-ea"/>
              </a:rPr>
              <a:t>) </a:t>
            </a:r>
            <a:r>
              <a:rPr lang="zh-CN" altLang="en-US" sz="2200" b="1" dirty="0">
                <a:latin typeface="+mn-ea"/>
                <a:ea typeface="+mn-ea"/>
              </a:rPr>
              <a:t> </a:t>
            </a:r>
            <a:r>
              <a:rPr lang="zh-CN" altLang="en-US" sz="1600" b="1" dirty="0">
                <a:latin typeface="+mn-ea"/>
                <a:ea typeface="+mn-ea"/>
              </a:rPr>
              <a:t>←相关于结构</a:t>
            </a:r>
            <a:r>
              <a:rPr lang="en-US" altLang="zh-CN" sz="1600" b="1" dirty="0">
                <a:latin typeface="+mn-ea"/>
                <a:ea typeface="+mn-ea"/>
              </a:rPr>
              <a:t>/ISA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CU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en-US" sz="2200" b="1" dirty="0">
                <a:latin typeface="+mn-ea"/>
                <a:ea typeface="+mn-ea"/>
              </a:rPr>
              <a:t>产生所有操作的</a:t>
            </a:r>
            <a:r>
              <a:rPr lang="en-US" altLang="zh-CN" sz="2200" b="1" dirty="0" err="1">
                <a:latin typeface="+mn-ea"/>
              </a:rPr>
              <a:t>uOPCmd</a:t>
            </a:r>
            <a:r>
              <a:rPr lang="zh-CN" altLang="en-US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←基于指令周期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1600" b="1" dirty="0" err="1">
                <a:latin typeface="+mn-ea"/>
              </a:rPr>
              <a:t>OP</a:t>
            </a:r>
            <a:r>
              <a:rPr lang="zh-CN" altLang="en-US" sz="1600" b="1" dirty="0">
                <a:latin typeface="+mn-ea"/>
              </a:rPr>
              <a:t>组织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990099"/>
                </a:solidFill>
                <a:latin typeface="+mn-ea"/>
              </a:rPr>
              <a:t>  总清操作：</a:t>
            </a:r>
            <a:r>
              <a:rPr lang="zh-CN" altLang="en-US" sz="2200" b="1" dirty="0">
                <a:latin typeface="+mn-ea"/>
              </a:rPr>
              <a:t>初始化</a:t>
            </a:r>
            <a:r>
              <a:rPr lang="en-US" altLang="zh-CN" sz="2200" b="1" dirty="0">
                <a:latin typeface="+mn-ea"/>
              </a:rPr>
              <a:t>PC</a:t>
            </a:r>
            <a:r>
              <a:rPr lang="zh-CN" altLang="en-US" sz="2200" b="1" dirty="0">
                <a:latin typeface="+mn-ea"/>
              </a:rPr>
              <a:t>、时序电路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DP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~</a:t>
            </a:r>
            <a:r>
              <a:rPr lang="en-US" altLang="zh-CN" sz="2000" b="1" dirty="0">
                <a:latin typeface="+mn-ea"/>
                <a:ea typeface="+mn-ea"/>
              </a:rPr>
              <a:t>CU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en-US" altLang="zh-CN" sz="1600" b="1" dirty="0" err="1">
                <a:latin typeface="+mn-ea"/>
                <a:ea typeface="+mn-ea"/>
              </a:rPr>
              <a:t>uOPCmd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工作脉冲、操作码</a:t>
            </a:r>
            <a:r>
              <a:rPr lang="en-US" altLang="zh-CN" sz="1600" b="1" dirty="0">
                <a:latin typeface="+mn-ea"/>
                <a:ea typeface="+mn-ea"/>
              </a:rPr>
              <a:t>/PSR)</a:t>
            </a:r>
            <a:r>
              <a:rPr lang="zh-CN" altLang="en-US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</a:t>
            </a:r>
            <a:r>
              <a:rPr lang="zh-CN" altLang="en-US" sz="2000" b="1" dirty="0">
                <a:latin typeface="+mn-ea"/>
                <a:ea typeface="+mn-ea"/>
              </a:rPr>
              <a:t>外部</a:t>
            </a:r>
            <a:r>
              <a:rPr lang="en-US" altLang="zh-CN" sz="1600" b="1" dirty="0">
                <a:latin typeface="+mn-ea"/>
                <a:ea typeface="+mn-ea"/>
              </a:rPr>
              <a:t>(BIU</a:t>
            </a:r>
            <a:r>
              <a:rPr lang="en-US" altLang="zh-CN" sz="1600" b="1" dirty="0">
                <a:latin typeface="+mn-ea"/>
              </a:rPr>
              <a:t>/Reset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CU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000" b="1" dirty="0">
                <a:latin typeface="+mn-ea"/>
              </a:rPr>
              <a:t>DP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同上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zh-CN" altLang="en-US" sz="2000" b="1" dirty="0">
                <a:latin typeface="+mn-ea"/>
              </a:rPr>
              <a:t>外部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Clk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Reset)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370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" name="AutoShape 32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15687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4450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" name="AutoShape 32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190839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5" name="组合 124"/>
          <p:cNvGrpSpPr/>
          <p:nvPr/>
        </p:nvGrpSpPr>
        <p:grpSpPr>
          <a:xfrm>
            <a:off x="1393650" y="3789040"/>
            <a:ext cx="6336706" cy="2304256"/>
            <a:chOff x="971599" y="1484686"/>
            <a:chExt cx="6336706" cy="2304256"/>
          </a:xfrm>
        </p:grpSpPr>
        <p:sp>
          <p:nvSpPr>
            <p:cNvPr id="130" name="Rectangle 274"/>
            <p:cNvSpPr>
              <a:spLocks noChangeArrowheads="1"/>
            </p:cNvSpPr>
            <p:nvPr/>
          </p:nvSpPr>
          <p:spPr bwMode="auto">
            <a:xfrm>
              <a:off x="6228184" y="2276773"/>
              <a:ext cx="1080121" cy="648072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Rectangle 274"/>
            <p:cNvSpPr>
              <a:spLocks noChangeArrowheads="1"/>
            </p:cNvSpPr>
            <p:nvPr/>
          </p:nvSpPr>
          <p:spPr bwMode="auto">
            <a:xfrm>
              <a:off x="4932040" y="2611414"/>
              <a:ext cx="1369839" cy="313432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Rectangle 274"/>
            <p:cNvSpPr>
              <a:spLocks noChangeArrowheads="1"/>
            </p:cNvSpPr>
            <p:nvPr/>
          </p:nvSpPr>
          <p:spPr bwMode="auto">
            <a:xfrm>
              <a:off x="6228185" y="1556693"/>
              <a:ext cx="1080120" cy="648516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Rectangle 274"/>
            <p:cNvSpPr>
              <a:spLocks noChangeArrowheads="1"/>
            </p:cNvSpPr>
            <p:nvPr/>
          </p:nvSpPr>
          <p:spPr bwMode="auto">
            <a:xfrm>
              <a:off x="4932040" y="1546983"/>
              <a:ext cx="1368152" cy="334366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Rectangle 274"/>
            <p:cNvSpPr>
              <a:spLocks noChangeArrowheads="1"/>
            </p:cNvSpPr>
            <p:nvPr/>
          </p:nvSpPr>
          <p:spPr bwMode="auto">
            <a:xfrm>
              <a:off x="4139952" y="1557318"/>
              <a:ext cx="802051" cy="647891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Rectangle 274"/>
            <p:cNvSpPr>
              <a:spLocks noChangeArrowheads="1"/>
            </p:cNvSpPr>
            <p:nvPr/>
          </p:nvSpPr>
          <p:spPr bwMode="auto">
            <a:xfrm>
              <a:off x="3851920" y="3156109"/>
              <a:ext cx="3456385" cy="601044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Rectangle 274"/>
            <p:cNvSpPr>
              <a:spLocks noChangeArrowheads="1"/>
            </p:cNvSpPr>
            <p:nvPr/>
          </p:nvSpPr>
          <p:spPr bwMode="auto">
            <a:xfrm>
              <a:off x="3131840" y="2275880"/>
              <a:ext cx="794581" cy="648965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Rectangle 274"/>
            <p:cNvSpPr>
              <a:spLocks noChangeArrowheads="1"/>
            </p:cNvSpPr>
            <p:nvPr/>
          </p:nvSpPr>
          <p:spPr bwMode="auto">
            <a:xfrm>
              <a:off x="1043608" y="1556693"/>
              <a:ext cx="1296144" cy="1673275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Rectangle 299"/>
            <p:cNvSpPr>
              <a:spLocks noChangeArrowheads="1"/>
            </p:cNvSpPr>
            <p:nvPr/>
          </p:nvSpPr>
          <p:spPr bwMode="auto">
            <a:xfrm>
              <a:off x="971599" y="1484686"/>
              <a:ext cx="6336705" cy="230425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Text Box 333"/>
            <p:cNvSpPr txBox="1">
              <a:spLocks noChangeArrowheads="1"/>
            </p:cNvSpPr>
            <p:nvPr/>
          </p:nvSpPr>
          <p:spPr bwMode="auto">
            <a:xfrm>
              <a:off x="2554933" y="1597280"/>
              <a:ext cx="288875" cy="154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数据通路结构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2" name="Text Box 391"/>
            <p:cNvSpPr txBox="1">
              <a:spLocks noChangeArrowheads="1"/>
            </p:cNvSpPr>
            <p:nvPr/>
          </p:nvSpPr>
          <p:spPr bwMode="auto">
            <a:xfrm>
              <a:off x="6228184" y="1808275"/>
              <a:ext cx="576064" cy="25247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DBIU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3" name="Text Box 392"/>
            <p:cNvSpPr txBox="1">
              <a:spLocks noChangeArrowheads="1"/>
            </p:cNvSpPr>
            <p:nvPr/>
          </p:nvSpPr>
          <p:spPr bwMode="auto">
            <a:xfrm>
              <a:off x="3923928" y="3239165"/>
              <a:ext cx="288032" cy="20935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4" name="Text Box 292"/>
            <p:cNvSpPr txBox="1">
              <a:spLocks noChangeArrowheads="1"/>
            </p:cNvSpPr>
            <p:nvPr/>
          </p:nvSpPr>
          <p:spPr bwMode="auto">
            <a:xfrm>
              <a:off x="5292080" y="1916733"/>
              <a:ext cx="648308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DMMU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5" name="直接箭头连接符 144"/>
            <p:cNvCxnSpPr/>
            <p:nvPr/>
          </p:nvCxnSpPr>
          <p:spPr bwMode="auto">
            <a:xfrm>
              <a:off x="4147920" y="1555899"/>
              <a:ext cx="3160385" cy="15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6" name="直接箭头连接符 145"/>
            <p:cNvCxnSpPr/>
            <p:nvPr/>
          </p:nvCxnSpPr>
          <p:spPr bwMode="auto">
            <a:xfrm>
              <a:off x="4139952" y="1557487"/>
              <a:ext cx="2480" cy="64772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7" name="直接箭头连接符 146"/>
            <p:cNvCxnSpPr/>
            <p:nvPr/>
          </p:nvCxnSpPr>
          <p:spPr bwMode="auto">
            <a:xfrm>
              <a:off x="4142432" y="2205209"/>
              <a:ext cx="79957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8" name="直接箭头连接符 147"/>
            <p:cNvCxnSpPr/>
            <p:nvPr/>
          </p:nvCxnSpPr>
          <p:spPr bwMode="auto">
            <a:xfrm flipH="1">
              <a:off x="4932040" y="1890983"/>
              <a:ext cx="1" cy="31422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9" name="直接箭头连接符 148"/>
            <p:cNvCxnSpPr/>
            <p:nvPr/>
          </p:nvCxnSpPr>
          <p:spPr bwMode="auto">
            <a:xfrm flipV="1">
              <a:off x="4932040" y="1880951"/>
              <a:ext cx="1296144" cy="163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0" name="直接箭头连接符 149"/>
            <p:cNvCxnSpPr/>
            <p:nvPr/>
          </p:nvCxnSpPr>
          <p:spPr bwMode="auto">
            <a:xfrm>
              <a:off x="6228184" y="2204765"/>
              <a:ext cx="1080121" cy="44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1" name="直接箭头连接符 150"/>
            <p:cNvCxnSpPr/>
            <p:nvPr/>
          </p:nvCxnSpPr>
          <p:spPr bwMode="auto">
            <a:xfrm>
              <a:off x="6228184" y="1887196"/>
              <a:ext cx="0" cy="31756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2" name="直接箭头连接符 151"/>
            <p:cNvCxnSpPr/>
            <p:nvPr/>
          </p:nvCxnSpPr>
          <p:spPr bwMode="auto">
            <a:xfrm>
              <a:off x="4787132" y="2065829"/>
              <a:ext cx="504948" cy="197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3" name="直接箭头连接符 152"/>
            <p:cNvCxnSpPr/>
            <p:nvPr/>
          </p:nvCxnSpPr>
          <p:spPr bwMode="auto">
            <a:xfrm flipV="1">
              <a:off x="5940388" y="2060552"/>
              <a:ext cx="863413" cy="197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4" name="Text Box 392"/>
            <p:cNvSpPr txBox="1">
              <a:spLocks noChangeArrowheads="1"/>
            </p:cNvSpPr>
            <p:nvPr/>
          </p:nvSpPr>
          <p:spPr bwMode="auto">
            <a:xfrm>
              <a:off x="1557661" y="3248909"/>
              <a:ext cx="792088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运算器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5" name="Rectangle 274"/>
            <p:cNvSpPr>
              <a:spLocks noChangeArrowheads="1"/>
            </p:cNvSpPr>
            <p:nvPr/>
          </p:nvSpPr>
          <p:spPr bwMode="auto">
            <a:xfrm>
              <a:off x="4139953" y="2276953"/>
              <a:ext cx="802050" cy="658086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Text Box 292"/>
            <p:cNvSpPr txBox="1">
              <a:spLocks noChangeArrowheads="1"/>
            </p:cNvSpPr>
            <p:nvPr/>
          </p:nvSpPr>
          <p:spPr bwMode="auto">
            <a:xfrm>
              <a:off x="5292080" y="2312805"/>
              <a:ext cx="648072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IMMU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7" name="直接箭头连接符 156"/>
            <p:cNvCxnSpPr/>
            <p:nvPr/>
          </p:nvCxnSpPr>
          <p:spPr bwMode="auto">
            <a:xfrm>
              <a:off x="4139952" y="2277121"/>
              <a:ext cx="1240" cy="65791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8" name="直接箭头连接符 157"/>
            <p:cNvCxnSpPr/>
            <p:nvPr/>
          </p:nvCxnSpPr>
          <p:spPr bwMode="auto">
            <a:xfrm flipV="1">
              <a:off x="4139952" y="2929495"/>
              <a:ext cx="3168353" cy="554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9" name="直接箭头连接符 158"/>
            <p:cNvCxnSpPr/>
            <p:nvPr/>
          </p:nvCxnSpPr>
          <p:spPr bwMode="auto">
            <a:xfrm>
              <a:off x="4932040" y="2277666"/>
              <a:ext cx="0" cy="36038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0" name="直接箭头连接符 159"/>
            <p:cNvCxnSpPr/>
            <p:nvPr/>
          </p:nvCxnSpPr>
          <p:spPr bwMode="auto">
            <a:xfrm>
              <a:off x="6228184" y="2275880"/>
              <a:ext cx="0" cy="32458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1" name="直接箭头连接符 160"/>
            <p:cNvCxnSpPr/>
            <p:nvPr/>
          </p:nvCxnSpPr>
          <p:spPr bwMode="auto">
            <a:xfrm>
              <a:off x="4787131" y="2405549"/>
              <a:ext cx="504949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2" name="直接箭头连接符 161"/>
            <p:cNvCxnSpPr/>
            <p:nvPr/>
          </p:nvCxnSpPr>
          <p:spPr bwMode="auto">
            <a:xfrm>
              <a:off x="4139952" y="2275880"/>
              <a:ext cx="798283" cy="89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3" name="直接箭头连接符 162"/>
            <p:cNvCxnSpPr/>
            <p:nvPr/>
          </p:nvCxnSpPr>
          <p:spPr bwMode="auto">
            <a:xfrm flipV="1">
              <a:off x="4932040" y="2605445"/>
              <a:ext cx="1296144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4" name="直接箭头连接符 163"/>
            <p:cNvCxnSpPr/>
            <p:nvPr/>
          </p:nvCxnSpPr>
          <p:spPr bwMode="auto">
            <a:xfrm flipV="1">
              <a:off x="5940152" y="2412771"/>
              <a:ext cx="863649" cy="634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5" name="直接箭头连接符 164"/>
            <p:cNvCxnSpPr/>
            <p:nvPr/>
          </p:nvCxnSpPr>
          <p:spPr bwMode="auto">
            <a:xfrm flipV="1">
              <a:off x="6228184" y="2275880"/>
              <a:ext cx="1080121" cy="89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166" name="Text Box 391"/>
            <p:cNvSpPr txBox="1">
              <a:spLocks noChangeArrowheads="1"/>
            </p:cNvSpPr>
            <p:nvPr/>
          </p:nvSpPr>
          <p:spPr bwMode="auto">
            <a:xfrm>
              <a:off x="6229870" y="2420789"/>
              <a:ext cx="574378" cy="25247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IBIU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7" name="Text Box 392"/>
            <p:cNvSpPr txBox="1">
              <a:spLocks noChangeArrowheads="1"/>
            </p:cNvSpPr>
            <p:nvPr/>
          </p:nvSpPr>
          <p:spPr bwMode="auto">
            <a:xfrm>
              <a:off x="3061302" y="2924845"/>
              <a:ext cx="951464" cy="2803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r>
                <a:rPr lang="zh-CN" altLang="en-US" sz="1600" b="1" baseline="-25000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部件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75" name="组合 174"/>
          <p:cNvGrpSpPr/>
          <p:nvPr/>
        </p:nvGrpSpPr>
        <p:grpSpPr>
          <a:xfrm>
            <a:off x="1537667" y="3936973"/>
            <a:ext cx="3171292" cy="1546606"/>
            <a:chOff x="1259632" y="4077072"/>
            <a:chExt cx="3171292" cy="1546606"/>
          </a:xfrm>
        </p:grpSpPr>
        <p:cxnSp>
          <p:nvCxnSpPr>
            <p:cNvPr id="176" name="直接箭头连接符 175"/>
            <p:cNvCxnSpPr/>
            <p:nvPr/>
          </p:nvCxnSpPr>
          <p:spPr bwMode="auto">
            <a:xfrm>
              <a:off x="2340645" y="4147542"/>
              <a:ext cx="359148" cy="695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7" name="直接箭头连接符 176"/>
            <p:cNvCxnSpPr/>
            <p:nvPr/>
          </p:nvCxnSpPr>
          <p:spPr bwMode="auto">
            <a:xfrm flipH="1">
              <a:off x="2342232" y="4434780"/>
              <a:ext cx="352330" cy="794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8" name="直接箭头连接符 177"/>
            <p:cNvCxnSpPr/>
            <p:nvPr/>
          </p:nvCxnSpPr>
          <p:spPr bwMode="auto">
            <a:xfrm>
              <a:off x="2340645" y="4219550"/>
              <a:ext cx="359148" cy="794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9" name="直接箭头连接符 97"/>
            <p:cNvCxnSpPr/>
            <p:nvPr/>
          </p:nvCxnSpPr>
          <p:spPr bwMode="auto">
            <a:xfrm rot="10800000" flipV="1">
              <a:off x="1480889" y="4618358"/>
              <a:ext cx="1213674" cy="250256"/>
            </a:xfrm>
            <a:prstGeom prst="bentConnector3">
              <a:avLst>
                <a:gd name="adj1" fmla="val 100228"/>
              </a:avLst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0" name="直接箭头连接符 98"/>
            <p:cNvCxnSpPr/>
            <p:nvPr/>
          </p:nvCxnSpPr>
          <p:spPr bwMode="auto">
            <a:xfrm rot="10800000" flipV="1">
              <a:off x="2121113" y="4723606"/>
              <a:ext cx="577839" cy="143855"/>
            </a:xfrm>
            <a:prstGeom prst="bentConnector3">
              <a:avLst>
                <a:gd name="adj1" fmla="val 98981"/>
              </a:avLst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1" name="直接箭头连接符 98"/>
            <p:cNvCxnSpPr/>
            <p:nvPr/>
          </p:nvCxnSpPr>
          <p:spPr bwMode="auto">
            <a:xfrm>
              <a:off x="1799382" y="5188396"/>
              <a:ext cx="900411" cy="111521"/>
            </a:xfrm>
            <a:prstGeom prst="bentConnector3">
              <a:avLst>
                <a:gd name="adj1" fmla="val 29"/>
              </a:avLst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2" name="直接箭头连接符 181"/>
            <p:cNvCxnSpPr/>
            <p:nvPr/>
          </p:nvCxnSpPr>
          <p:spPr bwMode="auto">
            <a:xfrm flipH="1">
              <a:off x="2339753" y="5515694"/>
              <a:ext cx="354808" cy="1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3" name="直接箭头连接符 182"/>
            <p:cNvCxnSpPr/>
            <p:nvPr/>
          </p:nvCxnSpPr>
          <p:spPr bwMode="auto">
            <a:xfrm>
              <a:off x="2339752" y="5443686"/>
              <a:ext cx="360041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4" name="直接箭头连接符 183"/>
            <p:cNvCxnSpPr/>
            <p:nvPr/>
          </p:nvCxnSpPr>
          <p:spPr bwMode="auto">
            <a:xfrm>
              <a:off x="1618432" y="5165649"/>
              <a:ext cx="0" cy="21587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5" name="Text Box 276"/>
            <p:cNvSpPr txBox="1">
              <a:spLocks noChangeArrowheads="1"/>
            </p:cNvSpPr>
            <p:nvPr/>
          </p:nvSpPr>
          <p:spPr bwMode="auto">
            <a:xfrm>
              <a:off x="1259632" y="5371678"/>
              <a:ext cx="1081013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spc="-150" dirty="0">
                  <a:latin typeface="宋体" panose="02010600030101010101" pitchFamily="2" charset="-122"/>
                </a:rPr>
                <a:t>状态寄存器</a:t>
              </a:r>
              <a:endParaRPr lang="en-US" altLang="zh-CN" sz="1600" b="1" spc="-150" dirty="0">
                <a:latin typeface="宋体" panose="02010600030101010101" pitchFamily="2" charset="-122"/>
              </a:endParaRPr>
            </a:p>
          </p:txBody>
        </p:sp>
        <p:sp>
          <p:nvSpPr>
            <p:cNvPr id="186" name="Text Box 314"/>
            <p:cNvSpPr txBox="1">
              <a:spLocks noChangeArrowheads="1"/>
            </p:cNvSpPr>
            <p:nvPr/>
          </p:nvSpPr>
          <p:spPr bwMode="auto">
            <a:xfrm>
              <a:off x="1260252" y="4077072"/>
              <a:ext cx="1079500" cy="43110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寄存器组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7" name="Text Box 314"/>
            <p:cNvSpPr txBox="1">
              <a:spLocks noChangeArrowheads="1"/>
            </p:cNvSpPr>
            <p:nvPr/>
          </p:nvSpPr>
          <p:spPr bwMode="auto">
            <a:xfrm>
              <a:off x="1259632" y="4867622"/>
              <a:ext cx="1079500" cy="3207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运算部件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8" name="直接箭头连接符 187"/>
            <p:cNvCxnSpPr/>
            <p:nvPr/>
          </p:nvCxnSpPr>
          <p:spPr bwMode="auto">
            <a:xfrm flipH="1">
              <a:off x="2987824" y="5225282"/>
              <a:ext cx="434988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9" name="直接箭头连接符 188"/>
            <p:cNvCxnSpPr/>
            <p:nvPr/>
          </p:nvCxnSpPr>
          <p:spPr bwMode="auto">
            <a:xfrm>
              <a:off x="2987824" y="4141244"/>
              <a:ext cx="1443100" cy="3918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0" name="直接箭头连接符 189"/>
            <p:cNvCxnSpPr/>
            <p:nvPr/>
          </p:nvCxnSpPr>
          <p:spPr bwMode="auto">
            <a:xfrm flipH="1">
              <a:off x="2987824" y="4217125"/>
              <a:ext cx="1441514" cy="45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1" name="直接箭头连接符 190"/>
            <p:cNvCxnSpPr/>
            <p:nvPr/>
          </p:nvCxnSpPr>
          <p:spPr bwMode="auto">
            <a:xfrm>
              <a:off x="2987824" y="4505005"/>
              <a:ext cx="1442207" cy="197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2" name="直接箭头连接符 191"/>
            <p:cNvCxnSpPr/>
            <p:nvPr/>
          </p:nvCxnSpPr>
          <p:spPr bwMode="auto">
            <a:xfrm>
              <a:off x="2987824" y="4937089"/>
              <a:ext cx="434988" cy="161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68" name="组合 167"/>
          <p:cNvGrpSpPr/>
          <p:nvPr/>
        </p:nvGrpSpPr>
        <p:grpSpPr>
          <a:xfrm>
            <a:off x="3262919" y="4509101"/>
            <a:ext cx="1442208" cy="684066"/>
            <a:chOff x="3128900" y="4653118"/>
            <a:chExt cx="1442208" cy="684066"/>
          </a:xfrm>
        </p:grpSpPr>
        <p:sp>
          <p:nvSpPr>
            <p:cNvPr id="169" name="Text Box 254"/>
            <p:cNvSpPr txBox="1">
              <a:spLocks noChangeArrowheads="1"/>
            </p:cNvSpPr>
            <p:nvPr/>
          </p:nvSpPr>
          <p:spPr bwMode="auto">
            <a:xfrm>
              <a:off x="3563888" y="4761176"/>
              <a:ext cx="501116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70" name="Text Box 255"/>
            <p:cNvSpPr txBox="1">
              <a:spLocks noChangeArrowheads="1"/>
            </p:cNvSpPr>
            <p:nvPr/>
          </p:nvSpPr>
          <p:spPr bwMode="auto">
            <a:xfrm>
              <a:off x="3566828" y="5085184"/>
              <a:ext cx="501116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71" name="直接箭头连接符 170"/>
            <p:cNvCxnSpPr/>
            <p:nvPr/>
          </p:nvCxnSpPr>
          <p:spPr bwMode="auto">
            <a:xfrm flipH="1">
              <a:off x="3128900" y="4868266"/>
              <a:ext cx="434988" cy="894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2" name="直接箭头连接符 112"/>
            <p:cNvCxnSpPr/>
            <p:nvPr/>
          </p:nvCxnSpPr>
          <p:spPr bwMode="auto">
            <a:xfrm>
              <a:off x="4300798" y="4653118"/>
              <a:ext cx="270309" cy="216140"/>
            </a:xfrm>
            <a:prstGeom prst="bentConnector3">
              <a:avLst>
                <a:gd name="adj1" fmla="val 4896"/>
              </a:avLst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3" name="直接箭头连接符 172"/>
            <p:cNvCxnSpPr/>
            <p:nvPr/>
          </p:nvCxnSpPr>
          <p:spPr bwMode="auto">
            <a:xfrm flipH="1">
              <a:off x="4067944" y="5229200"/>
              <a:ext cx="503164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4" name="直接箭头连接符 112"/>
            <p:cNvCxnSpPr/>
            <p:nvPr/>
          </p:nvCxnSpPr>
          <p:spPr bwMode="auto">
            <a:xfrm flipV="1">
              <a:off x="3275856" y="4653118"/>
              <a:ext cx="1043670" cy="216042"/>
            </a:xfrm>
            <a:prstGeom prst="bentConnector3">
              <a:avLst>
                <a:gd name="adj1" fmla="val -135"/>
              </a:avLst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</p:grpSp>
      <p:grpSp>
        <p:nvGrpSpPr>
          <p:cNvPr id="193" name="组合 192"/>
          <p:cNvGrpSpPr/>
          <p:nvPr/>
        </p:nvGrpSpPr>
        <p:grpSpPr>
          <a:xfrm>
            <a:off x="4705127" y="3896882"/>
            <a:ext cx="3025229" cy="1296285"/>
            <a:chOff x="4283076" y="1592725"/>
            <a:chExt cx="3025229" cy="1296285"/>
          </a:xfrm>
        </p:grpSpPr>
        <p:sp>
          <p:nvSpPr>
            <p:cNvPr id="194" name="Text Box 291"/>
            <p:cNvSpPr txBox="1">
              <a:spLocks noChangeArrowheads="1"/>
            </p:cNvSpPr>
            <p:nvPr/>
          </p:nvSpPr>
          <p:spPr bwMode="auto">
            <a:xfrm>
              <a:off x="4283968" y="1592725"/>
              <a:ext cx="503163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DMDR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5" name="Text Box 292"/>
            <p:cNvSpPr txBox="1">
              <a:spLocks noChangeArrowheads="1"/>
            </p:cNvSpPr>
            <p:nvPr/>
          </p:nvSpPr>
          <p:spPr bwMode="auto">
            <a:xfrm>
              <a:off x="4283076" y="1916733"/>
              <a:ext cx="504056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DMAR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6" name="Text Box 293"/>
            <p:cNvSpPr txBox="1">
              <a:spLocks noChangeArrowheads="1"/>
            </p:cNvSpPr>
            <p:nvPr/>
          </p:nvSpPr>
          <p:spPr bwMode="auto">
            <a:xfrm>
              <a:off x="6804248" y="1592725"/>
              <a:ext cx="504057" cy="5417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7" name="Text Box 293"/>
            <p:cNvSpPr txBox="1">
              <a:spLocks noChangeArrowheads="1"/>
            </p:cNvSpPr>
            <p:nvPr/>
          </p:nvSpPr>
          <p:spPr bwMode="auto">
            <a:xfrm>
              <a:off x="5085968" y="1592725"/>
              <a:ext cx="1363222" cy="25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数据转换逻辑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8" name="Text Box 291"/>
            <p:cNvSpPr txBox="1">
              <a:spLocks noChangeArrowheads="1"/>
            </p:cNvSpPr>
            <p:nvPr/>
          </p:nvSpPr>
          <p:spPr bwMode="auto">
            <a:xfrm>
              <a:off x="4283076" y="2318498"/>
              <a:ext cx="504056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IMAR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9" name="Text Box 292"/>
            <p:cNvSpPr txBox="1">
              <a:spLocks noChangeArrowheads="1"/>
            </p:cNvSpPr>
            <p:nvPr/>
          </p:nvSpPr>
          <p:spPr bwMode="auto">
            <a:xfrm>
              <a:off x="4283076" y="2637010"/>
              <a:ext cx="504056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IMDR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00" name="直接箭头连接符 199"/>
            <p:cNvCxnSpPr/>
            <p:nvPr/>
          </p:nvCxnSpPr>
          <p:spPr bwMode="auto">
            <a:xfrm flipH="1" flipV="1">
              <a:off x="4788024" y="2780878"/>
              <a:ext cx="278069" cy="49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1" name="Text Box 293"/>
            <p:cNvSpPr txBox="1">
              <a:spLocks noChangeArrowheads="1"/>
            </p:cNvSpPr>
            <p:nvPr/>
          </p:nvSpPr>
          <p:spPr bwMode="auto">
            <a:xfrm>
              <a:off x="5066094" y="2637010"/>
              <a:ext cx="1377222" cy="25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数据转换逻辑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02" name="直接箭头连接符 201"/>
            <p:cNvCxnSpPr/>
            <p:nvPr/>
          </p:nvCxnSpPr>
          <p:spPr bwMode="auto">
            <a:xfrm flipH="1" flipV="1">
              <a:off x="6444209" y="2780927"/>
              <a:ext cx="359592" cy="1091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3" name="Text Box 293"/>
            <p:cNvSpPr txBox="1">
              <a:spLocks noChangeArrowheads="1"/>
            </p:cNvSpPr>
            <p:nvPr/>
          </p:nvSpPr>
          <p:spPr bwMode="auto">
            <a:xfrm>
              <a:off x="6804249" y="2313002"/>
              <a:ext cx="504056" cy="57600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04" name="直接箭头连接符 203"/>
            <p:cNvCxnSpPr/>
            <p:nvPr/>
          </p:nvCxnSpPr>
          <p:spPr bwMode="auto">
            <a:xfrm>
              <a:off x="4788024" y="1772914"/>
              <a:ext cx="300422" cy="197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5" name="直接箭头连接符 204"/>
            <p:cNvCxnSpPr/>
            <p:nvPr/>
          </p:nvCxnSpPr>
          <p:spPr bwMode="auto">
            <a:xfrm flipH="1">
              <a:off x="4787131" y="1700906"/>
              <a:ext cx="298837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6" name="直接箭头连接符 205"/>
            <p:cNvCxnSpPr/>
            <p:nvPr/>
          </p:nvCxnSpPr>
          <p:spPr bwMode="auto">
            <a:xfrm flipV="1">
              <a:off x="6443316" y="1772914"/>
              <a:ext cx="360933" cy="495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7" name="直接箭头连接符 206"/>
            <p:cNvCxnSpPr/>
            <p:nvPr/>
          </p:nvCxnSpPr>
          <p:spPr bwMode="auto">
            <a:xfrm flipH="1">
              <a:off x="6444209" y="1699716"/>
              <a:ext cx="359592" cy="119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08" name="组合 207"/>
          <p:cNvGrpSpPr/>
          <p:nvPr/>
        </p:nvGrpSpPr>
        <p:grpSpPr>
          <a:xfrm>
            <a:off x="1896467" y="5193166"/>
            <a:ext cx="5833889" cy="827701"/>
            <a:chOff x="1474416" y="3139315"/>
            <a:chExt cx="5833889" cy="827701"/>
          </a:xfrm>
        </p:grpSpPr>
        <p:sp>
          <p:nvSpPr>
            <p:cNvPr id="209" name="Text Box 271"/>
            <p:cNvSpPr txBox="1">
              <a:spLocks noChangeArrowheads="1"/>
            </p:cNvSpPr>
            <p:nvPr/>
          </p:nvSpPr>
          <p:spPr bwMode="auto">
            <a:xfrm>
              <a:off x="5220073" y="3217587"/>
              <a:ext cx="576064" cy="1446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</a:rPr>
                <a:t>……</a:t>
              </a:r>
              <a:endParaRPr lang="en-US" altLang="zh-CN" sz="1800" b="1" dirty="0">
                <a:solidFill>
                  <a:srgbClr val="FF3399"/>
                </a:solidFill>
              </a:endParaRPr>
            </a:p>
          </p:txBody>
        </p:sp>
        <p:cxnSp>
          <p:nvCxnSpPr>
            <p:cNvPr id="210" name="直接箭头连接符 117"/>
            <p:cNvCxnSpPr/>
            <p:nvPr/>
          </p:nvCxnSpPr>
          <p:spPr bwMode="auto">
            <a:xfrm>
              <a:off x="1474416" y="3429728"/>
              <a:ext cx="3387131" cy="465700"/>
            </a:xfrm>
            <a:prstGeom prst="bentConnector3">
              <a:avLst>
                <a:gd name="adj1" fmla="val -32"/>
              </a:avLst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1" name="直接箭头连接符 53"/>
            <p:cNvCxnSpPr/>
            <p:nvPr/>
          </p:nvCxnSpPr>
          <p:spPr bwMode="auto">
            <a:xfrm rot="16200000" flipH="1">
              <a:off x="3641578" y="3027091"/>
              <a:ext cx="540163" cy="764611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2" name="直接箭头连接符 211"/>
            <p:cNvCxnSpPr/>
            <p:nvPr/>
          </p:nvCxnSpPr>
          <p:spPr bwMode="auto">
            <a:xfrm flipV="1">
              <a:off x="5868144" y="3289595"/>
              <a:ext cx="0" cy="17378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3" name="直接箭头连接符 212"/>
            <p:cNvCxnSpPr/>
            <p:nvPr/>
          </p:nvCxnSpPr>
          <p:spPr bwMode="auto">
            <a:xfrm flipV="1">
              <a:off x="5148064" y="3289595"/>
              <a:ext cx="0" cy="17259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4" name="Text Box 256"/>
            <p:cNvSpPr txBox="1">
              <a:spLocks noChangeArrowheads="1"/>
            </p:cNvSpPr>
            <p:nvPr/>
          </p:nvSpPr>
          <p:spPr bwMode="auto">
            <a:xfrm>
              <a:off x="4283968" y="3463380"/>
              <a:ext cx="286519" cy="3600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15" name="Text Box 258"/>
            <p:cNvSpPr txBox="1">
              <a:spLocks noChangeArrowheads="1"/>
            </p:cNvSpPr>
            <p:nvPr/>
          </p:nvSpPr>
          <p:spPr bwMode="auto">
            <a:xfrm>
              <a:off x="4860032" y="3464770"/>
              <a:ext cx="1296144" cy="50224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控制信号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形成电路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6" name="直接箭头连接符 215"/>
            <p:cNvCxnSpPr/>
            <p:nvPr/>
          </p:nvCxnSpPr>
          <p:spPr bwMode="auto">
            <a:xfrm>
              <a:off x="4570487" y="3526522"/>
              <a:ext cx="28954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7" name="直接箭头连接符 216"/>
            <p:cNvCxnSpPr/>
            <p:nvPr/>
          </p:nvCxnSpPr>
          <p:spPr bwMode="auto">
            <a:xfrm>
              <a:off x="4572000" y="3766652"/>
              <a:ext cx="28954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8" name="Text Box 271"/>
            <p:cNvSpPr txBox="1">
              <a:spLocks noChangeArrowheads="1"/>
            </p:cNvSpPr>
            <p:nvPr/>
          </p:nvSpPr>
          <p:spPr bwMode="auto">
            <a:xfrm rot="16200000">
              <a:off x="4495937" y="3582264"/>
              <a:ext cx="296898" cy="14477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/>
                <a:t>…</a:t>
              </a:r>
              <a:endParaRPr lang="en-US" altLang="zh-CN" sz="1600" b="1" dirty="0"/>
            </a:p>
          </p:txBody>
        </p:sp>
        <p:cxnSp>
          <p:nvCxnSpPr>
            <p:cNvPr id="219" name="直接箭头连接符 218"/>
            <p:cNvCxnSpPr/>
            <p:nvPr/>
          </p:nvCxnSpPr>
          <p:spPr bwMode="auto">
            <a:xfrm flipH="1">
              <a:off x="6156176" y="3859115"/>
              <a:ext cx="23275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0" name="Text Box 271"/>
            <p:cNvSpPr txBox="1">
              <a:spLocks noChangeArrowheads="1"/>
            </p:cNvSpPr>
            <p:nvPr/>
          </p:nvSpPr>
          <p:spPr bwMode="auto">
            <a:xfrm rot="5400000">
              <a:off x="6168092" y="3649079"/>
              <a:ext cx="296898" cy="14477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  <p:sp>
          <p:nvSpPr>
            <p:cNvPr id="221" name="Text Box 257"/>
            <p:cNvSpPr txBox="1">
              <a:spLocks noChangeArrowheads="1"/>
            </p:cNvSpPr>
            <p:nvPr/>
          </p:nvSpPr>
          <p:spPr bwMode="auto">
            <a:xfrm>
              <a:off x="6398924" y="3462288"/>
              <a:ext cx="909381" cy="5047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时序信号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形成电路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22" name="直接箭头连接符 221"/>
            <p:cNvCxnSpPr/>
            <p:nvPr/>
          </p:nvCxnSpPr>
          <p:spPr bwMode="auto">
            <a:xfrm flipH="1">
              <a:off x="6156176" y="3581882"/>
              <a:ext cx="23275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3" name="直接箭头连接符 222"/>
            <p:cNvCxnSpPr/>
            <p:nvPr/>
          </p:nvCxnSpPr>
          <p:spPr bwMode="auto">
            <a:xfrm flipV="1">
              <a:off x="6895463" y="3284984"/>
              <a:ext cx="0" cy="17378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4" name="直接箭头连接符 223"/>
            <p:cNvCxnSpPr/>
            <p:nvPr/>
          </p:nvCxnSpPr>
          <p:spPr bwMode="auto">
            <a:xfrm flipV="1">
              <a:off x="6535423" y="3284984"/>
              <a:ext cx="0" cy="17259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5" name="Text Box 271"/>
            <p:cNvSpPr txBox="1">
              <a:spLocks noChangeArrowheads="1"/>
            </p:cNvSpPr>
            <p:nvPr/>
          </p:nvSpPr>
          <p:spPr bwMode="auto">
            <a:xfrm>
              <a:off x="6590855" y="3212975"/>
              <a:ext cx="232600" cy="14924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/>
                <a:t>…</a:t>
              </a:r>
              <a:endParaRPr lang="en-US" altLang="zh-CN" sz="1800" b="1" dirty="0"/>
            </a:p>
          </p:txBody>
        </p:sp>
      </p:grpSp>
      <p:grpSp>
        <p:nvGrpSpPr>
          <p:cNvPr id="231" name="组合 230"/>
          <p:cNvGrpSpPr/>
          <p:nvPr/>
        </p:nvGrpSpPr>
        <p:grpSpPr>
          <a:xfrm>
            <a:off x="7730355" y="4076277"/>
            <a:ext cx="874093" cy="1800994"/>
            <a:chOff x="8018387" y="4004270"/>
            <a:chExt cx="874093" cy="1800994"/>
          </a:xfrm>
        </p:grpSpPr>
        <p:cxnSp>
          <p:nvCxnSpPr>
            <p:cNvPr id="232" name="直接箭头连接符 231"/>
            <p:cNvCxnSpPr/>
            <p:nvPr/>
          </p:nvCxnSpPr>
          <p:spPr bwMode="auto">
            <a:xfrm flipV="1">
              <a:off x="8028384" y="4004270"/>
              <a:ext cx="432048" cy="794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233" name="直接箭头连接符 232"/>
            <p:cNvCxnSpPr/>
            <p:nvPr/>
          </p:nvCxnSpPr>
          <p:spPr bwMode="auto">
            <a:xfrm flipV="1">
              <a:off x="8018387" y="4725144"/>
              <a:ext cx="370037" cy="2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3333FF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234" name="直接箭头连接符 233"/>
            <p:cNvCxnSpPr/>
            <p:nvPr/>
          </p:nvCxnSpPr>
          <p:spPr bwMode="auto">
            <a:xfrm>
              <a:off x="8018387" y="4868218"/>
              <a:ext cx="370037" cy="94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2" name="直接箭头连接符 271"/>
            <p:cNvCxnSpPr/>
            <p:nvPr/>
          </p:nvCxnSpPr>
          <p:spPr bwMode="auto">
            <a:xfrm>
              <a:off x="8018387" y="5022478"/>
              <a:ext cx="370037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5" name="直接箭头连接符 274"/>
            <p:cNvCxnSpPr/>
            <p:nvPr/>
          </p:nvCxnSpPr>
          <p:spPr bwMode="auto">
            <a:xfrm flipH="1">
              <a:off x="8028385" y="5691728"/>
              <a:ext cx="28803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76" name="Text Box 392"/>
            <p:cNvSpPr txBox="1">
              <a:spLocks noChangeArrowheads="1"/>
            </p:cNvSpPr>
            <p:nvPr/>
          </p:nvSpPr>
          <p:spPr bwMode="auto">
            <a:xfrm>
              <a:off x="8316416" y="5119564"/>
              <a:ext cx="576064" cy="6857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Reset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18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CLK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79" name="直接箭头连接符 278"/>
            <p:cNvCxnSpPr/>
            <p:nvPr/>
          </p:nvCxnSpPr>
          <p:spPr bwMode="auto">
            <a:xfrm>
              <a:off x="8028384" y="4149080"/>
              <a:ext cx="43204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0" name="直接箭头连接符 279"/>
            <p:cNvCxnSpPr/>
            <p:nvPr/>
          </p:nvCxnSpPr>
          <p:spPr bwMode="auto">
            <a:xfrm>
              <a:off x="8018387" y="4293096"/>
              <a:ext cx="442045" cy="1861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8" name="组合 7"/>
          <p:cNvGrpSpPr/>
          <p:nvPr/>
        </p:nvGrpSpPr>
        <p:grpSpPr>
          <a:xfrm>
            <a:off x="4201795" y="4693790"/>
            <a:ext cx="3809365" cy="822960"/>
            <a:chOff x="6617" y="7165"/>
            <a:chExt cx="5999" cy="1296"/>
          </a:xfrm>
        </p:grpSpPr>
        <p:cxnSp>
          <p:nvCxnSpPr>
            <p:cNvPr id="227" name="直接箭头连接符 226"/>
            <p:cNvCxnSpPr/>
            <p:nvPr/>
          </p:nvCxnSpPr>
          <p:spPr bwMode="auto">
            <a:xfrm flipH="1">
              <a:off x="12174" y="8133"/>
              <a:ext cx="44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8" name="直接箭头连接符 227"/>
            <p:cNvCxnSpPr/>
            <p:nvPr/>
          </p:nvCxnSpPr>
          <p:spPr bwMode="auto">
            <a:xfrm flipH="1" flipV="1">
              <a:off x="6617" y="7165"/>
              <a:ext cx="560" cy="969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9" name="直接箭头连接符 228"/>
            <p:cNvCxnSpPr/>
            <p:nvPr/>
          </p:nvCxnSpPr>
          <p:spPr bwMode="auto">
            <a:xfrm flipH="1" flipV="1">
              <a:off x="7177" y="8133"/>
              <a:ext cx="4996" cy="1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0" name="直接箭头连接符 229"/>
            <p:cNvCxnSpPr/>
            <p:nvPr/>
          </p:nvCxnSpPr>
          <p:spPr bwMode="auto">
            <a:xfrm>
              <a:off x="11947" y="8133"/>
              <a:ext cx="0" cy="32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diamond" w="sm" len="sm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91"/>
          <p:cNvSpPr txBox="1">
            <a:spLocks noChangeArrowheads="1"/>
          </p:cNvSpPr>
          <p:nvPr/>
        </p:nvSpPr>
        <p:spPr bwMode="auto">
          <a:xfrm>
            <a:off x="179512" y="404664"/>
            <a:ext cx="3168352" cy="43061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⑶数据通路设计与实现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   通路设计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 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部件设计：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  <a:spcBef>
                <a:spcPts val="0"/>
              </a:spcBef>
              <a:defRPr/>
            </a:pPr>
            <a:r>
              <a:rPr lang="en-US" altLang="zh-CN" b="1" dirty="0">
                <a:latin typeface="+mn-ea"/>
              </a:rPr>
              <a:t>    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功能→部件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互连设计：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设计验证：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   通路实现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defRPr/>
            </a:pPr>
            <a:endParaRPr lang="en-US" altLang="zh-CN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通路调试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</p:txBody>
      </p:sp>
      <p:sp>
        <p:nvSpPr>
          <p:cNvPr id="5" name="Text Box 191"/>
          <p:cNvSpPr txBox="1">
            <a:spLocks noChangeArrowheads="1"/>
          </p:cNvSpPr>
          <p:nvPr/>
        </p:nvSpPr>
        <p:spPr bwMode="auto">
          <a:xfrm>
            <a:off x="2051720" y="1273828"/>
            <a:ext cx="6840760" cy="482779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t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</a:rPr>
              <a:t>   </a:t>
            </a:r>
            <a:r>
              <a:rPr lang="zh-CN" altLang="en-US" sz="2200" b="1" u="sng" dirty="0">
                <a:latin typeface="+mn-ea"/>
                <a:ea typeface="+mn-ea"/>
              </a:rPr>
              <a:t>组织</a:t>
            </a:r>
            <a:r>
              <a:rPr lang="zh-CN" altLang="en-US" sz="2200" b="1" dirty="0">
                <a:latin typeface="+mn-ea"/>
                <a:ea typeface="+mn-ea"/>
              </a:rPr>
              <a:t>各部件的功能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不兼容</a:t>
            </a:r>
            <a:r>
              <a:rPr lang="en-US" altLang="zh-CN" b="1" dirty="0">
                <a:latin typeface="+mn-ea"/>
                <a:ea typeface="+mn-ea"/>
              </a:rPr>
              <a:t>/</a:t>
            </a:r>
            <a:r>
              <a:rPr lang="zh-CN" altLang="en-US" b="1" dirty="0">
                <a:latin typeface="+mn-ea"/>
                <a:ea typeface="+mn-ea"/>
              </a:rPr>
              <a:t>同时使用的→不同部件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latin typeface="+mn-ea"/>
                <a:ea typeface="+mn-ea"/>
              </a:rPr>
              <a:t>   </a:t>
            </a:r>
            <a:r>
              <a:rPr lang="zh-CN" altLang="en-US" sz="2200" b="1" u="sng" dirty="0">
                <a:latin typeface="+mn-ea"/>
                <a:ea typeface="+mn-ea"/>
              </a:rPr>
              <a:t>设计</a:t>
            </a:r>
            <a:r>
              <a:rPr lang="zh-CN" altLang="en-US" sz="2200" b="1" dirty="0">
                <a:latin typeface="+mn-ea"/>
                <a:ea typeface="+mn-ea"/>
              </a:rPr>
              <a:t>各个部件</a:t>
            </a:r>
            <a:r>
              <a:rPr lang="en-US" altLang="zh-CN" b="1" dirty="0">
                <a:latin typeface="+mn-ea"/>
                <a:ea typeface="+mn-ea"/>
              </a:rPr>
              <a:t>(IO</a:t>
            </a:r>
            <a:r>
              <a:rPr lang="zh-CN" altLang="en-US" b="1" dirty="0">
                <a:latin typeface="+mn-ea"/>
                <a:ea typeface="+mn-ea"/>
              </a:rPr>
              <a:t>接口→功能表→内部逻辑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zh-CN" altLang="en-US" sz="2200" b="1" dirty="0">
                <a:latin typeface="+mn-ea"/>
                <a:ea typeface="+mn-ea"/>
              </a:rPr>
              <a:t>   </a:t>
            </a:r>
            <a:r>
              <a:rPr lang="zh-CN" altLang="en-US" sz="2200" b="1" u="sng" dirty="0">
                <a:latin typeface="+mn-ea"/>
                <a:ea typeface="+mn-ea"/>
              </a:rPr>
              <a:t>逐条添加</a:t>
            </a:r>
            <a:r>
              <a:rPr lang="zh-CN" altLang="en-US" sz="2200" b="1" dirty="0">
                <a:latin typeface="+mn-ea"/>
                <a:ea typeface="+mn-ea"/>
              </a:rPr>
              <a:t>各指令执行所需的部件、引脚连线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zh-CN" altLang="en-US" sz="2200" b="1" dirty="0">
                <a:latin typeface="+mn-ea"/>
                <a:ea typeface="+mn-ea"/>
              </a:rPr>
              <a:t>   </a:t>
            </a:r>
            <a:r>
              <a:rPr lang="zh-CN" altLang="en-US" sz="2200" b="1" u="sng" dirty="0">
                <a:latin typeface="+mn-ea"/>
                <a:ea typeface="+mn-ea"/>
              </a:rPr>
              <a:t>组织</a:t>
            </a:r>
            <a:r>
              <a:rPr lang="zh-CN" altLang="en-US" sz="2200" b="1" dirty="0">
                <a:latin typeface="+mn-ea"/>
                <a:ea typeface="+mn-ea"/>
              </a:rPr>
              <a:t>各条指令的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latin typeface="+mn-ea"/>
              </a:rPr>
              <a:t>OPCmd</a:t>
            </a:r>
            <a:r>
              <a:rPr lang="zh-CN" altLang="en-US" sz="2200" b="1" dirty="0">
                <a:latin typeface="+mn-ea"/>
              </a:rPr>
              <a:t>序列   </a:t>
            </a:r>
            <a:r>
              <a:rPr lang="zh-CN" altLang="en-US" b="1" dirty="0">
                <a:latin typeface="+mn-ea"/>
              </a:rPr>
              <a:t>←</a:t>
            </a:r>
            <a:r>
              <a:rPr lang="zh-CN" altLang="en-US" b="1" dirty="0">
                <a:highlight>
                  <a:srgbClr val="FFFF00"/>
                </a:highlight>
                <a:latin typeface="+mn-ea"/>
              </a:rPr>
              <a:t>能组织时</a:t>
            </a:r>
            <a:r>
              <a:rPr lang="zh-CN" altLang="en-US" b="1" dirty="0">
                <a:latin typeface="+mn-ea"/>
              </a:rPr>
              <a:t>设计正确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zh-CN" altLang="en-US" sz="2200" b="1" u="sng" dirty="0">
                <a:latin typeface="+mn-ea"/>
                <a:ea typeface="+mn-ea"/>
              </a:rPr>
              <a:t>分别</a:t>
            </a:r>
            <a:r>
              <a:rPr lang="zh-CN" altLang="en-US" sz="2200" b="1" dirty="0">
                <a:latin typeface="+mn-ea"/>
                <a:ea typeface="+mn-ea"/>
              </a:rPr>
              <a:t>实现各个部件，再实现数据通路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defRPr/>
            </a:pPr>
            <a:r>
              <a:rPr lang="en-US" altLang="zh-CN" b="1" dirty="0">
                <a:latin typeface="+mn-ea"/>
                <a:ea typeface="+mn-ea"/>
              </a:rPr>
              <a:t>   (</a:t>
            </a:r>
            <a:r>
              <a:rPr lang="zh-CN" altLang="en-US" b="1" dirty="0">
                <a:latin typeface="+mn-ea"/>
                <a:ea typeface="+mn-ea"/>
              </a:rPr>
              <a:t>各占用一个文件</a:t>
            </a:r>
            <a:r>
              <a:rPr lang="en-US" altLang="zh-CN" b="1" dirty="0">
                <a:latin typeface="+mn-ea"/>
                <a:ea typeface="+mn-ea"/>
              </a:rPr>
              <a:t>)       (</a:t>
            </a:r>
            <a:r>
              <a:rPr lang="zh-CN" altLang="en-US" b="1" dirty="0">
                <a:latin typeface="+mn-ea"/>
                <a:ea typeface="+mn-ea"/>
              </a:rPr>
              <a:t>占用一个文件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endParaRPr lang="en-US" altLang="zh-CN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u="sng" dirty="0">
                <a:latin typeface="+mn-ea"/>
                <a:ea typeface="+mn-ea"/>
              </a:rPr>
              <a:t>分别</a:t>
            </a:r>
            <a:r>
              <a:rPr lang="zh-CN" altLang="en-US" sz="2200" b="1" dirty="0">
                <a:latin typeface="+mn-ea"/>
                <a:ea typeface="+mn-ea"/>
              </a:rPr>
              <a:t>调试各个电路，            </a:t>
            </a:r>
            <a:r>
              <a:rPr lang="zh-CN" altLang="en-US" b="1" dirty="0">
                <a:latin typeface="+mn-ea"/>
                <a:ea typeface="+mn-ea"/>
              </a:rPr>
              <a:t>←</a:t>
            </a:r>
            <a:r>
              <a:rPr lang="zh-CN" altLang="en-US" b="1" dirty="0">
                <a:highlight>
                  <a:srgbClr val="FFFF00"/>
                </a:highlight>
                <a:latin typeface="+mn-ea"/>
                <a:ea typeface="+mn-ea"/>
              </a:rPr>
              <a:t>与实现同步进行</a:t>
            </a:r>
            <a:endParaRPr lang="en-US" altLang="zh-CN" sz="2400" b="1" dirty="0">
              <a:highlight>
                <a:srgbClr val="FFFF00"/>
              </a:highlight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</a:rPr>
              <a:t>调试过程＝准备数据＋仿真＋结果分析＋改错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defRPr/>
            </a:pPr>
            <a:r>
              <a:rPr lang="zh-CN" altLang="en-US" b="1" dirty="0">
                <a:solidFill>
                  <a:srgbClr val="990099"/>
                </a:solidFill>
                <a:latin typeface="+mn-ea"/>
                <a:ea typeface="+mn-ea"/>
              </a:rPr>
              <a:t>   注意：</a:t>
            </a:r>
            <a:r>
              <a:rPr lang="zh-CN" altLang="en-US" b="1" dirty="0">
                <a:latin typeface="+mn-ea"/>
                <a:ea typeface="+mn-ea"/>
              </a:rPr>
              <a:t>准备数据时，需枚举功能表，并</a:t>
            </a:r>
            <a:r>
              <a:rPr lang="zh-CN" altLang="en-US" b="1" u="sng" dirty="0">
                <a:solidFill>
                  <a:srgbClr val="0070C0"/>
                </a:solidFill>
                <a:latin typeface="+mn-ea"/>
                <a:ea typeface="+mn-ea"/>
              </a:rPr>
              <a:t>写好预期结果</a:t>
            </a:r>
            <a:r>
              <a:rPr lang="zh-CN" altLang="en-US" b="1" dirty="0">
                <a:latin typeface="+mn-ea"/>
                <a:ea typeface="+mn-ea"/>
              </a:rPr>
              <a:t>；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b="1" dirty="0">
                <a:latin typeface="+mn-ea"/>
                <a:ea typeface="+mn-ea"/>
              </a:rPr>
              <a:t>         进行仿真时，写寄存器放在</a:t>
            </a:r>
            <a:r>
              <a:rPr lang="zh-CN" altLang="en-US" b="1" u="sng" dirty="0">
                <a:solidFill>
                  <a:srgbClr val="0070C0"/>
                </a:solidFill>
                <a:latin typeface="+mn-ea"/>
                <a:ea typeface="+mn-ea"/>
              </a:rPr>
              <a:t>时钟周期结束</a:t>
            </a:r>
            <a:r>
              <a:rPr lang="zh-CN" altLang="en-US" b="1" dirty="0">
                <a:latin typeface="+mn-ea"/>
                <a:ea typeface="+mn-ea"/>
              </a:rPr>
              <a:t>时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defRPr/>
            </a:pPr>
            <a:r>
              <a:rPr lang="en-US" altLang="zh-CN" sz="1600" b="1" dirty="0">
                <a:latin typeface="+mn-ea"/>
                <a:ea typeface="+mn-ea"/>
              </a:rPr>
              <a:t>                        CLK</a:t>
            </a:r>
            <a:r>
              <a:rPr lang="zh-CN" altLang="en-US" sz="1600" b="1" dirty="0">
                <a:latin typeface="+mn-ea"/>
                <a:ea typeface="+mn-ea"/>
              </a:rPr>
              <a:t>上升沿早于控制信号←</a:t>
            </a:r>
            <a:r>
              <a:rPr lang="zh-CN" altLang="en-US" sz="1600" dirty="0">
                <a:latin typeface="+mn-ea"/>
                <a:ea typeface="+mn-ea"/>
              </a:rPr>
              <a:t>┘</a:t>
            </a:r>
            <a:endParaRPr lang="en-US" altLang="zh-CN" sz="1600" dirty="0">
              <a:latin typeface="+mn-ea"/>
              <a:ea typeface="+mn-ea"/>
            </a:endParaRPr>
          </a:p>
        </p:txBody>
      </p:sp>
      <p:sp>
        <p:nvSpPr>
          <p:cNvPr id="8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5145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292000" y="6523558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000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" name="AutoShape 32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190839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32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16510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16"/>
          <p:cNvSpPr txBox="1">
            <a:spLocks noChangeArrowheads="1"/>
          </p:cNvSpPr>
          <p:nvPr/>
        </p:nvSpPr>
        <p:spPr bwMode="auto">
          <a:xfrm>
            <a:off x="2843808" y="2708952"/>
            <a:ext cx="338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kumimoji="1"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kumimoji="1"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kumimoji="1" lang="zh-CN" altLang="en-US" b="1" dirty="0">
                <a:latin typeface="宋体" panose="02010600030101010101" pitchFamily="2" charset="-122"/>
              </a:rPr>
              <a:t>设计在纸上</a:t>
            </a:r>
            <a:r>
              <a:rPr kumimoji="1" lang="en-US" altLang="zh-CN" b="1" dirty="0">
                <a:latin typeface="宋体" panose="02010600030101010101" pitchFamily="2" charset="-122"/>
              </a:rPr>
              <a:t>/</a:t>
            </a:r>
            <a:r>
              <a:rPr kumimoji="1" lang="zh-CN" altLang="en-US" b="1" dirty="0">
                <a:latin typeface="宋体" panose="02010600030101010101" pitchFamily="2" charset="-122"/>
              </a:rPr>
              <a:t>电脑上完成</a:t>
            </a:r>
            <a:r>
              <a:rPr lang="zh-CN" altLang="en-US" b="1" dirty="0">
                <a:latin typeface="宋体" panose="02010600030101010101" pitchFamily="2" charset="-122"/>
              </a:rPr>
              <a:t>？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91"/>
          <p:cNvSpPr txBox="1">
            <a:spLocks noChangeArrowheads="1"/>
          </p:cNvSpPr>
          <p:nvPr/>
        </p:nvSpPr>
        <p:spPr bwMode="auto">
          <a:xfrm>
            <a:off x="179512" y="332656"/>
            <a:ext cx="8784976" cy="56584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⑷</a:t>
            </a:r>
            <a:r>
              <a:rPr lang="zh-CN" altLang="zh-CN" sz="2200" b="1" dirty="0">
                <a:solidFill>
                  <a:srgbClr val="C00000"/>
                </a:solidFill>
                <a:latin typeface="+mn-ea"/>
                <a:ea typeface="+mn-ea"/>
              </a:rPr>
              <a:t>控制单元设计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与</a:t>
            </a:r>
            <a:r>
              <a:rPr lang="zh-CN" altLang="zh-CN" sz="2200" b="1" dirty="0">
                <a:solidFill>
                  <a:srgbClr val="C00000"/>
                </a:solidFill>
                <a:latin typeface="+mn-ea"/>
                <a:ea typeface="+mn-ea"/>
              </a:rPr>
              <a:t>实现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仅讨论设计</a:t>
            </a:r>
            <a:r>
              <a:rPr lang="en-US" altLang="zh-CN" b="1" dirty="0">
                <a:latin typeface="+mn-ea"/>
                <a:ea typeface="+mn-ea"/>
              </a:rPr>
              <a:t>[</a:t>
            </a:r>
            <a:r>
              <a:rPr lang="zh-CN" altLang="zh-CN" b="1" dirty="0">
                <a:latin typeface="+mn-ea"/>
                <a:ea typeface="+mn-ea"/>
              </a:rPr>
              <a:t>实现</a:t>
            </a:r>
            <a:r>
              <a:rPr lang="zh-CN" altLang="en-US" b="1" dirty="0">
                <a:latin typeface="+mn-ea"/>
                <a:ea typeface="+mn-ea"/>
              </a:rPr>
              <a:t>与</a:t>
            </a:r>
            <a:r>
              <a:rPr lang="zh-CN" altLang="zh-CN" b="1" dirty="0">
                <a:latin typeface="+mn-ea"/>
                <a:ea typeface="+mn-ea"/>
              </a:rPr>
              <a:t>调试</a:t>
            </a:r>
            <a:r>
              <a:rPr lang="zh-CN" altLang="en-US" b="1" dirty="0">
                <a:latin typeface="+mn-ea"/>
                <a:ea typeface="+mn-ea"/>
              </a:rPr>
              <a:t>同</a:t>
            </a:r>
            <a:r>
              <a:rPr lang="en-US" altLang="zh-CN" b="1" dirty="0">
                <a:latin typeface="+mn-ea"/>
                <a:ea typeface="+mn-ea"/>
              </a:rPr>
              <a:t>DP])</a:t>
            </a:r>
            <a:endParaRPr lang="en-US" altLang="zh-CN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   形成</a:t>
            </a:r>
            <a:r>
              <a:rPr lang="zh-CN" altLang="zh-CN" sz="2200" b="1" dirty="0">
                <a:solidFill>
                  <a:srgbClr val="3333FF"/>
                </a:solidFill>
                <a:latin typeface="+mn-ea"/>
                <a:ea typeface="+mn-ea"/>
              </a:rPr>
              <a:t>状态转换图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        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基于数据通路、指令功能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  </a:t>
            </a:r>
            <a:r>
              <a:rPr lang="zh-CN" altLang="en-US" sz="1600" b="1" dirty="0">
                <a:latin typeface="+mn-ea"/>
                <a:ea typeface="+mn-ea"/>
              </a:rPr>
              <a:t>←如教材图</a:t>
            </a:r>
            <a:r>
              <a:rPr lang="en-US" altLang="zh-CN" sz="1600" b="1" dirty="0">
                <a:latin typeface="+mn-ea"/>
                <a:ea typeface="+mn-ea"/>
              </a:rPr>
              <a:t>5.21</a:t>
            </a: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汇总</a:t>
            </a:r>
            <a:r>
              <a:rPr lang="zh-C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各条指令执行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过程所需</a:t>
            </a:r>
            <a:r>
              <a:rPr lang="zh-C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latin typeface="+mn-ea"/>
                <a:cs typeface="Times New Roman" panose="02020603050405020304" pitchFamily="18" charset="0"/>
              </a:rPr>
              <a:t>OPCmd</a:t>
            </a:r>
            <a:r>
              <a:rPr lang="zh-CN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序列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组织</a:t>
            </a:r>
            <a:r>
              <a:rPr lang="zh-CN" altLang="zh-CN" sz="2200" b="1" dirty="0">
                <a:solidFill>
                  <a:srgbClr val="3333FF"/>
                </a:solidFill>
                <a:latin typeface="+mn-ea"/>
                <a:ea typeface="+mn-ea"/>
              </a:rPr>
              <a:t>时序系统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          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基于状态转换图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r>
              <a:rPr lang="en-US" altLang="zh-CN" sz="2200" b="1" dirty="0">
                <a:latin typeface="+mn-ea"/>
                <a:ea typeface="+mn-ea"/>
              </a:rPr>
              <a:t>  </a:t>
            </a:r>
            <a:r>
              <a:rPr lang="zh-CN" altLang="en-US" sz="2200" b="1" dirty="0">
                <a:latin typeface="+mn-ea"/>
                <a:ea typeface="+mn-ea"/>
              </a:rPr>
              <a:t>     </a:t>
            </a:r>
            <a:r>
              <a:rPr lang="zh-CN" altLang="en-US" b="1" dirty="0">
                <a:latin typeface="+mn-ea"/>
                <a:ea typeface="+mn-ea"/>
              </a:rPr>
              <a:t>  </a:t>
            </a:r>
            <a:r>
              <a:rPr lang="zh-CN" altLang="en-US" sz="1600" b="1" dirty="0">
                <a:latin typeface="+mn-ea"/>
                <a:ea typeface="+mn-ea"/>
              </a:rPr>
              <a:t>←如教材图</a:t>
            </a:r>
            <a:r>
              <a:rPr lang="en-US" altLang="zh-CN" sz="1600" b="1" dirty="0">
                <a:latin typeface="+mn-ea"/>
                <a:ea typeface="+mn-ea"/>
              </a:rPr>
              <a:t>5.25</a:t>
            </a:r>
            <a:endParaRPr lang="en-US" altLang="zh-CN" sz="16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solidFill>
                  <a:srgbClr val="990099"/>
                </a:solidFill>
                <a:latin typeface="+mn-ea"/>
              </a:rPr>
              <a:t>      信号个数：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solidFill>
                  <a:srgbClr val="990099"/>
                </a:solidFill>
                <a:latin typeface="+mn-ea"/>
              </a:rPr>
              <a:t>      信号序列组成：</a:t>
            </a:r>
            <a:endParaRPr lang="en-US" altLang="zh-CN" sz="2200" b="1" dirty="0">
              <a:solidFill>
                <a:srgbClr val="990099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dirty="0">
                <a:solidFill>
                  <a:srgbClr val="990099"/>
                </a:solidFill>
                <a:latin typeface="+mn-ea"/>
              </a:rPr>
              <a:t>      信号定时方式：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   设计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ID—                 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基于指令格式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设计</a:t>
            </a:r>
            <a:r>
              <a:rPr lang="zh-CN" altLang="zh-CN" sz="2200" b="1" dirty="0">
                <a:solidFill>
                  <a:srgbClr val="3333FF"/>
                </a:solidFill>
                <a:latin typeface="+mn-ea"/>
                <a:ea typeface="+mn-ea"/>
              </a:rPr>
              <a:t>时序信号形成电路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   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基于时序系统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r>
              <a:rPr lang="en-US" altLang="zh-CN" sz="2200" b="1" dirty="0">
                <a:latin typeface="+mn-ea"/>
                <a:ea typeface="+mn-ea"/>
              </a:rPr>
              <a:t> </a:t>
            </a:r>
            <a:r>
              <a:rPr lang="zh-CN" altLang="en-US" sz="2200" b="1" dirty="0">
                <a:latin typeface="+mn-ea"/>
                <a:ea typeface="+mn-ea"/>
              </a:rPr>
              <a:t>   </a:t>
            </a:r>
            <a:r>
              <a:rPr lang="zh-CN" altLang="en-US" sz="1600" b="1" dirty="0">
                <a:latin typeface="+mn-ea"/>
                <a:ea typeface="+mn-ea"/>
              </a:rPr>
              <a:t>←</a:t>
            </a:r>
            <a:r>
              <a:rPr lang="zh-CN" altLang="en-US" sz="1600" b="1" dirty="0">
                <a:latin typeface="+mn-ea"/>
              </a:rPr>
              <a:t>如教材图</a:t>
            </a:r>
            <a:r>
              <a:rPr lang="en-US" altLang="zh-CN" sz="1600" b="1" dirty="0">
                <a:latin typeface="+mn-ea"/>
              </a:rPr>
              <a:t>5.32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定序逻辑电路：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定时逻辑电路：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altLang="zh-CN" sz="2200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设计</a:t>
            </a:r>
            <a:r>
              <a:rPr lang="en-US" altLang="zh-CN" sz="2200" dirty="0" err="1">
                <a:solidFill>
                  <a:srgbClr val="3333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solidFill>
                  <a:srgbClr val="3333FF"/>
                </a:solidFill>
                <a:latin typeface="+mn-ea"/>
                <a:ea typeface="+mn-ea"/>
              </a:rPr>
              <a:t>OP</a:t>
            </a:r>
            <a:r>
              <a:rPr lang="zh-CN" altLang="zh-CN" sz="2200" b="1" dirty="0">
                <a:solidFill>
                  <a:srgbClr val="3333FF"/>
                </a:solidFill>
                <a:latin typeface="+mn-ea"/>
                <a:ea typeface="+mn-ea"/>
              </a:rPr>
              <a:t>控制信号形成电路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基于状态转换图、时序系统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latin typeface="+mn-ea"/>
              </a:rPr>
              <a:t>      </a:t>
            </a:r>
            <a:r>
              <a:rPr lang="zh-CN" altLang="en-US" sz="2200" b="1" u="sng" spc="-100" dirty="0">
                <a:latin typeface="+mn-ea"/>
              </a:rPr>
              <a:t>填</a:t>
            </a:r>
            <a:r>
              <a:rPr lang="en-US" altLang="zh-CN" sz="2200" spc="-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spc="-100" dirty="0" err="1">
                <a:latin typeface="+mn-ea"/>
                <a:cs typeface="Times New Roman" panose="02020603050405020304" pitchFamily="18" charset="0"/>
              </a:rPr>
              <a:t>OPCmd</a:t>
            </a:r>
            <a:r>
              <a:rPr lang="zh-CN" altLang="en-US" sz="2200" b="1" spc="-100" dirty="0">
                <a:latin typeface="+mn-ea"/>
                <a:cs typeface="Times New Roman" panose="02020603050405020304" pitchFamily="18" charset="0"/>
              </a:rPr>
              <a:t>使用时间表</a:t>
            </a:r>
            <a:r>
              <a:rPr lang="zh-CN" altLang="en-US" sz="2200" b="1" spc="-100" dirty="0">
                <a:latin typeface="+mn-ea"/>
              </a:rPr>
              <a:t>，</a:t>
            </a:r>
            <a:r>
              <a:rPr lang="zh-CN" altLang="en-US" sz="2200" b="1" u="sng" spc="-100" dirty="0">
                <a:latin typeface="+mn-ea"/>
              </a:rPr>
              <a:t>获得</a:t>
            </a:r>
            <a:r>
              <a:rPr lang="zh-CN" altLang="en-US" sz="2200" b="1" spc="-100" dirty="0">
                <a:latin typeface="+mn-ea"/>
              </a:rPr>
              <a:t>各</a:t>
            </a:r>
            <a:r>
              <a:rPr lang="en-US" altLang="zh-CN" sz="2200" spc="-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spc="-100" dirty="0" err="1">
                <a:latin typeface="+mn-ea"/>
                <a:cs typeface="Times New Roman" panose="02020603050405020304" pitchFamily="18" charset="0"/>
              </a:rPr>
              <a:t>OPCmd</a:t>
            </a:r>
            <a:r>
              <a:rPr lang="zh-CN" altLang="en-US" sz="2200" b="1" spc="-100" dirty="0">
                <a:latin typeface="+mn-ea"/>
                <a:cs typeface="Times New Roman" panose="02020603050405020304" pitchFamily="18" charset="0"/>
              </a:rPr>
              <a:t>的逻辑函数</a:t>
            </a:r>
            <a:r>
              <a:rPr lang="en-US" altLang="zh-CN" b="1" spc="-1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zh-CN" altLang="en-US" b="1" spc="-100" dirty="0">
                <a:latin typeface="+mn-ea"/>
                <a:cs typeface="Times New Roman" panose="02020603050405020304" pitchFamily="18" charset="0"/>
              </a:rPr>
              <a:t>有效逻辑</a:t>
            </a:r>
            <a:r>
              <a:rPr lang="en-US" altLang="zh-CN" b="1" spc="-100" dirty="0">
                <a:latin typeface="+mn-ea"/>
                <a:cs typeface="Times New Roman" panose="02020603050405020304" pitchFamily="18" charset="0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5" name="Text Box 191"/>
          <p:cNvSpPr txBox="1">
            <a:spLocks noChangeArrowheads="1"/>
          </p:cNvSpPr>
          <p:nvPr/>
        </p:nvSpPr>
        <p:spPr bwMode="auto">
          <a:xfrm>
            <a:off x="2411760" y="2060848"/>
            <a:ext cx="6552728" cy="12698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b="1" spc="-100" dirty="0">
                <a:latin typeface="+mn-ea"/>
                <a:ea typeface="+mn-ea"/>
              </a:rPr>
              <a:t>节拍数＝</a:t>
            </a:r>
            <a:r>
              <a:rPr lang="zh-CN" altLang="en-US" sz="2200" b="1" spc="-100" dirty="0">
                <a:solidFill>
                  <a:srgbClr val="0070C0"/>
                </a:solidFill>
                <a:latin typeface="+mn-ea"/>
                <a:ea typeface="+mn-ea"/>
              </a:rPr>
              <a:t>最长</a:t>
            </a:r>
            <a:r>
              <a:rPr lang="zh-CN" altLang="en-US" sz="2200" b="1" spc="-100" dirty="0">
                <a:latin typeface="+mn-ea"/>
                <a:ea typeface="+mn-ea"/>
              </a:rPr>
              <a:t>路径，工作脉冲数＝</a:t>
            </a:r>
            <a:r>
              <a:rPr lang="zh-CN" altLang="en-US" sz="2200" b="1" spc="-100" dirty="0">
                <a:solidFill>
                  <a:srgbClr val="0070C0"/>
                </a:solidFill>
                <a:latin typeface="+mn-ea"/>
                <a:ea typeface="+mn-ea"/>
              </a:rPr>
              <a:t>∑</a:t>
            </a:r>
            <a:r>
              <a:rPr lang="zh-CN" altLang="en-US" sz="2200" b="1" spc="-100" dirty="0">
                <a:latin typeface="+mn-ea"/>
                <a:ea typeface="+mn-ea"/>
              </a:rPr>
              <a:t>数据通路需求</a:t>
            </a:r>
            <a:endParaRPr lang="en-US" altLang="zh-CN" sz="2200" b="1" spc="-100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</a:rPr>
              <a:t>    有</a:t>
            </a:r>
            <a:r>
              <a:rPr lang="zh-CN" altLang="en-US" sz="2200" b="1" dirty="0">
                <a:solidFill>
                  <a:srgbClr val="0070C0"/>
                </a:solidFill>
                <a:latin typeface="+mn-ea"/>
                <a:ea typeface="+mn-ea"/>
              </a:rPr>
              <a:t>多种</a:t>
            </a:r>
            <a:r>
              <a:rPr lang="zh-CN" altLang="en-US" sz="2200" b="1" dirty="0">
                <a:latin typeface="+mn-ea"/>
                <a:ea typeface="+mn-ea"/>
              </a:rPr>
              <a:t>方案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≤路径种类</a:t>
            </a:r>
            <a:r>
              <a:rPr lang="en-US" altLang="zh-CN" b="1" dirty="0">
                <a:latin typeface="+mn-ea"/>
                <a:ea typeface="+mn-ea"/>
              </a:rPr>
              <a:t>)  </a:t>
            </a:r>
            <a:r>
              <a:rPr lang="zh-CN" altLang="en-US" sz="2200" b="1" dirty="0">
                <a:latin typeface="+mn-ea"/>
                <a:ea typeface="+mn-ea"/>
              </a:rPr>
              <a:t>    </a:t>
            </a:r>
            <a:r>
              <a:rPr lang="zh-CN" altLang="en-US" sz="1600" b="1" dirty="0">
                <a:latin typeface="+mn-ea"/>
                <a:ea typeface="+mn-ea"/>
              </a:rPr>
              <a:t>←单周期</a:t>
            </a:r>
            <a:r>
              <a:rPr lang="en-US" altLang="zh-CN" sz="1600" b="1" dirty="0">
                <a:latin typeface="+mn-ea"/>
                <a:ea typeface="+mn-ea"/>
              </a:rPr>
              <a:t>CPU</a:t>
            </a:r>
            <a:r>
              <a:rPr lang="zh-CN" altLang="en-US" sz="1600" b="1" dirty="0">
                <a:latin typeface="+mn-ea"/>
                <a:ea typeface="+mn-ea"/>
              </a:rPr>
              <a:t>仅</a:t>
            </a:r>
            <a:r>
              <a:rPr lang="en-US" altLang="zh-CN" sz="1600" b="1" dirty="0">
                <a:latin typeface="+mn-ea"/>
                <a:ea typeface="+mn-ea"/>
              </a:rPr>
              <a:t>1</a:t>
            </a:r>
            <a:r>
              <a:rPr lang="zh-CN" altLang="en-US" sz="1600" b="1" dirty="0">
                <a:latin typeface="+mn-ea"/>
                <a:ea typeface="+mn-ea"/>
              </a:rPr>
              <a:t>种</a:t>
            </a:r>
            <a:endParaRPr lang="en-US" altLang="zh-CN" sz="16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latin typeface="+mn-ea"/>
              </a:rPr>
              <a:t>    </a:t>
            </a:r>
            <a:r>
              <a:rPr lang="zh-CN" altLang="en-US" sz="2200" b="1" dirty="0">
                <a:latin typeface="+mn-ea"/>
              </a:rPr>
              <a:t>有同步、联合方式</a:t>
            </a:r>
            <a:r>
              <a:rPr lang="en-US" altLang="zh-CN" sz="2200" b="1" dirty="0">
                <a:latin typeface="+mn-ea"/>
              </a:rPr>
              <a:t>        </a:t>
            </a:r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←本课程为同步方式</a:t>
            </a:r>
            <a:endParaRPr lang="en-US" altLang="zh-CN" sz="1600" b="1" dirty="0">
              <a:latin typeface="+mn-ea"/>
              <a:ea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987824" y="4221088"/>
            <a:ext cx="6120680" cy="895630"/>
            <a:chOff x="206375" y="4069521"/>
            <a:chExt cx="6120680" cy="895630"/>
          </a:xfrm>
        </p:grpSpPr>
        <p:sp>
          <p:nvSpPr>
            <p:cNvPr id="6" name="Text Box 191"/>
            <p:cNvSpPr txBox="1">
              <a:spLocks noChangeArrowheads="1"/>
            </p:cNvSpPr>
            <p:nvPr/>
          </p:nvSpPr>
          <p:spPr bwMode="auto">
            <a:xfrm>
              <a:off x="206375" y="4069521"/>
              <a:ext cx="6120680" cy="8956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200" b="1" u="sng" dirty="0">
                  <a:latin typeface="+mn-ea"/>
                  <a:ea typeface="+mn-ea"/>
                </a:rPr>
                <a:t>表示</a:t>
              </a:r>
              <a:r>
                <a:rPr lang="zh-CN" altLang="en-US" sz="2200" b="1" dirty="0">
                  <a:latin typeface="+mn-ea"/>
                  <a:ea typeface="+mn-ea"/>
                </a:rPr>
                <a:t>当前状态、</a:t>
              </a:r>
              <a:r>
                <a:rPr lang="zh-CN" altLang="en-US" sz="2200" b="1" u="sng" dirty="0">
                  <a:latin typeface="+mn-ea"/>
                  <a:ea typeface="+mn-ea"/>
                </a:rPr>
                <a:t>形成</a:t>
              </a:r>
              <a:r>
                <a:rPr lang="zh-CN" altLang="en-US" sz="2200" b="1" dirty="0">
                  <a:latin typeface="+mn-ea"/>
                  <a:ea typeface="+mn-ea"/>
                </a:rPr>
                <a:t>次态函数</a:t>
              </a:r>
              <a:r>
                <a:rPr lang="en-US" altLang="zh-CN" sz="1600" b="1" dirty="0">
                  <a:latin typeface="+mn-ea"/>
                  <a:ea typeface="+mn-ea"/>
                </a:rPr>
                <a:t>(</a:t>
              </a:r>
              <a:r>
                <a:rPr lang="zh-CN" altLang="en-US" sz="1600" b="1" dirty="0">
                  <a:latin typeface="+mn-ea"/>
                  <a:ea typeface="+mn-ea"/>
                </a:rPr>
                <a:t>同步时序时＝驱动函数</a:t>
              </a:r>
              <a:r>
                <a:rPr lang="en-US" altLang="zh-CN" sz="1600" b="1" dirty="0">
                  <a:latin typeface="+mn-ea"/>
                  <a:ea typeface="+mn-ea"/>
                </a:rPr>
                <a:t>)</a:t>
              </a:r>
              <a:endParaRPr lang="en-US" altLang="zh-CN" sz="2200" b="1" dirty="0">
                <a:latin typeface="+mn-ea"/>
                <a:ea typeface="+mn-ea"/>
              </a:endParaRPr>
            </a:p>
            <a:p>
              <a:pPr>
                <a:lnSpc>
                  <a:spcPct val="125000"/>
                </a:lnSpc>
                <a:spcBef>
                  <a:spcPts val="0"/>
                </a:spcBef>
                <a:defRPr/>
              </a:pPr>
              <a:r>
                <a:rPr lang="en-US" altLang="zh-CN" sz="2200" b="1" dirty="0">
                  <a:latin typeface="+mn-ea"/>
                  <a:ea typeface="+mn-ea"/>
                </a:rPr>
                <a:t>CP</a:t>
              </a:r>
              <a:r>
                <a:rPr lang="zh-CN" altLang="zh-CN" sz="2200" b="1" dirty="0">
                  <a:latin typeface="+mn-ea"/>
                  <a:ea typeface="+mn-ea"/>
                </a:rPr>
                <a:t>＝</a:t>
              </a:r>
              <a:r>
                <a:rPr lang="en-US" altLang="zh-CN" sz="2200" b="1" dirty="0">
                  <a:latin typeface="+mn-ea"/>
                  <a:ea typeface="+mn-ea"/>
                </a:rPr>
                <a:t>CLK</a:t>
              </a:r>
              <a:r>
                <a:rPr lang="zh-CN" altLang="en-US" sz="2200" b="1" dirty="0">
                  <a:latin typeface="+mn-ea"/>
                  <a:ea typeface="+mn-ea"/>
                </a:rPr>
                <a:t>或</a:t>
              </a:r>
              <a:r>
                <a:rPr lang="en-US" altLang="zh-CN" sz="2200" b="1" dirty="0">
                  <a:latin typeface="+mn-ea"/>
                </a:rPr>
                <a:t>CP</a:t>
              </a:r>
              <a:r>
                <a:rPr lang="zh-CN" altLang="zh-CN" sz="2200" b="1" dirty="0">
                  <a:latin typeface="+mn-ea"/>
                </a:rPr>
                <a:t>＝</a:t>
              </a:r>
              <a:r>
                <a:rPr lang="en-US" altLang="zh-CN" sz="2200" b="1" dirty="0">
                  <a:latin typeface="+mn-ea"/>
                  <a:ea typeface="+mn-ea"/>
                </a:rPr>
                <a:t>(WMFC</a:t>
              </a:r>
              <a:r>
                <a:rPr lang="zh-CN" altLang="zh-CN" sz="2200" b="1" dirty="0">
                  <a:latin typeface="+mn-ea"/>
                  <a:ea typeface="+mn-ea"/>
                </a:rPr>
                <a:t>＋</a:t>
              </a:r>
              <a:r>
                <a:rPr lang="en-US" altLang="zh-CN" sz="2200" b="1" dirty="0" err="1">
                  <a:latin typeface="+mn-ea"/>
                  <a:ea typeface="+mn-ea"/>
                </a:rPr>
                <a:t>WMFC</a:t>
              </a:r>
              <a:r>
                <a:rPr lang="en-US" altLang="zh-CN" sz="2200" b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·</a:t>
              </a:r>
              <a:r>
                <a:rPr lang="en-US" altLang="zh-CN" sz="2200" b="1" dirty="0" err="1">
                  <a:latin typeface="+mn-ea"/>
                  <a:ea typeface="+mn-ea"/>
                </a:rPr>
                <a:t>mfc</a:t>
              </a:r>
              <a:r>
                <a:rPr lang="en-US" altLang="zh-CN" sz="2200" b="1" dirty="0">
                  <a:latin typeface="+mn-ea"/>
                  <a:ea typeface="+mn-ea"/>
                </a:rPr>
                <a:t>)</a:t>
              </a:r>
              <a:r>
                <a:rPr lang="en-US" altLang="zh-CN" sz="22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·</a:t>
              </a:r>
              <a:r>
                <a:rPr lang="en-US" altLang="zh-CN" sz="2200" b="1" dirty="0">
                  <a:latin typeface="+mn-ea"/>
                  <a:ea typeface="+mn-ea"/>
                </a:rPr>
                <a:t>CLK</a:t>
              </a:r>
              <a:endParaRPr lang="en-US" altLang="zh-CN" sz="2200" b="1" u="sng" dirty="0">
                <a:latin typeface="+mn-ea"/>
                <a:ea typeface="+mn-ea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2315248" y="4584463"/>
              <a:ext cx="50760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AutoShape 32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1907704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2" name="AutoShape 32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292000" y="6525144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79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" name="Text Box 191"/>
          <p:cNvSpPr txBox="1">
            <a:spLocks noChangeArrowheads="1"/>
          </p:cNvSpPr>
          <p:nvPr/>
        </p:nvSpPr>
        <p:spPr bwMode="auto">
          <a:xfrm>
            <a:off x="179511" y="332656"/>
            <a:ext cx="6336705" cy="57092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⑸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CPU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封装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⑹</a:t>
            </a:r>
            <a:r>
              <a:rPr lang="zh-CN" altLang="zh-CN" sz="2200" b="1" dirty="0">
                <a:solidFill>
                  <a:srgbClr val="C00000"/>
                </a:solidFill>
                <a:latin typeface="+mn-ea"/>
                <a:ea typeface="+mn-ea"/>
              </a:rPr>
              <a:t>主机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实现与测试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主存设计与实现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基于</a:t>
            </a:r>
            <a:r>
              <a:rPr lang="en-US" altLang="zh-CN" b="1" dirty="0">
                <a:latin typeface="+mn-ea"/>
              </a:rPr>
              <a:t>CPU</a:t>
            </a:r>
            <a:r>
              <a:rPr lang="zh-CN" altLang="en-US" b="1" dirty="0">
                <a:latin typeface="+mn-ea"/>
              </a:rPr>
              <a:t>接口、</a:t>
            </a:r>
            <a:r>
              <a:rPr lang="zh-CN" altLang="en-US" b="1" dirty="0">
                <a:latin typeface="+mn-ea"/>
                <a:ea typeface="+mn-ea"/>
              </a:rPr>
              <a:t>设计要求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引脚信号组织：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内部电路设计：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主机实现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   主机测试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组织测试环境：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编写测试程序：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执行测试程序：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分析执行结果：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电路错误修正：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 Box 191"/>
          <p:cNvSpPr txBox="1">
            <a:spLocks noChangeArrowheads="1"/>
          </p:cNvSpPr>
          <p:nvPr/>
        </p:nvSpPr>
        <p:spPr bwMode="auto">
          <a:xfrm>
            <a:off x="755576" y="692696"/>
            <a:ext cx="8209161" cy="26841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连接数据通路及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CU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I/O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信号含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Reset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 err="1">
                <a:latin typeface="+mn-ea"/>
                <a:ea typeface="+mn-ea"/>
                <a:cs typeface="Times New Roman" panose="02020603050405020304" pitchFamily="18" charset="0"/>
              </a:rPr>
              <a:t>Clk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BIU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                数据宽度＝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BIU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，其余～访问粒度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写位数的种类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                单体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多体交叉结构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～访问粒度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         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连接</a:t>
            </a:r>
            <a:r>
              <a:rPr lang="en-US" altLang="zh-CN" sz="2200" b="1" dirty="0">
                <a:latin typeface="+mn-ea"/>
                <a:ea typeface="+mn-ea"/>
                <a:cs typeface="Times New Roman" panose="02020603050405020304" pitchFamily="18" charset="0"/>
              </a:rPr>
              <a:t>CPU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及主存，连接电路略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都讲烂了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Text Box 191"/>
          <p:cNvSpPr txBox="1">
            <a:spLocks noChangeArrowheads="1"/>
          </p:cNvSpPr>
          <p:nvPr/>
        </p:nvSpPr>
        <p:spPr bwMode="auto">
          <a:xfrm>
            <a:off x="2987824" y="3717032"/>
            <a:ext cx="5976665" cy="21501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tIns="64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</a:rPr>
              <a:t>程序存于</a:t>
            </a:r>
            <a:r>
              <a:rPr lang="en-US" altLang="zh-CN" sz="2200" b="1" dirty="0">
                <a:latin typeface="+mn-ea"/>
                <a:ea typeface="+mn-ea"/>
              </a:rPr>
              <a:t>IMEM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en-US" altLang="zh-CN" b="1" dirty="0">
                <a:latin typeface="+mn-ea"/>
              </a:rPr>
              <a:t>.</a:t>
            </a:r>
            <a:r>
              <a:rPr lang="en-US" altLang="zh-CN" b="1" dirty="0" err="1">
                <a:latin typeface="+mn-ea"/>
              </a:rPr>
              <a:t>mif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r>
              <a:rPr lang="en-US" altLang="zh-CN" sz="2200" b="1" dirty="0">
                <a:latin typeface="+mn-ea"/>
                <a:ea typeface="+mn-ea"/>
              </a:rPr>
              <a:t>PC</a:t>
            </a:r>
            <a:r>
              <a:rPr lang="zh-CN" altLang="en-US" sz="2200" b="1" dirty="0">
                <a:latin typeface="+mn-ea"/>
                <a:ea typeface="+mn-ea"/>
              </a:rPr>
              <a:t>初值＝程序首址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</a:rPr>
              <a:t>内容全面、</a:t>
            </a:r>
            <a:r>
              <a:rPr lang="zh-CN" altLang="en-US" sz="2200" b="1" dirty="0">
                <a:latin typeface="+mn-ea"/>
              </a:rPr>
              <a:t>程序首址＝</a:t>
            </a:r>
            <a:r>
              <a:rPr lang="en-US" altLang="zh-CN" sz="2200" b="1" dirty="0">
                <a:latin typeface="+mn-ea"/>
              </a:rPr>
              <a:t>PC</a:t>
            </a:r>
            <a:r>
              <a:rPr lang="zh-CN" altLang="en-US" sz="2200" b="1" dirty="0">
                <a:latin typeface="+mn-ea"/>
              </a:rPr>
              <a:t>初值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由复位信号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(Reset)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触发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基于理论结果，按时钟周期分析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电路只要修改过，就要重新测试</a:t>
            </a:r>
            <a:endParaRPr lang="en-US" altLang="zh-CN" sz="22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线形标注 2 13"/>
          <p:cNvSpPr/>
          <p:nvPr/>
        </p:nvSpPr>
        <p:spPr bwMode="auto">
          <a:xfrm>
            <a:off x="2771800" y="3429000"/>
            <a:ext cx="1944000" cy="252000"/>
          </a:xfrm>
          <a:prstGeom prst="borderCallout2">
            <a:avLst>
              <a:gd name="adj1" fmla="val 49254"/>
              <a:gd name="adj2" fmla="val 73"/>
              <a:gd name="adj3" fmla="val 50448"/>
              <a:gd name="adj4" fmla="val -10989"/>
              <a:gd name="adj5" fmla="val 161290"/>
              <a:gd name="adj6" fmla="val -22972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5000"/>
              </a:lnSpc>
              <a:spcBef>
                <a:spcPts val="0"/>
              </a:spcBef>
              <a:defRPr/>
            </a:pPr>
            <a:r>
              <a:rPr lang="zh-CN" altLang="en-US" sz="1600" b="1" dirty="0">
                <a:latin typeface="+mn-ea"/>
                <a:cs typeface="Times New Roman" panose="02020603050405020304" pitchFamily="18" charset="0"/>
              </a:rPr>
              <a:t>工作方式之执行准备</a:t>
            </a:r>
            <a:endParaRPr lang="en-US" altLang="zh-CN" sz="1600" b="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5" name="Text Box 79"/>
          <p:cNvSpPr txBox="1">
            <a:spLocks noChangeArrowheads="1"/>
          </p:cNvSpPr>
          <p:nvPr/>
        </p:nvSpPr>
        <p:spPr bwMode="auto">
          <a:xfrm>
            <a:off x="179512" y="5991671"/>
            <a:ext cx="8785225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200" b="1" dirty="0">
                <a:solidFill>
                  <a:srgbClr val="FF0000"/>
                </a:solidFill>
                <a:latin typeface="+mn-ea"/>
                <a:ea typeface="+mn-ea"/>
              </a:rPr>
              <a:t>  ★要点：各个设计步骤间都有依赖关系！应按序设计</a:t>
            </a:r>
            <a:endParaRPr lang="en-US" altLang="zh-CN" sz="22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5" name="Text Box 78"/>
          <p:cNvSpPr txBox="1">
            <a:spLocks noChangeArrowheads="1"/>
          </p:cNvSpPr>
          <p:nvPr/>
        </p:nvSpPr>
        <p:spPr bwMode="auto">
          <a:xfrm>
            <a:off x="179388" y="908720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一、需求分析</a:t>
            </a:r>
            <a:endParaRPr kumimoji="1" lang="zh-CN" altLang="en-US" sz="2800" b="1" dirty="0">
              <a:latin typeface="+mn-ea"/>
              <a:ea typeface="+mn-ea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512" y="1406967"/>
            <a:ext cx="6768752" cy="2008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*设计要求分析：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14000"/>
              </a:lnSpc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CPU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功能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 algn="l">
              <a:lnSpc>
                <a:spcPct val="114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内部结构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 algn="l">
              <a:lnSpc>
                <a:spcPct val="114000"/>
              </a:lnSpc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en-US" altLang="zh-CN" sz="2200" b="1" spc="200" dirty="0">
                <a:solidFill>
                  <a:srgbClr val="3333FF"/>
                </a:solidFill>
                <a:latin typeface="+mn-ea"/>
                <a:ea typeface="+mn-ea"/>
              </a:rPr>
              <a:t>I/O</a:t>
            </a:r>
            <a:r>
              <a:rPr lang="zh-CN" altLang="en-US" sz="2200" b="1" spc="200" dirty="0">
                <a:solidFill>
                  <a:srgbClr val="3333FF"/>
                </a:solidFill>
                <a:latin typeface="+mn-ea"/>
                <a:ea typeface="+mn-ea"/>
              </a:rPr>
              <a:t>接口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*指令系统分析：</a:t>
            </a:r>
            <a:r>
              <a:rPr kumimoji="1" lang="en-US" altLang="zh-CN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en-US" altLang="zh-CN" b="1" dirty="0">
                <a:latin typeface="+mn-ea"/>
                <a:ea typeface="+mn-ea"/>
              </a:rPr>
              <a:t>(</a:t>
            </a:r>
            <a:r>
              <a:rPr kumimoji="1" lang="zh-CN" altLang="en-US" b="1" dirty="0">
                <a:latin typeface="+mn-ea"/>
                <a:ea typeface="+mn-ea"/>
              </a:rPr>
              <a:t>以</a:t>
            </a:r>
            <a:r>
              <a:rPr kumimoji="1" lang="en-US" altLang="zh-CN" b="1" dirty="0">
                <a:latin typeface="+mn-ea"/>
                <a:ea typeface="+mn-ea"/>
              </a:rPr>
              <a:t>8</a:t>
            </a:r>
            <a:r>
              <a:rPr kumimoji="1" lang="zh-CN" altLang="en-US" b="1" dirty="0">
                <a:latin typeface="+mn-ea"/>
                <a:ea typeface="+mn-ea"/>
              </a:rPr>
              <a:t>条指令为例，结合指令格式</a:t>
            </a:r>
            <a:r>
              <a:rPr kumimoji="1" lang="en-US" altLang="zh-CN" b="1" dirty="0">
                <a:latin typeface="+mn-ea"/>
                <a:ea typeface="+mn-ea"/>
              </a:rPr>
              <a:t>)</a:t>
            </a:r>
            <a:endParaRPr lang="en-US" altLang="zh-CN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8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051720" y="1802433"/>
            <a:ext cx="6840760" cy="12013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支持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8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条指令，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不支持中断，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MMU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实地址管理方式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 单周期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CPU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，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DP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专用结构，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MEM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哈</a:t>
            </a:r>
            <a:r>
              <a:rPr lang="zh-CN" altLang="en-US" sz="2000" b="1" spc="-50" dirty="0">
                <a:latin typeface="+mn-ea"/>
              </a:rPr>
              <a:t>佛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结构，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…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14000"/>
              </a:lnSpc>
            </a:pP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 Reset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、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CLK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，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DBIU+IBIU</a:t>
            </a:r>
            <a:endParaRPr lang="zh-CN" altLang="en-US" sz="2200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754882" y="4797405"/>
            <a:ext cx="2232942" cy="15872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2200" b="1" spc="500" dirty="0">
                <a:solidFill>
                  <a:srgbClr val="3333FF"/>
                </a:solidFill>
                <a:latin typeface="+mn-ea"/>
                <a:ea typeface="+mn-ea"/>
              </a:rPr>
              <a:t>数据表示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 algn="l">
              <a:lnSpc>
                <a:spcPct val="114000"/>
              </a:lnSpc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寄存器参数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14000"/>
              </a:lnSpc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存储器参数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2448272" y="4797405"/>
            <a:ext cx="6228184" cy="15872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32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位有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/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无符号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整数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含逻辑数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GPR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有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32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位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×32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个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en-US" altLang="zh-CN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0#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恒为零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、读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/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写均为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32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位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，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PSR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不保存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标志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按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字节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编址、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32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位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地址空间，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小端、对齐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存放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27584" y="3429000"/>
          <a:ext cx="6912768" cy="13254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6145"/>
                <a:gridCol w="5616623"/>
              </a:tblGrid>
              <a:tr h="2880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600" b="1" kern="1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</a:t>
                      </a:r>
                      <a:r>
                        <a:rPr lang="en-US" sz="1600" b="1" kern="1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zh-CN" sz="1600" b="1" kern="1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sub/</a:t>
                      </a:r>
                      <a:r>
                        <a:rPr lang="en-US" altLang="zh-CN" sz="1600" b="1" kern="10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slt</a:t>
                      </a:r>
                      <a:endParaRPr lang="zh-CN" sz="1600" b="1" kern="1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rd</a:t>
                      </a:r>
                      <a:r>
                        <a:rPr lang="zh-CN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←</a:t>
                      </a: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(rs1)±(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rs2</a:t>
                      </a: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zh-CN" altLang="en-US" sz="1600" b="1" kern="1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及 </a:t>
                      </a: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Rd</a:t>
                      </a:r>
                      <a:r>
                        <a:rPr lang="zh-CN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←</a:t>
                      </a: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(rs1)</a:t>
                      </a: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＜</a:t>
                      </a:r>
                      <a:r>
                        <a:rPr lang="zh-CN" altLang="en-US" sz="1600" b="1" kern="1200" baseline="-18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有</a:t>
                      </a: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rs2</a:t>
                      </a: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？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1:0</a:t>
                      </a:r>
                      <a:endParaRPr lang="zh-CN" altLang="zh-CN" sz="1600" b="1" kern="1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02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600" b="1" kern="10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ori</a:t>
                      </a:r>
                      <a:endParaRPr lang="zh-CN" sz="1600" b="1" kern="1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rd</a:t>
                      </a:r>
                      <a:r>
                        <a:rPr lang="zh-CN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←</a:t>
                      </a: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(rs1)|</a:t>
                      </a:r>
                      <a:r>
                        <a:rPr lang="en-US" altLang="zh-CN" sz="1600" b="1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ZExt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600" b="1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zh-CN" altLang="zh-CN" sz="1600" b="1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86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lang="en-US" altLang="zh-CN" sz="1600" b="1" kern="10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r>
                        <a:rPr lang="en-US" altLang="zh-CN" sz="1600" b="1" kern="1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zh-CN" sz="1600" b="1" kern="10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sw</a:t>
                      </a:r>
                      <a:endParaRPr lang="zh-CN" altLang="zh-CN" sz="1600" b="1" kern="1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lang="pt-BR" alt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rd</a:t>
                      </a:r>
                      <a:r>
                        <a:rPr lang="zh-CN" alt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←</a:t>
                      </a:r>
                      <a:r>
                        <a:rPr lang="pt-BR" alt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Mem[(rs1)+SExt(imm)]</a:t>
                      </a:r>
                      <a:r>
                        <a:rPr lang="zh-CN" altLang="en-US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，</a:t>
                      </a:r>
                      <a:r>
                        <a:rPr lang="pt-BR" alt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Mem[(rs1)+SExt(imm)]</a:t>
                      </a:r>
                      <a:r>
                        <a:rPr lang="zh-CN" alt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←</a:t>
                      </a:r>
                      <a:r>
                        <a:rPr lang="en-US" alt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(rs2)</a:t>
                      </a:r>
                      <a:endParaRPr lang="zh-CN" altLang="zh-CN" sz="1600" b="1" kern="100" dirty="0"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86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lang="en-US" altLang="zh-CN" sz="1600" b="1" kern="10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beq</a:t>
                      </a:r>
                      <a:endParaRPr lang="zh-CN" altLang="zh-CN" sz="1600" b="1" kern="1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if((rs1)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＝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(rs2)) PC←(PC)+</a:t>
                      </a:r>
                      <a:r>
                        <a:rPr lang="en-US" altLang="zh-CN" sz="1600" b="1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SExt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600" b="1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&lt;&lt;1)</a:t>
                      </a:r>
                      <a:endParaRPr lang="zh-CN" altLang="zh-CN" sz="1600" b="1" kern="100" dirty="0"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24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600" b="1" kern="10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jal</a:t>
                      </a:r>
                      <a:endParaRPr lang="zh-CN" sz="1600" b="1" kern="1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←(PC)+4, PC←(PC)+</a:t>
                      </a:r>
                      <a:r>
                        <a:rPr lang="en-US" altLang="zh-CN" sz="1600" b="1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SExt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600" b="1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&lt;&lt;1)</a:t>
                      </a:r>
                      <a:endParaRPr lang="zh-CN" altLang="zh-CN" sz="1600" b="1" kern="100" dirty="0"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920824" y="260648"/>
            <a:ext cx="746760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+mn-ea"/>
                <a:ea typeface="+mn-ea"/>
              </a:rPr>
              <a:t>§4 RISC-V</a:t>
            </a:r>
            <a:r>
              <a:rPr lang="zh-CN" altLang="en-US" sz="3200" b="1" dirty="0">
                <a:latin typeface="+mn-ea"/>
                <a:ea typeface="+mn-ea"/>
              </a:rPr>
              <a:t>单周期</a:t>
            </a:r>
            <a:r>
              <a:rPr lang="en-US" altLang="zh-CN" sz="3200" b="1" dirty="0">
                <a:latin typeface="+mn-ea"/>
                <a:ea typeface="+mn-ea"/>
              </a:rPr>
              <a:t>CPU</a:t>
            </a:r>
            <a:r>
              <a:rPr lang="zh-CN" altLang="en-US" sz="3200" b="1" dirty="0">
                <a:latin typeface="+mn-ea"/>
                <a:ea typeface="+mn-ea"/>
              </a:rPr>
              <a:t>设计</a:t>
            </a:r>
            <a:endParaRPr lang="zh-CN" altLang="en-US" sz="3200" b="1" dirty="0">
              <a:latin typeface="+mn-ea"/>
              <a:ea typeface="+mn-ea"/>
            </a:endParaRPr>
          </a:p>
        </p:txBody>
      </p:sp>
      <p:sp>
        <p:nvSpPr>
          <p:cNvPr id="19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1908000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164072" y="2564904"/>
            <a:ext cx="1584392" cy="797946"/>
            <a:chOff x="3624705" y="3717032"/>
            <a:chExt cx="1584392" cy="797946"/>
          </a:xfrm>
        </p:grpSpPr>
        <p:cxnSp>
          <p:nvCxnSpPr>
            <p:cNvPr id="17" name="直接箭头连接符 16"/>
            <p:cNvCxnSpPr/>
            <p:nvPr/>
          </p:nvCxnSpPr>
          <p:spPr bwMode="auto">
            <a:xfrm>
              <a:off x="4921097" y="3794922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直接箭头连接符 23"/>
            <p:cNvCxnSpPr/>
            <p:nvPr/>
          </p:nvCxnSpPr>
          <p:spPr bwMode="auto">
            <a:xfrm>
              <a:off x="4921097" y="4082954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5" name="直接箭头连接符 24"/>
            <p:cNvCxnSpPr/>
            <p:nvPr/>
          </p:nvCxnSpPr>
          <p:spPr bwMode="auto">
            <a:xfrm>
              <a:off x="4921097" y="4154962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6" name="直接箭头连接符 25"/>
            <p:cNvCxnSpPr/>
            <p:nvPr/>
          </p:nvCxnSpPr>
          <p:spPr bwMode="auto">
            <a:xfrm>
              <a:off x="4921097" y="4226970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" name="直接箭头连接符 26"/>
            <p:cNvCxnSpPr/>
            <p:nvPr/>
          </p:nvCxnSpPr>
          <p:spPr bwMode="auto">
            <a:xfrm>
              <a:off x="4921097" y="3938938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" name="直接箭头连接符 27"/>
            <p:cNvCxnSpPr/>
            <p:nvPr/>
          </p:nvCxnSpPr>
          <p:spPr bwMode="auto">
            <a:xfrm flipH="1">
              <a:off x="4921097" y="4010946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9" name="矩形 28"/>
            <p:cNvSpPr/>
            <p:nvPr/>
          </p:nvSpPr>
          <p:spPr>
            <a:xfrm>
              <a:off x="3912705" y="3717032"/>
              <a:ext cx="1008000" cy="57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0" b="1" dirty="0">
                  <a:solidFill>
                    <a:schemeClr val="tx1"/>
                  </a:solidFill>
                  <a:latin typeface="+mn-ea"/>
                </a:rPr>
                <a:t>CPU</a:t>
              </a:r>
              <a:endParaRPr lang="zh-CN" altLang="en-US" sz="18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 Box 237"/>
            <p:cNvSpPr txBox="1">
              <a:spLocks noChangeArrowheads="1"/>
            </p:cNvSpPr>
            <p:nvPr/>
          </p:nvSpPr>
          <p:spPr bwMode="auto">
            <a:xfrm>
              <a:off x="4633065" y="3717032"/>
              <a:ext cx="288032" cy="576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DBIU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1" name="Text Box 237"/>
            <p:cNvSpPr txBox="1">
              <a:spLocks noChangeArrowheads="1"/>
            </p:cNvSpPr>
            <p:nvPr/>
          </p:nvSpPr>
          <p:spPr bwMode="auto">
            <a:xfrm>
              <a:off x="3912705" y="3717032"/>
              <a:ext cx="288032" cy="576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IBIU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2" name="直接箭头连接符 31"/>
            <p:cNvCxnSpPr/>
            <p:nvPr/>
          </p:nvCxnSpPr>
          <p:spPr bwMode="auto">
            <a:xfrm flipH="1">
              <a:off x="3624705" y="3794922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32"/>
            <p:cNvCxnSpPr/>
            <p:nvPr/>
          </p:nvCxnSpPr>
          <p:spPr bwMode="auto">
            <a:xfrm>
              <a:off x="3624985" y="3938938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直接箭头连接符 33"/>
            <p:cNvCxnSpPr/>
            <p:nvPr/>
          </p:nvCxnSpPr>
          <p:spPr bwMode="auto">
            <a:xfrm flipH="1">
              <a:off x="3624985" y="4082954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5" name="直接箭头连接符 34"/>
            <p:cNvCxnSpPr/>
            <p:nvPr/>
          </p:nvCxnSpPr>
          <p:spPr bwMode="auto">
            <a:xfrm flipH="1">
              <a:off x="3624985" y="4154962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8" name="直接箭头连接符 37"/>
            <p:cNvCxnSpPr/>
            <p:nvPr/>
          </p:nvCxnSpPr>
          <p:spPr bwMode="auto">
            <a:xfrm flipV="1">
              <a:off x="4311916" y="4298978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9" name="直接箭头连接符 38"/>
            <p:cNvCxnSpPr/>
            <p:nvPr/>
          </p:nvCxnSpPr>
          <p:spPr bwMode="auto">
            <a:xfrm flipV="1">
              <a:off x="4417041" y="4298978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40" name="Text Box 320"/>
            <p:cNvSpPr txBox="1">
              <a:spLocks noChangeArrowheads="1"/>
            </p:cNvSpPr>
            <p:nvPr/>
          </p:nvSpPr>
          <p:spPr bwMode="auto">
            <a:xfrm>
              <a:off x="3876705" y="4298978"/>
              <a:ext cx="1185245" cy="18126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CLK   Reset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756000" y="3082175"/>
            <a:ext cx="2232942" cy="2996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指令功能操作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cs typeface="Arial Unicode MS" panose="020B0604020202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数据寻址操作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指令寻址操作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寄存器操作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存储器操作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spc="500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数据路径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spc="500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总清操作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216000" y="3212976"/>
            <a:ext cx="612000" cy="612008"/>
            <a:chOff x="719448" y="4509120"/>
            <a:chExt cx="612000" cy="612008"/>
          </a:xfrm>
        </p:grpSpPr>
        <p:sp>
          <p:nvSpPr>
            <p:cNvPr id="6" name="左大括号 5"/>
            <p:cNvSpPr/>
            <p:nvPr/>
          </p:nvSpPr>
          <p:spPr>
            <a:xfrm>
              <a:off x="1223448" y="4581128"/>
              <a:ext cx="108000" cy="540000"/>
            </a:xfrm>
            <a:prstGeom prst="leftBrac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ext Box 399"/>
            <p:cNvSpPr txBox="1">
              <a:spLocks noChangeArrowheads="1"/>
            </p:cNvSpPr>
            <p:nvPr/>
          </p:nvSpPr>
          <p:spPr bwMode="auto">
            <a:xfrm>
              <a:off x="719448" y="4509120"/>
              <a:ext cx="540184" cy="57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0800" tIns="10800" rIns="18000" bIns="10800" anchor="ctr" anchorCtr="0"/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 b="1" dirty="0">
                  <a:latin typeface="+mn-ea"/>
                  <a:ea typeface="+mn-ea"/>
                </a:rPr>
                <a:t>数据操作</a:t>
              </a:r>
              <a:endParaRPr lang="en-US" altLang="zh-CN" sz="20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483768" y="3068960"/>
            <a:ext cx="6444232" cy="2996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  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＋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/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－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∣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＜</a:t>
            </a:r>
            <a:r>
              <a:rPr lang="zh-CN" altLang="en-US" sz="2200" b="1" baseline="-18000" dirty="0">
                <a:latin typeface="+mn-ea"/>
                <a:cs typeface="Arial Unicode MS" panose="020B0604020202020204" charset="-122"/>
              </a:rPr>
              <a:t>有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＝，读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写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GPRs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、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MEM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，均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32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位</a:t>
            </a:r>
            <a:endParaRPr lang="en-US" altLang="zh-CN" sz="2200" b="1" dirty="0">
              <a:latin typeface="+mn-ea"/>
              <a:cs typeface="Arial Unicode MS" panose="020B0604020202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  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＋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(32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位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、</a:t>
            </a:r>
            <a:r>
              <a:rPr lang="en-US" altLang="zh-CN" sz="2200" b="1" dirty="0" err="1">
                <a:latin typeface="+mn-ea"/>
                <a:cs typeface="Arial Unicode MS" panose="020B0604020202020204" charset="-122"/>
              </a:rPr>
              <a:t>ZExt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/</a:t>
            </a:r>
            <a:r>
              <a:rPr lang="en-US" altLang="zh-CN" sz="2200" b="1" dirty="0" err="1">
                <a:latin typeface="+mn-ea"/>
                <a:cs typeface="Arial Unicode MS" panose="020B0604020202020204" charset="-122"/>
              </a:rPr>
              <a:t>SExt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(12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→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32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位、格式有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2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种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[I&amp;S])</a:t>
            </a:r>
            <a:endParaRPr lang="en-US" altLang="zh-CN" sz="2200" b="1" dirty="0">
              <a:latin typeface="+mn-ea"/>
              <a:cs typeface="Arial Unicode MS" panose="020B0604020202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  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＋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(32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位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，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&lt;&lt;1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，</a:t>
            </a:r>
            <a:r>
              <a:rPr lang="en-US" altLang="zh-CN" sz="2200" b="1" dirty="0" err="1">
                <a:latin typeface="+mn-ea"/>
                <a:cs typeface="Arial Unicode MS" panose="020B0604020202020204" charset="-122"/>
              </a:rPr>
              <a:t>SExt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(12/20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→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32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位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)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读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写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(32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位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，每条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指令≤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2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次读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+1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次写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读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写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(32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位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，每条指令≤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1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次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读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/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写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满足指令功能需求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数据通路部件互连时确定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初始化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PC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、时序电路</a:t>
            </a:r>
            <a:endParaRPr lang="zh-CN" altLang="en-US" sz="2200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10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827584" y="404664"/>
          <a:ext cx="7560840" cy="13254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6144"/>
                <a:gridCol w="5616624"/>
                <a:gridCol w="648072"/>
              </a:tblGrid>
              <a:tr h="28803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600" b="1" kern="1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</a:t>
                      </a:r>
                      <a:r>
                        <a:rPr lang="en-US" sz="1600" b="1" kern="1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zh-CN" sz="1600" b="1" kern="1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sub/</a:t>
                      </a:r>
                      <a:r>
                        <a:rPr lang="en-US" altLang="zh-CN" sz="1600" b="1" kern="10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slt</a:t>
                      </a:r>
                      <a:endParaRPr lang="zh-CN" sz="1600" b="1" kern="1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rd</a:t>
                      </a:r>
                      <a:r>
                        <a:rPr lang="zh-CN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←</a:t>
                      </a: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(rs1)±(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rs2</a:t>
                      </a: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zh-CN" altLang="en-US" sz="1600" b="1" kern="1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及 </a:t>
                      </a: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Rd</a:t>
                      </a:r>
                      <a:r>
                        <a:rPr lang="zh-CN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←</a:t>
                      </a: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(rs1)</a:t>
                      </a: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＜</a:t>
                      </a:r>
                      <a:r>
                        <a:rPr lang="zh-CN" altLang="en-US" sz="1600" b="1" kern="1200" baseline="-18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有</a:t>
                      </a: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rs2</a:t>
                      </a: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？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1:0</a:t>
                      </a:r>
                      <a:endParaRPr lang="zh-CN" altLang="zh-CN" sz="1600" b="1" kern="1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lang="en-US" altLang="zh-CN" sz="1600" b="1" kern="1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lang="zh-CN" altLang="en-US" sz="1600" b="1" kern="1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型</a:t>
                      </a:r>
                      <a:endParaRPr lang="zh-CN" altLang="zh-CN" sz="1600" b="1" kern="1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02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600" b="1" kern="10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ori</a:t>
                      </a:r>
                      <a:endParaRPr lang="zh-CN" sz="1600" b="1" kern="1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rd</a:t>
                      </a:r>
                      <a:r>
                        <a:rPr lang="zh-CN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←</a:t>
                      </a:r>
                      <a:r>
                        <a:rPr lang="pt-BR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(rs1)|</a:t>
                      </a:r>
                      <a:r>
                        <a:rPr lang="en-US" altLang="zh-CN" sz="1600" b="1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ZExt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600" b="1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zh-CN" altLang="zh-CN" sz="1600" b="1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zh-CN" altLang="en-US" sz="1600" b="1" kern="10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型</a:t>
                      </a:r>
                      <a:endParaRPr lang="zh-CN" altLang="zh-CN" sz="1600" b="1" kern="10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86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lang="en-US" altLang="zh-CN" sz="1600" b="1" kern="10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r>
                        <a:rPr lang="en-US" altLang="zh-CN" sz="1600" b="1" kern="1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zh-CN" sz="1600" b="1" kern="10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sw</a:t>
                      </a:r>
                      <a:endParaRPr lang="zh-CN" altLang="zh-CN" sz="1600" b="1" kern="1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lang="pt-BR" alt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rd</a:t>
                      </a:r>
                      <a:r>
                        <a:rPr lang="zh-CN" alt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←</a:t>
                      </a:r>
                      <a:r>
                        <a:rPr lang="pt-BR" alt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Mem[(rs1)+SExt(imm)]</a:t>
                      </a:r>
                      <a:r>
                        <a:rPr lang="zh-CN" altLang="en-US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，</a:t>
                      </a:r>
                      <a:r>
                        <a:rPr lang="pt-BR" alt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Mem[(rs1)+SExt(imm)]</a:t>
                      </a:r>
                      <a:r>
                        <a:rPr lang="zh-CN" alt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←</a:t>
                      </a:r>
                      <a:r>
                        <a:rPr lang="en-US" alt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(rs2)</a:t>
                      </a:r>
                      <a:endParaRPr lang="zh-CN" altLang="zh-CN" sz="1600" b="1" kern="100" dirty="0"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lang="en-US" alt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I/S</a:t>
                      </a:r>
                      <a:r>
                        <a:rPr lang="zh-CN" altLang="en-US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型</a:t>
                      </a:r>
                      <a:endParaRPr lang="zh-CN" altLang="zh-CN" sz="1600" b="1" kern="100" dirty="0"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861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lang="en-US" altLang="zh-CN" sz="1600" b="1" kern="10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beq</a:t>
                      </a:r>
                      <a:endParaRPr lang="zh-CN" altLang="zh-CN" sz="1600" b="1" kern="1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if((rs1)</a:t>
                      </a:r>
                      <a:r>
                        <a:rPr lang="zh-CN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＝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(rs2)) PC←(PC)+</a:t>
                      </a:r>
                      <a:r>
                        <a:rPr lang="en-US" altLang="zh-CN" sz="1600" b="1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SExt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600" b="1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&lt;&lt;1)</a:t>
                      </a:r>
                      <a:endParaRPr lang="zh-CN" altLang="zh-CN" sz="1600" b="1" kern="100" dirty="0"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B</a:t>
                      </a:r>
                      <a:r>
                        <a:rPr lang="zh-CN" altLang="en-US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型</a:t>
                      </a:r>
                      <a:endParaRPr lang="zh-CN" altLang="zh-CN" sz="1600" b="1" kern="100" dirty="0"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6024">
                <a:tc>
                  <a:txBody>
                    <a:bodyPr/>
                    <a:lstStyle/>
                    <a:p>
                      <a:pPr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600" b="1" kern="10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jal</a:t>
                      </a:r>
                      <a:endParaRPr lang="zh-CN" sz="1600" b="1" kern="1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←(PC)+4, PC←(PC)+</a:t>
                      </a:r>
                      <a:r>
                        <a:rPr lang="en-US" altLang="zh-CN" sz="1600" b="1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SExt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600" b="1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&lt;&lt;1)</a:t>
                      </a:r>
                      <a:endParaRPr lang="zh-CN" altLang="zh-CN" sz="1600" b="1" kern="100" dirty="0"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J</a:t>
                      </a:r>
                      <a:r>
                        <a:rPr lang="zh-CN" altLang="en-US" sz="1600" b="1" kern="100" dirty="0">
                          <a:effectLst/>
                          <a:latin typeface="+mn-ea"/>
                          <a:ea typeface="+mn-ea"/>
                          <a:cs typeface="Times New Roman" panose="02020603050405020304"/>
                        </a:rPr>
                        <a:t>型</a:t>
                      </a:r>
                      <a:endParaRPr lang="zh-CN" altLang="zh-CN" sz="1600" b="1" kern="100" dirty="0">
                        <a:effectLst/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4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AutoShape 32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190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000" y="6525344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" name="Group 14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979712" y="1844824"/>
          <a:ext cx="6120680" cy="1186835"/>
        </p:xfrm>
        <a:graphic>
          <a:graphicData uri="http://schemas.openxmlformats.org/drawingml/2006/table">
            <a:tbl>
              <a:tblPr/>
              <a:tblGrid>
                <a:gridCol w="339090"/>
                <a:gridCol w="1478915"/>
                <a:gridCol w="630267"/>
                <a:gridCol w="576064"/>
                <a:gridCol w="792088"/>
                <a:gridCol w="1368152"/>
                <a:gridCol w="936104"/>
              </a:tblGrid>
              <a:tr h="237367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funct7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funct3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Opcode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37367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funct3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opcode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37367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imm[11:5]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funct3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opcode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</a:tr>
              <a:tr h="237367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imm[12|10:5]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funct3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imm[4:1|11]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opcode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237367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J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imm[20|10:1|11|19:12]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opcode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9" name="AutoShape 329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07675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78"/>
          <p:cNvSpPr txBox="1">
            <a:spLocks noChangeArrowheads="1"/>
          </p:cNvSpPr>
          <p:nvPr/>
        </p:nvSpPr>
        <p:spPr bwMode="auto">
          <a:xfrm>
            <a:off x="179388" y="375047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kumimoji="1"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二、总体设计</a:t>
            </a:r>
            <a:endParaRPr lang="zh-CN" altLang="en-US" sz="2400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9512" y="836712"/>
            <a:ext cx="4824536" cy="564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*模块划分：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*数据通路功能组织： </a:t>
            </a:r>
            <a:r>
              <a:rPr lang="en-US" altLang="zh-CN" b="1" dirty="0">
                <a:latin typeface="+mn-ea"/>
                <a:ea typeface="+mn-ea"/>
              </a:rPr>
              <a:t>(</a:t>
            </a:r>
            <a:r>
              <a:rPr lang="zh-CN" altLang="en-US" b="1" dirty="0">
                <a:latin typeface="+mn-ea"/>
                <a:ea typeface="+mn-ea"/>
              </a:rPr>
              <a:t>接口组织稍后</a:t>
            </a:r>
            <a:r>
              <a:rPr lang="en-US" altLang="zh-CN" b="1" dirty="0">
                <a:latin typeface="+mn-ea"/>
                <a:ea typeface="+mn-ea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    运算部件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 algn="l"/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寄存器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    指令部件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 algn="l">
              <a:lnSpc>
                <a:spcPct val="105000"/>
              </a:lnSpc>
            </a:pPr>
            <a:endParaRPr lang="en-US" altLang="zh-CN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MMU—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BIU—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endParaRPr lang="en-US" altLang="zh-CN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CU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功能组织： 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接口组织稍后</a:t>
            </a:r>
            <a:r>
              <a:rPr lang="en-US" altLang="zh-CN" b="1" dirty="0">
                <a:latin typeface="+mn-ea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ID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组织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时序信号形成电路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en-US" altLang="zh-CN" sz="220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solidFill>
                  <a:srgbClr val="3333FF"/>
                </a:solidFill>
                <a:latin typeface="+mn-ea"/>
                <a:cs typeface="Arial Unicode MS" panose="020B0604020202020204" charset="-122"/>
              </a:rPr>
              <a:t>OP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cs typeface="Arial Unicode MS" panose="020B0604020202020204" charset="-122"/>
              </a:rPr>
              <a:t>控制信号形成电路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+mn-ea"/>
              <a:cs typeface="Arial Unicode MS" panose="020B0604020202020204" charset="-122"/>
            </a:endParaRPr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1475909" y="1684572"/>
            <a:ext cx="7593380" cy="31363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     数据操作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±/|/</a:t>
            </a:r>
            <a:r>
              <a:rPr lang="zh-CN" altLang="en-US" b="1" dirty="0">
                <a:latin typeface="+mn-ea"/>
              </a:rPr>
              <a:t>＜</a:t>
            </a:r>
            <a:r>
              <a:rPr lang="zh-CN" altLang="en-US" b="1" baseline="-18000" dirty="0">
                <a:latin typeface="+mn-ea"/>
              </a:rPr>
              <a:t>有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＝、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12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位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[2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种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]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的</a:t>
            </a:r>
            <a:r>
              <a:rPr lang="en-US" altLang="zh-CN" b="1" dirty="0" err="1">
                <a:latin typeface="+mn-ea"/>
                <a:cs typeface="Arial Unicode MS" panose="020B0604020202020204" charset="-122"/>
              </a:rPr>
              <a:t>ZExt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/</a:t>
            </a:r>
            <a:r>
              <a:rPr lang="en-US" altLang="zh-CN" b="1" dirty="0" err="1">
                <a:latin typeface="+mn-ea"/>
                <a:ea typeface="+mn-ea"/>
                <a:cs typeface="Arial Unicode MS" panose="020B0604020202020204" charset="-122"/>
              </a:rPr>
              <a:t>SExt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，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     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指令寻址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＋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、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&lt;&lt;1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、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12/20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位的</a:t>
            </a:r>
            <a:r>
              <a:rPr lang="en-US" altLang="zh-CN" b="1" dirty="0" err="1">
                <a:latin typeface="+mn-ea"/>
                <a:cs typeface="Arial Unicode MS" panose="020B0604020202020204" charset="-122"/>
              </a:rPr>
              <a:t>SExt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b="1" dirty="0">
              <a:latin typeface="+mn-ea"/>
              <a:ea typeface="+mn-ea"/>
              <a:cs typeface="Arial Unicode MS" panose="020B0604020202020204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   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GPRs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为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32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位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×32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个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(0#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恒为零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、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有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2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个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R+1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个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W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端口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均仅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32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位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     PC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可复位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，缺省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IR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b="1" spc="-50" dirty="0">
                <a:latin typeface="+mn-ea"/>
                <a:ea typeface="+mn-ea"/>
                <a:cs typeface="Times New Roman" panose="02020603050405020304" pitchFamily="18" charset="0"/>
              </a:rPr>
              <a:t>读</a:t>
            </a:r>
            <a:r>
              <a:rPr lang="en-US" altLang="zh-CN" b="1" spc="-50" dirty="0">
                <a:latin typeface="+mn-ea"/>
                <a:ea typeface="+mn-ea"/>
                <a:cs typeface="Times New Roman" panose="02020603050405020304" pitchFamily="18" charset="0"/>
              </a:rPr>
              <a:t>IMEM+</a:t>
            </a:r>
            <a:r>
              <a:rPr lang="zh-CN" altLang="en-US" b="1" spc="-50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写</a:t>
            </a:r>
            <a:r>
              <a:rPr lang="en-US" altLang="zh-CN" b="1" spc="-50" dirty="0">
                <a:solidFill>
                  <a:srgbClr val="0070C0"/>
                </a:solidFill>
                <a:latin typeface="+mn-ea"/>
                <a:ea typeface="+mn-ea"/>
                <a:cs typeface="Times New Roman" panose="02020603050405020304" pitchFamily="18" charset="0"/>
              </a:rPr>
              <a:t>IR+</a:t>
            </a:r>
            <a:r>
              <a:rPr lang="zh-CN" altLang="en-US" b="1" spc="-50" dirty="0">
                <a:latin typeface="+mn-ea"/>
                <a:ea typeface="+mn-ea"/>
                <a:cs typeface="Times New Roman" panose="02020603050405020304" pitchFamily="18" charset="0"/>
              </a:rPr>
              <a:t>读</a:t>
            </a:r>
            <a:r>
              <a:rPr lang="en-US" altLang="zh-CN" b="1" spc="-50" dirty="0">
                <a:latin typeface="+mn-ea"/>
                <a:ea typeface="+mn-ea"/>
                <a:cs typeface="Times New Roman" panose="02020603050405020304" pitchFamily="18" charset="0"/>
              </a:rPr>
              <a:t>MEM+</a:t>
            </a:r>
            <a:r>
              <a:rPr lang="zh-CN" altLang="en-US" b="1" spc="-50" dirty="0">
                <a:latin typeface="+mn-ea"/>
                <a:ea typeface="+mn-ea"/>
                <a:cs typeface="Times New Roman" panose="02020603050405020304" pitchFamily="18" charset="0"/>
              </a:rPr>
              <a:t>写</a:t>
            </a:r>
            <a:r>
              <a:rPr lang="en-US" altLang="zh-CN" b="1" spc="-50" dirty="0">
                <a:latin typeface="+mn-ea"/>
                <a:ea typeface="+mn-ea"/>
                <a:cs typeface="Times New Roman" panose="02020603050405020304" pitchFamily="18" charset="0"/>
              </a:rPr>
              <a:t>GPR</a:t>
            </a:r>
            <a:r>
              <a:rPr lang="zh-CN" altLang="en-US" b="1" spc="-50" dirty="0">
                <a:highlight>
                  <a:srgbClr val="FFFF00"/>
                </a:highlight>
                <a:latin typeface="+mn-ea"/>
                <a:ea typeface="+mn-ea"/>
                <a:cs typeface="Times New Roman" panose="02020603050405020304" pitchFamily="18" charset="0"/>
              </a:rPr>
              <a:t>≤</a:t>
            </a:r>
            <a:r>
              <a:rPr lang="en-US" altLang="zh-CN" b="1" spc="-50" dirty="0">
                <a:highlight>
                  <a:srgbClr val="FFFF00"/>
                </a:highlight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b="1" spc="-50" dirty="0">
                <a:highlight>
                  <a:srgbClr val="FFFF00"/>
                </a:highlight>
                <a:latin typeface="+mn-ea"/>
                <a:ea typeface="+mn-ea"/>
                <a:cs typeface="Times New Roman" panose="02020603050405020304" pitchFamily="18" charset="0"/>
              </a:rPr>
              <a:t>次</a:t>
            </a:r>
            <a:r>
              <a:rPr lang="en-US" altLang="zh-CN" b="1" dirty="0">
                <a:latin typeface="+mn-ea"/>
                <a:cs typeface="Times New Roman" panose="02020603050405020304" pitchFamily="18" charset="0"/>
              </a:rPr>
              <a:t>)</a:t>
            </a:r>
            <a:endParaRPr lang="en-US" altLang="zh-CN" b="1" dirty="0">
              <a:latin typeface="+mn-ea"/>
              <a:cs typeface="Arial Unicode MS" panose="020B0604020202020204" charset="-122"/>
            </a:endParaRPr>
          </a:p>
          <a:p>
            <a:pPr>
              <a:lnSpc>
                <a:spcPct val="105000"/>
              </a:lnSpc>
            </a:pP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                     </a:t>
            </a:r>
            <a:r>
              <a:rPr lang="zh-CN" altLang="en-US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└→</a:t>
            </a:r>
            <a:r>
              <a:rPr lang="zh-CN" altLang="en-US" b="1" u="sng" dirty="0">
                <a:solidFill>
                  <a:srgbClr val="990099"/>
                </a:solidFill>
                <a:latin typeface="+mn-ea"/>
                <a:cs typeface="Arial Unicode MS" panose="020B0604020202020204" charset="-122"/>
              </a:rPr>
              <a:t>指令字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在指令周期结束前</a:t>
            </a:r>
            <a:r>
              <a:rPr lang="zh-CN" altLang="en-US" b="1" u="sng" dirty="0">
                <a:solidFill>
                  <a:srgbClr val="990099"/>
                </a:solidFill>
                <a:latin typeface="+mn-ea"/>
                <a:cs typeface="Arial Unicode MS" panose="020B0604020202020204" charset="-122"/>
              </a:rPr>
              <a:t>保持不变</a:t>
            </a:r>
            <a:endParaRPr lang="en-US" altLang="zh-CN" b="1" dirty="0">
              <a:solidFill>
                <a:srgbClr val="990099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LA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、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PA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均为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32b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，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PA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＝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LA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仅数据转换电路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小端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对齐方式、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32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位数据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， 其余缺省</a:t>
            </a:r>
            <a:endParaRPr lang="en-US" altLang="zh-CN" sz="2200" b="1" dirty="0">
              <a:latin typeface="+mn-ea"/>
              <a:cs typeface="Arial Unicode MS" panose="020B0604020202020204" charset="-122"/>
            </a:endParaRPr>
          </a:p>
          <a:p>
            <a:pPr>
              <a:lnSpc>
                <a:spcPct val="90000"/>
              </a:lnSpc>
            </a:pP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                       BIU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直连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MEM/MEM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的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T</a:t>
            </a:r>
            <a:r>
              <a:rPr lang="en-US" altLang="zh-CN" b="1" baseline="-18000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M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＜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1T</a:t>
            </a:r>
            <a:r>
              <a:rPr lang="en-US" altLang="zh-CN" b="1" baseline="-18000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C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→</a:t>
            </a:r>
            <a:r>
              <a:rPr lang="en-US" altLang="zh-CN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┴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←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1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次时序</a:t>
            </a:r>
            <a:r>
              <a:rPr lang="zh-CN" b="1" dirty="0">
                <a:latin typeface="+mn-ea"/>
                <a:ea typeface="+mn-ea"/>
                <a:cs typeface="Arial Unicode MS" panose="020B0604020202020204" charset="-122"/>
                <a:sym typeface="+mn-ea"/>
              </a:rPr>
              <a:t>操作</a:t>
            </a:r>
            <a:endParaRPr lang="en-US" altLang="zh-CN" b="1" dirty="0">
              <a:latin typeface="+mn-ea"/>
              <a:ea typeface="+mn-ea"/>
              <a:cs typeface="Arial Unicode MS" panose="020B0604020202020204" charset="-122"/>
              <a:sym typeface="+mn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7596535" y="1052582"/>
            <a:ext cx="1152128" cy="217270"/>
            <a:chOff x="1619672" y="5073008"/>
            <a:chExt cx="1152128" cy="217270"/>
          </a:xfrm>
        </p:grpSpPr>
        <p:sp>
          <p:nvSpPr>
            <p:cNvPr id="25" name="TextBox 24"/>
            <p:cNvSpPr txBox="1"/>
            <p:nvPr/>
          </p:nvSpPr>
          <p:spPr>
            <a:xfrm>
              <a:off x="1619672" y="5073364"/>
              <a:ext cx="371078" cy="21673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2123728" y="5073364"/>
              <a:ext cx="288032" cy="178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2123728" y="5073008"/>
              <a:ext cx="0" cy="21638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2042168" y="5289388"/>
              <a:ext cx="8156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2699792" y="5073364"/>
              <a:ext cx="0" cy="21638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2411760" y="5073364"/>
              <a:ext cx="0" cy="21638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2411760" y="5289388"/>
              <a:ext cx="288032" cy="89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2699792" y="5073364"/>
              <a:ext cx="72008" cy="178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2411760" y="5073364"/>
              <a:ext cx="1" cy="16200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2123728" y="5127744"/>
              <a:ext cx="0" cy="16200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V="1">
              <a:off x="2699792" y="5127744"/>
              <a:ext cx="0" cy="16200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 Box 5"/>
          <p:cNvSpPr txBox="1">
            <a:spLocks noChangeArrowheads="1"/>
          </p:cNvSpPr>
          <p:nvPr/>
        </p:nvSpPr>
        <p:spPr bwMode="auto">
          <a:xfrm>
            <a:off x="1907704" y="838368"/>
            <a:ext cx="7056909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数据通路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含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MMU)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＋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CU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           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←无中断机构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                           </a:t>
            </a:r>
            <a:r>
              <a:rPr lang="en-US" altLang="zh-CN" sz="2000" b="1" dirty="0">
                <a:latin typeface="+mn-ea"/>
                <a:ea typeface="+mn-ea"/>
                <a:cs typeface="Arial Unicode MS" panose="020B0604020202020204" charset="-122"/>
              </a:rPr>
              <a:t>  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←</a:t>
            </a:r>
            <a:r>
              <a:rPr lang="zh-CN" altLang="en-US" b="1" dirty="0">
                <a:solidFill>
                  <a:srgbClr val="FF3399"/>
                </a:solidFill>
                <a:latin typeface="+mn-ea"/>
                <a:ea typeface="+mn-ea"/>
                <a:cs typeface="Arial Unicode MS" panose="020B0604020202020204" charset="-122"/>
              </a:rPr>
              <a:t>单周期</a:t>
            </a:r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  <a:cs typeface="Arial Unicode MS" panose="020B0604020202020204" charset="-122"/>
              </a:rPr>
              <a:t>CPU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600" b="1" spc="-50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sz="1600" b="1" spc="-50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1600" b="1" spc="-50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次时序操作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  <a:cs typeface="Arial Unicode MS" panose="020B0604020202020204" charset="-122"/>
              </a:rPr>
              <a:t>)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 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37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190805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8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000" y="6525144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730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1907708" y="5085184"/>
            <a:ext cx="6985025" cy="13619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输出当前指令的操作类型信号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含寻址方式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          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一级时序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工作脉冲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、一种信号序列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可复位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b="1" dirty="0">
              <a:latin typeface="+mn-ea"/>
              <a:ea typeface="+mn-ea"/>
              <a:cs typeface="Arial Unicode MS" panose="020B060402020202020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             输出当前指令所需的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latin typeface="+mn-ea"/>
                <a:cs typeface="Arial Unicode MS" panose="020B0604020202020204" charset="-122"/>
              </a:rPr>
              <a:t>OP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控制信号</a:t>
            </a: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H="1">
            <a:off x="4500220" y="1692000"/>
            <a:ext cx="2232000" cy="1296000"/>
          </a:xfrm>
          <a:prstGeom prst="straightConnector1">
            <a:avLst/>
          </a:prstGeom>
          <a:ln w="12700">
            <a:solidFill>
              <a:srgbClr val="990099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>
            <a:off x="6371668" y="1692000"/>
            <a:ext cx="360572" cy="872904"/>
          </a:xfrm>
          <a:prstGeom prst="straightConnector1">
            <a:avLst/>
          </a:prstGeom>
          <a:ln w="12700">
            <a:solidFill>
              <a:srgbClr val="990099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AutoShape 32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07675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AutoShape 32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000" y="6525344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9" name="直接箭头连接符 38"/>
          <p:cNvCxnSpPr/>
          <p:nvPr/>
        </p:nvCxnSpPr>
        <p:spPr>
          <a:xfrm>
            <a:off x="6331253" y="3276176"/>
            <a:ext cx="1450821" cy="1240404"/>
          </a:xfrm>
          <a:prstGeom prst="straightConnector1">
            <a:avLst/>
          </a:prstGeom>
          <a:ln w="12700">
            <a:solidFill>
              <a:srgbClr val="990099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51" name="Text Box 116"/>
          <p:cNvSpPr txBox="1">
            <a:spLocks noChangeArrowheads="1"/>
          </p:cNvSpPr>
          <p:nvPr/>
        </p:nvSpPr>
        <p:spPr bwMode="auto">
          <a:xfrm>
            <a:off x="179511" y="1714738"/>
            <a:ext cx="8533287" cy="3872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*数据操作的部件设计：</a:t>
            </a:r>
            <a:endParaRPr kumimoji="1"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ALU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设计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 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功能与</a:t>
            </a:r>
            <a:r>
              <a:rPr kumimoji="1" lang="en-US" altLang="zh-CN" b="1" dirty="0" err="1">
                <a:latin typeface="宋体" panose="02010600030101010101" pitchFamily="2" charset="-122"/>
              </a:rPr>
              <a:t>ExtU</a:t>
            </a:r>
            <a:r>
              <a:rPr kumimoji="1" lang="zh-CN" altLang="en-US" b="1" dirty="0">
                <a:latin typeface="宋体" panose="02010600030101010101" pitchFamily="2" charset="-122"/>
              </a:rPr>
              <a:t>不兼容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kumimoji="1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功能：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32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位的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+/-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/|/</a:t>
            </a:r>
            <a:r>
              <a:rPr lang="zh-CN" altLang="en-US" sz="2200" b="1" dirty="0">
                <a:latin typeface="+mn-ea"/>
              </a:rPr>
              <a:t>＜</a:t>
            </a:r>
            <a:r>
              <a:rPr lang="zh-CN" altLang="en-US" sz="2200" b="1" baseline="-18000" dirty="0">
                <a:latin typeface="+mn-ea"/>
              </a:rPr>
              <a:t>有</a:t>
            </a: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＝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组成：</a:t>
            </a:r>
            <a:endParaRPr kumimoji="1"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kumimoji="1" lang="en-US" altLang="zh-CN" sz="16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kumimoji="1" lang="en-US" altLang="zh-CN" sz="20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</a:pP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2200" b="1" dirty="0" err="1">
                <a:solidFill>
                  <a:srgbClr val="3333FF"/>
                </a:solidFill>
                <a:latin typeface="宋体" panose="02010600030101010101" pitchFamily="2" charset="-122"/>
              </a:rPr>
              <a:t>ExtU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设计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kumimoji="1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功能：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12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位→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32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位的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SExt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/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ZExt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       </a:t>
            </a:r>
            <a:r>
              <a:rPr lang="zh-CN" altLang="en-US" b="1" dirty="0">
                <a:latin typeface="宋体" panose="02010600030101010101" pitchFamily="2" charset="-122"/>
              </a:rPr>
              <a:t>←</a:t>
            </a:r>
            <a:r>
              <a:rPr kumimoji="1" lang="en-US" altLang="zh-CN" b="1" dirty="0" err="1">
                <a:latin typeface="宋体" panose="02010600030101010101" pitchFamily="2" charset="-122"/>
              </a:rPr>
              <a:t>lw</a:t>
            </a:r>
            <a:r>
              <a:rPr kumimoji="1" lang="en-US" altLang="zh-CN" b="1" dirty="0">
                <a:latin typeface="宋体" panose="02010600030101010101" pitchFamily="2" charset="-122"/>
              </a:rPr>
              <a:t>/</a:t>
            </a:r>
            <a:r>
              <a:rPr kumimoji="1" lang="en-US" altLang="zh-CN" b="1" dirty="0" err="1">
                <a:latin typeface="宋体" panose="02010600030101010101" pitchFamily="2" charset="-122"/>
              </a:rPr>
              <a:t>sw</a:t>
            </a:r>
            <a:r>
              <a:rPr kumimoji="1" lang="zh-CN" altLang="en-US" b="1" dirty="0">
                <a:latin typeface="宋体" panose="02010600030101010101" pitchFamily="2" charset="-122"/>
              </a:rPr>
              <a:t>的</a:t>
            </a:r>
            <a:r>
              <a:rPr kumimoji="1" lang="en-US" altLang="zh-CN" b="1" dirty="0">
                <a:latin typeface="宋体" panose="02010600030101010101" pitchFamily="2" charset="-122"/>
              </a:rPr>
              <a:t>12</a:t>
            </a:r>
            <a:r>
              <a:rPr kumimoji="1" lang="zh-CN" altLang="en-US" b="1" dirty="0">
                <a:latin typeface="宋体" panose="02010600030101010101" pitchFamily="2" charset="-122"/>
              </a:rPr>
              <a:t>位格式不同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kumimoji="1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组成：</a:t>
            </a:r>
            <a:endParaRPr kumimoji="1"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52" name="Text Box 116"/>
          <p:cNvSpPr txBox="1">
            <a:spLocks noChangeArrowheads="1"/>
          </p:cNvSpPr>
          <p:nvPr/>
        </p:nvSpPr>
        <p:spPr bwMode="auto">
          <a:xfrm>
            <a:off x="152400" y="836712"/>
            <a:ext cx="8878396" cy="1195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kumimoji="1"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、功能部件设计  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子模块功能→部件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200" b="1" dirty="0">
                <a:latin typeface="宋体" panose="02010600030101010101" pitchFamily="2" charset="-122"/>
              </a:rPr>
              <a:t>   模块有运算部件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数据操作</a:t>
            </a:r>
            <a:r>
              <a:rPr kumimoji="1" lang="en-US" altLang="zh-CN" b="1" dirty="0">
                <a:latin typeface="宋体" panose="02010600030101010101" pitchFamily="2" charset="-122"/>
              </a:rPr>
              <a:t>+</a:t>
            </a:r>
            <a:r>
              <a:rPr kumimoji="1" lang="zh-CN" altLang="en-US" b="1" dirty="0">
                <a:latin typeface="宋体" panose="02010600030101010101" pitchFamily="2" charset="-122"/>
              </a:rPr>
              <a:t>指令寻址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GPRs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、指令部件、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BIU+MMU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                             </a:t>
            </a:r>
            <a:r>
              <a:rPr kumimoji="1" lang="zh-CN" altLang="en-US" sz="1600" dirty="0">
                <a:latin typeface="宋体" panose="02010600030101010101" pitchFamily="2" charset="-122"/>
              </a:rPr>
              <a:t>└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←单周期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CPU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需组织成不同部件</a:t>
            </a:r>
            <a:endParaRPr kumimoji="1"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53" name="Text Box 116"/>
          <p:cNvSpPr txBox="1">
            <a:spLocks noChangeArrowheads="1"/>
          </p:cNvSpPr>
          <p:nvPr/>
        </p:nvSpPr>
        <p:spPr bwMode="auto">
          <a:xfrm>
            <a:off x="1835696" y="2960482"/>
            <a:ext cx="3933056" cy="11360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kumimoji="1" lang="zh-CN" altLang="en-US" sz="2200" b="1" dirty="0">
                <a:latin typeface="宋体" panose="02010600030101010101" pitchFamily="2" charset="-122"/>
              </a:rPr>
              <a:t>①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I/O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信号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+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功能表组织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</a:t>
            </a:r>
            <a:r>
              <a:rPr kumimoji="1" lang="en-US" altLang="zh-CN" sz="1600" dirty="0">
                <a:latin typeface="宋体" panose="02010600030101010101" pitchFamily="2" charset="-122"/>
              </a:rPr>
              <a:t>└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←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比较结果可使用</a:t>
            </a:r>
            <a:r>
              <a:rPr kumimoji="1"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数据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/</a:t>
            </a:r>
            <a:r>
              <a:rPr kumimoji="1"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标志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线</a:t>
            </a:r>
            <a:endParaRPr kumimoji="1"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200" b="1" dirty="0">
                <a:latin typeface="宋体" panose="02010600030101010101" pitchFamily="2" charset="-122"/>
              </a:rPr>
              <a:t>②内部逻辑组织</a:t>
            </a:r>
            <a:endParaRPr kumimoji="1"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55" name="Text Box 78"/>
          <p:cNvSpPr txBox="1">
            <a:spLocks noChangeArrowheads="1"/>
          </p:cNvSpPr>
          <p:nvPr/>
        </p:nvSpPr>
        <p:spPr bwMode="auto">
          <a:xfrm>
            <a:off x="179388" y="375047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>
              <a:defRPr kumimoji="1"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三、数据通路设计</a:t>
            </a:r>
            <a:endParaRPr lang="zh-CN" altLang="en-US" sz="2400" dirty="0"/>
          </a:p>
        </p:txBody>
      </p:sp>
      <p:sp>
        <p:nvSpPr>
          <p:cNvPr id="127" name="Text Box 116"/>
          <p:cNvSpPr txBox="1">
            <a:spLocks noChangeArrowheads="1"/>
          </p:cNvSpPr>
          <p:nvPr/>
        </p:nvSpPr>
        <p:spPr bwMode="auto">
          <a:xfrm>
            <a:off x="1835695" y="5085184"/>
            <a:ext cx="7093103" cy="48276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kumimoji="1" lang="zh-CN" altLang="en-US" sz="2200" b="1" dirty="0">
                <a:latin typeface="宋体" panose="02010600030101010101" pitchFamily="2" charset="-122"/>
              </a:rPr>
              <a:t>①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I/O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信号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+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功能表 ②内部逻辑</a:t>
            </a:r>
            <a:r>
              <a:rPr kumimoji="1" lang="zh-CN" altLang="en-US" b="1" dirty="0">
                <a:latin typeface="宋体" panose="02010600030101010101" pitchFamily="2" charset="-122"/>
              </a:rPr>
              <a:t>   </a:t>
            </a:r>
            <a:r>
              <a:rPr lang="zh-CN" altLang="en-US" b="1" dirty="0">
                <a:latin typeface="宋体" panose="02010600030101010101" pitchFamily="2" charset="-122"/>
              </a:rPr>
              <a:t>←</a:t>
            </a:r>
            <a:r>
              <a:rPr kumimoji="1" lang="zh-CN" altLang="en-US" b="1" dirty="0">
                <a:latin typeface="宋体" panose="02010600030101010101" pitchFamily="2" charset="-122"/>
              </a:rPr>
              <a:t>偏移量信号线可为</a:t>
            </a:r>
            <a:r>
              <a:rPr kumimoji="1" lang="en-US" altLang="zh-CN" b="1" dirty="0">
                <a:latin typeface="宋体" panose="02010600030101010101" pitchFamily="2" charset="-122"/>
              </a:rPr>
              <a:t>24</a:t>
            </a:r>
            <a:r>
              <a:rPr kumimoji="1" lang="zh-CN" altLang="en-US" b="1" dirty="0">
                <a:latin typeface="宋体" panose="02010600030101010101" pitchFamily="2" charset="-122"/>
              </a:rPr>
              <a:t>位</a:t>
            </a:r>
            <a:endParaRPr kumimoji="1"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29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5145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1908052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5040799" y="2529112"/>
            <a:ext cx="4067705" cy="1908000"/>
            <a:chOff x="1512000" y="2664735"/>
            <a:chExt cx="4067705" cy="1908000"/>
          </a:xfrm>
        </p:grpSpPr>
        <p:sp>
          <p:nvSpPr>
            <p:cNvPr id="78" name="Text Box 36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268000" y="2664735"/>
              <a:ext cx="2988000" cy="1908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79" name="直接箭头连接符 78"/>
            <p:cNvCxnSpPr/>
            <p:nvPr>
              <p:custDataLst>
                <p:tags r:id="rId3"/>
              </p:custDataLst>
            </p:nvPr>
          </p:nvCxnSpPr>
          <p:spPr bwMode="auto">
            <a:xfrm>
              <a:off x="2196000" y="2808880"/>
              <a:ext cx="64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80" name="Text Box 19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016031" y="3168000"/>
              <a:ext cx="17970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1" name="Text Box 19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016031" y="3636000"/>
              <a:ext cx="17970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2" name="Text Box 19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512000" y="2700000"/>
              <a:ext cx="684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ALUctr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3" name="直接箭头连接符 82"/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2196000" y="3744000"/>
              <a:ext cx="396000" cy="63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02" name="直接箭头连接符 101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2196000" y="3284845"/>
              <a:ext cx="396000" cy="63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3" name="直接箭头连接符 102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5184000" y="3528000"/>
              <a:ext cx="216000" cy="63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4" name="Text Box 19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400000" y="3420000"/>
              <a:ext cx="17970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5868799" y="2564377"/>
            <a:ext cx="2879808" cy="1836000"/>
            <a:chOff x="2340000" y="2700000"/>
            <a:chExt cx="2879808" cy="1836000"/>
          </a:xfrm>
        </p:grpSpPr>
        <p:sp>
          <p:nvSpPr>
            <p:cNvPr id="106" name="Text Box 1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843808" y="2700000"/>
              <a:ext cx="2376000" cy="2159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7780" rIns="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操作控制逻辑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grpSp>
          <p:nvGrpSpPr>
            <p:cNvPr id="107" name="组合 106"/>
            <p:cNvGrpSpPr/>
            <p:nvPr/>
          </p:nvGrpSpPr>
          <p:grpSpPr>
            <a:xfrm>
              <a:off x="4464000" y="2915871"/>
              <a:ext cx="720110" cy="900372"/>
              <a:chOff x="9524" y="5612"/>
              <a:chExt cx="1134" cy="1418"/>
            </a:xfrm>
          </p:grpSpPr>
          <p:sp>
            <p:nvSpPr>
              <p:cNvPr id="146" name="矩形 145"/>
              <p:cNvSpPr/>
              <p:nvPr>
                <p:custDataLst>
                  <p:tags r:id="rId12"/>
                </p:custDataLst>
              </p:nvPr>
            </p:nvSpPr>
            <p:spPr>
              <a:xfrm>
                <a:off x="10148" y="6180"/>
                <a:ext cx="510" cy="850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lIns="0" tIns="0" rIns="36195" bIns="0" rtlCol="0" anchor="ctr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MUX</a:t>
                </a:r>
                <a:endPara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indent="0" algn="ctr" eaLnBrk="1" latinLnBrk="0" hangingPunct="1">
                  <a:lnSpc>
                    <a:spcPct val="6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0 1 2 3</a:t>
                </a:r>
                <a:endParaRPr lang="en-US" altLang="zh-CN" sz="1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cxnSp>
            <p:nvCxnSpPr>
              <p:cNvPr id="147" name="直接箭头连接符 146"/>
              <p:cNvCxnSpPr/>
              <p:nvPr>
                <p:custDataLst>
                  <p:tags r:id="rId13"/>
                </p:custDataLst>
              </p:nvPr>
            </p:nvCxnSpPr>
            <p:spPr bwMode="auto">
              <a:xfrm>
                <a:off x="10431" y="5612"/>
                <a:ext cx="0" cy="56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sp>
            <p:nvSpPr>
              <p:cNvPr id="148" name="Text Box 191"/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9524" y="5669"/>
                <a:ext cx="90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/>
              <a:lstStyle/>
              <a:p>
                <a:pPr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dirty="0" err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Outsrc</a:t>
                </a:r>
                <a:endPara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108" name="Text Box 19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059832" y="2952000"/>
              <a:ext cx="612140" cy="1797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Subctr</a:t>
              </a:r>
              <a:endParaRPr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9" name="直接箭头连接符 108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4320000" y="3456000"/>
              <a:ext cx="540000" cy="63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0" name="直接箭头连接符 109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4320000" y="3456000"/>
              <a:ext cx="0" cy="25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1" name="直接箭头连接符 110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3492050" y="3708000"/>
              <a:ext cx="828000" cy="63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2" name="Text Box 18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592255" y="3528000"/>
              <a:ext cx="899795" cy="28829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或门阵列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3" name="直接箭头连接符 112"/>
            <p:cNvCxnSpPr/>
            <p:nvPr>
              <p:custDataLst>
                <p:tags r:id="rId20"/>
              </p:custDataLst>
            </p:nvPr>
          </p:nvCxnSpPr>
          <p:spPr bwMode="auto">
            <a:xfrm flipH="1" flipV="1">
              <a:off x="2412000" y="3384000"/>
              <a:ext cx="0" cy="36004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14" name="直接箭头连接符 113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2340000" y="3600000"/>
              <a:ext cx="252000" cy="63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15" name="直接箭头连接符 114"/>
            <p:cNvCxnSpPr/>
            <p:nvPr>
              <p:custDataLst>
                <p:tags r:id="rId22"/>
              </p:custDataLst>
            </p:nvPr>
          </p:nvCxnSpPr>
          <p:spPr bwMode="auto">
            <a:xfrm>
              <a:off x="2340000" y="3284069"/>
              <a:ext cx="0" cy="32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16" name="矩形 115"/>
            <p:cNvSpPr/>
            <p:nvPr>
              <p:custDataLst>
                <p:tags r:id="rId23"/>
              </p:custDataLst>
            </p:nvPr>
          </p:nvSpPr>
          <p:spPr>
            <a:xfrm>
              <a:off x="2592255" y="3176119"/>
              <a:ext cx="899795" cy="288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加减法器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17" name="直接箭头连接符 116"/>
            <p:cNvCxnSpPr/>
            <p:nvPr>
              <p:custDataLst>
                <p:tags r:id="rId24"/>
              </p:custDataLst>
            </p:nvPr>
          </p:nvCxnSpPr>
          <p:spPr bwMode="auto">
            <a:xfrm>
              <a:off x="3024000" y="2916000"/>
              <a:ext cx="0" cy="25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118" name="直接箭头连接符 117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2412000" y="3384000"/>
              <a:ext cx="180000" cy="63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1" name="直接箭头连接符 130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3492000" y="3348000"/>
              <a:ext cx="1368000" cy="63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2" name="直接箭头连接符 131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4680000" y="3600000"/>
              <a:ext cx="180000" cy="63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3" name="直接箭头连接符 132"/>
            <p:cNvCxnSpPr/>
            <p:nvPr>
              <p:custDataLst>
                <p:tags r:id="rId28"/>
              </p:custDataLst>
            </p:nvPr>
          </p:nvCxnSpPr>
          <p:spPr bwMode="auto">
            <a:xfrm>
              <a:off x="3888000" y="2915999"/>
              <a:ext cx="0" cy="10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34" name="矩形 133"/>
            <p:cNvSpPr/>
            <p:nvPr>
              <p:custDataLst>
                <p:tags r:id="rId29"/>
              </p:custDataLst>
            </p:nvPr>
          </p:nvSpPr>
          <p:spPr>
            <a:xfrm>
              <a:off x="3780000" y="3996000"/>
              <a:ext cx="324000" cy="4318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36195" bIns="0" rtlCol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MUX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indent="0" algn="ctr" eaLnBrk="1" latinLnBrk="0" hangingPunct="1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0   1</a:t>
              </a:r>
              <a:endParaRPr lang="en-US" altLang="zh-CN" sz="1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35" name="直接箭头连接符 134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4104000" y="4212000"/>
              <a:ext cx="144145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6" name="矩形 135"/>
            <p:cNvSpPr/>
            <p:nvPr>
              <p:custDataLst>
                <p:tags r:id="rId31"/>
              </p:custDataLst>
            </p:nvPr>
          </p:nvSpPr>
          <p:spPr>
            <a:xfrm>
              <a:off x="4248000" y="3780000"/>
              <a:ext cx="288290" cy="72009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零扩展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37" name="直接箭头连接符 136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4536000" y="421200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4680000" y="3600000"/>
              <a:ext cx="0" cy="61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9" name="Text Box 19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3924000" y="3096886"/>
              <a:ext cx="576000" cy="1797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Cmpsrc</a:t>
              </a:r>
              <a:endParaRPr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0" name="矩形 139"/>
            <p:cNvSpPr/>
            <p:nvPr>
              <p:custDataLst>
                <p:tags r:id="rId35"/>
              </p:custDataLst>
            </p:nvPr>
          </p:nvSpPr>
          <p:spPr>
            <a:xfrm>
              <a:off x="2592000" y="3888000"/>
              <a:ext cx="900000" cy="288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小于比较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41" name="矩形 140"/>
            <p:cNvSpPr/>
            <p:nvPr>
              <p:custDataLst>
                <p:tags r:id="rId36"/>
              </p:custDataLst>
            </p:nvPr>
          </p:nvSpPr>
          <p:spPr>
            <a:xfrm>
              <a:off x="2592000" y="4248000"/>
              <a:ext cx="900000" cy="288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相等比较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42" name="直接箭头连接符 141"/>
            <p:cNvCxnSpPr/>
            <p:nvPr>
              <p:custDataLst>
                <p:tags r:id="rId37"/>
              </p:custDataLst>
            </p:nvPr>
          </p:nvCxnSpPr>
          <p:spPr bwMode="auto">
            <a:xfrm>
              <a:off x="3492510" y="4032000"/>
              <a:ext cx="287180" cy="7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3" name="直接箭头连接符 142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3492000" y="4320000"/>
              <a:ext cx="288000" cy="7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4" name="直接箭头连接符 143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2411760" y="4032000"/>
              <a:ext cx="180000" cy="63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5" name="直接箭头连接符 144"/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2411760" y="4392000"/>
              <a:ext cx="180000" cy="63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49" name="Text Box 116"/>
          <p:cNvSpPr txBox="1">
            <a:spLocks noChangeArrowheads="1"/>
          </p:cNvSpPr>
          <p:nvPr/>
        </p:nvSpPr>
        <p:spPr bwMode="auto">
          <a:xfrm>
            <a:off x="2360239" y="4149112"/>
            <a:ext cx="327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pPr marL="269875" indent="-269875">
              <a:lnSpc>
                <a:spcPct val="90000"/>
              </a:lnSpc>
            </a:pPr>
            <a:r>
              <a:rPr kumimoji="1"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比较如何实现较省成本？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3" name="表格 62"/>
          <p:cNvGraphicFramePr>
            <a:graphicFrameLocks noGrp="1"/>
          </p:cNvGraphicFramePr>
          <p:nvPr>
            <p:custDataLst>
              <p:tags r:id="rId41"/>
            </p:custDataLst>
          </p:nvPr>
        </p:nvGraphicFramePr>
        <p:xfrm>
          <a:off x="1475656" y="5589240"/>
          <a:ext cx="5400600" cy="660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/>
                <a:gridCol w="1152128"/>
                <a:gridCol w="1440160"/>
                <a:gridCol w="1872208"/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控制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零扩展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符号扩展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符号扩展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430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输出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0…0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600" b="1" baseline="-14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6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en-US" altLang="zh-CN" sz="16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600" b="1" baseline="-14000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…D</a:t>
                      </a:r>
                      <a:r>
                        <a:rPr lang="en-US" altLang="zh-CN" sz="1600" b="1" baseline="-14000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600" b="1" baseline="-14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6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en-US" altLang="zh-CN" sz="16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600" b="1" baseline="-14000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…D</a:t>
                      </a:r>
                      <a:r>
                        <a:rPr lang="en-US" altLang="zh-CN" sz="1600" b="1" baseline="-14000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600" b="1" baseline="-14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6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600" b="1" baseline="-14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600" b="1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" name="Text Box 116"/>
          <p:cNvSpPr txBox="1">
            <a:spLocks noChangeArrowheads="1"/>
          </p:cNvSpPr>
          <p:nvPr/>
        </p:nvSpPr>
        <p:spPr bwMode="auto">
          <a:xfrm>
            <a:off x="7020272" y="5640936"/>
            <a:ext cx="2051749" cy="576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pPr marL="269875" indent="-269875">
              <a:lnSpc>
                <a:spcPct val="90000"/>
              </a:lnSpc>
            </a:pPr>
            <a:r>
              <a:rPr kumimoji="1"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偏移量为</a:t>
            </a:r>
            <a:r>
              <a:rPr lang="en-US" altLang="zh-CN" sz="1800" b="1" dirty="0">
                <a:latin typeface="宋体" panose="02010600030101010101" pitchFamily="2" charset="-122"/>
              </a:rPr>
              <a:t>24</a:t>
            </a:r>
            <a:r>
              <a:rPr lang="zh-CN" altLang="en-US" sz="1800" b="1" dirty="0">
                <a:latin typeface="宋体" panose="02010600030101010101" pitchFamily="2" charset="-122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</a:rPr>
              <a:t>/12</a:t>
            </a:r>
            <a:r>
              <a:rPr lang="zh-CN" altLang="en-US" sz="1800" b="1" dirty="0">
                <a:latin typeface="宋体" panose="02010600030101010101" pitchFamily="2" charset="-122"/>
              </a:rPr>
              <a:t>位的利弊？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57" name="AutoShape 62">
            <a:hlinkClick r:id="rId42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127" grpId="0"/>
      <p:bldP spid="149" grpId="0" bldLvl="0" animBg="1"/>
      <p:bldP spid="56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051720" y="3609200"/>
            <a:ext cx="3996000" cy="1620000"/>
            <a:chOff x="2412000" y="3528000"/>
            <a:chExt cx="3996000" cy="1620000"/>
          </a:xfrm>
        </p:grpSpPr>
        <p:sp>
          <p:nvSpPr>
            <p:cNvPr id="62" name="矩形 61"/>
            <p:cNvSpPr/>
            <p:nvPr/>
          </p:nvSpPr>
          <p:spPr>
            <a:xfrm>
              <a:off x="2844000" y="3780000"/>
              <a:ext cx="3096000" cy="136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960000" y="3528000"/>
              <a:ext cx="133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Jmp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Brn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 Cond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048000" y="4320000"/>
              <a:ext cx="360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NPC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65" name="直接连接符 64"/>
            <p:cNvCxnSpPr/>
            <p:nvPr/>
          </p:nvCxnSpPr>
          <p:spPr bwMode="auto">
            <a:xfrm flipH="1">
              <a:off x="4932000" y="3744000"/>
              <a:ext cx="1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66" name="直接连接符 65"/>
            <p:cNvCxnSpPr/>
            <p:nvPr/>
          </p:nvCxnSpPr>
          <p:spPr bwMode="auto">
            <a:xfrm flipH="1">
              <a:off x="4572000" y="3744000"/>
              <a:ext cx="1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67" name="TextBox 66"/>
            <p:cNvSpPr txBox="1"/>
            <p:nvPr/>
          </p:nvSpPr>
          <p:spPr>
            <a:xfrm>
              <a:off x="2412000" y="4644000"/>
              <a:ext cx="360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imm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412000" y="4068000"/>
              <a:ext cx="360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PC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69" name="直接连接符 68"/>
            <p:cNvCxnSpPr/>
            <p:nvPr/>
          </p:nvCxnSpPr>
          <p:spPr bwMode="auto">
            <a:xfrm flipH="1">
              <a:off x="3024000" y="4104000"/>
              <a:ext cx="72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0" name="TextBox 69"/>
            <p:cNvSpPr txBox="1"/>
            <p:nvPr/>
          </p:nvSpPr>
          <p:spPr>
            <a:xfrm>
              <a:off x="2844000" y="3960000"/>
              <a:ext cx="252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32</a:t>
              </a:r>
              <a:endParaRPr lang="zh-CN" altLang="en-US" sz="1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1" name="直接连接符 70"/>
            <p:cNvCxnSpPr/>
            <p:nvPr/>
          </p:nvCxnSpPr>
          <p:spPr bwMode="auto">
            <a:xfrm flipH="1">
              <a:off x="3024000" y="4716000"/>
              <a:ext cx="72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2" name="TextBox 71"/>
            <p:cNvSpPr txBox="1"/>
            <p:nvPr/>
          </p:nvSpPr>
          <p:spPr>
            <a:xfrm>
              <a:off x="2844000" y="4572000"/>
              <a:ext cx="252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25</a:t>
              </a:r>
              <a:endParaRPr lang="zh-CN" altLang="en-US" sz="1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3" name="直接连接符 72"/>
            <p:cNvCxnSpPr/>
            <p:nvPr/>
          </p:nvCxnSpPr>
          <p:spPr bwMode="auto">
            <a:xfrm>
              <a:off x="2772000" y="4176000"/>
              <a:ext cx="2538000" cy="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4" name="直接连接符 73"/>
            <p:cNvCxnSpPr/>
            <p:nvPr/>
          </p:nvCxnSpPr>
          <p:spPr bwMode="auto">
            <a:xfrm flipV="1">
              <a:off x="5616000" y="4464000"/>
              <a:ext cx="432000" cy="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5" name="直接连接符 74"/>
            <p:cNvCxnSpPr/>
            <p:nvPr/>
          </p:nvCxnSpPr>
          <p:spPr bwMode="auto">
            <a:xfrm>
              <a:off x="2772000" y="4788000"/>
              <a:ext cx="468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6" name="直接连接符 75"/>
            <p:cNvCxnSpPr/>
            <p:nvPr/>
          </p:nvCxnSpPr>
          <p:spPr bwMode="auto">
            <a:xfrm flipH="1">
              <a:off x="5832000" y="4392000"/>
              <a:ext cx="72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7" name="TextBox 76"/>
            <p:cNvSpPr txBox="1"/>
            <p:nvPr/>
          </p:nvSpPr>
          <p:spPr>
            <a:xfrm>
              <a:off x="5652000" y="4248000"/>
              <a:ext cx="252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32</a:t>
              </a:r>
              <a:endParaRPr lang="zh-CN" altLang="en-US" sz="1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8" name="直接连接符 57"/>
            <p:cNvCxnSpPr/>
            <p:nvPr/>
          </p:nvCxnSpPr>
          <p:spPr bwMode="auto">
            <a:xfrm flipH="1">
              <a:off x="4176000" y="3744000"/>
              <a:ext cx="1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22" name="Text Box 116"/>
          <p:cNvSpPr txBox="1">
            <a:spLocks noChangeArrowheads="1"/>
          </p:cNvSpPr>
          <p:nvPr/>
        </p:nvSpPr>
        <p:spPr bwMode="auto">
          <a:xfrm>
            <a:off x="179263" y="404664"/>
            <a:ext cx="8857233" cy="2591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*指令寻址操作的部件设计： </a:t>
            </a:r>
            <a:r>
              <a:rPr kumimoji="1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—ACU</a:t>
            </a:r>
            <a:r>
              <a:rPr kumimoji="1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地址计算单元</a:t>
            </a:r>
            <a:r>
              <a:rPr kumimoji="1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kumimoji="1"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功能</a:t>
            </a:r>
            <a:r>
              <a:rPr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r>
              <a:rPr lang="zh-CN" altLang="en-US" sz="2200" b="1" dirty="0">
                <a:latin typeface="+mn-ea"/>
                <a:ea typeface="+mn-ea"/>
              </a:rPr>
              <a:t>实现指令寻址操作，即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  J</a:t>
            </a:r>
            <a:r>
              <a:rPr lang="zh-CN" altLang="en-US" sz="2200" b="1" dirty="0">
                <a:latin typeface="宋体" panose="02010600030101010101" pitchFamily="2" charset="-122"/>
              </a:rPr>
              <a:t>型指令时，    </a:t>
            </a:r>
            <a:r>
              <a:rPr lang="en-US" altLang="zh-CN" sz="2200" b="1" dirty="0">
                <a:latin typeface="宋体" panose="02010600030101010101" pitchFamily="2" charset="-122"/>
              </a:rPr>
              <a:t>NPC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(PC)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en-US" altLang="zh-CN" sz="2200" b="1" dirty="0" err="1">
                <a:latin typeface="宋体" panose="02010600030101010101" pitchFamily="2" charset="-122"/>
              </a:rPr>
              <a:t>SExt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>
                <a:latin typeface="宋体" panose="02010600030101010101" pitchFamily="2" charset="-122"/>
              </a:rPr>
              <a:t>imm</a:t>
            </a:r>
            <a:r>
              <a:rPr lang="en-US" altLang="zh-CN" sz="2200" b="1" dirty="0">
                <a:latin typeface="宋体" panose="02010600030101010101" pitchFamily="2" charset="-122"/>
              </a:rPr>
              <a:t>&lt;&lt;1)</a:t>
            </a:r>
            <a:r>
              <a:rPr lang="zh-CN" altLang="en-US" sz="2200" b="1" dirty="0">
                <a:latin typeface="宋体" panose="02010600030101010101" pitchFamily="2" charset="-122"/>
              </a:rPr>
              <a:t>， </a:t>
            </a:r>
            <a:r>
              <a:rPr lang="zh-CN" altLang="en-US" b="1" dirty="0">
                <a:latin typeface="宋体" panose="02010600030101010101" pitchFamily="2" charset="-122"/>
              </a:rPr>
              <a:t>←</a:t>
            </a:r>
            <a:r>
              <a:rPr lang="en-US" altLang="zh-CN" b="1" dirty="0" err="1">
                <a:latin typeface="宋体" panose="02010600030101010101" pitchFamily="2" charset="-122"/>
              </a:rPr>
              <a:t>imm</a:t>
            </a:r>
            <a:r>
              <a:rPr lang="zh-CN" altLang="en-US" b="1" dirty="0">
                <a:latin typeface="宋体" panose="02010600030101010101" pitchFamily="2" charset="-122"/>
              </a:rPr>
              <a:t>为</a:t>
            </a:r>
            <a:r>
              <a:rPr lang="en-US" altLang="zh-CN" b="1" dirty="0">
                <a:latin typeface="宋体" panose="02010600030101010101" pitchFamily="2" charset="-122"/>
              </a:rPr>
              <a:t>20b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  </a:t>
            </a:r>
            <a:r>
              <a:rPr lang="en-US" altLang="zh-CN" sz="2200" b="1" dirty="0">
                <a:latin typeface="宋体" panose="02010600030101010101" pitchFamily="2" charset="-122"/>
              </a:rPr>
              <a:t>       B</a:t>
            </a:r>
            <a:r>
              <a:rPr lang="zh-CN" altLang="en-US" sz="2200" b="1" dirty="0">
                <a:latin typeface="宋体" panose="02010600030101010101" pitchFamily="2" charset="-122"/>
              </a:rPr>
              <a:t>型指令转移时，</a:t>
            </a:r>
            <a:r>
              <a:rPr lang="en-US" altLang="zh-CN" sz="2200" b="1" dirty="0">
                <a:latin typeface="宋体" panose="02010600030101010101" pitchFamily="2" charset="-122"/>
              </a:rPr>
              <a:t>NPC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(PC)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en-US" altLang="zh-CN" sz="2200" b="1" dirty="0" err="1">
                <a:latin typeface="宋体" panose="02010600030101010101" pitchFamily="2" charset="-122"/>
              </a:rPr>
              <a:t>SExt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>
                <a:latin typeface="宋体" panose="02010600030101010101" pitchFamily="2" charset="-122"/>
              </a:rPr>
              <a:t>imm</a:t>
            </a:r>
            <a:r>
              <a:rPr lang="en-US" altLang="zh-CN" sz="2200" b="1" dirty="0">
                <a:latin typeface="宋体" panose="02010600030101010101" pitchFamily="2" charset="-122"/>
              </a:rPr>
              <a:t>&lt;&lt;1)</a:t>
            </a:r>
            <a:r>
              <a:rPr lang="zh-CN" altLang="en-US" sz="2200" b="1" dirty="0">
                <a:latin typeface="宋体" panose="02010600030101010101" pitchFamily="2" charset="-122"/>
              </a:rPr>
              <a:t>， </a:t>
            </a:r>
            <a:r>
              <a:rPr lang="zh-CN" altLang="en-US" b="1" dirty="0">
                <a:latin typeface="宋体" panose="02010600030101010101" pitchFamily="2" charset="-122"/>
              </a:rPr>
              <a:t>←</a:t>
            </a:r>
            <a:r>
              <a:rPr lang="en-US" altLang="zh-CN" b="1" dirty="0" err="1">
                <a:latin typeface="宋体" panose="02010600030101010101" pitchFamily="2" charset="-122"/>
              </a:rPr>
              <a:t>imm</a:t>
            </a:r>
            <a:r>
              <a:rPr lang="zh-CN" altLang="en-US" b="1" dirty="0">
                <a:latin typeface="宋体" panose="02010600030101010101" pitchFamily="2" charset="-122"/>
              </a:rPr>
              <a:t>为</a:t>
            </a:r>
            <a:r>
              <a:rPr lang="en-US" altLang="zh-CN" b="1" dirty="0">
                <a:latin typeface="宋体" panose="02010600030101010101" pitchFamily="2" charset="-122"/>
              </a:rPr>
              <a:t>12b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r>
              <a:rPr lang="zh-CN" altLang="en-US" sz="2200" b="1" dirty="0">
                <a:latin typeface="宋体" panose="02010600030101010101" pitchFamily="2" charset="-122"/>
              </a:rPr>
              <a:t>                     否则，</a:t>
            </a:r>
            <a:r>
              <a:rPr lang="en-US" altLang="zh-CN" sz="2200" b="1" dirty="0">
                <a:latin typeface="宋体" panose="02010600030101010101" pitchFamily="2" charset="-122"/>
              </a:rPr>
              <a:t>NPC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(PC)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en-US" altLang="zh-CN" sz="2200" b="1" dirty="0">
                <a:latin typeface="宋体" panose="02010600030101010101" pitchFamily="2" charset="-122"/>
              </a:rPr>
              <a:t>4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组成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23" name="Text Box 116"/>
          <p:cNvSpPr txBox="1">
            <a:spLocks noChangeArrowheads="1"/>
          </p:cNvSpPr>
          <p:nvPr/>
        </p:nvSpPr>
        <p:spPr bwMode="auto">
          <a:xfrm>
            <a:off x="1691680" y="2499390"/>
            <a:ext cx="7056784" cy="110216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latin typeface="宋体" panose="02010600030101010101" pitchFamily="2" charset="-122"/>
              </a:rPr>
              <a:t>①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I/O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信号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+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功能表组织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1600" b="1" dirty="0">
                <a:latin typeface="宋体" panose="02010600030101010101" pitchFamily="2" charset="-122"/>
              </a:rPr>
              <a:t>     </a:t>
            </a:r>
            <a:r>
              <a:rPr kumimoji="1" lang="en-US" altLang="zh-CN" sz="1600" dirty="0">
                <a:latin typeface="宋体" panose="02010600030101010101" pitchFamily="2" charset="-122"/>
              </a:rPr>
              <a:t>└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+mn-ea"/>
              </a:rPr>
              <a:t>多种功能时信号线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</a:rPr>
              <a:t>尽量复用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</a:rPr>
              <a:t>并集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</a:rPr>
              <a:t>)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→数据通路连线简单</a:t>
            </a:r>
            <a:endParaRPr kumimoji="1" lang="en-US" altLang="zh-CN" sz="16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②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内部逻辑组织</a:t>
            </a:r>
            <a:endParaRPr kumimoji="1"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98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1908000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8" name="AutoShape 32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000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20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506013" y="32339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2879720" y="3969200"/>
            <a:ext cx="2391840" cy="1188000"/>
            <a:chOff x="3240000" y="3888000"/>
            <a:chExt cx="2391840" cy="1188000"/>
          </a:xfrm>
        </p:grpSpPr>
        <p:sp>
          <p:nvSpPr>
            <p:cNvPr id="53" name="矩形 52"/>
            <p:cNvSpPr/>
            <p:nvPr/>
          </p:nvSpPr>
          <p:spPr>
            <a:xfrm>
              <a:off x="4788024" y="4284000"/>
              <a:ext cx="288000" cy="75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18000" tIns="10800" rIns="18000" bIns="10800" rtlCol="0" anchor="t" anchorCtr="1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MUX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4104280" y="3888000"/>
              <a:ext cx="936000" cy="2160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+mn-ea"/>
                </a:rPr>
                <a:t>选择逻辑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3" name="AutoShape 15"/>
            <p:cNvSpPr>
              <a:spLocks noChangeArrowheads="1"/>
            </p:cNvSpPr>
            <p:nvPr/>
          </p:nvSpPr>
          <p:spPr bwMode="auto">
            <a:xfrm rot="16260000">
              <a:off x="5074920" y="4285080"/>
              <a:ext cx="792000" cy="321840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Adder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84" name="直接连接符 83"/>
            <p:cNvCxnSpPr/>
            <p:nvPr/>
          </p:nvCxnSpPr>
          <p:spPr bwMode="auto">
            <a:xfrm>
              <a:off x="4933585" y="4104000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87" name="直接连接符 86"/>
            <p:cNvCxnSpPr/>
            <p:nvPr/>
          </p:nvCxnSpPr>
          <p:spPr bwMode="auto">
            <a:xfrm flipV="1">
              <a:off x="5076000" y="4680000"/>
              <a:ext cx="23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8" name="直接连接符 87"/>
            <p:cNvCxnSpPr/>
            <p:nvPr/>
          </p:nvCxnSpPr>
          <p:spPr bwMode="auto">
            <a:xfrm>
              <a:off x="4319999" y="4356000"/>
              <a:ext cx="468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89" name="TextBox 88"/>
            <p:cNvSpPr txBox="1"/>
            <p:nvPr/>
          </p:nvSpPr>
          <p:spPr>
            <a:xfrm>
              <a:off x="4032000" y="4248000"/>
              <a:ext cx="294992" cy="19869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4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92" name="直接连接符 91"/>
            <p:cNvCxnSpPr/>
            <p:nvPr/>
          </p:nvCxnSpPr>
          <p:spPr bwMode="auto">
            <a:xfrm>
              <a:off x="3240000" y="4500000"/>
              <a:ext cx="157" cy="540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5" name="矩形 94"/>
            <p:cNvSpPr/>
            <p:nvPr/>
          </p:nvSpPr>
          <p:spPr>
            <a:xfrm>
              <a:off x="3600000" y="4500000"/>
              <a:ext cx="936000" cy="25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SL1&amp;SExt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96" name="直接连接符 95"/>
            <p:cNvCxnSpPr/>
            <p:nvPr/>
          </p:nvCxnSpPr>
          <p:spPr bwMode="auto">
            <a:xfrm>
              <a:off x="4536000" y="4644000"/>
              <a:ext cx="25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7" name="直接连接符 96"/>
            <p:cNvCxnSpPr/>
            <p:nvPr/>
          </p:nvCxnSpPr>
          <p:spPr bwMode="auto">
            <a:xfrm>
              <a:off x="3240000" y="4644000"/>
              <a:ext cx="36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9" name="矩形 48"/>
            <p:cNvSpPr/>
            <p:nvPr/>
          </p:nvSpPr>
          <p:spPr bwMode="auto">
            <a:xfrm>
              <a:off x="4788000" y="432000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4788000" y="4932000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3600000" y="4824000"/>
              <a:ext cx="936000" cy="25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SL1&amp;SExt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51" name="直接连接符 50"/>
            <p:cNvCxnSpPr/>
            <p:nvPr/>
          </p:nvCxnSpPr>
          <p:spPr bwMode="auto">
            <a:xfrm>
              <a:off x="4536000" y="4968000"/>
              <a:ext cx="25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2" name="直接连接符 51"/>
            <p:cNvCxnSpPr/>
            <p:nvPr/>
          </p:nvCxnSpPr>
          <p:spPr bwMode="auto">
            <a:xfrm>
              <a:off x="3240000" y="4968000"/>
              <a:ext cx="36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" name="直接连接符 53"/>
            <p:cNvCxnSpPr/>
            <p:nvPr/>
          </p:nvCxnSpPr>
          <p:spPr bwMode="auto">
            <a:xfrm flipH="1">
              <a:off x="3420000" y="4572000"/>
              <a:ext cx="72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5" name="TextBox 69"/>
            <p:cNvSpPr txBox="1"/>
            <p:nvPr/>
          </p:nvSpPr>
          <p:spPr>
            <a:xfrm>
              <a:off x="3240000" y="4428000"/>
              <a:ext cx="252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12</a:t>
              </a:r>
              <a:endParaRPr lang="zh-CN" altLang="en-US" sz="1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 flipH="1">
              <a:off x="3420000" y="4896000"/>
              <a:ext cx="72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7" name="TextBox 69"/>
            <p:cNvSpPr txBox="1"/>
            <p:nvPr/>
          </p:nvSpPr>
          <p:spPr>
            <a:xfrm>
              <a:off x="3240000" y="4752000"/>
              <a:ext cx="252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20</a:t>
              </a:r>
              <a:endParaRPr lang="zh-CN" altLang="en-US" sz="1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59" name="线形标注 2 56"/>
          <p:cNvSpPr/>
          <p:nvPr/>
        </p:nvSpPr>
        <p:spPr bwMode="auto">
          <a:xfrm>
            <a:off x="3860501" y="5805296"/>
            <a:ext cx="1584000" cy="288000"/>
          </a:xfrm>
          <a:prstGeom prst="borderCallout2">
            <a:avLst>
              <a:gd name="adj1" fmla="val 54845"/>
              <a:gd name="adj2" fmla="val -430"/>
              <a:gd name="adj3" fmla="val 56076"/>
              <a:gd name="adj4" fmla="val -11698"/>
              <a:gd name="adj5" fmla="val -242081"/>
              <a:gd name="adj6" fmla="val -2577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+mn-ea"/>
                <a:ea typeface="+mn-ea"/>
              </a:rPr>
              <a:t>无需封装成器件</a:t>
            </a:r>
            <a:endParaRPr lang="en-US" altLang="zh-CN" sz="1600" b="1" dirty="0">
              <a:latin typeface="+mn-ea"/>
              <a:ea typeface="+mn-ea"/>
            </a:endParaRPr>
          </a:p>
        </p:txBody>
      </p:sp>
      <p:sp>
        <p:nvSpPr>
          <p:cNvPr id="60" name="Text Box 116"/>
          <p:cNvSpPr txBox="1">
            <a:spLocks noChangeArrowheads="1"/>
          </p:cNvSpPr>
          <p:nvPr/>
        </p:nvSpPr>
        <p:spPr bwMode="auto">
          <a:xfrm>
            <a:off x="1907704" y="5373216"/>
            <a:ext cx="446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pPr marL="269875" indent="-269875">
              <a:lnSpc>
                <a:spcPct val="90000"/>
              </a:lnSpc>
            </a:pPr>
            <a:r>
              <a:rPr kumimoji="1"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移位位数是常数时，如何简便实现？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78" name="Text Box 116"/>
          <p:cNvSpPr txBox="1">
            <a:spLocks noChangeArrowheads="1"/>
          </p:cNvSpPr>
          <p:nvPr/>
        </p:nvSpPr>
        <p:spPr bwMode="auto">
          <a:xfrm>
            <a:off x="6444208" y="5373216"/>
            <a:ext cx="1980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pPr marL="269875" indent="-269875">
              <a:lnSpc>
                <a:spcPct val="90000"/>
              </a:lnSpc>
            </a:pPr>
            <a:r>
              <a:rPr kumimoji="1" lang="zh-CN" altLang="en-US" sz="1800" b="1" dirty="0">
                <a:latin typeface="宋体" panose="02010600030101010101" pitchFamily="2" charset="-122"/>
              </a:rPr>
              <a:t>用信号线</a:t>
            </a:r>
            <a:r>
              <a:rPr kumimoji="1"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错位拼接</a:t>
            </a:r>
            <a:endParaRPr lang="zh-CN" altLang="en-US" sz="1800" b="1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bldLvl="0" animBg="1"/>
      <p:bldP spid="78" grpId="0" bldLvl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16"/>
          <p:cNvSpPr txBox="1">
            <a:spLocks noChangeArrowheads="1"/>
          </p:cNvSpPr>
          <p:nvPr/>
        </p:nvSpPr>
        <p:spPr bwMode="auto">
          <a:xfrm>
            <a:off x="179512" y="392832"/>
            <a:ext cx="8785225" cy="1303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GPRs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设计：</a:t>
            </a:r>
            <a:endParaRPr kumimoji="1"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功能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有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32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位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×32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个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lang="en-US" altLang="zh-CN" b="1" dirty="0">
                <a:latin typeface="+mn-ea"/>
                <a:cs typeface="Arial Unicode MS" panose="020B0604020202020204" charset="-122"/>
              </a:rPr>
              <a:t>0#</a:t>
            </a:r>
            <a:r>
              <a:rPr lang="zh-CN" altLang="en-US" b="1" dirty="0">
                <a:latin typeface="+mn-ea"/>
                <a:cs typeface="Arial Unicode MS" panose="020B0604020202020204" charset="-122"/>
              </a:rPr>
              <a:t>恒为零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，含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2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个读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+1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个写端口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均仅</a:t>
            </a:r>
            <a:r>
              <a:rPr kumimoji="1" lang="en-US" altLang="zh-CN" b="1" dirty="0">
                <a:latin typeface="宋体" panose="02010600030101010101" pitchFamily="2" charset="-122"/>
              </a:rPr>
              <a:t>32</a:t>
            </a:r>
            <a:r>
              <a:rPr kumimoji="1" lang="zh-CN" altLang="en-US" b="1" dirty="0">
                <a:latin typeface="宋体" panose="02010600030101010101" pitchFamily="2" charset="-122"/>
              </a:rPr>
              <a:t>位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组成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 Box 116"/>
          <p:cNvSpPr txBox="1">
            <a:spLocks noChangeArrowheads="1"/>
          </p:cNvSpPr>
          <p:nvPr/>
        </p:nvSpPr>
        <p:spPr bwMode="auto">
          <a:xfrm>
            <a:off x="179263" y="3429000"/>
            <a:ext cx="8785225" cy="13989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*指令部件设计： 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kumimoji="1"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功能</a:t>
            </a:r>
            <a:r>
              <a:rPr kumimoji="1"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PC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可复位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，</a:t>
            </a:r>
            <a:r>
              <a:rPr lang="zh-CN" altLang="en-US" sz="2200" b="1" u="sng" dirty="0">
                <a:latin typeface="+mn-ea"/>
                <a:ea typeface="+mn-ea"/>
                <a:cs typeface="Arial Unicode MS" panose="020B0604020202020204" charset="-122"/>
              </a:rPr>
              <a:t>指令字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在指令周期结束前</a:t>
            </a:r>
            <a:r>
              <a:rPr lang="zh-CN" altLang="en-US" sz="2200" b="1" u="sng" dirty="0">
                <a:latin typeface="+mn-ea"/>
                <a:ea typeface="+mn-ea"/>
                <a:cs typeface="Arial Unicode MS" panose="020B0604020202020204" charset="-122"/>
              </a:rPr>
              <a:t>保持不变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∵缺省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IR)</a:t>
            </a:r>
            <a:endParaRPr lang="en-US" altLang="zh-CN" sz="2400" b="1" dirty="0">
              <a:latin typeface="+mn-ea"/>
              <a:ea typeface="+mn-ea"/>
              <a:cs typeface="Arial Unicode MS" panose="020B060402020202020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</a:t>
            </a:r>
            <a:r>
              <a:rPr kumimoji="1"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组成</a:t>
            </a:r>
            <a:r>
              <a:rPr kumimoji="1"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kumimoji="1" lang="en-US" altLang="zh-CN" sz="2200" b="1" dirty="0">
              <a:latin typeface="+mn-ea"/>
              <a:ea typeface="+mn-ea"/>
            </a:endParaRPr>
          </a:p>
        </p:txBody>
      </p:sp>
      <p:sp>
        <p:nvSpPr>
          <p:cNvPr id="6" name="Text Box 116"/>
          <p:cNvSpPr txBox="1">
            <a:spLocks noChangeArrowheads="1"/>
          </p:cNvSpPr>
          <p:nvPr/>
        </p:nvSpPr>
        <p:spPr bwMode="auto">
          <a:xfrm>
            <a:off x="1619925" y="4330264"/>
            <a:ext cx="6840760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可复位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PC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，在</a:t>
            </a:r>
            <a:r>
              <a:rPr lang="en-US" altLang="zh-CN" sz="2200" b="1" dirty="0" err="1">
                <a:latin typeface="+mn-ea"/>
                <a:ea typeface="+mn-ea"/>
                <a:cs typeface="Arial Unicode MS" panose="020B0604020202020204" charset="-122"/>
              </a:rPr>
              <a:t>Clk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中部写入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(IMEM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为同步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RAM)</a:t>
            </a:r>
            <a:endParaRPr kumimoji="1" lang="en-US" altLang="zh-CN" sz="2200" b="1" dirty="0">
              <a:latin typeface="+mn-ea"/>
              <a:ea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716016" y="4856984"/>
            <a:ext cx="4104456" cy="841432"/>
            <a:chOff x="4067944" y="3932700"/>
            <a:chExt cx="4104456" cy="841432"/>
          </a:xfrm>
        </p:grpSpPr>
        <p:sp>
          <p:nvSpPr>
            <p:cNvPr id="8" name="TextBox 7"/>
            <p:cNvSpPr txBox="1"/>
            <p:nvPr/>
          </p:nvSpPr>
          <p:spPr>
            <a:xfrm>
              <a:off x="4067944" y="3933412"/>
              <a:ext cx="1091158" cy="84072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/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algn="r">
                <a:spcBef>
                  <a:spcPts val="300"/>
                </a:spcBef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异步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)IMEM</a:t>
              </a:r>
              <a:endParaRPr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algn="r">
                <a:spcBef>
                  <a:spcPts val="300"/>
                </a:spcBef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PC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5292080" y="3932700"/>
              <a:ext cx="1080120" cy="712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292080" y="3933056"/>
              <a:ext cx="0" cy="21638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5210520" y="4149436"/>
              <a:ext cx="8156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292080" y="4221444"/>
              <a:ext cx="288032" cy="24262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旧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80111" y="4509476"/>
              <a:ext cx="1872209" cy="24262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旧值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92080" y="4509476"/>
              <a:ext cx="288032" cy="24262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ysDash"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740352" y="4509476"/>
              <a:ext cx="432048" cy="24262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7452320" y="3933412"/>
              <a:ext cx="0" cy="21638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5580112" y="4221444"/>
              <a:ext cx="1872208" cy="242621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prstDash val="solid"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>
                  <a:latin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1600" b="1" dirty="0">
                  <a:latin typeface="+mn-ea"/>
                  <a:cs typeface="Times New Roman" panose="02020603050405020304" pitchFamily="18" charset="0"/>
                </a:rPr>
                <a:t>输出依赖于地址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)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6372201" y="3933412"/>
              <a:ext cx="0" cy="21638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6372200" y="4149080"/>
              <a:ext cx="108012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452320" y="3933323"/>
              <a:ext cx="720080" cy="89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7452320" y="4509120"/>
              <a:ext cx="288032" cy="24262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 flipH="1">
              <a:off x="6372200" y="3932700"/>
              <a:ext cx="1" cy="16200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5292080" y="3987080"/>
              <a:ext cx="0" cy="16200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V="1">
              <a:off x="7452320" y="3987080"/>
              <a:ext cx="0" cy="16200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899592" y="4856984"/>
            <a:ext cx="3672408" cy="841076"/>
            <a:chOff x="251520" y="3932700"/>
            <a:chExt cx="3672408" cy="841076"/>
          </a:xfrm>
        </p:grpSpPr>
        <p:sp>
          <p:nvSpPr>
            <p:cNvPr id="26" name="TextBox 25"/>
            <p:cNvSpPr txBox="1"/>
            <p:nvPr/>
          </p:nvSpPr>
          <p:spPr>
            <a:xfrm>
              <a:off x="251520" y="3933056"/>
              <a:ext cx="1091158" cy="84072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/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algn="r">
                <a:spcBef>
                  <a:spcPts val="300"/>
                </a:spcBef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同步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)IMEM</a:t>
              </a:r>
              <a:endParaRPr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algn="r">
                <a:spcBef>
                  <a:spcPts val="300"/>
                </a:spcBef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PC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1475656" y="3933056"/>
              <a:ext cx="1080120" cy="35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1475656" y="3932700"/>
              <a:ext cx="0" cy="21638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1394096" y="4149080"/>
              <a:ext cx="8156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1475656" y="4221088"/>
              <a:ext cx="288032" cy="242621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prstDash val="solid"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475656" y="4509120"/>
              <a:ext cx="1080120" cy="24262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旧值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763686" y="4221088"/>
              <a:ext cx="1872209" cy="24262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与地址无关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)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555776" y="4509120"/>
              <a:ext cx="288032" cy="24262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843808" y="4509120"/>
              <a:ext cx="792088" cy="24262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>
              <a:off x="3635896" y="3933056"/>
              <a:ext cx="0" cy="21638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3635896" y="4221088"/>
              <a:ext cx="288032" cy="242621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prstDash val="solid"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2555776" y="3933056"/>
              <a:ext cx="0" cy="21638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2555776" y="4149080"/>
              <a:ext cx="1080120" cy="712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3635896" y="3933056"/>
              <a:ext cx="28803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2555776" y="3933056"/>
              <a:ext cx="1" cy="16200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1475656" y="3987436"/>
              <a:ext cx="0" cy="16200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V="1">
              <a:off x="3635896" y="3987436"/>
              <a:ext cx="0" cy="16200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2003933" y="1340768"/>
            <a:ext cx="3900100" cy="2054250"/>
            <a:chOff x="2105778" y="980728"/>
            <a:chExt cx="3900100" cy="2054250"/>
          </a:xfrm>
        </p:grpSpPr>
        <p:sp>
          <p:nvSpPr>
            <p:cNvPr id="44" name="矩形 43"/>
            <p:cNvSpPr/>
            <p:nvPr/>
          </p:nvSpPr>
          <p:spPr>
            <a:xfrm>
              <a:off x="2627784" y="980728"/>
              <a:ext cx="2982165" cy="201141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147796" y="2013854"/>
              <a:ext cx="335972" cy="263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rW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717845" y="1395216"/>
              <a:ext cx="288033" cy="2381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dA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7" name="直接连接符 46"/>
            <p:cNvCxnSpPr/>
            <p:nvPr/>
          </p:nvCxnSpPr>
          <p:spPr bwMode="auto">
            <a:xfrm>
              <a:off x="5501845" y="1539232"/>
              <a:ext cx="216024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8" name="TextBox 47"/>
            <p:cNvSpPr txBox="1"/>
            <p:nvPr/>
          </p:nvSpPr>
          <p:spPr>
            <a:xfrm>
              <a:off x="5717845" y="1989764"/>
              <a:ext cx="288033" cy="2381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dB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5501845" y="2133780"/>
              <a:ext cx="216024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0" name="直接连接符 49"/>
            <p:cNvCxnSpPr/>
            <p:nvPr/>
          </p:nvCxnSpPr>
          <p:spPr bwMode="auto">
            <a:xfrm flipV="1">
              <a:off x="2483768" y="2132856"/>
              <a:ext cx="288032" cy="92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1" name="直接箭头连接符 92"/>
            <p:cNvCxnSpPr/>
            <p:nvPr/>
          </p:nvCxnSpPr>
          <p:spPr bwMode="auto">
            <a:xfrm flipV="1">
              <a:off x="2483768" y="2420888"/>
              <a:ext cx="432048" cy="113052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" name="直接连接符 51"/>
            <p:cNvCxnSpPr/>
            <p:nvPr/>
          </p:nvCxnSpPr>
          <p:spPr bwMode="auto">
            <a:xfrm>
              <a:off x="2483768" y="1628799"/>
              <a:ext cx="1296144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" name="直接连接符 115"/>
            <p:cNvCxnSpPr/>
            <p:nvPr/>
          </p:nvCxnSpPr>
          <p:spPr bwMode="auto">
            <a:xfrm flipV="1">
              <a:off x="2483768" y="2492897"/>
              <a:ext cx="1512168" cy="216023"/>
            </a:xfrm>
            <a:prstGeom prst="bentConnector3">
              <a:avLst>
                <a:gd name="adj1" fmla="val 100139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54" name="TextBox 53"/>
            <p:cNvSpPr txBox="1"/>
            <p:nvPr/>
          </p:nvSpPr>
          <p:spPr>
            <a:xfrm>
              <a:off x="2172599" y="2373894"/>
              <a:ext cx="311169" cy="263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Wr</a:t>
              </a:r>
              <a:endParaRPr lang="zh-CN" altLang="en-US" sz="16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05778" y="2564904"/>
              <a:ext cx="377990" cy="263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147796" y="1484784"/>
              <a:ext cx="335972" cy="263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dW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7" name="直接连接符 149"/>
            <p:cNvCxnSpPr/>
            <p:nvPr/>
          </p:nvCxnSpPr>
          <p:spPr bwMode="auto">
            <a:xfrm>
              <a:off x="2483768" y="1097999"/>
              <a:ext cx="2910156" cy="184431"/>
            </a:xfrm>
            <a:prstGeom prst="bentConnector3">
              <a:avLst>
                <a:gd name="adj1" fmla="val 100041"/>
              </a:avLst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8" name="直接连接符 151"/>
            <p:cNvCxnSpPr/>
            <p:nvPr/>
          </p:nvCxnSpPr>
          <p:spPr bwMode="auto">
            <a:xfrm flipV="1">
              <a:off x="2483768" y="2353694"/>
              <a:ext cx="2910157" cy="541422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59" name="TextBox 58"/>
            <p:cNvSpPr txBox="1"/>
            <p:nvPr/>
          </p:nvSpPr>
          <p:spPr>
            <a:xfrm>
              <a:off x="2147796" y="980728"/>
              <a:ext cx="335972" cy="2554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rA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147796" y="2771960"/>
              <a:ext cx="335972" cy="263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rB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2645887" y="1569538"/>
            <a:ext cx="2766141" cy="1499423"/>
            <a:chOff x="2771800" y="1209498"/>
            <a:chExt cx="2766141" cy="1499423"/>
          </a:xfrm>
        </p:grpSpPr>
        <p:sp>
          <p:nvSpPr>
            <p:cNvPr id="63" name="矩形 62"/>
            <p:cNvSpPr/>
            <p:nvPr/>
          </p:nvSpPr>
          <p:spPr>
            <a:xfrm>
              <a:off x="3779912" y="2204864"/>
              <a:ext cx="648072" cy="288032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R31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4" name="Text Box 18"/>
            <p:cNvSpPr txBox="1">
              <a:spLocks noChangeArrowheads="1"/>
            </p:cNvSpPr>
            <p:nvPr/>
          </p:nvSpPr>
          <p:spPr bwMode="auto">
            <a:xfrm rot="16200000">
              <a:off x="3989235" y="1526136"/>
              <a:ext cx="288032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 rot="16200000">
              <a:off x="5148731" y="1383607"/>
              <a:ext cx="490386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MUX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6" name="矩形 65"/>
            <p:cNvSpPr/>
            <p:nvPr/>
          </p:nvSpPr>
          <p:spPr bwMode="auto">
            <a:xfrm>
              <a:off x="5249907" y="1323208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矩形 66"/>
            <p:cNvSpPr/>
            <p:nvPr/>
          </p:nvSpPr>
          <p:spPr bwMode="auto">
            <a:xfrm>
              <a:off x="5258291" y="1645875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 rot="16200000">
              <a:off x="5148732" y="1964485"/>
              <a:ext cx="490386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MUX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9" name="矩形 68"/>
            <p:cNvSpPr/>
            <p:nvPr/>
          </p:nvSpPr>
          <p:spPr bwMode="auto">
            <a:xfrm>
              <a:off x="5249908" y="1904836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" name="矩形 69"/>
            <p:cNvSpPr/>
            <p:nvPr/>
          </p:nvSpPr>
          <p:spPr bwMode="auto">
            <a:xfrm>
              <a:off x="5258292" y="2223348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71" name="直接连接符 70"/>
            <p:cNvCxnSpPr/>
            <p:nvPr/>
          </p:nvCxnSpPr>
          <p:spPr bwMode="auto">
            <a:xfrm flipV="1">
              <a:off x="5001303" y="1359212"/>
              <a:ext cx="248605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直接连接符 71"/>
            <p:cNvCxnSpPr/>
            <p:nvPr/>
          </p:nvCxnSpPr>
          <p:spPr bwMode="auto">
            <a:xfrm flipV="1">
              <a:off x="5001303" y="1683248"/>
              <a:ext cx="248605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直接连接符 72"/>
            <p:cNvCxnSpPr/>
            <p:nvPr/>
          </p:nvCxnSpPr>
          <p:spPr bwMode="auto">
            <a:xfrm flipV="1">
              <a:off x="5001303" y="1935316"/>
              <a:ext cx="248605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4" name="直接连接符 73"/>
            <p:cNvCxnSpPr/>
            <p:nvPr/>
          </p:nvCxnSpPr>
          <p:spPr bwMode="auto">
            <a:xfrm flipV="1">
              <a:off x="5001303" y="2259352"/>
              <a:ext cx="248605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5" name="矩形 74"/>
            <p:cNvSpPr/>
            <p:nvPr/>
          </p:nvSpPr>
          <p:spPr>
            <a:xfrm>
              <a:off x="2771800" y="1771413"/>
              <a:ext cx="288032" cy="64947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 anchorCtr="1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+mn-ea"/>
                </a:rPr>
                <a:t>译码器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6" name="Text Box 18"/>
            <p:cNvSpPr txBox="1">
              <a:spLocks noChangeArrowheads="1"/>
            </p:cNvSpPr>
            <p:nvPr/>
          </p:nvSpPr>
          <p:spPr bwMode="auto">
            <a:xfrm rot="16200000">
              <a:off x="3032170" y="1961178"/>
              <a:ext cx="272417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78" name="直接连接符 111"/>
            <p:cNvCxnSpPr/>
            <p:nvPr/>
          </p:nvCxnSpPr>
          <p:spPr bwMode="auto">
            <a:xfrm rot="16200000" flipV="1">
              <a:off x="3044859" y="2333373"/>
              <a:ext cx="750562" cy="534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/>
          </p:nvCxnSpPr>
          <p:spPr bwMode="auto">
            <a:xfrm>
              <a:off x="3060901" y="2373894"/>
              <a:ext cx="719010" cy="4699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80" name="直接连接符 122"/>
            <p:cNvCxnSpPr/>
            <p:nvPr/>
          </p:nvCxnSpPr>
          <p:spPr bwMode="auto">
            <a:xfrm rot="16200000" flipH="1">
              <a:off x="3347863" y="1844826"/>
              <a:ext cx="648072" cy="216021"/>
            </a:xfrm>
            <a:prstGeom prst="bentConnector3">
              <a:avLst>
                <a:gd name="adj1" fmla="val 99971"/>
              </a:avLst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81" name="直接连接符 80"/>
            <p:cNvCxnSpPr/>
            <p:nvPr/>
          </p:nvCxnSpPr>
          <p:spPr bwMode="auto">
            <a:xfrm>
              <a:off x="4427984" y="1340768"/>
              <a:ext cx="573319" cy="1844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2" name="直接连接符 81"/>
            <p:cNvCxnSpPr/>
            <p:nvPr/>
          </p:nvCxnSpPr>
          <p:spPr bwMode="auto">
            <a:xfrm flipV="1">
              <a:off x="4427984" y="2259352"/>
              <a:ext cx="576064" cy="8952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83" name="Text Box 18"/>
            <p:cNvSpPr txBox="1">
              <a:spLocks noChangeArrowheads="1"/>
            </p:cNvSpPr>
            <p:nvPr/>
          </p:nvSpPr>
          <p:spPr bwMode="auto">
            <a:xfrm rot="16200000">
              <a:off x="4925339" y="1418085"/>
              <a:ext cx="288032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4" name="Text Box 18"/>
            <p:cNvSpPr txBox="1">
              <a:spLocks noChangeArrowheads="1"/>
            </p:cNvSpPr>
            <p:nvPr/>
          </p:nvSpPr>
          <p:spPr bwMode="auto">
            <a:xfrm rot="16200000">
              <a:off x="4925339" y="1994898"/>
              <a:ext cx="288032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3779912" y="1556791"/>
              <a:ext cx="648072" cy="288033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R1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86" name="直接连接符 111"/>
            <p:cNvCxnSpPr/>
            <p:nvPr/>
          </p:nvCxnSpPr>
          <p:spPr bwMode="auto">
            <a:xfrm flipV="1">
              <a:off x="3419872" y="1844824"/>
              <a:ext cx="576064" cy="132020"/>
            </a:xfrm>
            <a:prstGeom prst="bentConnector3">
              <a:avLst>
                <a:gd name="adj1" fmla="val 100265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87" name="直接连接符 86"/>
            <p:cNvCxnSpPr/>
            <p:nvPr/>
          </p:nvCxnSpPr>
          <p:spPr bwMode="auto">
            <a:xfrm flipV="1">
              <a:off x="3059832" y="1772816"/>
              <a:ext cx="720079" cy="7200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88" name="Text Box 18"/>
            <p:cNvSpPr txBox="1">
              <a:spLocks noChangeArrowheads="1"/>
            </p:cNvSpPr>
            <p:nvPr/>
          </p:nvSpPr>
          <p:spPr bwMode="auto">
            <a:xfrm rot="16200000">
              <a:off x="4040282" y="1945563"/>
              <a:ext cx="272417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9" name="直接连接符 88"/>
            <p:cNvCxnSpPr/>
            <p:nvPr/>
          </p:nvCxnSpPr>
          <p:spPr bwMode="auto">
            <a:xfrm>
              <a:off x="3977833" y="1340768"/>
              <a:ext cx="50405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1" name="TextBox 90"/>
            <p:cNvSpPr txBox="1"/>
            <p:nvPr/>
          </p:nvSpPr>
          <p:spPr>
            <a:xfrm>
              <a:off x="3782988" y="1209498"/>
              <a:ext cx="194845" cy="20327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92" name="直接连接符 91"/>
            <p:cNvCxnSpPr/>
            <p:nvPr/>
          </p:nvCxnSpPr>
          <p:spPr bwMode="auto">
            <a:xfrm>
              <a:off x="4481889" y="1349990"/>
              <a:ext cx="522159" cy="60284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3" name="直接连接符 92"/>
            <p:cNvCxnSpPr/>
            <p:nvPr/>
          </p:nvCxnSpPr>
          <p:spPr bwMode="auto">
            <a:xfrm flipV="1">
              <a:off x="4427984" y="1681879"/>
              <a:ext cx="576064" cy="66700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94" name="左大括号 93"/>
          <p:cNvSpPr/>
          <p:nvPr/>
        </p:nvSpPr>
        <p:spPr>
          <a:xfrm>
            <a:off x="1835696" y="1938261"/>
            <a:ext cx="96229" cy="1155713"/>
          </a:xfrm>
          <a:prstGeom prst="leftBrace">
            <a:avLst>
              <a:gd name="adj1" fmla="val 26548"/>
              <a:gd name="adj2" fmla="val 50000"/>
            </a:avLst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8" name="AutoShape 32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156177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组合 172"/>
          <p:cNvGrpSpPr/>
          <p:nvPr/>
        </p:nvGrpSpPr>
        <p:grpSpPr>
          <a:xfrm>
            <a:off x="5112000" y="3476734"/>
            <a:ext cx="3552825" cy="1248410"/>
            <a:chOff x="8069" y="5338"/>
            <a:chExt cx="5595" cy="1966"/>
          </a:xfrm>
        </p:grpSpPr>
        <p:sp>
          <p:nvSpPr>
            <p:cNvPr id="174" name="矩形 173"/>
            <p:cNvSpPr/>
            <p:nvPr>
              <p:custDataLst>
                <p:tags r:id="rId1"/>
              </p:custDataLst>
            </p:nvPr>
          </p:nvSpPr>
          <p:spPr>
            <a:xfrm>
              <a:off x="8410" y="5713"/>
              <a:ext cx="4423" cy="158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75" name="Text Box 320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9090" y="5698"/>
              <a:ext cx="1993" cy="454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79" name="Text Box 237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9544" y="6283"/>
              <a:ext cx="2268" cy="4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数据转换电路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0" name="Text Box 23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8410" y="5713"/>
              <a:ext cx="567" cy="1591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1" name="Text Box 320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726" y="5658"/>
              <a:ext cx="680" cy="39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82" name="直接箭头连接符 181"/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11082" y="5826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3" name="Text Box 23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2265" y="5713"/>
              <a:ext cx="567" cy="1591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4" name="直接箭头连接符 183"/>
            <p:cNvCxnSpPr/>
            <p:nvPr>
              <p:custDataLst>
                <p:tags r:id="rId8"/>
              </p:custDataLst>
            </p:nvPr>
          </p:nvCxnSpPr>
          <p:spPr bwMode="auto">
            <a:xfrm>
              <a:off x="8977" y="6510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5" name="直接箭头连接符 184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8977" y="6624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6" name="直接箭头连接符 185"/>
            <p:cNvCxnSpPr/>
            <p:nvPr>
              <p:custDataLst>
                <p:tags r:id="rId10"/>
              </p:custDataLst>
            </p:nvPr>
          </p:nvCxnSpPr>
          <p:spPr bwMode="auto">
            <a:xfrm>
              <a:off x="11812" y="6510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7" name="直接箭头连接符 186"/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11812" y="6624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8" name="直接箭头连接符 187"/>
            <p:cNvCxnSpPr/>
            <p:nvPr>
              <p:custDataLst>
                <p:tags r:id="rId12"/>
              </p:custDataLst>
            </p:nvPr>
          </p:nvCxnSpPr>
          <p:spPr bwMode="auto">
            <a:xfrm>
              <a:off x="12832" y="582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9" name="直接箭头连接符 188"/>
            <p:cNvCxnSpPr/>
            <p:nvPr>
              <p:custDataLst>
                <p:tags r:id="rId13"/>
              </p:custDataLst>
            </p:nvPr>
          </p:nvCxnSpPr>
          <p:spPr bwMode="auto">
            <a:xfrm>
              <a:off x="12832" y="6510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0" name="直接箭头连接符 189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12832" y="6624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1" name="直接箭头连接符 190"/>
            <p:cNvCxnSpPr/>
            <p:nvPr>
              <p:custDataLst>
                <p:tags r:id="rId15"/>
              </p:custDataLst>
            </p:nvPr>
          </p:nvCxnSpPr>
          <p:spPr bwMode="auto">
            <a:xfrm>
              <a:off x="10406" y="5826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2" name="直接箭头连接符 191"/>
            <p:cNvCxnSpPr/>
            <p:nvPr>
              <p:custDataLst>
                <p:tags r:id="rId16"/>
              </p:custDataLst>
            </p:nvPr>
          </p:nvCxnSpPr>
          <p:spPr bwMode="auto">
            <a:xfrm>
              <a:off x="8977" y="5826"/>
              <a:ext cx="73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93" name="Text Box 320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612" y="5338"/>
              <a:ext cx="907" cy="28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DMMU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4" name="Text Box 320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1168" y="5393"/>
              <a:ext cx="756" cy="28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DBIU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95" name="直接连接符 194"/>
            <p:cNvCxnSpPr/>
            <p:nvPr>
              <p:custDataLst>
                <p:tags r:id="rId19"/>
              </p:custDataLst>
            </p:nvPr>
          </p:nvCxnSpPr>
          <p:spPr>
            <a:xfrm>
              <a:off x="12946" y="5781"/>
              <a:ext cx="113" cy="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 Box 320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0559" y="5431"/>
              <a:ext cx="340" cy="3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400" b="1" dirty="0">
                  <a:latin typeface="宋体" panose="02010600030101010101" pitchFamily="2" charset="-122"/>
                </a:rPr>
                <a:t>32</a:t>
              </a:r>
              <a:endParaRPr lang="zh-CN" altLang="en-US" sz="14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97" name="直接连接符 196"/>
            <p:cNvCxnSpPr/>
            <p:nvPr>
              <p:custDataLst>
                <p:tags r:id="rId21"/>
              </p:custDataLst>
            </p:nvPr>
          </p:nvCxnSpPr>
          <p:spPr>
            <a:xfrm>
              <a:off x="10672" y="5790"/>
              <a:ext cx="113" cy="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箭头连接符 197"/>
            <p:cNvCxnSpPr/>
            <p:nvPr>
              <p:custDataLst>
                <p:tags r:id="rId22"/>
              </p:custDataLst>
            </p:nvPr>
          </p:nvCxnSpPr>
          <p:spPr bwMode="auto">
            <a:xfrm>
              <a:off x="12832" y="6964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99" name="直接箭头连接符 198"/>
            <p:cNvCxnSpPr/>
            <p:nvPr>
              <p:custDataLst>
                <p:tags r:id="rId23"/>
              </p:custDataLst>
            </p:nvPr>
          </p:nvCxnSpPr>
          <p:spPr bwMode="auto">
            <a:xfrm>
              <a:off x="12832" y="7077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00" name="直接箭头连接符 199"/>
            <p:cNvCxnSpPr/>
            <p:nvPr>
              <p:custDataLst>
                <p:tags r:id="rId24"/>
              </p:custDataLst>
            </p:nvPr>
          </p:nvCxnSpPr>
          <p:spPr bwMode="auto">
            <a:xfrm>
              <a:off x="12832" y="7191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1" name="直接箭头连接符 200"/>
            <p:cNvCxnSpPr/>
            <p:nvPr>
              <p:custDataLst>
                <p:tags r:id="rId25"/>
              </p:custDataLst>
            </p:nvPr>
          </p:nvCxnSpPr>
          <p:spPr bwMode="auto">
            <a:xfrm>
              <a:off x="8069" y="6510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2" name="直接箭头连接符 201"/>
            <p:cNvCxnSpPr/>
            <p:nvPr>
              <p:custDataLst>
                <p:tags r:id="rId26"/>
              </p:custDataLst>
            </p:nvPr>
          </p:nvCxnSpPr>
          <p:spPr bwMode="auto">
            <a:xfrm flipH="1">
              <a:off x="8069" y="6624"/>
              <a:ext cx="340" cy="1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3" name="直接连接符 202"/>
            <p:cNvCxnSpPr/>
            <p:nvPr>
              <p:custDataLst>
                <p:tags r:id="rId27"/>
              </p:custDataLst>
            </p:nvPr>
          </p:nvCxnSpPr>
          <p:spPr>
            <a:xfrm>
              <a:off x="9090" y="5699"/>
              <a:ext cx="0" cy="45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>
              <p:custDataLst>
                <p:tags r:id="rId28"/>
              </p:custDataLst>
            </p:nvPr>
          </p:nvCxnSpPr>
          <p:spPr>
            <a:xfrm>
              <a:off x="9090" y="6166"/>
              <a:ext cx="198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>
              <p:custDataLst>
                <p:tags r:id="rId29"/>
              </p:custDataLst>
            </p:nvPr>
          </p:nvCxnSpPr>
          <p:spPr>
            <a:xfrm>
              <a:off x="11088" y="5699"/>
              <a:ext cx="0" cy="45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箭头连接符 205"/>
            <p:cNvCxnSpPr/>
            <p:nvPr>
              <p:custDataLst>
                <p:tags r:id="rId30"/>
              </p:custDataLst>
            </p:nvPr>
          </p:nvCxnSpPr>
          <p:spPr bwMode="auto">
            <a:xfrm>
              <a:off x="8069" y="5826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7" name="Text Box 320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3286" y="5716"/>
              <a:ext cx="378" cy="15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DMEM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总线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08" name="直接箭头连接符 207"/>
            <p:cNvCxnSpPr/>
            <p:nvPr>
              <p:custDataLst>
                <p:tags r:id="rId32"/>
              </p:custDataLst>
            </p:nvPr>
          </p:nvCxnSpPr>
          <p:spPr bwMode="auto">
            <a:xfrm>
              <a:off x="8410" y="6510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9" name="直接箭头连接符 208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8410" y="6624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0" name="直接箭头连接符 209"/>
            <p:cNvCxnSpPr/>
            <p:nvPr>
              <p:custDataLst>
                <p:tags r:id="rId34"/>
              </p:custDataLst>
            </p:nvPr>
          </p:nvCxnSpPr>
          <p:spPr bwMode="auto">
            <a:xfrm>
              <a:off x="8410" y="5825"/>
              <a:ext cx="567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1" name="Text Box 320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9198" y="5429"/>
              <a:ext cx="340" cy="3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400" b="1" dirty="0">
                  <a:latin typeface="宋体" panose="02010600030101010101" pitchFamily="2" charset="-122"/>
                </a:rPr>
                <a:t>32</a:t>
              </a:r>
              <a:endParaRPr lang="zh-CN" altLang="en-US" sz="14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12" name="直接连接符 211"/>
            <p:cNvCxnSpPr/>
            <p:nvPr>
              <p:custDataLst>
                <p:tags r:id="rId36"/>
              </p:custDataLst>
            </p:nvPr>
          </p:nvCxnSpPr>
          <p:spPr>
            <a:xfrm>
              <a:off x="9311" y="5788"/>
              <a:ext cx="113" cy="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1163955" y="3476734"/>
            <a:ext cx="3623945" cy="1247775"/>
            <a:chOff x="1833" y="5338"/>
            <a:chExt cx="5707" cy="1965"/>
          </a:xfrm>
        </p:grpSpPr>
        <p:sp>
          <p:nvSpPr>
            <p:cNvPr id="76" name="矩形 75"/>
            <p:cNvSpPr/>
            <p:nvPr>
              <p:custDataLst>
                <p:tags r:id="rId37"/>
              </p:custDataLst>
            </p:nvPr>
          </p:nvSpPr>
          <p:spPr>
            <a:xfrm>
              <a:off x="2664" y="5713"/>
              <a:ext cx="4536" cy="1588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9" name="Text Box 320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4490" y="5703"/>
              <a:ext cx="2030" cy="454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4" name="Text Box 237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685" y="6280"/>
              <a:ext cx="2381" cy="49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b="1" dirty="0">
                  <a:latin typeface="宋体" panose="02010600030101010101" pitchFamily="2" charset="-122"/>
                </a:rPr>
                <a:t>数据转换电路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8" name="Text Box 238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633" y="5713"/>
              <a:ext cx="567" cy="158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0" name="Text Box 320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160" y="5658"/>
              <a:ext cx="680" cy="39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10" name="直接箭头连接符 109"/>
            <p:cNvCxnSpPr/>
            <p:nvPr>
              <p:custDataLst>
                <p:tags r:id="rId42"/>
              </p:custDataLst>
            </p:nvPr>
          </p:nvCxnSpPr>
          <p:spPr bwMode="auto">
            <a:xfrm flipH="1" flipV="1">
              <a:off x="3231" y="5825"/>
              <a:ext cx="1247" cy="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1" name="Text Box 237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2664" y="5713"/>
              <a:ext cx="567" cy="1591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3" name="直接箭头连接符 112"/>
            <p:cNvCxnSpPr/>
            <p:nvPr>
              <p:custDataLst>
                <p:tags r:id="rId44"/>
              </p:custDataLst>
            </p:nvPr>
          </p:nvCxnSpPr>
          <p:spPr bwMode="auto">
            <a:xfrm>
              <a:off x="3231" y="6510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5" name="直接箭头连接符 114"/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2210" y="5834"/>
              <a:ext cx="454" cy="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6" name="直接箭头连接符 115"/>
            <p:cNvCxnSpPr/>
            <p:nvPr>
              <p:custDataLst>
                <p:tags r:id="rId46"/>
              </p:custDataLst>
            </p:nvPr>
          </p:nvCxnSpPr>
          <p:spPr bwMode="auto">
            <a:xfrm>
              <a:off x="2210" y="6510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箭头连接符 116"/>
            <p:cNvCxnSpPr/>
            <p:nvPr>
              <p:custDataLst>
                <p:tags r:id="rId47"/>
              </p:custDataLst>
            </p:nvPr>
          </p:nvCxnSpPr>
          <p:spPr bwMode="auto">
            <a:xfrm flipH="1" flipV="1">
              <a:off x="5841" y="5826"/>
              <a:ext cx="794" cy="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8" name="Text Box 320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5047" y="5338"/>
              <a:ext cx="907" cy="28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IMMU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9" name="Text Box 320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3458" y="5393"/>
              <a:ext cx="756" cy="28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IBIU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0" name="直接连接符 119"/>
            <p:cNvCxnSpPr/>
            <p:nvPr>
              <p:custDataLst>
                <p:tags r:id="rId50"/>
              </p:custDataLst>
            </p:nvPr>
          </p:nvCxnSpPr>
          <p:spPr>
            <a:xfrm>
              <a:off x="2411" y="5790"/>
              <a:ext cx="113" cy="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 Box 320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4668" y="5433"/>
              <a:ext cx="340" cy="3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400" b="1" dirty="0">
                  <a:latin typeface="宋体" panose="02010600030101010101" pitchFamily="2" charset="-122"/>
                </a:rPr>
                <a:t>32</a:t>
              </a:r>
              <a:endParaRPr lang="zh-CN" altLang="en-US" sz="14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22" name="直接箭头连接符 121"/>
            <p:cNvCxnSpPr/>
            <p:nvPr>
              <p:custDataLst>
                <p:tags r:id="rId52"/>
              </p:custDataLst>
            </p:nvPr>
          </p:nvCxnSpPr>
          <p:spPr bwMode="auto">
            <a:xfrm flipH="1">
              <a:off x="5160" y="5826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53"/>
              </p:custDataLst>
            </p:nvPr>
          </p:nvCxnSpPr>
          <p:spPr bwMode="auto">
            <a:xfrm flipH="1" flipV="1">
              <a:off x="4480" y="5825"/>
              <a:ext cx="680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4" name="直接连接符 123"/>
            <p:cNvCxnSpPr/>
            <p:nvPr>
              <p:custDataLst>
                <p:tags r:id="rId54"/>
              </p:custDataLst>
            </p:nvPr>
          </p:nvCxnSpPr>
          <p:spPr>
            <a:xfrm>
              <a:off x="4781" y="5793"/>
              <a:ext cx="113" cy="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箭头连接符 124"/>
            <p:cNvCxnSpPr/>
            <p:nvPr>
              <p:custDataLst>
                <p:tags r:id="rId55"/>
              </p:custDataLst>
            </p:nvPr>
          </p:nvCxnSpPr>
          <p:spPr bwMode="auto">
            <a:xfrm flipH="1">
              <a:off x="2210" y="6964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26" name="直接箭头连接符 125"/>
            <p:cNvCxnSpPr/>
            <p:nvPr>
              <p:custDataLst>
                <p:tags r:id="rId56"/>
              </p:custDataLst>
            </p:nvPr>
          </p:nvCxnSpPr>
          <p:spPr bwMode="auto">
            <a:xfrm flipH="1">
              <a:off x="2210" y="7191"/>
              <a:ext cx="46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7" name="直接箭头连接符 126"/>
            <p:cNvCxnSpPr/>
            <p:nvPr>
              <p:custDataLst>
                <p:tags r:id="rId57"/>
              </p:custDataLst>
            </p:nvPr>
          </p:nvCxnSpPr>
          <p:spPr bwMode="auto">
            <a:xfrm>
              <a:off x="7200" y="6510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8" name="Text Box 320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2210" y="6115"/>
              <a:ext cx="340" cy="3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400" b="1" dirty="0">
                  <a:latin typeface="宋体" panose="02010600030101010101" pitchFamily="2" charset="-122"/>
                </a:rPr>
                <a:t>32</a:t>
              </a:r>
              <a:endParaRPr lang="zh-CN" altLang="en-US" sz="14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29" name="直接连接符 128"/>
            <p:cNvCxnSpPr/>
            <p:nvPr>
              <p:custDataLst>
                <p:tags r:id="rId59"/>
              </p:custDataLst>
            </p:nvPr>
          </p:nvCxnSpPr>
          <p:spPr>
            <a:xfrm>
              <a:off x="2324" y="6474"/>
              <a:ext cx="113" cy="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箭头连接符 129"/>
            <p:cNvCxnSpPr/>
            <p:nvPr>
              <p:custDataLst>
                <p:tags r:id="rId60"/>
              </p:custDataLst>
            </p:nvPr>
          </p:nvCxnSpPr>
          <p:spPr bwMode="auto">
            <a:xfrm flipH="1" flipV="1">
              <a:off x="7200" y="5826"/>
              <a:ext cx="340" cy="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1" name="直接连接符 130"/>
            <p:cNvCxnSpPr/>
            <p:nvPr>
              <p:custDataLst>
                <p:tags r:id="rId61"/>
              </p:custDataLst>
            </p:nvPr>
          </p:nvCxnSpPr>
          <p:spPr>
            <a:xfrm>
              <a:off x="4480" y="5699"/>
              <a:ext cx="0" cy="45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>
              <p:custDataLst>
                <p:tags r:id="rId62"/>
              </p:custDataLst>
            </p:nvPr>
          </p:nvCxnSpPr>
          <p:spPr>
            <a:xfrm>
              <a:off x="4480" y="6166"/>
              <a:ext cx="204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>
              <p:custDataLst>
                <p:tags r:id="rId63"/>
              </p:custDataLst>
            </p:nvPr>
          </p:nvCxnSpPr>
          <p:spPr>
            <a:xfrm>
              <a:off x="6520" y="5699"/>
              <a:ext cx="0" cy="45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 Box 320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833" y="5713"/>
              <a:ext cx="378" cy="15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IMEM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总线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1" name="直接箭头连接符 150"/>
            <p:cNvCxnSpPr/>
            <p:nvPr>
              <p:custDataLst>
                <p:tags r:id="rId65"/>
              </p:custDataLst>
            </p:nvPr>
          </p:nvCxnSpPr>
          <p:spPr bwMode="auto">
            <a:xfrm>
              <a:off x="6066" y="6510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3" name="直接箭头连接符 152"/>
            <p:cNvCxnSpPr/>
            <p:nvPr>
              <p:custDataLst>
                <p:tags r:id="rId66"/>
              </p:custDataLst>
            </p:nvPr>
          </p:nvCxnSpPr>
          <p:spPr bwMode="auto">
            <a:xfrm>
              <a:off x="6633" y="6510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4" name="直接箭头连接符 153"/>
            <p:cNvCxnSpPr/>
            <p:nvPr>
              <p:custDataLst>
                <p:tags r:id="rId67"/>
              </p:custDataLst>
            </p:nvPr>
          </p:nvCxnSpPr>
          <p:spPr bwMode="auto">
            <a:xfrm flipH="1" flipV="1">
              <a:off x="6633" y="5825"/>
              <a:ext cx="567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5" name="Text Box 320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6022" y="5437"/>
              <a:ext cx="340" cy="39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400" b="1" dirty="0">
                  <a:latin typeface="宋体" panose="02010600030101010101" pitchFamily="2" charset="-122"/>
                </a:rPr>
                <a:t>32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72" name="直接连接符 171"/>
            <p:cNvCxnSpPr/>
            <p:nvPr>
              <p:custDataLst>
                <p:tags r:id="rId69"/>
              </p:custDataLst>
            </p:nvPr>
          </p:nvCxnSpPr>
          <p:spPr>
            <a:xfrm>
              <a:off x="6135" y="5797"/>
              <a:ext cx="113" cy="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16"/>
          <p:cNvSpPr txBox="1">
            <a:spLocks noChangeArrowheads="1"/>
          </p:cNvSpPr>
          <p:nvPr/>
        </p:nvSpPr>
        <p:spPr bwMode="auto">
          <a:xfrm>
            <a:off x="179512" y="392832"/>
            <a:ext cx="8856984" cy="17654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</a:t>
            </a:r>
            <a:r>
              <a:rPr kumimoji="1"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MMU</a:t>
            </a:r>
            <a:r>
              <a:rPr kumimoji="1"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设计：</a:t>
            </a:r>
            <a:r>
              <a:rPr kumimoji="1"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功能</a:t>
            </a:r>
            <a:r>
              <a:rPr kumimoji="1"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LA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、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PA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均为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32b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，</a:t>
            </a:r>
            <a:r>
              <a:rPr kumimoji="1" lang="en-US" altLang="zh-CN" sz="2200" b="1" dirty="0">
                <a:latin typeface="+mn-ea"/>
                <a:ea typeface="+mn-ea"/>
              </a:rPr>
              <a:t>PA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＝</a:t>
            </a:r>
            <a:r>
              <a:rPr kumimoji="1" lang="en-US" altLang="zh-CN" sz="2200" b="1" dirty="0">
                <a:latin typeface="+mn-ea"/>
                <a:ea typeface="+mn-ea"/>
              </a:rPr>
              <a:t>LA</a:t>
            </a:r>
            <a:endParaRPr kumimoji="1"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          </a:t>
            </a:r>
            <a:r>
              <a:rPr kumimoji="1"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组成</a:t>
            </a:r>
            <a:r>
              <a:rPr kumimoji="1"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kumimoji="1" lang="en-US" altLang="zh-CN" sz="2200" b="1" dirty="0">
              <a:solidFill>
                <a:srgbClr val="3333FF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kumimoji="1"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kumimoji="1"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</a:t>
            </a:r>
            <a:r>
              <a:rPr kumimoji="1"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BIU</a:t>
            </a:r>
            <a:r>
              <a:rPr kumimoji="1"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设计：</a:t>
            </a:r>
            <a:r>
              <a:rPr kumimoji="1"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功能</a:t>
            </a:r>
            <a:r>
              <a:rPr kumimoji="1"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r>
              <a:rPr kumimoji="1" lang="zh-CN" altLang="en-US" sz="2200" b="1" dirty="0">
                <a:latin typeface="+mn-ea"/>
                <a:ea typeface="+mn-ea"/>
              </a:rPr>
              <a:t>仅实现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数据转换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小端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/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对齐方式、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32</a:t>
            </a:r>
            <a:r>
              <a:rPr lang="zh-CN" altLang="en-US" b="1" dirty="0">
                <a:latin typeface="+mn-ea"/>
                <a:ea typeface="+mn-ea"/>
                <a:cs typeface="Arial Unicode MS" panose="020B0604020202020204" charset="-122"/>
              </a:rPr>
              <a:t>位数据</a:t>
            </a:r>
            <a:r>
              <a:rPr lang="en-US" altLang="zh-CN" b="1" dirty="0">
                <a:latin typeface="+mn-ea"/>
                <a:ea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，其余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缺省</a:t>
            </a:r>
            <a:r>
              <a:rPr lang="en-US" altLang="zh-CN" sz="2200" b="1" dirty="0">
                <a:latin typeface="+mn-ea"/>
                <a:ea typeface="+mn-ea"/>
                <a:cs typeface="Arial Unicode MS" panose="020B0604020202020204" charset="-122"/>
              </a:rPr>
              <a:t>            </a:t>
            </a:r>
            <a:endParaRPr kumimoji="1"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           </a:t>
            </a:r>
            <a:r>
              <a:rPr kumimoji="1" lang="zh-CN" altLang="en-US" sz="2200" b="1" dirty="0">
                <a:solidFill>
                  <a:srgbClr val="3333FF"/>
                </a:solidFill>
                <a:latin typeface="+mn-ea"/>
                <a:ea typeface="+mn-ea"/>
              </a:rPr>
              <a:t>组成</a:t>
            </a:r>
            <a:r>
              <a:rPr kumimoji="1" lang="en-US" altLang="zh-CN" sz="2200" b="1" dirty="0">
                <a:solidFill>
                  <a:srgbClr val="3333FF"/>
                </a:solidFill>
                <a:latin typeface="+mn-ea"/>
                <a:ea typeface="+mn-ea"/>
              </a:rPr>
              <a:t>—</a:t>
            </a:r>
            <a:endParaRPr kumimoji="1" lang="en-US" altLang="zh-CN" sz="2200" b="1" dirty="0">
              <a:latin typeface="+mn-ea"/>
              <a:ea typeface="+mn-ea"/>
            </a:endParaRPr>
          </a:p>
        </p:txBody>
      </p:sp>
      <p:sp>
        <p:nvSpPr>
          <p:cNvPr id="5" name="Text Box 116"/>
          <p:cNvSpPr txBox="1">
            <a:spLocks noChangeArrowheads="1"/>
          </p:cNvSpPr>
          <p:nvPr/>
        </p:nvSpPr>
        <p:spPr bwMode="auto">
          <a:xfrm>
            <a:off x="827584" y="1700808"/>
            <a:ext cx="8208910" cy="17269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+mn-ea"/>
                <a:ea typeface="+mn-ea"/>
              </a:rPr>
              <a:t>            IBIU</a:t>
            </a:r>
            <a:r>
              <a:rPr kumimoji="1" lang="zh-CN" altLang="en-US" sz="2200" b="1" dirty="0">
                <a:latin typeface="+mn-ea"/>
                <a:ea typeface="+mn-ea"/>
              </a:rPr>
              <a:t>＋</a:t>
            </a:r>
            <a:r>
              <a:rPr kumimoji="1" lang="en-US" altLang="zh-CN" sz="2200" b="1" dirty="0">
                <a:latin typeface="+mn-ea"/>
                <a:ea typeface="+mn-ea"/>
              </a:rPr>
              <a:t>DBIU</a:t>
            </a:r>
            <a:r>
              <a:rPr kumimoji="1" lang="zh-CN" altLang="en-US" sz="2200" b="1" dirty="0">
                <a:latin typeface="+mn-ea"/>
                <a:ea typeface="+mn-ea"/>
              </a:rPr>
              <a:t>，数据线为单向</a:t>
            </a:r>
            <a:r>
              <a:rPr kumimoji="1" lang="zh-CN" altLang="en-US" sz="2200" b="1" dirty="0">
                <a:latin typeface="+mn-ea"/>
              </a:rPr>
              <a:t>＋</a:t>
            </a:r>
            <a:r>
              <a:rPr kumimoji="1" lang="zh-CN" altLang="en-US" sz="2200" b="1" dirty="0">
                <a:latin typeface="+mn-ea"/>
                <a:ea typeface="+mn-ea"/>
              </a:rPr>
              <a:t>双向</a:t>
            </a:r>
            <a:endParaRPr kumimoji="1"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接口信号：</a:t>
            </a:r>
            <a:r>
              <a:rPr kumimoji="1" lang="en-US" altLang="zh-CN" sz="2200" b="1" dirty="0">
                <a:latin typeface="+mn-ea"/>
                <a:ea typeface="+mn-ea"/>
              </a:rPr>
              <a:t>DBIU</a:t>
            </a:r>
            <a:r>
              <a:rPr kumimoji="1" lang="zh-CN" altLang="en-US" sz="2200" b="1" dirty="0">
                <a:latin typeface="+mn-ea"/>
                <a:ea typeface="+mn-ea"/>
              </a:rPr>
              <a:t>通路侧</a:t>
            </a:r>
            <a:r>
              <a:rPr kumimoji="1" lang="en-US" altLang="zh-CN" sz="2200" b="1" dirty="0">
                <a:latin typeface="+mn-ea"/>
                <a:ea typeface="+mn-ea"/>
              </a:rPr>
              <a:t>—D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＝</a:t>
            </a:r>
            <a:r>
              <a:rPr kumimoji="1" lang="en-US" altLang="zh-CN" sz="2200" b="1" dirty="0">
                <a:latin typeface="+mn-ea"/>
                <a:ea typeface="+mn-ea"/>
              </a:rPr>
              <a:t>32b</a:t>
            </a:r>
            <a:r>
              <a:rPr kumimoji="1" lang="zh-CN" altLang="en-US" sz="2200" b="1" dirty="0">
                <a:latin typeface="+mn-ea"/>
                <a:ea typeface="+mn-ea"/>
              </a:rPr>
              <a:t>*</a:t>
            </a:r>
            <a:r>
              <a:rPr kumimoji="1" lang="en-US" altLang="zh-CN" sz="2200" b="1" dirty="0">
                <a:latin typeface="+mn-ea"/>
                <a:ea typeface="+mn-ea"/>
              </a:rPr>
              <a:t>2</a:t>
            </a:r>
            <a:r>
              <a:rPr kumimoji="1" lang="zh-CN" altLang="en-US" sz="2200" b="1" dirty="0">
                <a:latin typeface="+mn-ea"/>
                <a:ea typeface="+mn-ea"/>
              </a:rPr>
              <a:t>、</a:t>
            </a:r>
            <a:r>
              <a:rPr kumimoji="1" lang="en-US" altLang="zh-CN" sz="2200" b="1" dirty="0">
                <a:latin typeface="+mn-ea"/>
              </a:rPr>
              <a:t>C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＝</a:t>
            </a:r>
            <a:r>
              <a:rPr kumimoji="1" lang="zh-CN" altLang="en-US" sz="2200" b="1" u="sng" dirty="0">
                <a:latin typeface="+mn-ea"/>
              </a:rPr>
              <a:t>            </a:t>
            </a:r>
            <a:r>
              <a:rPr kumimoji="1" lang="zh-CN" altLang="en-US" sz="2200" b="1" dirty="0">
                <a:latin typeface="+mn-ea"/>
              </a:rPr>
              <a:t>、</a:t>
            </a:r>
            <a:r>
              <a:rPr kumimoji="1" lang="en-US" altLang="zh-CN" sz="2200" b="1" dirty="0">
                <a:latin typeface="+mn-ea"/>
              </a:rPr>
              <a:t>A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＝</a:t>
            </a:r>
            <a:r>
              <a:rPr kumimoji="1" lang="en-US" altLang="zh-CN" sz="2200" b="1" dirty="0">
                <a:latin typeface="+mn-ea"/>
              </a:rPr>
              <a:t>32b</a:t>
            </a:r>
            <a:r>
              <a:rPr kumimoji="1" lang="en-US" altLang="zh-CN" sz="2200" b="1" dirty="0">
                <a:latin typeface="+mn-ea"/>
                <a:ea typeface="+mn-ea"/>
              </a:rPr>
              <a:t>,</a:t>
            </a:r>
            <a:r>
              <a:rPr kumimoji="1" lang="zh-CN" altLang="en-US" sz="2200" b="1" dirty="0">
                <a:latin typeface="+mn-ea"/>
                <a:ea typeface="+mn-ea"/>
              </a:rPr>
              <a:t>              </a:t>
            </a:r>
            <a:endParaRPr kumimoji="1"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+mn-ea"/>
                <a:ea typeface="+mn-ea"/>
              </a:rPr>
              <a:t>          DBIU</a:t>
            </a:r>
            <a:r>
              <a:rPr kumimoji="1" lang="zh-CN" altLang="en-US" sz="2200" b="1" dirty="0">
                <a:latin typeface="+mn-ea"/>
                <a:ea typeface="+mn-ea"/>
              </a:rPr>
              <a:t>总线侧</a:t>
            </a:r>
            <a:r>
              <a:rPr kumimoji="1" lang="en-US" altLang="zh-CN" sz="2200" b="1" dirty="0">
                <a:latin typeface="+mn-ea"/>
                <a:ea typeface="+mn-ea"/>
              </a:rPr>
              <a:t>—D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＝</a:t>
            </a:r>
            <a:r>
              <a:rPr kumimoji="1" lang="en-US" altLang="zh-CN" sz="2200" b="1" dirty="0">
                <a:latin typeface="+mn-ea"/>
                <a:ea typeface="+mn-ea"/>
              </a:rPr>
              <a:t>32b</a:t>
            </a:r>
            <a:r>
              <a:rPr kumimoji="1" lang="zh-CN" altLang="en-US" sz="2200" b="1" dirty="0">
                <a:latin typeface="+mn-ea"/>
                <a:ea typeface="+mn-ea"/>
              </a:rPr>
              <a:t>*</a:t>
            </a:r>
            <a:r>
              <a:rPr kumimoji="1" lang="en-US" altLang="zh-CN" sz="2200" b="1" dirty="0">
                <a:latin typeface="+mn-ea"/>
                <a:ea typeface="+mn-ea"/>
              </a:rPr>
              <a:t>2</a:t>
            </a:r>
            <a:r>
              <a:rPr kumimoji="1" lang="zh-CN" altLang="en-US" sz="2200" b="1" dirty="0">
                <a:latin typeface="+mn-ea"/>
                <a:ea typeface="+mn-ea"/>
              </a:rPr>
              <a:t>、</a:t>
            </a:r>
            <a:r>
              <a:rPr kumimoji="1" lang="en-US" altLang="zh-CN" sz="2200" b="1" dirty="0">
                <a:latin typeface="+mn-ea"/>
              </a:rPr>
              <a:t>C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＝</a:t>
            </a:r>
            <a:r>
              <a:rPr kumimoji="1" lang="en-US" altLang="zh-CN" sz="2200" b="1" dirty="0">
                <a:latin typeface="+mn-ea"/>
              </a:rPr>
              <a:t>3b</a:t>
            </a:r>
            <a:r>
              <a:rPr kumimoji="1" lang="zh-CN" altLang="en-US" sz="2200" b="1" dirty="0">
                <a:latin typeface="+mn-ea"/>
              </a:rPr>
              <a:t>、</a:t>
            </a:r>
            <a:r>
              <a:rPr kumimoji="1" lang="en-US" altLang="zh-CN" sz="2200" b="1" dirty="0">
                <a:latin typeface="+mn-ea"/>
              </a:rPr>
              <a:t>A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＝</a:t>
            </a:r>
            <a:r>
              <a:rPr kumimoji="1" lang="en-US" altLang="zh-CN" sz="2200" b="1" u="sng" dirty="0">
                <a:latin typeface="+mn-ea"/>
              </a:rPr>
              <a:t>             </a:t>
            </a:r>
            <a:r>
              <a:rPr kumimoji="1" lang="en-US" altLang="zh-CN" sz="2200" b="1" dirty="0">
                <a:latin typeface="+mn-ea"/>
                <a:ea typeface="+mn-ea"/>
              </a:rPr>
              <a:t>,</a:t>
            </a:r>
            <a:endParaRPr kumimoji="1"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+mn-ea"/>
                <a:ea typeface="+mn-ea"/>
              </a:rPr>
              <a:t>          IBIU</a:t>
            </a:r>
            <a:r>
              <a:rPr kumimoji="1" lang="zh-CN" altLang="en-US" sz="2200" b="1" dirty="0">
                <a:latin typeface="+mn-ea"/>
                <a:ea typeface="+mn-ea"/>
              </a:rPr>
              <a:t>总线侧</a:t>
            </a:r>
            <a:r>
              <a:rPr kumimoji="1" lang="en-US" altLang="zh-CN" sz="2200" b="1" dirty="0">
                <a:latin typeface="+mn-ea"/>
                <a:ea typeface="+mn-ea"/>
              </a:rPr>
              <a:t>—D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＝</a:t>
            </a:r>
            <a:r>
              <a:rPr kumimoji="1" lang="en-US" altLang="zh-CN" sz="2200" b="1" dirty="0">
                <a:latin typeface="+mn-ea"/>
                <a:ea typeface="+mn-ea"/>
              </a:rPr>
              <a:t>32b</a:t>
            </a:r>
            <a:r>
              <a:rPr kumimoji="1" lang="zh-CN" altLang="en-US" sz="2200" b="1" dirty="0">
                <a:latin typeface="+mn-ea"/>
                <a:ea typeface="+mn-ea"/>
              </a:rPr>
              <a:t>、</a:t>
            </a:r>
            <a:r>
              <a:rPr kumimoji="1" lang="en-US" altLang="zh-CN" sz="2200" b="1" dirty="0">
                <a:latin typeface="+mn-ea"/>
                <a:ea typeface="+mn-ea"/>
              </a:rPr>
              <a:t>C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＝</a:t>
            </a:r>
            <a:r>
              <a:rPr kumimoji="1" lang="en-US" altLang="zh-CN" sz="2200" b="1" dirty="0">
                <a:latin typeface="+mn-ea"/>
                <a:ea typeface="+mn-ea"/>
              </a:rPr>
              <a:t>2b</a:t>
            </a:r>
            <a:r>
              <a:rPr kumimoji="1" lang="zh-CN" altLang="en-US" sz="2200" b="1" dirty="0">
                <a:latin typeface="+mn-ea"/>
                <a:ea typeface="+mn-ea"/>
              </a:rPr>
              <a:t>、</a:t>
            </a:r>
            <a:r>
              <a:rPr kumimoji="1" lang="en-US" altLang="zh-CN" sz="2200" b="1" dirty="0">
                <a:latin typeface="+mn-ea"/>
                <a:ea typeface="+mn-ea"/>
              </a:rPr>
              <a:t>A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＝</a:t>
            </a:r>
            <a:r>
              <a:rPr kumimoji="1" lang="en-US" altLang="zh-CN" sz="2200" b="1" u="sng" dirty="0">
                <a:latin typeface="+mn-ea"/>
                <a:ea typeface="+mn-ea"/>
              </a:rPr>
              <a:t>    </a:t>
            </a:r>
            <a:r>
              <a:rPr kumimoji="1" lang="en-US" altLang="zh-CN" sz="2200" b="1" dirty="0">
                <a:latin typeface="+mn-ea"/>
                <a:ea typeface="+mn-ea"/>
              </a:rPr>
              <a:t>.</a:t>
            </a:r>
            <a:endParaRPr kumimoji="1" lang="en-US" altLang="zh-CN" sz="2200" b="1" dirty="0">
              <a:latin typeface="+mn-ea"/>
              <a:ea typeface="+mn-ea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6564255" y="3535772"/>
            <a:ext cx="1800199" cy="1549412"/>
            <a:chOff x="6564255" y="3488017"/>
            <a:chExt cx="1800199" cy="1549412"/>
          </a:xfrm>
        </p:grpSpPr>
        <p:sp>
          <p:nvSpPr>
            <p:cNvPr id="40" name="Text Box 320"/>
            <p:cNvSpPr txBox="1">
              <a:spLocks noChangeArrowheads="1"/>
            </p:cNvSpPr>
            <p:nvPr/>
          </p:nvSpPr>
          <p:spPr bwMode="auto">
            <a:xfrm>
              <a:off x="6564255" y="4818924"/>
              <a:ext cx="1584176" cy="2185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MemRd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MemWr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41" name="直接箭头连接符 40"/>
            <p:cNvCxnSpPr/>
            <p:nvPr/>
          </p:nvCxnSpPr>
          <p:spPr bwMode="auto">
            <a:xfrm>
              <a:off x="6924293" y="4461365"/>
              <a:ext cx="86409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42" name="直接箭头连接符 41"/>
            <p:cNvCxnSpPr/>
            <p:nvPr/>
          </p:nvCxnSpPr>
          <p:spPr bwMode="auto">
            <a:xfrm flipV="1">
              <a:off x="6924293" y="4344900"/>
              <a:ext cx="0" cy="4740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43" name="直接箭头连接符 42"/>
            <p:cNvCxnSpPr/>
            <p:nvPr/>
          </p:nvCxnSpPr>
          <p:spPr bwMode="auto">
            <a:xfrm flipH="1" flipV="1">
              <a:off x="7356341" y="4344900"/>
              <a:ext cx="1" cy="4740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44" name="直接箭头连接符 43"/>
            <p:cNvCxnSpPr/>
            <p:nvPr/>
          </p:nvCxnSpPr>
          <p:spPr bwMode="auto">
            <a:xfrm>
              <a:off x="7356342" y="4533373"/>
              <a:ext cx="43204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sp>
          <p:nvSpPr>
            <p:cNvPr id="45" name="Text Box 320"/>
            <p:cNvSpPr txBox="1">
              <a:spLocks noChangeArrowheads="1"/>
            </p:cNvSpPr>
            <p:nvPr/>
          </p:nvSpPr>
          <p:spPr bwMode="auto">
            <a:xfrm>
              <a:off x="8148430" y="3488017"/>
              <a:ext cx="216024" cy="2507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400" b="1" dirty="0">
                  <a:latin typeface="宋体" panose="02010600030101010101" pitchFamily="2" charset="-122"/>
                </a:rPr>
                <a:t>30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6" name="直接箭头连接符 45"/>
            <p:cNvCxnSpPr/>
            <p:nvPr/>
          </p:nvCxnSpPr>
          <p:spPr bwMode="auto">
            <a:xfrm flipV="1">
              <a:off x="7999783" y="4677389"/>
              <a:ext cx="4631" cy="13024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47" name="Text Box 116"/>
          <p:cNvSpPr txBox="1">
            <a:spLocks noChangeArrowheads="1"/>
          </p:cNvSpPr>
          <p:nvPr/>
        </p:nvSpPr>
        <p:spPr bwMode="auto">
          <a:xfrm>
            <a:off x="827584" y="5015791"/>
            <a:ext cx="5761491" cy="880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内部逻辑：</a:t>
            </a:r>
            <a:r>
              <a:rPr kumimoji="1" lang="zh-CN" altLang="en-US" sz="2200" b="1" dirty="0">
                <a:latin typeface="+mn-ea"/>
                <a:ea typeface="+mn-ea"/>
              </a:rPr>
              <a:t>总线逻辑</a:t>
            </a:r>
            <a:r>
              <a:rPr kumimoji="1" lang="en-US" altLang="zh-CN" sz="2200" b="1" dirty="0">
                <a:latin typeface="+mn-ea"/>
                <a:ea typeface="+mn-ea"/>
              </a:rPr>
              <a:t>—</a:t>
            </a:r>
            <a:endParaRPr kumimoji="1"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+mn-ea"/>
                <a:ea typeface="+mn-ea"/>
              </a:rPr>
              <a:t>          </a:t>
            </a:r>
            <a:r>
              <a:rPr kumimoji="1" lang="zh-CN" altLang="en-US" sz="2200" b="1" dirty="0">
                <a:latin typeface="+mn-ea"/>
                <a:ea typeface="+mn-ea"/>
              </a:rPr>
              <a:t>数据转换电路</a:t>
            </a:r>
            <a:r>
              <a:rPr kumimoji="1" lang="en-US" altLang="zh-CN" sz="2200" b="1" dirty="0">
                <a:latin typeface="+mn-ea"/>
                <a:ea typeface="+mn-ea"/>
              </a:rPr>
              <a:t>—</a:t>
            </a:r>
            <a:endParaRPr kumimoji="1" lang="en-US" altLang="zh-CN" sz="2200" b="1" dirty="0">
              <a:latin typeface="+mn-ea"/>
              <a:ea typeface="+mn-ea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6348229" y="5229200"/>
            <a:ext cx="2592290" cy="864096"/>
            <a:chOff x="4067942" y="5134332"/>
            <a:chExt cx="2592290" cy="864096"/>
          </a:xfrm>
        </p:grpSpPr>
        <p:sp>
          <p:nvSpPr>
            <p:cNvPr id="49" name="Text Box 154"/>
            <p:cNvSpPr txBox="1">
              <a:spLocks noChangeArrowheads="1"/>
            </p:cNvSpPr>
            <p:nvPr/>
          </p:nvSpPr>
          <p:spPr bwMode="auto">
            <a:xfrm>
              <a:off x="5076056" y="5379269"/>
              <a:ext cx="360040" cy="57843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endParaRPr lang="en-US" altLang="zh-CN" sz="1200" b="1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50" name="Text Box 154"/>
            <p:cNvSpPr txBox="1">
              <a:spLocks noChangeArrowheads="1"/>
            </p:cNvSpPr>
            <p:nvPr/>
          </p:nvSpPr>
          <p:spPr bwMode="auto">
            <a:xfrm>
              <a:off x="6012163" y="5373216"/>
              <a:ext cx="360037" cy="578433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3333FF"/>
                  </a:solidFill>
                  <a:latin typeface="宋体" panose="02010600030101010101" pitchFamily="2" charset="-122"/>
                </a:rPr>
                <a:t>12H</a:t>
              </a:r>
              <a:endParaRPr lang="en-US" altLang="zh-CN" sz="1200" b="1" dirty="0">
                <a:solidFill>
                  <a:srgbClr val="3333FF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3333FF"/>
                  </a:solidFill>
                  <a:latin typeface="宋体" panose="02010600030101010101" pitchFamily="2" charset="-122"/>
                </a:rPr>
                <a:t>34</a:t>
              </a:r>
              <a:r>
                <a:rPr lang="en-US" altLang="zh-CN" sz="1200" b="1" u="none" dirty="0">
                  <a:solidFill>
                    <a:srgbClr val="3333FF"/>
                  </a:solidFill>
                  <a:latin typeface="宋体" panose="02010600030101010101" pitchFamily="2" charset="-122"/>
                </a:rPr>
                <a:t>H</a:t>
              </a:r>
              <a:endParaRPr lang="en-US" altLang="zh-CN" sz="1200" b="1" u="none" dirty="0">
                <a:solidFill>
                  <a:srgbClr val="3333FF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3333FF"/>
                  </a:solidFill>
                  <a:latin typeface="宋体" panose="02010600030101010101" pitchFamily="2" charset="-122"/>
                </a:rPr>
                <a:t>56H</a:t>
              </a:r>
              <a:endParaRPr lang="en-US" altLang="zh-CN" sz="1200" b="1" dirty="0">
                <a:solidFill>
                  <a:srgbClr val="3333FF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3333FF"/>
                  </a:solidFill>
                  <a:latin typeface="宋体" panose="02010600030101010101" pitchFamily="2" charset="-122"/>
                </a:rPr>
                <a:t>78</a:t>
              </a:r>
              <a:r>
                <a:rPr lang="en-US" altLang="zh-CN" sz="1200" b="1" u="none" dirty="0">
                  <a:solidFill>
                    <a:srgbClr val="3333FF"/>
                  </a:solidFill>
                  <a:latin typeface="宋体" panose="02010600030101010101" pitchFamily="2" charset="-122"/>
                </a:rPr>
                <a:t>H</a:t>
              </a:r>
              <a:endParaRPr lang="en-US" altLang="zh-CN" sz="1200" b="1" u="none" dirty="0">
                <a:solidFill>
                  <a:srgbClr val="3333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" name="Line 149"/>
            <p:cNvSpPr>
              <a:spLocks noChangeShapeType="1"/>
            </p:cNvSpPr>
            <p:nvPr/>
          </p:nvSpPr>
          <p:spPr bwMode="auto">
            <a:xfrm>
              <a:off x="6012161" y="5342736"/>
              <a:ext cx="0" cy="64807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149"/>
            <p:cNvSpPr>
              <a:spLocks noChangeShapeType="1"/>
            </p:cNvSpPr>
            <p:nvPr/>
          </p:nvSpPr>
          <p:spPr bwMode="auto">
            <a:xfrm>
              <a:off x="6372200" y="5350356"/>
              <a:ext cx="0" cy="64807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49"/>
            <p:cNvSpPr>
              <a:spLocks noChangeShapeType="1"/>
            </p:cNvSpPr>
            <p:nvPr/>
          </p:nvSpPr>
          <p:spPr bwMode="auto">
            <a:xfrm>
              <a:off x="6012160" y="5373216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149"/>
            <p:cNvSpPr>
              <a:spLocks noChangeShapeType="1"/>
            </p:cNvSpPr>
            <p:nvPr/>
          </p:nvSpPr>
          <p:spPr bwMode="auto">
            <a:xfrm>
              <a:off x="6012162" y="5514186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149"/>
            <p:cNvSpPr>
              <a:spLocks noChangeShapeType="1"/>
            </p:cNvSpPr>
            <p:nvPr/>
          </p:nvSpPr>
          <p:spPr bwMode="auto">
            <a:xfrm>
              <a:off x="6012162" y="5655284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149"/>
            <p:cNvSpPr>
              <a:spLocks noChangeShapeType="1"/>
            </p:cNvSpPr>
            <p:nvPr/>
          </p:nvSpPr>
          <p:spPr bwMode="auto">
            <a:xfrm>
              <a:off x="6012164" y="5807684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149"/>
            <p:cNvSpPr>
              <a:spLocks noChangeShapeType="1"/>
            </p:cNvSpPr>
            <p:nvPr/>
          </p:nvSpPr>
          <p:spPr bwMode="auto">
            <a:xfrm>
              <a:off x="6012161" y="5952464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 Box 154"/>
            <p:cNvSpPr txBox="1">
              <a:spLocks noChangeArrowheads="1"/>
            </p:cNvSpPr>
            <p:nvPr/>
          </p:nvSpPr>
          <p:spPr bwMode="auto">
            <a:xfrm>
              <a:off x="6372200" y="5373216"/>
              <a:ext cx="288032" cy="57843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203</a:t>
              </a:r>
              <a:endParaRPr lang="en-US" altLang="zh-CN" sz="1200" b="1" dirty="0">
                <a:solidFill>
                  <a:srgbClr val="CC66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200" b="1" u="none" dirty="0">
                  <a:solidFill>
                    <a:srgbClr val="CC6600"/>
                  </a:solidFill>
                  <a:latin typeface="宋体" panose="02010600030101010101" pitchFamily="2" charset="-122"/>
                </a:rPr>
                <a:t>202</a:t>
              </a:r>
              <a:endParaRPr lang="en-US" altLang="zh-CN" sz="1200" b="1" u="none" dirty="0">
                <a:solidFill>
                  <a:srgbClr val="CC66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201</a:t>
              </a:r>
              <a:endParaRPr lang="en-US" altLang="zh-CN" sz="1200" b="1" dirty="0">
                <a:solidFill>
                  <a:srgbClr val="CC66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200</a:t>
              </a:r>
              <a:endParaRPr lang="en-US" altLang="zh-CN" sz="12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9" name="Text Box 154"/>
            <p:cNvSpPr txBox="1">
              <a:spLocks noChangeArrowheads="1"/>
            </p:cNvSpPr>
            <p:nvPr/>
          </p:nvSpPr>
          <p:spPr bwMode="auto">
            <a:xfrm>
              <a:off x="4067942" y="5134332"/>
              <a:ext cx="576066" cy="21720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通路侧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0" name="Text Box 154"/>
            <p:cNvSpPr txBox="1">
              <a:spLocks noChangeArrowheads="1"/>
            </p:cNvSpPr>
            <p:nvPr/>
          </p:nvSpPr>
          <p:spPr bwMode="auto">
            <a:xfrm>
              <a:off x="4211960" y="5373216"/>
              <a:ext cx="360040" cy="57843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3333FF"/>
                  </a:solidFill>
                  <a:latin typeface="宋体" panose="02010600030101010101" pitchFamily="2" charset="-122"/>
                </a:rPr>
                <a:t>12H</a:t>
              </a:r>
              <a:endParaRPr lang="en-US" altLang="zh-CN" sz="1200" b="1" dirty="0">
                <a:solidFill>
                  <a:srgbClr val="3333FF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3333FF"/>
                  </a:solidFill>
                  <a:latin typeface="宋体" panose="02010600030101010101" pitchFamily="2" charset="-122"/>
                </a:rPr>
                <a:t>34</a:t>
              </a:r>
              <a:r>
                <a:rPr lang="en-US" altLang="zh-CN" sz="1200" b="1" u="none" dirty="0">
                  <a:solidFill>
                    <a:srgbClr val="3333FF"/>
                  </a:solidFill>
                  <a:latin typeface="宋体" panose="02010600030101010101" pitchFamily="2" charset="-122"/>
                </a:rPr>
                <a:t>H</a:t>
              </a:r>
              <a:endParaRPr lang="en-US" altLang="zh-CN" sz="1200" b="1" u="none" dirty="0">
                <a:solidFill>
                  <a:srgbClr val="3333FF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3333FF"/>
                  </a:solidFill>
                  <a:latin typeface="宋体" panose="02010600030101010101" pitchFamily="2" charset="-122"/>
                </a:rPr>
                <a:t>56H</a:t>
              </a:r>
              <a:endParaRPr lang="en-US" altLang="zh-CN" sz="1200" b="1" dirty="0">
                <a:solidFill>
                  <a:srgbClr val="3333FF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3333FF"/>
                  </a:solidFill>
                  <a:latin typeface="宋体" panose="02010600030101010101" pitchFamily="2" charset="-122"/>
                </a:rPr>
                <a:t>78</a:t>
              </a:r>
              <a:r>
                <a:rPr lang="en-US" altLang="zh-CN" sz="1200" b="1" u="none" dirty="0">
                  <a:solidFill>
                    <a:srgbClr val="3333FF"/>
                  </a:solidFill>
                  <a:latin typeface="宋体" panose="02010600030101010101" pitchFamily="2" charset="-122"/>
                </a:rPr>
                <a:t>H</a:t>
              </a:r>
              <a:endParaRPr lang="en-US" altLang="zh-CN" sz="1200" b="1" u="none" dirty="0">
                <a:solidFill>
                  <a:srgbClr val="3333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" name="Line 149"/>
            <p:cNvSpPr>
              <a:spLocks noChangeShapeType="1"/>
            </p:cNvSpPr>
            <p:nvPr/>
          </p:nvSpPr>
          <p:spPr bwMode="auto">
            <a:xfrm>
              <a:off x="4211957" y="5512530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149"/>
            <p:cNvSpPr>
              <a:spLocks noChangeShapeType="1"/>
            </p:cNvSpPr>
            <p:nvPr/>
          </p:nvSpPr>
          <p:spPr bwMode="auto">
            <a:xfrm>
              <a:off x="4211959" y="5653500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149"/>
            <p:cNvSpPr>
              <a:spLocks noChangeShapeType="1"/>
            </p:cNvSpPr>
            <p:nvPr/>
          </p:nvSpPr>
          <p:spPr bwMode="auto">
            <a:xfrm>
              <a:off x="4211959" y="5794598"/>
              <a:ext cx="36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 Box 154"/>
            <p:cNvSpPr txBox="1">
              <a:spLocks noChangeArrowheads="1"/>
            </p:cNvSpPr>
            <p:nvPr/>
          </p:nvSpPr>
          <p:spPr bwMode="auto">
            <a:xfrm>
              <a:off x="4644010" y="5289778"/>
              <a:ext cx="432046" cy="57843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宋体" panose="02010600030101010101" pitchFamily="2" charset="-122"/>
                </a:rPr>
                <a:t>31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~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宋体" panose="02010600030101010101" pitchFamily="2" charset="-122"/>
                </a:rPr>
                <a:t>24</a:t>
              </a:r>
              <a:endParaRPr lang="en-US" altLang="zh-CN" sz="1200" b="1" baseline="-18000" dirty="0">
                <a:solidFill>
                  <a:srgbClr val="CC66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宋体" panose="02010600030101010101" pitchFamily="2" charset="-122"/>
                </a:rPr>
                <a:t>23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~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宋体" panose="02010600030101010101" pitchFamily="2" charset="-122"/>
                </a:rPr>
                <a:t>16</a:t>
              </a:r>
              <a:endParaRPr lang="en-US" altLang="zh-CN" sz="1200" b="1" baseline="-18000" dirty="0">
                <a:solidFill>
                  <a:srgbClr val="CC66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宋体" panose="02010600030101010101" pitchFamily="2" charset="-122"/>
                </a:rPr>
                <a:t>15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~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宋体" panose="02010600030101010101" pitchFamily="2" charset="-122"/>
                </a:rPr>
                <a:t>8</a:t>
              </a:r>
              <a:r>
                <a:rPr lang="en-US" altLang="zh-CN" sz="12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200" b="1" dirty="0">
                <a:solidFill>
                  <a:srgbClr val="CC66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宋体" panose="02010600030101010101" pitchFamily="2" charset="-122"/>
                </a:rPr>
                <a:t>7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~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200" b="1" u="none" baseline="-18000" dirty="0">
                <a:solidFill>
                  <a:srgbClr val="CC66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5" name="Text Box 154"/>
            <p:cNvSpPr txBox="1">
              <a:spLocks noChangeArrowheads="1"/>
            </p:cNvSpPr>
            <p:nvPr/>
          </p:nvSpPr>
          <p:spPr bwMode="auto">
            <a:xfrm>
              <a:off x="5549636" y="5291219"/>
              <a:ext cx="432046" cy="57843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宋体" panose="02010600030101010101" pitchFamily="2" charset="-122"/>
                </a:rPr>
                <a:t>31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~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宋体" panose="02010600030101010101" pitchFamily="2" charset="-122"/>
                </a:rPr>
                <a:t>24</a:t>
              </a:r>
              <a:endParaRPr lang="en-US" altLang="zh-CN" sz="1200" b="1" baseline="-18000" dirty="0">
                <a:solidFill>
                  <a:srgbClr val="CC66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宋体" panose="02010600030101010101" pitchFamily="2" charset="-122"/>
                </a:rPr>
                <a:t>23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~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宋体" panose="02010600030101010101" pitchFamily="2" charset="-122"/>
                </a:rPr>
                <a:t>16</a:t>
              </a:r>
              <a:endParaRPr lang="en-US" altLang="zh-CN" sz="1200" b="1" baseline="-18000" dirty="0">
                <a:solidFill>
                  <a:srgbClr val="CC66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宋体" panose="02010600030101010101" pitchFamily="2" charset="-122"/>
                </a:rPr>
                <a:t>15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~</a:t>
              </a:r>
              <a:r>
                <a:rPr lang="en-US" altLang="zh-CN" sz="1200" b="1" baseline="-18000" dirty="0">
                  <a:solidFill>
                    <a:srgbClr val="CC6600"/>
                  </a:solidFill>
                  <a:latin typeface="宋体" panose="02010600030101010101" pitchFamily="2" charset="-122"/>
                </a:rPr>
                <a:t>8</a:t>
              </a:r>
              <a:r>
                <a:rPr lang="en-US" altLang="zh-CN" sz="12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200" b="1" dirty="0">
                <a:solidFill>
                  <a:srgbClr val="CC66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200" b="1" baseline="-18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7</a:t>
              </a:r>
              <a:r>
                <a:rPr lang="en-US" altLang="zh-CN" sz="1200" b="1" baseline="-18000" dirty="0">
                  <a:solidFill>
                    <a:srgbClr val="FF33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~</a:t>
              </a:r>
              <a:r>
                <a:rPr lang="en-US" altLang="zh-CN" sz="1200" b="1" baseline="-18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200" b="1" u="none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6" name="Line 149"/>
            <p:cNvSpPr>
              <a:spLocks noChangeShapeType="1"/>
            </p:cNvSpPr>
            <p:nvPr/>
          </p:nvSpPr>
          <p:spPr bwMode="auto">
            <a:xfrm flipH="1">
              <a:off x="4572000" y="5445224"/>
              <a:ext cx="50405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7" name="Line 149"/>
            <p:cNvSpPr>
              <a:spLocks noChangeShapeType="1"/>
            </p:cNvSpPr>
            <p:nvPr/>
          </p:nvSpPr>
          <p:spPr bwMode="auto">
            <a:xfrm flipH="1">
              <a:off x="4572000" y="5589240"/>
              <a:ext cx="50405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8" name="Line 149"/>
            <p:cNvSpPr>
              <a:spLocks noChangeShapeType="1"/>
            </p:cNvSpPr>
            <p:nvPr/>
          </p:nvSpPr>
          <p:spPr bwMode="auto">
            <a:xfrm flipH="1">
              <a:off x="4572000" y="5733256"/>
              <a:ext cx="50405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Line 149"/>
            <p:cNvSpPr>
              <a:spLocks noChangeShapeType="1"/>
            </p:cNvSpPr>
            <p:nvPr/>
          </p:nvSpPr>
          <p:spPr bwMode="auto">
            <a:xfrm flipH="1">
              <a:off x="4572000" y="5877272"/>
              <a:ext cx="504056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0" name="Text Box 154"/>
            <p:cNvSpPr txBox="1">
              <a:spLocks noChangeArrowheads="1"/>
            </p:cNvSpPr>
            <p:nvPr/>
          </p:nvSpPr>
          <p:spPr bwMode="auto">
            <a:xfrm>
              <a:off x="5868144" y="5134332"/>
              <a:ext cx="576066" cy="21720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总线侧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1" name="Text Box 154"/>
            <p:cNvSpPr txBox="1">
              <a:spLocks noChangeArrowheads="1"/>
            </p:cNvSpPr>
            <p:nvPr/>
          </p:nvSpPr>
          <p:spPr bwMode="auto">
            <a:xfrm>
              <a:off x="4788024" y="5134332"/>
              <a:ext cx="816909" cy="21720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转换电路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72" name="Line 149"/>
            <p:cNvSpPr>
              <a:spLocks noChangeShapeType="1"/>
            </p:cNvSpPr>
            <p:nvPr/>
          </p:nvSpPr>
          <p:spPr bwMode="auto">
            <a:xfrm flipH="1">
              <a:off x="5436096" y="5445224"/>
              <a:ext cx="57606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3" name="Line 149"/>
            <p:cNvSpPr>
              <a:spLocks noChangeShapeType="1"/>
            </p:cNvSpPr>
            <p:nvPr/>
          </p:nvSpPr>
          <p:spPr bwMode="auto">
            <a:xfrm flipH="1">
              <a:off x="5436096" y="5589240"/>
              <a:ext cx="57606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4" name="Line 149"/>
            <p:cNvSpPr>
              <a:spLocks noChangeShapeType="1"/>
            </p:cNvSpPr>
            <p:nvPr/>
          </p:nvSpPr>
          <p:spPr bwMode="auto">
            <a:xfrm flipH="1">
              <a:off x="5436096" y="5733256"/>
              <a:ext cx="57606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5" name="Line 149"/>
            <p:cNvSpPr>
              <a:spLocks noChangeShapeType="1"/>
            </p:cNvSpPr>
            <p:nvPr/>
          </p:nvSpPr>
          <p:spPr bwMode="auto">
            <a:xfrm flipH="1">
              <a:off x="5436096" y="5877272"/>
              <a:ext cx="57606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7356343" y="5540092"/>
            <a:ext cx="360040" cy="422986"/>
            <a:chOff x="5436098" y="5756116"/>
            <a:chExt cx="360040" cy="422986"/>
          </a:xfrm>
        </p:grpSpPr>
        <p:sp>
          <p:nvSpPr>
            <p:cNvPr id="133" name="Line 149"/>
            <p:cNvSpPr>
              <a:spLocks noChangeShapeType="1"/>
            </p:cNvSpPr>
            <p:nvPr/>
          </p:nvSpPr>
          <p:spPr bwMode="auto">
            <a:xfrm flipH="1">
              <a:off x="5436098" y="5756116"/>
              <a:ext cx="360040" cy="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4" name="Line 149"/>
            <p:cNvSpPr>
              <a:spLocks noChangeShapeType="1"/>
            </p:cNvSpPr>
            <p:nvPr/>
          </p:nvSpPr>
          <p:spPr bwMode="auto">
            <a:xfrm flipH="1" flipV="1">
              <a:off x="5436098" y="6179102"/>
              <a:ext cx="360040" cy="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5" name="Line 149"/>
            <p:cNvSpPr>
              <a:spLocks noChangeShapeType="1"/>
            </p:cNvSpPr>
            <p:nvPr/>
          </p:nvSpPr>
          <p:spPr bwMode="auto">
            <a:xfrm flipH="1" flipV="1">
              <a:off x="5436098" y="5900130"/>
              <a:ext cx="360040" cy="1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6" name="Line 149"/>
            <p:cNvSpPr>
              <a:spLocks noChangeShapeType="1"/>
            </p:cNvSpPr>
            <p:nvPr/>
          </p:nvSpPr>
          <p:spPr bwMode="auto">
            <a:xfrm flipH="1">
              <a:off x="5436098" y="6044148"/>
              <a:ext cx="360040" cy="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1691681" y="3789040"/>
            <a:ext cx="6456750" cy="936104"/>
            <a:chOff x="1691681" y="3669277"/>
            <a:chExt cx="6456750" cy="936104"/>
          </a:xfrm>
        </p:grpSpPr>
        <p:grpSp>
          <p:nvGrpSpPr>
            <p:cNvPr id="143" name="组合 142"/>
            <p:cNvGrpSpPr/>
            <p:nvPr/>
          </p:nvGrpSpPr>
          <p:grpSpPr>
            <a:xfrm>
              <a:off x="7788391" y="3669277"/>
              <a:ext cx="360040" cy="936104"/>
              <a:chOff x="7788391" y="3741285"/>
              <a:chExt cx="360040" cy="936104"/>
            </a:xfrm>
          </p:grpSpPr>
          <p:cxnSp>
            <p:nvCxnSpPr>
              <p:cNvPr id="152" name="直接箭头连接符 151"/>
              <p:cNvCxnSpPr/>
              <p:nvPr/>
            </p:nvCxnSpPr>
            <p:spPr bwMode="auto">
              <a:xfrm>
                <a:off x="7788391" y="3741285"/>
                <a:ext cx="360040" cy="531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3333FF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56" name="直接箭头连接符 155"/>
              <p:cNvCxnSpPr/>
              <p:nvPr/>
            </p:nvCxnSpPr>
            <p:spPr bwMode="auto">
              <a:xfrm>
                <a:off x="7788391" y="4173333"/>
                <a:ext cx="360038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3333FF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57" name="直接箭头连接符 156"/>
              <p:cNvCxnSpPr/>
              <p:nvPr/>
            </p:nvCxnSpPr>
            <p:spPr bwMode="auto">
              <a:xfrm flipH="1">
                <a:off x="7788391" y="4245341"/>
                <a:ext cx="360038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3333FF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58" name="直接箭头连接符 157"/>
              <p:cNvCxnSpPr/>
              <p:nvPr/>
            </p:nvCxnSpPr>
            <p:spPr bwMode="auto">
              <a:xfrm>
                <a:off x="7788391" y="4461365"/>
                <a:ext cx="36004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159" name="直接箭头连接符 158"/>
              <p:cNvCxnSpPr/>
              <p:nvPr/>
            </p:nvCxnSpPr>
            <p:spPr bwMode="auto">
              <a:xfrm>
                <a:off x="7788391" y="4533373"/>
                <a:ext cx="36004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160" name="直接箭头连接符 159"/>
              <p:cNvCxnSpPr/>
              <p:nvPr/>
            </p:nvCxnSpPr>
            <p:spPr bwMode="auto">
              <a:xfrm flipV="1">
                <a:off x="8004415" y="4605381"/>
                <a:ext cx="144014" cy="72008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  <p:grpSp>
          <p:nvGrpSpPr>
            <p:cNvPr id="144" name="组合 143"/>
            <p:cNvGrpSpPr/>
            <p:nvPr/>
          </p:nvGrpSpPr>
          <p:grpSpPr>
            <a:xfrm>
              <a:off x="1691681" y="3669277"/>
              <a:ext cx="360041" cy="936104"/>
              <a:chOff x="1691681" y="3669277"/>
              <a:chExt cx="360041" cy="936104"/>
            </a:xfrm>
          </p:grpSpPr>
          <p:cxnSp>
            <p:nvCxnSpPr>
              <p:cNvPr id="145" name="直接箭头连接符 144"/>
              <p:cNvCxnSpPr/>
              <p:nvPr/>
            </p:nvCxnSpPr>
            <p:spPr bwMode="auto">
              <a:xfrm>
                <a:off x="1691681" y="4106287"/>
                <a:ext cx="360041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3333FF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46" name="直接箭头连接符 145"/>
              <p:cNvCxnSpPr/>
              <p:nvPr/>
            </p:nvCxnSpPr>
            <p:spPr bwMode="auto">
              <a:xfrm flipH="1">
                <a:off x="1691681" y="3669277"/>
                <a:ext cx="360040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3333FF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47" name="直接箭头连接符 146"/>
              <p:cNvCxnSpPr/>
              <p:nvPr/>
            </p:nvCxnSpPr>
            <p:spPr bwMode="auto">
              <a:xfrm flipH="1">
                <a:off x="1691681" y="4389357"/>
                <a:ext cx="36004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sm" len="sm"/>
              </a:ln>
              <a:effectLst/>
            </p:spPr>
          </p:cxnSp>
          <p:cxnSp>
            <p:nvCxnSpPr>
              <p:cNvPr id="149" name="直接箭头连接符 148"/>
              <p:cNvCxnSpPr/>
              <p:nvPr/>
            </p:nvCxnSpPr>
            <p:spPr bwMode="auto">
              <a:xfrm flipH="1" flipV="1">
                <a:off x="1691681" y="4533373"/>
                <a:ext cx="144016" cy="72008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</p:grpSp>
      <p:sp>
        <p:nvSpPr>
          <p:cNvPr id="161" name="AutoShape 62">
            <a:hlinkClick r:id="rId70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30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39" name="Text Box 116"/>
          <p:cNvSpPr txBox="1">
            <a:spLocks noChangeArrowheads="1"/>
          </p:cNvSpPr>
          <p:nvPr/>
        </p:nvSpPr>
        <p:spPr bwMode="auto">
          <a:xfrm>
            <a:off x="3699885" y="5013176"/>
            <a:ext cx="2528299" cy="880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latin typeface="宋体" panose="02010600030101010101" pitchFamily="2" charset="-122"/>
              </a:rPr>
              <a:t>地址线</a:t>
            </a:r>
            <a:r>
              <a:rPr kumimoji="1"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高位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直连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200" b="1" dirty="0">
                <a:latin typeface="宋体" panose="02010600030101010101" pitchFamily="2" charset="-122"/>
              </a:rPr>
              <a:t>    全部直连</a:t>
            </a:r>
            <a:endParaRPr kumimoji="1"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40" name="Text Box 116"/>
          <p:cNvSpPr txBox="1">
            <a:spLocks noChangeArrowheads="1"/>
          </p:cNvSpPr>
          <p:nvPr/>
        </p:nvSpPr>
        <p:spPr bwMode="auto">
          <a:xfrm>
            <a:off x="2580005" y="825500"/>
            <a:ext cx="1991995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latin typeface="宋体" panose="02010600030101010101" pitchFamily="2" charset="-122"/>
              </a:rPr>
              <a:t>所有线直连</a:t>
            </a:r>
            <a:endParaRPr kumimoji="1"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5868144" y="2141081"/>
            <a:ext cx="2952328" cy="1259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 b="1" dirty="0" err="1">
                <a:latin typeface="+mn-ea"/>
              </a:rPr>
              <a:t>MemR+MemW+P</a:t>
            </a:r>
            <a:r>
              <a:rPr kumimoji="1" lang="en-US" altLang="zh-CN" sz="2000" b="1" baseline="-18000" dirty="0" err="1">
                <a:latin typeface="+mn-ea"/>
              </a:rPr>
              <a:t>i</a:t>
            </a:r>
            <a:r>
              <a:rPr kumimoji="1" lang="en-US" altLang="zh-CN" sz="2000" b="1" dirty="0">
                <a:latin typeface="+mn-ea"/>
              </a:rPr>
              <a:t> </a:t>
            </a:r>
            <a:endParaRPr lang="zh-CN" altLang="en-US" sz="2000" dirty="0">
              <a:latin typeface="+mn-ea"/>
            </a:endParaRPr>
          </a:p>
          <a:p>
            <a:pPr>
              <a:spcBef>
                <a:spcPts val="900"/>
              </a:spcBef>
            </a:pPr>
            <a:r>
              <a:rPr kumimoji="1" lang="en-US" altLang="zh-CN" sz="2000" b="1" dirty="0">
                <a:latin typeface="+mn-ea"/>
                <a:ea typeface="+mn-ea"/>
              </a:rPr>
              <a:t>       32-log</a:t>
            </a:r>
            <a:r>
              <a:rPr kumimoji="1" lang="en-US" altLang="zh-CN" sz="2000" b="1" baseline="-18000" dirty="0">
                <a:latin typeface="+mn-ea"/>
                <a:ea typeface="+mn-ea"/>
              </a:rPr>
              <a:t>2</a:t>
            </a:r>
            <a:r>
              <a:rPr kumimoji="1" lang="en-US" altLang="zh-CN" sz="2000" b="1" dirty="0">
                <a:latin typeface="+mn-ea"/>
                <a:ea typeface="+mn-ea"/>
              </a:rPr>
              <a:t>(4B/1B)</a:t>
            </a:r>
            <a:endParaRPr kumimoji="1" lang="en-US" altLang="zh-CN" sz="2000" b="1" dirty="0">
              <a:latin typeface="+mn-ea"/>
              <a:ea typeface="+mn-ea"/>
            </a:endParaRPr>
          </a:p>
          <a:p>
            <a:pPr>
              <a:spcBef>
                <a:spcPts val="1000"/>
              </a:spcBef>
            </a:pPr>
            <a:r>
              <a:rPr kumimoji="1" lang="en-US" altLang="zh-CN" sz="2000" b="1" dirty="0">
                <a:latin typeface="+mn-ea"/>
                <a:ea typeface="+mn-ea"/>
              </a:rPr>
              <a:t>     30b</a:t>
            </a:r>
            <a:endParaRPr kumimoji="1" lang="en-US" altLang="zh-CN" sz="2000" b="1" dirty="0">
              <a:latin typeface="+mn-ea"/>
              <a:ea typeface="+mn-ea"/>
            </a:endParaRPr>
          </a:p>
        </p:txBody>
      </p:sp>
      <p:cxnSp>
        <p:nvCxnSpPr>
          <p:cNvPr id="162" name="直接箭头连接符 161"/>
          <p:cNvCxnSpPr/>
          <p:nvPr/>
        </p:nvCxnSpPr>
        <p:spPr bwMode="auto">
          <a:xfrm>
            <a:off x="6156000" y="3786559"/>
            <a:ext cx="43204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14" name="组合 113"/>
          <p:cNvGrpSpPr/>
          <p:nvPr/>
        </p:nvGrpSpPr>
        <p:grpSpPr>
          <a:xfrm>
            <a:off x="1475657" y="3541654"/>
            <a:ext cx="1584175" cy="1543530"/>
            <a:chOff x="1475657" y="3421891"/>
            <a:chExt cx="1584175" cy="1543530"/>
          </a:xfrm>
        </p:grpSpPr>
        <p:sp>
          <p:nvSpPr>
            <p:cNvPr id="165" name="Text Box 320"/>
            <p:cNvSpPr txBox="1">
              <a:spLocks noChangeArrowheads="1"/>
            </p:cNvSpPr>
            <p:nvPr/>
          </p:nvSpPr>
          <p:spPr bwMode="auto">
            <a:xfrm>
              <a:off x="1475657" y="3421891"/>
              <a:ext cx="216024" cy="25078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400" b="1" dirty="0">
                  <a:latin typeface="宋体" panose="02010600030101010101" pitchFamily="2" charset="-122"/>
                </a:rPr>
                <a:t>30</a:t>
              </a:r>
              <a:endParaRPr lang="zh-CN" altLang="en-US" sz="14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66" name="Text Box 320"/>
            <p:cNvSpPr txBox="1">
              <a:spLocks noChangeArrowheads="1"/>
            </p:cNvSpPr>
            <p:nvPr/>
          </p:nvSpPr>
          <p:spPr bwMode="auto">
            <a:xfrm>
              <a:off x="1763689" y="4749397"/>
              <a:ext cx="1296143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 1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167" name="直接箭头连接符 166"/>
            <p:cNvCxnSpPr/>
            <p:nvPr/>
          </p:nvCxnSpPr>
          <p:spPr bwMode="auto">
            <a:xfrm flipV="1">
              <a:off x="1840328" y="4605381"/>
              <a:ext cx="0" cy="14153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8" name="直接箭头连接符 167"/>
            <p:cNvCxnSpPr/>
            <p:nvPr/>
          </p:nvCxnSpPr>
          <p:spPr bwMode="auto">
            <a:xfrm flipV="1">
              <a:off x="2915816" y="4275373"/>
              <a:ext cx="0" cy="4740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69" name="直接箭头连接符 168"/>
            <p:cNvCxnSpPr/>
            <p:nvPr/>
          </p:nvCxnSpPr>
          <p:spPr bwMode="auto">
            <a:xfrm flipH="1">
              <a:off x="2051722" y="4389357"/>
              <a:ext cx="86409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</p:grpSp>
      <p:sp>
        <p:nvSpPr>
          <p:cNvPr id="171" name="线形标注 2 170"/>
          <p:cNvSpPr/>
          <p:nvPr/>
        </p:nvSpPr>
        <p:spPr bwMode="auto">
          <a:xfrm>
            <a:off x="611560" y="2780928"/>
            <a:ext cx="1446176" cy="547576"/>
          </a:xfrm>
          <a:prstGeom prst="borderCallout2">
            <a:avLst>
              <a:gd name="adj1" fmla="val 50907"/>
              <a:gd name="adj2" fmla="val 100915"/>
              <a:gd name="adj3" fmla="val 50562"/>
              <a:gd name="adj4" fmla="val 121490"/>
              <a:gd name="adj5" fmla="val 25214"/>
              <a:gd name="adj6" fmla="val 265485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0000"/>
              </a:lnSpc>
            </a:pPr>
            <a:r>
              <a:rPr lang="zh-CN" altLang="en-US" sz="1600" b="1" dirty="0">
                <a:latin typeface="+mn-ea"/>
                <a:cs typeface="Arial Unicode MS" panose="020B0604020202020204" charset="-122"/>
              </a:rPr>
              <a:t>无数据掩码线</a:t>
            </a:r>
            <a:endParaRPr lang="en-US" altLang="zh-CN" sz="1600" b="1" dirty="0">
              <a:latin typeface="+mn-ea"/>
              <a:cs typeface="Arial Unicode MS" panose="020B0604020202020204" charset="-122"/>
            </a:endParaRPr>
          </a:p>
          <a:p>
            <a:pPr algn="ctr">
              <a:lnSpc>
                <a:spcPct val="100000"/>
              </a:lnSpc>
            </a:pP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(1</a:t>
            </a:r>
            <a:r>
              <a:rPr lang="zh-CN" altLang="en-US" sz="1600" b="1" dirty="0">
                <a:latin typeface="+mn-ea"/>
                <a:cs typeface="Arial Unicode MS" panose="020B0604020202020204" charset="-122"/>
              </a:rPr>
              <a:t>种访问粒度</a:t>
            </a: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)</a:t>
            </a:r>
            <a:endParaRPr lang="en-US" altLang="zh-CN" sz="1600" b="1" dirty="0">
              <a:latin typeface="+mn-ea"/>
              <a:ea typeface="+mn-ea"/>
            </a:endParaRPr>
          </a:p>
        </p:txBody>
      </p:sp>
      <p:sp>
        <p:nvSpPr>
          <p:cNvPr id="178" name="AutoShape 329">
            <a:hlinkClick r:id="rId7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" name="Text Box 116"/>
          <p:cNvSpPr txBox="1">
            <a:spLocks noChangeArrowheads="1"/>
          </p:cNvSpPr>
          <p:nvPr/>
        </p:nvSpPr>
        <p:spPr bwMode="auto">
          <a:xfrm>
            <a:off x="1331640" y="5879887"/>
            <a:ext cx="489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pPr marL="269875" indent="-269875">
              <a:lnSpc>
                <a:spcPct val="90000"/>
              </a:lnSpc>
            </a:pPr>
            <a:r>
              <a:rPr kumimoji="1"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kumimoji="1" lang="zh-CN" altLang="en-US" sz="1800" b="1" dirty="0">
                <a:latin typeface="宋体" panose="02010600030101010101" pitchFamily="2" charset="-122"/>
              </a:rPr>
              <a:t>数据转换电路采用</a:t>
            </a:r>
            <a:r>
              <a:rPr lang="zh-CN" altLang="en-US" sz="1800" b="1" dirty="0">
                <a:latin typeface="宋体" panose="02010600030101010101" pitchFamily="2" charset="-122"/>
              </a:rPr>
              <a:t>大端方式时如何连接？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164" name="Text Box 116"/>
          <p:cNvSpPr txBox="1">
            <a:spLocks noChangeArrowheads="1"/>
          </p:cNvSpPr>
          <p:nvPr/>
        </p:nvSpPr>
        <p:spPr bwMode="auto">
          <a:xfrm>
            <a:off x="1331640" y="6237312"/>
            <a:ext cx="3384376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pPr marL="269875" indent="-269875">
              <a:lnSpc>
                <a:spcPct val="90000"/>
              </a:lnSpc>
            </a:pPr>
            <a:r>
              <a:rPr kumimoji="1"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kumimoji="1" lang="en-US" altLang="zh-CN" sz="1800" b="1" dirty="0" err="1">
                <a:latin typeface="宋体" panose="02010600030101010101" pitchFamily="2" charset="-122"/>
              </a:rPr>
              <a:t>lb</a:t>
            </a:r>
            <a:r>
              <a:rPr kumimoji="1" lang="zh-CN" altLang="en-US" sz="1800" b="1" dirty="0">
                <a:latin typeface="宋体" panose="02010600030101010101" pitchFamily="2" charset="-122"/>
              </a:rPr>
              <a:t>指令的数据</a:t>
            </a:r>
            <a:r>
              <a:rPr lang="zh-CN" altLang="en-US" sz="1800" b="1" dirty="0">
                <a:latin typeface="宋体" panose="02010600030101010101" pitchFamily="2" charset="-122"/>
              </a:rPr>
              <a:t>如何转换？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170" name="Text Box 116"/>
          <p:cNvSpPr txBox="1">
            <a:spLocks noChangeArrowheads="1"/>
          </p:cNvSpPr>
          <p:nvPr/>
        </p:nvSpPr>
        <p:spPr bwMode="auto">
          <a:xfrm>
            <a:off x="4860031" y="6237312"/>
            <a:ext cx="3240361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</p:spPr>
        <p:txBody>
          <a:bodyPr wrap="square" lIns="18000" tIns="10800" rIns="18000" bIns="10800" anchor="ctr" anchorCtr="0">
            <a:noAutofit/>
          </a:bodyPr>
          <a:lstStyle/>
          <a:p>
            <a:pPr marL="269875" indent="-269875">
              <a:lnSpc>
                <a:spcPct val="90000"/>
              </a:lnSpc>
            </a:pPr>
            <a:r>
              <a:rPr kumimoji="1" lang="zh-CN" altLang="en-US" sz="1800" b="1" dirty="0">
                <a:latin typeface="宋体" panose="02010600030101010101" pitchFamily="2" charset="-122"/>
              </a:rPr>
              <a:t>用</a:t>
            </a:r>
            <a:r>
              <a:rPr kumimoji="1" lang="en-US" altLang="zh-CN" sz="1800" b="1" dirty="0">
                <a:latin typeface="宋体" panose="02010600030101010101" pitchFamily="2" charset="-122"/>
              </a:rPr>
              <a:t>A</a:t>
            </a:r>
            <a:r>
              <a:rPr kumimoji="1" lang="en-US" altLang="zh-CN" sz="1800" b="1" baseline="-18000" dirty="0">
                <a:latin typeface="宋体" panose="02010600030101010101" pitchFamily="2" charset="-122"/>
              </a:rPr>
              <a:t>1</a:t>
            </a:r>
            <a:r>
              <a:rPr kumimoji="1" lang="en-US" altLang="zh-CN" sz="1800" b="1" dirty="0">
                <a:latin typeface="宋体" panose="02010600030101010101" pitchFamily="2" charset="-122"/>
              </a:rPr>
              <a:t>A</a:t>
            </a:r>
            <a:r>
              <a:rPr kumimoji="1" lang="en-US" altLang="zh-CN" sz="1800" b="1" baseline="-18000" dirty="0">
                <a:latin typeface="宋体" panose="02010600030101010101" pitchFamily="2" charset="-122"/>
              </a:rPr>
              <a:t>0</a:t>
            </a:r>
            <a:r>
              <a:rPr kumimoji="1" lang="zh-CN" altLang="en-US" sz="1800" b="1" dirty="0">
                <a:latin typeface="宋体" panose="02010600030101010101" pitchFamily="2" charset="-122"/>
              </a:rPr>
              <a:t>选择</a:t>
            </a:r>
            <a:r>
              <a:rPr kumimoji="1" lang="en-US" altLang="zh-CN" sz="1800" b="1" dirty="0">
                <a:latin typeface="宋体" panose="02010600030101010101" pitchFamily="2" charset="-122"/>
              </a:rPr>
              <a:t>8</a:t>
            </a:r>
            <a:r>
              <a:rPr kumimoji="1" lang="zh-CN" altLang="en-US" sz="1800" b="1" dirty="0">
                <a:latin typeface="宋体" panose="02010600030101010101" pitchFamily="2" charset="-122"/>
              </a:rPr>
              <a:t>位数据，再位扩展</a:t>
            </a:r>
            <a:endParaRPr lang="zh-CN" altLang="en-US" sz="1800" b="1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7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75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1" dur="7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  <p:bldP spid="148" grpId="0" bldLvl="0" animBg="1"/>
      <p:bldP spid="164" grpId="0" bldLvl="0" animBg="1"/>
      <p:bldP spid="170" grpId="0" bldLvl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16"/>
          <p:cNvSpPr txBox="1">
            <a:spLocks noChangeArrowheads="1"/>
          </p:cNvSpPr>
          <p:nvPr/>
        </p:nvSpPr>
        <p:spPr bwMode="auto">
          <a:xfrm>
            <a:off x="152399" y="332656"/>
            <a:ext cx="8785225" cy="12757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kumimoji="1"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、部件互连设计</a:t>
            </a:r>
            <a:endParaRPr kumimoji="1"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设计方法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r>
              <a:rPr kumimoji="1" lang="zh-CN" altLang="en-US" sz="2200" b="1" u="sng" dirty="0">
                <a:latin typeface="宋体" panose="02010600030101010101" pitchFamily="2" charset="-122"/>
              </a:rPr>
              <a:t>逐条增加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每条指令执行过程的部件、引脚连线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kumimoji="1" lang="en-US" altLang="zh-CN" b="1" dirty="0">
                <a:latin typeface="宋体" panose="02010600030101010101" pitchFamily="2" charset="-122"/>
              </a:rPr>
              <a:t>                    </a:t>
            </a:r>
            <a:r>
              <a:rPr kumimoji="1" lang="en-US" altLang="zh-CN" dirty="0">
                <a:latin typeface="宋体" panose="02010600030101010101" pitchFamily="2" charset="-122"/>
              </a:rPr>
              <a:t>└</a:t>
            </a:r>
            <a:r>
              <a:rPr kumimoji="1" lang="en-US" altLang="zh-CN" b="1" dirty="0">
                <a:latin typeface="宋体" panose="02010600030101010101" pitchFamily="2" charset="-122"/>
              </a:rPr>
              <a:t>←</a:t>
            </a:r>
            <a:r>
              <a:rPr kumimoji="1" lang="zh-CN" altLang="en-US" b="1" dirty="0">
                <a:latin typeface="宋体" panose="02010600030101010101" pitchFamily="2" charset="-122"/>
              </a:rPr>
              <a:t>专用结构通路所需</a:t>
            </a:r>
            <a:endParaRPr kumimoji="1"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5" name="Text Box 116"/>
          <p:cNvSpPr txBox="1">
            <a:spLocks noChangeArrowheads="1"/>
          </p:cNvSpPr>
          <p:nvPr/>
        </p:nvSpPr>
        <p:spPr bwMode="auto">
          <a:xfrm>
            <a:off x="179263" y="1484784"/>
            <a:ext cx="7910325" cy="25776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add/sub/</a:t>
            </a:r>
            <a:r>
              <a:rPr kumimoji="1"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slt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r>
              <a:rPr lang="en-US" altLang="zh-CN" sz="2000" b="1" dirty="0" err="1">
                <a:latin typeface="宋体" panose="02010600030101010101" pitchFamily="2" charset="-122"/>
                <a:sym typeface="+mn-ea"/>
              </a:rPr>
              <a:t>rd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(rs1)OP(rs2)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add/</a:t>
            </a:r>
            <a:r>
              <a:rPr lang="en-US" altLang="zh-CN" sz="2000" b="1" dirty="0" err="1">
                <a:latin typeface="宋体" panose="02010600030101010101" pitchFamily="2" charset="-122"/>
                <a:sym typeface="+mn-ea"/>
              </a:rPr>
              <a:t>slt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en-US" altLang="zh-CN" sz="2000" b="1" dirty="0" err="1">
                <a:latin typeface="宋体" panose="02010600030101010101" pitchFamily="2" charset="-122"/>
                <a:sym typeface="+mn-ea"/>
              </a:rPr>
              <a:t>sltu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数据路径的设计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500"/>
              </a:spcBef>
            </a:pP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 err="1">
                <a:solidFill>
                  <a:srgbClr val="3333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solidFill>
                  <a:srgbClr val="3333FF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时序的组织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Text Box 116"/>
          <p:cNvSpPr txBox="1">
            <a:spLocks noChangeArrowheads="1"/>
          </p:cNvSpPr>
          <p:nvPr/>
        </p:nvSpPr>
        <p:spPr bwMode="auto">
          <a:xfrm>
            <a:off x="6455385" y="2307425"/>
            <a:ext cx="2509103" cy="34939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1950" indent="-361950" algn="l">
              <a:lnSpc>
                <a:spcPct val="105000"/>
              </a:lnSpc>
            </a:pP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注</a:t>
            </a: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:</a:t>
            </a:r>
            <a:r>
              <a:rPr lang="en-US" altLang="zh-CN" b="1" dirty="0">
                <a:latin typeface="宋体" panose="02010600030101010101" pitchFamily="2" charset="-122"/>
              </a:rPr>
              <a:t>ALU</a:t>
            </a:r>
            <a:r>
              <a:rPr lang="zh-CN" altLang="en-US" b="1" dirty="0">
                <a:latin typeface="宋体" panose="02010600030101010101" pitchFamily="2" charset="-122"/>
              </a:rPr>
              <a:t>的</a:t>
            </a:r>
            <a:r>
              <a:rPr lang="en-US" altLang="zh-CN" b="1" dirty="0">
                <a:latin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</a:rPr>
              <a:t>端连接</a:t>
            </a:r>
            <a:r>
              <a:rPr lang="en-US" altLang="zh-CN" b="1" dirty="0">
                <a:latin typeface="宋体" panose="02010600030101010101" pitchFamily="2" charset="-122"/>
              </a:rPr>
              <a:t>(rs1)</a:t>
            </a:r>
            <a:r>
              <a:rPr lang="zh-CN" altLang="en-US" b="1" dirty="0"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32" name="Text Box 116"/>
          <p:cNvSpPr txBox="1">
            <a:spLocks noChangeArrowheads="1"/>
          </p:cNvSpPr>
          <p:nvPr/>
        </p:nvSpPr>
        <p:spPr bwMode="auto">
          <a:xfrm>
            <a:off x="2915816" y="3592920"/>
            <a:ext cx="5832648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highlight>
                  <a:srgbClr val="CCCCFF"/>
                </a:highlight>
                <a:latin typeface="宋体" panose="02010600030101010101" pitchFamily="2" charset="-122"/>
              </a:rPr>
              <a:t>写</a:t>
            </a:r>
            <a:r>
              <a:rPr lang="en-US" altLang="zh-CN" sz="2200" b="1" dirty="0">
                <a:highlight>
                  <a:srgbClr val="CCCCFF"/>
                </a:highlight>
                <a:latin typeface="宋体" panose="02010600030101010101" pitchFamily="2" charset="-122"/>
              </a:rPr>
              <a:t>GPRs</a:t>
            </a:r>
            <a:r>
              <a:rPr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指令周期</a:t>
            </a:r>
            <a:r>
              <a:rPr kumimoji="1" lang="zh-CN" altLang="en-US" sz="2200" b="1" u="sng" dirty="0">
                <a:latin typeface="宋体" panose="02010600030101010101" pitchFamily="2" charset="-122"/>
              </a:rPr>
              <a:t>结束时</a:t>
            </a: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1800" b="1" dirty="0">
                <a:latin typeface="宋体" panose="02010600030101010101" pitchFamily="2" charset="-122"/>
              </a:rPr>
              <a:t>←指令周期最短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 flipH="1" flipV="1">
            <a:off x="4284000" y="3448904"/>
            <a:ext cx="3096000" cy="756000"/>
          </a:xfrm>
          <a:prstGeom prst="line">
            <a:avLst/>
          </a:prstGeom>
          <a:ln w="9525">
            <a:solidFill>
              <a:srgbClr val="990099"/>
            </a:solidFill>
            <a:prstDash val="sysDash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线形标注 2 43"/>
          <p:cNvSpPr/>
          <p:nvPr/>
        </p:nvSpPr>
        <p:spPr bwMode="auto">
          <a:xfrm>
            <a:off x="395536" y="4520844"/>
            <a:ext cx="936104" cy="550071"/>
          </a:xfrm>
          <a:prstGeom prst="borderCallout2">
            <a:avLst>
              <a:gd name="adj1" fmla="val 97045"/>
              <a:gd name="adj2" fmla="val 48662"/>
              <a:gd name="adj3" fmla="val 120427"/>
              <a:gd name="adj4" fmla="val 48605"/>
              <a:gd name="adj5" fmla="val 130765"/>
              <a:gd name="adj6" fmla="val 112202"/>
            </a:avLst>
          </a:prstGeom>
          <a:noFill/>
          <a:ln w="15875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r>
              <a:rPr lang="zh-CN" altLang="en-US" sz="1600" b="1" dirty="0">
                <a:latin typeface="宋体" panose="02010600030101010101" pitchFamily="2" charset="-122"/>
              </a:rPr>
              <a:t>读为组合逻辑操作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120" name="线形标注 2 119"/>
          <p:cNvSpPr/>
          <p:nvPr/>
        </p:nvSpPr>
        <p:spPr bwMode="auto">
          <a:xfrm>
            <a:off x="5796000" y="5879748"/>
            <a:ext cx="1152000" cy="252000"/>
          </a:xfrm>
          <a:prstGeom prst="borderCallout2">
            <a:avLst>
              <a:gd name="adj1" fmla="val 472"/>
              <a:gd name="adj2" fmla="val 49389"/>
              <a:gd name="adj3" fmla="val -63220"/>
              <a:gd name="adj4" fmla="val 49877"/>
              <a:gd name="adj5" fmla="val -626539"/>
              <a:gd name="adj6" fmla="val 139268"/>
            </a:avLst>
          </a:prstGeom>
          <a:noFill/>
          <a:ln w="15875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工作脉冲</a:t>
            </a:r>
            <a:r>
              <a:rPr lang="en-US" altLang="zh-CN" sz="1600" b="1" dirty="0">
                <a:latin typeface="宋体" panose="02010600030101010101" pitchFamily="2" charset="-122"/>
              </a:rPr>
              <a:t>P0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3996000" y="3259936"/>
            <a:ext cx="288000" cy="216024"/>
          </a:xfrm>
          <a:prstGeom prst="rect">
            <a:avLst/>
          </a:prstGeom>
          <a:solidFill>
            <a:srgbClr val="CC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P</a:t>
            </a:r>
            <a:r>
              <a:rPr lang="en-US" altLang="zh-CN" sz="1800" b="1" baseline="-18000" dirty="0"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endParaRPr lang="en-US" altLang="zh-CN" sz="1800" b="1" baseline="-18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6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1" name="组合 110"/>
          <p:cNvGrpSpPr/>
          <p:nvPr/>
        </p:nvGrpSpPr>
        <p:grpSpPr>
          <a:xfrm>
            <a:off x="1800453" y="2179936"/>
            <a:ext cx="4643755" cy="1331595"/>
            <a:chOff x="5387" y="2268"/>
            <a:chExt cx="7313" cy="2097"/>
          </a:xfrm>
        </p:grpSpPr>
        <p:sp>
          <p:nvSpPr>
            <p:cNvPr id="112" name="Text Box 323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8277" y="2722"/>
              <a:ext cx="907" cy="96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GPRs</a:t>
              </a:r>
              <a:endParaRPr kumimoji="1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3" name="Text Box 363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6007" y="2663"/>
              <a:ext cx="567" cy="85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rd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rs2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rs1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4" name="直接连接符 113"/>
            <p:cNvCxnSpPr/>
            <p:nvPr>
              <p:custDataLst>
                <p:tags r:id="rId3"/>
              </p:custDataLst>
            </p:nvPr>
          </p:nvCxnSpPr>
          <p:spPr bwMode="auto">
            <a:xfrm>
              <a:off x="5951" y="2551"/>
              <a:ext cx="0" cy="14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直接连接符 114"/>
            <p:cNvCxnSpPr/>
            <p:nvPr>
              <p:custDataLst>
                <p:tags r:id="rId4"/>
              </p:custDataLst>
            </p:nvPr>
          </p:nvCxnSpPr>
          <p:spPr>
            <a:xfrm>
              <a:off x="9184" y="3514"/>
              <a:ext cx="2154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AutoShape 1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 rot="16200000">
              <a:off x="11392" y="2833"/>
              <a:ext cx="1021" cy="569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ALU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9" name="直接连接符 118"/>
            <p:cNvCxnSpPr/>
            <p:nvPr>
              <p:custDataLst>
                <p:tags r:id="rId6"/>
              </p:custDataLst>
            </p:nvPr>
          </p:nvCxnSpPr>
          <p:spPr>
            <a:xfrm>
              <a:off x="5950" y="2947"/>
              <a:ext cx="2324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>
              <p:custDataLst>
                <p:tags r:id="rId7"/>
              </p:custDataLst>
            </p:nvPr>
          </p:nvCxnSpPr>
          <p:spPr>
            <a:xfrm>
              <a:off x="5950" y="3230"/>
              <a:ext cx="2324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>
              <p:custDataLst>
                <p:tags r:id="rId8"/>
              </p:custDataLst>
            </p:nvPr>
          </p:nvCxnSpPr>
          <p:spPr>
            <a:xfrm>
              <a:off x="5951" y="3514"/>
              <a:ext cx="2324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82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8505" y="3686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25" name="直接连接符 124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9014" y="3685"/>
              <a:ext cx="0" cy="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7" name="直接连接符 126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11960" y="3514"/>
              <a:ext cx="0" cy="51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28" name="TextBox 23"/>
            <p:cNvSpPr txBox="1"/>
            <p:nvPr>
              <p:custDataLst>
                <p:tags r:id="rId12"/>
              </p:custDataLst>
            </p:nvPr>
          </p:nvSpPr>
          <p:spPr>
            <a:xfrm>
              <a:off x="11566" y="4025"/>
              <a:ext cx="1134" cy="34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ALUctr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" name="TextBox 24"/>
            <p:cNvSpPr txBox="1"/>
            <p:nvPr>
              <p:custDataLst>
                <p:tags r:id="rId13"/>
              </p:custDataLst>
            </p:nvPr>
          </p:nvSpPr>
          <p:spPr>
            <a:xfrm>
              <a:off x="7939" y="4025"/>
              <a:ext cx="907" cy="34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RegWr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0" name="直接连接符 129"/>
            <p:cNvCxnSpPr/>
            <p:nvPr>
              <p:custDataLst>
                <p:tags r:id="rId14"/>
              </p:custDataLst>
            </p:nvPr>
          </p:nvCxnSpPr>
          <p:spPr>
            <a:xfrm>
              <a:off x="5387" y="3629"/>
              <a:ext cx="567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26"/>
            <p:cNvSpPr txBox="1"/>
            <p:nvPr>
              <p:custDataLst>
                <p:tags r:id="rId15"/>
              </p:custDataLst>
            </p:nvPr>
          </p:nvSpPr>
          <p:spPr>
            <a:xfrm>
              <a:off x="5557" y="2595"/>
              <a:ext cx="340" cy="1020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指令字</a:t>
              </a:r>
              <a:endParaRPr lang="zh-CN" altLang="en-US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2" name="直接连接符 131"/>
            <p:cNvCxnSpPr/>
            <p:nvPr>
              <p:custDataLst>
                <p:tags r:id="rId16"/>
              </p:custDataLst>
            </p:nvPr>
          </p:nvCxnSpPr>
          <p:spPr>
            <a:xfrm>
              <a:off x="11338" y="2834"/>
              <a:ext cx="283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>
              <p:custDataLst>
                <p:tags r:id="rId17"/>
              </p:custDataLst>
            </p:nvPr>
          </p:nvCxnSpPr>
          <p:spPr>
            <a:xfrm flipH="1">
              <a:off x="8957" y="2268"/>
              <a:ext cx="3458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>
              <p:custDataLst>
                <p:tags r:id="rId18"/>
              </p:custDataLst>
            </p:nvPr>
          </p:nvCxnSpPr>
          <p:spPr>
            <a:xfrm>
              <a:off x="12189" y="3123"/>
              <a:ext cx="227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>
              <p:custDataLst>
                <p:tags r:id="rId19"/>
              </p:custDataLst>
            </p:nvPr>
          </p:nvCxnSpPr>
          <p:spPr>
            <a:xfrm flipV="1">
              <a:off x="12416" y="2268"/>
              <a:ext cx="0" cy="85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>
              <p:custDataLst>
                <p:tags r:id="rId20"/>
              </p:custDataLst>
            </p:nvPr>
          </p:nvCxnSpPr>
          <p:spPr>
            <a:xfrm>
              <a:off x="7993" y="2268"/>
              <a:ext cx="964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>
              <p:custDataLst>
                <p:tags r:id="rId21"/>
              </p:custDataLst>
            </p:nvPr>
          </p:nvCxnSpPr>
          <p:spPr>
            <a:xfrm>
              <a:off x="7993" y="2778"/>
              <a:ext cx="283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>
              <p:custDataLst>
                <p:tags r:id="rId22"/>
              </p:custDataLst>
            </p:nvPr>
          </p:nvCxnSpPr>
          <p:spPr>
            <a:xfrm flipV="1">
              <a:off x="7993" y="2268"/>
              <a:ext cx="0" cy="51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>
              <p:custDataLst>
                <p:tags r:id="rId23"/>
              </p:custDataLst>
            </p:nvPr>
          </p:nvCxnSpPr>
          <p:spPr>
            <a:xfrm>
              <a:off x="9921" y="2835"/>
              <a:ext cx="1417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>
              <p:custDataLst>
                <p:tags r:id="rId24"/>
              </p:custDataLst>
            </p:nvPr>
          </p:nvCxnSpPr>
          <p:spPr>
            <a:xfrm>
              <a:off x="9184" y="3237"/>
              <a:ext cx="737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>
              <p:custDataLst>
                <p:tags r:id="rId25"/>
              </p:custDataLst>
            </p:nvPr>
          </p:nvCxnSpPr>
          <p:spPr>
            <a:xfrm flipV="1">
              <a:off x="9921" y="2835"/>
              <a:ext cx="0" cy="397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>
              <p:custDataLst>
                <p:tags r:id="rId26"/>
              </p:custDataLst>
            </p:nvPr>
          </p:nvCxnSpPr>
          <p:spPr>
            <a:xfrm>
              <a:off x="11338" y="3515"/>
              <a:ext cx="283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组合 145"/>
          <p:cNvGrpSpPr/>
          <p:nvPr/>
        </p:nvGrpSpPr>
        <p:grpSpPr>
          <a:xfrm>
            <a:off x="1692000" y="4079748"/>
            <a:ext cx="6840640" cy="220770"/>
            <a:chOff x="1727240" y="3789040"/>
            <a:chExt cx="6840640" cy="220770"/>
          </a:xfrm>
        </p:grpSpPr>
        <p:cxnSp>
          <p:nvCxnSpPr>
            <p:cNvPr id="147" name="直接连接符 146"/>
            <p:cNvCxnSpPr/>
            <p:nvPr>
              <p:custDataLst>
                <p:tags r:id="rId27"/>
              </p:custDataLst>
            </p:nvPr>
          </p:nvCxnSpPr>
          <p:spPr>
            <a:xfrm>
              <a:off x="5543888" y="4001043"/>
              <a:ext cx="19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>
              <p:custDataLst>
                <p:tags r:id="rId28"/>
              </p:custDataLst>
            </p:nvPr>
          </p:nvCxnSpPr>
          <p:spPr>
            <a:xfrm>
              <a:off x="5543664" y="3793810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>
              <p:custDataLst>
                <p:tags r:id="rId29"/>
              </p:custDataLst>
            </p:nvPr>
          </p:nvCxnSpPr>
          <p:spPr>
            <a:xfrm>
              <a:off x="2519592" y="3789040"/>
              <a:ext cx="302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>
              <p:custDataLst>
                <p:tags r:id="rId30"/>
              </p:custDataLst>
            </p:nvPr>
          </p:nvCxnSpPr>
          <p:spPr>
            <a:xfrm flipH="1">
              <a:off x="2517676" y="3793810"/>
              <a:ext cx="1588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>
              <p:custDataLst>
                <p:tags r:id="rId31"/>
              </p:custDataLst>
            </p:nvPr>
          </p:nvCxnSpPr>
          <p:spPr>
            <a:xfrm>
              <a:off x="2375264" y="4001043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>
              <p:custDataLst>
                <p:tags r:id="rId32"/>
              </p:custDataLst>
            </p:nvPr>
          </p:nvCxnSpPr>
          <p:spPr>
            <a:xfrm>
              <a:off x="7487879" y="3789040"/>
              <a:ext cx="1" cy="216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>
              <p:custDataLst>
                <p:tags r:id="rId33"/>
              </p:custDataLst>
            </p:nvPr>
          </p:nvCxnSpPr>
          <p:spPr>
            <a:xfrm>
              <a:off x="7487880" y="3789040"/>
              <a:ext cx="108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133"/>
            <p:cNvSpPr txBox="1"/>
            <p:nvPr>
              <p:custDataLst>
                <p:tags r:id="rId34"/>
              </p:custDataLst>
            </p:nvPr>
          </p:nvSpPr>
          <p:spPr>
            <a:xfrm>
              <a:off x="1727240" y="3789064"/>
              <a:ext cx="576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1475656" y="4331234"/>
            <a:ext cx="7058367" cy="1764000"/>
            <a:chOff x="1475752" y="4293296"/>
            <a:chExt cx="7058367" cy="1764000"/>
          </a:xfrm>
        </p:grpSpPr>
        <p:cxnSp>
          <p:nvCxnSpPr>
            <p:cNvPr id="156" name="直接连接符 155"/>
            <p:cNvCxnSpPr/>
            <p:nvPr>
              <p:custDataLst>
                <p:tags r:id="rId35"/>
              </p:custDataLst>
            </p:nvPr>
          </p:nvCxnSpPr>
          <p:spPr>
            <a:xfrm>
              <a:off x="2339752" y="4365216"/>
              <a:ext cx="1224000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>
              <p:custDataLst>
                <p:tags r:id="rId36"/>
              </p:custDataLst>
            </p:nvPr>
          </p:nvCxnSpPr>
          <p:spPr>
            <a:xfrm>
              <a:off x="2339752" y="4581240"/>
              <a:ext cx="1224000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>
              <p:custDataLst>
                <p:tags r:id="rId37"/>
              </p:custDataLst>
            </p:nvPr>
          </p:nvCxnSpPr>
          <p:spPr>
            <a:xfrm flipV="1">
              <a:off x="3851919" y="4365216"/>
              <a:ext cx="4536000" cy="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>
              <p:custDataLst>
                <p:tags r:id="rId38"/>
              </p:custDataLst>
            </p:nvPr>
          </p:nvCxnSpPr>
          <p:spPr>
            <a:xfrm flipV="1">
              <a:off x="3851919" y="4581240"/>
              <a:ext cx="4536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08"/>
            <p:cNvSpPr txBox="1"/>
            <p:nvPr>
              <p:custDataLst>
                <p:tags r:id="rId39"/>
              </p:custDataLst>
            </p:nvPr>
          </p:nvSpPr>
          <p:spPr>
            <a:xfrm>
              <a:off x="3923928" y="4365216"/>
              <a:ext cx="540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61" name="直接连接符 160"/>
            <p:cNvCxnSpPr/>
            <p:nvPr>
              <p:custDataLst>
                <p:tags r:id="rId40"/>
              </p:custDataLst>
            </p:nvPr>
          </p:nvCxnSpPr>
          <p:spPr>
            <a:xfrm>
              <a:off x="3707904" y="4365216"/>
              <a:ext cx="0" cy="1692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10"/>
            <p:cNvSpPr txBox="1"/>
            <p:nvPr>
              <p:custDataLst>
                <p:tags r:id="rId41"/>
              </p:custDataLst>
            </p:nvPr>
          </p:nvSpPr>
          <p:spPr>
            <a:xfrm>
              <a:off x="2483904" y="5733368"/>
              <a:ext cx="122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取指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+CU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63" name="直接连接符 162"/>
            <p:cNvCxnSpPr/>
            <p:nvPr>
              <p:custDataLst>
                <p:tags r:id="rId42"/>
              </p:custDataLst>
            </p:nvPr>
          </p:nvCxnSpPr>
          <p:spPr>
            <a:xfrm>
              <a:off x="2339752" y="4941280"/>
              <a:ext cx="1224136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>
              <p:custDataLst>
                <p:tags r:id="rId43"/>
              </p:custDataLst>
            </p:nvPr>
          </p:nvCxnSpPr>
          <p:spPr>
            <a:xfrm>
              <a:off x="3851919" y="4725256"/>
              <a:ext cx="4536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>
              <p:custDataLst>
                <p:tags r:id="rId44"/>
              </p:custDataLst>
            </p:nvPr>
          </p:nvCxnSpPr>
          <p:spPr>
            <a:xfrm>
              <a:off x="4500024" y="508529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>
              <p:custDataLst>
                <p:tags r:id="rId45"/>
              </p:custDataLst>
            </p:nvPr>
          </p:nvCxnSpPr>
          <p:spPr>
            <a:xfrm flipH="1">
              <a:off x="4499992" y="508529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>
              <p:custDataLst>
                <p:tags r:id="rId46"/>
              </p:custDataLst>
            </p:nvPr>
          </p:nvCxnSpPr>
          <p:spPr>
            <a:xfrm flipV="1">
              <a:off x="4788024" y="5085296"/>
              <a:ext cx="2808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>
              <p:custDataLst>
                <p:tags r:id="rId47"/>
              </p:custDataLst>
            </p:nvPr>
          </p:nvCxnSpPr>
          <p:spPr>
            <a:xfrm>
              <a:off x="4788024" y="5301320"/>
              <a:ext cx="2808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TextBox 117"/>
            <p:cNvSpPr txBox="1"/>
            <p:nvPr>
              <p:custDataLst>
                <p:tags r:id="rId48"/>
              </p:custDataLst>
            </p:nvPr>
          </p:nvSpPr>
          <p:spPr>
            <a:xfrm>
              <a:off x="4860032" y="5085296"/>
              <a:ext cx="176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rs1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)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及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rs2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)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70" name="直接连接符 169"/>
            <p:cNvCxnSpPr/>
            <p:nvPr>
              <p:custDataLst>
                <p:tags r:id="rId49"/>
              </p:custDataLst>
            </p:nvPr>
          </p:nvCxnSpPr>
          <p:spPr>
            <a:xfrm>
              <a:off x="4644008" y="5085296"/>
              <a:ext cx="0" cy="972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TextBox 119"/>
            <p:cNvSpPr txBox="1"/>
            <p:nvPr>
              <p:custDataLst>
                <p:tags r:id="rId50"/>
              </p:custDataLst>
            </p:nvPr>
          </p:nvSpPr>
          <p:spPr>
            <a:xfrm>
              <a:off x="3707904" y="5733392"/>
              <a:ext cx="936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GPR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72" name="直接连接符 171"/>
            <p:cNvCxnSpPr/>
            <p:nvPr>
              <p:custDataLst>
                <p:tags r:id="rId51"/>
              </p:custDataLst>
            </p:nvPr>
          </p:nvCxnSpPr>
          <p:spPr>
            <a:xfrm>
              <a:off x="3707904" y="5985295"/>
              <a:ext cx="936000" cy="1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122"/>
            <p:cNvSpPr txBox="1"/>
            <p:nvPr>
              <p:custDataLst>
                <p:tags r:id="rId52"/>
              </p:custDataLst>
            </p:nvPr>
          </p:nvSpPr>
          <p:spPr>
            <a:xfrm>
              <a:off x="4644008" y="5733368"/>
              <a:ext cx="79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ALU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74" name="直接连接符 173"/>
            <p:cNvCxnSpPr/>
            <p:nvPr>
              <p:custDataLst>
                <p:tags r:id="rId53"/>
              </p:custDataLst>
            </p:nvPr>
          </p:nvCxnSpPr>
          <p:spPr>
            <a:xfrm>
              <a:off x="4644007" y="5985295"/>
              <a:ext cx="792000" cy="1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24"/>
            <p:cNvSpPr txBox="1"/>
            <p:nvPr>
              <p:custDataLst>
                <p:tags r:id="rId54"/>
              </p:custDataLst>
            </p:nvPr>
          </p:nvSpPr>
          <p:spPr>
            <a:xfrm>
              <a:off x="1475752" y="4365216"/>
              <a:ext cx="86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zh-CN" altLang="en-US" sz="16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6" name="TextBox 195"/>
            <p:cNvSpPr txBox="1"/>
            <p:nvPr>
              <p:custDataLst>
                <p:tags r:id="rId55"/>
              </p:custDataLst>
            </p:nvPr>
          </p:nvSpPr>
          <p:spPr>
            <a:xfrm>
              <a:off x="1475752" y="4726846"/>
              <a:ext cx="86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  <a:endParaRPr lang="zh-CN" altLang="en-US" sz="16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7" name="TextBox 196"/>
            <p:cNvSpPr txBox="1"/>
            <p:nvPr>
              <p:custDataLst>
                <p:tags r:id="rId56"/>
              </p:custDataLst>
            </p:nvPr>
          </p:nvSpPr>
          <p:spPr>
            <a:xfrm>
              <a:off x="1475752" y="5086092"/>
              <a:ext cx="86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GPRs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出端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8" name="TextBox 197"/>
            <p:cNvSpPr txBox="1"/>
            <p:nvPr>
              <p:custDataLst>
                <p:tags r:id="rId57"/>
              </p:custDataLst>
            </p:nvPr>
          </p:nvSpPr>
          <p:spPr>
            <a:xfrm>
              <a:off x="1475752" y="5446927"/>
              <a:ext cx="86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ALU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出端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79" name="直接连接符 178"/>
            <p:cNvCxnSpPr/>
            <p:nvPr>
              <p:custDataLst>
                <p:tags r:id="rId58"/>
              </p:custDataLst>
            </p:nvPr>
          </p:nvCxnSpPr>
          <p:spPr>
            <a:xfrm>
              <a:off x="2339752" y="4725256"/>
              <a:ext cx="1224136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>
              <p:custDataLst>
                <p:tags r:id="rId59"/>
              </p:custDataLst>
            </p:nvPr>
          </p:nvCxnSpPr>
          <p:spPr>
            <a:xfrm flipV="1">
              <a:off x="2339752" y="5075902"/>
              <a:ext cx="2142728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>
              <p:custDataLst>
                <p:tags r:id="rId60"/>
              </p:custDataLst>
            </p:nvPr>
          </p:nvCxnSpPr>
          <p:spPr>
            <a:xfrm flipV="1">
              <a:off x="2339752" y="5301320"/>
              <a:ext cx="2160240" cy="2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>
              <p:custDataLst>
                <p:tags r:id="rId61"/>
              </p:custDataLst>
            </p:nvPr>
          </p:nvCxnSpPr>
          <p:spPr>
            <a:xfrm>
              <a:off x="2339752" y="5445336"/>
              <a:ext cx="2952000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>
              <p:custDataLst>
                <p:tags r:id="rId62"/>
              </p:custDataLst>
            </p:nvPr>
          </p:nvCxnSpPr>
          <p:spPr>
            <a:xfrm>
              <a:off x="2339752" y="5661360"/>
              <a:ext cx="2952000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>
              <p:custDataLst>
                <p:tags r:id="rId63"/>
              </p:custDataLst>
            </p:nvPr>
          </p:nvCxnSpPr>
          <p:spPr>
            <a:xfrm>
              <a:off x="2483768" y="5985295"/>
              <a:ext cx="1224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>
              <p:custDataLst>
                <p:tags r:id="rId64"/>
              </p:custDataLst>
            </p:nvPr>
          </p:nvCxnSpPr>
          <p:spPr>
            <a:xfrm>
              <a:off x="5292112" y="544533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>
              <p:custDataLst>
                <p:tags r:id="rId65"/>
              </p:custDataLst>
            </p:nvPr>
          </p:nvCxnSpPr>
          <p:spPr>
            <a:xfrm flipH="1">
              <a:off x="5287415" y="544533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/>
            <p:nvPr>
              <p:custDataLst>
                <p:tags r:id="rId66"/>
              </p:custDataLst>
            </p:nvPr>
          </p:nvCxnSpPr>
          <p:spPr>
            <a:xfrm>
              <a:off x="5580111" y="5445336"/>
              <a:ext cx="2952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/>
            <p:nvPr>
              <p:custDataLst>
                <p:tags r:id="rId67"/>
              </p:custDataLst>
            </p:nvPr>
          </p:nvCxnSpPr>
          <p:spPr>
            <a:xfrm>
              <a:off x="5580111" y="5661360"/>
              <a:ext cx="2952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208"/>
            <p:cNvSpPr txBox="1"/>
            <p:nvPr>
              <p:custDataLst>
                <p:tags r:id="rId68"/>
              </p:custDataLst>
            </p:nvPr>
          </p:nvSpPr>
          <p:spPr>
            <a:xfrm>
              <a:off x="5652120" y="5445336"/>
              <a:ext cx="50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90" name="直接连接符 189"/>
            <p:cNvCxnSpPr/>
            <p:nvPr>
              <p:custDataLst>
                <p:tags r:id="rId69"/>
              </p:custDataLst>
            </p:nvPr>
          </p:nvCxnSpPr>
          <p:spPr>
            <a:xfrm flipH="1">
              <a:off x="3563889" y="472525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>
              <p:custDataLst>
                <p:tags r:id="rId70"/>
              </p:custDataLst>
            </p:nvPr>
          </p:nvCxnSpPr>
          <p:spPr>
            <a:xfrm>
              <a:off x="3563888" y="4725256"/>
              <a:ext cx="144000" cy="10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>
              <p:custDataLst>
                <p:tags r:id="rId71"/>
              </p:custDataLst>
            </p:nvPr>
          </p:nvCxnSpPr>
          <p:spPr>
            <a:xfrm>
              <a:off x="3563888" y="436521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>
              <p:custDataLst>
                <p:tags r:id="rId72"/>
              </p:custDataLst>
            </p:nvPr>
          </p:nvCxnSpPr>
          <p:spPr>
            <a:xfrm flipH="1">
              <a:off x="3563889" y="436521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213"/>
            <p:cNvSpPr txBox="1"/>
            <p:nvPr>
              <p:custDataLst>
                <p:tags r:id="rId73"/>
              </p:custDataLst>
            </p:nvPr>
          </p:nvSpPr>
          <p:spPr>
            <a:xfrm>
              <a:off x="2915816" y="4365216"/>
              <a:ext cx="50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旧值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5" name="TextBox 214"/>
            <p:cNvSpPr txBox="1"/>
            <p:nvPr>
              <p:custDataLst>
                <p:tags r:id="rId74"/>
              </p:custDataLst>
            </p:nvPr>
          </p:nvSpPr>
          <p:spPr>
            <a:xfrm>
              <a:off x="2915816" y="4725256"/>
              <a:ext cx="50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旧值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6" name="TextBox 215"/>
            <p:cNvSpPr txBox="1"/>
            <p:nvPr>
              <p:custDataLst>
                <p:tags r:id="rId75"/>
              </p:custDataLst>
            </p:nvPr>
          </p:nvSpPr>
          <p:spPr>
            <a:xfrm>
              <a:off x="2915816" y="5085296"/>
              <a:ext cx="50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旧值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7" name="TextBox 216"/>
            <p:cNvSpPr txBox="1"/>
            <p:nvPr>
              <p:custDataLst>
                <p:tags r:id="rId76"/>
              </p:custDataLst>
            </p:nvPr>
          </p:nvSpPr>
          <p:spPr>
            <a:xfrm>
              <a:off x="2915816" y="5445336"/>
              <a:ext cx="50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旧值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98" name="直接连接符 197"/>
            <p:cNvCxnSpPr/>
            <p:nvPr>
              <p:custDataLst>
                <p:tags r:id="rId77"/>
              </p:custDataLst>
            </p:nvPr>
          </p:nvCxnSpPr>
          <p:spPr>
            <a:xfrm>
              <a:off x="8533598" y="4365216"/>
              <a:ext cx="0" cy="136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>
              <p:custDataLst>
                <p:tags r:id="rId78"/>
              </p:custDataLst>
            </p:nvPr>
          </p:nvCxnSpPr>
          <p:spPr>
            <a:xfrm flipV="1">
              <a:off x="8389598" y="4473240"/>
              <a:ext cx="144521" cy="108000"/>
            </a:xfrm>
            <a:prstGeom prst="line">
              <a:avLst/>
            </a:prstGeom>
            <a:ln w="158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/>
            <p:cNvCxnSpPr/>
            <p:nvPr>
              <p:custDataLst>
                <p:tags r:id="rId79"/>
              </p:custDataLst>
            </p:nvPr>
          </p:nvCxnSpPr>
          <p:spPr>
            <a:xfrm>
              <a:off x="8389598" y="4725256"/>
              <a:ext cx="144000" cy="10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>
              <p:custDataLst>
                <p:tags r:id="rId80"/>
              </p:custDataLst>
            </p:nvPr>
          </p:nvCxnSpPr>
          <p:spPr>
            <a:xfrm>
              <a:off x="8389598" y="4365216"/>
              <a:ext cx="144000" cy="10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>
              <p:custDataLst>
                <p:tags r:id="rId81"/>
              </p:custDataLst>
            </p:nvPr>
          </p:nvCxnSpPr>
          <p:spPr>
            <a:xfrm flipH="1">
              <a:off x="5435403" y="4293296"/>
              <a:ext cx="693" cy="1764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>
              <p:custDataLst>
                <p:tags r:id="rId82"/>
              </p:custDataLst>
            </p:nvPr>
          </p:nvCxnSpPr>
          <p:spPr>
            <a:xfrm>
              <a:off x="2483768" y="4293296"/>
              <a:ext cx="0" cy="1764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组合 203"/>
          <p:cNvGrpSpPr/>
          <p:nvPr/>
        </p:nvGrpSpPr>
        <p:grpSpPr>
          <a:xfrm>
            <a:off x="7378370" y="4151724"/>
            <a:ext cx="1152056" cy="1979710"/>
            <a:chOff x="7380312" y="2457402"/>
            <a:chExt cx="1152056" cy="1979710"/>
          </a:xfrm>
        </p:grpSpPr>
        <p:cxnSp>
          <p:nvCxnSpPr>
            <p:cNvPr id="205" name="直接连接符 204"/>
            <p:cNvCxnSpPr/>
            <p:nvPr>
              <p:custDataLst>
                <p:tags r:id="rId83"/>
              </p:custDataLst>
            </p:nvPr>
          </p:nvCxnSpPr>
          <p:spPr>
            <a:xfrm flipH="1">
              <a:off x="7449619" y="2636912"/>
              <a:ext cx="0" cy="1764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椭圆 205"/>
            <p:cNvSpPr/>
            <p:nvPr>
              <p:custDataLst>
                <p:tags r:id="rId84"/>
              </p:custDataLst>
            </p:nvPr>
          </p:nvSpPr>
          <p:spPr>
            <a:xfrm>
              <a:off x="7380312" y="3027406"/>
              <a:ext cx="144000" cy="72000"/>
            </a:xfrm>
            <a:prstGeom prst="ellipse">
              <a:avLst/>
            </a:prstGeom>
            <a:noFill/>
            <a:ln w="12700">
              <a:solidFill>
                <a:srgbClr val="FF339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椭圆 206"/>
            <p:cNvSpPr/>
            <p:nvPr>
              <p:custDataLst>
                <p:tags r:id="rId85"/>
              </p:custDataLst>
            </p:nvPr>
          </p:nvSpPr>
          <p:spPr>
            <a:xfrm>
              <a:off x="7395187" y="3791521"/>
              <a:ext cx="108000" cy="216024"/>
            </a:xfrm>
            <a:prstGeom prst="ellipse">
              <a:avLst/>
            </a:prstGeom>
            <a:noFill/>
            <a:ln w="12700">
              <a:solidFill>
                <a:srgbClr val="3333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8" name="直接连接符 207"/>
            <p:cNvCxnSpPr>
              <a:stCxn id="206" idx="5"/>
            </p:cNvCxnSpPr>
            <p:nvPr>
              <p:custDataLst>
                <p:tags r:id="rId86"/>
              </p:custDataLst>
            </p:nvPr>
          </p:nvCxnSpPr>
          <p:spPr>
            <a:xfrm>
              <a:off x="7503224" y="3088862"/>
              <a:ext cx="320243" cy="340162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>
              <p:custDataLst>
                <p:tags r:id="rId87"/>
              </p:custDataLst>
            </p:nvPr>
          </p:nvCxnSpPr>
          <p:spPr>
            <a:xfrm flipV="1">
              <a:off x="7505416" y="3645000"/>
              <a:ext cx="332926" cy="230401"/>
            </a:xfrm>
            <a:prstGeom prst="line">
              <a:avLst/>
            </a:prstGeom>
            <a:ln w="12700">
              <a:solidFill>
                <a:srgbClr val="3333FF"/>
              </a:solidFill>
              <a:prstDash val="sys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>
              <p:custDataLst>
                <p:tags r:id="rId88"/>
              </p:custDataLst>
            </p:nvPr>
          </p:nvCxnSpPr>
          <p:spPr>
            <a:xfrm>
              <a:off x="7596336" y="3429024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>
              <p:custDataLst>
                <p:tags r:id="rId89"/>
              </p:custDataLst>
            </p:nvPr>
          </p:nvCxnSpPr>
          <p:spPr>
            <a:xfrm flipH="1">
              <a:off x="7596336" y="3429024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>
              <p:custDataLst>
                <p:tags r:id="rId90"/>
              </p:custDataLst>
            </p:nvPr>
          </p:nvCxnSpPr>
          <p:spPr>
            <a:xfrm flipV="1">
              <a:off x="7884367" y="3428999"/>
              <a:ext cx="648000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>
              <p:custDataLst>
                <p:tags r:id="rId91"/>
              </p:custDataLst>
            </p:nvPr>
          </p:nvCxnSpPr>
          <p:spPr>
            <a:xfrm>
              <a:off x="7884368" y="3645024"/>
              <a:ext cx="648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Box 231"/>
            <p:cNvSpPr txBox="1"/>
            <p:nvPr>
              <p:custDataLst>
                <p:tags r:id="rId92"/>
              </p:custDataLst>
            </p:nvPr>
          </p:nvSpPr>
          <p:spPr>
            <a:xfrm>
              <a:off x="7884368" y="3429000"/>
              <a:ext cx="648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15" name="直接连接符 214"/>
            <p:cNvCxnSpPr/>
            <p:nvPr>
              <p:custDataLst>
                <p:tags r:id="rId93"/>
              </p:custDataLst>
            </p:nvPr>
          </p:nvCxnSpPr>
          <p:spPr>
            <a:xfrm flipV="1">
              <a:off x="7452320" y="2457402"/>
              <a:ext cx="0" cy="144000"/>
            </a:xfrm>
            <a:prstGeom prst="line">
              <a:avLst/>
            </a:prstGeom>
            <a:ln w="25400">
              <a:solidFill>
                <a:srgbClr val="FF3399"/>
              </a:solidFill>
              <a:headEnd type="none" w="med" len="sm"/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>
              <p:custDataLst>
                <p:tags r:id="rId94"/>
              </p:custDataLst>
            </p:nvPr>
          </p:nvCxnSpPr>
          <p:spPr>
            <a:xfrm flipH="1">
              <a:off x="7740352" y="3429000"/>
              <a:ext cx="0" cy="792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TextBox 234"/>
            <p:cNvSpPr txBox="1"/>
            <p:nvPr>
              <p:custDataLst>
                <p:tags r:id="rId95"/>
              </p:custDataLst>
            </p:nvPr>
          </p:nvSpPr>
          <p:spPr>
            <a:xfrm>
              <a:off x="7460690" y="4221088"/>
              <a:ext cx="1008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GPR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写延迟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18" name="直接连接符 217"/>
            <p:cNvCxnSpPr/>
            <p:nvPr>
              <p:custDataLst>
                <p:tags r:id="rId96"/>
              </p:custDataLst>
            </p:nvPr>
          </p:nvCxnSpPr>
          <p:spPr>
            <a:xfrm>
              <a:off x="7449620" y="4149080"/>
              <a:ext cx="288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32" grpId="0"/>
      <p:bldP spid="44" grpId="0" animBg="1"/>
      <p:bldP spid="120" grpId="0" animBg="1"/>
      <p:bldP spid="1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16"/>
          <p:cNvSpPr txBox="1">
            <a:spLocks noChangeArrowheads="1"/>
          </p:cNvSpPr>
          <p:nvPr/>
        </p:nvSpPr>
        <p:spPr bwMode="auto">
          <a:xfrm>
            <a:off x="179513" y="3501008"/>
            <a:ext cx="6450846" cy="28061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ori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r>
              <a:rPr lang="en-US" altLang="zh-CN" sz="2000" b="1" dirty="0" err="1">
                <a:latin typeface="宋体" panose="02010600030101010101" pitchFamily="2" charset="-122"/>
                <a:sym typeface="+mn-ea"/>
              </a:rPr>
              <a:t>rd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(rs1)|</a:t>
            </a:r>
            <a:r>
              <a:rPr lang="en-US" altLang="zh-CN" sz="2000" b="1" kern="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ZExt</a:t>
            </a:r>
            <a:r>
              <a:rPr lang="en-US" altLang="zh-CN" sz="2000" b="1" kern="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000" b="1" kern="0" dirty="0" err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imm</a:t>
            </a:r>
            <a:r>
              <a:rPr lang="en-US" altLang="zh-CN" sz="2000" b="1" kern="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endParaRPr lang="zh-CN" altLang="zh-CN" sz="2000" b="1" kern="100" dirty="0">
              <a:latin typeface="+mn-ea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数据路径的设计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35000"/>
              </a:lnSpc>
              <a:spcBef>
                <a:spcPts val="1500"/>
              </a:spcBef>
            </a:pP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solidFill>
                  <a:srgbClr val="3333FF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时序的组织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</p:txBody>
      </p:sp>
      <p:sp>
        <p:nvSpPr>
          <p:cNvPr id="49" name="Text Box 116"/>
          <p:cNvSpPr txBox="1">
            <a:spLocks noChangeArrowheads="1"/>
          </p:cNvSpPr>
          <p:nvPr/>
        </p:nvSpPr>
        <p:spPr bwMode="auto">
          <a:xfrm>
            <a:off x="2915816" y="5805264"/>
            <a:ext cx="5688632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zh-CN" altLang="en-US" sz="2200" b="1" dirty="0">
                <a:latin typeface="宋体" panose="02010600030101010101" pitchFamily="2" charset="-122"/>
              </a:rPr>
              <a:t>同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add/sub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指令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指令周期结束时写</a:t>
            </a:r>
            <a:r>
              <a:rPr kumimoji="1" lang="en-US" altLang="zh-CN" b="1" dirty="0">
                <a:latin typeface="宋体" panose="02010600030101010101" pitchFamily="2" charset="-122"/>
              </a:rPr>
              <a:t>GPRs)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51" name="Text Box 116"/>
          <p:cNvSpPr txBox="1">
            <a:spLocks noChangeArrowheads="1"/>
          </p:cNvSpPr>
          <p:nvPr/>
        </p:nvSpPr>
        <p:spPr bwMode="auto">
          <a:xfrm>
            <a:off x="1579125" y="836712"/>
            <a:ext cx="7025323" cy="9176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8000" tIns="10800" rIns="18000" bIns="10800">
            <a:no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b="1" dirty="0">
                <a:latin typeface="宋体" panose="02010600030101010101" pitchFamily="2" charset="-122"/>
              </a:rPr>
              <a:t>原因：实际上，控制信号</a:t>
            </a:r>
            <a:r>
              <a:rPr kumimoji="1" lang="zh-CN" altLang="en-US" b="1" u="sng" dirty="0">
                <a:latin typeface="宋体" panose="02010600030101010101" pitchFamily="2" charset="-122"/>
              </a:rPr>
              <a:t>滞后于</a:t>
            </a:r>
            <a:r>
              <a:rPr kumimoji="1" lang="en-US" altLang="zh-CN" b="1" dirty="0" err="1">
                <a:latin typeface="宋体" panose="02010600030101010101" pitchFamily="2" charset="-122"/>
              </a:rPr>
              <a:t>Clk</a:t>
            </a:r>
            <a:r>
              <a:rPr kumimoji="1" lang="zh-CN" altLang="en-US" b="1" dirty="0">
                <a:latin typeface="宋体" panose="02010600030101010101" pitchFamily="2" charset="-122"/>
              </a:rPr>
              <a:t>上升沿有效、时长＝</a:t>
            </a:r>
            <a:r>
              <a:rPr kumimoji="1" lang="en-US" altLang="zh-CN" b="1" dirty="0" err="1">
                <a:latin typeface="宋体" panose="02010600030101010101" pitchFamily="2" charset="-122"/>
              </a:rPr>
              <a:t>Clk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                    </a:t>
            </a:r>
            <a:r>
              <a:rPr lang="zh-CN" altLang="en-US" sz="1600" dirty="0">
                <a:latin typeface="宋体" panose="02010600030101010101" pitchFamily="2" charset="-122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</a:rPr>
              <a:t>←由包含</a:t>
            </a:r>
            <a:r>
              <a:rPr lang="en-US" altLang="zh-CN" sz="1600" b="1" dirty="0" err="1">
                <a:latin typeface="宋体" panose="02010600030101010101" pitchFamily="2" charset="-122"/>
              </a:rPr>
              <a:t>Clk</a:t>
            </a:r>
            <a:r>
              <a:rPr lang="zh-CN" altLang="en-US" sz="1600" b="1" dirty="0">
                <a:latin typeface="宋体" panose="02010600030101010101" pitchFamily="2" charset="-122"/>
              </a:rPr>
              <a:t>的门电路产生，如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 err="1">
                <a:latin typeface="宋体" panose="02010600030101010101" pitchFamily="2" charset="-122"/>
              </a:rPr>
              <a:t>add+sub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1600" b="1" dirty="0">
                <a:latin typeface="宋体" panose="02010600030101010101" pitchFamily="2" charset="-122"/>
              </a:rPr>
              <a:t>T</a:t>
            </a:r>
            <a:r>
              <a:rPr lang="en-US" altLang="zh-CN" sz="1600" b="1" baseline="-18000" dirty="0">
                <a:latin typeface="宋体" panose="02010600030101010101" pitchFamily="2" charset="-122"/>
              </a:rPr>
              <a:t>2</a:t>
            </a:r>
            <a:r>
              <a:rPr lang="en-US" altLang="zh-CN" sz="1600" b="1" dirty="0">
                <a:latin typeface="宋体" panose="02010600030101010101" pitchFamily="2" charset="-122"/>
              </a:rPr>
              <a:t> 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实现：控制信号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常多个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有效时刻</a:t>
            </a:r>
            <a:r>
              <a:rPr lang="zh-CN" altLang="en-US" b="1" u="sng" dirty="0">
                <a:latin typeface="宋体" panose="02010600030101010101" pitchFamily="2" charset="-122"/>
              </a:rPr>
              <a:t>不变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en-US" altLang="zh-CN" b="1" dirty="0" err="1">
                <a:latin typeface="宋体" panose="02010600030101010101" pitchFamily="2" charset="-122"/>
              </a:rPr>
              <a:t>Clk</a:t>
            </a:r>
            <a:r>
              <a:rPr lang="zh-CN" altLang="en-US" b="1" dirty="0">
                <a:latin typeface="宋体" panose="02010600030101010101" pitchFamily="2" charset="-122"/>
              </a:rPr>
              <a:t>信号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仅</a:t>
            </a:r>
            <a:r>
              <a:rPr lang="en-US" altLang="zh-CN" b="1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个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边沿</a:t>
            </a:r>
            <a:r>
              <a:rPr lang="zh-CN" altLang="en-US" b="1" u="sng" dirty="0">
                <a:latin typeface="宋体" panose="02010600030101010101" pitchFamily="2" charset="-122"/>
              </a:rPr>
              <a:t>左移</a:t>
            </a:r>
            <a:endParaRPr lang="en-US" altLang="zh-CN" b="1" u="sng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                                   </a:t>
            </a:r>
            <a:r>
              <a:rPr lang="zh-CN" altLang="en-US" sz="1600" dirty="0">
                <a:latin typeface="宋体" panose="02010600030101010101" pitchFamily="2" charset="-122"/>
              </a:rPr>
              <a:t>└────</a:t>
            </a:r>
            <a:r>
              <a:rPr lang="zh-CN" altLang="en-US" sz="1600" b="1" dirty="0">
                <a:latin typeface="宋体" panose="02010600030101010101" pitchFamily="2" charset="-122"/>
              </a:rPr>
              <a:t>←省事────→</a:t>
            </a:r>
            <a:r>
              <a:rPr lang="zh-CN" altLang="en-US" sz="1600" dirty="0">
                <a:latin typeface="宋体" panose="02010600030101010101" pitchFamily="2" charset="-122"/>
              </a:rPr>
              <a:t>┘</a:t>
            </a:r>
            <a:endParaRPr lang="zh-CN" altLang="en-US" u="sng" dirty="0">
              <a:latin typeface="宋体" panose="02010600030101010101" pitchFamily="2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1043608" y="2060848"/>
            <a:ext cx="2827312" cy="1369592"/>
            <a:chOff x="107504" y="1554554"/>
            <a:chExt cx="2827312" cy="1369592"/>
          </a:xfrm>
        </p:grpSpPr>
        <p:sp>
          <p:nvSpPr>
            <p:cNvPr id="53" name="TextBox 52"/>
            <p:cNvSpPr txBox="1"/>
            <p:nvPr/>
          </p:nvSpPr>
          <p:spPr>
            <a:xfrm>
              <a:off x="1187624" y="2420888"/>
              <a:ext cx="245368" cy="217613"/>
            </a:xfrm>
            <a:prstGeom prst="rect">
              <a:avLst/>
            </a:prstGeom>
            <a:solidFill>
              <a:srgbClr val="CCFFFF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</a:t>
              </a:r>
              <a:endParaRPr lang="en-US" altLang="zh-CN" sz="1600" b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4" name="直接连接符 53"/>
            <p:cNvCxnSpPr/>
            <p:nvPr/>
          </p:nvCxnSpPr>
          <p:spPr>
            <a:xfrm>
              <a:off x="1115616" y="1758305"/>
              <a:ext cx="0" cy="880197"/>
            </a:xfrm>
            <a:prstGeom prst="line">
              <a:avLst/>
            </a:prstGeom>
            <a:ln w="9525">
              <a:solidFill>
                <a:srgbClr val="3333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2411760" y="1772021"/>
              <a:ext cx="1588" cy="864492"/>
            </a:xfrm>
            <a:prstGeom prst="line">
              <a:avLst/>
            </a:prstGeom>
            <a:ln w="9525">
              <a:solidFill>
                <a:srgbClr val="3333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323528" y="1556792"/>
              <a:ext cx="50405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23528" y="1844824"/>
              <a:ext cx="504056" cy="21075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b="1" dirty="0">
                  <a:latin typeface="+mn-ea"/>
                  <a:ea typeface="+mn-ea"/>
                  <a:cs typeface="Times New Roman" panose="02020603050405020304" pitchFamily="18" charset="0"/>
                </a:rPr>
                <a:t>Din</a:t>
              </a:r>
              <a:endParaRPr lang="zh-CN" altLang="en-US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23528" y="2421686"/>
              <a:ext cx="504056" cy="21522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b="1" dirty="0" err="1">
                  <a:latin typeface="+mn-ea"/>
                  <a:ea typeface="+mn-ea"/>
                  <a:cs typeface="Times New Roman" panose="02020603050405020304" pitchFamily="18" charset="0"/>
                </a:rPr>
                <a:t>Dout</a:t>
              </a:r>
              <a:endParaRPr lang="zh-CN" altLang="en-US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07504" y="2127588"/>
              <a:ext cx="720080" cy="22353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b="1" dirty="0">
                  <a:latin typeface="+mn-ea"/>
                  <a:ea typeface="+mn-ea"/>
                  <a:cs typeface="Times New Roman" panose="02020603050405020304" pitchFamily="18" charset="0"/>
                </a:rPr>
                <a:t>enable</a:t>
              </a:r>
              <a:endParaRPr lang="zh-CN" altLang="en-US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>
            <a:xfrm flipV="1">
              <a:off x="899592" y="1844029"/>
              <a:ext cx="802432" cy="79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V="1">
              <a:off x="1835696" y="2060848"/>
              <a:ext cx="1081708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899592" y="1844824"/>
              <a:ext cx="216024" cy="21155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a</a:t>
              </a:r>
              <a:endParaRPr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63" name="直接连接符 62"/>
            <p:cNvCxnSpPr/>
            <p:nvPr/>
          </p:nvCxnSpPr>
          <p:spPr>
            <a:xfrm>
              <a:off x="1762100" y="15567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1115616" y="1556792"/>
              <a:ext cx="64966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1114028" y="1556792"/>
              <a:ext cx="1588" cy="201513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899592" y="1767550"/>
              <a:ext cx="2196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2411760" y="1554554"/>
              <a:ext cx="1588" cy="218262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2421260" y="1556792"/>
              <a:ext cx="5047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>
              <a:off x="2411760" y="2127586"/>
              <a:ext cx="1588" cy="221294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V="1">
              <a:off x="1115616" y="2127586"/>
              <a:ext cx="1296145" cy="2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1114028" y="2132356"/>
              <a:ext cx="3176" cy="216528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V="1">
              <a:off x="901180" y="2348880"/>
              <a:ext cx="212848" cy="4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2411760" y="2348880"/>
              <a:ext cx="523056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901180" y="2420091"/>
              <a:ext cx="14242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>
              <a:off x="1187624" y="2636513"/>
              <a:ext cx="172978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899592" y="2420888"/>
              <a:ext cx="144016" cy="21681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c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1043608" y="2421683"/>
              <a:ext cx="144016" cy="20996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1043608" y="2423924"/>
              <a:ext cx="144016" cy="20772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1187624" y="2423924"/>
              <a:ext cx="174719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899592" y="2060848"/>
              <a:ext cx="80243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1835696" y="1844029"/>
              <a:ext cx="1099120" cy="79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950368" y="1844824"/>
              <a:ext cx="245368" cy="21155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b</a:t>
              </a:r>
              <a:endParaRPr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83" name="直接连接符 82"/>
            <p:cNvCxnSpPr/>
            <p:nvPr/>
          </p:nvCxnSpPr>
          <p:spPr>
            <a:xfrm>
              <a:off x="1762100" y="1772816"/>
              <a:ext cx="64966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899592" y="2636912"/>
              <a:ext cx="14242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1691680" y="1850887"/>
              <a:ext cx="144016" cy="20996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1691680" y="1853128"/>
              <a:ext cx="144016" cy="20772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1125960" y="2708920"/>
              <a:ext cx="1657772" cy="21522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b="1" dirty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功能仿真</a:t>
              </a:r>
              <a:r>
                <a:rPr lang="zh-CN" altLang="en-US" b="1" dirty="0">
                  <a:latin typeface="+mn-ea"/>
                  <a:ea typeface="+mn-ea"/>
                  <a:cs typeface="Times New Roman" panose="02020603050405020304" pitchFamily="18" charset="0"/>
                </a:rPr>
                <a:t>效果图</a:t>
              </a:r>
              <a:endParaRPr lang="zh-CN" altLang="en-US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4048944" y="2063086"/>
            <a:ext cx="2035224" cy="1083948"/>
            <a:chOff x="3112840" y="1556792"/>
            <a:chExt cx="2035224" cy="1083948"/>
          </a:xfrm>
        </p:grpSpPr>
        <p:sp>
          <p:nvSpPr>
            <p:cNvPr id="89" name="TextBox 88"/>
            <p:cNvSpPr txBox="1"/>
            <p:nvPr/>
          </p:nvSpPr>
          <p:spPr>
            <a:xfrm>
              <a:off x="4716016" y="2420888"/>
              <a:ext cx="245368" cy="217613"/>
            </a:xfrm>
            <a:prstGeom prst="rect">
              <a:avLst/>
            </a:prstGeom>
            <a:solidFill>
              <a:srgbClr val="CCFFFF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b</a:t>
              </a:r>
              <a:endParaRPr lang="en-US" altLang="zh-CN" sz="1600" b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>
            <a:xfrm>
              <a:off x="3328864" y="1760543"/>
              <a:ext cx="0" cy="880197"/>
            </a:xfrm>
            <a:prstGeom prst="line">
              <a:avLst/>
            </a:prstGeom>
            <a:ln w="9525">
              <a:solidFill>
                <a:srgbClr val="3333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4625008" y="1774259"/>
              <a:ext cx="1588" cy="864492"/>
            </a:xfrm>
            <a:prstGeom prst="line">
              <a:avLst/>
            </a:prstGeom>
            <a:ln w="9525">
              <a:solidFill>
                <a:srgbClr val="3333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flipV="1">
              <a:off x="3112840" y="1846267"/>
              <a:ext cx="802432" cy="79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flipV="1">
              <a:off x="4048944" y="2063086"/>
              <a:ext cx="1081708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>
            <a:xfrm>
              <a:off x="3112840" y="1847062"/>
              <a:ext cx="216024" cy="21155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a</a:t>
              </a:r>
              <a:endParaRPr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95" name="直接连接符 94"/>
            <p:cNvCxnSpPr/>
            <p:nvPr/>
          </p:nvCxnSpPr>
          <p:spPr>
            <a:xfrm>
              <a:off x="3975348" y="1559030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>
              <a:off x="3328864" y="1559030"/>
              <a:ext cx="64966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>
              <a:off x="3327276" y="1559030"/>
              <a:ext cx="1588" cy="201513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>
              <a:off x="3112840" y="1769788"/>
              <a:ext cx="2196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>
              <a:off x="4625008" y="1556792"/>
              <a:ext cx="1588" cy="218262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>
              <a:off x="4634508" y="1559030"/>
              <a:ext cx="5047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>
              <a:off x="4716016" y="2129824"/>
              <a:ext cx="1588" cy="221294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V="1">
              <a:off x="3419872" y="2129824"/>
              <a:ext cx="1296145" cy="2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flipH="1">
              <a:off x="3419872" y="2134594"/>
              <a:ext cx="3176" cy="216528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>
              <a:off x="3114428" y="2351122"/>
              <a:ext cx="305444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V="1">
              <a:off x="4717604" y="2351118"/>
              <a:ext cx="430460" cy="4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3114428" y="2422328"/>
              <a:ext cx="145757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V="1">
              <a:off x="4716016" y="2636912"/>
              <a:ext cx="43204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/>
            <p:cNvSpPr txBox="1"/>
            <p:nvPr/>
          </p:nvSpPr>
          <p:spPr>
            <a:xfrm>
              <a:off x="3112840" y="2423126"/>
              <a:ext cx="214436" cy="21681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c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09" name="直接连接符 108"/>
            <p:cNvCxnSpPr/>
            <p:nvPr/>
          </p:nvCxnSpPr>
          <p:spPr>
            <a:xfrm>
              <a:off x="4572000" y="2423921"/>
              <a:ext cx="144016" cy="20996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4572000" y="2426162"/>
              <a:ext cx="144016" cy="20772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4716016" y="2426162"/>
              <a:ext cx="43204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3112840" y="2063086"/>
              <a:ext cx="80243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4048944" y="1846267"/>
              <a:ext cx="1099120" cy="79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113"/>
            <p:cNvSpPr txBox="1"/>
            <p:nvPr/>
          </p:nvSpPr>
          <p:spPr>
            <a:xfrm>
              <a:off x="4163616" y="1847062"/>
              <a:ext cx="245368" cy="21155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b</a:t>
              </a:r>
              <a:endParaRPr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15" name="直接连接符 114"/>
            <p:cNvCxnSpPr/>
            <p:nvPr/>
          </p:nvCxnSpPr>
          <p:spPr>
            <a:xfrm>
              <a:off x="3975348" y="1775054"/>
              <a:ext cx="64966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>
              <a:off x="3112840" y="2639150"/>
              <a:ext cx="145916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>
              <a:off x="3904928" y="1853125"/>
              <a:ext cx="144016" cy="20996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flipH="1">
              <a:off x="3904928" y="1855366"/>
              <a:ext cx="144016" cy="20772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组合 118"/>
          <p:cNvGrpSpPr/>
          <p:nvPr/>
        </p:nvGrpSpPr>
        <p:grpSpPr>
          <a:xfrm>
            <a:off x="6300192" y="2063086"/>
            <a:ext cx="2035224" cy="1367354"/>
            <a:chOff x="5364088" y="1556792"/>
            <a:chExt cx="2035224" cy="1367354"/>
          </a:xfrm>
        </p:grpSpPr>
        <p:sp>
          <p:nvSpPr>
            <p:cNvPr id="120" name="TextBox 119"/>
            <p:cNvSpPr txBox="1"/>
            <p:nvPr/>
          </p:nvSpPr>
          <p:spPr>
            <a:xfrm>
              <a:off x="7153944" y="2420888"/>
              <a:ext cx="245368" cy="217613"/>
            </a:xfrm>
            <a:prstGeom prst="rect">
              <a:avLst/>
            </a:prstGeom>
            <a:solidFill>
              <a:srgbClr val="CCFFFF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b</a:t>
              </a:r>
              <a:endParaRPr lang="en-US" altLang="zh-CN" sz="1600" b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1" name="直接连接符 120"/>
            <p:cNvCxnSpPr/>
            <p:nvPr/>
          </p:nvCxnSpPr>
          <p:spPr>
            <a:xfrm>
              <a:off x="5580112" y="1760543"/>
              <a:ext cx="0" cy="880197"/>
            </a:xfrm>
            <a:prstGeom prst="line">
              <a:avLst/>
            </a:prstGeom>
            <a:ln w="9525">
              <a:solidFill>
                <a:srgbClr val="3333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>
              <a:off x="6876256" y="1774259"/>
              <a:ext cx="1588" cy="864492"/>
            </a:xfrm>
            <a:prstGeom prst="line">
              <a:avLst/>
            </a:prstGeom>
            <a:ln w="9525">
              <a:solidFill>
                <a:srgbClr val="3333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V="1">
              <a:off x="5364088" y="1846267"/>
              <a:ext cx="802432" cy="79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V="1">
              <a:off x="6300192" y="2063086"/>
              <a:ext cx="1081708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/>
            <p:cNvSpPr txBox="1"/>
            <p:nvPr/>
          </p:nvSpPr>
          <p:spPr>
            <a:xfrm>
              <a:off x="5364088" y="1847062"/>
              <a:ext cx="216024" cy="21155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a</a:t>
              </a:r>
              <a:endParaRPr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6" name="直接连接符 125"/>
            <p:cNvCxnSpPr/>
            <p:nvPr/>
          </p:nvCxnSpPr>
          <p:spPr>
            <a:xfrm>
              <a:off x="6226596" y="1559030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5580112" y="1559030"/>
              <a:ext cx="64966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5578524" y="1559030"/>
              <a:ext cx="1588" cy="201513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5364088" y="1769788"/>
              <a:ext cx="2196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>
              <a:off x="6876256" y="1556792"/>
              <a:ext cx="1588" cy="218262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6885756" y="1559030"/>
              <a:ext cx="5047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6876256" y="2129824"/>
              <a:ext cx="1588" cy="221294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V="1">
              <a:off x="5580112" y="2129824"/>
              <a:ext cx="1296145" cy="2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5578524" y="2134594"/>
              <a:ext cx="3176" cy="216528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V="1">
              <a:off x="5365676" y="2351118"/>
              <a:ext cx="212848" cy="4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>
              <a:off x="6876256" y="2351118"/>
              <a:ext cx="523056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5365676" y="2422329"/>
              <a:ext cx="1644252" cy="3833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7153944" y="2636912"/>
              <a:ext cx="24536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/>
            <p:cNvSpPr txBox="1"/>
            <p:nvPr/>
          </p:nvSpPr>
          <p:spPr>
            <a:xfrm>
              <a:off x="5437079" y="2423126"/>
              <a:ext cx="431065" cy="20851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c </a:t>
              </a: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c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40" name="直接连接符 139"/>
            <p:cNvCxnSpPr/>
            <p:nvPr/>
          </p:nvCxnSpPr>
          <p:spPr>
            <a:xfrm>
              <a:off x="7009928" y="2423921"/>
              <a:ext cx="144016" cy="20996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 flipH="1">
              <a:off x="7009928" y="2426162"/>
              <a:ext cx="144016" cy="20772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>
              <a:off x="7153944" y="2426162"/>
              <a:ext cx="24536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5364088" y="2063086"/>
              <a:ext cx="80243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>
              <a:off x="6300192" y="1846267"/>
              <a:ext cx="1099120" cy="79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/>
            <p:cNvSpPr txBox="1"/>
            <p:nvPr/>
          </p:nvSpPr>
          <p:spPr>
            <a:xfrm>
              <a:off x="6414864" y="1847062"/>
              <a:ext cx="245368" cy="21155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b</a:t>
              </a:r>
              <a:endParaRPr lang="en-US" altLang="zh-CN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46" name="直接连接符 145"/>
            <p:cNvCxnSpPr/>
            <p:nvPr/>
          </p:nvCxnSpPr>
          <p:spPr>
            <a:xfrm>
              <a:off x="6226596" y="1775054"/>
              <a:ext cx="64966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5364088" y="2639150"/>
              <a:ext cx="1645840" cy="159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6156176" y="1853125"/>
              <a:ext cx="144016" cy="20996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 flipH="1">
              <a:off x="6156176" y="1855366"/>
              <a:ext cx="144016" cy="20772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Box 149"/>
            <p:cNvSpPr txBox="1"/>
            <p:nvPr/>
          </p:nvSpPr>
          <p:spPr>
            <a:xfrm>
              <a:off x="5578524" y="2708920"/>
              <a:ext cx="1657772" cy="21522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b="1" dirty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时序仿真</a:t>
              </a:r>
              <a:r>
                <a:rPr lang="zh-CN" altLang="en-US" b="1" dirty="0">
                  <a:latin typeface="+mn-ea"/>
                  <a:ea typeface="+mn-ea"/>
                  <a:cs typeface="Times New Roman" panose="02020603050405020304" pitchFamily="18" charset="0"/>
                </a:rPr>
                <a:t>效果图</a:t>
              </a:r>
              <a:endParaRPr lang="zh-CN" altLang="en-US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51" name="TextBox 150"/>
          <p:cNvSpPr txBox="1"/>
          <p:nvPr/>
        </p:nvSpPr>
        <p:spPr>
          <a:xfrm>
            <a:off x="4283968" y="3212976"/>
            <a:ext cx="1657772" cy="21522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b="1" dirty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rPr>
              <a:t>功能仿真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效果图</a:t>
            </a:r>
            <a:endParaRPr lang="zh-CN" altLang="en-US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2" name="Text Box 116"/>
          <p:cNvSpPr txBox="1">
            <a:spLocks noChangeArrowheads="1"/>
          </p:cNvSpPr>
          <p:nvPr/>
        </p:nvSpPr>
        <p:spPr bwMode="auto">
          <a:xfrm>
            <a:off x="1043608" y="548679"/>
            <a:ext cx="781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18000" tIns="10800" rIns="18000" bIns="10800">
            <a:noAutofit/>
          </a:bodyPr>
          <a:lstStyle/>
          <a:p>
            <a:pPr>
              <a:lnSpc>
                <a:spcPct val="90000"/>
              </a:lnSpc>
            </a:pPr>
            <a:r>
              <a:rPr kumimoji="1"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kumimoji="1" lang="en-US" altLang="zh-CN" b="1" dirty="0">
                <a:latin typeface="宋体" panose="02010600030101010101" pitchFamily="2" charset="-122"/>
              </a:rPr>
              <a:t>Quartus II</a:t>
            </a:r>
            <a:r>
              <a:rPr kumimoji="1" lang="zh-CN" altLang="en-US" b="1" dirty="0">
                <a:latin typeface="宋体" panose="02010600030101010101" pitchFamily="2" charset="-122"/>
              </a:rPr>
              <a:t>功能仿真时，时钟周期开始时写</a:t>
            </a:r>
            <a:r>
              <a:rPr kumimoji="1" lang="en-US" altLang="zh-CN" b="1" dirty="0">
                <a:latin typeface="宋体" panose="02010600030101010101" pitchFamily="2" charset="-122"/>
              </a:rPr>
              <a:t>REG</a:t>
            </a:r>
            <a:r>
              <a:rPr kumimoji="1" lang="zh-CN" altLang="en-US" b="1" dirty="0">
                <a:latin typeface="宋体" panose="02010600030101010101" pitchFamily="2" charset="-122"/>
              </a:rPr>
              <a:t>，如何实现结束时写</a:t>
            </a:r>
            <a:r>
              <a:rPr lang="zh-CN" altLang="en-US" b="1" dirty="0">
                <a:latin typeface="宋体" panose="02010600030101010101" pitchFamily="2" charset="-122"/>
              </a:rPr>
              <a:t>？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53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7" name="组合 156"/>
          <p:cNvGrpSpPr/>
          <p:nvPr/>
        </p:nvGrpSpPr>
        <p:grpSpPr>
          <a:xfrm>
            <a:off x="1874614" y="4248064"/>
            <a:ext cx="4643755" cy="1511300"/>
            <a:chOff x="5387" y="2268"/>
            <a:chExt cx="7313" cy="2380"/>
          </a:xfrm>
        </p:grpSpPr>
        <p:sp>
          <p:nvSpPr>
            <p:cNvPr id="158" name="Text Box 323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8277" y="2722"/>
              <a:ext cx="907" cy="96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GPRs</a:t>
              </a:r>
              <a:endParaRPr kumimoji="1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9" name="Text Box 363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6007" y="2663"/>
              <a:ext cx="567" cy="85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rd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rs2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rs1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60" name="直接连接符 159"/>
            <p:cNvCxnSpPr/>
            <p:nvPr>
              <p:custDataLst>
                <p:tags r:id="rId3"/>
              </p:custDataLst>
            </p:nvPr>
          </p:nvCxnSpPr>
          <p:spPr bwMode="auto">
            <a:xfrm>
              <a:off x="5951" y="2608"/>
              <a:ext cx="0" cy="14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直接连接符 160"/>
            <p:cNvCxnSpPr/>
            <p:nvPr>
              <p:custDataLst>
                <p:tags r:id="rId4"/>
              </p:custDataLst>
            </p:nvPr>
          </p:nvCxnSpPr>
          <p:spPr>
            <a:xfrm>
              <a:off x="9184" y="3514"/>
              <a:ext cx="2154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AutoShape 1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 rot="16200000">
              <a:off x="11392" y="2833"/>
              <a:ext cx="1021" cy="569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ALU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3" name="直接连接符 162"/>
            <p:cNvCxnSpPr/>
            <p:nvPr>
              <p:custDataLst>
                <p:tags r:id="rId6"/>
              </p:custDataLst>
            </p:nvPr>
          </p:nvCxnSpPr>
          <p:spPr>
            <a:xfrm>
              <a:off x="5950" y="2947"/>
              <a:ext cx="2324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>
              <p:custDataLst>
                <p:tags r:id="rId7"/>
              </p:custDataLst>
            </p:nvPr>
          </p:nvCxnSpPr>
          <p:spPr>
            <a:xfrm>
              <a:off x="5950" y="3230"/>
              <a:ext cx="2324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>
              <p:custDataLst>
                <p:tags r:id="rId8"/>
              </p:custDataLst>
            </p:nvPr>
          </p:nvCxnSpPr>
          <p:spPr>
            <a:xfrm>
              <a:off x="5951" y="3514"/>
              <a:ext cx="2324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82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8505" y="3686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9014" y="368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0" name="直接连接符 169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11960" y="3514"/>
              <a:ext cx="0" cy="79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71" name="TextBox 23"/>
            <p:cNvSpPr txBox="1"/>
            <p:nvPr>
              <p:custDataLst>
                <p:tags r:id="rId12"/>
              </p:custDataLst>
            </p:nvPr>
          </p:nvSpPr>
          <p:spPr>
            <a:xfrm>
              <a:off x="11566" y="4308"/>
              <a:ext cx="1134" cy="34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ALUctr</a:t>
              </a:r>
              <a:endPara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2" name="TextBox 24"/>
            <p:cNvSpPr txBox="1"/>
            <p:nvPr>
              <p:custDataLst>
                <p:tags r:id="rId13"/>
              </p:custDataLst>
            </p:nvPr>
          </p:nvSpPr>
          <p:spPr>
            <a:xfrm>
              <a:off x="8050" y="4308"/>
              <a:ext cx="907" cy="34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RegWr</a:t>
              </a:r>
              <a:endPara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3" name="直接连接符 172"/>
            <p:cNvCxnSpPr/>
            <p:nvPr>
              <p:custDataLst>
                <p:tags r:id="rId14"/>
              </p:custDataLst>
            </p:nvPr>
          </p:nvCxnSpPr>
          <p:spPr>
            <a:xfrm>
              <a:off x="5387" y="3629"/>
              <a:ext cx="567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TextBox 26"/>
            <p:cNvSpPr txBox="1"/>
            <p:nvPr>
              <p:custDataLst>
                <p:tags r:id="rId15"/>
              </p:custDataLst>
            </p:nvPr>
          </p:nvSpPr>
          <p:spPr>
            <a:xfrm>
              <a:off x="5557" y="2608"/>
              <a:ext cx="340" cy="1020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指令字</a:t>
              </a:r>
              <a:endParaRPr lang="zh-CN" altLang="en-US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5" name="直接连接符 174"/>
            <p:cNvCxnSpPr/>
            <p:nvPr>
              <p:custDataLst>
                <p:tags r:id="rId16"/>
              </p:custDataLst>
            </p:nvPr>
          </p:nvCxnSpPr>
          <p:spPr>
            <a:xfrm>
              <a:off x="5951" y="3911"/>
              <a:ext cx="680" cy="0"/>
            </a:xfrm>
            <a:prstGeom prst="line">
              <a:avLst/>
            </a:prstGeom>
            <a:ln w="15875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Text Box 32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633" y="3628"/>
              <a:ext cx="907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err="1">
                  <a:latin typeface="宋体" panose="02010600030101010101" pitchFamily="2" charset="-122"/>
                </a:rPr>
                <a:t>ExtU</a:t>
              </a:r>
              <a:endParaRPr kumimoji="1" lang="en-US" altLang="zh-CN" sz="1800" b="1" dirty="0" err="1">
                <a:latin typeface="宋体" panose="02010600030101010101" pitchFamily="2" charset="-122"/>
              </a:endParaRPr>
            </a:p>
          </p:txBody>
        </p:sp>
        <p:sp>
          <p:nvSpPr>
            <p:cNvPr id="177" name="Text Box 1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0431" y="2665"/>
              <a:ext cx="907" cy="455"/>
            </a:xfrm>
            <a:prstGeom prst="rect">
              <a:avLst/>
            </a:prstGeom>
            <a:noFill/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MUX1</a:t>
              </a:r>
              <a:endParaRPr lang="en-US" altLang="zh-CN" sz="1600" b="1" spc="-100" dirty="0">
                <a:latin typeface="宋体" panose="02010600030101010101" pitchFamily="2" charset="-122"/>
              </a:endParaRPr>
            </a:p>
          </p:txBody>
        </p:sp>
        <p:cxnSp>
          <p:nvCxnSpPr>
            <p:cNvPr id="178" name="直接连接符 177"/>
            <p:cNvCxnSpPr/>
            <p:nvPr>
              <p:custDataLst>
                <p:tags r:id="rId19"/>
              </p:custDataLst>
            </p:nvPr>
          </p:nvCxnSpPr>
          <p:spPr>
            <a:xfrm>
              <a:off x="11338" y="2834"/>
              <a:ext cx="283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>
              <p:custDataLst>
                <p:tags r:id="rId20"/>
              </p:custDataLst>
            </p:nvPr>
          </p:nvCxnSpPr>
          <p:spPr>
            <a:xfrm>
              <a:off x="9751" y="3006"/>
              <a:ext cx="68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TextBox 40"/>
            <p:cNvSpPr txBox="1"/>
            <p:nvPr>
              <p:custDataLst>
                <p:tags r:id="rId21"/>
              </p:custDataLst>
            </p:nvPr>
          </p:nvSpPr>
          <p:spPr>
            <a:xfrm>
              <a:off x="6007" y="3571"/>
              <a:ext cx="510" cy="34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spc="-100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imm</a:t>
              </a:r>
              <a:endParaRPr lang="en-US" altLang="zh-CN" sz="1600" b="1" spc="-100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1" name="直接连接符 180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7087" y="4078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82" name="TextBox 45"/>
            <p:cNvSpPr txBox="1"/>
            <p:nvPr>
              <p:custDataLst>
                <p:tags r:id="rId23"/>
              </p:custDataLst>
            </p:nvPr>
          </p:nvSpPr>
          <p:spPr>
            <a:xfrm>
              <a:off x="6633" y="4308"/>
              <a:ext cx="907" cy="34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Extop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" name="TextBox 24"/>
            <p:cNvSpPr txBox="1"/>
            <p:nvPr>
              <p:custDataLst>
                <p:tags r:id="rId24"/>
              </p:custDataLst>
            </p:nvPr>
          </p:nvSpPr>
          <p:spPr>
            <a:xfrm>
              <a:off x="10431" y="2665"/>
              <a:ext cx="227" cy="4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000" b="1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6" name="TextBox 57"/>
            <p:cNvSpPr txBox="1"/>
            <p:nvPr>
              <p:custDataLst>
                <p:tags r:id="rId25"/>
              </p:custDataLst>
            </p:nvPr>
          </p:nvSpPr>
          <p:spPr>
            <a:xfrm>
              <a:off x="8841" y="4010"/>
              <a:ext cx="454" cy="34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1600" b="1" baseline="-18000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600" b="1" baseline="-18000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7" name="直接连接符 186"/>
            <p:cNvCxnSpPr/>
            <p:nvPr>
              <p:custDataLst>
                <p:tags r:id="rId26"/>
              </p:custDataLst>
            </p:nvPr>
          </p:nvCxnSpPr>
          <p:spPr>
            <a:xfrm flipH="1">
              <a:off x="8957" y="2268"/>
              <a:ext cx="3458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/>
            <p:nvPr>
              <p:custDataLst>
                <p:tags r:id="rId27"/>
              </p:custDataLst>
            </p:nvPr>
          </p:nvCxnSpPr>
          <p:spPr>
            <a:xfrm>
              <a:off x="12189" y="3123"/>
              <a:ext cx="227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/>
            <p:cNvCxnSpPr/>
            <p:nvPr>
              <p:custDataLst>
                <p:tags r:id="rId28"/>
              </p:custDataLst>
            </p:nvPr>
          </p:nvCxnSpPr>
          <p:spPr>
            <a:xfrm flipV="1">
              <a:off x="12416" y="2268"/>
              <a:ext cx="0" cy="85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/>
            <p:cNvCxnSpPr/>
            <p:nvPr>
              <p:custDataLst>
                <p:tags r:id="rId29"/>
              </p:custDataLst>
            </p:nvPr>
          </p:nvCxnSpPr>
          <p:spPr>
            <a:xfrm>
              <a:off x="7993" y="2268"/>
              <a:ext cx="964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>
              <p:custDataLst>
                <p:tags r:id="rId30"/>
              </p:custDataLst>
            </p:nvPr>
          </p:nvCxnSpPr>
          <p:spPr>
            <a:xfrm>
              <a:off x="7993" y="2778"/>
              <a:ext cx="283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>
              <p:custDataLst>
                <p:tags r:id="rId31"/>
              </p:custDataLst>
            </p:nvPr>
          </p:nvCxnSpPr>
          <p:spPr>
            <a:xfrm flipV="1">
              <a:off x="7993" y="2268"/>
              <a:ext cx="0" cy="51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>
              <p:custDataLst>
                <p:tags r:id="rId32"/>
              </p:custDataLst>
            </p:nvPr>
          </p:nvCxnSpPr>
          <p:spPr>
            <a:xfrm>
              <a:off x="9581" y="2722"/>
              <a:ext cx="85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>
              <p:custDataLst>
                <p:tags r:id="rId33"/>
              </p:custDataLst>
            </p:nvPr>
          </p:nvCxnSpPr>
          <p:spPr>
            <a:xfrm>
              <a:off x="9184" y="3237"/>
              <a:ext cx="397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>
              <p:custDataLst>
                <p:tags r:id="rId34"/>
              </p:custDataLst>
            </p:nvPr>
          </p:nvCxnSpPr>
          <p:spPr>
            <a:xfrm flipV="1">
              <a:off x="9581" y="2722"/>
              <a:ext cx="0" cy="51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>
              <p:custDataLst>
                <p:tags r:id="rId35"/>
              </p:custDataLst>
            </p:nvPr>
          </p:nvCxnSpPr>
          <p:spPr>
            <a:xfrm>
              <a:off x="7540" y="3911"/>
              <a:ext cx="2211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>
              <p:custDataLst>
                <p:tags r:id="rId36"/>
              </p:custDataLst>
            </p:nvPr>
          </p:nvCxnSpPr>
          <p:spPr>
            <a:xfrm flipV="1">
              <a:off x="9751" y="3006"/>
              <a:ext cx="0" cy="907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>
              <p:custDataLst>
                <p:tags r:id="rId37"/>
              </p:custDataLst>
            </p:nvPr>
          </p:nvCxnSpPr>
          <p:spPr>
            <a:xfrm>
              <a:off x="11338" y="3515"/>
              <a:ext cx="283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10829" y="3116"/>
              <a:ext cx="0" cy="11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00" name="TextBox 47"/>
            <p:cNvSpPr txBox="1"/>
            <p:nvPr>
              <p:custDataLst>
                <p:tags r:id="rId39"/>
              </p:custDataLst>
            </p:nvPr>
          </p:nvSpPr>
          <p:spPr>
            <a:xfrm>
              <a:off x="10262" y="4309"/>
              <a:ext cx="1191" cy="28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ALUBsrc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7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223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00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4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" name="Text Box 116"/>
          <p:cNvSpPr txBox="1">
            <a:spLocks noChangeArrowheads="1"/>
          </p:cNvSpPr>
          <p:nvPr/>
        </p:nvSpPr>
        <p:spPr bwMode="auto">
          <a:xfrm>
            <a:off x="179070" y="426720"/>
            <a:ext cx="8780145" cy="30115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lw</a:t>
            </a: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/</a:t>
            </a:r>
            <a:r>
              <a:rPr kumimoji="1"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sw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r>
              <a:rPr lang="en-US" altLang="zh-CN" sz="2000" b="1" dirty="0" err="1">
                <a:latin typeface="宋体" panose="02010600030101010101" pitchFamily="2" charset="-122"/>
              </a:rPr>
              <a:t>rd</a:t>
            </a:r>
            <a:r>
              <a:rPr lang="zh-CN" altLang="en-US" sz="2000" b="1" dirty="0">
                <a:latin typeface="宋体" panose="02010600030101010101" pitchFamily="2" charset="-122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</a:rPr>
              <a:t>M[(rs1)</a:t>
            </a:r>
            <a:r>
              <a:rPr lang="zh-CN" altLang="en-US" sz="2000" b="1" dirty="0">
                <a:latin typeface="宋体" panose="02010600030101010101" pitchFamily="2" charset="-122"/>
              </a:rPr>
              <a:t>＋</a:t>
            </a:r>
            <a:r>
              <a:rPr lang="en-US" altLang="zh-CN" sz="2000" b="1" dirty="0" err="1">
                <a:latin typeface="宋体" panose="02010600030101010101" pitchFamily="2" charset="-122"/>
              </a:rPr>
              <a:t>SExt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en-US" altLang="zh-CN" sz="2000" b="1" dirty="0" err="1">
                <a:latin typeface="宋体" panose="02010600030101010101" pitchFamily="2" charset="-122"/>
              </a:rPr>
              <a:t>imm</a:t>
            </a:r>
            <a:r>
              <a:rPr lang="en-US" altLang="zh-CN" sz="2000" b="1" dirty="0">
                <a:latin typeface="宋体" panose="02010600030101010101" pitchFamily="2" charset="-122"/>
              </a:rPr>
              <a:t>)]</a:t>
            </a:r>
            <a:r>
              <a:rPr lang="zh-CN" altLang="en-US" sz="2000" b="1" dirty="0">
                <a:latin typeface="宋体" panose="02010600030101010101" pitchFamily="2" charset="-122"/>
              </a:rPr>
              <a:t>及</a:t>
            </a:r>
            <a:r>
              <a:rPr lang="en-US" altLang="zh-CN" sz="2000" b="1" dirty="0">
                <a:latin typeface="宋体" panose="02010600030101010101" pitchFamily="2" charset="-122"/>
              </a:rPr>
              <a:t>M[(rs1)</a:t>
            </a:r>
            <a:r>
              <a:rPr lang="zh-CN" altLang="en-US" sz="2000" b="1" dirty="0">
                <a:latin typeface="宋体" panose="02010600030101010101" pitchFamily="2" charset="-122"/>
              </a:rPr>
              <a:t>＋</a:t>
            </a:r>
            <a:r>
              <a:rPr lang="en-US" altLang="zh-CN" sz="2000" b="1" dirty="0" err="1">
                <a:latin typeface="宋体" panose="02010600030101010101" pitchFamily="2" charset="-122"/>
              </a:rPr>
              <a:t>SExt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en-US" altLang="zh-CN" sz="2000" b="1" dirty="0" err="1">
                <a:latin typeface="宋体" panose="02010600030101010101" pitchFamily="2" charset="-122"/>
              </a:rPr>
              <a:t>imm</a:t>
            </a:r>
            <a:r>
              <a:rPr lang="en-US" altLang="zh-CN" sz="2000" b="1" dirty="0">
                <a:latin typeface="宋体" panose="02010600030101010101" pitchFamily="2" charset="-122"/>
              </a:rPr>
              <a:t>)]</a:t>
            </a:r>
            <a:r>
              <a:rPr lang="zh-CN" altLang="en-US" sz="2000" b="1" dirty="0">
                <a:latin typeface="宋体" panose="02010600030101010101" pitchFamily="2" charset="-122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</a:rPr>
              <a:t>(rs2)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数据路径的设计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solidFill>
                  <a:srgbClr val="3333FF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时序的组织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</p:txBody>
      </p:sp>
      <p:sp>
        <p:nvSpPr>
          <p:cNvPr id="155" name="Text Box 116"/>
          <p:cNvSpPr txBox="1">
            <a:spLocks noChangeArrowheads="1"/>
          </p:cNvSpPr>
          <p:nvPr/>
        </p:nvSpPr>
        <p:spPr bwMode="auto">
          <a:xfrm>
            <a:off x="2874714" y="2924944"/>
            <a:ext cx="6004670" cy="7725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highlight>
                  <a:srgbClr val="CCCCFF"/>
                </a:highlight>
                <a:latin typeface="宋体" panose="02010600030101010101" pitchFamily="2" charset="-122"/>
              </a:rPr>
              <a:t>读</a:t>
            </a:r>
            <a:r>
              <a:rPr lang="en-US" altLang="zh-CN" sz="2200" b="1" dirty="0">
                <a:highlight>
                  <a:srgbClr val="CCCCFF"/>
                </a:highlight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highlight>
                  <a:srgbClr val="CCCCFF"/>
                </a:highlight>
                <a:latin typeface="宋体" panose="02010600030101010101" pitchFamily="2" charset="-122"/>
              </a:rPr>
              <a:t>写</a:t>
            </a:r>
            <a:r>
              <a:rPr kumimoji="1" lang="en-US" altLang="zh-CN" sz="2200" b="1" dirty="0">
                <a:highlight>
                  <a:srgbClr val="CCCCFF"/>
                </a:highlight>
                <a:latin typeface="宋体" panose="02010600030101010101" pitchFamily="2" charset="-122"/>
              </a:rPr>
              <a:t>DMEM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指令周期中间</a:t>
            </a: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b="1" dirty="0">
                <a:latin typeface="宋体" panose="02010600030101010101" pitchFamily="2" charset="-122"/>
              </a:rPr>
              <a:t>←需早于</a:t>
            </a:r>
            <a:r>
              <a:rPr kumimoji="1" lang="zh-CN" altLang="en-US" b="1" dirty="0">
                <a:latin typeface="宋体" panose="02010600030101010101" pitchFamily="2" charset="-122"/>
              </a:rPr>
              <a:t>写</a:t>
            </a:r>
            <a:r>
              <a:rPr kumimoji="1" lang="en-US" altLang="zh-CN" b="1" dirty="0">
                <a:latin typeface="宋体" panose="02010600030101010101" pitchFamily="2" charset="-122"/>
              </a:rPr>
              <a:t>GPRs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kumimoji="1" lang="zh-CN" altLang="en-US" dirty="0">
                <a:latin typeface="宋体" panose="02010600030101010101" pitchFamily="2" charset="-122"/>
              </a:rPr>
              <a:t>                    └</a:t>
            </a:r>
            <a:r>
              <a:rPr kumimoji="1" lang="zh-CN" altLang="en-US" b="1" dirty="0">
                <a:latin typeface="宋体" panose="02010600030101010101" pitchFamily="2" charset="-122"/>
              </a:rPr>
              <a:t>→地址计算在前半周期完成</a:t>
            </a:r>
            <a:endParaRPr kumimoji="1"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6084200" y="2304000"/>
            <a:ext cx="288000" cy="216024"/>
          </a:xfrm>
          <a:prstGeom prst="rect">
            <a:avLst/>
          </a:prstGeom>
          <a:solidFill>
            <a:srgbClr val="CC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800" b="1" dirty="0">
                <a:latin typeface="+mn-ea"/>
                <a:ea typeface="+mn-ea"/>
                <a:cs typeface="Times New Roman" panose="02020603050405020304" pitchFamily="18" charset="0"/>
              </a:rPr>
              <a:t>P</a:t>
            </a:r>
            <a:r>
              <a:rPr lang="en-US" altLang="zh-CN" sz="1800" b="1" baseline="-18000" dirty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endParaRPr lang="en-US" altLang="zh-CN" sz="1800" b="1" baseline="-18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25" name="组合 224"/>
          <p:cNvGrpSpPr/>
          <p:nvPr/>
        </p:nvGrpSpPr>
        <p:grpSpPr>
          <a:xfrm>
            <a:off x="1224000" y="4572000"/>
            <a:ext cx="6696703" cy="648072"/>
            <a:chOff x="1115617" y="5877272"/>
            <a:chExt cx="6696703" cy="648072"/>
          </a:xfrm>
        </p:grpSpPr>
        <p:sp>
          <p:nvSpPr>
            <p:cNvPr id="293" name="TextBox 292"/>
            <p:cNvSpPr txBox="1"/>
            <p:nvPr/>
          </p:nvSpPr>
          <p:spPr>
            <a:xfrm>
              <a:off x="1115617" y="5877272"/>
              <a:ext cx="906016" cy="64807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/>
              <a:r>
                <a:rPr lang="zh-CN" altLang="en-US" b="1" dirty="0">
                  <a:latin typeface="+mn-ea"/>
                  <a:ea typeface="+mn-ea"/>
                  <a:cs typeface="Times New Roman" panose="02020603050405020304" pitchFamily="18" charset="0"/>
                </a:rPr>
                <a:t>工作 </a:t>
              </a:r>
              <a:r>
                <a:rPr lang="en-US" altLang="zh-CN" b="1" dirty="0">
                  <a:latin typeface="+mn-ea"/>
                  <a:ea typeface="+mn-ea"/>
                  <a:cs typeface="Times New Roman" panose="02020603050405020304" pitchFamily="18" charset="0"/>
                </a:rPr>
                <a:t>P0</a:t>
              </a:r>
              <a:endParaRPr lang="en-US" altLang="zh-CN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algn="r">
                <a:spcBef>
                  <a:spcPts val="600"/>
                </a:spcBef>
              </a:pPr>
              <a:r>
                <a:rPr lang="zh-CN" altLang="en-US" b="1" dirty="0">
                  <a:latin typeface="+mn-ea"/>
                  <a:ea typeface="+mn-ea"/>
                  <a:cs typeface="Times New Roman" panose="02020603050405020304" pitchFamily="18" charset="0"/>
                </a:rPr>
                <a:t>脉冲 </a:t>
              </a:r>
              <a:r>
                <a:rPr lang="en-US" altLang="zh-CN" b="1" dirty="0">
                  <a:latin typeface="+mn-ea"/>
                  <a:ea typeface="+mn-ea"/>
                  <a:cs typeface="Times New Roman" panose="02020603050405020304" pitchFamily="18" charset="0"/>
                </a:rPr>
                <a:t>P1</a:t>
              </a:r>
              <a:endParaRPr lang="zh-CN" altLang="en-US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94" name="直接连接符 293"/>
            <p:cNvCxnSpPr/>
            <p:nvPr/>
          </p:nvCxnSpPr>
          <p:spPr>
            <a:xfrm flipV="1">
              <a:off x="7442030" y="5949280"/>
              <a:ext cx="36000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/>
            <p:nvPr/>
          </p:nvCxnSpPr>
          <p:spPr>
            <a:xfrm>
              <a:off x="7452320" y="5954050"/>
              <a:ext cx="0" cy="21600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/>
            <p:nvPr/>
          </p:nvCxnSpPr>
          <p:spPr>
            <a:xfrm>
              <a:off x="5354890" y="6163190"/>
              <a:ext cx="2097430" cy="2114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/>
            <p:nvPr/>
          </p:nvCxnSpPr>
          <p:spPr>
            <a:xfrm flipH="1">
              <a:off x="2264618" y="5954050"/>
              <a:ext cx="1588" cy="21600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/>
            <p:nvPr/>
          </p:nvCxnSpPr>
          <p:spPr>
            <a:xfrm>
              <a:off x="2097088" y="6165304"/>
              <a:ext cx="16312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/>
            <p:nvPr/>
          </p:nvCxnSpPr>
          <p:spPr>
            <a:xfrm>
              <a:off x="5362500" y="6237336"/>
              <a:ext cx="2091428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/>
            <p:nvPr/>
          </p:nvCxnSpPr>
          <p:spPr>
            <a:xfrm flipH="1">
              <a:off x="5362500" y="6237336"/>
              <a:ext cx="1588" cy="21600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/>
            <p:nvPr/>
          </p:nvCxnSpPr>
          <p:spPr>
            <a:xfrm flipV="1">
              <a:off x="2257550" y="6453336"/>
              <a:ext cx="3106538" cy="694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/>
            <p:nvPr/>
          </p:nvCxnSpPr>
          <p:spPr>
            <a:xfrm flipH="1" flipV="1">
              <a:off x="7452320" y="5978412"/>
              <a:ext cx="1608" cy="184778"/>
            </a:xfrm>
            <a:prstGeom prst="line">
              <a:avLst/>
            </a:prstGeom>
            <a:ln w="19050">
              <a:solidFill>
                <a:srgbClr val="FF3399"/>
              </a:solidFill>
              <a:headEnd type="none" w="med" len="sm"/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/>
            <p:nvPr/>
          </p:nvCxnSpPr>
          <p:spPr>
            <a:xfrm flipH="1" flipV="1">
              <a:off x="5364088" y="6268558"/>
              <a:ext cx="1608" cy="184778"/>
            </a:xfrm>
            <a:prstGeom prst="line">
              <a:avLst/>
            </a:prstGeom>
            <a:ln w="19050">
              <a:solidFill>
                <a:srgbClr val="FF3399"/>
              </a:solidFill>
              <a:headEnd type="none" w="med" len="sm"/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/>
            <p:nvPr/>
          </p:nvCxnSpPr>
          <p:spPr>
            <a:xfrm flipV="1">
              <a:off x="2267744" y="5949280"/>
              <a:ext cx="3097952" cy="24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/>
            <p:cNvCxnSpPr/>
            <p:nvPr/>
          </p:nvCxnSpPr>
          <p:spPr>
            <a:xfrm flipH="1">
              <a:off x="5364088" y="5949280"/>
              <a:ext cx="1588" cy="21600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/>
            <p:cNvCxnSpPr/>
            <p:nvPr/>
          </p:nvCxnSpPr>
          <p:spPr>
            <a:xfrm flipH="1" flipV="1">
              <a:off x="2267744" y="5980526"/>
              <a:ext cx="1608" cy="184778"/>
            </a:xfrm>
            <a:prstGeom prst="line">
              <a:avLst/>
            </a:prstGeom>
            <a:ln w="19050">
              <a:solidFill>
                <a:srgbClr val="FF3399"/>
              </a:solidFill>
              <a:headEnd type="none" w="med" len="sm"/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连接符 306"/>
            <p:cNvCxnSpPr/>
            <p:nvPr/>
          </p:nvCxnSpPr>
          <p:spPr>
            <a:xfrm>
              <a:off x="2104624" y="6237312"/>
              <a:ext cx="16312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连接符 307"/>
            <p:cNvCxnSpPr/>
            <p:nvPr/>
          </p:nvCxnSpPr>
          <p:spPr>
            <a:xfrm flipH="1">
              <a:off x="2267744" y="6237336"/>
              <a:ext cx="1588" cy="21600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连接符 308"/>
            <p:cNvCxnSpPr/>
            <p:nvPr/>
          </p:nvCxnSpPr>
          <p:spPr>
            <a:xfrm flipV="1">
              <a:off x="7452320" y="6453336"/>
              <a:ext cx="36000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/>
            <p:cNvCxnSpPr/>
            <p:nvPr/>
          </p:nvCxnSpPr>
          <p:spPr>
            <a:xfrm>
              <a:off x="7452320" y="6237336"/>
              <a:ext cx="0" cy="21600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1835785" y="1188000"/>
            <a:ext cx="6192215" cy="1655900"/>
            <a:chOff x="1835785" y="1188000"/>
            <a:chExt cx="6192215" cy="1655900"/>
          </a:xfrm>
        </p:grpSpPr>
        <p:sp>
          <p:nvSpPr>
            <p:cNvPr id="208" name="TextBox 57"/>
            <p:cNvSpPr txBox="1"/>
            <p:nvPr>
              <p:custDataLst>
                <p:tags r:id="rId1"/>
              </p:custDataLst>
            </p:nvPr>
          </p:nvSpPr>
          <p:spPr>
            <a:xfrm>
              <a:off x="4032000" y="2448000"/>
              <a:ext cx="288000" cy="215900"/>
            </a:xfrm>
            <a:prstGeom prst="rect">
              <a:avLst/>
            </a:prstGeom>
            <a:solidFill>
              <a:srgbClr val="CCFFFF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1600" b="1" baseline="-18000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600" b="1" baseline="-18000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2" name="TextBox 83"/>
            <p:cNvSpPr txBox="1"/>
            <p:nvPr>
              <p:custDataLst>
                <p:tags r:id="rId2"/>
              </p:custDataLst>
            </p:nvPr>
          </p:nvSpPr>
          <p:spPr>
            <a:xfrm>
              <a:off x="6912000" y="2627545"/>
              <a:ext cx="53975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MemWr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3" name="直接连接符 142"/>
            <p:cNvCxnSpPr/>
            <p:nvPr>
              <p:custDataLst>
                <p:tags r:id="rId3"/>
              </p:custDataLst>
            </p:nvPr>
          </p:nvCxnSpPr>
          <p:spPr bwMode="auto">
            <a:xfrm flipV="1">
              <a:off x="6696000" y="2484000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44" name="Text Box 323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452000" y="1836000"/>
              <a:ext cx="576000" cy="648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rgbClr val="990099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DMEM</a:t>
              </a:r>
              <a:endParaRPr kumimoji="1" lang="en-US" altLang="zh-CN" sz="18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kumimoji="1" lang="zh-CN" altLang="en-US" sz="1400" b="1" dirty="0">
                  <a:latin typeface="宋体" panose="02010600030101010101" pitchFamily="2" charset="-122"/>
                </a:rPr>
                <a:t>同步</a:t>
              </a:r>
              <a:r>
                <a:rPr kumimoji="1" lang="en-US" altLang="zh-CN" sz="1400" b="1" dirty="0">
                  <a:latin typeface="宋体" panose="02010600030101010101" pitchFamily="2" charset="-122"/>
                </a:rPr>
                <a:t>)</a:t>
              </a:r>
              <a:endParaRPr kumimoji="1"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45" name="TextBox 91"/>
            <p:cNvSpPr txBox="1"/>
            <p:nvPr>
              <p:custDataLst>
                <p:tags r:id="rId5"/>
              </p:custDataLst>
            </p:nvPr>
          </p:nvSpPr>
          <p:spPr>
            <a:xfrm>
              <a:off x="4102735" y="2627545"/>
              <a:ext cx="50419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MtoR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6" name="直接连接符 8"/>
            <p:cNvCxnSpPr/>
            <p:nvPr>
              <p:custDataLst>
                <p:tags r:id="rId6"/>
              </p:custDataLst>
            </p:nvPr>
          </p:nvCxnSpPr>
          <p:spPr>
            <a:xfrm flipV="1">
              <a:off x="6297930" y="2055410"/>
              <a:ext cx="288290" cy="0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 Box 323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670935" y="1620435"/>
              <a:ext cx="575945" cy="6121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GPRs</a:t>
              </a:r>
              <a:endParaRPr kumimoji="1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8" name="Text Box 36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229485" y="1582970"/>
              <a:ext cx="360045" cy="53975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rd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rs2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rs1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9" name="直接连接符 148"/>
            <p:cNvCxnSpPr/>
            <p:nvPr>
              <p:custDataLst>
                <p:tags r:id="rId9"/>
              </p:custDataLst>
            </p:nvPr>
          </p:nvCxnSpPr>
          <p:spPr bwMode="auto">
            <a:xfrm>
              <a:off x="2193925" y="1548000"/>
              <a:ext cx="0" cy="93599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直接连接符 149"/>
            <p:cNvCxnSpPr/>
            <p:nvPr>
              <p:custDataLst>
                <p:tags r:id="rId10"/>
              </p:custDataLst>
            </p:nvPr>
          </p:nvCxnSpPr>
          <p:spPr>
            <a:xfrm>
              <a:off x="4246880" y="2123355"/>
              <a:ext cx="136779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AutoShape 15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 rot="16200000">
              <a:off x="5648960" y="1690920"/>
              <a:ext cx="648335" cy="361315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ALU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7" name="直接连接符 166"/>
            <p:cNvCxnSpPr/>
            <p:nvPr>
              <p:custDataLst>
                <p:tags r:id="rId12"/>
              </p:custDataLst>
            </p:nvPr>
          </p:nvCxnSpPr>
          <p:spPr>
            <a:xfrm>
              <a:off x="2193290" y="1763310"/>
              <a:ext cx="147574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>
              <p:custDataLst>
                <p:tags r:id="rId13"/>
              </p:custDataLst>
            </p:nvPr>
          </p:nvCxnSpPr>
          <p:spPr>
            <a:xfrm>
              <a:off x="2193290" y="1943015"/>
              <a:ext cx="147574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/>
            <p:cNvCxnSpPr/>
            <p:nvPr>
              <p:custDataLst>
                <p:tags r:id="rId14"/>
              </p:custDataLst>
            </p:nvPr>
          </p:nvCxnSpPr>
          <p:spPr>
            <a:xfrm>
              <a:off x="2193925" y="2123355"/>
              <a:ext cx="147574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82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3815715" y="2232575"/>
              <a:ext cx="0" cy="3962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91" name="直接连接符 190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4138930" y="2231940"/>
              <a:ext cx="0" cy="2159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2" name="直接连接符 191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6009640" y="2123355"/>
              <a:ext cx="0" cy="50419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93" name="TextBox 23"/>
            <p:cNvSpPr txBox="1"/>
            <p:nvPr>
              <p:custDataLst>
                <p:tags r:id="rId18"/>
              </p:custDataLst>
            </p:nvPr>
          </p:nvSpPr>
          <p:spPr>
            <a:xfrm>
              <a:off x="5652000" y="2627545"/>
              <a:ext cx="72009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ALUctr</a:t>
              </a:r>
              <a:endPara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4" name="TextBox 24"/>
            <p:cNvSpPr txBox="1"/>
            <p:nvPr>
              <p:custDataLst>
                <p:tags r:id="rId19"/>
              </p:custDataLst>
            </p:nvPr>
          </p:nvSpPr>
          <p:spPr>
            <a:xfrm>
              <a:off x="3526790" y="2627545"/>
              <a:ext cx="575945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RegWr</a:t>
              </a:r>
              <a:endPara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5" name="直接连接符 194"/>
            <p:cNvCxnSpPr/>
            <p:nvPr>
              <p:custDataLst>
                <p:tags r:id="rId20"/>
              </p:custDataLst>
            </p:nvPr>
          </p:nvCxnSpPr>
          <p:spPr>
            <a:xfrm>
              <a:off x="1835785" y="2196000"/>
              <a:ext cx="36004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Box 26"/>
            <p:cNvSpPr txBox="1"/>
            <p:nvPr>
              <p:custDataLst>
                <p:tags r:id="rId21"/>
              </p:custDataLst>
            </p:nvPr>
          </p:nvSpPr>
          <p:spPr>
            <a:xfrm>
              <a:off x="1943735" y="1548000"/>
              <a:ext cx="215900" cy="648000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指令字</a:t>
              </a:r>
              <a:endParaRPr lang="zh-CN" altLang="en-US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7" name="直接连接符 196"/>
            <p:cNvCxnSpPr/>
            <p:nvPr>
              <p:custDataLst>
                <p:tags r:id="rId22"/>
              </p:custDataLst>
            </p:nvPr>
          </p:nvCxnSpPr>
          <p:spPr>
            <a:xfrm>
              <a:off x="2193925" y="2375450"/>
              <a:ext cx="431800" cy="0"/>
            </a:xfrm>
            <a:prstGeom prst="line">
              <a:avLst/>
            </a:prstGeom>
            <a:ln w="15875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Text Box 323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626995" y="2195745"/>
              <a:ext cx="575945" cy="28829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err="1">
                  <a:latin typeface="宋体" panose="02010600030101010101" pitchFamily="2" charset="-122"/>
                </a:rPr>
                <a:t>ExtU</a:t>
              </a:r>
              <a:endParaRPr kumimoji="1" lang="en-US" altLang="zh-CN" sz="1800" b="1" dirty="0" err="1">
                <a:latin typeface="宋体" panose="02010600030101010101" pitchFamily="2" charset="-122"/>
              </a:endParaRPr>
            </a:p>
          </p:txBody>
        </p:sp>
        <p:sp>
          <p:nvSpPr>
            <p:cNvPr id="199" name="Text Box 18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038725" y="1584240"/>
              <a:ext cx="575945" cy="28892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MUX1</a:t>
              </a:r>
              <a:endParaRPr lang="en-US" altLang="zh-CN" sz="1600" b="1" spc="-100" dirty="0">
                <a:latin typeface="宋体" panose="02010600030101010101" pitchFamily="2" charset="-122"/>
              </a:endParaRPr>
            </a:p>
          </p:txBody>
        </p:sp>
        <p:cxnSp>
          <p:nvCxnSpPr>
            <p:cNvPr id="200" name="直接连接符 199"/>
            <p:cNvCxnSpPr/>
            <p:nvPr>
              <p:custDataLst>
                <p:tags r:id="rId25"/>
              </p:custDataLst>
            </p:nvPr>
          </p:nvCxnSpPr>
          <p:spPr>
            <a:xfrm>
              <a:off x="5614670" y="1691555"/>
              <a:ext cx="17970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>
              <p:custDataLst>
                <p:tags r:id="rId26"/>
              </p:custDataLst>
            </p:nvPr>
          </p:nvCxnSpPr>
          <p:spPr>
            <a:xfrm>
              <a:off x="4606925" y="1800000"/>
              <a:ext cx="43180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TextBox 40"/>
            <p:cNvSpPr txBox="1"/>
            <p:nvPr>
              <p:custDataLst>
                <p:tags r:id="rId27"/>
              </p:custDataLst>
            </p:nvPr>
          </p:nvSpPr>
          <p:spPr>
            <a:xfrm>
              <a:off x="2229485" y="2159550"/>
              <a:ext cx="32385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spc="-100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imm</a:t>
              </a:r>
              <a:endParaRPr lang="en-US" altLang="zh-CN" sz="1600" b="1" spc="-100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3" name="直接连接符 202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2915285" y="2481495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04" name="TextBox 45"/>
            <p:cNvSpPr txBox="1"/>
            <p:nvPr>
              <p:custDataLst>
                <p:tags r:id="rId29"/>
              </p:custDataLst>
            </p:nvPr>
          </p:nvSpPr>
          <p:spPr>
            <a:xfrm>
              <a:off x="2626995" y="2627545"/>
              <a:ext cx="575945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Extop</a:t>
              </a:r>
              <a:endPara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7" name="TextBox 24"/>
            <p:cNvSpPr txBox="1"/>
            <p:nvPr>
              <p:custDataLst>
                <p:tags r:id="rId30"/>
              </p:custDataLst>
            </p:nvPr>
          </p:nvSpPr>
          <p:spPr>
            <a:xfrm>
              <a:off x="5038725" y="1584240"/>
              <a:ext cx="144145" cy="28829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000" b="1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9" name="Text Box 18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102735" y="1188000"/>
              <a:ext cx="575945" cy="288925"/>
            </a:xfrm>
            <a:prstGeom prst="rect">
              <a:avLst/>
            </a:prstGeom>
            <a:noFill/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MUX2</a:t>
              </a:r>
              <a:endParaRPr lang="en-US" altLang="zh-CN" sz="1600" b="1" spc="-100" dirty="0">
                <a:latin typeface="宋体" panose="02010600030101010101" pitchFamily="2" charset="-122"/>
              </a:endParaRPr>
            </a:p>
          </p:txBody>
        </p:sp>
        <p:sp>
          <p:nvSpPr>
            <p:cNvPr id="210" name="TextBox 24"/>
            <p:cNvSpPr txBox="1"/>
            <p:nvPr>
              <p:custDataLst>
                <p:tags r:id="rId32"/>
              </p:custDataLst>
            </p:nvPr>
          </p:nvSpPr>
          <p:spPr>
            <a:xfrm>
              <a:off x="4534535" y="1188000"/>
              <a:ext cx="144145" cy="28829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11" name="直接连接符 210"/>
            <p:cNvCxnSpPr/>
            <p:nvPr>
              <p:custDataLst>
                <p:tags r:id="rId33"/>
              </p:custDataLst>
            </p:nvPr>
          </p:nvCxnSpPr>
          <p:spPr>
            <a:xfrm flipH="1">
              <a:off x="4678680" y="1404000"/>
              <a:ext cx="161988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>
              <p:custDataLst>
                <p:tags r:id="rId34"/>
              </p:custDataLst>
            </p:nvPr>
          </p:nvCxnSpPr>
          <p:spPr>
            <a:xfrm>
              <a:off x="6155055" y="1875070"/>
              <a:ext cx="144145" cy="0"/>
            </a:xfrm>
            <a:prstGeom prst="line">
              <a:avLst/>
            </a:prstGeom>
            <a:ln w="19050">
              <a:solidFill>
                <a:srgbClr val="C00000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>
              <p:custDataLst>
                <p:tags r:id="rId35"/>
              </p:custDataLst>
            </p:nvPr>
          </p:nvCxnSpPr>
          <p:spPr>
            <a:xfrm flipV="1">
              <a:off x="6299200" y="1404000"/>
              <a:ext cx="0" cy="467995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/>
            <p:cNvCxnSpPr/>
            <p:nvPr>
              <p:custDataLst>
                <p:tags r:id="rId36"/>
              </p:custDataLst>
            </p:nvPr>
          </p:nvCxnSpPr>
          <p:spPr>
            <a:xfrm flipH="1">
              <a:off x="6299200" y="1875070"/>
              <a:ext cx="0" cy="179705"/>
            </a:xfrm>
            <a:prstGeom prst="line">
              <a:avLst/>
            </a:prstGeom>
            <a:ln w="1905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>
              <p:custDataLst>
                <p:tags r:id="rId37"/>
              </p:custDataLst>
            </p:nvPr>
          </p:nvCxnSpPr>
          <p:spPr>
            <a:xfrm flipV="1">
              <a:off x="6876000" y="1260000"/>
              <a:ext cx="0" cy="57600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>
              <p:custDataLst>
                <p:tags r:id="rId38"/>
              </p:custDataLst>
            </p:nvPr>
          </p:nvCxnSpPr>
          <p:spPr>
            <a:xfrm flipH="1">
              <a:off x="4678680" y="1260000"/>
              <a:ext cx="219600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>
              <p:custDataLst>
                <p:tags r:id="rId39"/>
              </p:custDataLst>
            </p:nvPr>
          </p:nvCxnSpPr>
          <p:spPr>
            <a:xfrm>
              <a:off x="3490595" y="1332145"/>
              <a:ext cx="61214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>
              <p:custDataLst>
                <p:tags r:id="rId40"/>
              </p:custDataLst>
            </p:nvPr>
          </p:nvCxnSpPr>
          <p:spPr>
            <a:xfrm>
              <a:off x="3490595" y="1655995"/>
              <a:ext cx="17970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>
              <p:custDataLst>
                <p:tags r:id="rId41"/>
              </p:custDataLst>
            </p:nvPr>
          </p:nvCxnSpPr>
          <p:spPr>
            <a:xfrm flipV="1">
              <a:off x="3490595" y="1332145"/>
              <a:ext cx="0" cy="32385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/>
            <p:cNvCxnSpPr/>
            <p:nvPr>
              <p:custDataLst>
                <p:tags r:id="rId42"/>
              </p:custDataLst>
            </p:nvPr>
          </p:nvCxnSpPr>
          <p:spPr>
            <a:xfrm>
              <a:off x="4498975" y="1620435"/>
              <a:ext cx="53975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/>
            <p:cNvCxnSpPr/>
            <p:nvPr>
              <p:custDataLst>
                <p:tags r:id="rId43"/>
              </p:custDataLst>
            </p:nvPr>
          </p:nvCxnSpPr>
          <p:spPr>
            <a:xfrm>
              <a:off x="4246880" y="1947460"/>
              <a:ext cx="25209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>
              <p:custDataLst>
                <p:tags r:id="rId44"/>
              </p:custDataLst>
            </p:nvPr>
          </p:nvCxnSpPr>
          <p:spPr>
            <a:xfrm flipV="1">
              <a:off x="4498975" y="1620435"/>
              <a:ext cx="0" cy="32385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>
              <p:custDataLst>
                <p:tags r:id="rId45"/>
              </p:custDataLst>
            </p:nvPr>
          </p:nvCxnSpPr>
          <p:spPr>
            <a:xfrm>
              <a:off x="3202940" y="2375450"/>
              <a:ext cx="140398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>
              <p:custDataLst>
                <p:tags r:id="rId46"/>
              </p:custDataLst>
            </p:nvPr>
          </p:nvCxnSpPr>
          <p:spPr>
            <a:xfrm flipV="1">
              <a:off x="4606925" y="1800000"/>
              <a:ext cx="0" cy="57600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4354830" y="1479465"/>
              <a:ext cx="0" cy="115189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33" name="直接连接符 232"/>
            <p:cNvCxnSpPr/>
            <p:nvPr>
              <p:custDataLst>
                <p:tags r:id="rId48"/>
              </p:custDataLst>
            </p:nvPr>
          </p:nvCxnSpPr>
          <p:spPr>
            <a:xfrm>
              <a:off x="4498975" y="2268135"/>
              <a:ext cx="208788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>
              <p:custDataLst>
                <p:tags r:id="rId49"/>
              </p:custDataLst>
            </p:nvPr>
          </p:nvCxnSpPr>
          <p:spPr>
            <a:xfrm>
              <a:off x="5614670" y="2123990"/>
              <a:ext cx="17970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5284470" y="1871895"/>
              <a:ext cx="0" cy="75628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36" name="TextBox 47"/>
            <p:cNvSpPr txBox="1"/>
            <p:nvPr>
              <p:custDataLst>
                <p:tags r:id="rId51"/>
              </p:custDataLst>
            </p:nvPr>
          </p:nvSpPr>
          <p:spPr>
            <a:xfrm>
              <a:off x="4860000" y="2627545"/>
              <a:ext cx="756285" cy="1797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ALUBsrc</a:t>
              </a:r>
              <a:endPara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7" name="直接连接符 236"/>
            <p:cNvCxnSpPr/>
            <p:nvPr>
              <p:custDataLst>
                <p:tags r:id="rId52"/>
              </p:custDataLst>
            </p:nvPr>
          </p:nvCxnSpPr>
          <p:spPr>
            <a:xfrm>
              <a:off x="4500245" y="1944920"/>
              <a:ext cx="0" cy="323850"/>
            </a:xfrm>
            <a:prstGeom prst="line">
              <a:avLst/>
            </a:prstGeom>
            <a:ln w="19050">
              <a:solidFill>
                <a:srgbClr val="3333FF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Text Box 323"/>
            <p:cNvSpPr txBox="1">
              <a:spLocks noChangeArrowheads="1"/>
            </p:cNvSpPr>
            <p:nvPr/>
          </p:nvSpPr>
          <p:spPr bwMode="auto">
            <a:xfrm>
              <a:off x="6588224" y="1836000"/>
              <a:ext cx="576000" cy="648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b="1" dirty="0">
                  <a:latin typeface="宋体" panose="02010600030101010101" pitchFamily="2" charset="-122"/>
                </a:rPr>
                <a:t>DBIU</a:t>
              </a:r>
              <a:endParaRPr kumimoji="1"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9" name="直接连接符 238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7056000" y="2484000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40" name="TextBox 83"/>
            <p:cNvSpPr txBox="1"/>
            <p:nvPr>
              <p:custDataLst>
                <p:tags r:id="rId54"/>
              </p:custDataLst>
            </p:nvPr>
          </p:nvSpPr>
          <p:spPr>
            <a:xfrm>
              <a:off x="6336000" y="2628000"/>
              <a:ext cx="53975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MemRd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41" name="直接连接符 240"/>
            <p:cNvCxnSpPr/>
            <p:nvPr>
              <p:custDataLst>
                <p:tags r:id="rId55"/>
              </p:custDataLst>
            </p:nvPr>
          </p:nvCxnSpPr>
          <p:spPr bwMode="auto">
            <a:xfrm>
              <a:off x="6372000" y="2412000"/>
              <a:ext cx="21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42" name="直接连接符 8"/>
            <p:cNvCxnSpPr/>
            <p:nvPr>
              <p:custDataLst>
                <p:tags r:id="rId56"/>
              </p:custDataLst>
            </p:nvPr>
          </p:nvCxnSpPr>
          <p:spPr>
            <a:xfrm flipV="1">
              <a:off x="7164030" y="1944000"/>
              <a:ext cx="288290" cy="0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8"/>
            <p:cNvCxnSpPr/>
            <p:nvPr>
              <p:custDataLst>
                <p:tags r:id="rId57"/>
              </p:custDataLst>
            </p:nvPr>
          </p:nvCxnSpPr>
          <p:spPr>
            <a:xfrm flipV="1">
              <a:off x="7164000" y="2052000"/>
              <a:ext cx="288290" cy="0"/>
            </a:xfrm>
            <a:prstGeom prst="straightConnector1">
              <a:avLst/>
            </a:prstGeom>
            <a:ln w="19050">
              <a:solidFill>
                <a:srgbClr val="3333FF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8"/>
            <p:cNvCxnSpPr/>
            <p:nvPr>
              <p:custDataLst>
                <p:tags r:id="rId58"/>
              </p:custDataLst>
            </p:nvPr>
          </p:nvCxnSpPr>
          <p:spPr>
            <a:xfrm flipV="1">
              <a:off x="7164000" y="2124000"/>
              <a:ext cx="288290" cy="0"/>
            </a:xfrm>
            <a:prstGeom prst="straightConnector1">
              <a:avLst/>
            </a:prstGeom>
            <a:ln w="19050">
              <a:solidFill>
                <a:srgbClr val="3333FF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7164000" y="2268000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46" name="直接连接符 245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7164000" y="2340000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47" name="直接连接符 246"/>
            <p:cNvCxnSpPr/>
            <p:nvPr>
              <p:custDataLst>
                <p:tags r:id="rId61"/>
              </p:custDataLst>
            </p:nvPr>
          </p:nvCxnSpPr>
          <p:spPr bwMode="auto">
            <a:xfrm>
              <a:off x="7164000" y="2412000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248" name="组合 247"/>
          <p:cNvGrpSpPr/>
          <p:nvPr/>
        </p:nvGrpSpPr>
        <p:grpSpPr>
          <a:xfrm>
            <a:off x="1871510" y="3748382"/>
            <a:ext cx="6055630" cy="760738"/>
            <a:chOff x="1747526" y="4504374"/>
            <a:chExt cx="6055630" cy="760738"/>
          </a:xfrm>
        </p:grpSpPr>
        <p:cxnSp>
          <p:nvCxnSpPr>
            <p:cNvPr id="249" name="直接连接符 248"/>
            <p:cNvCxnSpPr/>
            <p:nvPr>
              <p:custDataLst>
                <p:tags r:id="rId62"/>
              </p:custDataLst>
            </p:nvPr>
          </p:nvCxnSpPr>
          <p:spPr>
            <a:xfrm>
              <a:off x="5347526" y="4725144"/>
              <a:ext cx="209475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/>
            <p:nvPr>
              <p:custDataLst>
                <p:tags r:id="rId63"/>
              </p:custDataLst>
            </p:nvPr>
          </p:nvCxnSpPr>
          <p:spPr>
            <a:xfrm>
              <a:off x="5347526" y="450914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>
              <p:custDataLst>
                <p:tags r:id="rId64"/>
              </p:custDataLst>
            </p:nvPr>
          </p:nvCxnSpPr>
          <p:spPr>
            <a:xfrm>
              <a:off x="2251526" y="4509120"/>
              <a:ext cx="3098948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>
              <p:custDataLst>
                <p:tags r:id="rId65"/>
              </p:custDataLst>
            </p:nvPr>
          </p:nvCxnSpPr>
          <p:spPr>
            <a:xfrm flipH="1">
              <a:off x="2251526" y="450914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>
              <p:custDataLst>
                <p:tags r:id="rId66"/>
              </p:custDataLst>
            </p:nvPr>
          </p:nvCxnSpPr>
          <p:spPr>
            <a:xfrm>
              <a:off x="2107526" y="4725144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>
              <p:custDataLst>
                <p:tags r:id="rId67"/>
              </p:custDataLst>
            </p:nvPr>
          </p:nvCxnSpPr>
          <p:spPr>
            <a:xfrm>
              <a:off x="7435526" y="450437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>
              <p:custDataLst>
                <p:tags r:id="rId68"/>
              </p:custDataLst>
            </p:nvPr>
          </p:nvCxnSpPr>
          <p:spPr>
            <a:xfrm>
              <a:off x="7435526" y="4509120"/>
              <a:ext cx="36763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>
              <p:custDataLst>
                <p:tags r:id="rId69"/>
              </p:custDataLst>
            </p:nvPr>
          </p:nvCxnSpPr>
          <p:spPr>
            <a:xfrm>
              <a:off x="2251526" y="4761112"/>
              <a:ext cx="0" cy="28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/>
            <p:nvPr>
              <p:custDataLst>
                <p:tags r:id="rId70"/>
              </p:custDataLst>
            </p:nvPr>
          </p:nvCxnSpPr>
          <p:spPr>
            <a:xfrm>
              <a:off x="3481686" y="4761112"/>
              <a:ext cx="0" cy="28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8" name="TextBox 165"/>
            <p:cNvSpPr txBox="1"/>
            <p:nvPr>
              <p:custDataLst>
                <p:tags r:id="rId71"/>
              </p:custDataLst>
            </p:nvPr>
          </p:nvSpPr>
          <p:spPr>
            <a:xfrm>
              <a:off x="2251526" y="4725112"/>
              <a:ext cx="122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取指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+CU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59" name="直接连接符 258"/>
            <p:cNvCxnSpPr/>
            <p:nvPr>
              <p:custDataLst>
                <p:tags r:id="rId72"/>
              </p:custDataLst>
            </p:nvPr>
          </p:nvCxnSpPr>
          <p:spPr>
            <a:xfrm>
              <a:off x="4483526" y="4761112"/>
              <a:ext cx="0" cy="28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0" name="TextBox 168"/>
            <p:cNvSpPr txBox="1"/>
            <p:nvPr>
              <p:custDataLst>
                <p:tags r:id="rId73"/>
              </p:custDataLst>
            </p:nvPr>
          </p:nvSpPr>
          <p:spPr>
            <a:xfrm>
              <a:off x="3475526" y="4725112"/>
              <a:ext cx="1008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GPR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61" name="直接连接符 260"/>
            <p:cNvCxnSpPr/>
            <p:nvPr>
              <p:custDataLst>
                <p:tags r:id="rId74"/>
              </p:custDataLst>
            </p:nvPr>
          </p:nvCxnSpPr>
          <p:spPr>
            <a:xfrm>
              <a:off x="3475526" y="4941112"/>
              <a:ext cx="1008000" cy="0"/>
            </a:xfrm>
            <a:prstGeom prst="line">
              <a:avLst/>
            </a:prstGeom>
            <a:ln w="9525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TextBox 170"/>
            <p:cNvSpPr txBox="1"/>
            <p:nvPr>
              <p:custDataLst>
                <p:tags r:id="rId75"/>
              </p:custDataLst>
            </p:nvPr>
          </p:nvSpPr>
          <p:spPr>
            <a:xfrm>
              <a:off x="1747526" y="4509112"/>
              <a:ext cx="360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63" name="直接连接符 262"/>
            <p:cNvCxnSpPr/>
            <p:nvPr>
              <p:custDataLst>
                <p:tags r:id="rId76"/>
              </p:custDataLst>
            </p:nvPr>
          </p:nvCxnSpPr>
          <p:spPr>
            <a:xfrm flipV="1">
              <a:off x="7435526" y="4725112"/>
              <a:ext cx="1" cy="324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/>
            <p:cNvCxnSpPr/>
            <p:nvPr>
              <p:custDataLst>
                <p:tags r:id="rId77"/>
              </p:custDataLst>
            </p:nvPr>
          </p:nvCxnSpPr>
          <p:spPr>
            <a:xfrm>
              <a:off x="2251526" y="4941112"/>
              <a:ext cx="1224000" cy="0"/>
            </a:xfrm>
            <a:prstGeom prst="line">
              <a:avLst/>
            </a:prstGeom>
            <a:ln w="9525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TextBox 173"/>
            <p:cNvSpPr txBox="1"/>
            <p:nvPr>
              <p:custDataLst>
                <p:tags r:id="rId78"/>
              </p:custDataLst>
            </p:nvPr>
          </p:nvSpPr>
          <p:spPr>
            <a:xfrm>
              <a:off x="7075526" y="5049112"/>
              <a:ext cx="68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GPRs</a:t>
              </a:r>
              <a:endParaRPr lang="zh-CN" altLang="en-US" sz="18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66" name="直接连接符 265"/>
            <p:cNvCxnSpPr/>
            <p:nvPr>
              <p:custDataLst>
                <p:tags r:id="rId79"/>
              </p:custDataLst>
            </p:nvPr>
          </p:nvCxnSpPr>
          <p:spPr>
            <a:xfrm>
              <a:off x="7795526" y="4725112"/>
              <a:ext cx="0" cy="324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/>
            <p:cNvCxnSpPr/>
            <p:nvPr>
              <p:custDataLst>
                <p:tags r:id="rId80"/>
              </p:custDataLst>
            </p:nvPr>
          </p:nvCxnSpPr>
          <p:spPr>
            <a:xfrm flipV="1">
              <a:off x="7435526" y="4941112"/>
              <a:ext cx="367630" cy="1"/>
            </a:xfrm>
            <a:prstGeom prst="line">
              <a:avLst/>
            </a:prstGeom>
            <a:ln w="9525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8" name="组合 267"/>
          <p:cNvGrpSpPr/>
          <p:nvPr/>
        </p:nvGrpSpPr>
        <p:grpSpPr>
          <a:xfrm>
            <a:off x="4607560" y="3969170"/>
            <a:ext cx="2232025" cy="539750"/>
            <a:chOff x="7030" y="7030"/>
            <a:chExt cx="3515" cy="850"/>
          </a:xfrm>
        </p:grpSpPr>
        <p:cxnSp>
          <p:nvCxnSpPr>
            <p:cNvPr id="269" name="直接连接符 268"/>
            <p:cNvCxnSpPr/>
            <p:nvPr>
              <p:custDataLst>
                <p:tags r:id="rId81"/>
              </p:custDataLst>
            </p:nvPr>
          </p:nvCxnSpPr>
          <p:spPr>
            <a:xfrm flipH="1" flipV="1">
              <a:off x="8402" y="7030"/>
              <a:ext cx="3" cy="51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TextBox 179"/>
            <p:cNvSpPr txBox="1"/>
            <p:nvPr>
              <p:custDataLst>
                <p:tags r:id="rId82"/>
              </p:custDataLst>
            </p:nvPr>
          </p:nvSpPr>
          <p:spPr>
            <a:xfrm>
              <a:off x="8220" y="7540"/>
              <a:ext cx="1191" cy="34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读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/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写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DM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271" name="直接连接符 270"/>
            <p:cNvCxnSpPr/>
            <p:nvPr>
              <p:custDataLst>
                <p:tags r:id="rId83"/>
              </p:custDataLst>
            </p:nvPr>
          </p:nvCxnSpPr>
          <p:spPr>
            <a:xfrm>
              <a:off x="10545" y="7077"/>
              <a:ext cx="0" cy="454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TextBox 181"/>
            <p:cNvSpPr txBox="1"/>
            <p:nvPr>
              <p:custDataLst>
                <p:tags r:id="rId84"/>
              </p:custDataLst>
            </p:nvPr>
          </p:nvSpPr>
          <p:spPr>
            <a:xfrm>
              <a:off x="8447" y="7087"/>
              <a:ext cx="2040" cy="34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Mem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73" name="直接连接符 272"/>
            <p:cNvCxnSpPr/>
            <p:nvPr>
              <p:custDataLst>
                <p:tags r:id="rId85"/>
              </p:custDataLst>
            </p:nvPr>
          </p:nvCxnSpPr>
          <p:spPr>
            <a:xfrm>
              <a:off x="8391" y="7427"/>
              <a:ext cx="2155" cy="3"/>
            </a:xfrm>
            <a:prstGeom prst="line">
              <a:avLst/>
            </a:prstGeom>
            <a:ln w="9525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/>
            <p:cNvCxnSpPr/>
            <p:nvPr>
              <p:custDataLst>
                <p:tags r:id="rId86"/>
              </p:custDataLst>
            </p:nvPr>
          </p:nvCxnSpPr>
          <p:spPr>
            <a:xfrm flipH="1">
              <a:off x="8277" y="7087"/>
              <a:ext cx="1" cy="454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TextBox 185"/>
            <p:cNvSpPr txBox="1"/>
            <p:nvPr>
              <p:custDataLst>
                <p:tags r:id="rId87"/>
              </p:custDataLst>
            </p:nvPr>
          </p:nvSpPr>
          <p:spPr>
            <a:xfrm>
              <a:off x="7087" y="7030"/>
              <a:ext cx="1134" cy="34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ALU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76" name="直接连接符 275"/>
            <p:cNvCxnSpPr/>
            <p:nvPr>
              <p:custDataLst>
                <p:tags r:id="rId88"/>
              </p:custDataLst>
            </p:nvPr>
          </p:nvCxnSpPr>
          <p:spPr>
            <a:xfrm>
              <a:off x="7030" y="7370"/>
              <a:ext cx="1247" cy="3"/>
            </a:xfrm>
            <a:prstGeom prst="line">
              <a:avLst/>
            </a:prstGeom>
            <a:ln w="9525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7" name="直接连接符 276"/>
          <p:cNvCxnSpPr/>
          <p:nvPr/>
        </p:nvCxnSpPr>
        <p:spPr>
          <a:xfrm flipV="1">
            <a:off x="5508104" y="2448000"/>
            <a:ext cx="971896" cy="1401683"/>
          </a:xfrm>
          <a:prstGeom prst="line">
            <a:avLst/>
          </a:prstGeom>
          <a:ln w="9525">
            <a:solidFill>
              <a:srgbClr val="990099"/>
            </a:solidFill>
            <a:prstDash val="sysDash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75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16"/>
          <p:cNvSpPr txBox="1">
            <a:spLocks noChangeArrowheads="1"/>
          </p:cNvSpPr>
          <p:nvPr/>
        </p:nvSpPr>
        <p:spPr bwMode="auto">
          <a:xfrm>
            <a:off x="179263" y="404664"/>
            <a:ext cx="8750811" cy="60422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*取指令</a:t>
            </a: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&amp;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指令寻址：</a:t>
            </a:r>
            <a:r>
              <a:rPr kumimoji="1" lang="zh-CN" altLang="en-US" sz="2000" b="1" dirty="0">
                <a:latin typeface="宋体" panose="02010600030101010101" pitchFamily="2" charset="-122"/>
              </a:rPr>
              <a:t>指令字</a:t>
            </a:r>
            <a:r>
              <a:rPr lang="zh-CN" altLang="zh-CN" sz="2000" b="1" dirty="0">
                <a:solidFill>
                  <a:schemeClr val="dk1"/>
                </a:solidFill>
                <a:latin typeface="+mn-ea"/>
              </a:rPr>
              <a:t>＝</a:t>
            </a:r>
            <a:r>
              <a:rPr lang="en-US" altLang="zh-CN" sz="2000" b="1" dirty="0">
                <a:solidFill>
                  <a:schemeClr val="dk1"/>
                </a:solidFill>
                <a:latin typeface="+mn-ea"/>
              </a:rPr>
              <a:t>M[(PC)]</a:t>
            </a:r>
            <a:r>
              <a:rPr lang="zh-CN" altLang="en-US" sz="2000" b="1" dirty="0">
                <a:solidFill>
                  <a:schemeClr val="dk1"/>
                </a:solidFill>
                <a:latin typeface="+mn-ea"/>
              </a:rPr>
              <a:t>，指令周期结束前</a:t>
            </a:r>
            <a:r>
              <a:rPr lang="zh-CN" altLang="en-US" sz="2000" b="1" u="sng" dirty="0">
                <a:solidFill>
                  <a:schemeClr val="dk1"/>
                </a:solidFill>
                <a:latin typeface="+mn-ea"/>
              </a:rPr>
              <a:t>保持不变</a:t>
            </a:r>
            <a:r>
              <a:rPr lang="zh-CN" altLang="en-US" sz="2000" b="1" dirty="0">
                <a:solidFill>
                  <a:schemeClr val="dk1"/>
                </a:solidFill>
                <a:latin typeface="+mn-ea"/>
              </a:rPr>
              <a:t>；</a:t>
            </a:r>
            <a:endParaRPr lang="en-US" altLang="zh-CN" sz="2000" b="1" dirty="0">
              <a:solidFill>
                <a:schemeClr val="dk1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en-US" altLang="zh-CN" sz="2000" b="1" kern="100" dirty="0">
                <a:solidFill>
                  <a:schemeClr val="dk1"/>
                </a:solidFill>
                <a:latin typeface="+mn-ea"/>
              </a:rPr>
              <a:t>                     PC←</a:t>
            </a:r>
            <a:r>
              <a:rPr lang="zh-CN" altLang="en-US" sz="2000" b="1" kern="100" dirty="0">
                <a:solidFill>
                  <a:schemeClr val="dk1"/>
                </a:solidFill>
                <a:latin typeface="+mn-ea"/>
              </a:rPr>
              <a:t>指令寻址操作结果</a:t>
            </a:r>
            <a:endParaRPr lang="en-US" altLang="zh-CN" sz="2000" b="1" kern="100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数据路径的设计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solidFill>
                  <a:srgbClr val="3333FF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时序的组织</a:t>
            </a:r>
            <a:r>
              <a:rPr lang="en-US" altLang="zh-CN" sz="24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lang="en-US" altLang="zh-CN" sz="24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kumimoji="1"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kumimoji="1"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beq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r>
              <a:rPr lang="en-US" altLang="zh-CN" sz="2000" b="1" kern="100" spc="-100" dirty="0">
                <a:latin typeface="+mn-ea"/>
              </a:rPr>
              <a:t>PC</a:t>
            </a:r>
            <a:r>
              <a:rPr lang="zh-CN" altLang="en-US" sz="2000" b="1" kern="100" spc="-100" dirty="0">
                <a:latin typeface="+mn-ea"/>
              </a:rPr>
              <a:t>←</a:t>
            </a:r>
            <a:r>
              <a:rPr lang="en-US" altLang="zh-CN" sz="2000" b="1" dirty="0">
                <a:solidFill>
                  <a:schemeClr val="dk1"/>
                </a:solidFill>
                <a:latin typeface="+mn-ea"/>
              </a:rPr>
              <a:t>((rs1)</a:t>
            </a:r>
            <a:r>
              <a:rPr lang="zh-CN" altLang="zh-CN" sz="2000" b="1" dirty="0">
                <a:solidFill>
                  <a:schemeClr val="dk1"/>
                </a:solidFill>
                <a:latin typeface="+mn-ea"/>
              </a:rPr>
              <a:t>＝</a:t>
            </a:r>
            <a:r>
              <a:rPr lang="en-US" altLang="zh-CN" sz="2000" b="1" dirty="0">
                <a:solidFill>
                  <a:schemeClr val="dk1"/>
                </a:solidFill>
                <a:latin typeface="+mn-ea"/>
              </a:rPr>
              <a:t>(rs2))? PC←(PC)+</a:t>
            </a:r>
            <a:r>
              <a:rPr lang="en-US" altLang="zh-CN" sz="2000" b="1" dirty="0" err="1">
                <a:solidFill>
                  <a:schemeClr val="dk1"/>
                </a:solidFill>
                <a:latin typeface="+mn-ea"/>
              </a:rPr>
              <a:t>SExt</a:t>
            </a:r>
            <a:r>
              <a:rPr lang="en-US" altLang="zh-CN" sz="2000" b="1" dirty="0">
                <a:solidFill>
                  <a:schemeClr val="dk1"/>
                </a:solidFill>
                <a:latin typeface="+mn-ea"/>
              </a:rPr>
              <a:t>(</a:t>
            </a:r>
            <a:r>
              <a:rPr lang="en-US" altLang="zh-CN" sz="2000" b="1" dirty="0" err="1">
                <a:solidFill>
                  <a:schemeClr val="dk1"/>
                </a:solidFill>
                <a:latin typeface="+mn-ea"/>
              </a:rPr>
              <a:t>imm</a:t>
            </a:r>
            <a:r>
              <a:rPr lang="en-US" altLang="zh-CN" sz="2000" b="1" dirty="0">
                <a:solidFill>
                  <a:schemeClr val="dk1"/>
                </a:solidFill>
                <a:latin typeface="+mn-ea"/>
              </a:rPr>
              <a:t>&lt;&lt;1) </a:t>
            </a:r>
            <a:r>
              <a:rPr lang="en-US" altLang="zh-CN" sz="2000" b="1" kern="100" spc="-100" dirty="0">
                <a:latin typeface="+mn-ea"/>
              </a:rPr>
              <a:t>:</a:t>
            </a:r>
            <a:r>
              <a:rPr lang="en-US" altLang="zh-CN" sz="2000" b="1" kern="100" spc="-100" baseline="-25000" dirty="0">
                <a:latin typeface="+mn-ea"/>
              </a:rPr>
              <a:t> </a:t>
            </a:r>
            <a:r>
              <a:rPr lang="en-US" altLang="zh-CN" sz="2000" b="1" kern="100" spc="-100" dirty="0">
                <a:latin typeface="+mn-ea"/>
              </a:rPr>
              <a:t>(PC)</a:t>
            </a:r>
            <a:r>
              <a:rPr lang="zh-CN" altLang="zh-CN" sz="2000" b="1" kern="100" spc="-100" dirty="0">
                <a:latin typeface="+mn-ea"/>
              </a:rPr>
              <a:t>＋</a:t>
            </a:r>
            <a:r>
              <a:rPr lang="en-US" altLang="zh-CN" sz="2000" b="1" kern="100" spc="-100" dirty="0">
                <a:latin typeface="+mn-ea"/>
              </a:rPr>
              <a:t>4</a:t>
            </a:r>
            <a:endParaRPr lang="en-US" altLang="zh-CN" sz="2400" b="1" kern="100" spc="-100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数据路径的设计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solidFill>
                  <a:srgbClr val="3333FF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时序的组织</a:t>
            </a:r>
            <a:r>
              <a:rPr lang="en-US" altLang="zh-CN" sz="24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lang="en-US" altLang="zh-CN" sz="2400" b="1" dirty="0">
              <a:solidFill>
                <a:srgbClr val="3333FF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 Box 116"/>
          <p:cNvSpPr txBox="1">
            <a:spLocks noChangeArrowheads="1"/>
          </p:cNvSpPr>
          <p:nvPr/>
        </p:nvSpPr>
        <p:spPr bwMode="auto">
          <a:xfrm>
            <a:off x="3039850" y="1196752"/>
            <a:ext cx="5852614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latin typeface="宋体" panose="02010600030101010101" pitchFamily="2" charset="-122"/>
              </a:rPr>
              <a:t>增设</a:t>
            </a:r>
            <a:r>
              <a:rPr lang="en-US" altLang="zh-CN" sz="2200" b="1" dirty="0">
                <a:latin typeface="宋体" panose="02010600030101010101" pitchFamily="2" charset="-122"/>
              </a:rPr>
              <a:t>PC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IBIU</a:t>
            </a:r>
            <a:r>
              <a:rPr lang="zh-CN" altLang="en-US" sz="2200" b="1" dirty="0">
                <a:latin typeface="宋体" panose="02010600030101010101" pitchFamily="2" charset="-122"/>
              </a:rPr>
              <a:t>，增设</a:t>
            </a:r>
            <a:r>
              <a:rPr lang="en-US" altLang="zh-CN" sz="2200" b="1" dirty="0">
                <a:latin typeface="宋体" panose="02010600030101010101" pitchFamily="2" charset="-122"/>
              </a:rPr>
              <a:t>ACU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连线～指令寻址功能</a:t>
            </a:r>
            <a:r>
              <a:rPr lang="en-US" altLang="zh-CN" sz="1600" b="1" dirty="0">
                <a:latin typeface="宋体" panose="02010600030101010101" pitchFamily="2" charset="-122"/>
              </a:rPr>
              <a:t>[3</a:t>
            </a:r>
            <a:r>
              <a:rPr lang="zh-CN" altLang="en-US" sz="1600" b="1" dirty="0">
                <a:latin typeface="宋体" panose="02010600030101010101" pitchFamily="2" charset="-122"/>
              </a:rPr>
              <a:t>种</a:t>
            </a:r>
            <a:r>
              <a:rPr lang="en-US" altLang="zh-CN" sz="1600" b="1" dirty="0">
                <a:latin typeface="宋体" panose="02010600030101010101" pitchFamily="2" charset="-122"/>
              </a:rPr>
              <a:t>])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1404016" y="1700808"/>
            <a:ext cx="5760448" cy="720289"/>
            <a:chOff x="1404016" y="1260000"/>
            <a:chExt cx="5760448" cy="720289"/>
          </a:xfrm>
        </p:grpSpPr>
        <p:cxnSp>
          <p:nvCxnSpPr>
            <p:cNvPr id="70" name="直接连接符 69"/>
            <p:cNvCxnSpPr/>
            <p:nvPr>
              <p:custDataLst>
                <p:tags r:id="rId1"/>
              </p:custDataLst>
            </p:nvPr>
          </p:nvCxnSpPr>
          <p:spPr>
            <a:xfrm flipH="1">
              <a:off x="2520464" y="1728000"/>
              <a:ext cx="17970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>
              <p:custDataLst>
                <p:tags r:id="rId2"/>
              </p:custDataLst>
            </p:nvPr>
          </p:nvCxnSpPr>
          <p:spPr>
            <a:xfrm flipV="1">
              <a:off x="2700464" y="1728289"/>
              <a:ext cx="0" cy="252000"/>
            </a:xfrm>
            <a:prstGeom prst="line">
              <a:avLst/>
            </a:prstGeom>
            <a:ln w="19050">
              <a:solidFill>
                <a:srgbClr val="3333FF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 Box 323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44464" y="1296000"/>
              <a:ext cx="576000" cy="504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ACU</a:t>
              </a:r>
              <a:endParaRPr kumimoji="1"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4" name="直接连接符 73"/>
            <p:cNvCxnSpPr/>
            <p:nvPr>
              <p:custDataLst>
                <p:tags r:id="rId4"/>
              </p:custDataLst>
            </p:nvPr>
          </p:nvCxnSpPr>
          <p:spPr>
            <a:xfrm flipH="1">
              <a:off x="2520464" y="1368000"/>
              <a:ext cx="4644000" cy="0"/>
            </a:xfrm>
            <a:prstGeom prst="line">
              <a:avLst/>
            </a:prstGeom>
            <a:ln w="12700">
              <a:solidFill>
                <a:srgbClr val="99009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>
              <p:custDataLst>
                <p:tags r:id="rId5"/>
              </p:custDataLst>
            </p:nvPr>
          </p:nvCxnSpPr>
          <p:spPr>
            <a:xfrm flipV="1">
              <a:off x="7164464" y="1368000"/>
              <a:ext cx="0" cy="288000"/>
            </a:xfrm>
            <a:prstGeom prst="line">
              <a:avLst/>
            </a:prstGeom>
            <a:ln w="12700">
              <a:solidFill>
                <a:srgbClr val="990099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>
              <p:custDataLst>
                <p:tags r:id="rId6"/>
              </p:custDataLst>
            </p:nvPr>
          </p:nvCxnSpPr>
          <p:spPr>
            <a:xfrm flipH="1">
              <a:off x="2520464" y="1584000"/>
              <a:ext cx="540000" cy="0"/>
            </a:xfrm>
            <a:prstGeom prst="line">
              <a:avLst/>
            </a:prstGeom>
            <a:ln w="15875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40"/>
            <p:cNvSpPr txBox="1"/>
            <p:nvPr>
              <p:custDataLst>
                <p:tags r:id="rId7"/>
              </p:custDataLst>
            </p:nvPr>
          </p:nvSpPr>
          <p:spPr>
            <a:xfrm>
              <a:off x="2700464" y="1368000"/>
              <a:ext cx="32385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spc="-100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imm</a:t>
              </a:r>
              <a:endParaRPr lang="en-US" altLang="zh-CN" sz="1600" b="1" spc="-100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9" name="直接连接符 78"/>
            <p:cNvCxnSpPr/>
            <p:nvPr>
              <p:custDataLst>
                <p:tags r:id="rId8"/>
              </p:custDataLst>
            </p:nvPr>
          </p:nvCxnSpPr>
          <p:spPr>
            <a:xfrm>
              <a:off x="1764464" y="1944000"/>
              <a:ext cx="18000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>
              <p:custDataLst>
                <p:tags r:id="rId9"/>
              </p:custDataLst>
            </p:nvPr>
          </p:nvCxnSpPr>
          <p:spPr>
            <a:xfrm flipH="1" flipV="1">
              <a:off x="1764464" y="1728000"/>
              <a:ext cx="18000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>
              <p:custDataLst>
                <p:tags r:id="rId10"/>
              </p:custDataLst>
            </p:nvPr>
          </p:nvCxnSpPr>
          <p:spPr>
            <a:xfrm flipV="1">
              <a:off x="1764056" y="1728000"/>
              <a:ext cx="0" cy="21600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>
              <p:custDataLst>
                <p:tags r:id="rId11"/>
              </p:custDataLst>
            </p:nvPr>
          </p:nvCxnSpPr>
          <p:spPr bwMode="auto">
            <a:xfrm>
              <a:off x="1764464" y="1368000"/>
              <a:ext cx="18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12"/>
              </p:custDataLst>
            </p:nvPr>
          </p:nvCxnSpPr>
          <p:spPr bwMode="auto">
            <a:xfrm>
              <a:off x="1764464" y="1548000"/>
              <a:ext cx="18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84" name="TextBox 81"/>
            <p:cNvSpPr txBox="1"/>
            <p:nvPr>
              <p:custDataLst>
                <p:tags r:id="rId13"/>
              </p:custDataLst>
            </p:nvPr>
          </p:nvSpPr>
          <p:spPr>
            <a:xfrm>
              <a:off x="1404016" y="1260000"/>
              <a:ext cx="360000" cy="1797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Brn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1"/>
            <p:cNvSpPr txBox="1"/>
            <p:nvPr>
              <p:custDataLst>
                <p:tags r:id="rId14"/>
              </p:custDataLst>
            </p:nvPr>
          </p:nvSpPr>
          <p:spPr>
            <a:xfrm>
              <a:off x="1404464" y="1440000"/>
              <a:ext cx="360000" cy="1797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Jmp</a:t>
              </a:r>
              <a:endParaRPr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2520464" y="1880808"/>
            <a:ext cx="6372000" cy="1655900"/>
            <a:chOff x="2520464" y="1440000"/>
            <a:chExt cx="6372000" cy="1655900"/>
          </a:xfrm>
        </p:grpSpPr>
        <p:sp>
          <p:nvSpPr>
            <p:cNvPr id="7" name="TextBox 57"/>
            <p:cNvSpPr txBox="1"/>
            <p:nvPr>
              <p:custDataLst>
                <p:tags r:id="rId15"/>
              </p:custDataLst>
            </p:nvPr>
          </p:nvSpPr>
          <p:spPr>
            <a:xfrm>
              <a:off x="4896464" y="2700000"/>
              <a:ext cx="28800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1600" b="1" baseline="-18000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600" b="1" baseline="-18000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TextBox 83"/>
            <p:cNvSpPr txBox="1"/>
            <p:nvPr>
              <p:custDataLst>
                <p:tags r:id="rId16"/>
              </p:custDataLst>
            </p:nvPr>
          </p:nvSpPr>
          <p:spPr>
            <a:xfrm>
              <a:off x="7776464" y="2879545"/>
              <a:ext cx="53975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MemWr</a:t>
              </a:r>
              <a:endParaRPr lang="en-US" altLang="zh-CN" sz="1600" b="1" dirty="0" err="1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7560464" y="2736000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0" name="Text Box 323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316464" y="2088000"/>
              <a:ext cx="576000" cy="648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DMEM</a:t>
              </a:r>
              <a:endParaRPr kumimoji="1" lang="en-US" altLang="zh-CN" sz="18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kumimoji="1" lang="zh-CN" altLang="en-US" sz="1400" b="1" dirty="0">
                  <a:latin typeface="宋体" panose="02010600030101010101" pitchFamily="2" charset="-122"/>
                </a:rPr>
                <a:t>同步</a:t>
              </a:r>
              <a:r>
                <a:rPr kumimoji="1" lang="en-US" altLang="zh-CN" sz="1400" b="1" dirty="0">
                  <a:latin typeface="宋体" panose="02010600030101010101" pitchFamily="2" charset="-122"/>
                </a:rPr>
                <a:t>)</a:t>
              </a:r>
              <a:endParaRPr kumimoji="1"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Box 91"/>
            <p:cNvSpPr txBox="1"/>
            <p:nvPr>
              <p:custDataLst>
                <p:tags r:id="rId19"/>
              </p:custDataLst>
            </p:nvPr>
          </p:nvSpPr>
          <p:spPr>
            <a:xfrm>
              <a:off x="4967199" y="2879545"/>
              <a:ext cx="50419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MtoR</a:t>
              </a:r>
              <a:endParaRPr lang="en-US" altLang="zh-CN" sz="1600" b="1" dirty="0" err="1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2" name="直接连接符 8"/>
            <p:cNvCxnSpPr/>
            <p:nvPr>
              <p:custDataLst>
                <p:tags r:id="rId20"/>
              </p:custDataLst>
            </p:nvPr>
          </p:nvCxnSpPr>
          <p:spPr>
            <a:xfrm flipV="1">
              <a:off x="7162394" y="2307410"/>
              <a:ext cx="2882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 Box 323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535399" y="1872435"/>
              <a:ext cx="575945" cy="6121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GPRs</a:t>
              </a:r>
              <a:endParaRPr kumimoji="1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36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093949" y="1834970"/>
              <a:ext cx="360045" cy="53975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rd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rs2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rs1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23"/>
              </p:custDataLst>
            </p:nvPr>
          </p:nvCxnSpPr>
          <p:spPr bwMode="auto">
            <a:xfrm>
              <a:off x="3060464" y="1512000"/>
              <a:ext cx="0" cy="1224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>
              <p:custDataLst>
                <p:tags r:id="rId24"/>
              </p:custDataLst>
            </p:nvPr>
          </p:nvCxnSpPr>
          <p:spPr>
            <a:xfrm>
              <a:off x="5111344" y="2375355"/>
              <a:ext cx="136779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utoShape 15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 rot="16200000">
              <a:off x="6513424" y="1942920"/>
              <a:ext cx="648335" cy="361315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ALU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" name="直接连接符 17"/>
            <p:cNvCxnSpPr/>
            <p:nvPr>
              <p:custDataLst>
                <p:tags r:id="rId26"/>
              </p:custDataLst>
            </p:nvPr>
          </p:nvCxnSpPr>
          <p:spPr>
            <a:xfrm>
              <a:off x="3057754" y="2015310"/>
              <a:ext cx="147574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>
              <p:custDataLst>
                <p:tags r:id="rId27"/>
              </p:custDataLst>
            </p:nvPr>
          </p:nvCxnSpPr>
          <p:spPr>
            <a:xfrm>
              <a:off x="3057754" y="2195015"/>
              <a:ext cx="147574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>
              <p:custDataLst>
                <p:tags r:id="rId28"/>
              </p:custDataLst>
            </p:nvPr>
          </p:nvCxnSpPr>
          <p:spPr>
            <a:xfrm>
              <a:off x="3058389" y="2375355"/>
              <a:ext cx="147574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82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4680179" y="2484575"/>
              <a:ext cx="0" cy="3962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2" name="直接连接符 21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5003394" y="2483940"/>
              <a:ext cx="0" cy="2159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" name="直接连接符 22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6874104" y="2375355"/>
              <a:ext cx="0" cy="50419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4" name="TextBox 23"/>
            <p:cNvSpPr txBox="1"/>
            <p:nvPr>
              <p:custDataLst>
                <p:tags r:id="rId32"/>
              </p:custDataLst>
            </p:nvPr>
          </p:nvSpPr>
          <p:spPr>
            <a:xfrm>
              <a:off x="6516464" y="2879545"/>
              <a:ext cx="72009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ALUctr</a:t>
              </a:r>
              <a:endPara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>
              <p:custDataLst>
                <p:tags r:id="rId33"/>
              </p:custDataLst>
            </p:nvPr>
          </p:nvSpPr>
          <p:spPr>
            <a:xfrm>
              <a:off x="4391254" y="2879545"/>
              <a:ext cx="575945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RegWr</a:t>
              </a:r>
              <a:endPara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接连接符 25"/>
            <p:cNvCxnSpPr/>
            <p:nvPr>
              <p:custDataLst>
                <p:tags r:id="rId34"/>
              </p:custDataLst>
            </p:nvPr>
          </p:nvCxnSpPr>
          <p:spPr>
            <a:xfrm>
              <a:off x="2520464" y="2448000"/>
              <a:ext cx="540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>
              <p:custDataLst>
                <p:tags r:id="rId35"/>
              </p:custDataLst>
            </p:nvPr>
          </p:nvSpPr>
          <p:spPr>
            <a:xfrm>
              <a:off x="2808199" y="1800000"/>
              <a:ext cx="215900" cy="648000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指令字</a:t>
              </a:r>
              <a:endParaRPr lang="zh-CN" altLang="en-US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8" name="直接连接符 27"/>
            <p:cNvCxnSpPr/>
            <p:nvPr>
              <p:custDataLst>
                <p:tags r:id="rId36"/>
              </p:custDataLst>
            </p:nvPr>
          </p:nvCxnSpPr>
          <p:spPr>
            <a:xfrm>
              <a:off x="3058389" y="2627450"/>
              <a:ext cx="431800" cy="0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 Box 323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3491459" y="2447745"/>
              <a:ext cx="575945" cy="28829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err="1">
                  <a:latin typeface="宋体" panose="02010600030101010101" pitchFamily="2" charset="-122"/>
                </a:rPr>
                <a:t>ExtU</a:t>
              </a:r>
              <a:endParaRPr kumimoji="1" lang="en-US" altLang="zh-CN" sz="1800" b="1" dirty="0" err="1">
                <a:latin typeface="宋体" panose="02010600030101010101" pitchFamily="2" charset="-122"/>
              </a:endParaRPr>
            </a:p>
          </p:txBody>
        </p:sp>
        <p:sp>
          <p:nvSpPr>
            <p:cNvPr id="30" name="Text Box 18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903189" y="1836240"/>
              <a:ext cx="575945" cy="28892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MUX1</a:t>
              </a:r>
              <a:endParaRPr lang="en-US" altLang="zh-CN" sz="1600" b="1" spc="-100" dirty="0">
                <a:latin typeface="宋体" panose="02010600030101010101" pitchFamily="2" charset="-122"/>
              </a:endParaRPr>
            </a:p>
          </p:txBody>
        </p:sp>
        <p:cxnSp>
          <p:nvCxnSpPr>
            <p:cNvPr id="31" name="直接连接符 30"/>
            <p:cNvCxnSpPr/>
            <p:nvPr>
              <p:custDataLst>
                <p:tags r:id="rId39"/>
              </p:custDataLst>
            </p:nvPr>
          </p:nvCxnSpPr>
          <p:spPr>
            <a:xfrm>
              <a:off x="6479134" y="1943555"/>
              <a:ext cx="17970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>
              <p:custDataLst>
                <p:tags r:id="rId40"/>
              </p:custDataLst>
            </p:nvPr>
          </p:nvCxnSpPr>
          <p:spPr>
            <a:xfrm>
              <a:off x="5471389" y="2052000"/>
              <a:ext cx="4318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40"/>
            <p:cNvSpPr txBox="1"/>
            <p:nvPr>
              <p:custDataLst>
                <p:tags r:id="rId41"/>
              </p:custDataLst>
            </p:nvPr>
          </p:nvSpPr>
          <p:spPr>
            <a:xfrm>
              <a:off x="3093949" y="2411550"/>
              <a:ext cx="32385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spc="-100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imm</a:t>
              </a:r>
              <a:endParaRPr lang="en-US" altLang="zh-CN" sz="1600" b="1" spc="-100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4" name="直接连接符 33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3779749" y="2733495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35" name="TextBox 45"/>
            <p:cNvSpPr txBox="1"/>
            <p:nvPr>
              <p:custDataLst>
                <p:tags r:id="rId43"/>
              </p:custDataLst>
            </p:nvPr>
          </p:nvSpPr>
          <p:spPr>
            <a:xfrm>
              <a:off x="3491459" y="2879545"/>
              <a:ext cx="575945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Extop</a:t>
              </a:r>
              <a:endPara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24"/>
            <p:cNvSpPr txBox="1"/>
            <p:nvPr>
              <p:custDataLst>
                <p:tags r:id="rId44"/>
              </p:custDataLst>
            </p:nvPr>
          </p:nvSpPr>
          <p:spPr>
            <a:xfrm>
              <a:off x="5903189" y="1836240"/>
              <a:ext cx="144145" cy="28829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000" b="1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Text Box 18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4967199" y="1440000"/>
              <a:ext cx="575945" cy="28892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MUX2</a:t>
              </a:r>
              <a:endParaRPr lang="en-US" altLang="zh-CN" sz="1600" b="1" spc="-100" dirty="0">
                <a:latin typeface="宋体" panose="02010600030101010101" pitchFamily="2" charset="-122"/>
              </a:endParaRPr>
            </a:p>
          </p:txBody>
        </p:sp>
        <p:sp>
          <p:nvSpPr>
            <p:cNvPr id="38" name="TextBox 24"/>
            <p:cNvSpPr txBox="1"/>
            <p:nvPr>
              <p:custDataLst>
                <p:tags r:id="rId46"/>
              </p:custDataLst>
            </p:nvPr>
          </p:nvSpPr>
          <p:spPr>
            <a:xfrm>
              <a:off x="5398999" y="1440000"/>
              <a:ext cx="144145" cy="28829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9" name="直接连接符 38"/>
            <p:cNvCxnSpPr/>
            <p:nvPr>
              <p:custDataLst>
                <p:tags r:id="rId47"/>
              </p:custDataLst>
            </p:nvPr>
          </p:nvCxnSpPr>
          <p:spPr>
            <a:xfrm flipH="1">
              <a:off x="5543144" y="1656000"/>
              <a:ext cx="161988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>
              <p:custDataLst>
                <p:tags r:id="rId48"/>
              </p:custDataLst>
            </p:nvPr>
          </p:nvCxnSpPr>
          <p:spPr>
            <a:xfrm>
              <a:off x="7019519" y="2127070"/>
              <a:ext cx="14414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>
              <p:custDataLst>
                <p:tags r:id="rId49"/>
              </p:custDataLst>
            </p:nvPr>
          </p:nvCxnSpPr>
          <p:spPr>
            <a:xfrm flipV="1">
              <a:off x="7163664" y="1656000"/>
              <a:ext cx="0" cy="467995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>
              <p:custDataLst>
                <p:tags r:id="rId50"/>
              </p:custDataLst>
            </p:nvPr>
          </p:nvCxnSpPr>
          <p:spPr>
            <a:xfrm flipH="1">
              <a:off x="7163664" y="2127070"/>
              <a:ext cx="0" cy="179705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>
              <p:custDataLst>
                <p:tags r:id="rId51"/>
              </p:custDataLst>
            </p:nvPr>
          </p:nvCxnSpPr>
          <p:spPr>
            <a:xfrm flipV="1">
              <a:off x="7740464" y="1512000"/>
              <a:ext cx="0" cy="576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>
              <p:custDataLst>
                <p:tags r:id="rId52"/>
              </p:custDataLst>
            </p:nvPr>
          </p:nvCxnSpPr>
          <p:spPr>
            <a:xfrm flipH="1">
              <a:off x="5543144" y="1512000"/>
              <a:ext cx="2196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>
              <p:custDataLst>
                <p:tags r:id="rId53"/>
              </p:custDataLst>
            </p:nvPr>
          </p:nvCxnSpPr>
          <p:spPr>
            <a:xfrm>
              <a:off x="4355059" y="1584145"/>
              <a:ext cx="61214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>
              <p:custDataLst>
                <p:tags r:id="rId54"/>
              </p:custDataLst>
            </p:nvPr>
          </p:nvCxnSpPr>
          <p:spPr>
            <a:xfrm>
              <a:off x="4355059" y="1907995"/>
              <a:ext cx="17970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>
              <p:custDataLst>
                <p:tags r:id="rId55"/>
              </p:custDataLst>
            </p:nvPr>
          </p:nvCxnSpPr>
          <p:spPr>
            <a:xfrm flipV="1">
              <a:off x="4355059" y="1584145"/>
              <a:ext cx="0" cy="32385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>
              <p:custDataLst>
                <p:tags r:id="rId56"/>
              </p:custDataLst>
            </p:nvPr>
          </p:nvCxnSpPr>
          <p:spPr>
            <a:xfrm>
              <a:off x="5363439" y="1872435"/>
              <a:ext cx="53975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>
              <p:custDataLst>
                <p:tags r:id="rId57"/>
              </p:custDataLst>
            </p:nvPr>
          </p:nvCxnSpPr>
          <p:spPr>
            <a:xfrm>
              <a:off x="5111344" y="2199460"/>
              <a:ext cx="25209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>
              <p:custDataLst>
                <p:tags r:id="rId58"/>
              </p:custDataLst>
            </p:nvPr>
          </p:nvCxnSpPr>
          <p:spPr>
            <a:xfrm flipV="1">
              <a:off x="5363439" y="1872435"/>
              <a:ext cx="0" cy="32385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>
              <p:custDataLst>
                <p:tags r:id="rId59"/>
              </p:custDataLst>
            </p:nvPr>
          </p:nvCxnSpPr>
          <p:spPr>
            <a:xfrm>
              <a:off x="4067404" y="2627450"/>
              <a:ext cx="140398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>
              <p:custDataLst>
                <p:tags r:id="rId60"/>
              </p:custDataLst>
            </p:nvPr>
          </p:nvCxnSpPr>
          <p:spPr>
            <a:xfrm flipV="1">
              <a:off x="5471389" y="2052000"/>
              <a:ext cx="0" cy="576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5219294" y="1731465"/>
              <a:ext cx="0" cy="115189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54" name="直接连接符 53"/>
            <p:cNvCxnSpPr/>
            <p:nvPr>
              <p:custDataLst>
                <p:tags r:id="rId62"/>
              </p:custDataLst>
            </p:nvPr>
          </p:nvCxnSpPr>
          <p:spPr>
            <a:xfrm>
              <a:off x="5363439" y="2520135"/>
              <a:ext cx="208788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>
              <p:custDataLst>
                <p:tags r:id="rId63"/>
              </p:custDataLst>
            </p:nvPr>
          </p:nvCxnSpPr>
          <p:spPr>
            <a:xfrm>
              <a:off x="6479134" y="2375990"/>
              <a:ext cx="17970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>
              <p:custDataLst>
                <p:tags r:id="rId64"/>
              </p:custDataLst>
            </p:nvPr>
          </p:nvCxnSpPr>
          <p:spPr bwMode="auto">
            <a:xfrm flipH="1">
              <a:off x="6148934" y="1728000"/>
              <a:ext cx="0" cy="1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57" name="TextBox 47"/>
            <p:cNvSpPr txBox="1"/>
            <p:nvPr>
              <p:custDataLst>
                <p:tags r:id="rId65"/>
              </p:custDataLst>
            </p:nvPr>
          </p:nvSpPr>
          <p:spPr>
            <a:xfrm>
              <a:off x="7956000" y="1620000"/>
              <a:ext cx="756000" cy="1797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ALUBsrc</a:t>
              </a:r>
              <a:endParaRPr lang="en-US" altLang="zh-CN" sz="1600" b="1" dirty="0" err="1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66"/>
              </p:custDataLst>
            </p:nvPr>
          </p:nvCxnSpPr>
          <p:spPr>
            <a:xfrm>
              <a:off x="5364709" y="2196920"/>
              <a:ext cx="0" cy="323850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Box 323"/>
            <p:cNvSpPr txBox="1">
              <a:spLocks noChangeArrowheads="1"/>
            </p:cNvSpPr>
            <p:nvPr/>
          </p:nvSpPr>
          <p:spPr bwMode="auto">
            <a:xfrm>
              <a:off x="7452688" y="2088000"/>
              <a:ext cx="576000" cy="648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b="1" dirty="0">
                  <a:latin typeface="宋体" panose="02010600030101010101" pitchFamily="2" charset="-122"/>
                </a:rPr>
                <a:t>DBIU</a:t>
              </a:r>
              <a:endParaRPr kumimoji="1"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0" name="直接连接符 59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7920464" y="2736000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61" name="TextBox 83"/>
            <p:cNvSpPr txBox="1"/>
            <p:nvPr>
              <p:custDataLst>
                <p:tags r:id="rId68"/>
              </p:custDataLst>
            </p:nvPr>
          </p:nvSpPr>
          <p:spPr>
            <a:xfrm>
              <a:off x="7200464" y="2880000"/>
              <a:ext cx="53975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MemRd</a:t>
              </a:r>
              <a:endParaRPr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69"/>
              </p:custDataLst>
            </p:nvPr>
          </p:nvCxnSpPr>
          <p:spPr bwMode="auto">
            <a:xfrm>
              <a:off x="7236464" y="2664000"/>
              <a:ext cx="21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63" name="直接连接符 8"/>
            <p:cNvCxnSpPr/>
            <p:nvPr>
              <p:custDataLst>
                <p:tags r:id="rId70"/>
              </p:custDataLst>
            </p:nvPr>
          </p:nvCxnSpPr>
          <p:spPr>
            <a:xfrm flipV="1">
              <a:off x="8028494" y="2196000"/>
              <a:ext cx="288290" cy="0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8"/>
            <p:cNvCxnSpPr/>
            <p:nvPr>
              <p:custDataLst>
                <p:tags r:id="rId71"/>
              </p:custDataLst>
            </p:nvPr>
          </p:nvCxnSpPr>
          <p:spPr>
            <a:xfrm flipV="1">
              <a:off x="8028464" y="2304000"/>
              <a:ext cx="288290" cy="0"/>
            </a:xfrm>
            <a:prstGeom prst="straightConnector1">
              <a:avLst/>
            </a:prstGeom>
            <a:ln w="19050">
              <a:solidFill>
                <a:srgbClr val="3333FF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8"/>
            <p:cNvCxnSpPr/>
            <p:nvPr>
              <p:custDataLst>
                <p:tags r:id="rId72"/>
              </p:custDataLst>
            </p:nvPr>
          </p:nvCxnSpPr>
          <p:spPr>
            <a:xfrm flipV="1">
              <a:off x="8028464" y="2376000"/>
              <a:ext cx="288290" cy="0"/>
            </a:xfrm>
            <a:prstGeom prst="straightConnector1">
              <a:avLst/>
            </a:prstGeom>
            <a:ln w="19050">
              <a:solidFill>
                <a:srgbClr val="3333FF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8028464" y="2520000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8028464" y="2592000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75"/>
              </p:custDataLst>
            </p:nvPr>
          </p:nvCxnSpPr>
          <p:spPr bwMode="auto">
            <a:xfrm>
              <a:off x="8028464" y="2664000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72" name="TextBox 187"/>
            <p:cNvSpPr txBox="1"/>
            <p:nvPr/>
          </p:nvSpPr>
          <p:spPr>
            <a:xfrm>
              <a:off x="6984464" y="2556000"/>
              <a:ext cx="288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P</a:t>
              </a:r>
              <a:r>
                <a:rPr lang="en-US" altLang="zh-CN" sz="1800" b="1" baseline="-18000" dirty="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endParaRPr lang="en-US" altLang="zh-CN" sz="1800" b="1" baseline="-18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87" name="直接连接符 86"/>
            <p:cNvCxnSpPr/>
            <p:nvPr>
              <p:custDataLst>
                <p:tags r:id="rId76"/>
              </p:custDataLst>
            </p:nvPr>
          </p:nvCxnSpPr>
          <p:spPr bwMode="auto">
            <a:xfrm flipH="1">
              <a:off x="6156000" y="1728000"/>
              <a:ext cx="176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sp>
        <p:nvSpPr>
          <p:cNvPr id="101" name="Text Box 116"/>
          <p:cNvSpPr txBox="1">
            <a:spLocks noChangeArrowheads="1"/>
          </p:cNvSpPr>
          <p:nvPr/>
        </p:nvSpPr>
        <p:spPr bwMode="auto">
          <a:xfrm>
            <a:off x="2915815" y="3573016"/>
            <a:ext cx="6158259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spc="-100" dirty="0">
                <a:highlight>
                  <a:srgbClr val="CCCCFF"/>
                </a:highlight>
                <a:latin typeface="宋体" panose="02010600030101010101" pitchFamily="2" charset="-122"/>
              </a:rPr>
              <a:t>读</a:t>
            </a:r>
            <a:r>
              <a:rPr lang="en-US" altLang="zh-CN" sz="2200" b="1" spc="-100" dirty="0">
                <a:highlight>
                  <a:srgbClr val="CCCCFF"/>
                </a:highlight>
                <a:latin typeface="宋体" panose="02010600030101010101" pitchFamily="2" charset="-122"/>
              </a:rPr>
              <a:t>IMEM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放在</a:t>
            </a:r>
            <a:r>
              <a:rPr lang="zh-CN" altLang="en-US" sz="2200" b="1" u="sng" spc="-100" dirty="0">
                <a:latin typeface="宋体" panose="02010600030101010101" pitchFamily="2" charset="-122"/>
              </a:rPr>
              <a:t>指令周期开始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，</a:t>
            </a:r>
            <a:r>
              <a:rPr lang="zh-CN" altLang="en-US" sz="2200" b="1" spc="-100" dirty="0">
                <a:highlight>
                  <a:srgbClr val="CCCCFF"/>
                </a:highlight>
                <a:latin typeface="宋体" panose="02010600030101010101" pitchFamily="2" charset="-122"/>
              </a:rPr>
              <a:t>写</a:t>
            </a:r>
            <a:r>
              <a:rPr lang="en-US" altLang="zh-CN" sz="2200" b="1" spc="-100" dirty="0">
                <a:highlight>
                  <a:srgbClr val="CCCCFF"/>
                </a:highlight>
                <a:latin typeface="宋体" panose="02010600030101010101" pitchFamily="2" charset="-122"/>
              </a:rPr>
              <a:t>PC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放在</a:t>
            </a:r>
            <a:r>
              <a:rPr lang="zh-CN" altLang="en-US" sz="2200" b="1" u="sng" spc="-100" dirty="0">
                <a:latin typeface="宋体" panose="02010600030101010101" pitchFamily="2" charset="-122"/>
              </a:rPr>
              <a:t>指令周期</a:t>
            </a:r>
            <a:r>
              <a:rPr kumimoji="1" lang="zh-CN" altLang="en-US" sz="2200" b="1" u="sng" spc="-100" dirty="0">
                <a:latin typeface="宋体" panose="02010600030101010101" pitchFamily="2" charset="-122"/>
              </a:rPr>
              <a:t>中部</a:t>
            </a:r>
            <a:endParaRPr lang="en-US" altLang="zh-CN" b="1" spc="-100" dirty="0">
              <a:latin typeface="宋体" panose="02010600030101010101" pitchFamily="2" charset="-122"/>
            </a:endParaRPr>
          </a:p>
        </p:txBody>
      </p:sp>
      <p:cxnSp>
        <p:nvCxnSpPr>
          <p:cNvPr id="104" name="直接连接符 103"/>
          <p:cNvCxnSpPr/>
          <p:nvPr/>
        </p:nvCxnSpPr>
        <p:spPr>
          <a:xfrm flipH="1" flipV="1">
            <a:off x="1725955" y="2532137"/>
            <a:ext cx="5760000" cy="1116000"/>
          </a:xfrm>
          <a:prstGeom prst="line">
            <a:avLst/>
          </a:prstGeom>
          <a:ln w="9525">
            <a:solidFill>
              <a:srgbClr val="990099"/>
            </a:solidFill>
            <a:prstDash val="sysDash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87"/>
          <p:cNvSpPr txBox="1"/>
          <p:nvPr/>
        </p:nvSpPr>
        <p:spPr>
          <a:xfrm>
            <a:off x="1440464" y="2348808"/>
            <a:ext cx="288000" cy="216024"/>
          </a:xfrm>
          <a:prstGeom prst="rect">
            <a:avLst/>
          </a:prstGeom>
          <a:solidFill>
            <a:srgbClr val="CCFFFF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600" b="1" dirty="0">
                <a:latin typeface="+mn-ea"/>
                <a:ea typeface="+mn-ea"/>
                <a:cs typeface="Times New Roman" panose="02020603050405020304" pitchFamily="18" charset="0"/>
              </a:rPr>
              <a:t>P</a:t>
            </a:r>
            <a:r>
              <a:rPr lang="en-US" altLang="zh-CN" sz="1600" b="1" baseline="-18000" dirty="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endParaRPr lang="en-US" altLang="zh-CN" sz="1600" b="1" baseline="-1800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6" name="Text Box 116"/>
          <p:cNvSpPr txBox="1">
            <a:spLocks noChangeArrowheads="1"/>
          </p:cNvSpPr>
          <p:nvPr/>
        </p:nvSpPr>
        <p:spPr bwMode="auto">
          <a:xfrm>
            <a:off x="2843808" y="5500766"/>
            <a:ext cx="6120927" cy="880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latin typeface="宋体" panose="02010600030101010101" pitchFamily="2" charset="-122"/>
              </a:rPr>
              <a:t> 数据操作同</a:t>
            </a:r>
            <a:r>
              <a:rPr lang="en-US" altLang="zh-CN" sz="2200" b="1" dirty="0">
                <a:latin typeface="宋体" panose="02010600030101010101" pitchFamily="2" charset="-122"/>
              </a:rPr>
              <a:t>add</a:t>
            </a:r>
            <a:r>
              <a:rPr lang="zh-CN" altLang="en-US" sz="2200" b="1" dirty="0">
                <a:latin typeface="宋体" panose="02010600030101010101" pitchFamily="2" charset="-122"/>
              </a:rPr>
              <a:t>指令，指令寻址如上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latin typeface="宋体" panose="02010600030101010101" pitchFamily="2" charset="-122"/>
              </a:rPr>
              <a:t>仅指令寻址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zh-CN" altLang="en-US" sz="2200" b="1" dirty="0">
                <a:latin typeface="宋体" panose="02010600030101010101" pitchFamily="2" charset="-122"/>
              </a:rPr>
              <a:t>如上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cxnSp>
        <p:nvCxnSpPr>
          <p:cNvPr id="107" name="直接连接符 106"/>
          <p:cNvCxnSpPr/>
          <p:nvPr/>
        </p:nvCxnSpPr>
        <p:spPr>
          <a:xfrm>
            <a:off x="7306905" y="836712"/>
            <a:ext cx="1297543" cy="2844000"/>
          </a:xfrm>
          <a:prstGeom prst="line">
            <a:avLst/>
          </a:prstGeom>
          <a:ln w="9525">
            <a:solidFill>
              <a:srgbClr val="990099"/>
            </a:solidFill>
            <a:prstDash val="sysDash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组合 109"/>
          <p:cNvGrpSpPr/>
          <p:nvPr/>
        </p:nvGrpSpPr>
        <p:grpSpPr>
          <a:xfrm>
            <a:off x="1871510" y="4077072"/>
            <a:ext cx="6055630" cy="1013188"/>
            <a:chOff x="1871510" y="4437112"/>
            <a:chExt cx="6055630" cy="1013188"/>
          </a:xfrm>
        </p:grpSpPr>
        <p:cxnSp>
          <p:nvCxnSpPr>
            <p:cNvPr id="111" name="直接连接符 110"/>
            <p:cNvCxnSpPr/>
            <p:nvPr>
              <p:custDataLst>
                <p:tags r:id="rId77"/>
              </p:custDataLst>
            </p:nvPr>
          </p:nvCxnSpPr>
          <p:spPr>
            <a:xfrm>
              <a:off x="5471510" y="4657882"/>
              <a:ext cx="209475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>
              <p:custDataLst>
                <p:tags r:id="rId78"/>
              </p:custDataLst>
            </p:nvPr>
          </p:nvCxnSpPr>
          <p:spPr>
            <a:xfrm>
              <a:off x="5471510" y="4441882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>
              <p:custDataLst>
                <p:tags r:id="rId79"/>
              </p:custDataLst>
            </p:nvPr>
          </p:nvCxnSpPr>
          <p:spPr>
            <a:xfrm>
              <a:off x="2375510" y="4441858"/>
              <a:ext cx="3098948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>
              <p:custDataLst>
                <p:tags r:id="rId80"/>
              </p:custDataLst>
            </p:nvPr>
          </p:nvCxnSpPr>
          <p:spPr>
            <a:xfrm flipH="1">
              <a:off x="2375510" y="4441882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>
              <p:custDataLst>
                <p:tags r:id="rId81"/>
              </p:custDataLst>
            </p:nvPr>
          </p:nvCxnSpPr>
          <p:spPr>
            <a:xfrm>
              <a:off x="2231510" y="4657882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>
              <p:custDataLst>
                <p:tags r:id="rId82"/>
              </p:custDataLst>
            </p:nvPr>
          </p:nvCxnSpPr>
          <p:spPr>
            <a:xfrm>
              <a:off x="7559510" y="4437112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>
              <p:custDataLst>
                <p:tags r:id="rId83"/>
              </p:custDataLst>
            </p:nvPr>
          </p:nvCxnSpPr>
          <p:spPr>
            <a:xfrm>
              <a:off x="7559510" y="4441858"/>
              <a:ext cx="36763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>
              <p:custDataLst>
                <p:tags r:id="rId84"/>
              </p:custDataLst>
            </p:nvPr>
          </p:nvCxnSpPr>
          <p:spPr>
            <a:xfrm>
              <a:off x="2375510" y="4693850"/>
              <a:ext cx="0" cy="28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>
              <p:custDataLst>
                <p:tags r:id="rId85"/>
              </p:custDataLst>
            </p:nvPr>
          </p:nvCxnSpPr>
          <p:spPr>
            <a:xfrm>
              <a:off x="3605670" y="4693850"/>
              <a:ext cx="0" cy="28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65"/>
            <p:cNvSpPr txBox="1"/>
            <p:nvPr>
              <p:custDataLst>
                <p:tags r:id="rId86"/>
              </p:custDataLst>
            </p:nvPr>
          </p:nvSpPr>
          <p:spPr>
            <a:xfrm>
              <a:off x="2375510" y="4657850"/>
              <a:ext cx="122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取指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+CU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1" name="直接连接符 120"/>
            <p:cNvCxnSpPr/>
            <p:nvPr>
              <p:custDataLst>
                <p:tags r:id="rId87"/>
              </p:custDataLst>
            </p:nvPr>
          </p:nvCxnSpPr>
          <p:spPr>
            <a:xfrm>
              <a:off x="4607510" y="4693850"/>
              <a:ext cx="0" cy="28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68"/>
            <p:cNvSpPr txBox="1"/>
            <p:nvPr>
              <p:custDataLst>
                <p:tags r:id="rId88"/>
              </p:custDataLst>
            </p:nvPr>
          </p:nvSpPr>
          <p:spPr>
            <a:xfrm>
              <a:off x="3599510" y="4657850"/>
              <a:ext cx="1008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GPR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3" name="直接连接符 122"/>
            <p:cNvCxnSpPr/>
            <p:nvPr>
              <p:custDataLst>
                <p:tags r:id="rId89"/>
              </p:custDataLst>
            </p:nvPr>
          </p:nvCxnSpPr>
          <p:spPr>
            <a:xfrm>
              <a:off x="3599510" y="4873850"/>
              <a:ext cx="1008000" cy="0"/>
            </a:xfrm>
            <a:prstGeom prst="line">
              <a:avLst/>
            </a:prstGeom>
            <a:ln w="9525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70"/>
            <p:cNvSpPr txBox="1"/>
            <p:nvPr>
              <p:custDataLst>
                <p:tags r:id="rId90"/>
              </p:custDataLst>
            </p:nvPr>
          </p:nvSpPr>
          <p:spPr>
            <a:xfrm>
              <a:off x="1871510" y="4441850"/>
              <a:ext cx="360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5" name="直接连接符 124"/>
            <p:cNvCxnSpPr/>
            <p:nvPr>
              <p:custDataLst>
                <p:tags r:id="rId91"/>
              </p:custDataLst>
            </p:nvPr>
          </p:nvCxnSpPr>
          <p:spPr>
            <a:xfrm flipV="1">
              <a:off x="7559510" y="4657850"/>
              <a:ext cx="1" cy="324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>
              <p:custDataLst>
                <p:tags r:id="rId92"/>
              </p:custDataLst>
            </p:nvPr>
          </p:nvCxnSpPr>
          <p:spPr>
            <a:xfrm>
              <a:off x="2375510" y="4873850"/>
              <a:ext cx="1224000" cy="0"/>
            </a:xfrm>
            <a:prstGeom prst="line">
              <a:avLst/>
            </a:prstGeom>
            <a:ln w="9525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73"/>
            <p:cNvSpPr txBox="1"/>
            <p:nvPr>
              <p:custDataLst>
                <p:tags r:id="rId93"/>
              </p:custDataLst>
            </p:nvPr>
          </p:nvSpPr>
          <p:spPr>
            <a:xfrm>
              <a:off x="7199510" y="4981850"/>
              <a:ext cx="68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GPRs</a:t>
              </a:r>
              <a:endParaRPr lang="zh-CN" altLang="en-US" sz="18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28" name="直接连接符 127"/>
            <p:cNvCxnSpPr/>
            <p:nvPr>
              <p:custDataLst>
                <p:tags r:id="rId94"/>
              </p:custDataLst>
            </p:nvPr>
          </p:nvCxnSpPr>
          <p:spPr>
            <a:xfrm>
              <a:off x="7919510" y="4657850"/>
              <a:ext cx="0" cy="324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>
              <p:custDataLst>
                <p:tags r:id="rId95"/>
              </p:custDataLst>
            </p:nvPr>
          </p:nvCxnSpPr>
          <p:spPr>
            <a:xfrm flipV="1">
              <a:off x="7559510" y="4873850"/>
              <a:ext cx="367630" cy="1"/>
            </a:xfrm>
            <a:prstGeom prst="line">
              <a:avLst/>
            </a:prstGeom>
            <a:ln w="9525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>
              <p:custDataLst>
                <p:tags r:id="rId96"/>
              </p:custDataLst>
            </p:nvPr>
          </p:nvCxnSpPr>
          <p:spPr>
            <a:xfrm flipH="1" flipV="1">
              <a:off x="5478780" y="4657900"/>
              <a:ext cx="1905" cy="32385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79"/>
            <p:cNvSpPr txBox="1"/>
            <p:nvPr>
              <p:custDataLst>
                <p:tags r:id="rId97"/>
              </p:custDataLst>
            </p:nvPr>
          </p:nvSpPr>
          <p:spPr>
            <a:xfrm>
              <a:off x="5363210" y="4981750"/>
              <a:ext cx="756285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读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/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写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DM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32" name="直接连接符 131"/>
            <p:cNvCxnSpPr/>
            <p:nvPr>
              <p:custDataLst>
                <p:tags r:id="rId98"/>
              </p:custDataLst>
            </p:nvPr>
          </p:nvCxnSpPr>
          <p:spPr>
            <a:xfrm>
              <a:off x="6839585" y="4687745"/>
              <a:ext cx="0" cy="28829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81"/>
            <p:cNvSpPr txBox="1"/>
            <p:nvPr>
              <p:custDataLst>
                <p:tags r:id="rId99"/>
              </p:custDataLst>
            </p:nvPr>
          </p:nvSpPr>
          <p:spPr>
            <a:xfrm>
              <a:off x="5507355" y="4694095"/>
              <a:ext cx="129540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Mem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4" name="直接连接符 133"/>
            <p:cNvCxnSpPr/>
            <p:nvPr>
              <p:custDataLst>
                <p:tags r:id="rId100"/>
              </p:custDataLst>
            </p:nvPr>
          </p:nvCxnSpPr>
          <p:spPr>
            <a:xfrm>
              <a:off x="5471795" y="4909995"/>
              <a:ext cx="1368425" cy="1905"/>
            </a:xfrm>
            <a:prstGeom prst="line">
              <a:avLst/>
            </a:prstGeom>
            <a:ln w="9525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>
              <p:custDataLst>
                <p:tags r:id="rId101"/>
              </p:custDataLst>
            </p:nvPr>
          </p:nvCxnSpPr>
          <p:spPr>
            <a:xfrm flipH="1">
              <a:off x="5399405" y="4694095"/>
              <a:ext cx="635" cy="28829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TextBox 185"/>
            <p:cNvSpPr txBox="1"/>
            <p:nvPr>
              <p:custDataLst>
                <p:tags r:id="rId102"/>
              </p:custDataLst>
            </p:nvPr>
          </p:nvSpPr>
          <p:spPr>
            <a:xfrm>
              <a:off x="4643755" y="4657900"/>
              <a:ext cx="72009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ALU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7" name="直接连接符 136"/>
            <p:cNvCxnSpPr/>
            <p:nvPr>
              <p:custDataLst>
                <p:tags r:id="rId103"/>
              </p:custDataLst>
            </p:nvPr>
          </p:nvCxnSpPr>
          <p:spPr>
            <a:xfrm>
              <a:off x="4607560" y="4873800"/>
              <a:ext cx="791845" cy="1905"/>
            </a:xfrm>
            <a:prstGeom prst="line">
              <a:avLst/>
            </a:prstGeom>
            <a:ln w="9525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>
              <p:custDataLst>
                <p:tags r:id="rId104"/>
              </p:custDataLst>
            </p:nvPr>
          </p:nvCxnSpPr>
          <p:spPr>
            <a:xfrm flipH="1" flipV="1">
              <a:off x="2378421" y="4653136"/>
              <a:ext cx="0" cy="576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79"/>
            <p:cNvSpPr txBox="1"/>
            <p:nvPr>
              <p:custDataLst>
                <p:tags r:id="rId105"/>
              </p:custDataLst>
            </p:nvPr>
          </p:nvSpPr>
          <p:spPr>
            <a:xfrm>
              <a:off x="2123728" y="5234400"/>
              <a:ext cx="50400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读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IM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0" name="TextBox 179"/>
            <p:cNvSpPr txBox="1"/>
            <p:nvPr>
              <p:custDataLst>
                <p:tags r:id="rId106"/>
              </p:custDataLst>
            </p:nvPr>
          </p:nvSpPr>
          <p:spPr>
            <a:xfrm>
              <a:off x="5004104" y="5234400"/>
              <a:ext cx="50400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写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41" name="直接连接符 140"/>
            <p:cNvCxnSpPr/>
            <p:nvPr>
              <p:custDataLst>
                <p:tags r:id="rId107"/>
              </p:custDataLst>
            </p:nvPr>
          </p:nvCxnSpPr>
          <p:spPr>
            <a:xfrm flipV="1">
              <a:off x="5256000" y="4653136"/>
              <a:ext cx="216000" cy="576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" name="AutoShape 62">
            <a:hlinkClick r:id="rId108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2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45" name="AutoShape 62">
            <a:hlinkClick r:id="rId109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1080000" y="2321732"/>
            <a:ext cx="1908464" cy="1223816"/>
            <a:chOff x="1080000" y="2321732"/>
            <a:chExt cx="1908464" cy="1223816"/>
          </a:xfrm>
        </p:grpSpPr>
        <p:sp>
          <p:nvSpPr>
            <p:cNvPr id="146" name="Text Box 323"/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1944464" y="2321732"/>
              <a:ext cx="575945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b="1" dirty="0">
                  <a:latin typeface="宋体" panose="02010600030101010101" pitchFamily="2" charset="-122"/>
                </a:rPr>
                <a:t>PC</a:t>
              </a:r>
              <a:endParaRPr kumimoji="1"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7" name="直接连接符 146"/>
            <p:cNvCxnSpPr/>
            <p:nvPr>
              <p:custDataLst>
                <p:tags r:id="rId111"/>
              </p:custDataLst>
            </p:nvPr>
          </p:nvCxnSpPr>
          <p:spPr>
            <a:xfrm>
              <a:off x="2520464" y="2420808"/>
              <a:ext cx="180000" cy="0"/>
            </a:xfrm>
            <a:prstGeom prst="line">
              <a:avLst/>
            </a:prstGeom>
            <a:ln w="19050">
              <a:solidFill>
                <a:srgbClr val="C00000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>
              <p:custDataLst>
                <p:tags r:id="rId112"/>
              </p:custDataLst>
            </p:nvPr>
          </p:nvCxnSpPr>
          <p:spPr bwMode="auto">
            <a:xfrm>
              <a:off x="1692464" y="2456808"/>
              <a:ext cx="25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49" name="Text Box 323"/>
            <p:cNvSpPr txBox="1">
              <a:spLocks noChangeArrowheads="1"/>
            </p:cNvSpPr>
            <p:nvPr/>
          </p:nvSpPr>
          <p:spPr bwMode="auto">
            <a:xfrm>
              <a:off x="1944464" y="2681648"/>
              <a:ext cx="576000" cy="504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b="1" dirty="0">
                  <a:latin typeface="宋体" panose="02010600030101010101" pitchFamily="2" charset="-122"/>
                </a:rPr>
                <a:t>IBIU</a:t>
              </a:r>
              <a:endParaRPr kumimoji="1"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0" name="直接连接符 149"/>
            <p:cNvCxnSpPr/>
            <p:nvPr>
              <p:custDataLst>
                <p:tags r:id="rId113"/>
              </p:custDataLst>
            </p:nvPr>
          </p:nvCxnSpPr>
          <p:spPr>
            <a:xfrm flipH="1">
              <a:off x="2520464" y="2753648"/>
              <a:ext cx="179705" cy="0"/>
            </a:xfrm>
            <a:prstGeom prst="line">
              <a:avLst/>
            </a:prstGeom>
            <a:ln w="19050">
              <a:solidFill>
                <a:srgbClr val="C0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>
              <p:custDataLst>
                <p:tags r:id="rId114"/>
              </p:custDataLst>
            </p:nvPr>
          </p:nvCxnSpPr>
          <p:spPr>
            <a:xfrm flipH="1">
              <a:off x="2700169" y="2429648"/>
              <a:ext cx="295" cy="324000"/>
            </a:xfrm>
            <a:prstGeom prst="line">
              <a:avLst/>
            </a:prstGeom>
            <a:ln w="19050">
              <a:solidFill>
                <a:srgbClr val="C00000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>
              <p:custDataLst>
                <p:tags r:id="rId115"/>
              </p:custDataLst>
            </p:nvPr>
          </p:nvCxnSpPr>
          <p:spPr bwMode="auto">
            <a:xfrm flipV="1">
              <a:off x="2268464" y="3185648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53" name="TextBox 83"/>
            <p:cNvSpPr txBox="1"/>
            <p:nvPr>
              <p:custDataLst>
                <p:tags r:id="rId116"/>
              </p:custDataLst>
            </p:nvPr>
          </p:nvSpPr>
          <p:spPr>
            <a:xfrm>
              <a:off x="2016464" y="3329648"/>
              <a:ext cx="46800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4" name="Text Box 323"/>
            <p:cNvSpPr txBox="1"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1080000" y="2679288"/>
              <a:ext cx="576000" cy="504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rgbClr val="990099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IMEM</a:t>
              </a:r>
              <a:endParaRPr kumimoji="1" lang="en-US" altLang="zh-CN" sz="18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kumimoji="1" lang="zh-CN" altLang="en-US" sz="1400" b="1" dirty="0">
                  <a:latin typeface="宋体" panose="02010600030101010101" pitchFamily="2" charset="-122"/>
                </a:rPr>
                <a:t>同步</a:t>
              </a:r>
              <a:r>
                <a:rPr kumimoji="1" lang="en-US" altLang="zh-CN" sz="1400" b="1" dirty="0">
                  <a:latin typeface="宋体" panose="02010600030101010101" pitchFamily="2" charset="-122"/>
                </a:rPr>
                <a:t>)</a:t>
              </a:r>
              <a:endParaRPr kumimoji="1"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5" name="直接连接符 8"/>
            <p:cNvCxnSpPr/>
            <p:nvPr>
              <p:custDataLst>
                <p:tags r:id="rId118"/>
              </p:custDataLst>
            </p:nvPr>
          </p:nvCxnSpPr>
          <p:spPr>
            <a:xfrm flipH="1">
              <a:off x="1656464" y="2753648"/>
              <a:ext cx="288000" cy="0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8"/>
            <p:cNvCxnSpPr/>
            <p:nvPr>
              <p:custDataLst>
                <p:tags r:id="rId119"/>
              </p:custDataLst>
            </p:nvPr>
          </p:nvCxnSpPr>
          <p:spPr>
            <a:xfrm flipV="1">
              <a:off x="1656464" y="2897648"/>
              <a:ext cx="288290" cy="0"/>
            </a:xfrm>
            <a:prstGeom prst="straightConnector1">
              <a:avLst/>
            </a:prstGeom>
            <a:ln w="19050">
              <a:solidFill>
                <a:srgbClr val="3333FF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>
              <p:custDataLst>
                <p:tags r:id="rId120"/>
              </p:custDataLst>
            </p:nvPr>
          </p:nvCxnSpPr>
          <p:spPr bwMode="auto">
            <a:xfrm flipH="1">
              <a:off x="1656464" y="3041648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121"/>
              </p:custDataLst>
            </p:nvPr>
          </p:nvCxnSpPr>
          <p:spPr bwMode="auto">
            <a:xfrm flipH="1">
              <a:off x="1656464" y="3113648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9" name="直接连接符 158"/>
            <p:cNvCxnSpPr/>
            <p:nvPr>
              <p:custDataLst>
                <p:tags r:id="rId122"/>
              </p:custDataLst>
            </p:nvPr>
          </p:nvCxnSpPr>
          <p:spPr bwMode="auto">
            <a:xfrm flipH="1">
              <a:off x="2520464" y="3113648"/>
              <a:ext cx="21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60" name="TextBox 57"/>
            <p:cNvSpPr txBox="1"/>
            <p:nvPr>
              <p:custDataLst>
                <p:tags r:id="rId123"/>
              </p:custDataLst>
            </p:nvPr>
          </p:nvSpPr>
          <p:spPr>
            <a:xfrm>
              <a:off x="2700464" y="3005648"/>
              <a:ext cx="288000" cy="215900"/>
            </a:xfrm>
            <a:prstGeom prst="rect">
              <a:avLst/>
            </a:prstGeom>
            <a:solidFill>
              <a:srgbClr val="CCFFFF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1600" b="1" baseline="-18000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600" b="1" baseline="-18000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7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1" grpId="0"/>
      <p:bldP spid="105" grpId="0" animBg="1"/>
      <p:bldP spid="10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16"/>
          <p:cNvSpPr txBox="1">
            <a:spLocks noChangeArrowheads="1"/>
          </p:cNvSpPr>
          <p:nvPr/>
        </p:nvSpPr>
        <p:spPr bwMode="auto">
          <a:xfrm>
            <a:off x="179263" y="404664"/>
            <a:ext cx="8750811" cy="36954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jal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r>
              <a:rPr lang="en-US" altLang="zh-CN" sz="2000" b="1" dirty="0" err="1">
                <a:solidFill>
                  <a:schemeClr val="dk1"/>
                </a:solidFill>
                <a:latin typeface="+mn-ea"/>
              </a:rPr>
              <a:t>rd</a:t>
            </a:r>
            <a:r>
              <a:rPr lang="en-US" altLang="zh-CN" sz="2000" b="1" dirty="0">
                <a:solidFill>
                  <a:schemeClr val="dk1"/>
                </a:solidFill>
                <a:latin typeface="+mn-ea"/>
              </a:rPr>
              <a:t>←(PC)+4, PC←(PC)+</a:t>
            </a:r>
            <a:r>
              <a:rPr lang="en-US" altLang="zh-CN" sz="2000" b="1" dirty="0" err="1">
                <a:solidFill>
                  <a:schemeClr val="dk1"/>
                </a:solidFill>
                <a:latin typeface="+mn-ea"/>
              </a:rPr>
              <a:t>SExt</a:t>
            </a:r>
            <a:r>
              <a:rPr lang="en-US" altLang="zh-CN" sz="2000" b="1" dirty="0">
                <a:solidFill>
                  <a:schemeClr val="dk1"/>
                </a:solidFill>
                <a:latin typeface="+mn-ea"/>
              </a:rPr>
              <a:t>(</a:t>
            </a:r>
            <a:r>
              <a:rPr lang="en-US" altLang="zh-CN" sz="2000" b="1" dirty="0" err="1">
                <a:solidFill>
                  <a:schemeClr val="dk1"/>
                </a:solidFill>
                <a:latin typeface="+mn-ea"/>
              </a:rPr>
              <a:t>imm</a:t>
            </a:r>
            <a:r>
              <a:rPr lang="en-US" altLang="zh-CN" sz="2000" b="1" dirty="0">
                <a:solidFill>
                  <a:schemeClr val="dk1"/>
                </a:solidFill>
                <a:latin typeface="+mn-ea"/>
              </a:rPr>
              <a:t>&lt;&lt;1)</a:t>
            </a:r>
            <a:endParaRPr lang="en-US" altLang="zh-CN" sz="2000" b="1" dirty="0">
              <a:solidFill>
                <a:schemeClr val="dk1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数据路径的设计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solidFill>
                  <a:srgbClr val="3333FF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时序的组织</a:t>
            </a:r>
            <a:r>
              <a:rPr lang="en-US" altLang="zh-CN" sz="24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 Box 116"/>
          <p:cNvSpPr txBox="1">
            <a:spLocks noChangeArrowheads="1"/>
          </p:cNvSpPr>
          <p:nvPr/>
        </p:nvSpPr>
        <p:spPr bwMode="auto">
          <a:xfrm>
            <a:off x="2843808" y="829101"/>
            <a:ext cx="6120928" cy="880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latin typeface="宋体" panose="02010600030101010101" pitchFamily="2" charset="-122"/>
              </a:rPr>
              <a:t> 增设</a:t>
            </a:r>
            <a:r>
              <a:rPr lang="en-US" altLang="zh-CN" sz="2200" b="1" dirty="0">
                <a:latin typeface="宋体" panose="02010600030101010101" pitchFamily="2" charset="-122"/>
              </a:rPr>
              <a:t>CPC</a:t>
            </a:r>
            <a:r>
              <a:rPr lang="zh-CN" altLang="en-US" sz="2200" b="1" dirty="0">
                <a:latin typeface="宋体" panose="02010600030101010101" pitchFamily="2" charset="-122"/>
              </a:rPr>
              <a:t>暂存</a:t>
            </a:r>
            <a:r>
              <a:rPr lang="en-US" altLang="zh-CN" sz="2200" b="1" dirty="0">
                <a:latin typeface="宋体" panose="02010600030101010101" pitchFamily="2" charset="-122"/>
              </a:rPr>
              <a:t>PC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dirty="0" err="1">
                <a:solidFill>
                  <a:schemeClr val="dk1"/>
                </a:solidFill>
                <a:latin typeface="+mn-ea"/>
              </a:rPr>
              <a:t>rd</a:t>
            </a:r>
            <a:r>
              <a:rPr lang="en-US" altLang="zh-CN" sz="2200" b="1" dirty="0">
                <a:solidFill>
                  <a:schemeClr val="dk1"/>
                </a:solidFill>
                <a:latin typeface="+mn-ea"/>
              </a:rPr>
              <a:t>←(CPC)+4</a:t>
            </a:r>
            <a:r>
              <a:rPr lang="zh-CN" altLang="en-US" sz="2200" b="1" dirty="0">
                <a:solidFill>
                  <a:schemeClr val="dk1"/>
                </a:solidFill>
                <a:latin typeface="+mn-ea"/>
              </a:rPr>
              <a:t>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latin typeface="宋体" panose="02010600030101010101" pitchFamily="2" charset="-122"/>
              </a:rPr>
              <a:t> 指令寻址同</a:t>
            </a:r>
            <a:r>
              <a:rPr lang="en-US" altLang="zh-CN" sz="2200" b="1" dirty="0" err="1">
                <a:latin typeface="宋体" panose="02010600030101010101" pitchFamily="2" charset="-122"/>
              </a:rPr>
              <a:t>beq</a:t>
            </a:r>
            <a:r>
              <a:rPr lang="en-US" altLang="zh-CN" b="1" dirty="0">
                <a:latin typeface="宋体" panose="02010600030101010101" pitchFamily="2" charset="-122"/>
              </a:rPr>
              <a:t>(ACU</a:t>
            </a:r>
            <a:r>
              <a:rPr lang="zh-CN" altLang="en-US" b="1" dirty="0">
                <a:latin typeface="宋体" panose="02010600030101010101" pitchFamily="2" charset="-122"/>
              </a:rPr>
              <a:t>实现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1871510" y="4077072"/>
            <a:ext cx="6264490" cy="1013188"/>
            <a:chOff x="1871510" y="4437112"/>
            <a:chExt cx="6264490" cy="1013188"/>
          </a:xfrm>
        </p:grpSpPr>
        <p:cxnSp>
          <p:nvCxnSpPr>
            <p:cNvPr id="104" name="直接连接符 103"/>
            <p:cNvCxnSpPr/>
            <p:nvPr>
              <p:custDataLst>
                <p:tags r:id="rId1"/>
              </p:custDataLst>
            </p:nvPr>
          </p:nvCxnSpPr>
          <p:spPr>
            <a:xfrm>
              <a:off x="5471510" y="4657882"/>
              <a:ext cx="209475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>
              <p:custDataLst>
                <p:tags r:id="rId2"/>
              </p:custDataLst>
            </p:nvPr>
          </p:nvCxnSpPr>
          <p:spPr>
            <a:xfrm>
              <a:off x="5471510" y="4441882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>
              <p:custDataLst>
                <p:tags r:id="rId3"/>
              </p:custDataLst>
            </p:nvPr>
          </p:nvCxnSpPr>
          <p:spPr>
            <a:xfrm>
              <a:off x="2375510" y="4441858"/>
              <a:ext cx="3098948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>
              <p:custDataLst>
                <p:tags r:id="rId4"/>
              </p:custDataLst>
            </p:nvPr>
          </p:nvCxnSpPr>
          <p:spPr>
            <a:xfrm flipH="1">
              <a:off x="2375510" y="4441882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>
              <p:custDataLst>
                <p:tags r:id="rId5"/>
              </p:custDataLst>
            </p:nvPr>
          </p:nvCxnSpPr>
          <p:spPr>
            <a:xfrm>
              <a:off x="2231510" y="4657882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>
              <p:custDataLst>
                <p:tags r:id="rId6"/>
              </p:custDataLst>
            </p:nvPr>
          </p:nvCxnSpPr>
          <p:spPr>
            <a:xfrm>
              <a:off x="7559510" y="4437112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>
              <p:custDataLst>
                <p:tags r:id="rId7"/>
              </p:custDataLst>
            </p:nvPr>
          </p:nvCxnSpPr>
          <p:spPr>
            <a:xfrm>
              <a:off x="7559510" y="4441858"/>
              <a:ext cx="36763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>
              <p:custDataLst>
                <p:tags r:id="rId8"/>
              </p:custDataLst>
            </p:nvPr>
          </p:nvCxnSpPr>
          <p:spPr>
            <a:xfrm>
              <a:off x="2375510" y="4693850"/>
              <a:ext cx="0" cy="28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>
              <p:custDataLst>
                <p:tags r:id="rId9"/>
              </p:custDataLst>
            </p:nvPr>
          </p:nvCxnSpPr>
          <p:spPr>
            <a:xfrm>
              <a:off x="3605670" y="4693850"/>
              <a:ext cx="0" cy="28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65"/>
            <p:cNvSpPr txBox="1"/>
            <p:nvPr>
              <p:custDataLst>
                <p:tags r:id="rId10"/>
              </p:custDataLst>
            </p:nvPr>
          </p:nvSpPr>
          <p:spPr>
            <a:xfrm>
              <a:off x="2375510" y="4657850"/>
              <a:ext cx="122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取指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+CU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14" name="直接连接符 113"/>
            <p:cNvCxnSpPr/>
            <p:nvPr>
              <p:custDataLst>
                <p:tags r:id="rId11"/>
              </p:custDataLst>
            </p:nvPr>
          </p:nvCxnSpPr>
          <p:spPr>
            <a:xfrm>
              <a:off x="4607510" y="4693850"/>
              <a:ext cx="0" cy="28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68"/>
            <p:cNvSpPr txBox="1"/>
            <p:nvPr>
              <p:custDataLst>
                <p:tags r:id="rId12"/>
              </p:custDataLst>
            </p:nvPr>
          </p:nvSpPr>
          <p:spPr>
            <a:xfrm>
              <a:off x="3599510" y="4657850"/>
              <a:ext cx="1008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GPR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16" name="直接连接符 115"/>
            <p:cNvCxnSpPr/>
            <p:nvPr>
              <p:custDataLst>
                <p:tags r:id="rId13"/>
              </p:custDataLst>
            </p:nvPr>
          </p:nvCxnSpPr>
          <p:spPr>
            <a:xfrm>
              <a:off x="3599510" y="4873850"/>
              <a:ext cx="1008000" cy="0"/>
            </a:xfrm>
            <a:prstGeom prst="line">
              <a:avLst/>
            </a:prstGeom>
            <a:ln w="9525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70"/>
            <p:cNvSpPr txBox="1"/>
            <p:nvPr>
              <p:custDataLst>
                <p:tags r:id="rId14"/>
              </p:custDataLst>
            </p:nvPr>
          </p:nvSpPr>
          <p:spPr>
            <a:xfrm>
              <a:off x="1871510" y="4441850"/>
              <a:ext cx="360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800" b="1" dirty="0" err="1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18" name="直接连接符 117"/>
            <p:cNvCxnSpPr/>
            <p:nvPr>
              <p:custDataLst>
                <p:tags r:id="rId15"/>
              </p:custDataLst>
            </p:nvPr>
          </p:nvCxnSpPr>
          <p:spPr>
            <a:xfrm flipV="1">
              <a:off x="7559510" y="4657850"/>
              <a:ext cx="1" cy="324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>
              <p:custDataLst>
                <p:tags r:id="rId16"/>
              </p:custDataLst>
            </p:nvPr>
          </p:nvCxnSpPr>
          <p:spPr>
            <a:xfrm>
              <a:off x="2375510" y="4873850"/>
              <a:ext cx="1224000" cy="0"/>
            </a:xfrm>
            <a:prstGeom prst="line">
              <a:avLst/>
            </a:prstGeom>
            <a:ln w="9525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73"/>
            <p:cNvSpPr txBox="1"/>
            <p:nvPr>
              <p:custDataLst>
                <p:tags r:id="rId17"/>
              </p:custDataLst>
            </p:nvPr>
          </p:nvSpPr>
          <p:spPr>
            <a:xfrm>
              <a:off x="6876000" y="4981850"/>
              <a:ext cx="1260000" cy="432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zh-CN" altLang="en-US" sz="1800" b="1" dirty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GPRs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需用</a:t>
              </a:r>
              <a:r>
                <a:rPr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PC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旧值</a:t>
              </a:r>
              <a:r>
                <a:rPr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21" name="直接连接符 120"/>
            <p:cNvCxnSpPr/>
            <p:nvPr>
              <p:custDataLst>
                <p:tags r:id="rId18"/>
              </p:custDataLst>
            </p:nvPr>
          </p:nvCxnSpPr>
          <p:spPr>
            <a:xfrm>
              <a:off x="7919510" y="4657850"/>
              <a:ext cx="0" cy="324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>
              <p:custDataLst>
                <p:tags r:id="rId19"/>
              </p:custDataLst>
            </p:nvPr>
          </p:nvCxnSpPr>
          <p:spPr>
            <a:xfrm flipV="1">
              <a:off x="7559510" y="4873850"/>
              <a:ext cx="367630" cy="1"/>
            </a:xfrm>
            <a:prstGeom prst="line">
              <a:avLst/>
            </a:prstGeom>
            <a:ln w="9525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>
              <p:custDataLst>
                <p:tags r:id="rId20"/>
              </p:custDataLst>
            </p:nvPr>
          </p:nvCxnSpPr>
          <p:spPr>
            <a:xfrm flipH="1" flipV="1">
              <a:off x="5478780" y="4657900"/>
              <a:ext cx="1905" cy="32385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79"/>
            <p:cNvSpPr txBox="1"/>
            <p:nvPr>
              <p:custDataLst>
                <p:tags r:id="rId21"/>
              </p:custDataLst>
            </p:nvPr>
          </p:nvSpPr>
          <p:spPr>
            <a:xfrm>
              <a:off x="5363210" y="4981750"/>
              <a:ext cx="756285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读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/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写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DM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26" name="直接连接符 125"/>
            <p:cNvCxnSpPr/>
            <p:nvPr>
              <p:custDataLst>
                <p:tags r:id="rId22"/>
              </p:custDataLst>
            </p:nvPr>
          </p:nvCxnSpPr>
          <p:spPr>
            <a:xfrm>
              <a:off x="6839585" y="4687745"/>
              <a:ext cx="0" cy="28829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81"/>
            <p:cNvSpPr txBox="1"/>
            <p:nvPr>
              <p:custDataLst>
                <p:tags r:id="rId23"/>
              </p:custDataLst>
            </p:nvPr>
          </p:nvSpPr>
          <p:spPr>
            <a:xfrm>
              <a:off x="5507355" y="4694095"/>
              <a:ext cx="129540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Mem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8" name="直接连接符 127"/>
            <p:cNvCxnSpPr/>
            <p:nvPr>
              <p:custDataLst>
                <p:tags r:id="rId24"/>
              </p:custDataLst>
            </p:nvPr>
          </p:nvCxnSpPr>
          <p:spPr>
            <a:xfrm>
              <a:off x="5471795" y="4909995"/>
              <a:ext cx="1368425" cy="1905"/>
            </a:xfrm>
            <a:prstGeom prst="line">
              <a:avLst/>
            </a:prstGeom>
            <a:ln w="9525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>
              <p:custDataLst>
                <p:tags r:id="rId25"/>
              </p:custDataLst>
            </p:nvPr>
          </p:nvCxnSpPr>
          <p:spPr>
            <a:xfrm flipH="1">
              <a:off x="5399405" y="4694095"/>
              <a:ext cx="635" cy="28829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85"/>
            <p:cNvSpPr txBox="1"/>
            <p:nvPr>
              <p:custDataLst>
                <p:tags r:id="rId26"/>
              </p:custDataLst>
            </p:nvPr>
          </p:nvSpPr>
          <p:spPr>
            <a:xfrm>
              <a:off x="4643755" y="4657900"/>
              <a:ext cx="72009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ALU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1" name="直接连接符 130"/>
            <p:cNvCxnSpPr/>
            <p:nvPr>
              <p:custDataLst>
                <p:tags r:id="rId27"/>
              </p:custDataLst>
            </p:nvPr>
          </p:nvCxnSpPr>
          <p:spPr>
            <a:xfrm>
              <a:off x="4607560" y="4873800"/>
              <a:ext cx="791845" cy="1905"/>
            </a:xfrm>
            <a:prstGeom prst="line">
              <a:avLst/>
            </a:prstGeom>
            <a:ln w="9525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>
              <p:custDataLst>
                <p:tags r:id="rId28"/>
              </p:custDataLst>
            </p:nvPr>
          </p:nvCxnSpPr>
          <p:spPr>
            <a:xfrm flipH="1" flipV="1">
              <a:off x="2378421" y="4653136"/>
              <a:ext cx="0" cy="576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79"/>
            <p:cNvSpPr txBox="1"/>
            <p:nvPr>
              <p:custDataLst>
                <p:tags r:id="rId29"/>
              </p:custDataLst>
            </p:nvPr>
          </p:nvSpPr>
          <p:spPr>
            <a:xfrm>
              <a:off x="2123728" y="5234400"/>
              <a:ext cx="50400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读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IM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4" name="TextBox 179"/>
            <p:cNvSpPr txBox="1"/>
            <p:nvPr>
              <p:custDataLst>
                <p:tags r:id="rId30"/>
              </p:custDataLst>
            </p:nvPr>
          </p:nvSpPr>
          <p:spPr>
            <a:xfrm>
              <a:off x="5004104" y="5234400"/>
              <a:ext cx="129600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写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PC(PC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新值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35" name="直接连接符 134"/>
            <p:cNvCxnSpPr/>
            <p:nvPr>
              <p:custDataLst>
                <p:tags r:id="rId31"/>
              </p:custDataLst>
            </p:nvPr>
          </p:nvCxnSpPr>
          <p:spPr>
            <a:xfrm flipV="1">
              <a:off x="5256000" y="4653136"/>
              <a:ext cx="216000" cy="576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组合 160"/>
          <p:cNvGrpSpPr/>
          <p:nvPr/>
        </p:nvGrpSpPr>
        <p:grpSpPr>
          <a:xfrm>
            <a:off x="1080000" y="1628800"/>
            <a:ext cx="7812464" cy="1844740"/>
            <a:chOff x="1080000" y="1628800"/>
            <a:chExt cx="7812464" cy="1844740"/>
          </a:xfrm>
        </p:grpSpPr>
        <p:grpSp>
          <p:nvGrpSpPr>
            <p:cNvPr id="6" name="组合 5"/>
            <p:cNvGrpSpPr/>
            <p:nvPr/>
          </p:nvGrpSpPr>
          <p:grpSpPr>
            <a:xfrm>
              <a:off x="1404016" y="1628800"/>
              <a:ext cx="5760448" cy="720289"/>
              <a:chOff x="1404016" y="1260000"/>
              <a:chExt cx="5760448" cy="720289"/>
            </a:xfrm>
          </p:grpSpPr>
          <p:cxnSp>
            <p:nvCxnSpPr>
              <p:cNvPr id="7" name="直接连接符 6"/>
              <p:cNvCxnSpPr/>
              <p:nvPr>
                <p:custDataLst>
                  <p:tags r:id="rId32"/>
                </p:custDataLst>
              </p:nvPr>
            </p:nvCxnSpPr>
            <p:spPr>
              <a:xfrm flipH="1">
                <a:off x="2520464" y="1728000"/>
                <a:ext cx="179705" cy="0"/>
              </a:xfrm>
              <a:prstGeom prst="line">
                <a:avLst/>
              </a:prstGeom>
              <a:ln w="19050">
                <a:solidFill>
                  <a:srgbClr val="3333FF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>
                <p:custDataLst>
                  <p:tags r:id="rId33"/>
                </p:custDataLst>
              </p:nvPr>
            </p:nvCxnSpPr>
            <p:spPr>
              <a:xfrm flipV="1">
                <a:off x="2700464" y="1728289"/>
                <a:ext cx="0" cy="252000"/>
              </a:xfrm>
              <a:prstGeom prst="line">
                <a:avLst/>
              </a:prstGeom>
              <a:ln w="19050">
                <a:solidFill>
                  <a:srgbClr val="3333FF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 Box 323"/>
              <p:cNvSpPr txBox="1"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1944464" y="1296000"/>
                <a:ext cx="576000" cy="504000"/>
              </a:xfrm>
              <a:prstGeom prst="rect">
                <a:avLst/>
              </a:prstGeom>
              <a:solidFill>
                <a:srgbClr val="FFCCFF"/>
              </a:solidFill>
              <a:ln w="15875">
                <a:solidFill>
                  <a:schemeClr val="tx1"/>
                </a:solidFill>
                <a:miter lim="800000"/>
              </a:ln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kumimoji="1" lang="en-US" altLang="zh-CN" sz="1800" b="1" dirty="0">
                    <a:latin typeface="宋体" panose="02010600030101010101" pitchFamily="2" charset="-122"/>
                  </a:rPr>
                  <a:t>ACU</a:t>
                </a:r>
                <a:endParaRPr kumimoji="1" lang="en-US" altLang="zh-CN" sz="18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0" name="直接连接符 9"/>
              <p:cNvCxnSpPr/>
              <p:nvPr>
                <p:custDataLst>
                  <p:tags r:id="rId35"/>
                </p:custDataLst>
              </p:nvPr>
            </p:nvCxnSpPr>
            <p:spPr>
              <a:xfrm flipH="1">
                <a:off x="2520464" y="1368000"/>
                <a:ext cx="4644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>
                <p:custDataLst>
                  <p:tags r:id="rId36"/>
                </p:custDataLst>
              </p:nvPr>
            </p:nvCxnSpPr>
            <p:spPr>
              <a:xfrm flipV="1">
                <a:off x="7164464" y="1368000"/>
                <a:ext cx="0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>
                <p:custDataLst>
                  <p:tags r:id="rId37"/>
                </p:custDataLst>
              </p:nvPr>
            </p:nvCxnSpPr>
            <p:spPr>
              <a:xfrm flipH="1">
                <a:off x="2520464" y="1584000"/>
                <a:ext cx="540000" cy="0"/>
              </a:xfrm>
              <a:prstGeom prst="line">
                <a:avLst/>
              </a:prstGeom>
              <a:ln w="15875">
                <a:solidFill>
                  <a:srgbClr val="3333FF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40"/>
              <p:cNvSpPr txBox="1"/>
              <p:nvPr>
                <p:custDataLst>
                  <p:tags r:id="rId38"/>
                </p:custDataLst>
              </p:nvPr>
            </p:nvSpPr>
            <p:spPr>
              <a:xfrm>
                <a:off x="2700464" y="1368000"/>
                <a:ext cx="323850" cy="2159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r>
                  <a:rPr lang="en-US" altLang="zh-CN" sz="1600" b="1" spc="-100" dirty="0" err="1">
                    <a:latin typeface="宋体" panose="02010600030101010101" pitchFamily="2" charset="-122"/>
                    <a:cs typeface="Times New Roman" panose="02020603050405020304" pitchFamily="18" charset="0"/>
                  </a:rPr>
                  <a:t>imm</a:t>
                </a:r>
                <a:endParaRPr lang="en-US" altLang="zh-CN" sz="1600" b="1" spc="-100" dirty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" name="直接连接符 13"/>
              <p:cNvCxnSpPr/>
              <p:nvPr>
                <p:custDataLst>
                  <p:tags r:id="rId39"/>
                </p:custDataLst>
              </p:nvPr>
            </p:nvCxnSpPr>
            <p:spPr>
              <a:xfrm>
                <a:off x="1764464" y="1944000"/>
                <a:ext cx="180000" cy="0"/>
              </a:xfrm>
              <a:prstGeom prst="line">
                <a:avLst/>
              </a:prstGeom>
              <a:ln w="19050">
                <a:solidFill>
                  <a:srgbClr val="3333FF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>
                <p:custDataLst>
                  <p:tags r:id="rId40"/>
                </p:custDataLst>
              </p:nvPr>
            </p:nvCxnSpPr>
            <p:spPr>
              <a:xfrm flipH="1" flipV="1">
                <a:off x="1764464" y="1728000"/>
                <a:ext cx="180000" cy="0"/>
              </a:xfrm>
              <a:prstGeom prst="line">
                <a:avLst/>
              </a:prstGeom>
              <a:ln w="19050">
                <a:solidFill>
                  <a:srgbClr val="3333FF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>
                <p:custDataLst>
                  <p:tags r:id="rId41"/>
                </p:custDataLst>
              </p:nvPr>
            </p:nvCxnSpPr>
            <p:spPr>
              <a:xfrm flipV="1">
                <a:off x="1764056" y="1728000"/>
                <a:ext cx="0" cy="216000"/>
              </a:xfrm>
              <a:prstGeom prst="line">
                <a:avLst/>
              </a:prstGeom>
              <a:ln w="19050">
                <a:solidFill>
                  <a:srgbClr val="3333FF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>
                <p:custDataLst>
                  <p:tags r:id="rId42"/>
                </p:custDataLst>
              </p:nvPr>
            </p:nvCxnSpPr>
            <p:spPr bwMode="auto">
              <a:xfrm>
                <a:off x="1764464" y="1368000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med" len="sm"/>
              </a:ln>
              <a:effectLst/>
            </p:spPr>
          </p:cxnSp>
          <p:cxnSp>
            <p:nvCxnSpPr>
              <p:cNvPr id="18" name="直接连接符 17"/>
              <p:cNvCxnSpPr/>
              <p:nvPr>
                <p:custDataLst>
                  <p:tags r:id="rId43"/>
                </p:custDataLst>
              </p:nvPr>
            </p:nvCxnSpPr>
            <p:spPr bwMode="auto">
              <a:xfrm>
                <a:off x="1764464" y="1548000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med" len="sm"/>
              </a:ln>
              <a:effectLst/>
            </p:spPr>
          </p:cxnSp>
          <p:sp>
            <p:nvSpPr>
              <p:cNvPr id="19" name="TextBox 81"/>
              <p:cNvSpPr txBox="1"/>
              <p:nvPr>
                <p:custDataLst>
                  <p:tags r:id="rId44"/>
                </p:custDataLst>
              </p:nvPr>
            </p:nvSpPr>
            <p:spPr>
              <a:xfrm>
                <a:off x="1404016" y="1260000"/>
                <a:ext cx="360000" cy="17970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altLang="zh-CN" sz="1600" b="1" dirty="0" err="1">
                    <a:latin typeface="宋体" panose="02010600030101010101" pitchFamily="2" charset="-122"/>
                    <a:cs typeface="Times New Roman" panose="02020603050405020304" pitchFamily="18" charset="0"/>
                  </a:rPr>
                  <a:t>Brn</a:t>
                </a:r>
                <a:endParaRPr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81"/>
              <p:cNvSpPr txBox="1"/>
              <p:nvPr>
                <p:custDataLst>
                  <p:tags r:id="rId45"/>
                </p:custDataLst>
              </p:nvPr>
            </p:nvSpPr>
            <p:spPr>
              <a:xfrm>
                <a:off x="1404464" y="1440000"/>
                <a:ext cx="360000" cy="17970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altLang="zh-CN" sz="1600" b="1" dirty="0" err="1">
                    <a:solidFill>
                      <a:srgbClr val="FF3399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Jmp</a:t>
                </a:r>
                <a:endPara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1" name="TextBox 187"/>
            <p:cNvSpPr txBox="1"/>
            <p:nvPr/>
          </p:nvSpPr>
          <p:spPr>
            <a:xfrm>
              <a:off x="1440464" y="2276800"/>
              <a:ext cx="288000" cy="216024"/>
            </a:xfrm>
            <a:prstGeom prst="rect">
              <a:avLst/>
            </a:prstGeom>
            <a:solidFill>
              <a:srgbClr val="CCFFFF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P</a:t>
              </a:r>
              <a:r>
                <a:rPr lang="en-US" altLang="zh-CN" sz="1600" b="1" baseline="-18000" dirty="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endParaRPr lang="en-US" altLang="zh-CN" sz="1600" b="1" baseline="-18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160" name="组合 159"/>
            <p:cNvGrpSpPr/>
            <p:nvPr/>
          </p:nvGrpSpPr>
          <p:grpSpPr>
            <a:xfrm>
              <a:off x="1080000" y="1808800"/>
              <a:ext cx="7812464" cy="1664740"/>
              <a:chOff x="1080000" y="1808800"/>
              <a:chExt cx="7812464" cy="1664740"/>
            </a:xfrm>
          </p:grpSpPr>
          <p:sp>
            <p:nvSpPr>
              <p:cNvPr id="22" name="TextBox 57"/>
              <p:cNvSpPr txBox="1"/>
              <p:nvPr>
                <p:custDataLst>
                  <p:tags r:id="rId46"/>
                </p:custDataLst>
              </p:nvPr>
            </p:nvSpPr>
            <p:spPr>
              <a:xfrm>
                <a:off x="4896464" y="3068800"/>
                <a:ext cx="288000" cy="2159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1600" b="1" baseline="-18000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endParaRPr lang="en-US" altLang="zh-CN" sz="1600" b="1" baseline="-18000" dirty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TextBox 83"/>
              <p:cNvSpPr txBox="1"/>
              <p:nvPr>
                <p:custDataLst>
                  <p:tags r:id="rId47"/>
                </p:custDataLst>
              </p:nvPr>
            </p:nvSpPr>
            <p:spPr>
              <a:xfrm>
                <a:off x="7776464" y="3248345"/>
                <a:ext cx="539750" cy="2159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r>
                  <a:rPr lang="en-US" altLang="zh-CN" sz="1600" b="1" dirty="0" err="1">
                    <a:latin typeface="宋体" panose="02010600030101010101" pitchFamily="2" charset="-122"/>
                    <a:cs typeface="Times New Roman" panose="02020603050405020304" pitchFamily="18" charset="0"/>
                  </a:rPr>
                  <a:t>MemWr</a:t>
                </a:r>
                <a:endParaRPr lang="en-US" altLang="zh-CN" sz="1600" b="1" dirty="0" err="1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4" name="直接连接符 23"/>
              <p:cNvCxnSpPr/>
              <p:nvPr>
                <p:custDataLst>
                  <p:tags r:id="rId48"/>
                </p:custDataLst>
              </p:nvPr>
            </p:nvCxnSpPr>
            <p:spPr bwMode="auto">
              <a:xfrm flipV="1">
                <a:off x="7560464" y="3104800"/>
                <a:ext cx="0" cy="180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med" len="sm"/>
              </a:ln>
              <a:effectLst/>
            </p:spPr>
          </p:cxnSp>
          <p:sp>
            <p:nvSpPr>
              <p:cNvPr id="25" name="Text Box 323"/>
              <p:cNvSpPr txBox="1"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8316464" y="2456800"/>
                <a:ext cx="576000" cy="648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prstDash val="sysDash"/>
                <a:miter lim="800000"/>
              </a:ln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kumimoji="1" lang="en-US" altLang="zh-CN" sz="1800" b="1" dirty="0">
                    <a:latin typeface="宋体" panose="02010600030101010101" pitchFamily="2" charset="-122"/>
                  </a:rPr>
                  <a:t>DMEM</a:t>
                </a:r>
                <a:endParaRPr kumimoji="1" lang="en-US" altLang="zh-CN" sz="1800" b="1" dirty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kumimoji="1" lang="en-US" altLang="zh-CN" sz="1400" b="1" dirty="0">
                    <a:latin typeface="宋体" panose="02010600030101010101" pitchFamily="2" charset="-122"/>
                  </a:rPr>
                  <a:t>(</a:t>
                </a:r>
                <a:r>
                  <a:rPr kumimoji="1" lang="zh-CN" altLang="en-US" sz="1400" b="1" dirty="0">
                    <a:latin typeface="宋体" panose="02010600030101010101" pitchFamily="2" charset="-122"/>
                  </a:rPr>
                  <a:t>同步</a:t>
                </a:r>
                <a:r>
                  <a:rPr kumimoji="1" lang="en-US" altLang="zh-CN" sz="1400" b="1" dirty="0">
                    <a:latin typeface="宋体" panose="02010600030101010101" pitchFamily="2" charset="-122"/>
                  </a:rPr>
                  <a:t>)</a:t>
                </a:r>
                <a:endParaRPr kumimoji="1" lang="en-US" altLang="zh-CN" sz="1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6" name="TextBox 91"/>
              <p:cNvSpPr txBox="1"/>
              <p:nvPr>
                <p:custDataLst>
                  <p:tags r:id="rId50"/>
                </p:custDataLst>
              </p:nvPr>
            </p:nvSpPr>
            <p:spPr>
              <a:xfrm>
                <a:off x="4967199" y="3248345"/>
                <a:ext cx="504190" cy="2159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altLang="zh-CN" sz="1600" b="1" dirty="0" err="1">
                    <a:latin typeface="宋体" panose="02010600030101010101" pitchFamily="2" charset="-122"/>
                    <a:cs typeface="Times New Roman" panose="02020603050405020304" pitchFamily="18" charset="0"/>
                  </a:rPr>
                  <a:t>MtoR</a:t>
                </a:r>
                <a:endParaRPr lang="en-US" altLang="zh-CN" sz="1600" b="1" dirty="0" err="1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7" name="直接连接符 8"/>
              <p:cNvCxnSpPr/>
              <p:nvPr>
                <p:custDataLst>
                  <p:tags r:id="rId51"/>
                </p:custDataLst>
              </p:nvPr>
            </p:nvCxnSpPr>
            <p:spPr>
              <a:xfrm flipV="1">
                <a:off x="7162394" y="2676210"/>
                <a:ext cx="28829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 Box 323"/>
              <p:cNvSpPr txBox="1"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4535399" y="2241235"/>
                <a:ext cx="575945" cy="61214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kumimoji="1" lang="en-US" altLang="zh-CN" sz="1800" b="1" dirty="0">
                    <a:latin typeface="宋体" panose="02010600030101010101" pitchFamily="2" charset="-122"/>
                  </a:rPr>
                  <a:t>GPRs</a:t>
                </a:r>
                <a:endParaRPr kumimoji="1" lang="en-US" altLang="zh-CN" sz="1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" name="Text Box 363"/>
              <p:cNvSpPr txBox="1">
                <a:spLocks noChangeArrowhead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3093949" y="2203770"/>
                <a:ext cx="360045" cy="5397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</p:spPr>
            <p:txBody>
              <a:bodyPr lIns="18000" tIns="10800" rIns="18000" bIns="0" anchor="t" anchorCtr="0"/>
              <a:lstStyle/>
              <a:p>
                <a:pPr>
                  <a:lnSpc>
                    <a:spcPct val="80000"/>
                  </a:lnSpc>
                </a:pPr>
                <a:r>
                  <a:rPr kumimoji="1" lang="en-US" altLang="zh-CN" sz="16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rd</a:t>
                </a:r>
                <a:endPara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80000"/>
                  </a:lnSpc>
                  <a:spcBef>
                    <a:spcPts val="0"/>
                  </a:spcBef>
                </a:pPr>
                <a:r>
                  <a:rPr kumimoji="1" lang="en-US" altLang="zh-CN" sz="16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rs2</a:t>
                </a:r>
                <a:endPara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70000"/>
                  </a:lnSpc>
                </a:pPr>
                <a:r>
                  <a:rPr kumimoji="1" lang="en-US" altLang="zh-CN" sz="16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rs1</a:t>
                </a:r>
                <a:endPara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0" name="直接连接符 29"/>
              <p:cNvCxnSpPr/>
              <p:nvPr>
                <p:custDataLst>
                  <p:tags r:id="rId54"/>
                </p:custDataLst>
              </p:nvPr>
            </p:nvCxnSpPr>
            <p:spPr bwMode="auto">
              <a:xfrm>
                <a:off x="3060464" y="1880800"/>
                <a:ext cx="0" cy="122400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2" name="AutoShape 15"/>
              <p:cNvSpPr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 rot="16200000">
                <a:off x="6513424" y="2311720"/>
                <a:ext cx="648335" cy="361315"/>
              </a:xfrm>
              <a:prstGeom prst="flowChartManualOperation">
                <a:avLst/>
              </a:prstGeom>
              <a:solidFill>
                <a:srgbClr val="FF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ALU</a:t>
                </a:r>
                <a:endParaRPr lang="en-US" altLang="zh-CN" sz="18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33" name="直接连接符 32"/>
              <p:cNvCxnSpPr/>
              <p:nvPr>
                <p:custDataLst>
                  <p:tags r:id="rId56"/>
                </p:custDataLst>
              </p:nvPr>
            </p:nvCxnSpPr>
            <p:spPr>
              <a:xfrm>
                <a:off x="3057754" y="2384110"/>
                <a:ext cx="147574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>
                <p:custDataLst>
                  <p:tags r:id="rId57"/>
                </p:custDataLst>
              </p:nvPr>
            </p:nvCxnSpPr>
            <p:spPr>
              <a:xfrm>
                <a:off x="3057754" y="2563815"/>
                <a:ext cx="147574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>
                <p:custDataLst>
                  <p:tags r:id="rId58"/>
                </p:custDataLst>
              </p:nvPr>
            </p:nvCxnSpPr>
            <p:spPr>
              <a:xfrm>
                <a:off x="3058389" y="2744155"/>
                <a:ext cx="147574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82"/>
              <p:cNvCxnSpPr/>
              <p:nvPr>
                <p:custDataLst>
                  <p:tags r:id="rId59"/>
                </p:custDataLst>
              </p:nvPr>
            </p:nvCxnSpPr>
            <p:spPr bwMode="auto">
              <a:xfrm flipV="1">
                <a:off x="4680179" y="2853375"/>
                <a:ext cx="0" cy="39624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med" len="sm"/>
              </a:ln>
              <a:effectLst/>
            </p:spPr>
          </p:cxnSp>
          <p:cxnSp>
            <p:nvCxnSpPr>
              <p:cNvPr id="37" name="直接连接符 36"/>
              <p:cNvCxnSpPr/>
              <p:nvPr>
                <p:custDataLst>
                  <p:tags r:id="rId60"/>
                </p:custDataLst>
              </p:nvPr>
            </p:nvCxnSpPr>
            <p:spPr bwMode="auto">
              <a:xfrm flipV="1">
                <a:off x="5003394" y="2852740"/>
                <a:ext cx="0" cy="2159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8" name="直接连接符 37"/>
              <p:cNvCxnSpPr/>
              <p:nvPr>
                <p:custDataLst>
                  <p:tags r:id="rId61"/>
                </p:custDataLst>
              </p:nvPr>
            </p:nvCxnSpPr>
            <p:spPr bwMode="auto">
              <a:xfrm flipV="1">
                <a:off x="6874104" y="2744155"/>
                <a:ext cx="0" cy="50419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med" len="sm"/>
              </a:ln>
              <a:effectLst/>
            </p:spPr>
          </p:cxnSp>
          <p:sp>
            <p:nvSpPr>
              <p:cNvPr id="39" name="TextBox 23"/>
              <p:cNvSpPr txBox="1"/>
              <p:nvPr>
                <p:custDataLst>
                  <p:tags r:id="rId62"/>
                </p:custDataLst>
              </p:nvPr>
            </p:nvSpPr>
            <p:spPr>
              <a:xfrm>
                <a:off x="6516464" y="3248345"/>
                <a:ext cx="720090" cy="2159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r>
                  <a:rPr lang="en-US" altLang="zh-CN" sz="1600" b="1" dirty="0" err="1">
                    <a:solidFill>
                      <a:schemeClr val="tx1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ALUctr</a:t>
                </a:r>
                <a:endPara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TextBox 24"/>
              <p:cNvSpPr txBox="1"/>
              <p:nvPr>
                <p:custDataLst>
                  <p:tags r:id="rId63"/>
                </p:custDataLst>
              </p:nvPr>
            </p:nvSpPr>
            <p:spPr>
              <a:xfrm>
                <a:off x="4391254" y="3248345"/>
                <a:ext cx="575945" cy="2159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r>
                  <a:rPr lang="en-US" altLang="zh-CN" sz="1600" b="1" dirty="0" err="1">
                    <a:solidFill>
                      <a:schemeClr val="tx1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RegWr</a:t>
                </a:r>
                <a:endPara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1" name="直接连接符 40"/>
              <p:cNvCxnSpPr/>
              <p:nvPr>
                <p:custDataLst>
                  <p:tags r:id="rId64"/>
                </p:custDataLst>
              </p:nvPr>
            </p:nvCxnSpPr>
            <p:spPr>
              <a:xfrm>
                <a:off x="2520464" y="2816800"/>
                <a:ext cx="54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26"/>
              <p:cNvSpPr txBox="1"/>
              <p:nvPr>
                <p:custDataLst>
                  <p:tags r:id="rId65"/>
                </p:custDataLst>
              </p:nvPr>
            </p:nvSpPr>
            <p:spPr>
              <a:xfrm>
                <a:off x="2808199" y="2168800"/>
                <a:ext cx="215900" cy="648000"/>
              </a:xfrm>
              <a:prstGeom prst="rect">
                <a:avLst/>
              </a:prstGeom>
              <a:noFill/>
            </p:spPr>
            <p:txBody>
              <a:bodyPr vert="eaVert"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zh-CN" altLang="en-US" sz="16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指令字</a:t>
                </a:r>
                <a:endParaRPr lang="zh-CN" altLang="en-US" sz="1600" b="1" dirty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3" name="直接连接符 42"/>
              <p:cNvCxnSpPr/>
              <p:nvPr>
                <p:custDataLst>
                  <p:tags r:id="rId66"/>
                </p:custDataLst>
              </p:nvPr>
            </p:nvCxnSpPr>
            <p:spPr>
              <a:xfrm>
                <a:off x="3058389" y="2996250"/>
                <a:ext cx="431800" cy="0"/>
              </a:xfrm>
              <a:prstGeom prst="line">
                <a:avLst/>
              </a:prstGeom>
              <a:ln w="15875"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 Box 323"/>
              <p:cNvSpPr txBox="1">
                <a:spLocks noChangeArrowheads="1"/>
              </p:cNvSpPr>
              <p:nvPr>
                <p:custDataLst>
                  <p:tags r:id="rId67"/>
                </p:custDataLst>
              </p:nvPr>
            </p:nvSpPr>
            <p:spPr bwMode="auto">
              <a:xfrm>
                <a:off x="3491459" y="2816545"/>
                <a:ext cx="575945" cy="288290"/>
              </a:xfrm>
              <a:prstGeom prst="rect">
                <a:avLst/>
              </a:prstGeom>
              <a:solidFill>
                <a:srgbClr val="FFCCFF"/>
              </a:solidFill>
              <a:ln w="15875">
                <a:solidFill>
                  <a:schemeClr val="tx1"/>
                </a:solidFill>
                <a:miter lim="800000"/>
              </a:ln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kumimoji="1" lang="en-US" altLang="zh-CN" sz="1800" b="1" dirty="0" err="1">
                    <a:latin typeface="宋体" panose="02010600030101010101" pitchFamily="2" charset="-122"/>
                  </a:rPr>
                  <a:t>ExtU</a:t>
                </a:r>
                <a:endParaRPr kumimoji="1" lang="en-US" altLang="zh-CN" sz="1800" b="1" dirty="0" err="1">
                  <a:latin typeface="宋体" panose="02010600030101010101" pitchFamily="2" charset="-122"/>
                </a:endParaRPr>
              </a:p>
            </p:txBody>
          </p:sp>
          <p:sp>
            <p:nvSpPr>
              <p:cNvPr id="45" name="Text Box 18"/>
              <p:cNvSpPr txBox="1">
                <a:spLocks noChangeArrowheads="1"/>
              </p:cNvSpPr>
              <p:nvPr>
                <p:custDataLst>
                  <p:tags r:id="rId68"/>
                </p:custDataLst>
              </p:nvPr>
            </p:nvSpPr>
            <p:spPr bwMode="auto">
              <a:xfrm>
                <a:off x="5903189" y="2205040"/>
                <a:ext cx="575945" cy="28892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36000" bIns="1080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600" b="1" spc="-100" dirty="0">
                    <a:latin typeface="宋体" panose="02010600030101010101" pitchFamily="2" charset="-122"/>
                  </a:rPr>
                  <a:t>MUX1</a:t>
                </a:r>
                <a:endParaRPr lang="en-US" altLang="zh-CN" sz="1600" b="1" spc="-1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46" name="直接连接符 45"/>
              <p:cNvCxnSpPr/>
              <p:nvPr>
                <p:custDataLst>
                  <p:tags r:id="rId69"/>
                </p:custDataLst>
              </p:nvPr>
            </p:nvCxnSpPr>
            <p:spPr>
              <a:xfrm>
                <a:off x="6479134" y="2312355"/>
                <a:ext cx="179705" cy="0"/>
              </a:xfrm>
              <a:prstGeom prst="line">
                <a:avLst/>
              </a:prstGeom>
              <a:ln w="19050">
                <a:solidFill>
                  <a:srgbClr val="3333FF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>
                <p:custDataLst>
                  <p:tags r:id="rId70"/>
                </p:custDataLst>
              </p:nvPr>
            </p:nvCxnSpPr>
            <p:spPr>
              <a:xfrm>
                <a:off x="5471389" y="2347200"/>
                <a:ext cx="4318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0"/>
              <p:cNvSpPr txBox="1"/>
              <p:nvPr>
                <p:custDataLst>
                  <p:tags r:id="rId71"/>
                </p:custDataLst>
              </p:nvPr>
            </p:nvSpPr>
            <p:spPr>
              <a:xfrm>
                <a:off x="3093949" y="2780350"/>
                <a:ext cx="323850" cy="2159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r>
                  <a:rPr lang="en-US" altLang="zh-CN" sz="1600" b="1" spc="-100" dirty="0" err="1">
                    <a:latin typeface="宋体" panose="02010600030101010101" pitchFamily="2" charset="-122"/>
                    <a:cs typeface="Times New Roman" panose="02020603050405020304" pitchFamily="18" charset="0"/>
                  </a:rPr>
                  <a:t>imm</a:t>
                </a:r>
                <a:endParaRPr lang="en-US" altLang="zh-CN" sz="1600" b="1" spc="-100" dirty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9" name="直接连接符 48"/>
              <p:cNvCxnSpPr/>
              <p:nvPr>
                <p:custDataLst>
                  <p:tags r:id="rId72"/>
                </p:custDataLst>
              </p:nvPr>
            </p:nvCxnSpPr>
            <p:spPr bwMode="auto">
              <a:xfrm flipV="1">
                <a:off x="3779749" y="3102295"/>
                <a:ext cx="0" cy="144145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med" len="sm"/>
              </a:ln>
              <a:effectLst/>
            </p:spPr>
          </p:cxnSp>
          <p:sp>
            <p:nvSpPr>
              <p:cNvPr id="50" name="TextBox 45"/>
              <p:cNvSpPr txBox="1"/>
              <p:nvPr>
                <p:custDataLst>
                  <p:tags r:id="rId73"/>
                </p:custDataLst>
              </p:nvPr>
            </p:nvSpPr>
            <p:spPr>
              <a:xfrm>
                <a:off x="3491459" y="3248345"/>
                <a:ext cx="575945" cy="2159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r>
                  <a:rPr lang="en-US" altLang="zh-CN" sz="1600" b="1" dirty="0" err="1">
                    <a:solidFill>
                      <a:schemeClr val="tx1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Extop</a:t>
                </a:r>
                <a:endPara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TextBox 24"/>
              <p:cNvSpPr txBox="1"/>
              <p:nvPr>
                <p:custDataLst>
                  <p:tags r:id="rId74"/>
                </p:custDataLst>
              </p:nvPr>
            </p:nvSpPr>
            <p:spPr>
              <a:xfrm>
                <a:off x="5903189" y="2205040"/>
                <a:ext cx="144145" cy="2882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endPara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00" b="1" dirty="0">
                    <a:solidFill>
                      <a:schemeClr val="tx1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en-US" altLang="zh-CN" sz="1000" b="1" dirty="0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Text Box 18"/>
              <p:cNvSpPr txBox="1">
                <a:spLocks noChangeArrowheads="1"/>
              </p:cNvSpPr>
              <p:nvPr>
                <p:custDataLst>
                  <p:tags r:id="rId75"/>
                </p:custDataLst>
              </p:nvPr>
            </p:nvSpPr>
            <p:spPr bwMode="auto">
              <a:xfrm>
                <a:off x="4967199" y="1808800"/>
                <a:ext cx="575945" cy="28892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36000" bIns="10800" anchor="ctr"/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1600" b="1" spc="-100" dirty="0">
                    <a:latin typeface="宋体" panose="02010600030101010101" pitchFamily="2" charset="-122"/>
                  </a:rPr>
                  <a:t>MUX2</a:t>
                </a:r>
                <a:endParaRPr lang="en-US" altLang="zh-CN" sz="1600" b="1" spc="-1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3" name="TextBox 24"/>
              <p:cNvSpPr txBox="1"/>
              <p:nvPr>
                <p:custDataLst>
                  <p:tags r:id="rId76"/>
                </p:custDataLst>
              </p:nvPr>
            </p:nvSpPr>
            <p:spPr>
              <a:xfrm>
                <a:off x="5398999" y="1808800"/>
                <a:ext cx="144145" cy="2882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endPara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4" name="直接连接符 53"/>
              <p:cNvCxnSpPr/>
              <p:nvPr>
                <p:custDataLst>
                  <p:tags r:id="rId77"/>
                </p:custDataLst>
              </p:nvPr>
            </p:nvCxnSpPr>
            <p:spPr>
              <a:xfrm flipH="1">
                <a:off x="5543144" y="2024800"/>
                <a:ext cx="1619885" cy="0"/>
              </a:xfrm>
              <a:prstGeom prst="line">
                <a:avLst/>
              </a:prstGeom>
              <a:ln w="19050">
                <a:solidFill>
                  <a:srgbClr val="3333FF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>
                <p:custDataLst>
                  <p:tags r:id="rId78"/>
                </p:custDataLst>
              </p:nvPr>
            </p:nvCxnSpPr>
            <p:spPr>
              <a:xfrm>
                <a:off x="7019519" y="2495870"/>
                <a:ext cx="144145" cy="0"/>
              </a:xfrm>
              <a:prstGeom prst="line">
                <a:avLst/>
              </a:prstGeom>
              <a:ln w="19050">
                <a:solidFill>
                  <a:srgbClr val="3333FF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>
                <p:custDataLst>
                  <p:tags r:id="rId79"/>
                </p:custDataLst>
              </p:nvPr>
            </p:nvCxnSpPr>
            <p:spPr>
              <a:xfrm flipV="1">
                <a:off x="7163664" y="2024800"/>
                <a:ext cx="0" cy="467995"/>
              </a:xfrm>
              <a:prstGeom prst="line">
                <a:avLst/>
              </a:prstGeom>
              <a:ln w="19050">
                <a:solidFill>
                  <a:srgbClr val="3333FF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>
                <p:custDataLst>
                  <p:tags r:id="rId80"/>
                </p:custDataLst>
              </p:nvPr>
            </p:nvCxnSpPr>
            <p:spPr>
              <a:xfrm flipH="1">
                <a:off x="7163664" y="2495870"/>
                <a:ext cx="0" cy="179705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>
                <p:custDataLst>
                  <p:tags r:id="rId81"/>
                </p:custDataLst>
              </p:nvPr>
            </p:nvCxnSpPr>
            <p:spPr>
              <a:xfrm flipV="1">
                <a:off x="7740464" y="1880800"/>
                <a:ext cx="0" cy="57600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>
                <p:custDataLst>
                  <p:tags r:id="rId82"/>
                </p:custDataLst>
              </p:nvPr>
            </p:nvCxnSpPr>
            <p:spPr>
              <a:xfrm flipH="1">
                <a:off x="5543144" y="1880800"/>
                <a:ext cx="219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>
                <p:custDataLst>
                  <p:tags r:id="rId83"/>
                </p:custDataLst>
              </p:nvPr>
            </p:nvCxnSpPr>
            <p:spPr>
              <a:xfrm>
                <a:off x="4355059" y="1952945"/>
                <a:ext cx="612140" cy="0"/>
              </a:xfrm>
              <a:prstGeom prst="line">
                <a:avLst/>
              </a:prstGeom>
              <a:ln w="19050">
                <a:solidFill>
                  <a:srgbClr val="3333FF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>
                <p:custDataLst>
                  <p:tags r:id="rId84"/>
                </p:custDataLst>
              </p:nvPr>
            </p:nvCxnSpPr>
            <p:spPr>
              <a:xfrm>
                <a:off x="4355059" y="2276795"/>
                <a:ext cx="179705" cy="0"/>
              </a:xfrm>
              <a:prstGeom prst="line">
                <a:avLst/>
              </a:prstGeom>
              <a:ln w="19050">
                <a:solidFill>
                  <a:srgbClr val="3333FF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>
                <p:custDataLst>
                  <p:tags r:id="rId85"/>
                </p:custDataLst>
              </p:nvPr>
            </p:nvCxnSpPr>
            <p:spPr>
              <a:xfrm flipV="1">
                <a:off x="4355059" y="1952945"/>
                <a:ext cx="0" cy="323850"/>
              </a:xfrm>
              <a:prstGeom prst="line">
                <a:avLst/>
              </a:prstGeom>
              <a:ln w="19050">
                <a:solidFill>
                  <a:srgbClr val="3333FF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>
                <p:custDataLst>
                  <p:tags r:id="rId86"/>
                </p:custDataLst>
              </p:nvPr>
            </p:nvCxnSpPr>
            <p:spPr>
              <a:xfrm>
                <a:off x="5363439" y="2241235"/>
                <a:ext cx="53975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>
                <p:custDataLst>
                  <p:tags r:id="rId87"/>
                </p:custDataLst>
              </p:nvPr>
            </p:nvCxnSpPr>
            <p:spPr>
              <a:xfrm>
                <a:off x="5111344" y="2568260"/>
                <a:ext cx="252095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>
                <p:custDataLst>
                  <p:tags r:id="rId88"/>
                </p:custDataLst>
              </p:nvPr>
            </p:nvCxnSpPr>
            <p:spPr>
              <a:xfrm flipV="1">
                <a:off x="5363439" y="2241235"/>
                <a:ext cx="0" cy="32385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>
                <p:custDataLst>
                  <p:tags r:id="rId89"/>
                </p:custDataLst>
              </p:nvPr>
            </p:nvCxnSpPr>
            <p:spPr>
              <a:xfrm>
                <a:off x="4067404" y="2996250"/>
                <a:ext cx="14039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>
                <p:custDataLst>
                  <p:tags r:id="rId90"/>
                </p:custDataLst>
              </p:nvPr>
            </p:nvCxnSpPr>
            <p:spPr>
              <a:xfrm flipV="1">
                <a:off x="5471389" y="2347200"/>
                <a:ext cx="0" cy="64800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>
                <p:custDataLst>
                  <p:tags r:id="rId91"/>
                </p:custDataLst>
              </p:nvPr>
            </p:nvCxnSpPr>
            <p:spPr bwMode="auto">
              <a:xfrm flipV="1">
                <a:off x="5219294" y="2100265"/>
                <a:ext cx="0" cy="115189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med" len="sm"/>
              </a:ln>
              <a:effectLst/>
            </p:spPr>
          </p:cxnSp>
          <p:cxnSp>
            <p:nvCxnSpPr>
              <p:cNvPr id="69" name="直接连接符 68"/>
              <p:cNvCxnSpPr/>
              <p:nvPr>
                <p:custDataLst>
                  <p:tags r:id="rId92"/>
                </p:custDataLst>
              </p:nvPr>
            </p:nvCxnSpPr>
            <p:spPr>
              <a:xfrm>
                <a:off x="5363439" y="2888935"/>
                <a:ext cx="20878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>
                <p:custDataLst>
                  <p:tags r:id="rId93"/>
                </p:custDataLst>
              </p:nvPr>
            </p:nvCxnSpPr>
            <p:spPr>
              <a:xfrm>
                <a:off x="6479134" y="2744790"/>
                <a:ext cx="179705" cy="0"/>
              </a:xfrm>
              <a:prstGeom prst="line">
                <a:avLst/>
              </a:prstGeom>
              <a:ln w="19050">
                <a:solidFill>
                  <a:srgbClr val="3333FF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>
                <p:custDataLst>
                  <p:tags r:id="rId94"/>
                </p:custDataLst>
              </p:nvPr>
            </p:nvCxnSpPr>
            <p:spPr bwMode="auto">
              <a:xfrm flipH="1">
                <a:off x="6148934" y="2096800"/>
                <a:ext cx="0" cy="108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med" len="sm"/>
              </a:ln>
              <a:effectLst/>
            </p:spPr>
          </p:cxnSp>
          <p:sp>
            <p:nvSpPr>
              <p:cNvPr id="72" name="TextBox 47"/>
              <p:cNvSpPr txBox="1"/>
              <p:nvPr>
                <p:custDataLst>
                  <p:tags r:id="rId95"/>
                </p:custDataLst>
              </p:nvPr>
            </p:nvSpPr>
            <p:spPr>
              <a:xfrm>
                <a:off x="7956000" y="1988800"/>
                <a:ext cx="756000" cy="17970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r>
                  <a:rPr lang="en-US" altLang="zh-CN" sz="1600" b="1" dirty="0" err="1">
                    <a:solidFill>
                      <a:schemeClr val="tx1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ALUBsrc</a:t>
                </a:r>
                <a:endParaRPr lang="en-US" altLang="zh-CN" sz="1600" b="1" dirty="0" err="1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3" name="直接连接符 72"/>
              <p:cNvCxnSpPr/>
              <p:nvPr>
                <p:custDataLst>
                  <p:tags r:id="rId96"/>
                </p:custDataLst>
              </p:nvPr>
            </p:nvCxnSpPr>
            <p:spPr>
              <a:xfrm>
                <a:off x="5364709" y="2565720"/>
                <a:ext cx="0" cy="32385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Text Box 323"/>
              <p:cNvSpPr txBox="1">
                <a:spLocks noChangeArrowheads="1"/>
              </p:cNvSpPr>
              <p:nvPr/>
            </p:nvSpPr>
            <p:spPr bwMode="auto">
              <a:xfrm>
                <a:off x="7452688" y="2456800"/>
                <a:ext cx="576000" cy="648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kumimoji="1" lang="en-US" altLang="zh-CN" b="1" dirty="0">
                    <a:latin typeface="宋体" panose="02010600030101010101" pitchFamily="2" charset="-122"/>
                  </a:rPr>
                  <a:t>DBIU</a:t>
                </a:r>
                <a:endParaRPr kumimoji="1" lang="zh-CN" altLang="en-US" sz="16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75" name="直接连接符 74"/>
              <p:cNvCxnSpPr/>
              <p:nvPr>
                <p:custDataLst>
                  <p:tags r:id="rId97"/>
                </p:custDataLst>
              </p:nvPr>
            </p:nvCxnSpPr>
            <p:spPr bwMode="auto">
              <a:xfrm flipV="1">
                <a:off x="7920464" y="3104800"/>
                <a:ext cx="0" cy="180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med" len="sm"/>
              </a:ln>
              <a:effectLst/>
            </p:spPr>
          </p:cxnSp>
          <p:sp>
            <p:nvSpPr>
              <p:cNvPr id="76" name="TextBox 83"/>
              <p:cNvSpPr txBox="1"/>
              <p:nvPr>
                <p:custDataLst>
                  <p:tags r:id="rId98"/>
                </p:custDataLst>
              </p:nvPr>
            </p:nvSpPr>
            <p:spPr>
              <a:xfrm>
                <a:off x="7200464" y="3248800"/>
                <a:ext cx="539750" cy="2159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r>
                  <a:rPr lang="en-US" altLang="zh-CN" sz="1600" b="1" dirty="0" err="1">
                    <a:latin typeface="宋体" panose="02010600030101010101" pitchFamily="2" charset="-122"/>
                    <a:cs typeface="Times New Roman" panose="02020603050405020304" pitchFamily="18" charset="0"/>
                  </a:rPr>
                  <a:t>MemRd</a:t>
                </a:r>
                <a:endParaRPr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7" name="直接连接符 76"/>
              <p:cNvCxnSpPr/>
              <p:nvPr>
                <p:custDataLst>
                  <p:tags r:id="rId99"/>
                </p:custDataLst>
              </p:nvPr>
            </p:nvCxnSpPr>
            <p:spPr bwMode="auto">
              <a:xfrm>
                <a:off x="7236464" y="3032800"/>
                <a:ext cx="216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78" name="直接连接符 8"/>
              <p:cNvCxnSpPr/>
              <p:nvPr>
                <p:custDataLst>
                  <p:tags r:id="rId100"/>
                </p:custDataLst>
              </p:nvPr>
            </p:nvCxnSpPr>
            <p:spPr>
              <a:xfrm flipV="1">
                <a:off x="8028494" y="2564800"/>
                <a:ext cx="288290" cy="0"/>
              </a:xfrm>
              <a:prstGeom prst="straightConnector1">
                <a:avLst/>
              </a:prstGeom>
              <a:ln w="19050">
                <a:solidFill>
                  <a:srgbClr val="CC3300"/>
                </a:solidFill>
                <a:headEnd type="none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8"/>
              <p:cNvCxnSpPr/>
              <p:nvPr>
                <p:custDataLst>
                  <p:tags r:id="rId101"/>
                </p:custDataLst>
              </p:nvPr>
            </p:nvCxnSpPr>
            <p:spPr>
              <a:xfrm flipV="1">
                <a:off x="8028464" y="2672800"/>
                <a:ext cx="288290" cy="0"/>
              </a:xfrm>
              <a:prstGeom prst="straightConnector1">
                <a:avLst/>
              </a:prstGeom>
              <a:ln w="19050">
                <a:solidFill>
                  <a:srgbClr val="3333FF"/>
                </a:solidFill>
                <a:headEnd type="none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8"/>
              <p:cNvCxnSpPr/>
              <p:nvPr>
                <p:custDataLst>
                  <p:tags r:id="rId102"/>
                </p:custDataLst>
              </p:nvPr>
            </p:nvCxnSpPr>
            <p:spPr>
              <a:xfrm flipV="1">
                <a:off x="8028464" y="2744800"/>
                <a:ext cx="288290" cy="0"/>
              </a:xfrm>
              <a:prstGeom prst="straightConnector1">
                <a:avLst/>
              </a:prstGeom>
              <a:ln w="19050">
                <a:solidFill>
                  <a:srgbClr val="3333FF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>
                <p:custDataLst>
                  <p:tags r:id="rId103"/>
                </p:custDataLst>
              </p:nvPr>
            </p:nvCxnSpPr>
            <p:spPr bwMode="auto">
              <a:xfrm flipV="1">
                <a:off x="8028464" y="2888800"/>
                <a:ext cx="288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med" len="sm"/>
              </a:ln>
              <a:effectLst/>
            </p:spPr>
          </p:cxnSp>
          <p:cxnSp>
            <p:nvCxnSpPr>
              <p:cNvPr id="82" name="直接连接符 81"/>
              <p:cNvCxnSpPr/>
              <p:nvPr>
                <p:custDataLst>
                  <p:tags r:id="rId104"/>
                </p:custDataLst>
              </p:nvPr>
            </p:nvCxnSpPr>
            <p:spPr bwMode="auto">
              <a:xfrm flipV="1">
                <a:off x="8028464" y="2960800"/>
                <a:ext cx="288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med" len="sm"/>
              </a:ln>
              <a:effectLst/>
            </p:spPr>
          </p:cxnSp>
          <p:cxnSp>
            <p:nvCxnSpPr>
              <p:cNvPr id="83" name="直接连接符 82"/>
              <p:cNvCxnSpPr/>
              <p:nvPr>
                <p:custDataLst>
                  <p:tags r:id="rId105"/>
                </p:custDataLst>
              </p:nvPr>
            </p:nvCxnSpPr>
            <p:spPr bwMode="auto">
              <a:xfrm>
                <a:off x="8028464" y="3032800"/>
                <a:ext cx="288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84" name="Text Box 323"/>
              <p:cNvSpPr txBox="1">
                <a:spLocks noChangeArrowheads="1"/>
              </p:cNvSpPr>
              <p:nvPr>
                <p:custDataLst>
                  <p:tags r:id="rId106"/>
                </p:custDataLst>
              </p:nvPr>
            </p:nvSpPr>
            <p:spPr bwMode="auto">
              <a:xfrm>
                <a:off x="1944464" y="2249724"/>
                <a:ext cx="575945" cy="21590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</p:spPr>
            <p:txBody>
              <a:bodyPr lIns="18000" tIns="17780" rIns="1800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kumimoji="1" lang="en-US" altLang="zh-CN" b="1" dirty="0">
                    <a:latin typeface="宋体" panose="02010600030101010101" pitchFamily="2" charset="-122"/>
                  </a:rPr>
                  <a:t>PC</a:t>
                </a:r>
                <a:endParaRPr kumimoji="1"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85" name="TextBox 187"/>
              <p:cNvSpPr txBox="1"/>
              <p:nvPr/>
            </p:nvSpPr>
            <p:spPr>
              <a:xfrm>
                <a:off x="6984464" y="2924800"/>
                <a:ext cx="288000" cy="2160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P</a:t>
                </a:r>
                <a:r>
                  <a:rPr lang="en-US" altLang="zh-CN" sz="1800" b="1" baseline="-18000" dirty="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endParaRPr lang="en-US" altLang="zh-CN" sz="1800" b="1" baseline="-18000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6" name="直接连接符 85"/>
              <p:cNvCxnSpPr/>
              <p:nvPr>
                <p:custDataLst>
                  <p:tags r:id="rId107"/>
                </p:custDataLst>
              </p:nvPr>
            </p:nvCxnSpPr>
            <p:spPr>
              <a:xfrm>
                <a:off x="2520464" y="2348800"/>
                <a:ext cx="1800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>
                <p:custDataLst>
                  <p:tags r:id="rId108"/>
                </p:custDataLst>
              </p:nvPr>
            </p:nvCxnSpPr>
            <p:spPr bwMode="auto">
              <a:xfrm>
                <a:off x="1692464" y="2384800"/>
                <a:ext cx="252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88" name="直接连接符 87"/>
              <p:cNvCxnSpPr/>
              <p:nvPr>
                <p:custDataLst>
                  <p:tags r:id="rId109"/>
                </p:custDataLst>
              </p:nvPr>
            </p:nvCxnSpPr>
            <p:spPr bwMode="auto">
              <a:xfrm flipH="1">
                <a:off x="6156000" y="2096800"/>
                <a:ext cx="1764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89" name="Text Box 323"/>
              <p:cNvSpPr txBox="1">
                <a:spLocks noChangeArrowheads="1"/>
              </p:cNvSpPr>
              <p:nvPr/>
            </p:nvSpPr>
            <p:spPr bwMode="auto">
              <a:xfrm>
                <a:off x="1944464" y="2609640"/>
                <a:ext cx="576000" cy="504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kumimoji="1" lang="en-US" altLang="zh-CN" b="1" dirty="0">
                    <a:latin typeface="宋体" panose="02010600030101010101" pitchFamily="2" charset="-122"/>
                  </a:rPr>
                  <a:t>IBIU</a:t>
                </a:r>
                <a:endParaRPr kumimoji="1" lang="zh-CN" altLang="en-US" sz="16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90" name="直接连接符 89"/>
              <p:cNvCxnSpPr/>
              <p:nvPr>
                <p:custDataLst>
                  <p:tags r:id="rId110"/>
                </p:custDataLst>
              </p:nvPr>
            </p:nvCxnSpPr>
            <p:spPr>
              <a:xfrm flipH="1">
                <a:off x="2520464" y="2681640"/>
                <a:ext cx="179705" cy="0"/>
              </a:xfrm>
              <a:prstGeom prst="line">
                <a:avLst/>
              </a:prstGeom>
              <a:ln w="19050">
                <a:solidFill>
                  <a:srgbClr val="C0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>
                <p:custDataLst>
                  <p:tags r:id="rId111"/>
                </p:custDataLst>
              </p:nvPr>
            </p:nvCxnSpPr>
            <p:spPr>
              <a:xfrm flipH="1">
                <a:off x="2700169" y="2357640"/>
                <a:ext cx="295" cy="324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headEnd type="none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>
                <p:custDataLst>
                  <p:tags r:id="rId112"/>
                </p:custDataLst>
              </p:nvPr>
            </p:nvCxnSpPr>
            <p:spPr bwMode="auto">
              <a:xfrm flipV="1">
                <a:off x="2268464" y="3113640"/>
                <a:ext cx="0" cy="18000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med" len="sm"/>
              </a:ln>
              <a:effectLst/>
            </p:spPr>
          </p:cxnSp>
          <p:sp>
            <p:nvSpPr>
              <p:cNvPr id="93" name="TextBox 83"/>
              <p:cNvSpPr txBox="1"/>
              <p:nvPr>
                <p:custDataLst>
                  <p:tags r:id="rId113"/>
                </p:custDataLst>
              </p:nvPr>
            </p:nvSpPr>
            <p:spPr>
              <a:xfrm>
                <a:off x="2016464" y="3257640"/>
                <a:ext cx="468000" cy="2159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rgbClr val="FF3399"/>
                    </a:solidFill>
                    <a:latin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Text Box 323"/>
              <p:cNvSpPr txBox="1">
                <a:spLocks noChangeArrowheads="1"/>
              </p:cNvSpPr>
              <p:nvPr>
                <p:custDataLst>
                  <p:tags r:id="rId114"/>
                </p:custDataLst>
              </p:nvPr>
            </p:nvSpPr>
            <p:spPr bwMode="auto">
              <a:xfrm>
                <a:off x="1080000" y="2607280"/>
                <a:ext cx="576000" cy="504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prstDash val="sysDash"/>
                <a:miter lim="800000"/>
              </a:ln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kumimoji="1" lang="en-US" altLang="zh-CN" sz="1800" b="1" dirty="0">
                    <a:latin typeface="宋体" panose="02010600030101010101" pitchFamily="2" charset="-122"/>
                  </a:rPr>
                  <a:t>IMEM</a:t>
                </a:r>
                <a:r>
                  <a:rPr kumimoji="1" lang="en-US" altLang="zh-CN" sz="1400" b="1" dirty="0">
                    <a:latin typeface="宋体" panose="02010600030101010101" pitchFamily="2" charset="-122"/>
                  </a:rPr>
                  <a:t>(</a:t>
                </a:r>
                <a:r>
                  <a:rPr kumimoji="1" lang="zh-CN" altLang="en-US" sz="1400" b="1" dirty="0">
                    <a:latin typeface="宋体" panose="02010600030101010101" pitchFamily="2" charset="-122"/>
                  </a:rPr>
                  <a:t>同步</a:t>
                </a:r>
                <a:r>
                  <a:rPr kumimoji="1" lang="en-US" altLang="zh-CN" sz="1400" b="1" dirty="0">
                    <a:latin typeface="宋体" panose="02010600030101010101" pitchFamily="2" charset="-122"/>
                  </a:rPr>
                  <a:t>)</a:t>
                </a:r>
                <a:endParaRPr kumimoji="1" lang="en-US" altLang="zh-CN" sz="14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95" name="直接连接符 8"/>
              <p:cNvCxnSpPr/>
              <p:nvPr>
                <p:custDataLst>
                  <p:tags r:id="rId115"/>
                </p:custDataLst>
              </p:nvPr>
            </p:nvCxnSpPr>
            <p:spPr>
              <a:xfrm flipH="1">
                <a:off x="1656464" y="2681640"/>
                <a:ext cx="288000" cy="0"/>
              </a:xfrm>
              <a:prstGeom prst="straightConnector1">
                <a:avLst/>
              </a:prstGeom>
              <a:ln w="19050">
                <a:solidFill>
                  <a:srgbClr val="CC3300"/>
                </a:solidFill>
                <a:headEnd type="none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8"/>
              <p:cNvCxnSpPr/>
              <p:nvPr>
                <p:custDataLst>
                  <p:tags r:id="rId116"/>
                </p:custDataLst>
              </p:nvPr>
            </p:nvCxnSpPr>
            <p:spPr>
              <a:xfrm flipV="1">
                <a:off x="1656464" y="2825640"/>
                <a:ext cx="288290" cy="0"/>
              </a:xfrm>
              <a:prstGeom prst="straightConnector1">
                <a:avLst/>
              </a:prstGeom>
              <a:ln w="19050">
                <a:solidFill>
                  <a:srgbClr val="3333FF"/>
                </a:solidFill>
                <a:headEnd type="none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/>
              <p:nvPr>
                <p:custDataLst>
                  <p:tags r:id="rId117"/>
                </p:custDataLst>
              </p:nvPr>
            </p:nvCxnSpPr>
            <p:spPr bwMode="auto">
              <a:xfrm flipH="1">
                <a:off x="1656464" y="2969640"/>
                <a:ext cx="288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arrow" w="med" len="sm"/>
              </a:ln>
              <a:effectLst/>
            </p:spPr>
          </p:cxnSp>
          <p:cxnSp>
            <p:nvCxnSpPr>
              <p:cNvPr id="98" name="直接连接符 97"/>
              <p:cNvCxnSpPr/>
              <p:nvPr>
                <p:custDataLst>
                  <p:tags r:id="rId118"/>
                </p:custDataLst>
              </p:nvPr>
            </p:nvCxnSpPr>
            <p:spPr bwMode="auto">
              <a:xfrm flipH="1">
                <a:off x="1656464" y="3041640"/>
                <a:ext cx="288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99" name="直接连接符 98"/>
              <p:cNvCxnSpPr/>
              <p:nvPr>
                <p:custDataLst>
                  <p:tags r:id="rId119"/>
                </p:custDataLst>
              </p:nvPr>
            </p:nvCxnSpPr>
            <p:spPr bwMode="auto">
              <a:xfrm flipH="1">
                <a:off x="2520464" y="3041640"/>
                <a:ext cx="2160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100" name="TextBox 57"/>
              <p:cNvSpPr txBox="1"/>
              <p:nvPr>
                <p:custDataLst>
                  <p:tags r:id="rId120"/>
                </p:custDataLst>
              </p:nvPr>
            </p:nvSpPr>
            <p:spPr>
              <a:xfrm>
                <a:off x="2700464" y="2933640"/>
                <a:ext cx="288000" cy="215900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1600" b="1" baseline="-18000" dirty="0">
                    <a:latin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endParaRPr lang="en-US" altLang="zh-CN" sz="1600" b="1" baseline="-18000" dirty="0">
                  <a:latin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5" name="直接连接符 154"/>
              <p:cNvCxnSpPr/>
              <p:nvPr>
                <p:custDataLst>
                  <p:tags r:id="rId121"/>
                </p:custDataLst>
              </p:nvPr>
            </p:nvCxnSpPr>
            <p:spPr>
              <a:xfrm>
                <a:off x="5111344" y="2744267"/>
                <a:ext cx="54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/>
              <p:cNvCxnSpPr/>
              <p:nvPr>
                <p:custDataLst>
                  <p:tags r:id="rId122"/>
                </p:custDataLst>
              </p:nvPr>
            </p:nvCxnSpPr>
            <p:spPr>
              <a:xfrm>
                <a:off x="5652120" y="2635200"/>
                <a:ext cx="252095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/>
              <p:cNvCxnSpPr/>
              <p:nvPr>
                <p:custDataLst>
                  <p:tags r:id="rId123"/>
                </p:custDataLst>
              </p:nvPr>
            </p:nvCxnSpPr>
            <p:spPr>
              <a:xfrm flipV="1">
                <a:off x="5652120" y="2636912"/>
                <a:ext cx="0" cy="10800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>
                <p:custDataLst>
                  <p:tags r:id="rId124"/>
                </p:custDataLst>
              </p:nvPr>
            </p:nvCxnSpPr>
            <p:spPr>
              <a:xfrm>
                <a:off x="5889914" y="2635200"/>
                <a:ext cx="612000" cy="10800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8" name="组合 137"/>
          <p:cNvGrpSpPr/>
          <p:nvPr/>
        </p:nvGrpSpPr>
        <p:grpSpPr>
          <a:xfrm>
            <a:off x="2699999" y="1771200"/>
            <a:ext cx="3958840" cy="1691900"/>
            <a:chOff x="2699999" y="4725128"/>
            <a:chExt cx="3958840" cy="1691900"/>
          </a:xfrm>
        </p:grpSpPr>
        <p:sp>
          <p:nvSpPr>
            <p:cNvPr id="154" name="Text Box 18"/>
            <p:cNvSpPr txBox="1"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5903189" y="5157368"/>
              <a:ext cx="575945" cy="28892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MUX1</a:t>
              </a:r>
              <a:endParaRPr lang="en-US" altLang="zh-CN" sz="1600" b="1" spc="-100" dirty="0">
                <a:latin typeface="宋体" panose="02010600030101010101" pitchFamily="2" charset="-122"/>
              </a:endParaRPr>
            </a:p>
          </p:txBody>
        </p:sp>
        <p:cxnSp>
          <p:nvCxnSpPr>
            <p:cNvPr id="139" name="直接连接符 138"/>
            <p:cNvCxnSpPr/>
            <p:nvPr>
              <p:custDataLst>
                <p:tags r:id="rId126"/>
              </p:custDataLst>
            </p:nvPr>
          </p:nvCxnSpPr>
          <p:spPr bwMode="auto">
            <a:xfrm flipV="1">
              <a:off x="6156000" y="5803606"/>
              <a:ext cx="0" cy="39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40" name="TextBox 47"/>
            <p:cNvSpPr txBox="1"/>
            <p:nvPr>
              <p:custDataLst>
                <p:tags r:id="rId127"/>
              </p:custDataLst>
            </p:nvPr>
          </p:nvSpPr>
          <p:spPr>
            <a:xfrm>
              <a:off x="5652000" y="6201128"/>
              <a:ext cx="756285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ALUAsrc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1" name="Text Box 18"/>
            <p:cNvSpPr txBox="1">
              <a:spLocks noChangeArrowheads="1"/>
            </p:cNvSpPr>
            <p:nvPr>
              <p:custDataLst>
                <p:tags r:id="rId128"/>
              </p:custDataLst>
            </p:nvPr>
          </p:nvSpPr>
          <p:spPr bwMode="auto">
            <a:xfrm>
              <a:off x="5904111" y="5518443"/>
              <a:ext cx="575945" cy="28892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MUX3</a:t>
              </a:r>
              <a:endParaRPr lang="en-US" altLang="zh-CN" sz="1600" b="1" spc="-100" dirty="0">
                <a:latin typeface="宋体" panose="02010600030101010101" pitchFamily="2" charset="-122"/>
              </a:endParaRPr>
            </a:p>
          </p:txBody>
        </p:sp>
        <p:cxnSp>
          <p:nvCxnSpPr>
            <p:cNvPr id="142" name="直接连接符 141"/>
            <p:cNvCxnSpPr/>
            <p:nvPr>
              <p:custDataLst>
                <p:tags r:id="rId129"/>
              </p:custDataLst>
            </p:nvPr>
          </p:nvCxnSpPr>
          <p:spPr>
            <a:xfrm>
              <a:off x="5724406" y="5733128"/>
              <a:ext cx="17970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>
              <p:custDataLst>
                <p:tags r:id="rId130"/>
              </p:custDataLst>
            </p:nvPr>
          </p:nvCxnSpPr>
          <p:spPr>
            <a:xfrm>
              <a:off x="5652016" y="5409128"/>
              <a:ext cx="25209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57"/>
            <p:cNvSpPr txBox="1"/>
            <p:nvPr>
              <p:custDataLst>
                <p:tags r:id="rId131"/>
              </p:custDataLst>
            </p:nvPr>
          </p:nvSpPr>
          <p:spPr>
            <a:xfrm>
              <a:off x="5507871" y="5301128"/>
              <a:ext cx="144145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 err="1">
                  <a:solidFill>
                    <a:srgbClr val="3333FF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600" b="1" dirty="0" err="1">
                <a:solidFill>
                  <a:srgbClr val="3333FF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5" name="直接连接符 144"/>
            <p:cNvCxnSpPr/>
            <p:nvPr>
              <p:custDataLst>
                <p:tags r:id="rId132"/>
              </p:custDataLst>
            </p:nvPr>
          </p:nvCxnSpPr>
          <p:spPr>
            <a:xfrm flipV="1">
              <a:off x="5724406" y="5121128"/>
              <a:ext cx="0" cy="61200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>
              <p:custDataLst>
                <p:tags r:id="rId133"/>
              </p:custDataLst>
            </p:nvPr>
          </p:nvCxnSpPr>
          <p:spPr>
            <a:xfrm>
              <a:off x="2699999" y="5121128"/>
              <a:ext cx="792000" cy="0"/>
            </a:xfrm>
            <a:prstGeom prst="line">
              <a:avLst/>
            </a:prstGeom>
            <a:ln w="19050">
              <a:solidFill>
                <a:srgbClr val="3333FF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>
              <p:custDataLst>
                <p:tags r:id="rId134"/>
              </p:custDataLst>
            </p:nvPr>
          </p:nvCxnSpPr>
          <p:spPr>
            <a:xfrm>
              <a:off x="6479134" y="5697118"/>
              <a:ext cx="17970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Box 24"/>
            <p:cNvSpPr txBox="1"/>
            <p:nvPr>
              <p:custDataLst>
                <p:tags r:id="rId135"/>
              </p:custDataLst>
            </p:nvPr>
          </p:nvSpPr>
          <p:spPr>
            <a:xfrm>
              <a:off x="5904000" y="5517128"/>
              <a:ext cx="144145" cy="28829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9" name="Text Box 323"/>
            <p:cNvSpPr txBox="1">
              <a:spLocks noChangeArrowheads="1"/>
            </p:cNvSpPr>
            <p:nvPr>
              <p:custDataLst>
                <p:tags r:id="rId136"/>
              </p:custDataLst>
            </p:nvPr>
          </p:nvSpPr>
          <p:spPr bwMode="auto">
            <a:xfrm>
              <a:off x="3492000" y="5010550"/>
              <a:ext cx="575945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b="1" dirty="0">
                  <a:latin typeface="宋体" panose="02010600030101010101" pitchFamily="2" charset="-122"/>
                </a:rPr>
                <a:t>CPC</a:t>
              </a:r>
              <a:endParaRPr kumimoji="1"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0" name="直接连接符 149"/>
            <p:cNvCxnSpPr/>
            <p:nvPr>
              <p:custDataLst>
                <p:tags r:id="rId137"/>
              </p:custDataLst>
            </p:nvPr>
          </p:nvCxnSpPr>
          <p:spPr>
            <a:xfrm>
              <a:off x="4068000" y="5121128"/>
              <a:ext cx="165600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>
              <p:custDataLst>
                <p:tags r:id="rId138"/>
              </p:custDataLst>
            </p:nvPr>
          </p:nvCxnSpPr>
          <p:spPr bwMode="auto">
            <a:xfrm>
              <a:off x="3779912" y="4869128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52" name="TextBox 187"/>
            <p:cNvSpPr txBox="1"/>
            <p:nvPr/>
          </p:nvSpPr>
          <p:spPr>
            <a:xfrm>
              <a:off x="3636000" y="4725128"/>
              <a:ext cx="288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P</a:t>
              </a:r>
              <a:r>
                <a:rPr lang="en-US" altLang="zh-CN" sz="1600" b="1" baseline="-18000" dirty="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endParaRPr lang="en-US" altLang="zh-CN" sz="1600" b="1" baseline="-18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3" name="TextBox 24"/>
            <p:cNvSpPr txBox="1"/>
            <p:nvPr>
              <p:custDataLst>
                <p:tags r:id="rId139"/>
              </p:custDataLst>
            </p:nvPr>
          </p:nvSpPr>
          <p:spPr>
            <a:xfrm>
              <a:off x="5903189" y="5157368"/>
              <a:ext cx="144145" cy="28829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solidFill>
                    <a:srgbClr val="9900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000" b="1" dirty="0">
                <a:solidFill>
                  <a:srgbClr val="9900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2" name="Text Box 116"/>
          <p:cNvSpPr txBox="1">
            <a:spLocks noChangeArrowheads="1"/>
          </p:cNvSpPr>
          <p:nvPr/>
        </p:nvSpPr>
        <p:spPr bwMode="auto">
          <a:xfrm>
            <a:off x="2915815" y="3573016"/>
            <a:ext cx="6014257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写</a:t>
            </a:r>
            <a:r>
              <a:rPr lang="en-US" altLang="zh-CN" sz="2200" b="1" dirty="0">
                <a:latin typeface="宋体" panose="02010600030101010101" pitchFamily="2" charset="-122"/>
              </a:rPr>
              <a:t>CPC</a:t>
            </a:r>
            <a:r>
              <a:rPr lang="zh-CN" altLang="en-US" sz="2200" b="1" dirty="0">
                <a:latin typeface="宋体" panose="02010600030101010101" pitchFamily="2" charset="-122"/>
              </a:rPr>
              <a:t>与写</a:t>
            </a:r>
            <a:r>
              <a:rPr lang="en-US" altLang="zh-CN" sz="2200" b="1" dirty="0">
                <a:latin typeface="宋体" panose="02010600030101010101" pitchFamily="2" charset="-122"/>
              </a:rPr>
              <a:t>PC</a:t>
            </a:r>
            <a:r>
              <a:rPr lang="zh-CN" altLang="en-US" sz="2200" b="1" dirty="0">
                <a:latin typeface="宋体" panose="02010600030101010101" pitchFamily="2" charset="-122"/>
              </a:rPr>
              <a:t>同时进行</a:t>
            </a:r>
            <a:r>
              <a:rPr lang="en-US" altLang="zh-CN" sz="2200" b="1" dirty="0">
                <a:latin typeface="宋体" panose="02010600030101010101" pitchFamily="2" charset="-122"/>
              </a:rPr>
              <a:t>     </a:t>
            </a:r>
            <a:r>
              <a:rPr lang="zh-CN" altLang="en-US" b="1" dirty="0">
                <a:latin typeface="宋体" panose="02010600030101010101" pitchFamily="2" charset="-122"/>
              </a:rPr>
              <a:t>←</a:t>
            </a:r>
            <a:r>
              <a:rPr lang="en-US" altLang="zh-CN" b="1" dirty="0">
                <a:latin typeface="宋体" panose="02010600030101010101" pitchFamily="2" charset="-122"/>
              </a:rPr>
              <a:t>CPC=PC</a:t>
            </a:r>
            <a:r>
              <a:rPr lang="zh-CN" altLang="en-US" b="1" dirty="0">
                <a:latin typeface="宋体" panose="02010600030101010101" pitchFamily="2" charset="-122"/>
              </a:rPr>
              <a:t>旧值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63" name="TextBox 179"/>
          <p:cNvSpPr txBox="1"/>
          <p:nvPr>
            <p:custDataLst>
              <p:tags r:id="rId140"/>
            </p:custDataLst>
          </p:nvPr>
        </p:nvSpPr>
        <p:spPr>
          <a:xfrm>
            <a:off x="5040000" y="5085308"/>
            <a:ext cx="1404000" cy="2159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写</a:t>
            </a: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CPC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(PC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旧值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2" grpId="0"/>
      <p:bldP spid="16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16"/>
          <p:cNvSpPr txBox="1">
            <a:spLocks noChangeArrowheads="1"/>
          </p:cNvSpPr>
          <p:nvPr/>
        </p:nvSpPr>
        <p:spPr bwMode="auto">
          <a:xfrm>
            <a:off x="179264" y="404664"/>
            <a:ext cx="3166992" cy="341971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*所设计的数据通路：</a:t>
            </a:r>
            <a:endParaRPr kumimoji="1"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电路组成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操作时序组织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</p:txBody>
      </p:sp>
      <p:sp>
        <p:nvSpPr>
          <p:cNvPr id="223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" name="AutoShape 32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156177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1080000" y="1332000"/>
            <a:ext cx="7812464" cy="1835900"/>
            <a:chOff x="1080000" y="1332000"/>
            <a:chExt cx="7812464" cy="1835900"/>
          </a:xfrm>
        </p:grpSpPr>
        <p:sp>
          <p:nvSpPr>
            <p:cNvPr id="172" name="Text Box 323"/>
            <p:cNvSpPr txBox="1">
              <a:spLocks noChangeArrowheads="1"/>
            </p:cNvSpPr>
            <p:nvPr/>
          </p:nvSpPr>
          <p:spPr bwMode="auto">
            <a:xfrm>
              <a:off x="1944464" y="2304000"/>
              <a:ext cx="576000" cy="504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b="1" dirty="0">
                  <a:latin typeface="宋体" panose="02010600030101010101" pitchFamily="2" charset="-122"/>
                </a:rPr>
                <a:t>IBIU</a:t>
              </a:r>
              <a:endParaRPr kumimoji="1"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75" name="直接连接符 174"/>
            <p:cNvCxnSpPr/>
            <p:nvPr>
              <p:custDataLst>
                <p:tags r:id="rId2"/>
              </p:custDataLst>
            </p:nvPr>
          </p:nvCxnSpPr>
          <p:spPr>
            <a:xfrm flipH="1">
              <a:off x="2520464" y="2376000"/>
              <a:ext cx="179705" cy="0"/>
            </a:xfrm>
            <a:prstGeom prst="line">
              <a:avLst/>
            </a:prstGeom>
            <a:ln w="19050">
              <a:solidFill>
                <a:srgbClr val="C0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>
              <p:custDataLst>
                <p:tags r:id="rId3"/>
              </p:custDataLst>
            </p:nvPr>
          </p:nvCxnSpPr>
          <p:spPr>
            <a:xfrm flipH="1">
              <a:off x="2700169" y="2052000"/>
              <a:ext cx="295" cy="324000"/>
            </a:xfrm>
            <a:prstGeom prst="line">
              <a:avLst/>
            </a:prstGeom>
            <a:ln w="19050">
              <a:solidFill>
                <a:srgbClr val="C000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>
              <p:custDataLst>
                <p:tags r:id="rId4"/>
              </p:custDataLst>
            </p:nvPr>
          </p:nvCxnSpPr>
          <p:spPr bwMode="auto">
            <a:xfrm flipV="1">
              <a:off x="2268464" y="2808000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79" name="TextBox 83"/>
            <p:cNvSpPr txBox="1"/>
            <p:nvPr>
              <p:custDataLst>
                <p:tags r:id="rId5"/>
              </p:custDataLst>
            </p:nvPr>
          </p:nvSpPr>
          <p:spPr>
            <a:xfrm>
              <a:off x="2016464" y="2952000"/>
              <a:ext cx="46800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1" name="Text Box 323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80000" y="2301640"/>
              <a:ext cx="576000" cy="504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IMEM</a:t>
              </a:r>
              <a:endParaRPr kumimoji="1" lang="en-US" altLang="zh-CN" sz="18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kumimoji="1" lang="zh-CN" altLang="en-US" sz="1400" b="1" dirty="0">
                  <a:latin typeface="宋体" panose="02010600030101010101" pitchFamily="2" charset="-122"/>
                </a:rPr>
                <a:t>同步</a:t>
              </a:r>
              <a:r>
                <a:rPr kumimoji="1" lang="en-US" altLang="zh-CN" sz="1400" b="1" dirty="0">
                  <a:latin typeface="宋体" panose="02010600030101010101" pitchFamily="2" charset="-122"/>
                </a:rPr>
                <a:t>)</a:t>
              </a:r>
              <a:endParaRPr kumimoji="1"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2" name="直接连接符 8"/>
            <p:cNvCxnSpPr/>
            <p:nvPr>
              <p:custDataLst>
                <p:tags r:id="rId7"/>
              </p:custDataLst>
            </p:nvPr>
          </p:nvCxnSpPr>
          <p:spPr>
            <a:xfrm flipH="1">
              <a:off x="1656464" y="2376000"/>
              <a:ext cx="288000" cy="0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8"/>
            <p:cNvCxnSpPr/>
            <p:nvPr>
              <p:custDataLst>
                <p:tags r:id="rId8"/>
              </p:custDataLst>
            </p:nvPr>
          </p:nvCxnSpPr>
          <p:spPr>
            <a:xfrm flipV="1">
              <a:off x="1656464" y="2520000"/>
              <a:ext cx="288290" cy="0"/>
            </a:xfrm>
            <a:prstGeom prst="straightConnector1">
              <a:avLst/>
            </a:prstGeom>
            <a:ln w="19050">
              <a:solidFill>
                <a:srgbClr val="3333FF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1656464" y="2664000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85" name="直接连接符 184"/>
            <p:cNvCxnSpPr/>
            <p:nvPr>
              <p:custDataLst>
                <p:tags r:id="rId10"/>
              </p:custDataLst>
            </p:nvPr>
          </p:nvCxnSpPr>
          <p:spPr bwMode="auto">
            <a:xfrm flipH="1">
              <a:off x="1656464" y="2736000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6" name="直接连接符 185"/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2520464" y="2736000"/>
              <a:ext cx="21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87" name="TextBox 57"/>
            <p:cNvSpPr txBox="1"/>
            <p:nvPr>
              <p:custDataLst>
                <p:tags r:id="rId12"/>
              </p:custDataLst>
            </p:nvPr>
          </p:nvSpPr>
          <p:spPr>
            <a:xfrm>
              <a:off x="2700464" y="2628000"/>
              <a:ext cx="288000" cy="215900"/>
            </a:xfrm>
            <a:prstGeom prst="rect">
              <a:avLst/>
            </a:prstGeom>
            <a:solidFill>
              <a:srgbClr val="CCFFFF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1600" b="1" baseline="-18000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600" b="1" baseline="-18000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0" name="直接连接符 189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6156000" y="2554478"/>
              <a:ext cx="0" cy="39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92" name="TextBox 47"/>
            <p:cNvSpPr txBox="1"/>
            <p:nvPr>
              <p:custDataLst>
                <p:tags r:id="rId14"/>
              </p:custDataLst>
            </p:nvPr>
          </p:nvSpPr>
          <p:spPr>
            <a:xfrm>
              <a:off x="5652000" y="2952000"/>
              <a:ext cx="756285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ALUAsrc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4" name="Text Box 1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904111" y="2269315"/>
              <a:ext cx="575945" cy="28892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MUX3</a:t>
              </a:r>
              <a:endParaRPr lang="en-US" altLang="zh-CN" sz="1600" b="1" spc="-100" dirty="0">
                <a:latin typeface="宋体" panose="02010600030101010101" pitchFamily="2" charset="-122"/>
              </a:endParaRPr>
            </a:p>
          </p:txBody>
        </p:sp>
        <p:cxnSp>
          <p:nvCxnSpPr>
            <p:cNvPr id="195" name="直接连接符 194"/>
            <p:cNvCxnSpPr/>
            <p:nvPr>
              <p:custDataLst>
                <p:tags r:id="rId16"/>
              </p:custDataLst>
            </p:nvPr>
          </p:nvCxnSpPr>
          <p:spPr>
            <a:xfrm>
              <a:off x="5724406" y="2484000"/>
              <a:ext cx="17970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>
              <p:custDataLst>
                <p:tags r:id="rId17"/>
              </p:custDataLst>
            </p:nvPr>
          </p:nvCxnSpPr>
          <p:spPr>
            <a:xfrm>
              <a:off x="5652016" y="2160000"/>
              <a:ext cx="25209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TextBox 57"/>
            <p:cNvSpPr txBox="1"/>
            <p:nvPr>
              <p:custDataLst>
                <p:tags r:id="rId18"/>
              </p:custDataLst>
            </p:nvPr>
          </p:nvSpPr>
          <p:spPr>
            <a:xfrm>
              <a:off x="5507871" y="2052000"/>
              <a:ext cx="144145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600" b="1" dirty="0" err="1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8" name="直接连接符 197"/>
            <p:cNvCxnSpPr/>
            <p:nvPr>
              <p:custDataLst>
                <p:tags r:id="rId19"/>
              </p:custDataLst>
            </p:nvPr>
          </p:nvCxnSpPr>
          <p:spPr>
            <a:xfrm flipV="1">
              <a:off x="5724406" y="1872000"/>
              <a:ext cx="0" cy="612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TextBox 57"/>
            <p:cNvSpPr txBox="1"/>
            <p:nvPr>
              <p:custDataLst>
                <p:tags r:id="rId20"/>
              </p:custDataLst>
            </p:nvPr>
          </p:nvSpPr>
          <p:spPr>
            <a:xfrm>
              <a:off x="4896464" y="2772000"/>
              <a:ext cx="288000" cy="215900"/>
            </a:xfrm>
            <a:prstGeom prst="rect">
              <a:avLst/>
            </a:prstGeom>
            <a:solidFill>
              <a:srgbClr val="CCFFFF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1600" b="1" baseline="-18000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600" b="1" baseline="-18000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1" name="TextBox 83"/>
            <p:cNvSpPr txBox="1"/>
            <p:nvPr>
              <p:custDataLst>
                <p:tags r:id="rId21"/>
              </p:custDataLst>
            </p:nvPr>
          </p:nvSpPr>
          <p:spPr>
            <a:xfrm>
              <a:off x="7776464" y="2951545"/>
              <a:ext cx="53975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MemWr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2" name="直接连接符 201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7560464" y="2808000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04" name="Text Box 323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8316464" y="2160000"/>
              <a:ext cx="576000" cy="648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DMEM</a:t>
              </a:r>
              <a:endParaRPr kumimoji="1" lang="en-US" altLang="zh-CN" sz="18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kumimoji="1"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kumimoji="1" lang="zh-CN" altLang="en-US" sz="1400" b="1" dirty="0">
                  <a:latin typeface="宋体" panose="02010600030101010101" pitchFamily="2" charset="-122"/>
                </a:rPr>
                <a:t>同步</a:t>
              </a:r>
              <a:r>
                <a:rPr kumimoji="1" lang="en-US" altLang="zh-CN" sz="1400" b="1" dirty="0">
                  <a:latin typeface="宋体" panose="02010600030101010101" pitchFamily="2" charset="-122"/>
                </a:rPr>
                <a:t>)</a:t>
              </a:r>
              <a:endParaRPr kumimoji="1"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205" name="TextBox 91"/>
            <p:cNvSpPr txBox="1"/>
            <p:nvPr>
              <p:custDataLst>
                <p:tags r:id="rId24"/>
              </p:custDataLst>
            </p:nvPr>
          </p:nvSpPr>
          <p:spPr>
            <a:xfrm>
              <a:off x="4967199" y="2951545"/>
              <a:ext cx="50419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MtoR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6" name="直接连接符 8"/>
            <p:cNvCxnSpPr/>
            <p:nvPr>
              <p:custDataLst>
                <p:tags r:id="rId25"/>
              </p:custDataLst>
            </p:nvPr>
          </p:nvCxnSpPr>
          <p:spPr>
            <a:xfrm flipV="1">
              <a:off x="7162394" y="2379410"/>
              <a:ext cx="288290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Text Box 323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535399" y="1944435"/>
              <a:ext cx="575945" cy="6121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GPRs</a:t>
              </a:r>
              <a:endParaRPr kumimoji="1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08" name="Text Box 363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093949" y="1906970"/>
              <a:ext cx="360045" cy="53975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rd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0"/>
                </a:spcBef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rs2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rs1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9" name="直接连接符 208"/>
            <p:cNvCxnSpPr/>
            <p:nvPr>
              <p:custDataLst>
                <p:tags r:id="rId28"/>
              </p:custDataLst>
            </p:nvPr>
          </p:nvCxnSpPr>
          <p:spPr bwMode="auto">
            <a:xfrm>
              <a:off x="3060464" y="1548000"/>
              <a:ext cx="0" cy="1332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0" name="直接连接符 209"/>
            <p:cNvCxnSpPr/>
            <p:nvPr>
              <p:custDataLst>
                <p:tags r:id="rId29"/>
              </p:custDataLst>
            </p:nvPr>
          </p:nvCxnSpPr>
          <p:spPr>
            <a:xfrm>
              <a:off x="5111344" y="2447355"/>
              <a:ext cx="540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AutoShape 15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 rot="16200000">
              <a:off x="6513424" y="2014920"/>
              <a:ext cx="648335" cy="361315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ALU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2" name="直接连接符 211"/>
            <p:cNvCxnSpPr/>
            <p:nvPr>
              <p:custDataLst>
                <p:tags r:id="rId31"/>
              </p:custDataLst>
            </p:nvPr>
          </p:nvCxnSpPr>
          <p:spPr>
            <a:xfrm>
              <a:off x="3057754" y="2087310"/>
              <a:ext cx="147574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>
              <p:custDataLst>
                <p:tags r:id="rId32"/>
              </p:custDataLst>
            </p:nvPr>
          </p:nvCxnSpPr>
          <p:spPr>
            <a:xfrm>
              <a:off x="3057754" y="2267015"/>
              <a:ext cx="147574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/>
            <p:cNvCxnSpPr/>
            <p:nvPr>
              <p:custDataLst>
                <p:tags r:id="rId33"/>
              </p:custDataLst>
            </p:nvPr>
          </p:nvCxnSpPr>
          <p:spPr>
            <a:xfrm>
              <a:off x="3058389" y="2447355"/>
              <a:ext cx="147574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82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4680179" y="2556575"/>
              <a:ext cx="0" cy="3962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16" name="直接连接符 215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5003394" y="2555940"/>
              <a:ext cx="0" cy="2159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7" name="直接连接符 216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6874104" y="2447355"/>
              <a:ext cx="0" cy="50419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18" name="TextBox 23"/>
            <p:cNvSpPr txBox="1"/>
            <p:nvPr>
              <p:custDataLst>
                <p:tags r:id="rId37"/>
              </p:custDataLst>
            </p:nvPr>
          </p:nvSpPr>
          <p:spPr>
            <a:xfrm>
              <a:off x="6516464" y="2951545"/>
              <a:ext cx="72009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ALUctr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9" name="TextBox 24"/>
            <p:cNvSpPr txBox="1"/>
            <p:nvPr>
              <p:custDataLst>
                <p:tags r:id="rId38"/>
              </p:custDataLst>
            </p:nvPr>
          </p:nvSpPr>
          <p:spPr>
            <a:xfrm>
              <a:off x="4391254" y="2951545"/>
              <a:ext cx="575945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RegWr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20" name="直接连接符 219"/>
            <p:cNvCxnSpPr/>
            <p:nvPr>
              <p:custDataLst>
                <p:tags r:id="rId39"/>
              </p:custDataLst>
            </p:nvPr>
          </p:nvCxnSpPr>
          <p:spPr>
            <a:xfrm>
              <a:off x="2520464" y="2520000"/>
              <a:ext cx="540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TextBox 26"/>
            <p:cNvSpPr txBox="1"/>
            <p:nvPr>
              <p:custDataLst>
                <p:tags r:id="rId40"/>
              </p:custDataLst>
            </p:nvPr>
          </p:nvSpPr>
          <p:spPr>
            <a:xfrm>
              <a:off x="2808199" y="1872000"/>
              <a:ext cx="215900" cy="648000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指令字</a:t>
              </a:r>
              <a:endParaRPr lang="zh-CN" altLang="en-US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26" name="直接连接符 225"/>
            <p:cNvCxnSpPr/>
            <p:nvPr>
              <p:custDataLst>
                <p:tags r:id="rId41"/>
              </p:custDataLst>
            </p:nvPr>
          </p:nvCxnSpPr>
          <p:spPr>
            <a:xfrm>
              <a:off x="3058389" y="2699450"/>
              <a:ext cx="431800" cy="0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Text Box 323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491459" y="2519745"/>
              <a:ext cx="575945" cy="28829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err="1">
                  <a:latin typeface="宋体" panose="02010600030101010101" pitchFamily="2" charset="-122"/>
                </a:rPr>
                <a:t>ExtU</a:t>
              </a:r>
              <a:endParaRPr kumimoji="1" lang="en-US" altLang="zh-CN" sz="1800" b="1" dirty="0" err="1">
                <a:latin typeface="宋体" panose="02010600030101010101" pitchFamily="2" charset="-122"/>
              </a:endParaRPr>
            </a:p>
          </p:txBody>
        </p:sp>
        <p:sp>
          <p:nvSpPr>
            <p:cNvPr id="230" name="Text Box 18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5903189" y="1908240"/>
              <a:ext cx="575945" cy="28892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MUX1</a:t>
              </a:r>
              <a:endParaRPr lang="en-US" altLang="zh-CN" sz="1600" b="1" spc="-100" dirty="0">
                <a:latin typeface="宋体" panose="02010600030101010101" pitchFamily="2" charset="-122"/>
              </a:endParaRPr>
            </a:p>
          </p:txBody>
        </p:sp>
        <p:cxnSp>
          <p:nvCxnSpPr>
            <p:cNvPr id="231" name="直接连接符 230"/>
            <p:cNvCxnSpPr/>
            <p:nvPr>
              <p:custDataLst>
                <p:tags r:id="rId44"/>
              </p:custDataLst>
            </p:nvPr>
          </p:nvCxnSpPr>
          <p:spPr>
            <a:xfrm>
              <a:off x="6479134" y="2015555"/>
              <a:ext cx="17970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/>
            <p:cNvCxnSpPr/>
            <p:nvPr>
              <p:custDataLst>
                <p:tags r:id="rId45"/>
              </p:custDataLst>
            </p:nvPr>
          </p:nvCxnSpPr>
          <p:spPr>
            <a:xfrm>
              <a:off x="5471389" y="2052000"/>
              <a:ext cx="4318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40"/>
            <p:cNvSpPr txBox="1"/>
            <p:nvPr>
              <p:custDataLst>
                <p:tags r:id="rId46"/>
              </p:custDataLst>
            </p:nvPr>
          </p:nvSpPr>
          <p:spPr>
            <a:xfrm>
              <a:off x="3093949" y="2483550"/>
              <a:ext cx="32385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spc="-100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imm</a:t>
              </a:r>
              <a:endParaRPr lang="en-US" altLang="zh-CN" sz="1600" b="1" spc="-100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4" name="直接连接符 233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3779749" y="2805495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35" name="TextBox 45"/>
            <p:cNvSpPr txBox="1"/>
            <p:nvPr>
              <p:custDataLst>
                <p:tags r:id="rId48"/>
              </p:custDataLst>
            </p:nvPr>
          </p:nvSpPr>
          <p:spPr>
            <a:xfrm>
              <a:off x="3491459" y="2951545"/>
              <a:ext cx="575945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Extop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6" name="TextBox 24"/>
            <p:cNvSpPr txBox="1"/>
            <p:nvPr>
              <p:custDataLst>
                <p:tags r:id="rId49"/>
              </p:custDataLst>
            </p:nvPr>
          </p:nvSpPr>
          <p:spPr>
            <a:xfrm>
              <a:off x="5903189" y="1908240"/>
              <a:ext cx="144145" cy="28829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7" name="Text Box 18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4967199" y="1512000"/>
              <a:ext cx="575945" cy="28892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>
                  <a:latin typeface="宋体" panose="02010600030101010101" pitchFamily="2" charset="-122"/>
                </a:rPr>
                <a:t>MUX2</a:t>
              </a:r>
              <a:endParaRPr lang="en-US" altLang="zh-CN" sz="1600" b="1" spc="-100" dirty="0">
                <a:latin typeface="宋体" panose="02010600030101010101" pitchFamily="2" charset="-122"/>
              </a:endParaRPr>
            </a:p>
          </p:txBody>
        </p:sp>
        <p:sp>
          <p:nvSpPr>
            <p:cNvPr id="238" name="TextBox 24"/>
            <p:cNvSpPr txBox="1"/>
            <p:nvPr>
              <p:custDataLst>
                <p:tags r:id="rId51"/>
              </p:custDataLst>
            </p:nvPr>
          </p:nvSpPr>
          <p:spPr>
            <a:xfrm>
              <a:off x="5398999" y="1512000"/>
              <a:ext cx="144145" cy="28829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9" name="直接连接符 238"/>
            <p:cNvCxnSpPr/>
            <p:nvPr>
              <p:custDataLst>
                <p:tags r:id="rId52"/>
              </p:custDataLst>
            </p:nvPr>
          </p:nvCxnSpPr>
          <p:spPr>
            <a:xfrm flipH="1">
              <a:off x="5543144" y="1728000"/>
              <a:ext cx="161988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/>
            <p:cNvCxnSpPr/>
            <p:nvPr>
              <p:custDataLst>
                <p:tags r:id="rId53"/>
              </p:custDataLst>
            </p:nvPr>
          </p:nvCxnSpPr>
          <p:spPr>
            <a:xfrm>
              <a:off x="7019519" y="2199070"/>
              <a:ext cx="14414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/>
            <p:cNvCxnSpPr/>
            <p:nvPr>
              <p:custDataLst>
                <p:tags r:id="rId54"/>
              </p:custDataLst>
            </p:nvPr>
          </p:nvCxnSpPr>
          <p:spPr>
            <a:xfrm flipV="1">
              <a:off x="7163664" y="1728000"/>
              <a:ext cx="0" cy="467995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/>
            <p:cNvCxnSpPr/>
            <p:nvPr>
              <p:custDataLst>
                <p:tags r:id="rId55"/>
              </p:custDataLst>
            </p:nvPr>
          </p:nvCxnSpPr>
          <p:spPr>
            <a:xfrm flipH="1">
              <a:off x="7163664" y="2199070"/>
              <a:ext cx="0" cy="179705"/>
            </a:xfrm>
            <a:prstGeom prst="line">
              <a:avLst/>
            </a:prstGeom>
            <a:ln w="19050">
              <a:solidFill>
                <a:srgbClr val="C000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/>
            <p:cNvCxnSpPr/>
            <p:nvPr>
              <p:custDataLst>
                <p:tags r:id="rId56"/>
              </p:custDataLst>
            </p:nvPr>
          </p:nvCxnSpPr>
          <p:spPr>
            <a:xfrm flipV="1">
              <a:off x="7740464" y="1584000"/>
              <a:ext cx="0" cy="576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/>
            <p:cNvCxnSpPr/>
            <p:nvPr>
              <p:custDataLst>
                <p:tags r:id="rId57"/>
              </p:custDataLst>
            </p:nvPr>
          </p:nvCxnSpPr>
          <p:spPr>
            <a:xfrm flipH="1">
              <a:off x="5543144" y="1584000"/>
              <a:ext cx="2196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/>
            <p:cNvCxnSpPr/>
            <p:nvPr>
              <p:custDataLst>
                <p:tags r:id="rId58"/>
              </p:custDataLst>
            </p:nvPr>
          </p:nvCxnSpPr>
          <p:spPr>
            <a:xfrm>
              <a:off x="4355059" y="1656145"/>
              <a:ext cx="61214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>
              <p:custDataLst>
                <p:tags r:id="rId59"/>
              </p:custDataLst>
            </p:nvPr>
          </p:nvCxnSpPr>
          <p:spPr>
            <a:xfrm>
              <a:off x="4355059" y="1979995"/>
              <a:ext cx="17970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/>
            <p:cNvCxnSpPr/>
            <p:nvPr>
              <p:custDataLst>
                <p:tags r:id="rId60"/>
              </p:custDataLst>
            </p:nvPr>
          </p:nvCxnSpPr>
          <p:spPr>
            <a:xfrm flipV="1">
              <a:off x="4355059" y="1656145"/>
              <a:ext cx="0" cy="32385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/>
            <p:cNvCxnSpPr/>
            <p:nvPr>
              <p:custDataLst>
                <p:tags r:id="rId61"/>
              </p:custDataLst>
            </p:nvPr>
          </p:nvCxnSpPr>
          <p:spPr>
            <a:xfrm>
              <a:off x="5363439" y="1944435"/>
              <a:ext cx="53975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>
              <p:custDataLst>
                <p:tags r:id="rId62"/>
              </p:custDataLst>
            </p:nvPr>
          </p:nvCxnSpPr>
          <p:spPr>
            <a:xfrm>
              <a:off x="5111344" y="2271460"/>
              <a:ext cx="25209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/>
            <p:nvPr>
              <p:custDataLst>
                <p:tags r:id="rId63"/>
              </p:custDataLst>
            </p:nvPr>
          </p:nvCxnSpPr>
          <p:spPr>
            <a:xfrm flipV="1">
              <a:off x="5363439" y="1944435"/>
              <a:ext cx="0" cy="32385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>
              <p:custDataLst>
                <p:tags r:id="rId64"/>
              </p:custDataLst>
            </p:nvPr>
          </p:nvCxnSpPr>
          <p:spPr>
            <a:xfrm>
              <a:off x="4067404" y="2699450"/>
              <a:ext cx="140398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>
              <p:custDataLst>
                <p:tags r:id="rId65"/>
              </p:custDataLst>
            </p:nvPr>
          </p:nvCxnSpPr>
          <p:spPr>
            <a:xfrm flipV="1">
              <a:off x="5471389" y="2052000"/>
              <a:ext cx="0" cy="648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5219294" y="1803465"/>
              <a:ext cx="0" cy="115189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54" name="直接连接符 253"/>
            <p:cNvCxnSpPr/>
            <p:nvPr>
              <p:custDataLst>
                <p:tags r:id="rId67"/>
              </p:custDataLst>
            </p:nvPr>
          </p:nvCxnSpPr>
          <p:spPr>
            <a:xfrm>
              <a:off x="5363439" y="2592135"/>
              <a:ext cx="208788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>
              <p:custDataLst>
                <p:tags r:id="rId68"/>
              </p:custDataLst>
            </p:nvPr>
          </p:nvCxnSpPr>
          <p:spPr>
            <a:xfrm>
              <a:off x="6479134" y="2447990"/>
              <a:ext cx="17970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>
              <p:custDataLst>
                <p:tags r:id="rId69"/>
              </p:custDataLst>
            </p:nvPr>
          </p:nvCxnSpPr>
          <p:spPr bwMode="auto">
            <a:xfrm>
              <a:off x="6156000" y="1800000"/>
              <a:ext cx="0" cy="1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57" name="TextBox 47"/>
            <p:cNvSpPr txBox="1"/>
            <p:nvPr>
              <p:custDataLst>
                <p:tags r:id="rId70"/>
              </p:custDataLst>
            </p:nvPr>
          </p:nvSpPr>
          <p:spPr>
            <a:xfrm>
              <a:off x="7956000" y="1692000"/>
              <a:ext cx="756285" cy="1797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ALUBsrc</a:t>
              </a:r>
              <a:endParaRPr lang="en-US" altLang="zh-CN" sz="1600" b="1" dirty="0" err="1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58" name="直接连接符 257"/>
            <p:cNvCxnSpPr/>
            <p:nvPr>
              <p:custDataLst>
                <p:tags r:id="rId71"/>
              </p:custDataLst>
            </p:nvPr>
          </p:nvCxnSpPr>
          <p:spPr>
            <a:xfrm>
              <a:off x="5364709" y="2268920"/>
              <a:ext cx="0" cy="323850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9" name="Text Box 323"/>
            <p:cNvSpPr txBox="1">
              <a:spLocks noChangeArrowheads="1"/>
            </p:cNvSpPr>
            <p:nvPr/>
          </p:nvSpPr>
          <p:spPr bwMode="auto">
            <a:xfrm>
              <a:off x="7452688" y="2160000"/>
              <a:ext cx="576000" cy="648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b="1" dirty="0">
                  <a:latin typeface="宋体" panose="02010600030101010101" pitchFamily="2" charset="-122"/>
                </a:rPr>
                <a:t>DBIU</a:t>
              </a:r>
              <a:endParaRPr kumimoji="1"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60" name="直接连接符 259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7920464" y="2808000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61" name="TextBox 83"/>
            <p:cNvSpPr txBox="1"/>
            <p:nvPr>
              <p:custDataLst>
                <p:tags r:id="rId73"/>
              </p:custDataLst>
            </p:nvPr>
          </p:nvSpPr>
          <p:spPr>
            <a:xfrm>
              <a:off x="7200464" y="2952000"/>
              <a:ext cx="53975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MemRd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62" name="直接连接符 261"/>
            <p:cNvCxnSpPr/>
            <p:nvPr>
              <p:custDataLst>
                <p:tags r:id="rId74"/>
              </p:custDataLst>
            </p:nvPr>
          </p:nvCxnSpPr>
          <p:spPr bwMode="auto">
            <a:xfrm>
              <a:off x="7236464" y="2736000"/>
              <a:ext cx="21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63" name="直接连接符 8"/>
            <p:cNvCxnSpPr/>
            <p:nvPr>
              <p:custDataLst>
                <p:tags r:id="rId75"/>
              </p:custDataLst>
            </p:nvPr>
          </p:nvCxnSpPr>
          <p:spPr>
            <a:xfrm flipV="1">
              <a:off x="8028494" y="2268000"/>
              <a:ext cx="288290" cy="0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8"/>
            <p:cNvCxnSpPr/>
            <p:nvPr>
              <p:custDataLst>
                <p:tags r:id="rId76"/>
              </p:custDataLst>
            </p:nvPr>
          </p:nvCxnSpPr>
          <p:spPr>
            <a:xfrm flipV="1">
              <a:off x="8028464" y="2376000"/>
              <a:ext cx="288290" cy="0"/>
            </a:xfrm>
            <a:prstGeom prst="straightConnector1">
              <a:avLst/>
            </a:prstGeom>
            <a:ln w="19050">
              <a:solidFill>
                <a:srgbClr val="3333FF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8"/>
            <p:cNvCxnSpPr/>
            <p:nvPr>
              <p:custDataLst>
                <p:tags r:id="rId77"/>
              </p:custDataLst>
            </p:nvPr>
          </p:nvCxnSpPr>
          <p:spPr>
            <a:xfrm flipV="1">
              <a:off x="8028464" y="2448000"/>
              <a:ext cx="288290" cy="0"/>
            </a:xfrm>
            <a:prstGeom prst="straightConnector1">
              <a:avLst/>
            </a:prstGeom>
            <a:ln w="19050">
              <a:solidFill>
                <a:srgbClr val="3333FF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/>
            <p:cNvCxnSpPr/>
            <p:nvPr>
              <p:custDataLst>
                <p:tags r:id="rId78"/>
              </p:custDataLst>
            </p:nvPr>
          </p:nvCxnSpPr>
          <p:spPr bwMode="auto">
            <a:xfrm flipV="1">
              <a:off x="8028464" y="2592000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67" name="直接连接符 266"/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8028464" y="2664000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68" name="直接连接符 267"/>
            <p:cNvCxnSpPr/>
            <p:nvPr>
              <p:custDataLst>
                <p:tags r:id="rId80"/>
              </p:custDataLst>
            </p:nvPr>
          </p:nvCxnSpPr>
          <p:spPr bwMode="auto">
            <a:xfrm>
              <a:off x="8028464" y="2736000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69" name="Text Box 323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1944464" y="1952924"/>
              <a:ext cx="575945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b="1" dirty="0">
                  <a:latin typeface="宋体" panose="02010600030101010101" pitchFamily="2" charset="-122"/>
                </a:rPr>
                <a:t>PC</a:t>
              </a:r>
              <a:endParaRPr kumimoji="1"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70" name="直接连接符 269"/>
            <p:cNvCxnSpPr/>
            <p:nvPr>
              <p:custDataLst>
                <p:tags r:id="rId82"/>
              </p:custDataLst>
            </p:nvPr>
          </p:nvCxnSpPr>
          <p:spPr>
            <a:xfrm flipH="1">
              <a:off x="2520464" y="1800000"/>
              <a:ext cx="17970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/>
            <p:cNvCxnSpPr/>
            <p:nvPr>
              <p:custDataLst>
                <p:tags r:id="rId83"/>
              </p:custDataLst>
            </p:nvPr>
          </p:nvCxnSpPr>
          <p:spPr>
            <a:xfrm flipV="1">
              <a:off x="2700464" y="1800289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TextBox 187"/>
            <p:cNvSpPr txBox="1"/>
            <p:nvPr/>
          </p:nvSpPr>
          <p:spPr>
            <a:xfrm>
              <a:off x="6984464" y="2628000"/>
              <a:ext cx="288000" cy="216024"/>
            </a:xfrm>
            <a:prstGeom prst="rect">
              <a:avLst/>
            </a:prstGeom>
            <a:solidFill>
              <a:srgbClr val="CCFFFF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P</a:t>
              </a:r>
              <a:r>
                <a:rPr lang="en-US" altLang="zh-CN" sz="1600" b="1" baseline="-18000" dirty="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endParaRPr lang="en-US" altLang="zh-CN" sz="1600" b="1" baseline="-18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73" name="Text Box 323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1944464" y="1368000"/>
              <a:ext cx="576000" cy="504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>
                  <a:latin typeface="宋体" panose="02010600030101010101" pitchFamily="2" charset="-122"/>
                </a:rPr>
                <a:t>ACU</a:t>
              </a:r>
              <a:endParaRPr kumimoji="1"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74" name="直接连接符 273"/>
            <p:cNvCxnSpPr/>
            <p:nvPr>
              <p:custDataLst>
                <p:tags r:id="rId85"/>
              </p:custDataLst>
            </p:nvPr>
          </p:nvCxnSpPr>
          <p:spPr>
            <a:xfrm flipH="1">
              <a:off x="2520464" y="1440000"/>
              <a:ext cx="464400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/>
            <p:cNvCxnSpPr/>
            <p:nvPr>
              <p:custDataLst>
                <p:tags r:id="rId86"/>
              </p:custDataLst>
            </p:nvPr>
          </p:nvCxnSpPr>
          <p:spPr>
            <a:xfrm flipV="1">
              <a:off x="7164464" y="1440000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/>
            <p:cNvCxnSpPr/>
            <p:nvPr>
              <p:custDataLst>
                <p:tags r:id="rId87"/>
              </p:custDataLst>
            </p:nvPr>
          </p:nvCxnSpPr>
          <p:spPr>
            <a:xfrm flipH="1">
              <a:off x="2520464" y="1656000"/>
              <a:ext cx="540000" cy="0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40"/>
            <p:cNvSpPr txBox="1"/>
            <p:nvPr>
              <p:custDataLst>
                <p:tags r:id="rId88"/>
              </p:custDataLst>
            </p:nvPr>
          </p:nvSpPr>
          <p:spPr>
            <a:xfrm>
              <a:off x="2700464" y="1440000"/>
              <a:ext cx="323850" cy="2159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spc="-100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imm</a:t>
              </a:r>
              <a:endParaRPr lang="en-US" altLang="zh-CN" sz="1600" b="1" spc="-100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78" name="直接连接符 277"/>
            <p:cNvCxnSpPr/>
            <p:nvPr>
              <p:custDataLst>
                <p:tags r:id="rId89"/>
              </p:custDataLst>
            </p:nvPr>
          </p:nvCxnSpPr>
          <p:spPr>
            <a:xfrm>
              <a:off x="2520464" y="2052000"/>
              <a:ext cx="180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连接符 278"/>
            <p:cNvCxnSpPr/>
            <p:nvPr>
              <p:custDataLst>
                <p:tags r:id="rId90"/>
              </p:custDataLst>
            </p:nvPr>
          </p:nvCxnSpPr>
          <p:spPr>
            <a:xfrm>
              <a:off x="1764464" y="2016000"/>
              <a:ext cx="180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/>
            <p:cNvCxnSpPr/>
            <p:nvPr>
              <p:custDataLst>
                <p:tags r:id="rId91"/>
              </p:custDataLst>
            </p:nvPr>
          </p:nvCxnSpPr>
          <p:spPr>
            <a:xfrm flipH="1" flipV="1">
              <a:off x="1764464" y="1800000"/>
              <a:ext cx="180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/>
            <p:cNvCxnSpPr/>
            <p:nvPr>
              <p:custDataLst>
                <p:tags r:id="rId92"/>
              </p:custDataLst>
            </p:nvPr>
          </p:nvCxnSpPr>
          <p:spPr>
            <a:xfrm flipV="1">
              <a:off x="1764056" y="1800000"/>
              <a:ext cx="0" cy="216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/>
            <p:cNvCxnSpPr/>
            <p:nvPr>
              <p:custDataLst>
                <p:tags r:id="rId93"/>
              </p:custDataLst>
            </p:nvPr>
          </p:nvCxnSpPr>
          <p:spPr bwMode="auto">
            <a:xfrm>
              <a:off x="1764464" y="1440000"/>
              <a:ext cx="18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83" name="直接连接符 282"/>
            <p:cNvCxnSpPr/>
            <p:nvPr>
              <p:custDataLst>
                <p:tags r:id="rId94"/>
              </p:custDataLst>
            </p:nvPr>
          </p:nvCxnSpPr>
          <p:spPr bwMode="auto">
            <a:xfrm>
              <a:off x="1764464" y="1620000"/>
              <a:ext cx="18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84" name="TextBox 81"/>
            <p:cNvSpPr txBox="1"/>
            <p:nvPr>
              <p:custDataLst>
                <p:tags r:id="rId95"/>
              </p:custDataLst>
            </p:nvPr>
          </p:nvSpPr>
          <p:spPr>
            <a:xfrm>
              <a:off x="1404016" y="1332000"/>
              <a:ext cx="360000" cy="1797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Brn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5" name="TextBox 81"/>
            <p:cNvSpPr txBox="1"/>
            <p:nvPr>
              <p:custDataLst>
                <p:tags r:id="rId96"/>
              </p:custDataLst>
            </p:nvPr>
          </p:nvSpPr>
          <p:spPr>
            <a:xfrm>
              <a:off x="1404464" y="1512000"/>
              <a:ext cx="360000" cy="1797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Jmp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86" name="直接连接符 285"/>
            <p:cNvCxnSpPr/>
            <p:nvPr>
              <p:custDataLst>
                <p:tags r:id="rId97"/>
              </p:custDataLst>
            </p:nvPr>
          </p:nvCxnSpPr>
          <p:spPr bwMode="auto">
            <a:xfrm>
              <a:off x="1692464" y="2088000"/>
              <a:ext cx="25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87" name="TextBox 187"/>
            <p:cNvSpPr txBox="1"/>
            <p:nvPr/>
          </p:nvSpPr>
          <p:spPr>
            <a:xfrm>
              <a:off x="1440464" y="1980000"/>
              <a:ext cx="288000" cy="216024"/>
            </a:xfrm>
            <a:prstGeom prst="rect">
              <a:avLst/>
            </a:prstGeom>
            <a:solidFill>
              <a:srgbClr val="CCFFFF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P</a:t>
              </a:r>
              <a:r>
                <a:rPr lang="en-US" altLang="zh-CN" sz="1600" b="1" baseline="-18000" dirty="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endParaRPr lang="en-US" altLang="zh-CN" sz="1600" b="1" baseline="-18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88" name="直接连接符 287"/>
            <p:cNvCxnSpPr/>
            <p:nvPr>
              <p:custDataLst>
                <p:tags r:id="rId98"/>
              </p:custDataLst>
            </p:nvPr>
          </p:nvCxnSpPr>
          <p:spPr>
            <a:xfrm>
              <a:off x="5652120" y="2340000"/>
              <a:ext cx="252095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/>
            <p:cNvCxnSpPr/>
            <p:nvPr>
              <p:custDataLst>
                <p:tags r:id="rId99"/>
              </p:custDataLst>
            </p:nvPr>
          </p:nvCxnSpPr>
          <p:spPr>
            <a:xfrm flipV="1">
              <a:off x="5652120" y="2340000"/>
              <a:ext cx="0" cy="10800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4"/>
            <p:cNvSpPr txBox="1"/>
            <p:nvPr>
              <p:custDataLst>
                <p:tags r:id="rId100"/>
              </p:custDataLst>
            </p:nvPr>
          </p:nvSpPr>
          <p:spPr>
            <a:xfrm>
              <a:off x="5904000" y="2268000"/>
              <a:ext cx="144145" cy="28829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0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91" name="直接连接符 290"/>
            <p:cNvCxnSpPr/>
            <p:nvPr>
              <p:custDataLst>
                <p:tags r:id="rId101"/>
              </p:custDataLst>
            </p:nvPr>
          </p:nvCxnSpPr>
          <p:spPr bwMode="auto">
            <a:xfrm flipH="1">
              <a:off x="6156000" y="1800000"/>
              <a:ext cx="176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61" name="直接连接符 160"/>
            <p:cNvCxnSpPr/>
            <p:nvPr>
              <p:custDataLst>
                <p:tags r:id="rId102"/>
              </p:custDataLst>
            </p:nvPr>
          </p:nvCxnSpPr>
          <p:spPr>
            <a:xfrm>
              <a:off x="2699999" y="1872000"/>
              <a:ext cx="7920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Text Box 323"/>
            <p:cNvSpPr txBox="1"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3492000" y="1761422"/>
              <a:ext cx="575945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b="1" dirty="0">
                  <a:latin typeface="宋体" panose="02010600030101010101" pitchFamily="2" charset="-122"/>
                </a:rPr>
                <a:t>CPC</a:t>
              </a:r>
              <a:endParaRPr kumimoji="1"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5" name="直接连接符 164"/>
            <p:cNvCxnSpPr/>
            <p:nvPr>
              <p:custDataLst>
                <p:tags r:id="rId104"/>
              </p:custDataLst>
            </p:nvPr>
          </p:nvCxnSpPr>
          <p:spPr>
            <a:xfrm>
              <a:off x="4068000" y="1872000"/>
              <a:ext cx="165600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>
              <p:custDataLst>
                <p:tags r:id="rId105"/>
              </p:custDataLst>
            </p:nvPr>
          </p:nvCxnSpPr>
          <p:spPr bwMode="auto">
            <a:xfrm>
              <a:off x="3779912" y="1620000"/>
              <a:ext cx="0" cy="14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78" name="TextBox 187"/>
            <p:cNvSpPr txBox="1"/>
            <p:nvPr/>
          </p:nvSpPr>
          <p:spPr>
            <a:xfrm>
              <a:off x="3672000" y="1440000"/>
              <a:ext cx="288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P</a:t>
              </a:r>
              <a:r>
                <a:rPr lang="en-US" altLang="zh-CN" sz="1600" b="1" baseline="-18000" dirty="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endParaRPr lang="en-US" altLang="zh-CN" sz="1600" b="1" baseline="-18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152000" y="3780000"/>
            <a:ext cx="6804000" cy="1908103"/>
            <a:chOff x="1152000" y="3780000"/>
            <a:chExt cx="6804000" cy="1908103"/>
          </a:xfrm>
        </p:grpSpPr>
        <p:sp>
          <p:nvSpPr>
            <p:cNvPr id="110" name="TextBox 109"/>
            <p:cNvSpPr txBox="1"/>
            <p:nvPr/>
          </p:nvSpPr>
          <p:spPr>
            <a:xfrm>
              <a:off x="1152000" y="4716899"/>
              <a:ext cx="1008000" cy="93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/>
              <a:r>
                <a:rPr lang="zh-CN" altLang="en-US" b="1" dirty="0">
                  <a:latin typeface="+mn-ea"/>
                  <a:ea typeface="+mn-ea"/>
                  <a:cs typeface="Times New Roman" panose="02020603050405020304" pitchFamily="18" charset="0"/>
                </a:rPr>
                <a:t>数据操作</a:t>
              </a:r>
              <a:endParaRPr lang="en-US" altLang="zh-CN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algn="r"/>
              <a:endParaRPr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algn="r">
                <a:spcBef>
                  <a:spcPts val="600"/>
                </a:spcBef>
              </a:pPr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指令寻址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18" name="直接连接符 117"/>
            <p:cNvCxnSpPr/>
            <p:nvPr/>
          </p:nvCxnSpPr>
          <p:spPr>
            <a:xfrm>
              <a:off x="3744000" y="4716103"/>
              <a:ext cx="1" cy="540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/>
            <p:cNvSpPr txBox="1"/>
            <p:nvPr/>
          </p:nvSpPr>
          <p:spPr>
            <a:xfrm>
              <a:off x="2376000" y="4752000"/>
              <a:ext cx="1368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highlight>
                    <a:srgbClr val="CCCCFF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>
                  <a:highlight>
                    <a:srgbClr val="CCCCFF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IMEM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+CU</a:t>
              </a: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输出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0" name="直接连接符 119"/>
            <p:cNvCxnSpPr/>
            <p:nvPr/>
          </p:nvCxnSpPr>
          <p:spPr>
            <a:xfrm>
              <a:off x="4831525" y="4716000"/>
              <a:ext cx="0" cy="972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/>
            <p:cNvSpPr txBox="1"/>
            <p:nvPr/>
          </p:nvSpPr>
          <p:spPr>
            <a:xfrm>
              <a:off x="3744000" y="4752000"/>
              <a:ext cx="576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GPR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2" name="直接连接符 121"/>
            <p:cNvCxnSpPr/>
            <p:nvPr/>
          </p:nvCxnSpPr>
          <p:spPr>
            <a:xfrm>
              <a:off x="3744000" y="5004931"/>
              <a:ext cx="612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/>
            <p:cNvSpPr txBox="1"/>
            <p:nvPr/>
          </p:nvSpPr>
          <p:spPr>
            <a:xfrm>
              <a:off x="4392000" y="4752000"/>
              <a:ext cx="396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ALU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5" name="直接连接符 124"/>
            <p:cNvCxnSpPr/>
            <p:nvPr/>
          </p:nvCxnSpPr>
          <p:spPr>
            <a:xfrm>
              <a:off x="4356000" y="5002478"/>
              <a:ext cx="468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>
              <a:off x="2376000" y="5004000"/>
              <a:ext cx="1368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7956000" y="4716899"/>
              <a:ext cx="0" cy="360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flipV="1">
              <a:off x="7200000" y="5004931"/>
              <a:ext cx="756000" cy="2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/>
            <p:cNvSpPr txBox="1"/>
            <p:nvPr/>
          </p:nvSpPr>
          <p:spPr>
            <a:xfrm>
              <a:off x="1296000" y="3996819"/>
              <a:ext cx="900000" cy="64807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/>
              <a:r>
                <a:rPr lang="zh-CN" altLang="en-US" b="1" dirty="0">
                  <a:latin typeface="+mn-ea"/>
                  <a:ea typeface="+mn-ea"/>
                  <a:cs typeface="Times New Roman" panose="02020603050405020304" pitchFamily="18" charset="0"/>
                </a:rPr>
                <a:t>工作 </a:t>
              </a:r>
              <a:r>
                <a:rPr lang="en-US" altLang="zh-CN" b="1" dirty="0">
                  <a:latin typeface="+mn-ea"/>
                  <a:ea typeface="+mn-ea"/>
                  <a:cs typeface="Times New Roman" panose="02020603050405020304" pitchFamily="18" charset="0"/>
                </a:rPr>
                <a:t>P0</a:t>
              </a:r>
              <a:endParaRPr lang="en-US" altLang="zh-CN" b="1" dirty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algn="r">
                <a:spcBef>
                  <a:spcPts val="600"/>
                </a:spcBef>
              </a:pPr>
              <a:r>
                <a:rPr lang="zh-CN" altLang="en-US" b="1" dirty="0">
                  <a:latin typeface="+mn-ea"/>
                  <a:ea typeface="+mn-ea"/>
                  <a:cs typeface="Times New Roman" panose="02020603050405020304" pitchFamily="18" charset="0"/>
                </a:rPr>
                <a:t>脉冲 </a:t>
              </a:r>
              <a:r>
                <a:rPr lang="en-US" altLang="zh-CN" b="1" dirty="0">
                  <a:latin typeface="+mn-ea"/>
                  <a:ea typeface="+mn-ea"/>
                  <a:cs typeface="Times New Roman" panose="02020603050405020304" pitchFamily="18" charset="0"/>
                </a:rPr>
                <a:t>P1</a:t>
              </a:r>
              <a:endParaRPr lang="zh-CN" altLang="en-US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40" name="直接连接符 139"/>
            <p:cNvCxnSpPr/>
            <p:nvPr/>
          </p:nvCxnSpPr>
          <p:spPr>
            <a:xfrm flipV="1">
              <a:off x="7200000" y="4068827"/>
              <a:ext cx="75600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7200000" y="4068851"/>
              <a:ext cx="0" cy="21600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>
              <a:off x="2376242" y="4068827"/>
              <a:ext cx="295200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 flipH="1">
              <a:off x="2376000" y="4073597"/>
              <a:ext cx="1588" cy="21600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>
              <a:off x="2232000" y="4284851"/>
              <a:ext cx="14400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 flipV="1">
              <a:off x="5328000" y="4356859"/>
              <a:ext cx="1872000" cy="24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flipH="1">
              <a:off x="5328000" y="4356883"/>
              <a:ext cx="1588" cy="21600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2376000" y="4572883"/>
              <a:ext cx="295200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 flipH="1" flipV="1">
              <a:off x="2376000" y="4104000"/>
              <a:ext cx="1608" cy="180000"/>
            </a:xfrm>
            <a:prstGeom prst="line">
              <a:avLst/>
            </a:prstGeom>
            <a:ln w="19050">
              <a:solidFill>
                <a:srgbClr val="FF3399"/>
              </a:solidFill>
              <a:headEnd type="none" w="med" len="sm"/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 flipH="1" flipV="1">
              <a:off x="5328000" y="4392000"/>
              <a:ext cx="1608" cy="180000"/>
            </a:xfrm>
            <a:prstGeom prst="line">
              <a:avLst/>
            </a:prstGeom>
            <a:ln w="19050">
              <a:solidFill>
                <a:srgbClr val="FF3399"/>
              </a:solidFill>
              <a:headEnd type="none" w="med" len="sm"/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2376000" y="3852803"/>
              <a:ext cx="0" cy="14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>
              <a:off x="7236296" y="3852803"/>
              <a:ext cx="0" cy="15504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>
              <a:off x="5328000" y="3922574"/>
              <a:ext cx="190800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 flipH="1">
              <a:off x="2376000" y="3924811"/>
              <a:ext cx="190800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153"/>
            <p:cNvSpPr txBox="1"/>
            <p:nvPr/>
          </p:nvSpPr>
          <p:spPr>
            <a:xfrm>
              <a:off x="4392000" y="3780000"/>
              <a:ext cx="864000" cy="28882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r>
                <a:rPr lang="zh-CN" altLang="en-US" sz="1600" b="1" dirty="0">
                  <a:latin typeface="+mn-ea"/>
                  <a:ea typeface="+mn-ea"/>
                  <a:cs typeface="Times New Roman" panose="02020603050405020304" pitchFamily="18" charset="0"/>
                </a:rPr>
                <a:t>指令周期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>
            <a:xfrm>
              <a:off x="5328000" y="4284851"/>
              <a:ext cx="1872208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>
              <a:off x="5328000" y="4068827"/>
              <a:ext cx="0" cy="21600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2232000" y="4356859"/>
              <a:ext cx="14400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 flipH="1">
              <a:off x="2376000" y="4356883"/>
              <a:ext cx="1588" cy="21600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>
              <a:off x="7200000" y="4356883"/>
              <a:ext cx="0" cy="21600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 flipV="1">
              <a:off x="7200000" y="4572883"/>
              <a:ext cx="756000" cy="0"/>
            </a:xfrm>
            <a:prstGeom prst="line">
              <a:avLst/>
            </a:prstGeom>
            <a:ln w="12700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2376000" y="4716103"/>
              <a:ext cx="0" cy="64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/>
            <p:cNvSpPr txBox="1"/>
            <p:nvPr/>
          </p:nvSpPr>
          <p:spPr>
            <a:xfrm>
              <a:off x="5436000" y="4752000"/>
              <a:ext cx="1008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highlight>
                    <a:srgbClr val="CCCCFF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>
                  <a:highlight>
                    <a:srgbClr val="CCCCFF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600" b="1" dirty="0">
                  <a:highlight>
                    <a:srgbClr val="CCCCFF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>
                  <a:highlight>
                    <a:srgbClr val="CCCCFF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DMEM</a:t>
              </a:r>
              <a:endParaRPr lang="zh-CN" altLang="en-US" sz="1600" b="1" dirty="0">
                <a:highlight>
                  <a:srgbClr val="CCCCFF"/>
                </a:highlight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68" name="直接连接符 167"/>
            <p:cNvCxnSpPr/>
            <p:nvPr/>
          </p:nvCxnSpPr>
          <p:spPr>
            <a:xfrm>
              <a:off x="5328000" y="4716103"/>
              <a:ext cx="0" cy="972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>
              <a:off x="7200000" y="4716899"/>
              <a:ext cx="0" cy="648072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>
              <a:off x="5328000" y="5004931"/>
              <a:ext cx="1872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172"/>
            <p:cNvSpPr txBox="1"/>
            <p:nvPr/>
          </p:nvSpPr>
          <p:spPr>
            <a:xfrm>
              <a:off x="4860000" y="5400000"/>
              <a:ext cx="396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ACU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74" name="直接连接符 173"/>
            <p:cNvCxnSpPr/>
            <p:nvPr/>
          </p:nvCxnSpPr>
          <p:spPr>
            <a:xfrm>
              <a:off x="4824000" y="5616000"/>
              <a:ext cx="504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Box 187"/>
            <p:cNvSpPr txBox="1"/>
            <p:nvPr/>
          </p:nvSpPr>
          <p:spPr>
            <a:xfrm>
              <a:off x="7200000" y="4752000"/>
              <a:ext cx="720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highlight>
                    <a:srgbClr val="CCCCFF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>
                  <a:highlight>
                    <a:srgbClr val="CCCCFF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GPRs</a:t>
              </a:r>
              <a:endParaRPr lang="zh-CN" altLang="en-US" sz="1600" b="1" dirty="0">
                <a:highlight>
                  <a:srgbClr val="CCCCFF"/>
                </a:highlight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91" name="直接连接符 190"/>
            <p:cNvCxnSpPr/>
            <p:nvPr/>
          </p:nvCxnSpPr>
          <p:spPr>
            <a:xfrm>
              <a:off x="6012000" y="5040000"/>
              <a:ext cx="0" cy="64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TextBox 192"/>
            <p:cNvSpPr txBox="1"/>
            <p:nvPr/>
          </p:nvSpPr>
          <p:spPr>
            <a:xfrm>
              <a:off x="5400000" y="5400000"/>
              <a:ext cx="504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highlight>
                    <a:srgbClr val="CCCCFF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>
                  <a:highlight>
                    <a:srgbClr val="CCCCFF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PC</a:t>
              </a:r>
              <a:endParaRPr lang="zh-CN" altLang="en-US" sz="1600" b="1" dirty="0">
                <a:highlight>
                  <a:srgbClr val="CCCCFF"/>
                </a:highlight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03" name="直接连接符 202"/>
            <p:cNvCxnSpPr/>
            <p:nvPr/>
          </p:nvCxnSpPr>
          <p:spPr>
            <a:xfrm flipV="1">
              <a:off x="5328000" y="5616000"/>
              <a:ext cx="684000" cy="2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 flipH="1" flipV="1">
              <a:off x="7200000" y="4104000"/>
              <a:ext cx="1608" cy="180000"/>
            </a:xfrm>
            <a:prstGeom prst="line">
              <a:avLst/>
            </a:prstGeom>
            <a:ln w="19050">
              <a:solidFill>
                <a:srgbClr val="FF3399"/>
              </a:solidFill>
              <a:headEnd type="none" w="med" len="sm"/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/>
            <p:nvPr/>
          </p:nvCxnSpPr>
          <p:spPr>
            <a:xfrm>
              <a:off x="4356000" y="4716000"/>
              <a:ext cx="0" cy="540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TextBox 166"/>
            <p:cNvSpPr txBox="1"/>
            <p:nvPr/>
          </p:nvSpPr>
          <p:spPr>
            <a:xfrm>
              <a:off x="6084000" y="5040000"/>
              <a:ext cx="1080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  <a:cs typeface="Times New Roman" panose="02020603050405020304" pitchFamily="18" charset="0"/>
                </a:rPr>
                <a:t>ALU(CPC+4)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89" name="直接连接符 188"/>
            <p:cNvCxnSpPr/>
            <p:nvPr/>
          </p:nvCxnSpPr>
          <p:spPr>
            <a:xfrm>
              <a:off x="6012000" y="5292000"/>
              <a:ext cx="1188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TextBox 192"/>
            <p:cNvSpPr txBox="1"/>
            <p:nvPr/>
          </p:nvSpPr>
          <p:spPr>
            <a:xfrm>
              <a:off x="5400000" y="5040000"/>
              <a:ext cx="576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highlight>
                    <a:srgbClr val="CCCCFF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>
                  <a:highlight>
                    <a:srgbClr val="CCCCFF"/>
                  </a:highlight>
                  <a:latin typeface="+mn-ea"/>
                  <a:ea typeface="+mn-ea"/>
                  <a:cs typeface="Times New Roman" panose="02020603050405020304" pitchFamily="18" charset="0"/>
                </a:rPr>
                <a:t>CPC</a:t>
              </a:r>
              <a:endParaRPr lang="zh-CN" altLang="en-US" sz="1600" b="1" dirty="0">
                <a:highlight>
                  <a:srgbClr val="CCCCFF"/>
                </a:highlight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22" name="直接连接符 221"/>
            <p:cNvCxnSpPr/>
            <p:nvPr/>
          </p:nvCxnSpPr>
          <p:spPr>
            <a:xfrm flipV="1">
              <a:off x="5328000" y="5292000"/>
              <a:ext cx="684000" cy="2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TextBox 120"/>
            <p:cNvSpPr txBox="1"/>
            <p:nvPr/>
          </p:nvSpPr>
          <p:spPr>
            <a:xfrm>
              <a:off x="3744000" y="5040000"/>
              <a:ext cx="576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  <a:cs typeface="Times New Roman" panose="02020603050405020304" pitchFamily="18" charset="0"/>
                </a:rPr>
                <a:t>ExtU</a:t>
              </a:r>
              <a:endParaRPr lang="zh-CN" altLang="en-US" sz="16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2082409" y="2493577"/>
          <a:ext cx="565794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262"/>
                <a:gridCol w="688176"/>
                <a:gridCol w="702602"/>
                <a:gridCol w="702602"/>
                <a:gridCol w="669633"/>
                <a:gridCol w="686118"/>
                <a:gridCol w="776775"/>
                <a:gridCol w="776775"/>
              </a:tblGrid>
              <a:tr h="2419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  <a:sym typeface="Symbol" panose="05050102010706020507"/>
                        </a:rPr>
                        <a:t>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  <a:sym typeface="Symbol" panose="05050102010706020507"/>
                        </a:rPr>
                        <a:t>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  <a:sym typeface="Symbol" panose="05050102010706020507"/>
                        </a:rPr>
                        <a:t>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  <a:sym typeface="Symbol" panose="05050102010706020507"/>
                        </a:rPr>
                        <a:t>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  <a:sym typeface="Symbol" panose="05050102010706020507"/>
                        </a:rPr>
                        <a:t>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</a:tr>
              <a:tr h="2419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19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199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100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631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  <a:sym typeface="Symbol" panose="05050102010706020507"/>
                        </a:rPr>
                        <a:t>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  <a:sym typeface="Symbol" panose="05050102010706020507"/>
                        </a:rPr>
                        <a:t>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631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19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</a:tr>
              <a:tr h="2661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</a:tr>
              <a:tr h="2661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19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7" name="Text Box 116"/>
          <p:cNvSpPr txBox="1">
            <a:spLocks noChangeArrowheads="1"/>
          </p:cNvSpPr>
          <p:nvPr/>
        </p:nvSpPr>
        <p:spPr bwMode="auto">
          <a:xfrm>
            <a:off x="179263" y="332656"/>
            <a:ext cx="8785225" cy="175124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kumimoji="1"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、指令执行过程的组织     </a:t>
            </a:r>
            <a:r>
              <a:rPr kumimoji="1" lang="en-US" altLang="zh-CN" b="1" dirty="0">
                <a:latin typeface="宋体" panose="02010600030101010101" pitchFamily="2" charset="-122"/>
              </a:rPr>
              <a:t>--</a:t>
            </a:r>
            <a:r>
              <a:rPr kumimoji="1" lang="zh-CN" altLang="en-US" b="1" dirty="0">
                <a:latin typeface="宋体" panose="02010600030101010101" pitchFamily="2" charset="-122"/>
              </a:rPr>
              <a:t>产生控制需求、验证设计正确性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指令执行过程的操作：</a:t>
            </a:r>
            <a:endParaRPr kumimoji="1"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kumimoji="1"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*各指令执行所需的</a:t>
            </a:r>
            <a:r>
              <a:rPr lang="en-US" altLang="zh-CN" sz="2200" dirty="0" err="1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solidFill>
                  <a:srgbClr val="C00000"/>
                </a:solidFill>
                <a:latin typeface="+mn-ea"/>
                <a:ea typeface="+mn-ea"/>
              </a:rPr>
              <a:t>OPCmd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序列</a:t>
            </a:r>
            <a:r>
              <a:rPr kumimoji="1"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：</a:t>
            </a:r>
            <a:endParaRPr kumimoji="1" lang="en-US" altLang="zh-CN" sz="2200" b="1" dirty="0">
              <a:solidFill>
                <a:srgbClr val="CC3300"/>
              </a:solidFill>
              <a:latin typeface="+mn-ea"/>
              <a:ea typeface="+mn-ea"/>
            </a:endParaRPr>
          </a:p>
        </p:txBody>
      </p:sp>
      <p:sp>
        <p:nvSpPr>
          <p:cNvPr id="8" name="Text Box 116"/>
          <p:cNvSpPr txBox="1">
            <a:spLocks noChangeArrowheads="1"/>
          </p:cNvSpPr>
          <p:nvPr/>
        </p:nvSpPr>
        <p:spPr bwMode="auto">
          <a:xfrm>
            <a:off x="3275856" y="810297"/>
            <a:ext cx="5400600" cy="12237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IME</a:t>
            </a:r>
            <a:r>
              <a:rPr lang="en-US" altLang="zh-CN" sz="2200" b="1" dirty="0">
                <a:latin typeface="+mn-ea"/>
              </a:rPr>
              <a:t>M[(PC)]</a:t>
            </a:r>
            <a:r>
              <a:rPr lang="zh-CN" altLang="en-US" sz="2200" b="1" dirty="0">
                <a:latin typeface="+mn-ea"/>
              </a:rPr>
              <a:t>→</a:t>
            </a:r>
            <a:r>
              <a:rPr lang="en-US" altLang="zh-CN" sz="2200" b="1" dirty="0">
                <a:latin typeface="+mn-ea"/>
              </a:rPr>
              <a:t>CU</a:t>
            </a:r>
            <a:r>
              <a:rPr lang="zh-CN" altLang="en-US" sz="2200" dirty="0">
                <a:latin typeface="+mn-ea"/>
              </a:rPr>
              <a:t>┬</a:t>
            </a:r>
            <a:r>
              <a:rPr lang="zh-CN" altLang="en-US" sz="2200" b="1" dirty="0">
                <a:latin typeface="+mn-ea"/>
              </a:rPr>
              <a:t>→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GPRs/ALU/BIU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等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            </a:t>
            </a:r>
            <a:r>
              <a:rPr kumimoji="1" lang="zh-CN" altLang="en-US" sz="2200" dirty="0">
                <a:latin typeface="宋体" panose="02010600030101010101" pitchFamily="2" charset="-122"/>
              </a:rPr>
              <a:t>└</a:t>
            </a:r>
            <a:r>
              <a:rPr lang="zh-CN" altLang="en-US" sz="2200" b="1" dirty="0">
                <a:latin typeface="宋体" panose="02010600030101010101" pitchFamily="2" charset="-122"/>
              </a:rPr>
              <a:t>→</a:t>
            </a:r>
            <a:r>
              <a:rPr lang="en-US" altLang="zh-CN" sz="2200" b="1" dirty="0">
                <a:latin typeface="宋体" panose="02010600030101010101" pitchFamily="2" charset="-122"/>
              </a:rPr>
              <a:t>ACU</a:t>
            </a:r>
            <a:r>
              <a:rPr lang="zh-CN" altLang="en-US" sz="2200" b="1" dirty="0">
                <a:latin typeface="宋体" panose="02010600030101010101" pitchFamily="2" charset="-122"/>
              </a:rPr>
              <a:t>→</a:t>
            </a:r>
            <a:r>
              <a:rPr lang="en-US" altLang="zh-CN" sz="2200" b="1" dirty="0">
                <a:latin typeface="宋体" panose="02010600030101010101" pitchFamily="2" charset="-122"/>
              </a:rPr>
              <a:t>PC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kumimoji="1" lang="zh-CN" altLang="en-US" sz="2200" b="1" dirty="0">
                <a:latin typeface="宋体" panose="02010600030101010101" pitchFamily="2" charset="-122"/>
              </a:rPr>
              <a:t>        仅含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1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个步骤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单周期</a:t>
            </a:r>
            <a:r>
              <a:rPr kumimoji="1" lang="en-US" altLang="zh-CN" b="1" dirty="0">
                <a:latin typeface="宋体" panose="02010600030101010101" pitchFamily="2" charset="-122"/>
              </a:rPr>
              <a:t>CPU)</a:t>
            </a:r>
            <a:r>
              <a:rPr kumimoji="1"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kumimoji="1"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0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4" y="652603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16"/>
          <p:cNvSpPr txBox="1">
            <a:spLocks noChangeArrowheads="1"/>
          </p:cNvSpPr>
          <p:nvPr/>
        </p:nvSpPr>
        <p:spPr bwMode="auto">
          <a:xfrm>
            <a:off x="1283634" y="5539683"/>
            <a:ext cx="6467181" cy="361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kumimoji="1"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如：</a:t>
            </a:r>
            <a:r>
              <a:rPr kumimoji="1" lang="en-US" altLang="zh-CN" b="1" dirty="0">
                <a:latin typeface="宋体" panose="02010600030101010101" pitchFamily="2" charset="-122"/>
              </a:rPr>
              <a:t>add</a:t>
            </a:r>
            <a:r>
              <a:rPr kumimoji="1" lang="zh-CN" altLang="en-US" b="1" dirty="0">
                <a:latin typeface="宋体" panose="02010600030101010101" pitchFamily="2" charset="-122"/>
              </a:rPr>
              <a:t>的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b="1" dirty="0" err="1">
                <a:latin typeface="宋体" panose="02010600030101010101" pitchFamily="2" charset="-122"/>
              </a:rPr>
              <a:t>OPCmd</a:t>
            </a:r>
            <a:r>
              <a:rPr lang="zh-CN" altLang="en-US" b="1" dirty="0">
                <a:latin typeface="宋体" panose="02010600030101010101" pitchFamily="2" charset="-122"/>
              </a:rPr>
              <a:t>序列为</a:t>
            </a:r>
            <a:r>
              <a:rPr lang="en-US" altLang="zh-CN" b="1" dirty="0" err="1">
                <a:latin typeface="宋体" panose="02010600030101010101" pitchFamily="2" charset="-122"/>
              </a:rPr>
              <a:t>ALUctr</a:t>
            </a:r>
            <a:r>
              <a:rPr lang="en-US" altLang="zh-CN" b="1" dirty="0">
                <a:latin typeface="宋体" panose="02010600030101010101" pitchFamily="2" charset="-122"/>
              </a:rPr>
              <a:t>=000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 err="1">
                <a:latin typeface="宋体" panose="02010600030101010101" pitchFamily="2" charset="-122"/>
              </a:rPr>
              <a:t>RegWr</a:t>
            </a:r>
            <a:endParaRPr kumimoji="1"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6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187624" y="2119231"/>
          <a:ext cx="6563191" cy="3384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248"/>
                <a:gridCol w="655262"/>
                <a:gridCol w="688176"/>
                <a:gridCol w="702602"/>
                <a:gridCol w="702602"/>
                <a:gridCol w="669633"/>
                <a:gridCol w="686118"/>
                <a:gridCol w="776775"/>
                <a:gridCol w="776775"/>
              </a:tblGrid>
              <a:tr h="369711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指令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>
                        <a:lnSpc>
                          <a:spcPct val="5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信号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add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sub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slt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ori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lw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sw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beq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jal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24199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Extop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9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ALUAsrc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9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ALUBsrc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ALUctr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31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MtoR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31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RegWr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RemRd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1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MemWr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1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Brn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Jmp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1465">
                <a:tc gridSpan="9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注：</a:t>
                      </a:r>
                      <a:r>
                        <a:rPr lang="zh-CN" altLang="en-US" sz="1600" b="1" dirty="0">
                          <a:solidFill>
                            <a:srgbClr val="3333FF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路径无关的控制信号</a:t>
                      </a:r>
                      <a:r>
                        <a:rPr lang="en-US" altLang="zh-CN" sz="1600" b="1" dirty="0">
                          <a:solidFill>
                            <a:srgbClr val="3333FF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—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时序逻辑部件为无效值，其余为任意值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0" marR="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92" name="Text Box 78"/>
          <p:cNvSpPr txBox="1">
            <a:spLocks noChangeArrowheads="1"/>
          </p:cNvSpPr>
          <p:nvPr/>
        </p:nvSpPr>
        <p:spPr bwMode="auto">
          <a:xfrm>
            <a:off x="179388" y="416277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四、控制单元设计    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93" name="Text Box 116"/>
          <p:cNvSpPr txBox="1">
            <a:spLocks noChangeArrowheads="1"/>
          </p:cNvSpPr>
          <p:nvPr/>
        </p:nvSpPr>
        <p:spPr bwMode="auto">
          <a:xfrm>
            <a:off x="179263" y="908720"/>
            <a:ext cx="8785225" cy="9341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kumimoji="1"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、形成状态转换图  </a:t>
            </a:r>
            <a:r>
              <a:rPr kumimoji="1" lang="en-US" altLang="zh-CN" sz="1800" b="1" dirty="0">
                <a:latin typeface="宋体" panose="02010600030101010101" pitchFamily="2" charset="-122"/>
              </a:rPr>
              <a:t>(</a:t>
            </a:r>
            <a:r>
              <a:rPr kumimoji="1" lang="zh-CN" altLang="en-US" sz="1800" b="1" dirty="0">
                <a:latin typeface="宋体" panose="02010600030101010101" pitchFamily="2" charset="-122"/>
              </a:rPr>
              <a:t>基于数据通路、指令功能</a:t>
            </a:r>
            <a:r>
              <a:rPr kumimoji="1" lang="en-US" altLang="zh-CN" sz="1800" b="1" dirty="0">
                <a:latin typeface="宋体" panose="02010600030101010101" pitchFamily="2" charset="-122"/>
              </a:rPr>
              <a:t>)</a:t>
            </a:r>
            <a:r>
              <a:rPr kumimoji="1" lang="en-US" altLang="zh-CN" sz="2000" b="1" dirty="0">
                <a:latin typeface="宋体" panose="02010600030101010101" pitchFamily="2" charset="-122"/>
              </a:rPr>
              <a:t>       </a:t>
            </a:r>
            <a:r>
              <a:rPr kumimoji="1"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--</a:t>
            </a:r>
            <a:r>
              <a:rPr kumimoji="1"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形成</a:t>
            </a:r>
            <a:r>
              <a:rPr kumimoji="1"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CU</a:t>
            </a:r>
            <a:r>
              <a:rPr kumimoji="1"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需求</a:t>
            </a:r>
            <a:endParaRPr kumimoji="1" lang="en-US" altLang="zh-CN" sz="24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 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汇总各指令的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OPCmd</a:t>
            </a:r>
            <a:r>
              <a:rPr lang="zh-CN" altLang="en-US" sz="2200" b="1" dirty="0">
                <a:latin typeface="宋体" panose="02010600030101010101" pitchFamily="2" charset="-122"/>
              </a:rPr>
              <a:t>序列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单周期</a:t>
            </a:r>
            <a:r>
              <a:rPr lang="en-US" altLang="zh-CN" b="1" dirty="0">
                <a:latin typeface="宋体" panose="02010600030101010101" pitchFamily="2" charset="-122"/>
              </a:rPr>
              <a:t>CPU</a:t>
            </a:r>
            <a:r>
              <a:rPr lang="zh-CN" altLang="en-US" b="1" dirty="0">
                <a:latin typeface="宋体" panose="02010600030101010101" pitchFamily="2" charset="-122"/>
              </a:rPr>
              <a:t>仅</a:t>
            </a:r>
            <a:r>
              <a:rPr lang="en-US" altLang="zh-CN" b="1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个步骤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      </a:t>
            </a:r>
            <a:r>
              <a:rPr lang="zh-CN" altLang="en-US" b="1" dirty="0">
                <a:latin typeface="宋体" panose="02010600030101010101" pitchFamily="2" charset="-122"/>
              </a:rPr>
              <a:t>←无中断周期</a:t>
            </a:r>
            <a:endParaRPr kumimoji="1"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28" name="Text Box 116"/>
          <p:cNvSpPr txBox="1">
            <a:spLocks noChangeArrowheads="1"/>
          </p:cNvSpPr>
          <p:nvPr/>
        </p:nvSpPr>
        <p:spPr bwMode="auto">
          <a:xfrm>
            <a:off x="179512" y="3353687"/>
            <a:ext cx="6143252" cy="17654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kumimoji="1"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、组织时序系统    </a:t>
            </a:r>
            <a:r>
              <a:rPr kumimoji="1" lang="en-US" altLang="zh-CN" sz="1800" b="1" dirty="0">
                <a:latin typeface="宋体" panose="02010600030101010101" pitchFamily="2" charset="-122"/>
              </a:rPr>
              <a:t>(</a:t>
            </a:r>
            <a:r>
              <a:rPr kumimoji="1" lang="zh-CN" altLang="en-US" sz="1800" b="1" dirty="0">
                <a:latin typeface="宋体" panose="02010600030101010101" pitchFamily="2" charset="-122"/>
              </a:rPr>
              <a:t>基于状态转换图</a:t>
            </a:r>
            <a:r>
              <a:rPr kumimoji="1" lang="en-US" altLang="zh-CN" sz="1800" b="1" dirty="0">
                <a:latin typeface="宋体" panose="02010600030101010101" pitchFamily="2" charset="-122"/>
              </a:rPr>
              <a:t>)</a:t>
            </a:r>
            <a:endParaRPr kumimoji="1"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*时序信号个数：</a:t>
            </a:r>
            <a:endParaRPr kumimoji="1"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*时序信号定时方式：</a:t>
            </a:r>
            <a:endParaRPr kumimoji="1"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*时序信号序列组成：</a:t>
            </a:r>
            <a:endParaRPr kumimoji="1"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29" name="Text Box 116"/>
          <p:cNvSpPr txBox="1">
            <a:spLocks noChangeArrowheads="1"/>
          </p:cNvSpPr>
          <p:nvPr/>
        </p:nvSpPr>
        <p:spPr bwMode="auto">
          <a:xfrm>
            <a:off x="2484189" y="3823200"/>
            <a:ext cx="6480298" cy="1303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个工作脉冲</a:t>
            </a:r>
            <a:r>
              <a:rPr lang="en-US" altLang="zh-CN" b="1" dirty="0">
                <a:latin typeface="宋体" panose="02010600030101010101" pitchFamily="2" charset="-122"/>
              </a:rPr>
              <a:t>(DP</a:t>
            </a:r>
            <a:r>
              <a:rPr lang="zh-CN" altLang="en-US" b="1" dirty="0">
                <a:latin typeface="宋体" panose="02010600030101010101" pitchFamily="2" charset="-122"/>
              </a:rPr>
              <a:t>所需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</a:rPr>
              <a:t>       </a:t>
            </a:r>
            <a:r>
              <a:rPr lang="zh-CN" altLang="en-US" b="1" dirty="0">
                <a:latin typeface="宋体" panose="02010600030101010101" pitchFamily="2" charset="-122"/>
              </a:rPr>
              <a:t>←无节拍信号</a:t>
            </a:r>
            <a:r>
              <a:rPr lang="en-US" altLang="zh-CN" b="1" dirty="0">
                <a:latin typeface="宋体" panose="02010600030101010101" pitchFamily="2" charset="-122"/>
              </a:rPr>
              <a:t>(1</a:t>
            </a:r>
            <a:r>
              <a:rPr lang="zh-CN" altLang="en-US" b="1" dirty="0">
                <a:latin typeface="宋体" panose="02010600030101010101" pitchFamily="2" charset="-122"/>
              </a:rPr>
              <a:t>级时序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latin typeface="宋体" panose="02010600030101010101" pitchFamily="2" charset="-122"/>
              </a:rPr>
              <a:t>    同步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设计要求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max{T</a:t>
            </a:r>
            <a:r>
              <a:rPr lang="zh-CN" altLang="en-US" sz="2200" b="1" baseline="-18000" dirty="0">
                <a:latin typeface="宋体" panose="02010600030101010101" pitchFamily="2" charset="-122"/>
              </a:rPr>
              <a:t>指令</a:t>
            </a:r>
            <a:r>
              <a:rPr lang="en-US" altLang="zh-CN" sz="2200" b="1" baseline="-18000" dirty="0" err="1">
                <a:latin typeface="宋体" panose="02010600030101010101" pitchFamily="2" charset="-122"/>
              </a:rPr>
              <a:t>i</a:t>
            </a:r>
            <a:r>
              <a:rPr lang="en-US" altLang="zh-CN" sz="2200" b="1" dirty="0">
                <a:latin typeface="宋体" panose="02010600030101010101" pitchFamily="2" charset="-122"/>
              </a:rPr>
              <a:t>}</a:t>
            </a:r>
            <a:endParaRPr lang="en-US" altLang="zh-CN" sz="2200" b="1" baseline="-1800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en-US" altLang="zh-CN" sz="2200" b="1" dirty="0">
                <a:latin typeface="宋体" panose="02010600030101010101" pitchFamily="2" charset="-122"/>
              </a:rPr>
              <a:t>    1</a:t>
            </a:r>
            <a:r>
              <a:rPr lang="zh-CN" altLang="en-US" sz="2200" b="1" dirty="0">
                <a:latin typeface="宋体" panose="02010600030101010101" pitchFamily="2" charset="-122"/>
              </a:rPr>
              <a:t>种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复位时全无效、工作时轮流有效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32" name="Text Box 116"/>
          <p:cNvSpPr txBox="1">
            <a:spLocks noChangeArrowheads="1"/>
          </p:cNvSpPr>
          <p:nvPr/>
        </p:nvSpPr>
        <p:spPr bwMode="auto">
          <a:xfrm>
            <a:off x="179263" y="5141112"/>
            <a:ext cx="8785225" cy="9521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kumimoji="1"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、设计</a:t>
            </a:r>
            <a:r>
              <a:rPr kumimoji="1"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ID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          </a:t>
            </a:r>
            <a:r>
              <a:rPr kumimoji="1" lang="en-US" altLang="zh-CN" sz="1800" b="1" dirty="0">
                <a:latin typeface="宋体" panose="02010600030101010101" pitchFamily="2" charset="-122"/>
              </a:rPr>
              <a:t>(</a:t>
            </a:r>
            <a:r>
              <a:rPr kumimoji="1" lang="zh-CN" altLang="en-US" sz="1800" b="1" dirty="0">
                <a:latin typeface="宋体" panose="02010600030101010101" pitchFamily="2" charset="-122"/>
              </a:rPr>
              <a:t>基于指令格式</a:t>
            </a:r>
            <a:r>
              <a:rPr kumimoji="1" lang="en-US" altLang="zh-CN" sz="1800" b="1" dirty="0">
                <a:latin typeface="宋体" panose="02010600030101010101" pitchFamily="2" charset="-122"/>
              </a:rPr>
              <a:t>)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  </a:t>
            </a:r>
            <a:endParaRPr kumimoji="1" lang="en-US" altLang="zh-CN" sz="24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 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用译码器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+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门电路实现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≤</a:t>
            </a:r>
            <a:r>
              <a:rPr kumimoji="1" lang="en-US" altLang="zh-CN" b="1" dirty="0">
                <a:latin typeface="宋体" panose="02010600030101010101" pitchFamily="2" charset="-122"/>
              </a:rPr>
              <a:t>1</a:t>
            </a:r>
            <a:r>
              <a:rPr kumimoji="1" lang="zh-CN" altLang="en-US" b="1" dirty="0">
                <a:latin typeface="宋体" panose="02010600030101010101" pitchFamily="2" charset="-122"/>
              </a:rPr>
              <a:t>个输出有效</a:t>
            </a:r>
            <a:r>
              <a:rPr kumimoji="1" lang="en-US" altLang="zh-CN" b="1" dirty="0">
                <a:latin typeface="宋体" panose="02010600030101010101" pitchFamily="2" charset="-122"/>
              </a:rPr>
              <a:t>[</a:t>
            </a:r>
            <a:r>
              <a:rPr kumimoji="1" lang="zh-CN" altLang="en-US" b="1" dirty="0">
                <a:latin typeface="宋体" panose="02010600030101010101" pitchFamily="2" charset="-122"/>
              </a:rPr>
              <a:t>非法指令时全部无效</a:t>
            </a:r>
            <a:r>
              <a:rPr kumimoji="1" lang="en-US" altLang="zh-CN" b="1" dirty="0">
                <a:latin typeface="宋体" panose="02010600030101010101" pitchFamily="2" charset="-122"/>
              </a:rPr>
              <a:t>])</a:t>
            </a:r>
            <a:endParaRPr kumimoji="1"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33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1908051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34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1041898" y="1916984"/>
            <a:ext cx="6626346" cy="1368000"/>
            <a:chOff x="1189" y="3005"/>
            <a:chExt cx="10435" cy="2154"/>
          </a:xfrm>
        </p:grpSpPr>
        <p:cxnSp>
          <p:nvCxnSpPr>
            <p:cNvPr id="51" name="直接箭头连接符 50"/>
            <p:cNvCxnSpPr/>
            <p:nvPr>
              <p:custDataLst>
                <p:tags r:id="rId3"/>
              </p:custDataLst>
            </p:nvPr>
          </p:nvCxnSpPr>
          <p:spPr bwMode="auto">
            <a:xfrm flipH="1">
              <a:off x="9413" y="3175"/>
              <a:ext cx="221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2" name="Text Box 132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89" y="4082"/>
              <a:ext cx="1134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sz="1600" b="1" dirty="0">
                  <a:latin typeface="宋体" panose="02010600030101010101" pitchFamily="2" charset="-122"/>
                </a:rPr>
                <a:t>add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>
                  <a:sym typeface="+mn-ea"/>
                </a:rPr>
                <a:t>μ</a:t>
              </a:r>
              <a:r>
                <a:rPr lang="en-US" altLang="zh-CN" sz="1600" b="1" dirty="0" err="1">
                  <a:latin typeface="+mn-ea"/>
                  <a:sym typeface="+mn-ea"/>
                </a:rPr>
                <a:t>OPCmd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3" name="Text Box 132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422" y="3005"/>
              <a:ext cx="4989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取指令无</a:t>
              </a:r>
              <a:r>
                <a:rPr lang="en-US" altLang="zh-CN" sz="1600" dirty="0" err="1">
                  <a:sym typeface="+mn-ea"/>
                </a:rPr>
                <a:t>μ</a:t>
              </a:r>
              <a:r>
                <a:rPr lang="en-US" altLang="zh-CN" sz="1600" b="1" dirty="0" err="1">
                  <a:latin typeface="+mn-ea"/>
                  <a:sym typeface="+mn-ea"/>
                </a:rPr>
                <a:t>OPCmd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+mn-ea"/>
                  <a:ea typeface="+mn-ea"/>
                </a:rPr>
                <a:t>由</a:t>
              </a:r>
              <a:r>
                <a:rPr lang="en-US" altLang="zh-CN" sz="1600" b="1" dirty="0">
                  <a:latin typeface="+mn-ea"/>
                  <a:ea typeface="+mn-ea"/>
                </a:rPr>
                <a:t>PC</a:t>
              </a:r>
              <a:r>
                <a:rPr lang="zh-CN" altLang="en-US" sz="1600" b="1" dirty="0">
                  <a:latin typeface="+mn-ea"/>
                  <a:ea typeface="+mn-ea"/>
                </a:rPr>
                <a:t>值改变触发</a:t>
              </a:r>
              <a:r>
                <a:rPr lang="en-US" altLang="zh-CN" sz="1600" b="1" dirty="0">
                  <a:latin typeface="+mn-ea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4" name="直接箭头连接符 53"/>
            <p:cNvCxnSpPr/>
            <p:nvPr>
              <p:custDataLst>
                <p:tags r:id="rId6"/>
              </p:custDataLst>
            </p:nvPr>
          </p:nvCxnSpPr>
          <p:spPr bwMode="auto">
            <a:xfrm>
              <a:off x="1701" y="3685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5" name="Text Box 14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759" y="3682"/>
              <a:ext cx="62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add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6" name="直接箭头连接符 55"/>
            <p:cNvCxnSpPr/>
            <p:nvPr>
              <p:custDataLst>
                <p:tags r:id="rId8"/>
              </p:custDataLst>
            </p:nvPr>
          </p:nvCxnSpPr>
          <p:spPr bwMode="auto">
            <a:xfrm>
              <a:off x="1646" y="5159"/>
              <a:ext cx="997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7" name="直接箭头连接符 56"/>
            <p:cNvCxnSpPr/>
            <p:nvPr>
              <p:custDataLst>
                <p:tags r:id="rId9"/>
              </p:custDataLst>
            </p:nvPr>
          </p:nvCxnSpPr>
          <p:spPr bwMode="auto">
            <a:xfrm>
              <a:off x="1644" y="4819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8" name="直接箭头连接符 57"/>
            <p:cNvCxnSpPr/>
            <p:nvPr>
              <p:custDataLst>
                <p:tags r:id="rId10"/>
              </p:custDataLst>
            </p:nvPr>
          </p:nvCxnSpPr>
          <p:spPr bwMode="auto">
            <a:xfrm>
              <a:off x="3005" y="4819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直接箭头连接符 58"/>
            <p:cNvCxnSpPr/>
            <p:nvPr>
              <p:custDataLst>
                <p:tags r:id="rId11"/>
              </p:custDataLst>
            </p:nvPr>
          </p:nvCxnSpPr>
          <p:spPr bwMode="auto">
            <a:xfrm>
              <a:off x="5613" y="4819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" name="直接箭头连接符 59"/>
            <p:cNvCxnSpPr/>
            <p:nvPr>
              <p:custDataLst>
                <p:tags r:id="rId12"/>
              </p:custDataLst>
            </p:nvPr>
          </p:nvCxnSpPr>
          <p:spPr bwMode="auto">
            <a:xfrm>
              <a:off x="6917" y="4819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13"/>
              </p:custDataLst>
            </p:nvPr>
          </p:nvCxnSpPr>
          <p:spPr bwMode="auto">
            <a:xfrm>
              <a:off x="10828" y="4819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14"/>
              </p:custDataLst>
            </p:nvPr>
          </p:nvCxnSpPr>
          <p:spPr bwMode="auto">
            <a:xfrm>
              <a:off x="9524" y="4819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3" name="直接箭头连接符 62"/>
            <p:cNvCxnSpPr/>
            <p:nvPr>
              <p:custDataLst>
                <p:tags r:id="rId15"/>
              </p:custDataLst>
            </p:nvPr>
          </p:nvCxnSpPr>
          <p:spPr bwMode="auto">
            <a:xfrm>
              <a:off x="11624" y="3175"/>
              <a:ext cx="0" cy="198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4" name="直接箭头连接符 63"/>
            <p:cNvCxnSpPr/>
            <p:nvPr>
              <p:custDataLst>
                <p:tags r:id="rId16"/>
              </p:custDataLst>
            </p:nvPr>
          </p:nvCxnSpPr>
          <p:spPr bwMode="auto">
            <a:xfrm>
              <a:off x="1701" y="3685"/>
              <a:ext cx="912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5" name="直接箭头连接符 64"/>
            <p:cNvCxnSpPr/>
            <p:nvPr>
              <p:custDataLst>
                <p:tags r:id="rId17"/>
              </p:custDataLst>
            </p:nvPr>
          </p:nvCxnSpPr>
          <p:spPr bwMode="auto">
            <a:xfrm>
              <a:off x="6917" y="3345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18"/>
              </p:custDataLst>
            </p:nvPr>
          </p:nvCxnSpPr>
          <p:spPr bwMode="auto">
            <a:xfrm>
              <a:off x="3007" y="3685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7" name="Text Box 147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061" y="3682"/>
              <a:ext cx="62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sub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8" name="Text Box 132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494" y="4082"/>
              <a:ext cx="1134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sub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>
                  <a:sym typeface="+mn-ea"/>
                </a:rPr>
                <a:t>μ</a:t>
              </a:r>
              <a:r>
                <a:rPr lang="en-US" altLang="zh-CN" sz="1600" b="1" dirty="0" err="1">
                  <a:latin typeface="+mn-ea"/>
                  <a:sym typeface="+mn-ea"/>
                </a:rPr>
                <a:t>OPCmd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9" name="直接箭头连接符 68"/>
            <p:cNvCxnSpPr/>
            <p:nvPr>
              <p:custDataLst>
                <p:tags r:id="rId21"/>
              </p:custDataLst>
            </p:nvPr>
          </p:nvCxnSpPr>
          <p:spPr bwMode="auto">
            <a:xfrm>
              <a:off x="4311" y="3685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0" name="Text Box 14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365" y="3682"/>
              <a:ext cx="62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slt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1" name="Text Box 132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798" y="4082"/>
              <a:ext cx="1134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sz="1600" b="1" dirty="0" err="1">
                  <a:latin typeface="宋体" panose="02010600030101010101" pitchFamily="2" charset="-122"/>
                </a:rPr>
                <a:t>slt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>
                  <a:sym typeface="+mn-ea"/>
                </a:rPr>
                <a:t>μ</a:t>
              </a:r>
              <a:r>
                <a:rPr lang="en-US" altLang="zh-CN" sz="1600" b="1" dirty="0" err="1">
                  <a:latin typeface="+mn-ea"/>
                  <a:sym typeface="+mn-ea"/>
                </a:rPr>
                <a:t>OPCmd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2" name="直接箭头连接符 71"/>
            <p:cNvCxnSpPr/>
            <p:nvPr>
              <p:custDataLst>
                <p:tags r:id="rId24"/>
              </p:custDataLst>
            </p:nvPr>
          </p:nvCxnSpPr>
          <p:spPr bwMode="auto">
            <a:xfrm>
              <a:off x="5615" y="3685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3" name="Text Box 147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669" y="3682"/>
              <a:ext cx="62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ori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4" name="Text Box 132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102" y="4082"/>
              <a:ext cx="1134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sz="1600" b="1" dirty="0">
                  <a:latin typeface="宋体" panose="02010600030101010101" pitchFamily="2" charset="-122"/>
                </a:rPr>
                <a:t>ori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>
                  <a:sym typeface="+mn-ea"/>
                </a:rPr>
                <a:t>μ</a:t>
              </a:r>
              <a:r>
                <a:rPr lang="en-US" altLang="zh-CN" sz="1600" b="1" dirty="0" err="1">
                  <a:latin typeface="+mn-ea"/>
                  <a:sym typeface="+mn-ea"/>
                </a:rPr>
                <a:t>OPCmd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5" name="直接箭头连接符 74"/>
            <p:cNvCxnSpPr/>
            <p:nvPr>
              <p:custDataLst>
                <p:tags r:id="rId27"/>
              </p:custDataLst>
            </p:nvPr>
          </p:nvCxnSpPr>
          <p:spPr bwMode="auto">
            <a:xfrm>
              <a:off x="6919" y="3685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6" name="Text Box 147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973" y="3682"/>
              <a:ext cx="62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lw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7" name="Text Box 132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406" y="4082"/>
              <a:ext cx="1134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sz="1600" b="1" dirty="0" err="1">
                  <a:latin typeface="宋体" panose="02010600030101010101" pitchFamily="2" charset="-122"/>
                </a:rPr>
                <a:t>lw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>
                  <a:sym typeface="+mn-ea"/>
                </a:rPr>
                <a:t>μ</a:t>
              </a:r>
              <a:r>
                <a:rPr lang="en-US" altLang="zh-CN" sz="1600" b="1" dirty="0" err="1">
                  <a:latin typeface="+mn-ea"/>
                  <a:sym typeface="+mn-ea"/>
                </a:rPr>
                <a:t>OPCmd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8" name="直接箭头连接符 77"/>
            <p:cNvCxnSpPr/>
            <p:nvPr>
              <p:custDataLst>
                <p:tags r:id="rId30"/>
              </p:custDataLst>
            </p:nvPr>
          </p:nvCxnSpPr>
          <p:spPr bwMode="auto">
            <a:xfrm>
              <a:off x="8223" y="3685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9" name="Text Box 147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8277" y="3682"/>
              <a:ext cx="62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0" name="Text Box 132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7710" y="4082"/>
              <a:ext cx="1134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sz="1600" b="1" dirty="0" err="1">
                  <a:latin typeface="宋体" panose="02010600030101010101" pitchFamily="2" charset="-122"/>
                </a:rPr>
                <a:t>sw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>
                  <a:sym typeface="+mn-ea"/>
                </a:rPr>
                <a:t>μ</a:t>
              </a:r>
              <a:r>
                <a:rPr lang="en-US" altLang="zh-CN" sz="1600" b="1" dirty="0" err="1">
                  <a:latin typeface="+mn-ea"/>
                  <a:sym typeface="+mn-ea"/>
                </a:rPr>
                <a:t>OPCmd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1" name="直接箭头连接符 80"/>
            <p:cNvCxnSpPr/>
            <p:nvPr>
              <p:custDataLst>
                <p:tags r:id="rId33"/>
              </p:custDataLst>
            </p:nvPr>
          </p:nvCxnSpPr>
          <p:spPr bwMode="auto">
            <a:xfrm>
              <a:off x="9527" y="3685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2" name="Text Box 147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9581" y="3682"/>
              <a:ext cx="62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beq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3" name="Text Box 132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9014" y="4082"/>
              <a:ext cx="1134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sz="1600" b="1" dirty="0" err="1">
                  <a:latin typeface="宋体" panose="02010600030101010101" pitchFamily="2" charset="-122"/>
                </a:rPr>
                <a:t>beq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>
                  <a:sym typeface="+mn-ea"/>
                </a:rPr>
                <a:t>μ</a:t>
              </a:r>
              <a:r>
                <a:rPr lang="en-US" altLang="zh-CN" sz="1600" b="1" dirty="0" err="1">
                  <a:latin typeface="+mn-ea"/>
                  <a:sym typeface="+mn-ea"/>
                </a:rPr>
                <a:t>OPCmd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4" name="直接箭头连接符 83"/>
            <p:cNvCxnSpPr/>
            <p:nvPr>
              <p:custDataLst>
                <p:tags r:id="rId36"/>
              </p:custDataLst>
            </p:nvPr>
          </p:nvCxnSpPr>
          <p:spPr bwMode="auto">
            <a:xfrm>
              <a:off x="10831" y="3685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5" name="Text Box 147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0885" y="3682"/>
              <a:ext cx="62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jal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6" name="Text Box 132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0318" y="4082"/>
              <a:ext cx="1134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sz="1600" b="1" dirty="0" err="1">
                  <a:latin typeface="宋体" panose="02010600030101010101" pitchFamily="2" charset="-122"/>
                </a:rPr>
                <a:t>jal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>
                  <a:sym typeface="+mn-ea"/>
                </a:rPr>
                <a:t>μ</a:t>
              </a:r>
              <a:r>
                <a:rPr lang="en-US" altLang="zh-CN" sz="1600" b="1" dirty="0" err="1">
                  <a:latin typeface="+mn-ea"/>
                  <a:sym typeface="+mn-ea"/>
                </a:rPr>
                <a:t>OPCmd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7" name="直接箭头连接符 86"/>
            <p:cNvCxnSpPr/>
            <p:nvPr>
              <p:custDataLst>
                <p:tags r:id="rId39"/>
              </p:custDataLst>
            </p:nvPr>
          </p:nvCxnSpPr>
          <p:spPr bwMode="auto">
            <a:xfrm>
              <a:off x="8220" y="4819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8" name="直接箭头连接符 87"/>
            <p:cNvCxnSpPr/>
            <p:nvPr>
              <p:custDataLst>
                <p:tags r:id="rId40"/>
              </p:custDataLst>
            </p:nvPr>
          </p:nvCxnSpPr>
          <p:spPr bwMode="auto">
            <a:xfrm>
              <a:off x="4252" y="4819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  <p:bldP spid="13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组合 114"/>
          <p:cNvGrpSpPr/>
          <p:nvPr/>
        </p:nvGrpSpPr>
        <p:grpSpPr>
          <a:xfrm>
            <a:off x="2160064" y="3996000"/>
            <a:ext cx="4284145" cy="2448000"/>
            <a:chOff x="3312191" y="3861048"/>
            <a:chExt cx="4284145" cy="2448000"/>
          </a:xfrm>
        </p:grpSpPr>
        <p:sp>
          <p:nvSpPr>
            <p:cNvPr id="116" name="Text Box 147"/>
            <p:cNvSpPr txBox="1">
              <a:spLocks noChangeArrowheads="1"/>
            </p:cNvSpPr>
            <p:nvPr/>
          </p:nvSpPr>
          <p:spPr bwMode="auto">
            <a:xfrm>
              <a:off x="3995935" y="3930802"/>
              <a:ext cx="630235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opcode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3312191" y="3861048"/>
              <a:ext cx="2988000" cy="244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18" name="Text Box 132"/>
            <p:cNvSpPr txBox="1">
              <a:spLocks noChangeArrowheads="1"/>
            </p:cNvSpPr>
            <p:nvPr/>
          </p:nvSpPr>
          <p:spPr bwMode="auto">
            <a:xfrm>
              <a:off x="3419872" y="4149112"/>
              <a:ext cx="2376264" cy="28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指令译码器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19" name="Text Box 132"/>
            <p:cNvSpPr txBox="1">
              <a:spLocks noChangeArrowheads="1"/>
            </p:cNvSpPr>
            <p:nvPr/>
          </p:nvSpPr>
          <p:spPr bwMode="auto">
            <a:xfrm>
              <a:off x="7236296" y="3898784"/>
              <a:ext cx="360040" cy="223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单周期数据通路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2" name="直接箭头连接符 121"/>
            <p:cNvCxnSpPr/>
            <p:nvPr/>
          </p:nvCxnSpPr>
          <p:spPr bwMode="auto">
            <a:xfrm>
              <a:off x="4643050" y="3958456"/>
              <a:ext cx="0" cy="1906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3" name="直接箭头连接符 122"/>
            <p:cNvCxnSpPr/>
            <p:nvPr/>
          </p:nvCxnSpPr>
          <p:spPr bwMode="auto">
            <a:xfrm flipV="1">
              <a:off x="4644008" y="3958454"/>
              <a:ext cx="2592000" cy="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3333FF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24" name="Text Box 147"/>
            <p:cNvSpPr txBox="1">
              <a:spLocks noChangeArrowheads="1"/>
            </p:cNvSpPr>
            <p:nvPr/>
          </p:nvSpPr>
          <p:spPr bwMode="auto">
            <a:xfrm>
              <a:off x="3347864" y="3896192"/>
              <a:ext cx="360040" cy="2528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b="1" dirty="0">
                  <a:latin typeface="宋体" panose="02010600030101010101" pitchFamily="2" charset="-122"/>
                </a:rPr>
                <a:t>CU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25" name="Text Box 147"/>
            <p:cNvSpPr txBox="1">
              <a:spLocks noChangeArrowheads="1"/>
            </p:cNvSpPr>
            <p:nvPr/>
          </p:nvSpPr>
          <p:spPr bwMode="auto">
            <a:xfrm>
              <a:off x="3491185" y="4414385"/>
              <a:ext cx="2592982" cy="1921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add sub </a:t>
              </a:r>
              <a:r>
                <a:rPr lang="en-US" altLang="zh-CN" sz="14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ori</a:t>
              </a:r>
              <a:r>
                <a:rPr lang="en-US" altLang="zh-CN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lw</a:t>
              </a:r>
              <a:r>
                <a:rPr lang="en-US" altLang="zh-CN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sw</a:t>
              </a:r>
              <a:r>
                <a:rPr lang="en-US" altLang="zh-CN" sz="11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    </a:t>
              </a:r>
              <a:r>
                <a:rPr lang="en-US" altLang="zh-CN" sz="14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beq</a:t>
              </a:r>
              <a:endParaRPr lang="zh-CN" altLang="en-US" sz="14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26" name="直接箭头连接符 125"/>
            <p:cNvCxnSpPr/>
            <p:nvPr/>
          </p:nvCxnSpPr>
          <p:spPr bwMode="auto">
            <a:xfrm>
              <a:off x="3491880" y="443711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7" name="直接箭头连接符 126"/>
            <p:cNvCxnSpPr/>
            <p:nvPr/>
          </p:nvCxnSpPr>
          <p:spPr bwMode="auto">
            <a:xfrm>
              <a:off x="3851920" y="443711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8" name="直接箭头连接符 127"/>
            <p:cNvCxnSpPr/>
            <p:nvPr/>
          </p:nvCxnSpPr>
          <p:spPr bwMode="auto">
            <a:xfrm>
              <a:off x="4211960" y="443711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9" name="直接箭头连接符 128"/>
            <p:cNvCxnSpPr/>
            <p:nvPr/>
          </p:nvCxnSpPr>
          <p:spPr bwMode="auto">
            <a:xfrm>
              <a:off x="4716015" y="443711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0" name="直接箭头连接符 129"/>
            <p:cNvCxnSpPr/>
            <p:nvPr/>
          </p:nvCxnSpPr>
          <p:spPr bwMode="auto">
            <a:xfrm>
              <a:off x="5148063" y="443711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1" name="直接箭头连接符 130"/>
            <p:cNvCxnSpPr/>
            <p:nvPr/>
          </p:nvCxnSpPr>
          <p:spPr bwMode="auto">
            <a:xfrm>
              <a:off x="5652119" y="443711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5" name="组合 4"/>
          <p:cNvGrpSpPr/>
          <p:nvPr/>
        </p:nvGrpSpPr>
        <p:grpSpPr>
          <a:xfrm>
            <a:off x="611560" y="5652000"/>
            <a:ext cx="5472497" cy="721306"/>
            <a:chOff x="611560" y="5652000"/>
            <a:chExt cx="5472497" cy="721306"/>
          </a:xfrm>
        </p:grpSpPr>
        <p:sp>
          <p:nvSpPr>
            <p:cNvPr id="169" name="矩形 168"/>
            <p:cNvSpPr/>
            <p:nvPr/>
          </p:nvSpPr>
          <p:spPr>
            <a:xfrm>
              <a:off x="2403378" y="5689306"/>
              <a:ext cx="2664000" cy="684000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70" name="Text Box 253"/>
            <p:cNvSpPr txBox="1">
              <a:spLocks noChangeArrowheads="1"/>
            </p:cNvSpPr>
            <p:nvPr/>
          </p:nvSpPr>
          <p:spPr bwMode="auto">
            <a:xfrm>
              <a:off x="5216697" y="5652000"/>
              <a:ext cx="291408" cy="52716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</a:t>
              </a:r>
              <a:r>
                <a:rPr lang="en-US" altLang="zh-CN" sz="1600" b="1" baseline="-14000" dirty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</a:t>
              </a:r>
              <a:r>
                <a:rPr lang="en-US" altLang="zh-CN" sz="1600" b="1" baseline="-14000" dirty="0">
                  <a:latin typeface="+mn-ea"/>
                  <a:ea typeface="+mn-ea"/>
                </a:rPr>
                <a:t>0</a:t>
              </a:r>
              <a:endParaRPr lang="en-US" altLang="zh-CN" sz="1600" b="1" baseline="-14000" dirty="0">
                <a:latin typeface="+mn-ea"/>
                <a:ea typeface="+mn-ea"/>
              </a:endParaRPr>
            </a:p>
          </p:txBody>
        </p:sp>
        <p:cxnSp>
          <p:nvCxnSpPr>
            <p:cNvPr id="175" name="直接箭头连接符 174"/>
            <p:cNvCxnSpPr/>
            <p:nvPr/>
          </p:nvCxnSpPr>
          <p:spPr bwMode="auto">
            <a:xfrm>
              <a:off x="5076057" y="5868000"/>
              <a:ext cx="100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6" name="直接箭头连接符 175"/>
            <p:cNvCxnSpPr/>
            <p:nvPr/>
          </p:nvCxnSpPr>
          <p:spPr bwMode="auto">
            <a:xfrm>
              <a:off x="2411761" y="6264000"/>
              <a:ext cx="180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77" name="直接箭头连接符 176"/>
            <p:cNvCxnSpPr/>
            <p:nvPr/>
          </p:nvCxnSpPr>
          <p:spPr bwMode="auto">
            <a:xfrm>
              <a:off x="5076057" y="6156441"/>
              <a:ext cx="100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8" name="直接箭头连接符 13"/>
            <p:cNvCxnSpPr/>
            <p:nvPr/>
          </p:nvCxnSpPr>
          <p:spPr bwMode="auto">
            <a:xfrm>
              <a:off x="2060860" y="5904119"/>
              <a:ext cx="350901" cy="175234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9" name="Text Box 147"/>
            <p:cNvSpPr txBox="1">
              <a:spLocks noChangeArrowheads="1"/>
            </p:cNvSpPr>
            <p:nvPr/>
          </p:nvSpPr>
          <p:spPr bwMode="auto">
            <a:xfrm>
              <a:off x="611560" y="5796016"/>
              <a:ext cx="1440160" cy="21620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主时钟脉冲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CLK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0" name="Text Box 147"/>
            <p:cNvSpPr txBox="1">
              <a:spLocks noChangeArrowheads="1"/>
            </p:cNvSpPr>
            <p:nvPr/>
          </p:nvSpPr>
          <p:spPr bwMode="auto">
            <a:xfrm>
              <a:off x="2456815" y="5688000"/>
              <a:ext cx="1692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时序信号形成电路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1" name="Text Box 147"/>
            <p:cNvSpPr txBox="1">
              <a:spLocks noChangeArrowheads="1"/>
            </p:cNvSpPr>
            <p:nvPr/>
          </p:nvSpPr>
          <p:spPr bwMode="auto">
            <a:xfrm>
              <a:off x="1187624" y="6156000"/>
              <a:ext cx="864096" cy="1921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复位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Clr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2" name="直接箭头连接符 181"/>
            <p:cNvCxnSpPr/>
            <p:nvPr/>
          </p:nvCxnSpPr>
          <p:spPr bwMode="auto">
            <a:xfrm>
              <a:off x="2060860" y="6264000"/>
              <a:ext cx="350901" cy="6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3" name="矩形 182"/>
            <p:cNvSpPr/>
            <p:nvPr/>
          </p:nvSpPr>
          <p:spPr>
            <a:xfrm>
              <a:off x="2915815" y="5987024"/>
              <a:ext cx="792089" cy="1921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99009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84" name="Text Box 253"/>
            <p:cNvSpPr txBox="1">
              <a:spLocks noChangeArrowheads="1"/>
            </p:cNvSpPr>
            <p:nvPr/>
          </p:nvSpPr>
          <p:spPr bwMode="auto">
            <a:xfrm>
              <a:off x="3779913" y="5873088"/>
              <a:ext cx="291408" cy="21096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/>
              <a:r>
                <a:rPr lang="en-US" altLang="zh-CN" sz="1400" b="1" dirty="0">
                  <a:latin typeface="宋体" panose="02010600030101010101" pitchFamily="2" charset="-122"/>
                </a:rPr>
                <a:t>CP</a:t>
              </a:r>
              <a:endParaRPr lang="en-US" altLang="zh-CN" sz="1400" b="1" baseline="-14000" dirty="0">
                <a:latin typeface="+mn-ea"/>
                <a:ea typeface="+mn-ea"/>
              </a:endParaRPr>
            </a:p>
          </p:txBody>
        </p:sp>
        <p:cxnSp>
          <p:nvCxnSpPr>
            <p:cNvPr id="188" name="直接箭头连接符 187"/>
            <p:cNvCxnSpPr/>
            <p:nvPr/>
          </p:nvCxnSpPr>
          <p:spPr bwMode="auto">
            <a:xfrm flipV="1">
              <a:off x="3707906" y="6084000"/>
              <a:ext cx="1008000" cy="77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91" name="直接箭头连接符 190"/>
            <p:cNvCxnSpPr/>
            <p:nvPr/>
          </p:nvCxnSpPr>
          <p:spPr bwMode="auto">
            <a:xfrm flipV="1">
              <a:off x="2403377" y="6079353"/>
              <a:ext cx="50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88" name="Text Box 260"/>
            <p:cNvSpPr txBox="1">
              <a:spLocks noChangeArrowheads="1"/>
            </p:cNvSpPr>
            <p:nvPr/>
          </p:nvSpPr>
          <p:spPr bwMode="auto">
            <a:xfrm>
              <a:off x="2555776" y="6192000"/>
              <a:ext cx="142142" cy="144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D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9" name="直接箭头连接符 88"/>
            <p:cNvCxnSpPr/>
            <p:nvPr/>
          </p:nvCxnSpPr>
          <p:spPr bwMode="auto">
            <a:xfrm>
              <a:off x="2627784" y="6084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26" name="Text Box 116"/>
          <p:cNvSpPr txBox="1">
            <a:spLocks noChangeArrowheads="1"/>
          </p:cNvSpPr>
          <p:nvPr/>
        </p:nvSpPr>
        <p:spPr bwMode="auto">
          <a:xfrm>
            <a:off x="143508" y="3883114"/>
            <a:ext cx="2556284" cy="49051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6</a:t>
            </a:r>
            <a:r>
              <a:rPr kumimoji="1"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、连接成</a:t>
            </a:r>
            <a:r>
              <a:rPr kumimoji="1"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CU</a:t>
            </a:r>
            <a:endParaRPr kumimoji="1" lang="en-US" altLang="zh-CN" sz="2400" b="1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141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67" name="直接箭头连接符 166"/>
          <p:cNvCxnSpPr/>
          <p:nvPr/>
        </p:nvCxnSpPr>
        <p:spPr bwMode="auto">
          <a:xfrm>
            <a:off x="2915815" y="6084724"/>
            <a:ext cx="792090" cy="95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3333FF"/>
            </a:solidFill>
            <a:prstDash val="solid"/>
            <a:round/>
            <a:headEnd type="none" w="sm" len="sm"/>
            <a:tailEnd type="none"/>
          </a:ln>
          <a:effectLst/>
        </p:spPr>
      </p:cxnSp>
      <p:sp>
        <p:nvSpPr>
          <p:cNvPr id="19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7236296" y="3512883"/>
          <a:ext cx="1440160" cy="135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/>
                <a:gridCol w="504056"/>
              </a:tblGrid>
              <a:tr h="252683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uOPCmd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altLang="zh-CN" sz="14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/P</a:t>
                      </a:r>
                      <a:r>
                        <a:rPr lang="en-US" altLang="zh-CN" sz="1400" baseline="-18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4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110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Extctr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[1]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lw+sw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79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ALUctr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MtoR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lw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966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…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6" name="Text Box 116"/>
          <p:cNvSpPr txBox="1">
            <a:spLocks noChangeArrowheads="1"/>
          </p:cNvSpPr>
          <p:nvPr/>
        </p:nvSpPr>
        <p:spPr bwMode="auto">
          <a:xfrm>
            <a:off x="6804456" y="4957542"/>
            <a:ext cx="1872000" cy="1440000"/>
          </a:xfrm>
          <a:prstGeom prst="rect">
            <a:avLst/>
          </a:prstGeom>
          <a:noFill/>
          <a:ln w="15875">
            <a:solidFill>
              <a:srgbClr val="990099"/>
            </a:solidFill>
            <a:prstDash val="dashDot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创新建议：</a:t>
            </a:r>
            <a:endParaRPr kumimoji="1"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kumimoji="1"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000" b="1" dirty="0">
                <a:latin typeface="宋体" panose="02010600030101010101" pitchFamily="2" charset="-122"/>
              </a:rPr>
              <a:t>①</a:t>
            </a:r>
            <a:r>
              <a:rPr kumimoji="1" lang="en-US" altLang="zh-CN" sz="2000" b="1" dirty="0">
                <a:latin typeface="宋体" panose="02010600030101010101" pitchFamily="2" charset="-122"/>
              </a:rPr>
              <a:t>PC</a:t>
            </a:r>
            <a:r>
              <a:rPr kumimoji="1" lang="zh-CN" altLang="en-US" sz="2000" b="1" baseline="-18000" dirty="0">
                <a:latin typeface="宋体" panose="02010600030101010101" pitchFamily="2" charset="-122"/>
              </a:rPr>
              <a:t>初值</a:t>
            </a:r>
            <a:r>
              <a:rPr kumimoji="1" lang="zh-CN" altLang="en-US" sz="2000" b="1" dirty="0">
                <a:latin typeface="宋体" panose="02010600030101010101" pitchFamily="2" charset="-122"/>
              </a:rPr>
              <a:t>＝</a:t>
            </a:r>
            <a:r>
              <a:rPr kumimoji="1" lang="en-US" altLang="zh-CN" sz="2000" b="1" dirty="0">
                <a:latin typeface="宋体" panose="02010600030101010101" pitchFamily="2" charset="-122"/>
              </a:rPr>
              <a:t>10H</a:t>
            </a:r>
            <a:endParaRPr kumimoji="1"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kumimoji="1" lang="en-US" altLang="zh-CN" sz="2000" b="1" dirty="0">
                <a:latin typeface="宋体" panose="02010600030101010101" pitchFamily="2" charset="-122"/>
              </a:rPr>
              <a:t> </a:t>
            </a:r>
            <a:r>
              <a:rPr kumimoji="1" lang="zh-CN" altLang="en-US" sz="2000" b="1" dirty="0">
                <a:latin typeface="宋体" panose="02010600030101010101" pitchFamily="2" charset="-122"/>
              </a:rPr>
              <a:t>②支持</a:t>
            </a:r>
            <a:r>
              <a:rPr kumimoji="1" lang="en-US" altLang="zh-CN" sz="2000" b="1" dirty="0">
                <a:latin typeface="宋体" panose="02010600030101010101" pitchFamily="2" charset="-122"/>
              </a:rPr>
              <a:t>sb</a:t>
            </a:r>
            <a:r>
              <a:rPr kumimoji="1" lang="zh-CN" altLang="en-US" sz="2000" b="1" dirty="0">
                <a:latin typeface="宋体" panose="02010600030101010101" pitchFamily="2" charset="-122"/>
              </a:rPr>
              <a:t>指令</a:t>
            </a:r>
            <a:endParaRPr kumimoji="1"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kumimoji="1" lang="en-US" altLang="zh-CN" sz="2000" b="1" dirty="0">
                <a:latin typeface="宋体" panose="02010600030101010101" pitchFamily="2" charset="-122"/>
              </a:rPr>
              <a:t> </a:t>
            </a:r>
            <a:r>
              <a:rPr kumimoji="1" lang="zh-CN" altLang="en-US" sz="2000" b="1" dirty="0">
                <a:latin typeface="宋体" panose="02010600030101010101" pitchFamily="2" charset="-122"/>
              </a:rPr>
              <a:t>③多周期</a:t>
            </a:r>
            <a:r>
              <a:rPr kumimoji="1" lang="en-US" altLang="zh-CN" sz="2000" b="1" dirty="0">
                <a:latin typeface="宋体" panose="02010600030101010101" pitchFamily="2" charset="-122"/>
              </a:rPr>
              <a:t>CPU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4211963" y="5760000"/>
            <a:ext cx="864036" cy="576000"/>
            <a:chOff x="4716016" y="5810344"/>
            <a:chExt cx="864036" cy="576000"/>
          </a:xfrm>
        </p:grpSpPr>
        <p:cxnSp>
          <p:nvCxnSpPr>
            <p:cNvPr id="98" name="直接箭头连接符 97"/>
            <p:cNvCxnSpPr/>
            <p:nvPr/>
          </p:nvCxnSpPr>
          <p:spPr bwMode="auto">
            <a:xfrm>
              <a:off x="5400052" y="5918344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9" name="Text Box 260"/>
            <p:cNvSpPr txBox="1">
              <a:spLocks noChangeArrowheads="1"/>
            </p:cNvSpPr>
            <p:nvPr/>
          </p:nvSpPr>
          <p:spPr bwMode="auto">
            <a:xfrm>
              <a:off x="4860032" y="5810344"/>
              <a:ext cx="142142" cy="14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00" name="椭圆 99"/>
            <p:cNvSpPr/>
            <p:nvPr/>
          </p:nvSpPr>
          <p:spPr bwMode="auto">
            <a:xfrm>
              <a:off x="5002174" y="5846298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1" name="直接箭头连接符 64"/>
            <p:cNvCxnSpPr/>
            <p:nvPr/>
          </p:nvCxnSpPr>
          <p:spPr bwMode="auto">
            <a:xfrm rot="5400000" flipH="1" flipV="1">
              <a:off x="4680053" y="5954344"/>
              <a:ext cx="252000" cy="108000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02" name="Text Box 260"/>
            <p:cNvSpPr txBox="1">
              <a:spLocks noChangeArrowheads="1"/>
            </p:cNvSpPr>
            <p:nvPr/>
          </p:nvSpPr>
          <p:spPr bwMode="auto">
            <a:xfrm>
              <a:off x="5226104" y="5811618"/>
              <a:ext cx="180000" cy="251668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b="1" dirty="0">
                  <a:latin typeface="宋体" panose="02010600030101010101" pitchFamily="2" charset="-122"/>
                </a:rPr>
                <a:t>&amp;</a:t>
              </a:r>
              <a:endParaRPr lang="en-US" altLang="zh-CN" b="1" dirty="0">
                <a:latin typeface="宋体" panose="02010600030101010101" pitchFamily="2" charset="-122"/>
              </a:endParaRPr>
            </a:p>
          </p:txBody>
        </p:sp>
        <p:sp>
          <p:nvSpPr>
            <p:cNvPr id="103" name="Text Box 260"/>
            <p:cNvSpPr txBox="1">
              <a:spLocks noChangeArrowheads="1"/>
            </p:cNvSpPr>
            <p:nvPr/>
          </p:nvSpPr>
          <p:spPr bwMode="auto">
            <a:xfrm>
              <a:off x="5226104" y="6099651"/>
              <a:ext cx="180000" cy="25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b="1" dirty="0">
                  <a:latin typeface="宋体" panose="02010600030101010101" pitchFamily="2" charset="-122"/>
                </a:rPr>
                <a:t>&amp;</a:t>
              </a:r>
              <a:endParaRPr lang="en-US" altLang="zh-CN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04" name="直接箭头连接符 103"/>
            <p:cNvCxnSpPr/>
            <p:nvPr/>
          </p:nvCxnSpPr>
          <p:spPr bwMode="auto">
            <a:xfrm>
              <a:off x="5400052" y="6206344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5" name="直接箭头连接符 104"/>
            <p:cNvCxnSpPr/>
            <p:nvPr/>
          </p:nvCxnSpPr>
          <p:spPr bwMode="auto">
            <a:xfrm>
              <a:off x="5075363" y="5882344"/>
              <a:ext cx="144709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2" name="直接箭头连接符 37"/>
            <p:cNvCxnSpPr/>
            <p:nvPr/>
          </p:nvCxnSpPr>
          <p:spPr bwMode="auto">
            <a:xfrm rot="5400000" flipH="1" flipV="1">
              <a:off x="4989386" y="6078682"/>
              <a:ext cx="324000" cy="144000"/>
            </a:xfrm>
            <a:prstGeom prst="bentConnector3">
              <a:avLst>
                <a:gd name="adj1" fmla="val 99899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57" name="Text Box 260"/>
            <p:cNvSpPr txBox="1">
              <a:spLocks noChangeArrowheads="1"/>
            </p:cNvSpPr>
            <p:nvPr/>
          </p:nvSpPr>
          <p:spPr bwMode="auto">
            <a:xfrm>
              <a:off x="4716016" y="6242344"/>
              <a:ext cx="142142" cy="14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58" name="椭圆 157"/>
            <p:cNvSpPr/>
            <p:nvPr/>
          </p:nvSpPr>
          <p:spPr bwMode="auto">
            <a:xfrm>
              <a:off x="4860032" y="6278344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59" name="直接箭头连接符 158"/>
            <p:cNvCxnSpPr/>
            <p:nvPr/>
          </p:nvCxnSpPr>
          <p:spPr bwMode="auto">
            <a:xfrm flipV="1">
              <a:off x="4932040" y="6314344"/>
              <a:ext cx="294064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</p:grpSp>
      <p:sp>
        <p:nvSpPr>
          <p:cNvPr id="161" name="Text Box 116"/>
          <p:cNvSpPr txBox="1">
            <a:spLocks noChangeArrowheads="1"/>
          </p:cNvSpPr>
          <p:nvPr/>
        </p:nvSpPr>
        <p:spPr bwMode="auto">
          <a:xfrm>
            <a:off x="179264" y="431079"/>
            <a:ext cx="6985024" cy="13422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4</a:t>
            </a:r>
            <a:r>
              <a:rPr kumimoji="1"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、设计时序信号形成电路     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基于时序系统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复位时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P0/P1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全无效，工作时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P0/P1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轮流有效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*组成：</a:t>
            </a: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</p:txBody>
      </p:sp>
      <p:sp>
        <p:nvSpPr>
          <p:cNvPr id="162" name="Text Box 116"/>
          <p:cNvSpPr txBox="1">
            <a:spLocks noChangeArrowheads="1"/>
          </p:cNvSpPr>
          <p:nvPr/>
        </p:nvSpPr>
        <p:spPr bwMode="auto">
          <a:xfrm>
            <a:off x="2771800" y="1761346"/>
            <a:ext cx="6192688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en-US" altLang="zh-CN" sz="2200" b="1" dirty="0">
                <a:latin typeface="宋体" panose="02010600030101010101" pitchFamily="2" charset="-122"/>
              </a:rPr>
              <a:t>CP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CLK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同步方式</a:t>
            </a:r>
            <a:r>
              <a:rPr lang="en-US" altLang="zh-CN" b="1" dirty="0">
                <a:latin typeface="宋体" panose="02010600030101010101" pitchFamily="2" charset="-122"/>
              </a:rPr>
              <a:t>)  ←</a:t>
            </a:r>
            <a:r>
              <a:rPr lang="zh-CN" altLang="en-US" b="1" dirty="0">
                <a:latin typeface="宋体" panose="02010600030101010101" pitchFamily="2" charset="-122"/>
              </a:rPr>
              <a:t>图中</a:t>
            </a:r>
            <a:r>
              <a:rPr lang="en-US" altLang="zh-CN" b="1" dirty="0">
                <a:latin typeface="宋体" panose="02010600030101010101" pitchFamily="2" charset="-122"/>
              </a:rPr>
              <a:t>D</a:t>
            </a:r>
            <a:r>
              <a:rPr lang="zh-CN" altLang="en-US" b="1" dirty="0">
                <a:latin typeface="宋体" panose="02010600030101010101" pitchFamily="2" charset="-122"/>
              </a:rPr>
              <a:t>防止测试时</a:t>
            </a:r>
            <a:r>
              <a:rPr lang="en-US" altLang="zh-CN" b="1" dirty="0" err="1">
                <a:latin typeface="宋体" panose="02010600030101010101" pitchFamily="2" charset="-122"/>
              </a:rPr>
              <a:t>Clr</a:t>
            </a:r>
            <a:r>
              <a:rPr lang="zh-CN" altLang="en-US" b="1" dirty="0">
                <a:latin typeface="宋体" panose="02010600030101010101" pitchFamily="2" charset="-122"/>
              </a:rPr>
              <a:t>与</a:t>
            </a:r>
            <a:r>
              <a:rPr lang="en-US" altLang="zh-CN" b="1" dirty="0" err="1">
                <a:latin typeface="宋体" panose="02010600030101010101" pitchFamily="2" charset="-122"/>
              </a:rPr>
              <a:t>Clk</a:t>
            </a:r>
            <a:r>
              <a:rPr lang="zh-CN" altLang="en-US" b="1" dirty="0">
                <a:latin typeface="宋体" panose="02010600030101010101" pitchFamily="2" charset="-122"/>
              </a:rPr>
              <a:t>不匹配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grpSp>
        <p:nvGrpSpPr>
          <p:cNvPr id="163" name="组合 162"/>
          <p:cNvGrpSpPr/>
          <p:nvPr/>
        </p:nvGrpSpPr>
        <p:grpSpPr>
          <a:xfrm>
            <a:off x="2771800" y="1340768"/>
            <a:ext cx="5616624" cy="515526"/>
            <a:chOff x="4860032" y="908720"/>
            <a:chExt cx="5616624" cy="515526"/>
          </a:xfrm>
        </p:grpSpPr>
        <p:sp>
          <p:nvSpPr>
            <p:cNvPr id="164" name="Text Box 116"/>
            <p:cNvSpPr txBox="1">
              <a:spLocks noChangeArrowheads="1"/>
            </p:cNvSpPr>
            <p:nvPr/>
          </p:nvSpPr>
          <p:spPr bwMode="auto">
            <a:xfrm>
              <a:off x="4860032" y="908720"/>
              <a:ext cx="5616624" cy="51552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tabLst>
                  <a:tab pos="2628265" algn="ctr"/>
                  <a:tab pos="5292725" algn="r"/>
                </a:tabLst>
              </a:pPr>
              <a:r>
                <a:rPr lang="zh-CN" altLang="en-US" sz="2200" b="1" spc="-70" dirty="0">
                  <a:latin typeface="宋体" panose="02010600030101010101" pitchFamily="2" charset="-122"/>
                </a:rPr>
                <a:t>状态用门电路表示，</a:t>
              </a:r>
              <a:r>
                <a:rPr lang="en-US" altLang="zh-CN" sz="2200" b="1" dirty="0">
                  <a:latin typeface="+mn-ea"/>
                  <a:ea typeface="+mn-ea"/>
                </a:rPr>
                <a:t>P</a:t>
              </a:r>
              <a:r>
                <a:rPr lang="en-US" altLang="zh-CN" sz="2200" b="1" baseline="-25000" dirty="0">
                  <a:latin typeface="+mn-ea"/>
                  <a:ea typeface="+mn-ea"/>
                </a:rPr>
                <a:t>0</a:t>
              </a:r>
              <a:r>
                <a:rPr lang="zh-CN" altLang="zh-CN" sz="2200" b="1" dirty="0">
                  <a:latin typeface="+mn-ea"/>
                  <a:ea typeface="+mn-ea"/>
                </a:rPr>
                <a:t>＝</a:t>
              </a:r>
              <a:r>
                <a:rPr lang="en-US" altLang="zh-CN" sz="2200" b="1" dirty="0" err="1">
                  <a:latin typeface="+mn-ea"/>
                  <a:ea typeface="+mn-ea"/>
                </a:rPr>
                <a:t>CP</a:t>
              </a:r>
              <a:r>
                <a:rPr lang="en-US" altLang="zh-CN" sz="2200" b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·</a:t>
              </a:r>
              <a:r>
                <a:rPr lang="en-US" altLang="zh-CN" sz="2200" b="1" dirty="0" err="1">
                  <a:latin typeface="+mn-ea"/>
                  <a:ea typeface="+mn-ea"/>
                </a:rPr>
                <a:t>Clr</a:t>
              </a:r>
              <a:r>
                <a:rPr lang="zh-CN" altLang="zh-CN" sz="2200" b="1" dirty="0">
                  <a:latin typeface="+mn-ea"/>
                  <a:ea typeface="+mn-ea"/>
                </a:rPr>
                <a:t>、</a:t>
              </a:r>
              <a:r>
                <a:rPr lang="en-US" altLang="zh-CN" sz="2200" b="1" dirty="0">
                  <a:latin typeface="+mn-ea"/>
                  <a:ea typeface="+mn-ea"/>
                </a:rPr>
                <a:t>P</a:t>
              </a:r>
              <a:r>
                <a:rPr lang="en-US" altLang="zh-CN" sz="2200" b="1" baseline="-25000" dirty="0">
                  <a:latin typeface="+mn-ea"/>
                  <a:ea typeface="+mn-ea"/>
                </a:rPr>
                <a:t>1</a:t>
              </a:r>
              <a:r>
                <a:rPr lang="zh-CN" altLang="zh-CN" sz="2200" b="1" dirty="0">
                  <a:latin typeface="+mn-ea"/>
                  <a:ea typeface="+mn-ea"/>
                </a:rPr>
                <a:t>＝</a:t>
              </a:r>
              <a:r>
                <a:rPr lang="en-US" altLang="zh-CN" sz="2200" b="1" dirty="0" err="1">
                  <a:latin typeface="+mn-ea"/>
                  <a:ea typeface="+mn-ea"/>
                </a:rPr>
                <a:t>CP</a:t>
              </a:r>
              <a:r>
                <a:rPr lang="en-US" altLang="zh-CN" sz="2200" b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·</a:t>
              </a:r>
              <a:r>
                <a:rPr lang="en-US" altLang="zh-CN" sz="2200" b="1" dirty="0" err="1">
                  <a:latin typeface="+mn-ea"/>
                  <a:ea typeface="+mn-ea"/>
                  <a:cs typeface="Times New Roman" panose="02020603050405020304" pitchFamily="18" charset="0"/>
                </a:rPr>
                <a:t>C</a:t>
              </a:r>
              <a:r>
                <a:rPr lang="en-US" altLang="zh-CN" sz="2200" b="1" dirty="0" err="1">
                  <a:latin typeface="+mn-ea"/>
                  <a:ea typeface="+mn-ea"/>
                </a:rPr>
                <a:t>lr</a:t>
              </a:r>
              <a:endParaRPr lang="en-US" altLang="zh-CN" sz="2200" b="1" dirty="0">
                <a:solidFill>
                  <a:srgbClr val="3333FF"/>
                </a:solidFill>
                <a:latin typeface="+mn-ea"/>
                <a:ea typeface="+mn-ea"/>
              </a:endParaRPr>
            </a:p>
          </p:txBody>
        </p:sp>
        <p:cxnSp>
          <p:nvCxnSpPr>
            <p:cNvPr id="165" name="直接连接符 164"/>
            <p:cNvCxnSpPr/>
            <p:nvPr/>
          </p:nvCxnSpPr>
          <p:spPr>
            <a:xfrm>
              <a:off x="9500370" y="1024272"/>
              <a:ext cx="28752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8268457" y="1024272"/>
              <a:ext cx="396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>
            <a:xfrm>
              <a:off x="9897589" y="1024272"/>
              <a:ext cx="396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" name="Text Box 116"/>
          <p:cNvSpPr txBox="1">
            <a:spLocks noChangeArrowheads="1"/>
          </p:cNvSpPr>
          <p:nvPr/>
        </p:nvSpPr>
        <p:spPr bwMode="auto">
          <a:xfrm>
            <a:off x="1331640" y="1336998"/>
            <a:ext cx="1843993" cy="8678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定序逻辑</a:t>
            </a:r>
            <a:r>
              <a:rPr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定时逻辑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</p:txBody>
      </p:sp>
      <p:sp>
        <p:nvSpPr>
          <p:cNvPr id="222" name="Text Box 116"/>
          <p:cNvSpPr txBox="1">
            <a:spLocks noChangeArrowheads="1"/>
          </p:cNvSpPr>
          <p:nvPr/>
        </p:nvSpPr>
        <p:spPr bwMode="auto">
          <a:xfrm>
            <a:off x="179512" y="2132856"/>
            <a:ext cx="7776864" cy="13422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5</a:t>
            </a:r>
            <a:r>
              <a:rPr kumimoji="1"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、设计</a:t>
            </a:r>
            <a:r>
              <a:rPr lang="en-US" altLang="zh-CN" sz="2400" dirty="0" err="1">
                <a:solidFill>
                  <a:srgbClr val="FF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400" b="1" dirty="0" err="1">
                <a:solidFill>
                  <a:srgbClr val="FF3399"/>
                </a:solidFill>
                <a:latin typeface="宋体" panose="02010600030101010101" pitchFamily="2" charset="-122"/>
              </a:rPr>
              <a:t>OP</a:t>
            </a:r>
            <a:r>
              <a:rPr kumimoji="1" lang="zh-CN" altLang="en-US" sz="2400" b="1" dirty="0">
                <a:solidFill>
                  <a:srgbClr val="FF3399"/>
                </a:solidFill>
                <a:latin typeface="宋体" panose="02010600030101010101" pitchFamily="2" charset="-122"/>
              </a:rPr>
              <a:t>控制信号形成电路  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基于状态转换图、时序系统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输出</a:t>
            </a:r>
            <a:r>
              <a:rPr kumimoji="1" lang="zh-CN" altLang="en-US" sz="2200" b="1" u="sng" dirty="0">
                <a:latin typeface="宋体" panose="02010600030101010101" pitchFamily="2" charset="-122"/>
              </a:rPr>
              <a:t>当前指令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执行</a:t>
            </a:r>
            <a:r>
              <a:rPr kumimoji="1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所需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的</a:t>
            </a:r>
            <a:r>
              <a:rPr lang="en-US" altLang="zh-CN" sz="2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u="sng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u="sng" dirty="0">
                <a:latin typeface="宋体" panose="02010600030101010101" pitchFamily="2" charset="-122"/>
              </a:rPr>
              <a:t>控制信号</a:t>
            </a:r>
            <a:endParaRPr kumimoji="1" lang="en-US" altLang="zh-CN" sz="2200" b="1" u="sng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*组成：</a:t>
            </a:r>
            <a:endParaRPr kumimoji="1" lang="en-US" altLang="zh-CN" sz="2200" b="1" dirty="0">
              <a:solidFill>
                <a:srgbClr val="CC3300"/>
              </a:solidFill>
              <a:latin typeface="宋体" panose="02010600030101010101" pitchFamily="2" charset="-122"/>
            </a:endParaRPr>
          </a:p>
        </p:txBody>
      </p:sp>
      <p:sp>
        <p:nvSpPr>
          <p:cNvPr id="223" name="Text Box 116"/>
          <p:cNvSpPr txBox="1">
            <a:spLocks noChangeArrowheads="1"/>
          </p:cNvSpPr>
          <p:nvPr/>
        </p:nvSpPr>
        <p:spPr bwMode="auto">
          <a:xfrm>
            <a:off x="1331640" y="3037426"/>
            <a:ext cx="3313135" cy="8956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填</a:t>
            </a:r>
            <a:r>
              <a:rPr lang="en-US" altLang="zh-CN" sz="220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solidFill>
                  <a:srgbClr val="3333FF"/>
                </a:solidFill>
                <a:latin typeface="宋体" panose="02010600030101010101" pitchFamily="2" charset="-122"/>
              </a:rPr>
              <a:t>OPCmd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使用时间表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获得</a:t>
            </a:r>
            <a:r>
              <a:rPr lang="en-US" altLang="zh-CN" sz="220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2200" b="1" dirty="0" err="1">
                <a:solidFill>
                  <a:srgbClr val="3333FF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有效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逻辑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</p:txBody>
      </p:sp>
      <p:sp>
        <p:nvSpPr>
          <p:cNvPr id="224" name="Text Box 116"/>
          <p:cNvSpPr txBox="1">
            <a:spLocks noChangeArrowheads="1"/>
          </p:cNvSpPr>
          <p:nvPr/>
        </p:nvSpPr>
        <p:spPr bwMode="auto">
          <a:xfrm>
            <a:off x="4211960" y="3068960"/>
            <a:ext cx="4752528" cy="8433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latin typeface="宋体" panose="02010600030101010101" pitchFamily="2" charset="-122"/>
              </a:rPr>
              <a:t>表格</a:t>
            </a:r>
            <a:r>
              <a:rPr lang="en-US" altLang="zh-CN" b="1" dirty="0">
                <a:latin typeface="宋体" panose="02010600030101010101" pitchFamily="2" charset="-122"/>
              </a:rPr>
              <a:t>(8</a:t>
            </a:r>
            <a:r>
              <a:rPr lang="zh-CN" altLang="en-US" b="1" dirty="0">
                <a:latin typeface="宋体" panose="02010600030101010101" pitchFamily="2" charset="-122"/>
              </a:rPr>
              <a:t>行</a:t>
            </a:r>
            <a:r>
              <a:rPr lang="en-US" altLang="zh-CN" b="1" dirty="0">
                <a:latin typeface="宋体" panose="02010600030101010101" pitchFamily="2" charset="-122"/>
              </a:rPr>
              <a:t>/1</a:t>
            </a:r>
            <a:r>
              <a:rPr lang="zh-CN" altLang="en-US" b="1" dirty="0">
                <a:latin typeface="宋体" panose="02010600030101010101" pitchFamily="2" charset="-122"/>
              </a:rPr>
              <a:t>列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，有效条件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仅指令类型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latin typeface="宋体" panose="02010600030101010101" pitchFamily="2" charset="-122"/>
              </a:rPr>
              <a:t>按行汇总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针对所有指令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2236310" y="4752000"/>
            <a:ext cx="3847763" cy="900096"/>
            <a:chOff x="2884381" y="4602336"/>
            <a:chExt cx="3847763" cy="900096"/>
          </a:xfrm>
        </p:grpSpPr>
        <p:sp>
          <p:nvSpPr>
            <p:cNvPr id="133" name="矩形 132"/>
            <p:cNvSpPr/>
            <p:nvPr/>
          </p:nvSpPr>
          <p:spPr>
            <a:xfrm>
              <a:off x="2884381" y="4638336"/>
              <a:ext cx="2839747" cy="86409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134" name="直接箭头连接符 133"/>
            <p:cNvCxnSpPr/>
            <p:nvPr/>
          </p:nvCxnSpPr>
          <p:spPr bwMode="auto">
            <a:xfrm>
              <a:off x="5652120" y="4797152"/>
              <a:ext cx="108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5" name="直接箭头连接符 134"/>
            <p:cNvCxnSpPr/>
            <p:nvPr/>
          </p:nvCxnSpPr>
          <p:spPr bwMode="auto">
            <a:xfrm>
              <a:off x="5652120" y="5034336"/>
              <a:ext cx="108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6" name="Text Box 147"/>
            <p:cNvSpPr txBox="1">
              <a:spLocks noChangeArrowheads="1"/>
            </p:cNvSpPr>
            <p:nvPr/>
          </p:nvSpPr>
          <p:spPr bwMode="auto">
            <a:xfrm>
              <a:off x="5868144" y="4602336"/>
              <a:ext cx="86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Extctr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[1]</a:t>
              </a:r>
              <a:endParaRPr lang="zh-CN" altLang="en-US" sz="1200" b="1" dirty="0">
                <a:latin typeface="宋体" panose="02010600030101010101" pitchFamily="2" charset="-122"/>
              </a:endParaRPr>
            </a:p>
          </p:txBody>
        </p:sp>
        <p:sp>
          <p:nvSpPr>
            <p:cNvPr id="137" name="Text Box 147"/>
            <p:cNvSpPr txBox="1">
              <a:spLocks noChangeArrowheads="1"/>
            </p:cNvSpPr>
            <p:nvPr/>
          </p:nvSpPr>
          <p:spPr bwMode="auto">
            <a:xfrm>
              <a:off x="5868144" y="4854336"/>
              <a:ext cx="61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MtoR</a:t>
              </a:r>
              <a:endParaRPr lang="zh-CN" altLang="en-US" sz="1200" b="1" dirty="0">
                <a:latin typeface="宋体" panose="02010600030101010101" pitchFamily="2" charset="-122"/>
              </a:endParaRPr>
            </a:p>
          </p:txBody>
        </p:sp>
        <p:sp>
          <p:nvSpPr>
            <p:cNvPr id="138" name="Text Box 147"/>
            <p:cNvSpPr txBox="1">
              <a:spLocks noChangeArrowheads="1"/>
            </p:cNvSpPr>
            <p:nvPr/>
          </p:nvSpPr>
          <p:spPr bwMode="auto">
            <a:xfrm>
              <a:off x="5868144" y="5214336"/>
              <a:ext cx="61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MemWr</a:t>
              </a:r>
              <a:endParaRPr lang="zh-CN" altLang="en-US" sz="1200" b="1" dirty="0">
                <a:latin typeface="宋体" panose="02010600030101010101" pitchFamily="2" charset="-122"/>
              </a:endParaRPr>
            </a:p>
          </p:txBody>
        </p:sp>
        <p:sp>
          <p:nvSpPr>
            <p:cNvPr id="139" name="Text Box 211"/>
            <p:cNvSpPr txBox="1">
              <a:spLocks noChangeArrowheads="1"/>
            </p:cNvSpPr>
            <p:nvPr/>
          </p:nvSpPr>
          <p:spPr bwMode="auto">
            <a:xfrm>
              <a:off x="5940152" y="5013176"/>
              <a:ext cx="360040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/>
                <a:t>…</a:t>
              </a:r>
              <a:endParaRPr lang="en-US" altLang="zh-CN" sz="1800" b="1" baseline="-20000" dirty="0"/>
            </a:p>
          </p:txBody>
        </p:sp>
        <p:cxnSp>
          <p:nvCxnSpPr>
            <p:cNvPr id="140" name="直接箭头连接符 139"/>
            <p:cNvCxnSpPr/>
            <p:nvPr/>
          </p:nvCxnSpPr>
          <p:spPr bwMode="auto">
            <a:xfrm>
              <a:off x="5652120" y="5394336"/>
              <a:ext cx="108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3" name="Text Box 147"/>
            <p:cNvSpPr txBox="1">
              <a:spLocks noChangeArrowheads="1"/>
            </p:cNvSpPr>
            <p:nvPr/>
          </p:nvSpPr>
          <p:spPr bwMode="auto">
            <a:xfrm>
              <a:off x="2988071" y="5034336"/>
              <a:ext cx="1206036" cy="44417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μ</a:t>
              </a:r>
              <a:r>
                <a:rPr lang="en-US" altLang="zh-CN" sz="1600" b="1" dirty="0" err="1">
                  <a:latin typeface="+mn-ea"/>
                </a:rPr>
                <a:t>OP</a:t>
              </a:r>
              <a:r>
                <a:rPr lang="zh-CN" altLang="en-US" sz="1600" b="1" dirty="0">
                  <a:latin typeface="+mn-ea"/>
                </a:rPr>
                <a:t>控制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信号形成电路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2339753" y="4788000"/>
            <a:ext cx="2664296" cy="828000"/>
            <a:chOff x="3203848" y="4427959"/>
            <a:chExt cx="2664296" cy="828000"/>
          </a:xfrm>
        </p:grpSpPr>
        <p:cxnSp>
          <p:nvCxnSpPr>
            <p:cNvPr id="145" name="直接箭头连接符 144"/>
            <p:cNvCxnSpPr/>
            <p:nvPr/>
          </p:nvCxnSpPr>
          <p:spPr bwMode="auto">
            <a:xfrm>
              <a:off x="3203848" y="4427959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6" name="直接箭头连接符 145"/>
            <p:cNvCxnSpPr/>
            <p:nvPr/>
          </p:nvCxnSpPr>
          <p:spPr bwMode="auto">
            <a:xfrm>
              <a:off x="3563888" y="4427959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7" name="直接箭头连接符 146"/>
            <p:cNvCxnSpPr/>
            <p:nvPr/>
          </p:nvCxnSpPr>
          <p:spPr bwMode="auto">
            <a:xfrm>
              <a:off x="3923928" y="4427959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8" name="直接箭头连接符 147"/>
            <p:cNvCxnSpPr/>
            <p:nvPr/>
          </p:nvCxnSpPr>
          <p:spPr bwMode="auto">
            <a:xfrm>
              <a:off x="4427983" y="4427959"/>
              <a:ext cx="0" cy="43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9" name="直接箭头连接符 148"/>
            <p:cNvCxnSpPr/>
            <p:nvPr/>
          </p:nvCxnSpPr>
          <p:spPr bwMode="auto">
            <a:xfrm>
              <a:off x="4860031" y="4427959"/>
              <a:ext cx="0" cy="82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0" name="直接箭头连接符 149"/>
            <p:cNvCxnSpPr/>
            <p:nvPr/>
          </p:nvCxnSpPr>
          <p:spPr bwMode="auto">
            <a:xfrm>
              <a:off x="5364087" y="4427959"/>
              <a:ext cx="0" cy="82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1" name="直接箭头连接符 150"/>
            <p:cNvCxnSpPr/>
            <p:nvPr/>
          </p:nvCxnSpPr>
          <p:spPr bwMode="auto">
            <a:xfrm>
              <a:off x="4428127" y="4535959"/>
              <a:ext cx="1152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52" name="Text Box 260"/>
            <p:cNvSpPr txBox="1">
              <a:spLocks noChangeArrowheads="1"/>
            </p:cNvSpPr>
            <p:nvPr/>
          </p:nvSpPr>
          <p:spPr bwMode="auto">
            <a:xfrm>
              <a:off x="5580112" y="4499959"/>
              <a:ext cx="288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3" name="直接箭头连接符 152"/>
            <p:cNvCxnSpPr/>
            <p:nvPr/>
          </p:nvCxnSpPr>
          <p:spPr bwMode="auto">
            <a:xfrm>
              <a:off x="4860095" y="4643959"/>
              <a:ext cx="72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54" name="直接箭头连接符 153"/>
            <p:cNvCxnSpPr/>
            <p:nvPr/>
          </p:nvCxnSpPr>
          <p:spPr bwMode="auto">
            <a:xfrm>
              <a:off x="4428095" y="4823959"/>
              <a:ext cx="144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60" name="直接箭头连接符 159"/>
            <p:cNvCxnSpPr/>
            <p:nvPr/>
          </p:nvCxnSpPr>
          <p:spPr bwMode="auto">
            <a:xfrm>
              <a:off x="4860167" y="5183959"/>
              <a:ext cx="1007977" cy="177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71" name="Text Box 211"/>
            <p:cNvSpPr txBox="1">
              <a:spLocks noChangeArrowheads="1"/>
            </p:cNvSpPr>
            <p:nvPr/>
          </p:nvSpPr>
          <p:spPr bwMode="auto">
            <a:xfrm>
              <a:off x="5508104" y="4941167"/>
              <a:ext cx="360040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…</a:t>
              </a:r>
              <a:endParaRPr lang="en-US" altLang="zh-CN" sz="1600" b="1" baseline="-20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7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7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animBg="1"/>
      <p:bldP spid="162" grpId="0"/>
      <p:bldP spid="22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920824" y="260648"/>
            <a:ext cx="746760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latin typeface="+mn-ea"/>
                <a:ea typeface="+mn-ea"/>
              </a:rPr>
              <a:t>§5 </a:t>
            </a:r>
            <a:r>
              <a:rPr lang="zh-CN" altLang="en-US" sz="3200" b="1" dirty="0">
                <a:latin typeface="+mn-ea"/>
                <a:ea typeface="+mn-ea"/>
              </a:rPr>
              <a:t>主存设计与连接</a:t>
            </a:r>
            <a:endParaRPr lang="zh-CN" altLang="en-US" sz="3200" b="1" dirty="0">
              <a:latin typeface="+mn-ea"/>
              <a:ea typeface="+mn-ea"/>
            </a:endParaRPr>
          </a:p>
        </p:txBody>
      </p:sp>
      <p:sp>
        <p:nvSpPr>
          <p:cNvPr id="6" name="Text Box 78"/>
          <p:cNvSpPr txBox="1">
            <a:spLocks noChangeArrowheads="1"/>
          </p:cNvSpPr>
          <p:nvPr/>
        </p:nvSpPr>
        <p:spPr bwMode="auto">
          <a:xfrm>
            <a:off x="179388" y="920333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一、主存设计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7" name="Text Box 116"/>
          <p:cNvSpPr txBox="1">
            <a:spLocks noChangeArrowheads="1"/>
          </p:cNvSpPr>
          <p:nvPr/>
        </p:nvSpPr>
        <p:spPr bwMode="auto">
          <a:xfrm>
            <a:off x="152399" y="1412776"/>
            <a:ext cx="4203578" cy="15530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*需求分析：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CPU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接口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latin typeface="+mn-ea"/>
            </a:endParaRPr>
          </a:p>
          <a:p>
            <a:pPr>
              <a:lnSpc>
                <a:spcPct val="90000"/>
              </a:lnSpc>
            </a:pPr>
            <a:endParaRPr kumimoji="1" lang="en-US" altLang="zh-CN" b="1" dirty="0">
              <a:latin typeface="+mn-ea"/>
            </a:endParaRPr>
          </a:p>
          <a:p>
            <a:pPr>
              <a:lnSpc>
                <a:spcPct val="125000"/>
              </a:lnSpc>
            </a:pPr>
            <a:endParaRPr kumimoji="1"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        MEM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需求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9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Text Box 116"/>
          <p:cNvSpPr txBox="1">
            <a:spLocks noChangeArrowheads="1"/>
          </p:cNvSpPr>
          <p:nvPr/>
        </p:nvSpPr>
        <p:spPr bwMode="auto">
          <a:xfrm>
            <a:off x="107757" y="2924944"/>
            <a:ext cx="6862571" cy="28041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IMEM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设计： 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设计要求位同步</a:t>
            </a:r>
            <a:r>
              <a:rPr kumimoji="1" lang="en-US" altLang="zh-CN" b="1" dirty="0">
                <a:latin typeface="宋体" panose="02010600030101010101" pitchFamily="2" charset="-122"/>
              </a:rPr>
              <a:t>ROM)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引脚信号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数据＝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      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、地址＝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    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、控制＝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      </a:t>
            </a: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内部组成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</a:pP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kumimoji="1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DMEM</a:t>
            </a: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设计： 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设计要求位同步</a:t>
            </a:r>
            <a:r>
              <a:rPr kumimoji="1" lang="en-US" altLang="zh-CN" b="1" dirty="0">
                <a:latin typeface="宋体" panose="02010600030101010101" pitchFamily="2" charset="-122"/>
              </a:rPr>
              <a:t>RAM)</a:t>
            </a:r>
            <a:endParaRPr kumimoji="1"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引脚信号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数据＝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      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、地址＝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   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、控制＝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内部组成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</p:txBody>
      </p:sp>
      <p:sp>
        <p:nvSpPr>
          <p:cNvPr id="29" name="Text Box 116"/>
          <p:cNvSpPr txBox="1">
            <a:spLocks noChangeArrowheads="1"/>
          </p:cNvSpPr>
          <p:nvPr/>
        </p:nvSpPr>
        <p:spPr bwMode="auto">
          <a:xfrm>
            <a:off x="2086297" y="3355474"/>
            <a:ext cx="6734175" cy="115852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    32b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*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1         10b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         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CS/CLK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00"/>
              </a:spcBef>
            </a:pPr>
            <a:r>
              <a:rPr kumimoji="1" lang="zh-CN" altLang="en-US" sz="2200" b="1" dirty="0">
                <a:latin typeface="宋体" panose="02010600030101010101" pitchFamily="2" charset="-122"/>
              </a:rPr>
              <a:t>单体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MEM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，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1K×4B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同步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ROM          </a:t>
            </a:r>
            <a:r>
              <a:rPr kumimoji="1" lang="zh-CN" altLang="en-US" b="1" dirty="0">
                <a:latin typeface="宋体" panose="02010600030101010101" pitchFamily="2" charset="-122"/>
              </a:rPr>
              <a:t>←取指时读</a:t>
            </a:r>
            <a:r>
              <a:rPr kumimoji="1" lang="en-US" altLang="zh-CN" b="1" dirty="0">
                <a:latin typeface="宋体" panose="02010600030101010101" pitchFamily="2" charset="-122"/>
              </a:rPr>
              <a:t>32b/</a:t>
            </a:r>
            <a:r>
              <a:rPr kumimoji="1" lang="zh-CN" altLang="en-US" b="1" dirty="0">
                <a:latin typeface="宋体" panose="02010600030101010101" pitchFamily="2" charset="-122"/>
              </a:rPr>
              <a:t>次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b="1" dirty="0">
                <a:latin typeface="宋体" panose="02010600030101010101" pitchFamily="2" charset="-122"/>
              </a:rPr>
              <a:t>                </a:t>
            </a:r>
            <a:r>
              <a:rPr kumimoji="1" lang="zh-CN" altLang="en-US" dirty="0">
                <a:latin typeface="宋体" panose="02010600030101010101" pitchFamily="2" charset="-122"/>
              </a:rPr>
              <a:t>└</a:t>
            </a:r>
            <a:r>
              <a:rPr kumimoji="1" lang="zh-CN" altLang="en-US" b="1" dirty="0">
                <a:latin typeface="宋体" panose="02010600030101010101" pitchFamily="2" charset="-122"/>
              </a:rPr>
              <a:t>←小端存放</a:t>
            </a:r>
            <a:endParaRPr kumimoji="1"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30" name="Text Box 116"/>
          <p:cNvSpPr txBox="1">
            <a:spLocks noChangeArrowheads="1"/>
          </p:cNvSpPr>
          <p:nvPr/>
        </p:nvSpPr>
        <p:spPr bwMode="auto">
          <a:xfrm>
            <a:off x="1656000" y="4832568"/>
            <a:ext cx="7200925" cy="1619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       32b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*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2         10b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        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CS/WE/CLK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200" b="1" dirty="0">
                <a:latin typeface="宋体" panose="02010600030101010101" pitchFamily="2" charset="-122"/>
              </a:rPr>
              <a:t>   单体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MEM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：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1K×4B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同步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SRAM         </a:t>
            </a:r>
            <a:r>
              <a:rPr kumimoji="1" lang="zh-CN" altLang="en-US" b="1" dirty="0">
                <a:latin typeface="宋体" panose="02010600030101010101" pitchFamily="2" charset="-122"/>
              </a:rPr>
              <a:t>←访问粒度</a:t>
            </a:r>
            <a:r>
              <a:rPr kumimoji="1" lang="en-US" altLang="zh-CN" b="1" dirty="0">
                <a:latin typeface="宋体" panose="02010600030101010101" pitchFamily="2" charset="-122"/>
              </a:rPr>
              <a:t>=1</a:t>
            </a:r>
            <a:r>
              <a:rPr kumimoji="1" lang="zh-CN" altLang="en-US" b="1" dirty="0">
                <a:latin typeface="宋体" panose="02010600030101010101" pitchFamily="2" charset="-122"/>
              </a:rPr>
              <a:t>种时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或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 多体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MEM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：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1K×1B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同步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SRAM×4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，</a:t>
            </a:r>
            <a:r>
              <a:rPr kumimoji="1" lang="zh-CN" altLang="en-US" sz="2200" b="1" dirty="0">
                <a:latin typeface="宋体" panose="02010600030101010101" pitchFamily="2" charset="-122"/>
                <a:sym typeface="+mn-ea"/>
              </a:rPr>
              <a:t>并行访问方式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kumimoji="1" lang="en-US" altLang="zh-CN" b="1" dirty="0">
                <a:latin typeface="宋体" panose="02010600030101010101" pitchFamily="2" charset="-122"/>
              </a:rPr>
              <a:t>       </a:t>
            </a:r>
            <a:r>
              <a:rPr kumimoji="1" lang="zh-CN" altLang="en-US" dirty="0">
                <a:latin typeface="宋体" panose="02010600030101010101" pitchFamily="2" charset="-122"/>
              </a:rPr>
              <a:t>└</a:t>
            </a:r>
            <a:r>
              <a:rPr kumimoji="1" lang="zh-CN" altLang="en-US" b="1" dirty="0">
                <a:latin typeface="宋体" panose="02010600030101010101" pitchFamily="2" charset="-122"/>
              </a:rPr>
              <a:t>←访问粒度＞</a:t>
            </a:r>
            <a:r>
              <a:rPr kumimoji="1" lang="en-US" altLang="zh-CN" b="1" dirty="0">
                <a:latin typeface="宋体" panose="02010600030101010101" pitchFamily="2" charset="-122"/>
              </a:rPr>
              <a:t>1</a:t>
            </a:r>
            <a:r>
              <a:rPr kumimoji="1" lang="zh-CN" altLang="en-US" b="1" dirty="0">
                <a:latin typeface="宋体" panose="02010600030101010101" pitchFamily="2" charset="-122"/>
              </a:rPr>
              <a:t>种时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如</a:t>
            </a:r>
            <a:r>
              <a:rPr kumimoji="1" lang="en-US" altLang="zh-CN" b="1" dirty="0">
                <a:latin typeface="宋体" panose="02010600030101010101" pitchFamily="2" charset="-122"/>
              </a:rPr>
              <a:t>sb</a:t>
            </a:r>
            <a:r>
              <a:rPr kumimoji="1" lang="zh-CN" altLang="en-US" b="1" dirty="0">
                <a:latin typeface="宋体" panose="02010600030101010101" pitchFamily="2" charset="-122"/>
              </a:rPr>
              <a:t>指令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r>
              <a:rPr kumimoji="1" lang="zh-CN" altLang="en-US" b="1" dirty="0">
                <a:latin typeface="宋体" panose="02010600030101010101" pitchFamily="2" charset="-122"/>
              </a:rPr>
              <a:t>，需设置数据掩码引脚</a:t>
            </a:r>
            <a:endParaRPr kumimoji="1"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31" name="Text Box 116"/>
          <p:cNvSpPr txBox="1">
            <a:spLocks noChangeArrowheads="1"/>
          </p:cNvSpPr>
          <p:nvPr/>
        </p:nvSpPr>
        <p:spPr bwMode="auto">
          <a:xfrm>
            <a:off x="3131820" y="1412875"/>
            <a:ext cx="5832793" cy="15530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200" b="1" dirty="0" err="1">
                <a:latin typeface="+mn-ea"/>
              </a:rPr>
              <a:t>DBus</a:t>
            </a:r>
            <a:r>
              <a:rPr kumimoji="1" lang="zh-CN" altLang="en-US" sz="2200" b="1" dirty="0">
                <a:latin typeface="+mn-ea"/>
              </a:rPr>
              <a:t>＝</a:t>
            </a:r>
            <a:r>
              <a:rPr kumimoji="1" lang="en-US" altLang="zh-CN" sz="2200" b="1" dirty="0">
                <a:latin typeface="+mn-ea"/>
              </a:rPr>
              <a:t>32b</a:t>
            </a:r>
            <a:r>
              <a:rPr kumimoji="1" lang="zh-CN" altLang="en-US" sz="2200" b="1" dirty="0">
                <a:latin typeface="+mn-ea"/>
              </a:rPr>
              <a:t>，</a:t>
            </a:r>
            <a:r>
              <a:rPr kumimoji="1" lang="en-US" altLang="zh-CN" sz="2200" b="1" dirty="0" err="1">
                <a:latin typeface="+mn-ea"/>
              </a:rPr>
              <a:t>ABus</a:t>
            </a:r>
            <a:r>
              <a:rPr kumimoji="1" lang="zh-CN" altLang="en-US" sz="2200" b="1" dirty="0">
                <a:latin typeface="+mn-ea"/>
              </a:rPr>
              <a:t>＝</a:t>
            </a:r>
            <a:r>
              <a:rPr kumimoji="1" lang="en-US" altLang="zh-CN" sz="2200" b="1" dirty="0">
                <a:latin typeface="+mn-ea"/>
              </a:rPr>
              <a:t>30b</a:t>
            </a:r>
            <a:r>
              <a:rPr kumimoji="1" lang="zh-CN" altLang="en-US" sz="2200" b="1" dirty="0">
                <a:latin typeface="+mn-ea"/>
              </a:rPr>
              <a:t>，</a:t>
            </a:r>
            <a:r>
              <a:rPr kumimoji="1" lang="en-US" altLang="zh-CN" sz="2200" b="1" dirty="0" err="1">
                <a:latin typeface="+mn-ea"/>
              </a:rPr>
              <a:t>CBus</a:t>
            </a:r>
            <a:r>
              <a:rPr kumimoji="1" lang="zh-CN" altLang="en-US" sz="2200" b="1" dirty="0">
                <a:latin typeface="+mn-ea"/>
              </a:rPr>
              <a:t>＝</a:t>
            </a:r>
            <a:r>
              <a:rPr kumimoji="1" lang="en-US" altLang="zh-CN" sz="2200" b="1" dirty="0">
                <a:latin typeface="+mn-ea"/>
              </a:rPr>
              <a:t>Rd/</a:t>
            </a:r>
            <a:r>
              <a:rPr kumimoji="1" lang="en-US" altLang="zh-CN" sz="2200" b="1" dirty="0" err="1">
                <a:latin typeface="+mn-ea"/>
              </a:rPr>
              <a:t>Wr</a:t>
            </a:r>
            <a:r>
              <a:rPr kumimoji="1" lang="en-US" altLang="zh-CN" sz="2200" b="1" dirty="0">
                <a:latin typeface="+mn-ea"/>
              </a:rPr>
              <a:t>/</a:t>
            </a:r>
            <a:r>
              <a:rPr kumimoji="1" lang="en-US" altLang="zh-CN" sz="2200" b="1" dirty="0" err="1">
                <a:latin typeface="+mn-ea"/>
              </a:rPr>
              <a:t>Clk</a:t>
            </a:r>
            <a:r>
              <a:rPr kumimoji="1" lang="zh-CN" altLang="en-US" sz="2200" b="1" dirty="0">
                <a:latin typeface="+mn-ea"/>
              </a:rPr>
              <a:t>；</a:t>
            </a:r>
            <a:endParaRPr kumimoji="1" lang="en-US" altLang="zh-CN" sz="2200" b="1" dirty="0">
              <a:latin typeface="+mn-ea"/>
            </a:endParaRPr>
          </a:p>
          <a:p>
            <a:pPr>
              <a:lnSpc>
                <a:spcPct val="90000"/>
              </a:lnSpc>
            </a:pPr>
            <a:r>
              <a:rPr kumimoji="1" lang="en-US" altLang="zh-CN" b="1" dirty="0">
                <a:latin typeface="+mn-ea"/>
              </a:rPr>
              <a:t> (DBIU</a:t>
            </a:r>
            <a:r>
              <a:rPr kumimoji="1" lang="zh-CN" altLang="en-US" b="1" dirty="0">
                <a:latin typeface="+mn-ea"/>
              </a:rPr>
              <a:t>为</a:t>
            </a:r>
            <a:r>
              <a:rPr kumimoji="1" lang="en-US" altLang="zh-CN" b="1" dirty="0">
                <a:latin typeface="+mn-ea"/>
              </a:rPr>
              <a:t>2</a:t>
            </a:r>
            <a:r>
              <a:rPr kumimoji="1" lang="zh-CN" altLang="en-US" b="1" dirty="0">
                <a:latin typeface="+mn-ea"/>
              </a:rPr>
              <a:t>组</a:t>
            </a:r>
            <a:r>
              <a:rPr kumimoji="1" lang="en-US" altLang="zh-CN" b="1" dirty="0">
                <a:latin typeface="+mn-ea"/>
              </a:rPr>
              <a:t>)                      (IBIU</a:t>
            </a:r>
            <a:r>
              <a:rPr kumimoji="1" lang="zh-CN" altLang="en-US" b="1" dirty="0">
                <a:latin typeface="+mn-ea"/>
              </a:rPr>
              <a:t>无</a:t>
            </a:r>
            <a:r>
              <a:rPr kumimoji="1" lang="en-US" altLang="zh-CN" b="1" dirty="0" err="1">
                <a:latin typeface="+mn-ea"/>
              </a:rPr>
              <a:t>Wr</a:t>
            </a:r>
            <a:r>
              <a:rPr kumimoji="1" lang="en-US" altLang="zh-CN" b="1" dirty="0">
                <a:latin typeface="+mn-ea"/>
              </a:rPr>
              <a:t>)</a:t>
            </a:r>
            <a:endParaRPr kumimoji="1" lang="en-US" altLang="zh-CN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200" b="1" dirty="0">
                <a:latin typeface="+mn-ea"/>
              </a:rPr>
              <a:t>存取周期＜</a:t>
            </a:r>
            <a:r>
              <a:rPr kumimoji="1" lang="en-US" altLang="zh-CN" sz="2200" b="1" dirty="0">
                <a:latin typeface="+mn-ea"/>
              </a:rPr>
              <a:t>1Clk       </a:t>
            </a:r>
            <a:r>
              <a:rPr kumimoji="1" lang="en-US" altLang="zh-CN" b="1" dirty="0">
                <a:latin typeface="+mn-ea"/>
              </a:rPr>
              <a:t>←</a:t>
            </a:r>
            <a:r>
              <a:rPr kumimoji="1" lang="zh-CN" altLang="en-US" b="1" dirty="0">
                <a:latin typeface="+mn-ea"/>
              </a:rPr>
              <a:t>只能为常规传输方式</a:t>
            </a:r>
            <a:endParaRPr kumimoji="1" lang="en-US" altLang="zh-CN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200" b="1" dirty="0">
                <a:latin typeface="宋体" panose="02010600030101010101" pitchFamily="2" charset="-122"/>
              </a:rPr>
              <a:t>数据引脚同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DBus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，传输协议满足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CPU</a:t>
            </a:r>
            <a:endParaRPr kumimoji="1"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3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3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868144" y="4262175"/>
            <a:ext cx="2675098" cy="462969"/>
            <a:chOff x="5364088" y="6237312"/>
            <a:chExt cx="2675098" cy="462969"/>
          </a:xfrm>
        </p:grpSpPr>
        <p:sp>
          <p:nvSpPr>
            <p:cNvPr id="14" name="Text Box 237"/>
            <p:cNvSpPr txBox="1">
              <a:spLocks noChangeArrowheads="1"/>
            </p:cNvSpPr>
            <p:nvPr/>
          </p:nvSpPr>
          <p:spPr bwMode="auto">
            <a:xfrm>
              <a:off x="6804248" y="6237312"/>
              <a:ext cx="1234938" cy="288032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12 34 56 78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7113242" y="6237312"/>
              <a:ext cx="0" cy="288032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7751154" y="6245696"/>
              <a:ext cx="0" cy="288032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14" idx="0"/>
              <a:endCxn id="14" idx="2"/>
            </p:cNvCxnSpPr>
            <p:nvPr/>
          </p:nvCxnSpPr>
          <p:spPr>
            <a:xfrm>
              <a:off x="7421717" y="6237312"/>
              <a:ext cx="0" cy="288032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 Box 237"/>
            <p:cNvSpPr txBox="1">
              <a:spLocks noChangeArrowheads="1"/>
            </p:cNvSpPr>
            <p:nvPr/>
          </p:nvSpPr>
          <p:spPr bwMode="auto">
            <a:xfrm>
              <a:off x="6804248" y="6533728"/>
              <a:ext cx="1234938" cy="16655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3#</a:t>
              </a:r>
              <a:r>
                <a:rPr lang="en-US" altLang="zh-CN" sz="11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4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2#</a:t>
              </a:r>
              <a:r>
                <a:rPr lang="en-US" altLang="zh-CN" sz="11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4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1#</a:t>
              </a:r>
              <a:r>
                <a:rPr lang="en-US" altLang="zh-CN" sz="11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400" b="1" dirty="0">
                  <a:solidFill>
                    <a:srgbClr val="CC6600"/>
                  </a:solidFill>
                  <a:latin typeface="宋体" panose="02010600030101010101" pitchFamily="2" charset="-122"/>
                </a:rPr>
                <a:t>0#</a:t>
              </a:r>
              <a:endParaRPr lang="zh-CN" altLang="en-US" sz="1400" b="1" dirty="0">
                <a:solidFill>
                  <a:srgbClr val="CC66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" name="Text Box 237"/>
            <p:cNvSpPr txBox="1">
              <a:spLocks noChangeArrowheads="1"/>
            </p:cNvSpPr>
            <p:nvPr/>
          </p:nvSpPr>
          <p:spPr bwMode="auto">
            <a:xfrm>
              <a:off x="5364088" y="6237312"/>
              <a:ext cx="1162930" cy="28803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值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12345678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" name="左右箭头 3"/>
            <p:cNvSpPr/>
            <p:nvPr/>
          </p:nvSpPr>
          <p:spPr>
            <a:xfrm>
              <a:off x="6516216" y="6308675"/>
              <a:ext cx="238088" cy="143768"/>
            </a:xfrm>
            <a:prstGeom prst="leftRightArrow">
              <a:avLst>
                <a:gd name="adj1" fmla="val 43765"/>
                <a:gd name="adj2" fmla="val 50000"/>
              </a:avLst>
            </a:prstGeom>
            <a:noFill/>
            <a:ln w="12700">
              <a:solidFill>
                <a:srgbClr val="99009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2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16"/>
          <p:cNvSpPr txBox="1">
            <a:spLocks noChangeArrowheads="1"/>
          </p:cNvSpPr>
          <p:nvPr/>
        </p:nvSpPr>
        <p:spPr bwMode="auto">
          <a:xfrm>
            <a:off x="179512" y="1340768"/>
            <a:ext cx="8785101" cy="26502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*连接电路设计：</a:t>
            </a:r>
            <a:endParaRPr kumimoji="1"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CPU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的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BIU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接口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solidFill>
                <a:srgbClr val="3333FF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  </a:t>
            </a:r>
            <a:r>
              <a:rPr kumimoji="1"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IBIU</a:t>
            </a:r>
            <a:r>
              <a:rPr kumimoji="1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ABus</a:t>
            </a:r>
            <a:r>
              <a:rPr kumimoji="1" lang="zh-CN" altLang="en-US" sz="2200" b="1" dirty="0">
                <a:latin typeface="+mn-ea"/>
              </a:rPr>
              <a:t>＝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30b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DBus</a:t>
            </a:r>
            <a:r>
              <a:rPr kumimoji="1" lang="zh-CN" altLang="en-US" sz="2200" b="1" dirty="0">
                <a:latin typeface="+mn-ea"/>
              </a:rPr>
              <a:t>＝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32b*1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CBus</a:t>
            </a:r>
            <a:r>
              <a:rPr kumimoji="1" lang="zh-CN" altLang="en-US" sz="2200" b="1" dirty="0">
                <a:latin typeface="+mn-ea"/>
              </a:rPr>
              <a:t>＝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2b</a:t>
            </a:r>
            <a:r>
              <a:rPr kumimoji="1" lang="en-US" altLang="zh-CN" b="1" dirty="0">
                <a:latin typeface="宋体" panose="02010600030101010101" pitchFamily="2" charset="-122"/>
              </a:rPr>
              <a:t>(Rd/</a:t>
            </a:r>
            <a:r>
              <a:rPr kumimoji="1" lang="en-US" altLang="zh-CN" b="1" dirty="0" err="1">
                <a:latin typeface="宋体" panose="02010600030101010101" pitchFamily="2" charset="-122"/>
              </a:rPr>
              <a:t>Clk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DBIU</a:t>
            </a:r>
            <a:r>
              <a:rPr kumimoji="1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ABus</a:t>
            </a:r>
            <a:r>
              <a:rPr kumimoji="1" lang="zh-CN" altLang="en-US" sz="2200" b="1" dirty="0">
                <a:latin typeface="+mn-ea"/>
              </a:rPr>
              <a:t>＝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30b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DBus</a:t>
            </a:r>
            <a:r>
              <a:rPr kumimoji="1" lang="zh-CN" altLang="en-US" sz="2200" b="1" dirty="0">
                <a:latin typeface="+mn-ea"/>
              </a:rPr>
              <a:t>＝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32b*2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CBus</a:t>
            </a:r>
            <a:r>
              <a:rPr kumimoji="1" lang="zh-CN" altLang="en-US" sz="2200" b="1" dirty="0">
                <a:latin typeface="+mn-ea"/>
              </a:rPr>
              <a:t>＝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3b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en-US" altLang="zh-CN" b="1" dirty="0" err="1">
                <a:latin typeface="宋体" panose="02010600030101010101" pitchFamily="2" charset="-122"/>
              </a:rPr>
              <a:t>Wr</a:t>
            </a:r>
            <a:r>
              <a:rPr kumimoji="1" lang="en-US" altLang="zh-CN" b="1" dirty="0">
                <a:latin typeface="宋体" panose="02010600030101010101" pitchFamily="2" charset="-122"/>
              </a:rPr>
              <a:t>/Rd/</a:t>
            </a:r>
            <a:r>
              <a:rPr kumimoji="1" lang="en-US" altLang="zh-CN" b="1" dirty="0" err="1">
                <a:latin typeface="宋体" panose="02010600030101010101" pitchFamily="2" charset="-122"/>
              </a:rPr>
              <a:t>Clk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IMEM/DMEM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接口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内部逻辑</a:t>
            </a:r>
            <a:r>
              <a:rPr kumimoji="1" lang="en-US" altLang="zh-CN" sz="2200" b="1" dirty="0">
                <a:solidFill>
                  <a:srgbClr val="3333FF"/>
                </a:solidFill>
                <a:latin typeface="宋体" panose="02010600030101010101" pitchFamily="2" charset="-122"/>
              </a:rPr>
              <a:t>—</a:t>
            </a:r>
            <a:endParaRPr kumimoji="1"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5" name="Text Box 78"/>
          <p:cNvSpPr txBox="1">
            <a:spLocks noChangeArrowheads="1"/>
          </p:cNvSpPr>
          <p:nvPr/>
        </p:nvSpPr>
        <p:spPr bwMode="auto">
          <a:xfrm>
            <a:off x="179388" y="404664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二、主存连接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144" name="组合 143"/>
          <p:cNvGrpSpPr/>
          <p:nvPr/>
        </p:nvGrpSpPr>
        <p:grpSpPr>
          <a:xfrm>
            <a:off x="1979712" y="4025390"/>
            <a:ext cx="5832648" cy="1015222"/>
            <a:chOff x="1475656" y="2225190"/>
            <a:chExt cx="5832648" cy="1015222"/>
          </a:xfrm>
        </p:grpSpPr>
        <p:sp>
          <p:nvSpPr>
            <p:cNvPr id="30" name="Text Box 237"/>
            <p:cNvSpPr txBox="1">
              <a:spLocks noChangeArrowheads="1"/>
            </p:cNvSpPr>
            <p:nvPr/>
          </p:nvSpPr>
          <p:spPr bwMode="auto">
            <a:xfrm>
              <a:off x="6660232" y="2232412"/>
              <a:ext cx="648072" cy="100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180000"/>
                </a:lnSpc>
              </a:pPr>
              <a:r>
                <a:rPr lang="en-US" altLang="zh-CN" b="1" dirty="0">
                  <a:latin typeface="宋体" panose="02010600030101010101" pitchFamily="2" charset="-122"/>
                </a:rPr>
                <a:t>DMEM</a:t>
              </a:r>
              <a:endParaRPr lang="en-US" altLang="zh-CN" b="1" dirty="0">
                <a:latin typeface="宋体" panose="02010600030101010101" pitchFamily="2" charset="-122"/>
              </a:endParaRPr>
            </a:p>
            <a:p>
              <a:r>
                <a:rPr lang="en-US" altLang="zh-CN" sz="1400" b="1" dirty="0">
                  <a:latin typeface="宋体" panose="02010600030101010101" pitchFamily="2" charset="-122"/>
                </a:rPr>
                <a:t>CS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WE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400" b="1" dirty="0" err="1">
                  <a:latin typeface="宋体" panose="02010600030101010101" pitchFamily="2" charset="-122"/>
                </a:rPr>
                <a:t>Clk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04" name="直接箭头连接符 103"/>
            <p:cNvCxnSpPr/>
            <p:nvPr/>
          </p:nvCxnSpPr>
          <p:spPr bwMode="auto">
            <a:xfrm>
              <a:off x="6012160" y="2426770"/>
              <a:ext cx="636889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5" name="直接连接符 104"/>
            <p:cNvCxnSpPr/>
            <p:nvPr/>
          </p:nvCxnSpPr>
          <p:spPr>
            <a:xfrm>
              <a:off x="6228184" y="2391684"/>
              <a:ext cx="72008" cy="558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/>
            <p:cNvCxnSpPr/>
            <p:nvPr/>
          </p:nvCxnSpPr>
          <p:spPr bwMode="auto">
            <a:xfrm>
              <a:off x="6012160" y="2858818"/>
              <a:ext cx="636889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07" name="直接箭头连接符 106"/>
            <p:cNvCxnSpPr/>
            <p:nvPr/>
          </p:nvCxnSpPr>
          <p:spPr bwMode="auto">
            <a:xfrm>
              <a:off x="6012160" y="3002834"/>
              <a:ext cx="636889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08" name="直接箭头连接符 107"/>
            <p:cNvCxnSpPr/>
            <p:nvPr/>
          </p:nvCxnSpPr>
          <p:spPr bwMode="auto">
            <a:xfrm>
              <a:off x="6012160" y="3146850"/>
              <a:ext cx="63689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9" name="直接箭头连接符 108"/>
            <p:cNvCxnSpPr/>
            <p:nvPr/>
          </p:nvCxnSpPr>
          <p:spPr bwMode="auto">
            <a:xfrm>
              <a:off x="6012160" y="2642794"/>
              <a:ext cx="63689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0" name="直接箭头连接符 109"/>
            <p:cNvCxnSpPr/>
            <p:nvPr/>
          </p:nvCxnSpPr>
          <p:spPr bwMode="auto">
            <a:xfrm flipH="1">
              <a:off x="6012160" y="2714802"/>
              <a:ext cx="648072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2" name="Text Box 237"/>
            <p:cNvSpPr txBox="1">
              <a:spLocks noChangeArrowheads="1"/>
            </p:cNvSpPr>
            <p:nvPr/>
          </p:nvSpPr>
          <p:spPr bwMode="auto">
            <a:xfrm>
              <a:off x="1475656" y="2232412"/>
              <a:ext cx="648072" cy="100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180000"/>
                </a:lnSpc>
              </a:pPr>
              <a:r>
                <a:rPr lang="en-US" altLang="zh-CN" b="1" dirty="0">
                  <a:latin typeface="宋体" panose="02010600030101010101" pitchFamily="2" charset="-122"/>
                </a:rPr>
                <a:t>IMEM</a:t>
              </a:r>
              <a:endParaRPr lang="en-US" altLang="zh-CN" b="1" dirty="0">
                <a:latin typeface="宋体" panose="02010600030101010101" pitchFamily="2" charset="-122"/>
              </a:endParaRPr>
            </a:p>
            <a:p>
              <a:pPr algn="r"/>
              <a:r>
                <a:rPr lang="en-US" altLang="zh-CN" sz="1400" b="1" dirty="0">
                  <a:latin typeface="宋体" panose="02010600030101010101" pitchFamily="2" charset="-122"/>
                </a:rPr>
                <a:t>CS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70000"/>
                </a:lnSpc>
              </a:pP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70000"/>
                </a:lnSpc>
              </a:pPr>
              <a:r>
                <a:rPr lang="en-US" altLang="zh-CN" sz="1400" b="1" dirty="0" err="1">
                  <a:latin typeface="宋体" panose="02010600030101010101" pitchFamily="2" charset="-122"/>
                </a:rPr>
                <a:t>Clk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5" name="直接箭头连接符 114"/>
            <p:cNvCxnSpPr/>
            <p:nvPr/>
          </p:nvCxnSpPr>
          <p:spPr bwMode="auto">
            <a:xfrm flipH="1">
              <a:off x="2112545" y="2426770"/>
              <a:ext cx="65925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6" name="直接箭头连接符 115"/>
            <p:cNvCxnSpPr/>
            <p:nvPr/>
          </p:nvCxnSpPr>
          <p:spPr bwMode="auto">
            <a:xfrm>
              <a:off x="2123728" y="2642794"/>
              <a:ext cx="63689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4" name="直接箭头连接符 123"/>
            <p:cNvCxnSpPr/>
            <p:nvPr/>
          </p:nvCxnSpPr>
          <p:spPr bwMode="auto">
            <a:xfrm flipH="1">
              <a:off x="2123728" y="2858818"/>
              <a:ext cx="64807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25" name="直接箭头连接符 124"/>
            <p:cNvCxnSpPr/>
            <p:nvPr/>
          </p:nvCxnSpPr>
          <p:spPr bwMode="auto">
            <a:xfrm flipH="1">
              <a:off x="2123728" y="3146850"/>
              <a:ext cx="64807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7" name="直接连接符 126"/>
            <p:cNvCxnSpPr/>
            <p:nvPr/>
          </p:nvCxnSpPr>
          <p:spPr>
            <a:xfrm>
              <a:off x="2339752" y="2399062"/>
              <a:ext cx="72008" cy="558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 Box 320"/>
            <p:cNvSpPr txBox="1">
              <a:spLocks noChangeArrowheads="1"/>
            </p:cNvSpPr>
            <p:nvPr/>
          </p:nvSpPr>
          <p:spPr bwMode="auto">
            <a:xfrm>
              <a:off x="6228184" y="2225190"/>
              <a:ext cx="216024" cy="20746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10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30" name="Text Box 320"/>
            <p:cNvSpPr txBox="1">
              <a:spLocks noChangeArrowheads="1"/>
            </p:cNvSpPr>
            <p:nvPr/>
          </p:nvSpPr>
          <p:spPr bwMode="auto">
            <a:xfrm>
              <a:off x="2339752" y="2232412"/>
              <a:ext cx="216024" cy="2002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10</a:t>
              </a:r>
              <a:endParaRPr lang="zh-CN" altLang="en-US" sz="1400" b="1" baseline="-20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142" name="Text Box 116"/>
          <p:cNvSpPr txBox="1">
            <a:spLocks noChangeArrowheads="1"/>
          </p:cNvSpPr>
          <p:nvPr/>
        </p:nvSpPr>
        <p:spPr bwMode="auto">
          <a:xfrm>
            <a:off x="1331639" y="5661248"/>
            <a:ext cx="7056785" cy="744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注意：</a:t>
            </a:r>
            <a:r>
              <a:rPr kumimoji="1" lang="en-US" altLang="zh-CN" sz="2000" b="1" dirty="0">
                <a:latin typeface="宋体" panose="02010600030101010101" pitchFamily="2" charset="-122"/>
              </a:rPr>
              <a:t> BIU</a:t>
            </a:r>
            <a:r>
              <a:rPr kumimoji="1"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输出的</a:t>
            </a:r>
            <a:r>
              <a:rPr kumimoji="1" lang="zh-CN" altLang="en-US" sz="2000" b="1" dirty="0">
                <a:latin typeface="宋体" panose="02010600030101010101" pitchFamily="2" charset="-122"/>
              </a:rPr>
              <a:t>时钟信号</a:t>
            </a:r>
            <a:r>
              <a:rPr kumimoji="1" lang="zh-CN" altLang="en-US" sz="20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不同于</a:t>
            </a:r>
            <a:r>
              <a:rPr kumimoji="1" lang="en-US" altLang="zh-CN" sz="2000" b="1" dirty="0">
                <a:latin typeface="宋体" panose="02010600030101010101" pitchFamily="2" charset="-122"/>
              </a:rPr>
              <a:t>CPU</a:t>
            </a:r>
            <a:r>
              <a:rPr kumimoji="1"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输入的</a:t>
            </a:r>
            <a:r>
              <a:rPr kumimoji="1" lang="zh-CN" altLang="en-US" sz="2000" b="1" dirty="0">
                <a:latin typeface="宋体" panose="02010600030101010101" pitchFamily="2" charset="-122"/>
              </a:rPr>
              <a:t>时钟信号</a:t>
            </a:r>
            <a:endParaRPr kumimoji="1"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kumimoji="1" lang="zh-CN" altLang="en-US" sz="1600" b="1" dirty="0">
                <a:latin typeface="宋体" panose="02010600030101010101" pitchFamily="2" charset="-122"/>
              </a:rPr>
              <a:t>                </a:t>
            </a:r>
            <a:r>
              <a:rPr kumimoji="1" lang="zh-CN" altLang="en-US" sz="1600" dirty="0">
                <a:latin typeface="宋体" panose="02010600030101010101" pitchFamily="2" charset="-122"/>
              </a:rPr>
              <a:t>└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←用于从设备               </a:t>
            </a:r>
            <a:r>
              <a:rPr kumimoji="1" lang="zh-CN" altLang="en-US" sz="1600" dirty="0">
                <a:latin typeface="宋体" panose="02010600030101010101" pitchFamily="2" charset="-122"/>
              </a:rPr>
              <a:t>└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←用于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CPU</a:t>
            </a:r>
            <a:r>
              <a:rPr kumimoji="1" lang="zh-CN" altLang="en-US" sz="1600" b="1" dirty="0">
                <a:latin typeface="宋体" panose="02010600030101010101" pitchFamily="2" charset="-122"/>
              </a:rPr>
              <a:t>内部</a:t>
            </a:r>
            <a:r>
              <a:rPr kumimoji="1" lang="en-US" altLang="zh-CN" sz="1600" b="1" dirty="0" err="1">
                <a:latin typeface="宋体" panose="02010600030101010101" pitchFamily="2" charset="-122"/>
              </a:rPr>
              <a:t>uOP</a:t>
            </a:r>
            <a:endParaRPr kumimoji="1" lang="en-US" altLang="zh-CN" sz="1600" dirty="0">
              <a:latin typeface="宋体" panose="02010600030101010101" pitchFamily="2" charset="-122"/>
            </a:endParaRPr>
          </a:p>
        </p:txBody>
      </p:sp>
      <p:sp>
        <p:nvSpPr>
          <p:cNvPr id="145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Text Box 116"/>
          <p:cNvSpPr txBox="1">
            <a:spLocks noChangeArrowheads="1"/>
          </p:cNvSpPr>
          <p:nvPr/>
        </p:nvSpPr>
        <p:spPr bwMode="auto">
          <a:xfrm>
            <a:off x="179512" y="908720"/>
            <a:ext cx="8785225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*连接方法：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基于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CPU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、主存的引脚信号，设计连接电路</a:t>
            </a:r>
            <a:endParaRPr kumimoji="1" lang="en-US" altLang="zh-CN" sz="2200" b="1" dirty="0">
              <a:latin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264674" y="4017546"/>
            <a:ext cx="3251542" cy="1001512"/>
            <a:chOff x="2976642" y="2865418"/>
            <a:chExt cx="3251542" cy="1001512"/>
          </a:xfrm>
        </p:grpSpPr>
        <p:sp>
          <p:nvSpPr>
            <p:cNvPr id="59" name="Text Box 238"/>
            <p:cNvSpPr txBox="1">
              <a:spLocks noChangeArrowheads="1"/>
            </p:cNvSpPr>
            <p:nvPr/>
          </p:nvSpPr>
          <p:spPr bwMode="auto">
            <a:xfrm>
              <a:off x="5928970" y="2873262"/>
              <a:ext cx="299214" cy="99366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36000" tIns="10800" rIns="18000" bIns="10800" anchor="ctr"/>
            <a:lstStyle/>
            <a:p>
              <a:pPr algn="ctr"/>
              <a:r>
                <a:rPr lang="zh-CN" altLang="en-US" b="1" dirty="0">
                  <a:latin typeface="宋体" panose="02010600030101010101" pitchFamily="2" charset="-122"/>
                </a:rPr>
                <a:t>连接电路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1" name="Text Box 238"/>
            <p:cNvSpPr txBox="1">
              <a:spLocks noChangeArrowheads="1"/>
            </p:cNvSpPr>
            <p:nvPr/>
          </p:nvSpPr>
          <p:spPr bwMode="auto">
            <a:xfrm>
              <a:off x="2976642" y="2865418"/>
              <a:ext cx="299214" cy="99366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36000" tIns="10800" rIns="18000" bIns="10800" anchor="ctr"/>
            <a:lstStyle/>
            <a:p>
              <a:pPr algn="ctr"/>
              <a:r>
                <a:rPr lang="zh-CN" altLang="en-US" b="1" dirty="0">
                  <a:latin typeface="宋体" panose="02010600030101010101" pitchFamily="2" charset="-122"/>
                </a:rPr>
                <a:t>连接电路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619672" y="4977216"/>
            <a:ext cx="2988176" cy="540016"/>
            <a:chOff x="1331640" y="3825088"/>
            <a:chExt cx="2988176" cy="540016"/>
          </a:xfrm>
        </p:grpSpPr>
        <p:cxnSp>
          <p:nvCxnSpPr>
            <p:cNvPr id="64" name="直接箭头连接符 63"/>
            <p:cNvCxnSpPr>
              <a:stCxn id="72" idx="3"/>
            </p:cNvCxnSpPr>
            <p:nvPr/>
          </p:nvCxnSpPr>
          <p:spPr bwMode="auto">
            <a:xfrm flipV="1">
              <a:off x="2669380" y="4008006"/>
              <a:ext cx="1650436" cy="21308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660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5" name="直接箭头连接符 64"/>
            <p:cNvCxnSpPr>
              <a:stCxn id="72" idx="3"/>
            </p:cNvCxnSpPr>
            <p:nvPr/>
          </p:nvCxnSpPr>
          <p:spPr bwMode="auto">
            <a:xfrm flipV="1">
              <a:off x="2669380" y="3825088"/>
              <a:ext cx="1038524" cy="39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660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2" name="Text Box 237"/>
            <p:cNvSpPr txBox="1">
              <a:spLocks noChangeArrowheads="1"/>
            </p:cNvSpPr>
            <p:nvPr/>
          </p:nvSpPr>
          <p:spPr bwMode="auto">
            <a:xfrm>
              <a:off x="1331640" y="4077072"/>
              <a:ext cx="1337740" cy="288032"/>
            </a:xfrm>
            <a:prstGeom prst="rect">
              <a:avLst/>
            </a:prstGeom>
            <a:noFill/>
            <a:ln w="12700">
              <a:solidFill>
                <a:srgbClr val="CC6600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频率通常不同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195736" y="3068960"/>
            <a:ext cx="6840760" cy="885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200" b="1" dirty="0">
                <a:latin typeface="宋体" panose="02010600030101010101" pitchFamily="2" charset="-122"/>
              </a:rPr>
              <a:t>     地址</a:t>
            </a:r>
            <a:r>
              <a:rPr kumimoji="1" lang="zh-CN" altLang="en-US" sz="2200" b="1" dirty="0">
                <a:latin typeface="+mn-ea"/>
              </a:rPr>
              <a:t>＝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10b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、数据</a:t>
            </a:r>
            <a:r>
              <a:rPr kumimoji="1" lang="zh-CN" altLang="en-US" sz="2200" b="1" dirty="0">
                <a:latin typeface="+mn-ea"/>
              </a:rPr>
              <a:t>＝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32*1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及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32b*2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、控制</a:t>
            </a:r>
            <a:r>
              <a:rPr kumimoji="1" lang="zh-CN" altLang="en-US" sz="2200" b="1" dirty="0">
                <a:latin typeface="+mn-ea"/>
              </a:rPr>
              <a:t>＝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2b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及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3b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kumimoji="1" lang="zh-CN" altLang="en-US" sz="2000" b="1" dirty="0">
                <a:latin typeface="宋体" panose="02010600030101010101" pitchFamily="2" charset="-122"/>
              </a:rPr>
              <a:t>自行设计</a:t>
            </a:r>
            <a:r>
              <a:rPr kumimoji="1" lang="en-US" altLang="zh-CN" sz="2000" b="1" dirty="0">
                <a:latin typeface="宋体" panose="02010600030101010101" pitchFamily="2" charset="-122"/>
              </a:rPr>
              <a:t>(</a:t>
            </a:r>
            <a:r>
              <a:rPr kumimoji="1" lang="zh-CN" altLang="en-US" sz="2000" b="1" dirty="0">
                <a:latin typeface="宋体" panose="02010600030101010101" pitchFamily="2" charset="-122"/>
              </a:rPr>
              <a:t>很简单</a:t>
            </a:r>
            <a:r>
              <a:rPr kumimoji="1" lang="en-US" altLang="zh-CN" sz="2000" b="1" dirty="0">
                <a:latin typeface="宋体" panose="02010600030101010101" pitchFamily="2" charset="-122"/>
              </a:rPr>
              <a:t>)</a:t>
            </a:r>
            <a:endParaRPr kumimoji="1" lang="en-US" altLang="zh-CN" sz="2000" b="1" dirty="0">
              <a:latin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552705" y="4005064"/>
            <a:ext cx="2675479" cy="1590058"/>
            <a:chOff x="3552705" y="3717032"/>
            <a:chExt cx="2675479" cy="1590058"/>
          </a:xfrm>
        </p:grpSpPr>
        <p:cxnSp>
          <p:nvCxnSpPr>
            <p:cNvPr id="49" name="直接箭头连接符 48"/>
            <p:cNvCxnSpPr/>
            <p:nvPr/>
          </p:nvCxnSpPr>
          <p:spPr bwMode="auto">
            <a:xfrm>
              <a:off x="5580112" y="3938938"/>
              <a:ext cx="636889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7" name="Text Box 320"/>
            <p:cNvSpPr txBox="1">
              <a:spLocks noChangeArrowheads="1"/>
            </p:cNvSpPr>
            <p:nvPr/>
          </p:nvSpPr>
          <p:spPr bwMode="auto">
            <a:xfrm>
              <a:off x="5796136" y="3744580"/>
              <a:ext cx="216024" cy="19435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30</a:t>
              </a:r>
              <a:endParaRPr lang="zh-CN" altLang="en-US" sz="14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58" name="直接连接符 57"/>
            <p:cNvCxnSpPr/>
            <p:nvPr/>
          </p:nvCxnSpPr>
          <p:spPr>
            <a:xfrm>
              <a:off x="5796136" y="3903852"/>
              <a:ext cx="72008" cy="558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 Box 237"/>
            <p:cNvSpPr txBox="1">
              <a:spLocks noChangeArrowheads="1"/>
            </p:cNvSpPr>
            <p:nvPr/>
          </p:nvSpPr>
          <p:spPr bwMode="auto">
            <a:xfrm>
              <a:off x="3971114" y="5019058"/>
              <a:ext cx="1825022" cy="288032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时钟信号产生器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 bwMode="auto">
            <a:xfrm>
              <a:off x="5580112" y="4515002"/>
              <a:ext cx="636889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88" name="直接箭头连接符 87"/>
            <p:cNvCxnSpPr/>
            <p:nvPr/>
          </p:nvCxnSpPr>
          <p:spPr bwMode="auto">
            <a:xfrm>
              <a:off x="5580112" y="4587010"/>
              <a:ext cx="636889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89" name="直接箭头连接符 88"/>
            <p:cNvCxnSpPr/>
            <p:nvPr/>
          </p:nvCxnSpPr>
          <p:spPr bwMode="auto">
            <a:xfrm>
              <a:off x="5580112" y="4659018"/>
              <a:ext cx="63689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0" name="直接箭头连接符 89"/>
            <p:cNvCxnSpPr/>
            <p:nvPr/>
          </p:nvCxnSpPr>
          <p:spPr bwMode="auto">
            <a:xfrm>
              <a:off x="5580112" y="4154962"/>
              <a:ext cx="63689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1" name="直接箭头连接符 90"/>
            <p:cNvCxnSpPr/>
            <p:nvPr/>
          </p:nvCxnSpPr>
          <p:spPr bwMode="auto">
            <a:xfrm flipH="1">
              <a:off x="5580112" y="4226970"/>
              <a:ext cx="648072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3" name="矩形 92"/>
            <p:cNvSpPr/>
            <p:nvPr/>
          </p:nvSpPr>
          <p:spPr>
            <a:xfrm>
              <a:off x="4211960" y="3717032"/>
              <a:ext cx="1368152" cy="101399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0" b="1" dirty="0">
                  <a:solidFill>
                    <a:schemeClr val="tx1"/>
                  </a:solidFill>
                  <a:latin typeface="+mn-ea"/>
                </a:rPr>
                <a:t>CPU</a:t>
              </a:r>
              <a:endParaRPr lang="zh-CN" altLang="en-US" sz="18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5" name="Text Box 237"/>
            <p:cNvSpPr txBox="1">
              <a:spLocks noChangeArrowheads="1"/>
            </p:cNvSpPr>
            <p:nvPr/>
          </p:nvSpPr>
          <p:spPr bwMode="auto">
            <a:xfrm>
              <a:off x="5292080" y="3717032"/>
              <a:ext cx="288032" cy="1013994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DBIU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6" name="Text Box 237"/>
            <p:cNvSpPr txBox="1">
              <a:spLocks noChangeArrowheads="1"/>
            </p:cNvSpPr>
            <p:nvPr/>
          </p:nvSpPr>
          <p:spPr bwMode="auto">
            <a:xfrm>
              <a:off x="4211960" y="3717032"/>
              <a:ext cx="288032" cy="1013994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IBIU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3" name="直接箭头连接符 112"/>
            <p:cNvCxnSpPr/>
            <p:nvPr/>
          </p:nvCxnSpPr>
          <p:spPr bwMode="auto">
            <a:xfrm flipH="1">
              <a:off x="3552705" y="3938938"/>
              <a:ext cx="65925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箭头连接符 116"/>
            <p:cNvCxnSpPr/>
            <p:nvPr/>
          </p:nvCxnSpPr>
          <p:spPr bwMode="auto">
            <a:xfrm>
              <a:off x="3563888" y="4154962"/>
              <a:ext cx="63689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9" name="直接箭头连接符 118"/>
            <p:cNvCxnSpPr/>
            <p:nvPr/>
          </p:nvCxnSpPr>
          <p:spPr bwMode="auto">
            <a:xfrm flipH="1">
              <a:off x="3563888" y="4587010"/>
              <a:ext cx="64807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20" name="直接箭头连接符 119"/>
            <p:cNvCxnSpPr/>
            <p:nvPr/>
          </p:nvCxnSpPr>
          <p:spPr bwMode="auto">
            <a:xfrm flipH="1">
              <a:off x="3563888" y="4659018"/>
              <a:ext cx="64807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8" name="直接连接符 127"/>
            <p:cNvCxnSpPr/>
            <p:nvPr/>
          </p:nvCxnSpPr>
          <p:spPr>
            <a:xfrm>
              <a:off x="3779912" y="3911230"/>
              <a:ext cx="72008" cy="558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 Box 320"/>
            <p:cNvSpPr txBox="1">
              <a:spLocks noChangeArrowheads="1"/>
            </p:cNvSpPr>
            <p:nvPr/>
          </p:nvSpPr>
          <p:spPr bwMode="auto">
            <a:xfrm>
              <a:off x="3779912" y="3744580"/>
              <a:ext cx="216024" cy="20612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30</a:t>
              </a:r>
              <a:endParaRPr lang="zh-CN" altLang="en-US" sz="14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33" name="直接箭头连接符 132"/>
            <p:cNvCxnSpPr/>
            <p:nvPr/>
          </p:nvCxnSpPr>
          <p:spPr bwMode="auto">
            <a:xfrm flipV="1">
              <a:off x="4644008" y="4731026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6" name="直接箭头连接符 135"/>
            <p:cNvCxnSpPr/>
            <p:nvPr/>
          </p:nvCxnSpPr>
          <p:spPr bwMode="auto">
            <a:xfrm flipV="1">
              <a:off x="5148064" y="4731026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137" name="Text Box 320"/>
            <p:cNvSpPr txBox="1">
              <a:spLocks noChangeArrowheads="1"/>
            </p:cNvSpPr>
            <p:nvPr/>
          </p:nvSpPr>
          <p:spPr bwMode="auto">
            <a:xfrm>
              <a:off x="4644008" y="4803034"/>
              <a:ext cx="1185245" cy="18126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CLK  Reset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9" name="直接连接符 138"/>
            <p:cNvCxnSpPr/>
            <p:nvPr/>
          </p:nvCxnSpPr>
          <p:spPr>
            <a:xfrm>
              <a:off x="3779912" y="4121372"/>
              <a:ext cx="72008" cy="558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 Box 320"/>
            <p:cNvSpPr txBox="1">
              <a:spLocks noChangeArrowheads="1"/>
            </p:cNvSpPr>
            <p:nvPr/>
          </p:nvSpPr>
          <p:spPr bwMode="auto">
            <a:xfrm>
              <a:off x="3779912" y="3967096"/>
              <a:ext cx="216024" cy="19374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32</a:t>
              </a:r>
              <a:endParaRPr lang="zh-CN" altLang="en-US" sz="14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62" name="Text Box 320"/>
            <p:cNvSpPr txBox="1">
              <a:spLocks noChangeArrowheads="1"/>
            </p:cNvSpPr>
            <p:nvPr/>
          </p:nvSpPr>
          <p:spPr bwMode="auto">
            <a:xfrm>
              <a:off x="5796136" y="3972308"/>
              <a:ext cx="216024" cy="19435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32</a:t>
              </a:r>
              <a:endParaRPr lang="zh-CN" altLang="en-US" sz="14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63" name="直接连接符 62"/>
            <p:cNvCxnSpPr/>
            <p:nvPr/>
          </p:nvCxnSpPr>
          <p:spPr>
            <a:xfrm>
              <a:off x="5796136" y="4135911"/>
              <a:ext cx="72008" cy="558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7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8" name="Text Box 191"/>
          <p:cNvSpPr txBox="1">
            <a:spLocks noChangeArrowheads="1"/>
          </p:cNvSpPr>
          <p:nvPr/>
        </p:nvSpPr>
        <p:spPr bwMode="auto">
          <a:xfrm>
            <a:off x="179512" y="836712"/>
            <a:ext cx="8758363" cy="457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</a:rPr>
              <a:t>、需实现的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</a:rPr>
              <a:t>15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</a:rPr>
              <a:t>条指令 </a:t>
            </a:r>
            <a:r>
              <a:rPr lang="en-US" altLang="zh-CN" b="1" dirty="0">
                <a:latin typeface="+mn-ea"/>
              </a:rPr>
              <a:t>(</a:t>
            </a:r>
            <a:r>
              <a:rPr lang="zh-CN" altLang="en-US" b="1" dirty="0">
                <a:latin typeface="+mn-ea"/>
              </a:rPr>
              <a:t>例题中有的已标出</a:t>
            </a:r>
            <a:r>
              <a:rPr lang="en-US" altLang="zh-CN" b="1" dirty="0">
                <a:latin typeface="+mn-ea"/>
              </a:rPr>
              <a:t>)</a:t>
            </a:r>
            <a:endParaRPr lang="en-US" altLang="zh-CN" sz="2200" dirty="0">
              <a:latin typeface="+mn-ea"/>
            </a:endParaRPr>
          </a:p>
        </p:txBody>
      </p:sp>
      <p:sp>
        <p:nvSpPr>
          <p:cNvPr id="10" name="Text Box 78"/>
          <p:cNvSpPr txBox="1">
            <a:spLocks noChangeArrowheads="1"/>
          </p:cNvSpPr>
          <p:nvPr/>
        </p:nvSpPr>
        <p:spPr bwMode="auto">
          <a:xfrm>
            <a:off x="179388" y="360000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en-US" altLang="zh-CN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※</a:t>
            </a:r>
            <a:r>
              <a:rPr kumimoji="1" lang="zh-CN" altLang="en-US" sz="24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课程设计相关讨论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12" name="Group 14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33036" y="1340768"/>
          <a:ext cx="8631452" cy="4773096"/>
        </p:xfrm>
        <a:graphic>
          <a:graphicData uri="http://schemas.openxmlformats.org/drawingml/2006/table">
            <a:tbl>
              <a:tblPr/>
              <a:tblGrid>
                <a:gridCol w="1286636"/>
                <a:gridCol w="504056"/>
                <a:gridCol w="504056"/>
                <a:gridCol w="432048"/>
                <a:gridCol w="1224136"/>
                <a:gridCol w="864096"/>
                <a:gridCol w="576064"/>
                <a:gridCol w="3240360"/>
              </a:tblGrid>
              <a:tr h="22987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指令格式</a:t>
                      </a:r>
                      <a:endParaRPr lang="zh-CN" altLang="en-US" sz="1800" b="1" kern="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名称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指令功能</a:t>
                      </a:r>
                      <a:endParaRPr kumimoji="1" lang="en-US" altLang="zh-CN" sz="18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29870">
                <a:tc gridSpan="4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imm[31:12]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cPr/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0110111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lui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‖000H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imm)</a:t>
                      </a: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ori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)|ZExt(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imm)</a:t>
                      </a:r>
                      <a:endParaRPr kumimoji="1" lang="en-US" altLang="zh-CN" sz="1600" b="1" i="0" u="none" strike="noStrike" kern="0" cap="none" normalizeH="0" baseline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sub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－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sll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)&lt;&lt;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slt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＜</a:t>
                      </a:r>
                      <a:r>
                        <a:rPr lang="zh-CN" altLang="en-US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有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)? 1:0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sltu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＜</a:t>
                      </a:r>
                      <a:r>
                        <a:rPr lang="zh-CN" altLang="en-US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无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)? 1:0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00000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101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0110011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sra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)&gt;&gt;</a:t>
                      </a:r>
                      <a:r>
                        <a:rPr lang="en-US" sz="1600" b="1" kern="0" baseline="-25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lb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SExt(M[(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)]</a:t>
                      </a:r>
                      <a:r>
                        <a:rPr lang="en-US" altLang="zh-CN" sz="1600" b="1" kern="0" baseline="-18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8b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2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imm[11:0]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lw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M[(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)]</a:t>
                      </a:r>
                      <a:r>
                        <a:rPr lang="en-US" altLang="zh-CN" sz="1600" b="1" kern="0" baseline="-18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32b</a:t>
                      </a:r>
                      <a:endParaRPr kumimoji="1" lang="en-US" altLang="zh-CN" sz="1600" b="1" i="0" u="none" strike="noStrike" kern="0" cap="none" normalizeH="0" baseline="-18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imm[11:5]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010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imm[4:0]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0100011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sw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M[(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＋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SExt(</a:t>
                      </a:r>
                      <a:r>
                        <a:rPr lang="en-US" altLang="zh-CN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)]</a:t>
                      </a:r>
                      <a:r>
                        <a:rPr lang="en-US" altLang="zh-CN" sz="1600" b="1" kern="0" baseline="-18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32b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en-US" altLang="zh-CN" sz="1600" b="1" i="0" u="none" strike="noStrike" kern="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imm[12|10:5]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imm[4:1|11]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beq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if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((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＝</a:t>
                      </a: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))</a:t>
                      </a:r>
                      <a:endParaRPr lang="en-US" sz="1600" b="1" kern="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  PC←(PC)+SExt(</a:t>
                      </a:r>
                      <a:r>
                        <a:rPr lang="en-US" altLang="zh-CN" sz="1600" b="1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&lt;&lt;1)</a:t>
                      </a:r>
                      <a:endParaRPr kumimoji="1" lang="en-US" altLang="zh-CN" sz="1600" b="1" i="0" u="none" strike="noStrike" kern="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imm[12|10:5]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rs2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dirty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imm[4:1|11]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1100011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blt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if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((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rs1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r>
                        <a:rPr lang="zh-CN" alt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＜</a:t>
                      </a:r>
                      <a:r>
                        <a:rPr lang="zh-CN" altLang="en-US" sz="1600" b="1" kern="0" baseline="-2500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有</a:t>
                      </a:r>
                      <a:r>
                        <a:rPr lang="en-US" altLang="zh-CN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en-US" sz="1600" b="1" kern="0" dirty="0" err="1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rs2</a:t>
                      </a:r>
                      <a:r>
                        <a:rPr lang="en-US" sz="1600" b="1" kern="0" dirty="0">
                          <a:solidFill>
                            <a:schemeClr val="tx1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))</a:t>
                      </a:r>
                      <a:endParaRPr lang="en-US" sz="1600" b="1" kern="0" dirty="0">
                        <a:solidFill>
                          <a:schemeClr val="tx1"/>
                        </a:solidFill>
                        <a:latin typeface="+mn-ea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  PC←(PC)+SExt(</a:t>
                      </a:r>
                      <a:r>
                        <a:rPr lang="en-US" altLang="zh-CN" sz="1600" b="1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&lt;&lt;1)</a:t>
                      </a:r>
                      <a:endParaRPr kumimoji="1" lang="en-US" altLang="zh-CN" sz="1600" b="1" i="0" u="none" strike="noStrike" kern="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4"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imm[20|10:1|11|19:12]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hMerge="1">
                  <a:tcPr/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 hMerge="1">
                  <a:tcPr marL="18000" marR="18000" marT="10795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1101111</a:t>
                      </a:r>
                      <a:endParaRPr kumimoji="1" lang="en-US" altLang="zh-CN" sz="1600" b="1" i="0" u="none" strike="noStrike" cap="none" normalizeH="0" baseline="0" dirty="0" err="1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jal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2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rd</a:t>
                      </a: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←(PC)+4,</a:t>
                      </a:r>
                      <a:endParaRPr lang="en-US" altLang="zh-CN" sz="1600" b="1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PC←(PC)+SExt(</a:t>
                      </a:r>
                      <a:r>
                        <a:rPr lang="en-US" altLang="zh-CN" sz="1600" b="1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imm</a:t>
                      </a:r>
                      <a:r>
                        <a:rPr lang="en-US" altLang="zh-CN" sz="1600" b="1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&lt;&lt;1)</a:t>
                      </a:r>
                      <a:endParaRPr kumimoji="1" lang="en-US" altLang="zh-CN" sz="1600" b="1" i="0" u="none" strike="noStrike" kern="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AutoShape 3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 bwMode="auto">
          <a:xfrm>
            <a:off x="4822245" y="1268760"/>
            <a:ext cx="396000" cy="972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99009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5" name="Text Box 116"/>
          <p:cNvSpPr txBox="1">
            <a:spLocks noChangeArrowheads="1"/>
          </p:cNvSpPr>
          <p:nvPr/>
        </p:nvSpPr>
        <p:spPr bwMode="auto">
          <a:xfrm>
            <a:off x="179512" y="332656"/>
            <a:ext cx="8785225" cy="29965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</a:rPr>
              <a:t>、需求分析、电路设计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</a:rPr>
              <a:t>&amp;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</a:rPr>
              <a:t>实现讨论</a:t>
            </a:r>
            <a:endParaRPr lang="en-US" altLang="zh-CN" sz="2200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(1)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指令功能、数据寻址的操作各有哪些？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lui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的操作如何实现？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(2)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指令寻址的操作有哪些？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ACU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可以复用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ExtU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吗？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(3)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ExtU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实现多种位扩展，</a:t>
            </a:r>
            <a:r>
              <a:rPr kumimoji="1" lang="en-US" altLang="zh-CN" sz="2200" b="1" dirty="0" err="1">
                <a:latin typeface="宋体" panose="02010600030101010101" pitchFamily="2" charset="-122"/>
              </a:rPr>
              <a:t>imm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的引脚应为几位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个数最少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？利弊？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(4)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指令格式解析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如</a:t>
            </a:r>
            <a:r>
              <a:rPr kumimoji="1" lang="en-US" altLang="zh-CN" b="1" dirty="0">
                <a:latin typeface="宋体" panose="02010600030101010101" pitchFamily="2" charset="-122"/>
              </a:rPr>
              <a:t>rs1/rs2)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应由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DP/CU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实现</a:t>
            </a:r>
            <a:r>
              <a:rPr kumimoji="1" lang="en-US" altLang="zh-CN" b="1" dirty="0">
                <a:latin typeface="宋体" panose="02010600030101010101" pitchFamily="2" charset="-122"/>
              </a:rPr>
              <a:t>(</a:t>
            </a:r>
            <a:r>
              <a:rPr kumimoji="1" lang="zh-CN" altLang="en-US" b="1" dirty="0">
                <a:latin typeface="宋体" panose="02010600030101010101" pitchFamily="2" charset="-122"/>
              </a:rPr>
              <a:t>电路最简</a:t>
            </a:r>
            <a:r>
              <a:rPr kumimoji="1" lang="en-US" altLang="zh-CN" b="1" dirty="0">
                <a:latin typeface="宋体" panose="02010600030101010101" pitchFamily="2" charset="-122"/>
              </a:rPr>
              <a:t>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？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(5)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提供的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GPRs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中需进行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lpm_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器件替换，如何最简实现？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(6)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信号线换名、总线部分信号线提取如何实现？</a:t>
            </a:r>
            <a:endParaRPr kumimoji="1"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0" name="Text Box 11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0000" y="3284984"/>
            <a:ext cx="8785225" cy="276569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</a:rPr>
              <a:t>3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</a:rPr>
              <a:t>、课程设计方法讨论</a:t>
            </a:r>
            <a:endParaRPr lang="en-US" altLang="zh-CN" sz="2200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(1)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需求分析</a:t>
            </a:r>
            <a:r>
              <a:rPr kumimoji="1" lang="en-US" altLang="zh-CN" sz="2200" b="1" dirty="0">
                <a:latin typeface="宋体" panose="02010600030101010101" pitchFamily="2" charset="-122"/>
              </a:rPr>
              <a:t>&amp;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电路设计时写设计报告</a:t>
            </a:r>
            <a:r>
              <a:rPr kumimoji="1" lang="zh-CN" altLang="en-US" sz="2200" b="1" dirty="0">
                <a:highlight>
                  <a:srgbClr val="FFFF00"/>
                </a:highlight>
                <a:latin typeface="宋体" panose="02010600030101010101" pitchFamily="2" charset="-122"/>
              </a:rPr>
              <a:t>草稿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好不好？</a:t>
            </a:r>
            <a:endParaRPr kumimoji="1" lang="en-US" altLang="zh-CN" sz="24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kumimoji="1" lang="zh-CN" altLang="en-US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现象</a:t>
            </a:r>
            <a:r>
              <a:rPr kumimoji="1" lang="en-US" altLang="zh-CN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kumimoji="1" lang="zh-CN" altLang="en-US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kumimoji="1" lang="zh-CN" altLang="en-US" b="1" dirty="0">
                <a:latin typeface="宋体" panose="02010600030101010101" pitchFamily="2" charset="-122"/>
                <a:sym typeface="+mn-ea"/>
              </a:rPr>
              <a:t>需求分析时没在意，</a:t>
            </a:r>
            <a:r>
              <a:rPr kumimoji="1" lang="en-US" altLang="zh-CN" b="1" dirty="0" err="1">
                <a:latin typeface="宋体" panose="02010600030101010101" pitchFamily="2" charset="-122"/>
                <a:sym typeface="+mn-ea"/>
              </a:rPr>
              <a:t>ExtU</a:t>
            </a:r>
            <a:r>
              <a:rPr kumimoji="1" lang="zh-CN" altLang="en-US" b="1" dirty="0">
                <a:latin typeface="宋体" panose="02010600030101010101" pitchFamily="2" charset="-122"/>
                <a:sym typeface="+mn-ea"/>
              </a:rPr>
              <a:t>的</a:t>
            </a:r>
            <a:r>
              <a:rPr kumimoji="1" lang="en-US" altLang="zh-CN" b="1" dirty="0">
                <a:latin typeface="宋体" panose="02010600030101010101" pitchFamily="2" charset="-122"/>
                <a:sym typeface="+mn-ea"/>
              </a:rPr>
              <a:t>I/O</a:t>
            </a:r>
            <a:r>
              <a:rPr kumimoji="1" lang="zh-CN" altLang="en-US" b="1" dirty="0">
                <a:latin typeface="宋体" panose="02010600030101010101" pitchFamily="2" charset="-122"/>
                <a:sym typeface="+mn-ea"/>
              </a:rPr>
              <a:t>引脚</a:t>
            </a:r>
            <a:r>
              <a:rPr kumimoji="1" lang="en-US" altLang="zh-CN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kumimoji="1" lang="zh-CN" altLang="en-US" b="1" dirty="0">
                <a:latin typeface="宋体" panose="02010600030101010101" pitchFamily="2" charset="-122"/>
                <a:sym typeface="+mn-ea"/>
              </a:rPr>
              <a:t>电路改了</a:t>
            </a:r>
            <a:r>
              <a:rPr kumimoji="1" lang="en-US" altLang="zh-CN" b="1" dirty="0">
                <a:latin typeface="宋体" panose="02010600030101010101" pitchFamily="2" charset="-122"/>
                <a:sym typeface="+mn-ea"/>
              </a:rPr>
              <a:t>3</a:t>
            </a:r>
            <a:r>
              <a:rPr kumimoji="1" lang="zh-CN" altLang="en-US" b="1" dirty="0">
                <a:latin typeface="宋体" panose="02010600030101010101" pitchFamily="2" charset="-122"/>
                <a:sym typeface="+mn-ea"/>
              </a:rPr>
              <a:t>遍</a:t>
            </a:r>
            <a:endParaRPr kumimoji="1" lang="en-US" altLang="zh-CN" b="1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kumimoji="1" lang="en-US" altLang="zh-CN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kumimoji="1" lang="zh-CN" altLang="en-US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现象</a:t>
            </a:r>
            <a:r>
              <a:rPr kumimoji="1" lang="en-US" altLang="zh-CN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kumimoji="1" lang="zh-CN" altLang="en-US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kumimoji="1" lang="zh-CN" altLang="en-US" b="1" dirty="0">
                <a:latin typeface="宋体" panose="02010600030101010101" pitchFamily="2" charset="-122"/>
                <a:sym typeface="+mn-ea"/>
              </a:rPr>
              <a:t>设计时很清晰、写报告时忘了</a:t>
            </a:r>
            <a:r>
              <a:rPr kumimoji="1" lang="en-US" altLang="zh-CN" b="1" dirty="0">
                <a:latin typeface="宋体" panose="02010600030101010101" pitchFamily="2" charset="-122"/>
                <a:sym typeface="+mn-ea"/>
              </a:rPr>
              <a:t>/</a:t>
            </a:r>
            <a:r>
              <a:rPr kumimoji="1" lang="zh-CN" altLang="en-US" b="1" dirty="0">
                <a:latin typeface="宋体" panose="02010600030101010101" pitchFamily="2" charset="-122"/>
                <a:sym typeface="+mn-ea"/>
              </a:rPr>
              <a:t>没干劲了，本来</a:t>
            </a:r>
            <a:r>
              <a:rPr kumimoji="1" lang="en-US" altLang="zh-CN" b="1" dirty="0">
                <a:latin typeface="宋体" panose="02010600030101010101" pitchFamily="2" charset="-122"/>
                <a:sym typeface="+mn-ea"/>
              </a:rPr>
              <a:t>90</a:t>
            </a:r>
            <a:r>
              <a:rPr kumimoji="1" lang="zh-CN" altLang="en-US" b="1" dirty="0">
                <a:latin typeface="宋体" panose="02010600030101010101" pitchFamily="2" charset="-122"/>
                <a:sym typeface="+mn-ea"/>
              </a:rPr>
              <a:t>分、结果</a:t>
            </a:r>
            <a:r>
              <a:rPr kumimoji="1" lang="en-US" altLang="zh-CN" b="1" dirty="0">
                <a:latin typeface="宋体" panose="02010600030101010101" pitchFamily="2" charset="-122"/>
                <a:sym typeface="+mn-ea"/>
              </a:rPr>
              <a:t>80</a:t>
            </a:r>
            <a:r>
              <a:rPr kumimoji="1" lang="zh-CN" altLang="en-US" b="1" dirty="0">
                <a:latin typeface="宋体" panose="02010600030101010101" pitchFamily="2" charset="-122"/>
                <a:sym typeface="+mn-ea"/>
              </a:rPr>
              <a:t>分</a:t>
            </a:r>
            <a:endParaRPr kumimoji="1" lang="en-US" altLang="zh-CN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       </a:t>
            </a:r>
            <a:r>
              <a:rPr kumimoji="1"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现象</a:t>
            </a:r>
            <a:r>
              <a:rPr kumimoji="1"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3</a:t>
            </a:r>
            <a:r>
              <a:rPr kumimoji="1"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：</a:t>
            </a:r>
            <a:r>
              <a:rPr kumimoji="1" lang="zh-CN" altLang="en-US" sz="1800" b="1" dirty="0">
                <a:latin typeface="宋体" panose="02010600030101010101" pitchFamily="2" charset="-122"/>
              </a:rPr>
              <a:t>组内好同学实现、</a:t>
            </a:r>
            <a:r>
              <a:rPr kumimoji="1" lang="zh-CN" sz="1800" b="1" dirty="0">
                <a:latin typeface="宋体" panose="02010600030101010101" pitchFamily="2" charset="-122"/>
                <a:sym typeface="+mn-ea"/>
              </a:rPr>
              <a:t>差同学</a:t>
            </a:r>
            <a:r>
              <a:rPr kumimoji="1" lang="zh-CN" altLang="en-US" sz="1800" b="1" dirty="0">
                <a:latin typeface="宋体" panose="02010600030101010101" pitchFamily="2" charset="-122"/>
                <a:sym typeface="+mn-ea"/>
              </a:rPr>
              <a:t>写报告，本来</a:t>
            </a:r>
            <a:r>
              <a:rPr kumimoji="1" lang="en-US" altLang="zh-CN" sz="1800" b="1" dirty="0">
                <a:latin typeface="宋体" panose="02010600030101010101" pitchFamily="2" charset="-122"/>
                <a:sym typeface="+mn-ea"/>
              </a:rPr>
              <a:t>90</a:t>
            </a:r>
            <a:r>
              <a:rPr kumimoji="1" lang="zh-CN" altLang="en-US" sz="1800" b="1" dirty="0">
                <a:latin typeface="宋体" panose="02010600030101010101" pitchFamily="2" charset="-122"/>
                <a:sym typeface="+mn-ea"/>
              </a:rPr>
              <a:t>分、结果</a:t>
            </a:r>
            <a:r>
              <a:rPr kumimoji="1" lang="en-US" altLang="zh-CN" sz="1800" b="1" dirty="0">
                <a:latin typeface="宋体" panose="02010600030101010101" pitchFamily="2" charset="-122"/>
                <a:sym typeface="+mn-ea"/>
              </a:rPr>
              <a:t>75</a:t>
            </a:r>
            <a:r>
              <a:rPr kumimoji="1" lang="zh-CN" altLang="en-US" sz="1800" b="1" dirty="0">
                <a:latin typeface="宋体" panose="02010600030101010101" pitchFamily="2" charset="-122"/>
                <a:sym typeface="+mn-ea"/>
              </a:rPr>
              <a:t>分</a:t>
            </a:r>
            <a:endParaRPr kumimoji="1"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(2)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数据通路实现好了，所有部件一起测试好不好？</a:t>
            </a:r>
            <a:endParaRPr kumimoji="1"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latin typeface="宋体" panose="02010600030101010101" pitchFamily="2" charset="-122"/>
              </a:rPr>
              <a:t>  (3)</a:t>
            </a:r>
            <a:r>
              <a:rPr kumimoji="1" lang="zh-CN" altLang="en-US" sz="2200" b="1" dirty="0">
                <a:latin typeface="宋体" panose="02010600030101010101" pitchFamily="2" charset="-122"/>
              </a:rPr>
              <a:t>如何实现组内分工合作？</a:t>
            </a:r>
            <a:endParaRPr kumimoji="1"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2" name="Text Box 116"/>
          <p:cNvSpPr txBox="1">
            <a:spLocks noChangeArrowheads="1"/>
          </p:cNvSpPr>
          <p:nvPr/>
        </p:nvSpPr>
        <p:spPr bwMode="auto">
          <a:xfrm>
            <a:off x="4237274" y="5661248"/>
            <a:ext cx="4680000" cy="86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</p:spPr>
        <p:txBody>
          <a:bodyPr wrap="square" lIns="18000" tIns="10800" rIns="18000" bIns="10800">
            <a:noAutofit/>
          </a:bodyPr>
          <a:lstStyle/>
          <a:p>
            <a:r>
              <a:rPr kumimoji="1" lang="zh-CN" altLang="en-US" b="1" dirty="0">
                <a:latin typeface="宋体" panose="02010600030101010101" pitchFamily="2" charset="-122"/>
              </a:rPr>
              <a:t>设计时一起讨论；</a:t>
            </a:r>
            <a:endParaRPr kumimoji="1" lang="en-US" altLang="zh-CN" b="1" dirty="0">
              <a:latin typeface="宋体" panose="02010600030101010101" pitchFamily="2" charset="-122"/>
            </a:endParaRPr>
          </a:p>
          <a:p>
            <a:r>
              <a:rPr kumimoji="1" lang="zh-CN" altLang="en-US" b="1" dirty="0">
                <a:latin typeface="宋体" panose="02010600030101010101" pitchFamily="2" charset="-122"/>
              </a:rPr>
              <a:t>实现时①拷贝工程文件，②甲实现电路</a:t>
            </a:r>
            <a:r>
              <a:rPr kumimoji="1" lang="en-US" altLang="zh-CN" b="1" dirty="0">
                <a:latin typeface="宋体" panose="02010600030101010101" pitchFamily="2" charset="-122"/>
              </a:rPr>
              <a:t>b</a:t>
            </a:r>
            <a:r>
              <a:rPr kumimoji="1" lang="zh-CN" altLang="en-US" b="1" dirty="0">
                <a:latin typeface="宋体" panose="02010600030101010101" pitchFamily="2" charset="-122"/>
              </a:rPr>
              <a:t>、乙测试电路</a:t>
            </a:r>
            <a:r>
              <a:rPr kumimoji="1" lang="en-US" altLang="zh-CN" b="1" dirty="0">
                <a:latin typeface="宋体" panose="02010600030101010101" pitchFamily="2" charset="-122"/>
              </a:rPr>
              <a:t>a</a:t>
            </a:r>
            <a:r>
              <a:rPr kumimoji="1" lang="zh-CN" altLang="en-US" b="1" dirty="0">
                <a:latin typeface="宋体" panose="02010600030101010101" pitchFamily="2" charset="-122"/>
              </a:rPr>
              <a:t>，③甲拷贝乙的波形文件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3" name="AutoShape 27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000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16"/>
          <p:cNvSpPr txBox="1">
            <a:spLocks noChangeArrowheads="1"/>
          </p:cNvSpPr>
          <p:nvPr/>
        </p:nvSpPr>
        <p:spPr bwMode="auto">
          <a:xfrm>
            <a:off x="152400" y="426983"/>
            <a:ext cx="8785225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kumimoji="1"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附</a:t>
            </a:r>
            <a:r>
              <a:rPr kumimoji="1"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1—</a:t>
            </a:r>
            <a:r>
              <a:rPr kumimoji="1"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</a:rPr>
              <a:t>计划进度</a:t>
            </a:r>
            <a:r>
              <a:rPr kumimoji="1" lang="en-US" altLang="zh-CN" sz="2000" b="1" dirty="0">
                <a:latin typeface="宋体" panose="02010600030101010101" pitchFamily="2" charset="-122"/>
              </a:rPr>
              <a:t>                            </a:t>
            </a:r>
            <a:endParaRPr kumimoji="1" lang="en-US" altLang="zh-CN" sz="2000" b="1" dirty="0">
              <a:latin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87986" y="1412776"/>
          <a:ext cx="7472680" cy="56705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7545"/>
                <a:gridCol w="593725"/>
                <a:gridCol w="3032824"/>
                <a:gridCol w="3168352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周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学时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内容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里程碑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103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2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⑴设计案例讲解</a:t>
                      </a:r>
                      <a:endParaRPr sz="1800" b="1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⑵基本模块测试</a:t>
                      </a:r>
                      <a:endParaRPr sz="1800" b="1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+mn-ea"/>
                          <a:sym typeface="+mn-ea"/>
                        </a:rPr>
                        <a:t>ADD_SUB/REG/RAM</a:t>
                      </a: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仿真波形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4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3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⑴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需求分析，总体设计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  <a:p>
                      <a:pPr marL="0" marR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⑵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ALU设计与实现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设计报告，电路及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仿真波形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5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ALU、ExtU设计与实现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设计报告，电路及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仿真波形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</a:tr>
              <a:tr h="2277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6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A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3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A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ACU、GPRs设计与实现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AD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设计报告，电路及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仿真波形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AD"/>
                    </a:solidFill>
                  </a:tcPr>
                </a:tc>
              </a:tr>
              <a:tr h="227736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7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AD"/>
                    </a:solidFill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+mn-ea"/>
                          <a:sym typeface="+mn-ea"/>
                        </a:rPr>
                        <a:t>3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AD"/>
                    </a:solidFill>
                  </a:tcPr>
                </a:tc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MMU、BIU设计与实现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AD"/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设计报告，电路及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仿真波形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AD"/>
                    </a:solidFill>
                  </a:tcPr>
                </a:tc>
              </a:tr>
              <a:tr h="227736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8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AD"/>
                    </a:solidFill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3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AD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部件互连设计与实现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AD"/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设计报告，电路及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仿真波形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AD"/>
                    </a:solidFill>
                  </a:tcPr>
                </a:tc>
              </a:tr>
              <a:tr h="389512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9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 dirty="0">
                          <a:latin typeface="+mn-ea"/>
                          <a:sym typeface="+mn-ea"/>
                        </a:rPr>
                        <a:t>CU</a:t>
                      </a: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设计与实现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设计报告，电路及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仿真波形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389512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10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3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主机实现与测试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rowSpan="2">
                  <a:txBody>
                    <a:bodyPr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设计报告</a:t>
                      </a:r>
                      <a:r>
                        <a:rPr lang="en-US" altLang="zh-CN" sz="1800" b="1" dirty="0">
                          <a:latin typeface="+mn-ea"/>
                          <a:sym typeface="+mn-ea"/>
                        </a:rPr>
                        <a:t>,</a:t>
                      </a:r>
                      <a:r>
                        <a:rPr lang="zh-CN" altLang="en-US" sz="1800" b="1" dirty="0">
                          <a:latin typeface="+mn-ea"/>
                          <a:sym typeface="+mn-ea"/>
                        </a:rPr>
                        <a:t>电路、测试程序及仿真波形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22352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11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vMerge="1"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vMerge="1"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3895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12-13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写设计报告</a:t>
                      </a:r>
                      <a:r>
                        <a:rPr lang="en-US" altLang="zh-CN" sz="16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剩余的</a:t>
                      </a:r>
                      <a:r>
                        <a:rPr lang="en-US" altLang="zh-CN" sz="1600" b="1" dirty="0">
                          <a:latin typeface="+mn-ea"/>
                          <a:ea typeface="+mn-ea"/>
                        </a:rPr>
                        <a:t>)</a:t>
                      </a:r>
                      <a:endParaRPr lang="en-US" altLang="zh-CN" sz="16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9512">
                <a:tc gridSpan="4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  注：</a:t>
                      </a: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GPRs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ID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、测试程序会给出</a:t>
                      </a: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800" b="1" dirty="0">
                          <a:latin typeface="+mn-ea"/>
                          <a:ea typeface="+mn-ea"/>
                        </a:rPr>
                        <a:t>节约时间</a:t>
                      </a:r>
                      <a:r>
                        <a:rPr lang="en-US" altLang="zh-CN" sz="1800" b="1" dirty="0">
                          <a:latin typeface="+mn-ea"/>
                          <a:ea typeface="+mn-ea"/>
                        </a:rPr>
                        <a:t>)</a:t>
                      </a:r>
                      <a:endParaRPr lang="en-US" altLang="zh-CN" sz="1800" b="1" dirty="0">
                        <a:latin typeface="+mn-ea"/>
                        <a:ea typeface="+mn-ea"/>
                      </a:endParaRPr>
                    </a:p>
                  </a:txBody>
                  <a:tcPr marL="54000" marR="36000" marT="36000" marB="36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5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23528" y="1844824"/>
          <a:ext cx="8712968" cy="31363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4056"/>
                <a:gridCol w="386166"/>
                <a:gridCol w="2134114"/>
                <a:gridCol w="3816424"/>
                <a:gridCol w="1872208"/>
              </a:tblGrid>
              <a:tr h="295189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地址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数据通路测试程序</a:t>
                      </a:r>
                      <a:r>
                        <a:rPr lang="zh-CN" alt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功能</a:t>
                      </a:r>
                      <a:endParaRPr lang="zh-CN" altLang="en-US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 hMerge="1"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指令字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执行结果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</a:tr>
              <a:tr h="258290"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lui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R1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00002:000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000020B7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</a:rPr>
                        <a:t>00000000000000000010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0110111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R1=00002000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8290"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004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ori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R2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(R0)|</a:t>
                      </a:r>
                      <a:r>
                        <a:rPr lang="en-US" sz="14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ZExt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(004)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00406113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</a:rPr>
                        <a:t>000000000100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</a:rPr>
                        <a:t>00000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110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00010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0010011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R2=00000004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8290"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008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R3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(R1)-(R2)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402081B3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</a:rPr>
                        <a:t>0100000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00010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</a:rPr>
                        <a:t>00001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000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00011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0110011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R3=00001FFC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8290"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00C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slt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R4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(R3)&lt;(R1)? 1:0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0011A233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</a:rPr>
                        <a:t>0000000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</a:rPr>
                        <a:t>00011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010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00100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0110011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R4=00000001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8290"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010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sw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M[(R2)+</a:t>
                      </a:r>
                      <a:r>
                        <a:rPr lang="en-US" sz="14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SExt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(000)]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(R1)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00112023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</a:rPr>
                        <a:t>0000000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</a:rPr>
                        <a:t>00010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010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</a:rPr>
                        <a:t>00000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0100011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M[00000004]=00002000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16581"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014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R5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M[(R2)+</a:t>
                      </a:r>
                      <a:r>
                        <a:rPr lang="en-US" sz="14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SExt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(000)]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00012283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</a:rPr>
                        <a:t>000000000000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</a:rPr>
                        <a:t>00010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010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00101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0000011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次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R5=00002000(In)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just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次</a:t>
                      </a: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R5=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0000000A(In)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16581"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018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blt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if ((R5)&lt;(R3))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indent="114300"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(PC)+</a:t>
                      </a:r>
                      <a:r>
                        <a:rPr lang="en-US" sz="14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SExt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(FFC&lt;&lt;1)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FE32CCE3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</a:rPr>
                        <a:t>1111111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00011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</a:rPr>
                        <a:t>00101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100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</a:rPr>
                        <a:t>11001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1100011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次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PC=0000001C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just"/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第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次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PC=00000010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16581"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01C</a:t>
                      </a:r>
                      <a:endParaRPr lang="zh-CN" sz="14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jal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R6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(PC)+4,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</a:t>
                      </a:r>
                      <a:r>
                        <a:rPr lang="zh-CN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(PC)+</a:t>
                      </a:r>
                      <a:r>
                        <a:rPr lang="en-US" sz="14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SExt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(FFC&lt;&lt;1)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FF9FF36F</a:t>
                      </a:r>
                      <a:r>
                        <a:rPr lang="zh-CN" alt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</a:rPr>
                        <a:t>11111111100111111111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00110</a:t>
                      </a: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</a:rPr>
                        <a:t>1101111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R6=00000020,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just"/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PC=00000014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Text Box 116"/>
          <p:cNvSpPr txBox="1">
            <a:spLocks noChangeArrowheads="1"/>
          </p:cNvSpPr>
          <p:nvPr/>
        </p:nvSpPr>
        <p:spPr bwMode="auto">
          <a:xfrm>
            <a:off x="152400" y="498738"/>
            <a:ext cx="8884096" cy="63239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C00000"/>
                </a:solidFill>
                <a:latin typeface="+mn-ea"/>
                <a:ea typeface="+mn-ea"/>
              </a:rPr>
              <a:t> ※</a:t>
            </a:r>
            <a:r>
              <a:rPr kumimoji="1"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附</a:t>
            </a:r>
            <a:r>
              <a:rPr kumimoji="1" lang="en-US" altLang="zh-CN" sz="2400" b="1" dirty="0">
                <a:solidFill>
                  <a:srgbClr val="C00000"/>
                </a:solidFill>
                <a:latin typeface="+mn-ea"/>
                <a:ea typeface="+mn-ea"/>
              </a:rPr>
              <a:t>2—</a:t>
            </a:r>
            <a:r>
              <a:rPr kumimoji="1" lang="zh-CN" altLang="en-US" sz="2400" b="1" dirty="0">
                <a:latin typeface="+mn-ea"/>
                <a:ea typeface="+mn-ea"/>
              </a:rPr>
              <a:t>测试程序示例</a:t>
            </a:r>
            <a:endParaRPr kumimoji="1"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200" b="1" dirty="0">
                <a:solidFill>
                  <a:srgbClr val="3333FF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   </a:t>
            </a:r>
            <a:r>
              <a:rPr kumimoji="1" lang="zh-CN" altLang="en-US" sz="2200" b="1" dirty="0">
                <a:solidFill>
                  <a:srgbClr val="3333FF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数据通路：</a:t>
            </a:r>
            <a:r>
              <a:rPr lang="zh-CN" altLang="zh-CN" sz="22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只需枚举不同路径</a:t>
            </a:r>
            <a:r>
              <a:rPr lang="zh-CN" altLang="en-US" sz="22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的指令</a:t>
            </a:r>
            <a:r>
              <a:rPr lang="en-US" altLang="zh-CN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部件</a:t>
            </a:r>
            <a:r>
              <a:rPr lang="zh-CN" altLang="en-US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已</a:t>
            </a:r>
            <a:r>
              <a:rPr lang="zh-CN" altLang="zh-CN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测试</a:t>
            </a:r>
            <a:r>
              <a:rPr lang="en-US" altLang="zh-CN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</a:t>
            </a:r>
            <a:r>
              <a:rPr lang="zh-CN" altLang="en-US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不同指令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~</a:t>
            </a:r>
            <a:r>
              <a:rPr lang="zh-CN" altLang="en-US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不同</a:t>
            </a:r>
            <a:r>
              <a:rPr lang="en-US" altLang="zh-CN" sz="1800" b="1" dirty="0" err="1">
                <a:effectLst/>
                <a:latin typeface="+mn-ea"/>
                <a:ea typeface="+mn-ea"/>
                <a:cs typeface="Times New Roman" panose="02020603050405020304" pitchFamily="18" charset="0"/>
              </a:rPr>
              <a:t>Cmd</a:t>
            </a:r>
            <a:r>
              <a:rPr lang="en-US" altLang="zh-CN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en-US" altLang="zh-CN" sz="1800" b="1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                      [</a:t>
            </a:r>
            <a:r>
              <a:rPr lang="en-US" altLang="zh-CN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MEM</a:t>
            </a:r>
            <a:r>
              <a:rPr lang="zh-CN" altLang="en-US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输出</a:t>
            </a:r>
            <a:r>
              <a:rPr lang="en-US" altLang="zh-CN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指令字</a:t>
            </a:r>
            <a:r>
              <a:rPr lang="en-US" altLang="zh-CN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数据</a:t>
            </a:r>
            <a:r>
              <a:rPr lang="en-US" altLang="zh-CN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1800" b="1" dirty="0" err="1">
                <a:effectLst/>
                <a:latin typeface="+mn-ea"/>
                <a:ea typeface="+mn-ea"/>
                <a:cs typeface="Times New Roman" panose="02020603050405020304" pitchFamily="18" charset="0"/>
              </a:rPr>
              <a:t>uOPCmd</a:t>
            </a:r>
            <a:r>
              <a:rPr lang="zh-CN" altLang="en-US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均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为输入信号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endParaRPr lang="en-US" altLang="zh-CN" sz="1800" b="1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3333FF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     </a:t>
            </a:r>
            <a:endParaRPr lang="en-US" altLang="zh-CN" sz="2200" b="1" dirty="0">
              <a:solidFill>
                <a:srgbClr val="3333FF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3333FF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3333FF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主    机：</a:t>
            </a:r>
            <a:r>
              <a:rPr lang="zh-CN" altLang="en-US" sz="22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必须</a:t>
            </a:r>
            <a:r>
              <a:rPr lang="zh-CN" altLang="zh-CN" sz="22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枚举所有指令</a:t>
            </a:r>
            <a:r>
              <a:rPr lang="en-US" altLang="zh-CN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zh-CN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分支指令含不同状态</a:t>
            </a:r>
            <a:r>
              <a:rPr lang="en-US" altLang="zh-CN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en-US" altLang="zh-CN" b="1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                      [</a:t>
            </a:r>
            <a:r>
              <a:rPr lang="zh-CN" altLang="en-US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指令字放在</a:t>
            </a:r>
            <a:r>
              <a:rPr lang="en-US" altLang="zh-CN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IMEM</a:t>
            </a:r>
            <a:r>
              <a:rPr lang="zh-CN" altLang="en-US" sz="1800" b="1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中，</a:t>
            </a:r>
            <a:r>
              <a:rPr lang="en-US" altLang="zh-CN" b="1" dirty="0" err="1">
                <a:latin typeface="+mn-ea"/>
                <a:ea typeface="+mn-ea"/>
                <a:cs typeface="Times New Roman" panose="02020603050405020304" pitchFamily="18" charset="0"/>
              </a:rPr>
              <a:t>uOPCmd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有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CU</a:t>
            </a:r>
            <a:r>
              <a:rPr lang="zh-CN" altLang="en-US" b="1" dirty="0">
                <a:latin typeface="+mn-ea"/>
                <a:ea typeface="+mn-ea"/>
                <a:cs typeface="Times New Roman" panose="02020603050405020304" pitchFamily="18" charset="0"/>
              </a:rPr>
              <a:t>产生</a:t>
            </a:r>
            <a:r>
              <a:rPr lang="en-US" altLang="zh-CN" b="1" dirty="0"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endParaRPr kumimoji="1" lang="en-US" altLang="zh-CN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95536" y="476672"/>
          <a:ext cx="8712968" cy="5933828"/>
        </p:xfrm>
        <a:graphic>
          <a:graphicData uri="http://schemas.openxmlformats.org/drawingml/2006/table">
            <a:tbl>
              <a:tblPr firstRow="1" firstCol="1" bandRow="1"/>
              <a:tblGrid>
                <a:gridCol w="502974"/>
                <a:gridCol w="504056"/>
                <a:gridCol w="2592288"/>
                <a:gridCol w="3816424"/>
                <a:gridCol w="1297226"/>
              </a:tblGrid>
              <a:tr h="305684"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地址</a:t>
                      </a:r>
                      <a:endParaRPr lang="zh-CN" sz="16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18000" marB="180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主机测试程序</a:t>
                      </a:r>
                      <a:r>
                        <a:rPr lang="zh-CN" altLang="en-US" sz="16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功能</a:t>
                      </a:r>
                      <a:endParaRPr lang="zh-CN" altLang="en-US" sz="16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18000" marB="180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 hMerge="1"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指令字</a:t>
                      </a:r>
                      <a:endParaRPr lang="zh-CN" sz="16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18000" marB="180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预期结果</a:t>
                      </a:r>
                      <a:endParaRPr lang="zh-CN" sz="16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lui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R1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00001||000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000010B7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00000000000000000001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00001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0110111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R1=00001000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004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addi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R2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400" b="1" kern="10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)+</a:t>
                      </a:r>
                      <a:r>
                        <a:rPr lang="en-US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(404)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40400113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010000000100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00010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R2=00000404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008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ori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R3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400" b="1" kern="10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R2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)|</a:t>
                      </a:r>
                      <a:r>
                        <a:rPr lang="en-US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ZExt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08)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60816193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011000001000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00010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00011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R3=0000060C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00C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add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R4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400" b="1" kern="10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R2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)+(</a:t>
                      </a:r>
                      <a:r>
                        <a:rPr lang="en-US" sz="1400" b="1" kern="10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R3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00310233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0000000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00011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00010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00100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0110011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R4=00000A10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sub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R5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R4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)-(</a:t>
                      </a:r>
                      <a:r>
                        <a:rPr lang="en-US" sz="1400" b="1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R1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401202B3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0100000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00001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00100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00101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0110011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R5=FFFFFA10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014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sll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R6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(R3)&lt;&lt;(R2)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00219333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0000000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00010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00011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00110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0110011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R6=000060C0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018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slt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R7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(R5)&lt;(R6)? 1:0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0062A3B3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0000000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00110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00101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00111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0110011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R7=00000001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01C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sltu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R8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(R5)&lt;(R6)? 1:0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0062B433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0000000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00110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00101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011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01000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0110011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R8=00000000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020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sra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R9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(R5)&gt;&gt;(R2)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4022D4B3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0100000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00010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00101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101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01001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0110011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R9=FFFFFFA1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024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sw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M[(R0)+</a:t>
                      </a:r>
                      <a:r>
                        <a:rPr lang="en-US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(010)]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(R5)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00502823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0000000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00101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10000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M[010]=F…A10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028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程序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M[(R0)+</a:t>
                      </a:r>
                      <a:r>
                        <a:rPr lang="en-US" sz="1400" b="1" kern="1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(014)]</a:t>
                      </a:r>
                      <a:r>
                        <a:rPr lang="zh-CN" sz="1400" b="1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(R9)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00902A23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0000000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01001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10100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M[014]=F…FA1</a:t>
                      </a:r>
                      <a:endParaRPr lang="en-US" alt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02C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lb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R1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(M[(R2)+</a:t>
                      </a:r>
                      <a:r>
                        <a:rPr lang="en-US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0C)]</a:t>
                      </a:r>
                      <a:r>
                        <a:rPr lang="en-US" sz="1400" b="1" kern="100" baseline="-250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0C10083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110000001100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00010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00001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R1=00000010</a:t>
                      </a:r>
                      <a:endParaRPr lang="en-US" alt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030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lw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R2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M[(R2)+</a:t>
                      </a:r>
                      <a:r>
                        <a:rPr lang="en-US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10)]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1012103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110000010000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00010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00010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R2=FFFFFFA1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034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程序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R7</a:t>
                      </a:r>
                      <a:r>
                        <a:rPr lang="zh-CN" sz="1400" b="1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(R7)+</a:t>
                      </a:r>
                      <a:r>
                        <a:rPr lang="en-US" sz="1400" b="1" kern="1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sz="1400" b="1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(FFF)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FFF38393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111111111111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00111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00111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①R7=00000000②R7=FFFFFFFF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128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038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beq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if ((R7)=(R0))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114300"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(PC)+</a:t>
                      </a:r>
                      <a:r>
                        <a:rPr lang="en-US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(004&lt;&lt;1)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00038463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0000000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00111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01000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1100011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①PC=00000040</a:t>
                      </a:r>
                      <a:endParaRPr lang="en-US" alt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②PC=0000003C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128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03C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blt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if ((R7)&lt;(R8))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114300"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(PC)+</a:t>
                      </a:r>
                      <a:r>
                        <a:rPr lang="en-US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(004&lt;&lt;1)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0083C463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0000000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01000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00111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01000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1100011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PC=00000044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128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040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jal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R3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(PC)+4,  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(PC)+</a:t>
                      </a:r>
                      <a:r>
                        <a:rPr lang="en-US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(FFFFA&lt;&lt;1)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FF5FF1EF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11111111010111111111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00011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1101111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R3=00000044</a:t>
                      </a:r>
                      <a:endParaRPr lang="en-US" alt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PC=00000034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044</a:t>
                      </a:r>
                      <a:endParaRPr lang="zh-CN" sz="1400" b="1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程序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R2</a:t>
                      </a:r>
                      <a:r>
                        <a:rPr lang="zh-CN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M[(R6)+</a:t>
                      </a:r>
                      <a:r>
                        <a:rPr lang="en-US" sz="1400" b="1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(F50)]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F50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32103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FFFF</a:t>
                      </a:r>
                      <a:r>
                        <a:rPr lang="en-US" sz="1400" b="1" kern="100" dirty="0">
                          <a:effectLst/>
                          <a:highlight>
                            <a:srgbClr val="00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01010000</a:t>
                      </a:r>
                      <a:r>
                        <a:rPr lang="en-US" sz="1400" b="1" kern="100" dirty="0">
                          <a:effectLst/>
                          <a:highlight>
                            <a:srgbClr val="00FFFF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00110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010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00010</a:t>
                      </a:r>
                      <a:r>
                        <a:rPr lang="en-US" sz="1400" b="1" kern="100" dirty="0">
                          <a:effectLst/>
                          <a:highlight>
                            <a:srgbClr val="FFFF00"/>
                          </a:highlight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0000011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R2=F</a:t>
                      </a:r>
                      <a:r>
                        <a:rPr lang="en-US" altLang="zh-CN" sz="1400" b="1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…FA1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536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048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空白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非法指令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00000000</a:t>
                      </a:r>
                      <a:r>
                        <a:rPr lang="zh-CN" alt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00000000000000000000000000000000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b="1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0624" marR="306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SEU.CSE.RGL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3A10C2-4767-4257-B559-B4D23F83FF0D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6" y="1260073"/>
            <a:ext cx="9036496" cy="4337854"/>
          </a:xfrm>
          <a:prstGeom prst="rect">
            <a:avLst/>
          </a:prstGeom>
        </p:spPr>
      </p:pic>
      <p:sp>
        <p:nvSpPr>
          <p:cNvPr id="6" name="Text Box 116"/>
          <p:cNvSpPr txBox="1">
            <a:spLocks noChangeArrowheads="1"/>
          </p:cNvSpPr>
          <p:nvPr/>
        </p:nvSpPr>
        <p:spPr bwMode="auto">
          <a:xfrm>
            <a:off x="152400" y="498738"/>
            <a:ext cx="8884096" cy="8526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C00000"/>
                </a:solidFill>
                <a:latin typeface="+mn-ea"/>
                <a:ea typeface="+mn-ea"/>
              </a:rPr>
              <a:t> ※</a:t>
            </a:r>
            <a:r>
              <a:rPr kumimoji="1" lang="zh-CN" altLang="en-US" sz="2400" b="1" dirty="0">
                <a:solidFill>
                  <a:srgbClr val="C00000"/>
                </a:solidFill>
                <a:latin typeface="+mn-ea"/>
                <a:ea typeface="+mn-ea"/>
              </a:rPr>
              <a:t>附</a:t>
            </a:r>
            <a:r>
              <a:rPr kumimoji="1" lang="en-US" altLang="zh-CN" sz="2400" b="1" dirty="0">
                <a:solidFill>
                  <a:srgbClr val="C00000"/>
                </a:solidFill>
                <a:latin typeface="+mn-ea"/>
                <a:ea typeface="+mn-ea"/>
              </a:rPr>
              <a:t>3—</a:t>
            </a:r>
            <a:r>
              <a:rPr kumimoji="1" lang="en-US" altLang="zh-CN" sz="2400" b="1" dirty="0">
                <a:latin typeface="+mn-ea"/>
                <a:ea typeface="+mn-ea"/>
              </a:rPr>
              <a:t>Quartus II</a:t>
            </a:r>
            <a:r>
              <a:rPr kumimoji="1" lang="zh-CN" altLang="en-US" sz="2400" b="1" dirty="0">
                <a:latin typeface="+mn-ea"/>
                <a:ea typeface="+mn-ea"/>
              </a:rPr>
              <a:t>使用建议</a:t>
            </a:r>
            <a:endParaRPr kumimoji="1" lang="en-US" altLang="zh-CN" sz="24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kumimoji="1" lang="en-US" altLang="zh-CN" b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  <p:tag name="TABLE_ENDDRAG_ORIGIN_RECT" val="519*171"/>
  <p:tag name="TABLE_ENDDRAG_RECT" val="101*324*519*171"/>
</p:tagLst>
</file>

<file path=ppt/tags/tag229.xml><?xml version="1.0" encoding="utf-8"?>
<p:tagLst xmlns:p="http://schemas.openxmlformats.org/presentationml/2006/main">
  <p:tag name="TABLE_ENDDRAG_ORIGIN_RECT" val="519*153"/>
  <p:tag name="TABLE_ENDDRAG_RECT" val="129*70*519*153"/>
</p:tagLst>
</file>

<file path=ppt/tags/tag230.xml><?xml version="1.0" encoding="utf-8"?>
<p:tagLst xmlns:p="http://schemas.openxmlformats.org/presentationml/2006/main">
  <p:tag name="KSO_WM_BEAUTIFY_FLAG" val=""/>
  <p:tag name="TABLE_ENDDRAG_ORIGIN_RECT" val="654*317"/>
  <p:tag name="TABLE_ENDDRAG_RECT" val="39*67*654*317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  <p:tag name="TABLE_ENDDRAG_ORIGIN_RECT" val="630*231"/>
  <p:tag name="TABLE_ENDDRAG_RECT" val="9*71*630*231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TABLE_ENDDRAG_ORIGIN_RECT" val="654*317"/>
  <p:tag name="TABLE_ENDDRAG_RECT" val="39*67*654*317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  <p:tag name="TABLE_ENDDRAG_ORIGIN_RECT" val="654*317"/>
  <p:tag name="TABLE_ENDDRAG_RECT" val="39*67*654*317"/>
</p:tagLst>
</file>

<file path=ppt/tags/tag239.xml><?xml version="1.0" encoding="utf-8"?>
<p:tagLst xmlns:p="http://schemas.openxmlformats.org/presentationml/2006/main">
  <p:tag name="TABLE_ENDDRAG_ORIGIN_RECT" val="519*153"/>
  <p:tag name="TABLE_ENDDRAG_RECT" val="129*70*519*153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UNIT_TABLE_BEAUTIFY" val="smartTable{9ae6d258-04ae-4a38-9737-28d5afc9f99a}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KSO_WM_BEAUTIFY_FLAG" val="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BEAUTIFY_FLAG" val=""/>
</p:tagLst>
</file>

<file path=ppt/tags/tag621.xml><?xml version="1.0" encoding="utf-8"?>
<p:tagLst xmlns:p="http://schemas.openxmlformats.org/presentationml/2006/main">
  <p:tag name="KSO_WM_BEAUTIFY_FLAG" val=""/>
</p:tagLst>
</file>

<file path=ppt/tags/tag622.xml><?xml version="1.0" encoding="utf-8"?>
<p:tagLst xmlns:p="http://schemas.openxmlformats.org/presentationml/2006/main">
  <p:tag name="KSO_WM_BEAUTIFY_FLAG" val=""/>
</p:tagLst>
</file>

<file path=ppt/tags/tag623.xml><?xml version="1.0" encoding="utf-8"?>
<p:tagLst xmlns:p="http://schemas.openxmlformats.org/presentationml/2006/main">
  <p:tag name="KSO_WM_BEAUTIFY_FLAG" val=""/>
</p:tagLst>
</file>

<file path=ppt/tags/tag624.xml><?xml version="1.0" encoding="utf-8"?>
<p:tagLst xmlns:p="http://schemas.openxmlformats.org/presentationml/2006/main">
  <p:tag name="KSO_WM_BEAUTIFY_FLAG" val=""/>
</p:tagLst>
</file>

<file path=ppt/tags/tag625.xml><?xml version="1.0" encoding="utf-8"?>
<p:tagLst xmlns:p="http://schemas.openxmlformats.org/presentationml/2006/main">
  <p:tag name="KSO_WM_BEAUTIFY_FLAG" val=""/>
</p:tagLst>
</file>

<file path=ppt/tags/tag626.xml><?xml version="1.0" encoding="utf-8"?>
<p:tagLst xmlns:p="http://schemas.openxmlformats.org/presentationml/2006/main">
  <p:tag name="KSO_WM_BEAUTIFY_FLAG" val=""/>
</p:tagLst>
</file>

<file path=ppt/tags/tag627.xml><?xml version="1.0" encoding="utf-8"?>
<p:tagLst xmlns:p="http://schemas.openxmlformats.org/presentationml/2006/main">
  <p:tag name="KSO_WM_BEAUTIFY_FLAG" val=""/>
</p:tagLst>
</file>

<file path=ppt/tags/tag628.xml><?xml version="1.0" encoding="utf-8"?>
<p:tagLst xmlns:p="http://schemas.openxmlformats.org/presentationml/2006/main">
  <p:tag name="KSO_WM_BEAUTIFY_FLAG" val=""/>
</p:tagLst>
</file>

<file path=ppt/tags/tag629.xml><?xml version="1.0" encoding="utf-8"?>
<p:tagLst xmlns:p="http://schemas.openxmlformats.org/presentationml/2006/main">
  <p:tag name="KSO_WM_BEAUTIFY_FLAG" val=""/>
</p:tagLst>
</file>

<file path=ppt/tags/tag630.xml><?xml version="1.0" encoding="utf-8"?>
<p:tagLst xmlns:p="http://schemas.openxmlformats.org/presentationml/2006/main">
  <p:tag name="KSO_WM_BEAUTIFY_FLAG" val=""/>
</p:tagLst>
</file>

<file path=ppt/tags/tag631.xml><?xml version="1.0" encoding="utf-8"?>
<p:tagLst xmlns:p="http://schemas.openxmlformats.org/presentationml/2006/main">
  <p:tag name="KSO_WM_BEAUTIFY_FLAG" val=""/>
</p:tagLst>
</file>

<file path=ppt/tags/tag632.xml><?xml version="1.0" encoding="utf-8"?>
<p:tagLst xmlns:p="http://schemas.openxmlformats.org/presentationml/2006/main">
  <p:tag name="KSO_WM_BEAUTIFY_FLAG" val=""/>
</p:tagLst>
</file>

<file path=ppt/tags/tag633.xml><?xml version="1.0" encoding="utf-8"?>
<p:tagLst xmlns:p="http://schemas.openxmlformats.org/presentationml/2006/main">
  <p:tag name="KSO_WM_BEAUTIFY_FLAG" val=""/>
</p:tagLst>
</file>

<file path=ppt/tags/tag634.xml><?xml version="1.0" encoding="utf-8"?>
<p:tagLst xmlns:p="http://schemas.openxmlformats.org/presentationml/2006/main">
  <p:tag name="KSO_WM_BEAUTIFY_FLAG" val=""/>
</p:tagLst>
</file>

<file path=ppt/tags/tag635.xml><?xml version="1.0" encoding="utf-8"?>
<p:tagLst xmlns:p="http://schemas.openxmlformats.org/presentationml/2006/main">
  <p:tag name="KSO_WM_BEAUTIFY_FLAG" val=""/>
</p:tagLst>
</file>

<file path=ppt/tags/tag636.xml><?xml version="1.0" encoding="utf-8"?>
<p:tagLst xmlns:p="http://schemas.openxmlformats.org/presentationml/2006/main">
  <p:tag name="KSO_WM_BEAUTIFY_FLAG" val=""/>
</p:tagLst>
</file>

<file path=ppt/tags/tag637.xml><?xml version="1.0" encoding="utf-8"?>
<p:tagLst xmlns:p="http://schemas.openxmlformats.org/presentationml/2006/main">
  <p:tag name="KSO_WM_BEAUTIFY_FLAG" val=""/>
</p:tagLst>
</file>

<file path=ppt/tags/tag638.xml><?xml version="1.0" encoding="utf-8"?>
<p:tagLst xmlns:p="http://schemas.openxmlformats.org/presentationml/2006/main">
  <p:tag name="KSO_WM_BEAUTIFY_FLAG" val=""/>
</p:tagLst>
</file>

<file path=ppt/tags/tag639.xml><?xml version="1.0" encoding="utf-8"?>
<p:tagLst xmlns:p="http://schemas.openxmlformats.org/presentationml/2006/main">
  <p:tag name="KSO_WM_BEAUTIFY_FLAG" val=""/>
</p:tagLst>
</file>

<file path=ppt/tags/tag640.xml><?xml version="1.0" encoding="utf-8"?>
<p:tagLst xmlns:p="http://schemas.openxmlformats.org/presentationml/2006/main">
  <p:tag name="KSO_WM_BEAUTIFY_FLAG" val=""/>
</p:tagLst>
</file>

<file path=ppt/tags/tag641.xml><?xml version="1.0" encoding="utf-8"?>
<p:tagLst xmlns:p="http://schemas.openxmlformats.org/presentationml/2006/main">
  <p:tag name="KSO_WM_BEAUTIFY_FLAG" val=""/>
</p:tagLst>
</file>

<file path=ppt/tags/tag642.xml><?xml version="1.0" encoding="utf-8"?>
<p:tagLst xmlns:p="http://schemas.openxmlformats.org/presentationml/2006/main">
  <p:tag name="KSO_WM_BEAUTIFY_FLAG" val=""/>
</p:tagLst>
</file>

<file path=ppt/tags/tag643.xml><?xml version="1.0" encoding="utf-8"?>
<p:tagLst xmlns:p="http://schemas.openxmlformats.org/presentationml/2006/main">
  <p:tag name="KSO_WM_BEAUTIFY_FLAG" val=""/>
</p:tagLst>
</file>

<file path=ppt/tags/tag644.xml><?xml version="1.0" encoding="utf-8"?>
<p:tagLst xmlns:p="http://schemas.openxmlformats.org/presentationml/2006/main">
  <p:tag name="KSO_WM_BEAUTIFY_FLAG" val=""/>
</p:tagLst>
</file>

<file path=ppt/tags/tag645.xml><?xml version="1.0" encoding="utf-8"?>
<p:tagLst xmlns:p="http://schemas.openxmlformats.org/presentationml/2006/main">
  <p:tag name="KSO_WM_BEAUTIFY_FLAG" val=""/>
</p:tagLst>
</file>

<file path=ppt/tags/tag646.xml><?xml version="1.0" encoding="utf-8"?>
<p:tagLst xmlns:p="http://schemas.openxmlformats.org/presentationml/2006/main">
  <p:tag name="KSO_WM_BEAUTIFY_FLAG" val=""/>
</p:tagLst>
</file>

<file path=ppt/tags/tag647.xml><?xml version="1.0" encoding="utf-8"?>
<p:tagLst xmlns:p="http://schemas.openxmlformats.org/presentationml/2006/main">
  <p:tag name="KSO_WM_BEAUTIFY_FLAG" val=""/>
</p:tagLst>
</file>

<file path=ppt/tags/tag648.xml><?xml version="1.0" encoding="utf-8"?>
<p:tagLst xmlns:p="http://schemas.openxmlformats.org/presentationml/2006/main">
  <p:tag name="KSO_WM_BEAUTIFY_FLAG" val=""/>
</p:tagLst>
</file>

<file path=ppt/tags/tag649.xml><?xml version="1.0" encoding="utf-8"?>
<p:tagLst xmlns:p="http://schemas.openxmlformats.org/presentationml/2006/main">
  <p:tag name="KSO_WM_BEAUTIFY_FLAG" val=""/>
</p:tagLst>
</file>

<file path=ppt/tags/tag650.xml><?xml version="1.0" encoding="utf-8"?>
<p:tagLst xmlns:p="http://schemas.openxmlformats.org/presentationml/2006/main">
  <p:tag name="KSO_WM_BEAUTIFY_FLAG" val=""/>
</p:tagLst>
</file>

<file path=ppt/tags/tag651.xml><?xml version="1.0" encoding="utf-8"?>
<p:tagLst xmlns:p="http://schemas.openxmlformats.org/presentationml/2006/main">
  <p:tag name="KSO_WM_BEAUTIFY_FLAG" val=""/>
</p:tagLst>
</file>

<file path=ppt/tags/tag652.xml><?xml version="1.0" encoding="utf-8"?>
<p:tagLst xmlns:p="http://schemas.openxmlformats.org/presentationml/2006/main">
  <p:tag name="KSO_WM_BEAUTIFY_FLAG" val=""/>
</p:tagLst>
</file>

<file path=ppt/tags/tag653.xml><?xml version="1.0" encoding="utf-8"?>
<p:tagLst xmlns:p="http://schemas.openxmlformats.org/presentationml/2006/main">
  <p:tag name="KSO_WM_BEAUTIFY_FLAG" val=""/>
</p:tagLst>
</file>

<file path=ppt/tags/tag654.xml><?xml version="1.0" encoding="utf-8"?>
<p:tagLst xmlns:p="http://schemas.openxmlformats.org/presentationml/2006/main">
  <p:tag name="KSO_WM_BEAUTIFY_FLAG" val=""/>
</p:tagLst>
</file>

<file path=ppt/tags/tag655.xml><?xml version="1.0" encoding="utf-8"?>
<p:tagLst xmlns:p="http://schemas.openxmlformats.org/presentationml/2006/main">
  <p:tag name="KSO_WM_BEAUTIFY_FLAG" val=""/>
</p:tagLst>
</file>

<file path=ppt/tags/tag656.xml><?xml version="1.0" encoding="utf-8"?>
<p:tagLst xmlns:p="http://schemas.openxmlformats.org/presentationml/2006/main">
  <p:tag name="KSO_WM_BEAUTIFY_FLAG" val=""/>
</p:tagLst>
</file>

<file path=ppt/tags/tag657.xml><?xml version="1.0" encoding="utf-8"?>
<p:tagLst xmlns:p="http://schemas.openxmlformats.org/presentationml/2006/main">
  <p:tag name="KSO_WM_BEAUTIFY_FLAG" val=""/>
</p:tagLst>
</file>

<file path=ppt/tags/tag658.xml><?xml version="1.0" encoding="utf-8"?>
<p:tagLst xmlns:p="http://schemas.openxmlformats.org/presentationml/2006/main">
  <p:tag name="KSO_WM_BEAUTIFY_FLAG" val=""/>
</p:tagLst>
</file>

<file path=ppt/tags/tag659.xml><?xml version="1.0" encoding="utf-8"?>
<p:tagLst xmlns:p="http://schemas.openxmlformats.org/presentationml/2006/main">
  <p:tag name="KSO_WM_BEAUTIFY_FLAG" val=""/>
</p:tagLst>
</file>

<file path=ppt/tags/tag660.xml><?xml version="1.0" encoding="utf-8"?>
<p:tagLst xmlns:p="http://schemas.openxmlformats.org/presentationml/2006/main">
  <p:tag name="KSO_WM_BEAUTIFY_FLAG" val=""/>
</p:tagLst>
</file>

<file path=ppt/tags/tag661.xml><?xml version="1.0" encoding="utf-8"?>
<p:tagLst xmlns:p="http://schemas.openxmlformats.org/presentationml/2006/main">
  <p:tag name="KSO_WM_BEAUTIFY_FLAG" val=""/>
</p:tagLst>
</file>

<file path=ppt/tags/tag662.xml><?xml version="1.0" encoding="utf-8"?>
<p:tagLst xmlns:p="http://schemas.openxmlformats.org/presentationml/2006/main">
  <p:tag name="KSO_WM_BEAUTIFY_FLAG" val=""/>
</p:tagLst>
</file>

<file path=ppt/tags/tag663.xml><?xml version="1.0" encoding="utf-8"?>
<p:tagLst xmlns:p="http://schemas.openxmlformats.org/presentationml/2006/main">
  <p:tag name="KSO_WM_BEAUTIFY_FLAG" val=""/>
</p:tagLst>
</file>

<file path=ppt/tags/tag664.xml><?xml version="1.0" encoding="utf-8"?>
<p:tagLst xmlns:p="http://schemas.openxmlformats.org/presentationml/2006/main">
  <p:tag name="KSO_WM_BEAUTIFY_FLAG" val=""/>
</p:tagLst>
</file>

<file path=ppt/tags/tag665.xml><?xml version="1.0" encoding="utf-8"?>
<p:tagLst xmlns:p="http://schemas.openxmlformats.org/presentationml/2006/main">
  <p:tag name="KSO_WM_BEAUTIFY_FLAG" val=""/>
</p:tagLst>
</file>

<file path=ppt/tags/tag666.xml><?xml version="1.0" encoding="utf-8"?>
<p:tagLst xmlns:p="http://schemas.openxmlformats.org/presentationml/2006/main">
  <p:tag name="KSO_WM_BEAUTIFY_FLAG" val=""/>
</p:tagLst>
</file>

<file path=ppt/tags/tag667.xml><?xml version="1.0" encoding="utf-8"?>
<p:tagLst xmlns:p="http://schemas.openxmlformats.org/presentationml/2006/main">
  <p:tag name="KSO_WM_BEAUTIFY_FLAG" val=""/>
</p:tagLst>
</file>

<file path=ppt/tags/tag668.xml><?xml version="1.0" encoding="utf-8"?>
<p:tagLst xmlns:p="http://schemas.openxmlformats.org/presentationml/2006/main">
  <p:tag name="KSO_WM_BEAUTIFY_FLAG" val=""/>
</p:tagLst>
</file>

<file path=ppt/tags/tag669.xml><?xml version="1.0" encoding="utf-8"?>
<p:tagLst xmlns:p="http://schemas.openxmlformats.org/presentationml/2006/main">
  <p:tag name="KSO_WM_BEAUTIFY_FLAG" val=""/>
</p:tagLst>
</file>

<file path=ppt/tags/tag670.xml><?xml version="1.0" encoding="utf-8"?>
<p:tagLst xmlns:p="http://schemas.openxmlformats.org/presentationml/2006/main">
  <p:tag name="KSO_WM_BEAUTIFY_FLAG" val=""/>
</p:tagLst>
</file>

<file path=ppt/tags/tag671.xml><?xml version="1.0" encoding="utf-8"?>
<p:tagLst xmlns:p="http://schemas.openxmlformats.org/presentationml/2006/main">
  <p:tag name="KSO_WM_BEAUTIFY_FLAG" val=""/>
</p:tagLst>
</file>

<file path=ppt/tags/tag672.xml><?xml version="1.0" encoding="utf-8"?>
<p:tagLst xmlns:p="http://schemas.openxmlformats.org/presentationml/2006/main">
  <p:tag name="KSO_WM_BEAUTIFY_FLAG" val=""/>
</p:tagLst>
</file>

<file path=ppt/tags/tag673.xml><?xml version="1.0" encoding="utf-8"?>
<p:tagLst xmlns:p="http://schemas.openxmlformats.org/presentationml/2006/main">
  <p:tag name="KSO_WM_BEAUTIFY_FLAG" val=""/>
</p:tagLst>
</file>

<file path=ppt/tags/tag674.xml><?xml version="1.0" encoding="utf-8"?>
<p:tagLst xmlns:p="http://schemas.openxmlformats.org/presentationml/2006/main">
  <p:tag name="KSO_WM_BEAUTIFY_FLAG" val=""/>
</p:tagLst>
</file>

<file path=ppt/tags/tag675.xml><?xml version="1.0" encoding="utf-8"?>
<p:tagLst xmlns:p="http://schemas.openxmlformats.org/presentationml/2006/main">
  <p:tag name="KSO_WM_BEAUTIFY_FLAG" val=""/>
</p:tagLst>
</file>

<file path=ppt/tags/tag676.xml><?xml version="1.0" encoding="utf-8"?>
<p:tagLst xmlns:p="http://schemas.openxmlformats.org/presentationml/2006/main">
  <p:tag name="KSO_WM_BEAUTIFY_FLAG" val=""/>
</p:tagLst>
</file>

<file path=ppt/tags/tag677.xml><?xml version="1.0" encoding="utf-8"?>
<p:tagLst xmlns:p="http://schemas.openxmlformats.org/presentationml/2006/main">
  <p:tag name="KSO_WM_BEAUTIFY_FLAG" val=""/>
</p:tagLst>
</file>

<file path=ppt/tags/tag678.xml><?xml version="1.0" encoding="utf-8"?>
<p:tagLst xmlns:p="http://schemas.openxmlformats.org/presentationml/2006/main">
  <p:tag name="KSO_WM_BEAUTIFY_FLAG" val=""/>
</p:tagLst>
</file>

<file path=ppt/tags/tag679.xml><?xml version="1.0" encoding="utf-8"?>
<p:tagLst xmlns:p="http://schemas.openxmlformats.org/presentationml/2006/main">
  <p:tag name="KSO_WM_BEAUTIFY_FLAG" val=""/>
</p:tagLst>
</file>

<file path=ppt/tags/tag680.xml><?xml version="1.0" encoding="utf-8"?>
<p:tagLst xmlns:p="http://schemas.openxmlformats.org/presentationml/2006/main">
  <p:tag name="KSO_WM_BEAUTIFY_FLAG" val=""/>
</p:tagLst>
</file>

<file path=ppt/tags/tag681.xml><?xml version="1.0" encoding="utf-8"?>
<p:tagLst xmlns:p="http://schemas.openxmlformats.org/presentationml/2006/main">
  <p:tag name="KSO_WM_BEAUTIFY_FLAG" val=""/>
</p:tagLst>
</file>

<file path=ppt/tags/tag682.xml><?xml version="1.0" encoding="utf-8"?>
<p:tagLst xmlns:p="http://schemas.openxmlformats.org/presentationml/2006/main">
  <p:tag name="KSO_WM_BEAUTIFY_FLAG" val=""/>
</p:tagLst>
</file>

<file path=ppt/tags/tag683.xml><?xml version="1.0" encoding="utf-8"?>
<p:tagLst xmlns:p="http://schemas.openxmlformats.org/presentationml/2006/main">
  <p:tag name="KSO_WM_BEAUTIFY_FLAG" val=""/>
</p:tagLst>
</file>

<file path=ppt/tags/tag684.xml><?xml version="1.0" encoding="utf-8"?>
<p:tagLst xmlns:p="http://schemas.openxmlformats.org/presentationml/2006/main">
  <p:tag name="KSO_WM_BEAUTIFY_FLAG" val=""/>
</p:tagLst>
</file>

<file path=ppt/tags/tag685.xml><?xml version="1.0" encoding="utf-8"?>
<p:tagLst xmlns:p="http://schemas.openxmlformats.org/presentationml/2006/main">
  <p:tag name="KSO_WM_BEAUTIFY_FLAG" val=""/>
</p:tagLst>
</file>

<file path=ppt/tags/tag686.xml><?xml version="1.0" encoding="utf-8"?>
<p:tagLst xmlns:p="http://schemas.openxmlformats.org/presentationml/2006/main">
  <p:tag name="KSO_WM_BEAUTIFY_FLAG" val=""/>
</p:tagLst>
</file>

<file path=ppt/tags/tag687.xml><?xml version="1.0" encoding="utf-8"?>
<p:tagLst xmlns:p="http://schemas.openxmlformats.org/presentationml/2006/main">
  <p:tag name="KSO_WM_BEAUTIFY_FLAG" val=""/>
</p:tagLst>
</file>

<file path=ppt/tags/tag688.xml><?xml version="1.0" encoding="utf-8"?>
<p:tagLst xmlns:p="http://schemas.openxmlformats.org/presentationml/2006/main">
  <p:tag name="KSO_WM_BEAUTIFY_FLAG" val=""/>
</p:tagLst>
</file>

<file path=ppt/tags/tag689.xml><?xml version="1.0" encoding="utf-8"?>
<p:tagLst xmlns:p="http://schemas.openxmlformats.org/presentationml/2006/main">
  <p:tag name="KSO_WM_BEAUTIFY_FLAG" val=""/>
</p:tagLst>
</file>

<file path=ppt/tags/tag690.xml><?xml version="1.0" encoding="utf-8"?>
<p:tagLst xmlns:p="http://schemas.openxmlformats.org/presentationml/2006/main">
  <p:tag name="KSO_WM_BEAUTIFY_FLAG" val=""/>
</p:tagLst>
</file>

<file path=ppt/tags/tag691.xml><?xml version="1.0" encoding="utf-8"?>
<p:tagLst xmlns:p="http://schemas.openxmlformats.org/presentationml/2006/main">
  <p:tag name="KSO_WM_BEAUTIFY_FLAG" val=""/>
</p:tagLst>
</file>

<file path=ppt/tags/tag692.xml><?xml version="1.0" encoding="utf-8"?>
<p:tagLst xmlns:p="http://schemas.openxmlformats.org/presentationml/2006/main">
  <p:tag name="KSO_WM_BEAUTIFY_FLAG" val=""/>
</p:tagLst>
</file>

<file path=ppt/tags/tag693.xml><?xml version="1.0" encoding="utf-8"?>
<p:tagLst xmlns:p="http://schemas.openxmlformats.org/presentationml/2006/main">
  <p:tag name="KSO_WM_BEAUTIFY_FLAG" val=""/>
</p:tagLst>
</file>

<file path=ppt/tags/tag694.xml><?xml version="1.0" encoding="utf-8"?>
<p:tagLst xmlns:p="http://schemas.openxmlformats.org/presentationml/2006/main">
  <p:tag name="KSO_WM_BEAUTIFY_FLAG" val=""/>
</p:tagLst>
</file>

<file path=ppt/tags/tag695.xml><?xml version="1.0" encoding="utf-8"?>
<p:tagLst xmlns:p="http://schemas.openxmlformats.org/presentationml/2006/main">
  <p:tag name="KSO_WM_BEAUTIFY_FLAG" val=""/>
</p:tagLst>
</file>

<file path=ppt/tags/tag696.xml><?xml version="1.0" encoding="utf-8"?>
<p:tagLst xmlns:p="http://schemas.openxmlformats.org/presentationml/2006/main">
  <p:tag name="KSO_WM_BEAUTIFY_FLAG" val=""/>
</p:tagLst>
</file>

<file path=ppt/tags/tag697.xml><?xml version="1.0" encoding="utf-8"?>
<p:tagLst xmlns:p="http://schemas.openxmlformats.org/presentationml/2006/main">
  <p:tag name="KSO_WM_BEAUTIFY_FLAG" val=""/>
</p:tagLst>
</file>

<file path=ppt/tags/tag698.xml><?xml version="1.0" encoding="utf-8"?>
<p:tagLst xmlns:p="http://schemas.openxmlformats.org/presentationml/2006/main">
  <p:tag name="KSO_WM_BEAUTIFY_FLAG" val=""/>
</p:tagLst>
</file>

<file path=ppt/tags/tag699.xml><?xml version="1.0" encoding="utf-8"?>
<p:tagLst xmlns:p="http://schemas.openxmlformats.org/presentationml/2006/main">
  <p:tag name="KSO_WM_BEAUTIFY_FLAG" val=""/>
</p:tagLst>
</file>

<file path=ppt/tags/tag700.xml><?xml version="1.0" encoding="utf-8"?>
<p:tagLst xmlns:p="http://schemas.openxmlformats.org/presentationml/2006/main">
  <p:tag name="KSO_WM_BEAUTIFY_FLAG" val=""/>
</p:tagLst>
</file>

<file path=ppt/tags/tag701.xml><?xml version="1.0" encoding="utf-8"?>
<p:tagLst xmlns:p="http://schemas.openxmlformats.org/presentationml/2006/main">
  <p:tag name="KSO_WM_BEAUTIFY_FLAG" val=""/>
</p:tagLst>
</file>

<file path=ppt/tags/tag702.xml><?xml version="1.0" encoding="utf-8"?>
<p:tagLst xmlns:p="http://schemas.openxmlformats.org/presentationml/2006/main">
  <p:tag name="KSO_WM_BEAUTIFY_FLAG" val=""/>
</p:tagLst>
</file>

<file path=ppt/tags/tag703.xml><?xml version="1.0" encoding="utf-8"?>
<p:tagLst xmlns:p="http://schemas.openxmlformats.org/presentationml/2006/main">
  <p:tag name="KSO_WM_BEAUTIFY_FLAG" val=""/>
</p:tagLst>
</file>

<file path=ppt/tags/tag704.xml><?xml version="1.0" encoding="utf-8"?>
<p:tagLst xmlns:p="http://schemas.openxmlformats.org/presentationml/2006/main">
  <p:tag name="KSO_WM_BEAUTIFY_FLAG" val=""/>
</p:tagLst>
</file>

<file path=ppt/tags/tag705.xml><?xml version="1.0" encoding="utf-8"?>
<p:tagLst xmlns:p="http://schemas.openxmlformats.org/presentationml/2006/main">
  <p:tag name="KSO_WM_BEAUTIFY_FLAG" val=""/>
</p:tagLst>
</file>

<file path=ppt/tags/tag706.xml><?xml version="1.0" encoding="utf-8"?>
<p:tagLst xmlns:p="http://schemas.openxmlformats.org/presentationml/2006/main">
  <p:tag name="KSO_WM_BEAUTIFY_FLAG" val=""/>
</p:tagLst>
</file>

<file path=ppt/tags/tag707.xml><?xml version="1.0" encoding="utf-8"?>
<p:tagLst xmlns:p="http://schemas.openxmlformats.org/presentationml/2006/main">
  <p:tag name="KSO_WM_BEAUTIFY_FLAG" val=""/>
</p:tagLst>
</file>

<file path=ppt/tags/tag708.xml><?xml version="1.0" encoding="utf-8"?>
<p:tagLst xmlns:p="http://schemas.openxmlformats.org/presentationml/2006/main">
  <p:tag name="KSO_WM_BEAUTIFY_FLAG" val=""/>
</p:tagLst>
</file>

<file path=ppt/tags/tag709.xml><?xml version="1.0" encoding="utf-8"?>
<p:tagLst xmlns:p="http://schemas.openxmlformats.org/presentationml/2006/main">
  <p:tag name="KSO_WM_BEAUTIFY_FLAG" val=""/>
</p:tagLst>
</file>

<file path=ppt/tags/tag710.xml><?xml version="1.0" encoding="utf-8"?>
<p:tagLst xmlns:p="http://schemas.openxmlformats.org/presentationml/2006/main">
  <p:tag name="KSO_WM_BEAUTIFY_FLAG" val=""/>
</p:tagLst>
</file>

<file path=ppt/tags/tag711.xml><?xml version="1.0" encoding="utf-8"?>
<p:tagLst xmlns:p="http://schemas.openxmlformats.org/presentationml/2006/main">
  <p:tag name="KSO_WM_BEAUTIFY_FLAG" val=""/>
</p:tagLst>
</file>

<file path=ppt/tags/tag712.xml><?xml version="1.0" encoding="utf-8"?>
<p:tagLst xmlns:p="http://schemas.openxmlformats.org/presentationml/2006/main">
  <p:tag name="KSO_WM_BEAUTIFY_FLAG" val=""/>
</p:tagLst>
</file>

<file path=ppt/tags/tag713.xml><?xml version="1.0" encoding="utf-8"?>
<p:tagLst xmlns:p="http://schemas.openxmlformats.org/presentationml/2006/main">
  <p:tag name="KSO_WM_BEAUTIFY_FLAG" val=""/>
</p:tagLst>
</file>

<file path=ppt/tags/tag714.xml><?xml version="1.0" encoding="utf-8"?>
<p:tagLst xmlns:p="http://schemas.openxmlformats.org/presentationml/2006/main">
  <p:tag name="KSO_WM_BEAUTIFY_FLAG" val=""/>
</p:tagLst>
</file>

<file path=ppt/tags/tag715.xml><?xml version="1.0" encoding="utf-8"?>
<p:tagLst xmlns:p="http://schemas.openxmlformats.org/presentationml/2006/main">
  <p:tag name="KSO_WM_BEAUTIFY_FLAG" val=""/>
</p:tagLst>
</file>

<file path=ppt/tags/tag716.xml><?xml version="1.0" encoding="utf-8"?>
<p:tagLst xmlns:p="http://schemas.openxmlformats.org/presentationml/2006/main">
  <p:tag name="KSO_WM_BEAUTIFY_FLAG" val=""/>
</p:tagLst>
</file>

<file path=ppt/tags/tag717.xml><?xml version="1.0" encoding="utf-8"?>
<p:tagLst xmlns:p="http://schemas.openxmlformats.org/presentationml/2006/main">
  <p:tag name="KSO_WM_BEAUTIFY_FLAG" val=""/>
</p:tagLst>
</file>

<file path=ppt/tags/tag718.xml><?xml version="1.0" encoding="utf-8"?>
<p:tagLst xmlns:p="http://schemas.openxmlformats.org/presentationml/2006/main">
  <p:tag name="KSO_WM_BEAUTIFY_FLAG" val=""/>
</p:tagLst>
</file>

<file path=ppt/tags/tag719.xml><?xml version="1.0" encoding="utf-8"?>
<p:tagLst xmlns:p="http://schemas.openxmlformats.org/presentationml/2006/main">
  <p:tag name="KSO_WM_BEAUTIFY_FLAG" val=""/>
</p:tagLst>
</file>

<file path=ppt/tags/tag720.xml><?xml version="1.0" encoding="utf-8"?>
<p:tagLst xmlns:p="http://schemas.openxmlformats.org/presentationml/2006/main">
  <p:tag name="KSO_WM_BEAUTIFY_FLAG" val=""/>
</p:tagLst>
</file>

<file path=ppt/tags/tag721.xml><?xml version="1.0" encoding="utf-8"?>
<p:tagLst xmlns:p="http://schemas.openxmlformats.org/presentationml/2006/main">
  <p:tag name="KSO_WM_BEAUTIFY_FLAG" val=""/>
</p:tagLst>
</file>

<file path=ppt/tags/tag722.xml><?xml version="1.0" encoding="utf-8"?>
<p:tagLst xmlns:p="http://schemas.openxmlformats.org/presentationml/2006/main">
  <p:tag name="KSO_WM_BEAUTIFY_FLAG" val=""/>
</p:tagLst>
</file>

<file path=ppt/tags/tag723.xml><?xml version="1.0" encoding="utf-8"?>
<p:tagLst xmlns:p="http://schemas.openxmlformats.org/presentationml/2006/main">
  <p:tag name="KSO_WM_BEAUTIFY_FLAG" val=""/>
</p:tagLst>
</file>

<file path=ppt/tags/tag724.xml><?xml version="1.0" encoding="utf-8"?>
<p:tagLst xmlns:p="http://schemas.openxmlformats.org/presentationml/2006/main">
  <p:tag name="KSO_WM_BEAUTIFY_FLAG" val=""/>
</p:tagLst>
</file>

<file path=ppt/tags/tag725.xml><?xml version="1.0" encoding="utf-8"?>
<p:tagLst xmlns:p="http://schemas.openxmlformats.org/presentationml/2006/main">
  <p:tag name="KSO_WM_BEAUTIFY_FLAG" val=""/>
</p:tagLst>
</file>

<file path=ppt/tags/tag726.xml><?xml version="1.0" encoding="utf-8"?>
<p:tagLst xmlns:p="http://schemas.openxmlformats.org/presentationml/2006/main">
  <p:tag name="KSO_WM_BEAUTIFY_FLAG" val=""/>
</p:tagLst>
</file>

<file path=ppt/tags/tag727.xml><?xml version="1.0" encoding="utf-8"?>
<p:tagLst xmlns:p="http://schemas.openxmlformats.org/presentationml/2006/main">
  <p:tag name="KSO_WM_BEAUTIFY_FLAG" val=""/>
</p:tagLst>
</file>

<file path=ppt/tags/tag728.xml><?xml version="1.0" encoding="utf-8"?>
<p:tagLst xmlns:p="http://schemas.openxmlformats.org/presentationml/2006/main">
  <p:tag name="KSO_WM_BEAUTIFY_FLAG" val=""/>
</p:tagLst>
</file>

<file path=ppt/tags/tag729.xml><?xml version="1.0" encoding="utf-8"?>
<p:tagLst xmlns:p="http://schemas.openxmlformats.org/presentationml/2006/main">
  <p:tag name="KSO_WM_BEAUTIFY_FLAG" val=""/>
</p:tagLst>
</file>

<file path=ppt/tags/tag730.xml><?xml version="1.0" encoding="utf-8"?>
<p:tagLst xmlns:p="http://schemas.openxmlformats.org/presentationml/2006/main">
  <p:tag name="KSO_WM_BEAUTIFY_FLAG" val=""/>
</p:tagLst>
</file>

<file path=ppt/tags/tag731.xml><?xml version="1.0" encoding="utf-8"?>
<p:tagLst xmlns:p="http://schemas.openxmlformats.org/presentationml/2006/main">
  <p:tag name="KSO_WM_BEAUTIFY_FLAG" val=""/>
</p:tagLst>
</file>

<file path=ppt/tags/tag732.xml><?xml version="1.0" encoding="utf-8"?>
<p:tagLst xmlns:p="http://schemas.openxmlformats.org/presentationml/2006/main">
  <p:tag name="KSO_WM_BEAUTIFY_FLAG" val=""/>
</p:tagLst>
</file>

<file path=ppt/tags/tag733.xml><?xml version="1.0" encoding="utf-8"?>
<p:tagLst xmlns:p="http://schemas.openxmlformats.org/presentationml/2006/main">
  <p:tag name="KSO_WM_BEAUTIFY_FLAG" val=""/>
</p:tagLst>
</file>

<file path=ppt/tags/tag734.xml><?xml version="1.0" encoding="utf-8"?>
<p:tagLst xmlns:p="http://schemas.openxmlformats.org/presentationml/2006/main">
  <p:tag name="KSO_WM_BEAUTIFY_FLAG" val=""/>
</p:tagLst>
</file>

<file path=ppt/tags/tag735.xml><?xml version="1.0" encoding="utf-8"?>
<p:tagLst xmlns:p="http://schemas.openxmlformats.org/presentationml/2006/main">
  <p:tag name="KSO_WM_BEAUTIFY_FLAG" val=""/>
</p:tagLst>
</file>

<file path=ppt/tags/tag736.xml><?xml version="1.0" encoding="utf-8"?>
<p:tagLst xmlns:p="http://schemas.openxmlformats.org/presentationml/2006/main">
  <p:tag name="KSO_WM_BEAUTIFY_FLAG" val=""/>
</p:tagLst>
</file>

<file path=ppt/tags/tag737.xml><?xml version="1.0" encoding="utf-8"?>
<p:tagLst xmlns:p="http://schemas.openxmlformats.org/presentationml/2006/main">
  <p:tag name="KSO_WM_BEAUTIFY_FLAG" val=""/>
</p:tagLst>
</file>

<file path=ppt/tags/tag738.xml><?xml version="1.0" encoding="utf-8"?>
<p:tagLst xmlns:p="http://schemas.openxmlformats.org/presentationml/2006/main">
  <p:tag name="KSO_WM_BEAUTIFY_FLAG" val=""/>
</p:tagLst>
</file>

<file path=ppt/tags/tag739.xml><?xml version="1.0" encoding="utf-8"?>
<p:tagLst xmlns:p="http://schemas.openxmlformats.org/presentationml/2006/main">
  <p:tag name="KSO_WM_BEAUTIFY_FLAG" val=""/>
</p:tagLst>
</file>

<file path=ppt/tags/tag740.xml><?xml version="1.0" encoding="utf-8"?>
<p:tagLst xmlns:p="http://schemas.openxmlformats.org/presentationml/2006/main">
  <p:tag name="KSO_WM_BEAUTIFY_FLAG" val=""/>
</p:tagLst>
</file>

<file path=ppt/tags/tag741.xml><?xml version="1.0" encoding="utf-8"?>
<p:tagLst xmlns:p="http://schemas.openxmlformats.org/presentationml/2006/main">
  <p:tag name="KSO_WM_BEAUTIFY_FLAG" val=""/>
</p:tagLst>
</file>

<file path=ppt/tags/tag742.xml><?xml version="1.0" encoding="utf-8"?>
<p:tagLst xmlns:p="http://schemas.openxmlformats.org/presentationml/2006/main">
  <p:tag name="KSO_WM_BEAUTIFY_FLAG" val=""/>
</p:tagLst>
</file>

<file path=ppt/tags/tag743.xml><?xml version="1.0" encoding="utf-8"?>
<p:tagLst xmlns:p="http://schemas.openxmlformats.org/presentationml/2006/main">
  <p:tag name="KSO_WM_BEAUTIFY_FLAG" val=""/>
</p:tagLst>
</file>

<file path=ppt/tags/tag744.xml><?xml version="1.0" encoding="utf-8"?>
<p:tagLst xmlns:p="http://schemas.openxmlformats.org/presentationml/2006/main">
  <p:tag name="KSO_WM_BEAUTIFY_FLAG" val=""/>
</p:tagLst>
</file>

<file path=ppt/tags/tag745.xml><?xml version="1.0" encoding="utf-8"?>
<p:tagLst xmlns:p="http://schemas.openxmlformats.org/presentationml/2006/main">
  <p:tag name="KSO_WM_BEAUTIFY_FLAG" val=""/>
</p:tagLst>
</file>

<file path=ppt/tags/tag746.xml><?xml version="1.0" encoding="utf-8"?>
<p:tagLst xmlns:p="http://schemas.openxmlformats.org/presentationml/2006/main">
  <p:tag name="KSO_WM_BEAUTIFY_FLAG" val=""/>
</p:tagLst>
</file>

<file path=ppt/tags/tag747.xml><?xml version="1.0" encoding="utf-8"?>
<p:tagLst xmlns:p="http://schemas.openxmlformats.org/presentationml/2006/main">
  <p:tag name="KSO_WM_BEAUTIFY_FLAG" val=""/>
</p:tagLst>
</file>

<file path=ppt/tags/tag748.xml><?xml version="1.0" encoding="utf-8"?>
<p:tagLst xmlns:p="http://schemas.openxmlformats.org/presentationml/2006/main">
  <p:tag name="KSO_WM_BEAUTIFY_FLAG" val=""/>
</p:tagLst>
</file>

<file path=ppt/tags/tag749.xml><?xml version="1.0" encoding="utf-8"?>
<p:tagLst xmlns:p="http://schemas.openxmlformats.org/presentationml/2006/main">
  <p:tag name="KSO_WM_BEAUTIFY_FLAG" val=""/>
</p:tagLst>
</file>

<file path=ppt/tags/tag750.xml><?xml version="1.0" encoding="utf-8"?>
<p:tagLst xmlns:p="http://schemas.openxmlformats.org/presentationml/2006/main">
  <p:tag name="KSO_WM_BEAUTIFY_FLAG" val=""/>
</p:tagLst>
</file>

<file path=ppt/tags/tag751.xml><?xml version="1.0" encoding="utf-8"?>
<p:tagLst xmlns:p="http://schemas.openxmlformats.org/presentationml/2006/main">
  <p:tag name="KSO_WM_BEAUTIFY_FLAG" val=""/>
</p:tagLst>
</file>

<file path=ppt/tags/tag752.xml><?xml version="1.0" encoding="utf-8"?>
<p:tagLst xmlns:p="http://schemas.openxmlformats.org/presentationml/2006/main">
  <p:tag name="KSO_WM_BEAUTIFY_FLAG" val=""/>
</p:tagLst>
</file>

<file path=ppt/tags/tag753.xml><?xml version="1.0" encoding="utf-8"?>
<p:tagLst xmlns:p="http://schemas.openxmlformats.org/presentationml/2006/main">
  <p:tag name="KSO_WM_BEAUTIFY_FLAG" val=""/>
</p:tagLst>
</file>

<file path=ppt/tags/tag754.xml><?xml version="1.0" encoding="utf-8"?>
<p:tagLst xmlns:p="http://schemas.openxmlformats.org/presentationml/2006/main">
  <p:tag name="KSO_WM_BEAUTIFY_FLAG" val=""/>
</p:tagLst>
</file>

<file path=ppt/tags/tag755.xml><?xml version="1.0" encoding="utf-8"?>
<p:tagLst xmlns:p="http://schemas.openxmlformats.org/presentationml/2006/main">
  <p:tag name="KSO_WM_BEAUTIFY_FLAG" val=""/>
</p:tagLst>
</file>

<file path=ppt/tags/tag756.xml><?xml version="1.0" encoding="utf-8"?>
<p:tagLst xmlns:p="http://schemas.openxmlformats.org/presentationml/2006/main">
  <p:tag name="KSO_WM_BEAUTIFY_FLAG" val=""/>
</p:tagLst>
</file>

<file path=ppt/tags/tag757.xml><?xml version="1.0" encoding="utf-8"?>
<p:tagLst xmlns:p="http://schemas.openxmlformats.org/presentationml/2006/main">
  <p:tag name="KSO_WM_BEAUTIFY_FLAG" val=""/>
</p:tagLst>
</file>

<file path=ppt/tags/tag758.xml><?xml version="1.0" encoding="utf-8"?>
<p:tagLst xmlns:p="http://schemas.openxmlformats.org/presentationml/2006/main">
  <p:tag name="KSO_WM_BEAUTIFY_FLAG" val=""/>
</p:tagLst>
</file>

<file path=ppt/tags/tag759.xml><?xml version="1.0" encoding="utf-8"?>
<p:tagLst xmlns:p="http://schemas.openxmlformats.org/presentationml/2006/main">
  <p:tag name="KSO_WM_BEAUTIFY_FLAG" val=""/>
</p:tagLst>
</file>

<file path=ppt/tags/tag760.xml><?xml version="1.0" encoding="utf-8"?>
<p:tagLst xmlns:p="http://schemas.openxmlformats.org/presentationml/2006/main">
  <p:tag name="KSO_WM_BEAUTIFY_FLAG" val=""/>
</p:tagLst>
</file>

<file path=ppt/tags/tag761.xml><?xml version="1.0" encoding="utf-8"?>
<p:tagLst xmlns:p="http://schemas.openxmlformats.org/presentationml/2006/main">
  <p:tag name="KSO_WM_BEAUTIFY_FLAG" val=""/>
</p:tagLst>
</file>

<file path=ppt/tags/tag762.xml><?xml version="1.0" encoding="utf-8"?>
<p:tagLst xmlns:p="http://schemas.openxmlformats.org/presentationml/2006/main">
  <p:tag name="KSO_WM_BEAUTIFY_FLAG" val=""/>
</p:tagLst>
</file>

<file path=ppt/tags/tag763.xml><?xml version="1.0" encoding="utf-8"?>
<p:tagLst xmlns:p="http://schemas.openxmlformats.org/presentationml/2006/main">
  <p:tag name="KSO_WM_BEAUTIFY_FLAG" val=""/>
</p:tagLst>
</file>

<file path=ppt/tags/tag764.xml><?xml version="1.0" encoding="utf-8"?>
<p:tagLst xmlns:p="http://schemas.openxmlformats.org/presentationml/2006/main">
  <p:tag name="KSO_WM_BEAUTIFY_FLAG" val=""/>
</p:tagLst>
</file>

<file path=ppt/tags/tag765.xml><?xml version="1.0" encoding="utf-8"?>
<p:tagLst xmlns:p="http://schemas.openxmlformats.org/presentationml/2006/main">
  <p:tag name="KSO_WM_BEAUTIFY_FLAG" val=""/>
</p:tagLst>
</file>

<file path=ppt/tags/tag766.xml><?xml version="1.0" encoding="utf-8"?>
<p:tagLst xmlns:p="http://schemas.openxmlformats.org/presentationml/2006/main">
  <p:tag name="KSO_WM_BEAUTIFY_FLAG" val=""/>
</p:tagLst>
</file>

<file path=ppt/tags/tag767.xml><?xml version="1.0" encoding="utf-8"?>
<p:tagLst xmlns:p="http://schemas.openxmlformats.org/presentationml/2006/main">
  <p:tag name="KSO_WM_BEAUTIFY_FLAG" val=""/>
</p:tagLst>
</file>

<file path=ppt/tags/tag768.xml><?xml version="1.0" encoding="utf-8"?>
<p:tagLst xmlns:p="http://schemas.openxmlformats.org/presentationml/2006/main">
  <p:tag name="KSO_WM_BEAUTIFY_FLAG" val=""/>
</p:tagLst>
</file>

<file path=ppt/tags/tag769.xml><?xml version="1.0" encoding="utf-8"?>
<p:tagLst xmlns:p="http://schemas.openxmlformats.org/presentationml/2006/main">
  <p:tag name="KSO_WM_BEAUTIFY_FLAG" val=""/>
</p:tagLst>
</file>

<file path=ppt/tags/tag770.xml><?xml version="1.0" encoding="utf-8"?>
<p:tagLst xmlns:p="http://schemas.openxmlformats.org/presentationml/2006/main">
  <p:tag name="KSO_WM_BEAUTIFY_FLAG" val=""/>
</p:tagLst>
</file>

<file path=ppt/tags/tag771.xml><?xml version="1.0" encoding="utf-8"?>
<p:tagLst xmlns:p="http://schemas.openxmlformats.org/presentationml/2006/main">
  <p:tag name="KSO_WM_BEAUTIFY_FLAG" val=""/>
</p:tagLst>
</file>

<file path=ppt/tags/tag772.xml><?xml version="1.0" encoding="utf-8"?>
<p:tagLst xmlns:p="http://schemas.openxmlformats.org/presentationml/2006/main">
  <p:tag name="KSO_WM_BEAUTIFY_FLAG" val=""/>
</p:tagLst>
</file>

<file path=ppt/tags/tag773.xml><?xml version="1.0" encoding="utf-8"?>
<p:tagLst xmlns:p="http://schemas.openxmlformats.org/presentationml/2006/main">
  <p:tag name="KSO_WM_BEAUTIFY_FLAG" val=""/>
</p:tagLst>
</file>

<file path=ppt/tags/tag774.xml><?xml version="1.0" encoding="utf-8"?>
<p:tagLst xmlns:p="http://schemas.openxmlformats.org/presentationml/2006/main">
  <p:tag name="KSO_WM_BEAUTIFY_FLAG" val=""/>
</p:tagLst>
</file>

<file path=ppt/tags/tag775.xml><?xml version="1.0" encoding="utf-8"?>
<p:tagLst xmlns:p="http://schemas.openxmlformats.org/presentationml/2006/main">
  <p:tag name="KSO_WM_BEAUTIFY_FLAG" val=""/>
</p:tagLst>
</file>

<file path=ppt/tags/tag776.xml><?xml version="1.0" encoding="utf-8"?>
<p:tagLst xmlns:p="http://schemas.openxmlformats.org/presentationml/2006/main">
  <p:tag name="KSO_WM_BEAUTIFY_FLAG" val=""/>
</p:tagLst>
</file>

<file path=ppt/tags/tag777.xml><?xml version="1.0" encoding="utf-8"?>
<p:tagLst xmlns:p="http://schemas.openxmlformats.org/presentationml/2006/main">
  <p:tag name="KSO_WM_BEAUTIFY_FLAG" val=""/>
</p:tagLst>
</file>

<file path=ppt/tags/tag778.xml><?xml version="1.0" encoding="utf-8"?>
<p:tagLst xmlns:p="http://schemas.openxmlformats.org/presentationml/2006/main">
  <p:tag name="KSO_WM_BEAUTIFY_FLAG" val=""/>
</p:tagLst>
</file>

<file path=ppt/tags/tag779.xml><?xml version="1.0" encoding="utf-8"?>
<p:tagLst xmlns:p="http://schemas.openxmlformats.org/presentationml/2006/main">
  <p:tag name="KSO_WM_BEAUTIFY_FLAG" val=""/>
</p:tagLst>
</file>

<file path=ppt/tags/tag780.xml><?xml version="1.0" encoding="utf-8"?>
<p:tagLst xmlns:p="http://schemas.openxmlformats.org/presentationml/2006/main">
  <p:tag name="KSO_WM_BEAUTIFY_FLAG" val=""/>
</p:tagLst>
</file>

<file path=ppt/tags/tag781.xml><?xml version="1.0" encoding="utf-8"?>
<p:tagLst xmlns:p="http://schemas.openxmlformats.org/presentationml/2006/main">
  <p:tag name="KSO_WM_BEAUTIFY_FLAG" val=""/>
</p:tagLst>
</file>

<file path=ppt/tags/tag782.xml><?xml version="1.0" encoding="utf-8"?>
<p:tagLst xmlns:p="http://schemas.openxmlformats.org/presentationml/2006/main">
  <p:tag name="KSO_WM_BEAUTIFY_FLAG" val=""/>
</p:tagLst>
</file>

<file path=ppt/tags/tag783.xml><?xml version="1.0" encoding="utf-8"?>
<p:tagLst xmlns:p="http://schemas.openxmlformats.org/presentationml/2006/main">
  <p:tag name="KSO_WM_BEAUTIFY_FLAG" val=""/>
</p:tagLst>
</file>

<file path=ppt/tags/tag784.xml><?xml version="1.0" encoding="utf-8"?>
<p:tagLst xmlns:p="http://schemas.openxmlformats.org/presentationml/2006/main">
  <p:tag name="KSO_WM_BEAUTIFY_FLAG" val=""/>
</p:tagLst>
</file>

<file path=ppt/tags/tag785.xml><?xml version="1.0" encoding="utf-8"?>
<p:tagLst xmlns:p="http://schemas.openxmlformats.org/presentationml/2006/main">
  <p:tag name="KSO_WM_BEAUTIFY_FLAG" val=""/>
</p:tagLst>
</file>

<file path=ppt/tags/tag786.xml><?xml version="1.0" encoding="utf-8"?>
<p:tagLst xmlns:p="http://schemas.openxmlformats.org/presentationml/2006/main">
  <p:tag name="KSO_WM_BEAUTIFY_FLAG" val=""/>
</p:tagLst>
</file>

<file path=ppt/tags/tag787.xml><?xml version="1.0" encoding="utf-8"?>
<p:tagLst xmlns:p="http://schemas.openxmlformats.org/presentationml/2006/main">
  <p:tag name="KSO_WM_BEAUTIFY_FLAG" val=""/>
</p:tagLst>
</file>

<file path=ppt/tags/tag788.xml><?xml version="1.0" encoding="utf-8"?>
<p:tagLst xmlns:p="http://schemas.openxmlformats.org/presentationml/2006/main">
  <p:tag name="KSO_WM_BEAUTIFY_FLAG" val=""/>
</p:tagLst>
</file>

<file path=ppt/tags/tag789.xml><?xml version="1.0" encoding="utf-8"?>
<p:tagLst xmlns:p="http://schemas.openxmlformats.org/presentationml/2006/main">
  <p:tag name="KSO_WM_BEAUTIFY_FLAG" val=""/>
</p:tagLst>
</file>

<file path=ppt/tags/tag790.xml><?xml version="1.0" encoding="utf-8"?>
<p:tagLst xmlns:p="http://schemas.openxmlformats.org/presentationml/2006/main">
  <p:tag name="KSO_WM_BEAUTIFY_FLAG" val=""/>
</p:tagLst>
</file>

<file path=ppt/tags/tag791.xml><?xml version="1.0" encoding="utf-8"?>
<p:tagLst xmlns:p="http://schemas.openxmlformats.org/presentationml/2006/main">
  <p:tag name="KSO_WM_BEAUTIFY_FLAG" val=""/>
</p:tagLst>
</file>

<file path=ppt/tags/tag792.xml><?xml version="1.0" encoding="utf-8"?>
<p:tagLst xmlns:p="http://schemas.openxmlformats.org/presentationml/2006/main">
  <p:tag name="KSO_WM_BEAUTIFY_FLAG" val=""/>
</p:tagLst>
</file>

<file path=ppt/tags/tag793.xml><?xml version="1.0" encoding="utf-8"?>
<p:tagLst xmlns:p="http://schemas.openxmlformats.org/presentationml/2006/main">
  <p:tag name="KSO_WM_BEAUTIFY_FLAG" val=""/>
</p:tagLst>
</file>

<file path=ppt/tags/tag794.xml><?xml version="1.0" encoding="utf-8"?>
<p:tagLst xmlns:p="http://schemas.openxmlformats.org/presentationml/2006/main">
  <p:tag name="KSO_WM_BEAUTIFY_FLAG" val=""/>
</p:tagLst>
</file>

<file path=ppt/tags/tag795.xml><?xml version="1.0" encoding="utf-8"?>
<p:tagLst xmlns:p="http://schemas.openxmlformats.org/presentationml/2006/main">
  <p:tag name="KSO_WM_BEAUTIFY_FLAG" val=""/>
</p:tagLst>
</file>

<file path=ppt/tags/tag796.xml><?xml version="1.0" encoding="utf-8"?>
<p:tagLst xmlns:p="http://schemas.openxmlformats.org/presentationml/2006/main">
  <p:tag name="KSO_WM_BEAUTIFY_FLAG" val=""/>
</p:tagLst>
</file>

<file path=ppt/tags/tag797.xml><?xml version="1.0" encoding="utf-8"?>
<p:tagLst xmlns:p="http://schemas.openxmlformats.org/presentationml/2006/main">
  <p:tag name="KSO_WM_BEAUTIFY_FLAG" val=""/>
</p:tagLst>
</file>

<file path=ppt/tags/tag798.xml><?xml version="1.0" encoding="utf-8"?>
<p:tagLst xmlns:p="http://schemas.openxmlformats.org/presentationml/2006/main">
  <p:tag name="KSO_WM_BEAUTIFY_FLAG" val=""/>
</p:tagLst>
</file>

<file path=ppt/tags/tag799.xml><?xml version="1.0" encoding="utf-8"?>
<p:tagLst xmlns:p="http://schemas.openxmlformats.org/presentationml/2006/main">
  <p:tag name="KSO_WM_BEAUTIFY_FLAG" val=""/>
</p:tagLst>
</file>

<file path=ppt/tags/tag800.xml><?xml version="1.0" encoding="utf-8"?>
<p:tagLst xmlns:p="http://schemas.openxmlformats.org/presentationml/2006/main">
  <p:tag name="KSO_WM_BEAUTIFY_FLAG" val=""/>
</p:tagLst>
</file>

<file path=ppt/tags/tag801.xml><?xml version="1.0" encoding="utf-8"?>
<p:tagLst xmlns:p="http://schemas.openxmlformats.org/presentationml/2006/main">
  <p:tag name="KSO_WM_BEAUTIFY_FLAG" val=""/>
</p:tagLst>
</file>

<file path=ppt/tags/tag802.xml><?xml version="1.0" encoding="utf-8"?>
<p:tagLst xmlns:p="http://schemas.openxmlformats.org/presentationml/2006/main">
  <p:tag name="KSO_WM_BEAUTIFY_FLAG" val=""/>
</p:tagLst>
</file>

<file path=ppt/tags/tag803.xml><?xml version="1.0" encoding="utf-8"?>
<p:tagLst xmlns:p="http://schemas.openxmlformats.org/presentationml/2006/main">
  <p:tag name="KSO_WM_BEAUTIFY_FLAG" val=""/>
</p:tagLst>
</file>

<file path=ppt/tags/tag804.xml><?xml version="1.0" encoding="utf-8"?>
<p:tagLst xmlns:p="http://schemas.openxmlformats.org/presentationml/2006/main">
  <p:tag name="KSO_WM_BEAUTIFY_FLAG" val=""/>
</p:tagLst>
</file>

<file path=ppt/tags/tag805.xml><?xml version="1.0" encoding="utf-8"?>
<p:tagLst xmlns:p="http://schemas.openxmlformats.org/presentationml/2006/main">
  <p:tag name="KSO_WM_BEAUTIFY_FLAG" val=""/>
</p:tagLst>
</file>

<file path=ppt/tags/tag806.xml><?xml version="1.0" encoding="utf-8"?>
<p:tagLst xmlns:p="http://schemas.openxmlformats.org/presentationml/2006/main">
  <p:tag name="KSO_WM_BEAUTIFY_FLAG" val=""/>
</p:tagLst>
</file>

<file path=ppt/tags/tag807.xml><?xml version="1.0" encoding="utf-8"?>
<p:tagLst xmlns:p="http://schemas.openxmlformats.org/presentationml/2006/main">
  <p:tag name="KSO_WM_BEAUTIFY_FLAG" val=""/>
</p:tagLst>
</file>

<file path=ppt/tags/tag808.xml><?xml version="1.0" encoding="utf-8"?>
<p:tagLst xmlns:p="http://schemas.openxmlformats.org/presentationml/2006/main">
  <p:tag name="KSO_WM_BEAUTIFY_FLAG" val=""/>
</p:tagLst>
</file>

<file path=ppt/tags/tag809.xml><?xml version="1.0" encoding="utf-8"?>
<p:tagLst xmlns:p="http://schemas.openxmlformats.org/presentationml/2006/main">
  <p:tag name="KSO_WM_BEAUTIFY_FLAG" val=""/>
</p:tagLst>
</file>

<file path=ppt/tags/tag810.xml><?xml version="1.0" encoding="utf-8"?>
<p:tagLst xmlns:p="http://schemas.openxmlformats.org/presentationml/2006/main">
  <p:tag name="KSO_WM_BEAUTIFY_FLAG" val=""/>
</p:tagLst>
</file>

<file path=ppt/tags/tag811.xml><?xml version="1.0" encoding="utf-8"?>
<p:tagLst xmlns:p="http://schemas.openxmlformats.org/presentationml/2006/main">
  <p:tag name="KSO_WM_BEAUTIFY_FLAG" val=""/>
</p:tagLst>
</file>

<file path=ppt/tags/tag812.xml><?xml version="1.0" encoding="utf-8"?>
<p:tagLst xmlns:p="http://schemas.openxmlformats.org/presentationml/2006/main">
  <p:tag name="KSO_WM_BEAUTIFY_FLAG" val=""/>
</p:tagLst>
</file>

<file path=ppt/tags/tag813.xml><?xml version="1.0" encoding="utf-8"?>
<p:tagLst xmlns:p="http://schemas.openxmlformats.org/presentationml/2006/main">
  <p:tag name="KSO_WM_BEAUTIFY_FLAG" val=""/>
</p:tagLst>
</file>

<file path=ppt/tags/tag814.xml><?xml version="1.0" encoding="utf-8"?>
<p:tagLst xmlns:p="http://schemas.openxmlformats.org/presentationml/2006/main">
  <p:tag name="KSO_WM_BEAUTIFY_FLAG" val=""/>
</p:tagLst>
</file>

<file path=ppt/tags/tag815.xml><?xml version="1.0" encoding="utf-8"?>
<p:tagLst xmlns:p="http://schemas.openxmlformats.org/presentationml/2006/main">
  <p:tag name="KSO_WM_BEAUTIFY_FLAG" val=""/>
</p:tagLst>
</file>

<file path=ppt/tags/tag816.xml><?xml version="1.0" encoding="utf-8"?>
<p:tagLst xmlns:p="http://schemas.openxmlformats.org/presentationml/2006/main">
  <p:tag name="KSO_WM_BEAUTIFY_FLAG" val=""/>
</p:tagLst>
</file>

<file path=ppt/tags/tag817.xml><?xml version="1.0" encoding="utf-8"?>
<p:tagLst xmlns:p="http://schemas.openxmlformats.org/presentationml/2006/main">
  <p:tag name="KSO_WM_BEAUTIFY_FLAG" val=""/>
</p:tagLst>
</file>

<file path=ppt/tags/tag818.xml><?xml version="1.0" encoding="utf-8"?>
<p:tagLst xmlns:p="http://schemas.openxmlformats.org/presentationml/2006/main">
  <p:tag name="KSO_WM_BEAUTIFY_FLAG" val=""/>
</p:tagLst>
</file>

<file path=ppt/tags/tag819.xml><?xml version="1.0" encoding="utf-8"?>
<p:tagLst xmlns:p="http://schemas.openxmlformats.org/presentationml/2006/main">
  <p:tag name="KSO_WM_BEAUTIFY_FLAG" val=""/>
</p:tagLst>
</file>

<file path=ppt/tags/tag820.xml><?xml version="1.0" encoding="utf-8"?>
<p:tagLst xmlns:p="http://schemas.openxmlformats.org/presentationml/2006/main">
  <p:tag name="KSO_WM_BEAUTIFY_FLAG" val=""/>
</p:tagLst>
</file>

<file path=ppt/tags/tag821.xml><?xml version="1.0" encoding="utf-8"?>
<p:tagLst xmlns:p="http://schemas.openxmlformats.org/presentationml/2006/main">
  <p:tag name="KSO_WM_BEAUTIFY_FLAG" val=""/>
</p:tagLst>
</file>

<file path=ppt/tags/tag822.xml><?xml version="1.0" encoding="utf-8"?>
<p:tagLst xmlns:p="http://schemas.openxmlformats.org/presentationml/2006/main">
  <p:tag name="KSO_WM_BEAUTIFY_FLAG" val=""/>
</p:tagLst>
</file>

<file path=ppt/tags/tag823.xml><?xml version="1.0" encoding="utf-8"?>
<p:tagLst xmlns:p="http://schemas.openxmlformats.org/presentationml/2006/main">
  <p:tag name="KSO_WM_BEAUTIFY_FLAG" val=""/>
</p:tagLst>
</file>

<file path=ppt/tags/tag824.xml><?xml version="1.0" encoding="utf-8"?>
<p:tagLst xmlns:p="http://schemas.openxmlformats.org/presentationml/2006/main">
  <p:tag name="KSO_WM_BEAUTIFY_FLAG" val=""/>
</p:tagLst>
</file>

<file path=ppt/tags/tag825.xml><?xml version="1.0" encoding="utf-8"?>
<p:tagLst xmlns:p="http://schemas.openxmlformats.org/presentationml/2006/main">
  <p:tag name="KSO_WM_BEAUTIFY_FLAG" val=""/>
</p:tagLst>
</file>

<file path=ppt/tags/tag826.xml><?xml version="1.0" encoding="utf-8"?>
<p:tagLst xmlns:p="http://schemas.openxmlformats.org/presentationml/2006/main">
  <p:tag name="KSO_WM_BEAUTIFY_FLAG" val=""/>
</p:tagLst>
</file>

<file path=ppt/tags/tag827.xml><?xml version="1.0" encoding="utf-8"?>
<p:tagLst xmlns:p="http://schemas.openxmlformats.org/presentationml/2006/main">
  <p:tag name="KSO_WM_BEAUTIFY_FLAG" val=""/>
</p:tagLst>
</file>

<file path=ppt/tags/tag828.xml><?xml version="1.0" encoding="utf-8"?>
<p:tagLst xmlns:p="http://schemas.openxmlformats.org/presentationml/2006/main">
  <p:tag name="KSO_WM_BEAUTIFY_FLAG" val=""/>
</p:tagLst>
</file>

<file path=ppt/tags/tag829.xml><?xml version="1.0" encoding="utf-8"?>
<p:tagLst xmlns:p="http://schemas.openxmlformats.org/presentationml/2006/main">
  <p:tag name="KSO_WM_BEAUTIFY_FLAG" val=""/>
</p:tagLst>
</file>

<file path=ppt/tags/tag830.xml><?xml version="1.0" encoding="utf-8"?>
<p:tagLst xmlns:p="http://schemas.openxmlformats.org/presentationml/2006/main">
  <p:tag name="KSO_WM_BEAUTIFY_FLAG" val=""/>
</p:tagLst>
</file>

<file path=ppt/tags/tag831.xml><?xml version="1.0" encoding="utf-8"?>
<p:tagLst xmlns:p="http://schemas.openxmlformats.org/presentationml/2006/main">
  <p:tag name="KSO_WM_BEAUTIFY_FLAG" val=""/>
</p:tagLst>
</file>

<file path=ppt/tags/tag832.xml><?xml version="1.0" encoding="utf-8"?>
<p:tagLst xmlns:p="http://schemas.openxmlformats.org/presentationml/2006/main">
  <p:tag name="KSO_WM_BEAUTIFY_FLAG" val=""/>
</p:tagLst>
</file>

<file path=ppt/tags/tag833.xml><?xml version="1.0" encoding="utf-8"?>
<p:tagLst xmlns:p="http://schemas.openxmlformats.org/presentationml/2006/main">
  <p:tag name="KSO_WM_BEAUTIFY_FLAG" val=""/>
</p:tagLst>
</file>

<file path=ppt/tags/tag834.xml><?xml version="1.0" encoding="utf-8"?>
<p:tagLst xmlns:p="http://schemas.openxmlformats.org/presentationml/2006/main">
  <p:tag name="KSO_WM_BEAUTIFY_FLAG" val=""/>
</p:tagLst>
</file>

<file path=ppt/tags/tag835.xml><?xml version="1.0" encoding="utf-8"?>
<p:tagLst xmlns:p="http://schemas.openxmlformats.org/presentationml/2006/main">
  <p:tag name="KSO_WM_BEAUTIFY_FLAG" val=""/>
</p:tagLst>
</file>

<file path=ppt/tags/tag836.xml><?xml version="1.0" encoding="utf-8"?>
<p:tagLst xmlns:p="http://schemas.openxmlformats.org/presentationml/2006/main">
  <p:tag name="KSO_WM_BEAUTIFY_FLAG" val=""/>
</p:tagLst>
</file>

<file path=ppt/tags/tag837.xml><?xml version="1.0" encoding="utf-8"?>
<p:tagLst xmlns:p="http://schemas.openxmlformats.org/presentationml/2006/main">
  <p:tag name="KSO_WM_BEAUTIFY_FLAG" val=""/>
</p:tagLst>
</file>

<file path=ppt/tags/tag838.xml><?xml version="1.0" encoding="utf-8"?>
<p:tagLst xmlns:p="http://schemas.openxmlformats.org/presentationml/2006/main">
  <p:tag name="KSO_WM_BEAUTIFY_FLAG" val=""/>
</p:tagLst>
</file>

<file path=ppt/tags/tag839.xml><?xml version="1.0" encoding="utf-8"?>
<p:tagLst xmlns:p="http://schemas.openxmlformats.org/presentationml/2006/main">
  <p:tag name="KSO_WM_BEAUTIFY_FLAG" val=""/>
</p:tagLst>
</file>

<file path=ppt/tags/tag840.xml><?xml version="1.0" encoding="utf-8"?>
<p:tagLst xmlns:p="http://schemas.openxmlformats.org/presentationml/2006/main">
  <p:tag name="KSO_WM_BEAUTIFY_FLAG" val=""/>
</p:tagLst>
</file>

<file path=ppt/tags/tag841.xml><?xml version="1.0" encoding="utf-8"?>
<p:tagLst xmlns:p="http://schemas.openxmlformats.org/presentationml/2006/main">
  <p:tag name="KSO_WM_BEAUTIFY_FLAG" val=""/>
</p:tagLst>
</file>

<file path=ppt/tags/tag842.xml><?xml version="1.0" encoding="utf-8"?>
<p:tagLst xmlns:p="http://schemas.openxmlformats.org/presentationml/2006/main">
  <p:tag name="KSO_WM_BEAUTIFY_FLAG" val=""/>
</p:tagLst>
</file>

<file path=ppt/tags/tag843.xml><?xml version="1.0" encoding="utf-8"?>
<p:tagLst xmlns:p="http://schemas.openxmlformats.org/presentationml/2006/main">
  <p:tag name="KSO_WM_BEAUTIFY_FLAG" val=""/>
</p:tagLst>
</file>

<file path=ppt/tags/tag844.xml><?xml version="1.0" encoding="utf-8"?>
<p:tagLst xmlns:p="http://schemas.openxmlformats.org/presentationml/2006/main">
  <p:tag name="KSO_WM_BEAUTIFY_FLAG" val=""/>
</p:tagLst>
</file>

<file path=ppt/tags/tag845.xml><?xml version="1.0" encoding="utf-8"?>
<p:tagLst xmlns:p="http://schemas.openxmlformats.org/presentationml/2006/main">
  <p:tag name="KSO_WM_BEAUTIFY_FLAG" val=""/>
</p:tagLst>
</file>

<file path=ppt/tags/tag846.xml><?xml version="1.0" encoding="utf-8"?>
<p:tagLst xmlns:p="http://schemas.openxmlformats.org/presentationml/2006/main">
  <p:tag name="KSO_WM_BEAUTIFY_FLAG" val=""/>
</p:tagLst>
</file>

<file path=ppt/tags/tag847.xml><?xml version="1.0" encoding="utf-8"?>
<p:tagLst xmlns:p="http://schemas.openxmlformats.org/presentationml/2006/main">
  <p:tag name="KSO_WM_BEAUTIFY_FLAG" val=""/>
</p:tagLst>
</file>

<file path=ppt/tags/tag848.xml><?xml version="1.0" encoding="utf-8"?>
<p:tagLst xmlns:p="http://schemas.openxmlformats.org/presentationml/2006/main">
  <p:tag name="KSO_WM_BEAUTIFY_FLAG" val=""/>
</p:tagLst>
</file>

<file path=ppt/tags/tag849.xml><?xml version="1.0" encoding="utf-8"?>
<p:tagLst xmlns:p="http://schemas.openxmlformats.org/presentationml/2006/main">
  <p:tag name="KSO_WM_BEAUTIFY_FLAG" val=""/>
</p:tagLst>
</file>

<file path=ppt/tags/tag850.xml><?xml version="1.0" encoding="utf-8"?>
<p:tagLst xmlns:p="http://schemas.openxmlformats.org/presentationml/2006/main">
  <p:tag name="KSO_WM_BEAUTIFY_FLAG" val=""/>
</p:tagLst>
</file>

<file path=ppt/tags/tag851.xml><?xml version="1.0" encoding="utf-8"?>
<p:tagLst xmlns:p="http://schemas.openxmlformats.org/presentationml/2006/main">
  <p:tag name="KSO_WM_BEAUTIFY_FLAG" val=""/>
</p:tagLst>
</file>

<file path=ppt/tags/tag852.xml><?xml version="1.0" encoding="utf-8"?>
<p:tagLst xmlns:p="http://schemas.openxmlformats.org/presentationml/2006/main">
  <p:tag name="KSO_WM_BEAUTIFY_FLAG" val=""/>
</p:tagLst>
</file>

<file path=ppt/tags/tag853.xml><?xml version="1.0" encoding="utf-8"?>
<p:tagLst xmlns:p="http://schemas.openxmlformats.org/presentationml/2006/main">
  <p:tag name="KSO_WM_BEAUTIFY_FLAG" val=""/>
</p:tagLst>
</file>

<file path=ppt/tags/tag854.xml><?xml version="1.0" encoding="utf-8"?>
<p:tagLst xmlns:p="http://schemas.openxmlformats.org/presentationml/2006/main">
  <p:tag name="KSO_WM_BEAUTIFY_FLAG" val=""/>
</p:tagLst>
</file>

<file path=ppt/tags/tag855.xml><?xml version="1.0" encoding="utf-8"?>
<p:tagLst xmlns:p="http://schemas.openxmlformats.org/presentationml/2006/main">
  <p:tag name="KSO_WM_BEAUTIFY_FLAG" val=""/>
</p:tagLst>
</file>

<file path=ppt/tags/tag856.xml><?xml version="1.0" encoding="utf-8"?>
<p:tagLst xmlns:p="http://schemas.openxmlformats.org/presentationml/2006/main">
  <p:tag name="KSO_WM_BEAUTIFY_FLAG" val=""/>
</p:tagLst>
</file>

<file path=ppt/tags/tag857.xml><?xml version="1.0" encoding="utf-8"?>
<p:tagLst xmlns:p="http://schemas.openxmlformats.org/presentationml/2006/main">
  <p:tag name="KSO_WM_BEAUTIFY_FLAG" val=""/>
</p:tagLst>
</file>

<file path=ppt/tags/tag858.xml><?xml version="1.0" encoding="utf-8"?>
<p:tagLst xmlns:p="http://schemas.openxmlformats.org/presentationml/2006/main">
  <p:tag name="KSO_WM_BEAUTIFY_FLAG" val=""/>
</p:tagLst>
</file>

<file path=ppt/tags/tag859.xml><?xml version="1.0" encoding="utf-8"?>
<p:tagLst xmlns:p="http://schemas.openxmlformats.org/presentationml/2006/main">
  <p:tag name="KSO_WM_BEAUTIFY_FLAG" val=""/>
</p:tagLst>
</file>

<file path=ppt/tags/tag860.xml><?xml version="1.0" encoding="utf-8"?>
<p:tagLst xmlns:p="http://schemas.openxmlformats.org/presentationml/2006/main">
  <p:tag name="KSO_WM_BEAUTIFY_FLAG" val=""/>
</p:tagLst>
</file>

<file path=ppt/tags/tag861.xml><?xml version="1.0" encoding="utf-8"?>
<p:tagLst xmlns:p="http://schemas.openxmlformats.org/presentationml/2006/main">
  <p:tag name="KSO_WM_BEAUTIFY_FLAG" val=""/>
</p:tagLst>
</file>

<file path=ppt/tags/tag862.xml><?xml version="1.0" encoding="utf-8"?>
<p:tagLst xmlns:p="http://schemas.openxmlformats.org/presentationml/2006/main">
  <p:tag name="KSO_WM_BEAUTIFY_FLAG" val=""/>
</p:tagLst>
</file>

<file path=ppt/tags/tag863.xml><?xml version="1.0" encoding="utf-8"?>
<p:tagLst xmlns:p="http://schemas.openxmlformats.org/presentationml/2006/main">
  <p:tag name="KSO_WM_BEAUTIFY_FLAG" val=""/>
</p:tagLst>
</file>

<file path=ppt/tags/tag864.xml><?xml version="1.0" encoding="utf-8"?>
<p:tagLst xmlns:p="http://schemas.openxmlformats.org/presentationml/2006/main">
  <p:tag name="KSO_WM_BEAUTIFY_FLAG" val=""/>
</p:tagLst>
</file>

<file path=ppt/tags/tag865.xml><?xml version="1.0" encoding="utf-8"?>
<p:tagLst xmlns:p="http://schemas.openxmlformats.org/presentationml/2006/main">
  <p:tag name="KSO_WM_BEAUTIFY_FLAG" val=""/>
</p:tagLst>
</file>

<file path=ppt/tags/tag866.xml><?xml version="1.0" encoding="utf-8"?>
<p:tagLst xmlns:p="http://schemas.openxmlformats.org/presentationml/2006/main">
  <p:tag name="KSO_WM_BEAUTIFY_FLAG" val=""/>
</p:tagLst>
</file>

<file path=ppt/tags/tag867.xml><?xml version="1.0" encoding="utf-8"?>
<p:tagLst xmlns:p="http://schemas.openxmlformats.org/presentationml/2006/main">
  <p:tag name="KSO_WM_BEAUTIFY_FLAG" val=""/>
</p:tagLst>
</file>

<file path=ppt/tags/tag868.xml><?xml version="1.0" encoding="utf-8"?>
<p:tagLst xmlns:p="http://schemas.openxmlformats.org/presentationml/2006/main">
  <p:tag name="KSO_WM_BEAUTIFY_FLAG" val=""/>
</p:tagLst>
</file>

<file path=ppt/tags/tag869.xml><?xml version="1.0" encoding="utf-8"?>
<p:tagLst xmlns:p="http://schemas.openxmlformats.org/presentationml/2006/main">
  <p:tag name="KSO_WM_BEAUTIFY_FLAG" val=""/>
</p:tagLst>
</file>

<file path=ppt/tags/tag870.xml><?xml version="1.0" encoding="utf-8"?>
<p:tagLst xmlns:p="http://schemas.openxmlformats.org/presentationml/2006/main">
  <p:tag name="KSO_WM_BEAUTIFY_FLAG" val=""/>
</p:tagLst>
</file>

<file path=ppt/tags/tag871.xml><?xml version="1.0" encoding="utf-8"?>
<p:tagLst xmlns:p="http://schemas.openxmlformats.org/presentationml/2006/main">
  <p:tag name="KSO_WM_BEAUTIFY_FLAG" val=""/>
</p:tagLst>
</file>

<file path=ppt/tags/tag872.xml><?xml version="1.0" encoding="utf-8"?>
<p:tagLst xmlns:p="http://schemas.openxmlformats.org/presentationml/2006/main">
  <p:tag name="KSO_WM_BEAUTIFY_FLAG" val=""/>
</p:tagLst>
</file>

<file path=ppt/tags/tag873.xml><?xml version="1.0" encoding="utf-8"?>
<p:tagLst xmlns:p="http://schemas.openxmlformats.org/presentationml/2006/main">
  <p:tag name="KSO_WM_BEAUTIFY_FLAG" val=""/>
</p:tagLst>
</file>

<file path=ppt/tags/tag874.xml><?xml version="1.0" encoding="utf-8"?>
<p:tagLst xmlns:p="http://schemas.openxmlformats.org/presentationml/2006/main">
  <p:tag name="KSO_WM_BEAUTIFY_FLAG" val=""/>
</p:tagLst>
</file>

<file path=ppt/tags/tag875.xml><?xml version="1.0" encoding="utf-8"?>
<p:tagLst xmlns:p="http://schemas.openxmlformats.org/presentationml/2006/main">
  <p:tag name="KSO_WM_BEAUTIFY_FLAG" val=""/>
</p:tagLst>
</file>

<file path=ppt/tags/tag876.xml><?xml version="1.0" encoding="utf-8"?>
<p:tagLst xmlns:p="http://schemas.openxmlformats.org/presentationml/2006/main">
  <p:tag name="KSO_WM_BEAUTIFY_FLAG" val=""/>
</p:tagLst>
</file>

<file path=ppt/tags/tag877.xml><?xml version="1.0" encoding="utf-8"?>
<p:tagLst xmlns:p="http://schemas.openxmlformats.org/presentationml/2006/main">
  <p:tag name="KSO_WM_BEAUTIFY_FLAG" val=""/>
</p:tagLst>
</file>

<file path=ppt/tags/tag878.xml><?xml version="1.0" encoding="utf-8"?>
<p:tagLst xmlns:p="http://schemas.openxmlformats.org/presentationml/2006/main">
  <p:tag name="KSO_WM_BEAUTIFY_FLAG" val=""/>
</p:tagLst>
</file>

<file path=ppt/tags/tag879.xml><?xml version="1.0" encoding="utf-8"?>
<p:tagLst xmlns:p="http://schemas.openxmlformats.org/presentationml/2006/main">
  <p:tag name="KSO_WM_BEAUTIFY_FLAG" val=""/>
</p:tagLst>
</file>

<file path=ppt/tags/tag880.xml><?xml version="1.0" encoding="utf-8"?>
<p:tagLst xmlns:p="http://schemas.openxmlformats.org/presentationml/2006/main">
  <p:tag name="KSO_WM_BEAUTIFY_FLAG" val=""/>
</p:tagLst>
</file>

<file path=ppt/tags/tag881.xml><?xml version="1.0" encoding="utf-8"?>
<p:tagLst xmlns:p="http://schemas.openxmlformats.org/presentationml/2006/main">
  <p:tag name="KSO_WM_BEAUTIFY_FLAG" val=""/>
</p:tagLst>
</file>

<file path=ppt/tags/tag882.xml><?xml version="1.0" encoding="utf-8"?>
<p:tagLst xmlns:p="http://schemas.openxmlformats.org/presentationml/2006/main">
  <p:tag name="KSO_WM_BEAUTIFY_FLAG" val=""/>
</p:tagLst>
</file>

<file path=ppt/tags/tag883.xml><?xml version="1.0" encoding="utf-8"?>
<p:tagLst xmlns:p="http://schemas.openxmlformats.org/presentationml/2006/main">
  <p:tag name="KSO_WM_BEAUTIFY_FLAG" val=""/>
</p:tagLst>
</file>

<file path=ppt/tags/tag884.xml><?xml version="1.0" encoding="utf-8"?>
<p:tagLst xmlns:p="http://schemas.openxmlformats.org/presentationml/2006/main">
  <p:tag name="KSO_WM_BEAUTIFY_FLAG" val=""/>
</p:tagLst>
</file>

<file path=ppt/tags/tag885.xml><?xml version="1.0" encoding="utf-8"?>
<p:tagLst xmlns:p="http://schemas.openxmlformats.org/presentationml/2006/main">
  <p:tag name="KSO_WM_BEAUTIFY_FLAG" val=""/>
</p:tagLst>
</file>

<file path=ppt/tags/tag886.xml><?xml version="1.0" encoding="utf-8"?>
<p:tagLst xmlns:p="http://schemas.openxmlformats.org/presentationml/2006/main">
  <p:tag name="KSO_WM_BEAUTIFY_FLAG" val=""/>
</p:tagLst>
</file>

<file path=ppt/tags/tag887.xml><?xml version="1.0" encoding="utf-8"?>
<p:tagLst xmlns:p="http://schemas.openxmlformats.org/presentationml/2006/main">
  <p:tag name="KSO_WM_BEAUTIFY_FLAG" val=""/>
</p:tagLst>
</file>

<file path=ppt/tags/tag888.xml><?xml version="1.0" encoding="utf-8"?>
<p:tagLst xmlns:p="http://schemas.openxmlformats.org/presentationml/2006/main">
  <p:tag name="KSO_WM_BEAUTIFY_FLAG" val=""/>
</p:tagLst>
</file>

<file path=ppt/tags/tag889.xml><?xml version="1.0" encoding="utf-8"?>
<p:tagLst xmlns:p="http://schemas.openxmlformats.org/presentationml/2006/main">
  <p:tag name="KSO_WM_BEAUTIFY_FLAG" val=""/>
</p:tagLst>
</file>

<file path=ppt/tags/tag890.xml><?xml version="1.0" encoding="utf-8"?>
<p:tagLst xmlns:p="http://schemas.openxmlformats.org/presentationml/2006/main">
  <p:tag name="KSO_WM_BEAUTIFY_FLAG" val=""/>
</p:tagLst>
</file>

<file path=ppt/tags/tag891.xml><?xml version="1.0" encoding="utf-8"?>
<p:tagLst xmlns:p="http://schemas.openxmlformats.org/presentationml/2006/main">
  <p:tag name="KSO_WM_BEAUTIFY_FLAG" val=""/>
</p:tagLst>
</file>

<file path=ppt/tags/tag892.xml><?xml version="1.0" encoding="utf-8"?>
<p:tagLst xmlns:p="http://schemas.openxmlformats.org/presentationml/2006/main">
  <p:tag name="KSO_WM_BEAUTIFY_FLAG" val=""/>
</p:tagLst>
</file>

<file path=ppt/tags/tag893.xml><?xml version="1.0" encoding="utf-8"?>
<p:tagLst xmlns:p="http://schemas.openxmlformats.org/presentationml/2006/main">
  <p:tag name="KSO_WM_BEAUTIFY_FLAG" val=""/>
</p:tagLst>
</file>

<file path=ppt/tags/tag894.xml><?xml version="1.0" encoding="utf-8"?>
<p:tagLst xmlns:p="http://schemas.openxmlformats.org/presentationml/2006/main">
  <p:tag name="KSO_WM_BEAUTIFY_FLAG" val=""/>
</p:tagLst>
</file>

<file path=ppt/tags/tag895.xml><?xml version="1.0" encoding="utf-8"?>
<p:tagLst xmlns:p="http://schemas.openxmlformats.org/presentationml/2006/main">
  <p:tag name="KSO_WM_BEAUTIFY_FLAG" val=""/>
</p:tagLst>
</file>

<file path=ppt/tags/tag896.xml><?xml version="1.0" encoding="utf-8"?>
<p:tagLst xmlns:p="http://schemas.openxmlformats.org/presentationml/2006/main">
  <p:tag name="KSO_WM_BEAUTIFY_FLAG" val=""/>
</p:tagLst>
</file>

<file path=ppt/tags/tag897.xml><?xml version="1.0" encoding="utf-8"?>
<p:tagLst xmlns:p="http://schemas.openxmlformats.org/presentationml/2006/main">
  <p:tag name="KSO_WM_BEAUTIFY_FLAG" val=""/>
</p:tagLst>
</file>

<file path=ppt/tags/tag898.xml><?xml version="1.0" encoding="utf-8"?>
<p:tagLst xmlns:p="http://schemas.openxmlformats.org/presentationml/2006/main">
  <p:tag name="KSO_WM_BEAUTIFY_FLAG" val=""/>
</p:tagLst>
</file>

<file path=ppt/tags/tag899.xml><?xml version="1.0" encoding="utf-8"?>
<p:tagLst xmlns:p="http://schemas.openxmlformats.org/presentationml/2006/main">
  <p:tag name="KSO_WM_BEAUTIFY_FLAG" val=""/>
</p:tagLst>
</file>

<file path=ppt/tags/tag900.xml><?xml version="1.0" encoding="utf-8"?>
<p:tagLst xmlns:p="http://schemas.openxmlformats.org/presentationml/2006/main">
  <p:tag name="KSO_WM_BEAUTIFY_FLAG" val=""/>
</p:tagLst>
</file>

<file path=ppt/tags/tag901.xml><?xml version="1.0" encoding="utf-8"?>
<p:tagLst xmlns:p="http://schemas.openxmlformats.org/presentationml/2006/main">
  <p:tag name="KSO_WM_BEAUTIFY_FLAG" val=""/>
</p:tagLst>
</file>

<file path=ppt/tags/tag902.xml><?xml version="1.0" encoding="utf-8"?>
<p:tagLst xmlns:p="http://schemas.openxmlformats.org/presentationml/2006/main">
  <p:tag name="KSO_WM_BEAUTIFY_FLAG" val=""/>
</p:tagLst>
</file>

<file path=ppt/tags/tag903.xml><?xml version="1.0" encoding="utf-8"?>
<p:tagLst xmlns:p="http://schemas.openxmlformats.org/presentationml/2006/main">
  <p:tag name="KSO_WM_BEAUTIFY_FLAG" val=""/>
</p:tagLst>
</file>

<file path=ppt/tags/tag904.xml><?xml version="1.0" encoding="utf-8"?>
<p:tagLst xmlns:p="http://schemas.openxmlformats.org/presentationml/2006/main">
  <p:tag name="KSO_WM_BEAUTIFY_FLAG" val=""/>
</p:tagLst>
</file>

<file path=ppt/tags/tag905.xml><?xml version="1.0" encoding="utf-8"?>
<p:tagLst xmlns:p="http://schemas.openxmlformats.org/presentationml/2006/main">
  <p:tag name="KSO_WM_BEAUTIFY_FLAG" val=""/>
</p:tagLst>
</file>

<file path=ppt/tags/tag906.xml><?xml version="1.0" encoding="utf-8"?>
<p:tagLst xmlns:p="http://schemas.openxmlformats.org/presentationml/2006/main">
  <p:tag name="KSO_WM_BEAUTIFY_FLAG" val=""/>
</p:tagLst>
</file>

<file path=ppt/tags/tag907.xml><?xml version="1.0" encoding="utf-8"?>
<p:tagLst xmlns:p="http://schemas.openxmlformats.org/presentationml/2006/main">
  <p:tag name="KSO_WM_BEAUTIFY_FLAG" val=""/>
</p:tagLst>
</file>

<file path=ppt/tags/tag908.xml><?xml version="1.0" encoding="utf-8"?>
<p:tagLst xmlns:p="http://schemas.openxmlformats.org/presentationml/2006/main">
  <p:tag name="KSO_WM_BEAUTIFY_FLAG" val=""/>
</p:tagLst>
</file>

<file path=ppt/tags/tag909.xml><?xml version="1.0" encoding="utf-8"?>
<p:tagLst xmlns:p="http://schemas.openxmlformats.org/presentationml/2006/main">
  <p:tag name="KSO_WM_BEAUTIFY_FLAG" val=""/>
</p:tagLst>
</file>

<file path=ppt/tags/tag910.xml><?xml version="1.0" encoding="utf-8"?>
<p:tagLst xmlns:p="http://schemas.openxmlformats.org/presentationml/2006/main">
  <p:tag name="KSO_WM_BEAUTIFY_FLAG" val=""/>
</p:tagLst>
</file>

<file path=ppt/tags/tag911.xml><?xml version="1.0" encoding="utf-8"?>
<p:tagLst xmlns:p="http://schemas.openxmlformats.org/presentationml/2006/main">
  <p:tag name="KSO_WM_BEAUTIFY_FLAG" val=""/>
</p:tagLst>
</file>

<file path=ppt/tags/tag912.xml><?xml version="1.0" encoding="utf-8"?>
<p:tagLst xmlns:p="http://schemas.openxmlformats.org/presentationml/2006/main">
  <p:tag name="KSO_WM_BEAUTIFY_FLAG" val=""/>
</p:tagLst>
</file>

<file path=ppt/tags/tag913.xml><?xml version="1.0" encoding="utf-8"?>
<p:tagLst xmlns:p="http://schemas.openxmlformats.org/presentationml/2006/main">
  <p:tag name="KSO_WM_BEAUTIFY_FLAG" val=""/>
</p:tagLst>
</file>

<file path=ppt/tags/tag914.xml><?xml version="1.0" encoding="utf-8"?>
<p:tagLst xmlns:p="http://schemas.openxmlformats.org/presentationml/2006/main">
  <p:tag name="KSO_WM_BEAUTIFY_FLAG" val=""/>
</p:tagLst>
</file>

<file path=ppt/tags/tag915.xml><?xml version="1.0" encoding="utf-8"?>
<p:tagLst xmlns:p="http://schemas.openxmlformats.org/presentationml/2006/main">
  <p:tag name="KSO_WM_BEAUTIFY_FLAG" val=""/>
</p:tagLst>
</file>

<file path=ppt/tags/tag916.xml><?xml version="1.0" encoding="utf-8"?>
<p:tagLst xmlns:p="http://schemas.openxmlformats.org/presentationml/2006/main">
  <p:tag name="KSO_WM_BEAUTIFY_FLAG" val=""/>
</p:tagLst>
</file>

<file path=ppt/tags/tag917.xml><?xml version="1.0" encoding="utf-8"?>
<p:tagLst xmlns:p="http://schemas.openxmlformats.org/presentationml/2006/main">
  <p:tag name="KSO_WM_BEAUTIFY_FLAG" val=""/>
</p:tagLst>
</file>

<file path=ppt/tags/tag918.xml><?xml version="1.0" encoding="utf-8"?>
<p:tagLst xmlns:p="http://schemas.openxmlformats.org/presentationml/2006/main">
  <p:tag name="KSO_WM_BEAUTIFY_FLAG" val=""/>
</p:tagLst>
</file>

<file path=ppt/tags/tag919.xml><?xml version="1.0" encoding="utf-8"?>
<p:tagLst xmlns:p="http://schemas.openxmlformats.org/presentationml/2006/main">
  <p:tag name="KSO_WM_BEAUTIFY_FLAG" val=""/>
</p:tagLst>
</file>

<file path=ppt/tags/tag920.xml><?xml version="1.0" encoding="utf-8"?>
<p:tagLst xmlns:p="http://schemas.openxmlformats.org/presentationml/2006/main">
  <p:tag name="KSO_WM_BEAUTIFY_FLAG" val=""/>
</p:tagLst>
</file>

<file path=ppt/tags/tag921.xml><?xml version="1.0" encoding="utf-8"?>
<p:tagLst xmlns:p="http://schemas.openxmlformats.org/presentationml/2006/main">
  <p:tag name="KSO_WM_BEAUTIFY_FLAG" val=""/>
</p:tagLst>
</file>

<file path=ppt/tags/tag922.xml><?xml version="1.0" encoding="utf-8"?>
<p:tagLst xmlns:p="http://schemas.openxmlformats.org/presentationml/2006/main">
  <p:tag name="KSO_WM_BEAUTIFY_FLAG" val=""/>
</p:tagLst>
</file>

<file path=ppt/tags/tag923.xml><?xml version="1.0" encoding="utf-8"?>
<p:tagLst xmlns:p="http://schemas.openxmlformats.org/presentationml/2006/main">
  <p:tag name="KSO_WM_BEAUTIFY_FLAG" val=""/>
</p:tagLst>
</file>

<file path=ppt/tags/tag924.xml><?xml version="1.0" encoding="utf-8"?>
<p:tagLst xmlns:p="http://schemas.openxmlformats.org/presentationml/2006/main">
  <p:tag name="KSO_WM_BEAUTIFY_FLAG" val=""/>
</p:tagLst>
</file>

<file path=ppt/tags/tag925.xml><?xml version="1.0" encoding="utf-8"?>
<p:tagLst xmlns:p="http://schemas.openxmlformats.org/presentationml/2006/main">
  <p:tag name="KSO_WM_BEAUTIFY_FLAG" val=""/>
</p:tagLst>
</file>

<file path=ppt/tags/tag926.xml><?xml version="1.0" encoding="utf-8"?>
<p:tagLst xmlns:p="http://schemas.openxmlformats.org/presentationml/2006/main">
  <p:tag name="KSO_WM_BEAUTIFY_FLAG" val=""/>
</p:tagLst>
</file>

<file path=ppt/tags/tag927.xml><?xml version="1.0" encoding="utf-8"?>
<p:tagLst xmlns:p="http://schemas.openxmlformats.org/presentationml/2006/main">
  <p:tag name="KSO_WM_BEAUTIFY_FLAG" val=""/>
</p:tagLst>
</file>

<file path=ppt/tags/tag928.xml><?xml version="1.0" encoding="utf-8"?>
<p:tagLst xmlns:p="http://schemas.openxmlformats.org/presentationml/2006/main">
  <p:tag name="KSO_WM_BEAUTIFY_FLAG" val=""/>
</p:tagLst>
</file>

<file path=ppt/tags/tag929.xml><?xml version="1.0" encoding="utf-8"?>
<p:tagLst xmlns:p="http://schemas.openxmlformats.org/presentationml/2006/main">
  <p:tag name="KSO_WM_BEAUTIFY_FLAG" val=""/>
</p:tagLst>
</file>

<file path=ppt/tags/tag930.xml><?xml version="1.0" encoding="utf-8"?>
<p:tagLst xmlns:p="http://schemas.openxmlformats.org/presentationml/2006/main">
  <p:tag name="KSO_WM_BEAUTIFY_FLAG" val=""/>
</p:tagLst>
</file>

<file path=ppt/tags/tag931.xml><?xml version="1.0" encoding="utf-8"?>
<p:tagLst xmlns:p="http://schemas.openxmlformats.org/presentationml/2006/main">
  <p:tag name="KSO_WM_BEAUTIFY_FLAG" val=""/>
</p:tagLst>
</file>

<file path=ppt/tags/tag932.xml><?xml version="1.0" encoding="utf-8"?>
<p:tagLst xmlns:p="http://schemas.openxmlformats.org/presentationml/2006/main">
  <p:tag name="KSO_WM_BEAUTIFY_FLAG" val=""/>
</p:tagLst>
</file>

<file path=ppt/tags/tag933.xml><?xml version="1.0" encoding="utf-8"?>
<p:tagLst xmlns:p="http://schemas.openxmlformats.org/presentationml/2006/main">
  <p:tag name="KSO_WM_BEAUTIFY_FLAG" val=""/>
</p:tagLst>
</file>

<file path=ppt/tags/tag934.xml><?xml version="1.0" encoding="utf-8"?>
<p:tagLst xmlns:p="http://schemas.openxmlformats.org/presentationml/2006/main">
  <p:tag name="KSO_WM_BEAUTIFY_FLAG" val=""/>
</p:tagLst>
</file>

<file path=ppt/tags/tag935.xml><?xml version="1.0" encoding="utf-8"?>
<p:tagLst xmlns:p="http://schemas.openxmlformats.org/presentationml/2006/main">
  <p:tag name="KSO_WM_BEAUTIFY_FLAG" val=""/>
</p:tagLst>
</file>

<file path=ppt/tags/tag936.xml><?xml version="1.0" encoding="utf-8"?>
<p:tagLst xmlns:p="http://schemas.openxmlformats.org/presentationml/2006/main">
  <p:tag name="KSO_WM_BEAUTIFY_FLAG" val=""/>
</p:tagLst>
</file>

<file path=ppt/tags/tag937.xml><?xml version="1.0" encoding="utf-8"?>
<p:tagLst xmlns:p="http://schemas.openxmlformats.org/presentationml/2006/main">
  <p:tag name="KSO_WM_BEAUTIFY_FLAG" val=""/>
</p:tagLst>
</file>

<file path=ppt/tags/tag938.xml><?xml version="1.0" encoding="utf-8"?>
<p:tagLst xmlns:p="http://schemas.openxmlformats.org/presentationml/2006/main">
  <p:tag name="KSO_WM_BEAUTIFY_FLAG" val=""/>
</p:tagLst>
</file>

<file path=ppt/tags/tag939.xml><?xml version="1.0" encoding="utf-8"?>
<p:tagLst xmlns:p="http://schemas.openxmlformats.org/presentationml/2006/main">
  <p:tag name="KSO_WM_BEAUTIFY_FLAG" val=""/>
</p:tagLst>
</file>

<file path=ppt/tags/tag940.xml><?xml version="1.0" encoding="utf-8"?>
<p:tagLst xmlns:p="http://schemas.openxmlformats.org/presentationml/2006/main">
  <p:tag name="KSO_WM_BEAUTIFY_FLAG" val=""/>
</p:tagLst>
</file>

<file path=ppt/tags/tag941.xml><?xml version="1.0" encoding="utf-8"?>
<p:tagLst xmlns:p="http://schemas.openxmlformats.org/presentationml/2006/main">
  <p:tag name="KSO_WM_BEAUTIFY_FLAG" val=""/>
</p:tagLst>
</file>

<file path=ppt/tags/tag942.xml><?xml version="1.0" encoding="utf-8"?>
<p:tagLst xmlns:p="http://schemas.openxmlformats.org/presentationml/2006/main">
  <p:tag name="KSO_WM_BEAUTIFY_FLAG" val=""/>
</p:tagLst>
</file>

<file path=ppt/tags/tag943.xml><?xml version="1.0" encoding="utf-8"?>
<p:tagLst xmlns:p="http://schemas.openxmlformats.org/presentationml/2006/main">
  <p:tag name="KSO_WM_BEAUTIFY_FLAG" val=""/>
</p:tagLst>
</file>

<file path=ppt/tags/tag944.xml><?xml version="1.0" encoding="utf-8"?>
<p:tagLst xmlns:p="http://schemas.openxmlformats.org/presentationml/2006/main">
  <p:tag name="KSO_WM_BEAUTIFY_FLAG" val=""/>
</p:tagLst>
</file>

<file path=ppt/tags/tag945.xml><?xml version="1.0" encoding="utf-8"?>
<p:tagLst xmlns:p="http://schemas.openxmlformats.org/presentationml/2006/main">
  <p:tag name="KSO_WM_BEAUTIFY_FLAG" val=""/>
</p:tagLst>
</file>

<file path=ppt/tags/tag946.xml><?xml version="1.0" encoding="utf-8"?>
<p:tagLst xmlns:p="http://schemas.openxmlformats.org/presentationml/2006/main">
  <p:tag name="KSO_WM_BEAUTIFY_FLAG" val=""/>
</p:tagLst>
</file>

<file path=ppt/tags/tag947.xml><?xml version="1.0" encoding="utf-8"?>
<p:tagLst xmlns:p="http://schemas.openxmlformats.org/presentationml/2006/main">
  <p:tag name="KSO_WM_BEAUTIFY_FLAG" val=""/>
</p:tagLst>
</file>

<file path=ppt/tags/tag948.xml><?xml version="1.0" encoding="utf-8"?>
<p:tagLst xmlns:p="http://schemas.openxmlformats.org/presentationml/2006/main">
  <p:tag name="KSO_WM_BEAUTIFY_FLAG" val=""/>
</p:tagLst>
</file>

<file path=ppt/tags/tag949.xml><?xml version="1.0" encoding="utf-8"?>
<p:tagLst xmlns:p="http://schemas.openxmlformats.org/presentationml/2006/main">
  <p:tag name="KSO_WM_BEAUTIFY_FLAG" val=""/>
</p:tagLst>
</file>

<file path=ppt/tags/tag950.xml><?xml version="1.0" encoding="utf-8"?>
<p:tagLst xmlns:p="http://schemas.openxmlformats.org/presentationml/2006/main">
  <p:tag name="KSO_WM_BEAUTIFY_FLAG" val=""/>
</p:tagLst>
</file>

<file path=ppt/tags/tag951.xml><?xml version="1.0" encoding="utf-8"?>
<p:tagLst xmlns:p="http://schemas.openxmlformats.org/presentationml/2006/main">
  <p:tag name="KSO_WM_BEAUTIFY_FLAG" val=""/>
</p:tagLst>
</file>

<file path=ppt/tags/tag952.xml><?xml version="1.0" encoding="utf-8"?>
<p:tagLst xmlns:p="http://schemas.openxmlformats.org/presentationml/2006/main">
  <p:tag name="KSO_WM_BEAUTIFY_FLAG" val=""/>
</p:tagLst>
</file>

<file path=ppt/tags/tag953.xml><?xml version="1.0" encoding="utf-8"?>
<p:tagLst xmlns:p="http://schemas.openxmlformats.org/presentationml/2006/main">
  <p:tag name="KSO_WM_BEAUTIFY_FLAG" val=""/>
</p:tagLst>
</file>

<file path=ppt/tags/tag954.xml><?xml version="1.0" encoding="utf-8"?>
<p:tagLst xmlns:p="http://schemas.openxmlformats.org/presentationml/2006/main">
  <p:tag name="KSO_WM_BEAUTIFY_FLAG" val=""/>
</p:tagLst>
</file>

<file path=ppt/tags/tag955.xml><?xml version="1.0" encoding="utf-8"?>
<p:tagLst xmlns:p="http://schemas.openxmlformats.org/presentationml/2006/main">
  <p:tag name="KSO_WM_BEAUTIFY_FLAG" val=""/>
</p:tagLst>
</file>

<file path=ppt/tags/tag956.xml><?xml version="1.0" encoding="utf-8"?>
<p:tagLst xmlns:p="http://schemas.openxmlformats.org/presentationml/2006/main">
  <p:tag name="KSO_WM_BEAUTIFY_FLAG" val=""/>
</p:tagLst>
</file>

<file path=ppt/tags/tag957.xml><?xml version="1.0" encoding="utf-8"?>
<p:tagLst xmlns:p="http://schemas.openxmlformats.org/presentationml/2006/main">
  <p:tag name="KSO_WM_BEAUTIFY_FLAG" val=""/>
</p:tagLst>
</file>

<file path=ppt/tags/tag958.xml><?xml version="1.0" encoding="utf-8"?>
<p:tagLst xmlns:p="http://schemas.openxmlformats.org/presentationml/2006/main">
  <p:tag name="KSO_WM_BEAUTIFY_FLAG" val=""/>
</p:tagLst>
</file>

<file path=ppt/tags/tag959.xml><?xml version="1.0" encoding="utf-8"?>
<p:tagLst xmlns:p="http://schemas.openxmlformats.org/presentationml/2006/main">
  <p:tag name="KSO_WM_BEAUTIFY_FLAG" val=""/>
</p:tagLst>
</file>

<file path=ppt/tags/tag960.xml><?xml version="1.0" encoding="utf-8"?>
<p:tagLst xmlns:p="http://schemas.openxmlformats.org/presentationml/2006/main">
  <p:tag name="KSO_WM_BEAUTIFY_FLAG" val=""/>
</p:tagLst>
</file>

<file path=ppt/tags/tag961.xml><?xml version="1.0" encoding="utf-8"?>
<p:tagLst xmlns:p="http://schemas.openxmlformats.org/presentationml/2006/main">
  <p:tag name="KSO_WM_BEAUTIFY_FLAG" val=""/>
</p:tagLst>
</file>

<file path=ppt/tags/tag962.xml><?xml version="1.0" encoding="utf-8"?>
<p:tagLst xmlns:p="http://schemas.openxmlformats.org/presentationml/2006/main">
  <p:tag name="KSO_WM_BEAUTIFY_FLAG" val=""/>
</p:tagLst>
</file>

<file path=ppt/tags/tag963.xml><?xml version="1.0" encoding="utf-8"?>
<p:tagLst xmlns:p="http://schemas.openxmlformats.org/presentationml/2006/main">
  <p:tag name="KSO_WM_BEAUTIFY_FLAG" val=""/>
</p:tagLst>
</file>

<file path=ppt/tags/tag964.xml><?xml version="1.0" encoding="utf-8"?>
<p:tagLst xmlns:p="http://schemas.openxmlformats.org/presentationml/2006/main">
  <p:tag name="KSO_WM_BEAUTIFY_FLAG" val=""/>
</p:tagLst>
</file>

<file path=ppt/tags/tag965.xml><?xml version="1.0" encoding="utf-8"?>
<p:tagLst xmlns:p="http://schemas.openxmlformats.org/presentationml/2006/main">
  <p:tag name="KSO_WM_BEAUTIFY_FLAG" val=""/>
</p:tagLst>
</file>

<file path=ppt/tags/tag966.xml><?xml version="1.0" encoding="utf-8"?>
<p:tagLst xmlns:p="http://schemas.openxmlformats.org/presentationml/2006/main">
  <p:tag name="KSO_WM_BEAUTIFY_FLAG" val=""/>
</p:tagLst>
</file>

<file path=ppt/tags/tag967.xml><?xml version="1.0" encoding="utf-8"?>
<p:tagLst xmlns:p="http://schemas.openxmlformats.org/presentationml/2006/main">
  <p:tag name="KSO_WM_BEAUTIFY_FLAG" val=""/>
</p:tagLst>
</file>

<file path=ppt/tags/tag968.xml><?xml version="1.0" encoding="utf-8"?>
<p:tagLst xmlns:p="http://schemas.openxmlformats.org/presentationml/2006/main">
  <p:tag name="KSO_WM_BEAUTIFY_FLAG" val=""/>
</p:tagLst>
</file>

<file path=ppt/tags/tag969.xml><?xml version="1.0" encoding="utf-8"?>
<p:tagLst xmlns:p="http://schemas.openxmlformats.org/presentationml/2006/main">
  <p:tag name="KSO_WM_BEAUTIFY_FLAG" val=""/>
</p:tagLst>
</file>

<file path=ppt/tags/tag970.xml><?xml version="1.0" encoding="utf-8"?>
<p:tagLst xmlns:p="http://schemas.openxmlformats.org/presentationml/2006/main">
  <p:tag name="KSO_WM_BEAUTIFY_FLAG" val=""/>
</p:tagLst>
</file>

<file path=ppt/tags/tag971.xml><?xml version="1.0" encoding="utf-8"?>
<p:tagLst xmlns:p="http://schemas.openxmlformats.org/presentationml/2006/main">
  <p:tag name="KSO_WM_BEAUTIFY_FLAG" val=""/>
</p:tagLst>
</file>

<file path=ppt/tags/tag972.xml><?xml version="1.0" encoding="utf-8"?>
<p:tagLst xmlns:p="http://schemas.openxmlformats.org/presentationml/2006/main">
  <p:tag name="KSO_WM_BEAUTIFY_FLAG" val=""/>
</p:tagLst>
</file>

<file path=ppt/tags/tag973.xml><?xml version="1.0" encoding="utf-8"?>
<p:tagLst xmlns:p="http://schemas.openxmlformats.org/presentationml/2006/main">
  <p:tag name="KSO_WM_BEAUTIFY_FLAG" val=""/>
</p:tagLst>
</file>

<file path=ppt/tags/tag974.xml><?xml version="1.0" encoding="utf-8"?>
<p:tagLst xmlns:p="http://schemas.openxmlformats.org/presentationml/2006/main">
  <p:tag name="KSO_WM_BEAUTIFY_FLAG" val=""/>
</p:tagLst>
</file>

<file path=ppt/tags/tag975.xml><?xml version="1.0" encoding="utf-8"?>
<p:tagLst xmlns:p="http://schemas.openxmlformats.org/presentationml/2006/main">
  <p:tag name="KSO_WM_BEAUTIFY_FLAG" val=""/>
  <p:tag name="TABLE_ENDDRAG_ORIGIN_RECT" val="654*317"/>
  <p:tag name="TABLE_ENDDRAG_RECT" val="39*67*654*317"/>
</p:tagLst>
</file>

<file path=ppt/tags/tag976.xml><?xml version="1.0" encoding="utf-8"?>
<p:tagLst xmlns:p="http://schemas.openxmlformats.org/presentationml/2006/main">
  <p:tag name="KSO_WM_BEAUTIFY_FLAG" val=""/>
</p:tagLst>
</file>

<file path=ppt/tags/tag977.xml><?xml version="1.0" encoding="utf-8"?>
<p:tagLst xmlns:p="http://schemas.openxmlformats.org/presentationml/2006/main">
  <p:tag name="KSO_WM_UNIT_TABLE_BEAUTIFY" val="smartTable{5630a792-4773-44ff-9a2f-7024c56d0d21}"/>
</p:tagLst>
</file>

<file path=ppt/tags/tag978.xml><?xml version="1.0" encoding="utf-8"?>
<p:tagLst xmlns:p="http://schemas.openxmlformats.org/presentationml/2006/main">
  <p:tag name="KSO_WPP_MARK_KEY" val="3af6c80e-2384-4c77-befc-6ea2d57b8fac"/>
  <p:tag name="COMMONDATA" val="eyJoZGlkIjoiY2ZiYjY4MjU5YzBkYmJmZjUyNGJiOWY1ZTc3NzM1MGYifQ=="/>
  <p:tag name="commondata" val="eyJoZGlkIjoiZjU0YTZiMzIwM2E0NDRiMjVmNDE2YTg3MDdiZjE1YTM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>
          <a:solidFill>
            <a:srgbClr val="CC3300"/>
          </a:solidFill>
          <a:tailEnd type="triangl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26991</Words>
  <Application>WPS 演示</Application>
  <PresentationFormat>全屏显示(4:3)</PresentationFormat>
  <Paragraphs>4680</Paragraphs>
  <Slides>53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5" baseType="lpstr">
      <vt:lpstr>Arial</vt:lpstr>
      <vt:lpstr>宋体</vt:lpstr>
      <vt:lpstr>Wingdings</vt:lpstr>
      <vt:lpstr>MS Gothic</vt:lpstr>
      <vt:lpstr>黑体</vt:lpstr>
      <vt:lpstr>Times New Roman</vt:lpstr>
      <vt:lpstr>Times New Roman</vt:lpstr>
      <vt:lpstr>微软雅黑</vt:lpstr>
      <vt:lpstr>Arial Unicode MS</vt:lpstr>
      <vt:lpstr>Arial Unicode MS</vt:lpstr>
      <vt:lpstr>Symbol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陈芸丽</cp:lastModifiedBy>
  <cp:revision>1086</cp:revision>
  <cp:lastPrinted>2113-01-01T00:00:00Z</cp:lastPrinted>
  <dcterms:created xsi:type="dcterms:W3CDTF">2113-01-01T00:00:00Z</dcterms:created>
  <dcterms:modified xsi:type="dcterms:W3CDTF">2026-03-16T07:54:46Z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441C0BBBDD3D4AF8BF9FFCD428AC4B89_12</vt:lpwstr>
  </property>
  <property fmtid="{D5CDD505-2E9C-101B-9397-08002B2CF9AE}" pid="4" name="KSOProductBuildVer">
    <vt:lpwstr>2052-12.1.0.18276</vt:lpwstr>
  </property>
</Properties>
</file>