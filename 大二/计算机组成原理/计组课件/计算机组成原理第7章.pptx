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tags/tag7.xml" ContentType="application/vnd.openxmlformats-officedocument.presentationml.tags+xml"/>
  <Override PartName="/ppt/notesSlides/notesSlide9.xml" ContentType="application/vnd.openxmlformats-officedocument.presentationml.notesSlid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notesSlides/notesSlide10.xml" ContentType="application/vnd.openxmlformats-officedocument.presentationml.notesSlide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tags/tag212.xml" ContentType="application/vnd.openxmlformats-officedocument.presentationml.tags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notesSlides/notesSlide24.xml" ContentType="application/vnd.openxmlformats-officedocument.presentationml.notesSlide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notesSlides/notesSlide25.xml" ContentType="application/vnd.openxmlformats-officedocument.presentationml.notesSlide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notesSlides/notesSlide26.xml" ContentType="application/vnd.openxmlformats-officedocument.presentationml.notesSlide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notesSlides/notesSlide27.xml" ContentType="application/vnd.openxmlformats-officedocument.presentationml.notesSlide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tags/tag599.xml" ContentType="application/vnd.openxmlformats-officedocument.presentationml.tags+xml"/>
  <Override PartName="/ppt/tags/tag600.xml" ContentType="application/vnd.openxmlformats-officedocument.presentationml.tags+xml"/>
  <Override PartName="/ppt/tags/tag601.xml" ContentType="application/vnd.openxmlformats-officedocument.presentationml.tags+xml"/>
  <Override PartName="/ppt/tags/tag602.xml" ContentType="application/vnd.openxmlformats-officedocument.presentationml.tags+xml"/>
  <Override PartName="/ppt/tags/tag603.xml" ContentType="application/vnd.openxmlformats-officedocument.presentationml.tags+xml"/>
  <Override PartName="/ppt/tags/tag604.xml" ContentType="application/vnd.openxmlformats-officedocument.presentationml.tags+xml"/>
  <Override PartName="/ppt/tags/tag605.xml" ContentType="application/vnd.openxmlformats-officedocument.presentationml.tags+xml"/>
  <Override PartName="/ppt/tags/tag606.xml" ContentType="application/vnd.openxmlformats-officedocument.presentationml.tags+xml"/>
  <Override PartName="/ppt/tags/tag607.xml" ContentType="application/vnd.openxmlformats-officedocument.presentationml.tags+xml"/>
  <Override PartName="/ppt/tags/tag608.xml" ContentType="application/vnd.openxmlformats-officedocument.presentationml.tags+xml"/>
  <Override PartName="/ppt/tags/tag609.xml" ContentType="application/vnd.openxmlformats-officedocument.presentationml.tags+xml"/>
  <Override PartName="/ppt/tags/tag610.xml" ContentType="application/vnd.openxmlformats-officedocument.presentationml.tags+xml"/>
  <Override PartName="/ppt/tags/tag611.xml" ContentType="application/vnd.openxmlformats-officedocument.presentationml.tags+xml"/>
  <Override PartName="/ppt/tags/tag612.xml" ContentType="application/vnd.openxmlformats-officedocument.presentationml.tags+xml"/>
  <Override PartName="/ppt/tags/tag613.xml" ContentType="application/vnd.openxmlformats-officedocument.presentationml.tags+xml"/>
  <Override PartName="/ppt/tags/tag614.xml" ContentType="application/vnd.openxmlformats-officedocument.presentationml.tags+xml"/>
  <Override PartName="/ppt/tags/tag615.xml" ContentType="application/vnd.openxmlformats-officedocument.presentationml.tags+xml"/>
  <Override PartName="/ppt/tags/tag616.xml" ContentType="application/vnd.openxmlformats-officedocument.presentationml.tags+xml"/>
  <Override PartName="/ppt/tags/tag617.xml" ContentType="application/vnd.openxmlformats-officedocument.presentationml.tags+xml"/>
  <Override PartName="/ppt/tags/tag618.xml" ContentType="application/vnd.openxmlformats-officedocument.presentationml.tags+xml"/>
  <Override PartName="/ppt/tags/tag619.xml" ContentType="application/vnd.openxmlformats-officedocument.presentationml.tags+xml"/>
  <Override PartName="/ppt/tags/tag620.xml" ContentType="application/vnd.openxmlformats-officedocument.presentationml.tags+xml"/>
  <Override PartName="/ppt/tags/tag621.xml" ContentType="application/vnd.openxmlformats-officedocument.presentationml.tags+xml"/>
  <Override PartName="/ppt/tags/tag622.xml" ContentType="application/vnd.openxmlformats-officedocument.presentationml.tags+xml"/>
  <Override PartName="/ppt/tags/tag623.xml" ContentType="application/vnd.openxmlformats-officedocument.presentationml.tags+xml"/>
  <Override PartName="/ppt/tags/tag624.xml" ContentType="application/vnd.openxmlformats-officedocument.presentationml.tags+xml"/>
  <Override PartName="/ppt/tags/tag625.xml" ContentType="application/vnd.openxmlformats-officedocument.presentationml.tags+xml"/>
  <Override PartName="/ppt/tags/tag626.xml" ContentType="application/vnd.openxmlformats-officedocument.presentationml.tags+xml"/>
  <Override PartName="/ppt/tags/tag627.xml" ContentType="application/vnd.openxmlformats-officedocument.presentationml.tags+xml"/>
  <Override PartName="/ppt/tags/tag628.xml" ContentType="application/vnd.openxmlformats-officedocument.presentationml.tags+xml"/>
  <Override PartName="/ppt/tags/tag629.xml" ContentType="application/vnd.openxmlformats-officedocument.presentationml.tags+xml"/>
  <Override PartName="/ppt/tags/tag630.xml" ContentType="application/vnd.openxmlformats-officedocument.presentationml.tags+xml"/>
  <Override PartName="/ppt/tags/tag631.xml" ContentType="application/vnd.openxmlformats-officedocument.presentationml.tags+xml"/>
  <Override PartName="/ppt/tags/tag632.xml" ContentType="application/vnd.openxmlformats-officedocument.presentationml.tags+xml"/>
  <Override PartName="/ppt/tags/tag633.xml" ContentType="application/vnd.openxmlformats-officedocument.presentationml.tags+xml"/>
  <Override PartName="/ppt/tags/tag634.xml" ContentType="application/vnd.openxmlformats-officedocument.presentationml.tags+xml"/>
  <Override PartName="/ppt/tags/tag635.xml" ContentType="application/vnd.openxmlformats-officedocument.presentationml.tags+xml"/>
  <Override PartName="/ppt/tags/tag636.xml" ContentType="application/vnd.openxmlformats-officedocument.presentationml.tags+xml"/>
  <Override PartName="/ppt/tags/tag637.xml" ContentType="application/vnd.openxmlformats-officedocument.presentationml.tags+xml"/>
  <Override PartName="/ppt/tags/tag638.xml" ContentType="application/vnd.openxmlformats-officedocument.presentationml.tags+xml"/>
  <Override PartName="/ppt/tags/tag639.xml" ContentType="application/vnd.openxmlformats-officedocument.presentationml.tags+xml"/>
  <Override PartName="/ppt/tags/tag640.xml" ContentType="application/vnd.openxmlformats-officedocument.presentationml.tags+xml"/>
  <Override PartName="/ppt/tags/tag641.xml" ContentType="application/vnd.openxmlformats-officedocument.presentationml.tags+xml"/>
  <Override PartName="/ppt/tags/tag642.xml" ContentType="application/vnd.openxmlformats-officedocument.presentationml.tags+xml"/>
  <Override PartName="/ppt/tags/tag643.xml" ContentType="application/vnd.openxmlformats-officedocument.presentationml.tags+xml"/>
  <Override PartName="/ppt/tags/tag644.xml" ContentType="application/vnd.openxmlformats-officedocument.presentationml.tags+xml"/>
  <Override PartName="/ppt/tags/tag645.xml" ContentType="application/vnd.openxmlformats-officedocument.presentationml.tags+xml"/>
  <Override PartName="/ppt/tags/tag646.xml" ContentType="application/vnd.openxmlformats-officedocument.presentationml.tags+xml"/>
  <Override PartName="/ppt/tags/tag647.xml" ContentType="application/vnd.openxmlformats-officedocument.presentationml.tags+xml"/>
  <Override PartName="/ppt/tags/tag648.xml" ContentType="application/vnd.openxmlformats-officedocument.presentationml.tags+xml"/>
  <Override PartName="/ppt/tags/tag649.xml" ContentType="application/vnd.openxmlformats-officedocument.presentationml.tags+xml"/>
  <Override PartName="/ppt/tags/tag650.xml" ContentType="application/vnd.openxmlformats-officedocument.presentationml.tags+xml"/>
  <Override PartName="/ppt/tags/tag651.xml" ContentType="application/vnd.openxmlformats-officedocument.presentationml.tags+xml"/>
  <Override PartName="/ppt/tags/tag652.xml" ContentType="application/vnd.openxmlformats-officedocument.presentationml.tags+xml"/>
  <Override PartName="/ppt/tags/tag653.xml" ContentType="application/vnd.openxmlformats-officedocument.presentationml.tags+xml"/>
  <Override PartName="/ppt/tags/tag654.xml" ContentType="application/vnd.openxmlformats-officedocument.presentationml.tags+xml"/>
  <Override PartName="/ppt/tags/tag655.xml" ContentType="application/vnd.openxmlformats-officedocument.presentationml.tags+xml"/>
  <Override PartName="/ppt/tags/tag656.xml" ContentType="application/vnd.openxmlformats-officedocument.presentationml.tags+xml"/>
  <Override PartName="/ppt/tags/tag657.xml" ContentType="application/vnd.openxmlformats-officedocument.presentationml.tags+xml"/>
  <Override PartName="/ppt/tags/tag658.xml" ContentType="application/vnd.openxmlformats-officedocument.presentationml.tags+xml"/>
  <Override PartName="/ppt/tags/tag659.xml" ContentType="application/vnd.openxmlformats-officedocument.presentationml.tags+xml"/>
  <Override PartName="/ppt/tags/tag660.xml" ContentType="application/vnd.openxmlformats-officedocument.presentationml.tags+xml"/>
  <Override PartName="/ppt/tags/tag661.xml" ContentType="application/vnd.openxmlformats-officedocument.presentationml.tags+xml"/>
  <Override PartName="/ppt/tags/tag662.xml" ContentType="application/vnd.openxmlformats-officedocument.presentationml.tags+xml"/>
  <Override PartName="/ppt/tags/tag663.xml" ContentType="application/vnd.openxmlformats-officedocument.presentationml.tags+xml"/>
  <Override PartName="/ppt/tags/tag664.xml" ContentType="application/vnd.openxmlformats-officedocument.presentationml.tags+xml"/>
  <Override PartName="/ppt/tags/tag665.xml" ContentType="application/vnd.openxmlformats-officedocument.presentationml.tags+xml"/>
  <Override PartName="/ppt/tags/tag666.xml" ContentType="application/vnd.openxmlformats-officedocument.presentationml.tags+xml"/>
  <Override PartName="/ppt/tags/tag667.xml" ContentType="application/vnd.openxmlformats-officedocument.presentationml.tags+xml"/>
  <Override PartName="/ppt/tags/tag668.xml" ContentType="application/vnd.openxmlformats-officedocument.presentationml.tags+xml"/>
  <Override PartName="/ppt/tags/tag669.xml" ContentType="application/vnd.openxmlformats-officedocument.presentationml.tags+xml"/>
  <Override PartName="/ppt/tags/tag670.xml" ContentType="application/vnd.openxmlformats-officedocument.presentationml.tags+xml"/>
  <Override PartName="/ppt/tags/tag671.xml" ContentType="application/vnd.openxmlformats-officedocument.presentationml.tags+xml"/>
  <Override PartName="/ppt/tags/tag672.xml" ContentType="application/vnd.openxmlformats-officedocument.presentationml.tags+xml"/>
  <Override PartName="/ppt/tags/tag673.xml" ContentType="application/vnd.openxmlformats-officedocument.presentationml.tags+xml"/>
  <Override PartName="/ppt/tags/tag674.xml" ContentType="application/vnd.openxmlformats-officedocument.presentationml.tags+xml"/>
  <Override PartName="/ppt/tags/tag675.xml" ContentType="application/vnd.openxmlformats-officedocument.presentationml.tags+xml"/>
  <Override PartName="/ppt/tags/tag676.xml" ContentType="application/vnd.openxmlformats-officedocument.presentationml.tags+xml"/>
  <Override PartName="/ppt/tags/tag677.xml" ContentType="application/vnd.openxmlformats-officedocument.presentationml.tags+xml"/>
  <Override PartName="/ppt/tags/tag678.xml" ContentType="application/vnd.openxmlformats-officedocument.presentationml.tags+xml"/>
  <Override PartName="/ppt/tags/tag679.xml" ContentType="application/vnd.openxmlformats-officedocument.presentationml.tags+xml"/>
  <Override PartName="/ppt/tags/tag680.xml" ContentType="application/vnd.openxmlformats-officedocument.presentationml.tags+xml"/>
  <Override PartName="/ppt/tags/tag681.xml" ContentType="application/vnd.openxmlformats-officedocument.presentationml.tags+xml"/>
  <Override PartName="/ppt/tags/tag682.xml" ContentType="application/vnd.openxmlformats-officedocument.presentationml.tags+xml"/>
  <Override PartName="/ppt/tags/tag683.xml" ContentType="application/vnd.openxmlformats-officedocument.presentationml.tags+xml"/>
  <Override PartName="/ppt/tags/tag684.xml" ContentType="application/vnd.openxmlformats-officedocument.presentationml.tags+xml"/>
  <Override PartName="/ppt/tags/tag685.xml" ContentType="application/vnd.openxmlformats-officedocument.presentationml.tags+xml"/>
  <Override PartName="/ppt/tags/tag686.xml" ContentType="application/vnd.openxmlformats-officedocument.presentationml.tags+xml"/>
  <Override PartName="/ppt/tags/tag687.xml" ContentType="application/vnd.openxmlformats-officedocument.presentationml.tags+xml"/>
  <Override PartName="/ppt/tags/tag688.xml" ContentType="application/vnd.openxmlformats-officedocument.presentationml.tags+xml"/>
  <Override PartName="/ppt/tags/tag689.xml" ContentType="application/vnd.openxmlformats-officedocument.presentationml.tags+xml"/>
  <Override PartName="/ppt/tags/tag690.xml" ContentType="application/vnd.openxmlformats-officedocument.presentationml.tags+xml"/>
  <Override PartName="/ppt/tags/tag691.xml" ContentType="application/vnd.openxmlformats-officedocument.presentationml.tags+xml"/>
  <Override PartName="/ppt/tags/tag692.xml" ContentType="application/vnd.openxmlformats-officedocument.presentationml.tags+xml"/>
  <Override PartName="/ppt/tags/tag693.xml" ContentType="application/vnd.openxmlformats-officedocument.presentationml.tags+xml"/>
  <Override PartName="/ppt/tags/tag694.xml" ContentType="application/vnd.openxmlformats-officedocument.presentationml.tags+xml"/>
  <Override PartName="/ppt/tags/tag695.xml" ContentType="application/vnd.openxmlformats-officedocument.presentationml.tags+xml"/>
  <Override PartName="/ppt/tags/tag696.xml" ContentType="application/vnd.openxmlformats-officedocument.presentationml.tags+xml"/>
  <Override PartName="/ppt/tags/tag697.xml" ContentType="application/vnd.openxmlformats-officedocument.presentationml.tags+xml"/>
  <Override PartName="/ppt/tags/tag698.xml" ContentType="application/vnd.openxmlformats-officedocument.presentationml.tags+xml"/>
  <Override PartName="/ppt/tags/tag699.xml" ContentType="application/vnd.openxmlformats-officedocument.presentationml.tags+xml"/>
  <Override PartName="/ppt/tags/tag700.xml" ContentType="application/vnd.openxmlformats-officedocument.presentationml.tags+xml"/>
  <Override PartName="/ppt/tags/tag701.xml" ContentType="application/vnd.openxmlformats-officedocument.presentationml.tags+xml"/>
  <Override PartName="/ppt/tags/tag702.xml" ContentType="application/vnd.openxmlformats-officedocument.presentationml.tags+xml"/>
  <Override PartName="/ppt/tags/tag703.xml" ContentType="application/vnd.openxmlformats-officedocument.presentationml.tags+xml"/>
  <Override PartName="/ppt/tags/tag704.xml" ContentType="application/vnd.openxmlformats-officedocument.presentationml.tags+xml"/>
  <Override PartName="/ppt/tags/tag705.xml" ContentType="application/vnd.openxmlformats-officedocument.presentationml.tags+xml"/>
  <Override PartName="/ppt/tags/tag706.xml" ContentType="application/vnd.openxmlformats-officedocument.presentationml.tags+xml"/>
  <Override PartName="/ppt/tags/tag707.xml" ContentType="application/vnd.openxmlformats-officedocument.presentationml.tags+xml"/>
  <Override PartName="/ppt/tags/tag708.xml" ContentType="application/vnd.openxmlformats-officedocument.presentationml.tags+xml"/>
  <Override PartName="/ppt/tags/tag709.xml" ContentType="application/vnd.openxmlformats-officedocument.presentationml.tags+xml"/>
  <Override PartName="/ppt/tags/tag710.xml" ContentType="application/vnd.openxmlformats-officedocument.presentationml.tags+xml"/>
  <Override PartName="/ppt/tags/tag711.xml" ContentType="application/vnd.openxmlformats-officedocument.presentationml.tags+xml"/>
  <Override PartName="/ppt/tags/tag712.xml" ContentType="application/vnd.openxmlformats-officedocument.presentationml.tags+xml"/>
  <Override PartName="/ppt/tags/tag713.xml" ContentType="application/vnd.openxmlformats-officedocument.presentationml.tags+xml"/>
  <Override PartName="/ppt/tags/tag714.xml" ContentType="application/vnd.openxmlformats-officedocument.presentationml.tags+xml"/>
  <Override PartName="/ppt/tags/tag715.xml" ContentType="application/vnd.openxmlformats-officedocument.presentationml.tags+xml"/>
  <Override PartName="/ppt/tags/tag716.xml" ContentType="application/vnd.openxmlformats-officedocument.presentationml.tags+xml"/>
  <Override PartName="/ppt/tags/tag717.xml" ContentType="application/vnd.openxmlformats-officedocument.presentationml.tags+xml"/>
  <Override PartName="/ppt/tags/tag718.xml" ContentType="application/vnd.openxmlformats-officedocument.presentationml.tags+xml"/>
  <Override PartName="/ppt/tags/tag719.xml" ContentType="application/vnd.openxmlformats-officedocument.presentationml.tags+xml"/>
  <Override PartName="/ppt/tags/tag720.xml" ContentType="application/vnd.openxmlformats-officedocument.presentationml.tags+xml"/>
  <Override PartName="/ppt/tags/tag721.xml" ContentType="application/vnd.openxmlformats-officedocument.presentationml.tags+xml"/>
  <Override PartName="/ppt/tags/tag722.xml" ContentType="application/vnd.openxmlformats-officedocument.presentationml.tags+xml"/>
  <Override PartName="/ppt/tags/tag723.xml" ContentType="application/vnd.openxmlformats-officedocument.presentationml.tags+xml"/>
  <Override PartName="/ppt/tags/tag724.xml" ContentType="application/vnd.openxmlformats-officedocument.presentationml.tags+xml"/>
  <Override PartName="/ppt/tags/tag725.xml" ContentType="application/vnd.openxmlformats-officedocument.presentationml.tags+xml"/>
  <Override PartName="/ppt/tags/tag726.xml" ContentType="application/vnd.openxmlformats-officedocument.presentationml.tags+xml"/>
  <Override PartName="/ppt/tags/tag727.xml" ContentType="application/vnd.openxmlformats-officedocument.presentationml.tags+xml"/>
  <Override PartName="/ppt/tags/tag728.xml" ContentType="application/vnd.openxmlformats-officedocument.presentationml.tags+xml"/>
  <Override PartName="/ppt/tags/tag729.xml" ContentType="application/vnd.openxmlformats-officedocument.presentationml.tags+xml"/>
  <Override PartName="/ppt/tags/tag730.xml" ContentType="application/vnd.openxmlformats-officedocument.presentationml.tags+xml"/>
  <Override PartName="/ppt/tags/tag731.xml" ContentType="application/vnd.openxmlformats-officedocument.presentationml.tags+xml"/>
  <Override PartName="/ppt/tags/tag732.xml" ContentType="application/vnd.openxmlformats-officedocument.presentationml.tags+xml"/>
  <Override PartName="/ppt/tags/tag733.xml" ContentType="application/vnd.openxmlformats-officedocument.presentationml.tags+xml"/>
  <Override PartName="/ppt/tags/tag734.xml" ContentType="application/vnd.openxmlformats-officedocument.presentationml.tags+xml"/>
  <Override PartName="/ppt/tags/tag735.xml" ContentType="application/vnd.openxmlformats-officedocument.presentationml.tags+xml"/>
  <Override PartName="/ppt/tags/tag736.xml" ContentType="application/vnd.openxmlformats-officedocument.presentationml.tags+xml"/>
  <Override PartName="/ppt/tags/tag737.xml" ContentType="application/vnd.openxmlformats-officedocument.presentationml.tags+xml"/>
  <Override PartName="/ppt/tags/tag738.xml" ContentType="application/vnd.openxmlformats-officedocument.presentationml.tags+xml"/>
  <Override PartName="/ppt/tags/tag739.xml" ContentType="application/vnd.openxmlformats-officedocument.presentationml.tags+xml"/>
  <Override PartName="/ppt/tags/tag740.xml" ContentType="application/vnd.openxmlformats-officedocument.presentationml.tags+xml"/>
  <Override PartName="/ppt/tags/tag741.xml" ContentType="application/vnd.openxmlformats-officedocument.presentationml.tags+xml"/>
  <Override PartName="/ppt/tags/tag742.xml" ContentType="application/vnd.openxmlformats-officedocument.presentationml.tags+xml"/>
  <Override PartName="/ppt/tags/tag743.xml" ContentType="application/vnd.openxmlformats-officedocument.presentationml.tags+xml"/>
  <Override PartName="/ppt/tags/tag744.xml" ContentType="application/vnd.openxmlformats-officedocument.presentationml.tags+xml"/>
  <Override PartName="/ppt/tags/tag745.xml" ContentType="application/vnd.openxmlformats-officedocument.presentationml.tags+xml"/>
  <Override PartName="/ppt/tags/tag746.xml" ContentType="application/vnd.openxmlformats-officedocument.presentationml.tags+xml"/>
  <Override PartName="/ppt/tags/tag747.xml" ContentType="application/vnd.openxmlformats-officedocument.presentationml.tags+xml"/>
  <Override PartName="/ppt/tags/tag748.xml" ContentType="application/vnd.openxmlformats-officedocument.presentationml.tags+xml"/>
  <Override PartName="/ppt/tags/tag749.xml" ContentType="application/vnd.openxmlformats-officedocument.presentationml.tags+xml"/>
  <Override PartName="/ppt/tags/tag750.xml" ContentType="application/vnd.openxmlformats-officedocument.presentationml.tags+xml"/>
  <Override PartName="/ppt/tags/tag751.xml" ContentType="application/vnd.openxmlformats-officedocument.presentationml.tags+xml"/>
  <Override PartName="/ppt/tags/tag752.xml" ContentType="application/vnd.openxmlformats-officedocument.presentationml.tags+xml"/>
  <Override PartName="/ppt/tags/tag753.xml" ContentType="application/vnd.openxmlformats-officedocument.presentationml.tags+xml"/>
  <Override PartName="/ppt/tags/tag754.xml" ContentType="application/vnd.openxmlformats-officedocument.presentationml.tags+xml"/>
  <Override PartName="/ppt/tags/tag755.xml" ContentType="application/vnd.openxmlformats-officedocument.presentationml.tags+xml"/>
  <Override PartName="/ppt/tags/tag756.xml" ContentType="application/vnd.openxmlformats-officedocument.presentationml.tags+xml"/>
  <Override PartName="/ppt/tags/tag757.xml" ContentType="application/vnd.openxmlformats-officedocument.presentationml.tags+xml"/>
  <Override PartName="/ppt/tags/tag758.xml" ContentType="application/vnd.openxmlformats-officedocument.presentationml.tags+xml"/>
  <Override PartName="/ppt/tags/tag759.xml" ContentType="application/vnd.openxmlformats-officedocument.presentationml.tags+xml"/>
  <Override PartName="/ppt/tags/tag760.xml" ContentType="application/vnd.openxmlformats-officedocument.presentationml.tags+xml"/>
  <Override PartName="/ppt/tags/tag761.xml" ContentType="application/vnd.openxmlformats-officedocument.presentationml.tags+xml"/>
  <Override PartName="/ppt/tags/tag762.xml" ContentType="application/vnd.openxmlformats-officedocument.presentationml.tags+xml"/>
  <Override PartName="/ppt/tags/tag763.xml" ContentType="application/vnd.openxmlformats-officedocument.presentationml.tags+xml"/>
  <Override PartName="/ppt/tags/tag764.xml" ContentType="application/vnd.openxmlformats-officedocument.presentationml.tags+xml"/>
  <Override PartName="/ppt/tags/tag765.xml" ContentType="application/vnd.openxmlformats-officedocument.presentationml.tags+xml"/>
  <Override PartName="/ppt/tags/tag766.xml" ContentType="application/vnd.openxmlformats-officedocument.presentationml.tags+xml"/>
  <Override PartName="/ppt/tags/tag767.xml" ContentType="application/vnd.openxmlformats-officedocument.presentationml.tags+xml"/>
  <Override PartName="/ppt/tags/tag768.xml" ContentType="application/vnd.openxmlformats-officedocument.presentationml.tags+xml"/>
  <Override PartName="/ppt/tags/tag769.xml" ContentType="application/vnd.openxmlformats-officedocument.presentationml.tags+xml"/>
  <Override PartName="/ppt/tags/tag770.xml" ContentType="application/vnd.openxmlformats-officedocument.presentationml.tags+xml"/>
  <Override PartName="/ppt/tags/tag771.xml" ContentType="application/vnd.openxmlformats-officedocument.presentationml.tags+xml"/>
  <Override PartName="/ppt/tags/tag772.xml" ContentType="application/vnd.openxmlformats-officedocument.presentationml.tags+xml"/>
  <Override PartName="/ppt/tags/tag773.xml" ContentType="application/vnd.openxmlformats-officedocument.presentationml.tags+xml"/>
  <Override PartName="/ppt/tags/tag774.xml" ContentType="application/vnd.openxmlformats-officedocument.presentationml.tags+xml"/>
  <Override PartName="/ppt/tags/tag775.xml" ContentType="application/vnd.openxmlformats-officedocument.presentationml.tags+xml"/>
  <Override PartName="/ppt/tags/tag776.xml" ContentType="application/vnd.openxmlformats-officedocument.presentationml.tags+xml"/>
  <Override PartName="/ppt/tags/tag777.xml" ContentType="application/vnd.openxmlformats-officedocument.presentationml.tags+xml"/>
  <Override PartName="/ppt/tags/tag778.xml" ContentType="application/vnd.openxmlformats-officedocument.presentationml.tags+xml"/>
  <Override PartName="/ppt/tags/tag779.xml" ContentType="application/vnd.openxmlformats-officedocument.presentationml.tags+xml"/>
  <Override PartName="/ppt/tags/tag780.xml" ContentType="application/vnd.openxmlformats-officedocument.presentationml.tags+xml"/>
  <Override PartName="/ppt/tags/tag781.xml" ContentType="application/vnd.openxmlformats-officedocument.presentationml.tags+xml"/>
  <Override PartName="/ppt/tags/tag782.xml" ContentType="application/vnd.openxmlformats-officedocument.presentationml.tags+xml"/>
  <Override PartName="/ppt/tags/tag783.xml" ContentType="application/vnd.openxmlformats-officedocument.presentationml.tags+xml"/>
  <Override PartName="/ppt/tags/tag784.xml" ContentType="application/vnd.openxmlformats-officedocument.presentationml.tags+xml"/>
  <Override PartName="/ppt/tags/tag785.xml" ContentType="application/vnd.openxmlformats-officedocument.presentationml.tags+xml"/>
  <Override PartName="/ppt/tags/tag786.xml" ContentType="application/vnd.openxmlformats-officedocument.presentationml.tags+xml"/>
  <Override PartName="/ppt/tags/tag787.xml" ContentType="application/vnd.openxmlformats-officedocument.presentationml.tags+xml"/>
  <Override PartName="/ppt/tags/tag788.xml" ContentType="application/vnd.openxmlformats-officedocument.presentationml.tags+xml"/>
  <Override PartName="/ppt/tags/tag789.xml" ContentType="application/vnd.openxmlformats-officedocument.presentationml.tags+xml"/>
  <Override PartName="/ppt/tags/tag790.xml" ContentType="application/vnd.openxmlformats-officedocument.presentationml.tags+xml"/>
  <Override PartName="/ppt/tags/tag791.xml" ContentType="application/vnd.openxmlformats-officedocument.presentationml.tags+xml"/>
  <Override PartName="/ppt/tags/tag792.xml" ContentType="application/vnd.openxmlformats-officedocument.presentationml.tags+xml"/>
  <Override PartName="/ppt/tags/tag793.xml" ContentType="application/vnd.openxmlformats-officedocument.presentationml.tags+xml"/>
  <Override PartName="/ppt/tags/tag794.xml" ContentType="application/vnd.openxmlformats-officedocument.presentationml.tags+xml"/>
  <Override PartName="/ppt/tags/tag795.xml" ContentType="application/vnd.openxmlformats-officedocument.presentationml.tags+xml"/>
  <Override PartName="/ppt/tags/tag796.xml" ContentType="application/vnd.openxmlformats-officedocument.presentationml.tags+xml"/>
  <Override PartName="/ppt/tags/tag797.xml" ContentType="application/vnd.openxmlformats-officedocument.presentationml.tags+xml"/>
  <Override PartName="/ppt/tags/tag798.xml" ContentType="application/vnd.openxmlformats-officedocument.presentationml.tags+xml"/>
  <Override PartName="/ppt/tags/tag799.xml" ContentType="application/vnd.openxmlformats-officedocument.presentationml.tags+xml"/>
  <Override PartName="/ppt/tags/tag800.xml" ContentType="application/vnd.openxmlformats-officedocument.presentationml.tags+xml"/>
  <Override PartName="/ppt/tags/tag801.xml" ContentType="application/vnd.openxmlformats-officedocument.presentationml.tags+xml"/>
  <Override PartName="/ppt/tags/tag802.xml" ContentType="application/vnd.openxmlformats-officedocument.presentationml.tags+xml"/>
  <Override PartName="/ppt/tags/tag803.xml" ContentType="application/vnd.openxmlformats-officedocument.presentationml.tags+xml"/>
  <Override PartName="/ppt/tags/tag804.xml" ContentType="application/vnd.openxmlformats-officedocument.presentationml.tags+xml"/>
  <Override PartName="/ppt/tags/tag805.xml" ContentType="application/vnd.openxmlformats-officedocument.presentationml.tags+xml"/>
  <Override PartName="/ppt/tags/tag806.xml" ContentType="application/vnd.openxmlformats-officedocument.presentationml.tags+xml"/>
  <Override PartName="/ppt/tags/tag807.xml" ContentType="application/vnd.openxmlformats-officedocument.presentationml.tags+xml"/>
  <Override PartName="/ppt/tags/tag808.xml" ContentType="application/vnd.openxmlformats-officedocument.presentationml.tags+xml"/>
  <Override PartName="/ppt/tags/tag809.xml" ContentType="application/vnd.openxmlformats-officedocument.presentationml.tags+xml"/>
  <Override PartName="/ppt/tags/tag810.xml" ContentType="application/vnd.openxmlformats-officedocument.presentationml.tags+xml"/>
  <Override PartName="/ppt/tags/tag811.xml" ContentType="application/vnd.openxmlformats-officedocument.presentationml.tags+xml"/>
  <Override PartName="/ppt/tags/tag812.xml" ContentType="application/vnd.openxmlformats-officedocument.presentationml.tags+xml"/>
  <Override PartName="/ppt/tags/tag813.xml" ContentType="application/vnd.openxmlformats-officedocument.presentationml.tags+xml"/>
  <Override PartName="/ppt/tags/tag814.xml" ContentType="application/vnd.openxmlformats-officedocument.presentationml.tags+xml"/>
  <Override PartName="/ppt/tags/tag815.xml" ContentType="application/vnd.openxmlformats-officedocument.presentationml.tags+xml"/>
  <Override PartName="/ppt/tags/tag816.xml" ContentType="application/vnd.openxmlformats-officedocument.presentationml.tags+xml"/>
  <Override PartName="/ppt/tags/tag817.xml" ContentType="application/vnd.openxmlformats-officedocument.presentationml.tags+xml"/>
  <Override PartName="/ppt/tags/tag818.xml" ContentType="application/vnd.openxmlformats-officedocument.presentationml.tags+xml"/>
  <Override PartName="/ppt/tags/tag819.xml" ContentType="application/vnd.openxmlformats-officedocument.presentationml.tags+xml"/>
  <Override PartName="/ppt/tags/tag820.xml" ContentType="application/vnd.openxmlformats-officedocument.presentationml.tags+xml"/>
  <Override PartName="/ppt/tags/tag821.xml" ContentType="application/vnd.openxmlformats-officedocument.presentationml.tags+xml"/>
  <Override PartName="/ppt/tags/tag822.xml" ContentType="application/vnd.openxmlformats-officedocument.presentationml.tags+xml"/>
  <Override PartName="/ppt/tags/tag823.xml" ContentType="application/vnd.openxmlformats-officedocument.presentationml.tags+xml"/>
  <Override PartName="/ppt/tags/tag824.xml" ContentType="application/vnd.openxmlformats-officedocument.presentationml.tags+xml"/>
  <Override PartName="/ppt/tags/tag825.xml" ContentType="application/vnd.openxmlformats-officedocument.presentationml.tags+xml"/>
  <Override PartName="/ppt/tags/tag826.xml" ContentType="application/vnd.openxmlformats-officedocument.presentationml.tags+xml"/>
  <Override PartName="/ppt/tags/tag827.xml" ContentType="application/vnd.openxmlformats-officedocument.presentationml.tags+xml"/>
  <Override PartName="/ppt/tags/tag828.xml" ContentType="application/vnd.openxmlformats-officedocument.presentationml.tags+xml"/>
  <Override PartName="/ppt/tags/tag829.xml" ContentType="application/vnd.openxmlformats-officedocument.presentationml.tags+xml"/>
  <Override PartName="/ppt/tags/tag830.xml" ContentType="application/vnd.openxmlformats-officedocument.presentationml.tags+xml"/>
  <Override PartName="/ppt/tags/tag831.xml" ContentType="application/vnd.openxmlformats-officedocument.presentationml.tags+xml"/>
  <Override PartName="/ppt/tags/tag832.xml" ContentType="application/vnd.openxmlformats-officedocument.presentationml.tags+xml"/>
  <Override PartName="/ppt/tags/tag833.xml" ContentType="application/vnd.openxmlformats-officedocument.presentationml.tags+xml"/>
  <Override PartName="/ppt/tags/tag834.xml" ContentType="application/vnd.openxmlformats-officedocument.presentationml.tags+xml"/>
  <Override PartName="/ppt/tags/tag835.xml" ContentType="application/vnd.openxmlformats-officedocument.presentationml.tags+xml"/>
  <Override PartName="/ppt/tags/tag836.xml" ContentType="application/vnd.openxmlformats-officedocument.presentationml.tags+xml"/>
  <Override PartName="/ppt/tags/tag837.xml" ContentType="application/vnd.openxmlformats-officedocument.presentationml.tags+xml"/>
  <Override PartName="/ppt/tags/tag838.xml" ContentType="application/vnd.openxmlformats-officedocument.presentationml.tags+xml"/>
  <Override PartName="/ppt/tags/tag839.xml" ContentType="application/vnd.openxmlformats-officedocument.presentationml.tags+xml"/>
  <Override PartName="/ppt/tags/tag840.xml" ContentType="application/vnd.openxmlformats-officedocument.presentationml.tags+xml"/>
  <Override PartName="/ppt/tags/tag841.xml" ContentType="application/vnd.openxmlformats-officedocument.presentationml.tags+xml"/>
  <Override PartName="/ppt/tags/tag842.xml" ContentType="application/vnd.openxmlformats-officedocument.presentationml.tags+xml"/>
  <Override PartName="/ppt/tags/tag843.xml" ContentType="application/vnd.openxmlformats-officedocument.presentationml.tags+xml"/>
  <Override PartName="/ppt/tags/tag844.xml" ContentType="application/vnd.openxmlformats-officedocument.presentationml.tags+xml"/>
  <Override PartName="/ppt/tags/tag845.xml" ContentType="application/vnd.openxmlformats-officedocument.presentationml.tags+xml"/>
  <Override PartName="/ppt/tags/tag846.xml" ContentType="application/vnd.openxmlformats-officedocument.presentationml.tags+xml"/>
  <Override PartName="/ppt/tags/tag847.xml" ContentType="application/vnd.openxmlformats-officedocument.presentationml.tags+xml"/>
  <Override PartName="/ppt/tags/tag848.xml" ContentType="application/vnd.openxmlformats-officedocument.presentationml.tags+xml"/>
  <Override PartName="/ppt/tags/tag849.xml" ContentType="application/vnd.openxmlformats-officedocument.presentationml.tags+xml"/>
  <Override PartName="/ppt/tags/tag850.xml" ContentType="application/vnd.openxmlformats-officedocument.presentationml.tags+xml"/>
  <Override PartName="/ppt/tags/tag851.xml" ContentType="application/vnd.openxmlformats-officedocument.presentationml.tags+xml"/>
  <Override PartName="/ppt/tags/tag852.xml" ContentType="application/vnd.openxmlformats-officedocument.presentationml.tags+xml"/>
  <Override PartName="/ppt/tags/tag853.xml" ContentType="application/vnd.openxmlformats-officedocument.presentationml.tags+xml"/>
  <Override PartName="/ppt/tags/tag854.xml" ContentType="application/vnd.openxmlformats-officedocument.presentationml.tags+xml"/>
  <Override PartName="/ppt/tags/tag855.xml" ContentType="application/vnd.openxmlformats-officedocument.presentationml.tags+xml"/>
  <Override PartName="/ppt/tags/tag856.xml" ContentType="application/vnd.openxmlformats-officedocument.presentationml.tags+xml"/>
  <Override PartName="/ppt/tags/tag857.xml" ContentType="application/vnd.openxmlformats-officedocument.presentationml.tags+xml"/>
  <Override PartName="/ppt/tags/tag858.xml" ContentType="application/vnd.openxmlformats-officedocument.presentationml.tags+xml"/>
  <Override PartName="/ppt/tags/tag859.xml" ContentType="application/vnd.openxmlformats-officedocument.presentationml.tags+xml"/>
  <Override PartName="/ppt/tags/tag860.xml" ContentType="application/vnd.openxmlformats-officedocument.presentationml.tags+xml"/>
  <Override PartName="/ppt/tags/tag861.xml" ContentType="application/vnd.openxmlformats-officedocument.presentationml.tags+xml"/>
  <Override PartName="/ppt/tags/tag862.xml" ContentType="application/vnd.openxmlformats-officedocument.presentationml.tags+xml"/>
  <Override PartName="/ppt/tags/tag863.xml" ContentType="application/vnd.openxmlformats-officedocument.presentationml.tags+xml"/>
  <Override PartName="/ppt/tags/tag864.xml" ContentType="application/vnd.openxmlformats-officedocument.presentationml.tags+xml"/>
  <Override PartName="/ppt/tags/tag865.xml" ContentType="application/vnd.openxmlformats-officedocument.presentationml.tags+xml"/>
  <Override PartName="/ppt/tags/tag866.xml" ContentType="application/vnd.openxmlformats-officedocument.presentationml.tags+xml"/>
  <Override PartName="/ppt/tags/tag867.xml" ContentType="application/vnd.openxmlformats-officedocument.presentationml.tags+xml"/>
  <Override PartName="/ppt/tags/tag868.xml" ContentType="application/vnd.openxmlformats-officedocument.presentationml.tags+xml"/>
  <Override PartName="/ppt/tags/tag869.xml" ContentType="application/vnd.openxmlformats-officedocument.presentationml.tags+xml"/>
  <Override PartName="/ppt/tags/tag870.xml" ContentType="application/vnd.openxmlformats-officedocument.presentationml.tags+xml"/>
  <Override PartName="/ppt/tags/tag871.xml" ContentType="application/vnd.openxmlformats-officedocument.presentationml.tags+xml"/>
  <Override PartName="/ppt/tags/tag872.xml" ContentType="application/vnd.openxmlformats-officedocument.presentationml.tags+xml"/>
  <Override PartName="/ppt/tags/tag873.xml" ContentType="application/vnd.openxmlformats-officedocument.presentationml.tags+xml"/>
  <Override PartName="/ppt/tags/tag874.xml" ContentType="application/vnd.openxmlformats-officedocument.presentationml.tags+xml"/>
  <Override PartName="/ppt/tags/tag875.xml" ContentType="application/vnd.openxmlformats-officedocument.presentationml.tags+xml"/>
  <Override PartName="/ppt/tags/tag876.xml" ContentType="application/vnd.openxmlformats-officedocument.presentationml.tags+xml"/>
  <Override PartName="/ppt/tags/tag877.xml" ContentType="application/vnd.openxmlformats-officedocument.presentationml.tags+xml"/>
  <Override PartName="/ppt/tags/tag878.xml" ContentType="application/vnd.openxmlformats-officedocument.presentationml.tags+xml"/>
  <Override PartName="/ppt/tags/tag879.xml" ContentType="application/vnd.openxmlformats-officedocument.presentationml.tags+xml"/>
  <Override PartName="/ppt/tags/tag880.xml" ContentType="application/vnd.openxmlformats-officedocument.presentationml.tags+xml"/>
  <Override PartName="/ppt/tags/tag881.xml" ContentType="application/vnd.openxmlformats-officedocument.presentationml.tags+xml"/>
  <Override PartName="/ppt/tags/tag882.xml" ContentType="application/vnd.openxmlformats-officedocument.presentationml.tags+xml"/>
  <Override PartName="/ppt/tags/tag883.xml" ContentType="application/vnd.openxmlformats-officedocument.presentationml.tags+xml"/>
  <Override PartName="/ppt/tags/tag884.xml" ContentType="application/vnd.openxmlformats-officedocument.presentationml.tags+xml"/>
  <Override PartName="/ppt/tags/tag885.xml" ContentType="application/vnd.openxmlformats-officedocument.presentationml.tags+xml"/>
  <Override PartName="/ppt/tags/tag886.xml" ContentType="application/vnd.openxmlformats-officedocument.presentationml.tags+xml"/>
  <Override PartName="/ppt/tags/tag887.xml" ContentType="application/vnd.openxmlformats-officedocument.presentationml.tags+xml"/>
  <Override PartName="/ppt/tags/tag888.xml" ContentType="application/vnd.openxmlformats-officedocument.presentationml.tags+xml"/>
  <Override PartName="/ppt/tags/tag889.xml" ContentType="application/vnd.openxmlformats-officedocument.presentationml.tags+xml"/>
  <Override PartName="/ppt/tags/tag890.xml" ContentType="application/vnd.openxmlformats-officedocument.presentationml.tags+xml"/>
  <Override PartName="/ppt/tags/tag891.xml" ContentType="application/vnd.openxmlformats-officedocument.presentationml.tags+xml"/>
  <Override PartName="/ppt/tags/tag892.xml" ContentType="application/vnd.openxmlformats-officedocument.presentationml.tags+xml"/>
  <Override PartName="/ppt/tags/tag893.xml" ContentType="application/vnd.openxmlformats-officedocument.presentationml.tags+xml"/>
  <Override PartName="/ppt/tags/tag894.xml" ContentType="application/vnd.openxmlformats-officedocument.presentationml.tags+xml"/>
  <Override PartName="/ppt/tags/tag895.xml" ContentType="application/vnd.openxmlformats-officedocument.presentationml.tags+xml"/>
  <Override PartName="/ppt/tags/tag896.xml" ContentType="application/vnd.openxmlformats-officedocument.presentationml.tags+xml"/>
  <Override PartName="/ppt/tags/tag897.xml" ContentType="application/vnd.openxmlformats-officedocument.presentationml.tags+xml"/>
  <Override PartName="/ppt/tags/tag898.xml" ContentType="application/vnd.openxmlformats-officedocument.presentationml.tags+xml"/>
  <Override PartName="/ppt/tags/tag899.xml" ContentType="application/vnd.openxmlformats-officedocument.presentationml.tags+xml"/>
  <Override PartName="/ppt/tags/tag900.xml" ContentType="application/vnd.openxmlformats-officedocument.presentationml.tags+xml"/>
  <Override PartName="/ppt/tags/tag901.xml" ContentType="application/vnd.openxmlformats-officedocument.presentationml.tags+xml"/>
  <Override PartName="/ppt/tags/tag902.xml" ContentType="application/vnd.openxmlformats-officedocument.presentationml.tags+xml"/>
  <Override PartName="/ppt/tags/tag903.xml" ContentType="application/vnd.openxmlformats-officedocument.presentationml.tags+xml"/>
  <Override PartName="/ppt/tags/tag904.xml" ContentType="application/vnd.openxmlformats-officedocument.presentationml.tags+xml"/>
  <Override PartName="/ppt/tags/tag905.xml" ContentType="application/vnd.openxmlformats-officedocument.presentationml.tags+xml"/>
  <Override PartName="/ppt/tags/tag906.xml" ContentType="application/vnd.openxmlformats-officedocument.presentationml.tags+xml"/>
  <Override PartName="/ppt/tags/tag907.xml" ContentType="application/vnd.openxmlformats-officedocument.presentationml.tags+xml"/>
  <Override PartName="/ppt/tags/tag908.xml" ContentType="application/vnd.openxmlformats-officedocument.presentationml.tags+xml"/>
  <Override PartName="/ppt/tags/tag909.xml" ContentType="application/vnd.openxmlformats-officedocument.presentationml.tags+xml"/>
  <Override PartName="/ppt/tags/tag910.xml" ContentType="application/vnd.openxmlformats-officedocument.presentationml.tags+xml"/>
  <Override PartName="/ppt/tags/tag911.xml" ContentType="application/vnd.openxmlformats-officedocument.presentationml.tags+xml"/>
  <Override PartName="/ppt/tags/tag912.xml" ContentType="application/vnd.openxmlformats-officedocument.presentationml.tags+xml"/>
  <Override PartName="/ppt/tags/tag913.xml" ContentType="application/vnd.openxmlformats-officedocument.presentationml.tags+xml"/>
  <Override PartName="/ppt/tags/tag914.xml" ContentType="application/vnd.openxmlformats-officedocument.presentationml.tags+xml"/>
  <Override PartName="/ppt/tags/tag915.xml" ContentType="application/vnd.openxmlformats-officedocument.presentationml.tags+xml"/>
  <Override PartName="/ppt/tags/tag916.xml" ContentType="application/vnd.openxmlformats-officedocument.presentationml.tags+xml"/>
  <Override PartName="/ppt/tags/tag917.xml" ContentType="application/vnd.openxmlformats-officedocument.presentationml.tags+xml"/>
  <Override PartName="/ppt/tags/tag918.xml" ContentType="application/vnd.openxmlformats-officedocument.presentationml.tags+xml"/>
  <Override PartName="/ppt/tags/tag919.xml" ContentType="application/vnd.openxmlformats-officedocument.presentationml.tags+xml"/>
  <Override PartName="/ppt/tags/tag920.xml" ContentType="application/vnd.openxmlformats-officedocument.presentationml.tags+xml"/>
  <Override PartName="/ppt/tags/tag921.xml" ContentType="application/vnd.openxmlformats-officedocument.presentationml.tags+xml"/>
  <Override PartName="/ppt/tags/tag922.xml" ContentType="application/vnd.openxmlformats-officedocument.presentationml.tags+xml"/>
  <Override PartName="/ppt/tags/tag923.xml" ContentType="application/vnd.openxmlformats-officedocument.presentationml.tags+xml"/>
  <Override PartName="/ppt/tags/tag924.xml" ContentType="application/vnd.openxmlformats-officedocument.presentationml.tags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tags/tag925.xml" ContentType="application/vnd.openxmlformats-officedocument.presentationml.tags+xml"/>
  <Override PartName="/ppt/notesSlides/notesSlide31.xml" ContentType="application/vnd.openxmlformats-officedocument.presentationml.notesSlide+xml"/>
  <Override PartName="/ppt/tags/tag926.xml" ContentType="application/vnd.openxmlformats-officedocument.presentationml.tags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51"/>
  </p:notesMasterIdLst>
  <p:handoutMasterIdLst>
    <p:handoutMasterId r:id="rId52"/>
  </p:handoutMasterIdLst>
  <p:sldIdLst>
    <p:sldId id="256" r:id="rId2"/>
    <p:sldId id="508" r:id="rId3"/>
    <p:sldId id="509" r:id="rId4"/>
    <p:sldId id="511" r:id="rId5"/>
    <p:sldId id="384" r:id="rId6"/>
    <p:sldId id="512" r:id="rId7"/>
    <p:sldId id="514" r:id="rId8"/>
    <p:sldId id="515" r:id="rId9"/>
    <p:sldId id="545" r:id="rId10"/>
    <p:sldId id="517" r:id="rId11"/>
    <p:sldId id="518" r:id="rId12"/>
    <p:sldId id="519" r:id="rId13"/>
    <p:sldId id="520" r:id="rId14"/>
    <p:sldId id="521" r:id="rId15"/>
    <p:sldId id="397" r:id="rId16"/>
    <p:sldId id="410" r:id="rId17"/>
    <p:sldId id="398" r:id="rId18"/>
    <p:sldId id="601" r:id="rId19"/>
    <p:sldId id="467" r:id="rId20"/>
    <p:sldId id="602" r:id="rId21"/>
    <p:sldId id="603" r:id="rId22"/>
    <p:sldId id="312" r:id="rId23"/>
    <p:sldId id="473" r:id="rId24"/>
    <p:sldId id="258" r:id="rId25"/>
    <p:sldId id="527" r:id="rId26"/>
    <p:sldId id="474" r:id="rId27"/>
    <p:sldId id="476" r:id="rId28"/>
    <p:sldId id="477" r:id="rId29"/>
    <p:sldId id="259" r:id="rId30"/>
    <p:sldId id="478" r:id="rId31"/>
    <p:sldId id="530" r:id="rId32"/>
    <p:sldId id="531" r:id="rId33"/>
    <p:sldId id="507" r:id="rId34"/>
    <p:sldId id="532" r:id="rId35"/>
    <p:sldId id="604" r:id="rId36"/>
    <p:sldId id="443" r:id="rId37"/>
    <p:sldId id="607" r:id="rId38"/>
    <p:sldId id="536" r:id="rId39"/>
    <p:sldId id="539" r:id="rId40"/>
    <p:sldId id="542" r:id="rId41"/>
    <p:sldId id="605" r:id="rId42"/>
    <p:sldId id="263" r:id="rId43"/>
    <p:sldId id="494" r:id="rId44"/>
    <p:sldId id="496" r:id="rId45"/>
    <p:sldId id="495" r:id="rId46"/>
    <p:sldId id="500" r:id="rId47"/>
    <p:sldId id="497" r:id="rId48"/>
    <p:sldId id="498" r:id="rId49"/>
    <p:sldId id="501" r:id="rId50"/>
  </p:sldIdLst>
  <p:sldSz cx="9144000" cy="6858000" type="screen4x3"/>
  <p:notesSz cx="6858000" cy="9144000"/>
  <p:custDataLst>
    <p:tags r:id="rId53"/>
  </p:custDataLst>
  <p:defaultTextStyle>
    <a:defPPr>
      <a:defRPr lang="zh-CN"/>
    </a:defPPr>
    <a:lvl1pPr algn="ctr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85">
          <p15:clr>
            <a:srgbClr val="A4A3A4"/>
          </p15:clr>
        </p15:guide>
        <p15:guide id="2" pos="292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0099"/>
    <a:srgbClr val="FFCC99"/>
    <a:srgbClr val="FF3399"/>
    <a:srgbClr val="99CCFF"/>
    <a:srgbClr val="CC99FF"/>
    <a:srgbClr val="CCFFFF"/>
    <a:srgbClr val="FFFF99"/>
    <a:srgbClr val="CCCCFF"/>
    <a:srgbClr val="FFCCFF"/>
    <a:srgbClr val="CC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363" autoAdjust="0"/>
    <p:restoredTop sz="95768" autoAdjust="0"/>
  </p:normalViewPr>
  <p:slideViewPr>
    <p:cSldViewPr showGuides="1">
      <p:cViewPr varScale="1">
        <p:scale>
          <a:sx n="83" d="100"/>
          <a:sy n="83" d="100"/>
        </p:scale>
        <p:origin x="1604" y="48"/>
      </p:cViewPr>
      <p:guideLst>
        <p:guide orient="horz" pos="2285"/>
        <p:guide pos="292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83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gs" Target="tags/tag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7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>
              <a:defRPr sz="1200"/>
            </a:lvl1pPr>
          </a:lstStyle>
          <a:p>
            <a:endParaRPr lang="en-US" altLang="zh-CN"/>
          </a:p>
        </p:txBody>
      </p:sp>
      <p:sp>
        <p:nvSpPr>
          <p:cNvPr id="20275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/>
            </a:lvl1pPr>
          </a:lstStyle>
          <a:p>
            <a:endParaRPr lang="en-US" altLang="zh-CN"/>
          </a:p>
        </p:txBody>
      </p:sp>
      <p:sp>
        <p:nvSpPr>
          <p:cNvPr id="20275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>
              <a:defRPr sz="1200"/>
            </a:lvl1pPr>
          </a:lstStyle>
          <a:p>
            <a:endParaRPr lang="en-US" altLang="zh-CN"/>
          </a:p>
        </p:txBody>
      </p:sp>
      <p:sp>
        <p:nvSpPr>
          <p:cNvPr id="20275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/>
            </a:lvl1pPr>
          </a:lstStyle>
          <a:p>
            <a:fld id="{2E4B6539-215E-4A82-B8D5-BC65B0D83AFB}" type="slidenum">
              <a:rPr lang="en-US" altLang="zh-CN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>
              <a:defRPr sz="1200"/>
            </a:lvl1pPr>
          </a:lstStyle>
          <a:p>
            <a:endParaRPr lang="en-US" altLang="zh-CN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/>
            </a:lvl1pPr>
          </a:lstStyle>
          <a:p>
            <a:endParaRPr lang="en-US" altLang="zh-CN"/>
          </a:p>
        </p:txBody>
      </p:sp>
      <p:sp>
        <p:nvSpPr>
          <p:cNvPr id="4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>
              <a:defRPr sz="1200"/>
            </a:lvl1pPr>
          </a:lstStyle>
          <a:p>
            <a:endParaRPr lang="en-US" altLang="zh-CN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/>
            </a:lvl1pPr>
          </a:lstStyle>
          <a:p>
            <a:fld id="{AF28F501-268A-4A38-8063-C71DEAA87094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zh-CN" sz="120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响应时间指</a:t>
            </a:r>
            <a:r>
              <a:rPr kumimoji="1" lang="en-US" altLang="zh-CN" sz="120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I/O</a:t>
            </a:r>
            <a:r>
              <a:rPr kumimoji="1" lang="zh-CN" altLang="zh-CN" sz="120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请求从发出到</a:t>
            </a:r>
            <a:r>
              <a:rPr kumimoji="1" lang="en-US" altLang="zh-CN" sz="120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I/O</a:t>
            </a:r>
            <a:r>
              <a:rPr kumimoji="1" lang="zh-CN" altLang="zh-CN" sz="120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操作完成的时间，吞吐率指单位时间内完成</a:t>
            </a:r>
            <a:r>
              <a:rPr kumimoji="1" lang="en-US" altLang="zh-CN" sz="120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I/O</a:t>
            </a:r>
            <a:r>
              <a:rPr kumimoji="1" lang="zh-CN" altLang="zh-CN" sz="120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操作的个数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28F501-268A-4A38-8063-C71DEAA87094}" type="slidenum">
              <a:rPr lang="en-US" altLang="zh-CN" smtClean="0"/>
              <a:t>3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思考①：外设响应时间。 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28F501-268A-4A38-8063-C71DEAA87094}" type="slidenum">
              <a:rPr lang="en-US" altLang="zh-CN" smtClean="0"/>
              <a:t>4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检查：</a:t>
            </a:r>
            <a:r>
              <a:rPr lang="en-US" altLang="zh-CN" dirty="0"/>
              <a:t>#</a:t>
            </a:r>
            <a:r>
              <a:rPr lang="zh-CN" altLang="en-US" dirty="0"/>
              <a:t>表示低电平有效（</a:t>
            </a:r>
            <a:r>
              <a:rPr lang="en-US" altLang="zh-CN" dirty="0"/>
              <a:t>P253</a:t>
            </a:r>
            <a:r>
              <a:rPr lang="zh-CN" altLang="en-US" dirty="0"/>
              <a:t>第</a:t>
            </a:r>
            <a:r>
              <a:rPr lang="en-US" altLang="zh-CN" dirty="0"/>
              <a:t>13</a:t>
            </a:r>
            <a:r>
              <a:rPr lang="zh-CN" altLang="en-US" dirty="0"/>
              <a:t>行）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28F501-268A-4A38-8063-C71DEAA87094}" type="slidenum">
              <a:rPr lang="en-US" altLang="zh-CN" smtClean="0"/>
              <a:t>5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28F501-268A-4A38-8063-C71DEAA87094}" type="slidenum">
              <a:rPr lang="en-US" altLang="zh-CN" smtClean="0"/>
              <a:t>7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检测帧头同步为速率方法：帧头同步位为</a:t>
            </a:r>
            <a:r>
              <a:rPr lang="en-US" altLang="zh-CN" dirty="0"/>
              <a:t>101010</a:t>
            </a:r>
            <a:r>
              <a:rPr lang="zh-CN" altLang="en-US" dirty="0"/>
              <a:t>等信息，信号连续跳变可测得速率。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28F501-268A-4A38-8063-C71DEAA87094}" type="slidenum">
              <a:rPr lang="en-US" altLang="zh-CN" smtClean="0"/>
              <a:t>8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>
                <a:latin typeface="+mn-ea"/>
                <a:ea typeface="+mn-ea"/>
              </a:rPr>
              <a:t>思考：</a:t>
            </a:r>
            <a:r>
              <a:rPr lang="en-US" altLang="zh-CN" dirty="0">
                <a:latin typeface="+mn-ea"/>
                <a:ea typeface="+mn-ea"/>
              </a:rPr>
              <a:t>4</a:t>
            </a:r>
            <a:r>
              <a:rPr lang="zh-CN" altLang="en-US" dirty="0">
                <a:latin typeface="+mn-ea"/>
                <a:ea typeface="+mn-ea"/>
              </a:rPr>
              <a:t>条，启动、读状态、判断就绪、数据传送。     </a:t>
            </a:r>
            <a:r>
              <a:rPr lang="en-US" altLang="zh-CN" dirty="0">
                <a:latin typeface="+mn-ea"/>
                <a:ea typeface="+mn-ea"/>
              </a:rPr>
              <a:t>P7-</a:t>
            </a:r>
            <a:r>
              <a:rPr lang="zh-CN" altLang="en-US" dirty="0">
                <a:latin typeface="+mn-ea"/>
                <a:ea typeface="+mn-ea"/>
              </a:rPr>
              <a:t>看目标从设备识别方法   上页</a:t>
            </a:r>
            <a:r>
              <a:rPr lang="en-US" altLang="zh-CN" dirty="0">
                <a:latin typeface="+mn-ea"/>
                <a:ea typeface="+mn-ea"/>
              </a:rPr>
              <a:t>-</a:t>
            </a:r>
            <a:r>
              <a:rPr lang="zh-CN" altLang="en-US" dirty="0">
                <a:latin typeface="+mn-ea"/>
                <a:ea typeface="+mn-ea"/>
              </a:rPr>
              <a:t>看传送方式</a:t>
            </a:r>
            <a:r>
              <a:rPr lang="en-US" altLang="zh-CN" dirty="0">
                <a:latin typeface="+mn-ea"/>
                <a:ea typeface="+mn-ea"/>
              </a:rPr>
              <a:t>&amp;</a:t>
            </a:r>
            <a:r>
              <a:rPr lang="zh-CN" altLang="en-US" dirty="0">
                <a:latin typeface="+mn-ea"/>
                <a:ea typeface="+mn-ea"/>
              </a:rPr>
              <a:t>联络方法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28F501-268A-4A38-8063-C71DEAA87094}" type="slidenum">
              <a:rPr lang="en-US" altLang="zh-CN" smtClean="0"/>
              <a:t>9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28F501-268A-4A38-8063-C71DEAA87094}" type="slidenum">
              <a:rPr lang="en-US" altLang="zh-CN" smtClean="0"/>
              <a:t>11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思考</a:t>
            </a:r>
            <a:r>
              <a:rPr lang="en-US" altLang="zh-CN" dirty="0"/>
              <a:t>—</a:t>
            </a:r>
            <a:r>
              <a:rPr lang="zh-CN" altLang="en-US" dirty="0"/>
              <a:t>放在</a:t>
            </a:r>
            <a:r>
              <a:rPr lang="en-US" altLang="zh-CN" dirty="0"/>
              <a:t>I/O</a:t>
            </a:r>
            <a:r>
              <a:rPr lang="zh-CN" altLang="en-US" dirty="0"/>
              <a:t>接口的数据端口中，总线操作只能访问到</a:t>
            </a:r>
            <a:r>
              <a:rPr lang="en-US" altLang="zh-CN" dirty="0"/>
              <a:t>I/O</a:t>
            </a:r>
            <a:r>
              <a:rPr lang="zh-CN" altLang="en-US" dirty="0"/>
              <a:t>端口。    </a:t>
            </a:r>
            <a:r>
              <a:rPr lang="en-US" altLang="zh-CN" dirty="0"/>
              <a:t>P4-</a:t>
            </a:r>
            <a:r>
              <a:rPr lang="zh-CN" altLang="en-US" dirty="0"/>
              <a:t>看外设</a:t>
            </a:r>
            <a:r>
              <a:rPr lang="en-US" altLang="zh-CN" dirty="0"/>
              <a:t>-</a:t>
            </a:r>
            <a:r>
              <a:rPr lang="zh-CN" altLang="en-US" dirty="0"/>
              <a:t>端口的关系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28F501-268A-4A38-8063-C71DEAA87094}" type="slidenum">
              <a:rPr lang="en-US" altLang="zh-CN" smtClean="0"/>
              <a:t>12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28F501-268A-4A38-8063-C71DEAA87094}" type="slidenum">
              <a:rPr lang="en-US" altLang="zh-CN" smtClean="0"/>
              <a:t>17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28F501-268A-4A38-8063-C71DEAA87094}" type="slidenum">
              <a:rPr lang="en-US" altLang="zh-CN" smtClean="0"/>
              <a:t>19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3B39EE4F-3A0A-4CFC-882C-06BB8ED2DF1B}" type="slidenum">
              <a:rPr lang="en-US" altLang="zh-CN"/>
              <a:t>22</a:t>
            </a:fld>
            <a:endParaRPr lang="en-US" altLang="zh-CN"/>
          </a:p>
        </p:txBody>
      </p:sp>
      <p:sp>
        <p:nvSpPr>
          <p:cNvPr id="1198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98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I/O</a:t>
            </a:r>
            <a:r>
              <a:rPr lang="zh-CN" altLang="en-US" dirty="0"/>
              <a:t>接口仅中转信息，永远不会主动产生信息。</a:t>
            </a:r>
            <a:r>
              <a:rPr lang="en-US" altLang="zh-CN" dirty="0"/>
              <a:t>    </a:t>
            </a:r>
            <a:r>
              <a:rPr lang="zh-CN" altLang="en-US" dirty="0"/>
              <a:t>思考：通过</a:t>
            </a:r>
            <a:r>
              <a:rPr lang="en-US" altLang="zh-CN" dirty="0" err="1"/>
              <a:t>DBus</a:t>
            </a:r>
            <a:endParaRPr lang="en-US" altLang="zh-CN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上页</a:t>
            </a:r>
            <a:r>
              <a:rPr lang="en-US" altLang="zh-CN" dirty="0"/>
              <a:t>-</a:t>
            </a:r>
            <a:r>
              <a:rPr lang="zh-CN" altLang="en-US" dirty="0"/>
              <a:t>看功能需求，</a:t>
            </a:r>
            <a:r>
              <a:rPr lang="en-US" altLang="zh-CN" dirty="0"/>
              <a:t>P7-</a:t>
            </a:r>
            <a:r>
              <a:rPr lang="zh-CN" altLang="en-US" dirty="0"/>
              <a:t>看设置设备选择电路的原因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28F501-268A-4A38-8063-C71DEAA87094}" type="slidenum">
              <a:rPr lang="en-US" altLang="zh-CN" smtClean="0"/>
              <a:t>23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思考</a:t>
            </a:r>
            <a:r>
              <a:rPr lang="en-US" altLang="zh-CN" dirty="0"/>
              <a:t>—</a:t>
            </a:r>
            <a:r>
              <a:rPr lang="zh-CN" altLang="en-US" dirty="0"/>
              <a:t>否，串行传输位间须进行定时，无条件传送设备传送时无法实现位间定时，故无法连接； 是，所连设备为条件传送设备，设备启动命令需暂存在控制口中。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28F501-268A-4A38-8063-C71DEAA87094}" type="slidenum">
              <a:rPr lang="en-US" altLang="zh-CN" smtClean="0"/>
              <a:t>24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28F501-268A-4A38-8063-C71DEAA87094}" type="slidenum">
              <a:rPr lang="en-US" altLang="zh-CN" smtClean="0"/>
              <a:t>25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P11-</a:t>
            </a:r>
            <a:r>
              <a:rPr lang="zh-CN" altLang="en-US" dirty="0"/>
              <a:t>看程序查询方式基本思想，</a:t>
            </a:r>
            <a:r>
              <a:rPr lang="en-US" altLang="zh-CN" dirty="0"/>
              <a:t>P23-</a:t>
            </a:r>
            <a:r>
              <a:rPr lang="zh-CN" altLang="en-US" dirty="0"/>
              <a:t>看</a:t>
            </a:r>
            <a:r>
              <a:rPr lang="en-US" altLang="zh-CN" dirty="0"/>
              <a:t>I/O</a:t>
            </a:r>
            <a:r>
              <a:rPr lang="zh-CN" altLang="en-US" dirty="0"/>
              <a:t>接口的端口类型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28F501-268A-4A38-8063-C71DEAA87094}" type="slidenum">
              <a:rPr lang="en-US" altLang="zh-CN" smtClean="0"/>
              <a:t>26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28F501-268A-4A38-8063-C71DEAA87094}" type="slidenum">
              <a:rPr lang="en-US" altLang="zh-CN" smtClean="0"/>
              <a:t>27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上页</a:t>
            </a:r>
            <a:r>
              <a:rPr lang="en-US" altLang="zh-CN" dirty="0"/>
              <a:t>-</a:t>
            </a:r>
            <a:r>
              <a:rPr lang="zh-CN" altLang="en-US" dirty="0"/>
              <a:t>看</a:t>
            </a:r>
            <a:r>
              <a:rPr lang="en-US" altLang="zh-CN" dirty="0"/>
              <a:t>I/O</a:t>
            </a:r>
            <a:r>
              <a:rPr lang="zh-CN" altLang="en-US" dirty="0"/>
              <a:t>接口组成，</a:t>
            </a:r>
            <a:r>
              <a:rPr lang="en-US" altLang="zh-CN" dirty="0"/>
              <a:t>P25-</a:t>
            </a:r>
            <a:r>
              <a:rPr lang="zh-CN" altLang="en-US" dirty="0"/>
              <a:t>看</a:t>
            </a:r>
            <a:r>
              <a:rPr lang="en-US" altLang="zh-CN" dirty="0"/>
              <a:t>C</a:t>
            </a:r>
            <a:r>
              <a:rPr lang="zh-CN" altLang="en-US" dirty="0"/>
              <a:t>语言的</a:t>
            </a:r>
            <a:r>
              <a:rPr lang="en-US" altLang="zh-CN" dirty="0"/>
              <a:t>I/O</a:t>
            </a:r>
            <a:r>
              <a:rPr lang="zh-CN" altLang="en-US" dirty="0"/>
              <a:t>函数格式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28F501-268A-4A38-8063-C71DEAA87094}" type="slidenum">
              <a:rPr lang="en-US" altLang="zh-CN" smtClean="0"/>
              <a:t>28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CF9ED8A3-DA9A-47EF-8F65-033EE057B889}" type="slidenum">
              <a:rPr lang="en-US" altLang="zh-CN"/>
              <a:t>29</a:t>
            </a:fld>
            <a:endParaRPr lang="en-US" altLang="zh-CN"/>
          </a:p>
        </p:txBody>
      </p:sp>
      <p:sp>
        <p:nvSpPr>
          <p:cNvPr id="10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dirty="0"/>
              <a:t>INTR—</a:t>
            </a:r>
            <a:r>
              <a:rPr lang="zh-CN" altLang="en-US" dirty="0"/>
              <a:t>大多是</a:t>
            </a:r>
            <a:r>
              <a:rPr lang="en-US" altLang="zh-CN" dirty="0"/>
              <a:t>I/O</a:t>
            </a:r>
            <a:r>
              <a:rPr lang="zh-CN" altLang="en-US" dirty="0"/>
              <a:t>中断，时钟中断是非</a:t>
            </a:r>
            <a:r>
              <a:rPr lang="en-US" altLang="zh-CN" dirty="0"/>
              <a:t>I/O</a:t>
            </a:r>
            <a:r>
              <a:rPr lang="zh-CN" altLang="en-US" dirty="0"/>
              <a:t>中断</a:t>
            </a:r>
            <a:endParaRPr lang="en-US" altLang="zh-CN" dirty="0"/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多重中断只在向量中断时才发生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28F501-268A-4A38-8063-C71DEAA87094}" type="slidenum">
              <a:rPr lang="en-US" altLang="zh-CN" smtClean="0"/>
              <a:t>30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kern="1200" dirty="0">
                <a:solidFill>
                  <a:schemeClr val="tx1"/>
                </a:solidFill>
                <a:latin typeface="+mn-ea"/>
                <a:ea typeface="宋体" panose="02010600030101010101" pitchFamily="2" charset="-122"/>
                <a:cs typeface="+mn-cs"/>
              </a:rPr>
              <a:t>上页</a:t>
            </a:r>
            <a:r>
              <a:rPr kumimoji="1" lang="en-US" altLang="zh-CN" sz="1200" b="0" kern="1200" dirty="0">
                <a:solidFill>
                  <a:schemeClr val="tx1"/>
                </a:solidFill>
                <a:latin typeface="+mn-ea"/>
                <a:ea typeface="宋体" panose="02010600030101010101" pitchFamily="2" charset="-122"/>
                <a:cs typeface="+mn-cs"/>
              </a:rPr>
              <a:t>-</a:t>
            </a:r>
            <a:r>
              <a:rPr kumimoji="1" lang="zh-CN" altLang="en-US" sz="1200" b="0" kern="1200" dirty="0">
                <a:solidFill>
                  <a:schemeClr val="tx1"/>
                </a:solidFill>
                <a:latin typeface="+mn-ea"/>
                <a:ea typeface="宋体" panose="02010600030101010101" pitchFamily="2" charset="-122"/>
                <a:cs typeface="+mn-cs"/>
              </a:rPr>
              <a:t>看向量</a:t>
            </a:r>
            <a:r>
              <a:rPr kumimoji="1" lang="en-US" altLang="zh-CN" sz="1200" b="0" kern="1200" dirty="0">
                <a:solidFill>
                  <a:schemeClr val="tx1"/>
                </a:solidFill>
                <a:latin typeface="+mn-ea"/>
                <a:ea typeface="宋体" panose="02010600030101010101" pitchFamily="2" charset="-122"/>
                <a:cs typeface="+mn-cs"/>
              </a:rPr>
              <a:t>/</a:t>
            </a:r>
            <a:r>
              <a:rPr kumimoji="1" lang="zh-CN" altLang="en-US" sz="1200" b="0" kern="1200" dirty="0">
                <a:solidFill>
                  <a:schemeClr val="tx1"/>
                </a:solidFill>
                <a:latin typeface="+mn-ea"/>
                <a:ea typeface="宋体" panose="02010600030101010101" pitchFamily="2" charset="-122"/>
                <a:cs typeface="+mn-cs"/>
              </a:rPr>
              <a:t>非向量方式的事件类型识别方法</a:t>
            </a:r>
            <a:endParaRPr kumimoji="1" lang="en-US" altLang="zh-CN" sz="1200" b="0" kern="1200" dirty="0">
              <a:solidFill>
                <a:schemeClr val="tx1"/>
              </a:solidFill>
              <a:latin typeface="+mn-ea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28F501-268A-4A38-8063-C71DEAA87094}" type="slidenum">
              <a:rPr lang="en-US" altLang="zh-CN" smtClean="0"/>
              <a:t>31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28F501-268A-4A38-8063-C71DEAA87094}" type="slidenum">
              <a:rPr lang="en-US" altLang="zh-CN" smtClean="0"/>
              <a:t>32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28F501-268A-4A38-8063-C71DEAA87094}" type="slidenum">
              <a:rPr lang="en-US" altLang="zh-CN" smtClean="0"/>
              <a:t>33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P27-</a:t>
            </a:r>
            <a:r>
              <a:rPr lang="zh-CN" altLang="en-US" dirty="0"/>
              <a:t>看查询接口结构，</a:t>
            </a:r>
            <a:r>
              <a:rPr lang="en-US" altLang="zh-CN" dirty="0"/>
              <a:t>    P31-</a:t>
            </a:r>
            <a:r>
              <a:rPr lang="zh-CN" altLang="en-US" dirty="0"/>
              <a:t>看提供中断类型号的需求（向量中断时需要）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28F501-268A-4A38-8063-C71DEAA87094}" type="slidenum">
              <a:rPr lang="en-US" altLang="zh-CN" smtClean="0"/>
              <a:t>34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28F501-268A-4A38-8063-C71DEAA87094}" type="slidenum">
              <a:rPr lang="en-US" altLang="zh-CN" smtClean="0"/>
              <a:t>36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P32-</a:t>
            </a:r>
            <a:r>
              <a:rPr lang="zh-CN" altLang="en-US" dirty="0"/>
              <a:t>看屏蔽字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28F501-268A-4A38-8063-C71DEAA87094}" type="slidenum">
              <a:rPr lang="en-US" altLang="zh-CN" smtClean="0"/>
              <a:t>37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371160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P35-</a:t>
            </a:r>
            <a:r>
              <a:rPr lang="zh-CN" altLang="en-US" dirty="0"/>
              <a:t>看串行判优需设置</a:t>
            </a:r>
            <a:r>
              <a:rPr lang="en-US" altLang="zh-CN" dirty="0"/>
              <a:t>INTA# 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28F501-268A-4A38-8063-C71DEAA87094}" type="slidenum">
              <a:rPr lang="en-US" altLang="zh-CN" smtClean="0"/>
              <a:t>38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28F501-268A-4A38-8063-C71DEAA87094}" type="slidenum">
              <a:rPr lang="en-US" altLang="zh-CN" smtClean="0"/>
              <a:t>39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28F501-268A-4A38-8063-C71DEAA87094}" type="slidenum">
              <a:rPr lang="en-US" altLang="zh-CN" smtClean="0"/>
              <a:t>42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上页</a:t>
            </a:r>
            <a:r>
              <a:rPr lang="en-US" altLang="zh-CN" dirty="0"/>
              <a:t>-</a:t>
            </a:r>
            <a:r>
              <a:rPr lang="zh-CN" altLang="en-US" dirty="0"/>
              <a:t>看</a:t>
            </a:r>
            <a:r>
              <a:rPr lang="en-US" altLang="zh-CN" dirty="0"/>
              <a:t>MAC</a:t>
            </a:r>
            <a:r>
              <a:rPr lang="zh-CN" altLang="en-US" dirty="0"/>
              <a:t>、</a:t>
            </a:r>
            <a:r>
              <a:rPr lang="en-US" altLang="zh-CN" dirty="0"/>
              <a:t>WC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28F501-268A-4A38-8063-C71DEAA87094}" type="slidenum">
              <a:rPr lang="en-US" altLang="zh-CN" smtClean="0"/>
              <a:t>43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P41-</a:t>
            </a:r>
            <a:r>
              <a:rPr lang="zh-CN" altLang="en-US" dirty="0"/>
              <a:t>看周期挪用方式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28F501-268A-4A38-8063-C71DEAA87094}" type="slidenum">
              <a:rPr lang="en-US" altLang="zh-CN" smtClean="0"/>
              <a:t>44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P43-</a:t>
            </a:r>
            <a:r>
              <a:rPr lang="zh-CN" altLang="en-US" dirty="0"/>
              <a:t>预处理操作的变化，</a:t>
            </a:r>
            <a:r>
              <a:rPr lang="en-US" altLang="zh-CN" dirty="0"/>
              <a:t>P44-</a:t>
            </a:r>
            <a:r>
              <a:rPr lang="zh-CN" altLang="en-US" dirty="0"/>
              <a:t>看数据传送操作的变化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28F501-268A-4A38-8063-C71DEAA87094}" type="slidenum">
              <a:rPr lang="en-US" altLang="zh-CN" smtClean="0"/>
              <a:t>47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28F501-268A-4A38-8063-C71DEAA87094}" type="slidenum">
              <a:rPr lang="en-US" altLang="zh-CN" smtClean="0"/>
              <a:t>49</a:t>
            </a:fld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77C6862-A99F-4BF7-80D1-C0F026472520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034150B-C5E0-4AB8-A867-07E4F49CA598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FED96AE-80B3-4773-80E4-CB34FBEA0A48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AF8BEB8-428B-4267-AB1F-86E3A50339BB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5B2C319-D382-4C48-AAFA-6F2FA8CC8290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DB3F6BA-030E-4581-9EFB-7CFE8F877304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100392" y="6453336"/>
            <a:ext cx="1043608" cy="360040"/>
          </a:xfrm>
          <a:blipFill dpi="0" rotWithShape="1">
            <a:blip r:embed="rId2">
              <a:alphaModFix amt="70000"/>
            </a:blip>
            <a:srcRect/>
            <a:tile tx="0" ty="0" sx="100000" sy="100000" flip="none" algn="tl"/>
          </a:blipFill>
        </p:spPr>
        <p:txBody>
          <a:bodyPr lIns="18000" tIns="10800" rIns="18000" bIns="10800" anchor="ctr" anchorCtr="0"/>
          <a:lstStyle>
            <a:lvl1pPr algn="ctr">
              <a:defRPr sz="1600"/>
            </a:lvl1pPr>
          </a:lstStyle>
          <a:p>
            <a:fld id="{833BFB63-B979-4FAE-8763-D7093A979077}" type="slidenum">
              <a:rPr lang="en-US" altLang="zh-CN" smtClean="0"/>
              <a:t>‹#›</a:t>
            </a:fld>
            <a:endParaRPr lang="en-US" altLang="zh-CN"/>
          </a:p>
        </p:txBody>
      </p:sp>
      <p:sp>
        <p:nvSpPr>
          <p:cNvPr id="8" name="灯片编号占位符 3"/>
          <p:cNvSpPr txBox="1"/>
          <p:nvPr userDrawn="1"/>
        </p:nvSpPr>
        <p:spPr bwMode="auto">
          <a:xfrm>
            <a:off x="0" y="6453336"/>
            <a:ext cx="1187624" cy="360040"/>
          </a:xfrm>
          <a:prstGeom prst="rect">
            <a:avLst/>
          </a:prstGeom>
          <a:blipFill dpi="0" rotWithShape="1">
            <a:blip r:embed="rId2">
              <a:alphaModFix amt="70000"/>
            </a:blip>
            <a:srcRect/>
            <a:tile tx="0" ty="0" sx="100000" sy="100000" flip="none" algn="tl"/>
          </a:blipFill>
          <a:ln w="9525">
            <a:noFill/>
            <a:miter lim="800000"/>
          </a:ln>
          <a:effectLst/>
        </p:spPr>
        <p:txBody>
          <a:bodyPr vert="horz" wrap="square" lIns="18000" tIns="10800" rIns="18000" bIns="10800" numCol="1" anchor="ctr" anchorCtr="0" compatLnSpc="1"/>
          <a:lstStyle>
            <a:defPPr>
              <a:defRPr lang="zh-CN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kumimoji="1" sz="16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SEU.CSE.RGL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E648217-B177-4C4F-A12A-E56325AC5A7C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24D91E3-76FA-42E8-87FE-BEA5ED71C0EF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D973717-EC35-4BF0-881D-4E659AD1BA9A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41B90A-EC7E-4FC4-BEB2-9EA433C5D8ED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>
              <a:defRPr sz="1400"/>
            </a:lvl1pPr>
          </a:lstStyle>
          <a:p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B37FB261-CD5A-4067-B1EE-6F5F88DB5598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15.xml"/><Relationship Id="rId7" Type="http://schemas.openxmlformats.org/officeDocument/2006/relationships/slide" Target="slide39.xml"/><Relationship Id="rId2" Type="http://schemas.openxmlformats.org/officeDocument/2006/relationships/slide" Target="slide3.xml"/><Relationship Id="rId1" Type="http://schemas.openxmlformats.org/officeDocument/2006/relationships/slideLayout" Target="../slideLayouts/slideLayout7.xml"/><Relationship Id="rId6" Type="http://schemas.openxmlformats.org/officeDocument/2006/relationships/slide" Target="slide29.xml"/><Relationship Id="rId5" Type="http://schemas.openxmlformats.org/officeDocument/2006/relationships/slide" Target="slide26.xml"/><Relationship Id="rId4" Type="http://schemas.openxmlformats.org/officeDocument/2006/relationships/slide" Target="slide2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5" Type="http://schemas.openxmlformats.org/officeDocument/2006/relationships/slide" Target="slide15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1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4.xml"/><Relationship Id="rId5" Type="http://schemas.openxmlformats.org/officeDocument/2006/relationships/slide" Target="slide9.xml"/><Relationship Id="rId4" Type="http://schemas.openxmlformats.org/officeDocument/2006/relationships/slide" Target="slide2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6.xml"/><Relationship Id="rId4" Type="http://schemas.openxmlformats.org/officeDocument/2006/relationships/slide" Target="slide2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7.xml"/></Relationships>
</file>

<file path=ppt/slides/_rels/slide18.xml.rels><?xml version="1.0" encoding="UTF-8" standalone="yes"?>
<Relationships xmlns="http://schemas.openxmlformats.org/package/2006/relationships"><Relationship Id="rId117" Type="http://schemas.openxmlformats.org/officeDocument/2006/relationships/tags" Target="../tags/tag124.xml"/><Relationship Id="rId21" Type="http://schemas.openxmlformats.org/officeDocument/2006/relationships/tags" Target="../tags/tag28.xml"/><Relationship Id="rId42" Type="http://schemas.openxmlformats.org/officeDocument/2006/relationships/tags" Target="../tags/tag49.xml"/><Relationship Id="rId63" Type="http://schemas.openxmlformats.org/officeDocument/2006/relationships/tags" Target="../tags/tag70.xml"/><Relationship Id="rId84" Type="http://schemas.openxmlformats.org/officeDocument/2006/relationships/tags" Target="../tags/tag91.xml"/><Relationship Id="rId138" Type="http://schemas.openxmlformats.org/officeDocument/2006/relationships/tags" Target="../tags/tag145.xml"/><Relationship Id="rId107" Type="http://schemas.openxmlformats.org/officeDocument/2006/relationships/tags" Target="../tags/tag114.xml"/><Relationship Id="rId11" Type="http://schemas.openxmlformats.org/officeDocument/2006/relationships/tags" Target="../tags/tag18.xml"/><Relationship Id="rId32" Type="http://schemas.openxmlformats.org/officeDocument/2006/relationships/tags" Target="../tags/tag39.xml"/><Relationship Id="rId53" Type="http://schemas.openxmlformats.org/officeDocument/2006/relationships/tags" Target="../tags/tag60.xml"/><Relationship Id="rId74" Type="http://schemas.openxmlformats.org/officeDocument/2006/relationships/tags" Target="../tags/tag81.xml"/><Relationship Id="rId128" Type="http://schemas.openxmlformats.org/officeDocument/2006/relationships/tags" Target="../tags/tag135.xml"/><Relationship Id="rId5" Type="http://schemas.openxmlformats.org/officeDocument/2006/relationships/tags" Target="../tags/tag12.xml"/><Relationship Id="rId90" Type="http://schemas.openxmlformats.org/officeDocument/2006/relationships/tags" Target="../tags/tag97.xml"/><Relationship Id="rId95" Type="http://schemas.openxmlformats.org/officeDocument/2006/relationships/tags" Target="../tags/tag102.xml"/><Relationship Id="rId22" Type="http://schemas.openxmlformats.org/officeDocument/2006/relationships/tags" Target="../tags/tag29.xml"/><Relationship Id="rId27" Type="http://schemas.openxmlformats.org/officeDocument/2006/relationships/tags" Target="../tags/tag34.xml"/><Relationship Id="rId43" Type="http://schemas.openxmlformats.org/officeDocument/2006/relationships/tags" Target="../tags/tag50.xml"/><Relationship Id="rId48" Type="http://schemas.openxmlformats.org/officeDocument/2006/relationships/tags" Target="../tags/tag55.xml"/><Relationship Id="rId64" Type="http://schemas.openxmlformats.org/officeDocument/2006/relationships/tags" Target="../tags/tag71.xml"/><Relationship Id="rId69" Type="http://schemas.openxmlformats.org/officeDocument/2006/relationships/tags" Target="../tags/tag76.xml"/><Relationship Id="rId113" Type="http://schemas.openxmlformats.org/officeDocument/2006/relationships/tags" Target="../tags/tag120.xml"/><Relationship Id="rId118" Type="http://schemas.openxmlformats.org/officeDocument/2006/relationships/tags" Target="../tags/tag125.xml"/><Relationship Id="rId134" Type="http://schemas.openxmlformats.org/officeDocument/2006/relationships/tags" Target="../tags/tag141.xml"/><Relationship Id="rId139" Type="http://schemas.openxmlformats.org/officeDocument/2006/relationships/tags" Target="../tags/tag146.xml"/><Relationship Id="rId80" Type="http://schemas.openxmlformats.org/officeDocument/2006/relationships/tags" Target="../tags/tag87.xml"/><Relationship Id="rId85" Type="http://schemas.openxmlformats.org/officeDocument/2006/relationships/tags" Target="../tags/tag92.xml"/><Relationship Id="rId12" Type="http://schemas.openxmlformats.org/officeDocument/2006/relationships/tags" Target="../tags/tag19.xml"/><Relationship Id="rId17" Type="http://schemas.openxmlformats.org/officeDocument/2006/relationships/tags" Target="../tags/tag24.xml"/><Relationship Id="rId33" Type="http://schemas.openxmlformats.org/officeDocument/2006/relationships/tags" Target="../tags/tag40.xml"/><Relationship Id="rId38" Type="http://schemas.openxmlformats.org/officeDocument/2006/relationships/tags" Target="../tags/tag45.xml"/><Relationship Id="rId59" Type="http://schemas.openxmlformats.org/officeDocument/2006/relationships/tags" Target="../tags/tag66.xml"/><Relationship Id="rId103" Type="http://schemas.openxmlformats.org/officeDocument/2006/relationships/tags" Target="../tags/tag110.xml"/><Relationship Id="rId108" Type="http://schemas.openxmlformats.org/officeDocument/2006/relationships/tags" Target="../tags/tag115.xml"/><Relationship Id="rId124" Type="http://schemas.openxmlformats.org/officeDocument/2006/relationships/tags" Target="../tags/tag131.xml"/><Relationship Id="rId129" Type="http://schemas.openxmlformats.org/officeDocument/2006/relationships/tags" Target="../tags/tag136.xml"/><Relationship Id="rId54" Type="http://schemas.openxmlformats.org/officeDocument/2006/relationships/tags" Target="../tags/tag61.xml"/><Relationship Id="rId70" Type="http://schemas.openxmlformats.org/officeDocument/2006/relationships/tags" Target="../tags/tag77.xml"/><Relationship Id="rId75" Type="http://schemas.openxmlformats.org/officeDocument/2006/relationships/tags" Target="../tags/tag82.xml"/><Relationship Id="rId91" Type="http://schemas.openxmlformats.org/officeDocument/2006/relationships/tags" Target="../tags/tag98.xml"/><Relationship Id="rId96" Type="http://schemas.openxmlformats.org/officeDocument/2006/relationships/tags" Target="../tags/tag103.xml"/><Relationship Id="rId140" Type="http://schemas.openxmlformats.org/officeDocument/2006/relationships/tags" Target="../tags/tag147.xml"/><Relationship Id="rId145" Type="http://schemas.openxmlformats.org/officeDocument/2006/relationships/slideLayout" Target="../slideLayouts/slideLayout7.xml"/><Relationship Id="rId1" Type="http://schemas.openxmlformats.org/officeDocument/2006/relationships/tags" Target="../tags/tag8.xml"/><Relationship Id="rId6" Type="http://schemas.openxmlformats.org/officeDocument/2006/relationships/tags" Target="../tags/tag13.xml"/><Relationship Id="rId23" Type="http://schemas.openxmlformats.org/officeDocument/2006/relationships/tags" Target="../tags/tag30.xml"/><Relationship Id="rId28" Type="http://schemas.openxmlformats.org/officeDocument/2006/relationships/tags" Target="../tags/tag35.xml"/><Relationship Id="rId49" Type="http://schemas.openxmlformats.org/officeDocument/2006/relationships/tags" Target="../tags/tag56.xml"/><Relationship Id="rId114" Type="http://schemas.openxmlformats.org/officeDocument/2006/relationships/tags" Target="../tags/tag121.xml"/><Relationship Id="rId119" Type="http://schemas.openxmlformats.org/officeDocument/2006/relationships/tags" Target="../tags/tag126.xml"/><Relationship Id="rId44" Type="http://schemas.openxmlformats.org/officeDocument/2006/relationships/tags" Target="../tags/tag51.xml"/><Relationship Id="rId60" Type="http://schemas.openxmlformats.org/officeDocument/2006/relationships/tags" Target="../tags/tag67.xml"/><Relationship Id="rId65" Type="http://schemas.openxmlformats.org/officeDocument/2006/relationships/tags" Target="../tags/tag72.xml"/><Relationship Id="rId81" Type="http://schemas.openxmlformats.org/officeDocument/2006/relationships/tags" Target="../tags/tag88.xml"/><Relationship Id="rId86" Type="http://schemas.openxmlformats.org/officeDocument/2006/relationships/tags" Target="../tags/tag93.xml"/><Relationship Id="rId130" Type="http://schemas.openxmlformats.org/officeDocument/2006/relationships/tags" Target="../tags/tag137.xml"/><Relationship Id="rId135" Type="http://schemas.openxmlformats.org/officeDocument/2006/relationships/tags" Target="../tags/tag142.xml"/><Relationship Id="rId13" Type="http://schemas.openxmlformats.org/officeDocument/2006/relationships/tags" Target="../tags/tag20.xml"/><Relationship Id="rId18" Type="http://schemas.openxmlformats.org/officeDocument/2006/relationships/tags" Target="../tags/tag25.xml"/><Relationship Id="rId39" Type="http://schemas.openxmlformats.org/officeDocument/2006/relationships/tags" Target="../tags/tag46.xml"/><Relationship Id="rId109" Type="http://schemas.openxmlformats.org/officeDocument/2006/relationships/tags" Target="../tags/tag116.xml"/><Relationship Id="rId34" Type="http://schemas.openxmlformats.org/officeDocument/2006/relationships/tags" Target="../tags/tag41.xml"/><Relationship Id="rId50" Type="http://schemas.openxmlformats.org/officeDocument/2006/relationships/tags" Target="../tags/tag57.xml"/><Relationship Id="rId55" Type="http://schemas.openxmlformats.org/officeDocument/2006/relationships/tags" Target="../tags/tag62.xml"/><Relationship Id="rId76" Type="http://schemas.openxmlformats.org/officeDocument/2006/relationships/tags" Target="../tags/tag83.xml"/><Relationship Id="rId97" Type="http://schemas.openxmlformats.org/officeDocument/2006/relationships/tags" Target="../tags/tag104.xml"/><Relationship Id="rId104" Type="http://schemas.openxmlformats.org/officeDocument/2006/relationships/tags" Target="../tags/tag111.xml"/><Relationship Id="rId120" Type="http://schemas.openxmlformats.org/officeDocument/2006/relationships/tags" Target="../tags/tag127.xml"/><Relationship Id="rId125" Type="http://schemas.openxmlformats.org/officeDocument/2006/relationships/tags" Target="../tags/tag132.xml"/><Relationship Id="rId141" Type="http://schemas.openxmlformats.org/officeDocument/2006/relationships/tags" Target="../tags/tag148.xml"/><Relationship Id="rId7" Type="http://schemas.openxmlformats.org/officeDocument/2006/relationships/tags" Target="../tags/tag14.xml"/><Relationship Id="rId71" Type="http://schemas.openxmlformats.org/officeDocument/2006/relationships/tags" Target="../tags/tag78.xml"/><Relationship Id="rId92" Type="http://schemas.openxmlformats.org/officeDocument/2006/relationships/tags" Target="../tags/tag99.xml"/><Relationship Id="rId2" Type="http://schemas.openxmlformats.org/officeDocument/2006/relationships/tags" Target="../tags/tag9.xml"/><Relationship Id="rId29" Type="http://schemas.openxmlformats.org/officeDocument/2006/relationships/tags" Target="../tags/tag36.xml"/><Relationship Id="rId24" Type="http://schemas.openxmlformats.org/officeDocument/2006/relationships/tags" Target="../tags/tag31.xml"/><Relationship Id="rId40" Type="http://schemas.openxmlformats.org/officeDocument/2006/relationships/tags" Target="../tags/tag47.xml"/><Relationship Id="rId45" Type="http://schemas.openxmlformats.org/officeDocument/2006/relationships/tags" Target="../tags/tag52.xml"/><Relationship Id="rId66" Type="http://schemas.openxmlformats.org/officeDocument/2006/relationships/tags" Target="../tags/tag73.xml"/><Relationship Id="rId87" Type="http://schemas.openxmlformats.org/officeDocument/2006/relationships/tags" Target="../tags/tag94.xml"/><Relationship Id="rId110" Type="http://schemas.openxmlformats.org/officeDocument/2006/relationships/tags" Target="../tags/tag117.xml"/><Relationship Id="rId115" Type="http://schemas.openxmlformats.org/officeDocument/2006/relationships/tags" Target="../tags/tag122.xml"/><Relationship Id="rId131" Type="http://schemas.openxmlformats.org/officeDocument/2006/relationships/tags" Target="../tags/tag138.xml"/><Relationship Id="rId136" Type="http://schemas.openxmlformats.org/officeDocument/2006/relationships/tags" Target="../tags/tag143.xml"/><Relationship Id="rId61" Type="http://schemas.openxmlformats.org/officeDocument/2006/relationships/tags" Target="../tags/tag68.xml"/><Relationship Id="rId82" Type="http://schemas.openxmlformats.org/officeDocument/2006/relationships/tags" Target="../tags/tag89.xml"/><Relationship Id="rId19" Type="http://schemas.openxmlformats.org/officeDocument/2006/relationships/tags" Target="../tags/tag26.xml"/><Relationship Id="rId14" Type="http://schemas.openxmlformats.org/officeDocument/2006/relationships/tags" Target="../tags/tag21.xml"/><Relationship Id="rId30" Type="http://schemas.openxmlformats.org/officeDocument/2006/relationships/tags" Target="../tags/tag37.xml"/><Relationship Id="rId35" Type="http://schemas.openxmlformats.org/officeDocument/2006/relationships/tags" Target="../tags/tag42.xml"/><Relationship Id="rId56" Type="http://schemas.openxmlformats.org/officeDocument/2006/relationships/tags" Target="../tags/tag63.xml"/><Relationship Id="rId77" Type="http://schemas.openxmlformats.org/officeDocument/2006/relationships/tags" Target="../tags/tag84.xml"/><Relationship Id="rId100" Type="http://schemas.openxmlformats.org/officeDocument/2006/relationships/tags" Target="../tags/tag107.xml"/><Relationship Id="rId105" Type="http://schemas.openxmlformats.org/officeDocument/2006/relationships/tags" Target="../tags/tag112.xml"/><Relationship Id="rId126" Type="http://schemas.openxmlformats.org/officeDocument/2006/relationships/tags" Target="../tags/tag133.xml"/><Relationship Id="rId8" Type="http://schemas.openxmlformats.org/officeDocument/2006/relationships/tags" Target="../tags/tag15.xml"/><Relationship Id="rId51" Type="http://schemas.openxmlformats.org/officeDocument/2006/relationships/tags" Target="../tags/tag58.xml"/><Relationship Id="rId72" Type="http://schemas.openxmlformats.org/officeDocument/2006/relationships/tags" Target="../tags/tag79.xml"/><Relationship Id="rId93" Type="http://schemas.openxmlformats.org/officeDocument/2006/relationships/tags" Target="../tags/tag100.xml"/><Relationship Id="rId98" Type="http://schemas.openxmlformats.org/officeDocument/2006/relationships/tags" Target="../tags/tag105.xml"/><Relationship Id="rId121" Type="http://schemas.openxmlformats.org/officeDocument/2006/relationships/tags" Target="../tags/tag128.xml"/><Relationship Id="rId142" Type="http://schemas.openxmlformats.org/officeDocument/2006/relationships/tags" Target="../tags/tag149.xml"/><Relationship Id="rId3" Type="http://schemas.openxmlformats.org/officeDocument/2006/relationships/tags" Target="../tags/tag10.xml"/><Relationship Id="rId25" Type="http://schemas.openxmlformats.org/officeDocument/2006/relationships/tags" Target="../tags/tag32.xml"/><Relationship Id="rId46" Type="http://schemas.openxmlformats.org/officeDocument/2006/relationships/tags" Target="../tags/tag53.xml"/><Relationship Id="rId67" Type="http://schemas.openxmlformats.org/officeDocument/2006/relationships/tags" Target="../tags/tag74.xml"/><Relationship Id="rId116" Type="http://schemas.openxmlformats.org/officeDocument/2006/relationships/tags" Target="../tags/tag123.xml"/><Relationship Id="rId137" Type="http://schemas.openxmlformats.org/officeDocument/2006/relationships/tags" Target="../tags/tag144.xml"/><Relationship Id="rId20" Type="http://schemas.openxmlformats.org/officeDocument/2006/relationships/tags" Target="../tags/tag27.xml"/><Relationship Id="rId41" Type="http://schemas.openxmlformats.org/officeDocument/2006/relationships/tags" Target="../tags/tag48.xml"/><Relationship Id="rId62" Type="http://schemas.openxmlformats.org/officeDocument/2006/relationships/tags" Target="../tags/tag69.xml"/><Relationship Id="rId83" Type="http://schemas.openxmlformats.org/officeDocument/2006/relationships/tags" Target="../tags/tag90.xml"/><Relationship Id="rId88" Type="http://schemas.openxmlformats.org/officeDocument/2006/relationships/tags" Target="../tags/tag95.xml"/><Relationship Id="rId111" Type="http://schemas.openxmlformats.org/officeDocument/2006/relationships/tags" Target="../tags/tag118.xml"/><Relationship Id="rId132" Type="http://schemas.openxmlformats.org/officeDocument/2006/relationships/tags" Target="../tags/tag139.xml"/><Relationship Id="rId15" Type="http://schemas.openxmlformats.org/officeDocument/2006/relationships/tags" Target="../tags/tag22.xml"/><Relationship Id="rId36" Type="http://schemas.openxmlformats.org/officeDocument/2006/relationships/tags" Target="../tags/tag43.xml"/><Relationship Id="rId57" Type="http://schemas.openxmlformats.org/officeDocument/2006/relationships/tags" Target="../tags/tag64.xml"/><Relationship Id="rId106" Type="http://schemas.openxmlformats.org/officeDocument/2006/relationships/tags" Target="../tags/tag113.xml"/><Relationship Id="rId127" Type="http://schemas.openxmlformats.org/officeDocument/2006/relationships/tags" Target="../tags/tag134.xml"/><Relationship Id="rId10" Type="http://schemas.openxmlformats.org/officeDocument/2006/relationships/tags" Target="../tags/tag17.xml"/><Relationship Id="rId31" Type="http://schemas.openxmlformats.org/officeDocument/2006/relationships/tags" Target="../tags/tag38.xml"/><Relationship Id="rId52" Type="http://schemas.openxmlformats.org/officeDocument/2006/relationships/tags" Target="../tags/tag59.xml"/><Relationship Id="rId73" Type="http://schemas.openxmlformats.org/officeDocument/2006/relationships/tags" Target="../tags/tag80.xml"/><Relationship Id="rId78" Type="http://schemas.openxmlformats.org/officeDocument/2006/relationships/tags" Target="../tags/tag85.xml"/><Relationship Id="rId94" Type="http://schemas.openxmlformats.org/officeDocument/2006/relationships/tags" Target="../tags/tag101.xml"/><Relationship Id="rId99" Type="http://schemas.openxmlformats.org/officeDocument/2006/relationships/tags" Target="../tags/tag106.xml"/><Relationship Id="rId101" Type="http://schemas.openxmlformats.org/officeDocument/2006/relationships/tags" Target="../tags/tag108.xml"/><Relationship Id="rId122" Type="http://schemas.openxmlformats.org/officeDocument/2006/relationships/tags" Target="../tags/tag129.xml"/><Relationship Id="rId143" Type="http://schemas.openxmlformats.org/officeDocument/2006/relationships/tags" Target="../tags/tag150.xml"/><Relationship Id="rId4" Type="http://schemas.openxmlformats.org/officeDocument/2006/relationships/tags" Target="../tags/tag11.xml"/><Relationship Id="rId9" Type="http://schemas.openxmlformats.org/officeDocument/2006/relationships/tags" Target="../tags/tag16.xml"/><Relationship Id="rId26" Type="http://schemas.openxmlformats.org/officeDocument/2006/relationships/tags" Target="../tags/tag33.xml"/><Relationship Id="rId47" Type="http://schemas.openxmlformats.org/officeDocument/2006/relationships/tags" Target="../tags/tag54.xml"/><Relationship Id="rId68" Type="http://schemas.openxmlformats.org/officeDocument/2006/relationships/tags" Target="../tags/tag75.xml"/><Relationship Id="rId89" Type="http://schemas.openxmlformats.org/officeDocument/2006/relationships/tags" Target="../tags/tag96.xml"/><Relationship Id="rId112" Type="http://schemas.openxmlformats.org/officeDocument/2006/relationships/tags" Target="../tags/tag119.xml"/><Relationship Id="rId133" Type="http://schemas.openxmlformats.org/officeDocument/2006/relationships/tags" Target="../tags/tag140.xml"/><Relationship Id="rId16" Type="http://schemas.openxmlformats.org/officeDocument/2006/relationships/tags" Target="../tags/tag23.xml"/><Relationship Id="rId37" Type="http://schemas.openxmlformats.org/officeDocument/2006/relationships/tags" Target="../tags/tag44.xml"/><Relationship Id="rId58" Type="http://schemas.openxmlformats.org/officeDocument/2006/relationships/tags" Target="../tags/tag65.xml"/><Relationship Id="rId79" Type="http://schemas.openxmlformats.org/officeDocument/2006/relationships/tags" Target="../tags/tag86.xml"/><Relationship Id="rId102" Type="http://schemas.openxmlformats.org/officeDocument/2006/relationships/tags" Target="../tags/tag109.xml"/><Relationship Id="rId123" Type="http://schemas.openxmlformats.org/officeDocument/2006/relationships/tags" Target="../tags/tag130.xml"/><Relationship Id="rId144" Type="http://schemas.openxmlformats.org/officeDocument/2006/relationships/tags" Target="../tags/tag151.xml"/></Relationships>
</file>

<file path=ppt/slides/_rels/slide19.xml.rels><?xml version="1.0" encoding="UTF-8" standalone="yes"?>
<Relationships xmlns="http://schemas.openxmlformats.org/package/2006/relationships"><Relationship Id="rId13" Type="http://schemas.openxmlformats.org/officeDocument/2006/relationships/tags" Target="../tags/tag164.xml"/><Relationship Id="rId18" Type="http://schemas.openxmlformats.org/officeDocument/2006/relationships/tags" Target="../tags/tag169.xml"/><Relationship Id="rId26" Type="http://schemas.openxmlformats.org/officeDocument/2006/relationships/tags" Target="../tags/tag177.xml"/><Relationship Id="rId39" Type="http://schemas.openxmlformats.org/officeDocument/2006/relationships/tags" Target="../tags/tag190.xml"/><Relationship Id="rId21" Type="http://schemas.openxmlformats.org/officeDocument/2006/relationships/tags" Target="../tags/tag172.xml"/><Relationship Id="rId34" Type="http://schemas.openxmlformats.org/officeDocument/2006/relationships/tags" Target="../tags/tag185.xml"/><Relationship Id="rId42" Type="http://schemas.openxmlformats.org/officeDocument/2006/relationships/tags" Target="../tags/tag193.xml"/><Relationship Id="rId47" Type="http://schemas.openxmlformats.org/officeDocument/2006/relationships/tags" Target="../tags/tag198.xml"/><Relationship Id="rId50" Type="http://schemas.openxmlformats.org/officeDocument/2006/relationships/slideLayout" Target="../slideLayouts/slideLayout7.xml"/><Relationship Id="rId7" Type="http://schemas.openxmlformats.org/officeDocument/2006/relationships/tags" Target="../tags/tag158.xml"/><Relationship Id="rId2" Type="http://schemas.openxmlformats.org/officeDocument/2006/relationships/tags" Target="../tags/tag153.xml"/><Relationship Id="rId16" Type="http://schemas.openxmlformats.org/officeDocument/2006/relationships/tags" Target="../tags/tag167.xml"/><Relationship Id="rId29" Type="http://schemas.openxmlformats.org/officeDocument/2006/relationships/tags" Target="../tags/tag180.xml"/><Relationship Id="rId11" Type="http://schemas.openxmlformats.org/officeDocument/2006/relationships/tags" Target="../tags/tag162.xml"/><Relationship Id="rId24" Type="http://schemas.openxmlformats.org/officeDocument/2006/relationships/tags" Target="../tags/tag175.xml"/><Relationship Id="rId32" Type="http://schemas.openxmlformats.org/officeDocument/2006/relationships/tags" Target="../tags/tag183.xml"/><Relationship Id="rId37" Type="http://schemas.openxmlformats.org/officeDocument/2006/relationships/tags" Target="../tags/tag188.xml"/><Relationship Id="rId40" Type="http://schemas.openxmlformats.org/officeDocument/2006/relationships/tags" Target="../tags/tag191.xml"/><Relationship Id="rId45" Type="http://schemas.openxmlformats.org/officeDocument/2006/relationships/tags" Target="../tags/tag196.xml"/><Relationship Id="rId5" Type="http://schemas.openxmlformats.org/officeDocument/2006/relationships/tags" Target="../tags/tag156.xml"/><Relationship Id="rId15" Type="http://schemas.openxmlformats.org/officeDocument/2006/relationships/tags" Target="../tags/tag166.xml"/><Relationship Id="rId23" Type="http://schemas.openxmlformats.org/officeDocument/2006/relationships/tags" Target="../tags/tag174.xml"/><Relationship Id="rId28" Type="http://schemas.openxmlformats.org/officeDocument/2006/relationships/tags" Target="../tags/tag179.xml"/><Relationship Id="rId36" Type="http://schemas.openxmlformats.org/officeDocument/2006/relationships/tags" Target="../tags/tag187.xml"/><Relationship Id="rId49" Type="http://schemas.openxmlformats.org/officeDocument/2006/relationships/tags" Target="../tags/tag200.xml"/><Relationship Id="rId10" Type="http://schemas.openxmlformats.org/officeDocument/2006/relationships/tags" Target="../tags/tag161.xml"/><Relationship Id="rId19" Type="http://schemas.openxmlformats.org/officeDocument/2006/relationships/tags" Target="../tags/tag170.xml"/><Relationship Id="rId31" Type="http://schemas.openxmlformats.org/officeDocument/2006/relationships/tags" Target="../tags/tag182.xml"/><Relationship Id="rId44" Type="http://schemas.openxmlformats.org/officeDocument/2006/relationships/tags" Target="../tags/tag195.xml"/><Relationship Id="rId4" Type="http://schemas.openxmlformats.org/officeDocument/2006/relationships/tags" Target="../tags/tag155.xml"/><Relationship Id="rId9" Type="http://schemas.openxmlformats.org/officeDocument/2006/relationships/tags" Target="../tags/tag160.xml"/><Relationship Id="rId14" Type="http://schemas.openxmlformats.org/officeDocument/2006/relationships/tags" Target="../tags/tag165.xml"/><Relationship Id="rId22" Type="http://schemas.openxmlformats.org/officeDocument/2006/relationships/tags" Target="../tags/tag173.xml"/><Relationship Id="rId27" Type="http://schemas.openxmlformats.org/officeDocument/2006/relationships/tags" Target="../tags/tag178.xml"/><Relationship Id="rId30" Type="http://schemas.openxmlformats.org/officeDocument/2006/relationships/tags" Target="../tags/tag181.xml"/><Relationship Id="rId35" Type="http://schemas.openxmlformats.org/officeDocument/2006/relationships/tags" Target="../tags/tag186.xml"/><Relationship Id="rId43" Type="http://schemas.openxmlformats.org/officeDocument/2006/relationships/tags" Target="../tags/tag194.xml"/><Relationship Id="rId48" Type="http://schemas.openxmlformats.org/officeDocument/2006/relationships/tags" Target="../tags/tag199.xml"/><Relationship Id="rId8" Type="http://schemas.openxmlformats.org/officeDocument/2006/relationships/tags" Target="../tags/tag159.xml"/><Relationship Id="rId51" Type="http://schemas.openxmlformats.org/officeDocument/2006/relationships/notesSlide" Target="../notesSlides/notesSlide10.xml"/><Relationship Id="rId3" Type="http://schemas.openxmlformats.org/officeDocument/2006/relationships/tags" Target="../tags/tag154.xml"/><Relationship Id="rId12" Type="http://schemas.openxmlformats.org/officeDocument/2006/relationships/tags" Target="../tags/tag163.xml"/><Relationship Id="rId17" Type="http://schemas.openxmlformats.org/officeDocument/2006/relationships/tags" Target="../tags/tag168.xml"/><Relationship Id="rId25" Type="http://schemas.openxmlformats.org/officeDocument/2006/relationships/tags" Target="../tags/tag176.xml"/><Relationship Id="rId33" Type="http://schemas.openxmlformats.org/officeDocument/2006/relationships/tags" Target="../tags/tag184.xml"/><Relationship Id="rId38" Type="http://schemas.openxmlformats.org/officeDocument/2006/relationships/tags" Target="../tags/tag189.xml"/><Relationship Id="rId46" Type="http://schemas.openxmlformats.org/officeDocument/2006/relationships/tags" Target="../tags/tag197.xml"/><Relationship Id="rId20" Type="http://schemas.openxmlformats.org/officeDocument/2006/relationships/tags" Target="../tags/tag171.xml"/><Relationship Id="rId41" Type="http://schemas.openxmlformats.org/officeDocument/2006/relationships/tags" Target="../tags/tag192.xml"/><Relationship Id="rId1" Type="http://schemas.openxmlformats.org/officeDocument/2006/relationships/tags" Target="../tags/tag152.xml"/><Relationship Id="rId6" Type="http://schemas.openxmlformats.org/officeDocument/2006/relationships/tags" Target="../tags/tag157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tags" Target="../tags/tag208.xml"/><Relationship Id="rId3" Type="http://schemas.openxmlformats.org/officeDocument/2006/relationships/tags" Target="../tags/tag203.xml"/><Relationship Id="rId7" Type="http://schemas.openxmlformats.org/officeDocument/2006/relationships/tags" Target="../tags/tag207.xml"/><Relationship Id="rId2" Type="http://schemas.openxmlformats.org/officeDocument/2006/relationships/tags" Target="../tags/tag202.xml"/><Relationship Id="rId1" Type="http://schemas.openxmlformats.org/officeDocument/2006/relationships/tags" Target="../tags/tag201.xml"/><Relationship Id="rId6" Type="http://schemas.openxmlformats.org/officeDocument/2006/relationships/tags" Target="../tags/tag206.xml"/><Relationship Id="rId5" Type="http://schemas.openxmlformats.org/officeDocument/2006/relationships/tags" Target="../tags/tag205.xml"/><Relationship Id="rId10" Type="http://schemas.openxmlformats.org/officeDocument/2006/relationships/slideLayout" Target="../slideLayouts/slideLayout7.xml"/><Relationship Id="rId4" Type="http://schemas.openxmlformats.org/officeDocument/2006/relationships/tags" Target="../tags/tag204.xml"/><Relationship Id="rId9" Type="http://schemas.openxmlformats.org/officeDocument/2006/relationships/tags" Target="../tags/tag20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11.xml"/><Relationship Id="rId1" Type="http://schemas.openxmlformats.org/officeDocument/2006/relationships/tags" Target="../tags/tag210.xml"/><Relationship Id="rId5" Type="http://schemas.openxmlformats.org/officeDocument/2006/relationships/slide" Target="slide3.xml"/><Relationship Id="rId4" Type="http://schemas.openxmlformats.org/officeDocument/2006/relationships/slide" Target="slide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slide" Target="slide2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" Target="slide28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slide" Target="slide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12.xml"/><Relationship Id="rId5" Type="http://schemas.openxmlformats.org/officeDocument/2006/relationships/slide" Target="slide23.xml"/><Relationship Id="rId4" Type="http://schemas.openxmlformats.org/officeDocument/2006/relationships/slide" Target="slide1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" Target="slide34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" Target="slide25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openxmlformats.org/officeDocument/2006/relationships/slide" Target="slide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&#35745;&#31639;&#26426;&#32452;&#25104;&#21407;&#29702;&#31532;5&#31456;.pptx#-1,72,PowerPoint &#28436;&#31034;&#25991;&#31295;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4" Type="http://schemas.openxmlformats.org/officeDocument/2006/relationships/hyperlink" Target="&#35745;&#31639;&#26426;&#32452;&#25104;&#21407;&#29702;&#31532;5&#31456;.pptx#-1,76,PowerPoint &#28436;&#31034;&#25991;&#31295;" TargetMode="Externa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" Target="slide34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4" Type="http://schemas.openxmlformats.org/officeDocument/2006/relationships/slide" Target="slide35.xml"/></Relationships>
</file>

<file path=ppt/slides/_rels/slide32.xml.rels><?xml version="1.0" encoding="UTF-8" standalone="yes"?>
<Relationships xmlns="http://schemas.openxmlformats.org/package/2006/relationships"><Relationship Id="rId13" Type="http://schemas.openxmlformats.org/officeDocument/2006/relationships/tags" Target="../tags/tag225.xml"/><Relationship Id="rId18" Type="http://schemas.openxmlformats.org/officeDocument/2006/relationships/tags" Target="../tags/tag230.xml"/><Relationship Id="rId26" Type="http://schemas.openxmlformats.org/officeDocument/2006/relationships/tags" Target="../tags/tag238.xml"/><Relationship Id="rId39" Type="http://schemas.openxmlformats.org/officeDocument/2006/relationships/notesSlide" Target="../notesSlides/notesSlide21.xml"/><Relationship Id="rId21" Type="http://schemas.openxmlformats.org/officeDocument/2006/relationships/tags" Target="../tags/tag233.xml"/><Relationship Id="rId34" Type="http://schemas.openxmlformats.org/officeDocument/2006/relationships/tags" Target="../tags/tag246.xml"/><Relationship Id="rId7" Type="http://schemas.openxmlformats.org/officeDocument/2006/relationships/tags" Target="../tags/tag219.xml"/><Relationship Id="rId12" Type="http://schemas.openxmlformats.org/officeDocument/2006/relationships/tags" Target="../tags/tag224.xml"/><Relationship Id="rId17" Type="http://schemas.openxmlformats.org/officeDocument/2006/relationships/tags" Target="../tags/tag229.xml"/><Relationship Id="rId25" Type="http://schemas.openxmlformats.org/officeDocument/2006/relationships/tags" Target="../tags/tag237.xml"/><Relationship Id="rId33" Type="http://schemas.openxmlformats.org/officeDocument/2006/relationships/tags" Target="../tags/tag245.xml"/><Relationship Id="rId38" Type="http://schemas.openxmlformats.org/officeDocument/2006/relationships/slideLayout" Target="../slideLayouts/slideLayout7.xml"/><Relationship Id="rId2" Type="http://schemas.openxmlformats.org/officeDocument/2006/relationships/tags" Target="../tags/tag214.xml"/><Relationship Id="rId16" Type="http://schemas.openxmlformats.org/officeDocument/2006/relationships/tags" Target="../tags/tag228.xml"/><Relationship Id="rId20" Type="http://schemas.openxmlformats.org/officeDocument/2006/relationships/tags" Target="../tags/tag232.xml"/><Relationship Id="rId29" Type="http://schemas.openxmlformats.org/officeDocument/2006/relationships/tags" Target="../tags/tag241.xml"/><Relationship Id="rId1" Type="http://schemas.openxmlformats.org/officeDocument/2006/relationships/tags" Target="../tags/tag213.xml"/><Relationship Id="rId6" Type="http://schemas.openxmlformats.org/officeDocument/2006/relationships/tags" Target="../tags/tag218.xml"/><Relationship Id="rId11" Type="http://schemas.openxmlformats.org/officeDocument/2006/relationships/tags" Target="../tags/tag223.xml"/><Relationship Id="rId24" Type="http://schemas.openxmlformats.org/officeDocument/2006/relationships/tags" Target="../tags/tag236.xml"/><Relationship Id="rId32" Type="http://schemas.openxmlformats.org/officeDocument/2006/relationships/tags" Target="../tags/tag244.xml"/><Relationship Id="rId37" Type="http://schemas.openxmlformats.org/officeDocument/2006/relationships/tags" Target="../tags/tag249.xml"/><Relationship Id="rId40" Type="http://schemas.openxmlformats.org/officeDocument/2006/relationships/slide" Target="slide37.xml"/><Relationship Id="rId5" Type="http://schemas.openxmlformats.org/officeDocument/2006/relationships/tags" Target="../tags/tag217.xml"/><Relationship Id="rId15" Type="http://schemas.openxmlformats.org/officeDocument/2006/relationships/tags" Target="../tags/tag227.xml"/><Relationship Id="rId23" Type="http://schemas.openxmlformats.org/officeDocument/2006/relationships/tags" Target="../tags/tag235.xml"/><Relationship Id="rId28" Type="http://schemas.openxmlformats.org/officeDocument/2006/relationships/tags" Target="../tags/tag240.xml"/><Relationship Id="rId36" Type="http://schemas.openxmlformats.org/officeDocument/2006/relationships/tags" Target="../tags/tag248.xml"/><Relationship Id="rId10" Type="http://schemas.openxmlformats.org/officeDocument/2006/relationships/tags" Target="../tags/tag222.xml"/><Relationship Id="rId19" Type="http://schemas.openxmlformats.org/officeDocument/2006/relationships/tags" Target="../tags/tag231.xml"/><Relationship Id="rId31" Type="http://schemas.openxmlformats.org/officeDocument/2006/relationships/tags" Target="../tags/tag243.xml"/><Relationship Id="rId4" Type="http://schemas.openxmlformats.org/officeDocument/2006/relationships/tags" Target="../tags/tag216.xml"/><Relationship Id="rId9" Type="http://schemas.openxmlformats.org/officeDocument/2006/relationships/tags" Target="../tags/tag221.xml"/><Relationship Id="rId14" Type="http://schemas.openxmlformats.org/officeDocument/2006/relationships/tags" Target="../tags/tag226.xml"/><Relationship Id="rId22" Type="http://schemas.openxmlformats.org/officeDocument/2006/relationships/tags" Target="../tags/tag234.xml"/><Relationship Id="rId27" Type="http://schemas.openxmlformats.org/officeDocument/2006/relationships/tags" Target="../tags/tag239.xml"/><Relationship Id="rId30" Type="http://schemas.openxmlformats.org/officeDocument/2006/relationships/tags" Target="../tags/tag242.xml"/><Relationship Id="rId35" Type="http://schemas.openxmlformats.org/officeDocument/2006/relationships/tags" Target="../tags/tag247.xml"/><Relationship Id="rId8" Type="http://schemas.openxmlformats.org/officeDocument/2006/relationships/tags" Target="../tags/tag220.xml"/><Relationship Id="rId3" Type="http://schemas.openxmlformats.org/officeDocument/2006/relationships/tags" Target="../tags/tag21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" Target="slide27.xm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4" Type="http://schemas.openxmlformats.org/officeDocument/2006/relationships/slide" Target="slide31.xml"/></Relationships>
</file>

<file path=ppt/slides/_rels/slide35.xml.rels><?xml version="1.0" encoding="UTF-8" standalone="yes"?>
<Relationships xmlns="http://schemas.openxmlformats.org/package/2006/relationships"><Relationship Id="rId13" Type="http://schemas.openxmlformats.org/officeDocument/2006/relationships/tags" Target="../tags/tag262.xml"/><Relationship Id="rId18" Type="http://schemas.openxmlformats.org/officeDocument/2006/relationships/tags" Target="../tags/tag267.xml"/><Relationship Id="rId26" Type="http://schemas.openxmlformats.org/officeDocument/2006/relationships/tags" Target="../tags/tag275.xml"/><Relationship Id="rId39" Type="http://schemas.openxmlformats.org/officeDocument/2006/relationships/tags" Target="../tags/tag288.xml"/><Relationship Id="rId21" Type="http://schemas.openxmlformats.org/officeDocument/2006/relationships/tags" Target="../tags/tag270.xml"/><Relationship Id="rId34" Type="http://schemas.openxmlformats.org/officeDocument/2006/relationships/tags" Target="../tags/tag283.xml"/><Relationship Id="rId42" Type="http://schemas.openxmlformats.org/officeDocument/2006/relationships/tags" Target="../tags/tag291.xml"/><Relationship Id="rId47" Type="http://schemas.openxmlformats.org/officeDocument/2006/relationships/tags" Target="../tags/tag296.xml"/><Relationship Id="rId50" Type="http://schemas.openxmlformats.org/officeDocument/2006/relationships/tags" Target="../tags/tag299.xml"/><Relationship Id="rId55" Type="http://schemas.openxmlformats.org/officeDocument/2006/relationships/tags" Target="../tags/tag304.xml"/><Relationship Id="rId63" Type="http://schemas.openxmlformats.org/officeDocument/2006/relationships/slide" Target="slide38.xml"/><Relationship Id="rId7" Type="http://schemas.openxmlformats.org/officeDocument/2006/relationships/tags" Target="../tags/tag256.xml"/><Relationship Id="rId2" Type="http://schemas.openxmlformats.org/officeDocument/2006/relationships/tags" Target="../tags/tag251.xml"/><Relationship Id="rId16" Type="http://schemas.openxmlformats.org/officeDocument/2006/relationships/tags" Target="../tags/tag265.xml"/><Relationship Id="rId29" Type="http://schemas.openxmlformats.org/officeDocument/2006/relationships/tags" Target="../tags/tag278.xml"/><Relationship Id="rId11" Type="http://schemas.openxmlformats.org/officeDocument/2006/relationships/tags" Target="../tags/tag260.xml"/><Relationship Id="rId24" Type="http://schemas.openxmlformats.org/officeDocument/2006/relationships/tags" Target="../tags/tag273.xml"/><Relationship Id="rId32" Type="http://schemas.openxmlformats.org/officeDocument/2006/relationships/tags" Target="../tags/tag281.xml"/><Relationship Id="rId37" Type="http://schemas.openxmlformats.org/officeDocument/2006/relationships/tags" Target="../tags/tag286.xml"/><Relationship Id="rId40" Type="http://schemas.openxmlformats.org/officeDocument/2006/relationships/tags" Target="../tags/tag289.xml"/><Relationship Id="rId45" Type="http://schemas.openxmlformats.org/officeDocument/2006/relationships/tags" Target="../tags/tag294.xml"/><Relationship Id="rId53" Type="http://schemas.openxmlformats.org/officeDocument/2006/relationships/tags" Target="../tags/tag302.xml"/><Relationship Id="rId58" Type="http://schemas.openxmlformats.org/officeDocument/2006/relationships/tags" Target="../tags/tag307.xml"/><Relationship Id="rId5" Type="http://schemas.openxmlformats.org/officeDocument/2006/relationships/tags" Target="../tags/tag254.xml"/><Relationship Id="rId61" Type="http://schemas.openxmlformats.org/officeDocument/2006/relationships/slideLayout" Target="../slideLayouts/slideLayout7.xml"/><Relationship Id="rId19" Type="http://schemas.openxmlformats.org/officeDocument/2006/relationships/tags" Target="../tags/tag268.xml"/><Relationship Id="rId14" Type="http://schemas.openxmlformats.org/officeDocument/2006/relationships/tags" Target="../tags/tag263.xml"/><Relationship Id="rId22" Type="http://schemas.openxmlformats.org/officeDocument/2006/relationships/tags" Target="../tags/tag271.xml"/><Relationship Id="rId27" Type="http://schemas.openxmlformats.org/officeDocument/2006/relationships/tags" Target="../tags/tag276.xml"/><Relationship Id="rId30" Type="http://schemas.openxmlformats.org/officeDocument/2006/relationships/tags" Target="../tags/tag279.xml"/><Relationship Id="rId35" Type="http://schemas.openxmlformats.org/officeDocument/2006/relationships/tags" Target="../tags/tag284.xml"/><Relationship Id="rId43" Type="http://schemas.openxmlformats.org/officeDocument/2006/relationships/tags" Target="../tags/tag292.xml"/><Relationship Id="rId48" Type="http://schemas.openxmlformats.org/officeDocument/2006/relationships/tags" Target="../tags/tag297.xml"/><Relationship Id="rId56" Type="http://schemas.openxmlformats.org/officeDocument/2006/relationships/tags" Target="../tags/tag305.xml"/><Relationship Id="rId64" Type="http://schemas.openxmlformats.org/officeDocument/2006/relationships/slide" Target="slide31.xml"/><Relationship Id="rId8" Type="http://schemas.openxmlformats.org/officeDocument/2006/relationships/tags" Target="../tags/tag257.xml"/><Relationship Id="rId51" Type="http://schemas.openxmlformats.org/officeDocument/2006/relationships/tags" Target="../tags/tag300.xml"/><Relationship Id="rId3" Type="http://schemas.openxmlformats.org/officeDocument/2006/relationships/tags" Target="../tags/tag252.xml"/><Relationship Id="rId12" Type="http://schemas.openxmlformats.org/officeDocument/2006/relationships/tags" Target="../tags/tag261.xml"/><Relationship Id="rId17" Type="http://schemas.openxmlformats.org/officeDocument/2006/relationships/tags" Target="../tags/tag266.xml"/><Relationship Id="rId25" Type="http://schemas.openxmlformats.org/officeDocument/2006/relationships/tags" Target="../tags/tag274.xml"/><Relationship Id="rId33" Type="http://schemas.openxmlformats.org/officeDocument/2006/relationships/tags" Target="../tags/tag282.xml"/><Relationship Id="rId38" Type="http://schemas.openxmlformats.org/officeDocument/2006/relationships/tags" Target="../tags/tag287.xml"/><Relationship Id="rId46" Type="http://schemas.openxmlformats.org/officeDocument/2006/relationships/tags" Target="../tags/tag295.xml"/><Relationship Id="rId59" Type="http://schemas.openxmlformats.org/officeDocument/2006/relationships/tags" Target="../tags/tag308.xml"/><Relationship Id="rId20" Type="http://schemas.openxmlformats.org/officeDocument/2006/relationships/tags" Target="../tags/tag269.xml"/><Relationship Id="rId41" Type="http://schemas.openxmlformats.org/officeDocument/2006/relationships/tags" Target="../tags/tag290.xml"/><Relationship Id="rId54" Type="http://schemas.openxmlformats.org/officeDocument/2006/relationships/tags" Target="../tags/tag303.xml"/><Relationship Id="rId62" Type="http://schemas.openxmlformats.org/officeDocument/2006/relationships/slide" Target="slide41.xml"/><Relationship Id="rId1" Type="http://schemas.openxmlformats.org/officeDocument/2006/relationships/tags" Target="../tags/tag250.xml"/><Relationship Id="rId6" Type="http://schemas.openxmlformats.org/officeDocument/2006/relationships/tags" Target="../tags/tag255.xml"/><Relationship Id="rId15" Type="http://schemas.openxmlformats.org/officeDocument/2006/relationships/tags" Target="../tags/tag264.xml"/><Relationship Id="rId23" Type="http://schemas.openxmlformats.org/officeDocument/2006/relationships/tags" Target="../tags/tag272.xml"/><Relationship Id="rId28" Type="http://schemas.openxmlformats.org/officeDocument/2006/relationships/tags" Target="../tags/tag277.xml"/><Relationship Id="rId36" Type="http://schemas.openxmlformats.org/officeDocument/2006/relationships/tags" Target="../tags/tag285.xml"/><Relationship Id="rId49" Type="http://schemas.openxmlformats.org/officeDocument/2006/relationships/tags" Target="../tags/tag298.xml"/><Relationship Id="rId57" Type="http://schemas.openxmlformats.org/officeDocument/2006/relationships/tags" Target="../tags/tag306.xml"/><Relationship Id="rId10" Type="http://schemas.openxmlformats.org/officeDocument/2006/relationships/tags" Target="../tags/tag259.xml"/><Relationship Id="rId31" Type="http://schemas.openxmlformats.org/officeDocument/2006/relationships/tags" Target="../tags/tag280.xml"/><Relationship Id="rId44" Type="http://schemas.openxmlformats.org/officeDocument/2006/relationships/tags" Target="../tags/tag293.xml"/><Relationship Id="rId52" Type="http://schemas.openxmlformats.org/officeDocument/2006/relationships/tags" Target="../tags/tag301.xml"/><Relationship Id="rId60" Type="http://schemas.openxmlformats.org/officeDocument/2006/relationships/tags" Target="../tags/tag309.xml"/><Relationship Id="rId4" Type="http://schemas.openxmlformats.org/officeDocument/2006/relationships/tags" Target="../tags/tag253.xml"/><Relationship Id="rId9" Type="http://schemas.openxmlformats.org/officeDocument/2006/relationships/tags" Target="../tags/tag258.xml"/></Relationships>
</file>

<file path=ppt/slides/_rels/slide36.xml.rels><?xml version="1.0" encoding="UTF-8" standalone="yes"?>
<Relationships xmlns="http://schemas.openxmlformats.org/package/2006/relationships"><Relationship Id="rId13" Type="http://schemas.openxmlformats.org/officeDocument/2006/relationships/tags" Target="../tags/tag322.xml"/><Relationship Id="rId18" Type="http://schemas.openxmlformats.org/officeDocument/2006/relationships/tags" Target="../tags/tag327.xml"/><Relationship Id="rId26" Type="http://schemas.openxmlformats.org/officeDocument/2006/relationships/tags" Target="../tags/tag335.xml"/><Relationship Id="rId39" Type="http://schemas.openxmlformats.org/officeDocument/2006/relationships/tags" Target="../tags/tag348.xml"/><Relationship Id="rId21" Type="http://schemas.openxmlformats.org/officeDocument/2006/relationships/tags" Target="../tags/tag330.xml"/><Relationship Id="rId34" Type="http://schemas.openxmlformats.org/officeDocument/2006/relationships/tags" Target="../tags/tag343.xml"/><Relationship Id="rId42" Type="http://schemas.openxmlformats.org/officeDocument/2006/relationships/tags" Target="../tags/tag351.xml"/><Relationship Id="rId47" Type="http://schemas.openxmlformats.org/officeDocument/2006/relationships/tags" Target="../tags/tag356.xml"/><Relationship Id="rId50" Type="http://schemas.openxmlformats.org/officeDocument/2006/relationships/tags" Target="../tags/tag359.xml"/><Relationship Id="rId55" Type="http://schemas.openxmlformats.org/officeDocument/2006/relationships/tags" Target="../tags/tag364.xml"/><Relationship Id="rId7" Type="http://schemas.openxmlformats.org/officeDocument/2006/relationships/tags" Target="../tags/tag316.xml"/><Relationship Id="rId2" Type="http://schemas.openxmlformats.org/officeDocument/2006/relationships/tags" Target="../tags/tag311.xml"/><Relationship Id="rId16" Type="http://schemas.openxmlformats.org/officeDocument/2006/relationships/tags" Target="../tags/tag325.xml"/><Relationship Id="rId29" Type="http://schemas.openxmlformats.org/officeDocument/2006/relationships/tags" Target="../tags/tag338.xml"/><Relationship Id="rId11" Type="http://schemas.openxmlformats.org/officeDocument/2006/relationships/tags" Target="../tags/tag320.xml"/><Relationship Id="rId24" Type="http://schemas.openxmlformats.org/officeDocument/2006/relationships/tags" Target="../tags/tag333.xml"/><Relationship Id="rId32" Type="http://schemas.openxmlformats.org/officeDocument/2006/relationships/tags" Target="../tags/tag341.xml"/><Relationship Id="rId37" Type="http://schemas.openxmlformats.org/officeDocument/2006/relationships/tags" Target="../tags/tag346.xml"/><Relationship Id="rId40" Type="http://schemas.openxmlformats.org/officeDocument/2006/relationships/tags" Target="../tags/tag349.xml"/><Relationship Id="rId45" Type="http://schemas.openxmlformats.org/officeDocument/2006/relationships/tags" Target="../tags/tag354.xml"/><Relationship Id="rId53" Type="http://schemas.openxmlformats.org/officeDocument/2006/relationships/tags" Target="../tags/tag362.xml"/><Relationship Id="rId58" Type="http://schemas.openxmlformats.org/officeDocument/2006/relationships/slideLayout" Target="../slideLayouts/slideLayout7.xml"/><Relationship Id="rId5" Type="http://schemas.openxmlformats.org/officeDocument/2006/relationships/tags" Target="../tags/tag314.xml"/><Relationship Id="rId19" Type="http://schemas.openxmlformats.org/officeDocument/2006/relationships/tags" Target="../tags/tag328.xml"/><Relationship Id="rId4" Type="http://schemas.openxmlformats.org/officeDocument/2006/relationships/tags" Target="../tags/tag313.xml"/><Relationship Id="rId9" Type="http://schemas.openxmlformats.org/officeDocument/2006/relationships/tags" Target="../tags/tag318.xml"/><Relationship Id="rId14" Type="http://schemas.openxmlformats.org/officeDocument/2006/relationships/tags" Target="../tags/tag323.xml"/><Relationship Id="rId22" Type="http://schemas.openxmlformats.org/officeDocument/2006/relationships/tags" Target="../tags/tag331.xml"/><Relationship Id="rId27" Type="http://schemas.openxmlformats.org/officeDocument/2006/relationships/tags" Target="../tags/tag336.xml"/><Relationship Id="rId30" Type="http://schemas.openxmlformats.org/officeDocument/2006/relationships/tags" Target="../tags/tag339.xml"/><Relationship Id="rId35" Type="http://schemas.openxmlformats.org/officeDocument/2006/relationships/tags" Target="../tags/tag344.xml"/><Relationship Id="rId43" Type="http://schemas.openxmlformats.org/officeDocument/2006/relationships/tags" Target="../tags/tag352.xml"/><Relationship Id="rId48" Type="http://schemas.openxmlformats.org/officeDocument/2006/relationships/tags" Target="../tags/tag357.xml"/><Relationship Id="rId56" Type="http://schemas.openxmlformats.org/officeDocument/2006/relationships/tags" Target="../tags/tag365.xml"/><Relationship Id="rId8" Type="http://schemas.openxmlformats.org/officeDocument/2006/relationships/tags" Target="../tags/tag317.xml"/><Relationship Id="rId51" Type="http://schemas.openxmlformats.org/officeDocument/2006/relationships/tags" Target="../tags/tag360.xml"/><Relationship Id="rId3" Type="http://schemas.openxmlformats.org/officeDocument/2006/relationships/tags" Target="../tags/tag312.xml"/><Relationship Id="rId12" Type="http://schemas.openxmlformats.org/officeDocument/2006/relationships/tags" Target="../tags/tag321.xml"/><Relationship Id="rId17" Type="http://schemas.openxmlformats.org/officeDocument/2006/relationships/tags" Target="../tags/tag326.xml"/><Relationship Id="rId25" Type="http://schemas.openxmlformats.org/officeDocument/2006/relationships/tags" Target="../tags/tag334.xml"/><Relationship Id="rId33" Type="http://schemas.openxmlformats.org/officeDocument/2006/relationships/tags" Target="../tags/tag342.xml"/><Relationship Id="rId38" Type="http://schemas.openxmlformats.org/officeDocument/2006/relationships/tags" Target="../tags/tag347.xml"/><Relationship Id="rId46" Type="http://schemas.openxmlformats.org/officeDocument/2006/relationships/tags" Target="../tags/tag355.xml"/><Relationship Id="rId59" Type="http://schemas.openxmlformats.org/officeDocument/2006/relationships/notesSlide" Target="../notesSlides/notesSlide24.xml"/><Relationship Id="rId20" Type="http://schemas.openxmlformats.org/officeDocument/2006/relationships/tags" Target="../tags/tag329.xml"/><Relationship Id="rId41" Type="http://schemas.openxmlformats.org/officeDocument/2006/relationships/tags" Target="../tags/tag350.xml"/><Relationship Id="rId54" Type="http://schemas.openxmlformats.org/officeDocument/2006/relationships/tags" Target="../tags/tag363.xml"/><Relationship Id="rId1" Type="http://schemas.openxmlformats.org/officeDocument/2006/relationships/tags" Target="../tags/tag310.xml"/><Relationship Id="rId6" Type="http://schemas.openxmlformats.org/officeDocument/2006/relationships/tags" Target="../tags/tag315.xml"/><Relationship Id="rId15" Type="http://schemas.openxmlformats.org/officeDocument/2006/relationships/tags" Target="../tags/tag324.xml"/><Relationship Id="rId23" Type="http://schemas.openxmlformats.org/officeDocument/2006/relationships/tags" Target="../tags/tag332.xml"/><Relationship Id="rId28" Type="http://schemas.openxmlformats.org/officeDocument/2006/relationships/tags" Target="../tags/tag337.xml"/><Relationship Id="rId36" Type="http://schemas.openxmlformats.org/officeDocument/2006/relationships/tags" Target="../tags/tag345.xml"/><Relationship Id="rId49" Type="http://schemas.openxmlformats.org/officeDocument/2006/relationships/tags" Target="../tags/tag358.xml"/><Relationship Id="rId57" Type="http://schemas.openxmlformats.org/officeDocument/2006/relationships/tags" Target="../tags/tag366.xml"/><Relationship Id="rId10" Type="http://schemas.openxmlformats.org/officeDocument/2006/relationships/tags" Target="../tags/tag319.xml"/><Relationship Id="rId31" Type="http://schemas.openxmlformats.org/officeDocument/2006/relationships/tags" Target="../tags/tag340.xml"/><Relationship Id="rId44" Type="http://schemas.openxmlformats.org/officeDocument/2006/relationships/tags" Target="../tags/tag353.xml"/><Relationship Id="rId52" Type="http://schemas.openxmlformats.org/officeDocument/2006/relationships/tags" Target="../tags/tag361.xml"/></Relationships>
</file>

<file path=ppt/slides/_rels/slide37.xml.rels><?xml version="1.0" encoding="UTF-8" standalone="yes"?>
<Relationships xmlns="http://schemas.openxmlformats.org/package/2006/relationships"><Relationship Id="rId26" Type="http://schemas.openxmlformats.org/officeDocument/2006/relationships/tags" Target="../tags/tag392.xml"/><Relationship Id="rId21" Type="http://schemas.openxmlformats.org/officeDocument/2006/relationships/tags" Target="../tags/tag387.xml"/><Relationship Id="rId42" Type="http://schemas.openxmlformats.org/officeDocument/2006/relationships/tags" Target="../tags/tag408.xml"/><Relationship Id="rId47" Type="http://schemas.openxmlformats.org/officeDocument/2006/relationships/tags" Target="../tags/tag413.xml"/><Relationship Id="rId63" Type="http://schemas.openxmlformats.org/officeDocument/2006/relationships/tags" Target="../tags/tag429.xml"/><Relationship Id="rId68" Type="http://schemas.openxmlformats.org/officeDocument/2006/relationships/tags" Target="../tags/tag434.xml"/><Relationship Id="rId84" Type="http://schemas.openxmlformats.org/officeDocument/2006/relationships/tags" Target="../tags/tag450.xml"/><Relationship Id="rId89" Type="http://schemas.openxmlformats.org/officeDocument/2006/relationships/tags" Target="../tags/tag455.xml"/><Relationship Id="rId16" Type="http://schemas.openxmlformats.org/officeDocument/2006/relationships/tags" Target="../tags/tag382.xml"/><Relationship Id="rId11" Type="http://schemas.openxmlformats.org/officeDocument/2006/relationships/tags" Target="../tags/tag377.xml"/><Relationship Id="rId32" Type="http://schemas.openxmlformats.org/officeDocument/2006/relationships/tags" Target="../tags/tag398.xml"/><Relationship Id="rId37" Type="http://schemas.openxmlformats.org/officeDocument/2006/relationships/tags" Target="../tags/tag403.xml"/><Relationship Id="rId53" Type="http://schemas.openxmlformats.org/officeDocument/2006/relationships/tags" Target="../tags/tag419.xml"/><Relationship Id="rId58" Type="http://schemas.openxmlformats.org/officeDocument/2006/relationships/tags" Target="../tags/tag424.xml"/><Relationship Id="rId74" Type="http://schemas.openxmlformats.org/officeDocument/2006/relationships/tags" Target="../tags/tag440.xml"/><Relationship Id="rId79" Type="http://schemas.openxmlformats.org/officeDocument/2006/relationships/tags" Target="../tags/tag445.xml"/><Relationship Id="rId5" Type="http://schemas.openxmlformats.org/officeDocument/2006/relationships/tags" Target="../tags/tag371.xml"/><Relationship Id="rId90" Type="http://schemas.openxmlformats.org/officeDocument/2006/relationships/tags" Target="../tags/tag456.xml"/><Relationship Id="rId95" Type="http://schemas.openxmlformats.org/officeDocument/2006/relationships/tags" Target="../tags/tag461.xml"/><Relationship Id="rId22" Type="http://schemas.openxmlformats.org/officeDocument/2006/relationships/tags" Target="../tags/tag388.xml"/><Relationship Id="rId27" Type="http://schemas.openxmlformats.org/officeDocument/2006/relationships/tags" Target="../tags/tag393.xml"/><Relationship Id="rId43" Type="http://schemas.openxmlformats.org/officeDocument/2006/relationships/tags" Target="../tags/tag409.xml"/><Relationship Id="rId48" Type="http://schemas.openxmlformats.org/officeDocument/2006/relationships/tags" Target="../tags/tag414.xml"/><Relationship Id="rId64" Type="http://schemas.openxmlformats.org/officeDocument/2006/relationships/tags" Target="../tags/tag430.xml"/><Relationship Id="rId69" Type="http://schemas.openxmlformats.org/officeDocument/2006/relationships/tags" Target="../tags/tag435.xml"/><Relationship Id="rId80" Type="http://schemas.openxmlformats.org/officeDocument/2006/relationships/tags" Target="../tags/tag446.xml"/><Relationship Id="rId85" Type="http://schemas.openxmlformats.org/officeDocument/2006/relationships/tags" Target="../tags/tag451.xml"/><Relationship Id="rId12" Type="http://schemas.openxmlformats.org/officeDocument/2006/relationships/tags" Target="../tags/tag378.xml"/><Relationship Id="rId17" Type="http://schemas.openxmlformats.org/officeDocument/2006/relationships/tags" Target="../tags/tag383.xml"/><Relationship Id="rId25" Type="http://schemas.openxmlformats.org/officeDocument/2006/relationships/tags" Target="../tags/tag391.xml"/><Relationship Id="rId33" Type="http://schemas.openxmlformats.org/officeDocument/2006/relationships/tags" Target="../tags/tag399.xml"/><Relationship Id="rId38" Type="http://schemas.openxmlformats.org/officeDocument/2006/relationships/tags" Target="../tags/tag404.xml"/><Relationship Id="rId46" Type="http://schemas.openxmlformats.org/officeDocument/2006/relationships/tags" Target="../tags/tag412.xml"/><Relationship Id="rId59" Type="http://schemas.openxmlformats.org/officeDocument/2006/relationships/tags" Target="../tags/tag425.xml"/><Relationship Id="rId67" Type="http://schemas.openxmlformats.org/officeDocument/2006/relationships/tags" Target="../tags/tag433.xml"/><Relationship Id="rId20" Type="http://schemas.openxmlformats.org/officeDocument/2006/relationships/tags" Target="../tags/tag386.xml"/><Relationship Id="rId41" Type="http://schemas.openxmlformats.org/officeDocument/2006/relationships/tags" Target="../tags/tag407.xml"/><Relationship Id="rId54" Type="http://schemas.openxmlformats.org/officeDocument/2006/relationships/tags" Target="../tags/tag420.xml"/><Relationship Id="rId62" Type="http://schemas.openxmlformats.org/officeDocument/2006/relationships/tags" Target="../tags/tag428.xml"/><Relationship Id="rId70" Type="http://schemas.openxmlformats.org/officeDocument/2006/relationships/tags" Target="../tags/tag436.xml"/><Relationship Id="rId75" Type="http://schemas.openxmlformats.org/officeDocument/2006/relationships/tags" Target="../tags/tag441.xml"/><Relationship Id="rId83" Type="http://schemas.openxmlformats.org/officeDocument/2006/relationships/tags" Target="../tags/tag449.xml"/><Relationship Id="rId88" Type="http://schemas.openxmlformats.org/officeDocument/2006/relationships/tags" Target="../tags/tag454.xml"/><Relationship Id="rId91" Type="http://schemas.openxmlformats.org/officeDocument/2006/relationships/tags" Target="../tags/tag457.xml"/><Relationship Id="rId96" Type="http://schemas.openxmlformats.org/officeDocument/2006/relationships/tags" Target="../tags/tag462.xml"/><Relationship Id="rId1" Type="http://schemas.openxmlformats.org/officeDocument/2006/relationships/tags" Target="../tags/tag367.xml"/><Relationship Id="rId6" Type="http://schemas.openxmlformats.org/officeDocument/2006/relationships/tags" Target="../tags/tag372.xml"/><Relationship Id="rId15" Type="http://schemas.openxmlformats.org/officeDocument/2006/relationships/tags" Target="../tags/tag381.xml"/><Relationship Id="rId23" Type="http://schemas.openxmlformats.org/officeDocument/2006/relationships/tags" Target="../tags/tag389.xml"/><Relationship Id="rId28" Type="http://schemas.openxmlformats.org/officeDocument/2006/relationships/tags" Target="../tags/tag394.xml"/><Relationship Id="rId36" Type="http://schemas.openxmlformats.org/officeDocument/2006/relationships/tags" Target="../tags/tag402.xml"/><Relationship Id="rId49" Type="http://schemas.openxmlformats.org/officeDocument/2006/relationships/tags" Target="../tags/tag415.xml"/><Relationship Id="rId57" Type="http://schemas.openxmlformats.org/officeDocument/2006/relationships/tags" Target="../tags/tag423.xml"/><Relationship Id="rId10" Type="http://schemas.openxmlformats.org/officeDocument/2006/relationships/tags" Target="../tags/tag376.xml"/><Relationship Id="rId31" Type="http://schemas.openxmlformats.org/officeDocument/2006/relationships/tags" Target="../tags/tag397.xml"/><Relationship Id="rId44" Type="http://schemas.openxmlformats.org/officeDocument/2006/relationships/tags" Target="../tags/tag410.xml"/><Relationship Id="rId52" Type="http://schemas.openxmlformats.org/officeDocument/2006/relationships/tags" Target="../tags/tag418.xml"/><Relationship Id="rId60" Type="http://schemas.openxmlformats.org/officeDocument/2006/relationships/tags" Target="../tags/tag426.xml"/><Relationship Id="rId65" Type="http://schemas.openxmlformats.org/officeDocument/2006/relationships/tags" Target="../tags/tag431.xml"/><Relationship Id="rId73" Type="http://schemas.openxmlformats.org/officeDocument/2006/relationships/tags" Target="../tags/tag439.xml"/><Relationship Id="rId78" Type="http://schemas.openxmlformats.org/officeDocument/2006/relationships/tags" Target="../tags/tag444.xml"/><Relationship Id="rId81" Type="http://schemas.openxmlformats.org/officeDocument/2006/relationships/tags" Target="../tags/tag447.xml"/><Relationship Id="rId86" Type="http://schemas.openxmlformats.org/officeDocument/2006/relationships/tags" Target="../tags/tag452.xml"/><Relationship Id="rId94" Type="http://schemas.openxmlformats.org/officeDocument/2006/relationships/tags" Target="../tags/tag460.xml"/><Relationship Id="rId99" Type="http://schemas.openxmlformats.org/officeDocument/2006/relationships/slideLayout" Target="../slideLayouts/slideLayout7.xml"/><Relationship Id="rId101" Type="http://schemas.openxmlformats.org/officeDocument/2006/relationships/slide" Target="slide32.xml"/><Relationship Id="rId4" Type="http://schemas.openxmlformats.org/officeDocument/2006/relationships/tags" Target="../tags/tag370.xml"/><Relationship Id="rId9" Type="http://schemas.openxmlformats.org/officeDocument/2006/relationships/tags" Target="../tags/tag375.xml"/><Relationship Id="rId13" Type="http://schemas.openxmlformats.org/officeDocument/2006/relationships/tags" Target="../tags/tag379.xml"/><Relationship Id="rId18" Type="http://schemas.openxmlformats.org/officeDocument/2006/relationships/tags" Target="../tags/tag384.xml"/><Relationship Id="rId39" Type="http://schemas.openxmlformats.org/officeDocument/2006/relationships/tags" Target="../tags/tag405.xml"/><Relationship Id="rId34" Type="http://schemas.openxmlformats.org/officeDocument/2006/relationships/tags" Target="../tags/tag400.xml"/><Relationship Id="rId50" Type="http://schemas.openxmlformats.org/officeDocument/2006/relationships/tags" Target="../tags/tag416.xml"/><Relationship Id="rId55" Type="http://schemas.openxmlformats.org/officeDocument/2006/relationships/tags" Target="../tags/tag421.xml"/><Relationship Id="rId76" Type="http://schemas.openxmlformats.org/officeDocument/2006/relationships/tags" Target="../tags/tag442.xml"/><Relationship Id="rId97" Type="http://schemas.openxmlformats.org/officeDocument/2006/relationships/tags" Target="../tags/tag463.xml"/><Relationship Id="rId7" Type="http://schemas.openxmlformats.org/officeDocument/2006/relationships/tags" Target="../tags/tag373.xml"/><Relationship Id="rId71" Type="http://schemas.openxmlformats.org/officeDocument/2006/relationships/tags" Target="../tags/tag437.xml"/><Relationship Id="rId92" Type="http://schemas.openxmlformats.org/officeDocument/2006/relationships/tags" Target="../tags/tag458.xml"/><Relationship Id="rId2" Type="http://schemas.openxmlformats.org/officeDocument/2006/relationships/tags" Target="../tags/tag368.xml"/><Relationship Id="rId29" Type="http://schemas.openxmlformats.org/officeDocument/2006/relationships/tags" Target="../tags/tag395.xml"/><Relationship Id="rId24" Type="http://schemas.openxmlformats.org/officeDocument/2006/relationships/tags" Target="../tags/tag390.xml"/><Relationship Id="rId40" Type="http://schemas.openxmlformats.org/officeDocument/2006/relationships/tags" Target="../tags/tag406.xml"/><Relationship Id="rId45" Type="http://schemas.openxmlformats.org/officeDocument/2006/relationships/tags" Target="../tags/tag411.xml"/><Relationship Id="rId66" Type="http://schemas.openxmlformats.org/officeDocument/2006/relationships/tags" Target="../tags/tag432.xml"/><Relationship Id="rId87" Type="http://schemas.openxmlformats.org/officeDocument/2006/relationships/tags" Target="../tags/tag453.xml"/><Relationship Id="rId61" Type="http://schemas.openxmlformats.org/officeDocument/2006/relationships/tags" Target="../tags/tag427.xml"/><Relationship Id="rId82" Type="http://schemas.openxmlformats.org/officeDocument/2006/relationships/tags" Target="../tags/tag448.xml"/><Relationship Id="rId19" Type="http://schemas.openxmlformats.org/officeDocument/2006/relationships/tags" Target="../tags/tag385.xml"/><Relationship Id="rId14" Type="http://schemas.openxmlformats.org/officeDocument/2006/relationships/tags" Target="../tags/tag380.xml"/><Relationship Id="rId30" Type="http://schemas.openxmlformats.org/officeDocument/2006/relationships/tags" Target="../tags/tag396.xml"/><Relationship Id="rId35" Type="http://schemas.openxmlformats.org/officeDocument/2006/relationships/tags" Target="../tags/tag401.xml"/><Relationship Id="rId56" Type="http://schemas.openxmlformats.org/officeDocument/2006/relationships/tags" Target="../tags/tag422.xml"/><Relationship Id="rId77" Type="http://schemas.openxmlformats.org/officeDocument/2006/relationships/tags" Target="../tags/tag443.xml"/><Relationship Id="rId100" Type="http://schemas.openxmlformats.org/officeDocument/2006/relationships/notesSlide" Target="../notesSlides/notesSlide25.xml"/><Relationship Id="rId8" Type="http://schemas.openxmlformats.org/officeDocument/2006/relationships/tags" Target="../tags/tag374.xml"/><Relationship Id="rId51" Type="http://schemas.openxmlformats.org/officeDocument/2006/relationships/tags" Target="../tags/tag417.xml"/><Relationship Id="rId72" Type="http://schemas.openxmlformats.org/officeDocument/2006/relationships/tags" Target="../tags/tag438.xml"/><Relationship Id="rId93" Type="http://schemas.openxmlformats.org/officeDocument/2006/relationships/tags" Target="../tags/tag459.xml"/><Relationship Id="rId98" Type="http://schemas.openxmlformats.org/officeDocument/2006/relationships/tags" Target="../tags/tag464.xml"/><Relationship Id="rId3" Type="http://schemas.openxmlformats.org/officeDocument/2006/relationships/tags" Target="../tags/tag369.xml"/></Relationships>
</file>

<file path=ppt/slides/_rels/slide38.xml.rels><?xml version="1.0" encoding="UTF-8" standalone="yes"?>
<Relationships xmlns="http://schemas.openxmlformats.org/package/2006/relationships"><Relationship Id="rId26" Type="http://schemas.openxmlformats.org/officeDocument/2006/relationships/tags" Target="../tags/tag490.xml"/><Relationship Id="rId21" Type="http://schemas.openxmlformats.org/officeDocument/2006/relationships/tags" Target="../tags/tag485.xml"/><Relationship Id="rId42" Type="http://schemas.openxmlformats.org/officeDocument/2006/relationships/tags" Target="../tags/tag506.xml"/><Relationship Id="rId47" Type="http://schemas.openxmlformats.org/officeDocument/2006/relationships/tags" Target="../tags/tag511.xml"/><Relationship Id="rId63" Type="http://schemas.openxmlformats.org/officeDocument/2006/relationships/tags" Target="../tags/tag527.xml"/><Relationship Id="rId68" Type="http://schemas.openxmlformats.org/officeDocument/2006/relationships/tags" Target="../tags/tag532.xml"/><Relationship Id="rId84" Type="http://schemas.openxmlformats.org/officeDocument/2006/relationships/tags" Target="../tags/tag548.xml"/><Relationship Id="rId89" Type="http://schemas.openxmlformats.org/officeDocument/2006/relationships/tags" Target="../tags/tag553.xml"/><Relationship Id="rId112" Type="http://schemas.openxmlformats.org/officeDocument/2006/relationships/tags" Target="../tags/tag576.xml"/><Relationship Id="rId16" Type="http://schemas.openxmlformats.org/officeDocument/2006/relationships/tags" Target="../tags/tag480.xml"/><Relationship Id="rId107" Type="http://schemas.openxmlformats.org/officeDocument/2006/relationships/tags" Target="../tags/tag571.xml"/><Relationship Id="rId11" Type="http://schemas.openxmlformats.org/officeDocument/2006/relationships/tags" Target="../tags/tag475.xml"/><Relationship Id="rId32" Type="http://schemas.openxmlformats.org/officeDocument/2006/relationships/tags" Target="../tags/tag496.xml"/><Relationship Id="rId37" Type="http://schemas.openxmlformats.org/officeDocument/2006/relationships/tags" Target="../tags/tag501.xml"/><Relationship Id="rId53" Type="http://schemas.openxmlformats.org/officeDocument/2006/relationships/tags" Target="../tags/tag517.xml"/><Relationship Id="rId58" Type="http://schemas.openxmlformats.org/officeDocument/2006/relationships/tags" Target="../tags/tag522.xml"/><Relationship Id="rId74" Type="http://schemas.openxmlformats.org/officeDocument/2006/relationships/tags" Target="../tags/tag538.xml"/><Relationship Id="rId79" Type="http://schemas.openxmlformats.org/officeDocument/2006/relationships/tags" Target="../tags/tag543.xml"/><Relationship Id="rId102" Type="http://schemas.openxmlformats.org/officeDocument/2006/relationships/tags" Target="../tags/tag566.xml"/><Relationship Id="rId5" Type="http://schemas.openxmlformats.org/officeDocument/2006/relationships/tags" Target="../tags/tag469.xml"/><Relationship Id="rId90" Type="http://schemas.openxmlformats.org/officeDocument/2006/relationships/tags" Target="../tags/tag554.xml"/><Relationship Id="rId95" Type="http://schemas.openxmlformats.org/officeDocument/2006/relationships/tags" Target="../tags/tag559.xml"/><Relationship Id="rId22" Type="http://schemas.openxmlformats.org/officeDocument/2006/relationships/tags" Target="../tags/tag486.xml"/><Relationship Id="rId27" Type="http://schemas.openxmlformats.org/officeDocument/2006/relationships/tags" Target="../tags/tag491.xml"/><Relationship Id="rId43" Type="http://schemas.openxmlformats.org/officeDocument/2006/relationships/tags" Target="../tags/tag507.xml"/><Relationship Id="rId48" Type="http://schemas.openxmlformats.org/officeDocument/2006/relationships/tags" Target="../tags/tag512.xml"/><Relationship Id="rId64" Type="http://schemas.openxmlformats.org/officeDocument/2006/relationships/tags" Target="../tags/tag528.xml"/><Relationship Id="rId69" Type="http://schemas.openxmlformats.org/officeDocument/2006/relationships/tags" Target="../tags/tag533.xml"/><Relationship Id="rId113" Type="http://schemas.openxmlformats.org/officeDocument/2006/relationships/tags" Target="../tags/tag577.xml"/><Relationship Id="rId80" Type="http://schemas.openxmlformats.org/officeDocument/2006/relationships/tags" Target="../tags/tag544.xml"/><Relationship Id="rId85" Type="http://schemas.openxmlformats.org/officeDocument/2006/relationships/tags" Target="../tags/tag549.xml"/><Relationship Id="rId12" Type="http://schemas.openxmlformats.org/officeDocument/2006/relationships/tags" Target="../tags/tag476.xml"/><Relationship Id="rId17" Type="http://schemas.openxmlformats.org/officeDocument/2006/relationships/tags" Target="../tags/tag481.xml"/><Relationship Id="rId33" Type="http://schemas.openxmlformats.org/officeDocument/2006/relationships/tags" Target="../tags/tag497.xml"/><Relationship Id="rId38" Type="http://schemas.openxmlformats.org/officeDocument/2006/relationships/tags" Target="../tags/tag502.xml"/><Relationship Id="rId59" Type="http://schemas.openxmlformats.org/officeDocument/2006/relationships/tags" Target="../tags/tag523.xml"/><Relationship Id="rId103" Type="http://schemas.openxmlformats.org/officeDocument/2006/relationships/tags" Target="../tags/tag567.xml"/><Relationship Id="rId108" Type="http://schemas.openxmlformats.org/officeDocument/2006/relationships/tags" Target="../tags/tag572.xml"/><Relationship Id="rId54" Type="http://schemas.openxmlformats.org/officeDocument/2006/relationships/tags" Target="../tags/tag518.xml"/><Relationship Id="rId70" Type="http://schemas.openxmlformats.org/officeDocument/2006/relationships/tags" Target="../tags/tag534.xml"/><Relationship Id="rId75" Type="http://schemas.openxmlformats.org/officeDocument/2006/relationships/tags" Target="../tags/tag539.xml"/><Relationship Id="rId91" Type="http://schemas.openxmlformats.org/officeDocument/2006/relationships/tags" Target="../tags/tag555.xml"/><Relationship Id="rId96" Type="http://schemas.openxmlformats.org/officeDocument/2006/relationships/tags" Target="../tags/tag560.xml"/><Relationship Id="rId1" Type="http://schemas.openxmlformats.org/officeDocument/2006/relationships/tags" Target="../tags/tag465.xml"/><Relationship Id="rId6" Type="http://schemas.openxmlformats.org/officeDocument/2006/relationships/tags" Target="../tags/tag470.xml"/><Relationship Id="rId15" Type="http://schemas.openxmlformats.org/officeDocument/2006/relationships/tags" Target="../tags/tag479.xml"/><Relationship Id="rId23" Type="http://schemas.openxmlformats.org/officeDocument/2006/relationships/tags" Target="../tags/tag487.xml"/><Relationship Id="rId28" Type="http://schemas.openxmlformats.org/officeDocument/2006/relationships/tags" Target="../tags/tag492.xml"/><Relationship Id="rId36" Type="http://schemas.openxmlformats.org/officeDocument/2006/relationships/tags" Target="../tags/tag500.xml"/><Relationship Id="rId49" Type="http://schemas.openxmlformats.org/officeDocument/2006/relationships/tags" Target="../tags/tag513.xml"/><Relationship Id="rId57" Type="http://schemas.openxmlformats.org/officeDocument/2006/relationships/tags" Target="../tags/tag521.xml"/><Relationship Id="rId106" Type="http://schemas.openxmlformats.org/officeDocument/2006/relationships/tags" Target="../tags/tag570.xml"/><Relationship Id="rId114" Type="http://schemas.openxmlformats.org/officeDocument/2006/relationships/slideLayout" Target="../slideLayouts/slideLayout7.xml"/><Relationship Id="rId10" Type="http://schemas.openxmlformats.org/officeDocument/2006/relationships/tags" Target="../tags/tag474.xml"/><Relationship Id="rId31" Type="http://schemas.openxmlformats.org/officeDocument/2006/relationships/tags" Target="../tags/tag495.xml"/><Relationship Id="rId44" Type="http://schemas.openxmlformats.org/officeDocument/2006/relationships/tags" Target="../tags/tag508.xml"/><Relationship Id="rId52" Type="http://schemas.openxmlformats.org/officeDocument/2006/relationships/tags" Target="../tags/tag516.xml"/><Relationship Id="rId60" Type="http://schemas.openxmlformats.org/officeDocument/2006/relationships/tags" Target="../tags/tag524.xml"/><Relationship Id="rId65" Type="http://schemas.openxmlformats.org/officeDocument/2006/relationships/tags" Target="../tags/tag529.xml"/><Relationship Id="rId73" Type="http://schemas.openxmlformats.org/officeDocument/2006/relationships/tags" Target="../tags/tag537.xml"/><Relationship Id="rId78" Type="http://schemas.openxmlformats.org/officeDocument/2006/relationships/tags" Target="../tags/tag542.xml"/><Relationship Id="rId81" Type="http://schemas.openxmlformats.org/officeDocument/2006/relationships/tags" Target="../tags/tag545.xml"/><Relationship Id="rId86" Type="http://schemas.openxmlformats.org/officeDocument/2006/relationships/tags" Target="../tags/tag550.xml"/><Relationship Id="rId94" Type="http://schemas.openxmlformats.org/officeDocument/2006/relationships/tags" Target="../tags/tag558.xml"/><Relationship Id="rId99" Type="http://schemas.openxmlformats.org/officeDocument/2006/relationships/tags" Target="../tags/tag563.xml"/><Relationship Id="rId101" Type="http://schemas.openxmlformats.org/officeDocument/2006/relationships/tags" Target="../tags/tag565.xml"/><Relationship Id="rId4" Type="http://schemas.openxmlformats.org/officeDocument/2006/relationships/tags" Target="../tags/tag468.xml"/><Relationship Id="rId9" Type="http://schemas.openxmlformats.org/officeDocument/2006/relationships/tags" Target="../tags/tag473.xml"/><Relationship Id="rId13" Type="http://schemas.openxmlformats.org/officeDocument/2006/relationships/tags" Target="../tags/tag477.xml"/><Relationship Id="rId18" Type="http://schemas.openxmlformats.org/officeDocument/2006/relationships/tags" Target="../tags/tag482.xml"/><Relationship Id="rId39" Type="http://schemas.openxmlformats.org/officeDocument/2006/relationships/tags" Target="../tags/tag503.xml"/><Relationship Id="rId109" Type="http://schemas.openxmlformats.org/officeDocument/2006/relationships/tags" Target="../tags/tag573.xml"/><Relationship Id="rId34" Type="http://schemas.openxmlformats.org/officeDocument/2006/relationships/tags" Target="../tags/tag498.xml"/><Relationship Id="rId50" Type="http://schemas.openxmlformats.org/officeDocument/2006/relationships/tags" Target="../tags/tag514.xml"/><Relationship Id="rId55" Type="http://schemas.openxmlformats.org/officeDocument/2006/relationships/tags" Target="../tags/tag519.xml"/><Relationship Id="rId76" Type="http://schemas.openxmlformats.org/officeDocument/2006/relationships/tags" Target="../tags/tag540.xml"/><Relationship Id="rId97" Type="http://schemas.openxmlformats.org/officeDocument/2006/relationships/tags" Target="../tags/tag561.xml"/><Relationship Id="rId104" Type="http://schemas.openxmlformats.org/officeDocument/2006/relationships/tags" Target="../tags/tag568.xml"/><Relationship Id="rId7" Type="http://schemas.openxmlformats.org/officeDocument/2006/relationships/tags" Target="../tags/tag471.xml"/><Relationship Id="rId71" Type="http://schemas.openxmlformats.org/officeDocument/2006/relationships/tags" Target="../tags/tag535.xml"/><Relationship Id="rId92" Type="http://schemas.openxmlformats.org/officeDocument/2006/relationships/tags" Target="../tags/tag556.xml"/><Relationship Id="rId2" Type="http://schemas.openxmlformats.org/officeDocument/2006/relationships/tags" Target="../tags/tag466.xml"/><Relationship Id="rId29" Type="http://schemas.openxmlformats.org/officeDocument/2006/relationships/tags" Target="../tags/tag493.xml"/><Relationship Id="rId24" Type="http://schemas.openxmlformats.org/officeDocument/2006/relationships/tags" Target="../tags/tag488.xml"/><Relationship Id="rId40" Type="http://schemas.openxmlformats.org/officeDocument/2006/relationships/tags" Target="../tags/tag504.xml"/><Relationship Id="rId45" Type="http://schemas.openxmlformats.org/officeDocument/2006/relationships/tags" Target="../tags/tag509.xml"/><Relationship Id="rId66" Type="http://schemas.openxmlformats.org/officeDocument/2006/relationships/tags" Target="../tags/tag530.xml"/><Relationship Id="rId87" Type="http://schemas.openxmlformats.org/officeDocument/2006/relationships/tags" Target="../tags/tag551.xml"/><Relationship Id="rId110" Type="http://schemas.openxmlformats.org/officeDocument/2006/relationships/tags" Target="../tags/tag574.xml"/><Relationship Id="rId115" Type="http://schemas.openxmlformats.org/officeDocument/2006/relationships/notesSlide" Target="../notesSlides/notesSlide26.xml"/><Relationship Id="rId61" Type="http://schemas.openxmlformats.org/officeDocument/2006/relationships/tags" Target="../tags/tag525.xml"/><Relationship Id="rId82" Type="http://schemas.openxmlformats.org/officeDocument/2006/relationships/tags" Target="../tags/tag546.xml"/><Relationship Id="rId19" Type="http://schemas.openxmlformats.org/officeDocument/2006/relationships/tags" Target="../tags/tag483.xml"/><Relationship Id="rId14" Type="http://schemas.openxmlformats.org/officeDocument/2006/relationships/tags" Target="../tags/tag478.xml"/><Relationship Id="rId30" Type="http://schemas.openxmlformats.org/officeDocument/2006/relationships/tags" Target="../tags/tag494.xml"/><Relationship Id="rId35" Type="http://schemas.openxmlformats.org/officeDocument/2006/relationships/tags" Target="../tags/tag499.xml"/><Relationship Id="rId56" Type="http://schemas.openxmlformats.org/officeDocument/2006/relationships/tags" Target="../tags/tag520.xml"/><Relationship Id="rId77" Type="http://schemas.openxmlformats.org/officeDocument/2006/relationships/tags" Target="../tags/tag541.xml"/><Relationship Id="rId100" Type="http://schemas.openxmlformats.org/officeDocument/2006/relationships/tags" Target="../tags/tag564.xml"/><Relationship Id="rId105" Type="http://schemas.openxmlformats.org/officeDocument/2006/relationships/tags" Target="../tags/tag569.xml"/><Relationship Id="rId8" Type="http://schemas.openxmlformats.org/officeDocument/2006/relationships/tags" Target="../tags/tag472.xml"/><Relationship Id="rId51" Type="http://schemas.openxmlformats.org/officeDocument/2006/relationships/tags" Target="../tags/tag515.xml"/><Relationship Id="rId72" Type="http://schemas.openxmlformats.org/officeDocument/2006/relationships/tags" Target="../tags/tag536.xml"/><Relationship Id="rId93" Type="http://schemas.openxmlformats.org/officeDocument/2006/relationships/tags" Target="../tags/tag557.xml"/><Relationship Id="rId98" Type="http://schemas.openxmlformats.org/officeDocument/2006/relationships/tags" Target="../tags/tag562.xml"/><Relationship Id="rId3" Type="http://schemas.openxmlformats.org/officeDocument/2006/relationships/tags" Target="../tags/tag467.xml"/><Relationship Id="rId25" Type="http://schemas.openxmlformats.org/officeDocument/2006/relationships/tags" Target="../tags/tag489.xml"/><Relationship Id="rId46" Type="http://schemas.openxmlformats.org/officeDocument/2006/relationships/tags" Target="../tags/tag510.xml"/><Relationship Id="rId67" Type="http://schemas.openxmlformats.org/officeDocument/2006/relationships/tags" Target="../tags/tag531.xml"/><Relationship Id="rId116" Type="http://schemas.openxmlformats.org/officeDocument/2006/relationships/slide" Target="slide35.xml"/><Relationship Id="rId20" Type="http://schemas.openxmlformats.org/officeDocument/2006/relationships/tags" Target="../tags/tag484.xml"/><Relationship Id="rId41" Type="http://schemas.openxmlformats.org/officeDocument/2006/relationships/tags" Target="../tags/tag505.xml"/><Relationship Id="rId62" Type="http://schemas.openxmlformats.org/officeDocument/2006/relationships/tags" Target="../tags/tag526.xml"/><Relationship Id="rId83" Type="http://schemas.openxmlformats.org/officeDocument/2006/relationships/tags" Target="../tags/tag547.xml"/><Relationship Id="rId88" Type="http://schemas.openxmlformats.org/officeDocument/2006/relationships/tags" Target="../tags/tag552.xml"/><Relationship Id="rId111" Type="http://schemas.openxmlformats.org/officeDocument/2006/relationships/tags" Target="../tags/tag575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579.xml"/><Relationship Id="rId1" Type="http://schemas.openxmlformats.org/officeDocument/2006/relationships/tags" Target="../tags/tag578.xml"/><Relationship Id="rId4" Type="http://schemas.openxmlformats.org/officeDocument/2006/relationships/notesSlide" Target="../notesSlides/notesSlide27.xml"/></Relationships>
</file>

<file path=ppt/slides/_rels/slide40.xml.rels><?xml version="1.0" encoding="UTF-8" standalone="yes"?>
<Relationships xmlns="http://schemas.openxmlformats.org/package/2006/relationships"><Relationship Id="rId13" Type="http://schemas.openxmlformats.org/officeDocument/2006/relationships/tags" Target="../tags/tag592.xml"/><Relationship Id="rId18" Type="http://schemas.openxmlformats.org/officeDocument/2006/relationships/tags" Target="../tags/tag597.xml"/><Relationship Id="rId26" Type="http://schemas.openxmlformats.org/officeDocument/2006/relationships/tags" Target="../tags/tag605.xml"/><Relationship Id="rId39" Type="http://schemas.openxmlformats.org/officeDocument/2006/relationships/tags" Target="../tags/tag618.xml"/><Relationship Id="rId21" Type="http://schemas.openxmlformats.org/officeDocument/2006/relationships/tags" Target="../tags/tag600.xml"/><Relationship Id="rId34" Type="http://schemas.openxmlformats.org/officeDocument/2006/relationships/tags" Target="../tags/tag613.xml"/><Relationship Id="rId42" Type="http://schemas.openxmlformats.org/officeDocument/2006/relationships/tags" Target="../tags/tag621.xml"/><Relationship Id="rId47" Type="http://schemas.openxmlformats.org/officeDocument/2006/relationships/tags" Target="../tags/tag626.xml"/><Relationship Id="rId50" Type="http://schemas.openxmlformats.org/officeDocument/2006/relationships/tags" Target="../tags/tag629.xml"/><Relationship Id="rId55" Type="http://schemas.openxmlformats.org/officeDocument/2006/relationships/tags" Target="../tags/tag634.xml"/><Relationship Id="rId63" Type="http://schemas.openxmlformats.org/officeDocument/2006/relationships/slideLayout" Target="../slideLayouts/slideLayout7.xml"/><Relationship Id="rId7" Type="http://schemas.openxmlformats.org/officeDocument/2006/relationships/tags" Target="../tags/tag586.xml"/><Relationship Id="rId2" Type="http://schemas.openxmlformats.org/officeDocument/2006/relationships/tags" Target="../tags/tag581.xml"/><Relationship Id="rId16" Type="http://schemas.openxmlformats.org/officeDocument/2006/relationships/tags" Target="../tags/tag595.xml"/><Relationship Id="rId29" Type="http://schemas.openxmlformats.org/officeDocument/2006/relationships/tags" Target="../tags/tag608.xml"/><Relationship Id="rId11" Type="http://schemas.openxmlformats.org/officeDocument/2006/relationships/tags" Target="../tags/tag590.xml"/><Relationship Id="rId24" Type="http://schemas.openxmlformats.org/officeDocument/2006/relationships/tags" Target="../tags/tag603.xml"/><Relationship Id="rId32" Type="http://schemas.openxmlformats.org/officeDocument/2006/relationships/tags" Target="../tags/tag611.xml"/><Relationship Id="rId37" Type="http://schemas.openxmlformats.org/officeDocument/2006/relationships/tags" Target="../tags/tag616.xml"/><Relationship Id="rId40" Type="http://schemas.openxmlformats.org/officeDocument/2006/relationships/tags" Target="../tags/tag619.xml"/><Relationship Id="rId45" Type="http://schemas.openxmlformats.org/officeDocument/2006/relationships/tags" Target="../tags/tag624.xml"/><Relationship Id="rId53" Type="http://schemas.openxmlformats.org/officeDocument/2006/relationships/tags" Target="../tags/tag632.xml"/><Relationship Id="rId58" Type="http://schemas.openxmlformats.org/officeDocument/2006/relationships/tags" Target="../tags/tag637.xml"/><Relationship Id="rId5" Type="http://schemas.openxmlformats.org/officeDocument/2006/relationships/tags" Target="../tags/tag584.xml"/><Relationship Id="rId61" Type="http://schemas.openxmlformats.org/officeDocument/2006/relationships/tags" Target="../tags/tag640.xml"/><Relationship Id="rId19" Type="http://schemas.openxmlformats.org/officeDocument/2006/relationships/tags" Target="../tags/tag598.xml"/><Relationship Id="rId14" Type="http://schemas.openxmlformats.org/officeDocument/2006/relationships/tags" Target="../tags/tag593.xml"/><Relationship Id="rId22" Type="http://schemas.openxmlformats.org/officeDocument/2006/relationships/tags" Target="../tags/tag601.xml"/><Relationship Id="rId27" Type="http://schemas.openxmlformats.org/officeDocument/2006/relationships/tags" Target="../tags/tag606.xml"/><Relationship Id="rId30" Type="http://schemas.openxmlformats.org/officeDocument/2006/relationships/tags" Target="../tags/tag609.xml"/><Relationship Id="rId35" Type="http://schemas.openxmlformats.org/officeDocument/2006/relationships/tags" Target="../tags/tag614.xml"/><Relationship Id="rId43" Type="http://schemas.openxmlformats.org/officeDocument/2006/relationships/tags" Target="../tags/tag622.xml"/><Relationship Id="rId48" Type="http://schemas.openxmlformats.org/officeDocument/2006/relationships/tags" Target="../tags/tag627.xml"/><Relationship Id="rId56" Type="http://schemas.openxmlformats.org/officeDocument/2006/relationships/tags" Target="../tags/tag635.xml"/><Relationship Id="rId8" Type="http://schemas.openxmlformats.org/officeDocument/2006/relationships/tags" Target="../tags/tag587.xml"/><Relationship Id="rId51" Type="http://schemas.openxmlformats.org/officeDocument/2006/relationships/tags" Target="../tags/tag630.xml"/><Relationship Id="rId3" Type="http://schemas.openxmlformats.org/officeDocument/2006/relationships/tags" Target="../tags/tag582.xml"/><Relationship Id="rId12" Type="http://schemas.openxmlformats.org/officeDocument/2006/relationships/tags" Target="../tags/tag591.xml"/><Relationship Id="rId17" Type="http://schemas.openxmlformats.org/officeDocument/2006/relationships/tags" Target="../tags/tag596.xml"/><Relationship Id="rId25" Type="http://schemas.openxmlformats.org/officeDocument/2006/relationships/tags" Target="../tags/tag604.xml"/><Relationship Id="rId33" Type="http://schemas.openxmlformats.org/officeDocument/2006/relationships/tags" Target="../tags/tag612.xml"/><Relationship Id="rId38" Type="http://schemas.openxmlformats.org/officeDocument/2006/relationships/tags" Target="../tags/tag617.xml"/><Relationship Id="rId46" Type="http://schemas.openxmlformats.org/officeDocument/2006/relationships/tags" Target="../tags/tag625.xml"/><Relationship Id="rId59" Type="http://schemas.openxmlformats.org/officeDocument/2006/relationships/tags" Target="../tags/tag638.xml"/><Relationship Id="rId20" Type="http://schemas.openxmlformats.org/officeDocument/2006/relationships/tags" Target="../tags/tag599.xml"/><Relationship Id="rId41" Type="http://schemas.openxmlformats.org/officeDocument/2006/relationships/tags" Target="../tags/tag620.xml"/><Relationship Id="rId54" Type="http://schemas.openxmlformats.org/officeDocument/2006/relationships/tags" Target="../tags/tag633.xml"/><Relationship Id="rId62" Type="http://schemas.openxmlformats.org/officeDocument/2006/relationships/tags" Target="../tags/tag641.xml"/><Relationship Id="rId1" Type="http://schemas.openxmlformats.org/officeDocument/2006/relationships/tags" Target="../tags/tag580.xml"/><Relationship Id="rId6" Type="http://schemas.openxmlformats.org/officeDocument/2006/relationships/tags" Target="../tags/tag585.xml"/><Relationship Id="rId15" Type="http://schemas.openxmlformats.org/officeDocument/2006/relationships/tags" Target="../tags/tag594.xml"/><Relationship Id="rId23" Type="http://schemas.openxmlformats.org/officeDocument/2006/relationships/tags" Target="../tags/tag602.xml"/><Relationship Id="rId28" Type="http://schemas.openxmlformats.org/officeDocument/2006/relationships/tags" Target="../tags/tag607.xml"/><Relationship Id="rId36" Type="http://schemas.openxmlformats.org/officeDocument/2006/relationships/tags" Target="../tags/tag615.xml"/><Relationship Id="rId49" Type="http://schemas.openxmlformats.org/officeDocument/2006/relationships/tags" Target="../tags/tag628.xml"/><Relationship Id="rId57" Type="http://schemas.openxmlformats.org/officeDocument/2006/relationships/tags" Target="../tags/tag636.xml"/><Relationship Id="rId10" Type="http://schemas.openxmlformats.org/officeDocument/2006/relationships/tags" Target="../tags/tag589.xml"/><Relationship Id="rId31" Type="http://schemas.openxmlformats.org/officeDocument/2006/relationships/tags" Target="../tags/tag610.xml"/><Relationship Id="rId44" Type="http://schemas.openxmlformats.org/officeDocument/2006/relationships/tags" Target="../tags/tag623.xml"/><Relationship Id="rId52" Type="http://schemas.openxmlformats.org/officeDocument/2006/relationships/tags" Target="../tags/tag631.xml"/><Relationship Id="rId60" Type="http://schemas.openxmlformats.org/officeDocument/2006/relationships/tags" Target="../tags/tag639.xml"/><Relationship Id="rId4" Type="http://schemas.openxmlformats.org/officeDocument/2006/relationships/tags" Target="../tags/tag583.xml"/><Relationship Id="rId9" Type="http://schemas.openxmlformats.org/officeDocument/2006/relationships/tags" Target="../tags/tag588.xml"/></Relationships>
</file>

<file path=ppt/slides/_rels/slide41.xml.rels><?xml version="1.0" encoding="UTF-8" standalone="yes"?>
<Relationships xmlns="http://schemas.openxmlformats.org/package/2006/relationships"><Relationship Id="rId117" Type="http://schemas.openxmlformats.org/officeDocument/2006/relationships/tags" Target="../tags/tag758.xml"/><Relationship Id="rId21" Type="http://schemas.openxmlformats.org/officeDocument/2006/relationships/tags" Target="../tags/tag662.xml"/><Relationship Id="rId42" Type="http://schemas.openxmlformats.org/officeDocument/2006/relationships/tags" Target="../tags/tag683.xml"/><Relationship Id="rId63" Type="http://schemas.openxmlformats.org/officeDocument/2006/relationships/tags" Target="../tags/tag704.xml"/><Relationship Id="rId84" Type="http://schemas.openxmlformats.org/officeDocument/2006/relationships/tags" Target="../tags/tag725.xml"/><Relationship Id="rId138" Type="http://schemas.openxmlformats.org/officeDocument/2006/relationships/tags" Target="../tags/tag779.xml"/><Relationship Id="rId159" Type="http://schemas.openxmlformats.org/officeDocument/2006/relationships/tags" Target="../tags/tag800.xml"/><Relationship Id="rId170" Type="http://schemas.openxmlformats.org/officeDocument/2006/relationships/tags" Target="../tags/tag811.xml"/><Relationship Id="rId191" Type="http://schemas.openxmlformats.org/officeDocument/2006/relationships/tags" Target="../tags/tag832.xml"/><Relationship Id="rId107" Type="http://schemas.openxmlformats.org/officeDocument/2006/relationships/tags" Target="../tags/tag748.xml"/><Relationship Id="rId11" Type="http://schemas.openxmlformats.org/officeDocument/2006/relationships/tags" Target="../tags/tag652.xml"/><Relationship Id="rId32" Type="http://schemas.openxmlformats.org/officeDocument/2006/relationships/tags" Target="../tags/tag673.xml"/><Relationship Id="rId53" Type="http://schemas.openxmlformats.org/officeDocument/2006/relationships/tags" Target="../tags/tag694.xml"/><Relationship Id="rId74" Type="http://schemas.openxmlformats.org/officeDocument/2006/relationships/tags" Target="../tags/tag715.xml"/><Relationship Id="rId128" Type="http://schemas.openxmlformats.org/officeDocument/2006/relationships/tags" Target="../tags/tag769.xml"/><Relationship Id="rId149" Type="http://schemas.openxmlformats.org/officeDocument/2006/relationships/tags" Target="../tags/tag790.xml"/><Relationship Id="rId5" Type="http://schemas.openxmlformats.org/officeDocument/2006/relationships/tags" Target="../tags/tag646.xml"/><Relationship Id="rId95" Type="http://schemas.openxmlformats.org/officeDocument/2006/relationships/tags" Target="../tags/tag736.xml"/><Relationship Id="rId160" Type="http://schemas.openxmlformats.org/officeDocument/2006/relationships/tags" Target="../tags/tag801.xml"/><Relationship Id="rId181" Type="http://schemas.openxmlformats.org/officeDocument/2006/relationships/tags" Target="../tags/tag822.xml"/><Relationship Id="rId22" Type="http://schemas.openxmlformats.org/officeDocument/2006/relationships/tags" Target="../tags/tag663.xml"/><Relationship Id="rId43" Type="http://schemas.openxmlformats.org/officeDocument/2006/relationships/tags" Target="../tags/tag684.xml"/><Relationship Id="rId64" Type="http://schemas.openxmlformats.org/officeDocument/2006/relationships/tags" Target="../tags/tag705.xml"/><Relationship Id="rId118" Type="http://schemas.openxmlformats.org/officeDocument/2006/relationships/tags" Target="../tags/tag759.xml"/><Relationship Id="rId139" Type="http://schemas.openxmlformats.org/officeDocument/2006/relationships/tags" Target="../tags/tag780.xml"/><Relationship Id="rId85" Type="http://schemas.openxmlformats.org/officeDocument/2006/relationships/tags" Target="../tags/tag726.xml"/><Relationship Id="rId150" Type="http://schemas.openxmlformats.org/officeDocument/2006/relationships/tags" Target="../tags/tag791.xml"/><Relationship Id="rId171" Type="http://schemas.openxmlformats.org/officeDocument/2006/relationships/tags" Target="../tags/tag812.xml"/><Relationship Id="rId192" Type="http://schemas.openxmlformats.org/officeDocument/2006/relationships/tags" Target="../tags/tag833.xml"/><Relationship Id="rId12" Type="http://schemas.openxmlformats.org/officeDocument/2006/relationships/tags" Target="../tags/tag653.xml"/><Relationship Id="rId33" Type="http://schemas.openxmlformats.org/officeDocument/2006/relationships/tags" Target="../tags/tag674.xml"/><Relationship Id="rId108" Type="http://schemas.openxmlformats.org/officeDocument/2006/relationships/tags" Target="../tags/tag749.xml"/><Relationship Id="rId129" Type="http://schemas.openxmlformats.org/officeDocument/2006/relationships/tags" Target="../tags/tag770.xml"/><Relationship Id="rId54" Type="http://schemas.openxmlformats.org/officeDocument/2006/relationships/tags" Target="../tags/tag695.xml"/><Relationship Id="rId75" Type="http://schemas.openxmlformats.org/officeDocument/2006/relationships/tags" Target="../tags/tag716.xml"/><Relationship Id="rId96" Type="http://schemas.openxmlformats.org/officeDocument/2006/relationships/tags" Target="../tags/tag737.xml"/><Relationship Id="rId140" Type="http://schemas.openxmlformats.org/officeDocument/2006/relationships/tags" Target="../tags/tag781.xml"/><Relationship Id="rId161" Type="http://schemas.openxmlformats.org/officeDocument/2006/relationships/tags" Target="../tags/tag802.xml"/><Relationship Id="rId182" Type="http://schemas.openxmlformats.org/officeDocument/2006/relationships/tags" Target="../tags/tag823.xml"/><Relationship Id="rId6" Type="http://schemas.openxmlformats.org/officeDocument/2006/relationships/tags" Target="../tags/tag647.xml"/><Relationship Id="rId23" Type="http://schemas.openxmlformats.org/officeDocument/2006/relationships/tags" Target="../tags/tag664.xml"/><Relationship Id="rId119" Type="http://schemas.openxmlformats.org/officeDocument/2006/relationships/tags" Target="../tags/tag760.xml"/><Relationship Id="rId44" Type="http://schemas.openxmlformats.org/officeDocument/2006/relationships/tags" Target="../tags/tag685.xml"/><Relationship Id="rId65" Type="http://schemas.openxmlformats.org/officeDocument/2006/relationships/tags" Target="../tags/tag706.xml"/><Relationship Id="rId86" Type="http://schemas.openxmlformats.org/officeDocument/2006/relationships/tags" Target="../tags/tag727.xml"/><Relationship Id="rId130" Type="http://schemas.openxmlformats.org/officeDocument/2006/relationships/tags" Target="../tags/tag771.xml"/><Relationship Id="rId151" Type="http://schemas.openxmlformats.org/officeDocument/2006/relationships/tags" Target="../tags/tag792.xml"/><Relationship Id="rId172" Type="http://schemas.openxmlformats.org/officeDocument/2006/relationships/tags" Target="../tags/tag813.xml"/><Relationship Id="rId193" Type="http://schemas.openxmlformats.org/officeDocument/2006/relationships/tags" Target="../tags/tag834.xml"/><Relationship Id="rId13" Type="http://schemas.openxmlformats.org/officeDocument/2006/relationships/tags" Target="../tags/tag654.xml"/><Relationship Id="rId109" Type="http://schemas.openxmlformats.org/officeDocument/2006/relationships/tags" Target="../tags/tag750.xml"/><Relationship Id="rId34" Type="http://schemas.openxmlformats.org/officeDocument/2006/relationships/tags" Target="../tags/tag675.xml"/><Relationship Id="rId55" Type="http://schemas.openxmlformats.org/officeDocument/2006/relationships/tags" Target="../tags/tag696.xml"/><Relationship Id="rId76" Type="http://schemas.openxmlformats.org/officeDocument/2006/relationships/tags" Target="../tags/tag717.xml"/><Relationship Id="rId97" Type="http://schemas.openxmlformats.org/officeDocument/2006/relationships/tags" Target="../tags/tag738.xml"/><Relationship Id="rId120" Type="http://schemas.openxmlformats.org/officeDocument/2006/relationships/tags" Target="../tags/tag761.xml"/><Relationship Id="rId141" Type="http://schemas.openxmlformats.org/officeDocument/2006/relationships/tags" Target="../tags/tag782.xml"/><Relationship Id="rId7" Type="http://schemas.openxmlformats.org/officeDocument/2006/relationships/tags" Target="../tags/tag648.xml"/><Relationship Id="rId162" Type="http://schemas.openxmlformats.org/officeDocument/2006/relationships/tags" Target="../tags/tag803.xml"/><Relationship Id="rId183" Type="http://schemas.openxmlformats.org/officeDocument/2006/relationships/tags" Target="../tags/tag824.xml"/><Relationship Id="rId2" Type="http://schemas.openxmlformats.org/officeDocument/2006/relationships/tags" Target="../tags/tag643.xml"/><Relationship Id="rId29" Type="http://schemas.openxmlformats.org/officeDocument/2006/relationships/tags" Target="../tags/tag670.xml"/><Relationship Id="rId24" Type="http://schemas.openxmlformats.org/officeDocument/2006/relationships/tags" Target="../tags/tag665.xml"/><Relationship Id="rId40" Type="http://schemas.openxmlformats.org/officeDocument/2006/relationships/tags" Target="../tags/tag681.xml"/><Relationship Id="rId45" Type="http://schemas.openxmlformats.org/officeDocument/2006/relationships/tags" Target="../tags/tag686.xml"/><Relationship Id="rId66" Type="http://schemas.openxmlformats.org/officeDocument/2006/relationships/tags" Target="../tags/tag707.xml"/><Relationship Id="rId87" Type="http://schemas.openxmlformats.org/officeDocument/2006/relationships/tags" Target="../tags/tag728.xml"/><Relationship Id="rId110" Type="http://schemas.openxmlformats.org/officeDocument/2006/relationships/tags" Target="../tags/tag751.xml"/><Relationship Id="rId115" Type="http://schemas.openxmlformats.org/officeDocument/2006/relationships/tags" Target="../tags/tag756.xml"/><Relationship Id="rId131" Type="http://schemas.openxmlformats.org/officeDocument/2006/relationships/tags" Target="../tags/tag772.xml"/><Relationship Id="rId136" Type="http://schemas.openxmlformats.org/officeDocument/2006/relationships/tags" Target="../tags/tag777.xml"/><Relationship Id="rId157" Type="http://schemas.openxmlformats.org/officeDocument/2006/relationships/tags" Target="../tags/tag798.xml"/><Relationship Id="rId178" Type="http://schemas.openxmlformats.org/officeDocument/2006/relationships/tags" Target="../tags/tag819.xml"/><Relationship Id="rId61" Type="http://schemas.openxmlformats.org/officeDocument/2006/relationships/tags" Target="../tags/tag702.xml"/><Relationship Id="rId82" Type="http://schemas.openxmlformats.org/officeDocument/2006/relationships/tags" Target="../tags/tag723.xml"/><Relationship Id="rId152" Type="http://schemas.openxmlformats.org/officeDocument/2006/relationships/tags" Target="../tags/tag793.xml"/><Relationship Id="rId173" Type="http://schemas.openxmlformats.org/officeDocument/2006/relationships/tags" Target="../tags/tag814.xml"/><Relationship Id="rId194" Type="http://schemas.openxmlformats.org/officeDocument/2006/relationships/tags" Target="../tags/tag835.xml"/><Relationship Id="rId199" Type="http://schemas.openxmlformats.org/officeDocument/2006/relationships/tags" Target="../tags/tag840.xml"/><Relationship Id="rId19" Type="http://schemas.openxmlformats.org/officeDocument/2006/relationships/tags" Target="../tags/tag660.xml"/><Relationship Id="rId14" Type="http://schemas.openxmlformats.org/officeDocument/2006/relationships/tags" Target="../tags/tag655.xml"/><Relationship Id="rId30" Type="http://schemas.openxmlformats.org/officeDocument/2006/relationships/tags" Target="../tags/tag671.xml"/><Relationship Id="rId35" Type="http://schemas.openxmlformats.org/officeDocument/2006/relationships/tags" Target="../tags/tag676.xml"/><Relationship Id="rId56" Type="http://schemas.openxmlformats.org/officeDocument/2006/relationships/tags" Target="../tags/tag697.xml"/><Relationship Id="rId77" Type="http://schemas.openxmlformats.org/officeDocument/2006/relationships/tags" Target="../tags/tag718.xml"/><Relationship Id="rId100" Type="http://schemas.openxmlformats.org/officeDocument/2006/relationships/tags" Target="../tags/tag741.xml"/><Relationship Id="rId105" Type="http://schemas.openxmlformats.org/officeDocument/2006/relationships/tags" Target="../tags/tag746.xml"/><Relationship Id="rId126" Type="http://schemas.openxmlformats.org/officeDocument/2006/relationships/tags" Target="../tags/tag767.xml"/><Relationship Id="rId147" Type="http://schemas.openxmlformats.org/officeDocument/2006/relationships/tags" Target="../tags/tag788.xml"/><Relationship Id="rId168" Type="http://schemas.openxmlformats.org/officeDocument/2006/relationships/tags" Target="../tags/tag809.xml"/><Relationship Id="rId8" Type="http://schemas.openxmlformats.org/officeDocument/2006/relationships/tags" Target="../tags/tag649.xml"/><Relationship Id="rId51" Type="http://schemas.openxmlformats.org/officeDocument/2006/relationships/tags" Target="../tags/tag692.xml"/><Relationship Id="rId72" Type="http://schemas.openxmlformats.org/officeDocument/2006/relationships/tags" Target="../tags/tag713.xml"/><Relationship Id="rId93" Type="http://schemas.openxmlformats.org/officeDocument/2006/relationships/tags" Target="../tags/tag734.xml"/><Relationship Id="rId98" Type="http://schemas.openxmlformats.org/officeDocument/2006/relationships/tags" Target="../tags/tag739.xml"/><Relationship Id="rId121" Type="http://schemas.openxmlformats.org/officeDocument/2006/relationships/tags" Target="../tags/tag762.xml"/><Relationship Id="rId142" Type="http://schemas.openxmlformats.org/officeDocument/2006/relationships/tags" Target="../tags/tag783.xml"/><Relationship Id="rId163" Type="http://schemas.openxmlformats.org/officeDocument/2006/relationships/tags" Target="../tags/tag804.xml"/><Relationship Id="rId184" Type="http://schemas.openxmlformats.org/officeDocument/2006/relationships/tags" Target="../tags/tag825.xml"/><Relationship Id="rId189" Type="http://schemas.openxmlformats.org/officeDocument/2006/relationships/tags" Target="../tags/tag830.xml"/><Relationship Id="rId3" Type="http://schemas.openxmlformats.org/officeDocument/2006/relationships/tags" Target="../tags/tag644.xml"/><Relationship Id="rId25" Type="http://schemas.openxmlformats.org/officeDocument/2006/relationships/tags" Target="../tags/tag666.xml"/><Relationship Id="rId46" Type="http://schemas.openxmlformats.org/officeDocument/2006/relationships/tags" Target="../tags/tag687.xml"/><Relationship Id="rId67" Type="http://schemas.openxmlformats.org/officeDocument/2006/relationships/tags" Target="../tags/tag708.xml"/><Relationship Id="rId116" Type="http://schemas.openxmlformats.org/officeDocument/2006/relationships/tags" Target="../tags/tag757.xml"/><Relationship Id="rId137" Type="http://schemas.openxmlformats.org/officeDocument/2006/relationships/tags" Target="../tags/tag778.xml"/><Relationship Id="rId158" Type="http://schemas.openxmlformats.org/officeDocument/2006/relationships/tags" Target="../tags/tag799.xml"/><Relationship Id="rId20" Type="http://schemas.openxmlformats.org/officeDocument/2006/relationships/tags" Target="../tags/tag661.xml"/><Relationship Id="rId41" Type="http://schemas.openxmlformats.org/officeDocument/2006/relationships/tags" Target="../tags/tag682.xml"/><Relationship Id="rId62" Type="http://schemas.openxmlformats.org/officeDocument/2006/relationships/tags" Target="../tags/tag703.xml"/><Relationship Id="rId83" Type="http://schemas.openxmlformats.org/officeDocument/2006/relationships/tags" Target="../tags/tag724.xml"/><Relationship Id="rId88" Type="http://schemas.openxmlformats.org/officeDocument/2006/relationships/tags" Target="../tags/tag729.xml"/><Relationship Id="rId111" Type="http://schemas.openxmlformats.org/officeDocument/2006/relationships/tags" Target="../tags/tag752.xml"/><Relationship Id="rId132" Type="http://schemas.openxmlformats.org/officeDocument/2006/relationships/tags" Target="../tags/tag773.xml"/><Relationship Id="rId153" Type="http://schemas.openxmlformats.org/officeDocument/2006/relationships/tags" Target="../tags/tag794.xml"/><Relationship Id="rId174" Type="http://schemas.openxmlformats.org/officeDocument/2006/relationships/tags" Target="../tags/tag815.xml"/><Relationship Id="rId179" Type="http://schemas.openxmlformats.org/officeDocument/2006/relationships/tags" Target="../tags/tag820.xml"/><Relationship Id="rId195" Type="http://schemas.openxmlformats.org/officeDocument/2006/relationships/tags" Target="../tags/tag836.xml"/><Relationship Id="rId190" Type="http://schemas.openxmlformats.org/officeDocument/2006/relationships/tags" Target="../tags/tag831.xml"/><Relationship Id="rId15" Type="http://schemas.openxmlformats.org/officeDocument/2006/relationships/tags" Target="../tags/tag656.xml"/><Relationship Id="rId36" Type="http://schemas.openxmlformats.org/officeDocument/2006/relationships/tags" Target="../tags/tag677.xml"/><Relationship Id="rId57" Type="http://schemas.openxmlformats.org/officeDocument/2006/relationships/tags" Target="../tags/tag698.xml"/><Relationship Id="rId106" Type="http://schemas.openxmlformats.org/officeDocument/2006/relationships/tags" Target="../tags/tag747.xml"/><Relationship Id="rId127" Type="http://schemas.openxmlformats.org/officeDocument/2006/relationships/tags" Target="../tags/tag768.xml"/><Relationship Id="rId10" Type="http://schemas.openxmlformats.org/officeDocument/2006/relationships/tags" Target="../tags/tag651.xml"/><Relationship Id="rId31" Type="http://schemas.openxmlformats.org/officeDocument/2006/relationships/tags" Target="../tags/tag672.xml"/><Relationship Id="rId52" Type="http://schemas.openxmlformats.org/officeDocument/2006/relationships/tags" Target="../tags/tag693.xml"/><Relationship Id="rId73" Type="http://schemas.openxmlformats.org/officeDocument/2006/relationships/tags" Target="../tags/tag714.xml"/><Relationship Id="rId78" Type="http://schemas.openxmlformats.org/officeDocument/2006/relationships/tags" Target="../tags/tag719.xml"/><Relationship Id="rId94" Type="http://schemas.openxmlformats.org/officeDocument/2006/relationships/tags" Target="../tags/tag735.xml"/><Relationship Id="rId99" Type="http://schemas.openxmlformats.org/officeDocument/2006/relationships/tags" Target="../tags/tag740.xml"/><Relationship Id="rId101" Type="http://schemas.openxmlformats.org/officeDocument/2006/relationships/tags" Target="../tags/tag742.xml"/><Relationship Id="rId122" Type="http://schemas.openxmlformats.org/officeDocument/2006/relationships/tags" Target="../tags/tag763.xml"/><Relationship Id="rId143" Type="http://schemas.openxmlformats.org/officeDocument/2006/relationships/tags" Target="../tags/tag784.xml"/><Relationship Id="rId148" Type="http://schemas.openxmlformats.org/officeDocument/2006/relationships/tags" Target="../tags/tag789.xml"/><Relationship Id="rId164" Type="http://schemas.openxmlformats.org/officeDocument/2006/relationships/tags" Target="../tags/tag805.xml"/><Relationship Id="rId169" Type="http://schemas.openxmlformats.org/officeDocument/2006/relationships/tags" Target="../tags/tag810.xml"/><Relationship Id="rId185" Type="http://schemas.openxmlformats.org/officeDocument/2006/relationships/tags" Target="../tags/tag826.xml"/><Relationship Id="rId4" Type="http://schemas.openxmlformats.org/officeDocument/2006/relationships/tags" Target="../tags/tag645.xml"/><Relationship Id="rId9" Type="http://schemas.openxmlformats.org/officeDocument/2006/relationships/tags" Target="../tags/tag650.xml"/><Relationship Id="rId180" Type="http://schemas.openxmlformats.org/officeDocument/2006/relationships/tags" Target="../tags/tag821.xml"/><Relationship Id="rId26" Type="http://schemas.openxmlformats.org/officeDocument/2006/relationships/tags" Target="../tags/tag667.xml"/><Relationship Id="rId47" Type="http://schemas.openxmlformats.org/officeDocument/2006/relationships/tags" Target="../tags/tag688.xml"/><Relationship Id="rId68" Type="http://schemas.openxmlformats.org/officeDocument/2006/relationships/tags" Target="../tags/tag709.xml"/><Relationship Id="rId89" Type="http://schemas.openxmlformats.org/officeDocument/2006/relationships/tags" Target="../tags/tag730.xml"/><Relationship Id="rId112" Type="http://schemas.openxmlformats.org/officeDocument/2006/relationships/tags" Target="../tags/tag753.xml"/><Relationship Id="rId133" Type="http://schemas.openxmlformats.org/officeDocument/2006/relationships/tags" Target="../tags/tag774.xml"/><Relationship Id="rId154" Type="http://schemas.openxmlformats.org/officeDocument/2006/relationships/tags" Target="../tags/tag795.xml"/><Relationship Id="rId175" Type="http://schemas.openxmlformats.org/officeDocument/2006/relationships/tags" Target="../tags/tag816.xml"/><Relationship Id="rId196" Type="http://schemas.openxmlformats.org/officeDocument/2006/relationships/tags" Target="../tags/tag837.xml"/><Relationship Id="rId200" Type="http://schemas.openxmlformats.org/officeDocument/2006/relationships/slideLayout" Target="../slideLayouts/slideLayout7.xml"/><Relationship Id="rId16" Type="http://schemas.openxmlformats.org/officeDocument/2006/relationships/tags" Target="../tags/tag657.xml"/><Relationship Id="rId37" Type="http://schemas.openxmlformats.org/officeDocument/2006/relationships/tags" Target="../tags/tag678.xml"/><Relationship Id="rId58" Type="http://schemas.openxmlformats.org/officeDocument/2006/relationships/tags" Target="../tags/tag699.xml"/><Relationship Id="rId79" Type="http://schemas.openxmlformats.org/officeDocument/2006/relationships/tags" Target="../tags/tag720.xml"/><Relationship Id="rId102" Type="http://schemas.openxmlformats.org/officeDocument/2006/relationships/tags" Target="../tags/tag743.xml"/><Relationship Id="rId123" Type="http://schemas.openxmlformats.org/officeDocument/2006/relationships/tags" Target="../tags/tag764.xml"/><Relationship Id="rId144" Type="http://schemas.openxmlformats.org/officeDocument/2006/relationships/tags" Target="../tags/tag785.xml"/><Relationship Id="rId90" Type="http://schemas.openxmlformats.org/officeDocument/2006/relationships/tags" Target="../tags/tag731.xml"/><Relationship Id="rId165" Type="http://schemas.openxmlformats.org/officeDocument/2006/relationships/tags" Target="../tags/tag806.xml"/><Relationship Id="rId186" Type="http://schemas.openxmlformats.org/officeDocument/2006/relationships/tags" Target="../tags/tag827.xml"/><Relationship Id="rId27" Type="http://schemas.openxmlformats.org/officeDocument/2006/relationships/tags" Target="../tags/tag668.xml"/><Relationship Id="rId48" Type="http://schemas.openxmlformats.org/officeDocument/2006/relationships/tags" Target="../tags/tag689.xml"/><Relationship Id="rId69" Type="http://schemas.openxmlformats.org/officeDocument/2006/relationships/tags" Target="../tags/tag710.xml"/><Relationship Id="rId113" Type="http://schemas.openxmlformats.org/officeDocument/2006/relationships/tags" Target="../tags/tag754.xml"/><Relationship Id="rId134" Type="http://schemas.openxmlformats.org/officeDocument/2006/relationships/tags" Target="../tags/tag775.xml"/><Relationship Id="rId80" Type="http://schemas.openxmlformats.org/officeDocument/2006/relationships/tags" Target="../tags/tag721.xml"/><Relationship Id="rId155" Type="http://schemas.openxmlformats.org/officeDocument/2006/relationships/tags" Target="../tags/tag796.xml"/><Relationship Id="rId176" Type="http://schemas.openxmlformats.org/officeDocument/2006/relationships/tags" Target="../tags/tag817.xml"/><Relationship Id="rId197" Type="http://schemas.openxmlformats.org/officeDocument/2006/relationships/tags" Target="../tags/tag838.xml"/><Relationship Id="rId201" Type="http://schemas.openxmlformats.org/officeDocument/2006/relationships/slide" Target="slide44.xml"/><Relationship Id="rId17" Type="http://schemas.openxmlformats.org/officeDocument/2006/relationships/tags" Target="../tags/tag658.xml"/><Relationship Id="rId38" Type="http://schemas.openxmlformats.org/officeDocument/2006/relationships/tags" Target="../tags/tag679.xml"/><Relationship Id="rId59" Type="http://schemas.openxmlformats.org/officeDocument/2006/relationships/tags" Target="../tags/tag700.xml"/><Relationship Id="rId103" Type="http://schemas.openxmlformats.org/officeDocument/2006/relationships/tags" Target="../tags/tag744.xml"/><Relationship Id="rId124" Type="http://schemas.openxmlformats.org/officeDocument/2006/relationships/tags" Target="../tags/tag765.xml"/><Relationship Id="rId70" Type="http://schemas.openxmlformats.org/officeDocument/2006/relationships/tags" Target="../tags/tag711.xml"/><Relationship Id="rId91" Type="http://schemas.openxmlformats.org/officeDocument/2006/relationships/tags" Target="../tags/tag732.xml"/><Relationship Id="rId145" Type="http://schemas.openxmlformats.org/officeDocument/2006/relationships/tags" Target="../tags/tag786.xml"/><Relationship Id="rId166" Type="http://schemas.openxmlformats.org/officeDocument/2006/relationships/tags" Target="../tags/tag807.xml"/><Relationship Id="rId187" Type="http://schemas.openxmlformats.org/officeDocument/2006/relationships/tags" Target="../tags/tag828.xml"/><Relationship Id="rId1" Type="http://schemas.openxmlformats.org/officeDocument/2006/relationships/tags" Target="../tags/tag642.xml"/><Relationship Id="rId28" Type="http://schemas.openxmlformats.org/officeDocument/2006/relationships/tags" Target="../tags/tag669.xml"/><Relationship Id="rId49" Type="http://schemas.openxmlformats.org/officeDocument/2006/relationships/tags" Target="../tags/tag690.xml"/><Relationship Id="rId114" Type="http://schemas.openxmlformats.org/officeDocument/2006/relationships/tags" Target="../tags/tag755.xml"/><Relationship Id="rId60" Type="http://schemas.openxmlformats.org/officeDocument/2006/relationships/tags" Target="../tags/tag701.xml"/><Relationship Id="rId81" Type="http://schemas.openxmlformats.org/officeDocument/2006/relationships/tags" Target="../tags/tag722.xml"/><Relationship Id="rId135" Type="http://schemas.openxmlformats.org/officeDocument/2006/relationships/tags" Target="../tags/tag776.xml"/><Relationship Id="rId156" Type="http://schemas.openxmlformats.org/officeDocument/2006/relationships/tags" Target="../tags/tag797.xml"/><Relationship Id="rId177" Type="http://schemas.openxmlformats.org/officeDocument/2006/relationships/tags" Target="../tags/tag818.xml"/><Relationship Id="rId198" Type="http://schemas.openxmlformats.org/officeDocument/2006/relationships/tags" Target="../tags/tag839.xml"/><Relationship Id="rId18" Type="http://schemas.openxmlformats.org/officeDocument/2006/relationships/tags" Target="../tags/tag659.xml"/><Relationship Id="rId39" Type="http://schemas.openxmlformats.org/officeDocument/2006/relationships/tags" Target="../tags/tag680.xml"/><Relationship Id="rId50" Type="http://schemas.openxmlformats.org/officeDocument/2006/relationships/tags" Target="../tags/tag691.xml"/><Relationship Id="rId104" Type="http://schemas.openxmlformats.org/officeDocument/2006/relationships/tags" Target="../tags/tag745.xml"/><Relationship Id="rId125" Type="http://schemas.openxmlformats.org/officeDocument/2006/relationships/tags" Target="../tags/tag766.xml"/><Relationship Id="rId146" Type="http://schemas.openxmlformats.org/officeDocument/2006/relationships/tags" Target="../tags/tag787.xml"/><Relationship Id="rId167" Type="http://schemas.openxmlformats.org/officeDocument/2006/relationships/tags" Target="../tags/tag808.xml"/><Relationship Id="rId188" Type="http://schemas.openxmlformats.org/officeDocument/2006/relationships/tags" Target="../tags/tag829.xml"/><Relationship Id="rId71" Type="http://schemas.openxmlformats.org/officeDocument/2006/relationships/tags" Target="../tags/tag712.xml"/><Relationship Id="rId92" Type="http://schemas.openxmlformats.org/officeDocument/2006/relationships/tags" Target="../tags/tag733.xml"/></Relationships>
</file>

<file path=ppt/slides/_rels/slide42.xml.rels><?xml version="1.0" encoding="UTF-8" standalone="yes"?>
<Relationships xmlns="http://schemas.openxmlformats.org/package/2006/relationships"><Relationship Id="rId26" Type="http://schemas.openxmlformats.org/officeDocument/2006/relationships/tags" Target="../tags/tag866.xml"/><Relationship Id="rId21" Type="http://schemas.openxmlformats.org/officeDocument/2006/relationships/tags" Target="../tags/tag861.xml"/><Relationship Id="rId42" Type="http://schemas.openxmlformats.org/officeDocument/2006/relationships/tags" Target="../tags/tag882.xml"/><Relationship Id="rId47" Type="http://schemas.openxmlformats.org/officeDocument/2006/relationships/tags" Target="../tags/tag887.xml"/><Relationship Id="rId63" Type="http://schemas.openxmlformats.org/officeDocument/2006/relationships/tags" Target="../tags/tag903.xml"/><Relationship Id="rId68" Type="http://schemas.openxmlformats.org/officeDocument/2006/relationships/tags" Target="../tags/tag908.xml"/><Relationship Id="rId84" Type="http://schemas.openxmlformats.org/officeDocument/2006/relationships/tags" Target="../tags/tag924.xml"/><Relationship Id="rId16" Type="http://schemas.openxmlformats.org/officeDocument/2006/relationships/tags" Target="../tags/tag856.xml"/><Relationship Id="rId11" Type="http://schemas.openxmlformats.org/officeDocument/2006/relationships/tags" Target="../tags/tag851.xml"/><Relationship Id="rId32" Type="http://schemas.openxmlformats.org/officeDocument/2006/relationships/tags" Target="../tags/tag872.xml"/><Relationship Id="rId37" Type="http://schemas.openxmlformats.org/officeDocument/2006/relationships/tags" Target="../tags/tag877.xml"/><Relationship Id="rId53" Type="http://schemas.openxmlformats.org/officeDocument/2006/relationships/tags" Target="../tags/tag893.xml"/><Relationship Id="rId58" Type="http://schemas.openxmlformats.org/officeDocument/2006/relationships/tags" Target="../tags/tag898.xml"/><Relationship Id="rId74" Type="http://schemas.openxmlformats.org/officeDocument/2006/relationships/tags" Target="../tags/tag914.xml"/><Relationship Id="rId79" Type="http://schemas.openxmlformats.org/officeDocument/2006/relationships/tags" Target="../tags/tag919.xml"/><Relationship Id="rId5" Type="http://schemas.openxmlformats.org/officeDocument/2006/relationships/tags" Target="../tags/tag845.xml"/><Relationship Id="rId19" Type="http://schemas.openxmlformats.org/officeDocument/2006/relationships/tags" Target="../tags/tag859.xml"/><Relationship Id="rId14" Type="http://schemas.openxmlformats.org/officeDocument/2006/relationships/tags" Target="../tags/tag854.xml"/><Relationship Id="rId22" Type="http://schemas.openxmlformats.org/officeDocument/2006/relationships/tags" Target="../tags/tag862.xml"/><Relationship Id="rId27" Type="http://schemas.openxmlformats.org/officeDocument/2006/relationships/tags" Target="../tags/tag867.xml"/><Relationship Id="rId30" Type="http://schemas.openxmlformats.org/officeDocument/2006/relationships/tags" Target="../tags/tag870.xml"/><Relationship Id="rId35" Type="http://schemas.openxmlformats.org/officeDocument/2006/relationships/tags" Target="../tags/tag875.xml"/><Relationship Id="rId43" Type="http://schemas.openxmlformats.org/officeDocument/2006/relationships/tags" Target="../tags/tag883.xml"/><Relationship Id="rId48" Type="http://schemas.openxmlformats.org/officeDocument/2006/relationships/tags" Target="../tags/tag888.xml"/><Relationship Id="rId56" Type="http://schemas.openxmlformats.org/officeDocument/2006/relationships/tags" Target="../tags/tag896.xml"/><Relationship Id="rId64" Type="http://schemas.openxmlformats.org/officeDocument/2006/relationships/tags" Target="../tags/tag904.xml"/><Relationship Id="rId69" Type="http://schemas.openxmlformats.org/officeDocument/2006/relationships/tags" Target="../tags/tag909.xml"/><Relationship Id="rId77" Type="http://schemas.openxmlformats.org/officeDocument/2006/relationships/tags" Target="../tags/tag917.xml"/><Relationship Id="rId8" Type="http://schemas.openxmlformats.org/officeDocument/2006/relationships/tags" Target="../tags/tag848.xml"/><Relationship Id="rId51" Type="http://schemas.openxmlformats.org/officeDocument/2006/relationships/tags" Target="../tags/tag891.xml"/><Relationship Id="rId72" Type="http://schemas.openxmlformats.org/officeDocument/2006/relationships/tags" Target="../tags/tag912.xml"/><Relationship Id="rId80" Type="http://schemas.openxmlformats.org/officeDocument/2006/relationships/tags" Target="../tags/tag920.xml"/><Relationship Id="rId85" Type="http://schemas.openxmlformats.org/officeDocument/2006/relationships/slideLayout" Target="../slideLayouts/slideLayout7.xml"/><Relationship Id="rId3" Type="http://schemas.openxmlformats.org/officeDocument/2006/relationships/tags" Target="../tags/tag843.xml"/><Relationship Id="rId12" Type="http://schemas.openxmlformats.org/officeDocument/2006/relationships/tags" Target="../tags/tag852.xml"/><Relationship Id="rId17" Type="http://schemas.openxmlformats.org/officeDocument/2006/relationships/tags" Target="../tags/tag857.xml"/><Relationship Id="rId25" Type="http://schemas.openxmlformats.org/officeDocument/2006/relationships/tags" Target="../tags/tag865.xml"/><Relationship Id="rId33" Type="http://schemas.openxmlformats.org/officeDocument/2006/relationships/tags" Target="../tags/tag873.xml"/><Relationship Id="rId38" Type="http://schemas.openxmlformats.org/officeDocument/2006/relationships/tags" Target="../tags/tag878.xml"/><Relationship Id="rId46" Type="http://schemas.openxmlformats.org/officeDocument/2006/relationships/tags" Target="../tags/tag886.xml"/><Relationship Id="rId59" Type="http://schemas.openxmlformats.org/officeDocument/2006/relationships/tags" Target="../tags/tag899.xml"/><Relationship Id="rId67" Type="http://schemas.openxmlformats.org/officeDocument/2006/relationships/tags" Target="../tags/tag907.xml"/><Relationship Id="rId20" Type="http://schemas.openxmlformats.org/officeDocument/2006/relationships/tags" Target="../tags/tag860.xml"/><Relationship Id="rId41" Type="http://schemas.openxmlformats.org/officeDocument/2006/relationships/tags" Target="../tags/tag881.xml"/><Relationship Id="rId54" Type="http://schemas.openxmlformats.org/officeDocument/2006/relationships/tags" Target="../tags/tag894.xml"/><Relationship Id="rId62" Type="http://schemas.openxmlformats.org/officeDocument/2006/relationships/tags" Target="../tags/tag902.xml"/><Relationship Id="rId70" Type="http://schemas.openxmlformats.org/officeDocument/2006/relationships/tags" Target="../tags/tag910.xml"/><Relationship Id="rId75" Type="http://schemas.openxmlformats.org/officeDocument/2006/relationships/tags" Target="../tags/tag915.xml"/><Relationship Id="rId83" Type="http://schemas.openxmlformats.org/officeDocument/2006/relationships/tags" Target="../tags/tag923.xml"/><Relationship Id="rId1" Type="http://schemas.openxmlformats.org/officeDocument/2006/relationships/tags" Target="../tags/tag841.xml"/><Relationship Id="rId6" Type="http://schemas.openxmlformats.org/officeDocument/2006/relationships/tags" Target="../tags/tag846.xml"/><Relationship Id="rId15" Type="http://schemas.openxmlformats.org/officeDocument/2006/relationships/tags" Target="../tags/tag855.xml"/><Relationship Id="rId23" Type="http://schemas.openxmlformats.org/officeDocument/2006/relationships/tags" Target="../tags/tag863.xml"/><Relationship Id="rId28" Type="http://schemas.openxmlformats.org/officeDocument/2006/relationships/tags" Target="../tags/tag868.xml"/><Relationship Id="rId36" Type="http://schemas.openxmlformats.org/officeDocument/2006/relationships/tags" Target="../tags/tag876.xml"/><Relationship Id="rId49" Type="http://schemas.openxmlformats.org/officeDocument/2006/relationships/tags" Target="../tags/tag889.xml"/><Relationship Id="rId57" Type="http://schemas.openxmlformats.org/officeDocument/2006/relationships/tags" Target="../tags/tag897.xml"/><Relationship Id="rId10" Type="http://schemas.openxmlformats.org/officeDocument/2006/relationships/tags" Target="../tags/tag850.xml"/><Relationship Id="rId31" Type="http://schemas.openxmlformats.org/officeDocument/2006/relationships/tags" Target="../tags/tag871.xml"/><Relationship Id="rId44" Type="http://schemas.openxmlformats.org/officeDocument/2006/relationships/tags" Target="../tags/tag884.xml"/><Relationship Id="rId52" Type="http://schemas.openxmlformats.org/officeDocument/2006/relationships/tags" Target="../tags/tag892.xml"/><Relationship Id="rId60" Type="http://schemas.openxmlformats.org/officeDocument/2006/relationships/tags" Target="../tags/tag900.xml"/><Relationship Id="rId65" Type="http://schemas.openxmlformats.org/officeDocument/2006/relationships/tags" Target="../tags/tag905.xml"/><Relationship Id="rId73" Type="http://schemas.openxmlformats.org/officeDocument/2006/relationships/tags" Target="../tags/tag913.xml"/><Relationship Id="rId78" Type="http://schemas.openxmlformats.org/officeDocument/2006/relationships/tags" Target="../tags/tag918.xml"/><Relationship Id="rId81" Type="http://schemas.openxmlformats.org/officeDocument/2006/relationships/tags" Target="../tags/tag921.xml"/><Relationship Id="rId86" Type="http://schemas.openxmlformats.org/officeDocument/2006/relationships/notesSlide" Target="../notesSlides/notesSlide28.xml"/><Relationship Id="rId4" Type="http://schemas.openxmlformats.org/officeDocument/2006/relationships/tags" Target="../tags/tag844.xml"/><Relationship Id="rId9" Type="http://schemas.openxmlformats.org/officeDocument/2006/relationships/tags" Target="../tags/tag849.xml"/><Relationship Id="rId13" Type="http://schemas.openxmlformats.org/officeDocument/2006/relationships/tags" Target="../tags/tag853.xml"/><Relationship Id="rId18" Type="http://schemas.openxmlformats.org/officeDocument/2006/relationships/tags" Target="../tags/tag858.xml"/><Relationship Id="rId39" Type="http://schemas.openxmlformats.org/officeDocument/2006/relationships/tags" Target="../tags/tag879.xml"/><Relationship Id="rId34" Type="http://schemas.openxmlformats.org/officeDocument/2006/relationships/tags" Target="../tags/tag874.xml"/><Relationship Id="rId50" Type="http://schemas.openxmlformats.org/officeDocument/2006/relationships/tags" Target="../tags/tag890.xml"/><Relationship Id="rId55" Type="http://schemas.openxmlformats.org/officeDocument/2006/relationships/tags" Target="../tags/tag895.xml"/><Relationship Id="rId76" Type="http://schemas.openxmlformats.org/officeDocument/2006/relationships/tags" Target="../tags/tag916.xml"/><Relationship Id="rId7" Type="http://schemas.openxmlformats.org/officeDocument/2006/relationships/tags" Target="../tags/tag847.xml"/><Relationship Id="rId71" Type="http://schemas.openxmlformats.org/officeDocument/2006/relationships/tags" Target="../tags/tag911.xml"/><Relationship Id="rId2" Type="http://schemas.openxmlformats.org/officeDocument/2006/relationships/tags" Target="../tags/tag842.xml"/><Relationship Id="rId29" Type="http://schemas.openxmlformats.org/officeDocument/2006/relationships/tags" Target="../tags/tag869.xml"/><Relationship Id="rId24" Type="http://schemas.openxmlformats.org/officeDocument/2006/relationships/tags" Target="../tags/tag864.xml"/><Relationship Id="rId40" Type="http://schemas.openxmlformats.org/officeDocument/2006/relationships/tags" Target="../tags/tag880.xml"/><Relationship Id="rId45" Type="http://schemas.openxmlformats.org/officeDocument/2006/relationships/tags" Target="../tags/tag885.xml"/><Relationship Id="rId66" Type="http://schemas.openxmlformats.org/officeDocument/2006/relationships/tags" Target="../tags/tag906.xml"/><Relationship Id="rId61" Type="http://schemas.openxmlformats.org/officeDocument/2006/relationships/tags" Target="../tags/tag901.xml"/><Relationship Id="rId82" Type="http://schemas.openxmlformats.org/officeDocument/2006/relationships/tags" Target="../tags/tag92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" Target="slide47.xm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slide" Target="slide47.xm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Relationship Id="rId4" Type="http://schemas.openxmlformats.org/officeDocument/2006/relationships/slide" Target="slide4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925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slide" Target="slide43.xm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Relationship Id="rId4" Type="http://schemas.openxmlformats.org/officeDocument/2006/relationships/slide" Target="slide44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926.xml"/><Relationship Id="rId4" Type="http://schemas.openxmlformats.org/officeDocument/2006/relationships/slide" Target="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3" name="Text Box 5"/>
          <p:cNvSpPr txBox="1">
            <a:spLocks noChangeArrowheads="1"/>
          </p:cNvSpPr>
          <p:nvPr/>
        </p:nvSpPr>
        <p:spPr bwMode="auto">
          <a:xfrm>
            <a:off x="1258888" y="2595563"/>
            <a:ext cx="6697662" cy="822341"/>
          </a:xfrm>
          <a:prstGeom prst="rect">
            <a:avLst/>
          </a:prstGeom>
          <a:solidFill>
            <a:srgbClr val="CC99FF"/>
          </a:solidFill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4400" b="1" dirty="0">
                <a:latin typeface="黑体" panose="02010609060101010101" pitchFamily="2" charset="-122"/>
                <a:ea typeface="黑体" panose="02010609060101010101" pitchFamily="2" charset="-122"/>
              </a:rPr>
              <a:t>第七章  输入输出系统 </a:t>
            </a:r>
            <a:endParaRPr lang="zh-CN" altLang="en-US" sz="4400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BFB63-B979-4FAE-8763-D7093A979077}" type="slidenum">
              <a:rPr lang="en-US" altLang="zh-CN" smtClean="0"/>
              <a:t>2</a:t>
            </a:fld>
            <a:endParaRPr lang="en-US" altLang="zh-CN"/>
          </a:p>
        </p:txBody>
      </p:sp>
      <p:sp>
        <p:nvSpPr>
          <p:cNvPr id="3" name="Text Box 108"/>
          <p:cNvSpPr txBox="1">
            <a:spLocks noChangeArrowheads="1"/>
          </p:cNvSpPr>
          <p:nvPr/>
        </p:nvSpPr>
        <p:spPr bwMode="auto">
          <a:xfrm>
            <a:off x="142844" y="404664"/>
            <a:ext cx="8821644" cy="59004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lang="en-US" altLang="zh-CN" b="1" u="none" dirty="0">
                <a:solidFill>
                  <a:srgbClr val="FF3399"/>
                </a:solidFill>
                <a:latin typeface="+mn-ea"/>
                <a:ea typeface="+mn-ea"/>
              </a:rPr>
              <a:t> ※</a:t>
            </a:r>
            <a:r>
              <a:rPr lang="zh-CN" altLang="en-US" b="1" u="none" dirty="0">
                <a:solidFill>
                  <a:srgbClr val="FF3399"/>
                </a:solidFill>
                <a:latin typeface="+mn-ea"/>
                <a:ea typeface="+mn-ea"/>
              </a:rPr>
              <a:t>主要内容</a:t>
            </a:r>
            <a:endParaRPr lang="en-US" altLang="zh-CN" b="1" u="none" dirty="0">
              <a:solidFill>
                <a:srgbClr val="FF3399"/>
              </a:solidFill>
              <a:latin typeface="+mn-ea"/>
              <a:ea typeface="+mn-ea"/>
            </a:endParaRPr>
          </a:p>
          <a:p>
            <a:pPr algn="l">
              <a:lnSpc>
                <a:spcPct val="125000"/>
              </a:lnSpc>
            </a:pPr>
            <a:r>
              <a:rPr lang="zh-CN" altLang="en-US" sz="2200" b="1" u="none" dirty="0">
                <a:solidFill>
                  <a:srgbClr val="C00000"/>
                </a:solidFill>
                <a:latin typeface="+mn-ea"/>
                <a:ea typeface="+mn-ea"/>
              </a:rPr>
              <a:t>   ⑴</a:t>
            </a:r>
            <a:r>
              <a:rPr lang="en-US" altLang="zh-CN" sz="2200" b="1" u="none" dirty="0">
                <a:solidFill>
                  <a:srgbClr val="C00000"/>
                </a:solidFill>
                <a:latin typeface="+mn-ea"/>
                <a:ea typeface="+mn-ea"/>
              </a:rPr>
              <a:t>I/O</a:t>
            </a:r>
            <a:r>
              <a:rPr lang="zh-CN" altLang="en-US" sz="2200" b="1" u="none" dirty="0">
                <a:solidFill>
                  <a:srgbClr val="C00000"/>
                </a:solidFill>
                <a:latin typeface="+mn-ea"/>
                <a:ea typeface="+mn-ea"/>
              </a:rPr>
              <a:t>系统概述</a:t>
            </a:r>
            <a:endParaRPr lang="en-US" altLang="zh-CN" sz="2200" b="1" u="none" dirty="0">
              <a:solidFill>
                <a:srgbClr val="C00000"/>
              </a:solidFill>
              <a:latin typeface="+mn-ea"/>
              <a:ea typeface="+mn-ea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u="none" dirty="0">
                <a:solidFill>
                  <a:schemeClr val="tx1"/>
                </a:solidFill>
                <a:latin typeface="+mn-ea"/>
                <a:ea typeface="+mn-ea"/>
              </a:rPr>
              <a:t>      I/O</a:t>
            </a:r>
            <a:r>
              <a:rPr lang="zh-CN" altLang="en-US" sz="2200" b="1" u="none" dirty="0">
                <a:solidFill>
                  <a:schemeClr val="tx1"/>
                </a:solidFill>
                <a:latin typeface="+mn-ea"/>
                <a:ea typeface="+mn-ea"/>
              </a:rPr>
              <a:t>系统的组成</a:t>
            </a:r>
            <a:r>
              <a:rPr lang="en-US" altLang="zh-CN" sz="1600" b="1" u="none" dirty="0">
                <a:solidFill>
                  <a:schemeClr val="tx1"/>
                </a:solidFill>
                <a:latin typeface="+mn-ea"/>
                <a:ea typeface="+mn-ea"/>
              </a:rPr>
              <a:t>(</a:t>
            </a:r>
            <a:r>
              <a:rPr lang="zh-CN" altLang="en-US" sz="1600" b="1" u="none" dirty="0">
                <a:solidFill>
                  <a:schemeClr val="tx1"/>
                </a:solidFill>
                <a:latin typeface="+mn-ea"/>
                <a:ea typeface="+mn-ea"/>
              </a:rPr>
              <a:t>硬</a:t>
            </a:r>
            <a:r>
              <a:rPr lang="en-US" altLang="zh-CN" sz="1600" b="1" u="none" dirty="0">
                <a:solidFill>
                  <a:schemeClr val="tx1"/>
                </a:solidFill>
                <a:latin typeface="+mn-ea"/>
                <a:ea typeface="+mn-ea"/>
              </a:rPr>
              <a:t>+</a:t>
            </a:r>
            <a:r>
              <a:rPr lang="zh-CN" altLang="en-US" sz="1600" b="1" u="none" dirty="0">
                <a:solidFill>
                  <a:schemeClr val="tx1"/>
                </a:solidFill>
                <a:latin typeface="+mn-ea"/>
                <a:ea typeface="+mn-ea"/>
              </a:rPr>
              <a:t>软</a:t>
            </a:r>
            <a:r>
              <a:rPr lang="en-US" altLang="zh-CN" sz="1600" b="1" u="none" dirty="0">
                <a:solidFill>
                  <a:schemeClr val="tx1"/>
                </a:solidFill>
                <a:latin typeface="+mn-ea"/>
                <a:ea typeface="+mn-ea"/>
              </a:rPr>
              <a:t>)</a:t>
            </a:r>
            <a:r>
              <a:rPr lang="zh-CN" altLang="en-US" sz="2200" b="1" u="none" dirty="0">
                <a:solidFill>
                  <a:schemeClr val="tx1"/>
                </a:solidFill>
                <a:latin typeface="+mn-ea"/>
                <a:ea typeface="+mn-ea"/>
              </a:rPr>
              <a:t>，外设</a:t>
            </a:r>
            <a:r>
              <a:rPr lang="en-US" altLang="zh-CN" sz="2200" b="1" dirty="0">
                <a:latin typeface="+mn-ea"/>
                <a:ea typeface="+mn-ea"/>
                <a:sym typeface="+mn-ea"/>
              </a:rPr>
              <a:t>-</a:t>
            </a:r>
            <a:r>
              <a:rPr lang="zh-CN" sz="2200" b="1" dirty="0">
                <a:latin typeface="+mn-ea"/>
                <a:ea typeface="+mn-ea"/>
                <a:sym typeface="+mn-ea"/>
              </a:rPr>
              <a:t>主机</a:t>
            </a:r>
            <a:r>
              <a:rPr lang="zh-CN" altLang="en-US" sz="2200" b="1" u="none" dirty="0">
                <a:solidFill>
                  <a:schemeClr val="tx1"/>
                </a:solidFill>
                <a:latin typeface="+mn-ea"/>
                <a:ea typeface="+mn-ea"/>
              </a:rPr>
              <a:t>的联系</a:t>
            </a:r>
            <a:r>
              <a:rPr lang="en-US" altLang="zh-CN" sz="1600" b="1" u="none" dirty="0">
                <a:solidFill>
                  <a:schemeClr val="tx1"/>
                </a:solidFill>
                <a:latin typeface="+mn-ea"/>
                <a:ea typeface="+mn-ea"/>
              </a:rPr>
              <a:t>(</a:t>
            </a:r>
            <a:r>
              <a:rPr lang="zh-CN" altLang="en-US" sz="1600" b="1" u="none" dirty="0">
                <a:solidFill>
                  <a:schemeClr val="tx1"/>
                </a:solidFill>
                <a:latin typeface="+mn-ea"/>
                <a:ea typeface="+mn-ea"/>
              </a:rPr>
              <a:t>连接</a:t>
            </a:r>
            <a:r>
              <a:rPr lang="en-US" altLang="zh-CN" sz="1600" b="1" u="none" dirty="0">
                <a:solidFill>
                  <a:schemeClr val="tx1"/>
                </a:solidFill>
                <a:latin typeface="+mn-ea"/>
                <a:ea typeface="+mn-ea"/>
              </a:rPr>
              <a:t>/</a:t>
            </a:r>
            <a:r>
              <a:rPr lang="zh-CN" altLang="en-US" sz="1600" b="1" u="none" dirty="0">
                <a:solidFill>
                  <a:schemeClr val="tx1"/>
                </a:solidFill>
                <a:latin typeface="+mn-ea"/>
                <a:ea typeface="+mn-ea"/>
              </a:rPr>
              <a:t>编址</a:t>
            </a:r>
            <a:r>
              <a:rPr lang="en-US" altLang="zh-CN" sz="1600" b="1" u="none" dirty="0">
                <a:solidFill>
                  <a:schemeClr val="tx1"/>
                </a:solidFill>
                <a:latin typeface="+mn-ea"/>
                <a:ea typeface="+mn-ea"/>
              </a:rPr>
              <a:t>/</a:t>
            </a:r>
            <a:r>
              <a:rPr lang="zh-CN" altLang="en-US" sz="1600" b="1" u="none" dirty="0">
                <a:solidFill>
                  <a:schemeClr val="tx1"/>
                </a:solidFill>
                <a:latin typeface="+mn-ea"/>
                <a:ea typeface="+mn-ea"/>
              </a:rPr>
              <a:t>识别</a:t>
            </a:r>
            <a:r>
              <a:rPr lang="en-US" altLang="zh-CN" sz="1600" b="1" u="none" dirty="0">
                <a:solidFill>
                  <a:schemeClr val="tx1"/>
                </a:solidFill>
                <a:latin typeface="+mn-ea"/>
                <a:ea typeface="+mn-ea"/>
              </a:rPr>
              <a:t>/</a:t>
            </a:r>
            <a:r>
              <a:rPr lang="zh-CN" altLang="en-US" sz="1600" b="1" u="none" dirty="0">
                <a:solidFill>
                  <a:schemeClr val="tx1"/>
                </a:solidFill>
                <a:latin typeface="+mn-ea"/>
                <a:ea typeface="+mn-ea"/>
              </a:rPr>
              <a:t>联络</a:t>
            </a:r>
            <a:r>
              <a:rPr lang="en-US" altLang="zh-CN" sz="1600" b="1" u="none" dirty="0">
                <a:solidFill>
                  <a:schemeClr val="tx1"/>
                </a:solidFill>
                <a:latin typeface="+mn-ea"/>
                <a:ea typeface="+mn-ea"/>
              </a:rPr>
              <a:t>)</a:t>
            </a:r>
            <a:r>
              <a:rPr lang="zh-CN" altLang="en-US" sz="2200" b="1" u="none" dirty="0">
                <a:solidFill>
                  <a:schemeClr val="tx1"/>
                </a:solidFill>
                <a:latin typeface="+mn-ea"/>
                <a:ea typeface="+mn-ea"/>
              </a:rPr>
              <a:t>，</a:t>
            </a:r>
            <a:endParaRPr lang="en-US" altLang="zh-CN" sz="2200" b="1" u="none" dirty="0">
              <a:solidFill>
                <a:schemeClr val="tx1"/>
              </a:solidFill>
              <a:latin typeface="+mn-ea"/>
              <a:ea typeface="+mn-ea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>
                <a:latin typeface="+mn-ea"/>
                <a:ea typeface="+mn-ea"/>
              </a:rPr>
              <a:t>      </a:t>
            </a:r>
            <a:r>
              <a:rPr lang="en-US" altLang="zh-CN" sz="2200" b="1" u="none" dirty="0">
                <a:solidFill>
                  <a:schemeClr val="tx1"/>
                </a:solidFill>
                <a:latin typeface="+mn-ea"/>
                <a:ea typeface="+mn-ea"/>
              </a:rPr>
              <a:t>I/O</a:t>
            </a:r>
            <a:r>
              <a:rPr lang="zh-CN" altLang="en-US" sz="2200" b="1" u="none" dirty="0">
                <a:solidFill>
                  <a:schemeClr val="tx1"/>
                </a:solidFill>
                <a:latin typeface="+mn-ea"/>
                <a:ea typeface="+mn-ea"/>
              </a:rPr>
              <a:t>的传送控制</a:t>
            </a:r>
            <a:r>
              <a:rPr lang="en-US" altLang="zh-CN" sz="1600" b="1" u="none" dirty="0">
                <a:solidFill>
                  <a:schemeClr val="tx1"/>
                </a:solidFill>
                <a:latin typeface="+mn-ea"/>
                <a:ea typeface="+mn-ea"/>
              </a:rPr>
              <a:t>(</a:t>
            </a:r>
            <a:r>
              <a:rPr lang="zh-CN" altLang="en-US" sz="1600" b="1" u="none" dirty="0">
                <a:solidFill>
                  <a:schemeClr val="tx1"/>
                </a:solidFill>
                <a:latin typeface="+mn-ea"/>
                <a:ea typeface="+mn-ea"/>
              </a:rPr>
              <a:t>查询</a:t>
            </a:r>
            <a:r>
              <a:rPr lang="en-US" altLang="zh-CN" sz="1600" b="1" u="none" dirty="0">
                <a:solidFill>
                  <a:schemeClr val="tx1"/>
                </a:solidFill>
                <a:latin typeface="+mn-ea"/>
                <a:ea typeface="+mn-ea"/>
              </a:rPr>
              <a:t>/</a:t>
            </a:r>
            <a:r>
              <a:rPr lang="zh-CN" altLang="en-US" sz="1600" b="1" u="none" dirty="0">
                <a:solidFill>
                  <a:schemeClr val="tx1"/>
                </a:solidFill>
                <a:latin typeface="+mn-ea"/>
                <a:ea typeface="+mn-ea"/>
              </a:rPr>
              <a:t>中断</a:t>
            </a:r>
            <a:r>
              <a:rPr lang="en-US" altLang="zh-CN" sz="1600" b="1" u="none" dirty="0">
                <a:solidFill>
                  <a:schemeClr val="tx1"/>
                </a:solidFill>
                <a:latin typeface="+mn-ea"/>
                <a:ea typeface="+mn-ea"/>
              </a:rPr>
              <a:t>/</a:t>
            </a:r>
            <a:r>
              <a:rPr lang="en-US" altLang="zh-CN" sz="1600" b="1" dirty="0">
                <a:latin typeface="+mn-ea"/>
                <a:ea typeface="+mn-ea"/>
              </a:rPr>
              <a:t>DMA</a:t>
            </a:r>
            <a:r>
              <a:rPr lang="zh-CN" altLang="en-US" sz="1600" b="1" dirty="0">
                <a:latin typeface="+mn-ea"/>
                <a:ea typeface="+mn-ea"/>
              </a:rPr>
              <a:t>，直接</a:t>
            </a:r>
            <a:r>
              <a:rPr lang="en-US" altLang="zh-CN" sz="1600" b="1" dirty="0">
                <a:latin typeface="+mn-ea"/>
                <a:ea typeface="+mn-ea"/>
              </a:rPr>
              <a:t>)</a:t>
            </a:r>
            <a:endParaRPr lang="en-US" altLang="zh-CN" sz="1600" b="1" u="none" dirty="0">
              <a:solidFill>
                <a:schemeClr val="tx1"/>
              </a:solidFill>
              <a:latin typeface="+mn-ea"/>
              <a:ea typeface="+mn-ea"/>
            </a:endParaRPr>
          </a:p>
          <a:p>
            <a:pPr algn="l">
              <a:lnSpc>
                <a:spcPct val="125000"/>
              </a:lnSpc>
              <a:spcBef>
                <a:spcPts val="300"/>
              </a:spcBef>
            </a:pPr>
            <a:r>
              <a:rPr lang="zh-CN" altLang="en-US" sz="2200" b="1" u="none" dirty="0">
                <a:solidFill>
                  <a:srgbClr val="C00000"/>
                </a:solidFill>
                <a:latin typeface="+mn-ea"/>
                <a:ea typeface="+mn-ea"/>
              </a:rPr>
              <a:t>   ⑵外部设备</a:t>
            </a:r>
            <a:r>
              <a:rPr lang="en-US" altLang="zh-CN" sz="1800" b="1" spc="-50" dirty="0">
                <a:latin typeface="+mn-ea"/>
              </a:rPr>
              <a:t>(</a:t>
            </a:r>
            <a:r>
              <a:rPr lang="zh-CN" altLang="en-US" sz="1800" b="1" spc="-50" dirty="0">
                <a:latin typeface="+mn-ea"/>
              </a:rPr>
              <a:t>△</a:t>
            </a:r>
            <a:r>
              <a:rPr lang="en-US" altLang="zh-CN" sz="1800" b="1" spc="-50" dirty="0">
                <a:latin typeface="+mn-ea"/>
              </a:rPr>
              <a:t>)</a:t>
            </a:r>
            <a:r>
              <a:rPr lang="zh-CN" altLang="en-US" sz="2200" b="1" u="none" dirty="0">
                <a:solidFill>
                  <a:srgbClr val="C00000"/>
                </a:solidFill>
                <a:latin typeface="+mn-ea"/>
                <a:ea typeface="+mn-ea"/>
              </a:rPr>
              <a:t> </a:t>
            </a:r>
            <a:r>
              <a:rPr lang="zh-CN" altLang="en-US" sz="2200" b="1" dirty="0">
                <a:latin typeface="+mn-ea"/>
                <a:ea typeface="+mn-ea"/>
              </a:rPr>
              <a:t> 输入</a:t>
            </a:r>
            <a:r>
              <a:rPr lang="en-US" altLang="zh-CN" sz="2200" b="1" dirty="0">
                <a:latin typeface="+mn-ea"/>
                <a:ea typeface="+mn-ea"/>
              </a:rPr>
              <a:t>/</a:t>
            </a:r>
            <a:r>
              <a:rPr lang="zh-CN" altLang="en-US" sz="2200" b="1" dirty="0">
                <a:latin typeface="+mn-ea"/>
                <a:ea typeface="+mn-ea"/>
              </a:rPr>
              <a:t>输出</a:t>
            </a:r>
            <a:r>
              <a:rPr lang="en-US" altLang="zh-CN" sz="2200" b="1" dirty="0">
                <a:latin typeface="+mn-ea"/>
                <a:ea typeface="+mn-ea"/>
              </a:rPr>
              <a:t>/</a:t>
            </a:r>
            <a:r>
              <a:rPr lang="zh-CN" altLang="en-US" sz="2200" b="1" u="sng" dirty="0">
                <a:latin typeface="+mn-ea"/>
                <a:ea typeface="+mn-ea"/>
              </a:rPr>
              <a:t>存储</a:t>
            </a:r>
            <a:r>
              <a:rPr lang="zh-CN" altLang="en-US" sz="2200" b="1" dirty="0">
                <a:latin typeface="+mn-ea"/>
                <a:ea typeface="+mn-ea"/>
              </a:rPr>
              <a:t>设备的组成、工作原理</a:t>
            </a:r>
            <a:endParaRPr lang="en-US" altLang="zh-CN" sz="2200" b="1" dirty="0">
              <a:latin typeface="+mn-ea"/>
              <a:ea typeface="+mn-ea"/>
            </a:endParaRPr>
          </a:p>
          <a:p>
            <a:pPr algn="l">
              <a:lnSpc>
                <a:spcPct val="125000"/>
              </a:lnSpc>
              <a:spcBef>
                <a:spcPts val="300"/>
              </a:spcBef>
            </a:pPr>
            <a:r>
              <a:rPr lang="zh-CN" altLang="en-US" sz="2200" b="1" u="none" dirty="0">
                <a:solidFill>
                  <a:srgbClr val="C00000"/>
                </a:solidFill>
                <a:latin typeface="+mn-ea"/>
                <a:ea typeface="+mn-ea"/>
              </a:rPr>
              <a:t>   ⑶</a:t>
            </a:r>
            <a:r>
              <a:rPr lang="en-US" altLang="zh-CN" sz="2200" b="1" u="none" dirty="0">
                <a:solidFill>
                  <a:srgbClr val="C00000"/>
                </a:solidFill>
                <a:latin typeface="+mn-ea"/>
                <a:ea typeface="+mn-ea"/>
              </a:rPr>
              <a:t>I/O</a:t>
            </a:r>
            <a:r>
              <a:rPr lang="zh-CN" altLang="en-US" sz="2200" b="1" u="none" dirty="0">
                <a:solidFill>
                  <a:srgbClr val="C00000"/>
                </a:solidFill>
                <a:latin typeface="+mn-ea"/>
                <a:ea typeface="+mn-ea"/>
              </a:rPr>
              <a:t>接口</a:t>
            </a:r>
            <a:r>
              <a:rPr lang="zh-CN" altLang="en-US" sz="2200" b="1" u="none" dirty="0">
                <a:solidFill>
                  <a:schemeClr val="tx1"/>
                </a:solidFill>
                <a:latin typeface="+mn-ea"/>
                <a:ea typeface="+mn-ea"/>
              </a:rPr>
              <a:t>      功能，组成</a:t>
            </a:r>
            <a:r>
              <a:rPr lang="zh-CN" altLang="en-US" sz="2200" b="1" dirty="0">
                <a:latin typeface="+mn-ea"/>
              </a:rPr>
              <a:t>及工作原理</a:t>
            </a:r>
            <a:r>
              <a:rPr lang="zh-CN" altLang="en-US" sz="2200" b="1" u="none" dirty="0">
                <a:solidFill>
                  <a:schemeClr val="tx1"/>
                </a:solidFill>
                <a:latin typeface="+mn-ea"/>
                <a:ea typeface="+mn-ea"/>
              </a:rPr>
              <a:t>，软件访问方法</a:t>
            </a:r>
            <a:endParaRPr lang="en-US" altLang="zh-CN" sz="2200" b="1" u="none" dirty="0">
              <a:solidFill>
                <a:schemeClr val="tx1"/>
              </a:solidFill>
              <a:latin typeface="+mn-ea"/>
              <a:ea typeface="+mn-ea"/>
            </a:endParaRPr>
          </a:p>
          <a:p>
            <a:pPr algn="l">
              <a:lnSpc>
                <a:spcPct val="125000"/>
              </a:lnSpc>
              <a:spcBef>
                <a:spcPts val="300"/>
              </a:spcBef>
            </a:pPr>
            <a:r>
              <a:rPr lang="en-US" altLang="zh-CN" sz="2200" b="1" u="none" dirty="0">
                <a:solidFill>
                  <a:srgbClr val="C00000"/>
                </a:solidFill>
                <a:latin typeface="+mn-ea"/>
                <a:ea typeface="+mn-ea"/>
              </a:rPr>
              <a:t>   </a:t>
            </a:r>
            <a:r>
              <a:rPr lang="zh-CN" altLang="en-US" sz="2200" b="1" u="none" dirty="0">
                <a:solidFill>
                  <a:srgbClr val="C00000"/>
                </a:solidFill>
                <a:latin typeface="+mn-ea"/>
                <a:ea typeface="+mn-ea"/>
              </a:rPr>
              <a:t>⑷程序直接控制</a:t>
            </a:r>
            <a:r>
              <a:rPr lang="en-US" altLang="zh-CN" sz="2200" b="1" u="none" dirty="0">
                <a:solidFill>
                  <a:srgbClr val="C00000"/>
                </a:solidFill>
                <a:latin typeface="+mn-ea"/>
                <a:ea typeface="+mn-ea"/>
              </a:rPr>
              <a:t>I/O</a:t>
            </a:r>
            <a:r>
              <a:rPr lang="zh-CN" altLang="en-US" sz="2200" b="1" u="none" dirty="0">
                <a:solidFill>
                  <a:srgbClr val="C00000"/>
                </a:solidFill>
                <a:latin typeface="+mn-ea"/>
                <a:ea typeface="+mn-ea"/>
              </a:rPr>
              <a:t>方式</a:t>
            </a:r>
            <a:endParaRPr lang="en-US" altLang="zh-CN" sz="2200" b="1" u="none" dirty="0">
              <a:solidFill>
                <a:srgbClr val="C00000"/>
              </a:solidFill>
              <a:latin typeface="+mn-ea"/>
              <a:ea typeface="+mn-ea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u="none" dirty="0">
                <a:latin typeface="+mn-ea"/>
                <a:ea typeface="+mn-ea"/>
              </a:rPr>
              <a:t>      </a:t>
            </a:r>
            <a:r>
              <a:rPr lang="zh-CN" altLang="en-US" sz="2200" b="1" u="none" spc="-100" dirty="0">
                <a:latin typeface="+mn-ea"/>
                <a:ea typeface="+mn-ea"/>
              </a:rPr>
              <a:t>查询</a:t>
            </a:r>
            <a:r>
              <a:rPr lang="zh-CN" altLang="en-US" sz="2200" b="1" spc="-100" dirty="0">
                <a:latin typeface="+mn-ea"/>
                <a:ea typeface="+mn-ea"/>
              </a:rPr>
              <a:t>方式、直接传送方式的</a:t>
            </a:r>
            <a:r>
              <a:rPr lang="en-US" altLang="zh-CN" sz="2200" b="1" u="none" spc="-100" dirty="0">
                <a:latin typeface="+mn-ea"/>
                <a:ea typeface="+mn-ea"/>
              </a:rPr>
              <a:t>I/O</a:t>
            </a:r>
            <a:r>
              <a:rPr lang="zh-CN" altLang="en-US" sz="2200" b="1" u="none" spc="-100" dirty="0">
                <a:latin typeface="+mn-ea"/>
                <a:ea typeface="+mn-ea"/>
              </a:rPr>
              <a:t>控制流程、接口组织</a:t>
            </a:r>
            <a:endParaRPr lang="en-US" altLang="zh-CN" sz="2200" b="1" u="none" dirty="0">
              <a:latin typeface="+mn-ea"/>
              <a:ea typeface="+mn-ea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spc="-50" dirty="0">
                <a:solidFill>
                  <a:srgbClr val="C00000"/>
                </a:solidFill>
                <a:latin typeface="+mn-ea"/>
                <a:ea typeface="+mn-ea"/>
              </a:rPr>
              <a:t>   </a:t>
            </a:r>
            <a:r>
              <a:rPr lang="zh-CN" altLang="en-US" sz="2200" b="1" spc="-50" dirty="0">
                <a:solidFill>
                  <a:srgbClr val="C00000"/>
                </a:solidFill>
                <a:latin typeface="+mn-ea"/>
                <a:ea typeface="+mn-ea"/>
              </a:rPr>
              <a:t>⑸程序中断</a:t>
            </a:r>
            <a:r>
              <a:rPr lang="en-US" altLang="zh-CN" sz="2200" b="1" spc="-50" dirty="0">
                <a:solidFill>
                  <a:srgbClr val="C00000"/>
                </a:solidFill>
                <a:latin typeface="+mn-ea"/>
                <a:ea typeface="+mn-ea"/>
              </a:rPr>
              <a:t>I/O</a:t>
            </a:r>
            <a:r>
              <a:rPr lang="zh-CN" altLang="en-US" sz="2200" b="1" spc="-50" dirty="0">
                <a:solidFill>
                  <a:srgbClr val="C00000"/>
                </a:solidFill>
                <a:latin typeface="+mn-ea"/>
                <a:ea typeface="+mn-ea"/>
              </a:rPr>
              <a:t>方式 </a:t>
            </a:r>
            <a:endParaRPr lang="en-US" altLang="zh-CN" sz="2200" b="1" spc="-50" dirty="0">
              <a:solidFill>
                <a:srgbClr val="C00000"/>
              </a:solidFill>
              <a:latin typeface="+mn-ea"/>
              <a:ea typeface="+mn-ea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spc="-50" dirty="0">
                <a:latin typeface="+mn-ea"/>
                <a:ea typeface="+mn-ea"/>
              </a:rPr>
              <a:t>      </a:t>
            </a:r>
            <a:r>
              <a:rPr lang="en-US" altLang="zh-CN" sz="2200" b="1" spc="-100" dirty="0">
                <a:latin typeface="+mn-ea"/>
              </a:rPr>
              <a:t>I/O</a:t>
            </a:r>
            <a:r>
              <a:rPr lang="zh-CN" altLang="en-US" sz="2200" b="1" spc="-100" dirty="0">
                <a:latin typeface="+mn-ea"/>
              </a:rPr>
              <a:t>控制流程</a:t>
            </a:r>
            <a:r>
              <a:rPr lang="zh-CN" altLang="en-US" sz="2200" b="1" spc="-100" dirty="0">
                <a:latin typeface="+mn-ea"/>
                <a:ea typeface="+mn-ea"/>
              </a:rPr>
              <a:t>，接口组织，中断源识别，中断系统结构</a:t>
            </a:r>
            <a:r>
              <a:rPr lang="en-US" altLang="zh-CN" sz="1800" b="1" spc="-100" dirty="0">
                <a:latin typeface="+mn-ea"/>
                <a:ea typeface="+mn-ea"/>
              </a:rPr>
              <a:t>(</a:t>
            </a:r>
            <a:r>
              <a:rPr lang="zh-CN" altLang="en-US" sz="1800" b="1" spc="-100" dirty="0">
                <a:latin typeface="+mn-ea"/>
              </a:rPr>
              <a:t>△</a:t>
            </a:r>
            <a:r>
              <a:rPr lang="en-US" altLang="zh-CN" sz="1800" b="1" spc="-100" dirty="0">
                <a:latin typeface="+mn-ea"/>
                <a:ea typeface="+mn-ea"/>
              </a:rPr>
              <a:t>)</a:t>
            </a:r>
            <a:endParaRPr lang="en-US" altLang="zh-CN" sz="2200" b="1" spc="-100" dirty="0">
              <a:latin typeface="+mn-ea"/>
              <a:ea typeface="+mn-ea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spc="-50" dirty="0">
                <a:solidFill>
                  <a:srgbClr val="C00000"/>
                </a:solidFill>
                <a:latin typeface="+mn-ea"/>
                <a:ea typeface="+mn-ea"/>
              </a:rPr>
              <a:t>   </a:t>
            </a:r>
            <a:r>
              <a:rPr lang="zh-CN" altLang="en-US" sz="2200" b="1" spc="-50" dirty="0">
                <a:solidFill>
                  <a:srgbClr val="C00000"/>
                </a:solidFill>
                <a:latin typeface="+mn-ea"/>
                <a:ea typeface="+mn-ea"/>
              </a:rPr>
              <a:t>⑹</a:t>
            </a:r>
            <a:r>
              <a:rPr lang="en-US" altLang="zh-CN" sz="2200" b="1" spc="-50" dirty="0">
                <a:solidFill>
                  <a:srgbClr val="C00000"/>
                </a:solidFill>
                <a:latin typeface="+mn-ea"/>
                <a:ea typeface="+mn-ea"/>
              </a:rPr>
              <a:t>DMA</a:t>
            </a:r>
            <a:r>
              <a:rPr lang="zh-CN" altLang="en-US" sz="2200" b="1" spc="-50" dirty="0">
                <a:solidFill>
                  <a:srgbClr val="C00000"/>
                </a:solidFill>
                <a:latin typeface="+mn-ea"/>
                <a:ea typeface="+mn-ea"/>
              </a:rPr>
              <a:t>方式 </a:t>
            </a:r>
            <a:r>
              <a:rPr lang="en-US" altLang="zh-CN" sz="1800" b="1" spc="-50" dirty="0">
                <a:latin typeface="+mn-ea"/>
                <a:ea typeface="+mn-ea"/>
              </a:rPr>
              <a:t>(</a:t>
            </a:r>
            <a:r>
              <a:rPr lang="zh-CN" altLang="en-US" sz="1800" b="1" spc="-50" dirty="0">
                <a:latin typeface="+mn-ea"/>
                <a:ea typeface="+mn-ea"/>
              </a:rPr>
              <a:t>◇</a:t>
            </a:r>
            <a:r>
              <a:rPr lang="en-US" altLang="zh-CN" sz="1800" b="1" spc="-50" dirty="0">
                <a:latin typeface="+mn-ea"/>
                <a:ea typeface="+mn-ea"/>
              </a:rPr>
              <a:t>)</a:t>
            </a:r>
            <a:endParaRPr lang="en-US" altLang="zh-CN" sz="2000" b="1" spc="-50" dirty="0">
              <a:latin typeface="+mn-ea"/>
              <a:ea typeface="+mn-ea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u="none" spc="-50" dirty="0">
                <a:latin typeface="+mn-ea"/>
                <a:ea typeface="+mn-ea"/>
              </a:rPr>
              <a:t>      </a:t>
            </a:r>
            <a:r>
              <a:rPr lang="zh-CN" altLang="en-US" sz="2200" b="1" u="none" spc="-50" dirty="0">
                <a:latin typeface="+mn-ea"/>
                <a:ea typeface="+mn-ea"/>
              </a:rPr>
              <a:t>传送方式分类，接口基本结构，传送过程，接口的组织</a:t>
            </a:r>
            <a:r>
              <a:rPr lang="en-US" altLang="zh-CN" sz="1800" b="1" spc="-50" dirty="0">
                <a:latin typeface="+mn-ea"/>
              </a:rPr>
              <a:t>(</a:t>
            </a:r>
            <a:r>
              <a:rPr lang="en-US" altLang="zh-CN" sz="1800" b="1" dirty="0">
                <a:latin typeface="+mn-ea"/>
              </a:rPr>
              <a:t>×</a:t>
            </a:r>
            <a:r>
              <a:rPr lang="en-US" altLang="zh-CN" sz="1800" b="1" spc="-50" dirty="0">
                <a:latin typeface="+mn-ea"/>
              </a:rPr>
              <a:t>)</a:t>
            </a:r>
          </a:p>
          <a:p>
            <a:pPr algn="l">
              <a:lnSpc>
                <a:spcPct val="125000"/>
              </a:lnSpc>
              <a:spcBef>
                <a:spcPts val="300"/>
              </a:spcBef>
            </a:pPr>
            <a:r>
              <a:rPr lang="en-US" altLang="zh-CN" b="1" spc="-50" dirty="0">
                <a:solidFill>
                  <a:srgbClr val="FF3399"/>
                </a:solidFill>
                <a:latin typeface="+mn-ea"/>
              </a:rPr>
              <a:t> ※</a:t>
            </a:r>
            <a:r>
              <a:rPr lang="zh-CN" altLang="en-US" b="1" spc="-50" dirty="0">
                <a:solidFill>
                  <a:srgbClr val="FF3399"/>
                </a:solidFill>
                <a:latin typeface="+mn-ea"/>
              </a:rPr>
              <a:t>总体要求：</a:t>
            </a:r>
            <a:r>
              <a:rPr lang="zh-CN" altLang="en-US" sz="2200" b="1" u="sng" spc="-150" dirty="0">
                <a:solidFill>
                  <a:schemeClr val="accent2"/>
                </a:solidFill>
                <a:latin typeface="宋体" panose="02010600030101010101" pitchFamily="2" charset="-122"/>
              </a:rPr>
              <a:t>掌握</a:t>
            </a:r>
            <a:r>
              <a:rPr lang="en-US" altLang="zh-CN" sz="2200" b="1" spc="-150" dirty="0">
                <a:latin typeface="宋体" panose="02010600030101010101" pitchFamily="2" charset="-122"/>
              </a:rPr>
              <a:t>I/O</a:t>
            </a:r>
            <a:r>
              <a:rPr lang="zh-CN" altLang="en-US" sz="2200" b="1" spc="-150" dirty="0">
                <a:latin typeface="宋体" panose="02010600030101010101" pitchFamily="2" charset="-122"/>
              </a:rPr>
              <a:t>的软硬件协同，</a:t>
            </a:r>
            <a:r>
              <a:rPr lang="zh-CN" altLang="en-US" sz="2200" b="1" u="sng" spc="-150" dirty="0">
                <a:solidFill>
                  <a:schemeClr val="accent2"/>
                </a:solidFill>
                <a:latin typeface="宋体" panose="02010600030101010101" pitchFamily="2" charset="-122"/>
              </a:rPr>
              <a:t>理解</a:t>
            </a:r>
            <a:r>
              <a:rPr lang="zh-CN" altLang="en-US" sz="2200" b="1" spc="-150" dirty="0">
                <a:latin typeface="宋体" panose="02010600030101010101" pitchFamily="2" charset="-122"/>
              </a:rPr>
              <a:t>各种</a:t>
            </a:r>
            <a:r>
              <a:rPr lang="en-US" altLang="zh-CN" sz="2200" b="1" spc="-150" dirty="0">
                <a:latin typeface="宋体" panose="02010600030101010101" pitchFamily="2" charset="-122"/>
              </a:rPr>
              <a:t>I/O</a:t>
            </a:r>
            <a:r>
              <a:rPr lang="zh-CN" altLang="en-US" sz="2200" b="1" spc="-150" dirty="0">
                <a:latin typeface="宋体" panose="02010600030101010101" pitchFamily="2" charset="-122"/>
              </a:rPr>
              <a:t>方式的接口组成</a:t>
            </a:r>
            <a:endParaRPr lang="en-US" altLang="zh-CN" sz="2200" b="1" spc="-50" dirty="0">
              <a:solidFill>
                <a:srgbClr val="FF3399"/>
              </a:solidFill>
              <a:latin typeface="+mn-ea"/>
            </a:endParaRPr>
          </a:p>
        </p:txBody>
      </p:sp>
      <p:sp>
        <p:nvSpPr>
          <p:cNvPr id="4" name="左大括号 3"/>
          <p:cNvSpPr/>
          <p:nvPr/>
        </p:nvSpPr>
        <p:spPr bwMode="auto">
          <a:xfrm>
            <a:off x="519232" y="3334207"/>
            <a:ext cx="92328" cy="1728000"/>
          </a:xfrm>
          <a:prstGeom prst="leftBrace">
            <a:avLst>
              <a:gd name="adj1" fmla="val 38568"/>
              <a:gd name="adj2" fmla="val 50000"/>
            </a:avLst>
          </a:prstGeom>
          <a:noFill/>
          <a:ln w="127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" name="AutoShape 452">
            <a:hlinkClick r:id="rId2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8533134" y="1101959"/>
            <a:ext cx="287338" cy="287337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" name="AutoShape 452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8533134" y="2326790"/>
            <a:ext cx="287338" cy="287337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" name="AutoShape 452">
            <a:hlinkClick r:id="rId4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8533134" y="2758143"/>
            <a:ext cx="287338" cy="287337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" name="AutoShape 452">
            <a:hlinkClick r:id="rId5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8533134" y="3190191"/>
            <a:ext cx="287338" cy="287337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" name="AutoShape 452">
            <a:hlinkClick r:id="rId6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8532440" y="4077072"/>
            <a:ext cx="287338" cy="287337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" name="AutoShape 452">
            <a:hlinkClick r:id="rId7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8532440" y="4868466"/>
            <a:ext cx="287338" cy="287337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BFB63-B979-4FAE-8763-D7093A979077}" type="slidenum">
              <a:rPr lang="en-US" altLang="zh-CN" smtClean="0"/>
              <a:t>3</a:t>
            </a:fld>
            <a:endParaRPr lang="en-US" altLang="zh-CN"/>
          </a:p>
        </p:txBody>
      </p:sp>
      <p:sp>
        <p:nvSpPr>
          <p:cNvPr id="3" name="Text Box 4"/>
          <p:cNvSpPr txBox="1">
            <a:spLocks noChangeArrowheads="1"/>
          </p:cNvSpPr>
          <p:nvPr/>
        </p:nvSpPr>
        <p:spPr bwMode="auto">
          <a:xfrm>
            <a:off x="838200" y="260648"/>
            <a:ext cx="7467600" cy="5232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2800" b="1" dirty="0">
                <a:latin typeface="宋体" panose="02010600030101010101" pitchFamily="2" charset="-122"/>
              </a:rPr>
              <a:t>§7.1  I/O</a:t>
            </a:r>
            <a:r>
              <a:rPr lang="zh-CN" altLang="en-US" sz="2800" b="1" dirty="0">
                <a:latin typeface="宋体" panose="02010600030101010101" pitchFamily="2" charset="-122"/>
              </a:rPr>
              <a:t>系统概述</a:t>
            </a:r>
          </a:p>
        </p:txBody>
      </p:sp>
      <p:sp>
        <p:nvSpPr>
          <p:cNvPr id="17" name="Text Box 526"/>
          <p:cNvSpPr txBox="1">
            <a:spLocks noChangeArrowheads="1"/>
          </p:cNvSpPr>
          <p:nvPr/>
        </p:nvSpPr>
        <p:spPr bwMode="auto">
          <a:xfrm>
            <a:off x="179512" y="836712"/>
            <a:ext cx="8785225" cy="40011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l"/>
            <a:r>
              <a:rPr lang="en-US" altLang="zh-CN" sz="2000" b="1" dirty="0">
                <a:solidFill>
                  <a:srgbClr val="FF3399"/>
                </a:solidFill>
                <a:latin typeface="+mn-ea"/>
                <a:ea typeface="+mn-ea"/>
              </a:rPr>
              <a:t>  ※</a:t>
            </a:r>
            <a:r>
              <a:rPr lang="zh-CN" altLang="en-US" sz="2000" b="1" dirty="0">
                <a:solidFill>
                  <a:srgbClr val="FF3399"/>
                </a:solidFill>
                <a:latin typeface="+mn-ea"/>
                <a:ea typeface="+mn-ea"/>
              </a:rPr>
              <a:t>主要内容：</a:t>
            </a:r>
            <a:r>
              <a:rPr lang="en-US" altLang="zh-CN" sz="2000" b="1" dirty="0">
                <a:latin typeface="+mn-ea"/>
              </a:rPr>
              <a:t>I/O</a:t>
            </a:r>
            <a:r>
              <a:rPr lang="zh-CN" altLang="en-US" sz="2000" b="1" dirty="0">
                <a:latin typeface="+mn-ea"/>
              </a:rPr>
              <a:t>系统的组成，主机与外设的联系，</a:t>
            </a:r>
            <a:r>
              <a:rPr lang="en-US" altLang="zh-CN" sz="2000" b="1" dirty="0">
                <a:latin typeface="+mn-ea"/>
              </a:rPr>
              <a:t>I/O</a:t>
            </a:r>
            <a:r>
              <a:rPr lang="zh-CN" altLang="en-US" sz="2000" b="1" dirty="0">
                <a:latin typeface="+mn-ea"/>
              </a:rPr>
              <a:t>的传送控制</a:t>
            </a:r>
            <a:endParaRPr lang="en-US" altLang="zh-CN" sz="2000" b="1" dirty="0">
              <a:latin typeface="+mn-ea"/>
              <a:ea typeface="+mn-ea"/>
            </a:endParaRPr>
          </a:p>
        </p:txBody>
      </p:sp>
      <p:sp>
        <p:nvSpPr>
          <p:cNvPr id="5" name="Text Box 125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79705" y="1340768"/>
            <a:ext cx="2952135" cy="3702873"/>
          </a:xfrm>
          <a:prstGeom prst="rect">
            <a:avLst/>
          </a:prstGeom>
          <a:noFill/>
          <a:ln w="38100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b="1" dirty="0">
                <a:solidFill>
                  <a:srgbClr val="FF3399"/>
                </a:solidFill>
                <a:latin typeface="宋体" panose="02010600030101010101" pitchFamily="2" charset="-122"/>
              </a:rPr>
              <a:t>1</a:t>
            </a:r>
            <a:r>
              <a:rPr lang="zh-CN" altLang="en-US" b="1" dirty="0">
                <a:solidFill>
                  <a:srgbClr val="FF3399"/>
                </a:solidFill>
                <a:latin typeface="宋体" panose="02010600030101010101" pitchFamily="2" charset="-122"/>
              </a:rPr>
              <a:t>、</a:t>
            </a:r>
            <a:r>
              <a:rPr lang="en-US" altLang="zh-CN" b="1" dirty="0">
                <a:solidFill>
                  <a:srgbClr val="FF3399"/>
                </a:solidFill>
                <a:latin typeface="+mn-ea"/>
              </a:rPr>
              <a:t>I/O</a:t>
            </a:r>
            <a:r>
              <a:rPr lang="zh-CN" altLang="en-US" b="1" dirty="0">
                <a:solidFill>
                  <a:srgbClr val="FF3399"/>
                </a:solidFill>
                <a:latin typeface="+mn-ea"/>
              </a:rPr>
              <a:t>系统的组成</a:t>
            </a:r>
            <a:endParaRPr lang="en-US" altLang="zh-CN" b="1" dirty="0">
              <a:solidFill>
                <a:srgbClr val="FF3399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*I/O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系统的功能：</a:t>
            </a:r>
            <a:r>
              <a:rPr lang="en-US" altLang="zh-CN" sz="2200" b="1" dirty="0">
                <a:latin typeface="宋体" panose="02010600030101010101" pitchFamily="2" charset="-122"/>
              </a:rPr>
              <a:t> 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1200"/>
              </a:spcBef>
              <a:spcAft>
                <a:spcPts val="0"/>
              </a:spcAft>
            </a:pP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I/O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系统的组成：</a:t>
            </a: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I/O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硬件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600" b="1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 algn="l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I/O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软件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 dirty="0">
                <a:latin typeface="宋体" panose="02010600030101010101" pitchFamily="2" charset="-122"/>
                <a:sym typeface="+mn-ea"/>
              </a:rPr>
              <a:t>         └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←即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I/O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驱动程序</a:t>
            </a:r>
            <a:endParaRPr lang="en-US" altLang="zh-CN" sz="16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*</a:t>
            </a: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I/O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系统的性能：</a:t>
            </a:r>
            <a:endParaRPr lang="zh-CN" altLang="en-US" sz="2200" b="1" dirty="0">
              <a:latin typeface="宋体" panose="02010600030101010101" pitchFamily="2" charset="-122"/>
            </a:endParaRPr>
          </a:p>
        </p:txBody>
      </p:sp>
      <p:sp>
        <p:nvSpPr>
          <p:cNvPr id="6" name="Text Box 125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2051720" y="1845479"/>
            <a:ext cx="7021312" cy="3887672"/>
          </a:xfrm>
          <a:prstGeom prst="rect">
            <a:avLst/>
          </a:prstGeom>
          <a:noFill/>
          <a:ln w="38100">
            <a:noFill/>
            <a:miter lim="800000"/>
          </a:ln>
          <a:effectLst/>
        </p:spPr>
        <p:txBody>
          <a:bodyPr wrap="square" tIns="10800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dirty="0">
                <a:latin typeface="宋体" panose="02010600030101010101" pitchFamily="2" charset="-122"/>
              </a:rPr>
              <a:t>实现</a:t>
            </a:r>
            <a:r>
              <a:rPr lang="zh-CN" altLang="en-US" sz="2200" b="1" u="sng" dirty="0">
                <a:solidFill>
                  <a:srgbClr val="0070C0"/>
                </a:solidFill>
                <a:latin typeface="宋体" panose="02010600030101010101" pitchFamily="2" charset="-122"/>
              </a:rPr>
              <a:t>主机</a:t>
            </a:r>
            <a:r>
              <a:rPr lang="en-US" altLang="zh-CN" sz="2200" b="1" u="sng" dirty="0">
                <a:solidFill>
                  <a:srgbClr val="0070C0"/>
                </a:solidFill>
                <a:latin typeface="宋体" panose="02010600030101010101" pitchFamily="2" charset="-122"/>
              </a:rPr>
              <a:t>-</a:t>
            </a:r>
            <a:r>
              <a:rPr lang="zh-CN" altLang="en-US" sz="2200" b="1" u="sng" dirty="0">
                <a:solidFill>
                  <a:srgbClr val="0070C0"/>
                </a:solidFill>
                <a:latin typeface="宋体" panose="02010600030101010101" pitchFamily="2" charset="-122"/>
              </a:rPr>
              <a:t>外设间</a:t>
            </a:r>
            <a:r>
              <a:rPr lang="zh-CN" altLang="en-US" sz="2200" b="1" dirty="0">
                <a:latin typeface="宋体" panose="02010600030101010101" pitchFamily="2" charset="-122"/>
              </a:rPr>
              <a:t>的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信息交换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又称</a:t>
            </a:r>
            <a:r>
              <a:rPr lang="en-US" altLang="zh-CN" sz="1800" b="1" dirty="0">
                <a:latin typeface="宋体" panose="02010600030101010101" pitchFamily="2" charset="-122"/>
              </a:rPr>
              <a:t>I/O)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 algn="l">
              <a:lnSpc>
                <a:spcPct val="90000"/>
              </a:lnSpc>
            </a:pPr>
            <a:endParaRPr lang="en-US" altLang="zh-CN" sz="22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1200"/>
              </a:spcBef>
            </a:pPr>
            <a:r>
              <a:rPr lang="zh-CN" altLang="en-US" sz="2200" b="1" dirty="0">
                <a:latin typeface="宋体" panose="02010600030101010101" pitchFamily="2" charset="-122"/>
              </a:rPr>
              <a:t>  </a:t>
            </a:r>
            <a:r>
              <a:rPr lang="en-US" altLang="zh-CN" sz="2200" b="1" dirty="0">
                <a:latin typeface="宋体" panose="02010600030101010101" pitchFamily="2" charset="-122"/>
              </a:rPr>
              <a:t>  I/O</a:t>
            </a:r>
            <a:r>
              <a:rPr lang="zh-CN" altLang="en-US" sz="2200" b="1" dirty="0">
                <a:latin typeface="宋体" panose="02010600030101010101" pitchFamily="2" charset="-122"/>
              </a:rPr>
              <a:t>硬件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设备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&amp;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连接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r>
              <a:rPr lang="zh-CN" altLang="en-US" sz="2200" b="1" dirty="0">
                <a:latin typeface="宋体" panose="02010600030101010101" pitchFamily="2" charset="-122"/>
              </a:rPr>
              <a:t>＋</a:t>
            </a:r>
            <a:r>
              <a:rPr lang="en-US" altLang="zh-CN" sz="2200" b="1" dirty="0">
                <a:latin typeface="宋体" panose="02010600030101010101" pitchFamily="2" charset="-122"/>
              </a:rPr>
              <a:t>I/O</a:t>
            </a:r>
            <a:r>
              <a:rPr lang="zh-CN" altLang="en-US" sz="2200" b="1" dirty="0">
                <a:latin typeface="宋体" panose="02010600030101010101" pitchFamily="2" charset="-122"/>
              </a:rPr>
              <a:t>软件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控制</a:t>
            </a:r>
            <a:r>
              <a:rPr lang="zh-CN" altLang="en-US" sz="1800" b="1" u="sng" dirty="0">
                <a:latin typeface="宋体" panose="02010600030101010101" pitchFamily="2" charset="-122"/>
                <a:sym typeface="+mn-ea"/>
              </a:rPr>
              <a:t>何时传</a:t>
            </a:r>
            <a:r>
              <a:rPr lang="en-US" altLang="zh-CN" sz="1800" b="1" u="sng" dirty="0">
                <a:latin typeface="宋体" panose="02010600030101010101" pitchFamily="2" charset="-122"/>
                <a:sym typeface="+mn-ea"/>
              </a:rPr>
              <a:t>&amp;</a:t>
            </a:r>
            <a:r>
              <a:rPr lang="zh-CN" altLang="en-US" sz="1800" b="1" u="sng" dirty="0">
                <a:latin typeface="宋体" panose="02010600030101010101" pitchFamily="2" charset="-122"/>
                <a:sym typeface="+mn-ea"/>
              </a:rPr>
              <a:t>如何传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</a:p>
          <a:p>
            <a:pPr algn="l">
              <a:lnSpc>
                <a:spcPct val="125000"/>
              </a:lnSpc>
            </a:pP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外设</a:t>
            </a:r>
            <a:r>
              <a:rPr lang="zh-CN" altLang="en-US" sz="2200" b="1" dirty="0">
                <a:latin typeface="宋体" panose="02010600030101010101" pitchFamily="2" charset="-122"/>
              </a:rPr>
              <a:t>＋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I/O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接口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总线互连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)</a:t>
            </a:r>
            <a:r>
              <a:rPr lang="zh-CN" altLang="en-US" sz="2200" b="1" dirty="0">
                <a:latin typeface="宋体" panose="02010600030101010101" pitchFamily="2" charset="-122"/>
              </a:rPr>
              <a:t>＋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传送控制部件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[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可选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]</a:t>
            </a:r>
            <a:endParaRPr lang="en-US" altLang="zh-CN" sz="1800" b="1" dirty="0">
              <a:latin typeface="宋体" panose="02010600030101010101" pitchFamily="2" charset="-122"/>
            </a:endParaRPr>
          </a:p>
          <a:p>
            <a:pPr algn="l">
              <a:lnSpc>
                <a:spcPct val="105000"/>
              </a:lnSpc>
            </a:pP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          可扩展性好→</a:t>
            </a:r>
            <a:r>
              <a:rPr lang="zh-CN" altLang="en-US" sz="1600" dirty="0">
                <a:latin typeface="宋体" panose="02010600030101010101" pitchFamily="2" charset="-122"/>
                <a:sym typeface="+mn-ea"/>
              </a:rPr>
              <a:t>┘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 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          </a:t>
            </a:r>
            <a:r>
              <a:rPr lang="zh-CN" altLang="en-US" sz="1600" dirty="0">
                <a:latin typeface="宋体" panose="02010600030101010101" pitchFamily="2" charset="-122"/>
                <a:sym typeface="+mn-ea"/>
              </a:rPr>
              <a:t>└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←可</a:t>
            </a:r>
            <a:r>
              <a:rPr lang="zh-CN" sz="1600" b="1" dirty="0">
                <a:latin typeface="宋体" panose="02010600030101010101" pitchFamily="2" charset="-122"/>
                <a:sym typeface="+mn-ea"/>
              </a:rPr>
              <a:t>优化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I/O</a:t>
            </a:r>
            <a:r>
              <a:rPr lang="zh-CN" sz="1600" b="1" dirty="0">
                <a:latin typeface="宋体" panose="02010600030101010101" pitchFamily="2" charset="-122"/>
                <a:sym typeface="+mn-ea"/>
              </a:rPr>
              <a:t>性能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，如中断控制器</a:t>
            </a:r>
            <a:endParaRPr lang="en-US" altLang="zh-CN" sz="1600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300"/>
              </a:spcBef>
            </a:pP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实现主机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-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外设间的工作</a:t>
            </a:r>
            <a:r>
              <a:rPr lang="zh-CN" altLang="en-US" sz="2200" b="1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协调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、传送</a:t>
            </a:r>
            <a:r>
              <a:rPr lang="zh-CN" altLang="en-US" sz="2200" b="1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组织</a:t>
            </a:r>
            <a:endParaRPr lang="zh-CN" altLang="en-US" b="1" dirty="0">
              <a:solidFill>
                <a:srgbClr val="0070C0"/>
              </a:solidFill>
              <a:latin typeface="宋体" panose="02010600030101010101" pitchFamily="2" charset="-122"/>
              <a:sym typeface="+mn-ea"/>
            </a:endParaRPr>
          </a:p>
          <a:p>
            <a:pPr algn="l">
              <a:lnSpc>
                <a:spcPct val="105000"/>
              </a:lnSpc>
            </a:pP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                           (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何时传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)     (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如何传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)</a:t>
            </a:r>
            <a:endParaRPr lang="en-US" altLang="zh-CN" sz="1600" b="1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600"/>
              </a:spcBef>
            </a:pPr>
            <a:r>
              <a:rPr lang="en-US" altLang="zh-CN" sz="2200" b="1" dirty="0">
                <a:latin typeface="宋体" panose="02010600030101010101" pitchFamily="2" charset="-122"/>
              </a:rPr>
              <a:t>    </a:t>
            </a:r>
            <a:r>
              <a:rPr lang="zh-CN" altLang="en-US" sz="2200" b="1" dirty="0">
                <a:latin typeface="宋体" panose="02010600030101010101" pitchFamily="2" charset="-122"/>
              </a:rPr>
              <a:t>①</a:t>
            </a:r>
            <a:r>
              <a:rPr lang="zh-CN" altLang="en-US" sz="2200" b="1" u="sng" dirty="0">
                <a:solidFill>
                  <a:srgbClr val="0070C0"/>
                </a:solidFill>
                <a:latin typeface="宋体" panose="02010600030101010101" pitchFamily="2" charset="-122"/>
              </a:rPr>
              <a:t>响应时间</a:t>
            </a:r>
            <a:r>
              <a:rPr lang="zh-CN" altLang="en-US" sz="2200" b="1" dirty="0">
                <a:latin typeface="宋体" panose="02010600030101010101" pitchFamily="2" charset="-122"/>
              </a:rPr>
              <a:t>、</a:t>
            </a:r>
            <a:r>
              <a:rPr lang="zh-CN" altLang="en-US" sz="2200" b="1" u="sng" dirty="0">
                <a:solidFill>
                  <a:srgbClr val="0070C0"/>
                </a:solidFill>
                <a:latin typeface="宋体" panose="02010600030101010101" pitchFamily="2" charset="-122"/>
              </a:rPr>
              <a:t>吞吐率</a:t>
            </a:r>
            <a:r>
              <a:rPr lang="en-US" altLang="zh-CN" sz="2200" b="1" dirty="0">
                <a:latin typeface="宋体" panose="02010600030101010101" pitchFamily="2" charset="-122"/>
              </a:rPr>
              <a:t>          </a:t>
            </a:r>
            <a:r>
              <a:rPr lang="zh-CN" altLang="en-US" sz="1600" b="1" dirty="0">
                <a:latin typeface="宋体" panose="02010600030101010101" pitchFamily="2" charset="-122"/>
              </a:rPr>
              <a:t>←不同应用的</a:t>
            </a:r>
            <a:r>
              <a:rPr lang="zh-CN" altLang="en-US" sz="16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关注点不同</a:t>
            </a:r>
            <a:endParaRPr lang="en-US" altLang="zh-CN" sz="1600" b="1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lang="zh-CN" altLang="en-US" sz="1600" b="1" dirty="0">
                <a:latin typeface="宋体" panose="02010600030101010101" pitchFamily="2" charset="-122"/>
              </a:rPr>
              <a:t>           </a:t>
            </a:r>
            <a:r>
              <a:rPr lang="zh-CN" altLang="en-US" sz="1600" dirty="0">
                <a:latin typeface="宋体" panose="02010600030101010101" pitchFamily="2" charset="-122"/>
                <a:sym typeface="+mn-ea"/>
              </a:rPr>
              <a:t>└──────┴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←</a:t>
            </a:r>
            <a:r>
              <a:rPr lang="zh-CN" altLang="en-US" sz="1600" b="1" dirty="0">
                <a:latin typeface="宋体" panose="02010600030101010101" pitchFamily="2" charset="-122"/>
              </a:rPr>
              <a:t>受</a:t>
            </a:r>
            <a:r>
              <a:rPr lang="zh-CN" altLang="en-US" sz="1600" b="1" u="sng" dirty="0">
                <a:latin typeface="宋体" panose="02010600030101010101" pitchFamily="2" charset="-122"/>
              </a:rPr>
              <a:t>排队模型</a:t>
            </a:r>
            <a:r>
              <a:rPr lang="zh-CN" altLang="en-US" sz="1600" b="1" dirty="0">
                <a:latin typeface="宋体" panose="02010600030101010101" pitchFamily="2" charset="-122"/>
              </a:rPr>
              <a:t>影响，暂不讨论</a:t>
            </a:r>
            <a:endParaRPr lang="zh-CN" altLang="en-US" sz="1600" b="1" u="sng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    ②</a:t>
            </a:r>
            <a:r>
              <a:rPr lang="en-US" altLang="zh-CN" sz="2200" b="1" u="sng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I/O</a:t>
            </a:r>
            <a:r>
              <a:rPr lang="zh-CN" altLang="en-US" sz="2200" b="1" u="sng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开销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(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I/O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软件所占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CPU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时间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)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  </a:t>
            </a:r>
            <a:r>
              <a:rPr lang="en-US" altLang="zh-CN" sz="1400" b="1" dirty="0">
                <a:latin typeface="宋体" panose="02010600030101010101" pitchFamily="2" charset="-122"/>
                <a:sym typeface="+mn-ea"/>
              </a:rPr>
              <a:t> 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←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I/O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应</a:t>
            </a:r>
            <a:r>
              <a:rPr lang="zh-CN" altLang="en-US" sz="1600" b="1" u="sng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尽量不影响</a:t>
            </a:r>
            <a:r>
              <a:rPr lang="en-US" altLang="zh-CN" sz="1600" b="1" u="sng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CPU</a:t>
            </a:r>
            <a:endParaRPr lang="en-US" altLang="zh-CN" sz="1800" b="1" u="sng" dirty="0">
              <a:solidFill>
                <a:srgbClr val="990099"/>
              </a:solidFill>
              <a:latin typeface="宋体" panose="02010600030101010101" pitchFamily="2" charset="-122"/>
              <a:sym typeface="+mn-ea"/>
            </a:endParaRPr>
          </a:p>
        </p:txBody>
      </p:sp>
      <p:sp>
        <p:nvSpPr>
          <p:cNvPr id="9" name="Text Box 200"/>
          <p:cNvSpPr txBox="1">
            <a:spLocks noChangeArrowheads="1"/>
          </p:cNvSpPr>
          <p:nvPr/>
        </p:nvSpPr>
        <p:spPr bwMode="auto">
          <a:xfrm>
            <a:off x="1043608" y="5805264"/>
            <a:ext cx="6624736" cy="360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anchor="ctr" anchorCtr="0">
            <a:noAutofit/>
          </a:bodyPr>
          <a:lstStyle/>
          <a:p>
            <a:pPr algn="l">
              <a:lnSpc>
                <a:spcPct val="90000"/>
              </a:lnSpc>
            </a:pPr>
            <a:r>
              <a:rPr lang="zh-CN" altLang="en-US" sz="1800" b="1" dirty="0">
                <a:solidFill>
                  <a:srgbClr val="C00000"/>
                </a:solidFill>
                <a:latin typeface="+mn-ea"/>
                <a:ea typeface="+mn-ea"/>
              </a:rPr>
              <a:t>说明：</a:t>
            </a:r>
            <a:r>
              <a:rPr lang="zh-CN" altLang="en-US" sz="1800" b="1" u="sng" dirty="0">
                <a:solidFill>
                  <a:srgbClr val="990099"/>
                </a:solidFill>
                <a:highlight>
                  <a:srgbClr val="FFFF00"/>
                </a:highlight>
                <a:latin typeface="+mn-ea"/>
                <a:ea typeface="+mn-ea"/>
              </a:rPr>
              <a:t>先了解</a:t>
            </a:r>
            <a:r>
              <a:rPr lang="zh-CN" altLang="en-US" sz="1800" b="1" dirty="0">
                <a:latin typeface="+mn-ea"/>
                <a:ea typeface="+mn-ea"/>
              </a:rPr>
              <a:t>设备组成</a:t>
            </a:r>
            <a:r>
              <a:rPr lang="en-US" altLang="zh-CN" sz="1800" b="1" dirty="0">
                <a:latin typeface="+mn-ea"/>
                <a:ea typeface="+mn-ea"/>
              </a:rPr>
              <a:t>&amp;</a:t>
            </a:r>
            <a:r>
              <a:rPr lang="zh-CN" altLang="en-US" sz="1800" b="1" dirty="0">
                <a:latin typeface="+mn-ea"/>
                <a:ea typeface="+mn-ea"/>
              </a:rPr>
              <a:t>特征，</a:t>
            </a:r>
            <a:r>
              <a:rPr lang="zh-CN" altLang="en-US" sz="1800" b="1" u="sng" dirty="0">
                <a:solidFill>
                  <a:srgbClr val="990099"/>
                </a:solidFill>
                <a:highlight>
                  <a:srgbClr val="FFFF00"/>
                </a:highlight>
                <a:latin typeface="+mn-ea"/>
                <a:ea typeface="+mn-ea"/>
              </a:rPr>
              <a:t>便于理解</a:t>
            </a:r>
            <a:r>
              <a:rPr lang="zh-CN" altLang="en-US" sz="1800" b="1" dirty="0">
                <a:latin typeface="+mn-ea"/>
                <a:ea typeface="+mn-ea"/>
              </a:rPr>
              <a:t>设备的连接与联络方法</a:t>
            </a:r>
            <a:endParaRPr lang="en-US" altLang="zh-CN" sz="1800" b="1" dirty="0">
              <a:latin typeface="宋体" panose="02010600030101010101" pitchFamily="2" charset="-122"/>
            </a:endParaRPr>
          </a:p>
        </p:txBody>
      </p:sp>
      <p:sp>
        <p:nvSpPr>
          <p:cNvPr id="10" name="Text Box 200"/>
          <p:cNvSpPr txBox="1">
            <a:spLocks noChangeArrowheads="1"/>
          </p:cNvSpPr>
          <p:nvPr/>
        </p:nvSpPr>
        <p:spPr bwMode="auto">
          <a:xfrm>
            <a:off x="1043608" y="2363056"/>
            <a:ext cx="3384000" cy="28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anchor="ctr" anchorCtr="0">
            <a:noAutofit/>
          </a:bodyPr>
          <a:lstStyle/>
          <a:p>
            <a:pPr algn="l">
              <a:lnSpc>
                <a:spcPct val="90000"/>
              </a:lnSpc>
            </a:pPr>
            <a:r>
              <a:rPr lang="zh-CN" altLang="en-US" sz="1800" b="1" dirty="0">
                <a:solidFill>
                  <a:srgbClr val="990099"/>
                </a:solidFill>
                <a:latin typeface="+mn-ea"/>
                <a:ea typeface="+mn-ea"/>
              </a:rPr>
              <a:t>思考：</a:t>
            </a:r>
            <a:r>
              <a:rPr lang="zh-CN" altLang="en-US" sz="1800" b="1" dirty="0">
                <a:latin typeface="+mn-ea"/>
                <a:ea typeface="+mn-ea"/>
              </a:rPr>
              <a:t>为什么不是</a:t>
            </a:r>
            <a:r>
              <a:rPr lang="en-US" altLang="zh-CN" sz="1800" b="1" dirty="0">
                <a:latin typeface="+mn-ea"/>
                <a:ea typeface="+mn-ea"/>
              </a:rPr>
              <a:t>CPU-</a:t>
            </a:r>
            <a:r>
              <a:rPr lang="zh-CN" altLang="en-US" sz="1800" b="1" dirty="0">
                <a:latin typeface="+mn-ea"/>
                <a:ea typeface="+mn-ea"/>
              </a:rPr>
              <a:t>外设间？</a:t>
            </a:r>
            <a:endParaRPr lang="en-US" altLang="zh-CN" sz="1800" b="1" dirty="0">
              <a:latin typeface="宋体" panose="02010600030101010101" pitchFamily="2" charset="-122"/>
            </a:endParaRPr>
          </a:p>
        </p:txBody>
      </p:sp>
      <p:sp>
        <p:nvSpPr>
          <p:cNvPr id="11" name="Text Box 200"/>
          <p:cNvSpPr txBox="1">
            <a:spLocks noChangeArrowheads="1"/>
          </p:cNvSpPr>
          <p:nvPr/>
        </p:nvSpPr>
        <p:spPr bwMode="auto">
          <a:xfrm>
            <a:off x="4464520" y="2348880"/>
            <a:ext cx="4608000" cy="288000"/>
          </a:xfrm>
          <a:prstGeom prst="rect">
            <a:avLst/>
          </a:prstGeom>
          <a:noFill/>
          <a:ln w="12700">
            <a:noFill/>
            <a:prstDash val="sysDash"/>
            <a:miter lim="800000"/>
          </a:ln>
          <a:effectLst/>
        </p:spPr>
        <p:txBody>
          <a:bodyPr wrap="square" lIns="18000" rIns="18000" anchor="ctr" anchorCtr="0">
            <a:noAutofit/>
          </a:bodyPr>
          <a:lstStyle/>
          <a:p>
            <a:pPr algn="l">
              <a:lnSpc>
                <a:spcPct val="90000"/>
              </a:lnSpc>
            </a:pPr>
            <a:r>
              <a:rPr lang="zh-CN" altLang="en-US" sz="1600" b="1" dirty="0">
                <a:latin typeface="宋体" panose="02010600030101010101" pitchFamily="2" charset="-122"/>
              </a:rPr>
              <a:t>批量时需放在主存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en-US" altLang="zh-CN" sz="1600" b="1" dirty="0">
                <a:latin typeface="+mn-ea"/>
                <a:ea typeface="+mn-ea"/>
              </a:rPr>
              <a:t>GPRs</a:t>
            </a:r>
            <a:r>
              <a:rPr lang="zh-CN" altLang="en-US" sz="1600" b="1" dirty="0">
                <a:latin typeface="+mn-ea"/>
                <a:ea typeface="+mn-ea"/>
              </a:rPr>
              <a:t>太小</a:t>
            </a:r>
            <a:r>
              <a:rPr lang="en-US" altLang="zh-CN" sz="1600" b="1" dirty="0">
                <a:latin typeface="+mn-ea"/>
                <a:ea typeface="+mn-ea"/>
              </a:rPr>
              <a:t>)</a:t>
            </a:r>
            <a:r>
              <a:rPr lang="zh-CN" altLang="en-US" sz="1600" b="1" dirty="0">
                <a:latin typeface="+mn-ea"/>
                <a:ea typeface="+mn-ea"/>
              </a:rPr>
              <a:t>，主存</a:t>
            </a:r>
            <a:r>
              <a:rPr lang="en-US" altLang="zh-CN" sz="1600" b="1" dirty="0">
                <a:latin typeface="+mn-ea"/>
                <a:ea typeface="+mn-ea"/>
              </a:rPr>
              <a:t>-</a:t>
            </a:r>
            <a:r>
              <a:rPr lang="zh-CN" altLang="en-US" sz="1600" b="1" dirty="0">
                <a:latin typeface="+mn-ea"/>
                <a:ea typeface="+mn-ea"/>
              </a:rPr>
              <a:t>外设间更佳</a:t>
            </a:r>
            <a:endParaRPr lang="en-US" altLang="zh-CN" sz="1600" b="1" dirty="0">
              <a:latin typeface="宋体" panose="02010600030101010101" pitchFamily="2" charset="-122"/>
            </a:endParaRPr>
          </a:p>
        </p:txBody>
      </p:sp>
      <p:sp>
        <p:nvSpPr>
          <p:cNvPr id="12" name="AutoShape 62">
            <a:hlinkClick r:id="rId5" action="ppaction://hlinksldjump"/>
          </p:cNvPr>
          <p:cNvSpPr>
            <a:spLocks noChangeArrowheads="1"/>
          </p:cNvSpPr>
          <p:nvPr/>
        </p:nvSpPr>
        <p:spPr bwMode="auto">
          <a:xfrm rot="5400000">
            <a:off x="2772148" y="6308973"/>
            <a:ext cx="287337" cy="720080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  <a:scene3d>
            <a:camera prst="orthographicFront">
              <a:rot lat="0" lon="0" rev="0"/>
            </a:camera>
            <a:lightRig rig="threePt" dir="t"/>
          </a:scene3d>
        </p:spPr>
        <p:txBody>
          <a:bodyPr vert="vert270" wrap="none" lIns="0" tIns="0" rIns="0" bIns="0" anchor="ctr"/>
          <a:lstStyle/>
          <a:p>
            <a:pPr algn="ctr"/>
            <a:r>
              <a:rPr lang="zh-CN" altLang="en-US" sz="1600" dirty="0">
                <a:solidFill>
                  <a:schemeClr val="bg2"/>
                </a:solidFill>
              </a:rPr>
              <a:t>转</a:t>
            </a:r>
            <a:r>
              <a:rPr lang="en-US" altLang="zh-CN" sz="1600" dirty="0">
                <a:solidFill>
                  <a:schemeClr val="bg2"/>
                </a:solidFill>
              </a:rPr>
              <a:t>7.2</a:t>
            </a:r>
            <a:r>
              <a:rPr lang="zh-CN" altLang="en-US" sz="1600" dirty="0">
                <a:solidFill>
                  <a:schemeClr val="bg2"/>
                </a:solidFill>
              </a:rPr>
              <a:t>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5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26"/>
          <p:cNvSpPr txBox="1">
            <a:spLocks noChangeArrowheads="1"/>
          </p:cNvSpPr>
          <p:nvPr/>
        </p:nvSpPr>
        <p:spPr bwMode="auto">
          <a:xfrm>
            <a:off x="152401" y="332656"/>
            <a:ext cx="8785226" cy="5446427"/>
          </a:xfrm>
          <a:prstGeom prst="rect">
            <a:avLst/>
          </a:prstGeom>
          <a:noFill/>
          <a:ln w="38100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b="1" dirty="0">
                <a:solidFill>
                  <a:srgbClr val="FF3399"/>
                </a:solidFill>
                <a:latin typeface="宋体" panose="02010600030101010101" pitchFamily="2" charset="-122"/>
              </a:rPr>
              <a:t>2</a:t>
            </a:r>
            <a:r>
              <a:rPr lang="zh-CN" altLang="en-US" b="1" dirty="0">
                <a:solidFill>
                  <a:srgbClr val="FF3399"/>
                </a:solidFill>
                <a:latin typeface="宋体" panose="02010600030101010101" pitchFamily="2" charset="-122"/>
              </a:rPr>
              <a:t>、</a:t>
            </a:r>
            <a:r>
              <a:rPr lang="zh-CN" altLang="en-US" b="1" dirty="0">
                <a:solidFill>
                  <a:srgbClr val="FF3399"/>
                </a:solidFill>
                <a:latin typeface="+mn-ea"/>
              </a:rPr>
              <a:t>外设与主机的联系   </a:t>
            </a:r>
            <a:r>
              <a:rPr lang="en-US" altLang="zh-CN" sz="1800" b="1" dirty="0">
                <a:latin typeface="+mn-ea"/>
              </a:rPr>
              <a:t>—I/O</a:t>
            </a:r>
            <a:r>
              <a:rPr lang="zh-CN" altLang="en-US" sz="1800" b="1" dirty="0">
                <a:latin typeface="+mn-ea"/>
              </a:rPr>
              <a:t>的软硬件关联</a:t>
            </a:r>
            <a:endParaRPr lang="en-US" altLang="zh-CN" b="1" dirty="0">
              <a:solidFill>
                <a:srgbClr val="FF3399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(1)</a:t>
            </a:r>
            <a:r>
              <a:rPr lang="zh-CN" altLang="en-US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外设的连接   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+mn-ea"/>
              </a:rPr>
              <a:t>连接方式对</a:t>
            </a:r>
            <a:r>
              <a:rPr lang="en-US" altLang="zh-CN" sz="1800" b="1" dirty="0">
                <a:latin typeface="+mn-ea"/>
              </a:rPr>
              <a:t>I/O</a:t>
            </a:r>
            <a:r>
              <a:rPr lang="zh-CN" altLang="en-US" sz="1800" b="1" dirty="0">
                <a:latin typeface="+mn-ea"/>
              </a:rPr>
              <a:t>过程的要求</a:t>
            </a:r>
            <a:r>
              <a:rPr lang="en-US" altLang="zh-CN" sz="1800" b="1" dirty="0">
                <a:latin typeface="+mn-ea"/>
              </a:rPr>
              <a:t>)</a:t>
            </a:r>
            <a:endParaRPr lang="en-US" altLang="zh-CN" sz="1800" b="1" dirty="0">
              <a:solidFill>
                <a:srgbClr val="FF3399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*连接方式：</a:t>
            </a:r>
            <a:r>
              <a:rPr lang="zh-CN" altLang="en-US" sz="2200" b="1" dirty="0">
                <a:latin typeface="宋体" panose="02010600030101010101" pitchFamily="2" charset="-122"/>
              </a:rPr>
              <a:t>均为</a:t>
            </a:r>
            <a:r>
              <a:rPr lang="zh-CN" altLang="en-US" sz="2200" b="1" u="sng" dirty="0">
                <a:latin typeface="宋体" panose="02010600030101010101" pitchFamily="2" charset="-122"/>
              </a:rPr>
              <a:t>总线</a:t>
            </a:r>
            <a:r>
              <a:rPr lang="zh-CN" altLang="en-US" sz="2200" b="1" dirty="0">
                <a:latin typeface="宋体" panose="02010600030101010101" pitchFamily="2" charset="-122"/>
              </a:rPr>
              <a:t>方式，需要使用</a:t>
            </a:r>
            <a:r>
              <a:rPr lang="en-US" altLang="zh-CN" sz="22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I/O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接口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中转</a:t>
            </a:r>
            <a:r>
              <a:rPr lang="zh-CN" altLang="en-US" sz="2200" b="1" dirty="0">
                <a:latin typeface="宋体" panose="02010600030101010101" pitchFamily="2" charset="-122"/>
              </a:rPr>
              <a:t>信息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 algn="l">
              <a:lnSpc>
                <a:spcPct val="105000"/>
              </a:lnSpc>
            </a:pPr>
            <a:r>
              <a:rPr lang="zh-CN" altLang="en-US" sz="1800" b="1" dirty="0">
                <a:latin typeface="+mn-ea"/>
                <a:ea typeface="+mn-ea"/>
              </a:rPr>
              <a:t>                                              </a:t>
            </a:r>
            <a:r>
              <a:rPr lang="zh-CN" altLang="en-US" sz="1800" dirty="0">
                <a:latin typeface="+mn-ea"/>
                <a:ea typeface="+mn-ea"/>
              </a:rPr>
              <a:t>├</a:t>
            </a:r>
            <a:r>
              <a:rPr lang="zh-CN" altLang="en-US" sz="1800" b="1" dirty="0">
                <a:solidFill>
                  <a:srgbClr val="990099"/>
                </a:solidFill>
                <a:latin typeface="+mn-ea"/>
                <a:ea typeface="+mn-ea"/>
              </a:rPr>
              <a:t>←</a:t>
            </a:r>
            <a:r>
              <a:rPr lang="zh-CN" altLang="en-US" sz="1800" b="1" u="sng" dirty="0">
                <a:solidFill>
                  <a:srgbClr val="990099"/>
                </a:solidFill>
                <a:latin typeface="+mn-ea"/>
                <a:ea typeface="+mn-ea"/>
              </a:rPr>
              <a:t>解决</a:t>
            </a:r>
            <a:r>
              <a:rPr lang="zh-CN" altLang="en-US" sz="1800" b="1" dirty="0">
                <a:highlight>
                  <a:srgbClr val="FFFF00"/>
                </a:highlight>
              </a:rPr>
              <a:t>速度</a:t>
            </a:r>
            <a:r>
              <a:rPr lang="en-US" altLang="zh-CN" sz="1800" b="1" dirty="0"/>
              <a:t>/</a:t>
            </a:r>
            <a:r>
              <a:rPr lang="zh-CN" altLang="en-US" sz="1800" b="1" dirty="0"/>
              <a:t>电平</a:t>
            </a:r>
            <a:r>
              <a:rPr lang="en-US" altLang="zh-CN" sz="1800" b="1" dirty="0"/>
              <a:t>/</a:t>
            </a:r>
            <a:r>
              <a:rPr lang="zh-CN" altLang="en-US" sz="1800" b="1" dirty="0"/>
              <a:t>格式等</a:t>
            </a:r>
            <a:r>
              <a:rPr lang="zh-CN" altLang="en-US" sz="1800" b="1" dirty="0">
                <a:solidFill>
                  <a:srgbClr val="0070C0"/>
                </a:solidFill>
              </a:rPr>
              <a:t>差异</a:t>
            </a:r>
            <a:endParaRPr lang="en-US" altLang="zh-CN" sz="1800" b="1" dirty="0">
              <a:solidFill>
                <a:srgbClr val="0070C0"/>
              </a:solidFill>
            </a:endParaRP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lang="en-US" altLang="zh-CN" sz="1800" b="1" dirty="0">
                <a:latin typeface="宋体" panose="02010600030101010101" pitchFamily="2" charset="-122"/>
              </a:rPr>
              <a:t>                                              </a:t>
            </a:r>
            <a:r>
              <a:rPr lang="zh-CN" altLang="en-US" sz="1800" dirty="0">
                <a:latin typeface="+mn-ea"/>
              </a:rPr>
              <a:t>├</a:t>
            </a:r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</a:rPr>
              <a:t>→</a:t>
            </a:r>
            <a:r>
              <a:rPr lang="zh-CN" altLang="en-US" sz="18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暂存</a:t>
            </a:r>
            <a:r>
              <a:rPr lang="zh-CN" altLang="en-US" sz="1800" b="1" dirty="0"/>
              <a:t>数据</a:t>
            </a:r>
            <a:r>
              <a:rPr lang="en-US" altLang="zh-CN" sz="1800" b="1" dirty="0"/>
              <a:t>/</a:t>
            </a:r>
            <a:r>
              <a:rPr lang="zh-CN" altLang="en-US" sz="1800" b="1" dirty="0"/>
              <a:t>状态</a:t>
            </a:r>
            <a:r>
              <a:rPr lang="en-US" altLang="zh-CN" sz="1800" b="1" dirty="0"/>
              <a:t>/</a:t>
            </a:r>
            <a:r>
              <a:rPr lang="zh-CN" altLang="en-US" sz="1800" b="1" dirty="0"/>
              <a:t>命令</a:t>
            </a:r>
            <a:r>
              <a:rPr lang="zh-CN" altLang="en-US" sz="1800" b="1" dirty="0">
                <a:solidFill>
                  <a:srgbClr val="0070C0"/>
                </a:solidFill>
              </a:rPr>
              <a:t>信息</a:t>
            </a:r>
            <a:endParaRPr lang="en-US" altLang="zh-CN" sz="1800" b="1" dirty="0">
              <a:solidFill>
                <a:srgbClr val="0070C0"/>
              </a:solidFill>
            </a:endParaRP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lang="zh-CN" altLang="en-US" sz="1800" b="1" dirty="0">
                <a:latin typeface="宋体" panose="02010600030101010101" pitchFamily="2" charset="-122"/>
              </a:rPr>
              <a:t>                                              </a:t>
            </a:r>
            <a:r>
              <a:rPr lang="zh-CN" altLang="en-US" sz="1800" dirty="0">
                <a:latin typeface="宋体" panose="02010600030101010101" pitchFamily="2" charset="-122"/>
              </a:rPr>
              <a:t>└</a:t>
            </a:r>
            <a:r>
              <a:rPr lang="zh-CN" altLang="en-US" sz="1800" dirty="0">
                <a:solidFill>
                  <a:srgbClr val="C00000"/>
                </a:solidFill>
                <a:latin typeface="宋体" panose="02010600030101010101" pitchFamily="2" charset="-122"/>
              </a:rPr>
              <a:t>─┴</a:t>
            </a:r>
            <a:r>
              <a:rPr lang="zh-CN" altLang="en-US" sz="1800" b="1" dirty="0">
                <a:solidFill>
                  <a:srgbClr val="C00000"/>
                </a:solidFill>
                <a:latin typeface="宋体" panose="02010600030101010101" pitchFamily="2" charset="-122"/>
              </a:rPr>
              <a:t>→</a:t>
            </a:r>
            <a:r>
              <a:rPr lang="zh-CN" altLang="en-US" sz="1800" b="1" dirty="0">
                <a:latin typeface="宋体" panose="02010600030101010101" pitchFamily="2" charset="-122"/>
              </a:rPr>
              <a:t>内部</a:t>
            </a:r>
            <a:r>
              <a:rPr lang="zh-CN" altLang="en-US" sz="1800" b="1" dirty="0">
                <a:solidFill>
                  <a:srgbClr val="FF0000"/>
                </a:solidFill>
                <a:latin typeface="宋体" panose="02010600030101010101" pitchFamily="2" charset="-122"/>
              </a:rPr>
              <a:t>需</a:t>
            </a:r>
            <a:r>
              <a:rPr lang="zh-CN" altLang="en-US" sz="1800" b="1" dirty="0">
                <a:solidFill>
                  <a:srgbClr val="FF0000"/>
                </a:solidFill>
                <a:latin typeface="+mn-ea"/>
              </a:rPr>
              <a:t>设置</a:t>
            </a:r>
            <a:r>
              <a:rPr lang="zh-CN" altLang="en-US" sz="1800" b="1" dirty="0">
                <a:latin typeface="+mn-ea"/>
              </a:rPr>
              <a:t>多个</a:t>
            </a:r>
            <a:r>
              <a:rPr lang="zh-CN" altLang="en-US" sz="1800" b="1" dirty="0">
                <a:solidFill>
                  <a:srgbClr val="C00000"/>
                </a:solidFill>
                <a:latin typeface="+mn-ea"/>
              </a:rPr>
              <a:t>寄存器</a:t>
            </a:r>
            <a:endParaRPr lang="en-US" altLang="zh-CN" sz="18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</a:pPr>
            <a:endParaRPr lang="en-US" altLang="zh-CN" sz="2200" b="1" dirty="0">
              <a:solidFill>
                <a:srgbClr val="C00000"/>
              </a:solidFill>
              <a:latin typeface="+mn-ea"/>
            </a:endParaRPr>
          </a:p>
          <a:p>
            <a:pPr algn="l">
              <a:lnSpc>
                <a:spcPct val="125000"/>
              </a:lnSpc>
              <a:spcBef>
                <a:spcPts val="600"/>
              </a:spcBef>
            </a:pPr>
            <a:r>
              <a:rPr lang="zh-CN" altLang="en-US" sz="2200" b="1" dirty="0">
                <a:solidFill>
                  <a:srgbClr val="C00000"/>
                </a:solidFill>
                <a:latin typeface="+mn-ea"/>
              </a:rPr>
              <a:t> *</a:t>
            </a:r>
            <a:r>
              <a:rPr lang="en-US" altLang="zh-CN" sz="2200" b="1" dirty="0">
                <a:solidFill>
                  <a:srgbClr val="C00000"/>
                </a:solidFill>
                <a:latin typeface="+mn-ea"/>
              </a:rPr>
              <a:t>I/O</a:t>
            </a:r>
            <a:r>
              <a:rPr lang="zh-CN" altLang="en-US" sz="2200" b="1" dirty="0">
                <a:solidFill>
                  <a:srgbClr val="C00000"/>
                </a:solidFill>
                <a:latin typeface="+mn-ea"/>
              </a:rPr>
              <a:t>的过程：    </a:t>
            </a:r>
            <a:r>
              <a:rPr lang="en-US" altLang="zh-CN" sz="1800" b="1" dirty="0">
                <a:latin typeface="+mn-ea"/>
              </a:rPr>
              <a:t>(</a:t>
            </a:r>
            <a:r>
              <a:rPr lang="zh-CN" altLang="en-US" sz="1800" b="1" dirty="0">
                <a:latin typeface="+mn-ea"/>
              </a:rPr>
              <a:t>基于连接方式</a:t>
            </a:r>
            <a:r>
              <a:rPr lang="en-US" altLang="zh-CN" sz="1800" b="1" dirty="0">
                <a:latin typeface="+mn-ea"/>
              </a:rPr>
              <a:t>)</a:t>
            </a: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⑴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CPU-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接口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sz="2200" b="1" dirty="0">
              <a:solidFill>
                <a:srgbClr val="C00000"/>
              </a:solidFill>
              <a:latin typeface="+mn-ea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⑵接口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-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外设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sz="2200" b="1" dirty="0">
              <a:solidFill>
                <a:srgbClr val="C00000"/>
              </a:solidFill>
              <a:latin typeface="+mn-ea"/>
            </a:endParaRPr>
          </a:p>
          <a:p>
            <a:pPr algn="l">
              <a:lnSpc>
                <a:spcPct val="125000"/>
              </a:lnSpc>
              <a:spcBef>
                <a:spcPts val="300"/>
              </a:spcBef>
            </a:pPr>
            <a:r>
              <a:rPr lang="en-US" altLang="zh-CN" sz="2200" b="1" dirty="0">
                <a:solidFill>
                  <a:srgbClr val="C00000"/>
                </a:solidFill>
                <a:latin typeface="+mn-ea"/>
              </a:rPr>
              <a:t> </a:t>
            </a:r>
            <a:r>
              <a:rPr lang="zh-CN" altLang="en-US" sz="2200" b="1" dirty="0">
                <a:solidFill>
                  <a:srgbClr val="C00000"/>
                </a:solidFill>
                <a:latin typeface="+mn-ea"/>
              </a:rPr>
              <a:t>*</a:t>
            </a:r>
            <a:r>
              <a:rPr lang="en-US" altLang="zh-CN" sz="2200" b="1" dirty="0">
                <a:solidFill>
                  <a:srgbClr val="C00000"/>
                </a:solidFill>
                <a:latin typeface="+mn-ea"/>
              </a:rPr>
              <a:t>I/O</a:t>
            </a:r>
            <a:r>
              <a:rPr lang="zh-CN" altLang="en-US" sz="2200" b="1" dirty="0">
                <a:solidFill>
                  <a:srgbClr val="C00000"/>
                </a:solidFill>
                <a:latin typeface="+mn-ea"/>
              </a:rPr>
              <a:t>的指令：    </a:t>
            </a:r>
            <a:r>
              <a:rPr lang="en-US" altLang="zh-CN" sz="1800" b="1" dirty="0">
                <a:latin typeface="+mn-ea"/>
              </a:rPr>
              <a:t>(</a:t>
            </a:r>
            <a:r>
              <a:rPr lang="zh-CN" altLang="en-US" sz="1800" b="1" dirty="0">
                <a:latin typeface="+mn-ea"/>
              </a:rPr>
              <a:t>基于连接方式</a:t>
            </a:r>
            <a:r>
              <a:rPr lang="en-US" altLang="zh-CN" sz="1800" b="1" dirty="0">
                <a:latin typeface="+mn-ea"/>
              </a:rPr>
              <a:t>)</a:t>
            </a:r>
            <a:endParaRPr lang="en-US" altLang="zh-CN" sz="2200" b="1" dirty="0">
              <a:latin typeface="+mn-ea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dirty="0">
                <a:solidFill>
                  <a:schemeClr val="accent2"/>
                </a:solidFill>
                <a:latin typeface="+mn-ea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+mn-ea"/>
              </a:rPr>
              <a:t>功能</a:t>
            </a:r>
            <a:r>
              <a:rPr lang="en-US" altLang="zh-CN" sz="2200" b="1" dirty="0">
                <a:solidFill>
                  <a:schemeClr val="accent2"/>
                </a:solidFill>
                <a:latin typeface="+mn-ea"/>
              </a:rPr>
              <a:t>—</a:t>
            </a: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dirty="0">
                <a:solidFill>
                  <a:schemeClr val="accent2"/>
                </a:solidFill>
                <a:latin typeface="+mn-ea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+mn-ea"/>
              </a:rPr>
              <a:t>格式</a:t>
            </a:r>
            <a:r>
              <a:rPr lang="en-US" altLang="zh-CN" sz="2200" b="1" dirty="0">
                <a:solidFill>
                  <a:schemeClr val="accent2"/>
                </a:solidFill>
                <a:latin typeface="+mn-ea"/>
              </a:rPr>
              <a:t>—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BFB63-B979-4FAE-8763-D7093A979077}" type="slidenum">
              <a:rPr lang="en-US" altLang="zh-CN" smtClean="0"/>
              <a:t>4</a:t>
            </a:fld>
            <a:endParaRPr lang="en-US" altLang="zh-CN" dirty="0"/>
          </a:p>
        </p:txBody>
      </p:sp>
      <p:grpSp>
        <p:nvGrpSpPr>
          <p:cNvPr id="40" name="组合 39"/>
          <p:cNvGrpSpPr/>
          <p:nvPr/>
        </p:nvGrpSpPr>
        <p:grpSpPr>
          <a:xfrm>
            <a:off x="972088" y="1772816"/>
            <a:ext cx="4392000" cy="864000"/>
            <a:chOff x="792216" y="2420888"/>
            <a:chExt cx="4392000" cy="864000"/>
          </a:xfrm>
        </p:grpSpPr>
        <p:sp>
          <p:nvSpPr>
            <p:cNvPr id="41" name="Text Box 72"/>
            <p:cNvSpPr txBox="1">
              <a:spLocks noChangeArrowheads="1"/>
            </p:cNvSpPr>
            <p:nvPr/>
          </p:nvSpPr>
          <p:spPr bwMode="auto">
            <a:xfrm>
              <a:off x="2412216" y="2420888"/>
              <a:ext cx="2772000" cy="5400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42" name="Text Box 72"/>
            <p:cNvSpPr txBox="1">
              <a:spLocks noChangeArrowheads="1"/>
            </p:cNvSpPr>
            <p:nvPr/>
          </p:nvSpPr>
          <p:spPr bwMode="auto">
            <a:xfrm>
              <a:off x="792216" y="2420888"/>
              <a:ext cx="1476000" cy="8280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44" name="Text Box 72"/>
            <p:cNvSpPr txBox="1">
              <a:spLocks noChangeArrowheads="1"/>
            </p:cNvSpPr>
            <p:nvPr/>
          </p:nvSpPr>
          <p:spPr bwMode="auto">
            <a:xfrm>
              <a:off x="864216" y="2636019"/>
              <a:ext cx="576000" cy="252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CPU</a:t>
              </a:r>
            </a:p>
          </p:txBody>
        </p:sp>
        <p:sp>
          <p:nvSpPr>
            <p:cNvPr id="45" name="Text Box 74"/>
            <p:cNvSpPr txBox="1">
              <a:spLocks noChangeArrowheads="1"/>
            </p:cNvSpPr>
            <p:nvPr/>
          </p:nvSpPr>
          <p:spPr bwMode="auto">
            <a:xfrm>
              <a:off x="1548216" y="2636019"/>
              <a:ext cx="648000" cy="25200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主存</a:t>
              </a:r>
            </a:p>
          </p:txBody>
        </p:sp>
        <p:sp>
          <p:nvSpPr>
            <p:cNvPr id="46" name="Text Box 75"/>
            <p:cNvSpPr txBox="1">
              <a:spLocks noChangeArrowheads="1"/>
            </p:cNvSpPr>
            <p:nvPr/>
          </p:nvSpPr>
          <p:spPr bwMode="auto">
            <a:xfrm>
              <a:off x="2483768" y="2636912"/>
              <a:ext cx="1008000" cy="252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I/O</a:t>
              </a:r>
              <a:r>
                <a:rPr lang="zh-CN" altLang="en-US" sz="1800" b="1" dirty="0">
                  <a:latin typeface="宋体" panose="02010600030101010101" pitchFamily="2" charset="-122"/>
                </a:rPr>
                <a:t>接口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1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48" name="Text Box 79"/>
            <p:cNvSpPr txBox="1">
              <a:spLocks noChangeArrowheads="1"/>
            </p:cNvSpPr>
            <p:nvPr/>
          </p:nvSpPr>
          <p:spPr bwMode="auto">
            <a:xfrm>
              <a:off x="3564216" y="3032888"/>
              <a:ext cx="468000" cy="252000"/>
            </a:xfrm>
            <a:prstGeom prst="rect">
              <a:avLst/>
            </a:prstGeom>
            <a:noFill/>
            <a:ln w="222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latin typeface="+mn-ea"/>
                  <a:ea typeface="+mn-ea"/>
                </a:rPr>
                <a:t>…</a:t>
              </a:r>
            </a:p>
          </p:txBody>
        </p:sp>
        <p:sp>
          <p:nvSpPr>
            <p:cNvPr id="49" name="Text Box 80"/>
            <p:cNvSpPr txBox="1">
              <a:spLocks noChangeArrowheads="1"/>
            </p:cNvSpPr>
            <p:nvPr/>
          </p:nvSpPr>
          <p:spPr bwMode="auto">
            <a:xfrm>
              <a:off x="3492216" y="2492896"/>
              <a:ext cx="576000" cy="288032"/>
            </a:xfrm>
            <a:prstGeom prst="rect">
              <a:avLst/>
            </a:prstGeom>
            <a:noFill/>
            <a:ln w="222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800" b="1" dirty="0"/>
                <a:t>总线</a:t>
              </a:r>
            </a:p>
          </p:txBody>
        </p:sp>
        <p:sp>
          <p:nvSpPr>
            <p:cNvPr id="50" name="Text Box 81"/>
            <p:cNvSpPr txBox="1">
              <a:spLocks noChangeArrowheads="1"/>
            </p:cNvSpPr>
            <p:nvPr/>
          </p:nvSpPr>
          <p:spPr bwMode="auto">
            <a:xfrm>
              <a:off x="2482354" y="3032888"/>
              <a:ext cx="1008000" cy="2520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外设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1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51" name="Text Box 83"/>
            <p:cNvSpPr txBox="1">
              <a:spLocks noChangeArrowheads="1"/>
            </p:cNvSpPr>
            <p:nvPr/>
          </p:nvSpPr>
          <p:spPr bwMode="auto">
            <a:xfrm>
              <a:off x="4104216" y="2636888"/>
              <a:ext cx="1008000" cy="252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I/O</a:t>
              </a:r>
              <a:r>
                <a:rPr lang="zh-CN" altLang="en-US" sz="1800" b="1" dirty="0">
                  <a:latin typeface="宋体" panose="02010600030101010101" pitchFamily="2" charset="-122"/>
                </a:rPr>
                <a:t>接口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n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52" name="Text Box 85"/>
            <p:cNvSpPr txBox="1">
              <a:spLocks noChangeArrowheads="1"/>
            </p:cNvSpPr>
            <p:nvPr/>
          </p:nvSpPr>
          <p:spPr bwMode="auto">
            <a:xfrm>
              <a:off x="4104216" y="3032888"/>
              <a:ext cx="1008000" cy="2520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外设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n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53" name="直接连接符 52"/>
            <p:cNvCxnSpPr>
              <a:cxnSpLocks/>
            </p:cNvCxnSpPr>
            <p:nvPr/>
          </p:nvCxnSpPr>
          <p:spPr bwMode="auto">
            <a:xfrm flipV="1">
              <a:off x="1151768" y="2492897"/>
              <a:ext cx="0" cy="144000"/>
            </a:xfrm>
            <a:prstGeom prst="line">
              <a:avLst/>
            </a:prstGeom>
            <a:noFill/>
            <a:ln w="28575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4" name="直接连接符 53"/>
            <p:cNvCxnSpPr>
              <a:cxnSpLocks/>
            </p:cNvCxnSpPr>
            <p:nvPr/>
          </p:nvCxnSpPr>
          <p:spPr bwMode="auto">
            <a:xfrm flipV="1">
              <a:off x="1871848" y="2492897"/>
              <a:ext cx="0" cy="144000"/>
            </a:xfrm>
            <a:prstGeom prst="line">
              <a:avLst/>
            </a:prstGeom>
            <a:noFill/>
            <a:ln w="28575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5" name="直接连接符 54"/>
            <p:cNvCxnSpPr/>
            <p:nvPr/>
          </p:nvCxnSpPr>
          <p:spPr bwMode="auto">
            <a:xfrm>
              <a:off x="864216" y="2492896"/>
              <a:ext cx="4248000" cy="0"/>
            </a:xfrm>
            <a:prstGeom prst="line">
              <a:avLst/>
            </a:prstGeom>
            <a:noFill/>
            <a:ln w="28575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6" name="直接连接符 55"/>
            <p:cNvCxnSpPr>
              <a:cxnSpLocks/>
            </p:cNvCxnSpPr>
            <p:nvPr/>
          </p:nvCxnSpPr>
          <p:spPr bwMode="auto">
            <a:xfrm>
              <a:off x="3023976" y="2492896"/>
              <a:ext cx="0" cy="144000"/>
            </a:xfrm>
            <a:prstGeom prst="line">
              <a:avLst/>
            </a:prstGeom>
            <a:noFill/>
            <a:ln w="28575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7" name="直接连接符 56"/>
            <p:cNvCxnSpPr>
              <a:cxnSpLocks/>
            </p:cNvCxnSpPr>
            <p:nvPr/>
          </p:nvCxnSpPr>
          <p:spPr bwMode="auto">
            <a:xfrm>
              <a:off x="4608152" y="2492896"/>
              <a:ext cx="0" cy="144000"/>
            </a:xfrm>
            <a:prstGeom prst="line">
              <a:avLst/>
            </a:prstGeom>
            <a:noFill/>
            <a:ln w="28575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8" name="直接连接符 57"/>
            <p:cNvCxnSpPr>
              <a:cxnSpLocks/>
            </p:cNvCxnSpPr>
            <p:nvPr/>
          </p:nvCxnSpPr>
          <p:spPr bwMode="auto">
            <a:xfrm flipH="1">
              <a:off x="3022562" y="2888912"/>
              <a:ext cx="0" cy="144000"/>
            </a:xfrm>
            <a:prstGeom prst="line">
              <a:avLst/>
            </a:prstGeom>
            <a:noFill/>
            <a:ln w="222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9" name="直接连接符 58"/>
            <p:cNvCxnSpPr>
              <a:cxnSpLocks/>
            </p:cNvCxnSpPr>
            <p:nvPr/>
          </p:nvCxnSpPr>
          <p:spPr bwMode="auto">
            <a:xfrm>
              <a:off x="4608152" y="2891194"/>
              <a:ext cx="0" cy="144000"/>
            </a:xfrm>
            <a:prstGeom prst="line">
              <a:avLst/>
            </a:prstGeom>
            <a:noFill/>
            <a:ln w="222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60" name="Text Box 80"/>
            <p:cNvSpPr txBox="1">
              <a:spLocks noChangeArrowheads="1"/>
            </p:cNvSpPr>
            <p:nvPr/>
          </p:nvSpPr>
          <p:spPr bwMode="auto">
            <a:xfrm>
              <a:off x="1188216" y="2961059"/>
              <a:ext cx="576262" cy="251917"/>
            </a:xfrm>
            <a:prstGeom prst="rect">
              <a:avLst/>
            </a:prstGeom>
            <a:noFill/>
            <a:ln w="222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800" b="1" dirty="0"/>
                <a:t>主机</a:t>
              </a:r>
            </a:p>
          </p:txBody>
        </p:sp>
      </p:grpSp>
      <p:sp>
        <p:nvSpPr>
          <p:cNvPr id="62" name="AutoShape 121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6228000" y="6524450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9" name="Text Box 6"/>
          <p:cNvSpPr txBox="1">
            <a:spLocks noChangeArrowheads="1"/>
          </p:cNvSpPr>
          <p:nvPr/>
        </p:nvSpPr>
        <p:spPr bwMode="auto">
          <a:xfrm>
            <a:off x="2411760" y="3501008"/>
            <a:ext cx="6579839" cy="881653"/>
          </a:xfrm>
          <a:prstGeom prst="rect">
            <a:avLst/>
          </a:prstGeom>
          <a:noFill/>
          <a:ln w="38100">
            <a:noFill/>
            <a:miter lim="800000"/>
          </a:ln>
          <a:effectLst/>
        </p:spPr>
        <p:txBody>
          <a:bodyPr wrap="square" tIns="46800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sz="2200" b="1" dirty="0">
                <a:latin typeface="宋体" panose="02010600030101010101" pitchFamily="2" charset="-122"/>
              </a:rPr>
              <a:t>总线操作</a:t>
            </a:r>
            <a:r>
              <a:rPr lang="en-US" altLang="zh-CN" sz="1800" b="1" dirty="0">
                <a:latin typeface="宋体" panose="02010600030101010101" pitchFamily="2" charset="-122"/>
              </a:rPr>
              <a:t>(CPU-I/O</a:t>
            </a:r>
            <a:r>
              <a:rPr lang="zh-CN" altLang="en-US" sz="1800" b="1" dirty="0">
                <a:latin typeface="宋体" panose="02010600030101010101" pitchFamily="2" charset="-122"/>
              </a:rPr>
              <a:t>端口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r>
              <a:rPr lang="zh-CN" altLang="en-US" sz="2200" b="1" dirty="0">
                <a:latin typeface="宋体" panose="02010600030101010101" pitchFamily="2" charset="-122"/>
              </a:rPr>
              <a:t>，</a:t>
            </a:r>
            <a:r>
              <a:rPr lang="zh-CN" altLang="en-US" sz="2200" b="1" dirty="0">
                <a:solidFill>
                  <a:srgbClr val="990099"/>
                </a:solidFill>
                <a:latin typeface="+mn-ea"/>
              </a:rPr>
              <a:t>软件</a:t>
            </a:r>
            <a:r>
              <a:rPr lang="zh-CN" altLang="en-US" sz="2200" b="1" u="sng" dirty="0">
                <a:solidFill>
                  <a:srgbClr val="0070C0"/>
                </a:solidFill>
                <a:latin typeface="+mn-ea"/>
              </a:rPr>
              <a:t>主动</a:t>
            </a:r>
            <a:r>
              <a:rPr lang="zh-CN" altLang="en-US" sz="2200" b="1" dirty="0">
                <a:latin typeface="+mn-ea"/>
              </a:rPr>
              <a:t>发起</a:t>
            </a:r>
            <a:r>
              <a:rPr lang="en-US" altLang="zh-CN" sz="1800" b="1" dirty="0">
                <a:latin typeface="+mn-ea"/>
              </a:rPr>
              <a:t>(CPU</a:t>
            </a:r>
            <a:r>
              <a:rPr lang="zh-CN" altLang="en-US" sz="1800" b="1" dirty="0">
                <a:latin typeface="+mn-ea"/>
              </a:rPr>
              <a:t>执行指令时</a:t>
            </a:r>
            <a:r>
              <a:rPr lang="en-US" altLang="zh-CN" sz="1800" b="1" dirty="0">
                <a:latin typeface="+mn-ea"/>
              </a:rPr>
              <a:t>)</a:t>
            </a:r>
            <a:r>
              <a:rPr lang="en-US" altLang="zh-CN" sz="1800" b="1" dirty="0">
                <a:latin typeface="宋体" panose="02010600030101010101" pitchFamily="2" charset="-122"/>
              </a:rPr>
              <a:t> </a:t>
            </a:r>
          </a:p>
          <a:p>
            <a:pPr algn="l">
              <a:lnSpc>
                <a:spcPct val="125000"/>
              </a:lnSpc>
            </a:pPr>
            <a:r>
              <a:rPr lang="zh-CN" altLang="en-US" sz="2200" b="1" dirty="0">
                <a:latin typeface="宋体" panose="02010600030101010101" pitchFamily="2" charset="-122"/>
              </a:rPr>
              <a:t> 通信操作</a:t>
            </a:r>
            <a:r>
              <a:rPr lang="en-US" altLang="zh-CN" sz="1800" b="1" dirty="0">
                <a:latin typeface="宋体" panose="02010600030101010101" pitchFamily="2" charset="-122"/>
              </a:rPr>
              <a:t>(I/O</a:t>
            </a:r>
            <a:r>
              <a:rPr lang="zh-CN" altLang="en-US" sz="1800" b="1" dirty="0">
                <a:latin typeface="宋体" panose="02010600030101010101" pitchFamily="2" charset="-122"/>
              </a:rPr>
              <a:t>端口</a:t>
            </a:r>
            <a:r>
              <a:rPr lang="en-US" altLang="zh-CN" sz="1800" b="1" dirty="0">
                <a:latin typeface="宋体" panose="02010600030101010101" pitchFamily="2" charset="-122"/>
              </a:rPr>
              <a:t>-</a:t>
            </a:r>
            <a:r>
              <a:rPr lang="zh-CN" altLang="en-US" sz="1800" b="1" dirty="0">
                <a:latin typeface="宋体" panose="02010600030101010101" pitchFamily="2" charset="-122"/>
              </a:rPr>
              <a:t>外设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r>
              <a:rPr lang="zh-CN" altLang="en-US" sz="2200" b="1" dirty="0">
                <a:latin typeface="宋体" panose="02010600030101010101" pitchFamily="2" charset="-122"/>
              </a:rPr>
              <a:t>，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接口</a:t>
            </a:r>
            <a:r>
              <a:rPr lang="zh-CN" altLang="en-US" sz="2200" b="1" u="sng" dirty="0">
                <a:solidFill>
                  <a:srgbClr val="0070C0"/>
                </a:solidFill>
                <a:latin typeface="宋体" panose="02010600030101010101" pitchFamily="2" charset="-122"/>
              </a:rPr>
              <a:t>自动</a:t>
            </a:r>
            <a:r>
              <a:rPr lang="zh-CN" altLang="en-US" sz="2200" b="1" dirty="0">
                <a:latin typeface="宋体" panose="02010600030101010101" pitchFamily="2" charset="-122"/>
              </a:rPr>
              <a:t>实现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外设就绪时</a:t>
            </a:r>
            <a:r>
              <a:rPr lang="en-US" altLang="zh-CN" sz="1800" b="1" dirty="0">
                <a:latin typeface="宋体" panose="02010600030101010101" pitchFamily="2" charset="-122"/>
              </a:rPr>
              <a:t>) </a:t>
            </a:r>
          </a:p>
        </p:txBody>
      </p:sp>
      <p:grpSp>
        <p:nvGrpSpPr>
          <p:cNvPr id="79" name="组合 78"/>
          <p:cNvGrpSpPr/>
          <p:nvPr/>
        </p:nvGrpSpPr>
        <p:grpSpPr>
          <a:xfrm>
            <a:off x="2745044" y="5805859"/>
            <a:ext cx="4851292" cy="287437"/>
            <a:chOff x="1439824" y="5877272"/>
            <a:chExt cx="4851292" cy="287437"/>
          </a:xfrm>
        </p:grpSpPr>
        <p:sp>
          <p:nvSpPr>
            <p:cNvPr id="80" name="Text Box 8"/>
            <p:cNvSpPr txBox="1">
              <a:spLocks noChangeArrowheads="1"/>
            </p:cNvSpPr>
            <p:nvPr/>
          </p:nvSpPr>
          <p:spPr bwMode="auto">
            <a:xfrm>
              <a:off x="2978748" y="5877371"/>
              <a:ext cx="802131" cy="287338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5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操作码</a:t>
              </a:r>
            </a:p>
          </p:txBody>
        </p:sp>
        <p:sp>
          <p:nvSpPr>
            <p:cNvPr id="81" name="Text Box 10"/>
            <p:cNvSpPr txBox="1">
              <a:spLocks noChangeArrowheads="1"/>
            </p:cNvSpPr>
            <p:nvPr/>
          </p:nvSpPr>
          <p:spPr bwMode="auto">
            <a:xfrm>
              <a:off x="3780880" y="5877371"/>
              <a:ext cx="1438523" cy="287338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5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I/O</a:t>
              </a:r>
              <a:r>
                <a:rPr lang="zh-CN" altLang="en-US" sz="1800" b="1" dirty="0">
                  <a:latin typeface="宋体" panose="02010600030101010101" pitchFamily="2" charset="-122"/>
                </a:rPr>
                <a:t>端口地址</a:t>
              </a:r>
            </a:p>
          </p:txBody>
        </p:sp>
        <p:sp>
          <p:nvSpPr>
            <p:cNvPr id="82" name="Text Box 11"/>
            <p:cNvSpPr txBox="1">
              <a:spLocks noChangeArrowheads="1"/>
            </p:cNvSpPr>
            <p:nvPr/>
          </p:nvSpPr>
          <p:spPr bwMode="auto">
            <a:xfrm>
              <a:off x="5219404" y="5877371"/>
              <a:ext cx="1071712" cy="287338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5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信息内容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83" name="Text Box 9"/>
            <p:cNvSpPr txBox="1">
              <a:spLocks noChangeArrowheads="1"/>
            </p:cNvSpPr>
            <p:nvPr/>
          </p:nvSpPr>
          <p:spPr bwMode="auto">
            <a:xfrm>
              <a:off x="1439824" y="5877272"/>
              <a:ext cx="1548000" cy="287338"/>
            </a:xfrm>
            <a:prstGeom prst="rect">
              <a:avLst/>
            </a:prstGeom>
            <a:noFill/>
            <a:ln w="222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/>
              <a:r>
                <a:rPr lang="en-US" altLang="zh-CN" sz="1800" b="1" dirty="0">
                  <a:latin typeface="宋体" panose="02010600030101010101" pitchFamily="2" charset="-122"/>
                </a:rPr>
                <a:t>I/O</a:t>
              </a:r>
              <a:r>
                <a:rPr lang="zh-CN" altLang="en-US" sz="1800" b="1" dirty="0">
                  <a:latin typeface="宋体" panose="02010600030101010101" pitchFamily="2" charset="-122"/>
                </a:rPr>
                <a:t>指令格式：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</p:grpSp>
      <p:sp>
        <p:nvSpPr>
          <p:cNvPr id="63" name="Text Box 6"/>
          <p:cNvSpPr txBox="1">
            <a:spLocks noChangeArrowheads="1"/>
          </p:cNvSpPr>
          <p:nvPr/>
        </p:nvSpPr>
        <p:spPr bwMode="auto">
          <a:xfrm>
            <a:off x="1619672" y="4797152"/>
            <a:ext cx="6696744" cy="883773"/>
          </a:xfrm>
          <a:prstGeom prst="rect">
            <a:avLst/>
          </a:prstGeom>
          <a:noFill/>
          <a:ln w="38100">
            <a:noFill/>
            <a:miter lim="800000"/>
          </a:ln>
          <a:effectLst/>
        </p:spPr>
        <p:txBody>
          <a:bodyPr wrap="square" tIns="10800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200" b="1" dirty="0">
                <a:latin typeface="宋体" panose="02010600030101010101" pitchFamily="2" charset="-122"/>
              </a:rPr>
              <a:t>CPU</a:t>
            </a:r>
            <a:r>
              <a:rPr lang="zh-CN" altLang="en-US" sz="2200" b="1" dirty="0">
                <a:latin typeface="宋体" panose="02010600030101010101" pitchFamily="2" charset="-122"/>
              </a:rPr>
              <a:t>中</a:t>
            </a:r>
            <a:r>
              <a:rPr lang="en-US" altLang="zh-CN" sz="22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GPR</a:t>
            </a:r>
            <a:r>
              <a:rPr lang="en-US" altLang="zh-CN" b="1" dirty="0">
                <a:latin typeface="宋体" panose="02010600030101010101" pitchFamily="2" charset="-122"/>
              </a:rPr>
              <a:t>-</a:t>
            </a:r>
            <a:r>
              <a:rPr lang="zh-CN" altLang="en-US" sz="2200" b="1" dirty="0">
                <a:latin typeface="宋体" panose="02010600030101010101" pitchFamily="2" charset="-122"/>
              </a:rPr>
              <a:t>接口中</a:t>
            </a:r>
            <a:r>
              <a:rPr lang="en-US" altLang="zh-CN" sz="22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I/O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端口</a:t>
            </a:r>
            <a:r>
              <a:rPr lang="zh-CN" altLang="en-US" sz="2200" b="1" dirty="0">
                <a:latin typeface="宋体" panose="02010600030101010101" pitchFamily="2" charset="-122"/>
              </a:rPr>
              <a:t>之间的信息传送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sz="2200" b="1" u="sng" dirty="0">
                <a:latin typeface="宋体" panose="02010600030101010101" pitchFamily="2" charset="-122"/>
              </a:rPr>
              <a:t>操作码</a:t>
            </a:r>
            <a:r>
              <a:rPr lang="zh-CN" altLang="en-US" sz="2200" b="1" dirty="0">
                <a:latin typeface="宋体" panose="02010600030101010101" pitchFamily="2" charset="-122"/>
              </a:rPr>
              <a:t>有</a:t>
            </a:r>
            <a:r>
              <a:rPr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2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种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</a:rPr>
              <a:t>输入</a:t>
            </a:r>
            <a:r>
              <a:rPr lang="en-US" altLang="zh-CN" sz="1600" b="1" dirty="0">
                <a:latin typeface="宋体" panose="02010600030101010101" pitchFamily="2" charset="-122"/>
              </a:rPr>
              <a:t>/</a:t>
            </a:r>
            <a:r>
              <a:rPr lang="zh-CN" altLang="en-US" sz="1600" b="1" dirty="0">
                <a:latin typeface="宋体" panose="02010600030101010101" pitchFamily="2" charset="-122"/>
              </a:rPr>
              <a:t>输出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  <a:r>
              <a:rPr lang="zh-CN" sz="2200" b="1" dirty="0">
                <a:latin typeface="宋体" panose="02010600030101010101" pitchFamily="2" charset="-122"/>
              </a:rPr>
              <a:t>，</a:t>
            </a:r>
            <a:r>
              <a:rPr lang="en-US" altLang="zh-CN" sz="2200" b="1" dirty="0">
                <a:latin typeface="宋体" panose="02010600030101010101" pitchFamily="2" charset="-122"/>
              </a:rPr>
              <a:t>I/O</a:t>
            </a:r>
            <a:r>
              <a:rPr lang="zh-CN" altLang="en-US" sz="2200" b="1" dirty="0">
                <a:latin typeface="宋体" panose="02010600030101010101" pitchFamily="2" charset="-122"/>
              </a:rPr>
              <a:t>端口用地址标识</a:t>
            </a: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</p:txBody>
      </p:sp>
      <p:sp>
        <p:nvSpPr>
          <p:cNvPr id="47" name="线形标注 2 46"/>
          <p:cNvSpPr/>
          <p:nvPr/>
        </p:nvSpPr>
        <p:spPr bwMode="auto">
          <a:xfrm>
            <a:off x="7380312" y="5445224"/>
            <a:ext cx="1584000" cy="252000"/>
          </a:xfrm>
          <a:prstGeom prst="borderCallout2">
            <a:avLst>
              <a:gd name="adj1" fmla="val 50973"/>
              <a:gd name="adj2" fmla="val -663"/>
              <a:gd name="adj3" fmla="val 51508"/>
              <a:gd name="adj4" fmla="val -12975"/>
              <a:gd name="adj5" fmla="val 141765"/>
              <a:gd name="adj6" fmla="val -20219"/>
            </a:avLst>
          </a:prstGeom>
          <a:noFill/>
          <a:ln w="12700" cap="flat" cmpd="sng" algn="ctr">
            <a:solidFill>
              <a:srgbClr val="0070C0"/>
            </a:solidFill>
            <a:prstDash val="sysDash"/>
            <a:round/>
            <a:headEnd type="none" w="med" len="med"/>
            <a:tailEnd type="arrow" w="med" len="med"/>
          </a:ln>
          <a:effectLst/>
        </p:spPr>
        <p:txBody>
          <a:bodyPr vert="horz" wrap="square" lIns="36000" tIns="18000" rIns="36000" bIns="18000" numCol="1" rtlCol="0" anchor="t" anchorCtr="0" compatLnSpc="1"/>
          <a:lstStyle/>
          <a:p>
            <a:pPr algn="ctr">
              <a:lnSpc>
                <a:spcPct val="105000"/>
              </a:lnSpc>
            </a:pPr>
            <a:r>
              <a:rPr lang="en-US" altLang="zh-CN" sz="1600" b="1" dirty="0">
                <a:latin typeface="+mn-ea"/>
                <a:ea typeface="+mn-ea"/>
              </a:rPr>
              <a:t>GPRs</a:t>
            </a:r>
            <a:r>
              <a:rPr lang="zh-CN" altLang="en-US" sz="1600" b="1" dirty="0">
                <a:latin typeface="+mn-ea"/>
                <a:ea typeface="+mn-ea"/>
              </a:rPr>
              <a:t>号或立即数</a:t>
            </a:r>
          </a:p>
        </p:txBody>
      </p:sp>
      <p:sp>
        <p:nvSpPr>
          <p:cNvPr id="35" name="Text Box 200"/>
          <p:cNvSpPr txBox="1">
            <a:spLocks noChangeArrowheads="1"/>
          </p:cNvSpPr>
          <p:nvPr/>
        </p:nvSpPr>
        <p:spPr bwMode="auto">
          <a:xfrm>
            <a:off x="3851920" y="2778952"/>
            <a:ext cx="4932000" cy="288290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Dot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lstStyle/>
          <a:p>
            <a:pPr eaLnBrk="0" hangingPunct="0">
              <a:lnSpc>
                <a:spcPct val="90000"/>
              </a:lnSpc>
            </a:pPr>
            <a:r>
              <a:rPr lang="en-US" altLang="zh-CN" sz="1600" b="1" dirty="0">
                <a:solidFill>
                  <a:srgbClr val="C00000"/>
                </a:solidFill>
                <a:latin typeface="+mn-ea"/>
                <a:ea typeface="+mn-ea"/>
              </a:rPr>
              <a:t>I/O</a:t>
            </a:r>
            <a:r>
              <a:rPr lang="zh-CN" altLang="en-US" sz="1600" b="1" dirty="0">
                <a:solidFill>
                  <a:srgbClr val="C00000"/>
                </a:solidFill>
                <a:latin typeface="+mn-ea"/>
                <a:ea typeface="+mn-ea"/>
              </a:rPr>
              <a:t>端口</a:t>
            </a:r>
            <a:r>
              <a:rPr lang="en-US" altLang="zh-CN" sz="1600" b="1" dirty="0">
                <a:solidFill>
                  <a:srgbClr val="C00000"/>
                </a:solidFill>
                <a:latin typeface="+mn-ea"/>
              </a:rPr>
              <a:t>—</a:t>
            </a:r>
            <a:r>
              <a:rPr lang="en-US" altLang="zh-CN" sz="1600" b="1" dirty="0">
                <a:latin typeface="+mn-ea"/>
                <a:ea typeface="+mn-ea"/>
              </a:rPr>
              <a:t>I/O</a:t>
            </a:r>
            <a:r>
              <a:rPr lang="zh-CN" altLang="en-US" sz="1600" b="1" dirty="0">
                <a:latin typeface="+mn-ea"/>
                <a:ea typeface="+mn-ea"/>
              </a:rPr>
              <a:t>接口中</a:t>
            </a:r>
            <a:r>
              <a:rPr lang="zh-CN" altLang="en-US" sz="1600" b="1" dirty="0">
                <a:solidFill>
                  <a:srgbClr val="0070C0"/>
                </a:solidFill>
                <a:latin typeface="+mn-ea"/>
                <a:ea typeface="+mn-ea"/>
              </a:rPr>
              <a:t>可与数据总线交换信息</a:t>
            </a:r>
            <a:r>
              <a:rPr lang="zh-CN" altLang="en-US" sz="1600" b="1" dirty="0">
                <a:latin typeface="+mn-ea"/>
                <a:ea typeface="+mn-ea"/>
              </a:rPr>
              <a:t>的寄存器</a:t>
            </a:r>
            <a:endParaRPr lang="zh-CN" altLang="en-US" sz="1600" b="1" dirty="0">
              <a:latin typeface="宋体" panose="02010600030101010101" pitchFamily="2" charset="-122"/>
            </a:endParaRPr>
          </a:p>
        </p:txBody>
      </p: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83A1954A-B0DF-489E-B755-69E894613E8A}"/>
              </a:ext>
            </a:extLst>
          </p:cNvPr>
          <p:cNvCxnSpPr>
            <a:cxnSpLocks/>
          </p:cNvCxnSpPr>
          <p:nvPr/>
        </p:nvCxnSpPr>
        <p:spPr bwMode="auto">
          <a:xfrm flipH="1">
            <a:off x="6264000" y="1952816"/>
            <a:ext cx="432000" cy="72000"/>
          </a:xfrm>
          <a:prstGeom prst="line">
            <a:avLst/>
          </a:prstGeom>
          <a:noFill/>
          <a:ln w="12700" cap="flat" cmpd="sng" algn="ctr">
            <a:solidFill>
              <a:srgbClr val="0070C0"/>
            </a:solidFill>
            <a:prstDash val="sysDash"/>
            <a:round/>
            <a:headEnd type="none" w="med" len="med"/>
            <a:tailEnd type="triangle" w="med" len="med"/>
          </a:ln>
        </p:spPr>
      </p:cxnSp>
      <p:sp>
        <p:nvSpPr>
          <p:cNvPr id="34" name="线形标注 2 46">
            <a:extLst>
              <a:ext uri="{FF2B5EF4-FFF2-40B4-BE49-F238E27FC236}">
                <a16:creationId xmlns:a16="http://schemas.microsoft.com/office/drawing/2014/main" id="{ACCE7A37-FB70-41FA-9A93-3D8366DB1DDD}"/>
              </a:ext>
            </a:extLst>
          </p:cNvPr>
          <p:cNvSpPr/>
          <p:nvPr/>
        </p:nvSpPr>
        <p:spPr bwMode="auto">
          <a:xfrm>
            <a:off x="7308424" y="1052736"/>
            <a:ext cx="1080000" cy="252000"/>
          </a:xfrm>
          <a:prstGeom prst="borderCallout2">
            <a:avLst>
              <a:gd name="adj1" fmla="val 50973"/>
              <a:gd name="adj2" fmla="val -663"/>
              <a:gd name="adj3" fmla="val 48695"/>
              <a:gd name="adj4" fmla="val -22164"/>
              <a:gd name="adj5" fmla="val 386483"/>
              <a:gd name="adj6" fmla="val -100948"/>
            </a:avLst>
          </a:prstGeom>
          <a:noFill/>
          <a:ln w="12700" cap="flat" cmpd="sng" algn="ctr">
            <a:solidFill>
              <a:srgbClr val="0070C0"/>
            </a:solidFill>
            <a:prstDash val="sysDash"/>
            <a:round/>
            <a:headEnd type="none" w="med" len="med"/>
            <a:tailEnd type="arrow" w="med" len="med"/>
          </a:ln>
          <a:effectLst/>
        </p:spPr>
        <p:txBody>
          <a:bodyPr vert="horz" wrap="square" lIns="36000" tIns="18000" rIns="36000" bIns="18000" numCol="1" rtlCol="0" anchor="t" anchorCtr="0" compatLnSpc="1"/>
          <a:lstStyle/>
          <a:p>
            <a:pPr algn="ctr">
              <a:lnSpc>
                <a:spcPct val="105000"/>
              </a:lnSpc>
            </a:pPr>
            <a:r>
              <a:rPr lang="en-US" altLang="zh-CN" sz="1600" b="1" dirty="0">
                <a:latin typeface="+mn-ea"/>
                <a:ea typeface="+mn-ea"/>
              </a:rPr>
              <a:t>CPU</a:t>
            </a:r>
            <a:r>
              <a:rPr lang="zh-CN" altLang="en-US" sz="1600" b="1" dirty="0">
                <a:latin typeface="+mn-ea"/>
                <a:ea typeface="+mn-ea"/>
              </a:rPr>
              <a:t>等不起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3" dur="500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8" dur="500"/>
                                        <p:tgtEl>
                                          <p:spTgt spid="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500"/>
                            </p:stCondLst>
                            <p:childTnLst>
                              <p:par>
                                <p:cTn id="80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1000"/>
                            </p:stCondLst>
                            <p:childTnLst>
                              <p:par>
                                <p:cTn id="84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 bldLvl="0" animBg="1"/>
      <p:bldP spid="35" grpId="0" bldLvl="0" animBg="1"/>
      <p:bldP spid="34" grpId="0" bldLvl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 Box 6"/>
          <p:cNvSpPr txBox="1">
            <a:spLocks noChangeArrowheads="1"/>
          </p:cNvSpPr>
          <p:nvPr/>
        </p:nvSpPr>
        <p:spPr bwMode="auto">
          <a:xfrm>
            <a:off x="179513" y="2413337"/>
            <a:ext cx="3157136" cy="40609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软件访问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</a:p>
          <a:p>
            <a:pPr algn="l">
              <a:lnSpc>
                <a:spcPct val="125000"/>
              </a:lnSpc>
              <a:spcBef>
                <a:spcPts val="300"/>
              </a:spcBef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硬件连接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</a:p>
          <a:p>
            <a:pPr algn="l">
              <a:lnSpc>
                <a:spcPct val="125000"/>
              </a:lnSpc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1200"/>
              </a:spcBef>
            </a:pP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     I/O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事务的识别：</a:t>
            </a:r>
            <a:endParaRPr lang="en-US" altLang="zh-CN" sz="2200" b="1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200"/>
              </a:spcBef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特点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zh-CN" altLang="en-US" sz="2200" b="1" dirty="0">
              <a:solidFill>
                <a:schemeClr val="accent2"/>
              </a:solidFill>
              <a:latin typeface="+mn-ea"/>
              <a:ea typeface="+mn-ea"/>
            </a:endParaRPr>
          </a:p>
        </p:txBody>
      </p:sp>
      <p:sp>
        <p:nvSpPr>
          <p:cNvPr id="40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A8B11-A3D3-4984-A5B9-EDD907E07DC8}" type="slidenum">
              <a:rPr lang="en-US" altLang="zh-CN"/>
              <a:t>5</a:t>
            </a:fld>
            <a:endParaRPr lang="en-US" altLang="zh-CN"/>
          </a:p>
        </p:txBody>
      </p:sp>
      <p:sp>
        <p:nvSpPr>
          <p:cNvPr id="207993" name="AutoShape 121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2988518" y="6524451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0" name="Text Box 39"/>
          <p:cNvSpPr txBox="1">
            <a:spLocks noChangeArrowheads="1"/>
          </p:cNvSpPr>
          <p:nvPr/>
        </p:nvSpPr>
        <p:spPr bwMode="auto">
          <a:xfrm>
            <a:off x="152400" y="332656"/>
            <a:ext cx="8838565" cy="1275798"/>
          </a:xfrm>
          <a:prstGeom prst="rect">
            <a:avLst/>
          </a:prstGeom>
          <a:noFill/>
          <a:ln w="38100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(2)</a:t>
            </a:r>
            <a:r>
              <a:rPr lang="zh-CN" altLang="en-US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外设的编址   </a:t>
            </a:r>
            <a:r>
              <a:rPr lang="en-US" altLang="zh-CN" sz="1800" b="1" dirty="0">
                <a:latin typeface="宋体" panose="02010600030101010101" pitchFamily="2" charset="-122"/>
              </a:rPr>
              <a:t>(I/O</a:t>
            </a:r>
            <a:r>
              <a:rPr lang="zh-CN" altLang="en-US" sz="1800" b="1" dirty="0">
                <a:latin typeface="宋体" panose="02010600030101010101" pitchFamily="2" charset="-122"/>
              </a:rPr>
              <a:t>端口地址的</a:t>
            </a:r>
            <a:r>
              <a:rPr lang="zh-CN" altLang="en-US" sz="1800" b="1" dirty="0">
                <a:latin typeface="+mn-ea"/>
              </a:rPr>
              <a:t>软</a:t>
            </a:r>
            <a:r>
              <a:rPr lang="en-US" altLang="zh-CN" sz="1800" b="1" dirty="0">
                <a:latin typeface="+mn-ea"/>
              </a:rPr>
              <a:t>/</a:t>
            </a:r>
            <a:r>
              <a:rPr lang="zh-CN" altLang="en-US" sz="1800" b="1" dirty="0">
                <a:latin typeface="+mn-ea"/>
              </a:rPr>
              <a:t>硬件表示</a:t>
            </a:r>
            <a:r>
              <a:rPr lang="en-US" altLang="zh-CN" sz="1800" b="1" dirty="0">
                <a:latin typeface="+mn-ea"/>
              </a:rPr>
              <a:t>)</a:t>
            </a:r>
            <a:endParaRPr lang="zh-CN" altLang="en-US" sz="1800" b="1" dirty="0">
              <a:solidFill>
                <a:srgbClr val="FF3399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目标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r>
              <a:rPr lang="zh-CN" altLang="en-US" sz="2200" b="1" dirty="0">
                <a:latin typeface="宋体" panose="02010600030101010101" pitchFamily="2" charset="-122"/>
              </a:rPr>
              <a:t>在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指令中</a:t>
            </a:r>
            <a:r>
              <a:rPr lang="en-US" altLang="zh-CN" sz="22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/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总线上</a:t>
            </a:r>
            <a:r>
              <a:rPr lang="zh-CN" altLang="en-US" sz="2200" b="1" dirty="0">
                <a:latin typeface="宋体" panose="02010600030101010101" pitchFamily="2" charset="-122"/>
              </a:rPr>
              <a:t>表示</a:t>
            </a:r>
            <a:r>
              <a:rPr lang="en-US" altLang="zh-CN" sz="2200" b="1" dirty="0">
                <a:latin typeface="宋体" panose="02010600030101010101" pitchFamily="2" charset="-122"/>
              </a:rPr>
              <a:t>I/O</a:t>
            </a:r>
            <a:r>
              <a:rPr lang="zh-CN" altLang="en-US" sz="2200" b="1" dirty="0">
                <a:latin typeface="宋体" panose="02010600030101010101" pitchFamily="2" charset="-122"/>
              </a:rPr>
              <a:t>端口地址    </a:t>
            </a:r>
            <a:r>
              <a:rPr lang="zh-CN" altLang="en-US" sz="1800" b="1" dirty="0">
                <a:latin typeface="宋体" panose="02010600030101010101" pitchFamily="2" charset="-122"/>
              </a:rPr>
              <a:t>←</a:t>
            </a:r>
            <a:r>
              <a:rPr lang="zh-CN" altLang="en-US" sz="1800" b="1" u="sng" dirty="0">
                <a:solidFill>
                  <a:srgbClr val="FF3399"/>
                </a:solidFill>
                <a:latin typeface="宋体" panose="02010600030101010101" pitchFamily="2" charset="-122"/>
              </a:rPr>
              <a:t>区分</a:t>
            </a:r>
            <a:r>
              <a:rPr lang="zh-CN" altLang="en-US" sz="1800" b="1" dirty="0">
                <a:latin typeface="宋体" panose="02010600030101010101" pitchFamily="2" charset="-122"/>
              </a:rPr>
              <a:t>主存单元</a:t>
            </a:r>
            <a:r>
              <a:rPr lang="en-US" altLang="zh-CN" sz="1800" b="1" dirty="0">
                <a:latin typeface="宋体" panose="02010600030101010101" pitchFamily="2" charset="-122"/>
              </a:rPr>
              <a:t>-I/O</a:t>
            </a:r>
            <a:r>
              <a:rPr lang="zh-CN" altLang="en-US" sz="1800" b="1" dirty="0">
                <a:latin typeface="宋体" panose="02010600030101010101" pitchFamily="2" charset="-122"/>
              </a:rPr>
              <a:t>端口</a:t>
            </a:r>
            <a:endParaRPr lang="en-US" altLang="zh-CN" sz="16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1800" b="1" dirty="0">
                <a:latin typeface="宋体" panose="02010600030101010101" pitchFamily="2" charset="-122"/>
              </a:rPr>
              <a:t>              </a:t>
            </a:r>
            <a:r>
              <a:rPr lang="zh-CN" altLang="en-US" sz="1800" b="1" dirty="0">
                <a:latin typeface="宋体" panose="02010600030101010101" pitchFamily="2" charset="-122"/>
              </a:rPr>
              <a:t>单元长度</a:t>
            </a:r>
            <a:r>
              <a:rPr lang="zh-CN" altLang="en-US" sz="1800" b="1" dirty="0">
                <a:solidFill>
                  <a:srgbClr val="FF3399"/>
                </a:solidFill>
                <a:latin typeface="宋体" panose="02010600030101010101" pitchFamily="2" charset="-122"/>
              </a:rPr>
              <a:t>＝</a:t>
            </a:r>
            <a:r>
              <a:rPr lang="zh-CN" altLang="en-US" sz="1800" b="1" dirty="0">
                <a:latin typeface="宋体" panose="02010600030101010101" pitchFamily="2" charset="-122"/>
              </a:rPr>
              <a:t>主存单元长度→</a:t>
            </a:r>
            <a:r>
              <a:rPr lang="zh-CN" altLang="en-US" sz="1800" dirty="0">
                <a:latin typeface="宋体" panose="02010600030101010101" pitchFamily="2" charset="-122"/>
              </a:rPr>
              <a:t>┘</a:t>
            </a:r>
            <a:r>
              <a:rPr lang="zh-CN" altLang="en-US" sz="1800" b="1" dirty="0">
                <a:latin typeface="宋体" panose="02010600030101010101" pitchFamily="2" charset="-122"/>
              </a:rPr>
              <a:t>           </a:t>
            </a:r>
            <a:r>
              <a:rPr lang="zh-CN" altLang="en-US" sz="1400" b="1" dirty="0">
                <a:latin typeface="宋体" panose="02010600030101010101" pitchFamily="2" charset="-122"/>
              </a:rPr>
              <a:t>  </a:t>
            </a:r>
            <a:r>
              <a:rPr lang="zh-CN" altLang="en-US" sz="1800" b="1" dirty="0">
                <a:latin typeface="宋体" panose="02010600030101010101" pitchFamily="2" charset="-122"/>
              </a:rPr>
              <a:t>←</a:t>
            </a:r>
            <a:r>
              <a:rPr lang="zh-CN" altLang="en-US" sz="1800" b="1" u="sng" dirty="0">
                <a:latin typeface="宋体" panose="02010600030101010101" pitchFamily="2" charset="-122"/>
              </a:rPr>
              <a:t>便于</a:t>
            </a:r>
            <a:r>
              <a:rPr lang="zh-CN" altLang="en-US" sz="1800" b="1" dirty="0">
                <a:latin typeface="宋体" panose="02010600030101010101" pitchFamily="2" charset="-122"/>
              </a:rPr>
              <a:t>统一处理</a:t>
            </a:r>
            <a:endParaRPr lang="en-US" altLang="zh-CN" sz="1600" b="1" dirty="0">
              <a:latin typeface="宋体" panose="02010600030101010101" pitchFamily="2" charset="-122"/>
            </a:endParaRPr>
          </a:p>
        </p:txBody>
      </p:sp>
      <p:sp>
        <p:nvSpPr>
          <p:cNvPr id="6" name="Text Box 40"/>
          <p:cNvSpPr txBox="1">
            <a:spLocks noChangeArrowheads="1"/>
          </p:cNvSpPr>
          <p:nvPr/>
        </p:nvSpPr>
        <p:spPr bwMode="auto">
          <a:xfrm>
            <a:off x="179512" y="1556792"/>
            <a:ext cx="8812213" cy="880562"/>
          </a:xfrm>
          <a:prstGeom prst="rect">
            <a:avLst/>
          </a:prstGeom>
          <a:noFill/>
          <a:ln w="38100">
            <a:noFill/>
            <a:miter lim="800000"/>
          </a:ln>
          <a:effectLst/>
        </p:spPr>
        <p:txBody>
          <a:bodyPr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统一编址方式：      </a:t>
            </a:r>
            <a:r>
              <a:rPr lang="en-US" altLang="zh-CN" sz="1800" b="1" dirty="0">
                <a:latin typeface="宋体" panose="02010600030101010101" pitchFamily="2" charset="-122"/>
              </a:rPr>
              <a:t>--</a:t>
            </a:r>
            <a:r>
              <a:rPr lang="zh-CN" altLang="en-US" sz="1800" b="1" dirty="0">
                <a:latin typeface="宋体" panose="02010600030101010101" pitchFamily="2" charset="-122"/>
              </a:rPr>
              <a:t>又称存储器映像方式</a:t>
            </a:r>
            <a:endParaRPr lang="en-US" altLang="zh-CN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sz="2200" b="1" dirty="0">
                <a:latin typeface="宋体" panose="02010600030101010101" pitchFamily="2" charset="-122"/>
              </a:rPr>
              <a:t>      即主存单元、</a:t>
            </a:r>
            <a:r>
              <a:rPr lang="en-US" altLang="zh-CN" sz="2200" b="1" dirty="0">
                <a:latin typeface="宋体" panose="02010600030101010101" pitchFamily="2" charset="-122"/>
              </a:rPr>
              <a:t>I/O</a:t>
            </a:r>
            <a:r>
              <a:rPr lang="zh-CN" altLang="en-US" sz="2200" b="1" dirty="0">
                <a:latin typeface="宋体" panose="02010600030101010101" pitchFamily="2" charset="-122"/>
              </a:rPr>
              <a:t>端口</a:t>
            </a:r>
            <a:r>
              <a:rPr lang="zh-CN" altLang="en-US" sz="2200" b="1" u="sng" dirty="0">
                <a:solidFill>
                  <a:srgbClr val="0070C0"/>
                </a:solidFill>
                <a:latin typeface="宋体" panose="02010600030101010101" pitchFamily="2" charset="-122"/>
              </a:rPr>
              <a:t>共用一个</a:t>
            </a:r>
            <a:r>
              <a:rPr lang="zh-CN" altLang="en-US" sz="2200" b="1" dirty="0">
                <a:latin typeface="宋体" panose="02010600030101010101" pitchFamily="2" charset="-122"/>
              </a:rPr>
              <a:t>地址空间</a:t>
            </a:r>
            <a:endParaRPr lang="en-US" altLang="zh-CN" sz="2200" b="1" dirty="0">
              <a:latin typeface="宋体" panose="02010600030101010101" pitchFamily="2" charset="-122"/>
            </a:endParaRPr>
          </a:p>
        </p:txBody>
      </p:sp>
      <p:sp>
        <p:nvSpPr>
          <p:cNvPr id="7" name="Text Box 41"/>
          <p:cNvSpPr txBox="1">
            <a:spLocks noChangeArrowheads="1"/>
          </p:cNvSpPr>
          <p:nvPr/>
        </p:nvSpPr>
        <p:spPr bwMode="auto">
          <a:xfrm>
            <a:off x="2195736" y="2415273"/>
            <a:ext cx="6768751" cy="1342227"/>
          </a:xfrm>
          <a:prstGeom prst="rect">
            <a:avLst/>
          </a:prstGeom>
          <a:noFill/>
          <a:ln w="38100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sz="2200" b="1" dirty="0">
                <a:latin typeface="宋体" panose="02010600030101010101" pitchFamily="2" charset="-122"/>
              </a:rPr>
              <a:t>使用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访存</a:t>
            </a:r>
            <a:r>
              <a:rPr lang="zh-CN" altLang="en-US" sz="2200" b="1" dirty="0">
                <a:latin typeface="宋体" panose="02010600030101010101" pitchFamily="2" charset="-122"/>
              </a:rPr>
              <a:t>指令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地址∈</a:t>
            </a:r>
            <a:r>
              <a:rPr lang="en-US" altLang="zh-CN" sz="1800" b="1" dirty="0">
                <a:latin typeface="宋体" panose="02010600030101010101" pitchFamily="2" charset="-122"/>
              </a:rPr>
              <a:t>I/O</a:t>
            </a:r>
            <a:r>
              <a:rPr lang="zh-CN" altLang="en-US" sz="1800" b="1" dirty="0">
                <a:latin typeface="宋体" panose="02010600030101010101" pitchFamily="2" charset="-122"/>
              </a:rPr>
              <a:t>地址范围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r>
              <a:rPr lang="zh-CN" altLang="en-US" sz="2200" b="1" dirty="0">
                <a:latin typeface="宋体" panose="02010600030101010101" pitchFamily="2" charset="-122"/>
              </a:rPr>
              <a:t>     </a:t>
            </a:r>
            <a:r>
              <a:rPr lang="zh-CN" altLang="en-US" sz="1800" b="1" dirty="0">
                <a:latin typeface="宋体" panose="02010600030101010101" pitchFamily="2" charset="-122"/>
              </a:rPr>
              <a:t> ←</a:t>
            </a:r>
            <a:r>
              <a:rPr lang="en-US" altLang="zh-CN" sz="1800" b="1" dirty="0">
                <a:latin typeface="宋体" panose="02010600030101010101" pitchFamily="2" charset="-122"/>
              </a:rPr>
              <a:t>ISA</a:t>
            </a:r>
            <a:r>
              <a:rPr lang="zh-CN" altLang="en-US" sz="1800" b="1" dirty="0">
                <a:solidFill>
                  <a:srgbClr val="FF3399"/>
                </a:solidFill>
                <a:latin typeface="宋体" panose="02010600030101010101" pitchFamily="2" charset="-122"/>
              </a:rPr>
              <a:t>不增加</a:t>
            </a:r>
            <a:r>
              <a:rPr lang="zh-CN" altLang="en-US" sz="1800" b="1" dirty="0">
                <a:latin typeface="宋体" panose="02010600030101010101" pitchFamily="2" charset="-122"/>
              </a:rPr>
              <a:t>指令</a:t>
            </a:r>
            <a:endParaRPr lang="en-US" altLang="zh-CN" sz="18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300"/>
              </a:spcBef>
            </a:pPr>
            <a:r>
              <a:rPr lang="zh-CN" altLang="en-US" sz="2200" b="1" dirty="0">
                <a:solidFill>
                  <a:srgbClr val="0070C0"/>
                </a:solidFill>
                <a:latin typeface="宋体" panose="02010600030101010101" pitchFamily="2" charset="-122"/>
              </a:rPr>
              <a:t>总线</a:t>
            </a:r>
            <a:r>
              <a:rPr lang="zh-CN" altLang="en-US" sz="2200" b="1" dirty="0">
                <a:latin typeface="宋体" panose="02010600030101010101" pitchFamily="2" charset="-122"/>
              </a:rPr>
              <a:t>仅含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访存</a:t>
            </a:r>
            <a:r>
              <a:rPr lang="zh-CN" altLang="en-US" sz="2200" b="1" dirty="0">
                <a:latin typeface="宋体" panose="02010600030101010101" pitchFamily="2" charset="-122"/>
              </a:rPr>
              <a:t>控制信号</a:t>
            </a:r>
            <a:r>
              <a:rPr lang="en-US" altLang="zh-CN" sz="1600" b="1" dirty="0">
                <a:latin typeface="宋体" panose="02010600030101010101" pitchFamily="2" charset="-122"/>
              </a:rPr>
              <a:t>(MEMR#</a:t>
            </a:r>
            <a:r>
              <a:rPr lang="zh-CN" altLang="en-US" sz="1600" b="1" dirty="0">
                <a:latin typeface="宋体" panose="02010600030101010101" pitchFamily="2" charset="-122"/>
              </a:rPr>
              <a:t>、</a:t>
            </a:r>
            <a:r>
              <a:rPr lang="en-US" altLang="zh-CN" sz="1600" b="1" dirty="0">
                <a:latin typeface="宋体" panose="02010600030101010101" pitchFamily="2" charset="-122"/>
              </a:rPr>
              <a:t>MEMW#)</a:t>
            </a:r>
            <a:r>
              <a:rPr lang="zh-CN" altLang="en-US" sz="2200" b="1" dirty="0">
                <a:latin typeface="宋体" panose="02010600030101010101" pitchFamily="2" charset="-122"/>
              </a:rPr>
              <a:t>， </a:t>
            </a:r>
            <a:r>
              <a:rPr lang="zh-CN" altLang="en-US" sz="1800" b="1" dirty="0">
                <a:latin typeface="宋体" panose="02010600030101010101" pitchFamily="2" charset="-122"/>
              </a:rPr>
              <a:t>←总线</a:t>
            </a:r>
            <a:r>
              <a:rPr lang="zh-CN" altLang="en-US" sz="1800" b="1" dirty="0">
                <a:solidFill>
                  <a:srgbClr val="FF3399"/>
                </a:solidFill>
                <a:latin typeface="宋体" panose="02010600030101010101" pitchFamily="2" charset="-122"/>
              </a:rPr>
              <a:t>不增加</a:t>
            </a:r>
            <a:r>
              <a:rPr lang="zh-CN" altLang="en-US" sz="1800" b="1" dirty="0">
                <a:latin typeface="宋体" panose="02010600030101010101" pitchFamily="2" charset="-122"/>
              </a:rPr>
              <a:t>事务</a:t>
            </a:r>
            <a:endParaRPr lang="en-US" altLang="zh-CN" sz="18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sz="2200" b="1" dirty="0">
                <a:solidFill>
                  <a:srgbClr val="0070C0"/>
                </a:solidFill>
                <a:latin typeface="宋体" panose="02010600030101010101" pitchFamily="2" charset="-122"/>
              </a:rPr>
              <a:t>接口</a:t>
            </a:r>
            <a:r>
              <a:rPr lang="zh-CN" altLang="en-US" sz="2200" b="1" dirty="0">
                <a:latin typeface="宋体" panose="02010600030101010101" pitchFamily="2" charset="-122"/>
              </a:rPr>
              <a:t>连接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访存控制</a:t>
            </a:r>
            <a:r>
              <a:rPr lang="zh-CN" altLang="en-US" sz="2200" b="1" dirty="0">
                <a:latin typeface="宋体" panose="02010600030101010101" pitchFamily="2" charset="-122"/>
              </a:rPr>
              <a:t>线、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所有地址</a:t>
            </a:r>
            <a:r>
              <a:rPr lang="zh-CN" altLang="en-US" sz="2200" b="1" dirty="0">
                <a:latin typeface="宋体" panose="02010600030101010101" pitchFamily="2" charset="-122"/>
              </a:rPr>
              <a:t>线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同主存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endParaRPr lang="zh-CN" altLang="en-US" sz="2200" b="1" dirty="0">
              <a:latin typeface="宋体" panose="02010600030101010101" pitchFamily="2" charset="-122"/>
            </a:endParaRPr>
          </a:p>
        </p:txBody>
      </p:sp>
      <p:grpSp>
        <p:nvGrpSpPr>
          <p:cNvPr id="8" name="Group 73"/>
          <p:cNvGrpSpPr/>
          <p:nvPr/>
        </p:nvGrpSpPr>
        <p:grpSpPr bwMode="auto">
          <a:xfrm>
            <a:off x="1475234" y="3789040"/>
            <a:ext cx="1728788" cy="1422400"/>
            <a:chOff x="1020" y="2129"/>
            <a:chExt cx="1089" cy="896"/>
          </a:xfrm>
        </p:grpSpPr>
        <p:sp>
          <p:nvSpPr>
            <p:cNvPr id="9" name="Text Box 43"/>
            <p:cNvSpPr txBox="1">
              <a:spLocks noChangeArrowheads="1"/>
            </p:cNvSpPr>
            <p:nvPr/>
          </p:nvSpPr>
          <p:spPr bwMode="auto">
            <a:xfrm>
              <a:off x="1383" y="2527"/>
              <a:ext cx="726" cy="498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zh-CN" altLang="en-US" sz="1800" b="1" dirty="0">
                  <a:latin typeface="宋体" panose="02010600030101010101" pitchFamily="2" charset="-122"/>
                </a:rPr>
                <a:t>主存</a:t>
              </a:r>
              <a:endParaRPr lang="en-US" altLang="zh-CN" sz="1800" b="1" dirty="0">
                <a:latin typeface="宋体" panose="02010600030101010101" pitchFamily="2" charset="-122"/>
              </a:endParaRPr>
            </a:p>
            <a:p>
              <a:r>
                <a:rPr lang="en-US" altLang="zh-CN" sz="1600" b="1" dirty="0">
                  <a:latin typeface="宋体" panose="02010600030101010101" pitchFamily="2" charset="-122"/>
                </a:rPr>
                <a:t>(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主存单元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)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0" name="Text Box 44"/>
            <p:cNvSpPr txBox="1">
              <a:spLocks noChangeArrowheads="1"/>
            </p:cNvSpPr>
            <p:nvPr/>
          </p:nvSpPr>
          <p:spPr bwMode="auto">
            <a:xfrm>
              <a:off x="1383" y="2129"/>
              <a:ext cx="726" cy="398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zh-CN" altLang="en-US" sz="1800" b="1" dirty="0">
                  <a:latin typeface="宋体" panose="02010600030101010101" pitchFamily="2" charset="-122"/>
                </a:rPr>
                <a:t>外设</a:t>
              </a:r>
              <a:endParaRPr lang="en-US" altLang="zh-CN" sz="1800" b="1" dirty="0">
                <a:latin typeface="宋体" panose="02010600030101010101" pitchFamily="2" charset="-122"/>
              </a:endParaRPr>
            </a:p>
            <a:p>
              <a:r>
                <a:rPr lang="en-US" altLang="zh-CN" sz="1600" b="1" dirty="0">
                  <a:latin typeface="宋体" panose="02010600030101010101" pitchFamily="2" charset="-122"/>
                </a:rPr>
                <a:t>(I/O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端口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)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1" name="Text Box 45"/>
            <p:cNvSpPr txBox="1">
              <a:spLocks noChangeArrowheads="1"/>
            </p:cNvSpPr>
            <p:nvPr/>
          </p:nvSpPr>
          <p:spPr bwMode="auto">
            <a:xfrm>
              <a:off x="1020" y="2130"/>
              <a:ext cx="333" cy="884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algn="r">
                <a:lnSpc>
                  <a:spcPct val="90000"/>
                </a:lnSpc>
              </a:pPr>
              <a:r>
                <a:rPr lang="en-US" altLang="zh-CN" sz="1600" b="1" dirty="0">
                  <a:latin typeface="+mn-ea"/>
                  <a:ea typeface="+mn-ea"/>
                </a:rPr>
                <a:t>N-1</a:t>
              </a:r>
            </a:p>
            <a:p>
              <a:pPr algn="r">
                <a:lnSpc>
                  <a:spcPct val="80000"/>
                </a:lnSpc>
              </a:pPr>
              <a:r>
                <a:rPr lang="en-US" altLang="zh-CN" sz="1600" b="1" dirty="0">
                  <a:latin typeface="+mn-ea"/>
                  <a:ea typeface="+mn-ea"/>
                </a:rPr>
                <a:t>…</a:t>
              </a:r>
            </a:p>
            <a:p>
              <a:pPr algn="r">
                <a:lnSpc>
                  <a:spcPct val="90000"/>
                </a:lnSpc>
              </a:pPr>
              <a:r>
                <a:rPr lang="en-US" altLang="zh-CN" sz="1600" b="1" dirty="0">
                  <a:latin typeface="+mn-ea"/>
                  <a:ea typeface="+mn-ea"/>
                </a:rPr>
                <a:t>x</a:t>
              </a:r>
            </a:p>
            <a:p>
              <a:pPr algn="r">
                <a:lnSpc>
                  <a:spcPct val="90000"/>
                </a:lnSpc>
              </a:pPr>
              <a:r>
                <a:rPr lang="en-US" altLang="zh-CN" sz="1600" b="1" dirty="0">
                  <a:latin typeface="+mn-ea"/>
                  <a:ea typeface="+mn-ea"/>
                </a:rPr>
                <a:t>x-1</a:t>
              </a:r>
            </a:p>
            <a:p>
              <a:pPr algn="r">
                <a:lnSpc>
                  <a:spcPct val="90000"/>
                </a:lnSpc>
                <a:spcBef>
                  <a:spcPts val="300"/>
                </a:spcBef>
              </a:pPr>
              <a:r>
                <a:rPr lang="en-US" altLang="zh-CN" sz="1600" b="1" dirty="0">
                  <a:latin typeface="+mn-ea"/>
                  <a:ea typeface="+mn-ea"/>
                </a:rPr>
                <a:t>…</a:t>
              </a:r>
            </a:p>
            <a:p>
              <a:pPr algn="r">
                <a:lnSpc>
                  <a:spcPct val="90000"/>
                </a:lnSpc>
                <a:spcBef>
                  <a:spcPts val="600"/>
                </a:spcBef>
              </a:pPr>
              <a:r>
                <a:rPr lang="en-US" altLang="zh-CN" sz="1600" b="1" dirty="0">
                  <a:latin typeface="+mn-ea"/>
                  <a:ea typeface="+mn-ea"/>
                </a:rPr>
                <a:t>0</a:t>
              </a:r>
            </a:p>
          </p:txBody>
        </p:sp>
      </p:grpSp>
      <p:sp>
        <p:nvSpPr>
          <p:cNvPr id="12" name="Text Box 46"/>
          <p:cNvSpPr txBox="1">
            <a:spLocks noChangeArrowheads="1"/>
          </p:cNvSpPr>
          <p:nvPr/>
        </p:nvSpPr>
        <p:spPr bwMode="auto">
          <a:xfrm>
            <a:off x="1619672" y="5229200"/>
            <a:ext cx="2232248" cy="3270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18000" tIns="10800" rIns="18000" bIns="10800"/>
          <a:lstStyle/>
          <a:p>
            <a:pPr algn="l"/>
            <a:r>
              <a:rPr lang="zh-CN" altLang="en-US" sz="1800" b="1" dirty="0">
                <a:solidFill>
                  <a:srgbClr val="FF3399"/>
                </a:solidFill>
                <a:latin typeface="宋体" panose="02010600030101010101" pitchFamily="2" charset="-122"/>
              </a:rPr>
              <a:t>访存指令</a:t>
            </a:r>
            <a:r>
              <a:rPr lang="zh-CN" altLang="en-US" sz="1800" b="1" dirty="0">
                <a:latin typeface="宋体" panose="02010600030101010101" pitchFamily="2" charset="-122"/>
              </a:rPr>
              <a:t>的寻址范围</a:t>
            </a:r>
          </a:p>
        </p:txBody>
      </p:sp>
      <p:sp>
        <p:nvSpPr>
          <p:cNvPr id="34" name="Text Box 68"/>
          <p:cNvSpPr txBox="1">
            <a:spLocks noChangeArrowheads="1"/>
          </p:cNvSpPr>
          <p:nvPr/>
        </p:nvSpPr>
        <p:spPr bwMode="auto">
          <a:xfrm>
            <a:off x="1619672" y="5517232"/>
            <a:ext cx="7344815" cy="919034"/>
          </a:xfrm>
          <a:prstGeom prst="rect">
            <a:avLst/>
          </a:prstGeom>
          <a:noFill/>
          <a:ln w="38100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200" b="1" dirty="0">
                <a:latin typeface="宋体" panose="02010600030101010101" pitchFamily="2" charset="-122"/>
              </a:rPr>
              <a:t>           (MEMR#</a:t>
            </a:r>
            <a:r>
              <a:rPr lang="zh-CN" altLang="en-US" sz="2200" b="1" dirty="0">
                <a:latin typeface="宋体" panose="02010600030101010101" pitchFamily="2" charset="-122"/>
                <a:sym typeface="Symbol" panose="05050102010706020507"/>
              </a:rPr>
              <a:t></a:t>
            </a:r>
            <a:r>
              <a:rPr lang="en-US" altLang="zh-CN" sz="2200" b="1" dirty="0">
                <a:latin typeface="宋体" panose="02010600030101010101" pitchFamily="2" charset="-122"/>
              </a:rPr>
              <a:t>MEMW#)</a:t>
            </a:r>
            <a:r>
              <a:rPr lang="en-US" altLang="zh-CN" sz="2200" b="1" dirty="0"/>
              <a:t>·</a:t>
            </a:r>
            <a:r>
              <a:rPr lang="en-US" altLang="zh-CN" sz="2200" b="1" dirty="0">
                <a:latin typeface="宋体" panose="02010600030101010101" pitchFamily="2" charset="-122"/>
              </a:rPr>
              <a:t>(</a:t>
            </a:r>
            <a:r>
              <a:rPr lang="zh-CN" altLang="en-US" sz="2200" b="1" dirty="0">
                <a:latin typeface="宋体" panose="02010600030101010101" pitchFamily="2" charset="-122"/>
              </a:rPr>
              <a:t>地址∈</a:t>
            </a:r>
            <a:r>
              <a:rPr lang="en-US" altLang="zh-CN" sz="2200" b="1" dirty="0">
                <a:latin typeface="宋体" panose="02010600030101010101" pitchFamily="2" charset="-122"/>
              </a:rPr>
              <a:t>I/O</a:t>
            </a:r>
            <a:r>
              <a:rPr lang="zh-CN" altLang="en-US" sz="2200" b="1" dirty="0">
                <a:latin typeface="宋体" panose="02010600030101010101" pitchFamily="2" charset="-122"/>
              </a:rPr>
              <a:t>地址范围</a:t>
            </a:r>
            <a:r>
              <a:rPr lang="en-US" altLang="zh-CN" sz="2200" b="1" dirty="0">
                <a:latin typeface="宋体" panose="02010600030101010101" pitchFamily="2" charset="-122"/>
              </a:rPr>
              <a:t>)</a:t>
            </a:r>
            <a:r>
              <a:rPr lang="zh-CN" altLang="en-US" sz="2200" b="1" dirty="0">
                <a:latin typeface="宋体" panose="02010600030101010101" pitchFamily="2" charset="-122"/>
              </a:rPr>
              <a:t>＝</a:t>
            </a:r>
            <a:r>
              <a:rPr lang="en-US" altLang="zh-CN" sz="2200" b="1" dirty="0">
                <a:latin typeface="宋体" panose="02010600030101010101" pitchFamily="2" charset="-122"/>
              </a:rPr>
              <a:t>1</a:t>
            </a:r>
            <a:r>
              <a:rPr lang="zh-CN" altLang="en-US" sz="2200" b="1" dirty="0">
                <a:latin typeface="宋体" panose="02010600030101010101" pitchFamily="2" charset="-122"/>
              </a:rPr>
              <a:t>时</a:t>
            </a:r>
          </a:p>
          <a:p>
            <a:pPr algn="l">
              <a:lnSpc>
                <a:spcPct val="125000"/>
              </a:lnSpc>
              <a:spcBef>
                <a:spcPts val="300"/>
              </a:spcBef>
            </a:pPr>
            <a:r>
              <a:rPr lang="zh-CN" altLang="en-US" sz="2200" b="1" u="sng" dirty="0">
                <a:latin typeface="宋体" panose="02010600030101010101" pitchFamily="2" charset="-122"/>
              </a:rPr>
              <a:t>不增加</a:t>
            </a:r>
            <a:r>
              <a:rPr lang="zh-CN" altLang="en-US" sz="2200" b="1" dirty="0">
                <a:latin typeface="宋体" panose="02010600030101010101" pitchFamily="2" charset="-122"/>
              </a:rPr>
              <a:t>指令</a:t>
            </a:r>
            <a:r>
              <a:rPr lang="en-US" altLang="zh-CN" sz="2200" b="1" dirty="0">
                <a:latin typeface="宋体" panose="02010600030101010101" pitchFamily="2" charset="-122"/>
              </a:rPr>
              <a:t>&amp;</a:t>
            </a:r>
            <a:r>
              <a:rPr lang="zh-CN" altLang="en-US" sz="2200" b="1" dirty="0">
                <a:latin typeface="宋体" panose="02010600030101010101" pitchFamily="2" charset="-122"/>
              </a:rPr>
              <a:t>总线事务，</a:t>
            </a:r>
            <a:r>
              <a:rPr lang="en-US" altLang="zh-CN" sz="2200" b="1" dirty="0">
                <a:latin typeface="宋体" panose="02010600030101010101" pitchFamily="2" charset="-122"/>
              </a:rPr>
              <a:t>I/O</a:t>
            </a:r>
            <a:r>
              <a:rPr lang="zh-CN" altLang="en-US" sz="2200" b="1" dirty="0">
                <a:latin typeface="宋体" panose="02010600030101010101" pitchFamily="2" charset="-122"/>
              </a:rPr>
              <a:t>地址译码</a:t>
            </a:r>
            <a:r>
              <a:rPr lang="zh-CN" altLang="en-US" sz="2200" b="1" u="sng" dirty="0">
                <a:latin typeface="宋体" panose="02010600030101010101" pitchFamily="2" charset="-122"/>
              </a:rPr>
              <a:t>复杂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判断所有地址线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endParaRPr lang="zh-CN" altLang="en-US" sz="2200" b="1" dirty="0">
              <a:latin typeface="宋体" panose="02010600030101010101" pitchFamily="2" charset="-122"/>
            </a:endParaRPr>
          </a:p>
        </p:txBody>
      </p:sp>
      <p:grpSp>
        <p:nvGrpSpPr>
          <p:cNvPr id="75" name="组合 74"/>
          <p:cNvGrpSpPr/>
          <p:nvPr/>
        </p:nvGrpSpPr>
        <p:grpSpPr>
          <a:xfrm>
            <a:off x="4211960" y="3933056"/>
            <a:ext cx="4248472" cy="1224136"/>
            <a:chOff x="4499992" y="2060848"/>
            <a:chExt cx="4248472" cy="1224136"/>
          </a:xfrm>
        </p:grpSpPr>
        <p:cxnSp>
          <p:nvCxnSpPr>
            <p:cNvPr id="76" name="直接连接符 75"/>
            <p:cNvCxnSpPr/>
            <p:nvPr/>
          </p:nvCxnSpPr>
          <p:spPr bwMode="auto">
            <a:xfrm>
              <a:off x="7457966" y="2257109"/>
              <a:ext cx="72008" cy="72008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77" name="Text Box 49"/>
            <p:cNvSpPr txBox="1">
              <a:spLocks noChangeArrowheads="1"/>
            </p:cNvSpPr>
            <p:nvPr/>
          </p:nvSpPr>
          <p:spPr bwMode="auto">
            <a:xfrm>
              <a:off x="4499992" y="2564904"/>
              <a:ext cx="720155" cy="720079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en-US" altLang="zh-CN" sz="1600" b="1" dirty="0">
                  <a:latin typeface="宋体" panose="02010600030101010101" pitchFamily="2" charset="-122"/>
                </a:rPr>
                <a:t>CPU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78" name="Text Box 50"/>
            <p:cNvSpPr txBox="1">
              <a:spLocks noChangeArrowheads="1"/>
            </p:cNvSpPr>
            <p:nvPr/>
          </p:nvSpPr>
          <p:spPr bwMode="auto">
            <a:xfrm>
              <a:off x="5505748" y="2564904"/>
              <a:ext cx="1298575" cy="72008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zh-CN" altLang="en-US" sz="1800" b="1" dirty="0">
                  <a:latin typeface="宋体" panose="02010600030101010101" pitchFamily="2" charset="-122"/>
                </a:rPr>
                <a:t>主存</a:t>
              </a:r>
            </a:p>
          </p:txBody>
        </p:sp>
        <p:sp>
          <p:nvSpPr>
            <p:cNvPr id="79" name="Text Box 51"/>
            <p:cNvSpPr txBox="1">
              <a:spLocks noChangeArrowheads="1"/>
            </p:cNvSpPr>
            <p:nvPr/>
          </p:nvSpPr>
          <p:spPr bwMode="auto">
            <a:xfrm>
              <a:off x="7377881" y="2565276"/>
              <a:ext cx="1370583" cy="719708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en-US" altLang="zh-CN" sz="1800" b="1" dirty="0">
                  <a:latin typeface="宋体" panose="02010600030101010101" pitchFamily="2" charset="-122"/>
                </a:rPr>
                <a:t>I/O</a:t>
              </a:r>
              <a:r>
                <a:rPr lang="zh-CN" altLang="en-US" sz="1800" b="1" dirty="0">
                  <a:latin typeface="宋体" panose="02010600030101010101" pitchFamily="2" charset="-122"/>
                </a:rPr>
                <a:t>接口</a:t>
              </a:r>
              <a:endParaRPr lang="en-US" altLang="zh-CN" sz="1800" b="1" dirty="0">
                <a:latin typeface="宋体" panose="02010600030101010101" pitchFamily="2" charset="-122"/>
              </a:endParaRPr>
            </a:p>
            <a:p>
              <a:r>
                <a:rPr lang="en-US" altLang="zh-CN" sz="1800" b="1" dirty="0">
                  <a:latin typeface="宋体" panose="02010600030101010101" pitchFamily="2" charset="-122"/>
                </a:rPr>
                <a:t>(</a:t>
              </a:r>
              <a:r>
                <a:rPr lang="zh-CN" altLang="en-US" sz="1800" b="1" dirty="0">
                  <a:latin typeface="宋体" panose="02010600030101010101" pitchFamily="2" charset="-122"/>
                </a:rPr>
                <a:t>外设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)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81" name="直接连接符 80"/>
            <p:cNvCxnSpPr/>
            <p:nvPr/>
          </p:nvCxnSpPr>
          <p:spPr bwMode="auto">
            <a:xfrm>
              <a:off x="4499992" y="2060848"/>
              <a:ext cx="4248472" cy="0"/>
            </a:xfrm>
            <a:prstGeom prst="line">
              <a:avLst/>
            </a:prstGeom>
            <a:noFill/>
            <a:ln w="28575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2" name="直接连接符 81"/>
            <p:cNvCxnSpPr/>
            <p:nvPr/>
          </p:nvCxnSpPr>
          <p:spPr bwMode="auto">
            <a:xfrm>
              <a:off x="7488032" y="2060848"/>
              <a:ext cx="0" cy="504056"/>
            </a:xfrm>
            <a:prstGeom prst="line">
              <a:avLst/>
            </a:prstGeom>
            <a:noFill/>
            <a:ln w="1905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83" name="直接连接符 82"/>
            <p:cNvCxnSpPr/>
            <p:nvPr/>
          </p:nvCxnSpPr>
          <p:spPr bwMode="auto">
            <a:xfrm>
              <a:off x="7740352" y="2060848"/>
              <a:ext cx="0" cy="504056"/>
            </a:xfrm>
            <a:prstGeom prst="line">
              <a:avLst/>
            </a:prstGeom>
            <a:noFill/>
            <a:ln w="19050" cap="flat" cmpd="sng" algn="ctr">
              <a:solidFill>
                <a:schemeClr val="accent2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84" name="直接连接符 83"/>
            <p:cNvCxnSpPr/>
            <p:nvPr/>
          </p:nvCxnSpPr>
          <p:spPr bwMode="auto">
            <a:xfrm>
              <a:off x="8028384" y="2060848"/>
              <a:ext cx="0" cy="504056"/>
            </a:xfrm>
            <a:prstGeom prst="line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85" name="直接连接符 84"/>
            <p:cNvCxnSpPr/>
            <p:nvPr/>
          </p:nvCxnSpPr>
          <p:spPr bwMode="auto">
            <a:xfrm>
              <a:off x="8100392" y="2060848"/>
              <a:ext cx="0" cy="504056"/>
            </a:xfrm>
            <a:prstGeom prst="line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87" name="Text Box 61"/>
            <p:cNvSpPr txBox="1">
              <a:spLocks noChangeArrowheads="1"/>
            </p:cNvSpPr>
            <p:nvPr/>
          </p:nvSpPr>
          <p:spPr bwMode="auto">
            <a:xfrm>
              <a:off x="5584020" y="2222227"/>
              <a:ext cx="1004279" cy="270669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algn="l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地址 数据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88" name="直接连接符 87"/>
            <p:cNvCxnSpPr/>
            <p:nvPr/>
          </p:nvCxnSpPr>
          <p:spPr bwMode="auto">
            <a:xfrm flipV="1">
              <a:off x="4572075" y="2060848"/>
              <a:ext cx="0" cy="504056"/>
            </a:xfrm>
            <a:prstGeom prst="line">
              <a:avLst/>
            </a:prstGeom>
            <a:noFill/>
            <a:ln w="1905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89" name="直接连接符 88"/>
            <p:cNvCxnSpPr/>
            <p:nvPr/>
          </p:nvCxnSpPr>
          <p:spPr bwMode="auto">
            <a:xfrm>
              <a:off x="4716091" y="2060848"/>
              <a:ext cx="0" cy="504428"/>
            </a:xfrm>
            <a:prstGeom prst="line">
              <a:avLst/>
            </a:prstGeom>
            <a:noFill/>
            <a:ln w="19050" cap="flat" cmpd="sng" algn="ctr">
              <a:solidFill>
                <a:schemeClr val="accent2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90" name="直接连接符 89"/>
            <p:cNvCxnSpPr/>
            <p:nvPr/>
          </p:nvCxnSpPr>
          <p:spPr bwMode="auto">
            <a:xfrm flipV="1">
              <a:off x="4923731" y="2060848"/>
              <a:ext cx="0" cy="504056"/>
            </a:xfrm>
            <a:prstGeom prst="line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91" name="直接连接符 90"/>
            <p:cNvCxnSpPr/>
            <p:nvPr/>
          </p:nvCxnSpPr>
          <p:spPr bwMode="auto">
            <a:xfrm flipV="1">
              <a:off x="4995739" y="2060848"/>
              <a:ext cx="0" cy="504056"/>
            </a:xfrm>
            <a:prstGeom prst="line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92" name="直接连接符 91"/>
            <p:cNvCxnSpPr/>
            <p:nvPr/>
          </p:nvCxnSpPr>
          <p:spPr bwMode="auto">
            <a:xfrm>
              <a:off x="5580187" y="2060848"/>
              <a:ext cx="0" cy="504056"/>
            </a:xfrm>
            <a:prstGeom prst="line">
              <a:avLst/>
            </a:prstGeom>
            <a:noFill/>
            <a:ln w="1905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93" name="直接连接符 92"/>
            <p:cNvCxnSpPr/>
            <p:nvPr/>
          </p:nvCxnSpPr>
          <p:spPr bwMode="auto">
            <a:xfrm>
              <a:off x="6084243" y="2060848"/>
              <a:ext cx="0" cy="504056"/>
            </a:xfrm>
            <a:prstGeom prst="line">
              <a:avLst/>
            </a:prstGeom>
            <a:noFill/>
            <a:ln w="19050" cap="flat" cmpd="sng" algn="ctr">
              <a:solidFill>
                <a:schemeClr val="accent2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94" name="直接连接符 93"/>
            <p:cNvCxnSpPr/>
            <p:nvPr/>
          </p:nvCxnSpPr>
          <p:spPr bwMode="auto">
            <a:xfrm>
              <a:off x="6546649" y="2060848"/>
              <a:ext cx="0" cy="504056"/>
            </a:xfrm>
            <a:prstGeom prst="line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95" name="直接连接符 94"/>
            <p:cNvCxnSpPr/>
            <p:nvPr/>
          </p:nvCxnSpPr>
          <p:spPr bwMode="auto">
            <a:xfrm>
              <a:off x="6618657" y="2060848"/>
              <a:ext cx="0" cy="504056"/>
            </a:xfrm>
            <a:prstGeom prst="line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96" name="Text Box 61"/>
            <p:cNvSpPr txBox="1">
              <a:spLocks noChangeArrowheads="1"/>
            </p:cNvSpPr>
            <p:nvPr/>
          </p:nvSpPr>
          <p:spPr bwMode="auto">
            <a:xfrm>
              <a:off x="6618657" y="2129148"/>
              <a:ext cx="648072" cy="371166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>
                <a:lnSpc>
                  <a:spcPct val="8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MEMR#</a:t>
              </a:r>
            </a:p>
            <a:p>
              <a:pPr>
                <a:lnSpc>
                  <a:spcPct val="8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MEMW#</a:t>
              </a:r>
            </a:p>
          </p:txBody>
        </p:sp>
      </p:grpSp>
      <p:sp>
        <p:nvSpPr>
          <p:cNvPr id="37" name="线形标注 2 36"/>
          <p:cNvSpPr/>
          <p:nvPr/>
        </p:nvSpPr>
        <p:spPr bwMode="auto">
          <a:xfrm>
            <a:off x="7668000" y="3573016"/>
            <a:ext cx="684000" cy="252000"/>
          </a:xfrm>
          <a:prstGeom prst="borderCallout2">
            <a:avLst>
              <a:gd name="adj1" fmla="val 48951"/>
              <a:gd name="adj2" fmla="val -2110"/>
              <a:gd name="adj3" fmla="val 49451"/>
              <a:gd name="adj4" fmla="val -23349"/>
              <a:gd name="adj5" fmla="val 238632"/>
              <a:gd name="adj6" fmla="val -60990"/>
            </a:avLst>
          </a:prstGeom>
          <a:noFill/>
          <a:ln w="12700" cap="flat" cmpd="sng" algn="ctr">
            <a:solidFill>
              <a:srgbClr val="990099"/>
            </a:solidFill>
            <a:prstDash val="sysDash"/>
            <a:round/>
            <a:headEnd type="none" w="med" len="med"/>
            <a:tailEnd type="arrow" w="sm" len="sm"/>
          </a:ln>
          <a:effectLst/>
        </p:spPr>
        <p:txBody>
          <a:bodyPr vert="horz" wrap="square" lIns="36000" tIns="18000" rIns="36000" bIns="18000" numCol="1" rtlCol="0" anchor="ctr" anchorCtr="0" compatLnSpc="1"/>
          <a:lstStyle/>
          <a:p>
            <a:pPr algn="ctr">
              <a:lnSpc>
                <a:spcPct val="90000"/>
              </a:lnSpc>
            </a:pPr>
            <a:r>
              <a:rPr lang="en-US" altLang="zh-CN" sz="1600" b="1" dirty="0">
                <a:highlight>
                  <a:srgbClr val="FFFF00"/>
                </a:highlight>
                <a:latin typeface="+mn-ea"/>
                <a:ea typeface="+mn-ea"/>
              </a:rPr>
              <a:t>=log</a:t>
            </a:r>
            <a:r>
              <a:rPr lang="en-US" altLang="zh-CN" sz="1600" b="1" baseline="-24000" dirty="0">
                <a:highlight>
                  <a:srgbClr val="FFFF00"/>
                </a:highlight>
                <a:latin typeface="+mn-ea"/>
                <a:ea typeface="+mn-ea"/>
              </a:rPr>
              <a:t>2</a:t>
            </a:r>
            <a:r>
              <a:rPr lang="en-US" altLang="zh-CN" sz="1600" b="1" dirty="0">
                <a:highlight>
                  <a:srgbClr val="FFFF00"/>
                </a:highlight>
                <a:latin typeface="+mn-ea"/>
                <a:ea typeface="+mn-ea"/>
              </a:rPr>
              <a:t>N</a:t>
            </a:r>
            <a:endParaRPr lang="zh-CN" altLang="en-US" sz="1600" b="1" dirty="0">
              <a:highlight>
                <a:srgbClr val="FFFF00"/>
              </a:highlight>
              <a:latin typeface="+mn-ea"/>
              <a:ea typeface="+mn-ea"/>
            </a:endParaRPr>
          </a:p>
        </p:txBody>
      </p:sp>
      <p:sp>
        <p:nvSpPr>
          <p:cNvPr id="38" name="Text Box 61"/>
          <p:cNvSpPr txBox="1">
            <a:spLocks noChangeArrowheads="1"/>
          </p:cNvSpPr>
          <p:nvPr/>
        </p:nvSpPr>
        <p:spPr bwMode="auto">
          <a:xfrm>
            <a:off x="7812360" y="4003208"/>
            <a:ext cx="648072" cy="371166"/>
          </a:xfrm>
          <a:prstGeom prst="rect">
            <a:avLst/>
          </a:prstGeom>
          <a:noFill/>
          <a:ln w="19050">
            <a:noFill/>
            <a:miter lim="800000"/>
          </a:ln>
          <a:effectLst/>
        </p:spPr>
        <p:txBody>
          <a:bodyPr lIns="18000" tIns="10800" rIns="18000" bIns="10800" anchor="ctr" anchorCtr="0"/>
          <a:lstStyle/>
          <a:p>
            <a:pPr>
              <a:lnSpc>
                <a:spcPct val="80000"/>
              </a:lnSpc>
            </a:pPr>
            <a:r>
              <a:rPr lang="en-US" altLang="zh-CN" sz="1600" b="1" dirty="0">
                <a:highlight>
                  <a:srgbClr val="FFFF00"/>
                </a:highlight>
                <a:latin typeface="宋体" panose="02010600030101010101" pitchFamily="2" charset="-122"/>
              </a:rPr>
              <a:t>MEMR#</a:t>
            </a:r>
          </a:p>
          <a:p>
            <a:pPr>
              <a:lnSpc>
                <a:spcPct val="80000"/>
              </a:lnSpc>
            </a:pPr>
            <a:r>
              <a:rPr lang="en-US" altLang="zh-CN" sz="1600" b="1" dirty="0">
                <a:highlight>
                  <a:srgbClr val="FFFF00"/>
                </a:highlight>
                <a:latin typeface="宋体" panose="02010600030101010101" pitchFamily="2" charset="-122"/>
              </a:rPr>
              <a:t>MEMW#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4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5" presetClass="entr" presetSubtype="1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" presetClass="entr" presetSubtype="1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bldLvl="0"/>
      <p:bldP spid="6" grpId="0"/>
      <p:bldP spid="12" grpId="0" bldLvl="0"/>
      <p:bldP spid="37" grpId="0" animBg="1"/>
      <p:bldP spid="3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Text Box 6">
            <a:extLst>
              <a:ext uri="{FF2B5EF4-FFF2-40B4-BE49-F238E27FC236}">
                <a16:creationId xmlns:a16="http://schemas.microsoft.com/office/drawing/2014/main" id="{52685779-C913-4A74-8BFE-12019AB2D2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513" y="1196752"/>
            <a:ext cx="3157136" cy="43174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软件访问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</a:p>
          <a:p>
            <a:pPr algn="l">
              <a:lnSpc>
                <a:spcPct val="125000"/>
              </a:lnSpc>
              <a:spcBef>
                <a:spcPts val="300"/>
              </a:spcBef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硬件连接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</a:p>
          <a:p>
            <a:pPr algn="l">
              <a:lnSpc>
                <a:spcPct val="125000"/>
              </a:lnSpc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sz="18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     I/O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事务的识别：</a:t>
            </a:r>
            <a:endParaRPr lang="en-US" altLang="zh-CN" sz="2200" b="1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300"/>
              </a:spcBef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特点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</a:p>
          <a:p>
            <a:pPr algn="l">
              <a:lnSpc>
                <a:spcPct val="125000"/>
              </a:lnSpc>
              <a:spcBef>
                <a:spcPts val="600"/>
              </a:spcBef>
            </a:pPr>
            <a:r>
              <a:rPr lang="en-US" altLang="zh-CN" sz="2200" b="1" dirty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 ※</a:t>
            </a:r>
            <a:r>
              <a:rPr lang="zh-CN" altLang="en-US" sz="2200" b="1" dirty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应用：</a:t>
            </a:r>
            <a:endParaRPr lang="zh-CN" altLang="en-US" sz="2200" b="1" dirty="0">
              <a:latin typeface="+mn-ea"/>
            </a:endParaRPr>
          </a:p>
        </p:txBody>
      </p:sp>
      <p:sp>
        <p:nvSpPr>
          <p:cNvPr id="65" name="Text Box 40"/>
          <p:cNvSpPr txBox="1">
            <a:spLocks noChangeArrowheads="1"/>
          </p:cNvSpPr>
          <p:nvPr/>
        </p:nvSpPr>
        <p:spPr bwMode="auto">
          <a:xfrm>
            <a:off x="152275" y="332656"/>
            <a:ext cx="8812213" cy="880562"/>
          </a:xfrm>
          <a:prstGeom prst="rect">
            <a:avLst/>
          </a:prstGeom>
          <a:noFill/>
          <a:ln w="38100">
            <a:noFill/>
            <a:miter lim="800000"/>
          </a:ln>
          <a:effectLst/>
        </p:spPr>
        <p:txBody>
          <a:bodyPr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独立编址方式：</a:t>
            </a: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sz="2200" b="1" dirty="0">
                <a:latin typeface="宋体" panose="02010600030101010101" pitchFamily="2" charset="-122"/>
              </a:rPr>
              <a:t>      即主存单元、</a:t>
            </a:r>
            <a:r>
              <a:rPr lang="en-US" altLang="zh-CN" sz="2200" b="1" dirty="0">
                <a:latin typeface="宋体" panose="02010600030101010101" pitchFamily="2" charset="-122"/>
              </a:rPr>
              <a:t>I/O</a:t>
            </a:r>
            <a:r>
              <a:rPr lang="zh-CN" altLang="en-US" sz="2200" b="1" dirty="0">
                <a:latin typeface="宋体" panose="02010600030101010101" pitchFamily="2" charset="-122"/>
              </a:rPr>
              <a:t>端口</a:t>
            </a:r>
            <a:r>
              <a:rPr lang="zh-CN" altLang="en-US" sz="2200" b="1" u="sng" dirty="0">
                <a:solidFill>
                  <a:srgbClr val="0070C0"/>
                </a:solidFill>
                <a:latin typeface="宋体" panose="02010600030101010101" pitchFamily="2" charset="-122"/>
              </a:rPr>
              <a:t>使用不同</a:t>
            </a:r>
            <a:r>
              <a:rPr lang="zh-CN" altLang="en-US" sz="2200" b="1" dirty="0">
                <a:latin typeface="宋体" panose="02010600030101010101" pitchFamily="2" charset="-122"/>
              </a:rPr>
              <a:t>地址空间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地址均</a:t>
            </a:r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</a:rPr>
              <a:t>从零开始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endParaRPr lang="zh-CN" altLang="en-US" sz="2200" b="1" dirty="0">
              <a:latin typeface="宋体" panose="02010600030101010101" pitchFamily="2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BFB63-B979-4FAE-8763-D7093A979077}" type="slidenum">
              <a:rPr lang="en-US" altLang="zh-CN" smtClean="0"/>
              <a:t>6</a:t>
            </a:fld>
            <a:endParaRPr lang="en-US" altLang="zh-CN"/>
          </a:p>
        </p:txBody>
      </p:sp>
      <p:grpSp>
        <p:nvGrpSpPr>
          <p:cNvPr id="8" name="Group 148"/>
          <p:cNvGrpSpPr/>
          <p:nvPr/>
        </p:nvGrpSpPr>
        <p:grpSpPr bwMode="auto">
          <a:xfrm>
            <a:off x="1043436" y="3508582"/>
            <a:ext cx="3060700" cy="576266"/>
            <a:chOff x="468" y="2115"/>
            <a:chExt cx="1928" cy="363"/>
          </a:xfrm>
        </p:grpSpPr>
        <p:sp>
          <p:nvSpPr>
            <p:cNvPr id="9" name="Text Box 116"/>
            <p:cNvSpPr txBox="1">
              <a:spLocks noChangeArrowheads="1"/>
            </p:cNvSpPr>
            <p:nvPr/>
          </p:nvSpPr>
          <p:spPr bwMode="auto">
            <a:xfrm>
              <a:off x="468" y="2115"/>
              <a:ext cx="816" cy="363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r>
                <a:rPr lang="zh-CN" altLang="en-US" sz="1800" b="1" dirty="0">
                  <a:solidFill>
                    <a:srgbClr val="FF3399"/>
                  </a:solidFill>
                  <a:latin typeface="宋体" panose="02010600030101010101" pitchFamily="2" charset="-122"/>
                </a:rPr>
                <a:t>访存指令</a:t>
              </a:r>
              <a:r>
                <a:rPr lang="zh-CN" altLang="en-US" sz="1800" b="1" dirty="0">
                  <a:latin typeface="宋体" panose="02010600030101010101" pitchFamily="2" charset="-122"/>
                </a:rPr>
                <a:t>的</a:t>
              </a:r>
            </a:p>
            <a:p>
              <a:pPr>
                <a:lnSpc>
                  <a:spcPct val="120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寻址范围</a:t>
              </a:r>
            </a:p>
          </p:txBody>
        </p:sp>
        <p:sp>
          <p:nvSpPr>
            <p:cNvPr id="10" name="Text Box 117"/>
            <p:cNvSpPr txBox="1">
              <a:spLocks noChangeArrowheads="1"/>
            </p:cNvSpPr>
            <p:nvPr/>
          </p:nvSpPr>
          <p:spPr bwMode="auto">
            <a:xfrm>
              <a:off x="1580" y="2115"/>
              <a:ext cx="816" cy="363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r>
                <a:rPr lang="en-US" altLang="zh-CN" sz="1800" b="1" dirty="0">
                  <a:solidFill>
                    <a:srgbClr val="FF3399"/>
                  </a:solidFill>
                  <a:latin typeface="宋体" panose="02010600030101010101" pitchFamily="2" charset="-122"/>
                </a:rPr>
                <a:t>I/O</a:t>
              </a:r>
              <a:r>
                <a:rPr lang="zh-CN" altLang="en-US" sz="1800" b="1" dirty="0">
                  <a:solidFill>
                    <a:srgbClr val="FF3399"/>
                  </a:solidFill>
                  <a:latin typeface="宋体" panose="02010600030101010101" pitchFamily="2" charset="-122"/>
                </a:rPr>
                <a:t>指令</a:t>
              </a:r>
              <a:r>
                <a:rPr lang="zh-CN" altLang="en-US" sz="1800" b="1" dirty="0">
                  <a:latin typeface="宋体" panose="02010600030101010101" pitchFamily="2" charset="-122"/>
                </a:rPr>
                <a:t>的</a:t>
              </a:r>
              <a:endParaRPr lang="en-US" altLang="zh-CN" sz="1800" b="1" dirty="0">
                <a:latin typeface="宋体" panose="02010600030101010101" pitchFamily="2" charset="-122"/>
              </a:endParaRPr>
            </a:p>
            <a:p>
              <a:r>
                <a:rPr lang="zh-CN" altLang="en-US" sz="1800" b="1" dirty="0">
                  <a:latin typeface="宋体" panose="02010600030101010101" pitchFamily="2" charset="-122"/>
                </a:rPr>
                <a:t>寻址范围</a:t>
              </a:r>
            </a:p>
          </p:txBody>
        </p:sp>
      </p:grpSp>
      <p:grpSp>
        <p:nvGrpSpPr>
          <p:cNvPr id="11" name="Group 118"/>
          <p:cNvGrpSpPr/>
          <p:nvPr/>
        </p:nvGrpSpPr>
        <p:grpSpPr bwMode="auto">
          <a:xfrm>
            <a:off x="647824" y="2519883"/>
            <a:ext cx="3384550" cy="976312"/>
            <a:chOff x="272" y="1471"/>
            <a:chExt cx="2132" cy="615"/>
          </a:xfrm>
        </p:grpSpPr>
        <p:sp>
          <p:nvSpPr>
            <p:cNvPr id="12" name="Text Box 119"/>
            <p:cNvSpPr txBox="1">
              <a:spLocks noChangeArrowheads="1"/>
            </p:cNvSpPr>
            <p:nvPr/>
          </p:nvSpPr>
          <p:spPr bwMode="auto">
            <a:xfrm>
              <a:off x="272" y="1471"/>
              <a:ext cx="263" cy="615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algn="r">
                <a:lnSpc>
                  <a:spcPct val="90000"/>
                </a:lnSpc>
              </a:pPr>
              <a:r>
                <a:rPr lang="en-US" altLang="zh-CN" sz="1600" b="1" dirty="0">
                  <a:latin typeface="+mn-ea"/>
                  <a:ea typeface="+mn-ea"/>
                </a:rPr>
                <a:t>x-1</a:t>
              </a:r>
            </a:p>
            <a:p>
              <a:pPr algn="r">
                <a:lnSpc>
                  <a:spcPct val="90000"/>
                </a:lnSpc>
                <a:spcBef>
                  <a:spcPts val="900"/>
                </a:spcBef>
              </a:pPr>
              <a:r>
                <a:rPr lang="en-US" altLang="zh-CN" sz="1600" b="1" dirty="0">
                  <a:latin typeface="+mn-ea"/>
                  <a:ea typeface="+mn-ea"/>
                </a:rPr>
                <a:t>…</a:t>
              </a:r>
            </a:p>
            <a:p>
              <a:pPr algn="r">
                <a:lnSpc>
                  <a:spcPct val="90000"/>
                </a:lnSpc>
                <a:spcBef>
                  <a:spcPts val="1200"/>
                </a:spcBef>
              </a:pPr>
              <a:r>
                <a:rPr lang="en-US" altLang="zh-CN" sz="1600" b="1" dirty="0">
                  <a:latin typeface="+mn-ea"/>
                  <a:ea typeface="+mn-ea"/>
                </a:rPr>
                <a:t>0</a:t>
              </a:r>
            </a:p>
          </p:txBody>
        </p:sp>
        <p:sp>
          <p:nvSpPr>
            <p:cNvPr id="13" name="Text Box 120"/>
            <p:cNvSpPr txBox="1">
              <a:spLocks noChangeArrowheads="1"/>
            </p:cNvSpPr>
            <p:nvPr/>
          </p:nvSpPr>
          <p:spPr bwMode="auto">
            <a:xfrm>
              <a:off x="567" y="1480"/>
              <a:ext cx="726" cy="589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zh-CN" altLang="en-US" sz="1800" b="1" dirty="0">
                  <a:latin typeface="宋体" panose="02010600030101010101" pitchFamily="2" charset="-122"/>
                </a:rPr>
                <a:t>主存</a:t>
              </a:r>
              <a:endParaRPr lang="en-US" altLang="zh-CN" sz="1800" b="1" dirty="0">
                <a:latin typeface="宋体" panose="02010600030101010101" pitchFamily="2" charset="-122"/>
              </a:endParaRPr>
            </a:p>
            <a:p>
              <a:r>
                <a:rPr lang="en-US" altLang="zh-CN" sz="1600" b="1" dirty="0">
                  <a:latin typeface="宋体" panose="02010600030101010101" pitchFamily="2" charset="-122"/>
                </a:rPr>
                <a:t>(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主存单元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)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4" name="Text Box 121"/>
            <p:cNvSpPr txBox="1">
              <a:spLocks noChangeArrowheads="1"/>
            </p:cNvSpPr>
            <p:nvPr/>
          </p:nvSpPr>
          <p:spPr bwMode="auto">
            <a:xfrm>
              <a:off x="1361" y="1616"/>
              <a:ext cx="286" cy="453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algn="r">
                <a:lnSpc>
                  <a:spcPct val="90000"/>
                </a:lnSpc>
              </a:pPr>
              <a:r>
                <a:rPr lang="en-US" altLang="zh-CN" sz="1600" b="1" dirty="0">
                  <a:latin typeface="+mn-ea"/>
                  <a:ea typeface="+mn-ea"/>
                </a:rPr>
                <a:t>y-1</a:t>
              </a:r>
            </a:p>
            <a:p>
              <a:pPr algn="r">
                <a:lnSpc>
                  <a:spcPct val="90000"/>
                </a:lnSpc>
              </a:pPr>
              <a:r>
                <a:rPr lang="en-US" altLang="zh-CN" sz="1600" b="1" dirty="0">
                  <a:latin typeface="+mn-ea"/>
                  <a:ea typeface="+mn-ea"/>
                </a:rPr>
                <a:t>…</a:t>
              </a:r>
            </a:p>
            <a:p>
              <a:pPr algn="r">
                <a:lnSpc>
                  <a:spcPct val="90000"/>
                </a:lnSpc>
                <a:spcBef>
                  <a:spcPts val="600"/>
                </a:spcBef>
              </a:pPr>
              <a:r>
                <a:rPr lang="en-US" altLang="zh-CN" sz="1600" b="1" dirty="0">
                  <a:latin typeface="+mn-ea"/>
                  <a:ea typeface="+mn-ea"/>
                </a:rPr>
                <a:t>0</a:t>
              </a:r>
            </a:p>
          </p:txBody>
        </p:sp>
        <p:sp>
          <p:nvSpPr>
            <p:cNvPr id="15" name="Text Box 122"/>
            <p:cNvSpPr txBox="1">
              <a:spLocks noChangeArrowheads="1"/>
            </p:cNvSpPr>
            <p:nvPr/>
          </p:nvSpPr>
          <p:spPr bwMode="auto">
            <a:xfrm>
              <a:off x="1678" y="1616"/>
              <a:ext cx="726" cy="453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zh-CN" altLang="en-US" sz="1800" b="1" dirty="0">
                  <a:latin typeface="宋体" panose="02010600030101010101" pitchFamily="2" charset="-122"/>
                </a:rPr>
                <a:t>外设</a:t>
              </a:r>
              <a:endParaRPr lang="en-US" altLang="zh-CN" sz="1800" b="1" dirty="0">
                <a:latin typeface="宋体" panose="02010600030101010101" pitchFamily="2" charset="-122"/>
              </a:endParaRPr>
            </a:p>
            <a:p>
              <a:r>
                <a:rPr lang="en-US" altLang="zh-CN" sz="1600" b="1" dirty="0">
                  <a:latin typeface="宋体" panose="02010600030101010101" pitchFamily="2" charset="-122"/>
                </a:rPr>
                <a:t>(I/O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端口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)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</p:grpSp>
      <p:sp>
        <p:nvSpPr>
          <p:cNvPr id="16" name="Text Box 144"/>
          <p:cNvSpPr txBox="1">
            <a:spLocks noChangeArrowheads="1"/>
          </p:cNvSpPr>
          <p:nvPr/>
        </p:nvSpPr>
        <p:spPr bwMode="auto">
          <a:xfrm>
            <a:off x="2195736" y="1197035"/>
            <a:ext cx="6768751" cy="1342227"/>
          </a:xfrm>
          <a:prstGeom prst="rect">
            <a:avLst/>
          </a:prstGeom>
          <a:noFill/>
          <a:ln w="38100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sz="2200" b="1" dirty="0">
                <a:latin typeface="宋体" panose="02010600030101010101" pitchFamily="2" charset="-122"/>
              </a:rPr>
              <a:t>使用</a:t>
            </a:r>
            <a:r>
              <a:rPr lang="en-US" altLang="zh-CN" sz="22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I/O</a:t>
            </a:r>
            <a:r>
              <a:rPr lang="zh-CN" altLang="en-US" sz="2200" b="1" dirty="0">
                <a:latin typeface="宋体" panose="02010600030101010101" pitchFamily="2" charset="-122"/>
              </a:rPr>
              <a:t>指令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地址∈</a:t>
            </a:r>
            <a:r>
              <a:rPr lang="en-US" altLang="zh-CN" sz="1800" b="1" dirty="0">
                <a:latin typeface="宋体" panose="02010600030101010101" pitchFamily="2" charset="-122"/>
              </a:rPr>
              <a:t>I/O</a:t>
            </a:r>
            <a:r>
              <a:rPr lang="zh-CN" altLang="en-US" sz="1800" b="1" dirty="0">
                <a:latin typeface="宋体" panose="02010600030101010101" pitchFamily="2" charset="-122"/>
              </a:rPr>
              <a:t>地址空间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r>
              <a:rPr lang="zh-CN" altLang="en-US" sz="2200" b="1" dirty="0">
                <a:latin typeface="宋体" panose="02010600030101010101" pitchFamily="2" charset="-122"/>
              </a:rPr>
              <a:t>     </a:t>
            </a:r>
            <a:r>
              <a:rPr lang="zh-CN" altLang="en-US" sz="1800" b="1" dirty="0">
                <a:latin typeface="宋体" panose="02010600030101010101" pitchFamily="2" charset="-122"/>
              </a:rPr>
              <a:t>←</a:t>
            </a:r>
            <a:r>
              <a:rPr lang="en-US" altLang="zh-CN" sz="1800" b="1" dirty="0">
                <a:latin typeface="宋体" panose="02010600030101010101" pitchFamily="2" charset="-122"/>
              </a:rPr>
              <a:t>ISA</a:t>
            </a:r>
            <a:r>
              <a:rPr lang="zh-CN" altLang="en-US" sz="1800" b="1" dirty="0">
                <a:solidFill>
                  <a:srgbClr val="FF3399"/>
                </a:solidFill>
                <a:latin typeface="宋体" panose="02010600030101010101" pitchFamily="2" charset="-122"/>
              </a:rPr>
              <a:t>增加</a:t>
            </a:r>
            <a:r>
              <a:rPr lang="en-US" altLang="zh-CN" sz="1800" b="1" dirty="0">
                <a:solidFill>
                  <a:srgbClr val="FF3399"/>
                </a:solidFill>
                <a:latin typeface="宋体" panose="02010600030101010101" pitchFamily="2" charset="-122"/>
              </a:rPr>
              <a:t>2</a:t>
            </a:r>
            <a:r>
              <a:rPr lang="zh-CN" altLang="en-US" sz="1800" b="1" dirty="0">
                <a:solidFill>
                  <a:srgbClr val="FF3399"/>
                </a:solidFill>
                <a:latin typeface="宋体" panose="02010600030101010101" pitchFamily="2" charset="-122"/>
              </a:rPr>
              <a:t>条</a:t>
            </a:r>
            <a:r>
              <a:rPr lang="zh-CN" altLang="en-US" sz="1800" b="1" dirty="0">
                <a:latin typeface="宋体" panose="02010600030101010101" pitchFamily="2" charset="-122"/>
              </a:rPr>
              <a:t>指令</a:t>
            </a:r>
            <a:endParaRPr lang="en-US" altLang="zh-CN" sz="18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300"/>
              </a:spcBef>
            </a:pPr>
            <a:r>
              <a:rPr lang="zh-CN" altLang="en-US" sz="2200" b="1" dirty="0">
                <a:solidFill>
                  <a:srgbClr val="0070C0"/>
                </a:solidFill>
                <a:latin typeface="宋体" panose="02010600030101010101" pitchFamily="2" charset="-122"/>
              </a:rPr>
              <a:t>总线</a:t>
            </a:r>
            <a:r>
              <a:rPr lang="zh-CN" altLang="en-US" sz="2200" b="1" dirty="0">
                <a:latin typeface="宋体" panose="02010600030101010101" pitchFamily="2" charset="-122"/>
              </a:rPr>
              <a:t>需含</a:t>
            </a:r>
            <a:r>
              <a:rPr lang="en-US" altLang="zh-CN" sz="22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I/O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控制</a:t>
            </a:r>
            <a:r>
              <a:rPr lang="zh-CN" altLang="en-US" sz="2200" b="1" dirty="0">
                <a:latin typeface="宋体" panose="02010600030101010101" pitchFamily="2" charset="-122"/>
              </a:rPr>
              <a:t>信号</a:t>
            </a:r>
            <a:r>
              <a:rPr lang="en-US" altLang="zh-CN" sz="1600" b="1" dirty="0">
                <a:latin typeface="宋体" panose="02010600030101010101" pitchFamily="2" charset="-122"/>
              </a:rPr>
              <a:t>(IOR#</a:t>
            </a:r>
            <a:r>
              <a:rPr lang="zh-CN" altLang="en-US" sz="1600" b="1" dirty="0">
                <a:latin typeface="宋体" panose="02010600030101010101" pitchFamily="2" charset="-122"/>
              </a:rPr>
              <a:t>、</a:t>
            </a:r>
            <a:r>
              <a:rPr lang="en-US" altLang="zh-CN" sz="1600" b="1" dirty="0">
                <a:latin typeface="宋体" panose="02010600030101010101" pitchFamily="2" charset="-122"/>
              </a:rPr>
              <a:t>IOW#)</a:t>
            </a:r>
            <a:r>
              <a:rPr lang="zh-CN" altLang="en-US" sz="2200" b="1" dirty="0">
                <a:latin typeface="宋体" panose="02010600030101010101" pitchFamily="2" charset="-122"/>
              </a:rPr>
              <a:t>， </a:t>
            </a:r>
            <a:r>
              <a:rPr lang="zh-CN" altLang="en-US" sz="1800" b="1" dirty="0">
                <a:latin typeface="宋体" panose="02010600030101010101" pitchFamily="2" charset="-122"/>
              </a:rPr>
              <a:t> ←总线</a:t>
            </a:r>
            <a:r>
              <a:rPr lang="zh-CN" altLang="en-US" sz="1800" b="1" dirty="0">
                <a:solidFill>
                  <a:srgbClr val="FF3399"/>
                </a:solidFill>
                <a:latin typeface="宋体" panose="02010600030101010101" pitchFamily="2" charset="-122"/>
              </a:rPr>
              <a:t>增加</a:t>
            </a:r>
            <a:r>
              <a:rPr lang="en-US" altLang="zh-CN" sz="1800" b="1" dirty="0">
                <a:solidFill>
                  <a:srgbClr val="FF3399"/>
                </a:solidFill>
                <a:latin typeface="宋体" panose="02010600030101010101" pitchFamily="2" charset="-122"/>
              </a:rPr>
              <a:t>2</a:t>
            </a:r>
            <a:r>
              <a:rPr lang="zh-CN" altLang="en-US" sz="1800" b="1" dirty="0">
                <a:solidFill>
                  <a:srgbClr val="FF3399"/>
                </a:solidFill>
                <a:latin typeface="宋体" panose="02010600030101010101" pitchFamily="2" charset="-122"/>
              </a:rPr>
              <a:t>种</a:t>
            </a:r>
            <a:r>
              <a:rPr lang="zh-CN" altLang="en-US" sz="1800" b="1" dirty="0">
                <a:latin typeface="宋体" panose="02010600030101010101" pitchFamily="2" charset="-122"/>
              </a:rPr>
              <a:t>事务</a:t>
            </a:r>
            <a:endParaRPr lang="en-US" altLang="zh-CN" sz="16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sz="2200" b="1" dirty="0">
                <a:solidFill>
                  <a:srgbClr val="0070C0"/>
                </a:solidFill>
                <a:latin typeface="宋体" panose="02010600030101010101" pitchFamily="2" charset="-122"/>
              </a:rPr>
              <a:t>接口</a:t>
            </a:r>
            <a:r>
              <a:rPr lang="zh-CN" altLang="en-US" sz="2200" b="1" dirty="0">
                <a:latin typeface="宋体" panose="02010600030101010101" pitchFamily="2" charset="-122"/>
              </a:rPr>
              <a:t>连接</a:t>
            </a:r>
            <a:r>
              <a:rPr lang="en-US" altLang="zh-CN" sz="22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I/O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控制</a:t>
            </a:r>
            <a:r>
              <a:rPr lang="zh-CN" altLang="en-US" sz="2200" b="1" dirty="0">
                <a:latin typeface="宋体" panose="02010600030101010101" pitchFamily="2" charset="-122"/>
              </a:rPr>
              <a:t>线、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部分地址</a:t>
            </a:r>
            <a:r>
              <a:rPr lang="zh-CN" altLang="en-US" sz="2200" b="1" dirty="0">
                <a:latin typeface="宋体" panose="02010600030101010101" pitchFamily="2" charset="-122"/>
              </a:rPr>
              <a:t>线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远少于主存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endParaRPr lang="zh-CN" altLang="en-US" sz="2200" b="1" dirty="0">
              <a:latin typeface="宋体" panose="02010600030101010101" pitchFamily="2" charset="-122"/>
            </a:endParaRPr>
          </a:p>
        </p:txBody>
      </p:sp>
      <p:sp>
        <p:nvSpPr>
          <p:cNvPr id="43" name="Text Box 147"/>
          <p:cNvSpPr txBox="1">
            <a:spLocks noChangeArrowheads="1"/>
          </p:cNvSpPr>
          <p:nvPr/>
        </p:nvSpPr>
        <p:spPr bwMode="auto">
          <a:xfrm>
            <a:off x="1331640" y="4077072"/>
            <a:ext cx="7632848" cy="1438437"/>
          </a:xfrm>
          <a:prstGeom prst="rect">
            <a:avLst/>
          </a:prstGeom>
          <a:noFill/>
          <a:ln w="38100">
            <a:noFill/>
            <a:miter lim="800000"/>
          </a:ln>
          <a:effectLst/>
        </p:spPr>
        <p:txBody>
          <a:bodyPr wrap="square" tIns="64800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200" b="1" dirty="0">
                <a:latin typeface="宋体" panose="02010600030101010101" pitchFamily="2" charset="-122"/>
              </a:rPr>
              <a:t>             IOR#</a:t>
            </a:r>
            <a:r>
              <a:rPr lang="zh-CN" altLang="en-US" sz="2200" b="1" dirty="0">
                <a:latin typeface="宋体" panose="02010600030101010101" pitchFamily="2" charset="-122"/>
                <a:sym typeface="Symbol" panose="05050102010706020507"/>
              </a:rPr>
              <a:t></a:t>
            </a:r>
            <a:r>
              <a:rPr lang="en-US" altLang="zh-CN" sz="2200" b="1" dirty="0">
                <a:latin typeface="宋体" panose="02010600030101010101" pitchFamily="2" charset="-122"/>
              </a:rPr>
              <a:t>IOW#</a:t>
            </a:r>
            <a:r>
              <a:rPr lang="zh-CN" altLang="en-US" sz="2200" b="1" dirty="0">
                <a:latin typeface="宋体" panose="02010600030101010101" pitchFamily="2" charset="-122"/>
              </a:rPr>
              <a:t>＝</a:t>
            </a:r>
            <a:r>
              <a:rPr lang="en-US" altLang="zh-CN" sz="2200" b="1" dirty="0">
                <a:latin typeface="宋体" panose="02010600030101010101" pitchFamily="2" charset="-122"/>
              </a:rPr>
              <a:t>1</a:t>
            </a:r>
            <a:r>
              <a:rPr lang="zh-CN" altLang="en-US" sz="2200" b="1" dirty="0">
                <a:latin typeface="宋体" panose="02010600030101010101" pitchFamily="2" charset="-122"/>
              </a:rPr>
              <a:t>时      </a:t>
            </a:r>
            <a:r>
              <a:rPr lang="zh-CN" altLang="en-US" sz="1800" b="1" dirty="0">
                <a:latin typeface="宋体" panose="02010600030101010101" pitchFamily="2" charset="-122"/>
              </a:rPr>
              <a:t>←此时</a:t>
            </a:r>
            <a:r>
              <a:rPr lang="en-US" altLang="zh-CN" sz="1800" b="1" dirty="0">
                <a:latin typeface="宋体" panose="02010600030101010101" pitchFamily="2" charset="-122"/>
              </a:rPr>
              <a:t>MRMR#</a:t>
            </a:r>
            <a:r>
              <a:rPr lang="zh-CN" altLang="en-US" sz="1800" b="1" dirty="0">
                <a:latin typeface="宋体" panose="02010600030101010101" pitchFamily="2" charset="-122"/>
                <a:sym typeface="Symbol" panose="05050102010706020507"/>
              </a:rPr>
              <a:t></a:t>
            </a:r>
            <a:r>
              <a:rPr lang="en-US" altLang="zh-CN" sz="1800" b="1" dirty="0">
                <a:latin typeface="宋体" panose="02010600030101010101" pitchFamily="2" charset="-122"/>
              </a:rPr>
              <a:t>MEMW#</a:t>
            </a:r>
            <a:r>
              <a:rPr lang="zh-CN" altLang="en-US" sz="1800" b="1" dirty="0">
                <a:latin typeface="宋体" panose="02010600030101010101" pitchFamily="2" charset="-122"/>
              </a:rPr>
              <a:t>＝</a:t>
            </a:r>
            <a:r>
              <a:rPr lang="en-US" altLang="zh-CN" sz="1800" b="1" dirty="0">
                <a:latin typeface="宋体" panose="02010600030101010101" pitchFamily="2" charset="-122"/>
              </a:rPr>
              <a:t>0</a:t>
            </a:r>
            <a:endParaRPr lang="zh-CN" altLang="en-US" sz="18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300"/>
              </a:spcBef>
            </a:pPr>
            <a:r>
              <a:rPr lang="zh-CN" altLang="en-US" sz="2200" b="1" dirty="0">
                <a:latin typeface="宋体" panose="02010600030101010101" pitchFamily="2" charset="-122"/>
              </a:rPr>
              <a:t>  </a:t>
            </a:r>
            <a:r>
              <a:rPr lang="zh-CN" altLang="en-US" sz="2200" b="1" u="sng" dirty="0">
                <a:latin typeface="宋体" panose="02010600030101010101" pitchFamily="2" charset="-122"/>
              </a:rPr>
              <a:t>增设</a:t>
            </a:r>
            <a:r>
              <a:rPr lang="en-US" altLang="zh-CN" sz="2200" b="1" dirty="0">
                <a:latin typeface="宋体" panose="02010600030101010101" pitchFamily="2" charset="-122"/>
              </a:rPr>
              <a:t>2</a:t>
            </a:r>
            <a:r>
              <a:rPr lang="zh-CN" altLang="en-US" sz="2200" b="1" dirty="0">
                <a:latin typeface="宋体" panose="02010600030101010101" pitchFamily="2" charset="-122"/>
              </a:rPr>
              <a:t>种指令</a:t>
            </a:r>
            <a:r>
              <a:rPr lang="en-US" altLang="zh-CN" sz="2200" b="1" dirty="0">
                <a:latin typeface="宋体" panose="02010600030101010101" pitchFamily="2" charset="-122"/>
              </a:rPr>
              <a:t>&amp;</a:t>
            </a:r>
            <a:r>
              <a:rPr lang="zh-CN" altLang="en-US" sz="2200" b="1" dirty="0">
                <a:latin typeface="宋体" panose="02010600030101010101" pitchFamily="2" charset="-122"/>
              </a:rPr>
              <a:t>总线事务，</a:t>
            </a:r>
            <a:r>
              <a:rPr lang="en-US" altLang="zh-CN" sz="2200" b="1" dirty="0">
                <a:latin typeface="宋体" panose="02010600030101010101" pitchFamily="2" charset="-122"/>
              </a:rPr>
              <a:t>I/O</a:t>
            </a:r>
            <a:r>
              <a:rPr lang="zh-CN" altLang="en-US" sz="2200" b="1" dirty="0">
                <a:latin typeface="宋体" panose="02010600030101010101" pitchFamily="2" charset="-122"/>
              </a:rPr>
              <a:t>地址译码</a:t>
            </a:r>
            <a:r>
              <a:rPr lang="zh-CN" altLang="en-US" sz="2200" b="1" u="sng" dirty="0">
                <a:latin typeface="宋体" panose="02010600030101010101" pitchFamily="2" charset="-122"/>
              </a:rPr>
              <a:t>简单</a:t>
            </a:r>
            <a:endParaRPr lang="en-US" altLang="zh-CN" sz="2200" b="1" u="sng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RISC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常采用</a:t>
            </a:r>
            <a:r>
              <a:rPr lang="zh-CN" altLang="en-US" sz="2200" b="1" u="sng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统一编址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方式，</a:t>
            </a: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CISC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常采用</a:t>
            </a:r>
            <a:r>
              <a:rPr lang="zh-CN" altLang="en-US" sz="2200" b="1" u="sng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独立编址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方式</a:t>
            </a:r>
          </a:p>
        </p:txBody>
      </p:sp>
      <p:grpSp>
        <p:nvGrpSpPr>
          <p:cNvPr id="44" name="组合 43"/>
          <p:cNvGrpSpPr/>
          <p:nvPr/>
        </p:nvGrpSpPr>
        <p:grpSpPr>
          <a:xfrm>
            <a:off x="4499992" y="2636465"/>
            <a:ext cx="4104456" cy="1224136"/>
            <a:chOff x="4499992" y="2060848"/>
            <a:chExt cx="4104456" cy="1224136"/>
          </a:xfrm>
        </p:grpSpPr>
        <p:cxnSp>
          <p:nvCxnSpPr>
            <p:cNvPr id="45" name="直接连接符 44"/>
            <p:cNvCxnSpPr/>
            <p:nvPr/>
          </p:nvCxnSpPr>
          <p:spPr bwMode="auto">
            <a:xfrm>
              <a:off x="7457966" y="2348880"/>
              <a:ext cx="72008" cy="72008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46" name="Text Box 49"/>
            <p:cNvSpPr txBox="1">
              <a:spLocks noChangeArrowheads="1"/>
            </p:cNvSpPr>
            <p:nvPr/>
          </p:nvSpPr>
          <p:spPr bwMode="auto">
            <a:xfrm>
              <a:off x="4499992" y="2564904"/>
              <a:ext cx="720155" cy="720079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en-US" altLang="zh-CN" sz="1800" b="1" dirty="0">
                  <a:latin typeface="宋体" panose="02010600030101010101" pitchFamily="2" charset="-122"/>
                </a:rPr>
                <a:t>CPU</a:t>
              </a:r>
            </a:p>
          </p:txBody>
        </p:sp>
        <p:sp>
          <p:nvSpPr>
            <p:cNvPr id="47" name="Text Box 50"/>
            <p:cNvSpPr txBox="1">
              <a:spLocks noChangeArrowheads="1"/>
            </p:cNvSpPr>
            <p:nvPr/>
          </p:nvSpPr>
          <p:spPr bwMode="auto">
            <a:xfrm>
              <a:off x="5505748" y="2564904"/>
              <a:ext cx="1298575" cy="72008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zh-CN" altLang="en-US" sz="1800" b="1" dirty="0">
                  <a:latin typeface="宋体" panose="02010600030101010101" pitchFamily="2" charset="-122"/>
                </a:rPr>
                <a:t>主存</a:t>
              </a:r>
            </a:p>
          </p:txBody>
        </p:sp>
        <p:sp>
          <p:nvSpPr>
            <p:cNvPr id="48" name="Text Box 51"/>
            <p:cNvSpPr txBox="1">
              <a:spLocks noChangeArrowheads="1"/>
            </p:cNvSpPr>
            <p:nvPr/>
          </p:nvSpPr>
          <p:spPr bwMode="auto">
            <a:xfrm>
              <a:off x="7377881" y="2565276"/>
              <a:ext cx="1226567" cy="719708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en-US" altLang="zh-CN" sz="1800" b="1" dirty="0">
                  <a:latin typeface="宋体" panose="02010600030101010101" pitchFamily="2" charset="-122"/>
                </a:rPr>
                <a:t>I/O</a:t>
              </a:r>
              <a:r>
                <a:rPr lang="zh-CN" altLang="en-US" sz="1800" b="1" dirty="0">
                  <a:latin typeface="宋体" panose="02010600030101010101" pitchFamily="2" charset="-122"/>
                </a:rPr>
                <a:t>接口</a:t>
              </a:r>
              <a:endParaRPr lang="en-US" altLang="zh-CN" sz="1800" b="1" dirty="0">
                <a:latin typeface="宋体" panose="02010600030101010101" pitchFamily="2" charset="-122"/>
              </a:endParaRPr>
            </a:p>
            <a:p>
              <a:r>
                <a:rPr lang="en-US" altLang="zh-CN" sz="1800" b="1" dirty="0">
                  <a:latin typeface="宋体" panose="02010600030101010101" pitchFamily="2" charset="-122"/>
                </a:rPr>
                <a:t>(</a:t>
              </a:r>
              <a:r>
                <a:rPr lang="zh-CN" altLang="en-US" sz="1800" b="1" dirty="0">
                  <a:latin typeface="宋体" panose="02010600030101010101" pitchFamily="2" charset="-122"/>
                </a:rPr>
                <a:t>外设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)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49" name="直接连接符 48"/>
            <p:cNvCxnSpPr/>
            <p:nvPr/>
          </p:nvCxnSpPr>
          <p:spPr bwMode="auto">
            <a:xfrm>
              <a:off x="4499992" y="2060848"/>
              <a:ext cx="4104456" cy="0"/>
            </a:xfrm>
            <a:prstGeom prst="line">
              <a:avLst/>
            </a:prstGeom>
            <a:noFill/>
            <a:ln w="28575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0" name="直接连接符 49"/>
            <p:cNvCxnSpPr/>
            <p:nvPr/>
          </p:nvCxnSpPr>
          <p:spPr bwMode="auto">
            <a:xfrm>
              <a:off x="7493970" y="2060848"/>
              <a:ext cx="0" cy="504056"/>
            </a:xfrm>
            <a:prstGeom prst="line">
              <a:avLst/>
            </a:prstGeom>
            <a:noFill/>
            <a:ln w="1905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51" name="直接连接符 50"/>
            <p:cNvCxnSpPr/>
            <p:nvPr/>
          </p:nvCxnSpPr>
          <p:spPr bwMode="auto">
            <a:xfrm>
              <a:off x="7740352" y="2060848"/>
              <a:ext cx="0" cy="504056"/>
            </a:xfrm>
            <a:prstGeom prst="line">
              <a:avLst/>
            </a:prstGeom>
            <a:noFill/>
            <a:ln w="19050" cap="flat" cmpd="sng" algn="ctr">
              <a:solidFill>
                <a:schemeClr val="accent2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52" name="直接连接符 51"/>
            <p:cNvCxnSpPr/>
            <p:nvPr/>
          </p:nvCxnSpPr>
          <p:spPr bwMode="auto">
            <a:xfrm>
              <a:off x="8028384" y="2060848"/>
              <a:ext cx="0" cy="504056"/>
            </a:xfrm>
            <a:prstGeom prst="line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53" name="直接连接符 52"/>
            <p:cNvCxnSpPr/>
            <p:nvPr/>
          </p:nvCxnSpPr>
          <p:spPr bwMode="auto">
            <a:xfrm>
              <a:off x="8100392" y="2060848"/>
              <a:ext cx="0" cy="504056"/>
            </a:xfrm>
            <a:prstGeom prst="line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55" name="Text Box 61"/>
            <p:cNvSpPr txBox="1">
              <a:spLocks noChangeArrowheads="1"/>
            </p:cNvSpPr>
            <p:nvPr/>
          </p:nvSpPr>
          <p:spPr bwMode="auto">
            <a:xfrm>
              <a:off x="5584020" y="2222227"/>
              <a:ext cx="1004279" cy="270669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algn="l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地址 数据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56" name="直接连接符 55"/>
            <p:cNvCxnSpPr/>
            <p:nvPr/>
          </p:nvCxnSpPr>
          <p:spPr bwMode="auto">
            <a:xfrm flipV="1">
              <a:off x="4572075" y="2060848"/>
              <a:ext cx="0" cy="504056"/>
            </a:xfrm>
            <a:prstGeom prst="line">
              <a:avLst/>
            </a:prstGeom>
            <a:noFill/>
            <a:ln w="1905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57" name="直接连接符 56"/>
            <p:cNvCxnSpPr/>
            <p:nvPr/>
          </p:nvCxnSpPr>
          <p:spPr bwMode="auto">
            <a:xfrm>
              <a:off x="4716091" y="2060848"/>
              <a:ext cx="0" cy="504428"/>
            </a:xfrm>
            <a:prstGeom prst="line">
              <a:avLst/>
            </a:prstGeom>
            <a:noFill/>
            <a:ln w="19050" cap="flat" cmpd="sng" algn="ctr">
              <a:solidFill>
                <a:schemeClr val="accent2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58" name="直接连接符 57"/>
            <p:cNvCxnSpPr/>
            <p:nvPr/>
          </p:nvCxnSpPr>
          <p:spPr bwMode="auto">
            <a:xfrm flipV="1">
              <a:off x="4923731" y="2060848"/>
              <a:ext cx="0" cy="504056"/>
            </a:xfrm>
            <a:prstGeom prst="line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59" name="直接连接符 58"/>
            <p:cNvCxnSpPr/>
            <p:nvPr/>
          </p:nvCxnSpPr>
          <p:spPr bwMode="auto">
            <a:xfrm flipV="1">
              <a:off x="4995739" y="2060848"/>
              <a:ext cx="0" cy="504056"/>
            </a:xfrm>
            <a:prstGeom prst="line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60" name="直接连接符 59"/>
            <p:cNvCxnSpPr/>
            <p:nvPr/>
          </p:nvCxnSpPr>
          <p:spPr bwMode="auto">
            <a:xfrm>
              <a:off x="5580187" y="2060848"/>
              <a:ext cx="0" cy="504056"/>
            </a:xfrm>
            <a:prstGeom prst="line">
              <a:avLst/>
            </a:prstGeom>
            <a:noFill/>
            <a:ln w="1905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61" name="直接连接符 60"/>
            <p:cNvCxnSpPr/>
            <p:nvPr/>
          </p:nvCxnSpPr>
          <p:spPr bwMode="auto">
            <a:xfrm>
              <a:off x="6084243" y="2060848"/>
              <a:ext cx="0" cy="504056"/>
            </a:xfrm>
            <a:prstGeom prst="line">
              <a:avLst/>
            </a:prstGeom>
            <a:noFill/>
            <a:ln w="19050" cap="flat" cmpd="sng" algn="ctr">
              <a:solidFill>
                <a:schemeClr val="accent2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62" name="直接连接符 61"/>
            <p:cNvCxnSpPr/>
            <p:nvPr/>
          </p:nvCxnSpPr>
          <p:spPr bwMode="auto">
            <a:xfrm>
              <a:off x="6546649" y="2060848"/>
              <a:ext cx="0" cy="504056"/>
            </a:xfrm>
            <a:prstGeom prst="line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63" name="直接连接符 62"/>
            <p:cNvCxnSpPr/>
            <p:nvPr/>
          </p:nvCxnSpPr>
          <p:spPr bwMode="auto">
            <a:xfrm>
              <a:off x="6618657" y="2060848"/>
              <a:ext cx="0" cy="504056"/>
            </a:xfrm>
            <a:prstGeom prst="line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64" name="Text Box 61"/>
            <p:cNvSpPr txBox="1">
              <a:spLocks noChangeArrowheads="1"/>
            </p:cNvSpPr>
            <p:nvPr/>
          </p:nvSpPr>
          <p:spPr bwMode="auto">
            <a:xfrm>
              <a:off x="6618657" y="2129148"/>
              <a:ext cx="648072" cy="371166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>
                <a:lnSpc>
                  <a:spcPct val="8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MEMR#</a:t>
              </a:r>
            </a:p>
            <a:p>
              <a:pPr>
                <a:lnSpc>
                  <a:spcPct val="8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MEMW#</a:t>
              </a:r>
            </a:p>
          </p:txBody>
        </p:sp>
        <p:cxnSp>
          <p:nvCxnSpPr>
            <p:cNvPr id="66" name="直接连接符 65"/>
            <p:cNvCxnSpPr/>
            <p:nvPr/>
          </p:nvCxnSpPr>
          <p:spPr bwMode="auto">
            <a:xfrm flipV="1">
              <a:off x="5076131" y="2060848"/>
              <a:ext cx="0" cy="504056"/>
            </a:xfrm>
            <a:prstGeom prst="line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67" name="直接连接符 66"/>
            <p:cNvCxnSpPr/>
            <p:nvPr/>
          </p:nvCxnSpPr>
          <p:spPr bwMode="auto">
            <a:xfrm flipV="1">
              <a:off x="5148139" y="2060848"/>
              <a:ext cx="0" cy="504056"/>
            </a:xfrm>
            <a:prstGeom prst="line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sp>
        <p:nvSpPr>
          <p:cNvPr id="68" name="AutoShape 69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2988518" y="6526038"/>
            <a:ext cx="287338" cy="287338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2" name="Text Box 61"/>
          <p:cNvSpPr txBox="1">
            <a:spLocks noChangeArrowheads="1"/>
          </p:cNvSpPr>
          <p:nvPr/>
        </p:nvSpPr>
        <p:spPr bwMode="auto">
          <a:xfrm>
            <a:off x="8100392" y="2707147"/>
            <a:ext cx="504056" cy="371166"/>
          </a:xfrm>
          <a:prstGeom prst="rect">
            <a:avLst/>
          </a:prstGeom>
          <a:noFill/>
          <a:ln w="19050">
            <a:noFill/>
            <a:miter lim="800000"/>
          </a:ln>
          <a:effectLst/>
        </p:spPr>
        <p:txBody>
          <a:bodyPr lIns="18000" tIns="10800" rIns="18000" bIns="10800" anchor="ctr" anchorCtr="0"/>
          <a:lstStyle/>
          <a:p>
            <a:pPr>
              <a:lnSpc>
                <a:spcPct val="80000"/>
              </a:lnSpc>
            </a:pPr>
            <a:r>
              <a:rPr lang="en-US" altLang="zh-CN" sz="1600" b="1" dirty="0">
                <a:highlight>
                  <a:srgbClr val="FFFF00"/>
                </a:highlight>
                <a:latin typeface="宋体" panose="02010600030101010101" pitchFamily="2" charset="-122"/>
              </a:rPr>
              <a:t>IOR#</a:t>
            </a:r>
          </a:p>
          <a:p>
            <a:pPr>
              <a:lnSpc>
                <a:spcPct val="80000"/>
              </a:lnSpc>
            </a:pPr>
            <a:r>
              <a:rPr lang="en-US" altLang="zh-CN" sz="1600" b="1" dirty="0">
                <a:highlight>
                  <a:srgbClr val="FFFF00"/>
                </a:highlight>
                <a:latin typeface="宋体" panose="02010600030101010101" pitchFamily="2" charset="-122"/>
              </a:rPr>
              <a:t>IOW#</a:t>
            </a:r>
          </a:p>
        </p:txBody>
      </p:sp>
      <p:sp>
        <p:nvSpPr>
          <p:cNvPr id="70" name="线形标注 2 69"/>
          <p:cNvSpPr/>
          <p:nvPr/>
        </p:nvSpPr>
        <p:spPr bwMode="auto">
          <a:xfrm>
            <a:off x="7956376" y="2276872"/>
            <a:ext cx="684000" cy="252000"/>
          </a:xfrm>
          <a:prstGeom prst="borderCallout2">
            <a:avLst>
              <a:gd name="adj1" fmla="val 48951"/>
              <a:gd name="adj2" fmla="val -2110"/>
              <a:gd name="adj3" fmla="val 49451"/>
              <a:gd name="adj4" fmla="val -22305"/>
              <a:gd name="adj5" fmla="val 270446"/>
              <a:gd name="adj6" fmla="val -58027"/>
            </a:avLst>
          </a:prstGeom>
          <a:noFill/>
          <a:ln w="12700" cap="flat" cmpd="sng" algn="ctr">
            <a:solidFill>
              <a:srgbClr val="990099"/>
            </a:solidFill>
            <a:prstDash val="sysDash"/>
            <a:round/>
            <a:headEnd type="none" w="med" len="med"/>
            <a:tailEnd type="arrow" w="sm" len="sm"/>
          </a:ln>
          <a:effectLst/>
        </p:spPr>
        <p:txBody>
          <a:bodyPr vert="horz" wrap="square" lIns="36000" tIns="18000" rIns="36000" bIns="18000" numCol="1" rtlCol="0" anchor="ctr" anchorCtr="0" compatLnSpc="1"/>
          <a:lstStyle/>
          <a:p>
            <a:pPr algn="ctr">
              <a:lnSpc>
                <a:spcPct val="90000"/>
              </a:lnSpc>
            </a:pPr>
            <a:r>
              <a:rPr lang="en-US" altLang="zh-CN" sz="1600" b="1" dirty="0">
                <a:highlight>
                  <a:srgbClr val="FFFF00"/>
                </a:highlight>
                <a:latin typeface="+mn-ea"/>
                <a:ea typeface="+mn-ea"/>
              </a:rPr>
              <a:t>=log</a:t>
            </a:r>
            <a:r>
              <a:rPr lang="en-US" altLang="zh-CN" sz="1600" b="1" baseline="-24000" dirty="0">
                <a:highlight>
                  <a:srgbClr val="FFFF00"/>
                </a:highlight>
                <a:latin typeface="+mn-ea"/>
                <a:ea typeface="+mn-ea"/>
              </a:rPr>
              <a:t>2</a:t>
            </a:r>
            <a:r>
              <a:rPr lang="en-US" altLang="zh-CN" sz="1600" b="1" dirty="0">
                <a:highlight>
                  <a:srgbClr val="FFFF00"/>
                </a:highlight>
                <a:latin typeface="+mn-ea"/>
                <a:ea typeface="+mn-ea"/>
              </a:rPr>
              <a:t>y</a:t>
            </a:r>
            <a:endParaRPr lang="zh-CN" altLang="en-US" sz="1600" b="1" dirty="0">
              <a:highlight>
                <a:srgbClr val="FFFF00"/>
              </a:highlight>
              <a:latin typeface="+mn-ea"/>
              <a:ea typeface="+mn-ea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52A7F623-5B9C-46FD-BCE4-32BB3C97ACC9}"/>
              </a:ext>
            </a:extLst>
          </p:cNvPr>
          <p:cNvGrpSpPr/>
          <p:nvPr/>
        </p:nvGrpSpPr>
        <p:grpSpPr>
          <a:xfrm>
            <a:off x="7056376" y="1162800"/>
            <a:ext cx="828000" cy="612000"/>
            <a:chOff x="7236000" y="1126800"/>
            <a:chExt cx="496800" cy="612000"/>
          </a:xfrm>
        </p:grpSpPr>
        <p:cxnSp>
          <p:nvCxnSpPr>
            <p:cNvPr id="42" name="直接连接符 41"/>
            <p:cNvCxnSpPr/>
            <p:nvPr/>
          </p:nvCxnSpPr>
          <p:spPr bwMode="auto">
            <a:xfrm>
              <a:off x="7236000" y="1126800"/>
              <a:ext cx="388800" cy="180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0070C0"/>
              </a:solidFill>
              <a:prstDash val="sysDash"/>
              <a:round/>
              <a:headEnd type="none" w="sm" len="sm"/>
              <a:tailEnd type="triangle" w="med" len="med"/>
            </a:ln>
            <a:effectLst/>
          </p:spPr>
        </p:cxnSp>
        <p:cxnSp>
          <p:nvCxnSpPr>
            <p:cNvPr id="41" name="直接连接符 40">
              <a:extLst>
                <a:ext uri="{FF2B5EF4-FFF2-40B4-BE49-F238E27FC236}">
                  <a16:creationId xmlns:a16="http://schemas.microsoft.com/office/drawing/2014/main" id="{A3DFED31-8E15-4DA8-8397-7AC1C39B44C0}"/>
                </a:ext>
              </a:extLst>
            </p:cNvPr>
            <p:cNvCxnSpPr/>
            <p:nvPr/>
          </p:nvCxnSpPr>
          <p:spPr bwMode="auto">
            <a:xfrm>
              <a:off x="7236000" y="1126800"/>
              <a:ext cx="496800" cy="612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0070C0"/>
              </a:solidFill>
              <a:prstDash val="sysDash"/>
              <a:round/>
              <a:headEnd type="none" w="sm" len="sm"/>
              <a:tailEnd type="triangle" w="med" len="med"/>
            </a:ln>
            <a:effectLst/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5" presetClass="entr" presetSubtype="1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" presetClass="entr" presetSubtype="1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3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" grpId="0"/>
      <p:bldP spid="7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" name="组合 68">
            <a:extLst>
              <a:ext uri="{FF2B5EF4-FFF2-40B4-BE49-F238E27FC236}">
                <a16:creationId xmlns:a16="http://schemas.microsoft.com/office/drawing/2014/main" id="{525C72ED-825B-4E66-8D67-E59ADB2D64A1}"/>
              </a:ext>
            </a:extLst>
          </p:cNvPr>
          <p:cNvGrpSpPr/>
          <p:nvPr/>
        </p:nvGrpSpPr>
        <p:grpSpPr>
          <a:xfrm>
            <a:off x="1512000" y="4221088"/>
            <a:ext cx="7020000" cy="1476000"/>
            <a:chOff x="1512000" y="4608000"/>
            <a:chExt cx="7020000" cy="1476000"/>
          </a:xfrm>
        </p:grpSpPr>
        <p:sp>
          <p:nvSpPr>
            <p:cNvPr id="70" name="Rectangle 130">
              <a:extLst>
                <a:ext uri="{FF2B5EF4-FFF2-40B4-BE49-F238E27FC236}">
                  <a16:creationId xmlns:a16="http://schemas.microsoft.com/office/drawing/2014/main" id="{A796F293-530D-4A45-934E-BFDA46E1CC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4000" y="5004000"/>
              <a:ext cx="3564000" cy="1080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wrap="none" lIns="0" tIns="0" rIns="0" bIns="0" anchor="ctr"/>
            <a:lstStyle/>
            <a:p>
              <a:pPr>
                <a:lnSpc>
                  <a:spcPct val="90000"/>
                </a:lnSpc>
              </a:pPr>
              <a:endParaRPr lang="zh-CN" altLang="en-US" sz="1600"/>
            </a:p>
          </p:txBody>
        </p:sp>
        <p:sp>
          <p:nvSpPr>
            <p:cNvPr id="72" name="Text Box 49">
              <a:extLst>
                <a:ext uri="{FF2B5EF4-FFF2-40B4-BE49-F238E27FC236}">
                  <a16:creationId xmlns:a16="http://schemas.microsoft.com/office/drawing/2014/main" id="{59FF73D9-8317-4A7A-A5A4-99EF407661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12000" y="4997805"/>
              <a:ext cx="648072" cy="432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CPU</a:t>
              </a:r>
            </a:p>
          </p:txBody>
        </p:sp>
        <p:sp>
          <p:nvSpPr>
            <p:cNvPr id="73" name="Text Box 50">
              <a:extLst>
                <a:ext uri="{FF2B5EF4-FFF2-40B4-BE49-F238E27FC236}">
                  <a16:creationId xmlns:a16="http://schemas.microsoft.com/office/drawing/2014/main" id="{7DB0CD7B-F11C-459F-8380-CABB4D9991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60000" y="5004000"/>
              <a:ext cx="288000" cy="108000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vert="eaVert" lIns="0" tIns="0" rIns="0" bIns="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主 存</a:t>
              </a:r>
            </a:p>
          </p:txBody>
        </p:sp>
        <p:cxnSp>
          <p:nvCxnSpPr>
            <p:cNvPr id="78" name="直接连接符 77">
              <a:extLst>
                <a:ext uri="{FF2B5EF4-FFF2-40B4-BE49-F238E27FC236}">
                  <a16:creationId xmlns:a16="http://schemas.microsoft.com/office/drawing/2014/main" id="{A12EE6C4-E5F0-432C-92E2-10F9B8E6A430}"/>
                </a:ext>
              </a:extLst>
            </p:cNvPr>
            <p:cNvCxnSpPr/>
            <p:nvPr/>
          </p:nvCxnSpPr>
          <p:spPr bwMode="auto">
            <a:xfrm>
              <a:off x="1512000" y="4752000"/>
              <a:ext cx="6660000" cy="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82" name="Text Box 61">
              <a:extLst>
                <a:ext uri="{FF2B5EF4-FFF2-40B4-BE49-F238E27FC236}">
                  <a16:creationId xmlns:a16="http://schemas.microsoft.com/office/drawing/2014/main" id="{2A4F3CF0-0327-4D58-B8EE-553278E922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48000" y="4788000"/>
              <a:ext cx="1080000" cy="180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0" bIns="0" anchor="ctr" anchorCtr="0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IOR#  IOW#</a:t>
              </a:r>
            </a:p>
          </p:txBody>
        </p:sp>
        <p:cxnSp>
          <p:nvCxnSpPr>
            <p:cNvPr id="84" name="直接连接符 83">
              <a:extLst>
                <a:ext uri="{FF2B5EF4-FFF2-40B4-BE49-F238E27FC236}">
                  <a16:creationId xmlns:a16="http://schemas.microsoft.com/office/drawing/2014/main" id="{C9B4F76C-AB2F-4340-9930-E207DD06624B}"/>
                </a:ext>
              </a:extLst>
            </p:cNvPr>
            <p:cNvCxnSpPr/>
            <p:nvPr/>
          </p:nvCxnSpPr>
          <p:spPr bwMode="auto">
            <a:xfrm flipV="1">
              <a:off x="1620000" y="4608000"/>
              <a:ext cx="0" cy="396000"/>
            </a:xfrm>
            <a:prstGeom prst="line">
              <a:avLst/>
            </a:prstGeom>
            <a:noFill/>
            <a:ln w="19050" cap="flat" cmpd="sng" algn="ctr">
              <a:solidFill>
                <a:srgbClr val="CC3300"/>
              </a:solidFill>
              <a:prstDash val="solid"/>
              <a:round/>
              <a:headEnd type="none" w="med" len="sm"/>
              <a:tailEnd type="triangle" w="med" len="sm"/>
            </a:ln>
          </p:spPr>
        </p:cxnSp>
        <p:cxnSp>
          <p:nvCxnSpPr>
            <p:cNvPr id="87" name="直接连接符 86">
              <a:extLst>
                <a:ext uri="{FF2B5EF4-FFF2-40B4-BE49-F238E27FC236}">
                  <a16:creationId xmlns:a16="http://schemas.microsoft.com/office/drawing/2014/main" id="{B76D53BD-79E4-40C6-BADA-F40356CCFF0F}"/>
                </a:ext>
              </a:extLst>
            </p:cNvPr>
            <p:cNvCxnSpPr/>
            <p:nvPr/>
          </p:nvCxnSpPr>
          <p:spPr bwMode="auto">
            <a:xfrm>
              <a:off x="1728000" y="4680000"/>
              <a:ext cx="0" cy="324000"/>
            </a:xfrm>
            <a:prstGeom prst="line">
              <a:avLst/>
            </a:prstGeom>
            <a:noFill/>
            <a:ln w="19050" cap="flat" cmpd="sng" algn="ctr">
              <a:solidFill>
                <a:schemeClr val="accent2"/>
              </a:solidFill>
              <a:prstDash val="solid"/>
              <a:round/>
              <a:headEnd type="triangle" w="med" len="sm"/>
              <a:tailEnd type="triangle" w="med" len="sm"/>
            </a:ln>
          </p:spPr>
        </p:cxnSp>
        <p:cxnSp>
          <p:nvCxnSpPr>
            <p:cNvPr id="88" name="直接连接符 87">
              <a:extLst>
                <a:ext uri="{FF2B5EF4-FFF2-40B4-BE49-F238E27FC236}">
                  <a16:creationId xmlns:a16="http://schemas.microsoft.com/office/drawing/2014/main" id="{5ADF6F25-5860-4C12-9F7F-BD475C8822E5}"/>
                </a:ext>
              </a:extLst>
            </p:cNvPr>
            <p:cNvCxnSpPr/>
            <p:nvPr/>
          </p:nvCxnSpPr>
          <p:spPr bwMode="auto">
            <a:xfrm flipV="1">
              <a:off x="1835696" y="4752000"/>
              <a:ext cx="0" cy="25200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sm"/>
            </a:ln>
          </p:spPr>
        </p:cxnSp>
        <p:cxnSp>
          <p:nvCxnSpPr>
            <p:cNvPr id="89" name="直接连接符 88">
              <a:extLst>
                <a:ext uri="{FF2B5EF4-FFF2-40B4-BE49-F238E27FC236}">
                  <a16:creationId xmlns:a16="http://schemas.microsoft.com/office/drawing/2014/main" id="{894BB863-028C-44F2-9A9D-53EA8DDDD28A}"/>
                </a:ext>
              </a:extLst>
            </p:cNvPr>
            <p:cNvCxnSpPr/>
            <p:nvPr/>
          </p:nvCxnSpPr>
          <p:spPr bwMode="auto">
            <a:xfrm flipV="1">
              <a:off x="1907704" y="4752000"/>
              <a:ext cx="0" cy="25200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sm"/>
            </a:ln>
          </p:spPr>
        </p:cxnSp>
        <p:cxnSp>
          <p:nvCxnSpPr>
            <p:cNvPr id="90" name="直接连接符 89">
              <a:extLst>
                <a:ext uri="{FF2B5EF4-FFF2-40B4-BE49-F238E27FC236}">
                  <a16:creationId xmlns:a16="http://schemas.microsoft.com/office/drawing/2014/main" id="{71D00CE1-EFC3-40B3-B71E-4CEE3308D896}"/>
                </a:ext>
              </a:extLst>
            </p:cNvPr>
            <p:cNvCxnSpPr/>
            <p:nvPr/>
          </p:nvCxnSpPr>
          <p:spPr bwMode="auto">
            <a:xfrm>
              <a:off x="7740000" y="4680000"/>
              <a:ext cx="0" cy="324000"/>
            </a:xfrm>
            <a:prstGeom prst="line">
              <a:avLst/>
            </a:prstGeom>
            <a:noFill/>
            <a:ln w="19050" cap="flat" cmpd="sng" algn="ctr">
              <a:solidFill>
                <a:schemeClr val="accent2"/>
              </a:solidFill>
              <a:prstDash val="solid"/>
              <a:round/>
              <a:headEnd type="triangle" w="med" len="sm"/>
              <a:tailEnd type="triangle" w="med" len="sm"/>
            </a:ln>
          </p:spPr>
        </p:cxnSp>
        <p:sp>
          <p:nvSpPr>
            <p:cNvPr id="91" name="Text Box 61">
              <a:extLst>
                <a:ext uri="{FF2B5EF4-FFF2-40B4-BE49-F238E27FC236}">
                  <a16:creationId xmlns:a16="http://schemas.microsoft.com/office/drawing/2014/main" id="{119BC667-905A-4676-A00B-7D70713EB6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84000" y="5364000"/>
              <a:ext cx="576000" cy="39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0" bIns="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MEMR#</a:t>
              </a:r>
            </a:p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MEMW#</a:t>
              </a:r>
            </a:p>
          </p:txBody>
        </p:sp>
        <p:cxnSp>
          <p:nvCxnSpPr>
            <p:cNvPr id="92" name="直接连接符 91">
              <a:extLst>
                <a:ext uri="{FF2B5EF4-FFF2-40B4-BE49-F238E27FC236}">
                  <a16:creationId xmlns:a16="http://schemas.microsoft.com/office/drawing/2014/main" id="{0AB48928-C055-4A2E-A51C-55C1BF68E5B9}"/>
                </a:ext>
              </a:extLst>
            </p:cNvPr>
            <p:cNvCxnSpPr/>
            <p:nvPr/>
          </p:nvCxnSpPr>
          <p:spPr bwMode="auto">
            <a:xfrm flipV="1">
              <a:off x="1988096" y="4752000"/>
              <a:ext cx="0" cy="25200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sm"/>
            </a:ln>
          </p:spPr>
        </p:cxnSp>
        <p:cxnSp>
          <p:nvCxnSpPr>
            <p:cNvPr id="93" name="直接连接符 92">
              <a:extLst>
                <a:ext uri="{FF2B5EF4-FFF2-40B4-BE49-F238E27FC236}">
                  <a16:creationId xmlns:a16="http://schemas.microsoft.com/office/drawing/2014/main" id="{82DCDF92-5083-44C0-8672-7F477BA4533C}"/>
                </a:ext>
              </a:extLst>
            </p:cNvPr>
            <p:cNvCxnSpPr/>
            <p:nvPr/>
          </p:nvCxnSpPr>
          <p:spPr bwMode="auto">
            <a:xfrm flipV="1">
              <a:off x="2060104" y="4752000"/>
              <a:ext cx="0" cy="25200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sm"/>
            </a:ln>
          </p:spPr>
        </p:cxnSp>
        <p:cxnSp>
          <p:nvCxnSpPr>
            <p:cNvPr id="94" name="直接连接符 93">
              <a:extLst>
                <a:ext uri="{FF2B5EF4-FFF2-40B4-BE49-F238E27FC236}">
                  <a16:creationId xmlns:a16="http://schemas.microsoft.com/office/drawing/2014/main" id="{71ACE0F1-EFA7-4D10-B28E-7E39381EEEE1}"/>
                </a:ext>
              </a:extLst>
            </p:cNvPr>
            <p:cNvCxnSpPr/>
            <p:nvPr/>
          </p:nvCxnSpPr>
          <p:spPr bwMode="auto">
            <a:xfrm>
              <a:off x="1512000" y="4680000"/>
              <a:ext cx="6660000" cy="0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5" name="直接连接符 94">
              <a:extLst>
                <a:ext uri="{FF2B5EF4-FFF2-40B4-BE49-F238E27FC236}">
                  <a16:creationId xmlns:a16="http://schemas.microsoft.com/office/drawing/2014/main" id="{2847F14C-1B54-4A38-8BC0-6304DB48345A}"/>
                </a:ext>
              </a:extLst>
            </p:cNvPr>
            <p:cNvCxnSpPr/>
            <p:nvPr/>
          </p:nvCxnSpPr>
          <p:spPr bwMode="auto">
            <a:xfrm>
              <a:off x="1512000" y="4608000"/>
              <a:ext cx="6660000" cy="0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96" name="Text Box 115">
              <a:extLst>
                <a:ext uri="{FF2B5EF4-FFF2-40B4-BE49-F238E27FC236}">
                  <a16:creationId xmlns:a16="http://schemas.microsoft.com/office/drawing/2014/main" id="{046F6332-AD74-4D7C-9CAC-0FB11B4C1C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000" y="5004000"/>
              <a:ext cx="684000" cy="46800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vert="horz"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地址锁存器</a:t>
              </a:r>
            </a:p>
          </p:txBody>
        </p:sp>
        <p:sp>
          <p:nvSpPr>
            <p:cNvPr id="97" name="Text Box 115">
              <a:extLst>
                <a:ext uri="{FF2B5EF4-FFF2-40B4-BE49-F238E27FC236}">
                  <a16:creationId xmlns:a16="http://schemas.microsoft.com/office/drawing/2014/main" id="{C52E6B45-CE8C-4434-8DEC-61AA7CD558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84000" y="5004000"/>
              <a:ext cx="684000" cy="46800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vert="horz"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数据</a:t>
              </a:r>
              <a:endParaRPr lang="en-US" altLang="zh-CN" sz="1600" b="1" dirty="0"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缓冲器</a:t>
              </a:r>
            </a:p>
          </p:txBody>
        </p:sp>
        <p:sp>
          <p:nvSpPr>
            <p:cNvPr id="98" name="Text Box 113">
              <a:extLst>
                <a:ext uri="{FF2B5EF4-FFF2-40B4-BE49-F238E27FC236}">
                  <a16:creationId xmlns:a16="http://schemas.microsoft.com/office/drawing/2014/main" id="{3937AA59-23EE-4D8F-BB4A-A543779BE7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48000" y="5220000"/>
              <a:ext cx="252000" cy="8640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vert="eaVert" lIns="0" tIns="0" rIns="0" bIns="0" anchor="ctr" anchorCtr="1"/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设备硬件</a:t>
              </a:r>
            </a:p>
          </p:txBody>
        </p:sp>
        <p:cxnSp>
          <p:nvCxnSpPr>
            <p:cNvPr id="99" name="直接连接符 98">
              <a:extLst>
                <a:ext uri="{FF2B5EF4-FFF2-40B4-BE49-F238E27FC236}">
                  <a16:creationId xmlns:a16="http://schemas.microsoft.com/office/drawing/2014/main" id="{BEAC66F1-E8D3-4221-81C7-BD1B0C36E6E8}"/>
                </a:ext>
              </a:extLst>
            </p:cNvPr>
            <p:cNvCxnSpPr/>
            <p:nvPr/>
          </p:nvCxnSpPr>
          <p:spPr bwMode="auto">
            <a:xfrm>
              <a:off x="5868000" y="5544000"/>
              <a:ext cx="180000" cy="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sm"/>
              <a:tailEnd type="triangle" w="med" len="sm"/>
            </a:ln>
          </p:spPr>
        </p:cxnSp>
        <p:cxnSp>
          <p:nvCxnSpPr>
            <p:cNvPr id="100" name="直接连接符 99">
              <a:extLst>
                <a:ext uri="{FF2B5EF4-FFF2-40B4-BE49-F238E27FC236}">
                  <a16:creationId xmlns:a16="http://schemas.microsoft.com/office/drawing/2014/main" id="{100E223B-FA5A-4063-8FA5-F03A3E4BCC26}"/>
                </a:ext>
              </a:extLst>
            </p:cNvPr>
            <p:cNvCxnSpPr/>
            <p:nvPr/>
          </p:nvCxnSpPr>
          <p:spPr bwMode="auto">
            <a:xfrm>
              <a:off x="5868000" y="5652000"/>
              <a:ext cx="180000" cy="0"/>
            </a:xfrm>
            <a:prstGeom prst="line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triangle" w="med" len="sm"/>
              <a:tailEnd type="triangle" w="med" len="sm"/>
            </a:ln>
          </p:spPr>
        </p:cxnSp>
        <p:cxnSp>
          <p:nvCxnSpPr>
            <p:cNvPr id="101" name="直接连接符 100">
              <a:extLst>
                <a:ext uri="{FF2B5EF4-FFF2-40B4-BE49-F238E27FC236}">
                  <a16:creationId xmlns:a16="http://schemas.microsoft.com/office/drawing/2014/main" id="{5A49B0EB-F2A3-4B96-8083-F105447E84D2}"/>
                </a:ext>
              </a:extLst>
            </p:cNvPr>
            <p:cNvCxnSpPr/>
            <p:nvPr/>
          </p:nvCxnSpPr>
          <p:spPr bwMode="auto">
            <a:xfrm flipH="1">
              <a:off x="5868000" y="5760000"/>
              <a:ext cx="180000" cy="0"/>
            </a:xfrm>
            <a:prstGeom prst="line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sm"/>
              <a:tailEnd type="triangle" w="med" len="sm"/>
            </a:ln>
          </p:spPr>
        </p:cxnSp>
        <p:cxnSp>
          <p:nvCxnSpPr>
            <p:cNvPr id="102" name="直接连接符 101">
              <a:extLst>
                <a:ext uri="{FF2B5EF4-FFF2-40B4-BE49-F238E27FC236}">
                  <a16:creationId xmlns:a16="http://schemas.microsoft.com/office/drawing/2014/main" id="{99FBA1F6-298A-4C68-B8DD-4E89C04F930F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628000" y="4608000"/>
              <a:ext cx="1" cy="396000"/>
            </a:xfrm>
            <a:prstGeom prst="line">
              <a:avLst/>
            </a:prstGeom>
            <a:noFill/>
            <a:ln w="19050" cap="sq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 w="med" len="sm"/>
            </a:ln>
          </p:spPr>
        </p:cxnSp>
        <p:cxnSp>
          <p:nvCxnSpPr>
            <p:cNvPr id="103" name="直接连接符 102">
              <a:extLst>
                <a:ext uri="{FF2B5EF4-FFF2-40B4-BE49-F238E27FC236}">
                  <a16:creationId xmlns:a16="http://schemas.microsoft.com/office/drawing/2014/main" id="{A0ADBAD9-AE4B-4CDE-A2C3-55064E470E6E}"/>
                </a:ext>
              </a:extLst>
            </p:cNvPr>
            <p:cNvCxnSpPr/>
            <p:nvPr/>
          </p:nvCxnSpPr>
          <p:spPr bwMode="auto">
            <a:xfrm>
              <a:off x="7632000" y="4608000"/>
              <a:ext cx="0" cy="396000"/>
            </a:xfrm>
            <a:prstGeom prst="line">
              <a:avLst/>
            </a:prstGeom>
            <a:noFill/>
            <a:ln w="19050" cap="sq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 w="med" len="sm"/>
            </a:ln>
          </p:spPr>
        </p:cxnSp>
        <p:cxnSp>
          <p:nvCxnSpPr>
            <p:cNvPr id="104" name="直接连接符 103">
              <a:extLst>
                <a:ext uri="{FF2B5EF4-FFF2-40B4-BE49-F238E27FC236}">
                  <a16:creationId xmlns:a16="http://schemas.microsoft.com/office/drawing/2014/main" id="{854AA126-A247-4841-9D98-84CE4C03AF79}"/>
                </a:ext>
              </a:extLst>
            </p:cNvPr>
            <p:cNvCxnSpPr/>
            <p:nvPr/>
          </p:nvCxnSpPr>
          <p:spPr bwMode="auto">
            <a:xfrm>
              <a:off x="5508000" y="4680000"/>
              <a:ext cx="0" cy="324000"/>
            </a:xfrm>
            <a:prstGeom prst="line">
              <a:avLst/>
            </a:prstGeom>
            <a:noFill/>
            <a:ln w="19050" cap="flat" cmpd="sng" algn="ctr">
              <a:solidFill>
                <a:schemeClr val="accent2"/>
              </a:solidFill>
              <a:prstDash val="solid"/>
              <a:round/>
              <a:headEnd type="triangle" w="med" len="sm"/>
              <a:tailEnd type="triangle" w="med" len="sm"/>
            </a:ln>
          </p:spPr>
        </p:cxnSp>
        <p:sp>
          <p:nvSpPr>
            <p:cNvPr id="105" name="Text Box 61">
              <a:extLst>
                <a:ext uri="{FF2B5EF4-FFF2-40B4-BE49-F238E27FC236}">
                  <a16:creationId xmlns:a16="http://schemas.microsoft.com/office/drawing/2014/main" id="{8B3252BE-F847-4ED6-9245-C688F47FB0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72000" y="4608000"/>
              <a:ext cx="360000" cy="180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0" bIns="0" anchor="ctr" anchorCtr="0"/>
            <a:lstStyle/>
            <a:p>
              <a:pPr algn="ctr">
                <a:lnSpc>
                  <a:spcPct val="7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Bus</a:t>
              </a:r>
            </a:p>
          </p:txBody>
        </p:sp>
        <p:sp>
          <p:nvSpPr>
            <p:cNvPr id="106" name="立方体 105">
              <a:extLst>
                <a:ext uri="{FF2B5EF4-FFF2-40B4-BE49-F238E27FC236}">
                  <a16:creationId xmlns:a16="http://schemas.microsoft.com/office/drawing/2014/main" id="{91FAAB64-BCF2-47F8-A137-E34C221178EE}"/>
                </a:ext>
              </a:extLst>
            </p:cNvPr>
            <p:cNvSpPr/>
            <p:nvPr/>
          </p:nvSpPr>
          <p:spPr bwMode="auto">
            <a:xfrm>
              <a:off x="4968000" y="5760000"/>
              <a:ext cx="828000" cy="252000"/>
            </a:xfrm>
            <a:prstGeom prst="cube">
              <a:avLst>
                <a:gd name="adj" fmla="val 14090"/>
              </a:avLst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0" tIns="0" rIns="0" bIns="0" numCol="1" rtlCol="0" anchor="t" anchorCtr="0" compatLnSpc="1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I/O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端口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110" name="直接连接符 109">
              <a:extLst>
                <a:ext uri="{FF2B5EF4-FFF2-40B4-BE49-F238E27FC236}">
                  <a16:creationId xmlns:a16="http://schemas.microsoft.com/office/drawing/2014/main" id="{6FA1A79C-5993-433E-A91E-9AF96563311B}"/>
                </a:ext>
              </a:extLst>
            </p:cNvPr>
            <p:cNvCxnSpPr/>
            <p:nvPr/>
          </p:nvCxnSpPr>
          <p:spPr bwMode="auto">
            <a:xfrm>
              <a:off x="5508000" y="5472000"/>
              <a:ext cx="0" cy="288000"/>
            </a:xfrm>
            <a:prstGeom prst="line">
              <a:avLst/>
            </a:prstGeom>
            <a:noFill/>
            <a:ln w="19050" cap="flat" cmpd="sng" algn="ctr">
              <a:solidFill>
                <a:schemeClr val="accent2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111" name="直接连接符 110">
              <a:extLst>
                <a:ext uri="{FF2B5EF4-FFF2-40B4-BE49-F238E27FC236}">
                  <a16:creationId xmlns:a16="http://schemas.microsoft.com/office/drawing/2014/main" id="{9B77F51E-1A2F-4868-BB8A-A37F06E00894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112000" y="5184000"/>
              <a:ext cx="0" cy="57600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sm"/>
            </a:ln>
          </p:spPr>
        </p:cxnSp>
        <p:cxnSp>
          <p:nvCxnSpPr>
            <p:cNvPr id="113" name="直接连接符 112">
              <a:extLst>
                <a:ext uri="{FF2B5EF4-FFF2-40B4-BE49-F238E27FC236}">
                  <a16:creationId xmlns:a16="http://schemas.microsoft.com/office/drawing/2014/main" id="{D3F35ED4-292F-4D0B-A666-F558B71F678E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040000" y="5364000"/>
              <a:ext cx="0" cy="39600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sm"/>
            </a:ln>
          </p:spPr>
        </p:cxnSp>
        <p:sp>
          <p:nvSpPr>
            <p:cNvPr id="117" name="Rectangle 130">
              <a:extLst>
                <a:ext uri="{FF2B5EF4-FFF2-40B4-BE49-F238E27FC236}">
                  <a16:creationId xmlns:a16="http://schemas.microsoft.com/office/drawing/2014/main" id="{826095CD-6B2C-47FA-9252-30470615CB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88000" y="5004000"/>
              <a:ext cx="396000" cy="1080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vert="eaVert" wrap="none"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+mn-ea"/>
                  <a:ea typeface="+mn-ea"/>
                </a:rPr>
                <a:t>I/O</a:t>
              </a:r>
              <a:r>
                <a:rPr lang="zh-CN" altLang="en-US" sz="1600" b="1" dirty="0">
                  <a:latin typeface="+mn-ea"/>
                  <a:ea typeface="+mn-ea"/>
                </a:rPr>
                <a:t>接口</a:t>
              </a:r>
            </a:p>
          </p:txBody>
        </p:sp>
        <p:sp>
          <p:nvSpPr>
            <p:cNvPr id="132" name="Text Box 113">
              <a:extLst>
                <a:ext uri="{FF2B5EF4-FFF2-40B4-BE49-F238E27FC236}">
                  <a16:creationId xmlns:a16="http://schemas.microsoft.com/office/drawing/2014/main" id="{99E104CD-5E50-491E-89CC-C66C0F6420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64000" y="5220000"/>
              <a:ext cx="252000" cy="8640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vert="eaVert" lIns="0" tIns="0" rIns="0" bIns="0" anchor="ctr" anchorCtr="1"/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设备硬件</a:t>
              </a:r>
            </a:p>
          </p:txBody>
        </p:sp>
        <p:cxnSp>
          <p:nvCxnSpPr>
            <p:cNvPr id="133" name="直接连接符 132">
              <a:extLst>
                <a:ext uri="{FF2B5EF4-FFF2-40B4-BE49-F238E27FC236}">
                  <a16:creationId xmlns:a16="http://schemas.microsoft.com/office/drawing/2014/main" id="{661D62C0-740C-4803-891D-318E2313A9A6}"/>
                </a:ext>
              </a:extLst>
            </p:cNvPr>
            <p:cNvCxnSpPr/>
            <p:nvPr/>
          </p:nvCxnSpPr>
          <p:spPr bwMode="auto">
            <a:xfrm>
              <a:off x="6984000" y="5544000"/>
              <a:ext cx="180000" cy="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sm"/>
              <a:tailEnd type="triangle" w="med" len="sm"/>
            </a:ln>
          </p:spPr>
        </p:cxnSp>
        <p:cxnSp>
          <p:nvCxnSpPr>
            <p:cNvPr id="134" name="直接连接符 133">
              <a:extLst>
                <a:ext uri="{FF2B5EF4-FFF2-40B4-BE49-F238E27FC236}">
                  <a16:creationId xmlns:a16="http://schemas.microsoft.com/office/drawing/2014/main" id="{1064873D-C669-4A40-B0E4-40106A54DEAD}"/>
                </a:ext>
              </a:extLst>
            </p:cNvPr>
            <p:cNvCxnSpPr/>
            <p:nvPr/>
          </p:nvCxnSpPr>
          <p:spPr bwMode="auto">
            <a:xfrm>
              <a:off x="6984000" y="5652000"/>
              <a:ext cx="180000" cy="0"/>
            </a:xfrm>
            <a:prstGeom prst="line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triangle" w="med" len="sm"/>
              <a:tailEnd type="triangle" w="med" len="sm"/>
            </a:ln>
          </p:spPr>
        </p:cxnSp>
        <p:cxnSp>
          <p:nvCxnSpPr>
            <p:cNvPr id="144" name="直接连接符 143">
              <a:extLst>
                <a:ext uri="{FF2B5EF4-FFF2-40B4-BE49-F238E27FC236}">
                  <a16:creationId xmlns:a16="http://schemas.microsoft.com/office/drawing/2014/main" id="{09641F92-E0A4-41B6-8522-6B705BC10807}"/>
                </a:ext>
              </a:extLst>
            </p:cNvPr>
            <p:cNvCxnSpPr/>
            <p:nvPr/>
          </p:nvCxnSpPr>
          <p:spPr bwMode="auto">
            <a:xfrm flipH="1">
              <a:off x="6984000" y="5760000"/>
              <a:ext cx="180000" cy="0"/>
            </a:xfrm>
            <a:prstGeom prst="line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sm"/>
              <a:tailEnd type="triangle" w="med" len="sm"/>
            </a:ln>
          </p:spPr>
        </p:cxnSp>
        <p:cxnSp>
          <p:nvCxnSpPr>
            <p:cNvPr id="145" name="直接连接符 144">
              <a:extLst>
                <a:ext uri="{FF2B5EF4-FFF2-40B4-BE49-F238E27FC236}">
                  <a16:creationId xmlns:a16="http://schemas.microsoft.com/office/drawing/2014/main" id="{4A5D5653-70F2-4C9B-965D-7D4A7EFDF58F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6660536" y="4608000"/>
              <a:ext cx="1" cy="396000"/>
            </a:xfrm>
            <a:prstGeom prst="line">
              <a:avLst/>
            </a:prstGeom>
            <a:noFill/>
            <a:ln w="19050" cap="sq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 w="med" len="sm"/>
            </a:ln>
          </p:spPr>
        </p:cxnSp>
        <p:cxnSp>
          <p:nvCxnSpPr>
            <p:cNvPr id="146" name="直接连接符 145">
              <a:extLst>
                <a:ext uri="{FF2B5EF4-FFF2-40B4-BE49-F238E27FC236}">
                  <a16:creationId xmlns:a16="http://schemas.microsoft.com/office/drawing/2014/main" id="{89D250AC-504F-4BAF-873D-B7D502161E47}"/>
                </a:ext>
              </a:extLst>
            </p:cNvPr>
            <p:cNvCxnSpPr/>
            <p:nvPr/>
          </p:nvCxnSpPr>
          <p:spPr bwMode="auto">
            <a:xfrm>
              <a:off x="6912000" y="4680000"/>
              <a:ext cx="0" cy="324000"/>
            </a:xfrm>
            <a:prstGeom prst="line">
              <a:avLst/>
            </a:prstGeom>
            <a:noFill/>
            <a:ln w="19050" cap="flat" cmpd="sng" algn="ctr">
              <a:solidFill>
                <a:schemeClr val="accent2"/>
              </a:solidFill>
              <a:prstDash val="solid"/>
              <a:round/>
              <a:headEnd type="triangle" w="med" len="sm"/>
              <a:tailEnd type="triangle" w="med" len="sm"/>
            </a:ln>
          </p:spPr>
        </p:cxnSp>
        <p:cxnSp>
          <p:nvCxnSpPr>
            <p:cNvPr id="147" name="直接连接符 146">
              <a:extLst>
                <a:ext uri="{FF2B5EF4-FFF2-40B4-BE49-F238E27FC236}">
                  <a16:creationId xmlns:a16="http://schemas.microsoft.com/office/drawing/2014/main" id="{AF171CB6-6BE2-46C1-B875-B030CE9E8054}"/>
                </a:ext>
              </a:extLst>
            </p:cNvPr>
            <p:cNvCxnSpPr/>
            <p:nvPr/>
          </p:nvCxnSpPr>
          <p:spPr bwMode="auto">
            <a:xfrm>
              <a:off x="6768314" y="4752000"/>
              <a:ext cx="1" cy="252000"/>
            </a:xfrm>
            <a:prstGeom prst="line">
              <a:avLst/>
            </a:prstGeom>
            <a:noFill/>
            <a:ln w="12700" cap="sq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sm"/>
            </a:ln>
          </p:spPr>
        </p:cxnSp>
        <p:cxnSp>
          <p:nvCxnSpPr>
            <p:cNvPr id="148" name="直接连接符 147">
              <a:extLst>
                <a:ext uri="{FF2B5EF4-FFF2-40B4-BE49-F238E27FC236}">
                  <a16:creationId xmlns:a16="http://schemas.microsoft.com/office/drawing/2014/main" id="{82472773-58D3-4854-A46E-42E47B1F34FA}"/>
                </a:ext>
              </a:extLst>
            </p:cNvPr>
            <p:cNvCxnSpPr/>
            <p:nvPr/>
          </p:nvCxnSpPr>
          <p:spPr bwMode="auto">
            <a:xfrm>
              <a:off x="6840000" y="4752000"/>
              <a:ext cx="0" cy="252000"/>
            </a:xfrm>
            <a:prstGeom prst="line">
              <a:avLst/>
            </a:prstGeom>
            <a:noFill/>
            <a:ln w="12700" cap="sq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sm"/>
            </a:ln>
          </p:spPr>
        </p:cxnSp>
        <p:sp>
          <p:nvSpPr>
            <p:cNvPr id="149" name="Text Box 271">
              <a:extLst>
                <a:ext uri="{FF2B5EF4-FFF2-40B4-BE49-F238E27FC236}">
                  <a16:creationId xmlns:a16="http://schemas.microsoft.com/office/drawing/2014/main" id="{A661B805-AE43-4E65-AA82-E97ECC7EFE91}"/>
                </a:ext>
              </a:extLst>
            </p:cNvPr>
            <p:cNvSpPr txBox="1"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6300224" y="5508000"/>
              <a:ext cx="288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80000"/>
                </a:lnSpc>
              </a:pPr>
              <a:r>
                <a:rPr lang="en-US" altLang="zh-CN" sz="1600" b="1" dirty="0">
                  <a:latin typeface="+mn-ea"/>
                  <a:ea typeface="+mn-ea"/>
                </a:rPr>
                <a:t>…</a:t>
              </a:r>
            </a:p>
          </p:txBody>
        </p:sp>
        <p:cxnSp>
          <p:nvCxnSpPr>
            <p:cNvPr id="150" name="直接连接符 149">
              <a:extLst>
                <a:ext uri="{FF2B5EF4-FFF2-40B4-BE49-F238E27FC236}">
                  <a16:creationId xmlns:a16="http://schemas.microsoft.com/office/drawing/2014/main" id="{25F925DC-757F-4FC0-86FC-EE28ED2CA7E4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992000" y="4752000"/>
              <a:ext cx="0" cy="50400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sm"/>
            </a:ln>
          </p:spPr>
        </p:cxnSp>
        <p:cxnSp>
          <p:nvCxnSpPr>
            <p:cNvPr id="151" name="直接连接符 150">
              <a:extLst>
                <a:ext uri="{FF2B5EF4-FFF2-40B4-BE49-F238E27FC236}">
                  <a16:creationId xmlns:a16="http://schemas.microsoft.com/office/drawing/2014/main" id="{E1892E20-145A-4758-904A-4ED317024FC6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7846447" y="5256000"/>
              <a:ext cx="144000" cy="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sm"/>
            </a:ln>
          </p:spPr>
        </p:cxnSp>
        <p:cxnSp>
          <p:nvCxnSpPr>
            <p:cNvPr id="152" name="直接连接符 151">
              <a:extLst>
                <a:ext uri="{FF2B5EF4-FFF2-40B4-BE49-F238E27FC236}">
                  <a16:creationId xmlns:a16="http://schemas.microsoft.com/office/drawing/2014/main" id="{416EDBF3-88A4-4FD0-9395-BC298F03A7BC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7848000" y="5328000"/>
              <a:ext cx="216000" cy="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sm"/>
            </a:ln>
          </p:spPr>
        </p:cxnSp>
        <p:cxnSp>
          <p:nvCxnSpPr>
            <p:cNvPr id="153" name="直接连接符 152">
              <a:extLst>
                <a:ext uri="{FF2B5EF4-FFF2-40B4-BE49-F238E27FC236}">
                  <a16:creationId xmlns:a16="http://schemas.microsoft.com/office/drawing/2014/main" id="{EABDDFFC-5B1E-4AC6-BB58-A117AAD58E62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8064000" y="4752000"/>
              <a:ext cx="0" cy="57600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sm"/>
            </a:ln>
          </p:spPr>
        </p:cxnSp>
      </p:grpSp>
      <p:sp>
        <p:nvSpPr>
          <p:cNvPr id="74" name="Text Box 65"/>
          <p:cNvSpPr txBox="1">
            <a:spLocks noChangeArrowheads="1"/>
          </p:cNvSpPr>
          <p:nvPr/>
        </p:nvSpPr>
        <p:spPr bwMode="auto">
          <a:xfrm>
            <a:off x="152275" y="1196752"/>
            <a:ext cx="5643861" cy="2265557"/>
          </a:xfrm>
          <a:prstGeom prst="rect">
            <a:avLst/>
          </a:prstGeom>
          <a:noFill/>
          <a:ln w="38100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*I/O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端口地址的组成：</a:t>
            </a: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I/O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接口的标识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</a:p>
          <a:p>
            <a:pPr algn="l">
              <a:lnSpc>
                <a:spcPct val="125000"/>
              </a:lnSpc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600"/>
              </a:spcBef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I/O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端口地址组成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</a:p>
          <a:p>
            <a:pPr algn="l">
              <a:lnSpc>
                <a:spcPct val="125000"/>
              </a:lnSpc>
              <a:spcBef>
                <a:spcPts val="300"/>
              </a:spcBef>
            </a:pP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I/O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接口的</a:t>
            </a:r>
            <a:r>
              <a:rPr lang="zh-CN" altLang="en-US" sz="2200" b="1" spc="-100" dirty="0">
                <a:solidFill>
                  <a:srgbClr val="C00000"/>
                </a:solidFill>
                <a:latin typeface="宋体" panose="02010600030101010101" pitchFamily="2" charset="-122"/>
              </a:rPr>
              <a:t>识别方法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： 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以独立编址方式为例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endParaRPr lang="zh-CN" altLang="en-US" sz="2000" b="1" dirty="0">
              <a:latin typeface="+mn-ea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BFB63-B979-4FAE-8763-D7093A979077}" type="slidenum">
              <a:rPr lang="en-US" altLang="zh-CN" smtClean="0"/>
              <a:t>7</a:t>
            </a:fld>
            <a:endParaRPr lang="en-US" altLang="zh-CN"/>
          </a:p>
        </p:txBody>
      </p:sp>
      <p:sp>
        <p:nvSpPr>
          <p:cNvPr id="3" name="Text Box 65"/>
          <p:cNvSpPr txBox="1">
            <a:spLocks noChangeArrowheads="1"/>
          </p:cNvSpPr>
          <p:nvPr/>
        </p:nvSpPr>
        <p:spPr bwMode="auto">
          <a:xfrm>
            <a:off x="152275" y="331200"/>
            <a:ext cx="8812213" cy="880562"/>
          </a:xfrm>
          <a:prstGeom prst="rect">
            <a:avLst/>
          </a:prstGeom>
          <a:noFill/>
          <a:ln w="38100">
            <a:noFill/>
            <a:miter lim="800000"/>
          </a:ln>
          <a:effectLst/>
        </p:spPr>
        <p:txBody>
          <a:bodyPr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(3)</a:t>
            </a:r>
            <a:r>
              <a:rPr lang="zh-CN" altLang="en-US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外设的识别</a:t>
            </a:r>
            <a:r>
              <a:rPr lang="en-US" altLang="zh-CN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   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总线操作的目标设备识别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</a:rPr>
              <a:t>)</a:t>
            </a:r>
            <a:endParaRPr lang="en-US" altLang="zh-CN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需求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r>
              <a:rPr lang="en-US" altLang="zh-CN" sz="2200" b="1" spc="-100" dirty="0">
                <a:latin typeface="宋体" panose="02010600030101010101" pitchFamily="2" charset="-122"/>
              </a:rPr>
              <a:t>I/O</a:t>
            </a:r>
            <a:r>
              <a:rPr lang="zh-CN" altLang="en-US" sz="2200" b="1" spc="-100" dirty="0">
                <a:latin typeface="宋体" panose="02010600030101010101" pitchFamily="2" charset="-122"/>
              </a:rPr>
              <a:t>接口</a:t>
            </a:r>
            <a:r>
              <a:rPr lang="en-US" altLang="zh-CN" sz="1800" b="1" spc="-100" dirty="0">
                <a:latin typeface="宋体" panose="02010600030101010101" pitchFamily="2" charset="-122"/>
              </a:rPr>
              <a:t>(</a:t>
            </a:r>
            <a:r>
              <a:rPr lang="zh-CN" altLang="en-US" sz="1800" b="1" spc="-100" dirty="0">
                <a:latin typeface="宋体" panose="02010600030101010101" pitchFamily="2" charset="-122"/>
              </a:rPr>
              <a:t>从设备</a:t>
            </a:r>
            <a:r>
              <a:rPr lang="en-US" altLang="zh-CN" sz="1800" b="1" spc="-100" dirty="0">
                <a:latin typeface="宋体" panose="02010600030101010101" pitchFamily="2" charset="-122"/>
              </a:rPr>
              <a:t>)</a:t>
            </a:r>
            <a:r>
              <a:rPr lang="zh-CN" altLang="en-US" sz="2200" b="1" u="sng" spc="-100" dirty="0">
                <a:solidFill>
                  <a:srgbClr val="990099"/>
                </a:solidFill>
                <a:latin typeface="宋体" panose="02010600030101010101" pitchFamily="2" charset="-122"/>
              </a:rPr>
              <a:t>主动识别</a:t>
            </a:r>
            <a:r>
              <a:rPr lang="en-US" altLang="zh-CN" sz="2200" b="1" u="sng" spc="-100" dirty="0">
                <a:solidFill>
                  <a:srgbClr val="990099"/>
                </a:solidFill>
                <a:latin typeface="宋体" panose="02010600030101010101" pitchFamily="2" charset="-122"/>
              </a:rPr>
              <a:t>&amp;</a:t>
            </a:r>
            <a:r>
              <a:rPr lang="zh-CN" altLang="en-US" sz="2200" b="1" u="sng" spc="-100" dirty="0">
                <a:solidFill>
                  <a:srgbClr val="990099"/>
                </a:solidFill>
                <a:latin typeface="宋体" panose="02010600030101010101" pitchFamily="2" charset="-122"/>
              </a:rPr>
              <a:t>响应</a:t>
            </a:r>
            <a:r>
              <a:rPr lang="zh-CN" altLang="en-US" sz="2200" b="1" spc="-100" dirty="0">
                <a:latin typeface="宋体" panose="02010600030101010101" pitchFamily="2" charset="-122"/>
              </a:rPr>
              <a:t>总线操作</a:t>
            </a:r>
            <a:r>
              <a:rPr lang="en-US" altLang="zh-CN" sz="1800" b="1" spc="-100" dirty="0">
                <a:latin typeface="宋体" panose="02010600030101010101" pitchFamily="2" charset="-122"/>
              </a:rPr>
              <a:t>    ←</a:t>
            </a:r>
            <a:r>
              <a:rPr lang="zh-CN" altLang="en-US" sz="1800" b="1" spc="-100" dirty="0">
                <a:latin typeface="宋体" panose="02010600030101010101" pitchFamily="2" charset="-122"/>
              </a:rPr>
              <a:t>总线传输协议所要求</a:t>
            </a:r>
            <a:endParaRPr lang="zh-CN" altLang="en-US" sz="1600" b="1" spc="-100" dirty="0">
              <a:latin typeface="宋体" panose="02010600030101010101" pitchFamily="2" charset="-122"/>
            </a:endParaRPr>
          </a:p>
        </p:txBody>
      </p:sp>
      <p:sp>
        <p:nvSpPr>
          <p:cNvPr id="67" name="AutoShape 121">
            <a:hlinkClick r:id="rId4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5148758" y="6523558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" name="AutoShape 121">
            <a:hlinkClick r:id="rId5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2915816" y="6524451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3" name="Text Box 67"/>
          <p:cNvSpPr txBox="1">
            <a:spLocks noChangeArrowheads="1"/>
          </p:cNvSpPr>
          <p:nvPr/>
        </p:nvSpPr>
        <p:spPr bwMode="auto">
          <a:xfrm>
            <a:off x="179263" y="3429000"/>
            <a:ext cx="8785225" cy="764825"/>
          </a:xfrm>
          <a:prstGeom prst="rect">
            <a:avLst/>
          </a:prstGeom>
          <a:noFill/>
          <a:ln w="38100">
            <a:noFill/>
            <a:miter lim="800000"/>
          </a:ln>
          <a:effectLst/>
        </p:spPr>
        <p:txBody>
          <a:bodyPr anchor="ctr" anchorCtr="0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sz="2200" b="1" spc="-50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u="sng" spc="-100" dirty="0">
                <a:solidFill>
                  <a:schemeClr val="accent2"/>
                </a:solidFill>
                <a:latin typeface="宋体" panose="02010600030101010101" pitchFamily="2" charset="-122"/>
              </a:rPr>
              <a:t>监视</a:t>
            </a:r>
            <a:r>
              <a:rPr lang="zh-CN" altLang="en-US" sz="2200" b="1" spc="-100" dirty="0">
                <a:latin typeface="宋体" panose="02010600030101010101" pitchFamily="2" charset="-122"/>
              </a:rPr>
              <a:t>总线状态，</a:t>
            </a:r>
            <a:r>
              <a:rPr lang="zh-CN" altLang="en-US" sz="2200" b="1" u="sng" spc="-100" dirty="0">
                <a:solidFill>
                  <a:srgbClr val="990099"/>
                </a:solidFill>
                <a:latin typeface="宋体" panose="02010600030101010101" pitchFamily="2" charset="-122"/>
              </a:rPr>
              <a:t>有</a:t>
            </a:r>
            <a:r>
              <a:rPr lang="en-US" altLang="zh-CN" sz="2200" b="1" u="sng" spc="-100" dirty="0">
                <a:solidFill>
                  <a:srgbClr val="990099"/>
                </a:solidFill>
                <a:latin typeface="宋体" panose="02010600030101010101" pitchFamily="2" charset="-122"/>
              </a:rPr>
              <a:t>I/O</a:t>
            </a:r>
            <a:r>
              <a:rPr lang="zh-CN" altLang="en-US" sz="2200" b="1" u="sng" spc="-100" dirty="0">
                <a:solidFill>
                  <a:srgbClr val="990099"/>
                </a:solidFill>
                <a:latin typeface="宋体" panose="02010600030101010101" pitchFamily="2" charset="-122"/>
              </a:rPr>
              <a:t>事务</a:t>
            </a:r>
            <a:r>
              <a:rPr lang="zh-CN" altLang="en-US" sz="2200" b="1" spc="-100" dirty="0">
                <a:latin typeface="宋体" panose="02010600030101010101" pitchFamily="2" charset="-122"/>
              </a:rPr>
              <a:t>时，</a:t>
            </a:r>
            <a:r>
              <a:rPr lang="zh-CN" altLang="en-US" sz="2200" b="1" u="sng" spc="-100" dirty="0">
                <a:solidFill>
                  <a:schemeClr val="accent2"/>
                </a:solidFill>
                <a:latin typeface="宋体" panose="02010600030101010101" pitchFamily="2" charset="-122"/>
              </a:rPr>
              <a:t>比较</a:t>
            </a:r>
            <a:r>
              <a:rPr lang="zh-CN" altLang="en-US" sz="2200" b="1" spc="-100" dirty="0">
                <a:latin typeface="宋体" panose="02010600030101010101" pitchFamily="2" charset="-122"/>
              </a:rPr>
              <a:t>总线上</a:t>
            </a:r>
            <a:r>
              <a:rPr lang="zh-CN" altLang="en-US" sz="2200" b="1" u="sng" spc="-100" dirty="0">
                <a:latin typeface="宋体" panose="02010600030101010101" pitchFamily="2" charset="-122"/>
              </a:rPr>
              <a:t>地址高位</a:t>
            </a:r>
            <a:r>
              <a:rPr lang="zh-CN" altLang="en-US" sz="2200" b="1" spc="-100" dirty="0">
                <a:latin typeface="宋体" panose="02010600030101010101" pitchFamily="2" charset="-122"/>
              </a:rPr>
              <a:t>与设备号</a:t>
            </a:r>
            <a:endParaRPr lang="en-US" altLang="zh-CN" sz="2200" b="1" spc="-100" dirty="0">
              <a:latin typeface="宋体" panose="02010600030101010101" pitchFamily="2" charset="-122"/>
            </a:endParaRPr>
          </a:p>
          <a:p>
            <a:pPr algn="l">
              <a:lnSpc>
                <a:spcPct val="90000"/>
              </a:lnSpc>
            </a:pPr>
            <a:r>
              <a:rPr lang="zh-CN" altLang="en-US" sz="1800" b="1" dirty="0">
                <a:latin typeface="宋体" panose="02010600030101010101" pitchFamily="2" charset="-122"/>
              </a:rPr>
              <a:t>      </a:t>
            </a:r>
            <a:r>
              <a:rPr lang="zh-CN" altLang="en-US" sz="1800" dirty="0">
                <a:latin typeface="宋体" panose="02010600030101010101" pitchFamily="2" charset="-122"/>
              </a:rPr>
              <a:t>└</a:t>
            </a:r>
            <a:r>
              <a:rPr lang="zh-CN" altLang="en-US" sz="1800" b="1" dirty="0">
                <a:latin typeface="+mn-ea"/>
              </a:rPr>
              <a:t>←</a:t>
            </a:r>
            <a:r>
              <a:rPr lang="en-US" altLang="zh-CN" sz="1800" b="1" dirty="0">
                <a:latin typeface="宋体" panose="02010600030101010101" pitchFamily="2" charset="-122"/>
              </a:rPr>
              <a:t>IOR#</a:t>
            </a:r>
            <a:r>
              <a:rPr lang="zh-CN" altLang="en-US" sz="1800" b="1" dirty="0">
                <a:latin typeface="宋体" panose="02010600030101010101" pitchFamily="2" charset="-122"/>
                <a:sym typeface="Symbol" panose="05050102010706020507"/>
              </a:rPr>
              <a:t></a:t>
            </a:r>
            <a:r>
              <a:rPr lang="en-US" altLang="zh-CN" sz="1800" b="1" dirty="0">
                <a:latin typeface="宋体" panose="02010600030101010101" pitchFamily="2" charset="-122"/>
              </a:rPr>
              <a:t>IOW#</a:t>
            </a:r>
            <a:r>
              <a:rPr lang="zh-CN" altLang="en-US" sz="1800" b="1" dirty="0">
                <a:latin typeface="宋体" panose="02010600030101010101" pitchFamily="2" charset="-122"/>
              </a:rPr>
              <a:t>＝</a:t>
            </a:r>
            <a:r>
              <a:rPr lang="en-US" altLang="zh-CN" sz="1800" b="1" dirty="0">
                <a:latin typeface="宋体" panose="02010600030101010101" pitchFamily="2" charset="-122"/>
              </a:rPr>
              <a:t>1</a:t>
            </a:r>
            <a:r>
              <a:rPr lang="zh-CN" altLang="en-US" sz="1800" b="1" dirty="0">
                <a:latin typeface="宋体" panose="02010600030101010101" pitchFamily="2" charset="-122"/>
              </a:rPr>
              <a:t>时→</a:t>
            </a:r>
            <a:r>
              <a:rPr lang="zh-CN" altLang="en-US" sz="1800" dirty="0">
                <a:latin typeface="宋体" panose="02010600030101010101" pitchFamily="2" charset="-122"/>
              </a:rPr>
              <a:t>┘</a:t>
            </a:r>
            <a:endParaRPr lang="zh-CN" altLang="en-US" sz="1800" spc="-100" dirty="0">
              <a:latin typeface="宋体" panose="02010600030101010101" pitchFamily="2" charset="-122"/>
            </a:endParaRPr>
          </a:p>
        </p:txBody>
      </p:sp>
      <p:sp>
        <p:nvSpPr>
          <p:cNvPr id="76" name="Text Box 65"/>
          <p:cNvSpPr txBox="1">
            <a:spLocks noChangeArrowheads="1"/>
          </p:cNvSpPr>
          <p:nvPr/>
        </p:nvSpPr>
        <p:spPr bwMode="auto">
          <a:xfrm>
            <a:off x="2888580" y="1628800"/>
            <a:ext cx="6147916" cy="1378391"/>
          </a:xfrm>
          <a:prstGeom prst="rect">
            <a:avLst/>
          </a:prstGeom>
          <a:noFill/>
          <a:ln w="38100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sz="2200" b="1" dirty="0">
                <a:latin typeface="宋体" panose="02010600030101010101" pitchFamily="2" charset="-122"/>
              </a:rPr>
              <a:t>每个仅</a:t>
            </a:r>
            <a:r>
              <a:rPr lang="zh-CN" altLang="en-US" sz="2200" b="1" u="sng" dirty="0">
                <a:solidFill>
                  <a:srgbClr val="0070C0"/>
                </a:solidFill>
                <a:latin typeface="宋体" panose="02010600030101010101" pitchFamily="2" charset="-122"/>
              </a:rPr>
              <a:t>连接一个</a:t>
            </a:r>
            <a:r>
              <a:rPr lang="zh-CN" altLang="en-US" sz="2200" b="1" dirty="0">
                <a:latin typeface="宋体" panose="02010600030101010101" pitchFamily="2" charset="-122"/>
              </a:rPr>
              <a:t>外设，用</a:t>
            </a:r>
            <a:r>
              <a:rPr lang="zh-CN" altLang="en-US" sz="2200" b="1" u="sng" dirty="0">
                <a:solidFill>
                  <a:srgbClr val="0070C0"/>
                </a:solidFill>
                <a:latin typeface="宋体" panose="02010600030101010101" pitchFamily="2" charset="-122"/>
              </a:rPr>
              <a:t>设备号</a:t>
            </a:r>
            <a:r>
              <a:rPr lang="zh-CN" altLang="en-US" sz="2200" b="1" dirty="0">
                <a:latin typeface="宋体" panose="02010600030101010101" pitchFamily="2" charset="-122"/>
              </a:rPr>
              <a:t>表示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跳线</a:t>
            </a:r>
            <a:r>
              <a:rPr lang="en-US" altLang="zh-CN" sz="1800" b="1" dirty="0">
                <a:latin typeface="宋体" panose="02010600030101010101" pitchFamily="2" charset="-122"/>
              </a:rPr>
              <a:t>/REG)</a:t>
            </a:r>
          </a:p>
          <a:p>
            <a:pPr algn="l">
              <a:lnSpc>
                <a:spcPct val="125000"/>
              </a:lnSpc>
              <a:spcBef>
                <a:spcPts val="400"/>
              </a:spcBef>
            </a:pPr>
            <a:r>
              <a:rPr lang="zh-CN" altLang="en-US" sz="2200" b="1" dirty="0">
                <a:latin typeface="宋体" panose="02010600030101010101" pitchFamily="2" charset="-122"/>
              </a:rPr>
              <a:t>常含</a:t>
            </a:r>
            <a:r>
              <a:rPr lang="zh-CN" altLang="en-US" sz="2200" b="1" u="sng" dirty="0">
                <a:solidFill>
                  <a:srgbClr val="0070C0"/>
                </a:solidFill>
                <a:latin typeface="宋体" panose="02010600030101010101" pitchFamily="2" charset="-122"/>
              </a:rPr>
              <a:t>多个</a:t>
            </a:r>
            <a:r>
              <a:rPr lang="en-US" altLang="zh-CN" sz="2200" b="1" dirty="0">
                <a:latin typeface="宋体" panose="02010600030101010101" pitchFamily="2" charset="-122"/>
              </a:rPr>
              <a:t>I/O</a:t>
            </a:r>
            <a:r>
              <a:rPr lang="zh-CN" altLang="en-US" sz="2200" b="1" dirty="0">
                <a:latin typeface="宋体" panose="02010600030101010101" pitchFamily="2" charset="-122"/>
              </a:rPr>
              <a:t>端口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数据</a:t>
            </a:r>
            <a:r>
              <a:rPr lang="en-US" altLang="zh-CN" sz="1800" b="1" dirty="0">
                <a:latin typeface="宋体" panose="02010600030101010101" pitchFamily="2" charset="-122"/>
              </a:rPr>
              <a:t>/</a:t>
            </a:r>
            <a:r>
              <a:rPr lang="zh-CN" altLang="en-US" sz="1800" b="1" dirty="0">
                <a:latin typeface="宋体" panose="02010600030101010101" pitchFamily="2" charset="-122"/>
              </a:rPr>
              <a:t>状态</a:t>
            </a:r>
            <a:r>
              <a:rPr lang="en-US" altLang="zh-CN" sz="1800" b="1" dirty="0">
                <a:latin typeface="宋体" panose="02010600030101010101" pitchFamily="2" charset="-122"/>
              </a:rPr>
              <a:t>/</a:t>
            </a:r>
            <a:r>
              <a:rPr lang="zh-CN" altLang="en-US" sz="1800" b="1" dirty="0">
                <a:latin typeface="宋体" panose="02010600030101010101" pitchFamily="2" charset="-122"/>
              </a:rPr>
              <a:t>命令</a:t>
            </a:r>
            <a:r>
              <a:rPr lang="en-US" altLang="zh-CN" sz="1800" b="1" dirty="0">
                <a:latin typeface="宋体" panose="02010600030101010101" pitchFamily="2" charset="-122"/>
              </a:rPr>
              <a:t>)  </a:t>
            </a:r>
            <a:r>
              <a:rPr lang="zh-CN" altLang="en-US" sz="1800" b="1" dirty="0">
                <a:latin typeface="宋体" panose="02010600030101010101" pitchFamily="2" charset="-122"/>
              </a:rPr>
              <a:t> ←取决于设备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400"/>
              </a:spcBef>
            </a:pPr>
            <a:r>
              <a:rPr lang="en-US" altLang="zh-CN" sz="1800" b="1" dirty="0">
                <a:latin typeface="宋体" panose="02010600030101010101" pitchFamily="2" charset="-122"/>
              </a:rPr>
              <a:t>                            </a:t>
            </a:r>
            <a:r>
              <a:rPr lang="en-US" altLang="zh-CN" sz="1600" b="1" dirty="0">
                <a:latin typeface="宋体" panose="02010600030101010101" pitchFamily="2" charset="-122"/>
              </a:rPr>
              <a:t>      </a:t>
            </a:r>
            <a:r>
              <a:rPr lang="zh-CN" altLang="en-US" sz="1800" b="1" dirty="0">
                <a:latin typeface="宋体" panose="02010600030101010101" pitchFamily="2" charset="-122"/>
              </a:rPr>
              <a:t>←端口地址宜</a:t>
            </a:r>
            <a:r>
              <a:rPr lang="zh-CN" altLang="en-US" sz="1800" b="1" u="sng" dirty="0">
                <a:solidFill>
                  <a:srgbClr val="0070C0"/>
                </a:solidFill>
                <a:latin typeface="宋体" panose="02010600030101010101" pitchFamily="2" charset="-122"/>
              </a:rPr>
              <a:t>连续</a:t>
            </a:r>
            <a:endParaRPr lang="zh-CN" altLang="en-US" sz="1600" b="1" u="sng" dirty="0">
              <a:solidFill>
                <a:srgbClr val="0070C0"/>
              </a:solidFill>
              <a:latin typeface="宋体" panose="02010600030101010101" pitchFamily="2" charset="-122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3275856" y="2636912"/>
            <a:ext cx="2448272" cy="288000"/>
            <a:chOff x="4355976" y="6093296"/>
            <a:chExt cx="2448272" cy="329179"/>
          </a:xfrm>
        </p:grpSpPr>
        <p:sp>
          <p:nvSpPr>
            <p:cNvPr id="8" name="Text Box 10"/>
            <p:cNvSpPr txBox="1">
              <a:spLocks noChangeArrowheads="1"/>
            </p:cNvSpPr>
            <p:nvPr/>
          </p:nvSpPr>
          <p:spPr bwMode="auto">
            <a:xfrm>
              <a:off x="4355976" y="6093296"/>
              <a:ext cx="1295475" cy="329179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设备号</a:t>
              </a:r>
            </a:p>
          </p:txBody>
        </p:sp>
        <p:sp>
          <p:nvSpPr>
            <p:cNvPr id="9" name="Text Box 11"/>
            <p:cNvSpPr txBox="1">
              <a:spLocks noChangeArrowheads="1"/>
            </p:cNvSpPr>
            <p:nvPr/>
          </p:nvSpPr>
          <p:spPr bwMode="auto">
            <a:xfrm>
              <a:off x="5651451" y="6093296"/>
              <a:ext cx="1152797" cy="329179"/>
            </a:xfrm>
            <a:prstGeom prst="rect">
              <a:avLst/>
            </a:prstGeom>
            <a:solidFill>
              <a:srgbClr val="CC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内部序号</a:t>
              </a:r>
            </a:p>
          </p:txBody>
        </p:sp>
      </p:grpSp>
      <p:grpSp>
        <p:nvGrpSpPr>
          <p:cNvPr id="155" name="组合 154">
            <a:extLst>
              <a:ext uri="{FF2B5EF4-FFF2-40B4-BE49-F238E27FC236}">
                <a16:creationId xmlns:a16="http://schemas.microsoft.com/office/drawing/2014/main" id="{26D5F7B3-8986-49D8-859E-4AE0BCE8D7CA}"/>
              </a:ext>
            </a:extLst>
          </p:cNvPr>
          <p:cNvGrpSpPr/>
          <p:nvPr/>
        </p:nvGrpSpPr>
        <p:grpSpPr>
          <a:xfrm>
            <a:off x="3096000" y="4617088"/>
            <a:ext cx="2016000" cy="900000"/>
            <a:chOff x="3096000" y="3024000"/>
            <a:chExt cx="2016000" cy="900000"/>
          </a:xfrm>
        </p:grpSpPr>
        <p:sp>
          <p:nvSpPr>
            <p:cNvPr id="156" name="Rectangle 130">
              <a:extLst>
                <a:ext uri="{FF2B5EF4-FFF2-40B4-BE49-F238E27FC236}">
                  <a16:creationId xmlns:a16="http://schemas.microsoft.com/office/drawing/2014/main" id="{47B9B418-CECA-4BE4-8276-CD36D09E0B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96000" y="3024000"/>
              <a:ext cx="1800000" cy="90000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wrap="none" lIns="0" tIns="0" rIns="0" bIns="0" anchor="ctr"/>
            <a:lstStyle/>
            <a:p>
              <a:pPr algn="ctr">
                <a:lnSpc>
                  <a:spcPct val="90000"/>
                </a:lnSpc>
              </a:pPr>
              <a:endParaRPr lang="zh-CN" altLang="en-US" sz="1600"/>
            </a:p>
          </p:txBody>
        </p:sp>
        <p:cxnSp>
          <p:nvCxnSpPr>
            <p:cNvPr id="157" name="直接连接符 156">
              <a:extLst>
                <a:ext uri="{FF2B5EF4-FFF2-40B4-BE49-F238E27FC236}">
                  <a16:creationId xmlns:a16="http://schemas.microsoft.com/office/drawing/2014/main" id="{F0E1AF87-0278-4E43-80BE-E659F32A6E4F}"/>
                </a:ext>
              </a:extLst>
            </p:cNvPr>
            <p:cNvCxnSpPr/>
            <p:nvPr/>
          </p:nvCxnSpPr>
          <p:spPr bwMode="auto">
            <a:xfrm>
              <a:off x="3816000" y="3132000"/>
              <a:ext cx="75600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triangle" w="med" len="sm"/>
            </a:ln>
          </p:spPr>
        </p:cxnSp>
        <p:sp>
          <p:nvSpPr>
            <p:cNvPr id="158" name="Text Box 126">
              <a:extLst>
                <a:ext uri="{FF2B5EF4-FFF2-40B4-BE49-F238E27FC236}">
                  <a16:creationId xmlns:a16="http://schemas.microsoft.com/office/drawing/2014/main" id="{685AED3E-8B60-436E-A2B1-F7E2D16966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08000" y="3312000"/>
              <a:ext cx="288000" cy="18000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=1</a:t>
              </a:r>
            </a:p>
          </p:txBody>
        </p:sp>
        <p:sp>
          <p:nvSpPr>
            <p:cNvPr id="159" name="Text Box 114">
              <a:extLst>
                <a:ext uri="{FF2B5EF4-FFF2-40B4-BE49-F238E27FC236}">
                  <a16:creationId xmlns:a16="http://schemas.microsoft.com/office/drawing/2014/main" id="{4A8B78C0-06C4-4CA9-B8AE-158F2A3E47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28000" y="3600000"/>
              <a:ext cx="648000" cy="21600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比较器</a:t>
              </a:r>
            </a:p>
          </p:txBody>
        </p:sp>
        <p:cxnSp>
          <p:nvCxnSpPr>
            <p:cNvPr id="160" name="直接连接符 159">
              <a:extLst>
                <a:ext uri="{FF2B5EF4-FFF2-40B4-BE49-F238E27FC236}">
                  <a16:creationId xmlns:a16="http://schemas.microsoft.com/office/drawing/2014/main" id="{26BA7BB8-200D-4C5E-A127-5B9EFBD6F4D9}"/>
                </a:ext>
              </a:extLst>
            </p:cNvPr>
            <p:cNvCxnSpPr/>
            <p:nvPr/>
          </p:nvCxnSpPr>
          <p:spPr bwMode="auto">
            <a:xfrm>
              <a:off x="3851918" y="3492000"/>
              <a:ext cx="0" cy="10800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sm"/>
            </a:ln>
          </p:spPr>
        </p:cxnSp>
        <p:cxnSp>
          <p:nvCxnSpPr>
            <p:cNvPr id="161" name="直接连接符 160">
              <a:extLst>
                <a:ext uri="{FF2B5EF4-FFF2-40B4-BE49-F238E27FC236}">
                  <a16:creationId xmlns:a16="http://schemas.microsoft.com/office/drawing/2014/main" id="{20455AFD-D790-48E8-893B-17BF08C67633}"/>
                </a:ext>
              </a:extLst>
            </p:cNvPr>
            <p:cNvCxnSpPr/>
            <p:nvPr/>
          </p:nvCxnSpPr>
          <p:spPr bwMode="auto">
            <a:xfrm>
              <a:off x="3384000" y="3636000"/>
              <a:ext cx="144000" cy="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</p:spPr>
        </p:cxnSp>
        <p:cxnSp>
          <p:nvCxnSpPr>
            <p:cNvPr id="162" name="直接连接符 161">
              <a:extLst>
                <a:ext uri="{FF2B5EF4-FFF2-40B4-BE49-F238E27FC236}">
                  <a16:creationId xmlns:a16="http://schemas.microsoft.com/office/drawing/2014/main" id="{745B9CAA-2393-4A7E-BB31-FACF567E5127}"/>
                </a:ext>
              </a:extLst>
            </p:cNvPr>
            <p:cNvCxnSpPr/>
            <p:nvPr/>
          </p:nvCxnSpPr>
          <p:spPr bwMode="auto">
            <a:xfrm>
              <a:off x="4176000" y="3636000"/>
              <a:ext cx="108000" cy="0"/>
            </a:xfrm>
            <a:prstGeom prst="line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3" name="直接连接符 162">
              <a:extLst>
                <a:ext uri="{FF2B5EF4-FFF2-40B4-BE49-F238E27FC236}">
                  <a16:creationId xmlns:a16="http://schemas.microsoft.com/office/drawing/2014/main" id="{688E8A5F-EED7-4898-953E-7872F0C6B7AE}"/>
                </a:ext>
              </a:extLst>
            </p:cNvPr>
            <p:cNvCxnSpPr/>
            <p:nvPr/>
          </p:nvCxnSpPr>
          <p:spPr bwMode="auto">
            <a:xfrm>
              <a:off x="4176000" y="3780000"/>
              <a:ext cx="10800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</p:spPr>
        </p:cxnSp>
        <p:cxnSp>
          <p:nvCxnSpPr>
            <p:cNvPr id="164" name="直接连接符 163">
              <a:extLst>
                <a:ext uri="{FF2B5EF4-FFF2-40B4-BE49-F238E27FC236}">
                  <a16:creationId xmlns:a16="http://schemas.microsoft.com/office/drawing/2014/main" id="{339F8E66-7803-413E-BC13-9B45A8FD1D8D}"/>
                </a:ext>
              </a:extLst>
            </p:cNvPr>
            <p:cNvCxnSpPr/>
            <p:nvPr/>
          </p:nvCxnSpPr>
          <p:spPr bwMode="auto">
            <a:xfrm>
              <a:off x="4284000" y="3240000"/>
              <a:ext cx="0" cy="396000"/>
            </a:xfrm>
            <a:prstGeom prst="line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sm"/>
            </a:ln>
          </p:spPr>
        </p:cxnSp>
        <p:sp>
          <p:nvSpPr>
            <p:cNvPr id="165" name="Text Box 143">
              <a:extLst>
                <a:ext uri="{FF2B5EF4-FFF2-40B4-BE49-F238E27FC236}">
                  <a16:creationId xmlns:a16="http://schemas.microsoft.com/office/drawing/2014/main" id="{08F3BCF2-8F96-4B12-9881-99D93FC647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72000" y="3094936"/>
              <a:ext cx="180000" cy="180000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&amp;</a:t>
              </a:r>
            </a:p>
          </p:txBody>
        </p:sp>
        <p:cxnSp>
          <p:nvCxnSpPr>
            <p:cNvPr id="166" name="直接连接符 165">
              <a:extLst>
                <a:ext uri="{FF2B5EF4-FFF2-40B4-BE49-F238E27FC236}">
                  <a16:creationId xmlns:a16="http://schemas.microsoft.com/office/drawing/2014/main" id="{E0CBDE13-CF59-4D44-9BF4-5E1B2A95E642}"/>
                </a:ext>
              </a:extLst>
            </p:cNvPr>
            <p:cNvCxnSpPr/>
            <p:nvPr/>
          </p:nvCxnSpPr>
          <p:spPr bwMode="auto">
            <a:xfrm>
              <a:off x="4284000" y="3240000"/>
              <a:ext cx="288000" cy="0"/>
            </a:xfrm>
            <a:prstGeom prst="line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med" len="sm"/>
            </a:ln>
          </p:spPr>
        </p:cxnSp>
        <p:sp>
          <p:nvSpPr>
            <p:cNvPr id="167" name="Text Box 143">
              <a:extLst>
                <a:ext uri="{FF2B5EF4-FFF2-40B4-BE49-F238E27FC236}">
                  <a16:creationId xmlns:a16="http://schemas.microsoft.com/office/drawing/2014/main" id="{03CD30E1-3B8E-4802-BA33-9261778A68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72000" y="3312000"/>
              <a:ext cx="180000" cy="180000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&amp;</a:t>
              </a:r>
            </a:p>
          </p:txBody>
        </p:sp>
        <p:cxnSp>
          <p:nvCxnSpPr>
            <p:cNvPr id="168" name="直接连接符 167">
              <a:extLst>
                <a:ext uri="{FF2B5EF4-FFF2-40B4-BE49-F238E27FC236}">
                  <a16:creationId xmlns:a16="http://schemas.microsoft.com/office/drawing/2014/main" id="{E2136BAB-1324-46AC-8061-EA89DD2D0E2A}"/>
                </a:ext>
              </a:extLst>
            </p:cNvPr>
            <p:cNvCxnSpPr/>
            <p:nvPr/>
          </p:nvCxnSpPr>
          <p:spPr bwMode="auto">
            <a:xfrm>
              <a:off x="4284000" y="3456000"/>
              <a:ext cx="288000" cy="0"/>
            </a:xfrm>
            <a:prstGeom prst="line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oval" w="sm" len="sm"/>
              <a:tailEnd type="triangle" w="med" len="sm"/>
            </a:ln>
          </p:spPr>
        </p:cxnSp>
        <p:sp>
          <p:nvSpPr>
            <p:cNvPr id="169" name="Text Box 61">
              <a:extLst>
                <a:ext uri="{FF2B5EF4-FFF2-40B4-BE49-F238E27FC236}">
                  <a16:creationId xmlns:a16="http://schemas.microsoft.com/office/drawing/2014/main" id="{69D4D629-E764-47DD-BFB3-523831CC54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84000" y="3492000"/>
              <a:ext cx="180000" cy="180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0" bIns="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rgbClr val="990099"/>
                  </a:solidFill>
                  <a:latin typeface="+mn-lt"/>
                  <a:ea typeface="+mn-ea"/>
                </a:rPr>
                <a:t>=</a:t>
              </a:r>
            </a:p>
          </p:txBody>
        </p:sp>
        <p:sp>
          <p:nvSpPr>
            <p:cNvPr id="170" name="Text Box 61">
              <a:extLst>
                <a:ext uri="{FF2B5EF4-FFF2-40B4-BE49-F238E27FC236}">
                  <a16:creationId xmlns:a16="http://schemas.microsoft.com/office/drawing/2014/main" id="{048C1AF7-7EC8-4E8B-9BF6-C5CC00B085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84000" y="3672000"/>
              <a:ext cx="180000" cy="180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0" bIns="0" anchor="ctr" anchorCtr="0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+mn-lt"/>
                  <a:ea typeface="+mn-ea"/>
                </a:rPr>
                <a:t>≠</a:t>
              </a:r>
              <a:endParaRPr lang="en-US" altLang="zh-CN" sz="1600" b="1" dirty="0">
                <a:latin typeface="+mn-lt"/>
                <a:ea typeface="+mn-ea"/>
              </a:endParaRPr>
            </a:p>
          </p:txBody>
        </p:sp>
        <p:cxnSp>
          <p:nvCxnSpPr>
            <p:cNvPr id="171" name="直接连接符 170">
              <a:extLst>
                <a:ext uri="{FF2B5EF4-FFF2-40B4-BE49-F238E27FC236}">
                  <a16:creationId xmlns:a16="http://schemas.microsoft.com/office/drawing/2014/main" id="{D42C6118-3A67-4F33-B824-A2C7A79F5225}"/>
                </a:ext>
              </a:extLst>
            </p:cNvPr>
            <p:cNvCxnSpPr/>
            <p:nvPr/>
          </p:nvCxnSpPr>
          <p:spPr bwMode="auto">
            <a:xfrm>
              <a:off x="4752000" y="3204000"/>
              <a:ext cx="360000" cy="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sm"/>
            </a:ln>
          </p:spPr>
        </p:cxnSp>
        <p:cxnSp>
          <p:nvCxnSpPr>
            <p:cNvPr id="172" name="直接连接符 171">
              <a:extLst>
                <a:ext uri="{FF2B5EF4-FFF2-40B4-BE49-F238E27FC236}">
                  <a16:creationId xmlns:a16="http://schemas.microsoft.com/office/drawing/2014/main" id="{9FC31850-663C-4F94-897B-FF58EE42D0BF}"/>
                </a:ext>
              </a:extLst>
            </p:cNvPr>
            <p:cNvCxnSpPr/>
            <p:nvPr/>
          </p:nvCxnSpPr>
          <p:spPr bwMode="auto">
            <a:xfrm>
              <a:off x="4752000" y="3384000"/>
              <a:ext cx="288000" cy="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sm"/>
            </a:ln>
          </p:spPr>
        </p:cxnSp>
        <p:sp>
          <p:nvSpPr>
            <p:cNvPr id="173" name="Text Box 61">
              <a:extLst>
                <a:ext uri="{FF2B5EF4-FFF2-40B4-BE49-F238E27FC236}">
                  <a16:creationId xmlns:a16="http://schemas.microsoft.com/office/drawing/2014/main" id="{5FDEEEBA-25E3-4528-B8DD-99728C1D4E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64000" y="3528000"/>
              <a:ext cx="432000" cy="39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0" bIns="0" anchor="ctr" anchorCtr="0"/>
            <a:lstStyle/>
            <a:p>
              <a:pPr algn="ctr">
                <a:lnSpc>
                  <a:spcPct val="8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设备选择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174" name="直接连接符 173">
              <a:extLst>
                <a:ext uri="{FF2B5EF4-FFF2-40B4-BE49-F238E27FC236}">
                  <a16:creationId xmlns:a16="http://schemas.microsoft.com/office/drawing/2014/main" id="{C93F1FC2-7A37-4E09-9A7E-615A65AB61D7}"/>
                </a:ext>
              </a:extLst>
            </p:cNvPr>
            <p:cNvCxnSpPr/>
            <p:nvPr/>
          </p:nvCxnSpPr>
          <p:spPr bwMode="auto">
            <a:xfrm>
              <a:off x="3924000" y="3204000"/>
              <a:ext cx="14400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 w="med" len="sm"/>
            </a:ln>
          </p:spPr>
        </p:cxnSp>
        <p:cxnSp>
          <p:nvCxnSpPr>
            <p:cNvPr id="175" name="直接连接符 174">
              <a:extLst>
                <a:ext uri="{FF2B5EF4-FFF2-40B4-BE49-F238E27FC236}">
                  <a16:creationId xmlns:a16="http://schemas.microsoft.com/office/drawing/2014/main" id="{E996C5B6-B8D3-4A2C-857B-E0643C021729}"/>
                </a:ext>
              </a:extLst>
            </p:cNvPr>
            <p:cNvCxnSpPr/>
            <p:nvPr/>
          </p:nvCxnSpPr>
          <p:spPr bwMode="auto">
            <a:xfrm>
              <a:off x="4068000" y="3348000"/>
              <a:ext cx="504000" cy="0"/>
            </a:xfrm>
            <a:prstGeom prst="line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</p:spPr>
        </p:cxnSp>
        <p:cxnSp>
          <p:nvCxnSpPr>
            <p:cNvPr id="176" name="直接连接符 175">
              <a:extLst>
                <a:ext uri="{FF2B5EF4-FFF2-40B4-BE49-F238E27FC236}">
                  <a16:creationId xmlns:a16="http://schemas.microsoft.com/office/drawing/2014/main" id="{1C868DD5-5B01-4D4F-8D1D-6DBF3274410B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068000" y="3204000"/>
              <a:ext cx="0" cy="144000"/>
            </a:xfrm>
            <a:prstGeom prst="line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med" len="sm"/>
            </a:ln>
          </p:spPr>
        </p:cxnSp>
      </p:grpSp>
      <p:grpSp>
        <p:nvGrpSpPr>
          <p:cNvPr id="177" name="组合 176">
            <a:extLst>
              <a:ext uri="{FF2B5EF4-FFF2-40B4-BE49-F238E27FC236}">
                <a16:creationId xmlns:a16="http://schemas.microsoft.com/office/drawing/2014/main" id="{5930491C-70D4-4D82-AE73-0BDA0D2FEEF7}"/>
              </a:ext>
            </a:extLst>
          </p:cNvPr>
          <p:cNvGrpSpPr/>
          <p:nvPr/>
        </p:nvGrpSpPr>
        <p:grpSpPr>
          <a:xfrm>
            <a:off x="2484000" y="5085088"/>
            <a:ext cx="2484000" cy="504000"/>
            <a:chOff x="2484000" y="5472000"/>
            <a:chExt cx="2484000" cy="504000"/>
          </a:xfrm>
        </p:grpSpPr>
        <p:sp>
          <p:nvSpPr>
            <p:cNvPr id="178" name="Text Box 61">
              <a:extLst>
                <a:ext uri="{FF2B5EF4-FFF2-40B4-BE49-F238E27FC236}">
                  <a16:creationId xmlns:a16="http://schemas.microsoft.com/office/drawing/2014/main" id="{86CABEFC-1D3D-48A3-9AD9-71A68916E3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28000" y="5544000"/>
              <a:ext cx="431822" cy="432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0" bIns="0" anchor="t" anchorCtr="0"/>
            <a:lstStyle/>
            <a:p>
              <a:pPr>
                <a:lnSpc>
                  <a:spcPct val="80000"/>
                </a:lnSpc>
              </a:pPr>
              <a:r>
                <a:rPr lang="zh-CN" altLang="en-US" sz="1600" b="1" spc="-100" dirty="0">
                  <a:latin typeface="宋体" panose="02010600030101010101" pitchFamily="2" charset="-122"/>
                </a:rPr>
                <a:t>高位</a:t>
              </a:r>
              <a:endParaRPr lang="en-US" altLang="zh-CN" sz="1600" b="1" spc="-100" dirty="0">
                <a:latin typeface="宋体" panose="02010600030101010101" pitchFamily="2" charset="-122"/>
              </a:endParaRPr>
            </a:p>
            <a:p>
              <a:pPr>
                <a:lnSpc>
                  <a:spcPct val="80000"/>
                </a:lnSpc>
                <a:spcBef>
                  <a:spcPts val="300"/>
                </a:spcBef>
              </a:pPr>
              <a:r>
                <a:rPr lang="zh-CN" altLang="en-US" sz="1600" b="1" spc="-100" dirty="0">
                  <a:latin typeface="宋体" panose="02010600030101010101" pitchFamily="2" charset="-122"/>
                </a:rPr>
                <a:t>低位</a:t>
              </a:r>
              <a:endParaRPr lang="en-US" altLang="zh-CN" sz="1600" b="1" spc="-100" dirty="0">
                <a:latin typeface="宋体" panose="02010600030101010101" pitchFamily="2" charset="-122"/>
              </a:endParaRPr>
            </a:p>
          </p:txBody>
        </p:sp>
        <p:cxnSp>
          <p:nvCxnSpPr>
            <p:cNvPr id="179" name="直接连接符 178">
              <a:extLst>
                <a:ext uri="{FF2B5EF4-FFF2-40B4-BE49-F238E27FC236}">
                  <a16:creationId xmlns:a16="http://schemas.microsoft.com/office/drawing/2014/main" id="{E6396EFD-EA46-41FE-9C41-360EE47E09A7}"/>
                </a:ext>
              </a:extLst>
            </p:cNvPr>
            <p:cNvCxnSpPr/>
            <p:nvPr/>
          </p:nvCxnSpPr>
          <p:spPr bwMode="auto">
            <a:xfrm>
              <a:off x="2592000" y="5760000"/>
              <a:ext cx="936000" cy="0"/>
            </a:xfrm>
            <a:prstGeom prst="line">
              <a:avLst/>
            </a:prstGeom>
            <a:noFill/>
            <a:ln w="15875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 w="med" len="sm"/>
            </a:ln>
          </p:spPr>
        </p:cxnSp>
        <p:cxnSp>
          <p:nvCxnSpPr>
            <p:cNvPr id="180" name="直接连接符 179">
              <a:extLst>
                <a:ext uri="{FF2B5EF4-FFF2-40B4-BE49-F238E27FC236}">
                  <a16:creationId xmlns:a16="http://schemas.microsoft.com/office/drawing/2014/main" id="{418E2FEF-F4D8-4264-B177-1EC4DCC2A689}"/>
                </a:ext>
              </a:extLst>
            </p:cNvPr>
            <p:cNvCxnSpPr/>
            <p:nvPr/>
          </p:nvCxnSpPr>
          <p:spPr bwMode="auto">
            <a:xfrm>
              <a:off x="2484000" y="5976000"/>
              <a:ext cx="248400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 w="med" len="sm"/>
            </a:ln>
          </p:spPr>
        </p:cxnSp>
        <p:cxnSp>
          <p:nvCxnSpPr>
            <p:cNvPr id="181" name="直接连接符 180">
              <a:extLst>
                <a:ext uri="{FF2B5EF4-FFF2-40B4-BE49-F238E27FC236}">
                  <a16:creationId xmlns:a16="http://schemas.microsoft.com/office/drawing/2014/main" id="{E403E56D-8515-4037-B768-557D86109A58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592000" y="5472000"/>
              <a:ext cx="0" cy="288000"/>
            </a:xfrm>
            <a:prstGeom prst="line">
              <a:avLst/>
            </a:prstGeom>
            <a:noFill/>
            <a:ln w="15875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sm"/>
            </a:ln>
          </p:spPr>
        </p:cxnSp>
        <p:cxnSp>
          <p:nvCxnSpPr>
            <p:cNvPr id="182" name="直接连接符 181">
              <a:extLst>
                <a:ext uri="{FF2B5EF4-FFF2-40B4-BE49-F238E27FC236}">
                  <a16:creationId xmlns:a16="http://schemas.microsoft.com/office/drawing/2014/main" id="{A44BA51C-FA42-4EB1-88FD-B3720121D43C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484000" y="5472000"/>
              <a:ext cx="0" cy="50400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sm"/>
            </a:ln>
          </p:spPr>
        </p:cxnSp>
      </p:grpSp>
      <p:sp>
        <p:nvSpPr>
          <p:cNvPr id="154" name="Text Box 112">
            <a:extLst>
              <a:ext uri="{FF2B5EF4-FFF2-40B4-BE49-F238E27FC236}">
                <a16:creationId xmlns:a16="http://schemas.microsoft.com/office/drawing/2014/main" id="{C7E4ADAD-8F2F-46C6-BF4E-018D380BD7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68000" y="4689088"/>
            <a:ext cx="216000" cy="648000"/>
          </a:xfrm>
          <a:prstGeom prst="rect">
            <a:avLst/>
          </a:prstGeom>
          <a:solidFill>
            <a:srgbClr val="CCFFFF">
              <a:alpha val="80000"/>
            </a:srgbClr>
          </a:solidFill>
          <a:ln w="15875">
            <a:solidFill>
              <a:schemeClr val="tx1"/>
            </a:solidFill>
            <a:miter lim="800000"/>
          </a:ln>
          <a:effectLst/>
        </p:spPr>
        <p:txBody>
          <a:bodyPr vert="eaVert" lIns="0" tIns="0" rIns="0" bIns="0" anchor="ctr" anchorCtr="1"/>
          <a:lstStyle/>
          <a:p>
            <a:pPr>
              <a:lnSpc>
                <a:spcPct val="90000"/>
              </a:lnSpc>
            </a:pPr>
            <a:r>
              <a:rPr lang="zh-CN" altLang="en-US" sz="1600" b="1" dirty="0">
                <a:latin typeface="宋体" panose="02010600030101010101" pitchFamily="2" charset="-122"/>
              </a:rPr>
              <a:t>设备号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E4283496-00BA-4C04-84DA-BCD028C6747B}"/>
              </a:ext>
            </a:extLst>
          </p:cNvPr>
          <p:cNvGrpSpPr/>
          <p:nvPr/>
        </p:nvGrpSpPr>
        <p:grpSpPr>
          <a:xfrm>
            <a:off x="3816000" y="4365088"/>
            <a:ext cx="107926" cy="540000"/>
            <a:chOff x="3816000" y="4824000"/>
            <a:chExt cx="107926" cy="540000"/>
          </a:xfrm>
        </p:grpSpPr>
        <p:cxnSp>
          <p:nvCxnSpPr>
            <p:cNvPr id="183" name="直接连接符 182">
              <a:extLst>
                <a:ext uri="{FF2B5EF4-FFF2-40B4-BE49-F238E27FC236}">
                  <a16:creationId xmlns:a16="http://schemas.microsoft.com/office/drawing/2014/main" id="{0713E260-B865-424F-8537-EAEB3D77018E}"/>
                </a:ext>
              </a:extLst>
            </p:cNvPr>
            <p:cNvCxnSpPr/>
            <p:nvPr/>
          </p:nvCxnSpPr>
          <p:spPr bwMode="auto">
            <a:xfrm>
              <a:off x="3816000" y="4824000"/>
              <a:ext cx="1" cy="540000"/>
            </a:xfrm>
            <a:prstGeom prst="line">
              <a:avLst/>
            </a:prstGeom>
            <a:noFill/>
            <a:ln w="12700" cap="sq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sm"/>
            </a:ln>
          </p:spPr>
        </p:cxnSp>
        <p:cxnSp>
          <p:nvCxnSpPr>
            <p:cNvPr id="184" name="直接连接符 183">
              <a:extLst>
                <a:ext uri="{FF2B5EF4-FFF2-40B4-BE49-F238E27FC236}">
                  <a16:creationId xmlns:a16="http://schemas.microsoft.com/office/drawing/2014/main" id="{BBAEE0E8-521D-45E0-91DA-406B5C1D0C44}"/>
                </a:ext>
              </a:extLst>
            </p:cNvPr>
            <p:cNvCxnSpPr/>
            <p:nvPr/>
          </p:nvCxnSpPr>
          <p:spPr bwMode="auto">
            <a:xfrm>
              <a:off x="3923926" y="4832010"/>
              <a:ext cx="0" cy="531990"/>
            </a:xfrm>
            <a:prstGeom prst="line">
              <a:avLst/>
            </a:prstGeom>
            <a:noFill/>
            <a:ln w="12700" cap="sq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sm"/>
            </a:ln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1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" grpId="0"/>
      <p:bldP spid="83" grpId="0" bldLvl="0"/>
      <p:bldP spid="15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Text Box 4"/>
          <p:cNvSpPr txBox="1">
            <a:spLocks noChangeArrowheads="1"/>
          </p:cNvSpPr>
          <p:nvPr/>
        </p:nvSpPr>
        <p:spPr bwMode="auto">
          <a:xfrm>
            <a:off x="179705" y="332740"/>
            <a:ext cx="8856792" cy="4747775"/>
          </a:xfrm>
          <a:prstGeom prst="rect">
            <a:avLst/>
          </a:prstGeom>
          <a:noFill/>
          <a:ln w="38100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(4)</a:t>
            </a:r>
            <a:r>
              <a:rPr lang="zh-CN" altLang="en-US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与外设的联络</a:t>
            </a:r>
            <a:r>
              <a:rPr lang="en-US" altLang="zh-CN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通信操作的接口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-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外设控制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)</a:t>
            </a:r>
            <a:endParaRPr lang="en-US" altLang="zh-CN" sz="1800" b="1" dirty="0">
              <a:solidFill>
                <a:srgbClr val="FF3399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200"/>
              </a:spcBef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*外设的传送方式：</a:t>
            </a:r>
            <a:endParaRPr lang="zh-CN" altLang="en-US" sz="22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无条件传送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sz="2200" b="1" spc="-30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90000"/>
              </a:lnSpc>
            </a:pP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rPr>
              <a:t>       (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</a:rPr>
              <a:t>简单设备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rPr>
              <a:t>)</a:t>
            </a:r>
            <a:endParaRPr lang="en-US" altLang="zh-CN" sz="1600" b="1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 marL="3143250" indent="-3143250" algn="l">
              <a:lnSpc>
                <a:spcPct val="125000"/>
              </a:lnSpc>
              <a:spcBef>
                <a:spcPts val="600"/>
              </a:spcBef>
            </a:pP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条件传送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 algn="l">
              <a:lnSpc>
                <a:spcPct val="90000"/>
              </a:lnSpc>
            </a:pP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rPr>
              <a:t>       (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</a:rPr>
              <a:t>复杂设备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rPr>
              <a:t>)</a:t>
            </a:r>
            <a:endParaRPr lang="en-US" altLang="zh-CN" sz="1600" b="1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4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*接口</a:t>
            </a: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-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外设的联络方式：</a:t>
            </a: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立即响应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                              </a:t>
            </a:r>
            <a:r>
              <a:rPr lang="zh-CN" altLang="en-US" sz="1800" b="1" dirty="0">
                <a:latin typeface="宋体" panose="02010600030101010101" pitchFamily="2" charset="-122"/>
              </a:rPr>
              <a:t>←面向</a:t>
            </a:r>
            <a:r>
              <a:rPr lang="zh-CN" altLang="en-US" sz="1800" b="1" u="sng" dirty="0">
                <a:latin typeface="宋体" panose="02010600030101010101" pitchFamily="2" charset="-122"/>
              </a:rPr>
              <a:t>无条件传送</a:t>
            </a:r>
            <a:endParaRPr lang="en-US" altLang="zh-CN" sz="1800" b="1" u="sng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200"/>
              </a:spcBef>
            </a:pP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异步联络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                              </a:t>
            </a:r>
            <a:r>
              <a:rPr lang="zh-CN" altLang="en-US" sz="1800" b="1" dirty="0">
                <a:latin typeface="宋体" panose="02010600030101010101" pitchFamily="2" charset="-122"/>
              </a:rPr>
              <a:t>←面向</a:t>
            </a:r>
            <a:r>
              <a:rPr lang="zh-CN" altLang="en-US" sz="1800" b="1" u="sng" dirty="0">
                <a:latin typeface="宋体" panose="02010600030101010101" pitchFamily="2" charset="-122"/>
              </a:rPr>
              <a:t>条件传送</a:t>
            </a:r>
            <a:r>
              <a:rPr lang="en-US" altLang="zh-CN" sz="1800" b="1" u="sng" dirty="0">
                <a:latin typeface="宋体" panose="02010600030101010101" pitchFamily="2" charset="-122"/>
              </a:rPr>
              <a:t>(</a:t>
            </a:r>
            <a:r>
              <a:rPr lang="zh-CN" altLang="en-US" sz="1800" b="1" u="sng" dirty="0">
                <a:latin typeface="宋体" panose="02010600030101010101" pitchFamily="2" charset="-122"/>
              </a:rPr>
              <a:t>并行</a:t>
            </a:r>
            <a:r>
              <a:rPr lang="en-US" altLang="zh-CN" sz="1800" b="1" u="sng" dirty="0">
                <a:latin typeface="宋体" panose="02010600030101010101" pitchFamily="2" charset="-122"/>
              </a:rPr>
              <a:t>)</a:t>
            </a:r>
          </a:p>
          <a:p>
            <a:pPr algn="l">
              <a:lnSpc>
                <a:spcPct val="125000"/>
              </a:lnSpc>
              <a:spcBef>
                <a:spcPts val="200"/>
              </a:spcBef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同步联络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                              </a:t>
            </a:r>
            <a:r>
              <a:rPr lang="zh-CN" altLang="en-US" sz="1800" b="1" dirty="0">
                <a:latin typeface="宋体" panose="02010600030101010101" pitchFamily="2" charset="-122"/>
              </a:rPr>
              <a:t>←面向</a:t>
            </a:r>
            <a:r>
              <a:rPr lang="zh-CN" altLang="en-US" sz="1800" b="1" u="sng" dirty="0">
                <a:latin typeface="宋体" panose="02010600030101010101" pitchFamily="2" charset="-122"/>
              </a:rPr>
              <a:t>条件传送</a:t>
            </a:r>
            <a:r>
              <a:rPr lang="en-US" altLang="zh-CN" sz="1800" b="1" u="sng" dirty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u="sng" dirty="0">
                <a:latin typeface="宋体" panose="02010600030101010101" pitchFamily="2" charset="-122"/>
                <a:sym typeface="+mn-ea"/>
              </a:rPr>
              <a:t>串行</a:t>
            </a:r>
            <a:r>
              <a:rPr lang="en-US" altLang="zh-CN" sz="1800" b="1" u="sng" dirty="0">
                <a:latin typeface="宋体" panose="02010600030101010101" pitchFamily="2" charset="-122"/>
                <a:sym typeface="+mn-ea"/>
              </a:rPr>
              <a:t>)</a:t>
            </a:r>
            <a:endParaRPr lang="en-US" altLang="zh-CN" sz="1800" b="1" u="sng" dirty="0">
              <a:latin typeface="宋体" panose="02010600030101010101" pitchFamily="2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BFB63-B979-4FAE-8763-D7093A979077}" type="slidenum">
              <a:rPr lang="en-US" altLang="zh-CN" smtClean="0"/>
              <a:t>8</a:t>
            </a:fld>
            <a:endParaRPr lang="en-US" altLang="zh-CN" dirty="0"/>
          </a:p>
        </p:txBody>
      </p:sp>
      <p:sp>
        <p:nvSpPr>
          <p:cNvPr id="52" name="AutoShape 121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4068638" y="6523557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1" name="组合 10"/>
          <p:cNvGrpSpPr/>
          <p:nvPr/>
        </p:nvGrpSpPr>
        <p:grpSpPr>
          <a:xfrm>
            <a:off x="5616000" y="5770792"/>
            <a:ext cx="936000" cy="292794"/>
            <a:chOff x="5652120" y="5295032"/>
            <a:chExt cx="936000" cy="292794"/>
          </a:xfrm>
        </p:grpSpPr>
        <p:cxnSp>
          <p:nvCxnSpPr>
            <p:cNvPr id="132" name="直接连接符 131"/>
            <p:cNvCxnSpPr/>
            <p:nvPr/>
          </p:nvCxnSpPr>
          <p:spPr bwMode="auto">
            <a:xfrm>
              <a:off x="5652120" y="5295032"/>
              <a:ext cx="0" cy="292794"/>
            </a:xfrm>
            <a:prstGeom prst="line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33" name="直接连接符 132"/>
            <p:cNvCxnSpPr/>
            <p:nvPr/>
          </p:nvCxnSpPr>
          <p:spPr bwMode="auto">
            <a:xfrm flipV="1">
              <a:off x="5724128" y="5295032"/>
              <a:ext cx="0" cy="289446"/>
            </a:xfrm>
            <a:prstGeom prst="line">
              <a:avLst/>
            </a:prstGeom>
            <a:noFill/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39" name="Text Box 61"/>
            <p:cNvSpPr txBox="1">
              <a:spLocks noChangeArrowheads="1"/>
            </p:cNvSpPr>
            <p:nvPr/>
          </p:nvSpPr>
          <p:spPr bwMode="auto">
            <a:xfrm>
              <a:off x="5760120" y="5295032"/>
              <a:ext cx="828000" cy="288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l">
                <a:lnSpc>
                  <a:spcPct val="90000"/>
                </a:lnSpc>
              </a:pPr>
              <a:r>
                <a:rPr lang="en-US" altLang="zh-CN" sz="1600" b="1" dirty="0" err="1">
                  <a:latin typeface="+mn-ea"/>
                  <a:ea typeface="+mn-ea"/>
                </a:rPr>
                <a:t>Req</a:t>
              </a:r>
              <a:r>
                <a:rPr lang="en-US" altLang="zh-CN" sz="1600" b="1" dirty="0">
                  <a:latin typeface="+mn-ea"/>
                  <a:ea typeface="+mn-ea"/>
                </a:rPr>
                <a:t>/</a:t>
              </a:r>
              <a:r>
                <a:rPr lang="en-US" altLang="zh-CN" sz="1600" b="1" dirty="0" err="1">
                  <a:latin typeface="+mn-ea"/>
                  <a:ea typeface="+mn-ea"/>
                </a:rPr>
                <a:t>Ack</a:t>
              </a:r>
              <a:endParaRPr lang="en-US" altLang="zh-CN" sz="1600" b="1" dirty="0">
                <a:latin typeface="+mn-ea"/>
                <a:ea typeface="+mn-ea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7307808" y="5770792"/>
            <a:ext cx="468240" cy="288032"/>
            <a:chOff x="7236296" y="5301208"/>
            <a:chExt cx="468240" cy="288032"/>
          </a:xfrm>
        </p:grpSpPr>
        <p:sp>
          <p:nvSpPr>
            <p:cNvPr id="142" name="Text Box 61"/>
            <p:cNvSpPr txBox="1">
              <a:spLocks noChangeArrowheads="1"/>
            </p:cNvSpPr>
            <p:nvPr/>
          </p:nvSpPr>
          <p:spPr bwMode="auto">
            <a:xfrm>
              <a:off x="7272488" y="5301208"/>
              <a:ext cx="432048" cy="288032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l">
                <a:lnSpc>
                  <a:spcPct val="90000"/>
                </a:lnSpc>
              </a:pPr>
              <a:r>
                <a:rPr lang="en-US" altLang="zh-CN" sz="1600" b="1" dirty="0">
                  <a:latin typeface="+mn-ea"/>
                  <a:ea typeface="+mn-ea"/>
                </a:rPr>
                <a:t>CLK</a:t>
              </a:r>
            </a:p>
          </p:txBody>
        </p:sp>
        <p:cxnSp>
          <p:nvCxnSpPr>
            <p:cNvPr id="136" name="直接连接符 135"/>
            <p:cNvCxnSpPr/>
            <p:nvPr/>
          </p:nvCxnSpPr>
          <p:spPr bwMode="auto">
            <a:xfrm>
              <a:off x="7236296" y="5301208"/>
              <a:ext cx="0" cy="288000"/>
            </a:xfrm>
            <a:prstGeom prst="line">
              <a:avLst/>
            </a:prstGeom>
            <a:noFill/>
            <a:ln w="15875" cap="flat" cmpd="sng" algn="ctr">
              <a:solidFill>
                <a:srgbClr val="CC3300"/>
              </a:solidFill>
              <a:prstDash val="sysDash"/>
              <a:round/>
              <a:headEnd type="none" w="med" len="med"/>
              <a:tailEnd type="triangle" w="med" len="med"/>
            </a:ln>
          </p:spPr>
        </p:cxnSp>
      </p:grpSp>
      <p:sp>
        <p:nvSpPr>
          <p:cNvPr id="67" name="Text Box 4"/>
          <p:cNvSpPr txBox="1">
            <a:spLocks noChangeArrowheads="1"/>
          </p:cNvSpPr>
          <p:nvPr/>
        </p:nvSpPr>
        <p:spPr bwMode="auto">
          <a:xfrm>
            <a:off x="2195736" y="1198800"/>
            <a:ext cx="6696744" cy="2536144"/>
          </a:xfrm>
          <a:prstGeom prst="rect">
            <a:avLst/>
          </a:prstGeom>
          <a:noFill/>
          <a:ln w="38100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200" b="1" spc="-30" dirty="0">
                <a:latin typeface="宋体" panose="02010600030101010101" pitchFamily="2" charset="-122"/>
                <a:sym typeface="+mn-ea"/>
              </a:rPr>
              <a:t>  </a:t>
            </a:r>
            <a:r>
              <a:rPr lang="zh-CN" altLang="en-US" sz="2200" b="1" spc="-30" dirty="0">
                <a:latin typeface="宋体" panose="02010600030101010101" pitchFamily="2" charset="-122"/>
                <a:sym typeface="+mn-ea"/>
              </a:rPr>
              <a:t>可</a:t>
            </a:r>
            <a:r>
              <a:rPr lang="zh-CN" altLang="en-US" sz="2200" b="1" u="sng" spc="-30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随时</a:t>
            </a:r>
            <a:r>
              <a:rPr lang="zh-CN" altLang="en-US" sz="2200" b="1" u="sng" spc="-30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传送</a:t>
            </a:r>
            <a:r>
              <a:rPr lang="zh-CN" altLang="en-US" sz="2200" b="1" spc="-30" dirty="0">
                <a:latin typeface="宋体" panose="02010600030101010101" pitchFamily="2" charset="-122"/>
                <a:sym typeface="+mn-ea"/>
              </a:rPr>
              <a:t>数据；</a:t>
            </a:r>
            <a:r>
              <a:rPr lang="zh-CN" altLang="en-US" sz="2200" b="1" dirty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都为</a:t>
            </a:r>
            <a:r>
              <a:rPr lang="zh-CN" altLang="en-US" sz="2200" b="1" u="sng" dirty="0">
                <a:latin typeface="宋体" panose="02010600030101010101" pitchFamily="2" charset="-122"/>
                <a:sym typeface="+mn-ea"/>
              </a:rPr>
              <a:t>字符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设备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仅并行传输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)</a:t>
            </a:r>
            <a:endParaRPr lang="zh-CN" altLang="en-US" sz="1800" b="1" dirty="0">
              <a:latin typeface="宋体" panose="02010600030101010101" pitchFamily="2" charset="-122"/>
              <a:sym typeface="+mn-ea"/>
            </a:endParaRPr>
          </a:p>
          <a:p>
            <a:pPr algn="l">
              <a:lnSpc>
                <a:spcPct val="90000"/>
              </a:lnSpc>
            </a:pP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          </a:t>
            </a:r>
            <a:r>
              <a:rPr lang="en-US" altLang="zh-CN" sz="1600" dirty="0">
                <a:latin typeface="宋体" panose="02010600030101010101" pitchFamily="2" charset="-122"/>
                <a:sym typeface="+mn-ea"/>
              </a:rPr>
              <a:t>└</a:t>
            </a:r>
            <a:r>
              <a:rPr lang="zh-CN" altLang="en-US" sz="1600" b="1" spc="-30" dirty="0">
                <a:latin typeface="宋体" panose="02010600030101010101" pitchFamily="2" charset="-122"/>
                <a:sym typeface="+mn-ea"/>
              </a:rPr>
              <a:t>←</a:t>
            </a:r>
            <a:r>
              <a:rPr lang="zh-CN" sz="1600" b="1" spc="-30" dirty="0">
                <a:latin typeface="宋体" panose="02010600030101010101" pitchFamily="2" charset="-122"/>
                <a:sym typeface="+mn-ea"/>
              </a:rPr>
              <a:t>如</a:t>
            </a:r>
            <a:r>
              <a:rPr lang="en-US" altLang="zh-CN" sz="1600" b="1" spc="-30" dirty="0">
                <a:latin typeface="宋体" panose="02010600030101010101" pitchFamily="2" charset="-122"/>
                <a:sym typeface="+mn-ea"/>
              </a:rPr>
              <a:t>LED/</a:t>
            </a:r>
            <a:r>
              <a:rPr lang="zh-CN" altLang="en-US" sz="1600" b="1" spc="-30" dirty="0">
                <a:latin typeface="宋体" panose="02010600030101010101" pitchFamily="2" charset="-122"/>
                <a:sym typeface="+mn-ea"/>
              </a:rPr>
              <a:t>开关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        </a:t>
            </a:r>
            <a:r>
              <a:rPr lang="en-US" altLang="zh-CN" sz="1600" dirty="0">
                <a:latin typeface="宋体" panose="02010600030101010101" pitchFamily="2" charset="-122"/>
                <a:sym typeface="+mn-ea"/>
              </a:rPr>
              <a:t>└</a:t>
            </a:r>
            <a:r>
              <a:rPr lang="zh-CN" altLang="en-US" sz="1600" b="1" spc="-30" dirty="0">
                <a:latin typeface="宋体" panose="02010600030101010101" pitchFamily="2" charset="-122"/>
                <a:sym typeface="+mn-ea"/>
              </a:rPr>
              <a:t>←</a:t>
            </a:r>
            <a:r>
              <a:rPr lang="en-US" altLang="zh-CN" sz="1600" b="1" spc="-30" dirty="0">
                <a:latin typeface="宋体" panose="02010600030101010101" pitchFamily="2" charset="-122"/>
                <a:sym typeface="+mn-ea"/>
              </a:rPr>
              <a:t>1</a:t>
            </a:r>
            <a:r>
              <a:rPr lang="zh-CN" altLang="en-US" sz="1600" b="1" spc="-30" dirty="0">
                <a:latin typeface="宋体" panose="02010600030101010101" pitchFamily="2" charset="-122"/>
                <a:sym typeface="+mn-ea"/>
              </a:rPr>
              <a:t>个数据</a:t>
            </a:r>
            <a:r>
              <a:rPr lang="en-US" altLang="zh-CN" sz="1600" b="1" spc="-30" dirty="0">
                <a:latin typeface="宋体" panose="02010600030101010101" pitchFamily="2" charset="-122"/>
                <a:sym typeface="+mn-ea"/>
              </a:rPr>
              <a:t>/</a:t>
            </a:r>
            <a:r>
              <a:rPr lang="zh-CN" altLang="en-US" sz="1600" b="1" spc="-30" dirty="0">
                <a:latin typeface="宋体" panose="02010600030101010101" pitchFamily="2" charset="-122"/>
                <a:sym typeface="+mn-ea"/>
              </a:rPr>
              <a:t>次</a:t>
            </a:r>
            <a:endParaRPr lang="en-US" altLang="zh-CN" sz="1600" b="1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 marL="266700" indent="-266700" algn="l">
              <a:lnSpc>
                <a:spcPct val="125000"/>
              </a:lnSpc>
              <a:spcBef>
                <a:spcPts val="500"/>
              </a:spcBef>
            </a:pP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先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启动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设备，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等到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设备</a:t>
            </a:r>
            <a:r>
              <a:rPr lang="zh-CN" altLang="en-US" sz="2200" b="1" u="sng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就绪时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，才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传送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数据；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 marL="266700" indent="-266700" algn="l">
              <a:lnSpc>
                <a:spcPct val="125000"/>
              </a:lnSpc>
            </a:pPr>
            <a:r>
              <a:rPr lang="zh-CN" altLang="en-US" sz="2200" b="1" spc="-70" dirty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可为</a:t>
            </a:r>
            <a:r>
              <a:rPr lang="zh-CN" altLang="en-US" sz="2200" b="1" u="sng" spc="-70" dirty="0">
                <a:latin typeface="宋体" panose="02010600030101010101" pitchFamily="2" charset="-122"/>
                <a:sym typeface="+mn-ea"/>
              </a:rPr>
              <a:t>字符</a:t>
            </a:r>
            <a:r>
              <a:rPr lang="zh-CN" altLang="en-US" sz="2200" b="1" spc="-70" dirty="0">
                <a:latin typeface="宋体" panose="02010600030101010101" pitchFamily="2" charset="-122"/>
                <a:sym typeface="+mn-ea"/>
              </a:rPr>
              <a:t>设备</a:t>
            </a:r>
            <a:r>
              <a:rPr lang="en-US" altLang="zh-CN" sz="2200" b="1" spc="-70" dirty="0">
                <a:latin typeface="宋体" panose="02010600030101010101" pitchFamily="2" charset="-122"/>
                <a:sym typeface="+mn-ea"/>
              </a:rPr>
              <a:t>/</a:t>
            </a:r>
            <a:r>
              <a:rPr lang="zh-CN" altLang="en-US" sz="2200" b="1" u="sng" spc="-70" dirty="0">
                <a:latin typeface="宋体" panose="02010600030101010101" pitchFamily="2" charset="-122"/>
                <a:sym typeface="+mn-ea"/>
              </a:rPr>
              <a:t>块</a:t>
            </a:r>
            <a:r>
              <a:rPr lang="zh-CN" altLang="en-US" sz="2200" b="1" spc="-70" dirty="0">
                <a:latin typeface="宋体" panose="02010600030101010101" pitchFamily="2" charset="-122"/>
                <a:sym typeface="+mn-ea"/>
              </a:rPr>
              <a:t>设备</a:t>
            </a:r>
            <a:r>
              <a:rPr lang="en-US" altLang="zh-CN" sz="1800" b="1" spc="-70" dirty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spc="-70" dirty="0">
                <a:latin typeface="宋体" panose="02010600030101010101" pitchFamily="2" charset="-122"/>
                <a:sym typeface="+mn-ea"/>
              </a:rPr>
              <a:t>均可并行传输</a:t>
            </a:r>
            <a:r>
              <a:rPr lang="en-US" altLang="zh-CN" sz="1800" b="1" spc="-70" dirty="0">
                <a:latin typeface="宋体" panose="02010600030101010101" pitchFamily="2" charset="-122"/>
                <a:sym typeface="+mn-ea"/>
              </a:rPr>
              <a:t>/</a:t>
            </a:r>
            <a:r>
              <a:rPr lang="zh-CN" altLang="en-US" sz="1800" b="1" spc="-70" dirty="0">
                <a:latin typeface="宋体" panose="02010600030101010101" pitchFamily="2" charset="-122"/>
                <a:sym typeface="+mn-ea"/>
              </a:rPr>
              <a:t>串行传输</a:t>
            </a:r>
            <a:r>
              <a:rPr lang="en-US" altLang="zh-CN" sz="1800" b="1" spc="-70" dirty="0">
                <a:latin typeface="宋体" panose="02010600030101010101" pitchFamily="2" charset="-122"/>
                <a:sym typeface="+mn-ea"/>
              </a:rPr>
              <a:t>)</a:t>
            </a:r>
            <a:endParaRPr lang="zh-CN" altLang="en-US" sz="1800" b="1" dirty="0">
              <a:latin typeface="宋体" panose="02010600030101010101" pitchFamily="2" charset="-122"/>
              <a:sym typeface="+mn-ea"/>
            </a:endParaRPr>
          </a:p>
          <a:p>
            <a:pPr marL="266700" indent="-266700" algn="l">
              <a:lnSpc>
                <a:spcPct val="125000"/>
              </a:lnSpc>
              <a:spcBef>
                <a:spcPts val="0"/>
              </a:spcBef>
            </a:pPr>
            <a:endParaRPr lang="en-US" altLang="zh-CN" sz="2200" b="1" dirty="0">
              <a:latin typeface="宋体" panose="02010600030101010101" pitchFamily="2" charset="-122"/>
              <a:sym typeface="+mn-ea"/>
            </a:endParaRPr>
          </a:p>
          <a:p>
            <a:pPr marL="266700" indent="-266700" algn="l">
              <a:lnSpc>
                <a:spcPct val="125000"/>
              </a:lnSpc>
              <a:spcBef>
                <a:spcPts val="1100"/>
              </a:spcBef>
            </a:pP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           (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表示数据何时有效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)</a:t>
            </a:r>
            <a:endParaRPr lang="zh-CN" altLang="en-US" sz="1800" b="1" spc="-70" dirty="0">
              <a:solidFill>
                <a:srgbClr val="990099"/>
              </a:solidFill>
              <a:latin typeface="宋体" panose="02010600030101010101" pitchFamily="2" charset="-122"/>
              <a:sym typeface="+mn-ea"/>
            </a:endParaRPr>
          </a:p>
        </p:txBody>
      </p:sp>
      <p:sp>
        <p:nvSpPr>
          <p:cNvPr id="68" name="线形标注 2 67"/>
          <p:cNvSpPr/>
          <p:nvPr/>
        </p:nvSpPr>
        <p:spPr bwMode="auto">
          <a:xfrm>
            <a:off x="4268127" y="799200"/>
            <a:ext cx="945045" cy="252000"/>
          </a:xfrm>
          <a:prstGeom prst="borderCallout2">
            <a:avLst>
              <a:gd name="adj1" fmla="val 48951"/>
              <a:gd name="adj2" fmla="val -598"/>
              <a:gd name="adj3" fmla="val 48851"/>
              <a:gd name="adj4" fmla="val -23065"/>
              <a:gd name="adj5" fmla="val 203594"/>
              <a:gd name="adj6" fmla="val -62714"/>
            </a:avLst>
          </a:prstGeom>
          <a:noFill/>
          <a:ln w="12700" cap="flat" cmpd="sng" algn="ctr">
            <a:solidFill>
              <a:srgbClr val="990099"/>
            </a:solidFill>
            <a:prstDash val="sysDash"/>
            <a:round/>
            <a:headEnd type="none" w="med" len="med"/>
            <a:tailEnd type="arrow" w="med" len="med"/>
          </a:ln>
          <a:effectLst/>
        </p:spPr>
        <p:txBody>
          <a:bodyPr vert="horz" wrap="square" lIns="36000" tIns="18000" rIns="36000" bIns="18000" numCol="1" rtlCol="0" anchor="ctr" anchorCtr="0" compatLnSpc="1"/>
          <a:lstStyle/>
          <a:p>
            <a:pPr algn="ctr">
              <a:lnSpc>
                <a:spcPct val="105000"/>
              </a:lnSpc>
            </a:pPr>
            <a:r>
              <a:rPr lang="zh-CN" altLang="en-US" sz="1600" b="1" dirty="0">
                <a:latin typeface="+mn-lt"/>
                <a:ea typeface="+mn-ea"/>
              </a:rPr>
              <a:t>无需启动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3132000" y="982800"/>
            <a:ext cx="4536464" cy="360000"/>
            <a:chOff x="3132000" y="972000"/>
            <a:chExt cx="4536464" cy="360000"/>
          </a:xfrm>
        </p:grpSpPr>
        <p:sp>
          <p:nvSpPr>
            <p:cNvPr id="73" name="Text Box 80"/>
            <p:cNvSpPr txBox="1">
              <a:spLocks noChangeArrowheads="1"/>
            </p:cNvSpPr>
            <p:nvPr/>
          </p:nvSpPr>
          <p:spPr bwMode="auto">
            <a:xfrm>
              <a:off x="5904464" y="972000"/>
              <a:ext cx="1764000" cy="252000"/>
            </a:xfrm>
            <a:prstGeom prst="rect">
              <a:avLst/>
            </a:prstGeom>
            <a:noFill/>
            <a:ln w="12700">
              <a:solidFill>
                <a:srgbClr val="0070C0"/>
              </a:solidFill>
              <a:prstDash val="sysDash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105000"/>
                </a:lnSpc>
              </a:pPr>
              <a:r>
                <a:rPr lang="zh-CN" altLang="en-US" sz="1600" b="1" spc="-30" dirty="0">
                  <a:latin typeface="宋体" panose="02010600030101010101" pitchFamily="2" charset="-122"/>
                  <a:sym typeface="+mn-ea"/>
                </a:rPr>
                <a:t>否则</a:t>
              </a:r>
              <a:r>
                <a:rPr lang="zh-CN" altLang="en-US" sz="1600" b="1" dirty="0">
                  <a:latin typeface="+mn-lt"/>
                  <a:ea typeface="+mn-ea"/>
                </a:rPr>
                <a:t>无法确定间隔</a:t>
              </a:r>
            </a:p>
          </p:txBody>
        </p:sp>
        <p:cxnSp>
          <p:nvCxnSpPr>
            <p:cNvPr id="74" name="直接连接符 73"/>
            <p:cNvCxnSpPr/>
            <p:nvPr/>
          </p:nvCxnSpPr>
          <p:spPr bwMode="auto">
            <a:xfrm>
              <a:off x="3132000" y="1116000"/>
              <a:ext cx="277200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5" name="直接连接符 74"/>
            <p:cNvCxnSpPr/>
            <p:nvPr/>
          </p:nvCxnSpPr>
          <p:spPr bwMode="auto">
            <a:xfrm>
              <a:off x="3132000" y="1116000"/>
              <a:ext cx="0" cy="216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0070C0"/>
              </a:solidFill>
              <a:prstDash val="sysDash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76" name="直接连接符 75"/>
            <p:cNvCxnSpPr/>
            <p:nvPr/>
          </p:nvCxnSpPr>
          <p:spPr bwMode="auto">
            <a:xfrm>
              <a:off x="5652120" y="1116000"/>
              <a:ext cx="0" cy="216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0070C0"/>
              </a:solidFill>
              <a:prstDash val="sysDash"/>
              <a:round/>
              <a:headEnd type="none" w="sm" len="sm"/>
              <a:tailEnd type="triangle" w="med" len="med"/>
            </a:ln>
            <a:effectLst/>
          </p:spPr>
        </p:cxnSp>
      </p:grpSp>
      <p:sp>
        <p:nvSpPr>
          <p:cNvPr id="83" name="线形标注 2 67"/>
          <p:cNvSpPr/>
          <p:nvPr/>
        </p:nvSpPr>
        <p:spPr bwMode="auto">
          <a:xfrm>
            <a:off x="7677150" y="1628800"/>
            <a:ext cx="1188000" cy="252000"/>
          </a:xfrm>
          <a:prstGeom prst="borderCallout2">
            <a:avLst>
              <a:gd name="adj1" fmla="val 48951"/>
              <a:gd name="adj2" fmla="val -598"/>
              <a:gd name="adj3" fmla="val 48851"/>
              <a:gd name="adj4" fmla="val -23065"/>
              <a:gd name="adj5" fmla="val -9433"/>
              <a:gd name="adj6" fmla="val -36211"/>
            </a:avLst>
          </a:prstGeom>
          <a:noFill/>
          <a:ln w="12700" cap="flat" cmpd="sng" algn="ctr">
            <a:solidFill>
              <a:srgbClr val="0070C0"/>
            </a:solidFill>
            <a:prstDash val="sysDash"/>
            <a:round/>
            <a:headEnd type="none" w="med" len="med"/>
            <a:tailEnd type="arrow" w="med" len="med"/>
          </a:ln>
          <a:effectLst/>
        </p:spPr>
        <p:txBody>
          <a:bodyPr vert="horz" wrap="square" lIns="36000" tIns="18000" rIns="36000" bIns="18000" numCol="1" rtlCol="0" anchor="ctr" anchorCtr="0" compatLnSpc="1"/>
          <a:lstStyle/>
          <a:p>
            <a:pPr algn="ctr">
              <a:lnSpc>
                <a:spcPct val="105000"/>
              </a:lnSpc>
            </a:pPr>
            <a:r>
              <a:rPr lang="zh-CN" altLang="en-US" sz="1600" b="1" dirty="0">
                <a:latin typeface="+mn-lt"/>
                <a:ea typeface="+mn-ea"/>
              </a:rPr>
              <a:t>串行效率低</a:t>
            </a: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4D77E28B-EE63-48C2-ACF0-8DA5E9A46296}"/>
              </a:ext>
            </a:extLst>
          </p:cNvPr>
          <p:cNvGrpSpPr/>
          <p:nvPr/>
        </p:nvGrpSpPr>
        <p:grpSpPr>
          <a:xfrm>
            <a:off x="3313464" y="2780928"/>
            <a:ext cx="5651024" cy="288032"/>
            <a:chOff x="972000" y="6084000"/>
            <a:chExt cx="5651024" cy="288032"/>
          </a:xfrm>
        </p:grpSpPr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452C875E-2BC6-4744-B84D-E2A659072F19}"/>
                </a:ext>
              </a:extLst>
            </p:cNvPr>
            <p:cNvGrpSpPr/>
            <p:nvPr/>
          </p:nvGrpSpPr>
          <p:grpSpPr>
            <a:xfrm>
              <a:off x="3348000" y="6084000"/>
              <a:ext cx="3275024" cy="288000"/>
              <a:chOff x="3348000" y="6084000"/>
              <a:chExt cx="3275024" cy="288000"/>
            </a:xfrm>
          </p:grpSpPr>
          <p:sp>
            <p:nvSpPr>
              <p:cNvPr id="96" name="Text Box 61">
                <a:extLst>
                  <a:ext uri="{FF2B5EF4-FFF2-40B4-BE49-F238E27FC236}">
                    <a16:creationId xmlns:a16="http://schemas.microsoft.com/office/drawing/2014/main" id="{74B9F948-606C-4086-9744-988D4FCC5B8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84000" y="6084000"/>
                <a:ext cx="180000" cy="180020"/>
              </a:xfrm>
              <a:prstGeom prst="rect">
                <a:avLst/>
              </a:prstGeom>
              <a:solidFill>
                <a:srgbClr val="FFCC99"/>
              </a:solidFill>
              <a:ln w="19050">
                <a:noFill/>
                <a:miter lim="800000"/>
              </a:ln>
              <a:effectLst/>
            </p:spPr>
            <p:txBody>
              <a:bodyPr lIns="0" tIns="0" rIns="0" bIns="0" anchor="ctr" anchorCtr="0"/>
              <a:lstStyle/>
              <a:p>
                <a:pPr>
                  <a:lnSpc>
                    <a:spcPct val="80000"/>
                  </a:lnSpc>
                </a:pPr>
                <a:r>
                  <a:rPr lang="en-US" altLang="zh-CN" sz="1400" b="1" dirty="0">
                    <a:latin typeface="+mn-ea"/>
                    <a:ea typeface="+mn-ea"/>
                  </a:rPr>
                  <a:t>1</a:t>
                </a:r>
              </a:p>
            </p:txBody>
          </p:sp>
          <p:sp>
            <p:nvSpPr>
              <p:cNvPr id="72" name="Text Box 19">
                <a:extLst>
                  <a:ext uri="{FF2B5EF4-FFF2-40B4-BE49-F238E27FC236}">
                    <a16:creationId xmlns:a16="http://schemas.microsoft.com/office/drawing/2014/main" id="{AFB2712A-3F66-487C-95A4-151CE2B7BF5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36000" y="6156000"/>
                <a:ext cx="684000" cy="215982"/>
              </a:xfrm>
              <a:prstGeom prst="rect">
                <a:avLst/>
              </a:prstGeom>
              <a:solidFill>
                <a:srgbClr val="CCFFFF">
                  <a:alpha val="80000"/>
                </a:srgbClr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1080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zh-CN" altLang="en-US" sz="1600" b="1" dirty="0"/>
                  <a:t>同步头</a:t>
                </a:r>
              </a:p>
            </p:txBody>
          </p:sp>
          <p:sp>
            <p:nvSpPr>
              <p:cNvPr id="84" name="Text Box 19">
                <a:extLst>
                  <a:ext uri="{FF2B5EF4-FFF2-40B4-BE49-F238E27FC236}">
                    <a16:creationId xmlns:a16="http://schemas.microsoft.com/office/drawing/2014/main" id="{522C0571-60F5-458B-B0E5-58D674EE014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20000" y="6156000"/>
                <a:ext cx="684000" cy="215982"/>
              </a:xfrm>
              <a:prstGeom prst="rect">
                <a:avLst/>
              </a:prstGeom>
              <a:solidFill>
                <a:srgbClr val="FFCCFF">
                  <a:alpha val="80000"/>
                </a:srgbClr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1080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zh-CN" altLang="en-US" sz="1600" b="1" dirty="0"/>
                  <a:t>帧类型</a:t>
                </a:r>
              </a:p>
            </p:txBody>
          </p:sp>
          <p:sp>
            <p:nvSpPr>
              <p:cNvPr id="85" name="Text Box 19">
                <a:extLst>
                  <a:ext uri="{FF2B5EF4-FFF2-40B4-BE49-F238E27FC236}">
                    <a16:creationId xmlns:a16="http://schemas.microsoft.com/office/drawing/2014/main" id="{39D9C02A-0834-40DE-8F61-F5BBB908354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004000" y="6156018"/>
                <a:ext cx="756000" cy="215982"/>
              </a:xfrm>
              <a:prstGeom prst="rect">
                <a:avLst/>
              </a:prstGeom>
              <a:solidFill>
                <a:srgbClr val="99CCFF">
                  <a:alpha val="80000"/>
                </a:srgbClr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1080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zh-CN" altLang="en-US" sz="1600" b="1" dirty="0"/>
                  <a:t>数据域</a:t>
                </a:r>
              </a:p>
            </p:txBody>
          </p:sp>
          <p:sp>
            <p:nvSpPr>
              <p:cNvPr id="86" name="Text Box 19">
                <a:extLst>
                  <a:ext uri="{FF2B5EF4-FFF2-40B4-BE49-F238E27FC236}">
                    <a16:creationId xmlns:a16="http://schemas.microsoft.com/office/drawing/2014/main" id="{5863C774-D562-4213-BE26-D4BB877B05B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759024" y="6156018"/>
                <a:ext cx="684000" cy="215982"/>
              </a:xfrm>
              <a:prstGeom prst="rect">
                <a:avLst/>
              </a:prstGeom>
              <a:solidFill>
                <a:srgbClr val="CCFFFF">
                  <a:alpha val="80000"/>
                </a:srgbClr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1080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zh-CN" altLang="en-US" sz="1600" b="1" dirty="0"/>
                  <a:t>同步尾</a:t>
                </a:r>
              </a:p>
            </p:txBody>
          </p:sp>
          <p:cxnSp>
            <p:nvCxnSpPr>
              <p:cNvPr id="90" name="直接连接符 89">
                <a:extLst>
                  <a:ext uri="{FF2B5EF4-FFF2-40B4-BE49-F238E27FC236}">
                    <a16:creationId xmlns:a16="http://schemas.microsoft.com/office/drawing/2014/main" id="{59B48D6B-E2E4-4922-8DE4-26AD716FD1DE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3348000" y="6264000"/>
                <a:ext cx="288000" cy="0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91" name="直接连接符 90">
                <a:extLst>
                  <a:ext uri="{FF2B5EF4-FFF2-40B4-BE49-F238E27FC236}">
                    <a16:creationId xmlns:a16="http://schemas.microsoft.com/office/drawing/2014/main" id="{714660C2-3333-479B-993A-42D1D75CF03C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6443024" y="6264000"/>
                <a:ext cx="180000" cy="0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95" name="直接连接符 94">
                <a:extLst>
                  <a:ext uri="{FF2B5EF4-FFF2-40B4-BE49-F238E27FC236}">
                    <a16:creationId xmlns:a16="http://schemas.microsoft.com/office/drawing/2014/main" id="{62C929BF-186F-4361-883F-09BD71249886}"/>
                  </a:ext>
                </a:extLst>
              </p:cNvPr>
              <p:cNvCxnSpPr/>
              <p:nvPr/>
            </p:nvCxnSpPr>
            <p:spPr bwMode="auto">
              <a:xfrm>
                <a:off x="3384000" y="6210000"/>
                <a:ext cx="108000" cy="108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</p:grpSp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62A68644-7A91-4647-A26A-D1B9FF46DD28}"/>
                </a:ext>
              </a:extLst>
            </p:cNvPr>
            <p:cNvGrpSpPr/>
            <p:nvPr/>
          </p:nvGrpSpPr>
          <p:grpSpPr>
            <a:xfrm>
              <a:off x="972000" y="6084000"/>
              <a:ext cx="2051616" cy="288032"/>
              <a:chOff x="1044000" y="6084000"/>
              <a:chExt cx="2051616" cy="288032"/>
            </a:xfrm>
          </p:grpSpPr>
          <p:sp>
            <p:nvSpPr>
              <p:cNvPr id="98" name="Text Box 61">
                <a:extLst>
                  <a:ext uri="{FF2B5EF4-FFF2-40B4-BE49-F238E27FC236}">
                    <a16:creationId xmlns:a16="http://schemas.microsoft.com/office/drawing/2014/main" id="{9EC576C5-A029-4DDE-AE65-1876E07DA0B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80000" y="6084000"/>
                <a:ext cx="180000" cy="180020"/>
              </a:xfrm>
              <a:prstGeom prst="rect">
                <a:avLst/>
              </a:prstGeom>
              <a:solidFill>
                <a:srgbClr val="FFCC99"/>
              </a:solidFill>
              <a:ln w="19050">
                <a:noFill/>
                <a:miter lim="800000"/>
              </a:ln>
              <a:effectLst/>
            </p:spPr>
            <p:txBody>
              <a:bodyPr lIns="0" tIns="0" rIns="0" bIns="0" anchor="ctr" anchorCtr="0"/>
              <a:lstStyle/>
              <a:p>
                <a:pPr>
                  <a:lnSpc>
                    <a:spcPct val="80000"/>
                  </a:lnSpc>
                </a:pPr>
                <a:r>
                  <a:rPr lang="en-US" altLang="zh-CN" sz="1400" b="1" dirty="0">
                    <a:latin typeface="+mn-ea"/>
                    <a:ea typeface="+mn-ea"/>
                  </a:rPr>
                  <a:t>n</a:t>
                </a:r>
              </a:p>
            </p:txBody>
          </p:sp>
          <p:sp>
            <p:nvSpPr>
              <p:cNvPr id="60" name="AutoShape 215"/>
              <p:cNvSpPr>
                <a:spLocks noChangeArrowheads="1"/>
              </p:cNvSpPr>
              <p:nvPr/>
            </p:nvSpPr>
            <p:spPr bwMode="auto">
              <a:xfrm>
                <a:off x="1330872" y="6156008"/>
                <a:ext cx="432000" cy="216024"/>
              </a:xfrm>
              <a:prstGeom prst="hexagon">
                <a:avLst>
                  <a:gd name="adj" fmla="val 31447"/>
                  <a:gd name="vf" fmla="val 115470"/>
                </a:avLst>
              </a:prstGeom>
              <a:solidFill>
                <a:srgbClr val="99CCFF"/>
              </a:solidFill>
              <a:ln w="15875" algn="ctr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10800" anchor="ctr">
                <a:no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dirty="0">
                    <a:latin typeface="+mn-ea"/>
                    <a:ea typeface="+mn-ea"/>
                  </a:rPr>
                  <a:t>D1</a:t>
                </a:r>
                <a:endParaRPr lang="zh-CN" altLang="en-US" sz="1600" b="1" dirty="0">
                  <a:latin typeface="+mn-ea"/>
                  <a:ea typeface="+mn-ea"/>
                </a:endParaRPr>
              </a:p>
            </p:txBody>
          </p:sp>
          <p:sp>
            <p:nvSpPr>
              <p:cNvPr id="61" name="AutoShape 215"/>
              <p:cNvSpPr>
                <a:spLocks noChangeArrowheads="1"/>
              </p:cNvSpPr>
              <p:nvPr/>
            </p:nvSpPr>
            <p:spPr bwMode="auto">
              <a:xfrm>
                <a:off x="1907616" y="6156008"/>
                <a:ext cx="432000" cy="216024"/>
              </a:xfrm>
              <a:prstGeom prst="hexagon">
                <a:avLst>
                  <a:gd name="adj" fmla="val 31447"/>
                  <a:gd name="vf" fmla="val 115470"/>
                </a:avLst>
              </a:prstGeom>
              <a:solidFill>
                <a:srgbClr val="99CCFF"/>
              </a:solidFill>
              <a:ln w="15875" algn="ctr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10800" anchor="ctr">
                <a:no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dirty="0">
                    <a:latin typeface="+mn-ea"/>
                    <a:ea typeface="+mn-ea"/>
                  </a:rPr>
                  <a:t>D2</a:t>
                </a:r>
                <a:endParaRPr lang="zh-CN" altLang="en-US" sz="1600" b="1" dirty="0">
                  <a:latin typeface="+mn-ea"/>
                  <a:ea typeface="+mn-ea"/>
                </a:endParaRPr>
              </a:p>
            </p:txBody>
          </p:sp>
          <p:cxnSp>
            <p:nvCxnSpPr>
              <p:cNvPr id="62" name="直接连接符 61"/>
              <p:cNvCxnSpPr/>
              <p:nvPr/>
            </p:nvCxnSpPr>
            <p:spPr bwMode="auto">
              <a:xfrm>
                <a:off x="1044000" y="6264000"/>
                <a:ext cx="288000" cy="0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63" name="直接连接符 62"/>
              <p:cNvCxnSpPr>
                <a:cxnSpLocks/>
              </p:cNvCxnSpPr>
              <p:nvPr/>
            </p:nvCxnSpPr>
            <p:spPr bwMode="auto">
              <a:xfrm>
                <a:off x="1762872" y="6265872"/>
                <a:ext cx="144000" cy="0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87" name="AutoShape 215">
                <a:extLst>
                  <a:ext uri="{FF2B5EF4-FFF2-40B4-BE49-F238E27FC236}">
                    <a16:creationId xmlns:a16="http://schemas.microsoft.com/office/drawing/2014/main" id="{EB5BA0B6-09C5-4FF3-B426-08081D6DFF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83616" y="6156000"/>
                <a:ext cx="432000" cy="216024"/>
              </a:xfrm>
              <a:prstGeom prst="hexagon">
                <a:avLst>
                  <a:gd name="adj" fmla="val 31447"/>
                  <a:gd name="vf" fmla="val 115470"/>
                </a:avLst>
              </a:prstGeom>
              <a:solidFill>
                <a:srgbClr val="99CCFF"/>
              </a:solidFill>
              <a:ln w="15875" algn="ctr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10800" anchor="ctr">
                <a:no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dirty="0">
                    <a:latin typeface="+mn-ea"/>
                    <a:ea typeface="+mn-ea"/>
                  </a:rPr>
                  <a:t>D3</a:t>
                </a:r>
                <a:endParaRPr lang="zh-CN" altLang="en-US" sz="1600" b="1" dirty="0">
                  <a:latin typeface="+mn-ea"/>
                  <a:ea typeface="+mn-ea"/>
                </a:endParaRPr>
              </a:p>
            </p:txBody>
          </p:sp>
          <p:cxnSp>
            <p:nvCxnSpPr>
              <p:cNvPr id="88" name="直接连接符 87">
                <a:extLst>
                  <a:ext uri="{FF2B5EF4-FFF2-40B4-BE49-F238E27FC236}">
                    <a16:creationId xmlns:a16="http://schemas.microsoft.com/office/drawing/2014/main" id="{9D008E2B-5CFD-4D08-A44F-F2DEE63764A5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2339616" y="6264000"/>
                <a:ext cx="144000" cy="0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89" name="直接连接符 88">
                <a:extLst>
                  <a:ext uri="{FF2B5EF4-FFF2-40B4-BE49-F238E27FC236}">
                    <a16:creationId xmlns:a16="http://schemas.microsoft.com/office/drawing/2014/main" id="{7A8DBD8A-F06C-4417-9539-5476C1477992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2915616" y="6264000"/>
                <a:ext cx="180000" cy="0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97" name="直接连接符 96">
                <a:extLst>
                  <a:ext uri="{FF2B5EF4-FFF2-40B4-BE49-F238E27FC236}">
                    <a16:creationId xmlns:a16="http://schemas.microsoft.com/office/drawing/2014/main" id="{4A3EE760-FA46-41B7-B60A-56BE630F16B1}"/>
                  </a:ext>
                </a:extLst>
              </p:cNvPr>
              <p:cNvCxnSpPr/>
              <p:nvPr/>
            </p:nvCxnSpPr>
            <p:spPr bwMode="auto">
              <a:xfrm>
                <a:off x="1080000" y="6210000"/>
                <a:ext cx="108000" cy="108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</p:grp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87732D64-36DB-4A68-B9C3-83CD6AD900B5}"/>
              </a:ext>
            </a:extLst>
          </p:cNvPr>
          <p:cNvGrpSpPr/>
          <p:nvPr/>
        </p:nvGrpSpPr>
        <p:grpSpPr>
          <a:xfrm>
            <a:off x="3673080" y="3070800"/>
            <a:ext cx="3239408" cy="252000"/>
            <a:chOff x="3492592" y="3070800"/>
            <a:chExt cx="3239408" cy="252000"/>
          </a:xfrm>
        </p:grpSpPr>
        <p:grpSp>
          <p:nvGrpSpPr>
            <p:cNvPr id="16" name="组合 15">
              <a:extLst>
                <a:ext uri="{FF2B5EF4-FFF2-40B4-BE49-F238E27FC236}">
                  <a16:creationId xmlns:a16="http://schemas.microsoft.com/office/drawing/2014/main" id="{CCC3D986-5E3C-470D-AC21-D09657E640DA}"/>
                </a:ext>
              </a:extLst>
            </p:cNvPr>
            <p:cNvGrpSpPr/>
            <p:nvPr/>
          </p:nvGrpSpPr>
          <p:grpSpPr>
            <a:xfrm>
              <a:off x="6084000" y="3070800"/>
              <a:ext cx="648000" cy="252000"/>
              <a:chOff x="5315807" y="6336000"/>
              <a:chExt cx="648000" cy="252000"/>
            </a:xfrm>
          </p:grpSpPr>
          <p:cxnSp>
            <p:nvCxnSpPr>
              <p:cNvPr id="100" name="直接连接符 99">
                <a:extLst>
                  <a:ext uri="{FF2B5EF4-FFF2-40B4-BE49-F238E27FC236}">
                    <a16:creationId xmlns:a16="http://schemas.microsoft.com/office/drawing/2014/main" id="{BFA0FE88-B8DC-42E7-A24B-B41610D03A53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5423807" y="6336000"/>
                <a:ext cx="0" cy="25200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rgbClr val="990099"/>
                </a:solidFill>
                <a:prstDash val="solid"/>
                <a:round/>
                <a:headEnd type="none" w="sm" len="sm"/>
                <a:tailEnd type="arrow" w="sm" len="sm"/>
              </a:ln>
              <a:effectLst/>
            </p:spPr>
          </p:cxnSp>
          <p:cxnSp>
            <p:nvCxnSpPr>
              <p:cNvPr id="101" name="直接连接符 100">
                <a:extLst>
                  <a:ext uri="{FF2B5EF4-FFF2-40B4-BE49-F238E27FC236}">
                    <a16:creationId xmlns:a16="http://schemas.microsoft.com/office/drawing/2014/main" id="{58BC0400-63D7-47C8-BDB2-5B8F6F4EDDBE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5315807" y="6336000"/>
                <a:ext cx="0" cy="25200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rgbClr val="990099"/>
                </a:solidFill>
                <a:prstDash val="solid"/>
                <a:round/>
                <a:headEnd type="none" w="sm" len="sm"/>
                <a:tailEnd type="arrow" w="sm" len="sm"/>
              </a:ln>
              <a:effectLst/>
            </p:spPr>
          </p:cxnSp>
          <p:sp>
            <p:nvSpPr>
              <p:cNvPr id="102" name="Text Box 61">
                <a:extLst>
                  <a:ext uri="{FF2B5EF4-FFF2-40B4-BE49-F238E27FC236}">
                    <a16:creationId xmlns:a16="http://schemas.microsoft.com/office/drawing/2014/main" id="{60F005B9-F9CD-4AA9-8511-1912658201A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459807" y="6372000"/>
                <a:ext cx="504000" cy="216000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lIns="0" tIns="18000" rIns="0" bIns="0" anchor="ctr" anchorCtr="0"/>
              <a:lstStyle/>
              <a:p>
                <a:pPr>
                  <a:lnSpc>
                    <a:spcPct val="80000"/>
                  </a:lnSpc>
                </a:pPr>
                <a:r>
                  <a:rPr lang="zh-CN" altLang="en-US" sz="1600" b="1" dirty="0">
                    <a:latin typeface="+mn-ea"/>
                    <a:ea typeface="+mn-ea"/>
                  </a:rPr>
                  <a:t>位间</a:t>
                </a:r>
                <a:endParaRPr lang="en-US" altLang="zh-CN" sz="1600" b="1" dirty="0">
                  <a:latin typeface="+mn-ea"/>
                  <a:ea typeface="+mn-ea"/>
                </a:endParaRPr>
              </a:p>
            </p:txBody>
          </p:sp>
        </p:grpSp>
        <p:grpSp>
          <p:nvGrpSpPr>
            <p:cNvPr id="15" name="组合 14">
              <a:extLst>
                <a:ext uri="{FF2B5EF4-FFF2-40B4-BE49-F238E27FC236}">
                  <a16:creationId xmlns:a16="http://schemas.microsoft.com/office/drawing/2014/main" id="{88515C84-CE84-4654-A588-8EBDB3E8D3CA}"/>
                </a:ext>
              </a:extLst>
            </p:cNvPr>
            <p:cNvGrpSpPr/>
            <p:nvPr/>
          </p:nvGrpSpPr>
          <p:grpSpPr>
            <a:xfrm>
              <a:off x="3492592" y="3070800"/>
              <a:ext cx="1296000" cy="252000"/>
              <a:chOff x="1404000" y="6372000"/>
              <a:chExt cx="1296000" cy="252000"/>
            </a:xfrm>
          </p:grpSpPr>
          <p:cxnSp>
            <p:nvCxnSpPr>
              <p:cNvPr id="66" name="直接连接符 65"/>
              <p:cNvCxnSpPr>
                <a:cxnSpLocks/>
              </p:cNvCxnSpPr>
              <p:nvPr/>
            </p:nvCxnSpPr>
            <p:spPr bwMode="auto">
              <a:xfrm flipV="1">
                <a:off x="1980000" y="6372000"/>
                <a:ext cx="0" cy="25200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rgbClr val="990099"/>
                </a:solidFill>
                <a:prstDash val="solid"/>
                <a:round/>
                <a:headEnd type="none" w="sm" len="sm"/>
                <a:tailEnd type="arrow" w="sm" len="sm"/>
              </a:ln>
              <a:effectLst/>
            </p:spPr>
          </p:cxnSp>
          <p:cxnSp>
            <p:nvCxnSpPr>
              <p:cNvPr id="99" name="直接连接符 98">
                <a:extLst>
                  <a:ext uri="{FF2B5EF4-FFF2-40B4-BE49-F238E27FC236}">
                    <a16:creationId xmlns:a16="http://schemas.microsoft.com/office/drawing/2014/main" id="{E966FBF0-2B66-4210-8D43-3780832043BE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1404000" y="6372000"/>
                <a:ext cx="0" cy="25200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rgbClr val="990099"/>
                </a:solidFill>
                <a:prstDash val="solid"/>
                <a:round/>
                <a:headEnd type="none" w="sm" len="sm"/>
                <a:tailEnd type="arrow" w="sm" len="sm"/>
              </a:ln>
              <a:effectLst/>
            </p:spPr>
          </p:cxnSp>
          <p:sp>
            <p:nvSpPr>
              <p:cNvPr id="103" name="Text Box 61">
                <a:extLst>
                  <a:ext uri="{FF2B5EF4-FFF2-40B4-BE49-F238E27FC236}">
                    <a16:creationId xmlns:a16="http://schemas.microsoft.com/office/drawing/2014/main" id="{8704AE4F-7435-4796-828C-9D7776630DC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52000" y="6408000"/>
                <a:ext cx="648000" cy="216000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lIns="0" tIns="18000" rIns="0" bIns="0" anchor="ctr" anchorCtr="0"/>
              <a:lstStyle/>
              <a:p>
                <a:pPr>
                  <a:lnSpc>
                    <a:spcPct val="80000"/>
                  </a:lnSpc>
                </a:pPr>
                <a:r>
                  <a:rPr lang="zh-CN" altLang="en-US" sz="1600" b="1" dirty="0">
                    <a:latin typeface="+mn-ea"/>
                    <a:ea typeface="+mn-ea"/>
                  </a:rPr>
                  <a:t>数据间</a:t>
                </a:r>
                <a:endParaRPr lang="en-US" altLang="zh-CN" sz="1600" b="1" dirty="0">
                  <a:latin typeface="+mn-ea"/>
                  <a:ea typeface="+mn-ea"/>
                </a:endParaRPr>
              </a:p>
            </p:txBody>
          </p:sp>
        </p:grp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BB4D5EF8-0237-4BED-8FDF-5AC07EA367ED}"/>
              </a:ext>
            </a:extLst>
          </p:cNvPr>
          <p:cNvGrpSpPr/>
          <p:nvPr/>
        </p:nvGrpSpPr>
        <p:grpSpPr>
          <a:xfrm>
            <a:off x="1619672" y="5373216"/>
            <a:ext cx="6120680" cy="937576"/>
            <a:chOff x="1619672" y="5436000"/>
            <a:chExt cx="6120680" cy="937576"/>
          </a:xfrm>
        </p:grpSpPr>
        <p:cxnSp>
          <p:nvCxnSpPr>
            <p:cNvPr id="135" name="直接连接符 134"/>
            <p:cNvCxnSpPr/>
            <p:nvPr/>
          </p:nvCxnSpPr>
          <p:spPr bwMode="auto">
            <a:xfrm>
              <a:off x="6984000" y="5832000"/>
              <a:ext cx="0" cy="294208"/>
            </a:xfrm>
            <a:prstGeom prst="line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0" name="直接连接符 139"/>
            <p:cNvCxnSpPr/>
            <p:nvPr/>
          </p:nvCxnSpPr>
          <p:spPr bwMode="auto">
            <a:xfrm>
              <a:off x="6930000" y="5904000"/>
              <a:ext cx="108000" cy="72008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41" name="Text Box 61"/>
            <p:cNvSpPr txBox="1">
              <a:spLocks noChangeArrowheads="1"/>
            </p:cNvSpPr>
            <p:nvPr/>
          </p:nvSpPr>
          <p:spPr bwMode="auto">
            <a:xfrm>
              <a:off x="6768000" y="5868000"/>
              <a:ext cx="216000" cy="18002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0" bIns="0" anchor="ctr" anchorCtr="0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1</a:t>
              </a:r>
            </a:p>
          </p:txBody>
        </p:sp>
        <p:sp>
          <p:nvSpPr>
            <p:cNvPr id="106" name="Text Box 72"/>
            <p:cNvSpPr txBox="1">
              <a:spLocks noChangeArrowheads="1"/>
            </p:cNvSpPr>
            <p:nvPr/>
          </p:nvSpPr>
          <p:spPr bwMode="auto">
            <a:xfrm>
              <a:off x="1620168" y="5580016"/>
              <a:ext cx="1476000" cy="6480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07" name="Text Box 72"/>
            <p:cNvSpPr txBox="1">
              <a:spLocks noChangeArrowheads="1"/>
            </p:cNvSpPr>
            <p:nvPr/>
          </p:nvSpPr>
          <p:spPr bwMode="auto">
            <a:xfrm>
              <a:off x="1691744" y="5651131"/>
              <a:ext cx="576000" cy="252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CPU</a:t>
              </a:r>
            </a:p>
          </p:txBody>
        </p:sp>
        <p:sp>
          <p:nvSpPr>
            <p:cNvPr id="108" name="Text Box 74"/>
            <p:cNvSpPr txBox="1">
              <a:spLocks noChangeArrowheads="1"/>
            </p:cNvSpPr>
            <p:nvPr/>
          </p:nvSpPr>
          <p:spPr bwMode="auto">
            <a:xfrm>
              <a:off x="2411824" y="5651131"/>
              <a:ext cx="576000" cy="25200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主存</a:t>
              </a:r>
            </a:p>
          </p:txBody>
        </p:sp>
        <p:sp>
          <p:nvSpPr>
            <p:cNvPr id="109" name="Text Box 75"/>
            <p:cNvSpPr txBox="1">
              <a:spLocks noChangeArrowheads="1"/>
            </p:cNvSpPr>
            <p:nvPr/>
          </p:nvSpPr>
          <p:spPr bwMode="auto">
            <a:xfrm>
              <a:off x="3203848" y="5582298"/>
              <a:ext cx="1152128" cy="252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I/O</a:t>
              </a:r>
              <a:r>
                <a:rPr lang="zh-CN" altLang="en-US" sz="1800" b="1" dirty="0">
                  <a:latin typeface="宋体" panose="02010600030101010101" pitchFamily="2" charset="-122"/>
                </a:rPr>
                <a:t>接口</a:t>
              </a:r>
              <a:r>
                <a:rPr lang="en-US" altLang="zh-CN" sz="1800" b="1" dirty="0" err="1">
                  <a:latin typeface="宋体" panose="02010600030101010101" pitchFamily="2" charset="-122"/>
                </a:rPr>
                <a:t>i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10" name="Text Box 79"/>
            <p:cNvSpPr txBox="1">
              <a:spLocks noChangeArrowheads="1"/>
            </p:cNvSpPr>
            <p:nvPr/>
          </p:nvSpPr>
          <p:spPr bwMode="auto">
            <a:xfrm>
              <a:off x="4571107" y="6121576"/>
              <a:ext cx="288925" cy="252000"/>
            </a:xfrm>
            <a:prstGeom prst="rect">
              <a:avLst/>
            </a:prstGeom>
            <a:noFill/>
            <a:ln w="222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latin typeface="+mn-ea"/>
                  <a:ea typeface="+mn-ea"/>
                </a:rPr>
                <a:t>…</a:t>
              </a:r>
            </a:p>
          </p:txBody>
        </p:sp>
        <p:sp>
          <p:nvSpPr>
            <p:cNvPr id="111" name="Text Box 80"/>
            <p:cNvSpPr txBox="1">
              <a:spLocks noChangeArrowheads="1"/>
            </p:cNvSpPr>
            <p:nvPr/>
          </p:nvSpPr>
          <p:spPr bwMode="auto">
            <a:xfrm>
              <a:off x="4427984" y="5436000"/>
              <a:ext cx="504000" cy="251917"/>
            </a:xfrm>
            <a:prstGeom prst="rect">
              <a:avLst/>
            </a:prstGeom>
            <a:noFill/>
            <a:ln w="222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zh-CN" altLang="en-US" sz="1600" b="1" dirty="0"/>
                <a:t>总线</a:t>
              </a:r>
            </a:p>
          </p:txBody>
        </p:sp>
        <p:cxnSp>
          <p:nvCxnSpPr>
            <p:cNvPr id="113" name="直接连接符 112"/>
            <p:cNvCxnSpPr>
              <a:cxnSpLocks/>
            </p:cNvCxnSpPr>
            <p:nvPr/>
          </p:nvCxnSpPr>
          <p:spPr bwMode="auto">
            <a:xfrm flipH="1">
              <a:off x="1979712" y="5436000"/>
              <a:ext cx="0" cy="207020"/>
            </a:xfrm>
            <a:prstGeom prst="line">
              <a:avLst/>
            </a:prstGeom>
            <a:noFill/>
            <a:ln w="28575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4" name="直接连接符 113"/>
            <p:cNvCxnSpPr>
              <a:cxnSpLocks/>
            </p:cNvCxnSpPr>
            <p:nvPr/>
          </p:nvCxnSpPr>
          <p:spPr bwMode="auto">
            <a:xfrm flipV="1">
              <a:off x="2699792" y="5436000"/>
              <a:ext cx="0" cy="205332"/>
            </a:xfrm>
            <a:prstGeom prst="line">
              <a:avLst/>
            </a:prstGeom>
            <a:noFill/>
            <a:ln w="28575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5" name="直接连接符 114"/>
            <p:cNvCxnSpPr/>
            <p:nvPr/>
          </p:nvCxnSpPr>
          <p:spPr bwMode="auto">
            <a:xfrm>
              <a:off x="1619672" y="5436000"/>
              <a:ext cx="6120000" cy="0"/>
            </a:xfrm>
            <a:prstGeom prst="line">
              <a:avLst/>
            </a:prstGeom>
            <a:noFill/>
            <a:ln w="28575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6" name="直接连接符 115"/>
            <p:cNvCxnSpPr>
              <a:cxnSpLocks/>
            </p:cNvCxnSpPr>
            <p:nvPr/>
          </p:nvCxnSpPr>
          <p:spPr bwMode="auto">
            <a:xfrm>
              <a:off x="3779912" y="5437414"/>
              <a:ext cx="0" cy="144884"/>
            </a:xfrm>
            <a:prstGeom prst="line">
              <a:avLst/>
            </a:prstGeom>
            <a:noFill/>
            <a:ln w="28575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18" name="Text Box 80"/>
            <p:cNvSpPr txBox="1">
              <a:spLocks noChangeArrowheads="1"/>
            </p:cNvSpPr>
            <p:nvPr/>
          </p:nvSpPr>
          <p:spPr bwMode="auto">
            <a:xfrm>
              <a:off x="2051522" y="5941576"/>
              <a:ext cx="576262" cy="251917"/>
            </a:xfrm>
            <a:prstGeom prst="rect">
              <a:avLst/>
            </a:prstGeom>
            <a:noFill/>
            <a:ln w="222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zh-CN" altLang="en-US" sz="1600" b="1" dirty="0"/>
                <a:t>主机</a:t>
              </a:r>
            </a:p>
          </p:txBody>
        </p:sp>
        <p:sp>
          <p:nvSpPr>
            <p:cNvPr id="121" name="Text Box 75"/>
            <p:cNvSpPr txBox="1">
              <a:spLocks noChangeArrowheads="1"/>
            </p:cNvSpPr>
            <p:nvPr/>
          </p:nvSpPr>
          <p:spPr bwMode="auto">
            <a:xfrm>
              <a:off x="6588224" y="5580884"/>
              <a:ext cx="1152128" cy="252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I/O</a:t>
              </a:r>
              <a:r>
                <a:rPr lang="zh-CN" altLang="en-US" sz="1800" b="1" dirty="0">
                  <a:latin typeface="宋体" panose="02010600030101010101" pitchFamily="2" charset="-122"/>
                </a:rPr>
                <a:t>接口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k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122" name="直接连接符 121"/>
            <p:cNvCxnSpPr>
              <a:cxnSpLocks/>
            </p:cNvCxnSpPr>
            <p:nvPr/>
          </p:nvCxnSpPr>
          <p:spPr bwMode="auto">
            <a:xfrm>
              <a:off x="7164288" y="5436000"/>
              <a:ext cx="0" cy="144884"/>
            </a:xfrm>
            <a:prstGeom prst="line">
              <a:avLst/>
            </a:prstGeom>
            <a:noFill/>
            <a:ln w="28575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1" name="直接连接符 130"/>
            <p:cNvCxnSpPr/>
            <p:nvPr/>
          </p:nvCxnSpPr>
          <p:spPr bwMode="auto">
            <a:xfrm>
              <a:off x="5363944" y="5832000"/>
              <a:ext cx="0" cy="294208"/>
            </a:xfrm>
            <a:prstGeom prst="line">
              <a:avLst/>
            </a:prstGeom>
            <a:noFill/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7" name="直接连接符 136"/>
            <p:cNvCxnSpPr/>
            <p:nvPr/>
          </p:nvCxnSpPr>
          <p:spPr bwMode="auto">
            <a:xfrm>
              <a:off x="5309944" y="5904000"/>
              <a:ext cx="108000" cy="72008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38" name="Text Box 61"/>
            <p:cNvSpPr txBox="1">
              <a:spLocks noChangeArrowheads="1"/>
            </p:cNvSpPr>
            <p:nvPr/>
          </p:nvSpPr>
          <p:spPr bwMode="auto">
            <a:xfrm>
              <a:off x="5147944" y="5868000"/>
              <a:ext cx="216000" cy="18002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0" bIns="0" anchor="ctr" anchorCtr="0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latin typeface="+mn-ea"/>
                  <a:ea typeface="+mn-ea"/>
                </a:rPr>
                <a:t>n</a:t>
              </a:r>
            </a:p>
          </p:txBody>
        </p:sp>
        <p:sp>
          <p:nvSpPr>
            <p:cNvPr id="119" name="Text Box 75"/>
            <p:cNvSpPr txBox="1">
              <a:spLocks noChangeArrowheads="1"/>
            </p:cNvSpPr>
            <p:nvPr/>
          </p:nvSpPr>
          <p:spPr bwMode="auto">
            <a:xfrm>
              <a:off x="5004000" y="5580884"/>
              <a:ext cx="1152128" cy="252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I/O</a:t>
              </a:r>
              <a:r>
                <a:rPr lang="zh-CN" altLang="en-US" sz="1800" b="1" dirty="0">
                  <a:latin typeface="宋体" panose="02010600030101010101" pitchFamily="2" charset="-122"/>
                </a:rPr>
                <a:t>接口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j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120" name="直接连接符 119"/>
            <p:cNvCxnSpPr>
              <a:cxnSpLocks/>
            </p:cNvCxnSpPr>
            <p:nvPr/>
          </p:nvCxnSpPr>
          <p:spPr bwMode="auto">
            <a:xfrm>
              <a:off x="5580064" y="5436000"/>
              <a:ext cx="0" cy="144884"/>
            </a:xfrm>
            <a:prstGeom prst="line">
              <a:avLst/>
            </a:prstGeom>
            <a:noFill/>
            <a:ln w="28575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77" name="Text Box 81"/>
            <p:cNvSpPr txBox="1">
              <a:spLocks noChangeArrowheads="1"/>
            </p:cNvSpPr>
            <p:nvPr/>
          </p:nvSpPr>
          <p:spPr bwMode="auto">
            <a:xfrm>
              <a:off x="5004000" y="6120000"/>
              <a:ext cx="1152128" cy="2520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外设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(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并行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)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78" name="Text Box 81"/>
            <p:cNvSpPr txBox="1">
              <a:spLocks noChangeArrowheads="1"/>
            </p:cNvSpPr>
            <p:nvPr/>
          </p:nvSpPr>
          <p:spPr bwMode="auto">
            <a:xfrm>
              <a:off x="6588224" y="6120000"/>
              <a:ext cx="1152128" cy="2520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外设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(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串行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)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79" name="Text Box 81"/>
            <p:cNvSpPr txBox="1">
              <a:spLocks noChangeArrowheads="1"/>
            </p:cNvSpPr>
            <p:nvPr/>
          </p:nvSpPr>
          <p:spPr bwMode="auto">
            <a:xfrm>
              <a:off x="3203848" y="6120000"/>
              <a:ext cx="1152128" cy="2520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外设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(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简单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)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104" name="直接连接符 103">
              <a:extLst>
                <a:ext uri="{FF2B5EF4-FFF2-40B4-BE49-F238E27FC236}">
                  <a16:creationId xmlns:a16="http://schemas.microsoft.com/office/drawing/2014/main" id="{0B06F8F1-DAD3-42F9-AE66-4C39BBF9BBA0}"/>
                </a:ext>
              </a:extLst>
            </p:cNvPr>
            <p:cNvCxnSpPr/>
            <p:nvPr/>
          </p:nvCxnSpPr>
          <p:spPr bwMode="auto">
            <a:xfrm>
              <a:off x="3600000" y="5832000"/>
              <a:ext cx="0" cy="294208"/>
            </a:xfrm>
            <a:prstGeom prst="line">
              <a:avLst/>
            </a:prstGeom>
            <a:noFill/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5" name="直接连接符 104">
              <a:extLst>
                <a:ext uri="{FF2B5EF4-FFF2-40B4-BE49-F238E27FC236}">
                  <a16:creationId xmlns:a16="http://schemas.microsoft.com/office/drawing/2014/main" id="{AAE27E89-95DF-4D41-BF28-826864B74FFD}"/>
                </a:ext>
              </a:extLst>
            </p:cNvPr>
            <p:cNvCxnSpPr/>
            <p:nvPr/>
          </p:nvCxnSpPr>
          <p:spPr bwMode="auto">
            <a:xfrm>
              <a:off x="3546000" y="5904000"/>
              <a:ext cx="108000" cy="72008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12" name="Text Box 61">
              <a:extLst>
                <a:ext uri="{FF2B5EF4-FFF2-40B4-BE49-F238E27FC236}">
                  <a16:creationId xmlns:a16="http://schemas.microsoft.com/office/drawing/2014/main" id="{2FF46D68-B02A-4ACB-ACF3-B6A48E6E17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84000" y="5868000"/>
              <a:ext cx="216000" cy="18002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0" bIns="0" anchor="ctr" anchorCtr="0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latin typeface="+mn-ea"/>
                  <a:ea typeface="+mn-ea"/>
                </a:rPr>
                <a:t>n</a:t>
              </a:r>
            </a:p>
          </p:txBody>
        </p:sp>
      </p:grpSp>
      <p:sp>
        <p:nvSpPr>
          <p:cNvPr id="80" name="Text Box 145">
            <a:extLst>
              <a:ext uri="{FF2B5EF4-FFF2-40B4-BE49-F238E27FC236}">
                <a16:creationId xmlns:a16="http://schemas.microsoft.com/office/drawing/2014/main" id="{3BAAA188-DEA7-4A34-B815-FD118D3DC3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59976" y="3645024"/>
            <a:ext cx="4572264" cy="1638236"/>
          </a:xfrm>
          <a:prstGeom prst="rect">
            <a:avLst/>
          </a:prstGeom>
          <a:noFill/>
          <a:ln w="38100">
            <a:noFill/>
            <a:miter lim="800000"/>
          </a:ln>
          <a:effectLst/>
        </p:spPr>
        <p:txBody>
          <a:bodyPr wrap="square" tIns="64800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无需</a:t>
            </a:r>
            <a:r>
              <a:rPr lang="zh-CN" altLang="en-US" sz="2200" b="1" dirty="0">
                <a:latin typeface="宋体" panose="02010600030101010101" pitchFamily="2" charset="-122"/>
              </a:rPr>
              <a:t>联络信号线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</a:rPr>
              <a:t>随时有效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lang="zh-CN" altLang="en-US" sz="2200" b="1" dirty="0">
                <a:latin typeface="宋体" panose="02010600030101010101" pitchFamily="2" charset="-122"/>
              </a:rPr>
              <a:t>用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请求</a:t>
            </a:r>
            <a:r>
              <a:rPr lang="en-US" altLang="zh-CN" sz="22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/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应答线</a:t>
            </a:r>
            <a:r>
              <a:rPr lang="zh-CN" altLang="en-US" sz="2200" b="1" dirty="0">
                <a:latin typeface="宋体" panose="02010600030101010101" pitchFamily="2" charset="-122"/>
              </a:rPr>
              <a:t>指明</a:t>
            </a:r>
            <a:r>
              <a:rPr lang="en-US" altLang="zh-CN" sz="1600" b="1" dirty="0">
                <a:latin typeface="宋体" panose="02010600030101010101" pitchFamily="2" charset="-122"/>
              </a:rPr>
              <a:t>(1</a:t>
            </a:r>
            <a:r>
              <a:rPr lang="zh-CN" altLang="en-US" sz="1600" b="1" dirty="0">
                <a:latin typeface="宋体" panose="02010600030101010101" pitchFamily="2" charset="-122"/>
              </a:rPr>
              <a:t>个数据</a:t>
            </a:r>
            <a:r>
              <a:rPr lang="en-US" altLang="zh-CN" sz="1600" b="1" dirty="0">
                <a:latin typeface="宋体" panose="02010600030101010101" pitchFamily="2" charset="-122"/>
              </a:rPr>
              <a:t>/</a:t>
            </a:r>
            <a:r>
              <a:rPr lang="zh-CN" altLang="en-US" sz="1600" b="1" dirty="0">
                <a:latin typeface="宋体" panose="02010600030101010101" pitchFamily="2" charset="-122"/>
              </a:rPr>
              <a:t>定时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  <a:endParaRPr lang="en-US" altLang="zh-CN" sz="1600" b="1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lang="zh-CN" altLang="en-US" sz="2200" b="1" dirty="0">
                <a:latin typeface="宋体" panose="02010600030101010101" pitchFamily="2" charset="-122"/>
              </a:rPr>
              <a:t>用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同步头</a:t>
            </a:r>
            <a:r>
              <a:rPr lang="zh-CN" altLang="en-US" sz="2200" b="1" dirty="0">
                <a:latin typeface="宋体" panose="02010600030101010101" pitchFamily="2" charset="-122"/>
              </a:rPr>
              <a:t>或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时钟线</a:t>
            </a:r>
            <a:r>
              <a:rPr lang="zh-CN" altLang="en-US" sz="2200" b="1" dirty="0">
                <a:latin typeface="宋体" panose="02010600030101010101" pitchFamily="2" charset="-122"/>
              </a:rPr>
              <a:t>指明</a:t>
            </a:r>
            <a:r>
              <a:rPr lang="en-US" altLang="zh-CN" sz="1600" b="1" dirty="0">
                <a:latin typeface="宋体" panose="02010600030101010101" pitchFamily="2" charset="-122"/>
              </a:rPr>
              <a:t>(1</a:t>
            </a:r>
            <a:r>
              <a:rPr lang="zh-CN" altLang="en-US" sz="1600" b="1" dirty="0">
                <a:latin typeface="宋体" panose="02010600030101010101" pitchFamily="2" charset="-122"/>
              </a:rPr>
              <a:t>个位</a:t>
            </a:r>
            <a:r>
              <a:rPr lang="en-US" altLang="zh-CN" sz="1600" b="1" dirty="0">
                <a:latin typeface="宋体" panose="02010600030101010101" pitchFamily="2" charset="-122"/>
              </a:rPr>
              <a:t>/</a:t>
            </a:r>
            <a:r>
              <a:rPr lang="zh-CN" altLang="en-US" sz="1600" b="1" dirty="0">
                <a:latin typeface="宋体" panose="02010600030101010101" pitchFamily="2" charset="-122"/>
              </a:rPr>
              <a:t>定时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  <a:endParaRPr lang="zh-CN" altLang="en-US" sz="2200" b="1" dirty="0">
              <a:latin typeface="宋体" panose="02010600030101010101" pitchFamily="2" charset="-122"/>
            </a:endParaRPr>
          </a:p>
          <a:p>
            <a:pPr algn="l">
              <a:lnSpc>
                <a:spcPct val="105000"/>
              </a:lnSpc>
            </a:pP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   </a:t>
            </a:r>
            <a:r>
              <a:rPr lang="en-US" altLang="zh-CN" sz="1800" dirty="0">
                <a:latin typeface="宋体" panose="02010600030101010101" pitchFamily="2" charset="-122"/>
                <a:sym typeface="+mn-ea"/>
              </a:rPr>
              <a:t>└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←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帧中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  </a:t>
            </a:r>
            <a:r>
              <a:rPr lang="en-US" altLang="zh-CN" sz="1800" dirty="0">
                <a:latin typeface="宋体" panose="02010600030101010101" pitchFamily="2" charset="-122"/>
                <a:sym typeface="+mn-ea"/>
              </a:rPr>
              <a:t>└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←</a:t>
            </a:r>
            <a:r>
              <a:rPr lang="zh-CN" altLang="en-US" sz="18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常省略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600" b="1" u="sng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约定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或</a:t>
            </a:r>
            <a:r>
              <a:rPr lang="zh-CN" altLang="en-US" sz="1600" b="1" u="sng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侦测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速率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)</a:t>
            </a:r>
            <a:endParaRPr lang="en-US" altLang="zh-CN" sz="1800" b="1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2" presetClass="entr" presetSubtype="1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" presetClass="entr" presetSubtype="1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12" presetClass="entr" presetSubtype="4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9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9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9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75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72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500"/>
                            </p:stCondLst>
                            <p:childTnLst>
                              <p:par>
                                <p:cTn id="7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1" dur="500"/>
                                        <p:tgtEl>
                                          <p:spTgt spid="8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1000"/>
                            </p:stCondLst>
                            <p:childTnLst>
                              <p:par>
                                <p:cTn id="83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75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6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" grpId="0" animBg="1"/>
      <p:bldP spid="8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BFB63-B979-4FAE-8763-D7093A979077}" type="slidenum">
              <a:rPr lang="en-US" altLang="zh-CN" smtClean="0"/>
              <a:t>9</a:t>
            </a:fld>
            <a:endParaRPr lang="en-US" altLang="zh-CN"/>
          </a:p>
        </p:txBody>
      </p:sp>
      <p:sp>
        <p:nvSpPr>
          <p:cNvPr id="32" name="AutoShape 62">
            <a:hlinkClick r:id="rId3" action="ppaction://hlinksldjump"/>
          </p:cNvPr>
          <p:cNvSpPr>
            <a:spLocks noChangeArrowheads="1"/>
          </p:cNvSpPr>
          <p:nvPr/>
        </p:nvSpPr>
        <p:spPr bwMode="auto">
          <a:xfrm rot="16200000">
            <a:off x="2916164" y="6524996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eaVert" wrap="none" lIns="0" tIns="0" rIns="0" bIns="0" anchor="ctr"/>
          <a:lstStyle/>
          <a:p>
            <a:pPr algn="ctr"/>
            <a:r>
              <a:rPr lang="en-US" altLang="zh-CN" sz="1600" dirty="0">
                <a:solidFill>
                  <a:schemeClr val="bg2"/>
                </a:solidFill>
                <a:latin typeface="+mn-ea"/>
                <a:ea typeface="+mn-ea"/>
              </a:rPr>
              <a:t>7</a:t>
            </a:r>
            <a:endParaRPr lang="zh-CN" altLang="en-US" sz="1600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33" name="AutoShape 69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4068638" y="6526038"/>
            <a:ext cx="287338" cy="287338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" name="Text Box 88">
            <a:extLst>
              <a:ext uri="{FF2B5EF4-FFF2-40B4-BE49-F238E27FC236}">
                <a16:creationId xmlns:a16="http://schemas.microsoft.com/office/drawing/2014/main" id="{1A7FD1C8-75DF-4443-BB64-D14220F373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295758"/>
            <a:ext cx="5220820" cy="599491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 ※I/O</a:t>
            </a:r>
            <a:r>
              <a:rPr lang="zh-CN" altLang="en-US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系统的组成小结：</a:t>
            </a:r>
            <a:endParaRPr lang="en-US" altLang="zh-CN" sz="2200" b="1" dirty="0">
              <a:solidFill>
                <a:srgbClr val="FF3399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lang="zh-CN" altLang="en-US" sz="2000" b="1" dirty="0">
                <a:solidFill>
                  <a:srgbClr val="C00000"/>
                </a:solidFill>
                <a:latin typeface="宋体" panose="02010600030101010101" pitchFamily="2" charset="-122"/>
              </a:rPr>
              <a:t>  *外设的连接：</a:t>
            </a:r>
            <a:r>
              <a:rPr lang="zh-CN" altLang="en-US" sz="2000" b="1" dirty="0">
                <a:latin typeface="宋体" panose="02010600030101010101" pitchFamily="2" charset="-122"/>
              </a:rPr>
              <a:t>   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+mn-ea"/>
              </a:rPr>
              <a:t>连接方式对</a:t>
            </a:r>
            <a:r>
              <a:rPr lang="en-US" altLang="zh-CN" sz="1600" b="1" dirty="0">
                <a:latin typeface="+mn-ea"/>
              </a:rPr>
              <a:t>I/O</a:t>
            </a:r>
            <a:r>
              <a:rPr lang="zh-CN" altLang="en-US" sz="1600" b="1" dirty="0">
                <a:latin typeface="+mn-ea"/>
              </a:rPr>
              <a:t>过程的要求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sz="20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sz="20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1500"/>
              </a:spcBef>
            </a:pP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 I/O</a:t>
            </a:r>
            <a:r>
              <a:rPr lang="zh-CN" altLang="en-US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的过程</a:t>
            </a: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 I/O</a:t>
            </a:r>
            <a:r>
              <a:rPr lang="zh-CN" altLang="en-US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的指令</a:t>
            </a: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lang="zh-CN" altLang="en-US" sz="2000" b="1" dirty="0">
                <a:solidFill>
                  <a:srgbClr val="C00000"/>
                </a:solidFill>
                <a:latin typeface="宋体" panose="02010600030101010101" pitchFamily="2" charset="-122"/>
              </a:rPr>
              <a:t>  *外设的编址：</a:t>
            </a:r>
            <a:endParaRPr lang="en-US" altLang="zh-CN" sz="20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lang="en-US" altLang="zh-CN" sz="2000" b="1" dirty="0">
                <a:solidFill>
                  <a:srgbClr val="C00000"/>
                </a:solidFill>
                <a:latin typeface="宋体" panose="02010600030101010101" pitchFamily="2" charset="-122"/>
              </a:rPr>
              <a:t>     </a:t>
            </a:r>
            <a:r>
              <a:rPr lang="zh-CN" altLang="en-US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编址单位</a:t>
            </a: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</a:p>
          <a:p>
            <a:pPr algn="l">
              <a:lnSpc>
                <a:spcPct val="125000"/>
              </a:lnSpc>
            </a:pP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</a:t>
            </a:r>
            <a:r>
              <a:rPr lang="en-US" altLang="zh-CN" sz="2000" b="1" dirty="0">
                <a:latin typeface="宋体" panose="02010600030101010101" pitchFamily="2" charset="-122"/>
              </a:rPr>
              <a:t>  </a:t>
            </a:r>
            <a:r>
              <a:rPr lang="zh-CN" altLang="en-US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编址方法</a:t>
            </a: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lang="zh-CN" altLang="en-US" sz="2000" b="1" dirty="0">
                <a:solidFill>
                  <a:srgbClr val="C00000"/>
                </a:solidFill>
                <a:latin typeface="宋体" panose="02010600030101010101" pitchFamily="2" charset="-122"/>
              </a:rPr>
              <a:t>  *外设的识别：</a:t>
            </a:r>
            <a:endParaRPr lang="en-US" altLang="zh-CN" sz="20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lang="en-US" altLang="zh-CN" sz="2000" b="1" dirty="0">
                <a:solidFill>
                  <a:srgbClr val="C00000"/>
                </a:solidFill>
                <a:latin typeface="宋体" panose="02010600030101010101" pitchFamily="2" charset="-122"/>
              </a:rPr>
              <a:t>     </a:t>
            </a:r>
            <a:r>
              <a:rPr lang="zh-CN" altLang="en-US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设备标识</a:t>
            </a: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sz="20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lang="zh-CN" altLang="en-US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 目标识别</a:t>
            </a: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sz="20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lang="en-US" altLang="zh-CN" sz="2000" b="1" dirty="0">
                <a:solidFill>
                  <a:srgbClr val="C00000"/>
                </a:solidFill>
                <a:latin typeface="宋体" panose="02010600030101010101" pitchFamily="2" charset="-122"/>
              </a:rPr>
              <a:t>  </a:t>
            </a:r>
            <a:r>
              <a:rPr lang="zh-CN" altLang="en-US" sz="2000" b="1" dirty="0">
                <a:solidFill>
                  <a:srgbClr val="C00000"/>
                </a:solidFill>
                <a:latin typeface="宋体" panose="02010600030101010101" pitchFamily="2" charset="-122"/>
              </a:rPr>
              <a:t>*与外设的联络：</a:t>
            </a:r>
            <a:endParaRPr lang="en-US" altLang="zh-CN" sz="20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lang="en-US" altLang="zh-CN" sz="2000" b="1" dirty="0">
                <a:solidFill>
                  <a:srgbClr val="C00000"/>
                </a:solidFill>
                <a:latin typeface="宋体" panose="02010600030101010101" pitchFamily="2" charset="-122"/>
              </a:rPr>
              <a:t>     </a:t>
            </a:r>
            <a:r>
              <a:rPr lang="zh-CN" altLang="en-US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传送方式</a:t>
            </a: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sz="20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lang="en-US" altLang="zh-CN" sz="2000" b="1" dirty="0">
                <a:solidFill>
                  <a:srgbClr val="C00000"/>
                </a:solidFill>
                <a:latin typeface="宋体" panose="02010600030101010101" pitchFamily="2" charset="-122"/>
              </a:rPr>
              <a:t>     </a:t>
            </a:r>
            <a:r>
              <a:rPr lang="zh-CN" altLang="en-US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联络方式</a:t>
            </a: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</a:p>
        </p:txBody>
      </p:sp>
      <p:sp>
        <p:nvSpPr>
          <p:cNvPr id="44" name="Text Box 88">
            <a:extLst>
              <a:ext uri="{FF2B5EF4-FFF2-40B4-BE49-F238E27FC236}">
                <a16:creationId xmlns:a16="http://schemas.microsoft.com/office/drawing/2014/main" id="{C404B077-F9BF-455C-8A32-FEA71D5638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23729" y="2060848"/>
            <a:ext cx="6912768" cy="42713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lang="zh-CN" altLang="en-US" sz="2000" b="1" spc="-50" dirty="0">
                <a:latin typeface="宋体" panose="02010600030101010101" pitchFamily="2" charset="-122"/>
              </a:rPr>
              <a:t> 总线操作</a:t>
            </a:r>
            <a:r>
              <a:rPr lang="en-US" altLang="zh-CN" sz="1600" b="1" spc="-50" dirty="0">
                <a:latin typeface="宋体" panose="02010600030101010101" pitchFamily="2" charset="-122"/>
              </a:rPr>
              <a:t>(CPU-</a:t>
            </a:r>
            <a:r>
              <a:rPr lang="zh-CN" altLang="en-US" sz="1600" b="1" spc="-50" dirty="0">
                <a:latin typeface="宋体" panose="02010600030101010101" pitchFamily="2" charset="-122"/>
              </a:rPr>
              <a:t>接口</a:t>
            </a:r>
            <a:r>
              <a:rPr lang="en-US" altLang="zh-CN" sz="1600" b="1" spc="-50" dirty="0">
                <a:latin typeface="宋体" panose="02010600030101010101" pitchFamily="2" charset="-122"/>
              </a:rPr>
              <a:t>[</a:t>
            </a:r>
            <a:r>
              <a:rPr lang="zh-CN" altLang="en-US" sz="1600" b="1" spc="-50" dirty="0">
                <a:highlight>
                  <a:srgbClr val="FFFF00"/>
                </a:highlight>
                <a:latin typeface="宋体" panose="02010600030101010101" pitchFamily="2" charset="-122"/>
              </a:rPr>
              <a:t>软件</a:t>
            </a:r>
            <a:r>
              <a:rPr lang="zh-CN" altLang="en-US" sz="1600" b="1" spc="-50" dirty="0">
                <a:latin typeface="宋体" panose="02010600030101010101" pitchFamily="2" charset="-122"/>
              </a:rPr>
              <a:t>主动</a:t>
            </a:r>
            <a:r>
              <a:rPr lang="en-US" altLang="zh-CN" sz="1600" b="1" spc="-50" dirty="0">
                <a:latin typeface="宋体" panose="02010600030101010101" pitchFamily="2" charset="-122"/>
              </a:rPr>
              <a:t>])</a:t>
            </a:r>
            <a:r>
              <a:rPr lang="zh-CN" altLang="en-US" sz="2000" b="1" spc="-50" dirty="0">
                <a:latin typeface="宋体" panose="02010600030101010101" pitchFamily="2" charset="-122"/>
              </a:rPr>
              <a:t>＋通信操作</a:t>
            </a:r>
            <a:r>
              <a:rPr lang="en-US" altLang="zh-CN" sz="1600" b="1" spc="-50" dirty="0">
                <a:latin typeface="宋体" panose="02010600030101010101" pitchFamily="2" charset="-122"/>
              </a:rPr>
              <a:t>(</a:t>
            </a:r>
            <a:r>
              <a:rPr lang="zh-CN" altLang="en-US" sz="1600" b="1" spc="-50" dirty="0">
                <a:latin typeface="宋体" panose="02010600030101010101" pitchFamily="2" charset="-122"/>
              </a:rPr>
              <a:t>接口</a:t>
            </a:r>
            <a:r>
              <a:rPr lang="en-US" altLang="zh-CN" sz="1600" b="1" spc="-50" dirty="0">
                <a:latin typeface="宋体" panose="02010600030101010101" pitchFamily="2" charset="-122"/>
              </a:rPr>
              <a:t>-</a:t>
            </a:r>
            <a:r>
              <a:rPr lang="zh-CN" altLang="en-US" sz="1600" b="1" spc="-50" dirty="0">
                <a:latin typeface="宋体" panose="02010600030101010101" pitchFamily="2" charset="-122"/>
              </a:rPr>
              <a:t>外设</a:t>
            </a:r>
            <a:r>
              <a:rPr lang="en-US" altLang="zh-CN" sz="1600" b="1" spc="-50" dirty="0">
                <a:latin typeface="宋体" panose="02010600030101010101" pitchFamily="2" charset="-122"/>
              </a:rPr>
              <a:t>[</a:t>
            </a:r>
            <a:r>
              <a:rPr lang="zh-CN" altLang="en-US" sz="1600" b="1" spc="-50" dirty="0">
                <a:highlight>
                  <a:srgbClr val="FFFF00"/>
                </a:highlight>
                <a:latin typeface="宋体" panose="02010600030101010101" pitchFamily="2" charset="-122"/>
              </a:rPr>
              <a:t>接口</a:t>
            </a:r>
            <a:r>
              <a:rPr lang="zh-CN" altLang="en-US" sz="1600" b="1" spc="-50" dirty="0">
                <a:latin typeface="宋体" panose="02010600030101010101" pitchFamily="2" charset="-122"/>
              </a:rPr>
              <a:t>自动</a:t>
            </a:r>
            <a:r>
              <a:rPr lang="en-US" altLang="zh-CN" sz="1600" b="1" spc="-50" dirty="0">
                <a:latin typeface="宋体" panose="02010600030101010101" pitchFamily="2" charset="-122"/>
              </a:rPr>
              <a:t>])</a:t>
            </a:r>
            <a:endParaRPr lang="en-US" altLang="zh-CN" sz="16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lang="en-US" altLang="zh-CN" sz="2000" b="1" dirty="0">
                <a:latin typeface="宋体" panose="02010600030101010101" pitchFamily="2" charset="-122"/>
              </a:rPr>
              <a:t> GPR-I/O</a:t>
            </a:r>
            <a:r>
              <a:rPr lang="zh-CN" altLang="en-US" sz="2000" b="1" dirty="0">
                <a:latin typeface="宋体" panose="02010600030101010101" pitchFamily="2" charset="-122"/>
              </a:rPr>
              <a:t>端口之间的传送</a:t>
            </a:r>
            <a:r>
              <a:rPr lang="en-US" altLang="zh-CN" sz="1600" b="1" dirty="0">
                <a:latin typeface="宋体" panose="02010600030101010101" pitchFamily="2" charset="-122"/>
              </a:rPr>
              <a:t>(I/O)</a:t>
            </a:r>
            <a:endParaRPr lang="en-US" altLang="zh-CN" sz="20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lang="en-US" altLang="zh-CN" sz="2000" b="1" dirty="0">
                <a:latin typeface="宋体" panose="02010600030101010101" pitchFamily="2" charset="-122"/>
              </a:rPr>
              <a:t>   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</a:rPr>
              <a:t>即</a:t>
            </a:r>
            <a:r>
              <a:rPr lang="en-US" altLang="zh-CN" sz="1600" b="1" dirty="0">
                <a:latin typeface="宋体" panose="02010600030101010101" pitchFamily="2" charset="-122"/>
              </a:rPr>
              <a:t>I/O</a:t>
            </a:r>
            <a:r>
              <a:rPr lang="zh-CN" altLang="en-US" sz="1600" b="1" dirty="0">
                <a:latin typeface="宋体" panose="02010600030101010101" pitchFamily="2" charset="-122"/>
              </a:rPr>
              <a:t>端口地址的软</a:t>
            </a:r>
            <a:r>
              <a:rPr lang="en-US" altLang="zh-CN" sz="1600" b="1" dirty="0">
                <a:latin typeface="宋体" panose="02010600030101010101" pitchFamily="2" charset="-122"/>
              </a:rPr>
              <a:t>/</a:t>
            </a:r>
            <a:r>
              <a:rPr lang="zh-CN" altLang="en-US" sz="1600" b="1" dirty="0">
                <a:latin typeface="宋体" panose="02010600030101010101" pitchFamily="2" charset="-122"/>
              </a:rPr>
              <a:t>硬件表示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  <a:r>
              <a:rPr lang="en-US" altLang="zh-CN" sz="1600" b="1" dirty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endParaRPr lang="en-US" altLang="zh-CN" sz="20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lang="en-US" altLang="zh-CN" sz="2000" b="1" dirty="0">
                <a:latin typeface="宋体" panose="02010600030101010101" pitchFamily="2" charset="-122"/>
              </a:rPr>
              <a:t>I/O</a:t>
            </a:r>
            <a:r>
              <a:rPr lang="zh-CN" altLang="en-US" sz="2000" b="1" dirty="0">
                <a:latin typeface="宋体" panose="02010600030101010101" pitchFamily="2" charset="-122"/>
              </a:rPr>
              <a:t>端口长度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＝</a:t>
            </a:r>
            <a:r>
              <a:rPr lang="zh-CN" altLang="en-US" sz="2000" b="1" dirty="0">
                <a:latin typeface="宋体" panose="02010600030101010101" pitchFamily="2" charset="-122"/>
              </a:rPr>
              <a:t>主存单元长度</a:t>
            </a:r>
            <a:r>
              <a:rPr lang="en-US" altLang="zh-CN" sz="2000" b="1" dirty="0">
                <a:latin typeface="宋体" panose="02010600030101010101" pitchFamily="2" charset="-122"/>
              </a:rPr>
              <a:t>      </a:t>
            </a:r>
            <a:r>
              <a:rPr lang="zh-CN" altLang="en-US" sz="1600" b="1" dirty="0">
                <a:latin typeface="宋体" panose="02010600030101010101" pitchFamily="2" charset="-122"/>
              </a:rPr>
              <a:t>←</a:t>
            </a:r>
            <a:r>
              <a:rPr lang="zh-CN" altLang="en-US" sz="1600" b="1" u="sng" dirty="0">
                <a:latin typeface="宋体" panose="02010600030101010101" pitchFamily="2" charset="-122"/>
              </a:rPr>
              <a:t>便于</a:t>
            </a:r>
            <a:r>
              <a:rPr lang="zh-CN" altLang="en-US" sz="1600" b="1" dirty="0">
                <a:latin typeface="宋体" panose="02010600030101010101" pitchFamily="2" charset="-122"/>
              </a:rPr>
              <a:t>与</a:t>
            </a:r>
            <a:r>
              <a:rPr lang="en-US" altLang="zh-CN" sz="1600" b="1" dirty="0">
                <a:latin typeface="宋体" panose="02010600030101010101" pitchFamily="2" charset="-122"/>
              </a:rPr>
              <a:t>MEM</a:t>
            </a:r>
            <a:r>
              <a:rPr lang="zh-CN" altLang="en-US" sz="1600" b="1" dirty="0">
                <a:latin typeface="宋体" panose="02010600030101010101" pitchFamily="2" charset="-122"/>
              </a:rPr>
              <a:t>统一处理</a:t>
            </a:r>
            <a:endParaRPr lang="en-US" altLang="zh-CN" sz="16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lang="zh-CN" altLang="en-US" sz="2000" b="1" dirty="0">
                <a:latin typeface="宋体" panose="02010600030101010101" pitchFamily="2" charset="-122"/>
              </a:rPr>
              <a:t>统一</a:t>
            </a:r>
            <a:r>
              <a:rPr lang="en-US" altLang="zh-CN" sz="2000" b="1" dirty="0">
                <a:latin typeface="宋体" panose="02010600030101010101" pitchFamily="2" charset="-122"/>
              </a:rPr>
              <a:t>/</a:t>
            </a:r>
            <a:r>
              <a:rPr lang="zh-CN" altLang="en-US" sz="2000" b="1" dirty="0">
                <a:latin typeface="宋体" panose="02010600030101010101" pitchFamily="2" charset="-122"/>
              </a:rPr>
              <a:t>独立编址                  </a:t>
            </a:r>
            <a:r>
              <a:rPr lang="zh-CN" altLang="en-US" sz="1600" b="1" dirty="0">
                <a:latin typeface="宋体" panose="02010600030101010101" pitchFamily="2" charset="-122"/>
              </a:rPr>
              <a:t>←</a:t>
            </a:r>
            <a:r>
              <a:rPr lang="zh-CN" altLang="en-US" sz="1600" b="1" u="sng" dirty="0">
                <a:latin typeface="宋体" panose="02010600030101010101" pitchFamily="2" charset="-122"/>
              </a:rPr>
              <a:t>影响</a:t>
            </a:r>
            <a:r>
              <a:rPr lang="en-US" altLang="zh-CN" sz="1600" b="1" dirty="0">
                <a:solidFill>
                  <a:srgbClr val="0070C0"/>
                </a:solidFill>
                <a:latin typeface="宋体" panose="02010600030101010101" pitchFamily="2" charset="-122"/>
              </a:rPr>
              <a:t>ISA&amp;</a:t>
            </a:r>
            <a:r>
              <a:rPr lang="zh-CN" altLang="en-US" sz="1600" b="1" dirty="0">
                <a:solidFill>
                  <a:srgbClr val="0070C0"/>
                </a:solidFill>
                <a:latin typeface="宋体" panose="02010600030101010101" pitchFamily="2" charset="-122"/>
              </a:rPr>
              <a:t>总线事务</a:t>
            </a:r>
            <a:r>
              <a:rPr lang="zh-CN" altLang="en-US" sz="1600" b="1" dirty="0">
                <a:latin typeface="宋体" panose="02010600030101010101" pitchFamily="2" charset="-122"/>
              </a:rPr>
              <a:t>的组织</a:t>
            </a:r>
            <a:endParaRPr lang="en-US" altLang="zh-CN" sz="1600" b="1" u="sng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lang="en-US" altLang="zh-CN" sz="2000" b="1" dirty="0">
                <a:latin typeface="宋体" panose="02010600030101010101" pitchFamily="2" charset="-122"/>
              </a:rPr>
              <a:t>   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</a:rPr>
              <a:t>即总线操作的目标设备识别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  <a:endParaRPr lang="en-US" altLang="zh-CN" sz="1600" b="1" u="sng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000" b="1" spc="-50" dirty="0">
                <a:latin typeface="宋体" panose="02010600030101010101" pitchFamily="2" charset="-122"/>
              </a:rPr>
              <a:t>I/O</a:t>
            </a:r>
            <a:r>
              <a:rPr lang="zh-CN" altLang="en-US" sz="2000" b="1" spc="-50" dirty="0">
                <a:latin typeface="宋体" panose="02010600030101010101" pitchFamily="2" charset="-122"/>
              </a:rPr>
              <a:t>接口</a:t>
            </a:r>
            <a:r>
              <a:rPr lang="zh-CN" altLang="en-US" sz="2000" b="1" u="sng" spc="-50" dirty="0">
                <a:solidFill>
                  <a:srgbClr val="990099"/>
                </a:solidFill>
                <a:latin typeface="宋体" panose="02010600030101010101" pitchFamily="2" charset="-122"/>
              </a:rPr>
              <a:t>保存</a:t>
            </a:r>
            <a:r>
              <a:rPr lang="zh-CN" altLang="en-US" sz="2000" b="1" spc="-50" dirty="0">
                <a:latin typeface="宋体" panose="02010600030101010101" pitchFamily="2" charset="-122"/>
              </a:rPr>
              <a:t>所连</a:t>
            </a:r>
            <a:r>
              <a:rPr lang="zh-CN" altLang="en-US" sz="2000" b="1" u="sng" spc="-50" dirty="0">
                <a:solidFill>
                  <a:srgbClr val="0070C0"/>
                </a:solidFill>
                <a:latin typeface="宋体" panose="02010600030101010101" pitchFamily="2" charset="-122"/>
              </a:rPr>
              <a:t>设备号</a:t>
            </a:r>
            <a:r>
              <a:rPr lang="zh-CN" altLang="en-US" sz="2000" b="1" spc="-50" dirty="0">
                <a:latin typeface="宋体" panose="02010600030101010101" pitchFamily="2" charset="-122"/>
              </a:rPr>
              <a:t>，</a:t>
            </a:r>
            <a:r>
              <a:rPr lang="en-US" altLang="zh-CN" sz="2000" b="1" spc="-50" dirty="0">
                <a:latin typeface="宋体" panose="02010600030101010101" pitchFamily="2" charset="-122"/>
              </a:rPr>
              <a:t>I/O</a:t>
            </a:r>
            <a:r>
              <a:rPr lang="zh-CN" altLang="en-US" sz="2000" b="1" spc="-50" dirty="0">
                <a:latin typeface="宋体" panose="02010600030101010101" pitchFamily="2" charset="-122"/>
              </a:rPr>
              <a:t>端口地址＝</a:t>
            </a:r>
            <a:r>
              <a:rPr lang="en-US" altLang="zh-CN" sz="2000" b="1" spc="-50" dirty="0">
                <a:latin typeface="宋体" panose="02010600030101010101" pitchFamily="2" charset="-122"/>
              </a:rPr>
              <a:t>&lt;</a:t>
            </a:r>
            <a:r>
              <a:rPr lang="zh-CN" altLang="en-US" sz="2000" b="1" spc="-50" dirty="0">
                <a:latin typeface="宋体" panose="02010600030101010101" pitchFamily="2" charset="-122"/>
              </a:rPr>
              <a:t>设备号</a:t>
            </a:r>
            <a:r>
              <a:rPr lang="en-US" altLang="zh-CN" sz="2000" b="1" spc="-50" dirty="0">
                <a:latin typeface="宋体" panose="02010600030101010101" pitchFamily="2" charset="-122"/>
              </a:rPr>
              <a:t>,</a:t>
            </a:r>
            <a:r>
              <a:rPr lang="zh-CN" altLang="en-US" sz="2000" b="1" spc="-50" dirty="0">
                <a:latin typeface="宋体" panose="02010600030101010101" pitchFamily="2" charset="-122"/>
              </a:rPr>
              <a:t>内部序号</a:t>
            </a:r>
            <a:r>
              <a:rPr lang="en-US" altLang="zh-CN" sz="2000" b="1" spc="-50" dirty="0">
                <a:latin typeface="宋体" panose="02010600030101010101" pitchFamily="2" charset="-122"/>
              </a:rPr>
              <a:t>&gt;</a:t>
            </a:r>
          </a:p>
          <a:p>
            <a:pPr algn="l">
              <a:lnSpc>
                <a:spcPct val="125000"/>
              </a:lnSpc>
            </a:pPr>
            <a:r>
              <a:rPr lang="zh-CN" altLang="en-US" sz="2000" b="1" spc="-100" dirty="0">
                <a:latin typeface="宋体" panose="02010600030101010101" pitchFamily="2" charset="-122"/>
              </a:rPr>
              <a:t>各</a:t>
            </a:r>
            <a:r>
              <a:rPr lang="en-US" altLang="zh-CN" sz="2000" b="1" spc="-100" dirty="0">
                <a:latin typeface="宋体" panose="02010600030101010101" pitchFamily="2" charset="-122"/>
              </a:rPr>
              <a:t>I/O</a:t>
            </a:r>
            <a:r>
              <a:rPr lang="zh-CN" altLang="en-US" sz="2000" b="1" spc="-100" dirty="0">
                <a:latin typeface="宋体" panose="02010600030101010101" pitchFamily="2" charset="-122"/>
              </a:rPr>
              <a:t>接口</a:t>
            </a:r>
            <a:r>
              <a:rPr lang="zh-CN" altLang="en-US" sz="2000" b="1" u="sng" spc="-100" dirty="0">
                <a:solidFill>
                  <a:srgbClr val="990099"/>
                </a:solidFill>
                <a:latin typeface="宋体" panose="02010600030101010101" pitchFamily="2" charset="-122"/>
              </a:rPr>
              <a:t>监视</a:t>
            </a:r>
            <a:r>
              <a:rPr lang="zh-CN" altLang="en-US" sz="2000" b="1" spc="-100" dirty="0">
                <a:latin typeface="宋体" panose="02010600030101010101" pitchFamily="2" charset="-122"/>
              </a:rPr>
              <a:t>总线状态、</a:t>
            </a:r>
            <a:r>
              <a:rPr lang="zh-CN" altLang="en-US" sz="2000" b="1" u="sng" spc="-100" dirty="0">
                <a:solidFill>
                  <a:srgbClr val="990099"/>
                </a:solidFill>
                <a:latin typeface="宋体" panose="02010600030101010101" pitchFamily="2" charset="-122"/>
              </a:rPr>
              <a:t>判断</a:t>
            </a:r>
            <a:r>
              <a:rPr lang="zh-CN" altLang="en-US" sz="2000" b="1" spc="-100" dirty="0">
                <a:latin typeface="宋体" panose="02010600030101010101" pitchFamily="2" charset="-122"/>
              </a:rPr>
              <a:t>是否被选中   </a:t>
            </a:r>
            <a:r>
              <a:rPr lang="zh-CN" altLang="en-US" sz="1600" b="1" dirty="0">
                <a:latin typeface="宋体" panose="02010600030101010101" pitchFamily="2" charset="-122"/>
              </a:rPr>
              <a:t>←通常仅</a:t>
            </a:r>
            <a:r>
              <a:rPr lang="en-US" altLang="zh-CN" sz="1600" b="1" dirty="0">
                <a:latin typeface="宋体" panose="02010600030101010101" pitchFamily="2" charset="-122"/>
              </a:rPr>
              <a:t>1</a:t>
            </a:r>
            <a:r>
              <a:rPr lang="zh-CN" altLang="en-US" sz="1600" b="1" dirty="0">
                <a:latin typeface="宋体" panose="02010600030101010101" pitchFamily="2" charset="-122"/>
              </a:rPr>
              <a:t>个被选中</a:t>
            </a:r>
            <a:endParaRPr lang="en-US" altLang="zh-CN" sz="2000" b="1" spc="-100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   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即通信操作的接口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-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外设控制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)</a:t>
            </a:r>
            <a:endParaRPr lang="en-US" altLang="zh-CN" sz="16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sz="2000" b="1" dirty="0">
                <a:latin typeface="宋体" panose="02010600030101010101" pitchFamily="2" charset="-122"/>
              </a:rPr>
              <a:t>无条件传送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</a:rPr>
              <a:t>字符型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  <a:r>
              <a:rPr lang="zh-CN" altLang="en-US" sz="2000" b="1" dirty="0">
                <a:latin typeface="宋体" panose="02010600030101010101" pitchFamily="2" charset="-122"/>
              </a:rPr>
              <a:t>，条件传送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</a:rPr>
              <a:t>字符</a:t>
            </a:r>
            <a:r>
              <a:rPr lang="en-US" altLang="zh-CN" sz="1600" b="1" dirty="0">
                <a:latin typeface="宋体" panose="02010600030101010101" pitchFamily="2" charset="-122"/>
              </a:rPr>
              <a:t>/</a:t>
            </a:r>
            <a:r>
              <a:rPr lang="zh-CN" altLang="en-US" sz="1600" b="1" dirty="0">
                <a:latin typeface="宋体" panose="02010600030101010101" pitchFamily="2" charset="-122"/>
              </a:rPr>
              <a:t>块型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</a:p>
          <a:p>
            <a:pPr algn="l">
              <a:lnSpc>
                <a:spcPct val="125000"/>
              </a:lnSpc>
            </a:pPr>
            <a:r>
              <a:rPr lang="zh-CN" altLang="en-US" sz="2000" b="1" dirty="0">
                <a:latin typeface="宋体" panose="02010600030101010101" pitchFamily="2" charset="-122"/>
              </a:rPr>
              <a:t>立即响应，同步联络、异步联络   </a:t>
            </a:r>
            <a:r>
              <a:rPr lang="zh-CN" altLang="en-US" sz="1600" b="1" dirty="0">
                <a:latin typeface="宋体" panose="02010600030101010101" pitchFamily="2" charset="-122"/>
              </a:rPr>
              <a:t>←</a:t>
            </a:r>
            <a:r>
              <a:rPr lang="zh-CN" altLang="en-US" sz="1600" b="1" u="sng" dirty="0">
                <a:latin typeface="宋体" panose="02010600030101010101" pitchFamily="2" charset="-122"/>
              </a:rPr>
              <a:t>影响</a:t>
            </a:r>
            <a:r>
              <a:rPr lang="zh-CN" altLang="en-US" sz="1600" b="1" dirty="0">
                <a:solidFill>
                  <a:srgbClr val="0070C0"/>
                </a:solidFill>
                <a:latin typeface="宋体" panose="02010600030101010101" pitchFamily="2" charset="-122"/>
              </a:rPr>
              <a:t>联络线</a:t>
            </a:r>
            <a:r>
              <a:rPr lang="zh-CN" altLang="en-US" sz="1600" b="1" dirty="0">
                <a:latin typeface="宋体" panose="02010600030101010101" pitchFamily="2" charset="-122"/>
              </a:rPr>
              <a:t>的设置</a:t>
            </a:r>
            <a:endParaRPr lang="en-US" altLang="zh-CN" sz="1600" b="1" dirty="0">
              <a:latin typeface="宋体" panose="02010600030101010101" pitchFamily="2" charset="-122"/>
            </a:endParaRPr>
          </a:p>
        </p:txBody>
      </p: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67CB42E5-F8BF-4A24-A880-D6466D41E643}"/>
              </a:ext>
            </a:extLst>
          </p:cNvPr>
          <p:cNvGrpSpPr/>
          <p:nvPr/>
        </p:nvGrpSpPr>
        <p:grpSpPr>
          <a:xfrm>
            <a:off x="5760464" y="2564904"/>
            <a:ext cx="2843984" cy="216000"/>
            <a:chOff x="2987132" y="5889560"/>
            <a:chExt cx="2843984" cy="287338"/>
          </a:xfrm>
        </p:grpSpPr>
        <p:sp>
          <p:nvSpPr>
            <p:cNvPr id="47" name="Text Box 8">
              <a:extLst>
                <a:ext uri="{FF2B5EF4-FFF2-40B4-BE49-F238E27FC236}">
                  <a16:creationId xmlns:a16="http://schemas.microsoft.com/office/drawing/2014/main" id="{F0E7150E-D0AB-4A21-B959-02B02C9627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87132" y="5889560"/>
              <a:ext cx="756000" cy="287338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5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操作码</a:t>
              </a:r>
            </a:p>
          </p:txBody>
        </p:sp>
        <p:sp>
          <p:nvSpPr>
            <p:cNvPr id="50" name="Text Box 10">
              <a:extLst>
                <a:ext uri="{FF2B5EF4-FFF2-40B4-BE49-F238E27FC236}">
                  <a16:creationId xmlns:a16="http://schemas.microsoft.com/office/drawing/2014/main" id="{4280A5E3-8865-4650-8666-840A1A5636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43116" y="5889560"/>
              <a:ext cx="1224000" cy="287338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5000"/>
                </a:lnSpc>
              </a:pPr>
              <a:r>
                <a:rPr lang="en-US" altLang="zh-CN" sz="1600" b="1" dirty="0">
                  <a:solidFill>
                    <a:srgbClr val="990099"/>
                  </a:solidFill>
                  <a:latin typeface="宋体" panose="02010600030101010101" pitchFamily="2" charset="-122"/>
                </a:rPr>
                <a:t>I/O</a:t>
              </a:r>
              <a:r>
                <a:rPr lang="zh-CN" altLang="en-US" sz="1600" b="1" dirty="0">
                  <a:solidFill>
                    <a:srgbClr val="990099"/>
                  </a:solidFill>
                  <a:latin typeface="宋体" panose="02010600030101010101" pitchFamily="2" charset="-122"/>
                </a:rPr>
                <a:t>端口地址</a:t>
              </a:r>
            </a:p>
          </p:txBody>
        </p:sp>
        <p:sp>
          <p:nvSpPr>
            <p:cNvPr id="52" name="Text Box 11">
              <a:extLst>
                <a:ext uri="{FF2B5EF4-FFF2-40B4-BE49-F238E27FC236}">
                  <a16:creationId xmlns:a16="http://schemas.microsoft.com/office/drawing/2014/main" id="{366087E7-56BE-4A1A-9224-C3DA9764A5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67116" y="5889560"/>
              <a:ext cx="864000" cy="287338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5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GPR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编号</a:t>
              </a:r>
              <a:endParaRPr lang="zh-CN" altLang="en-US" sz="1400" b="1" dirty="0">
                <a:latin typeface="宋体" panose="02010600030101010101" pitchFamily="2" charset="-122"/>
              </a:endParaRPr>
            </a:p>
          </p:txBody>
        </p:sp>
      </p:grpSp>
      <p:grpSp>
        <p:nvGrpSpPr>
          <p:cNvPr id="53" name="组合 52">
            <a:extLst>
              <a:ext uri="{FF2B5EF4-FFF2-40B4-BE49-F238E27FC236}">
                <a16:creationId xmlns:a16="http://schemas.microsoft.com/office/drawing/2014/main" id="{629D26A4-BB42-4356-9A12-13C0CB58CC54}"/>
              </a:ext>
            </a:extLst>
          </p:cNvPr>
          <p:cNvGrpSpPr/>
          <p:nvPr/>
        </p:nvGrpSpPr>
        <p:grpSpPr>
          <a:xfrm>
            <a:off x="1404136" y="1196752"/>
            <a:ext cx="4392000" cy="864000"/>
            <a:chOff x="792216" y="2420888"/>
            <a:chExt cx="4392000" cy="864000"/>
          </a:xfrm>
        </p:grpSpPr>
        <p:sp>
          <p:nvSpPr>
            <p:cNvPr id="54" name="Text Box 80">
              <a:extLst>
                <a:ext uri="{FF2B5EF4-FFF2-40B4-BE49-F238E27FC236}">
                  <a16:creationId xmlns:a16="http://schemas.microsoft.com/office/drawing/2014/main" id="{61178CC4-710D-4BD5-AB8A-7842B93AB6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92216" y="2492896"/>
              <a:ext cx="576000" cy="252000"/>
            </a:xfrm>
            <a:prstGeom prst="rect">
              <a:avLst/>
            </a:prstGeom>
            <a:solidFill>
              <a:srgbClr val="CCFFFF"/>
            </a:solidFill>
            <a:ln w="22225">
              <a:noFill/>
              <a:miter lim="800000"/>
            </a:ln>
            <a:effectLst/>
          </p:spPr>
          <p:txBody>
            <a:bodyPr lIns="18000" tIns="10800" rIns="18000" bIns="10800" anchor="t" anchorCtr="0"/>
            <a:lstStyle/>
            <a:p>
              <a:pPr>
                <a:lnSpc>
                  <a:spcPct val="90000"/>
                </a:lnSpc>
              </a:pPr>
              <a:r>
                <a:rPr lang="zh-CN" altLang="en-US" sz="1800" b="1" dirty="0"/>
                <a:t>总线</a:t>
              </a:r>
            </a:p>
          </p:txBody>
        </p:sp>
        <p:sp>
          <p:nvSpPr>
            <p:cNvPr id="55" name="Text Box 72">
              <a:extLst>
                <a:ext uri="{FF2B5EF4-FFF2-40B4-BE49-F238E27FC236}">
                  <a16:creationId xmlns:a16="http://schemas.microsoft.com/office/drawing/2014/main" id="{0AFC0195-360F-4F18-B992-E00FC7FC34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12216" y="2420888"/>
              <a:ext cx="2772000" cy="5400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56" name="Text Box 72">
              <a:extLst>
                <a:ext uri="{FF2B5EF4-FFF2-40B4-BE49-F238E27FC236}">
                  <a16:creationId xmlns:a16="http://schemas.microsoft.com/office/drawing/2014/main" id="{B122D07C-0D5D-4E8E-BC38-9424F08E77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2216" y="2420888"/>
              <a:ext cx="1476000" cy="7920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57" name="Text Box 72">
              <a:extLst>
                <a:ext uri="{FF2B5EF4-FFF2-40B4-BE49-F238E27FC236}">
                  <a16:creationId xmlns:a16="http://schemas.microsoft.com/office/drawing/2014/main" id="{6A271F47-FD6F-48C0-A5FA-EAEC98A11E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4216" y="2636019"/>
              <a:ext cx="576000" cy="252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CPU</a:t>
              </a:r>
            </a:p>
          </p:txBody>
        </p:sp>
        <p:sp>
          <p:nvSpPr>
            <p:cNvPr id="58" name="Text Box 74">
              <a:extLst>
                <a:ext uri="{FF2B5EF4-FFF2-40B4-BE49-F238E27FC236}">
                  <a16:creationId xmlns:a16="http://schemas.microsoft.com/office/drawing/2014/main" id="{38BAF7F9-051D-41DB-AC3B-8A619C0AAB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48216" y="2636019"/>
              <a:ext cx="648000" cy="25200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主存</a:t>
              </a:r>
            </a:p>
          </p:txBody>
        </p:sp>
        <p:sp>
          <p:nvSpPr>
            <p:cNvPr id="59" name="Text Box 75">
              <a:extLst>
                <a:ext uri="{FF2B5EF4-FFF2-40B4-BE49-F238E27FC236}">
                  <a16:creationId xmlns:a16="http://schemas.microsoft.com/office/drawing/2014/main" id="{0DDA77E4-FEF9-4717-B805-30D5698EF2F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83768" y="2636912"/>
              <a:ext cx="1008000" cy="252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I/O</a:t>
              </a:r>
              <a:r>
                <a:rPr lang="zh-CN" altLang="en-US" sz="1800" b="1" dirty="0">
                  <a:latin typeface="宋体" panose="02010600030101010101" pitchFamily="2" charset="-122"/>
                </a:rPr>
                <a:t>接口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1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60" name="Text Box 79">
              <a:extLst>
                <a:ext uri="{FF2B5EF4-FFF2-40B4-BE49-F238E27FC236}">
                  <a16:creationId xmlns:a16="http://schemas.microsoft.com/office/drawing/2014/main" id="{3F420406-13F3-479D-90F8-F1025C2ED1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64216" y="3032888"/>
              <a:ext cx="468000" cy="252000"/>
            </a:xfrm>
            <a:prstGeom prst="rect">
              <a:avLst/>
            </a:prstGeom>
            <a:noFill/>
            <a:ln w="222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latin typeface="+mn-ea"/>
                  <a:ea typeface="+mn-ea"/>
                </a:rPr>
                <a:t>…</a:t>
              </a:r>
            </a:p>
          </p:txBody>
        </p:sp>
        <p:sp>
          <p:nvSpPr>
            <p:cNvPr id="61" name="Text Box 81">
              <a:extLst>
                <a:ext uri="{FF2B5EF4-FFF2-40B4-BE49-F238E27FC236}">
                  <a16:creationId xmlns:a16="http://schemas.microsoft.com/office/drawing/2014/main" id="{C2BFC05D-5123-4809-9E3F-FB93A4EBDA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82354" y="3032888"/>
              <a:ext cx="1008000" cy="2520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外设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1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62" name="Text Box 83">
              <a:extLst>
                <a:ext uri="{FF2B5EF4-FFF2-40B4-BE49-F238E27FC236}">
                  <a16:creationId xmlns:a16="http://schemas.microsoft.com/office/drawing/2014/main" id="{FB857DC6-AA2A-4418-8F20-5FF8B7BA79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04216" y="2636888"/>
              <a:ext cx="1008000" cy="252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I/O</a:t>
              </a:r>
              <a:r>
                <a:rPr lang="zh-CN" altLang="en-US" sz="1800" b="1" dirty="0">
                  <a:latin typeface="宋体" panose="02010600030101010101" pitchFamily="2" charset="-122"/>
                </a:rPr>
                <a:t>接口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n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65" name="Text Box 85">
              <a:extLst>
                <a:ext uri="{FF2B5EF4-FFF2-40B4-BE49-F238E27FC236}">
                  <a16:creationId xmlns:a16="http://schemas.microsoft.com/office/drawing/2014/main" id="{CBA15701-3C67-45A7-B2E9-FF6D2AAF50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04216" y="3032888"/>
              <a:ext cx="1008000" cy="2520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外设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n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91" name="直接连接符 90">
              <a:extLst>
                <a:ext uri="{FF2B5EF4-FFF2-40B4-BE49-F238E27FC236}">
                  <a16:creationId xmlns:a16="http://schemas.microsoft.com/office/drawing/2014/main" id="{2FC15E68-46E4-404F-B014-CA95BF84C9E6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1151768" y="2492897"/>
              <a:ext cx="0" cy="144000"/>
            </a:xfrm>
            <a:prstGeom prst="line">
              <a:avLst/>
            </a:prstGeom>
            <a:noFill/>
            <a:ln w="28575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2" name="直接连接符 91">
              <a:extLst>
                <a:ext uri="{FF2B5EF4-FFF2-40B4-BE49-F238E27FC236}">
                  <a16:creationId xmlns:a16="http://schemas.microsoft.com/office/drawing/2014/main" id="{54766A5C-14BD-43DC-9457-69F506314C0E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1871848" y="2492897"/>
              <a:ext cx="0" cy="144000"/>
            </a:xfrm>
            <a:prstGeom prst="line">
              <a:avLst/>
            </a:prstGeom>
            <a:noFill/>
            <a:ln w="28575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3" name="直接连接符 92">
              <a:extLst>
                <a:ext uri="{FF2B5EF4-FFF2-40B4-BE49-F238E27FC236}">
                  <a16:creationId xmlns:a16="http://schemas.microsoft.com/office/drawing/2014/main" id="{CC5DF908-FA72-462B-9896-73B77E16888D}"/>
                </a:ext>
              </a:extLst>
            </p:cNvPr>
            <p:cNvCxnSpPr/>
            <p:nvPr/>
          </p:nvCxnSpPr>
          <p:spPr bwMode="auto">
            <a:xfrm>
              <a:off x="864216" y="2492896"/>
              <a:ext cx="4248000" cy="0"/>
            </a:xfrm>
            <a:prstGeom prst="line">
              <a:avLst/>
            </a:prstGeom>
            <a:noFill/>
            <a:ln w="28575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4" name="直接连接符 93">
              <a:extLst>
                <a:ext uri="{FF2B5EF4-FFF2-40B4-BE49-F238E27FC236}">
                  <a16:creationId xmlns:a16="http://schemas.microsoft.com/office/drawing/2014/main" id="{60C41847-0C5E-481E-8305-1466AF72B4EF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3023976" y="2492896"/>
              <a:ext cx="0" cy="144000"/>
            </a:xfrm>
            <a:prstGeom prst="line">
              <a:avLst/>
            </a:prstGeom>
            <a:noFill/>
            <a:ln w="28575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5" name="直接连接符 94">
              <a:extLst>
                <a:ext uri="{FF2B5EF4-FFF2-40B4-BE49-F238E27FC236}">
                  <a16:creationId xmlns:a16="http://schemas.microsoft.com/office/drawing/2014/main" id="{E098A81C-7710-4AD7-9D19-456B1AF21BA2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608152" y="2492896"/>
              <a:ext cx="0" cy="144000"/>
            </a:xfrm>
            <a:prstGeom prst="line">
              <a:avLst/>
            </a:prstGeom>
            <a:noFill/>
            <a:ln w="28575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6" name="直接连接符 95">
              <a:extLst>
                <a:ext uri="{FF2B5EF4-FFF2-40B4-BE49-F238E27FC236}">
                  <a16:creationId xmlns:a16="http://schemas.microsoft.com/office/drawing/2014/main" id="{52DAC858-B065-49C8-BDC9-35A85E90A7B5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3022562" y="2888912"/>
              <a:ext cx="0" cy="144000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7" name="直接连接符 96">
              <a:extLst>
                <a:ext uri="{FF2B5EF4-FFF2-40B4-BE49-F238E27FC236}">
                  <a16:creationId xmlns:a16="http://schemas.microsoft.com/office/drawing/2014/main" id="{27C2F979-38C5-4D95-9910-48D76CA5EA0E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608152" y="2891194"/>
              <a:ext cx="0" cy="144000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98" name="Text Box 80">
              <a:extLst>
                <a:ext uri="{FF2B5EF4-FFF2-40B4-BE49-F238E27FC236}">
                  <a16:creationId xmlns:a16="http://schemas.microsoft.com/office/drawing/2014/main" id="{14B27F55-CFE8-4A68-885A-EEF19AFB52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88216" y="2924888"/>
              <a:ext cx="576262" cy="251917"/>
            </a:xfrm>
            <a:prstGeom prst="rect">
              <a:avLst/>
            </a:prstGeom>
            <a:noFill/>
            <a:ln w="222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800" b="1" dirty="0"/>
                <a:t>主机</a:t>
              </a:r>
            </a:p>
          </p:txBody>
        </p:sp>
      </p:grpSp>
      <p:sp>
        <p:nvSpPr>
          <p:cNvPr id="99" name="线形标注 2 63">
            <a:extLst>
              <a:ext uri="{FF2B5EF4-FFF2-40B4-BE49-F238E27FC236}">
                <a16:creationId xmlns:a16="http://schemas.microsoft.com/office/drawing/2014/main" id="{32746605-1B8B-4258-B4F5-1EE8A1F05F34}"/>
              </a:ext>
            </a:extLst>
          </p:cNvPr>
          <p:cNvSpPr/>
          <p:nvPr/>
        </p:nvSpPr>
        <p:spPr bwMode="auto">
          <a:xfrm>
            <a:off x="6156392" y="1340768"/>
            <a:ext cx="1944000" cy="504000"/>
          </a:xfrm>
          <a:prstGeom prst="borderCallout2">
            <a:avLst>
              <a:gd name="adj1" fmla="val 49802"/>
              <a:gd name="adj2" fmla="val 119"/>
              <a:gd name="adj3" fmla="val 50190"/>
              <a:gd name="adj4" fmla="val -10766"/>
              <a:gd name="adj5" fmla="val 18448"/>
              <a:gd name="adj6" fmla="val -25676"/>
            </a:avLst>
          </a:prstGeom>
          <a:noFill/>
          <a:ln w="12700" cap="flat" cmpd="sng" algn="ctr">
            <a:solidFill>
              <a:srgbClr val="990099"/>
            </a:solidFill>
            <a:prstDash val="sysDash"/>
            <a:round/>
            <a:headEnd type="none" w="med" len="med"/>
            <a:tailEnd type="arrow" w="sm" len="sm"/>
          </a:ln>
          <a:effectLst/>
        </p:spPr>
        <p:txBody>
          <a:bodyPr vert="horz" wrap="square" lIns="36000" tIns="18000" rIns="36000" bIns="18000" numCol="1" rtlCol="0" anchor="ctr" anchorCtr="0" compatLnSpc="1"/>
          <a:lstStyle/>
          <a:p>
            <a:r>
              <a:rPr lang="zh-CN" altLang="en-US" sz="1600" b="1" dirty="0">
                <a:latin typeface="宋体" panose="02010600030101010101" pitchFamily="2" charset="-122"/>
              </a:rPr>
              <a:t>设置</a:t>
            </a:r>
            <a:r>
              <a:rPr lang="en-US" altLang="zh-CN" sz="1600" b="1" dirty="0">
                <a:solidFill>
                  <a:srgbClr val="FF3399"/>
                </a:solidFill>
                <a:latin typeface="宋体" panose="02010600030101010101" pitchFamily="2" charset="-122"/>
              </a:rPr>
              <a:t>I/O</a:t>
            </a:r>
            <a:r>
              <a:rPr lang="zh-CN" altLang="en-US" sz="1600" b="1" dirty="0">
                <a:solidFill>
                  <a:srgbClr val="FF3399"/>
                </a:solidFill>
                <a:latin typeface="宋体" panose="02010600030101010101" pitchFamily="2" charset="-122"/>
              </a:rPr>
              <a:t>端口</a:t>
            </a:r>
            <a:r>
              <a:rPr lang="zh-CN" altLang="en-US" sz="1600" b="1" dirty="0">
                <a:latin typeface="宋体" panose="02010600030101010101" pitchFamily="2" charset="-122"/>
              </a:rPr>
              <a:t>暂存信息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</a:rPr>
              <a:t>数据</a:t>
            </a:r>
            <a:r>
              <a:rPr lang="en-US" altLang="zh-CN" sz="1600" b="1" dirty="0">
                <a:latin typeface="宋体" panose="02010600030101010101" pitchFamily="2" charset="-122"/>
              </a:rPr>
              <a:t>/</a:t>
            </a:r>
            <a:r>
              <a:rPr lang="zh-CN" altLang="en-US" sz="1600" b="1" dirty="0">
                <a:latin typeface="宋体" panose="02010600030101010101" pitchFamily="2" charset="-122"/>
              </a:rPr>
              <a:t>状态</a:t>
            </a:r>
            <a:r>
              <a:rPr lang="en-US" altLang="zh-CN" sz="1600" b="1" dirty="0">
                <a:latin typeface="宋体" panose="02010600030101010101" pitchFamily="2" charset="-122"/>
              </a:rPr>
              <a:t>/</a:t>
            </a:r>
            <a:r>
              <a:rPr lang="zh-CN" altLang="en-US" sz="1600" b="1" dirty="0">
                <a:latin typeface="宋体" panose="02010600030101010101" pitchFamily="2" charset="-122"/>
              </a:rPr>
              <a:t>命令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  <a:endParaRPr lang="zh-CN" altLang="en-US" sz="1600" b="1" dirty="0"/>
          </a:p>
        </p:txBody>
      </p:sp>
      <p:sp>
        <p:nvSpPr>
          <p:cNvPr id="34" name="Text Box 200">
            <a:extLst>
              <a:ext uri="{FF2B5EF4-FFF2-40B4-BE49-F238E27FC236}">
                <a16:creationId xmlns:a16="http://schemas.microsoft.com/office/drawing/2014/main" id="{42E6F462-E693-4D82-B8D1-3DD7E1D75C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48060" y="260648"/>
            <a:ext cx="3888436" cy="612008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18000" tIns="10800" rIns="18000" bIns="10800" anchor="t" anchorCtr="0">
            <a:noAutofit/>
          </a:bodyPr>
          <a:lstStyle/>
          <a:p>
            <a:pPr marL="630238" indent="-630238" algn="l" eaLnBrk="0" hangingPunct="0">
              <a:lnSpc>
                <a:spcPct val="114000"/>
              </a:lnSpc>
            </a:pPr>
            <a:r>
              <a:rPr lang="zh-CN" altLang="en-US" sz="1800" b="1" dirty="0">
                <a:solidFill>
                  <a:srgbClr val="990099"/>
                </a:solidFill>
                <a:latin typeface="+mn-ea"/>
                <a:ea typeface="+mn-ea"/>
              </a:rPr>
              <a:t>思考：</a:t>
            </a:r>
            <a:r>
              <a:rPr lang="en-US" altLang="zh-CN" sz="1800" b="1" dirty="0">
                <a:latin typeface="宋体" panose="02010600030101010101" pitchFamily="2" charset="-122"/>
              </a:rPr>
              <a:t>CPU</a:t>
            </a:r>
            <a:r>
              <a:rPr lang="zh-CN" altLang="en-US" sz="1800" b="1" dirty="0">
                <a:latin typeface="宋体" panose="02010600030101010101" pitchFamily="2" charset="-122"/>
              </a:rPr>
              <a:t>与条件传送设备的</a:t>
            </a:r>
            <a:r>
              <a:rPr lang="en-US" altLang="zh-CN" sz="1800" b="1" dirty="0">
                <a:solidFill>
                  <a:srgbClr val="0070C0"/>
                </a:solidFill>
                <a:latin typeface="宋体" panose="02010600030101010101" pitchFamily="2" charset="-122"/>
              </a:rPr>
              <a:t>1</a:t>
            </a:r>
            <a:r>
              <a:rPr lang="zh-CN" altLang="en-US" sz="1800" b="1" dirty="0">
                <a:solidFill>
                  <a:srgbClr val="0070C0"/>
                </a:solidFill>
                <a:latin typeface="宋体" panose="02010600030101010101" pitchFamily="2" charset="-122"/>
              </a:rPr>
              <a:t>次</a:t>
            </a:r>
            <a:r>
              <a:rPr lang="en-US" altLang="zh-CN" sz="1800" b="1" dirty="0">
                <a:solidFill>
                  <a:srgbClr val="0070C0"/>
                </a:solidFill>
                <a:latin typeface="宋体" panose="02010600030101010101" pitchFamily="2" charset="-122"/>
              </a:rPr>
              <a:t>I/O</a:t>
            </a:r>
            <a:r>
              <a:rPr lang="zh-CN" altLang="en-US" sz="1800" b="1" dirty="0">
                <a:latin typeface="宋体" panose="02010600030101010101" pitchFamily="2" charset="-122"/>
              </a:rPr>
              <a:t>，</a:t>
            </a:r>
            <a:r>
              <a:rPr lang="zh-CN" altLang="en-US" sz="1800" b="1" dirty="0">
                <a:solidFill>
                  <a:srgbClr val="0070C0"/>
                </a:solidFill>
                <a:latin typeface="宋体" panose="02010600030101010101" pitchFamily="2" charset="-122"/>
              </a:rPr>
              <a:t>至少</a:t>
            </a:r>
            <a:r>
              <a:rPr lang="zh-CN" altLang="en-US" sz="1800" b="1" dirty="0">
                <a:latin typeface="宋体" panose="02010600030101010101" pitchFamily="2" charset="-122"/>
              </a:rPr>
              <a:t>需执行几条指令？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4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4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4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4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4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4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" grpId="0" animBg="1"/>
      <p:bldP spid="34" grpId="0" bldLvl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Box 61"/>
          <p:cNvSpPr txBox="1">
            <a:spLocks noChangeArrowheads="1"/>
          </p:cNvSpPr>
          <p:nvPr/>
        </p:nvSpPr>
        <p:spPr bwMode="auto">
          <a:xfrm>
            <a:off x="179389" y="4869160"/>
            <a:ext cx="3037170" cy="45736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*I/O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方式类型：</a:t>
            </a: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BFB63-B979-4FAE-8763-D7093A979077}" type="slidenum">
              <a:rPr lang="en-US" altLang="zh-CN" smtClean="0"/>
              <a:t>10</a:t>
            </a:fld>
            <a:endParaRPr lang="en-US" altLang="zh-CN" dirty="0"/>
          </a:p>
        </p:txBody>
      </p:sp>
      <p:sp>
        <p:nvSpPr>
          <p:cNvPr id="7" name="Text Box 67"/>
          <p:cNvSpPr txBox="1">
            <a:spLocks noChangeArrowheads="1"/>
          </p:cNvSpPr>
          <p:nvPr/>
        </p:nvSpPr>
        <p:spPr bwMode="auto">
          <a:xfrm>
            <a:off x="179388" y="332656"/>
            <a:ext cx="8785225" cy="919034"/>
          </a:xfrm>
          <a:prstGeom prst="rect">
            <a:avLst/>
          </a:prstGeom>
          <a:noFill/>
          <a:ln w="38100">
            <a:noFill/>
            <a:miter lim="800000"/>
          </a:ln>
          <a:effectLst/>
        </p:spPr>
        <p:txBody>
          <a:bodyPr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b="1" dirty="0">
                <a:solidFill>
                  <a:srgbClr val="FF3399"/>
                </a:solidFill>
                <a:latin typeface="+mn-ea"/>
                <a:ea typeface="+mn-ea"/>
              </a:rPr>
              <a:t>3</a:t>
            </a:r>
            <a:r>
              <a:rPr lang="zh-CN" altLang="en-US" b="1" dirty="0">
                <a:solidFill>
                  <a:srgbClr val="FF3399"/>
                </a:solidFill>
                <a:latin typeface="+mn-ea"/>
                <a:ea typeface="+mn-ea"/>
              </a:rPr>
              <a:t>、</a:t>
            </a:r>
            <a:r>
              <a:rPr lang="en-US" altLang="zh-CN" b="1" dirty="0">
                <a:solidFill>
                  <a:srgbClr val="FF3399"/>
                </a:solidFill>
                <a:latin typeface="+mn-ea"/>
                <a:ea typeface="+mn-ea"/>
              </a:rPr>
              <a:t>I/O</a:t>
            </a:r>
            <a:r>
              <a:rPr lang="zh-CN" altLang="en-US" b="1" dirty="0">
                <a:solidFill>
                  <a:srgbClr val="FF3399"/>
                </a:solidFill>
                <a:latin typeface="+mn-ea"/>
                <a:ea typeface="+mn-ea"/>
              </a:rPr>
              <a:t>的传送控制方式  </a:t>
            </a:r>
            <a:r>
              <a:rPr lang="en-US" altLang="zh-CN" sz="1800" b="1" dirty="0">
                <a:solidFill>
                  <a:schemeClr val="tx1"/>
                </a:solidFill>
                <a:latin typeface="+mn-ea"/>
                <a:ea typeface="+mn-ea"/>
              </a:rPr>
              <a:t>—I/O</a:t>
            </a:r>
            <a:r>
              <a:rPr lang="zh-CN" altLang="en-US" sz="1800" b="1" dirty="0">
                <a:solidFill>
                  <a:schemeClr val="tx1"/>
                </a:solidFill>
                <a:latin typeface="+mn-ea"/>
                <a:ea typeface="+mn-ea"/>
              </a:rPr>
              <a:t>软件的组织</a:t>
            </a:r>
            <a:endParaRPr lang="en-US" altLang="zh-CN" sz="2200" b="1" dirty="0">
              <a:latin typeface="+mn-ea"/>
              <a:ea typeface="+mn-ea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>
                <a:latin typeface="+mn-ea"/>
                <a:ea typeface="+mn-ea"/>
              </a:rPr>
              <a:t>  </a:t>
            </a:r>
            <a:r>
              <a:rPr lang="zh-CN" altLang="en-US" sz="2200" b="1" dirty="0">
                <a:latin typeface="+mn-ea"/>
                <a:ea typeface="+mn-ea"/>
              </a:rPr>
              <a:t>  </a:t>
            </a:r>
            <a:r>
              <a:rPr lang="zh-CN" altLang="zh-CN" sz="2200" b="1" dirty="0">
                <a:latin typeface="+mn-ea"/>
                <a:ea typeface="+mn-ea"/>
              </a:rPr>
              <a:t>指</a:t>
            </a:r>
            <a:r>
              <a:rPr lang="en-US" altLang="zh-CN" sz="2200" b="1" dirty="0">
                <a:latin typeface="+mn-ea"/>
                <a:ea typeface="+mn-ea"/>
              </a:rPr>
              <a:t>CPU</a:t>
            </a:r>
            <a:r>
              <a:rPr lang="zh-CN" altLang="zh-CN" sz="2200" b="1" dirty="0">
                <a:latin typeface="+mn-ea"/>
                <a:ea typeface="+mn-ea"/>
              </a:rPr>
              <a:t>对数据</a:t>
            </a:r>
            <a:r>
              <a:rPr lang="zh-CN" altLang="en-US" sz="2200" b="1" dirty="0">
                <a:latin typeface="+mn-ea"/>
                <a:ea typeface="+mn-ea"/>
              </a:rPr>
              <a:t>传送</a:t>
            </a:r>
            <a:r>
              <a:rPr lang="zh-CN" altLang="zh-CN" sz="2200" b="1" dirty="0">
                <a:latin typeface="+mn-ea"/>
                <a:ea typeface="+mn-ea"/>
              </a:rPr>
              <a:t>的</a:t>
            </a:r>
            <a:r>
              <a:rPr lang="zh-CN" altLang="zh-CN" sz="2200" b="1" dirty="0">
                <a:solidFill>
                  <a:srgbClr val="990099"/>
                </a:solidFill>
                <a:latin typeface="+mn-ea"/>
                <a:ea typeface="+mn-ea"/>
              </a:rPr>
              <a:t>管理方式</a:t>
            </a:r>
            <a:r>
              <a:rPr lang="en-US" altLang="zh-CN" sz="1800" b="1" dirty="0">
                <a:latin typeface="+mn-ea"/>
                <a:ea typeface="+mn-ea"/>
              </a:rPr>
              <a:t>(</a:t>
            </a:r>
            <a:r>
              <a:rPr lang="zh-CN" altLang="en-US" sz="1800" b="1" dirty="0">
                <a:latin typeface="+mn-ea"/>
                <a:ea typeface="+mn-ea"/>
              </a:rPr>
              <a:t>何时传</a:t>
            </a:r>
            <a:r>
              <a:rPr lang="en-US" altLang="zh-CN" sz="1800" b="1" dirty="0">
                <a:latin typeface="+mn-ea"/>
                <a:ea typeface="+mn-ea"/>
              </a:rPr>
              <a:t>/</a:t>
            </a:r>
            <a:r>
              <a:rPr lang="zh-CN" altLang="en-US" sz="1800" b="1" dirty="0">
                <a:latin typeface="+mn-ea"/>
                <a:ea typeface="+mn-ea"/>
              </a:rPr>
              <a:t>如何传</a:t>
            </a:r>
            <a:r>
              <a:rPr lang="en-US" altLang="zh-CN" sz="1800" b="1" dirty="0">
                <a:latin typeface="+mn-ea"/>
                <a:ea typeface="+mn-ea"/>
              </a:rPr>
              <a:t>)</a:t>
            </a:r>
            <a:r>
              <a:rPr lang="zh-CN" altLang="zh-CN" sz="2200" b="1" dirty="0">
                <a:latin typeface="+mn-ea"/>
                <a:ea typeface="+mn-ea"/>
              </a:rPr>
              <a:t>，又称</a:t>
            </a:r>
            <a:r>
              <a:rPr lang="en-US" altLang="zh-CN" sz="2200" b="1" dirty="0">
                <a:solidFill>
                  <a:srgbClr val="990099"/>
                </a:solidFill>
                <a:latin typeface="+mn-ea"/>
                <a:ea typeface="+mn-ea"/>
              </a:rPr>
              <a:t>I/O</a:t>
            </a:r>
            <a:r>
              <a:rPr lang="zh-CN" altLang="zh-CN" sz="2200" b="1" dirty="0">
                <a:solidFill>
                  <a:srgbClr val="990099"/>
                </a:solidFill>
                <a:latin typeface="+mn-ea"/>
                <a:ea typeface="+mn-ea"/>
              </a:rPr>
              <a:t>方式</a:t>
            </a:r>
            <a:endParaRPr lang="en-US" altLang="zh-CN" sz="2200" b="1" dirty="0">
              <a:solidFill>
                <a:srgbClr val="990099"/>
              </a:solidFill>
              <a:latin typeface="+mn-ea"/>
              <a:ea typeface="+mn-ea"/>
            </a:endParaRPr>
          </a:p>
        </p:txBody>
      </p:sp>
      <p:sp>
        <p:nvSpPr>
          <p:cNvPr id="12" name="Text Box 46"/>
          <p:cNvSpPr txBox="1">
            <a:spLocks noChangeArrowheads="1"/>
          </p:cNvSpPr>
          <p:nvPr/>
        </p:nvSpPr>
        <p:spPr bwMode="auto">
          <a:xfrm>
            <a:off x="179388" y="1268760"/>
            <a:ext cx="8785225" cy="134222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*I/O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方式的目标：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减少</a:t>
            </a:r>
            <a:r>
              <a:rPr lang="en-US" altLang="zh-CN" sz="2200" b="1" dirty="0">
                <a:latin typeface="宋体" panose="02010600030101010101" pitchFamily="2" charset="-122"/>
              </a:rPr>
              <a:t>I/O</a:t>
            </a:r>
            <a:r>
              <a:rPr lang="zh-CN" altLang="en-US" sz="2200" b="1" dirty="0">
                <a:latin typeface="宋体" panose="02010600030101010101" pitchFamily="2" charset="-122"/>
              </a:rPr>
              <a:t>开销</a:t>
            </a:r>
            <a:r>
              <a:rPr lang="en-US" altLang="zh-CN" sz="1800" b="1" dirty="0">
                <a:latin typeface="宋体" panose="02010600030101010101" pitchFamily="2" charset="-122"/>
              </a:rPr>
              <a:t>(I/O</a:t>
            </a:r>
            <a:r>
              <a:rPr lang="zh-CN" altLang="en-US" sz="1800" b="1" dirty="0">
                <a:latin typeface="宋体" panose="02010600030101010101" pitchFamily="2" charset="-122"/>
              </a:rPr>
              <a:t>所占</a:t>
            </a:r>
            <a:r>
              <a:rPr lang="en-US" altLang="zh-CN" sz="1800" b="1" dirty="0">
                <a:latin typeface="宋体" panose="02010600030101010101" pitchFamily="2" charset="-122"/>
              </a:rPr>
              <a:t>CPU</a:t>
            </a:r>
            <a:r>
              <a:rPr lang="zh-CN" altLang="en-US" sz="1800" b="1" dirty="0">
                <a:latin typeface="宋体" panose="02010600030101010101" pitchFamily="2" charset="-122"/>
              </a:rPr>
              <a:t>时间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r>
              <a:rPr lang="zh-CN" altLang="en-US" sz="2200" b="1" dirty="0">
                <a:latin typeface="宋体" panose="02010600030101010101" pitchFamily="2" charset="-122"/>
              </a:rPr>
              <a:t>，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提高</a:t>
            </a:r>
            <a:r>
              <a:rPr lang="zh-CN" altLang="en-US" sz="2200" b="1" dirty="0">
                <a:latin typeface="宋体" panose="02010600030101010101" pitchFamily="2" charset="-122"/>
              </a:rPr>
              <a:t>传输速率</a:t>
            </a:r>
          </a:p>
          <a:p>
            <a:pPr algn="l">
              <a:lnSpc>
                <a:spcPct val="125000"/>
              </a:lnSpc>
              <a:spcBef>
                <a:spcPts val="300"/>
              </a:spcBef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*I/O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方式示例：</a:t>
            </a:r>
            <a:r>
              <a:rPr lang="zh-CN" altLang="en-US" sz="2200" b="1" dirty="0">
                <a:latin typeface="宋体" panose="02010600030101010101" pitchFamily="2" charset="-122"/>
              </a:rPr>
              <a:t>糖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solidFill>
                  <a:schemeClr val="accent2"/>
                </a:solidFill>
                <a:latin typeface="宋体" panose="02010600030101010101" pitchFamily="2" charset="-122"/>
              </a:rPr>
              <a:t>数据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r>
              <a:rPr lang="zh-CN" altLang="en-US" sz="2200" b="1" dirty="0">
                <a:latin typeface="宋体" panose="02010600030101010101" pitchFamily="2" charset="-122"/>
              </a:rPr>
              <a:t>在讲台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solidFill>
                  <a:schemeClr val="accent2"/>
                </a:solidFill>
                <a:latin typeface="宋体" panose="02010600030101010101" pitchFamily="2" charset="-122"/>
              </a:rPr>
              <a:t>主存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r>
              <a:rPr lang="zh-CN" altLang="en-US" sz="2200" b="1" dirty="0">
                <a:latin typeface="宋体" panose="02010600030101010101" pitchFamily="2" charset="-122"/>
              </a:rPr>
              <a:t>上，</a:t>
            </a: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              </a:t>
            </a:r>
            <a:r>
              <a:rPr lang="zh-CN" altLang="en-US" sz="2200" b="1" dirty="0">
                <a:latin typeface="宋体" panose="02010600030101010101" pitchFamily="2" charset="-122"/>
              </a:rPr>
              <a:t>老师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en-US" altLang="zh-CN" sz="1800" b="1" dirty="0">
                <a:solidFill>
                  <a:srgbClr val="FF3399"/>
                </a:solidFill>
                <a:latin typeface="宋体" panose="02010600030101010101" pitchFamily="2" charset="-122"/>
              </a:rPr>
              <a:t>CPU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r>
              <a:rPr lang="zh-CN" altLang="en-US" sz="2200" b="1" dirty="0">
                <a:latin typeface="宋体" panose="02010600030101010101" pitchFamily="2" charset="-122"/>
              </a:rPr>
              <a:t>组织</a:t>
            </a:r>
            <a:r>
              <a:rPr lang="en-US" altLang="zh-CN" sz="2200" b="1" dirty="0">
                <a:latin typeface="宋体" panose="02010600030101010101" pitchFamily="2" charset="-122"/>
              </a:rPr>
              <a:t>10</a:t>
            </a:r>
            <a:r>
              <a:rPr lang="zh-CN" altLang="en-US" sz="2200" b="1" dirty="0">
                <a:latin typeface="宋体" panose="02010600030101010101" pitchFamily="2" charset="-122"/>
              </a:rPr>
              <a:t>个孩子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solidFill>
                  <a:schemeClr val="accent2"/>
                </a:solidFill>
                <a:latin typeface="宋体" panose="02010600030101010101" pitchFamily="2" charset="-122"/>
              </a:rPr>
              <a:t>外设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r>
              <a:rPr lang="zh-CN" altLang="en-US" sz="2200" b="1" dirty="0">
                <a:latin typeface="宋体" panose="02010600030101010101" pitchFamily="2" charset="-122"/>
              </a:rPr>
              <a:t>每人吃</a:t>
            </a:r>
            <a:r>
              <a:rPr lang="en-US" altLang="zh-CN" sz="2200" b="1" dirty="0">
                <a:latin typeface="宋体" panose="02010600030101010101" pitchFamily="2" charset="-122"/>
              </a:rPr>
              <a:t>4</a:t>
            </a:r>
            <a:r>
              <a:rPr lang="zh-CN" altLang="en-US" sz="2200" b="1" dirty="0">
                <a:latin typeface="宋体" panose="02010600030101010101" pitchFamily="2" charset="-122"/>
              </a:rPr>
              <a:t>颗糖</a:t>
            </a:r>
            <a:endParaRPr lang="zh-CN" altLang="en-US" sz="2200" dirty="0">
              <a:latin typeface="宋体" panose="02010600030101010101" pitchFamily="2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1848407" y="4330792"/>
            <a:ext cx="5832551" cy="433280"/>
            <a:chOff x="1776399" y="4592623"/>
            <a:chExt cx="5832551" cy="433280"/>
          </a:xfrm>
        </p:grpSpPr>
        <p:sp>
          <p:nvSpPr>
            <p:cNvPr id="16" name="Text Box 72"/>
            <p:cNvSpPr txBox="1">
              <a:spLocks noChangeArrowheads="1"/>
            </p:cNvSpPr>
            <p:nvPr/>
          </p:nvSpPr>
          <p:spPr bwMode="auto">
            <a:xfrm>
              <a:off x="1776399" y="4734728"/>
              <a:ext cx="720079" cy="288925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en-US" altLang="zh-CN" sz="1800" b="1" dirty="0">
                  <a:latin typeface="宋体" panose="02010600030101010101" pitchFamily="2" charset="-122"/>
                </a:rPr>
                <a:t>CPU</a:t>
              </a:r>
            </a:p>
          </p:txBody>
        </p:sp>
        <p:sp>
          <p:nvSpPr>
            <p:cNvPr id="19" name="Text Box 74"/>
            <p:cNvSpPr txBox="1">
              <a:spLocks noChangeArrowheads="1"/>
            </p:cNvSpPr>
            <p:nvPr/>
          </p:nvSpPr>
          <p:spPr bwMode="auto">
            <a:xfrm>
              <a:off x="2712503" y="4734728"/>
              <a:ext cx="720080" cy="288925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zh-CN" altLang="en-US" sz="1800" b="1" dirty="0">
                  <a:latin typeface="宋体" panose="02010600030101010101" pitchFamily="2" charset="-122"/>
                </a:rPr>
                <a:t>主存</a:t>
              </a:r>
            </a:p>
          </p:txBody>
        </p:sp>
        <p:sp>
          <p:nvSpPr>
            <p:cNvPr id="20" name="Text Box 79"/>
            <p:cNvSpPr txBox="1">
              <a:spLocks noChangeArrowheads="1"/>
            </p:cNvSpPr>
            <p:nvPr/>
          </p:nvSpPr>
          <p:spPr bwMode="auto">
            <a:xfrm>
              <a:off x="6299299" y="4736623"/>
              <a:ext cx="288925" cy="288000"/>
            </a:xfrm>
            <a:prstGeom prst="rect">
              <a:avLst/>
            </a:prstGeom>
            <a:noFill/>
            <a:ln w="222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latin typeface="+mn-ea"/>
                  <a:ea typeface="+mn-ea"/>
                </a:rPr>
                <a:t>…</a:t>
              </a:r>
            </a:p>
          </p:txBody>
        </p:sp>
        <p:sp>
          <p:nvSpPr>
            <p:cNvPr id="21" name="Text Box 80"/>
            <p:cNvSpPr txBox="1">
              <a:spLocks noChangeArrowheads="1"/>
            </p:cNvSpPr>
            <p:nvPr/>
          </p:nvSpPr>
          <p:spPr bwMode="auto">
            <a:xfrm>
              <a:off x="3491880" y="4592623"/>
              <a:ext cx="576064" cy="251917"/>
            </a:xfrm>
            <a:prstGeom prst="rect">
              <a:avLst/>
            </a:prstGeom>
            <a:noFill/>
            <a:ln w="222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zh-CN" altLang="en-US" sz="1600" b="1" dirty="0"/>
                <a:t>总线</a:t>
              </a:r>
            </a:p>
          </p:txBody>
        </p:sp>
        <p:sp>
          <p:nvSpPr>
            <p:cNvPr id="22" name="Text Box 81"/>
            <p:cNvSpPr txBox="1">
              <a:spLocks noChangeArrowheads="1"/>
            </p:cNvSpPr>
            <p:nvPr/>
          </p:nvSpPr>
          <p:spPr bwMode="auto">
            <a:xfrm>
              <a:off x="4152662" y="4737903"/>
              <a:ext cx="864000" cy="2880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28800" rIns="18000" bIns="10800" anchor="ctr"/>
            <a:lstStyle/>
            <a:p>
              <a:r>
                <a:rPr lang="zh-CN" altLang="en-US" sz="1800" b="1" dirty="0">
                  <a:latin typeface="宋体" panose="02010600030101010101" pitchFamily="2" charset="-122"/>
                </a:rPr>
                <a:t>外设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0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23" name="直接连接符 22"/>
            <p:cNvCxnSpPr>
              <a:cxnSpLocks/>
            </p:cNvCxnSpPr>
            <p:nvPr/>
          </p:nvCxnSpPr>
          <p:spPr bwMode="auto">
            <a:xfrm>
              <a:off x="2195736" y="4592623"/>
              <a:ext cx="0" cy="144000"/>
            </a:xfrm>
            <a:prstGeom prst="line">
              <a:avLst/>
            </a:prstGeom>
            <a:noFill/>
            <a:ln w="28575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" name="直接连接符 23"/>
            <p:cNvCxnSpPr>
              <a:cxnSpLocks/>
            </p:cNvCxnSpPr>
            <p:nvPr/>
          </p:nvCxnSpPr>
          <p:spPr bwMode="auto">
            <a:xfrm flipV="1">
              <a:off x="3131840" y="4592623"/>
              <a:ext cx="0" cy="144000"/>
            </a:xfrm>
            <a:prstGeom prst="line">
              <a:avLst/>
            </a:prstGeom>
            <a:noFill/>
            <a:ln w="28575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" name="直接连接符 24"/>
            <p:cNvCxnSpPr/>
            <p:nvPr/>
          </p:nvCxnSpPr>
          <p:spPr bwMode="auto">
            <a:xfrm>
              <a:off x="1776399" y="4592623"/>
              <a:ext cx="5819937" cy="0"/>
            </a:xfrm>
            <a:prstGeom prst="line">
              <a:avLst/>
            </a:prstGeom>
            <a:noFill/>
            <a:ln w="28575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6" name="直接连接符 25"/>
            <p:cNvCxnSpPr>
              <a:cxnSpLocks/>
            </p:cNvCxnSpPr>
            <p:nvPr/>
          </p:nvCxnSpPr>
          <p:spPr bwMode="auto">
            <a:xfrm>
              <a:off x="4571999" y="4592623"/>
              <a:ext cx="0" cy="144000"/>
            </a:xfrm>
            <a:prstGeom prst="line">
              <a:avLst/>
            </a:prstGeom>
            <a:noFill/>
            <a:ln w="28575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7" name="Text Box 81"/>
            <p:cNvSpPr txBox="1">
              <a:spLocks noChangeArrowheads="1"/>
            </p:cNvSpPr>
            <p:nvPr/>
          </p:nvSpPr>
          <p:spPr bwMode="auto">
            <a:xfrm>
              <a:off x="5304790" y="4737903"/>
              <a:ext cx="864000" cy="2880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28800" rIns="18000" bIns="10800" anchor="ctr"/>
            <a:lstStyle/>
            <a:p>
              <a:r>
                <a:rPr lang="zh-CN" altLang="en-US" sz="1800" b="1" dirty="0">
                  <a:latin typeface="宋体" panose="02010600030101010101" pitchFamily="2" charset="-122"/>
                </a:rPr>
                <a:t>外设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1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28" name="直接连接符 27"/>
            <p:cNvCxnSpPr>
              <a:cxnSpLocks/>
            </p:cNvCxnSpPr>
            <p:nvPr/>
          </p:nvCxnSpPr>
          <p:spPr bwMode="auto">
            <a:xfrm>
              <a:off x="5724127" y="4592623"/>
              <a:ext cx="0" cy="144000"/>
            </a:xfrm>
            <a:prstGeom prst="line">
              <a:avLst/>
            </a:prstGeom>
            <a:noFill/>
            <a:ln w="28575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9" name="Text Box 81"/>
            <p:cNvSpPr txBox="1">
              <a:spLocks noChangeArrowheads="1"/>
            </p:cNvSpPr>
            <p:nvPr/>
          </p:nvSpPr>
          <p:spPr bwMode="auto">
            <a:xfrm>
              <a:off x="6744950" y="4737903"/>
              <a:ext cx="864000" cy="2880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28800" rIns="18000" bIns="10800" anchor="ctr"/>
            <a:lstStyle/>
            <a:p>
              <a:r>
                <a:rPr lang="zh-CN" altLang="en-US" sz="1800" b="1" dirty="0">
                  <a:latin typeface="宋体" panose="02010600030101010101" pitchFamily="2" charset="-122"/>
                </a:rPr>
                <a:t>外设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n-1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30" name="直接连接符 29"/>
            <p:cNvCxnSpPr>
              <a:cxnSpLocks/>
            </p:cNvCxnSpPr>
            <p:nvPr/>
          </p:nvCxnSpPr>
          <p:spPr bwMode="auto">
            <a:xfrm>
              <a:off x="7164287" y="4592623"/>
              <a:ext cx="0" cy="144000"/>
            </a:xfrm>
            <a:prstGeom prst="line">
              <a:avLst/>
            </a:prstGeom>
            <a:noFill/>
            <a:ln w="28575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" name="矩形 2"/>
            <p:cNvSpPr/>
            <p:nvPr/>
          </p:nvSpPr>
          <p:spPr bwMode="auto">
            <a:xfrm>
              <a:off x="4152662" y="4736623"/>
              <a:ext cx="864000" cy="54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3" name="矩形 32"/>
            <p:cNvSpPr/>
            <p:nvPr/>
          </p:nvSpPr>
          <p:spPr bwMode="auto">
            <a:xfrm>
              <a:off x="5304790" y="4736623"/>
              <a:ext cx="864000" cy="54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4" name="矩形 33"/>
            <p:cNvSpPr/>
            <p:nvPr/>
          </p:nvSpPr>
          <p:spPr bwMode="auto">
            <a:xfrm>
              <a:off x="6744950" y="4736623"/>
              <a:ext cx="864000" cy="54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40" name="Text Box 61"/>
          <p:cNvSpPr txBox="1">
            <a:spLocks noChangeArrowheads="1"/>
          </p:cNvSpPr>
          <p:nvPr/>
        </p:nvSpPr>
        <p:spPr bwMode="auto">
          <a:xfrm>
            <a:off x="2346874" y="4870449"/>
            <a:ext cx="5139946" cy="8805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sz="2200" b="1" dirty="0">
                <a:latin typeface="宋体" panose="02010600030101010101" pitchFamily="2" charset="-122"/>
              </a:rPr>
              <a:t>程序直接控制方式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程序查询</a:t>
            </a:r>
            <a:r>
              <a:rPr lang="en-US" altLang="zh-CN" sz="1800" b="1" dirty="0">
                <a:latin typeface="宋体" panose="02010600030101010101" pitchFamily="2" charset="-122"/>
              </a:rPr>
              <a:t>+</a:t>
            </a:r>
            <a:r>
              <a:rPr lang="zh-CN" altLang="en-US" sz="1800" b="1" dirty="0">
                <a:latin typeface="宋体" panose="02010600030101010101" pitchFamily="2" charset="-122"/>
              </a:rPr>
              <a:t>直接传送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r>
              <a:rPr lang="zh-CN" altLang="en-US" sz="2200" b="1" dirty="0">
                <a:latin typeface="宋体" panose="02010600030101010101" pitchFamily="2" charset="-122"/>
              </a:rPr>
              <a:t>、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sz="2200" b="1" dirty="0">
                <a:latin typeface="宋体" panose="02010600030101010101" pitchFamily="2" charset="-122"/>
              </a:rPr>
              <a:t>程序中断方式、</a:t>
            </a:r>
          </a:p>
        </p:txBody>
      </p:sp>
      <p:sp>
        <p:nvSpPr>
          <p:cNvPr id="41" name="Text Box 61"/>
          <p:cNvSpPr txBox="1">
            <a:spLocks noChangeArrowheads="1"/>
          </p:cNvSpPr>
          <p:nvPr/>
        </p:nvSpPr>
        <p:spPr bwMode="auto">
          <a:xfrm>
            <a:off x="2346874" y="5293657"/>
            <a:ext cx="5033438" cy="8805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sz="2200" b="1" dirty="0">
                <a:latin typeface="宋体" panose="02010600030101010101" pitchFamily="2" charset="-122"/>
              </a:rPr>
              <a:t>              直接存储器访问方式、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sz="2200" b="1" dirty="0">
                <a:latin typeface="宋体" panose="02010600030101010101" pitchFamily="2" charset="-122"/>
              </a:rPr>
              <a:t>通道方式等</a:t>
            </a:r>
          </a:p>
        </p:txBody>
      </p:sp>
      <p:sp>
        <p:nvSpPr>
          <p:cNvPr id="38" name="线形标注 2 37"/>
          <p:cNvSpPr/>
          <p:nvPr/>
        </p:nvSpPr>
        <p:spPr bwMode="auto">
          <a:xfrm>
            <a:off x="6732240" y="5797713"/>
            <a:ext cx="2016000" cy="288000"/>
          </a:xfrm>
          <a:prstGeom prst="borderCallout2">
            <a:avLst>
              <a:gd name="adj1" fmla="val -363"/>
              <a:gd name="adj2" fmla="val 36192"/>
              <a:gd name="adj3" fmla="val -114604"/>
              <a:gd name="adj4" fmla="val 36481"/>
              <a:gd name="adj5" fmla="val -172279"/>
              <a:gd name="adj6" fmla="val -4387"/>
            </a:avLst>
          </a:prstGeom>
          <a:noFill/>
          <a:ln w="12700" cap="flat" cmpd="sng" algn="ctr">
            <a:solidFill>
              <a:srgbClr val="990099"/>
            </a:solidFill>
            <a:prstDash val="sysDash"/>
            <a:round/>
            <a:headEnd type="none" w="med" len="med"/>
            <a:tailEnd type="triangle" w="med" len="med"/>
          </a:ln>
          <a:effectLst/>
        </p:spPr>
        <p:txBody>
          <a:bodyPr vert="horz" wrap="square" lIns="36000" tIns="18000" rIns="36000" bIns="18000" numCol="1" rtlCol="0" anchor="t" anchorCtr="0" compatLnSpc="1"/>
          <a:lstStyle/>
          <a:p>
            <a:pPr>
              <a:lnSpc>
                <a:spcPct val="105000"/>
              </a:lnSpc>
            </a:pPr>
            <a:r>
              <a:rPr lang="zh-CN" altLang="en-US" sz="1600" b="1" dirty="0">
                <a:latin typeface="+mn-ea"/>
                <a:ea typeface="+mn-ea"/>
              </a:rPr>
              <a:t>面向</a:t>
            </a:r>
            <a:r>
              <a:rPr lang="zh-CN" altLang="en-US" sz="1600" b="1" dirty="0">
                <a:solidFill>
                  <a:srgbClr val="0070C0"/>
                </a:solidFill>
                <a:latin typeface="+mn-ea"/>
                <a:ea typeface="+mn-ea"/>
              </a:rPr>
              <a:t>无条件传送</a:t>
            </a:r>
            <a:r>
              <a:rPr lang="zh-CN" altLang="en-US" sz="1600" b="1" dirty="0">
                <a:latin typeface="+mn-ea"/>
                <a:ea typeface="+mn-ea"/>
              </a:rPr>
              <a:t>设备</a:t>
            </a:r>
          </a:p>
        </p:txBody>
      </p:sp>
      <p:grpSp>
        <p:nvGrpSpPr>
          <p:cNvPr id="8" name="组合 7"/>
          <p:cNvGrpSpPr/>
          <p:nvPr/>
        </p:nvGrpSpPr>
        <p:grpSpPr>
          <a:xfrm>
            <a:off x="1368000" y="5473737"/>
            <a:ext cx="1044000" cy="540000"/>
            <a:chOff x="1584024" y="5661247"/>
            <a:chExt cx="1044000" cy="540000"/>
          </a:xfrm>
        </p:grpSpPr>
        <p:sp>
          <p:nvSpPr>
            <p:cNvPr id="6" name="左大括号 5"/>
            <p:cNvSpPr/>
            <p:nvPr/>
          </p:nvSpPr>
          <p:spPr bwMode="auto">
            <a:xfrm>
              <a:off x="2520024" y="5661247"/>
              <a:ext cx="108000" cy="540000"/>
            </a:xfrm>
            <a:prstGeom prst="leftBrace">
              <a:avLst>
                <a:gd name="adj1" fmla="val 27532"/>
                <a:gd name="adj2" fmla="val 50000"/>
              </a:avLst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" name="Text Box 80"/>
            <p:cNvSpPr txBox="1">
              <a:spLocks noChangeArrowheads="1"/>
            </p:cNvSpPr>
            <p:nvPr/>
          </p:nvSpPr>
          <p:spPr bwMode="auto">
            <a:xfrm>
              <a:off x="1584024" y="5688016"/>
              <a:ext cx="900000" cy="505346"/>
            </a:xfrm>
            <a:prstGeom prst="rect">
              <a:avLst/>
            </a:prstGeom>
            <a:noFill/>
            <a:ln w="222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zh-CN" altLang="en-US" sz="1600" b="1" dirty="0"/>
                <a:t>需要</a:t>
              </a:r>
              <a:r>
                <a:rPr lang="zh-CN" altLang="en-US" sz="1600" b="1" dirty="0">
                  <a:solidFill>
                    <a:srgbClr val="0070C0"/>
                  </a:solidFill>
                </a:rPr>
                <a:t>额外硬件</a:t>
              </a:r>
              <a:r>
                <a:rPr lang="zh-CN" altLang="en-US" sz="1600" b="1" dirty="0"/>
                <a:t>支持</a:t>
              </a:r>
            </a:p>
          </p:txBody>
        </p:sp>
      </p:grpSp>
      <p:sp>
        <p:nvSpPr>
          <p:cNvPr id="36" name="Text Box 47"/>
          <p:cNvSpPr txBox="1">
            <a:spLocks noChangeArrowheads="1"/>
          </p:cNvSpPr>
          <p:nvPr/>
        </p:nvSpPr>
        <p:spPr bwMode="auto">
          <a:xfrm>
            <a:off x="827584" y="2636912"/>
            <a:ext cx="8196263" cy="163121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000" b="1" dirty="0">
                <a:latin typeface="宋体" panose="02010600030101010101" pitchFamily="2" charset="-122"/>
              </a:rPr>
              <a:t>①</a:t>
            </a:r>
            <a:r>
              <a:rPr lang="zh-CN" altLang="en-US" sz="2000" b="1" u="sng" spc="-100" dirty="0">
                <a:solidFill>
                  <a:srgbClr val="FF3399"/>
                </a:solidFill>
                <a:latin typeface="宋体" panose="02010600030101010101" pitchFamily="2" charset="-122"/>
              </a:rPr>
              <a:t>拿</a:t>
            </a:r>
            <a:r>
              <a:rPr lang="en-US" altLang="zh-CN" sz="2000" b="1" spc="-100" dirty="0">
                <a:latin typeface="宋体" panose="02010600030101010101" pitchFamily="2" charset="-122"/>
              </a:rPr>
              <a:t>1</a:t>
            </a:r>
            <a:r>
              <a:rPr lang="zh-CN" altLang="en-US" sz="2000" b="1" spc="-100" dirty="0">
                <a:latin typeface="宋体" panose="02010600030101010101" pitchFamily="2" charset="-122"/>
              </a:rPr>
              <a:t>颗糖，</a:t>
            </a:r>
            <a:r>
              <a:rPr lang="zh-CN" altLang="en-US" sz="2000" b="1" u="sng" spc="-100" dirty="0">
                <a:solidFill>
                  <a:srgbClr val="FF3399"/>
                </a:solidFill>
                <a:latin typeface="宋体" panose="02010600030101010101" pitchFamily="2" charset="-122"/>
              </a:rPr>
              <a:t>给</a:t>
            </a:r>
            <a:r>
              <a:rPr lang="zh-CN" altLang="en-US" sz="2000" b="1" spc="-100" dirty="0">
                <a:latin typeface="宋体" panose="02010600030101010101" pitchFamily="2" charset="-122"/>
              </a:rPr>
              <a:t>孩子，</a:t>
            </a:r>
            <a:r>
              <a:rPr lang="zh-CN" altLang="en-US" sz="2000" b="1" u="sng" spc="-100" dirty="0">
                <a:solidFill>
                  <a:srgbClr val="FF3399"/>
                </a:solidFill>
                <a:latin typeface="宋体" panose="02010600030101010101" pitchFamily="2" charset="-122"/>
              </a:rPr>
              <a:t>看</a:t>
            </a:r>
            <a:r>
              <a:rPr lang="zh-CN" altLang="en-US" sz="2000" b="1" spc="-100" dirty="0">
                <a:latin typeface="宋体" panose="02010600030101010101" pitchFamily="2" charset="-122"/>
              </a:rPr>
              <a:t>着他，</a:t>
            </a:r>
            <a:r>
              <a:rPr lang="zh-CN" altLang="en-US" sz="2000" b="1" u="sng" spc="-100" dirty="0">
                <a:solidFill>
                  <a:srgbClr val="FF3399"/>
                </a:solidFill>
                <a:latin typeface="宋体" panose="02010600030101010101" pitchFamily="2" charset="-122"/>
              </a:rPr>
              <a:t>等到</a:t>
            </a:r>
            <a:r>
              <a:rPr lang="zh-CN" altLang="en-US" sz="2000" b="1" spc="-100" dirty="0">
                <a:latin typeface="宋体" panose="02010600030101010101" pitchFamily="2" charset="-122"/>
              </a:rPr>
              <a:t>他</a:t>
            </a:r>
            <a:r>
              <a:rPr lang="zh-CN" altLang="en-US" sz="2000" b="1" spc="-100" dirty="0">
                <a:solidFill>
                  <a:srgbClr val="990099"/>
                </a:solidFill>
                <a:latin typeface="宋体" panose="02010600030101010101" pitchFamily="2" charset="-122"/>
              </a:rPr>
              <a:t>吃完</a:t>
            </a:r>
            <a:r>
              <a:rPr lang="zh-CN" altLang="en-US" sz="2000" b="1" spc="-100" dirty="0">
                <a:latin typeface="宋体" panose="02010600030101010101" pitchFamily="2" charset="-122"/>
              </a:rPr>
              <a:t>时</a:t>
            </a:r>
            <a:r>
              <a:rPr lang="en-US" altLang="zh-CN" sz="2000" b="1" spc="-100" dirty="0">
                <a:latin typeface="宋体" panose="02010600030101010101" pitchFamily="2" charset="-122"/>
              </a:rPr>
              <a:t>…(</a:t>
            </a:r>
            <a:r>
              <a:rPr lang="zh-CN" altLang="en-US" sz="2000" b="1" spc="-100" dirty="0">
                <a:latin typeface="宋体" panose="02010600030101010101" pitchFamily="2" charset="-122"/>
              </a:rPr>
              <a:t>下颗糖</a:t>
            </a:r>
            <a:r>
              <a:rPr lang="en-US" altLang="zh-CN" sz="2000" b="1" spc="-100" dirty="0">
                <a:latin typeface="宋体" panose="02010600030101010101" pitchFamily="2" charset="-122"/>
              </a:rPr>
              <a:t>)</a:t>
            </a:r>
            <a:r>
              <a:rPr lang="zh-CN" altLang="en-US" sz="2000" b="1" spc="-100" dirty="0">
                <a:latin typeface="宋体" panose="02010600030101010101" pitchFamily="2" charset="-122"/>
              </a:rPr>
              <a:t>；下个孩子</a:t>
            </a:r>
            <a:r>
              <a:rPr lang="en-US" altLang="zh-CN" sz="2000" b="1" spc="-100" dirty="0">
                <a:latin typeface="宋体" panose="02010600030101010101" pitchFamily="2" charset="-122"/>
              </a:rPr>
              <a:t>…</a:t>
            </a:r>
          </a:p>
          <a:p>
            <a:pPr algn="l">
              <a:lnSpc>
                <a:spcPct val="125000"/>
              </a:lnSpc>
            </a:pPr>
            <a:r>
              <a:rPr lang="en-US" altLang="zh-CN" sz="2000" b="1" dirty="0">
                <a:latin typeface="宋体" panose="02010600030101010101" pitchFamily="2" charset="-122"/>
              </a:rPr>
              <a:t>②</a:t>
            </a:r>
            <a:r>
              <a:rPr lang="zh-CN" altLang="en-US" sz="2000" b="1" u="sng" spc="-100" dirty="0">
                <a:solidFill>
                  <a:srgbClr val="FF3399"/>
                </a:solidFill>
                <a:latin typeface="宋体" panose="02010600030101010101" pitchFamily="2" charset="-122"/>
              </a:rPr>
              <a:t>拿</a:t>
            </a:r>
            <a:r>
              <a:rPr lang="en-US" altLang="zh-CN" sz="2000" b="1" spc="-100" dirty="0">
                <a:latin typeface="宋体" panose="02010600030101010101" pitchFamily="2" charset="-122"/>
              </a:rPr>
              <a:t>1</a:t>
            </a:r>
            <a:r>
              <a:rPr lang="zh-CN" altLang="en-US" sz="2000" b="1" spc="-100" dirty="0">
                <a:latin typeface="宋体" panose="02010600030101010101" pitchFamily="2" charset="-122"/>
              </a:rPr>
              <a:t>颗糖，</a:t>
            </a:r>
            <a:r>
              <a:rPr lang="zh-CN" altLang="en-US" sz="2000" b="1" u="sng" spc="-100" dirty="0">
                <a:solidFill>
                  <a:srgbClr val="FF3399"/>
                </a:solidFill>
                <a:latin typeface="宋体" panose="02010600030101010101" pitchFamily="2" charset="-122"/>
              </a:rPr>
              <a:t>给</a:t>
            </a:r>
            <a:r>
              <a:rPr lang="zh-CN" altLang="en-US" sz="2000" b="1" spc="-100" dirty="0">
                <a:latin typeface="宋体" panose="02010600030101010101" pitchFamily="2" charset="-122"/>
              </a:rPr>
              <a:t>孩子，</a:t>
            </a:r>
            <a:r>
              <a:rPr lang="zh-CN" altLang="en-US" sz="2000" b="1" u="sng" spc="-100" dirty="0">
                <a:solidFill>
                  <a:srgbClr val="FF3399"/>
                </a:solidFill>
                <a:latin typeface="宋体" panose="02010600030101010101" pitchFamily="2" charset="-122"/>
              </a:rPr>
              <a:t>改</a:t>
            </a:r>
            <a:r>
              <a:rPr lang="zh-CN" altLang="en-US" sz="2000" b="1" spc="-100" dirty="0">
                <a:solidFill>
                  <a:srgbClr val="0070C0"/>
                </a:solidFill>
                <a:latin typeface="宋体" panose="02010600030101010101" pitchFamily="2" charset="-122"/>
              </a:rPr>
              <a:t>作业</a:t>
            </a:r>
            <a:r>
              <a:rPr lang="zh-CN" altLang="en-US" sz="2000" b="1" spc="-100" dirty="0">
                <a:latin typeface="宋体" panose="02010600030101010101" pitchFamily="2" charset="-122"/>
              </a:rPr>
              <a:t>，</a:t>
            </a:r>
            <a:r>
              <a:rPr lang="zh-CN" altLang="en-US" sz="2000" b="1" u="sng" spc="-100" dirty="0">
                <a:solidFill>
                  <a:srgbClr val="C00000"/>
                </a:solidFill>
                <a:latin typeface="宋体" panose="02010600030101010101" pitchFamily="2" charset="-122"/>
              </a:rPr>
              <a:t>听到</a:t>
            </a:r>
            <a:r>
              <a:rPr lang="zh-CN" altLang="en-US" sz="2000" b="1" spc="-100" dirty="0">
                <a:latin typeface="宋体" panose="02010600030101010101" pitchFamily="2" charset="-122"/>
              </a:rPr>
              <a:t>他</a:t>
            </a:r>
            <a:r>
              <a:rPr lang="zh-CN" altLang="en-US" sz="2000" b="1" spc="-100" dirty="0">
                <a:solidFill>
                  <a:srgbClr val="990099"/>
                </a:solidFill>
                <a:latin typeface="宋体" panose="02010600030101010101" pitchFamily="2" charset="-122"/>
              </a:rPr>
              <a:t>报告</a:t>
            </a:r>
            <a:r>
              <a:rPr lang="zh-CN" altLang="en-US" sz="2000" b="1" spc="-100" dirty="0">
                <a:latin typeface="宋体" panose="02010600030101010101" pitchFamily="2" charset="-122"/>
              </a:rPr>
              <a:t>时</a:t>
            </a:r>
            <a:r>
              <a:rPr lang="en-US" altLang="zh-CN" sz="2000" b="1" spc="-100" dirty="0">
                <a:latin typeface="宋体" panose="02010600030101010101" pitchFamily="2" charset="-122"/>
              </a:rPr>
              <a:t>…(</a:t>
            </a:r>
            <a:r>
              <a:rPr lang="zh-CN" altLang="en-US" sz="2000" b="1" spc="-100" dirty="0">
                <a:latin typeface="宋体" panose="02010600030101010101" pitchFamily="2" charset="-122"/>
              </a:rPr>
              <a:t>下颗糖</a:t>
            </a:r>
            <a:r>
              <a:rPr lang="en-US" altLang="zh-CN" sz="2000" b="1" spc="-100" dirty="0">
                <a:latin typeface="宋体" panose="02010600030101010101" pitchFamily="2" charset="-122"/>
              </a:rPr>
              <a:t>)</a:t>
            </a:r>
            <a:r>
              <a:rPr lang="zh-CN" altLang="en-US" sz="2000" b="1" spc="-100" dirty="0">
                <a:latin typeface="宋体" panose="02010600030101010101" pitchFamily="2" charset="-122"/>
              </a:rPr>
              <a:t>；下个</a:t>
            </a:r>
            <a:r>
              <a:rPr lang="zh-CN" altLang="en-US" sz="2000" b="1" spc="-100" dirty="0"/>
              <a:t>孩子</a:t>
            </a:r>
            <a:r>
              <a:rPr lang="en-US" altLang="zh-CN" sz="2000" b="1" spc="-100" dirty="0">
                <a:latin typeface="宋体" panose="02010600030101010101" pitchFamily="2" charset="-122"/>
              </a:rPr>
              <a:t>…</a:t>
            </a:r>
            <a:endParaRPr lang="zh-CN" altLang="en-US" sz="2000" b="1" spc="-100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000" b="1" dirty="0">
                <a:latin typeface="宋体" panose="02010600030101010101" pitchFamily="2" charset="-122"/>
              </a:rPr>
              <a:t>③</a:t>
            </a:r>
            <a:r>
              <a:rPr lang="zh-CN" altLang="en-US" sz="2000" b="1" u="sng" spc="-120" dirty="0">
                <a:solidFill>
                  <a:srgbClr val="FF3399"/>
                </a:solidFill>
                <a:latin typeface="宋体" panose="02010600030101010101" pitchFamily="2" charset="-122"/>
              </a:rPr>
              <a:t>告诉</a:t>
            </a:r>
            <a:r>
              <a:rPr lang="zh-CN" altLang="en-US" sz="2000" b="1" spc="-120" dirty="0">
                <a:latin typeface="宋体" panose="02010600030101010101" pitchFamily="2" charset="-122"/>
              </a:rPr>
              <a:t>孩子吃糖规则</a:t>
            </a:r>
            <a:r>
              <a:rPr lang="en-US" altLang="zh-CN" sz="2000" b="1" spc="-120" dirty="0">
                <a:latin typeface="宋体" panose="02010600030101010101" pitchFamily="2" charset="-122"/>
              </a:rPr>
              <a:t>(4</a:t>
            </a:r>
            <a:r>
              <a:rPr lang="zh-CN" altLang="en-US" sz="2000" b="1" spc="-120" dirty="0">
                <a:latin typeface="宋体" panose="02010600030101010101" pitchFamily="2" charset="-122"/>
              </a:rPr>
              <a:t>颗</a:t>
            </a:r>
            <a:r>
              <a:rPr lang="en-US" altLang="zh-CN" sz="2000" b="1" spc="-120" dirty="0">
                <a:latin typeface="宋体" panose="02010600030101010101" pitchFamily="2" charset="-122"/>
              </a:rPr>
              <a:t>/</a:t>
            </a:r>
            <a:r>
              <a:rPr lang="zh-CN" altLang="en-US" sz="2000" b="1" u="sng" spc="-120" dirty="0">
                <a:latin typeface="宋体" panose="02010600030101010101" pitchFamily="2" charset="-122"/>
              </a:rPr>
              <a:t>自己拿</a:t>
            </a:r>
            <a:r>
              <a:rPr lang="en-US" altLang="zh-CN" sz="2000" b="1" spc="-120" dirty="0">
                <a:latin typeface="宋体" panose="02010600030101010101" pitchFamily="2" charset="-122"/>
              </a:rPr>
              <a:t>…)</a:t>
            </a:r>
            <a:r>
              <a:rPr lang="zh-CN" altLang="en-US" sz="2000" b="1" spc="-120" dirty="0">
                <a:latin typeface="宋体" panose="02010600030101010101" pitchFamily="2" charset="-122"/>
              </a:rPr>
              <a:t>，</a:t>
            </a:r>
            <a:r>
              <a:rPr lang="zh-CN" altLang="en-US" sz="2000" b="1" u="sng" spc="-120" dirty="0">
                <a:solidFill>
                  <a:srgbClr val="FF3399"/>
                </a:solidFill>
                <a:latin typeface="宋体" panose="02010600030101010101" pitchFamily="2" charset="-122"/>
              </a:rPr>
              <a:t>改</a:t>
            </a:r>
            <a:r>
              <a:rPr lang="zh-CN" altLang="en-US" sz="2000" b="1" spc="-120" dirty="0">
                <a:solidFill>
                  <a:srgbClr val="0070C0"/>
                </a:solidFill>
                <a:latin typeface="宋体" panose="02010600030101010101" pitchFamily="2" charset="-122"/>
              </a:rPr>
              <a:t>作业</a:t>
            </a:r>
            <a:r>
              <a:rPr lang="zh-CN" altLang="en-US" sz="2000" b="1" spc="-120" dirty="0">
                <a:latin typeface="宋体" panose="02010600030101010101" pitchFamily="2" charset="-122"/>
              </a:rPr>
              <a:t>，</a:t>
            </a:r>
            <a:r>
              <a:rPr lang="zh-CN" altLang="en-US" sz="2000" b="1" u="sng" spc="-120" dirty="0">
                <a:solidFill>
                  <a:srgbClr val="C00000"/>
                </a:solidFill>
                <a:latin typeface="宋体" panose="02010600030101010101" pitchFamily="2" charset="-122"/>
              </a:rPr>
              <a:t>听到</a:t>
            </a:r>
            <a:r>
              <a:rPr lang="zh-CN" altLang="en-US" sz="2000" b="1" spc="-120" dirty="0">
                <a:latin typeface="宋体" panose="02010600030101010101" pitchFamily="2" charset="-122"/>
              </a:rPr>
              <a:t>他</a:t>
            </a:r>
            <a:r>
              <a:rPr lang="zh-CN" altLang="en-US" sz="2000" b="1" spc="-120" dirty="0">
                <a:solidFill>
                  <a:srgbClr val="990099"/>
                </a:solidFill>
                <a:latin typeface="宋体" panose="02010600030101010101" pitchFamily="2" charset="-122"/>
              </a:rPr>
              <a:t>报告</a:t>
            </a:r>
            <a:r>
              <a:rPr lang="zh-CN" altLang="en-US" sz="2000" b="1" spc="-120" dirty="0">
                <a:latin typeface="宋体" panose="02010600030101010101" pitchFamily="2" charset="-122"/>
              </a:rPr>
              <a:t>时</a:t>
            </a:r>
            <a:r>
              <a:rPr lang="en-US" altLang="zh-CN" sz="2000" b="1" spc="-120" dirty="0">
                <a:latin typeface="宋体" panose="02010600030101010101" pitchFamily="2" charset="-122"/>
              </a:rPr>
              <a:t>…(</a:t>
            </a:r>
            <a:r>
              <a:rPr lang="zh-CN" altLang="en-US" sz="2000" b="1" spc="-120" dirty="0">
                <a:latin typeface="宋体" panose="02010600030101010101" pitchFamily="2" charset="-122"/>
              </a:rPr>
              <a:t>下个孩子</a:t>
            </a:r>
            <a:r>
              <a:rPr lang="en-US" altLang="zh-CN" sz="2000" b="1" spc="-120" dirty="0">
                <a:latin typeface="宋体" panose="02010600030101010101" pitchFamily="2" charset="-122"/>
              </a:rPr>
              <a:t>)</a:t>
            </a:r>
          </a:p>
          <a:p>
            <a:pPr algn="l">
              <a:lnSpc>
                <a:spcPct val="125000"/>
              </a:lnSpc>
            </a:pPr>
            <a:r>
              <a:rPr lang="en-US" altLang="zh-CN" sz="2000" b="1" dirty="0">
                <a:latin typeface="宋体" panose="02010600030101010101" pitchFamily="2" charset="-122"/>
              </a:rPr>
              <a:t>④</a:t>
            </a:r>
            <a:r>
              <a:rPr lang="zh-CN" altLang="en-US" sz="2000" b="1" u="sng" spc="-120" dirty="0">
                <a:solidFill>
                  <a:srgbClr val="FF3399"/>
                </a:solidFill>
                <a:latin typeface="宋体" panose="02010600030101010101" pitchFamily="2" charset="-122"/>
              </a:rPr>
              <a:t>写</a:t>
            </a:r>
            <a:r>
              <a:rPr lang="zh-CN" altLang="en-US" sz="2000" b="1" spc="-120" dirty="0">
                <a:latin typeface="宋体" panose="02010600030101010101" pitchFamily="2" charset="-122"/>
              </a:rPr>
              <a:t>吃糖规则</a:t>
            </a:r>
            <a:r>
              <a:rPr lang="en-US" altLang="zh-CN" sz="2000" b="1" spc="-120" dirty="0">
                <a:latin typeface="宋体" panose="02010600030101010101" pitchFamily="2" charset="-122"/>
              </a:rPr>
              <a:t>/</a:t>
            </a:r>
            <a:r>
              <a:rPr lang="zh-CN" altLang="en-US" sz="2000" b="1" spc="-120" dirty="0">
                <a:latin typeface="宋体" panose="02010600030101010101" pitchFamily="2" charset="-122"/>
              </a:rPr>
              <a:t>名单</a:t>
            </a:r>
            <a:r>
              <a:rPr lang="en-US" altLang="zh-CN" sz="2000" b="1" spc="-120" dirty="0">
                <a:latin typeface="宋体" panose="02010600030101010101" pitchFamily="2" charset="-122"/>
              </a:rPr>
              <a:t>/</a:t>
            </a:r>
            <a:r>
              <a:rPr lang="zh-CN" altLang="en-US" sz="2000" b="1" spc="-120" dirty="0">
                <a:latin typeface="宋体" panose="02010600030101010101" pitchFamily="2" charset="-122"/>
              </a:rPr>
              <a:t>要求，</a:t>
            </a:r>
            <a:r>
              <a:rPr lang="zh-CN" altLang="en-US" sz="2000" b="1" u="sng" spc="-120" dirty="0">
                <a:solidFill>
                  <a:srgbClr val="FF3399"/>
                </a:solidFill>
                <a:latin typeface="宋体" panose="02010600030101010101" pitchFamily="2" charset="-122"/>
              </a:rPr>
              <a:t>给</a:t>
            </a:r>
            <a:r>
              <a:rPr lang="zh-CN" altLang="en-US" sz="2000" b="1" spc="-120" dirty="0">
                <a:latin typeface="宋体" panose="02010600030101010101" pitchFamily="2" charset="-122"/>
              </a:rPr>
              <a:t>班长，</a:t>
            </a:r>
            <a:r>
              <a:rPr lang="zh-CN" altLang="en-US" sz="2000" b="1" u="sng" spc="-120" dirty="0">
                <a:solidFill>
                  <a:srgbClr val="FF3399"/>
                </a:solidFill>
                <a:latin typeface="宋体" panose="02010600030101010101" pitchFamily="2" charset="-122"/>
              </a:rPr>
              <a:t>改</a:t>
            </a:r>
            <a:r>
              <a:rPr lang="zh-CN" altLang="en-US" sz="2000" b="1" spc="-120" dirty="0">
                <a:solidFill>
                  <a:srgbClr val="0070C0"/>
                </a:solidFill>
                <a:latin typeface="宋体" panose="02010600030101010101" pitchFamily="2" charset="-122"/>
              </a:rPr>
              <a:t>作业</a:t>
            </a:r>
            <a:r>
              <a:rPr lang="zh-CN" altLang="en-US" sz="2000" b="1" spc="-120" dirty="0">
                <a:latin typeface="宋体" panose="02010600030101010101" pitchFamily="2" charset="-122"/>
              </a:rPr>
              <a:t>，</a:t>
            </a:r>
            <a:r>
              <a:rPr lang="zh-CN" altLang="en-US" sz="2000" b="1" u="sng" spc="-120" dirty="0">
                <a:solidFill>
                  <a:srgbClr val="C00000"/>
                </a:solidFill>
                <a:latin typeface="宋体" panose="02010600030101010101" pitchFamily="2" charset="-122"/>
              </a:rPr>
              <a:t>听到</a:t>
            </a:r>
            <a:r>
              <a:rPr lang="zh-CN" altLang="en-US" sz="2000" b="1" spc="-120" dirty="0">
                <a:latin typeface="宋体" panose="02010600030101010101" pitchFamily="2" charset="-122"/>
              </a:rPr>
              <a:t>他</a:t>
            </a:r>
            <a:r>
              <a:rPr lang="zh-CN" altLang="en-US" sz="2000" b="1" spc="-120" dirty="0">
                <a:solidFill>
                  <a:srgbClr val="990099"/>
                </a:solidFill>
                <a:latin typeface="宋体" panose="02010600030101010101" pitchFamily="2" charset="-122"/>
              </a:rPr>
              <a:t>报告</a:t>
            </a:r>
            <a:r>
              <a:rPr lang="zh-CN" altLang="en-US" sz="2000" b="1" spc="-120" dirty="0">
                <a:latin typeface="宋体" panose="02010600030101010101" pitchFamily="2" charset="-122"/>
              </a:rPr>
              <a:t>时</a:t>
            </a:r>
            <a:r>
              <a:rPr lang="en-US" altLang="zh-CN" sz="2000" b="1" spc="-120" dirty="0">
                <a:latin typeface="宋体" panose="02010600030101010101" pitchFamily="2" charset="-122"/>
              </a:rPr>
              <a:t>…(</a:t>
            </a:r>
            <a:r>
              <a:rPr lang="zh-CN" altLang="en-US" sz="2000" b="1" spc="-120" dirty="0">
                <a:latin typeface="宋体" panose="02010600030101010101" pitchFamily="2" charset="-122"/>
              </a:rPr>
              <a:t>结束</a:t>
            </a:r>
            <a:r>
              <a:rPr lang="en-US" altLang="zh-CN" sz="2000" b="1" spc="-120" dirty="0">
                <a:latin typeface="宋体" panose="02010600030101010101" pitchFamily="2" charset="-122"/>
              </a:rPr>
              <a:t>)</a:t>
            </a:r>
            <a:endParaRPr lang="zh-CN" altLang="en-US" sz="2000" b="1" spc="-120" dirty="0">
              <a:latin typeface="宋体" panose="02010600030101010101" pitchFamily="2" charset="-122"/>
            </a:endParaRPr>
          </a:p>
        </p:txBody>
      </p:sp>
      <p:sp>
        <p:nvSpPr>
          <p:cNvPr id="72" name="AutoShape 121">
            <a:hlinkClick r:id="" action="ppaction://hlinkshowjump?jump=nextslide" highlightClick="1"/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 rot="10800000">
            <a:off x="4068638" y="6524450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Box 5"/>
          <p:cNvSpPr txBox="1">
            <a:spLocks noChangeArrowheads="1"/>
          </p:cNvSpPr>
          <p:nvPr/>
        </p:nvSpPr>
        <p:spPr bwMode="auto">
          <a:xfrm>
            <a:off x="179326" y="1916832"/>
            <a:ext cx="5832772" cy="441999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程序查询方式： </a:t>
            </a:r>
            <a:r>
              <a:rPr lang="en-US" altLang="zh-CN" sz="1800" b="1" dirty="0">
                <a:latin typeface="宋体" panose="02010600030101010101" pitchFamily="2" charset="-122"/>
              </a:rPr>
              <a:t>--</a:t>
            </a:r>
            <a:r>
              <a:rPr lang="zh-CN" altLang="en-US" sz="1800" b="1" dirty="0">
                <a:latin typeface="宋体" panose="02010600030101010101" pitchFamily="2" charset="-122"/>
              </a:rPr>
              <a:t>又称轮询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en-US" altLang="zh-CN" sz="1800" dirty="0">
                <a:latin typeface="+mn-lt"/>
              </a:rPr>
              <a:t>Polling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r>
              <a:rPr lang="zh-CN" altLang="en-US" sz="1800" b="1" dirty="0">
                <a:latin typeface="宋体" panose="02010600030101010101" pitchFamily="2" charset="-122"/>
              </a:rPr>
              <a:t>方式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 marL="2867025" indent="-2867025" algn="l">
              <a:lnSpc>
                <a:spcPct val="125000"/>
              </a:lnSpc>
            </a:pP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传送控制原理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</a:p>
          <a:p>
            <a:pPr marL="2867025" indent="-2867025" algn="l">
              <a:lnSpc>
                <a:spcPct val="125000"/>
              </a:lnSpc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marL="2867025" indent="-2867025" algn="l">
              <a:lnSpc>
                <a:spcPct val="125000"/>
              </a:lnSpc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marL="2867025" indent="-2867025" algn="l">
              <a:lnSpc>
                <a:spcPct val="125000"/>
              </a:lnSpc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marL="2867025" indent="-2867025" algn="l">
              <a:lnSpc>
                <a:spcPct val="125000"/>
              </a:lnSpc>
            </a:pPr>
            <a:endParaRPr lang="en-US" altLang="zh-CN" sz="20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marL="2867025" indent="-2867025" algn="l"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I/O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开销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</a:p>
          <a:p>
            <a:pPr algn="l">
              <a:lnSpc>
                <a:spcPct val="125000"/>
              </a:lnSpc>
              <a:spcBef>
                <a:spcPts val="1500"/>
              </a:spcBef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直接传送方式：</a:t>
            </a:r>
            <a:r>
              <a:rPr lang="en-US" altLang="zh-CN" sz="2200" b="1" dirty="0">
                <a:latin typeface="宋体" panose="02010600030101010101" pitchFamily="2" charset="-122"/>
              </a:rPr>
              <a:t> </a:t>
            </a:r>
          </a:p>
          <a:p>
            <a:pPr marL="2867025" indent="-2867025" algn="l">
              <a:lnSpc>
                <a:spcPct val="125000"/>
              </a:lnSpc>
            </a:pP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传送控制原理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</a:p>
          <a:p>
            <a:pPr marL="2867025" indent="-2867025" algn="l">
              <a:lnSpc>
                <a:spcPct val="125000"/>
              </a:lnSpc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I/O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开销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BFB63-B979-4FAE-8763-D7093A979077}" type="slidenum">
              <a:rPr lang="en-US" altLang="zh-CN" smtClean="0"/>
              <a:t>11</a:t>
            </a:fld>
            <a:endParaRPr lang="en-US" altLang="zh-CN"/>
          </a:p>
        </p:txBody>
      </p:sp>
      <p:sp>
        <p:nvSpPr>
          <p:cNvPr id="40" name="Text Box 4"/>
          <p:cNvSpPr txBox="1">
            <a:spLocks noChangeArrowheads="1"/>
          </p:cNvSpPr>
          <p:nvPr/>
        </p:nvSpPr>
        <p:spPr bwMode="auto">
          <a:xfrm>
            <a:off x="179388" y="332656"/>
            <a:ext cx="8785225" cy="159460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(1)</a:t>
            </a:r>
            <a:r>
              <a:rPr lang="zh-CN" altLang="en-US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程序直接控制</a:t>
            </a:r>
            <a:r>
              <a:rPr lang="en-US" altLang="zh-CN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I/O</a:t>
            </a:r>
            <a:r>
              <a:rPr lang="zh-CN" altLang="en-US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方式  </a:t>
            </a:r>
            <a:r>
              <a:rPr lang="en-US" altLang="zh-CN" sz="1800" b="1" dirty="0">
                <a:latin typeface="宋体" panose="02010600030101010101" pitchFamily="2" charset="-122"/>
              </a:rPr>
              <a:t>--</a:t>
            </a:r>
            <a:r>
              <a:rPr lang="zh-CN" altLang="en-US" sz="1800" b="1" dirty="0">
                <a:latin typeface="宋体" panose="02010600030101010101" pitchFamily="2" charset="-122"/>
              </a:rPr>
              <a:t>程序控制</a:t>
            </a:r>
            <a:r>
              <a:rPr lang="en-US" altLang="zh-CN" sz="1800" b="1" dirty="0">
                <a:latin typeface="宋体" panose="02010600030101010101" pitchFamily="2" charset="-122"/>
              </a:rPr>
              <a:t>I/O</a:t>
            </a:r>
            <a:r>
              <a:rPr lang="zh-CN" altLang="en-US" sz="1800" b="1" dirty="0">
                <a:latin typeface="宋体" panose="02010600030101010101" pitchFamily="2" charset="-122"/>
              </a:rPr>
              <a:t>方式</a:t>
            </a:r>
            <a:endParaRPr lang="en-US" altLang="zh-CN" sz="2200" b="1" dirty="0">
              <a:solidFill>
                <a:srgbClr val="FF3399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I/O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功能：</a:t>
            </a:r>
            <a:r>
              <a:rPr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CPU</a:t>
            </a:r>
            <a:r>
              <a:rPr lang="en-US" altLang="zh-CN" sz="2200" b="1" dirty="0">
                <a:latin typeface="宋体" panose="02010600030101010101" pitchFamily="2" charset="-122"/>
              </a:rPr>
              <a:t>-</a:t>
            </a:r>
            <a:r>
              <a:rPr lang="zh-CN" altLang="en-US" sz="2200" b="1" dirty="0">
                <a:latin typeface="宋体" panose="02010600030101010101" pitchFamily="2" charset="-122"/>
              </a:rPr>
              <a:t>外设间、传送</a:t>
            </a:r>
            <a:r>
              <a:rPr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1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个</a:t>
            </a:r>
            <a:r>
              <a:rPr lang="zh-CN" altLang="en-US" sz="2200" b="1" dirty="0">
                <a:latin typeface="宋体" panose="02010600030101010101" pitchFamily="2" charset="-122"/>
              </a:rPr>
              <a:t>数据</a:t>
            </a:r>
            <a:r>
              <a:rPr lang="en-US" altLang="zh-CN" sz="2200" b="1" dirty="0">
                <a:latin typeface="宋体" panose="02010600030101010101" pitchFamily="2" charset="-122"/>
              </a:rPr>
              <a:t>/</a:t>
            </a:r>
            <a:r>
              <a:rPr lang="zh-CN" altLang="en-US" sz="2200" b="1" dirty="0">
                <a:latin typeface="宋体" panose="02010600030101010101" pitchFamily="2" charset="-122"/>
              </a:rPr>
              <a:t>次        </a:t>
            </a:r>
            <a:r>
              <a:rPr lang="zh-CN" altLang="en-US" sz="1800" b="1" dirty="0">
                <a:latin typeface="宋体" panose="02010600030101010101" pitchFamily="2" charset="-122"/>
              </a:rPr>
              <a:t>←适于</a:t>
            </a:r>
            <a:r>
              <a:rPr lang="zh-CN" altLang="en-US" sz="1800" b="1" u="sng" dirty="0">
                <a:latin typeface="宋体" panose="02010600030101010101" pitchFamily="2" charset="-122"/>
              </a:rPr>
              <a:t>字符设备</a:t>
            </a:r>
            <a:endParaRPr lang="en-US" altLang="zh-CN" sz="2000" b="1" dirty="0">
              <a:latin typeface="宋体" panose="02010600030101010101" pitchFamily="2" charset="-122"/>
            </a:endParaRPr>
          </a:p>
          <a:p>
            <a:pPr algn="l">
              <a:lnSpc>
                <a:spcPct val="105000"/>
              </a:lnSpc>
            </a:pPr>
            <a:r>
              <a:rPr lang="en-US" altLang="zh-CN" sz="1800" b="1" dirty="0">
                <a:latin typeface="宋体" panose="02010600030101010101" pitchFamily="2" charset="-122"/>
              </a:rPr>
              <a:t>              </a:t>
            </a:r>
            <a:r>
              <a:rPr lang="zh-CN" altLang="en-US" sz="1800" dirty="0">
                <a:latin typeface="宋体" panose="02010600030101010101" pitchFamily="2" charset="-122"/>
              </a:rPr>
              <a:t>└──────</a:t>
            </a:r>
            <a:r>
              <a:rPr lang="zh-CN" altLang="en-US" sz="1800" b="1" dirty="0">
                <a:latin typeface="宋体" panose="02010600030101010101" pitchFamily="2" charset="-122"/>
              </a:rPr>
              <a:t>←</a:t>
            </a:r>
            <a:r>
              <a:rPr lang="zh-CN" altLang="en-US" sz="1800" dirty="0">
                <a:latin typeface="宋体" panose="02010600030101010101" pitchFamily="2" charset="-122"/>
              </a:rPr>
              <a:t>┴</a:t>
            </a:r>
            <a:r>
              <a:rPr lang="zh-CN" altLang="en-US" sz="1800" b="1" dirty="0">
                <a:latin typeface="宋体" panose="02010600030101010101" pitchFamily="2" charset="-122"/>
              </a:rPr>
              <a:t>←</a:t>
            </a:r>
            <a:r>
              <a:rPr lang="en-US" altLang="zh-CN" sz="1800" b="1" u="sng" dirty="0">
                <a:highlight>
                  <a:srgbClr val="FFFF00"/>
                </a:highlight>
                <a:latin typeface="宋体" panose="02010600030101010101" pitchFamily="2" charset="-122"/>
              </a:rPr>
              <a:t>CPU</a:t>
            </a:r>
            <a:r>
              <a:rPr lang="zh-CN" altLang="en-US" sz="1800" b="1" dirty="0">
                <a:latin typeface="宋体" panose="02010600030101010101" pitchFamily="2" charset="-122"/>
              </a:rPr>
              <a:t>执行</a:t>
            </a:r>
            <a:r>
              <a:rPr lang="en-US" altLang="zh-CN" sz="1800" b="1" dirty="0">
                <a:latin typeface="宋体" panose="02010600030101010101" pitchFamily="2" charset="-122"/>
              </a:rPr>
              <a:t>I/O</a:t>
            </a:r>
            <a:r>
              <a:rPr lang="zh-CN" altLang="en-US" sz="1800" b="1" dirty="0">
                <a:latin typeface="宋体" panose="02010600030101010101" pitchFamily="2" charset="-122"/>
              </a:rPr>
              <a:t>指令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产生总线操作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r>
              <a:rPr lang="zh-CN" altLang="en-US" sz="1800" b="1" dirty="0">
                <a:latin typeface="宋体" panose="02010600030101010101" pitchFamily="2" charset="-122"/>
              </a:rPr>
              <a:t> </a:t>
            </a:r>
            <a:endParaRPr lang="en-US" altLang="zh-CN" sz="18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*分类：</a:t>
            </a:r>
            <a:r>
              <a:rPr lang="zh-CN" altLang="en-US" sz="2200" b="1" dirty="0">
                <a:latin typeface="宋体" panose="02010600030101010101" pitchFamily="2" charset="-122"/>
              </a:rPr>
              <a:t>程序查询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面向</a:t>
            </a:r>
            <a:r>
              <a:rPr lang="zh-CN" altLang="en-US" sz="18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条件传送</a:t>
            </a:r>
            <a:r>
              <a:rPr lang="zh-CN" altLang="en-US" sz="1800" b="1" dirty="0">
                <a:latin typeface="宋体" panose="02010600030101010101" pitchFamily="2" charset="-122"/>
              </a:rPr>
              <a:t>设备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r>
              <a:rPr lang="zh-CN" altLang="en-US" sz="2200" b="1" dirty="0">
                <a:latin typeface="宋体" panose="02010600030101010101" pitchFamily="2" charset="-122"/>
              </a:rPr>
              <a:t>、直接传送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面向</a:t>
            </a:r>
            <a:r>
              <a:rPr lang="zh-CN" altLang="en-US" sz="18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无条件传送</a:t>
            </a:r>
            <a:r>
              <a:rPr lang="zh-CN" altLang="en-US" sz="1800" b="1" dirty="0">
                <a:latin typeface="宋体" panose="02010600030101010101" pitchFamily="2" charset="-122"/>
              </a:rPr>
              <a:t>设备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endParaRPr lang="en-US" altLang="zh-CN" sz="1800" b="1" dirty="0">
              <a:solidFill>
                <a:srgbClr val="C00000"/>
              </a:solidFill>
              <a:latin typeface="宋体" panose="02010600030101010101" pitchFamily="2" charset="-122"/>
            </a:endParaRPr>
          </a:p>
        </p:txBody>
      </p:sp>
      <p:sp>
        <p:nvSpPr>
          <p:cNvPr id="41" name="Text Box 5"/>
          <p:cNvSpPr txBox="1">
            <a:spLocks noChangeArrowheads="1"/>
          </p:cNvSpPr>
          <p:nvPr/>
        </p:nvSpPr>
        <p:spPr bwMode="auto">
          <a:xfrm>
            <a:off x="2627784" y="2350784"/>
            <a:ext cx="5616748" cy="84530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tIns="10800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200" b="1" dirty="0">
                <a:latin typeface="宋体" panose="02010600030101010101" pitchFamily="2" charset="-122"/>
              </a:rPr>
              <a:t> </a:t>
            </a:r>
            <a:r>
              <a:rPr lang="en-US" altLang="zh-CN" sz="2200" b="1" dirty="0">
                <a:highlight>
                  <a:srgbClr val="FFFF00"/>
                </a:highlight>
                <a:latin typeface="宋体" panose="02010600030101010101" pitchFamily="2" charset="-122"/>
              </a:rPr>
              <a:t>CPU</a:t>
            </a:r>
            <a:r>
              <a:rPr lang="zh-CN" altLang="en-US" sz="2200" b="1" u="sng" dirty="0">
                <a:solidFill>
                  <a:srgbClr val="FF3399"/>
                </a:solidFill>
                <a:latin typeface="宋体" panose="02010600030101010101" pitchFamily="2" charset="-122"/>
              </a:rPr>
              <a:t>启动</a:t>
            </a:r>
            <a:r>
              <a:rPr lang="zh-CN" altLang="en-US" sz="2200" b="1" dirty="0">
                <a:latin typeface="宋体" panose="02010600030101010101" pitchFamily="2" charset="-122"/>
              </a:rPr>
              <a:t>设备后，</a:t>
            </a:r>
            <a:r>
              <a:rPr lang="zh-CN" altLang="en-US" sz="2200" b="1" dirty="0">
                <a:solidFill>
                  <a:srgbClr val="0070C0"/>
                </a:solidFill>
                <a:latin typeface="宋体" panose="02010600030101010101" pitchFamily="2" charset="-122"/>
              </a:rPr>
              <a:t>不断地</a:t>
            </a:r>
            <a:r>
              <a:rPr lang="zh-CN" altLang="en-US" sz="2200" b="1" u="sng" dirty="0">
                <a:solidFill>
                  <a:srgbClr val="FF3399"/>
                </a:solidFill>
                <a:latin typeface="宋体" panose="02010600030101010101" pitchFamily="2" charset="-122"/>
              </a:rPr>
              <a:t>查询</a:t>
            </a:r>
            <a:r>
              <a:rPr lang="zh-CN" altLang="en-US" sz="2200" b="1" dirty="0">
                <a:latin typeface="宋体" panose="02010600030101010101" pitchFamily="2" charset="-122"/>
              </a:rPr>
              <a:t>设备状态，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 marL="2867025" indent="-2867025" algn="l">
              <a:lnSpc>
                <a:spcPct val="125000"/>
              </a:lnSpc>
            </a:pPr>
            <a:r>
              <a:rPr lang="zh-CN" altLang="en-US" sz="2200" b="1" dirty="0">
                <a:latin typeface="宋体" panose="02010600030101010101" pitchFamily="2" charset="-122"/>
              </a:rPr>
              <a:t>    </a:t>
            </a:r>
            <a:r>
              <a:rPr lang="zh-CN" altLang="en-US" sz="2200" b="1" dirty="0">
                <a:solidFill>
                  <a:srgbClr val="0070C0"/>
                </a:solidFill>
                <a:latin typeface="宋体" panose="02010600030101010101" pitchFamily="2" charset="-122"/>
              </a:rPr>
              <a:t>直到</a:t>
            </a:r>
            <a:r>
              <a:rPr lang="zh-CN" altLang="en-US" sz="2200" b="1" dirty="0">
                <a:latin typeface="宋体" panose="02010600030101010101" pitchFamily="2" charset="-122"/>
              </a:rPr>
              <a:t>设备准备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就绪</a:t>
            </a:r>
            <a:r>
              <a:rPr lang="zh-CN" altLang="en-US" sz="2200" b="1" dirty="0">
                <a:latin typeface="宋体" panose="02010600030101010101" pitchFamily="2" charset="-122"/>
              </a:rPr>
              <a:t>时，才</a:t>
            </a:r>
            <a:r>
              <a:rPr lang="zh-CN" altLang="en-US" sz="2200" b="1" u="sng" dirty="0">
                <a:solidFill>
                  <a:srgbClr val="FF3399"/>
                </a:solidFill>
                <a:latin typeface="宋体" panose="02010600030101010101" pitchFamily="2" charset="-122"/>
              </a:rPr>
              <a:t>传送</a:t>
            </a:r>
            <a:r>
              <a:rPr lang="zh-CN" altLang="en-US" sz="2200" b="1" dirty="0">
                <a:latin typeface="宋体" panose="02010600030101010101" pitchFamily="2" charset="-122"/>
              </a:rPr>
              <a:t>数据</a:t>
            </a:r>
            <a:endParaRPr lang="zh-CN" altLang="en-US" sz="2200" b="1" u="sng" dirty="0">
              <a:solidFill>
                <a:srgbClr val="FF3399"/>
              </a:solidFill>
              <a:latin typeface="宋体" panose="02010600030101010101" pitchFamily="2" charset="-122"/>
            </a:endParaRPr>
          </a:p>
        </p:txBody>
      </p:sp>
      <p:sp>
        <p:nvSpPr>
          <p:cNvPr id="42" name="Text Box 5"/>
          <p:cNvSpPr txBox="1">
            <a:spLocks noChangeArrowheads="1"/>
          </p:cNvSpPr>
          <p:nvPr/>
        </p:nvSpPr>
        <p:spPr bwMode="auto">
          <a:xfrm>
            <a:off x="2051719" y="5445224"/>
            <a:ext cx="6840761" cy="84530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tIns="10800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200" b="1" dirty="0">
                <a:latin typeface="宋体" panose="02010600030101010101" pitchFamily="2" charset="-122"/>
              </a:rPr>
              <a:t>     </a:t>
            </a:r>
            <a:r>
              <a:rPr lang="en-US" altLang="zh-CN" sz="2200" b="1" dirty="0">
                <a:highlight>
                  <a:srgbClr val="FFFF00"/>
                </a:highlight>
                <a:latin typeface="宋体" panose="02010600030101010101" pitchFamily="2" charset="-122"/>
              </a:rPr>
              <a:t>CPU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随时</a:t>
            </a:r>
            <a:r>
              <a:rPr lang="zh-CN" altLang="en-US" sz="2200" b="1" dirty="0">
                <a:latin typeface="宋体" panose="02010600030101010101" pitchFamily="2" charset="-122"/>
              </a:rPr>
              <a:t>可</a:t>
            </a:r>
            <a:r>
              <a:rPr lang="zh-CN" altLang="en-US" sz="2200" b="1" u="sng" dirty="0">
                <a:solidFill>
                  <a:srgbClr val="FF3399"/>
                </a:solidFill>
                <a:latin typeface="宋体" panose="02010600030101010101" pitchFamily="2" charset="-122"/>
              </a:rPr>
              <a:t>传送</a:t>
            </a:r>
            <a:r>
              <a:rPr lang="zh-CN" altLang="en-US" sz="2200" b="1" dirty="0">
                <a:latin typeface="宋体" panose="02010600030101010101" pitchFamily="2" charset="-122"/>
              </a:rPr>
              <a:t>数据          </a:t>
            </a:r>
            <a:r>
              <a:rPr lang="zh-CN" altLang="en-US" sz="1800" b="1" dirty="0">
                <a:latin typeface="宋体" panose="02010600030101010101" pitchFamily="2" charset="-122"/>
              </a:rPr>
              <a:t>←</a:t>
            </a:r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</a:rPr>
              <a:t>无需</a:t>
            </a:r>
            <a:r>
              <a:rPr lang="zh-CN" altLang="en-US" sz="1800" b="1" dirty="0">
                <a:latin typeface="宋体" panose="02010600030101010101" pitchFamily="2" charset="-122"/>
              </a:rPr>
              <a:t>启动及查询</a:t>
            </a:r>
            <a:endParaRPr lang="en-US" altLang="zh-CN" sz="1800" b="1" dirty="0">
              <a:latin typeface="宋体" panose="02010600030101010101" pitchFamily="2" charset="-122"/>
            </a:endParaRPr>
          </a:p>
          <a:p>
            <a:pPr marL="3048000" indent="-3048000" algn="l">
              <a:lnSpc>
                <a:spcPct val="125000"/>
              </a:lnSpc>
            </a:pPr>
            <a:r>
              <a:rPr lang="en-US" altLang="zh-CN" sz="2200" b="1" dirty="0">
                <a:solidFill>
                  <a:srgbClr val="0070C0"/>
                </a:solidFill>
                <a:latin typeface="宋体" panose="02010600030101010101" pitchFamily="2" charset="-122"/>
              </a:rPr>
              <a:t>1</a:t>
            </a:r>
            <a:r>
              <a:rPr lang="zh-CN" altLang="en-US" sz="2200" b="1" dirty="0">
                <a:solidFill>
                  <a:srgbClr val="0070C0"/>
                </a:solidFill>
                <a:latin typeface="宋体" panose="02010600030101010101" pitchFamily="2" charset="-122"/>
              </a:rPr>
              <a:t>个</a:t>
            </a:r>
            <a:r>
              <a:rPr lang="zh-CN" altLang="en-US" sz="2200" b="1" dirty="0">
                <a:latin typeface="宋体" panose="02010600030101010101" pitchFamily="2" charset="-122"/>
              </a:rPr>
              <a:t>指令周期</a:t>
            </a:r>
            <a:r>
              <a:rPr lang="en-US" altLang="zh-CN" sz="2200" b="1" dirty="0">
                <a:latin typeface="宋体" panose="02010600030101010101" pitchFamily="2" charset="-122"/>
              </a:rPr>
              <a:t>/</a:t>
            </a:r>
            <a:r>
              <a:rPr lang="zh-CN" altLang="en-US" sz="2200" b="1" dirty="0">
                <a:latin typeface="宋体" panose="02010600030101010101" pitchFamily="2" charset="-122"/>
              </a:rPr>
              <a:t>数据</a:t>
            </a:r>
            <a:endParaRPr lang="en-US" altLang="zh-CN" sz="2200" b="1" dirty="0">
              <a:latin typeface="宋体" panose="02010600030101010101" pitchFamily="2" charset="-122"/>
            </a:endParaRPr>
          </a:p>
        </p:txBody>
      </p:sp>
      <p:sp>
        <p:nvSpPr>
          <p:cNvPr id="43" name="Text Box 5"/>
          <p:cNvSpPr txBox="1">
            <a:spLocks noChangeArrowheads="1"/>
          </p:cNvSpPr>
          <p:nvPr/>
        </p:nvSpPr>
        <p:spPr bwMode="auto">
          <a:xfrm>
            <a:off x="2051720" y="4365104"/>
            <a:ext cx="5544616" cy="7786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200" b="1" spc="-100" dirty="0">
                <a:solidFill>
                  <a:srgbClr val="0070C0"/>
                </a:solidFill>
                <a:latin typeface="宋体" panose="02010600030101010101" pitchFamily="2" charset="-122"/>
              </a:rPr>
              <a:t>m</a:t>
            </a:r>
            <a:r>
              <a:rPr lang="zh-CN" altLang="en-US" sz="2200" b="1" spc="-100" dirty="0">
                <a:solidFill>
                  <a:srgbClr val="0070C0"/>
                </a:solidFill>
                <a:latin typeface="宋体" panose="02010600030101010101" pitchFamily="2" charset="-122"/>
              </a:rPr>
              <a:t>个</a:t>
            </a:r>
            <a:r>
              <a:rPr lang="zh-CN" altLang="en-US" sz="2200" b="1" spc="-100" dirty="0">
                <a:latin typeface="宋体" panose="02010600030101010101" pitchFamily="2" charset="-122"/>
              </a:rPr>
              <a:t>指令周期</a:t>
            </a:r>
            <a:r>
              <a:rPr lang="en-US" altLang="zh-CN" sz="2200" b="1" spc="-100" dirty="0">
                <a:latin typeface="宋体" panose="02010600030101010101" pitchFamily="2" charset="-122"/>
              </a:rPr>
              <a:t>/</a:t>
            </a:r>
            <a:r>
              <a:rPr lang="zh-CN" altLang="en-US" sz="2200" b="1" spc="-100" dirty="0">
                <a:latin typeface="宋体" panose="02010600030101010101" pitchFamily="2" charset="-122"/>
              </a:rPr>
              <a:t>数据，</a:t>
            </a:r>
            <a:r>
              <a:rPr lang="en-US" altLang="zh-CN" sz="2200" b="1" spc="-100" dirty="0">
                <a:latin typeface="宋体" panose="02010600030101010101" pitchFamily="2" charset="-122"/>
              </a:rPr>
              <a:t>CPU</a:t>
            </a:r>
            <a:r>
              <a:rPr lang="zh-CN" altLang="en-US" sz="2200" b="1" spc="-100" dirty="0">
                <a:latin typeface="宋体" panose="02010600030101010101" pitchFamily="2" charset="-122"/>
              </a:rPr>
              <a:t>与外设</a:t>
            </a:r>
            <a:r>
              <a:rPr lang="zh-CN" altLang="en-US" sz="2200" b="1" u="sng" spc="-100" dirty="0">
                <a:solidFill>
                  <a:srgbClr val="CC3300"/>
                </a:solidFill>
                <a:latin typeface="宋体" panose="02010600030101010101" pitchFamily="2" charset="-122"/>
              </a:rPr>
              <a:t>串行</a:t>
            </a:r>
            <a:r>
              <a:rPr lang="zh-CN" altLang="en-US" sz="2200" b="1" spc="-100" dirty="0">
                <a:latin typeface="宋体" panose="02010600030101010101" pitchFamily="2" charset="-122"/>
              </a:rPr>
              <a:t>工作</a:t>
            </a:r>
            <a:endParaRPr lang="en-US" altLang="zh-CN" sz="2200" b="1" spc="-100" dirty="0">
              <a:latin typeface="宋体" panose="02010600030101010101" pitchFamily="2" charset="-122"/>
            </a:endParaRPr>
          </a:p>
          <a:p>
            <a:pPr algn="l">
              <a:lnSpc>
                <a:spcPct val="95000"/>
              </a:lnSpc>
            </a:pPr>
            <a:r>
              <a:rPr lang="zh-CN" altLang="en-US" sz="1800" dirty="0">
                <a:latin typeface="宋体" panose="02010600030101010101" pitchFamily="2" charset="-122"/>
              </a:rPr>
              <a:t> └─</a:t>
            </a:r>
            <a:r>
              <a:rPr lang="zh-CN" altLang="en-US" sz="1800" b="1" dirty="0">
                <a:latin typeface="宋体" panose="02010600030101010101" pitchFamily="2" charset="-122"/>
              </a:rPr>
              <a:t>＝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开始启动→传送完成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r>
              <a:rPr lang="zh-CN" altLang="en-US" sz="1800" b="1" dirty="0">
                <a:latin typeface="宋体" panose="02010600030101010101" pitchFamily="2" charset="-122"/>
              </a:rPr>
              <a:t>的时延</a:t>
            </a:r>
            <a:endParaRPr lang="en-US" altLang="zh-CN" sz="1600" b="1" dirty="0">
              <a:latin typeface="宋体" panose="02010600030101010101" pitchFamily="2" charset="-122"/>
            </a:endParaRPr>
          </a:p>
        </p:txBody>
      </p:sp>
      <p:sp>
        <p:nvSpPr>
          <p:cNvPr id="78" name="AutoShape 121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2987824" y="6524450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" name="AutoShape 121">
            <a:hlinkClick r:id="rId4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5148758" y="6524450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" name="AutoShape 69">
            <a:hlinkClick r:id="" action="ppaction://hlinkshowjump?jump=previousslide" highlightClick="1"/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 rot="5400000">
            <a:off x="4068638" y="6526038"/>
            <a:ext cx="287338" cy="287338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64" name="组合 63">
            <a:extLst>
              <a:ext uri="{FF2B5EF4-FFF2-40B4-BE49-F238E27FC236}">
                <a16:creationId xmlns:a16="http://schemas.microsoft.com/office/drawing/2014/main" id="{0B1ED6CB-5898-48C0-AF43-CA9322A3252A}"/>
              </a:ext>
            </a:extLst>
          </p:cNvPr>
          <p:cNvGrpSpPr/>
          <p:nvPr/>
        </p:nvGrpSpPr>
        <p:grpSpPr>
          <a:xfrm>
            <a:off x="1512000" y="3212976"/>
            <a:ext cx="7128000" cy="1116048"/>
            <a:chOff x="1512000" y="3384000"/>
            <a:chExt cx="7128000" cy="1116048"/>
          </a:xfrm>
        </p:grpSpPr>
        <p:sp>
          <p:nvSpPr>
            <p:cNvPr id="65" name="Text Box 15">
              <a:extLst>
                <a:ext uri="{FF2B5EF4-FFF2-40B4-BE49-F238E27FC236}">
                  <a16:creationId xmlns:a16="http://schemas.microsoft.com/office/drawing/2014/main" id="{1A637522-70D9-40D2-B118-612887645CA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16000" y="3384001"/>
              <a:ext cx="1440000" cy="252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OUT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指令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(</a:t>
              </a:r>
              <a:r>
                <a:rPr lang="zh-CN" altLang="en-US" sz="1600" b="1" dirty="0">
                  <a:solidFill>
                    <a:srgbClr val="FF3399"/>
                  </a:solidFill>
                  <a:latin typeface="宋体" panose="02010600030101010101" pitchFamily="2" charset="-122"/>
                </a:rPr>
                <a:t>命令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)</a:t>
              </a:r>
            </a:p>
          </p:txBody>
        </p:sp>
        <p:sp>
          <p:nvSpPr>
            <p:cNvPr id="66" name="Text Box 15">
              <a:extLst>
                <a:ext uri="{FF2B5EF4-FFF2-40B4-BE49-F238E27FC236}">
                  <a16:creationId xmlns:a16="http://schemas.microsoft.com/office/drawing/2014/main" id="{1CFB82C9-43FE-49A4-9CFA-1A2A684979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64000" y="3384000"/>
              <a:ext cx="1548000" cy="252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IN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指令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(</a:t>
              </a:r>
              <a:r>
                <a:rPr lang="zh-CN" altLang="en-US" sz="1600" b="1" dirty="0">
                  <a:solidFill>
                    <a:srgbClr val="990099"/>
                  </a:solidFill>
                  <a:latin typeface="宋体" panose="02010600030101010101" pitchFamily="2" charset="-122"/>
                </a:rPr>
                <a:t>状态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=1)</a:t>
              </a:r>
            </a:p>
          </p:txBody>
        </p:sp>
        <p:sp>
          <p:nvSpPr>
            <p:cNvPr id="67" name="Text Box 17">
              <a:extLst>
                <a:ext uri="{FF2B5EF4-FFF2-40B4-BE49-F238E27FC236}">
                  <a16:creationId xmlns:a16="http://schemas.microsoft.com/office/drawing/2014/main" id="{C5CA106A-E47C-4B76-B82C-55AAF233AF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40000" y="3384000"/>
              <a:ext cx="288000" cy="252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latin typeface="+mn-ea"/>
                  <a:ea typeface="+mn-ea"/>
                </a:rPr>
                <a:t>…</a:t>
              </a:r>
            </a:p>
          </p:txBody>
        </p:sp>
        <p:sp>
          <p:nvSpPr>
            <p:cNvPr id="68" name="Text Box 15">
              <a:extLst>
                <a:ext uri="{FF2B5EF4-FFF2-40B4-BE49-F238E27FC236}">
                  <a16:creationId xmlns:a16="http://schemas.microsoft.com/office/drawing/2014/main" id="{407C3E8C-9B2B-4088-B506-A9F27C9911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12000" y="3384000"/>
              <a:ext cx="1728000" cy="252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IN/OUT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指令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(</a:t>
              </a:r>
              <a:r>
                <a:rPr lang="zh-CN" altLang="en-US" sz="1600" b="1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数据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)</a:t>
              </a:r>
            </a:p>
          </p:txBody>
        </p:sp>
        <p:sp>
          <p:nvSpPr>
            <p:cNvPr id="69" name="Text Box 17">
              <a:extLst>
                <a:ext uri="{FF2B5EF4-FFF2-40B4-BE49-F238E27FC236}">
                  <a16:creationId xmlns:a16="http://schemas.microsoft.com/office/drawing/2014/main" id="{78D5E265-5ECA-44B3-B278-BA8F1627DB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12000" y="3384000"/>
              <a:ext cx="432000" cy="252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l">
                <a:lnSpc>
                  <a:spcPct val="90000"/>
                </a:lnSpc>
              </a:pPr>
              <a:r>
                <a:rPr lang="en-US" altLang="zh-CN" sz="1600" b="1" dirty="0">
                  <a:latin typeface="+mn-ea"/>
                  <a:ea typeface="+mn-ea"/>
                </a:rPr>
                <a:t>CPU</a:t>
              </a:r>
            </a:p>
          </p:txBody>
        </p:sp>
        <p:sp>
          <p:nvSpPr>
            <p:cNvPr id="71" name="Text Box 15">
              <a:extLst>
                <a:ext uri="{FF2B5EF4-FFF2-40B4-BE49-F238E27FC236}">
                  <a16:creationId xmlns:a16="http://schemas.microsoft.com/office/drawing/2014/main" id="{771C2C40-0079-4DF0-BE80-7152D5E995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56000" y="3384000"/>
              <a:ext cx="1548000" cy="252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IN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指令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(</a:t>
              </a:r>
              <a:r>
                <a:rPr lang="zh-CN" altLang="en-US" sz="1600" b="1" dirty="0">
                  <a:solidFill>
                    <a:srgbClr val="990099"/>
                  </a:solidFill>
                  <a:latin typeface="宋体" panose="02010600030101010101" pitchFamily="2" charset="-122"/>
                </a:rPr>
                <a:t>状态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=0)</a:t>
              </a:r>
            </a:p>
          </p:txBody>
        </p:sp>
        <p:cxnSp>
          <p:nvCxnSpPr>
            <p:cNvPr id="72" name="直接箭头连接符 71">
              <a:extLst>
                <a:ext uri="{FF2B5EF4-FFF2-40B4-BE49-F238E27FC236}">
                  <a16:creationId xmlns:a16="http://schemas.microsoft.com/office/drawing/2014/main" id="{2E5F0BFE-B4CA-4B98-B625-8A52CB2106A3}"/>
                </a:ext>
              </a:extLst>
            </p:cNvPr>
            <p:cNvCxnSpPr/>
            <p:nvPr/>
          </p:nvCxnSpPr>
          <p:spPr bwMode="auto">
            <a:xfrm>
              <a:off x="2628000" y="3636000"/>
              <a:ext cx="1" cy="180000"/>
            </a:xfrm>
            <a:prstGeom prst="straightConnector1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</p:spPr>
        </p:cxnSp>
        <p:cxnSp>
          <p:nvCxnSpPr>
            <p:cNvPr id="73" name="直接箭头连接符 72">
              <a:extLst>
                <a:ext uri="{FF2B5EF4-FFF2-40B4-BE49-F238E27FC236}">
                  <a16:creationId xmlns:a16="http://schemas.microsoft.com/office/drawing/2014/main" id="{56DFA939-2E66-47AD-B010-012BC9C50F13}"/>
                </a:ext>
              </a:extLst>
            </p:cNvPr>
            <p:cNvCxnSpPr/>
            <p:nvPr/>
          </p:nvCxnSpPr>
          <p:spPr bwMode="auto">
            <a:xfrm flipV="1">
              <a:off x="7812000" y="3636002"/>
              <a:ext cx="0" cy="180000"/>
            </a:xfrm>
            <a:prstGeom prst="straightConnector1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arrow" w="med" len="sm"/>
              <a:tailEnd type="arrow" w="med" len="sm"/>
            </a:ln>
          </p:spPr>
        </p:cxnSp>
        <p:cxnSp>
          <p:nvCxnSpPr>
            <p:cNvPr id="74" name="直接箭头连接符 73">
              <a:extLst>
                <a:ext uri="{FF2B5EF4-FFF2-40B4-BE49-F238E27FC236}">
                  <a16:creationId xmlns:a16="http://schemas.microsoft.com/office/drawing/2014/main" id="{8EA0012F-B2ED-45C7-BCC0-C211CE38CB1C}"/>
                </a:ext>
              </a:extLst>
            </p:cNvPr>
            <p:cNvCxnSpPr/>
            <p:nvPr/>
          </p:nvCxnSpPr>
          <p:spPr bwMode="auto">
            <a:xfrm flipV="1">
              <a:off x="3960000" y="3636000"/>
              <a:ext cx="0" cy="180000"/>
            </a:xfrm>
            <a:prstGeom prst="straightConnector1">
              <a:avLst/>
            </a:prstGeom>
            <a:noFill/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arrow" w="med" len="sm"/>
            </a:ln>
          </p:spPr>
        </p:cxnSp>
        <p:cxnSp>
          <p:nvCxnSpPr>
            <p:cNvPr id="76" name="直接箭头连接符 75">
              <a:extLst>
                <a:ext uri="{FF2B5EF4-FFF2-40B4-BE49-F238E27FC236}">
                  <a16:creationId xmlns:a16="http://schemas.microsoft.com/office/drawing/2014/main" id="{363BD594-78E1-4EE5-8237-B43799BE1C02}"/>
                </a:ext>
              </a:extLst>
            </p:cNvPr>
            <p:cNvCxnSpPr/>
            <p:nvPr/>
          </p:nvCxnSpPr>
          <p:spPr bwMode="auto">
            <a:xfrm flipV="1">
              <a:off x="5868000" y="3636000"/>
              <a:ext cx="0" cy="180000"/>
            </a:xfrm>
            <a:prstGeom prst="straightConnector1">
              <a:avLst/>
            </a:prstGeom>
            <a:noFill/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arrow" w="med" len="sm"/>
            </a:ln>
          </p:spPr>
        </p:cxnSp>
        <p:sp>
          <p:nvSpPr>
            <p:cNvPr id="77" name="Text Box 107">
              <a:extLst>
                <a:ext uri="{FF2B5EF4-FFF2-40B4-BE49-F238E27FC236}">
                  <a16:creationId xmlns:a16="http://schemas.microsoft.com/office/drawing/2014/main" id="{DF14091A-C61C-4092-96A3-F9FB7877CA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56000" y="3816000"/>
              <a:ext cx="5940000" cy="252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响应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总线操作；</a:t>
              </a:r>
              <a:r>
                <a:rPr lang="zh-CN" altLang="en-US" sz="1600" b="1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启动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外设，</a:t>
              </a:r>
              <a:r>
                <a:rPr lang="zh-CN" altLang="en-US" sz="1600" b="1" dirty="0">
                  <a:highlight>
                    <a:srgbClr val="CCFFFF"/>
                  </a:highlight>
                  <a:latin typeface="宋体" panose="02010600030101010101" pitchFamily="2" charset="-122"/>
                </a:rPr>
                <a:t>一直</a:t>
              </a:r>
              <a:r>
                <a:rPr lang="zh-CN" altLang="en-US" sz="1600" b="1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采集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状态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(</a:t>
              </a:r>
              <a:r>
                <a:rPr lang="zh-CN" altLang="en-US" sz="1600" b="1" dirty="0">
                  <a:highlight>
                    <a:srgbClr val="CCFFFF"/>
                  </a:highlight>
                  <a:latin typeface="宋体" panose="02010600030101010101" pitchFamily="2" charset="-122"/>
                </a:rPr>
                <a:t>就绪时</a:t>
              </a:r>
              <a:r>
                <a:rPr lang="zh-CN" altLang="en-US" sz="1600" b="1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暂存</a:t>
              </a:r>
              <a:r>
                <a:rPr lang="en-US" altLang="zh-CN" sz="1600" b="1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/</a:t>
              </a:r>
              <a:r>
                <a:rPr lang="zh-CN" altLang="en-US" sz="1600" b="1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转发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数据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)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82" name="Text Box 17">
              <a:extLst>
                <a:ext uri="{FF2B5EF4-FFF2-40B4-BE49-F238E27FC236}">
                  <a16:creationId xmlns:a16="http://schemas.microsoft.com/office/drawing/2014/main" id="{E468D369-7662-49F2-B1F2-CE2C41BFB7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12000" y="3816000"/>
              <a:ext cx="828000" cy="252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l">
                <a:lnSpc>
                  <a:spcPct val="90000"/>
                </a:lnSpc>
              </a:pPr>
              <a:r>
                <a:rPr lang="en-US" altLang="zh-CN" sz="1600" b="1" dirty="0">
                  <a:latin typeface="+mn-ea"/>
                  <a:ea typeface="+mn-ea"/>
                </a:rPr>
                <a:t>I/O</a:t>
              </a:r>
              <a:r>
                <a:rPr lang="zh-CN" altLang="en-US" sz="1600" b="1" dirty="0">
                  <a:latin typeface="+mn-ea"/>
                  <a:ea typeface="+mn-ea"/>
                </a:rPr>
                <a:t>接口</a:t>
              </a:r>
              <a:endParaRPr lang="en-US" altLang="zh-CN" sz="1600" b="1" dirty="0">
                <a:latin typeface="+mn-ea"/>
                <a:ea typeface="+mn-ea"/>
              </a:endParaRPr>
            </a:p>
          </p:txBody>
        </p:sp>
        <p:sp>
          <p:nvSpPr>
            <p:cNvPr id="83" name="Text Box 17">
              <a:extLst>
                <a:ext uri="{FF2B5EF4-FFF2-40B4-BE49-F238E27FC236}">
                  <a16:creationId xmlns:a16="http://schemas.microsoft.com/office/drawing/2014/main" id="{E92FDBEE-DACE-45BD-B39A-3CEC35FE5B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12000" y="4248000"/>
              <a:ext cx="540000" cy="252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l">
                <a:lnSpc>
                  <a:spcPct val="90000"/>
                </a:lnSpc>
              </a:pPr>
              <a:r>
                <a:rPr lang="zh-CN" altLang="en-US" sz="1600" b="1" dirty="0">
                  <a:latin typeface="+mn-ea"/>
                  <a:ea typeface="+mn-ea"/>
                </a:rPr>
                <a:t>外设</a:t>
              </a:r>
              <a:endParaRPr lang="en-US" altLang="zh-CN" sz="1600" b="1" dirty="0">
                <a:latin typeface="+mn-ea"/>
                <a:ea typeface="+mn-ea"/>
              </a:endParaRPr>
            </a:p>
          </p:txBody>
        </p:sp>
        <p:sp>
          <p:nvSpPr>
            <p:cNvPr id="84" name="Text Box 107">
              <a:extLst>
                <a:ext uri="{FF2B5EF4-FFF2-40B4-BE49-F238E27FC236}">
                  <a16:creationId xmlns:a16="http://schemas.microsoft.com/office/drawing/2014/main" id="{93EBA100-C276-4123-B372-A76CC69D58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72000" y="4248048"/>
              <a:ext cx="2952000" cy="2520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准备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(</a:t>
              </a:r>
              <a:r>
                <a:rPr lang="zh-CN" altLang="en-US" sz="1600" b="1" dirty="0">
                  <a:highlight>
                    <a:srgbClr val="CCFFFF"/>
                  </a:highlight>
                  <a:latin typeface="宋体" panose="02010600030101010101" pitchFamily="2" charset="-122"/>
                </a:rPr>
                <a:t>就绪时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收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/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发数据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)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85" name="直接箭头连接符 84">
              <a:extLst>
                <a:ext uri="{FF2B5EF4-FFF2-40B4-BE49-F238E27FC236}">
                  <a16:creationId xmlns:a16="http://schemas.microsoft.com/office/drawing/2014/main" id="{E5CEED50-619F-4788-A5DD-4762AB934788}"/>
                </a:ext>
              </a:extLst>
            </p:cNvPr>
            <p:cNvCxnSpPr/>
            <p:nvPr/>
          </p:nvCxnSpPr>
          <p:spPr bwMode="auto">
            <a:xfrm>
              <a:off x="2844000" y="4068000"/>
              <a:ext cx="0" cy="18000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</p:spPr>
        </p:cxnSp>
        <p:cxnSp>
          <p:nvCxnSpPr>
            <p:cNvPr id="86" name="直接箭头连接符 85">
              <a:extLst>
                <a:ext uri="{FF2B5EF4-FFF2-40B4-BE49-F238E27FC236}">
                  <a16:creationId xmlns:a16="http://schemas.microsoft.com/office/drawing/2014/main" id="{68E4EFF3-A90E-4DCB-8B55-CA9597860573}"/>
                </a:ext>
              </a:extLst>
            </p:cNvPr>
            <p:cNvCxnSpPr/>
            <p:nvPr/>
          </p:nvCxnSpPr>
          <p:spPr bwMode="auto">
            <a:xfrm flipH="1" flipV="1">
              <a:off x="5652000" y="4068000"/>
              <a:ext cx="2" cy="180000"/>
            </a:xfrm>
            <a:prstGeom prst="straightConnector1">
              <a:avLst/>
            </a:prstGeom>
            <a:noFill/>
            <a:ln w="12700" cap="flat" cmpd="sng" algn="ctr">
              <a:solidFill>
                <a:schemeClr val="accent2"/>
              </a:solidFill>
              <a:prstDash val="solid"/>
              <a:round/>
              <a:headEnd type="arrow" w="med" len="sm"/>
              <a:tailEnd type="arrow" w="med" len="sm"/>
            </a:ln>
          </p:spPr>
        </p:cxnSp>
        <p:cxnSp>
          <p:nvCxnSpPr>
            <p:cNvPr id="87" name="直接箭头连接符 86">
              <a:extLst>
                <a:ext uri="{FF2B5EF4-FFF2-40B4-BE49-F238E27FC236}">
                  <a16:creationId xmlns:a16="http://schemas.microsoft.com/office/drawing/2014/main" id="{532DAC4B-CB5D-4077-B603-1ED57B2D5C48}"/>
                </a:ext>
              </a:extLst>
            </p:cNvPr>
            <p:cNvCxnSpPr/>
            <p:nvPr/>
          </p:nvCxnSpPr>
          <p:spPr bwMode="auto">
            <a:xfrm flipV="1">
              <a:off x="3528000" y="4068000"/>
              <a:ext cx="0" cy="180000"/>
            </a:xfrm>
            <a:prstGeom prst="straightConnector1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arrow" w="med" len="sm"/>
            </a:ln>
          </p:spPr>
        </p:cxnSp>
        <p:cxnSp>
          <p:nvCxnSpPr>
            <p:cNvPr id="88" name="直接箭头连接符 87">
              <a:extLst>
                <a:ext uri="{FF2B5EF4-FFF2-40B4-BE49-F238E27FC236}">
                  <a16:creationId xmlns:a16="http://schemas.microsoft.com/office/drawing/2014/main" id="{CBDDDD46-0492-4338-A1A0-83B8082797A7}"/>
                </a:ext>
              </a:extLst>
            </p:cNvPr>
            <p:cNvCxnSpPr/>
            <p:nvPr/>
          </p:nvCxnSpPr>
          <p:spPr bwMode="auto">
            <a:xfrm flipV="1">
              <a:off x="3852000" y="4068000"/>
              <a:ext cx="0" cy="180000"/>
            </a:xfrm>
            <a:prstGeom prst="straightConnector1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arrow" w="med" len="sm"/>
            </a:ln>
          </p:spPr>
        </p:cxnSp>
        <p:cxnSp>
          <p:nvCxnSpPr>
            <p:cNvPr id="89" name="直接箭头连接符 88">
              <a:extLst>
                <a:ext uri="{FF2B5EF4-FFF2-40B4-BE49-F238E27FC236}">
                  <a16:creationId xmlns:a16="http://schemas.microsoft.com/office/drawing/2014/main" id="{4E80DBB2-1062-4F26-BDFE-78A60354BA07}"/>
                </a:ext>
              </a:extLst>
            </p:cNvPr>
            <p:cNvCxnSpPr/>
            <p:nvPr/>
          </p:nvCxnSpPr>
          <p:spPr bwMode="auto">
            <a:xfrm flipV="1">
              <a:off x="4176000" y="4068000"/>
              <a:ext cx="0" cy="180000"/>
            </a:xfrm>
            <a:prstGeom prst="straightConnector1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arrow" w="med" len="sm"/>
            </a:ln>
          </p:spPr>
        </p:cxnSp>
        <p:cxnSp>
          <p:nvCxnSpPr>
            <p:cNvPr id="90" name="直接箭头连接符 89">
              <a:extLst>
                <a:ext uri="{FF2B5EF4-FFF2-40B4-BE49-F238E27FC236}">
                  <a16:creationId xmlns:a16="http://schemas.microsoft.com/office/drawing/2014/main" id="{E09120AE-EA8A-4D7F-9CB3-6EDC0AE736EA}"/>
                </a:ext>
              </a:extLst>
            </p:cNvPr>
            <p:cNvCxnSpPr/>
            <p:nvPr/>
          </p:nvCxnSpPr>
          <p:spPr bwMode="auto">
            <a:xfrm flipV="1">
              <a:off x="4464000" y="4068000"/>
              <a:ext cx="0" cy="180000"/>
            </a:xfrm>
            <a:prstGeom prst="straightConnector1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arrow" w="med" len="sm"/>
            </a:ln>
          </p:spPr>
        </p:cxnSp>
        <p:cxnSp>
          <p:nvCxnSpPr>
            <p:cNvPr id="91" name="直接箭头连接符 90">
              <a:extLst>
                <a:ext uri="{FF2B5EF4-FFF2-40B4-BE49-F238E27FC236}">
                  <a16:creationId xmlns:a16="http://schemas.microsoft.com/office/drawing/2014/main" id="{4DFB7F7B-4363-43BF-9484-C9B3F41EB26F}"/>
                </a:ext>
              </a:extLst>
            </p:cNvPr>
            <p:cNvCxnSpPr/>
            <p:nvPr/>
          </p:nvCxnSpPr>
          <p:spPr bwMode="auto">
            <a:xfrm flipV="1">
              <a:off x="4752000" y="4068000"/>
              <a:ext cx="0" cy="180000"/>
            </a:xfrm>
            <a:prstGeom prst="straightConnector1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arrow" w="med" len="sm"/>
            </a:ln>
          </p:spPr>
        </p:cxnSp>
        <p:cxnSp>
          <p:nvCxnSpPr>
            <p:cNvPr id="92" name="直接箭头连接符 91">
              <a:extLst>
                <a:ext uri="{FF2B5EF4-FFF2-40B4-BE49-F238E27FC236}">
                  <a16:creationId xmlns:a16="http://schemas.microsoft.com/office/drawing/2014/main" id="{5B13155F-B3F7-4A7E-B24D-A68EB1158251}"/>
                </a:ext>
              </a:extLst>
            </p:cNvPr>
            <p:cNvCxnSpPr/>
            <p:nvPr/>
          </p:nvCxnSpPr>
          <p:spPr bwMode="auto">
            <a:xfrm flipV="1">
              <a:off x="5040000" y="4068000"/>
              <a:ext cx="0" cy="180000"/>
            </a:xfrm>
            <a:prstGeom prst="straightConnector1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arrow" w="med" len="sm"/>
            </a:ln>
          </p:spPr>
        </p:cxnSp>
        <p:cxnSp>
          <p:nvCxnSpPr>
            <p:cNvPr id="93" name="直接箭头连接符 92">
              <a:extLst>
                <a:ext uri="{FF2B5EF4-FFF2-40B4-BE49-F238E27FC236}">
                  <a16:creationId xmlns:a16="http://schemas.microsoft.com/office/drawing/2014/main" id="{9EC21733-AA6A-47A8-B663-932FB6CD9C08}"/>
                </a:ext>
              </a:extLst>
            </p:cNvPr>
            <p:cNvCxnSpPr/>
            <p:nvPr/>
          </p:nvCxnSpPr>
          <p:spPr bwMode="auto">
            <a:xfrm flipV="1">
              <a:off x="5328000" y="4068000"/>
              <a:ext cx="0" cy="180000"/>
            </a:xfrm>
            <a:prstGeom prst="straightConnector1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arrow" w="med" len="sm"/>
            </a:ln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41" grpId="0"/>
      <p:bldP spid="42" grpId="0"/>
      <p:bldP spid="4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 Box 5"/>
          <p:cNvSpPr txBox="1">
            <a:spLocks noChangeArrowheads="1"/>
          </p:cNvSpPr>
          <p:nvPr/>
        </p:nvSpPr>
        <p:spPr bwMode="auto">
          <a:xfrm>
            <a:off x="179389" y="1587564"/>
            <a:ext cx="3096467" cy="384291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传送控制原理：</a:t>
            </a: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marL="2867025" indent="-2867025" algn="l">
              <a:lnSpc>
                <a:spcPct val="125000"/>
              </a:lnSpc>
            </a:pP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marL="2867025" indent="-2867025" algn="l">
              <a:lnSpc>
                <a:spcPct val="125000"/>
              </a:lnSpc>
            </a:pP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marL="2867025" indent="-2867025" algn="l">
              <a:lnSpc>
                <a:spcPct val="125000"/>
              </a:lnSpc>
            </a:pP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marL="2867025" indent="-2867025" algn="l">
              <a:lnSpc>
                <a:spcPct val="125000"/>
              </a:lnSpc>
            </a:pP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marL="2867025" indent="-2867025" algn="l">
              <a:lnSpc>
                <a:spcPct val="125000"/>
              </a:lnSpc>
            </a:pP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marL="2867025" indent="-2867025" algn="l">
              <a:lnSpc>
                <a:spcPct val="125000"/>
              </a:lnSpc>
            </a:pP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marL="2867025" indent="-2867025" algn="l">
              <a:lnSpc>
                <a:spcPct val="125000"/>
              </a:lnSpc>
            </a:pPr>
            <a:endParaRPr lang="en-US" altLang="zh-CN" sz="18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marL="2867025" indent="-2867025" algn="l"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*</a:t>
            </a: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I/O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开销：</a:t>
            </a: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BFB63-B979-4FAE-8763-D7093A979077}" type="slidenum">
              <a:rPr lang="en-US" altLang="zh-CN" smtClean="0"/>
              <a:t>12</a:t>
            </a:fld>
            <a:endParaRPr lang="en-US" altLang="zh-CN"/>
          </a:p>
        </p:txBody>
      </p:sp>
      <p:sp>
        <p:nvSpPr>
          <p:cNvPr id="3" name="Text Box 40"/>
          <p:cNvSpPr txBox="1">
            <a:spLocks noChangeArrowheads="1"/>
          </p:cNvSpPr>
          <p:nvPr/>
        </p:nvSpPr>
        <p:spPr bwMode="auto">
          <a:xfrm>
            <a:off x="179388" y="332656"/>
            <a:ext cx="8785225" cy="119577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(2)</a:t>
            </a:r>
            <a:r>
              <a:rPr lang="zh-CN" altLang="en-US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程序中断</a:t>
            </a:r>
            <a:r>
              <a:rPr lang="en-US" altLang="zh-CN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I/O</a:t>
            </a:r>
            <a:r>
              <a:rPr lang="zh-CN" altLang="en-US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方式      </a:t>
            </a:r>
            <a:r>
              <a:rPr lang="en-US" altLang="zh-CN" sz="1800" b="1" dirty="0">
                <a:latin typeface="宋体" panose="02010600030101010101" pitchFamily="2" charset="-122"/>
              </a:rPr>
              <a:t>--</a:t>
            </a:r>
            <a:r>
              <a:rPr lang="zh-CN" altLang="en-US" sz="1800" b="1" dirty="0">
                <a:latin typeface="宋体" panose="02010600030101010101" pitchFamily="2" charset="-122"/>
              </a:rPr>
              <a:t>中断驱动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en-US" altLang="zh-CN" sz="1800" dirty="0">
                <a:latin typeface="+mn-lt"/>
              </a:rPr>
              <a:t>interrupt driven</a:t>
            </a:r>
            <a:r>
              <a:rPr lang="en-US" altLang="zh-CN" sz="1800" b="1" dirty="0">
                <a:latin typeface="宋体" panose="02010600030101010101" pitchFamily="2" charset="-122"/>
              </a:rPr>
              <a:t>)I/O</a:t>
            </a:r>
            <a:r>
              <a:rPr lang="zh-CN" altLang="en-US" sz="1800" b="1" dirty="0">
                <a:latin typeface="宋体" panose="02010600030101010101" pitchFamily="2" charset="-122"/>
              </a:rPr>
              <a:t>方式</a:t>
            </a:r>
          </a:p>
          <a:p>
            <a:pPr algn="l">
              <a:lnSpc>
                <a:spcPct val="125000"/>
              </a:lnSpc>
            </a:pP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I/O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功能：</a:t>
            </a:r>
            <a:r>
              <a:rPr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CPU</a:t>
            </a:r>
            <a:r>
              <a:rPr lang="en-US" altLang="zh-CN" sz="2200" b="1" dirty="0">
                <a:latin typeface="宋体" panose="02010600030101010101" pitchFamily="2" charset="-122"/>
              </a:rPr>
              <a:t>-</a:t>
            </a:r>
            <a:r>
              <a:rPr lang="zh-CN" altLang="en-US" sz="2200" b="1" dirty="0">
                <a:latin typeface="宋体" panose="02010600030101010101" pitchFamily="2" charset="-122"/>
              </a:rPr>
              <a:t>外设间、传送</a:t>
            </a:r>
            <a:r>
              <a:rPr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1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个</a:t>
            </a:r>
            <a:r>
              <a:rPr lang="zh-CN" altLang="en-US" sz="2200" b="1" dirty="0">
                <a:latin typeface="宋体" panose="02010600030101010101" pitchFamily="2" charset="-122"/>
              </a:rPr>
              <a:t>数据</a:t>
            </a:r>
            <a:r>
              <a:rPr lang="en-US" altLang="zh-CN" sz="2200" b="1" dirty="0">
                <a:latin typeface="宋体" panose="02010600030101010101" pitchFamily="2" charset="-122"/>
              </a:rPr>
              <a:t>/</a:t>
            </a:r>
            <a:r>
              <a:rPr lang="zh-CN" altLang="en-US" sz="2200" b="1" dirty="0">
                <a:latin typeface="宋体" panose="02010600030101010101" pitchFamily="2" charset="-122"/>
              </a:rPr>
              <a:t>次       </a:t>
            </a:r>
            <a:r>
              <a:rPr lang="zh-CN" altLang="en-US" sz="1800" b="1" dirty="0">
                <a:latin typeface="宋体" panose="02010600030101010101" pitchFamily="2" charset="-122"/>
              </a:rPr>
              <a:t>←适于</a:t>
            </a:r>
            <a:r>
              <a:rPr lang="zh-CN" altLang="en-US" sz="1800" b="1" u="sng" dirty="0">
                <a:latin typeface="宋体" panose="02010600030101010101" pitchFamily="2" charset="-122"/>
              </a:rPr>
              <a:t>字符设备</a:t>
            </a:r>
            <a:endParaRPr lang="en-US" altLang="zh-CN" b="1" dirty="0">
              <a:latin typeface="宋体" panose="02010600030101010101" pitchFamily="2" charset="-122"/>
            </a:endParaRPr>
          </a:p>
          <a:p>
            <a:pPr algn="l">
              <a:lnSpc>
                <a:spcPct val="105000"/>
              </a:lnSpc>
            </a:pPr>
            <a:r>
              <a:rPr lang="zh-CN" altLang="en-US" sz="1800" b="1" dirty="0">
                <a:latin typeface="宋体" panose="02010600030101010101" pitchFamily="2" charset="-122"/>
              </a:rPr>
              <a:t>              </a:t>
            </a:r>
            <a:r>
              <a:rPr lang="zh-CN" altLang="en-US" sz="1800" dirty="0">
                <a:latin typeface="宋体" panose="02010600030101010101" pitchFamily="2" charset="-122"/>
              </a:rPr>
              <a:t>└──────</a:t>
            </a:r>
            <a:r>
              <a:rPr lang="zh-CN" altLang="en-US" sz="1800" b="1" dirty="0">
                <a:latin typeface="宋体" panose="02010600030101010101" pitchFamily="2" charset="-122"/>
              </a:rPr>
              <a:t>←</a:t>
            </a:r>
            <a:r>
              <a:rPr lang="zh-CN" altLang="en-US" sz="1800" dirty="0">
                <a:latin typeface="宋体" panose="02010600030101010101" pitchFamily="2" charset="-122"/>
              </a:rPr>
              <a:t>┴</a:t>
            </a:r>
            <a:r>
              <a:rPr lang="zh-CN" altLang="en-US" sz="1800" b="1" dirty="0">
                <a:latin typeface="宋体" panose="02010600030101010101" pitchFamily="2" charset="-122"/>
              </a:rPr>
              <a:t>←</a:t>
            </a:r>
            <a:r>
              <a:rPr lang="en-US" altLang="zh-CN" sz="1800" b="1" u="sng" dirty="0">
                <a:highlight>
                  <a:srgbClr val="FFFF00"/>
                </a:highlight>
                <a:latin typeface="宋体" panose="02010600030101010101" pitchFamily="2" charset="-122"/>
              </a:rPr>
              <a:t>CPU</a:t>
            </a:r>
            <a:r>
              <a:rPr lang="zh-CN" altLang="en-US" sz="1800" b="1" dirty="0">
                <a:latin typeface="宋体" panose="02010600030101010101" pitchFamily="2" charset="-122"/>
              </a:rPr>
              <a:t>执行</a:t>
            </a:r>
            <a:r>
              <a:rPr lang="en-US" altLang="zh-CN" sz="1800" b="1" dirty="0">
                <a:latin typeface="宋体" panose="02010600030101010101" pitchFamily="2" charset="-122"/>
              </a:rPr>
              <a:t>I/O</a:t>
            </a:r>
            <a:r>
              <a:rPr lang="zh-CN" altLang="en-US" sz="1800" b="1" dirty="0">
                <a:latin typeface="宋体" panose="02010600030101010101" pitchFamily="2" charset="-122"/>
              </a:rPr>
              <a:t>指令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产生总线操作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</a:p>
        </p:txBody>
      </p:sp>
      <p:sp>
        <p:nvSpPr>
          <p:cNvPr id="4" name="Text Box 41"/>
          <p:cNvSpPr txBox="1">
            <a:spLocks noChangeArrowheads="1"/>
          </p:cNvSpPr>
          <p:nvPr/>
        </p:nvSpPr>
        <p:spPr bwMode="auto">
          <a:xfrm>
            <a:off x="2411636" y="1556792"/>
            <a:ext cx="6192812" cy="130375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200" b="1" dirty="0">
                <a:latin typeface="宋体" panose="02010600030101010101" pitchFamily="2" charset="-122"/>
              </a:rPr>
              <a:t> </a:t>
            </a:r>
            <a:r>
              <a:rPr lang="en-US" altLang="zh-CN" sz="2200" b="1" dirty="0">
                <a:highlight>
                  <a:srgbClr val="FFFF00"/>
                </a:highlight>
                <a:latin typeface="宋体" panose="02010600030101010101" pitchFamily="2" charset="-122"/>
              </a:rPr>
              <a:t>CPU</a:t>
            </a:r>
            <a:r>
              <a:rPr lang="zh-CN" altLang="en-US" sz="2200" b="1" u="sng" dirty="0">
                <a:solidFill>
                  <a:srgbClr val="FF3399"/>
                </a:solidFill>
                <a:latin typeface="宋体" panose="02010600030101010101" pitchFamily="2" charset="-122"/>
              </a:rPr>
              <a:t>启动</a:t>
            </a:r>
            <a:r>
              <a:rPr lang="zh-CN" altLang="en-US" sz="2200" b="1" dirty="0">
                <a:latin typeface="宋体" panose="02010600030101010101" pitchFamily="2" charset="-122"/>
              </a:rPr>
              <a:t>设备后，</a:t>
            </a:r>
            <a:r>
              <a:rPr lang="zh-CN" altLang="en-US" sz="2200" b="1" u="sng" dirty="0">
                <a:solidFill>
                  <a:srgbClr val="0070C0"/>
                </a:solidFill>
                <a:latin typeface="宋体" panose="02010600030101010101" pitchFamily="2" charset="-122"/>
              </a:rPr>
              <a:t>继续</a:t>
            </a:r>
            <a:r>
              <a:rPr lang="zh-CN" altLang="en-US" sz="2200" b="1" u="sng" dirty="0">
                <a:solidFill>
                  <a:srgbClr val="FF3399"/>
                </a:solidFill>
                <a:latin typeface="宋体" panose="02010600030101010101" pitchFamily="2" charset="-122"/>
              </a:rPr>
              <a:t>执行</a:t>
            </a:r>
            <a:r>
              <a:rPr lang="zh-CN" altLang="en-US" sz="2200" b="1" dirty="0">
                <a:latin typeface="宋体" panose="02010600030101010101" pitchFamily="2" charset="-122"/>
              </a:rPr>
              <a:t>现行程序；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>
                <a:highlight>
                  <a:srgbClr val="FFCC99"/>
                </a:highlight>
                <a:latin typeface="宋体" panose="02010600030101010101" pitchFamily="2" charset="-122"/>
              </a:rPr>
              <a:t>I/O</a:t>
            </a:r>
            <a:r>
              <a:rPr lang="zh-CN" altLang="en-US" sz="2200" b="1" dirty="0">
                <a:highlight>
                  <a:srgbClr val="FFCC99"/>
                </a:highlight>
                <a:latin typeface="宋体" panose="02010600030101010101" pitchFamily="2" charset="-122"/>
              </a:rPr>
              <a:t>接口</a:t>
            </a:r>
            <a:r>
              <a:rPr lang="zh-CN" altLang="en-US" sz="2200" b="1" dirty="0">
                <a:latin typeface="宋体" panose="02010600030101010101" pitchFamily="2" charset="-122"/>
              </a:rPr>
              <a:t>在设备准备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就绪</a:t>
            </a:r>
            <a:r>
              <a:rPr lang="zh-CN" altLang="en-US" sz="2200" b="1" dirty="0">
                <a:latin typeface="宋体" panose="02010600030101010101" pitchFamily="2" charset="-122"/>
              </a:rPr>
              <a:t>时，向</a:t>
            </a:r>
            <a:r>
              <a:rPr lang="en-US" altLang="zh-CN" sz="2200" b="1" dirty="0">
                <a:latin typeface="宋体" panose="02010600030101010101" pitchFamily="2" charset="-122"/>
              </a:rPr>
              <a:t>CPU</a:t>
            </a:r>
            <a:r>
              <a:rPr lang="zh-CN" altLang="en-US" sz="2200" b="1" u="sng" dirty="0">
                <a:solidFill>
                  <a:srgbClr val="C00000"/>
                </a:solidFill>
                <a:latin typeface="宋体" panose="02010600030101010101" pitchFamily="2" charset="-122"/>
              </a:rPr>
              <a:t>提出</a:t>
            </a:r>
            <a:r>
              <a:rPr lang="zh-CN" altLang="en-US" sz="2200" b="1" dirty="0">
                <a:latin typeface="宋体" panose="02010600030101010101" pitchFamily="2" charset="-122"/>
              </a:rPr>
              <a:t>请求；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>
                <a:highlight>
                  <a:srgbClr val="FFFF00"/>
                </a:highlight>
                <a:latin typeface="宋体" panose="02010600030101010101" pitchFamily="2" charset="-122"/>
              </a:rPr>
              <a:t> CPU</a:t>
            </a:r>
            <a:r>
              <a:rPr lang="zh-CN" altLang="en-US" sz="2200" b="1" u="sng" dirty="0">
                <a:solidFill>
                  <a:srgbClr val="FF3399"/>
                </a:solidFill>
                <a:latin typeface="宋体" panose="02010600030101010101" pitchFamily="2" charset="-122"/>
              </a:rPr>
              <a:t>响应</a:t>
            </a:r>
            <a:r>
              <a:rPr lang="zh-CN" altLang="en-US" sz="2200" b="1" dirty="0">
                <a:latin typeface="宋体" panose="02010600030101010101" pitchFamily="2" charset="-122"/>
              </a:rPr>
              <a:t>请求，</a:t>
            </a:r>
            <a:r>
              <a:rPr lang="zh-CN" altLang="en-US" sz="2200" b="1" u="sng" dirty="0">
                <a:solidFill>
                  <a:srgbClr val="FF3399"/>
                </a:solidFill>
                <a:latin typeface="宋体" panose="02010600030101010101" pitchFamily="2" charset="-122"/>
              </a:rPr>
              <a:t>传送</a:t>
            </a:r>
            <a:r>
              <a:rPr lang="zh-CN" altLang="en-US" sz="2200" b="1" dirty="0">
                <a:latin typeface="宋体" panose="02010600030101010101" pitchFamily="2" charset="-122"/>
              </a:rPr>
              <a:t>数据、</a:t>
            </a:r>
            <a:r>
              <a:rPr lang="zh-CN" altLang="en-US" sz="2200" b="1" u="sng" dirty="0">
                <a:solidFill>
                  <a:srgbClr val="FF3399"/>
                </a:solidFill>
                <a:latin typeface="宋体" panose="02010600030101010101" pitchFamily="2" charset="-122"/>
              </a:rPr>
              <a:t>返回</a:t>
            </a:r>
            <a:r>
              <a:rPr lang="zh-CN" altLang="en-US" sz="2200" b="1" dirty="0">
                <a:latin typeface="宋体" panose="02010600030101010101" pitchFamily="2" charset="-122"/>
              </a:rPr>
              <a:t>现行程序</a:t>
            </a:r>
            <a:endParaRPr lang="zh-CN" altLang="en-US" sz="2200" b="1" u="sng" dirty="0">
              <a:solidFill>
                <a:srgbClr val="FF3399"/>
              </a:solidFill>
              <a:latin typeface="宋体" panose="02010600030101010101" pitchFamily="2" charset="-122"/>
            </a:endParaRPr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1763688" y="4869160"/>
            <a:ext cx="6493373" cy="7786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200" b="1" spc="-100" dirty="0">
                <a:solidFill>
                  <a:srgbClr val="0070C0"/>
                </a:solidFill>
                <a:latin typeface="宋体" panose="02010600030101010101" pitchFamily="2" charset="-122"/>
              </a:rPr>
              <a:t>k</a:t>
            </a:r>
            <a:r>
              <a:rPr lang="zh-CN" altLang="en-US" sz="2200" b="1" spc="-100" dirty="0">
                <a:solidFill>
                  <a:srgbClr val="0070C0"/>
                </a:solidFill>
                <a:latin typeface="宋体" panose="02010600030101010101" pitchFamily="2" charset="-122"/>
              </a:rPr>
              <a:t>个</a:t>
            </a:r>
            <a:r>
              <a:rPr lang="zh-CN" altLang="en-US" sz="2200" b="1" spc="-100" dirty="0">
                <a:latin typeface="宋体" panose="02010600030101010101" pitchFamily="2" charset="-122"/>
              </a:rPr>
              <a:t>指令周期</a:t>
            </a:r>
            <a:r>
              <a:rPr lang="en-US" altLang="zh-CN" sz="2200" b="1" spc="-100" dirty="0">
                <a:latin typeface="宋体" panose="02010600030101010101" pitchFamily="2" charset="-122"/>
              </a:rPr>
              <a:t>/</a:t>
            </a:r>
            <a:r>
              <a:rPr lang="zh-CN" altLang="en-US" sz="2200" b="1" spc="-100" dirty="0">
                <a:latin typeface="宋体" panose="02010600030101010101" pitchFamily="2" charset="-122"/>
              </a:rPr>
              <a:t>数据，</a:t>
            </a:r>
            <a:r>
              <a:rPr lang="en-US" altLang="zh-CN" sz="2200" b="1" spc="-100" dirty="0">
                <a:latin typeface="宋体" panose="02010600030101010101" pitchFamily="2" charset="-122"/>
              </a:rPr>
              <a:t>CPU</a:t>
            </a:r>
            <a:r>
              <a:rPr lang="zh-CN" altLang="en-US" sz="2200" b="1" spc="-100" dirty="0">
                <a:latin typeface="宋体" panose="02010600030101010101" pitchFamily="2" charset="-122"/>
              </a:rPr>
              <a:t>与外设</a:t>
            </a:r>
            <a:r>
              <a:rPr lang="zh-CN" altLang="en-US" sz="2200" b="1" u="sng" spc="-100" dirty="0">
                <a:solidFill>
                  <a:srgbClr val="CC3300"/>
                </a:solidFill>
                <a:latin typeface="宋体" panose="02010600030101010101" pitchFamily="2" charset="-122"/>
              </a:rPr>
              <a:t>部分并行</a:t>
            </a:r>
            <a:r>
              <a:rPr lang="zh-CN" altLang="en-US" sz="2200" b="1" spc="-100" dirty="0">
                <a:latin typeface="宋体" panose="02010600030101010101" pitchFamily="2" charset="-122"/>
              </a:rPr>
              <a:t>工作</a:t>
            </a:r>
            <a:endParaRPr lang="en-US" altLang="zh-CN" sz="2200" b="1" spc="-100" dirty="0">
              <a:latin typeface="宋体" panose="02010600030101010101" pitchFamily="2" charset="-122"/>
            </a:endParaRPr>
          </a:p>
          <a:p>
            <a:pPr algn="l">
              <a:lnSpc>
                <a:spcPct val="95000"/>
              </a:lnSpc>
            </a:pPr>
            <a:r>
              <a:rPr lang="zh-CN" altLang="en-US" sz="1800" dirty="0">
                <a:latin typeface="宋体" panose="02010600030101010101" pitchFamily="2" charset="-122"/>
              </a:rPr>
              <a:t> └←</a:t>
            </a:r>
            <a:r>
              <a:rPr lang="zh-CN" altLang="en-US" sz="1800" b="1" dirty="0">
                <a:latin typeface="宋体" panose="02010600030101010101" pitchFamily="2" charset="-122"/>
              </a:rPr>
              <a:t>＝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中断响应＋中断服务程序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r>
              <a:rPr lang="zh-CN" altLang="en-US" sz="1800" b="1" dirty="0">
                <a:latin typeface="宋体" panose="02010600030101010101" pitchFamily="2" charset="-122"/>
              </a:rPr>
              <a:t>的时延</a:t>
            </a:r>
            <a:endParaRPr lang="en-US" altLang="zh-CN" sz="1800" b="1" dirty="0">
              <a:latin typeface="宋体" panose="02010600030101010101" pitchFamily="2" charset="-122"/>
            </a:endParaRPr>
          </a:p>
        </p:txBody>
      </p:sp>
      <p:sp>
        <p:nvSpPr>
          <p:cNvPr id="47" name="AutoShape 69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2987824" y="6526037"/>
            <a:ext cx="287338" cy="287338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8" name="AutoShape 121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5148065" y="6524450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" name="AutoShape 62">
            <a:hlinkClick r:id="rId3" action="ppaction://hlinksldjump"/>
          </p:cNvPr>
          <p:cNvSpPr>
            <a:spLocks noChangeArrowheads="1"/>
          </p:cNvSpPr>
          <p:nvPr/>
        </p:nvSpPr>
        <p:spPr bwMode="auto">
          <a:xfrm rot="16200000">
            <a:off x="6228000" y="6524995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eaVert" wrap="none" lIns="0" tIns="0" rIns="0" bIns="0" anchor="ctr"/>
          <a:lstStyle/>
          <a:p>
            <a:pPr algn="ctr"/>
            <a:r>
              <a:rPr lang="en-US" altLang="zh-CN" sz="1600" dirty="0">
                <a:solidFill>
                  <a:schemeClr val="bg2"/>
                </a:solidFill>
                <a:latin typeface="+mn-ea"/>
                <a:ea typeface="+mn-ea"/>
              </a:rPr>
              <a:t>4</a:t>
            </a:r>
            <a:endParaRPr lang="zh-CN" altLang="en-US" sz="1600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37" name="Text Box 200"/>
          <p:cNvSpPr txBox="1">
            <a:spLocks noChangeArrowheads="1"/>
          </p:cNvSpPr>
          <p:nvPr/>
        </p:nvSpPr>
        <p:spPr bwMode="auto">
          <a:xfrm>
            <a:off x="1043608" y="5733288"/>
            <a:ext cx="6984000" cy="28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lstStyle/>
          <a:p>
            <a:pPr algn="l">
              <a:lnSpc>
                <a:spcPct val="90000"/>
              </a:lnSpc>
            </a:pPr>
            <a:r>
              <a:rPr lang="zh-CN" altLang="en-US" sz="1800" b="1" dirty="0">
                <a:solidFill>
                  <a:srgbClr val="990099"/>
                </a:solidFill>
                <a:latin typeface="+mn-ea"/>
                <a:ea typeface="+mn-ea"/>
              </a:rPr>
              <a:t>思考：</a:t>
            </a:r>
            <a:r>
              <a:rPr lang="zh-CN" altLang="en-US" sz="1800" b="1" dirty="0">
                <a:latin typeface="+mn-ea"/>
                <a:ea typeface="+mn-ea"/>
              </a:rPr>
              <a:t>上图执行</a:t>
            </a:r>
            <a:r>
              <a:rPr lang="en-US" altLang="zh-CN" sz="1800" b="1" dirty="0">
                <a:latin typeface="+mn-ea"/>
                <a:ea typeface="+mn-ea"/>
              </a:rPr>
              <a:t>IN</a:t>
            </a:r>
            <a:r>
              <a:rPr lang="zh-CN" altLang="en-US" sz="1800" b="1" dirty="0">
                <a:latin typeface="宋体" panose="02010600030101010101" pitchFamily="2" charset="-122"/>
              </a:rPr>
              <a:t>指令可</a:t>
            </a:r>
            <a:r>
              <a:rPr lang="zh-CN" altLang="en-US" sz="1800" b="1" u="sng" dirty="0">
                <a:latin typeface="宋体" panose="02010600030101010101" pitchFamily="2" charset="-122"/>
              </a:rPr>
              <a:t>立即读出</a:t>
            </a:r>
            <a:r>
              <a:rPr lang="zh-CN" altLang="en-US" sz="1800" b="1" dirty="0">
                <a:latin typeface="宋体" panose="02010600030101010101" pitchFamily="2" charset="-122"/>
              </a:rPr>
              <a:t>外设数据，数据</a:t>
            </a:r>
            <a:r>
              <a:rPr lang="zh-CN" altLang="en-US" sz="1800" b="1" u="sng" dirty="0">
                <a:latin typeface="宋体" panose="02010600030101010101" pitchFamily="2" charset="-122"/>
              </a:rPr>
              <a:t>预先存放</a:t>
            </a:r>
            <a:r>
              <a:rPr lang="zh-CN" altLang="en-US" sz="1800" b="1" dirty="0">
                <a:latin typeface="宋体" panose="02010600030101010101" pitchFamily="2" charset="-122"/>
              </a:rPr>
              <a:t>在哪里？</a:t>
            </a:r>
            <a:endParaRPr lang="en-US" altLang="zh-CN" sz="1800" b="1" dirty="0">
              <a:latin typeface="宋体" panose="02010600030101010101" pitchFamily="2" charset="-122"/>
            </a:endParaRPr>
          </a:p>
        </p:txBody>
      </p:sp>
      <p:grpSp>
        <p:nvGrpSpPr>
          <p:cNvPr id="75" name="组合 74">
            <a:extLst>
              <a:ext uri="{FF2B5EF4-FFF2-40B4-BE49-F238E27FC236}">
                <a16:creationId xmlns:a16="http://schemas.microsoft.com/office/drawing/2014/main" id="{E345ECE8-039D-4122-88AB-2208B9D47FA1}"/>
              </a:ext>
            </a:extLst>
          </p:cNvPr>
          <p:cNvGrpSpPr/>
          <p:nvPr/>
        </p:nvGrpSpPr>
        <p:grpSpPr>
          <a:xfrm>
            <a:off x="1260000" y="2924944"/>
            <a:ext cx="7164000" cy="1872048"/>
            <a:chOff x="1260000" y="1260000"/>
            <a:chExt cx="7164000" cy="1872048"/>
          </a:xfrm>
        </p:grpSpPr>
        <p:sp>
          <p:nvSpPr>
            <p:cNvPr id="76" name="Text Box 107">
              <a:extLst>
                <a:ext uri="{FF2B5EF4-FFF2-40B4-BE49-F238E27FC236}">
                  <a16:creationId xmlns:a16="http://schemas.microsoft.com/office/drawing/2014/main" id="{444D7DEC-3F13-4BAD-A4C9-373744188C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000" y="2448000"/>
              <a:ext cx="5652000" cy="252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响应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总线操作；</a:t>
              </a:r>
              <a:r>
                <a:rPr lang="zh-CN" altLang="en-US" sz="1600" b="1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启动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外设，</a:t>
              </a:r>
              <a:r>
                <a:rPr lang="zh-CN" altLang="en-US" sz="1600" b="1" dirty="0">
                  <a:highlight>
                    <a:srgbClr val="CCFFFF"/>
                  </a:highlight>
                  <a:latin typeface="宋体" panose="02010600030101010101" pitchFamily="2" charset="-122"/>
                </a:rPr>
                <a:t>一直</a:t>
              </a:r>
              <a:r>
                <a:rPr lang="zh-CN" altLang="en-US" sz="1600" b="1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采集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状态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(</a:t>
              </a:r>
              <a:r>
                <a:rPr lang="zh-CN" altLang="en-US" sz="1600" b="1" dirty="0">
                  <a:highlight>
                    <a:srgbClr val="CCFFFF"/>
                  </a:highlight>
                  <a:latin typeface="宋体" panose="02010600030101010101" pitchFamily="2" charset="-122"/>
                </a:rPr>
                <a:t>就绪时</a:t>
              </a:r>
              <a:r>
                <a:rPr lang="zh-CN" altLang="en-US" sz="1600" b="1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提出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请求等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)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77" name="Text Box 17">
              <a:extLst>
                <a:ext uri="{FF2B5EF4-FFF2-40B4-BE49-F238E27FC236}">
                  <a16:creationId xmlns:a16="http://schemas.microsoft.com/office/drawing/2014/main" id="{BFAC25D4-5DF8-4ABD-87F1-727819CB92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60000" y="2448000"/>
              <a:ext cx="936000" cy="252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l">
                <a:lnSpc>
                  <a:spcPct val="90000"/>
                </a:lnSpc>
              </a:pPr>
              <a:r>
                <a:rPr lang="zh-CN" altLang="en-US" sz="1600" b="1" dirty="0">
                  <a:latin typeface="+mn-ea"/>
                  <a:ea typeface="+mn-ea"/>
                </a:rPr>
                <a:t>中断接口</a:t>
              </a:r>
              <a:endParaRPr lang="en-US" altLang="zh-CN" sz="1600" b="1" dirty="0">
                <a:latin typeface="+mn-ea"/>
                <a:ea typeface="+mn-ea"/>
              </a:endParaRPr>
            </a:p>
          </p:txBody>
        </p:sp>
        <p:sp>
          <p:nvSpPr>
            <p:cNvPr id="78" name="Text Box 17">
              <a:extLst>
                <a:ext uri="{FF2B5EF4-FFF2-40B4-BE49-F238E27FC236}">
                  <a16:creationId xmlns:a16="http://schemas.microsoft.com/office/drawing/2014/main" id="{5C5FB37C-729A-4D2D-8C29-01274E4819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60000" y="2880000"/>
              <a:ext cx="540000" cy="252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l">
                <a:lnSpc>
                  <a:spcPct val="90000"/>
                </a:lnSpc>
              </a:pPr>
              <a:r>
                <a:rPr lang="zh-CN" altLang="en-US" sz="1600" b="1" dirty="0">
                  <a:latin typeface="+mn-ea"/>
                  <a:ea typeface="+mn-ea"/>
                </a:rPr>
                <a:t>外设</a:t>
              </a:r>
              <a:endParaRPr lang="en-US" altLang="zh-CN" sz="1600" b="1" dirty="0">
                <a:latin typeface="+mn-ea"/>
                <a:ea typeface="+mn-ea"/>
              </a:endParaRPr>
            </a:p>
          </p:txBody>
        </p:sp>
        <p:sp>
          <p:nvSpPr>
            <p:cNvPr id="79" name="Text Box 107">
              <a:extLst>
                <a:ext uri="{FF2B5EF4-FFF2-40B4-BE49-F238E27FC236}">
                  <a16:creationId xmlns:a16="http://schemas.microsoft.com/office/drawing/2014/main" id="{0D5D6F1A-10F6-455E-8BE4-EB94B14066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20000" y="2880048"/>
              <a:ext cx="2952000" cy="2520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准备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(</a:t>
              </a:r>
              <a:r>
                <a:rPr lang="zh-CN" altLang="en-US" sz="1600" b="1" dirty="0">
                  <a:highlight>
                    <a:srgbClr val="CCFFFF"/>
                  </a:highlight>
                  <a:latin typeface="宋体" panose="02010600030101010101" pitchFamily="2" charset="-122"/>
                </a:rPr>
                <a:t>就绪时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收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/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发数据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)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80" name="直接箭头连接符 79">
              <a:extLst>
                <a:ext uri="{FF2B5EF4-FFF2-40B4-BE49-F238E27FC236}">
                  <a16:creationId xmlns:a16="http://schemas.microsoft.com/office/drawing/2014/main" id="{519445B7-E67B-475B-BF1C-DB8342E72273}"/>
                </a:ext>
              </a:extLst>
            </p:cNvPr>
            <p:cNvCxnSpPr/>
            <p:nvPr/>
          </p:nvCxnSpPr>
          <p:spPr bwMode="auto">
            <a:xfrm>
              <a:off x="2592000" y="2700000"/>
              <a:ext cx="0" cy="18000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</p:spPr>
        </p:cxnSp>
        <p:cxnSp>
          <p:nvCxnSpPr>
            <p:cNvPr id="81" name="直接箭头连接符 80">
              <a:extLst>
                <a:ext uri="{FF2B5EF4-FFF2-40B4-BE49-F238E27FC236}">
                  <a16:creationId xmlns:a16="http://schemas.microsoft.com/office/drawing/2014/main" id="{C54C7B6D-5095-4CB3-B084-12F8DAE7A6EA}"/>
                </a:ext>
              </a:extLst>
            </p:cNvPr>
            <p:cNvCxnSpPr/>
            <p:nvPr/>
          </p:nvCxnSpPr>
          <p:spPr bwMode="auto">
            <a:xfrm flipH="1" flipV="1">
              <a:off x="5400000" y="2700000"/>
              <a:ext cx="2" cy="180000"/>
            </a:xfrm>
            <a:prstGeom prst="straightConnector1">
              <a:avLst/>
            </a:prstGeom>
            <a:noFill/>
            <a:ln w="12700" cap="flat" cmpd="sng" algn="ctr">
              <a:solidFill>
                <a:schemeClr val="accent2"/>
              </a:solidFill>
              <a:prstDash val="solid"/>
              <a:round/>
              <a:headEnd type="arrow" w="med" len="sm"/>
              <a:tailEnd type="arrow" w="med" len="sm"/>
            </a:ln>
          </p:spPr>
        </p:cxnSp>
        <p:cxnSp>
          <p:nvCxnSpPr>
            <p:cNvPr id="82" name="直接箭头连接符 81">
              <a:extLst>
                <a:ext uri="{FF2B5EF4-FFF2-40B4-BE49-F238E27FC236}">
                  <a16:creationId xmlns:a16="http://schemas.microsoft.com/office/drawing/2014/main" id="{80FEF04D-A341-42DF-BFA3-BF134D2E0882}"/>
                </a:ext>
              </a:extLst>
            </p:cNvPr>
            <p:cNvCxnSpPr/>
            <p:nvPr/>
          </p:nvCxnSpPr>
          <p:spPr bwMode="auto">
            <a:xfrm flipV="1">
              <a:off x="3276000" y="2700000"/>
              <a:ext cx="0" cy="180000"/>
            </a:xfrm>
            <a:prstGeom prst="straightConnector1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arrow" w="med" len="sm"/>
            </a:ln>
          </p:spPr>
        </p:cxnSp>
        <p:cxnSp>
          <p:nvCxnSpPr>
            <p:cNvPr id="83" name="直接箭头连接符 82">
              <a:extLst>
                <a:ext uri="{FF2B5EF4-FFF2-40B4-BE49-F238E27FC236}">
                  <a16:creationId xmlns:a16="http://schemas.microsoft.com/office/drawing/2014/main" id="{1D4D4067-F939-42D7-96ED-44B21EDB8092}"/>
                </a:ext>
              </a:extLst>
            </p:cNvPr>
            <p:cNvCxnSpPr/>
            <p:nvPr/>
          </p:nvCxnSpPr>
          <p:spPr bwMode="auto">
            <a:xfrm flipV="1">
              <a:off x="3600000" y="2700000"/>
              <a:ext cx="0" cy="180000"/>
            </a:xfrm>
            <a:prstGeom prst="straightConnector1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arrow" w="med" len="sm"/>
            </a:ln>
          </p:spPr>
        </p:cxnSp>
        <p:cxnSp>
          <p:nvCxnSpPr>
            <p:cNvPr id="84" name="直接箭头连接符 83">
              <a:extLst>
                <a:ext uri="{FF2B5EF4-FFF2-40B4-BE49-F238E27FC236}">
                  <a16:creationId xmlns:a16="http://schemas.microsoft.com/office/drawing/2014/main" id="{B7B4FF16-39B0-4C6C-85CD-4D5674D4B7AB}"/>
                </a:ext>
              </a:extLst>
            </p:cNvPr>
            <p:cNvCxnSpPr/>
            <p:nvPr/>
          </p:nvCxnSpPr>
          <p:spPr bwMode="auto">
            <a:xfrm flipV="1">
              <a:off x="3924000" y="2700000"/>
              <a:ext cx="0" cy="180000"/>
            </a:xfrm>
            <a:prstGeom prst="straightConnector1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arrow" w="med" len="sm"/>
            </a:ln>
          </p:spPr>
        </p:cxnSp>
        <p:cxnSp>
          <p:nvCxnSpPr>
            <p:cNvPr id="85" name="直接箭头连接符 84">
              <a:extLst>
                <a:ext uri="{FF2B5EF4-FFF2-40B4-BE49-F238E27FC236}">
                  <a16:creationId xmlns:a16="http://schemas.microsoft.com/office/drawing/2014/main" id="{52106DE6-D1C2-4211-AA82-B1879B0F3613}"/>
                </a:ext>
              </a:extLst>
            </p:cNvPr>
            <p:cNvCxnSpPr/>
            <p:nvPr/>
          </p:nvCxnSpPr>
          <p:spPr bwMode="auto">
            <a:xfrm flipV="1">
              <a:off x="4212000" y="2700000"/>
              <a:ext cx="0" cy="180000"/>
            </a:xfrm>
            <a:prstGeom prst="straightConnector1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arrow" w="med" len="sm"/>
            </a:ln>
          </p:spPr>
        </p:cxnSp>
        <p:cxnSp>
          <p:nvCxnSpPr>
            <p:cNvPr id="86" name="直接箭头连接符 85">
              <a:extLst>
                <a:ext uri="{FF2B5EF4-FFF2-40B4-BE49-F238E27FC236}">
                  <a16:creationId xmlns:a16="http://schemas.microsoft.com/office/drawing/2014/main" id="{C469DB3E-0A0D-4673-8378-75C42877092A}"/>
                </a:ext>
              </a:extLst>
            </p:cNvPr>
            <p:cNvCxnSpPr/>
            <p:nvPr/>
          </p:nvCxnSpPr>
          <p:spPr bwMode="auto">
            <a:xfrm flipV="1">
              <a:off x="4500000" y="2700000"/>
              <a:ext cx="0" cy="180000"/>
            </a:xfrm>
            <a:prstGeom prst="straightConnector1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arrow" w="med" len="sm"/>
            </a:ln>
          </p:spPr>
        </p:cxnSp>
        <p:cxnSp>
          <p:nvCxnSpPr>
            <p:cNvPr id="87" name="直接箭头连接符 86">
              <a:extLst>
                <a:ext uri="{FF2B5EF4-FFF2-40B4-BE49-F238E27FC236}">
                  <a16:creationId xmlns:a16="http://schemas.microsoft.com/office/drawing/2014/main" id="{0C77F1C9-4781-463F-8911-4DBC34D55254}"/>
                </a:ext>
              </a:extLst>
            </p:cNvPr>
            <p:cNvCxnSpPr/>
            <p:nvPr/>
          </p:nvCxnSpPr>
          <p:spPr bwMode="auto">
            <a:xfrm flipV="1">
              <a:off x="4788000" y="2700000"/>
              <a:ext cx="0" cy="180000"/>
            </a:xfrm>
            <a:prstGeom prst="straightConnector1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arrow" w="med" len="sm"/>
            </a:ln>
          </p:spPr>
        </p:cxnSp>
        <p:cxnSp>
          <p:nvCxnSpPr>
            <p:cNvPr id="88" name="直接箭头连接符 87">
              <a:extLst>
                <a:ext uri="{FF2B5EF4-FFF2-40B4-BE49-F238E27FC236}">
                  <a16:creationId xmlns:a16="http://schemas.microsoft.com/office/drawing/2014/main" id="{99CBBCED-9A5D-4AD8-8217-FC59065139FC}"/>
                </a:ext>
              </a:extLst>
            </p:cNvPr>
            <p:cNvCxnSpPr/>
            <p:nvPr/>
          </p:nvCxnSpPr>
          <p:spPr bwMode="auto">
            <a:xfrm flipV="1">
              <a:off x="5076000" y="2700000"/>
              <a:ext cx="0" cy="180000"/>
            </a:xfrm>
            <a:prstGeom prst="straightConnector1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arrow" w="med" len="sm"/>
            </a:ln>
          </p:spPr>
        </p:cxnSp>
        <p:sp>
          <p:nvSpPr>
            <p:cNvPr id="89" name="Text Box 15">
              <a:extLst>
                <a:ext uri="{FF2B5EF4-FFF2-40B4-BE49-F238E27FC236}">
                  <a16:creationId xmlns:a16="http://schemas.microsoft.com/office/drawing/2014/main" id="{F2DF8A12-D175-4948-B8BD-91857A0CA9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00472" y="1584000"/>
              <a:ext cx="828000" cy="468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OUT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指令</a:t>
              </a:r>
              <a:endParaRPr lang="en-US" altLang="zh-CN" sz="1600" b="1" dirty="0">
                <a:latin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(</a:t>
              </a:r>
              <a:r>
                <a:rPr lang="zh-CN" altLang="en-US" sz="1600" b="1" dirty="0">
                  <a:solidFill>
                    <a:srgbClr val="FF3399"/>
                  </a:solidFill>
                  <a:latin typeface="宋体" panose="02010600030101010101" pitchFamily="2" charset="-122"/>
                </a:rPr>
                <a:t>命令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)</a:t>
              </a:r>
            </a:p>
          </p:txBody>
        </p:sp>
        <p:sp>
          <p:nvSpPr>
            <p:cNvPr id="90" name="Text Box 15">
              <a:extLst>
                <a:ext uri="{FF2B5EF4-FFF2-40B4-BE49-F238E27FC236}">
                  <a16:creationId xmlns:a16="http://schemas.microsoft.com/office/drawing/2014/main" id="{10061898-EB44-4069-B67D-121484AB1E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28000" y="1584000"/>
              <a:ext cx="1152000" cy="468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当前程序</a:t>
              </a:r>
              <a:endParaRPr lang="en-US" altLang="zh-CN" sz="1600" b="1" dirty="0">
                <a:latin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(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续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1)</a:t>
              </a:r>
            </a:p>
          </p:txBody>
        </p:sp>
        <p:sp>
          <p:nvSpPr>
            <p:cNvPr id="91" name="Text Box 15">
              <a:extLst>
                <a:ext uri="{FF2B5EF4-FFF2-40B4-BE49-F238E27FC236}">
                  <a16:creationId xmlns:a16="http://schemas.microsoft.com/office/drawing/2014/main" id="{8543B90A-9237-4D97-8794-19478300C4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36000" y="1584000"/>
              <a:ext cx="936000" cy="468000"/>
            </a:xfrm>
            <a:prstGeom prst="rect">
              <a:avLst/>
            </a:prstGeom>
            <a:solidFill>
              <a:srgbClr val="CC99FF">
                <a:alpha val="7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IRET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指令</a:t>
              </a:r>
              <a:endParaRPr lang="en-US" altLang="zh-CN" sz="1600" b="1" dirty="0">
                <a:latin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(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返回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)</a:t>
              </a:r>
            </a:p>
          </p:txBody>
        </p:sp>
        <p:sp>
          <p:nvSpPr>
            <p:cNvPr id="92" name="Text Box 17">
              <a:extLst>
                <a:ext uri="{FF2B5EF4-FFF2-40B4-BE49-F238E27FC236}">
                  <a16:creationId xmlns:a16="http://schemas.microsoft.com/office/drawing/2014/main" id="{204B4F43-03C9-4A64-958E-1B2407F36E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12000" y="1656008"/>
              <a:ext cx="288000" cy="288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latin typeface="+mn-ea"/>
                  <a:ea typeface="+mn-ea"/>
                </a:rPr>
                <a:t>…</a:t>
              </a:r>
            </a:p>
          </p:txBody>
        </p:sp>
        <p:sp>
          <p:nvSpPr>
            <p:cNvPr id="93" name="Text Box 15">
              <a:extLst>
                <a:ext uri="{FF2B5EF4-FFF2-40B4-BE49-F238E27FC236}">
                  <a16:creationId xmlns:a16="http://schemas.microsoft.com/office/drawing/2014/main" id="{D862AAB5-DE77-44F4-9EE6-C4B6FB3A4D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84000" y="1584000"/>
              <a:ext cx="828000" cy="468000"/>
            </a:xfrm>
            <a:prstGeom prst="rect">
              <a:avLst/>
            </a:prstGeom>
            <a:solidFill>
              <a:srgbClr val="CC99FF">
                <a:alpha val="7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IN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指令</a:t>
              </a:r>
              <a:endParaRPr lang="en-US" altLang="zh-CN" sz="1600" b="1" dirty="0">
                <a:latin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(</a:t>
              </a:r>
              <a:r>
                <a:rPr lang="zh-CN" altLang="en-US" sz="1600" b="1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数据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)</a:t>
              </a:r>
            </a:p>
          </p:txBody>
        </p:sp>
        <p:sp>
          <p:nvSpPr>
            <p:cNvPr id="94" name="Text Box 17">
              <a:extLst>
                <a:ext uri="{FF2B5EF4-FFF2-40B4-BE49-F238E27FC236}">
                  <a16:creationId xmlns:a16="http://schemas.microsoft.com/office/drawing/2014/main" id="{B55CDD8C-FE70-42DA-9E8A-829028E180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60000" y="1836000"/>
              <a:ext cx="432000" cy="252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l">
                <a:lnSpc>
                  <a:spcPct val="90000"/>
                </a:lnSpc>
              </a:pPr>
              <a:r>
                <a:rPr lang="en-US" altLang="zh-CN" sz="1600" b="1" dirty="0">
                  <a:latin typeface="+mn-ea"/>
                  <a:ea typeface="+mn-ea"/>
                </a:rPr>
                <a:t>CPU</a:t>
              </a:r>
            </a:p>
          </p:txBody>
        </p:sp>
        <p:sp>
          <p:nvSpPr>
            <p:cNvPr id="95" name="Rectangle 138">
              <a:extLst>
                <a:ext uri="{FF2B5EF4-FFF2-40B4-BE49-F238E27FC236}">
                  <a16:creationId xmlns:a16="http://schemas.microsoft.com/office/drawing/2014/main" id="{F8CBFFE5-7CD9-4BB8-9830-AAE9D407D2D3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3780000" y="2052000"/>
              <a:ext cx="504056" cy="216000"/>
            </a:xfrm>
            <a:prstGeom prst="rect">
              <a:avLst/>
            </a:prstGeom>
            <a:solidFill>
              <a:srgbClr val="FFFF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vert="horz" wrap="none"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/>
                <a:t>响应</a:t>
              </a:r>
            </a:p>
          </p:txBody>
        </p:sp>
        <p:sp>
          <p:nvSpPr>
            <p:cNvPr id="96" name="Text Box 15">
              <a:extLst>
                <a:ext uri="{FF2B5EF4-FFF2-40B4-BE49-F238E27FC236}">
                  <a16:creationId xmlns:a16="http://schemas.microsoft.com/office/drawing/2014/main" id="{0675C419-6E02-4236-B97C-CF981E35F2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12000" y="1584000"/>
              <a:ext cx="828000" cy="468000"/>
            </a:xfrm>
            <a:prstGeom prst="rect">
              <a:avLst/>
            </a:prstGeom>
            <a:solidFill>
              <a:srgbClr val="CC99FF">
                <a:alpha val="70000"/>
              </a:srgbClr>
            </a:solidFill>
            <a:ln w="15875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OUT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指令</a:t>
              </a:r>
              <a:endParaRPr lang="en-US" altLang="zh-CN" sz="1600" b="1" dirty="0">
                <a:latin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(</a:t>
              </a:r>
              <a:r>
                <a:rPr lang="zh-CN" altLang="en-US" sz="1600" b="1" dirty="0">
                  <a:solidFill>
                    <a:srgbClr val="FF3399"/>
                  </a:solidFill>
                  <a:latin typeface="宋体" panose="02010600030101010101" pitchFamily="2" charset="-122"/>
                </a:rPr>
                <a:t>命令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)</a:t>
              </a:r>
            </a:p>
          </p:txBody>
        </p:sp>
        <p:sp>
          <p:nvSpPr>
            <p:cNvPr id="97" name="Text Box 15">
              <a:extLst>
                <a:ext uri="{FF2B5EF4-FFF2-40B4-BE49-F238E27FC236}">
                  <a16:creationId xmlns:a16="http://schemas.microsoft.com/office/drawing/2014/main" id="{748C0662-A697-4BD4-BD60-7FA6844EDD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72000" y="1584000"/>
              <a:ext cx="1152000" cy="468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当前程序</a:t>
              </a:r>
              <a:endParaRPr lang="en-US" altLang="zh-CN" sz="1600" b="1" dirty="0">
                <a:latin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(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续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2)</a:t>
              </a:r>
            </a:p>
          </p:txBody>
        </p:sp>
        <p:sp>
          <p:nvSpPr>
            <p:cNvPr id="98" name="左大括号 97">
              <a:extLst>
                <a:ext uri="{FF2B5EF4-FFF2-40B4-BE49-F238E27FC236}">
                  <a16:creationId xmlns:a16="http://schemas.microsoft.com/office/drawing/2014/main" id="{62212A79-56D1-4378-A18B-36E12C7EF9F3}"/>
                </a:ext>
              </a:extLst>
            </p:cNvPr>
            <p:cNvSpPr/>
            <p:nvPr/>
          </p:nvSpPr>
          <p:spPr bwMode="auto">
            <a:xfrm rot="5400000">
              <a:off x="5742000" y="82800"/>
              <a:ext cx="72000" cy="2880000"/>
            </a:xfrm>
            <a:prstGeom prst="leftBrace">
              <a:avLst>
                <a:gd name="adj1" fmla="val 31849"/>
                <a:gd name="adj2" fmla="val 50000"/>
              </a:avLst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9" name="Text Box 17">
              <a:extLst>
                <a:ext uri="{FF2B5EF4-FFF2-40B4-BE49-F238E27FC236}">
                  <a16:creationId xmlns:a16="http://schemas.microsoft.com/office/drawing/2014/main" id="{C12C1F5E-659E-424B-8231-ABBB924851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76000" y="1260000"/>
              <a:ext cx="1368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>
                  <a:latin typeface="+mn-ea"/>
                  <a:ea typeface="+mn-ea"/>
                </a:rPr>
                <a:t>中断服务程序</a:t>
              </a:r>
              <a:endParaRPr lang="en-US" altLang="zh-CN" sz="1600" b="1" dirty="0">
                <a:latin typeface="+mn-ea"/>
                <a:ea typeface="+mn-ea"/>
              </a:endParaRPr>
            </a:p>
          </p:txBody>
        </p:sp>
        <p:sp>
          <p:nvSpPr>
            <p:cNvPr id="100" name="左大括号 99">
              <a:extLst>
                <a:ext uri="{FF2B5EF4-FFF2-40B4-BE49-F238E27FC236}">
                  <a16:creationId xmlns:a16="http://schemas.microsoft.com/office/drawing/2014/main" id="{AF6AE010-BDA1-4E7C-AFD4-74472938371C}"/>
                </a:ext>
              </a:extLst>
            </p:cNvPr>
            <p:cNvSpPr/>
            <p:nvPr/>
          </p:nvSpPr>
          <p:spPr bwMode="auto">
            <a:xfrm>
              <a:off x="1692000" y="1692000"/>
              <a:ext cx="72000" cy="540000"/>
            </a:xfrm>
            <a:prstGeom prst="leftBrace">
              <a:avLst>
                <a:gd name="adj1" fmla="val 31849"/>
                <a:gd name="adj2" fmla="val 50000"/>
              </a:avLst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101" name="直接箭头连接符 100">
              <a:extLst>
                <a:ext uri="{FF2B5EF4-FFF2-40B4-BE49-F238E27FC236}">
                  <a16:creationId xmlns:a16="http://schemas.microsoft.com/office/drawing/2014/main" id="{F70FDFF8-7587-495C-B722-D08B28529F4E}"/>
                </a:ext>
              </a:extLst>
            </p:cNvPr>
            <p:cNvCxnSpPr/>
            <p:nvPr/>
          </p:nvCxnSpPr>
          <p:spPr bwMode="auto">
            <a:xfrm flipV="1">
              <a:off x="3780000" y="2268000"/>
              <a:ext cx="0" cy="180000"/>
            </a:xfrm>
            <a:prstGeom prst="straightConnector1">
              <a:avLst/>
            </a:prstGeom>
            <a:noFill/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arrow" w="med" len="sm"/>
            </a:ln>
          </p:spPr>
        </p:cxnSp>
        <p:cxnSp>
          <p:nvCxnSpPr>
            <p:cNvPr id="102" name="直接箭头连接符 101">
              <a:extLst>
                <a:ext uri="{FF2B5EF4-FFF2-40B4-BE49-F238E27FC236}">
                  <a16:creationId xmlns:a16="http://schemas.microsoft.com/office/drawing/2014/main" id="{F37606A0-FC3D-46EB-9E93-D7E63DC46FDB}"/>
                </a:ext>
              </a:extLst>
            </p:cNvPr>
            <p:cNvCxnSpPr/>
            <p:nvPr/>
          </p:nvCxnSpPr>
          <p:spPr bwMode="auto">
            <a:xfrm>
              <a:off x="2376000" y="2052000"/>
              <a:ext cx="0" cy="396000"/>
            </a:xfrm>
            <a:prstGeom prst="straightConnector1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</p:spPr>
        </p:cxnSp>
        <p:cxnSp>
          <p:nvCxnSpPr>
            <p:cNvPr id="103" name="直接箭头连接符 102">
              <a:extLst>
                <a:ext uri="{FF2B5EF4-FFF2-40B4-BE49-F238E27FC236}">
                  <a16:creationId xmlns:a16="http://schemas.microsoft.com/office/drawing/2014/main" id="{C15797F4-6D2A-44FF-B575-40F8D3E5E55D}"/>
                </a:ext>
              </a:extLst>
            </p:cNvPr>
            <p:cNvCxnSpPr/>
            <p:nvPr/>
          </p:nvCxnSpPr>
          <p:spPr bwMode="auto">
            <a:xfrm>
              <a:off x="5688000" y="2052000"/>
              <a:ext cx="0" cy="396000"/>
            </a:xfrm>
            <a:prstGeom prst="straightConnector1">
              <a:avLst/>
            </a:prstGeom>
            <a:noFill/>
            <a:ln w="15875" cap="flat" cmpd="sng" algn="ctr">
              <a:solidFill>
                <a:srgbClr val="FF3399"/>
              </a:solidFill>
              <a:prstDash val="sysDash"/>
              <a:round/>
              <a:headEnd type="none" w="med" len="med"/>
              <a:tailEnd type="arrow" w="med" len="sm"/>
            </a:ln>
          </p:spPr>
        </p:cxnSp>
        <p:cxnSp>
          <p:nvCxnSpPr>
            <p:cNvPr id="104" name="直接箭头连接符 103">
              <a:extLst>
                <a:ext uri="{FF2B5EF4-FFF2-40B4-BE49-F238E27FC236}">
                  <a16:creationId xmlns:a16="http://schemas.microsoft.com/office/drawing/2014/main" id="{ADB96F3E-8D20-403C-BA49-115D801DB77A}"/>
                </a:ext>
              </a:extLst>
            </p:cNvPr>
            <p:cNvCxnSpPr/>
            <p:nvPr/>
          </p:nvCxnSpPr>
          <p:spPr bwMode="auto">
            <a:xfrm flipH="1" flipV="1">
              <a:off x="4824000" y="2052000"/>
              <a:ext cx="1" cy="396000"/>
            </a:xfrm>
            <a:prstGeom prst="straightConnector1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arrow" w="med" len="sm"/>
            </a:ln>
          </p:spPr>
        </p:cxnSp>
        <p:sp>
          <p:nvSpPr>
            <p:cNvPr id="105" name="左大括号 104">
              <a:extLst>
                <a:ext uri="{FF2B5EF4-FFF2-40B4-BE49-F238E27FC236}">
                  <a16:creationId xmlns:a16="http://schemas.microsoft.com/office/drawing/2014/main" id="{0295C2C5-1EDA-4617-BCEF-94092CA4B1E2}"/>
                </a:ext>
              </a:extLst>
            </p:cNvPr>
            <p:cNvSpPr/>
            <p:nvPr/>
          </p:nvSpPr>
          <p:spPr bwMode="auto">
            <a:xfrm rot="5400000">
              <a:off x="2754000" y="550800"/>
              <a:ext cx="72000" cy="1944000"/>
            </a:xfrm>
            <a:prstGeom prst="leftBrace">
              <a:avLst>
                <a:gd name="adj1" fmla="val 31849"/>
                <a:gd name="adj2" fmla="val 50000"/>
              </a:avLst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6" name="Text Box 17">
              <a:extLst>
                <a:ext uri="{FF2B5EF4-FFF2-40B4-BE49-F238E27FC236}">
                  <a16:creationId xmlns:a16="http://schemas.microsoft.com/office/drawing/2014/main" id="{00E6C596-5AFA-4020-B845-738D57F36D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000" y="1260000"/>
              <a:ext cx="936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>
                  <a:latin typeface="+mn-ea"/>
                  <a:ea typeface="+mn-ea"/>
                </a:rPr>
                <a:t>当前程序</a:t>
              </a:r>
              <a:endParaRPr lang="en-US" altLang="zh-CN" sz="1600" b="1" dirty="0">
                <a:latin typeface="+mn-ea"/>
                <a:ea typeface="+mn-ea"/>
              </a:endParaRPr>
            </a:p>
          </p:txBody>
        </p:sp>
        <p:sp>
          <p:nvSpPr>
            <p:cNvPr id="107" name="Text Box 17">
              <a:extLst>
                <a:ext uri="{FF2B5EF4-FFF2-40B4-BE49-F238E27FC236}">
                  <a16:creationId xmlns:a16="http://schemas.microsoft.com/office/drawing/2014/main" id="{27CBD7D7-D6D8-4886-B267-B7EB821ECA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88000" y="2124000"/>
              <a:ext cx="1332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l">
                <a:lnSpc>
                  <a:spcPct val="90000"/>
                </a:lnSpc>
              </a:pPr>
              <a:r>
                <a:rPr lang="zh-CN" altLang="en-US" sz="1600" b="1" dirty="0">
                  <a:latin typeface="+mn-ea"/>
                  <a:ea typeface="+mn-ea"/>
                </a:rPr>
                <a:t>再次启动设备</a:t>
              </a:r>
              <a:endParaRPr lang="en-US" altLang="zh-CN" sz="1600" b="1" dirty="0">
                <a:latin typeface="+mn-ea"/>
                <a:ea typeface="+mn-ea"/>
              </a:endParaRPr>
            </a:p>
          </p:txBody>
        </p:sp>
        <p:sp>
          <p:nvSpPr>
            <p:cNvPr id="108" name="左大括号 107">
              <a:extLst>
                <a:ext uri="{FF2B5EF4-FFF2-40B4-BE49-F238E27FC236}">
                  <a16:creationId xmlns:a16="http://schemas.microsoft.com/office/drawing/2014/main" id="{2649A2B5-0679-448F-8A51-092D387A6A0F}"/>
                </a:ext>
              </a:extLst>
            </p:cNvPr>
            <p:cNvSpPr/>
            <p:nvPr/>
          </p:nvSpPr>
          <p:spPr bwMode="auto">
            <a:xfrm rot="5400000">
              <a:off x="7830000" y="979200"/>
              <a:ext cx="72000" cy="1080000"/>
            </a:xfrm>
            <a:prstGeom prst="leftBrace">
              <a:avLst>
                <a:gd name="adj1" fmla="val 31849"/>
                <a:gd name="adj2" fmla="val 50000"/>
              </a:avLst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9" name="Text Box 17">
              <a:extLst>
                <a:ext uri="{FF2B5EF4-FFF2-40B4-BE49-F238E27FC236}">
                  <a16:creationId xmlns:a16="http://schemas.microsoft.com/office/drawing/2014/main" id="{0981524E-DE21-4956-A836-5FE1B3E308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16000" y="1260000"/>
              <a:ext cx="936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>
                  <a:latin typeface="+mn-ea"/>
                  <a:ea typeface="+mn-ea"/>
                </a:rPr>
                <a:t>当前程序</a:t>
              </a:r>
              <a:endParaRPr lang="en-US" altLang="zh-CN" sz="1600" b="1" dirty="0">
                <a:latin typeface="+mn-ea"/>
                <a:ea typeface="+mn-ea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3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 Box 5"/>
          <p:cNvSpPr txBox="1">
            <a:spLocks noChangeArrowheads="1"/>
          </p:cNvSpPr>
          <p:nvPr/>
        </p:nvSpPr>
        <p:spPr bwMode="auto">
          <a:xfrm>
            <a:off x="179389" y="1700808"/>
            <a:ext cx="3096467" cy="441999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传送控制原理：</a:t>
            </a: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marL="2867025" indent="-2867025" algn="l">
              <a:lnSpc>
                <a:spcPct val="125000"/>
              </a:lnSpc>
            </a:pP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marL="2867025" indent="-2867025" algn="l">
              <a:lnSpc>
                <a:spcPct val="125000"/>
              </a:lnSpc>
            </a:pP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marL="2867025" indent="-2867025" algn="l">
              <a:lnSpc>
                <a:spcPct val="125000"/>
              </a:lnSpc>
            </a:pP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marL="2867025" indent="-2867025" algn="l">
              <a:lnSpc>
                <a:spcPct val="125000"/>
              </a:lnSpc>
            </a:pP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marL="2867025" indent="-2867025" algn="l">
              <a:lnSpc>
                <a:spcPct val="125000"/>
              </a:lnSpc>
            </a:pP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marL="2867025" indent="-2867025" algn="l">
              <a:lnSpc>
                <a:spcPct val="125000"/>
              </a:lnSpc>
            </a:pP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marL="2867025" indent="-2867025" algn="l">
              <a:lnSpc>
                <a:spcPct val="125000"/>
              </a:lnSpc>
            </a:pP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marL="2867025" indent="-2867025" algn="l">
              <a:lnSpc>
                <a:spcPct val="125000"/>
              </a:lnSpc>
            </a:pP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marL="2867025" indent="-2867025" algn="l">
              <a:lnSpc>
                <a:spcPct val="125000"/>
              </a:lnSpc>
              <a:spcBef>
                <a:spcPts val="200"/>
              </a:spcBef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*</a:t>
            </a: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I/O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开销：</a:t>
            </a: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BFB63-B979-4FAE-8763-D7093A979077}" type="slidenum">
              <a:rPr lang="en-US" altLang="zh-CN" smtClean="0"/>
              <a:t>13</a:t>
            </a:fld>
            <a:endParaRPr lang="en-US" altLang="zh-CN"/>
          </a:p>
        </p:txBody>
      </p:sp>
      <p:sp>
        <p:nvSpPr>
          <p:cNvPr id="3" name="Text Box 92"/>
          <p:cNvSpPr txBox="1">
            <a:spLocks noChangeArrowheads="1"/>
          </p:cNvSpPr>
          <p:nvPr/>
        </p:nvSpPr>
        <p:spPr bwMode="auto">
          <a:xfrm>
            <a:off x="179388" y="332656"/>
            <a:ext cx="8857108" cy="14866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(3)</a:t>
            </a:r>
            <a:r>
              <a:rPr lang="zh-CN" altLang="en-US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直接存储器存取方式   </a:t>
            </a:r>
            <a:r>
              <a:rPr lang="en-US" altLang="zh-CN" sz="1800" b="1" dirty="0">
                <a:latin typeface="宋体" panose="02010600030101010101" pitchFamily="2" charset="-122"/>
              </a:rPr>
              <a:t>--DMA(</a:t>
            </a:r>
            <a:r>
              <a:rPr lang="en-US" altLang="zh-CN" sz="1800" dirty="0">
                <a:latin typeface="+mn-lt"/>
              </a:rPr>
              <a:t>Direct Memory Access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r>
              <a:rPr lang="zh-CN" altLang="en-US" sz="1800" b="1" dirty="0">
                <a:latin typeface="宋体" panose="02010600030101010101" pitchFamily="2" charset="-122"/>
              </a:rPr>
              <a:t>方式</a:t>
            </a:r>
          </a:p>
          <a:p>
            <a:pPr algn="l">
              <a:lnSpc>
                <a:spcPct val="125000"/>
              </a:lnSpc>
            </a:pP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I/O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功能：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主存</a:t>
            </a:r>
            <a:r>
              <a:rPr lang="en-US" altLang="zh-CN" sz="2200" b="1" dirty="0">
                <a:latin typeface="宋体" panose="02010600030101010101" pitchFamily="2" charset="-122"/>
              </a:rPr>
              <a:t>-</a:t>
            </a:r>
            <a:r>
              <a:rPr lang="zh-CN" altLang="en-US" sz="2200" b="1" dirty="0">
                <a:latin typeface="宋体" panose="02010600030101010101" pitchFamily="2" charset="-122"/>
              </a:rPr>
              <a:t>外设间、传送</a:t>
            </a:r>
            <a:r>
              <a:rPr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1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批</a:t>
            </a:r>
            <a:r>
              <a:rPr lang="zh-CN" altLang="en-US" sz="2200" b="1" dirty="0">
                <a:latin typeface="宋体" panose="02010600030101010101" pitchFamily="2" charset="-122"/>
              </a:rPr>
              <a:t>数据</a:t>
            </a:r>
            <a:r>
              <a:rPr lang="en-US" altLang="zh-CN" sz="2200" b="1" dirty="0">
                <a:latin typeface="宋体" panose="02010600030101010101" pitchFamily="2" charset="-122"/>
              </a:rPr>
              <a:t>/</a:t>
            </a:r>
            <a:r>
              <a:rPr lang="zh-CN" altLang="en-US" sz="2200" b="1" dirty="0">
                <a:latin typeface="宋体" panose="02010600030101010101" pitchFamily="2" charset="-122"/>
              </a:rPr>
              <a:t>次      </a:t>
            </a:r>
            <a:r>
              <a:rPr lang="zh-CN" altLang="en-US" sz="1800" b="1" dirty="0">
                <a:latin typeface="宋体" panose="02010600030101010101" pitchFamily="2" charset="-122"/>
              </a:rPr>
              <a:t>←适于</a:t>
            </a:r>
            <a:r>
              <a:rPr lang="zh-CN" altLang="en-US" sz="1800" b="1" u="sng" dirty="0">
                <a:latin typeface="宋体" panose="02010600030101010101" pitchFamily="2" charset="-122"/>
              </a:rPr>
              <a:t>块设备</a:t>
            </a:r>
            <a:endParaRPr lang="en-US" altLang="zh-CN" sz="1800" b="1" dirty="0">
              <a:latin typeface="宋体" panose="02010600030101010101" pitchFamily="2" charset="-122"/>
            </a:endParaRPr>
          </a:p>
          <a:p>
            <a:pPr algn="l">
              <a:lnSpc>
                <a:spcPct val="105000"/>
              </a:lnSpc>
            </a:pPr>
            <a:r>
              <a:rPr lang="zh-CN" altLang="en-US" sz="18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           </a:t>
            </a:r>
            <a:r>
              <a:rPr lang="zh-CN" altLang="en-US" sz="1800" dirty="0">
                <a:latin typeface="宋体" panose="02010600030101010101" pitchFamily="2" charset="-122"/>
              </a:rPr>
              <a:t>└──────</a:t>
            </a:r>
            <a:r>
              <a:rPr lang="zh-CN" altLang="en-US" sz="1800" b="1" dirty="0">
                <a:latin typeface="宋体" panose="02010600030101010101" pitchFamily="2" charset="-122"/>
              </a:rPr>
              <a:t>←</a:t>
            </a:r>
            <a:r>
              <a:rPr lang="zh-CN" altLang="en-US" sz="1800" dirty="0">
                <a:latin typeface="宋体" panose="02010600030101010101" pitchFamily="2" charset="-122"/>
              </a:rPr>
              <a:t>┴</a:t>
            </a:r>
            <a:r>
              <a:rPr lang="zh-CN" altLang="en-US" sz="1800" b="1" dirty="0">
                <a:latin typeface="宋体" panose="02010600030101010101" pitchFamily="2" charset="-122"/>
              </a:rPr>
              <a:t>←</a:t>
            </a:r>
            <a:r>
              <a:rPr lang="en-US" altLang="zh-CN" sz="1800" b="1" u="sng" dirty="0">
                <a:highlight>
                  <a:srgbClr val="FFCC99"/>
                </a:highlight>
                <a:latin typeface="宋体" panose="02010600030101010101" pitchFamily="2" charset="-122"/>
              </a:rPr>
              <a:t>DMA</a:t>
            </a:r>
            <a:r>
              <a:rPr lang="zh-CN" altLang="en-US" sz="1800" b="1" u="sng" dirty="0">
                <a:highlight>
                  <a:srgbClr val="FFCC99"/>
                </a:highlight>
                <a:latin typeface="宋体" panose="02010600030101010101" pitchFamily="2" charset="-122"/>
              </a:rPr>
              <a:t>接口</a:t>
            </a:r>
            <a:r>
              <a:rPr lang="zh-CN" altLang="en-US" sz="1800" b="1" dirty="0">
                <a:latin typeface="宋体" panose="02010600030101010101" pitchFamily="2" charset="-122"/>
              </a:rPr>
              <a:t>产生总线操作</a:t>
            </a:r>
            <a:endParaRPr lang="en-US" altLang="zh-CN" sz="1800" b="1" dirty="0">
              <a:latin typeface="宋体" panose="02010600030101010101" pitchFamily="2" charset="-122"/>
            </a:endParaRPr>
          </a:p>
          <a:p>
            <a:pPr algn="l">
              <a:lnSpc>
                <a:spcPct val="105000"/>
              </a:lnSpc>
            </a:pPr>
            <a:r>
              <a:rPr lang="en-US" altLang="zh-CN" sz="1800" b="1" dirty="0">
                <a:latin typeface="宋体" panose="02010600030101010101" pitchFamily="2" charset="-122"/>
              </a:rPr>
              <a:t>                                     </a:t>
            </a:r>
            <a:r>
              <a:rPr lang="zh-CN" altLang="en-US" sz="1800" dirty="0">
                <a:latin typeface="宋体" panose="02010600030101010101" pitchFamily="2" charset="-122"/>
              </a:rPr>
              <a:t>└←</a:t>
            </a:r>
            <a:r>
              <a:rPr lang="zh-CN" altLang="en-US" sz="1800" b="1" dirty="0">
                <a:latin typeface="宋体" panose="02010600030101010101" pitchFamily="2" charset="-122"/>
              </a:rPr>
              <a:t>具有</a:t>
            </a:r>
            <a:r>
              <a:rPr lang="zh-CN" altLang="en-US" sz="1800" b="1" dirty="0">
                <a:solidFill>
                  <a:srgbClr val="0070C0"/>
                </a:solidFill>
                <a:latin typeface="宋体" panose="02010600030101010101" pitchFamily="2" charset="-122"/>
              </a:rPr>
              <a:t>总线控制</a:t>
            </a:r>
            <a:r>
              <a:rPr lang="zh-CN" altLang="en-US" sz="1800" b="1" dirty="0">
                <a:latin typeface="宋体" panose="02010600030101010101" pitchFamily="2" charset="-122"/>
              </a:rPr>
              <a:t>功能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主设备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r>
              <a:rPr lang="zh-CN" altLang="en-US" sz="1800" b="1" dirty="0">
                <a:latin typeface="宋体" panose="02010600030101010101" pitchFamily="2" charset="-122"/>
              </a:rPr>
              <a:t>的</a:t>
            </a:r>
            <a:r>
              <a:rPr lang="en-US" altLang="zh-CN" sz="1800" b="1" dirty="0">
                <a:latin typeface="宋体" panose="02010600030101010101" pitchFamily="2" charset="-122"/>
              </a:rPr>
              <a:t>I/O</a:t>
            </a:r>
            <a:r>
              <a:rPr lang="zh-CN" altLang="en-US" sz="1800" b="1" dirty="0">
                <a:latin typeface="宋体" panose="02010600030101010101" pitchFamily="2" charset="-122"/>
              </a:rPr>
              <a:t>接口</a:t>
            </a:r>
            <a:endParaRPr lang="en-US" altLang="zh-CN" sz="1600" b="1" dirty="0">
              <a:latin typeface="宋体" panose="02010600030101010101" pitchFamily="2" charset="-122"/>
            </a:endParaRPr>
          </a:p>
        </p:txBody>
      </p:sp>
      <p:sp>
        <p:nvSpPr>
          <p:cNvPr id="4" name="Text Box 93"/>
          <p:cNvSpPr txBox="1">
            <a:spLocks noChangeArrowheads="1"/>
          </p:cNvSpPr>
          <p:nvPr/>
        </p:nvSpPr>
        <p:spPr bwMode="auto">
          <a:xfrm>
            <a:off x="179388" y="2090756"/>
            <a:ext cx="8785225" cy="130375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200" b="1" dirty="0">
                <a:latin typeface="宋体" panose="02010600030101010101" pitchFamily="2" charset="-122"/>
              </a:rPr>
              <a:t>        </a:t>
            </a:r>
            <a:r>
              <a:rPr lang="en-US" altLang="zh-CN" sz="2200" b="1" dirty="0">
                <a:highlight>
                  <a:srgbClr val="FFFF00"/>
                </a:highlight>
                <a:latin typeface="宋体" panose="02010600030101010101" pitchFamily="2" charset="-122"/>
              </a:rPr>
              <a:t>CPU</a:t>
            </a:r>
            <a:r>
              <a:rPr lang="zh-CN" altLang="en-US" sz="2200" b="1" u="sng" dirty="0">
                <a:solidFill>
                  <a:srgbClr val="FF3399"/>
                </a:solidFill>
                <a:latin typeface="宋体" panose="02010600030101010101" pitchFamily="2" charset="-122"/>
              </a:rPr>
              <a:t>发送</a:t>
            </a:r>
            <a:r>
              <a:rPr lang="en-US" altLang="zh-CN" sz="2200" b="1" dirty="0">
                <a:latin typeface="宋体" panose="02010600030101010101" pitchFamily="2" charset="-122"/>
              </a:rPr>
              <a:t>I/O</a:t>
            </a:r>
            <a:r>
              <a:rPr lang="zh-CN" altLang="en-US" sz="2200" b="1" dirty="0">
                <a:latin typeface="宋体" panose="02010600030101010101" pitchFamily="2" charset="-122"/>
              </a:rPr>
              <a:t>需求、</a:t>
            </a:r>
            <a:r>
              <a:rPr lang="zh-CN" altLang="en-US" sz="2200" b="1" u="sng" dirty="0">
                <a:solidFill>
                  <a:srgbClr val="FF3399"/>
                </a:solidFill>
                <a:latin typeface="宋体" panose="02010600030101010101" pitchFamily="2" charset="-122"/>
              </a:rPr>
              <a:t>启动</a:t>
            </a:r>
            <a:r>
              <a:rPr lang="zh-CN" altLang="en-US" sz="2200" b="1" dirty="0">
                <a:latin typeface="宋体" panose="02010600030101010101" pitchFamily="2" charset="-122"/>
              </a:rPr>
              <a:t>设备后，</a:t>
            </a:r>
            <a:r>
              <a:rPr lang="zh-CN" altLang="en-US" sz="2200" b="1" dirty="0">
                <a:solidFill>
                  <a:srgbClr val="0070C0"/>
                </a:solidFill>
                <a:latin typeface="宋体" panose="02010600030101010101" pitchFamily="2" charset="-122"/>
              </a:rPr>
              <a:t>继续</a:t>
            </a:r>
            <a:r>
              <a:rPr lang="zh-CN" altLang="en-US" sz="2200" b="1" u="sng" dirty="0">
                <a:solidFill>
                  <a:srgbClr val="FF3399"/>
                </a:solidFill>
                <a:latin typeface="宋体" panose="02010600030101010101" pitchFamily="2" charset="-122"/>
              </a:rPr>
              <a:t>执行</a:t>
            </a:r>
            <a:r>
              <a:rPr lang="zh-CN" altLang="en-US" sz="2200" b="1" dirty="0">
                <a:latin typeface="宋体" panose="02010600030101010101" pitchFamily="2" charset="-122"/>
              </a:rPr>
              <a:t>现行程序；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>
                <a:latin typeface="宋体" panose="02010600030101010101" pitchFamily="2" charset="-122"/>
              </a:rPr>
              <a:t>    </a:t>
            </a:r>
            <a:r>
              <a:rPr lang="en-US" altLang="zh-CN" sz="2200" b="1" dirty="0">
                <a:highlight>
                  <a:srgbClr val="FFCC99"/>
                </a:highlight>
                <a:latin typeface="宋体" panose="02010600030101010101" pitchFamily="2" charset="-122"/>
              </a:rPr>
              <a:t>DMA</a:t>
            </a:r>
            <a:r>
              <a:rPr lang="zh-CN" altLang="en-US" sz="2200" b="1" dirty="0">
                <a:highlight>
                  <a:srgbClr val="FFCC99"/>
                </a:highlight>
                <a:latin typeface="宋体" panose="02010600030101010101" pitchFamily="2" charset="-122"/>
              </a:rPr>
              <a:t>接口</a:t>
            </a:r>
            <a:r>
              <a:rPr lang="zh-CN" altLang="en-US" sz="2200" b="1" u="sng" dirty="0">
                <a:solidFill>
                  <a:schemeClr val="accent2"/>
                </a:solidFill>
                <a:latin typeface="宋体" panose="02010600030101010101" pitchFamily="2" charset="-122"/>
              </a:rPr>
              <a:t>实现</a:t>
            </a:r>
            <a:r>
              <a:rPr lang="zh-CN" altLang="en-US" sz="2200" b="1" dirty="0">
                <a:latin typeface="宋体" panose="02010600030101010101" pitchFamily="2" charset="-122"/>
              </a:rPr>
              <a:t>数据传送控制</a:t>
            </a:r>
            <a:r>
              <a:rPr lang="en-US" altLang="zh-CN" sz="1800" b="1" dirty="0">
                <a:latin typeface="宋体" panose="02010600030101010101" pitchFamily="2" charset="-122"/>
              </a:rPr>
              <a:t>(1</a:t>
            </a:r>
            <a:r>
              <a:rPr lang="zh-CN" altLang="en-US" sz="1800" b="1" dirty="0">
                <a:latin typeface="宋体" panose="02010600030101010101" pitchFamily="2" charset="-122"/>
              </a:rPr>
              <a:t>批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r>
              <a:rPr lang="zh-CN" altLang="en-US" sz="2200" b="1" dirty="0">
                <a:latin typeface="宋体" panose="02010600030101010101" pitchFamily="2" charset="-122"/>
              </a:rPr>
              <a:t>，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结束</a:t>
            </a:r>
            <a:r>
              <a:rPr lang="zh-CN" altLang="en-US" sz="2200" b="1" dirty="0">
                <a:latin typeface="宋体" panose="02010600030101010101" pitchFamily="2" charset="-122"/>
              </a:rPr>
              <a:t>时向</a:t>
            </a:r>
            <a:r>
              <a:rPr lang="en-US" altLang="zh-CN" sz="2200" b="1" dirty="0">
                <a:latin typeface="宋体" panose="02010600030101010101" pitchFamily="2" charset="-122"/>
              </a:rPr>
              <a:t>CPU</a:t>
            </a:r>
            <a:r>
              <a:rPr lang="zh-CN" altLang="en-US" sz="2200" b="1" u="sng" dirty="0">
                <a:solidFill>
                  <a:srgbClr val="C00000"/>
                </a:solidFill>
                <a:latin typeface="宋体" panose="02010600030101010101" pitchFamily="2" charset="-122"/>
              </a:rPr>
              <a:t>提出</a:t>
            </a:r>
            <a:r>
              <a:rPr lang="zh-CN" altLang="en-US" sz="2200" b="1" dirty="0">
                <a:latin typeface="宋体" panose="02010600030101010101" pitchFamily="2" charset="-122"/>
              </a:rPr>
              <a:t>请求；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>
                <a:latin typeface="宋体" panose="02010600030101010101" pitchFamily="2" charset="-122"/>
              </a:rPr>
              <a:t>   </a:t>
            </a:r>
            <a:r>
              <a:rPr lang="zh-CN" altLang="en-US" sz="2200" b="1" dirty="0">
                <a:latin typeface="宋体" panose="02010600030101010101" pitchFamily="2" charset="-122"/>
              </a:rPr>
              <a:t>     </a:t>
            </a:r>
            <a:r>
              <a:rPr lang="en-US" altLang="zh-CN" sz="2200" b="1" dirty="0">
                <a:highlight>
                  <a:srgbClr val="FFFF00"/>
                </a:highlight>
                <a:latin typeface="宋体" panose="02010600030101010101" pitchFamily="2" charset="-122"/>
              </a:rPr>
              <a:t>CPU</a:t>
            </a:r>
            <a:r>
              <a:rPr lang="zh-CN" altLang="en-US" sz="2200" b="1" u="sng" dirty="0">
                <a:solidFill>
                  <a:srgbClr val="FF3399"/>
                </a:solidFill>
                <a:latin typeface="宋体" panose="02010600030101010101" pitchFamily="2" charset="-122"/>
              </a:rPr>
              <a:t>响应</a:t>
            </a:r>
            <a:r>
              <a:rPr lang="zh-CN" altLang="en-US" sz="2200" b="1" dirty="0">
                <a:latin typeface="宋体" panose="02010600030101010101" pitchFamily="2" charset="-122"/>
              </a:rPr>
              <a:t>请求，</a:t>
            </a:r>
            <a:r>
              <a:rPr lang="zh-CN" altLang="en-US" sz="2200" b="1" u="sng" dirty="0">
                <a:solidFill>
                  <a:srgbClr val="FF3399"/>
                </a:solidFill>
                <a:latin typeface="宋体" panose="02010600030101010101" pitchFamily="2" charset="-122"/>
              </a:rPr>
              <a:t>处理</a:t>
            </a:r>
            <a:r>
              <a:rPr lang="zh-CN" altLang="en-US" sz="2200" b="1" dirty="0">
                <a:latin typeface="宋体" panose="02010600030101010101" pitchFamily="2" charset="-122"/>
              </a:rPr>
              <a:t>结束事宜、</a:t>
            </a:r>
            <a:r>
              <a:rPr lang="zh-CN" altLang="en-US" sz="2200" b="1" u="sng" dirty="0">
                <a:solidFill>
                  <a:srgbClr val="FF3399"/>
                </a:solidFill>
                <a:latin typeface="宋体" panose="02010600030101010101" pitchFamily="2" charset="-122"/>
              </a:rPr>
              <a:t>返回</a:t>
            </a:r>
            <a:r>
              <a:rPr lang="zh-CN" altLang="en-US" sz="2200" b="1" dirty="0">
                <a:latin typeface="宋体" panose="02010600030101010101" pitchFamily="2" charset="-122"/>
              </a:rPr>
              <a:t>现行程序</a:t>
            </a:r>
            <a:endParaRPr lang="en-US" altLang="zh-CN" sz="2200" b="1" dirty="0">
              <a:latin typeface="宋体" panose="02010600030101010101" pitchFamily="2" charset="-122"/>
            </a:endParaRPr>
          </a:p>
        </p:txBody>
      </p:sp>
      <p:sp>
        <p:nvSpPr>
          <p:cNvPr id="70" name="Text Box 5"/>
          <p:cNvSpPr txBox="1">
            <a:spLocks noChangeArrowheads="1"/>
          </p:cNvSpPr>
          <p:nvPr/>
        </p:nvSpPr>
        <p:spPr bwMode="auto">
          <a:xfrm>
            <a:off x="1691680" y="5482743"/>
            <a:ext cx="6840760" cy="78085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lIns="90000" tIns="46800" rIns="90000" bIns="46800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200" b="1" spc="-100" dirty="0">
                <a:solidFill>
                  <a:srgbClr val="0070C0"/>
                </a:solidFill>
                <a:latin typeface="宋体" panose="02010600030101010101" pitchFamily="2" charset="-122"/>
              </a:rPr>
              <a:t>n</a:t>
            </a:r>
            <a:r>
              <a:rPr lang="zh-CN" altLang="en-US" sz="2200" b="1" spc="-100" dirty="0">
                <a:solidFill>
                  <a:srgbClr val="0070C0"/>
                </a:solidFill>
                <a:latin typeface="宋体" panose="02010600030101010101" pitchFamily="2" charset="-122"/>
              </a:rPr>
              <a:t>个</a:t>
            </a:r>
            <a:r>
              <a:rPr lang="zh-CN" altLang="en-US" sz="2200" b="1" spc="-100" dirty="0">
                <a:latin typeface="宋体" panose="02010600030101010101" pitchFamily="2" charset="-122"/>
              </a:rPr>
              <a:t>指令周期</a:t>
            </a:r>
            <a:r>
              <a:rPr lang="en-US" altLang="zh-CN" sz="2200" b="1" spc="-100" dirty="0">
                <a:solidFill>
                  <a:srgbClr val="0070C0"/>
                </a:solidFill>
                <a:latin typeface="宋体" panose="02010600030101010101" pitchFamily="2" charset="-122"/>
              </a:rPr>
              <a:t>/</a:t>
            </a:r>
            <a:r>
              <a:rPr lang="zh-CN" altLang="en-US" sz="2200" b="1" spc="-100" dirty="0">
                <a:solidFill>
                  <a:srgbClr val="0070C0"/>
                </a:solidFill>
                <a:latin typeface="宋体" panose="02010600030101010101" pitchFamily="2" charset="-122"/>
              </a:rPr>
              <a:t>批数据</a:t>
            </a:r>
            <a:r>
              <a:rPr lang="zh-CN" altLang="en-US" sz="2200" b="1" spc="-100" dirty="0">
                <a:latin typeface="宋体" panose="02010600030101010101" pitchFamily="2" charset="-122"/>
              </a:rPr>
              <a:t>，</a:t>
            </a:r>
            <a:r>
              <a:rPr lang="en-US" altLang="zh-CN" sz="2200" b="1" spc="-100" dirty="0">
                <a:latin typeface="宋体" panose="02010600030101010101" pitchFamily="2" charset="-122"/>
              </a:rPr>
              <a:t>CPU</a:t>
            </a:r>
            <a:r>
              <a:rPr lang="zh-CN" altLang="en-US" sz="2200" b="1" spc="-100" dirty="0">
                <a:latin typeface="宋体" panose="02010600030101010101" pitchFamily="2" charset="-122"/>
              </a:rPr>
              <a:t>与外设</a:t>
            </a:r>
            <a:r>
              <a:rPr lang="zh-CN" altLang="en-US" sz="2200" b="1" u="sng" spc="-100" dirty="0">
                <a:solidFill>
                  <a:srgbClr val="CC3300"/>
                </a:solidFill>
                <a:latin typeface="宋体" panose="02010600030101010101" pitchFamily="2" charset="-122"/>
              </a:rPr>
              <a:t>可并行</a:t>
            </a:r>
            <a:r>
              <a:rPr lang="zh-CN" altLang="en-US" sz="2200" b="1" spc="-100" dirty="0">
                <a:latin typeface="宋体" panose="02010600030101010101" pitchFamily="2" charset="-122"/>
              </a:rPr>
              <a:t>工作</a:t>
            </a:r>
            <a:endParaRPr lang="en-US" altLang="zh-CN" sz="2200" b="1" spc="-100" dirty="0">
              <a:latin typeface="宋体" panose="02010600030101010101" pitchFamily="2" charset="-122"/>
            </a:endParaRPr>
          </a:p>
          <a:p>
            <a:pPr algn="l">
              <a:lnSpc>
                <a:spcPct val="95000"/>
              </a:lnSpc>
            </a:pPr>
            <a:r>
              <a:rPr lang="zh-CN" altLang="en-US" sz="1800" dirty="0">
                <a:latin typeface="宋体" panose="02010600030101010101" pitchFamily="2" charset="-122"/>
              </a:rPr>
              <a:t> └─</a:t>
            </a:r>
            <a:r>
              <a:rPr lang="zh-CN" altLang="en-US" sz="1800" b="1" dirty="0">
                <a:latin typeface="宋体" panose="02010600030101010101" pitchFamily="2" charset="-122"/>
              </a:rPr>
              <a:t>＝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传送准备＋中断响应＋结束处理程序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r>
              <a:rPr lang="zh-CN" altLang="en-US" sz="1800" b="1" dirty="0">
                <a:latin typeface="宋体" panose="02010600030101010101" pitchFamily="2" charset="-122"/>
              </a:rPr>
              <a:t>的时延</a:t>
            </a:r>
            <a:endParaRPr lang="en-US" altLang="zh-CN" sz="1800" b="1" dirty="0">
              <a:latin typeface="宋体" panose="02010600030101010101" pitchFamily="2" charset="-122"/>
            </a:endParaRPr>
          </a:p>
        </p:txBody>
      </p:sp>
      <p:sp>
        <p:nvSpPr>
          <p:cNvPr id="71" name="AutoShape 69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5148758" y="6525144"/>
            <a:ext cx="287338" cy="287338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2" name="AutoShape 121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4068638" y="6524450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99D81998-83FC-495B-87B3-53EFB7F287A8}"/>
              </a:ext>
            </a:extLst>
          </p:cNvPr>
          <p:cNvGrpSpPr/>
          <p:nvPr/>
        </p:nvGrpSpPr>
        <p:grpSpPr>
          <a:xfrm>
            <a:off x="1044000" y="3466519"/>
            <a:ext cx="7524168" cy="1945793"/>
            <a:chOff x="1044000" y="3538527"/>
            <a:chExt cx="7524168" cy="1945793"/>
          </a:xfrm>
        </p:grpSpPr>
        <p:sp>
          <p:nvSpPr>
            <p:cNvPr id="52" name="Text Box 15">
              <a:extLst>
                <a:ext uri="{FF2B5EF4-FFF2-40B4-BE49-F238E27FC236}">
                  <a16:creationId xmlns:a16="http://schemas.microsoft.com/office/drawing/2014/main" id="{6859C0D4-B081-4619-9ABC-FB9D70B23B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48000" y="3864320"/>
              <a:ext cx="1872000" cy="252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OUT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指令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(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传送准备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)</a:t>
              </a:r>
            </a:p>
          </p:txBody>
        </p:sp>
        <p:sp>
          <p:nvSpPr>
            <p:cNvPr id="53" name="Text Box 15">
              <a:extLst>
                <a:ext uri="{FF2B5EF4-FFF2-40B4-BE49-F238E27FC236}">
                  <a16:creationId xmlns:a16="http://schemas.microsoft.com/office/drawing/2014/main" id="{BB7C1998-E999-41D8-9B7F-079A437239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19848" y="3864320"/>
              <a:ext cx="1692000" cy="252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当前程序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(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续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1)</a:t>
              </a:r>
            </a:p>
          </p:txBody>
        </p:sp>
        <p:sp>
          <p:nvSpPr>
            <p:cNvPr id="54" name="Text Box 15">
              <a:extLst>
                <a:ext uri="{FF2B5EF4-FFF2-40B4-BE49-F238E27FC236}">
                  <a16:creationId xmlns:a16="http://schemas.microsoft.com/office/drawing/2014/main" id="{5139512C-0B20-4DC8-8D6F-E854B34221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16000" y="3864320"/>
              <a:ext cx="1440000" cy="252000"/>
            </a:xfrm>
            <a:prstGeom prst="rect">
              <a:avLst/>
            </a:prstGeom>
            <a:solidFill>
              <a:srgbClr val="CC99FF">
                <a:alpha val="7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结束处理程序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60" name="Text Box 17">
              <a:extLst>
                <a:ext uri="{FF2B5EF4-FFF2-40B4-BE49-F238E27FC236}">
                  <a16:creationId xmlns:a16="http://schemas.microsoft.com/office/drawing/2014/main" id="{5ED99635-950A-4389-82EC-8F2BC67C9A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44000" y="3864320"/>
              <a:ext cx="432000" cy="252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l">
                <a:lnSpc>
                  <a:spcPct val="90000"/>
                </a:lnSpc>
              </a:pPr>
              <a:r>
                <a:rPr lang="en-US" altLang="zh-CN" sz="1600" b="1" dirty="0">
                  <a:latin typeface="+mn-ea"/>
                  <a:ea typeface="+mn-ea"/>
                </a:rPr>
                <a:t>CPU</a:t>
              </a:r>
            </a:p>
          </p:txBody>
        </p:sp>
        <p:sp>
          <p:nvSpPr>
            <p:cNvPr id="61" name="Rectangle 138">
              <a:extLst>
                <a:ext uri="{FF2B5EF4-FFF2-40B4-BE49-F238E27FC236}">
                  <a16:creationId xmlns:a16="http://schemas.microsoft.com/office/drawing/2014/main" id="{5ED66FC0-AB75-4A55-9406-1887E553A7ED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5112000" y="4116320"/>
              <a:ext cx="504056" cy="216000"/>
            </a:xfrm>
            <a:prstGeom prst="rect">
              <a:avLst/>
            </a:prstGeom>
            <a:solidFill>
              <a:srgbClr val="FFFF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vert="horz" wrap="none" lIns="18000" tIns="10800" rIns="18000" bIns="10800" anchor="ctr"/>
            <a:lstStyle/>
            <a:p>
              <a:r>
                <a:rPr lang="zh-CN" altLang="en-US" sz="1600" b="1" dirty="0"/>
                <a:t>响应</a:t>
              </a:r>
            </a:p>
          </p:txBody>
        </p:sp>
        <p:sp>
          <p:nvSpPr>
            <p:cNvPr id="62" name="Text Box 15">
              <a:extLst>
                <a:ext uri="{FF2B5EF4-FFF2-40B4-BE49-F238E27FC236}">
                  <a16:creationId xmlns:a16="http://schemas.microsoft.com/office/drawing/2014/main" id="{FC757001-FF1B-46B3-B0DB-B348ABABF8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56000" y="3864320"/>
              <a:ext cx="1512168" cy="252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当前程序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(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续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2)</a:t>
              </a:r>
            </a:p>
          </p:txBody>
        </p:sp>
        <p:sp>
          <p:nvSpPr>
            <p:cNvPr id="64" name="Text Box 107">
              <a:extLst>
                <a:ext uri="{FF2B5EF4-FFF2-40B4-BE49-F238E27FC236}">
                  <a16:creationId xmlns:a16="http://schemas.microsoft.com/office/drawing/2014/main" id="{2EA24E35-6158-4A9F-A90A-BE01178CC9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52000" y="4800320"/>
              <a:ext cx="1367848" cy="252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响应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总线操作</a:t>
              </a:r>
            </a:p>
          </p:txBody>
        </p:sp>
        <p:cxnSp>
          <p:nvCxnSpPr>
            <p:cNvPr id="65" name="直接箭头连接符 64">
              <a:extLst>
                <a:ext uri="{FF2B5EF4-FFF2-40B4-BE49-F238E27FC236}">
                  <a16:creationId xmlns:a16="http://schemas.microsoft.com/office/drawing/2014/main" id="{AA61483A-94B2-4153-948D-30C0FC651577}"/>
                </a:ext>
              </a:extLst>
            </p:cNvPr>
            <p:cNvCxnSpPr/>
            <p:nvPr/>
          </p:nvCxnSpPr>
          <p:spPr bwMode="auto">
            <a:xfrm flipV="1">
              <a:off x="5112000" y="4332368"/>
              <a:ext cx="2" cy="468000"/>
            </a:xfrm>
            <a:prstGeom prst="straightConnector1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68" name="直接箭头连接符 67">
              <a:extLst>
                <a:ext uri="{FF2B5EF4-FFF2-40B4-BE49-F238E27FC236}">
                  <a16:creationId xmlns:a16="http://schemas.microsoft.com/office/drawing/2014/main" id="{2AEFBA8F-614D-4AFB-BAC0-08C05B35EA6C}"/>
                </a:ext>
              </a:extLst>
            </p:cNvPr>
            <p:cNvCxnSpPr/>
            <p:nvPr/>
          </p:nvCxnSpPr>
          <p:spPr bwMode="auto">
            <a:xfrm>
              <a:off x="2160000" y="4116320"/>
              <a:ext cx="0" cy="684000"/>
            </a:xfrm>
            <a:prstGeom prst="straightConnector1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</p:spPr>
        </p:cxnSp>
        <p:sp>
          <p:nvSpPr>
            <p:cNvPr id="69" name="Text Box 17">
              <a:extLst>
                <a:ext uri="{FF2B5EF4-FFF2-40B4-BE49-F238E27FC236}">
                  <a16:creationId xmlns:a16="http://schemas.microsoft.com/office/drawing/2014/main" id="{0478ADD1-113C-4492-BC35-2C5FADFB9E6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44000" y="4800320"/>
              <a:ext cx="828000" cy="252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l">
                <a:lnSpc>
                  <a:spcPct val="90000"/>
                </a:lnSpc>
              </a:pPr>
              <a:r>
                <a:rPr lang="en-US" altLang="zh-CN" sz="1600" b="1" dirty="0">
                  <a:latin typeface="+mn-ea"/>
                  <a:ea typeface="+mn-ea"/>
                </a:rPr>
                <a:t>DMA</a:t>
              </a:r>
              <a:r>
                <a:rPr lang="zh-CN" altLang="en-US" sz="1600" b="1" dirty="0">
                  <a:latin typeface="+mn-ea"/>
                  <a:ea typeface="+mn-ea"/>
                </a:rPr>
                <a:t>接口</a:t>
              </a:r>
              <a:endParaRPr lang="en-US" altLang="zh-CN" sz="1600" b="1" dirty="0">
                <a:latin typeface="+mn-ea"/>
                <a:ea typeface="+mn-ea"/>
              </a:endParaRPr>
            </a:p>
          </p:txBody>
        </p:sp>
        <p:sp>
          <p:nvSpPr>
            <p:cNvPr id="73" name="Text Box 107">
              <a:extLst>
                <a:ext uri="{FF2B5EF4-FFF2-40B4-BE49-F238E27FC236}">
                  <a16:creationId xmlns:a16="http://schemas.microsoft.com/office/drawing/2014/main" id="{3EB9684E-218B-4CCE-8469-D332196D1D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51999" y="5232320"/>
              <a:ext cx="720000" cy="2520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准备</a:t>
              </a:r>
            </a:p>
          </p:txBody>
        </p:sp>
        <p:sp>
          <p:nvSpPr>
            <p:cNvPr id="74" name="Text Box 107">
              <a:extLst>
                <a:ext uri="{FF2B5EF4-FFF2-40B4-BE49-F238E27FC236}">
                  <a16:creationId xmlns:a16="http://schemas.microsoft.com/office/drawing/2014/main" id="{BCA77C08-9821-4309-88C4-A63736D662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19848" y="4800320"/>
              <a:ext cx="1764000" cy="252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控制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传送</a:t>
              </a:r>
            </a:p>
          </p:txBody>
        </p:sp>
        <p:sp>
          <p:nvSpPr>
            <p:cNvPr id="75" name="Text Box 107">
              <a:extLst>
                <a:ext uri="{FF2B5EF4-FFF2-40B4-BE49-F238E27FC236}">
                  <a16:creationId xmlns:a16="http://schemas.microsoft.com/office/drawing/2014/main" id="{3D3366E7-852D-4DF2-B7B6-634D8CD419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03999" y="5232320"/>
              <a:ext cx="648000" cy="2520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准备</a:t>
              </a:r>
            </a:p>
          </p:txBody>
        </p:sp>
        <p:sp>
          <p:nvSpPr>
            <p:cNvPr id="76" name="Text Box 17">
              <a:extLst>
                <a:ext uri="{FF2B5EF4-FFF2-40B4-BE49-F238E27FC236}">
                  <a16:creationId xmlns:a16="http://schemas.microsoft.com/office/drawing/2014/main" id="{38055A2C-A01C-40EA-9E1B-A180993567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08000" y="5232320"/>
              <a:ext cx="288000" cy="252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latin typeface="+mn-ea"/>
                  <a:ea typeface="+mn-ea"/>
                </a:rPr>
                <a:t>…</a:t>
              </a:r>
            </a:p>
          </p:txBody>
        </p:sp>
        <p:cxnSp>
          <p:nvCxnSpPr>
            <p:cNvPr id="77" name="直接箭头连接符 76">
              <a:extLst>
                <a:ext uri="{FF2B5EF4-FFF2-40B4-BE49-F238E27FC236}">
                  <a16:creationId xmlns:a16="http://schemas.microsoft.com/office/drawing/2014/main" id="{C7A30CCF-18BF-4FEF-9FDF-7987F7A307E5}"/>
                </a:ext>
              </a:extLst>
            </p:cNvPr>
            <p:cNvCxnSpPr/>
            <p:nvPr/>
          </p:nvCxnSpPr>
          <p:spPr bwMode="auto">
            <a:xfrm>
              <a:off x="2987800" y="5052320"/>
              <a:ext cx="0" cy="18000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</p:spPr>
        </p:cxnSp>
        <p:cxnSp>
          <p:nvCxnSpPr>
            <p:cNvPr id="78" name="直接箭头连接符 77">
              <a:extLst>
                <a:ext uri="{FF2B5EF4-FFF2-40B4-BE49-F238E27FC236}">
                  <a16:creationId xmlns:a16="http://schemas.microsoft.com/office/drawing/2014/main" id="{FAF9F065-0A0A-47B5-A7A6-C6A15313DA7D}"/>
                </a:ext>
              </a:extLst>
            </p:cNvPr>
            <p:cNvCxnSpPr/>
            <p:nvPr/>
          </p:nvCxnSpPr>
          <p:spPr bwMode="auto">
            <a:xfrm flipH="1" flipV="1">
              <a:off x="3600000" y="5052320"/>
              <a:ext cx="2" cy="180000"/>
            </a:xfrm>
            <a:prstGeom prst="straightConnector1">
              <a:avLst/>
            </a:prstGeom>
            <a:noFill/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arrow" w="med" len="sm"/>
            </a:ln>
          </p:spPr>
        </p:cxnSp>
        <p:sp>
          <p:nvSpPr>
            <p:cNvPr id="79" name="Text Box 17">
              <a:extLst>
                <a:ext uri="{FF2B5EF4-FFF2-40B4-BE49-F238E27FC236}">
                  <a16:creationId xmlns:a16="http://schemas.microsoft.com/office/drawing/2014/main" id="{834143DF-A039-4E29-BE83-5A8DE98EAB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44000" y="4404376"/>
              <a:ext cx="540000" cy="252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l">
                <a:lnSpc>
                  <a:spcPct val="90000"/>
                </a:lnSpc>
              </a:pPr>
              <a:r>
                <a:rPr lang="zh-CN" altLang="en-US" sz="1600" b="1" dirty="0">
                  <a:latin typeface="+mn-ea"/>
                  <a:ea typeface="+mn-ea"/>
                </a:rPr>
                <a:t>主存</a:t>
              </a:r>
              <a:endParaRPr lang="en-US" altLang="zh-CN" sz="1600" b="1" dirty="0">
                <a:latin typeface="+mn-ea"/>
                <a:ea typeface="+mn-ea"/>
              </a:endParaRPr>
            </a:p>
          </p:txBody>
        </p:sp>
        <p:sp>
          <p:nvSpPr>
            <p:cNvPr id="80" name="Text Box 107">
              <a:extLst>
                <a:ext uri="{FF2B5EF4-FFF2-40B4-BE49-F238E27FC236}">
                  <a16:creationId xmlns:a16="http://schemas.microsoft.com/office/drawing/2014/main" id="{2B021BF2-AF14-40FD-847D-25453DC11D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84000" y="4404376"/>
              <a:ext cx="612000" cy="25200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数据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1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81" name="Text Box 17">
              <a:extLst>
                <a:ext uri="{FF2B5EF4-FFF2-40B4-BE49-F238E27FC236}">
                  <a16:creationId xmlns:a16="http://schemas.microsoft.com/office/drawing/2014/main" id="{A5E96F84-AC19-4541-8A07-E421260425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44000" y="5232320"/>
              <a:ext cx="576064" cy="252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l">
                <a:lnSpc>
                  <a:spcPct val="90000"/>
                </a:lnSpc>
              </a:pPr>
              <a:r>
                <a:rPr lang="zh-CN" altLang="en-US" sz="1600" b="1" dirty="0">
                  <a:latin typeface="+mn-ea"/>
                  <a:ea typeface="+mn-ea"/>
                </a:rPr>
                <a:t>外设</a:t>
              </a:r>
              <a:endParaRPr lang="en-US" altLang="zh-CN" sz="1600" b="1" dirty="0">
                <a:latin typeface="+mn-ea"/>
                <a:ea typeface="+mn-ea"/>
              </a:endParaRPr>
            </a:p>
          </p:txBody>
        </p:sp>
        <p:cxnSp>
          <p:nvCxnSpPr>
            <p:cNvPr id="82" name="直接箭头连接符 81">
              <a:extLst>
                <a:ext uri="{FF2B5EF4-FFF2-40B4-BE49-F238E27FC236}">
                  <a16:creationId xmlns:a16="http://schemas.microsoft.com/office/drawing/2014/main" id="{4C30729D-56A7-4E58-ADA7-83E8F5562E02}"/>
                </a:ext>
              </a:extLst>
            </p:cNvPr>
            <p:cNvCxnSpPr/>
            <p:nvPr/>
          </p:nvCxnSpPr>
          <p:spPr bwMode="auto">
            <a:xfrm flipH="1" flipV="1">
              <a:off x="3708000" y="4656320"/>
              <a:ext cx="2" cy="144016"/>
            </a:xfrm>
            <a:prstGeom prst="straightConnector1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arrow" w="med" len="sm"/>
            </a:ln>
          </p:spPr>
        </p:cxnSp>
        <p:cxnSp>
          <p:nvCxnSpPr>
            <p:cNvPr id="83" name="直接箭头连接符 82">
              <a:extLst>
                <a:ext uri="{FF2B5EF4-FFF2-40B4-BE49-F238E27FC236}">
                  <a16:creationId xmlns:a16="http://schemas.microsoft.com/office/drawing/2014/main" id="{1D71D039-626C-4D2A-A10B-C5A4EA458CB1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4536000" y="5052320"/>
              <a:ext cx="0" cy="180000"/>
            </a:xfrm>
            <a:prstGeom prst="straightConnector1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arrow" w="med" len="sm"/>
            </a:ln>
          </p:spPr>
        </p:cxnSp>
        <p:cxnSp>
          <p:nvCxnSpPr>
            <p:cNvPr id="84" name="直接箭头连接符 83">
              <a:extLst>
                <a:ext uri="{FF2B5EF4-FFF2-40B4-BE49-F238E27FC236}">
                  <a16:creationId xmlns:a16="http://schemas.microsoft.com/office/drawing/2014/main" id="{9B2545B5-C32C-4E2B-AFFC-838580BF368B}"/>
                </a:ext>
              </a:extLst>
            </p:cNvPr>
            <p:cNvCxnSpPr/>
            <p:nvPr/>
          </p:nvCxnSpPr>
          <p:spPr bwMode="auto">
            <a:xfrm flipH="1" flipV="1">
              <a:off x="4644000" y="5052320"/>
              <a:ext cx="2" cy="180000"/>
            </a:xfrm>
            <a:prstGeom prst="straightConnector1">
              <a:avLst/>
            </a:prstGeom>
            <a:noFill/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arrow" w="med" len="sm"/>
            </a:ln>
          </p:spPr>
        </p:cxnSp>
        <p:sp>
          <p:nvSpPr>
            <p:cNvPr id="85" name="Text Box 107">
              <a:extLst>
                <a:ext uri="{FF2B5EF4-FFF2-40B4-BE49-F238E27FC236}">
                  <a16:creationId xmlns:a16="http://schemas.microsoft.com/office/drawing/2014/main" id="{4B116350-8315-42F2-BAF1-50D1556EEB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92000" y="4404376"/>
              <a:ext cx="612000" cy="25200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数据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s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86" name="直接箭头连接符 85">
              <a:extLst>
                <a:ext uri="{FF2B5EF4-FFF2-40B4-BE49-F238E27FC236}">
                  <a16:creationId xmlns:a16="http://schemas.microsoft.com/office/drawing/2014/main" id="{B6CF74AE-F007-4CF9-8A47-D78BCCBD5D70}"/>
                </a:ext>
              </a:extLst>
            </p:cNvPr>
            <p:cNvCxnSpPr/>
            <p:nvPr/>
          </p:nvCxnSpPr>
          <p:spPr bwMode="auto">
            <a:xfrm flipH="1" flipV="1">
              <a:off x="4716000" y="4656320"/>
              <a:ext cx="2" cy="144016"/>
            </a:xfrm>
            <a:prstGeom prst="straightConnector1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arrow" w="med" len="sm"/>
            </a:ln>
          </p:spPr>
        </p:cxnSp>
        <p:sp>
          <p:nvSpPr>
            <p:cNvPr id="87" name="Text Box 17">
              <a:extLst>
                <a:ext uri="{FF2B5EF4-FFF2-40B4-BE49-F238E27FC236}">
                  <a16:creationId xmlns:a16="http://schemas.microsoft.com/office/drawing/2014/main" id="{28871B76-AD41-48E6-8103-2773A7846A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68000" y="4404376"/>
              <a:ext cx="288000" cy="252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latin typeface="+mn-ea"/>
                  <a:ea typeface="+mn-ea"/>
                </a:rPr>
                <a:t>…</a:t>
              </a:r>
            </a:p>
          </p:txBody>
        </p:sp>
        <p:cxnSp>
          <p:nvCxnSpPr>
            <p:cNvPr id="88" name="直接箭头连接符 87">
              <a:extLst>
                <a:ext uri="{FF2B5EF4-FFF2-40B4-BE49-F238E27FC236}">
                  <a16:creationId xmlns:a16="http://schemas.microsoft.com/office/drawing/2014/main" id="{75B80186-8DE4-4E98-B14D-4F8E874B6A24}"/>
                </a:ext>
              </a:extLst>
            </p:cNvPr>
            <p:cNvCxnSpPr/>
            <p:nvPr/>
          </p:nvCxnSpPr>
          <p:spPr bwMode="auto">
            <a:xfrm>
              <a:off x="2304000" y="4116320"/>
              <a:ext cx="0" cy="684000"/>
            </a:xfrm>
            <a:prstGeom prst="straightConnector1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</p:spPr>
        </p:cxnSp>
        <p:sp>
          <p:nvSpPr>
            <p:cNvPr id="89" name="左大括号 88">
              <a:extLst>
                <a:ext uri="{FF2B5EF4-FFF2-40B4-BE49-F238E27FC236}">
                  <a16:creationId xmlns:a16="http://schemas.microsoft.com/office/drawing/2014/main" id="{9F551D33-B883-410E-9986-B030095C9489}"/>
                </a:ext>
              </a:extLst>
            </p:cNvPr>
            <p:cNvSpPr/>
            <p:nvPr/>
          </p:nvSpPr>
          <p:spPr bwMode="auto">
            <a:xfrm rot="5400000">
              <a:off x="3294000" y="2067920"/>
              <a:ext cx="72000" cy="3456000"/>
            </a:xfrm>
            <a:prstGeom prst="leftBrace">
              <a:avLst>
                <a:gd name="adj1" fmla="val 31849"/>
                <a:gd name="adj2" fmla="val 50000"/>
              </a:avLst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0" name="Text Box 17">
              <a:extLst>
                <a:ext uri="{FF2B5EF4-FFF2-40B4-BE49-F238E27FC236}">
                  <a16:creationId xmlns:a16="http://schemas.microsoft.com/office/drawing/2014/main" id="{69A3B563-1D92-42E4-A538-11CCBF1FF8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44000" y="3538527"/>
              <a:ext cx="936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>
                  <a:latin typeface="+mn-ea"/>
                  <a:ea typeface="+mn-ea"/>
                </a:rPr>
                <a:t>当前程序</a:t>
              </a:r>
              <a:endParaRPr lang="en-US" altLang="zh-CN" sz="1600" b="1" dirty="0">
                <a:latin typeface="+mn-ea"/>
                <a:ea typeface="+mn-ea"/>
              </a:endParaRPr>
            </a:p>
          </p:txBody>
        </p:sp>
        <p:sp>
          <p:nvSpPr>
            <p:cNvPr id="91" name="左大括号 90">
              <a:extLst>
                <a:ext uri="{FF2B5EF4-FFF2-40B4-BE49-F238E27FC236}">
                  <a16:creationId xmlns:a16="http://schemas.microsoft.com/office/drawing/2014/main" id="{E8C729DC-4732-4475-9AFF-D1D274C3510D}"/>
                </a:ext>
              </a:extLst>
            </p:cNvPr>
            <p:cNvSpPr/>
            <p:nvPr/>
          </p:nvSpPr>
          <p:spPr bwMode="auto">
            <a:xfrm rot="5400000">
              <a:off x="6300000" y="3101120"/>
              <a:ext cx="72000" cy="1404000"/>
            </a:xfrm>
            <a:prstGeom prst="leftBrace">
              <a:avLst>
                <a:gd name="adj1" fmla="val 31849"/>
                <a:gd name="adj2" fmla="val 50000"/>
              </a:avLst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2" name="Text Box 17">
              <a:extLst>
                <a:ext uri="{FF2B5EF4-FFF2-40B4-BE49-F238E27FC236}">
                  <a16:creationId xmlns:a16="http://schemas.microsoft.com/office/drawing/2014/main" id="{4F884D5E-921C-4957-8263-B4903EA36D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52000" y="3540320"/>
              <a:ext cx="1368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>
                  <a:latin typeface="+mn-ea"/>
                  <a:ea typeface="+mn-ea"/>
                </a:rPr>
                <a:t>中断服务程序</a:t>
              </a:r>
              <a:endParaRPr lang="en-US" altLang="zh-CN" sz="1600" b="1" dirty="0">
                <a:latin typeface="+mn-ea"/>
                <a:ea typeface="+mn-ea"/>
              </a:endParaRPr>
            </a:p>
          </p:txBody>
        </p:sp>
        <p:cxnSp>
          <p:nvCxnSpPr>
            <p:cNvPr id="93" name="直接箭头连接符 92">
              <a:extLst>
                <a:ext uri="{FF2B5EF4-FFF2-40B4-BE49-F238E27FC236}">
                  <a16:creationId xmlns:a16="http://schemas.microsoft.com/office/drawing/2014/main" id="{5C49E884-6DA3-4D89-A92A-23FF2583CC63}"/>
                </a:ext>
              </a:extLst>
            </p:cNvPr>
            <p:cNvCxnSpPr/>
            <p:nvPr/>
          </p:nvCxnSpPr>
          <p:spPr bwMode="auto">
            <a:xfrm>
              <a:off x="5040000" y="4800320"/>
              <a:ext cx="0" cy="25200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 w="med" len="sm"/>
            </a:ln>
          </p:spPr>
        </p:cxnSp>
        <p:sp>
          <p:nvSpPr>
            <p:cNvPr id="94" name="Text Box 17">
              <a:extLst>
                <a:ext uri="{FF2B5EF4-FFF2-40B4-BE49-F238E27FC236}">
                  <a16:creationId xmlns:a16="http://schemas.microsoft.com/office/drawing/2014/main" id="{3973F992-6A91-4ADF-86B9-8115A2F51B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40000" y="4188320"/>
              <a:ext cx="936000" cy="468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l">
                <a:lnSpc>
                  <a:spcPct val="90000"/>
                </a:lnSpc>
              </a:pPr>
              <a:r>
                <a:rPr lang="zh-CN" altLang="en-US" sz="1600" b="1" dirty="0">
                  <a:latin typeface="+mn-ea"/>
                  <a:ea typeface="+mn-ea"/>
                </a:rPr>
                <a:t>传送需求</a:t>
              </a:r>
              <a:endParaRPr lang="en-US" altLang="zh-CN" sz="1600" b="1" dirty="0">
                <a:latin typeface="+mn-ea"/>
                <a:ea typeface="+mn-ea"/>
              </a:endParaRPr>
            </a:p>
            <a:p>
              <a:pPr algn="l">
                <a:lnSpc>
                  <a:spcPct val="90000"/>
                </a:lnSpc>
              </a:pPr>
              <a:r>
                <a:rPr lang="zh-CN" altLang="en-US" sz="1600" b="1" dirty="0">
                  <a:latin typeface="+mn-ea"/>
                  <a:ea typeface="+mn-ea"/>
                </a:rPr>
                <a:t>启动设备</a:t>
              </a:r>
              <a:endParaRPr lang="en-US" altLang="zh-CN" sz="1600" b="1" dirty="0">
                <a:latin typeface="+mn-ea"/>
                <a:ea typeface="+mn-ea"/>
              </a:endParaRPr>
            </a:p>
          </p:txBody>
        </p:sp>
        <p:sp>
          <p:nvSpPr>
            <p:cNvPr id="95" name="左大括号 94">
              <a:extLst>
                <a:ext uri="{FF2B5EF4-FFF2-40B4-BE49-F238E27FC236}">
                  <a16:creationId xmlns:a16="http://schemas.microsoft.com/office/drawing/2014/main" id="{DD00F363-815B-4F01-A4C9-4EA854070E8C}"/>
                </a:ext>
              </a:extLst>
            </p:cNvPr>
            <p:cNvSpPr/>
            <p:nvPr/>
          </p:nvSpPr>
          <p:spPr bwMode="auto">
            <a:xfrm rot="5400000">
              <a:off x="7794440" y="3101120"/>
              <a:ext cx="72000" cy="1404000"/>
            </a:xfrm>
            <a:prstGeom prst="leftBrace">
              <a:avLst>
                <a:gd name="adj1" fmla="val 31849"/>
                <a:gd name="adj2" fmla="val 50000"/>
              </a:avLst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6" name="Text Box 17">
              <a:extLst>
                <a:ext uri="{FF2B5EF4-FFF2-40B4-BE49-F238E27FC236}">
                  <a16:creationId xmlns:a16="http://schemas.microsoft.com/office/drawing/2014/main" id="{9FB31E96-122A-4057-8A1B-802C4BDF3D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80000" y="3549296"/>
              <a:ext cx="936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>
                  <a:latin typeface="+mn-ea"/>
                  <a:ea typeface="+mn-ea"/>
                </a:rPr>
                <a:t>当前程序</a:t>
              </a:r>
              <a:endParaRPr lang="en-US" altLang="zh-CN" sz="1600" b="1" dirty="0">
                <a:latin typeface="+mn-ea"/>
                <a:ea typeface="+mn-ea"/>
              </a:endParaRPr>
            </a:p>
          </p:txBody>
        </p:sp>
        <p:cxnSp>
          <p:nvCxnSpPr>
            <p:cNvPr id="97" name="直接箭头连接符 96">
              <a:extLst>
                <a:ext uri="{FF2B5EF4-FFF2-40B4-BE49-F238E27FC236}">
                  <a16:creationId xmlns:a16="http://schemas.microsoft.com/office/drawing/2014/main" id="{187A318A-8733-4DAD-8BAB-DD394980CB20}"/>
                </a:ext>
              </a:extLst>
            </p:cNvPr>
            <p:cNvCxnSpPr/>
            <p:nvPr/>
          </p:nvCxnSpPr>
          <p:spPr bwMode="auto">
            <a:xfrm flipH="1" flipV="1">
              <a:off x="3492000" y="5050800"/>
              <a:ext cx="2" cy="180000"/>
            </a:xfrm>
            <a:prstGeom prst="straightConnector1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arrow" w="med" len="sm"/>
            </a:ln>
          </p:spPr>
        </p:cxnSp>
      </p:grpSp>
      <p:sp>
        <p:nvSpPr>
          <p:cNvPr id="45" name="线形标注 2 67">
            <a:extLst>
              <a:ext uri="{FF2B5EF4-FFF2-40B4-BE49-F238E27FC236}">
                <a16:creationId xmlns:a16="http://schemas.microsoft.com/office/drawing/2014/main" id="{1DF203CA-F53A-4A36-89B7-842E738275D6}"/>
              </a:ext>
            </a:extLst>
          </p:cNvPr>
          <p:cNvSpPr/>
          <p:nvPr/>
        </p:nvSpPr>
        <p:spPr bwMode="auto">
          <a:xfrm>
            <a:off x="3239999" y="1849381"/>
            <a:ext cx="3996000" cy="252000"/>
          </a:xfrm>
          <a:prstGeom prst="borderCallout2">
            <a:avLst>
              <a:gd name="adj1" fmla="val 48951"/>
              <a:gd name="adj2" fmla="val -598"/>
              <a:gd name="adj3" fmla="val 48851"/>
              <a:gd name="adj4" fmla="val -6568"/>
              <a:gd name="adj5" fmla="val 150899"/>
              <a:gd name="adj6" fmla="val -10313"/>
            </a:avLst>
          </a:prstGeom>
          <a:noFill/>
          <a:ln w="12700" cap="flat" cmpd="sng" algn="ctr">
            <a:solidFill>
              <a:srgbClr val="0070C0"/>
            </a:solidFill>
            <a:prstDash val="sysDash"/>
            <a:round/>
            <a:headEnd type="none" w="med" len="med"/>
            <a:tailEnd type="arrow" w="med" len="med"/>
          </a:ln>
          <a:effectLst/>
        </p:spPr>
        <p:txBody>
          <a:bodyPr vert="horz" wrap="square" lIns="36000" tIns="18000" rIns="36000" bIns="18000" numCol="1" rtlCol="0" anchor="ctr" anchorCtr="0" compatLnSpc="1"/>
          <a:lstStyle/>
          <a:p>
            <a:pPr algn="l">
              <a:lnSpc>
                <a:spcPct val="105000"/>
              </a:lnSpc>
            </a:pPr>
            <a:r>
              <a:rPr lang="zh-CN" altLang="en-US" sz="1600" b="1" dirty="0">
                <a:latin typeface="+mn-lt"/>
                <a:ea typeface="+mn-ea"/>
              </a:rPr>
              <a:t>主存缓冲区首地址、传送字数、传送方向等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0" grpId="0"/>
      <p:bldP spid="4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Box 5"/>
          <p:cNvSpPr txBox="1">
            <a:spLocks noChangeArrowheads="1"/>
          </p:cNvSpPr>
          <p:nvPr/>
        </p:nvSpPr>
        <p:spPr bwMode="auto">
          <a:xfrm>
            <a:off x="179387" y="1484784"/>
            <a:ext cx="4464422" cy="429380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通道方式：  </a:t>
            </a:r>
            <a:r>
              <a:rPr lang="en-US" altLang="zh-CN" sz="1800" b="1" dirty="0">
                <a:latin typeface="宋体" panose="02010600030101010101" pitchFamily="2" charset="-122"/>
              </a:rPr>
              <a:t>--DMA</a:t>
            </a:r>
            <a:r>
              <a:rPr lang="zh-CN" altLang="en-US" sz="1800" b="1" dirty="0">
                <a:latin typeface="宋体" panose="02010600030101010101" pitchFamily="2" charset="-122"/>
              </a:rPr>
              <a:t>方式的发展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 marL="2867025" indent="-2867025" algn="l">
              <a:lnSpc>
                <a:spcPct val="125000"/>
              </a:lnSpc>
            </a:pP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通道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</a:p>
          <a:p>
            <a:pPr marL="2867025" indent="-2867025" algn="l">
              <a:lnSpc>
                <a:spcPct val="125000"/>
              </a:lnSpc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marL="2867025" indent="-2867025" algn="l">
              <a:lnSpc>
                <a:spcPct val="125000"/>
              </a:lnSpc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marL="2867025" indent="-2867025" algn="l">
              <a:lnSpc>
                <a:spcPct val="125000"/>
              </a:lnSpc>
              <a:spcBef>
                <a:spcPts val="900"/>
              </a:spcBef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传送控制原理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</a:p>
          <a:p>
            <a:pPr marL="2867025" indent="-2867025" algn="l">
              <a:lnSpc>
                <a:spcPct val="105000"/>
              </a:lnSpc>
            </a:pPr>
            <a:endParaRPr lang="en-US" altLang="zh-CN" sz="16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marL="2867025" indent="-2867025" algn="l">
              <a:lnSpc>
                <a:spcPct val="125000"/>
              </a:lnSpc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marL="2867025" indent="-2867025" algn="l">
              <a:lnSpc>
                <a:spcPct val="125000"/>
              </a:lnSpc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marL="2867025" indent="-2867025" algn="l"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I/O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开销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</a:p>
          <a:p>
            <a:pPr algn="l">
              <a:lnSpc>
                <a:spcPct val="125000"/>
              </a:lnSpc>
              <a:spcBef>
                <a:spcPts val="300"/>
              </a:spcBef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*IOP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方式：</a:t>
            </a:r>
            <a:r>
              <a:rPr lang="en-US" altLang="zh-CN" sz="2200" b="1" dirty="0">
                <a:latin typeface="宋体" panose="02010600030101010101" pitchFamily="2" charset="-122"/>
              </a:rPr>
              <a:t>   </a:t>
            </a:r>
            <a:r>
              <a:rPr lang="en-US" altLang="zh-CN" sz="1800" b="1" dirty="0">
                <a:latin typeface="宋体" panose="02010600030101010101" pitchFamily="2" charset="-122"/>
              </a:rPr>
              <a:t>--</a:t>
            </a:r>
            <a:r>
              <a:rPr lang="zh-CN" altLang="en-US" sz="1800" b="1" dirty="0">
                <a:latin typeface="宋体" panose="02010600030101010101" pitchFamily="2" charset="-122"/>
              </a:rPr>
              <a:t>通道方式的发展</a:t>
            </a:r>
            <a:endParaRPr lang="en-US" altLang="zh-CN" sz="2000" b="1" dirty="0">
              <a:solidFill>
                <a:srgbClr val="C00000"/>
              </a:solidFill>
              <a:latin typeface="宋体" panose="02010600030101010101" pitchFamily="2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BFB63-B979-4FAE-8763-D7093A979077}" type="slidenum">
              <a:rPr lang="en-US" altLang="zh-CN" smtClean="0"/>
              <a:t>14</a:t>
            </a:fld>
            <a:endParaRPr lang="en-US" altLang="zh-CN"/>
          </a:p>
        </p:txBody>
      </p:sp>
      <p:sp>
        <p:nvSpPr>
          <p:cNvPr id="4" name="Text Box 88"/>
          <p:cNvSpPr txBox="1">
            <a:spLocks noChangeArrowheads="1"/>
          </p:cNvSpPr>
          <p:nvPr/>
        </p:nvSpPr>
        <p:spPr bwMode="auto">
          <a:xfrm>
            <a:off x="179388" y="331200"/>
            <a:ext cx="8857108" cy="127054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(4)</a:t>
            </a:r>
            <a:r>
              <a:rPr lang="zh-CN" altLang="en-US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通道及</a:t>
            </a:r>
            <a:r>
              <a:rPr lang="en-US" altLang="zh-CN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I/O</a:t>
            </a:r>
            <a:r>
              <a:rPr lang="zh-CN" altLang="en-US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处理机</a:t>
            </a:r>
            <a:r>
              <a:rPr lang="en-US" altLang="zh-CN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(IOP)</a:t>
            </a:r>
            <a:r>
              <a:rPr lang="zh-CN" altLang="en-US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方式</a:t>
            </a:r>
          </a:p>
          <a:p>
            <a:pPr algn="l">
              <a:lnSpc>
                <a:spcPct val="125000"/>
              </a:lnSpc>
            </a:pP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I/O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功能：</a:t>
            </a:r>
            <a:r>
              <a:rPr lang="zh-CN" altLang="en-US" sz="2200" b="1" spc="-100" dirty="0">
                <a:solidFill>
                  <a:srgbClr val="990099"/>
                </a:solidFill>
                <a:latin typeface="宋体" panose="02010600030101010101" pitchFamily="2" charset="-122"/>
              </a:rPr>
              <a:t>主存</a:t>
            </a:r>
            <a:r>
              <a:rPr lang="en-US" altLang="zh-CN" sz="2200" b="1" spc="-100" dirty="0">
                <a:latin typeface="宋体" panose="02010600030101010101" pitchFamily="2" charset="-122"/>
              </a:rPr>
              <a:t>-</a:t>
            </a:r>
            <a:r>
              <a:rPr lang="zh-CN" altLang="en-US" sz="2200" b="1" spc="-100" dirty="0">
                <a:latin typeface="宋体" panose="02010600030101010101" pitchFamily="2" charset="-122"/>
              </a:rPr>
              <a:t>外设间、传送</a:t>
            </a:r>
            <a:r>
              <a:rPr lang="en-US" altLang="zh-CN" sz="2200" b="1" spc="-100" dirty="0">
                <a:solidFill>
                  <a:srgbClr val="990099"/>
                </a:solidFill>
                <a:latin typeface="宋体" panose="02010600030101010101" pitchFamily="2" charset="-122"/>
              </a:rPr>
              <a:t>1</a:t>
            </a:r>
            <a:r>
              <a:rPr lang="zh-CN" altLang="en-US" sz="2200" b="1" spc="-100" dirty="0">
                <a:solidFill>
                  <a:srgbClr val="990099"/>
                </a:solidFill>
                <a:latin typeface="宋体" panose="02010600030101010101" pitchFamily="2" charset="-122"/>
              </a:rPr>
              <a:t>个或</a:t>
            </a:r>
            <a:r>
              <a:rPr lang="en-US" altLang="zh-CN" sz="2200" b="1" spc="-100" dirty="0">
                <a:solidFill>
                  <a:srgbClr val="990099"/>
                </a:solidFill>
                <a:latin typeface="宋体" panose="02010600030101010101" pitchFamily="2" charset="-122"/>
              </a:rPr>
              <a:t>1</a:t>
            </a:r>
            <a:r>
              <a:rPr lang="zh-CN" altLang="en-US" sz="2200" b="1" spc="-100" dirty="0">
                <a:solidFill>
                  <a:srgbClr val="990099"/>
                </a:solidFill>
                <a:latin typeface="宋体" panose="02010600030101010101" pitchFamily="2" charset="-122"/>
              </a:rPr>
              <a:t>批</a:t>
            </a:r>
            <a:r>
              <a:rPr lang="zh-CN" altLang="en-US" sz="2200" b="1" spc="-100" dirty="0">
                <a:latin typeface="宋体" panose="02010600030101010101" pitchFamily="2" charset="-122"/>
              </a:rPr>
              <a:t>数据</a:t>
            </a:r>
            <a:r>
              <a:rPr lang="en-US" altLang="zh-CN" sz="2200" b="1" spc="-100" dirty="0">
                <a:latin typeface="宋体" panose="02010600030101010101" pitchFamily="2" charset="-122"/>
              </a:rPr>
              <a:t>/</a:t>
            </a:r>
            <a:r>
              <a:rPr lang="zh-CN" altLang="en-US" sz="2200" b="1" spc="-100" dirty="0">
                <a:latin typeface="宋体" panose="02010600030101010101" pitchFamily="2" charset="-122"/>
              </a:rPr>
              <a:t>次   </a:t>
            </a:r>
            <a:r>
              <a:rPr lang="zh-CN" altLang="en-US" sz="1800" b="1" spc="-100" dirty="0">
                <a:latin typeface="宋体" panose="02010600030101010101" pitchFamily="2" charset="-122"/>
              </a:rPr>
              <a:t>←适于字符</a:t>
            </a:r>
            <a:r>
              <a:rPr lang="en-US" altLang="zh-CN" sz="1800" b="1" spc="-100" dirty="0">
                <a:latin typeface="宋体" panose="02010600030101010101" pitchFamily="2" charset="-122"/>
              </a:rPr>
              <a:t>/</a:t>
            </a:r>
            <a:r>
              <a:rPr lang="zh-CN" altLang="en-US" sz="1800" b="1" spc="-100" dirty="0">
                <a:latin typeface="宋体" panose="02010600030101010101" pitchFamily="2" charset="-122"/>
              </a:rPr>
              <a:t>块设备</a:t>
            </a:r>
            <a:endParaRPr lang="en-US" altLang="zh-CN" sz="1800" b="1" spc="-100" dirty="0">
              <a:latin typeface="宋体" panose="02010600030101010101" pitchFamily="2" charset="-122"/>
            </a:endParaRPr>
          </a:p>
          <a:p>
            <a:pPr algn="l">
              <a:lnSpc>
                <a:spcPct val="105000"/>
              </a:lnSpc>
            </a:pPr>
            <a:r>
              <a:rPr lang="zh-CN" altLang="en-US" sz="2000" dirty="0">
                <a:latin typeface="宋体" panose="02010600030101010101" pitchFamily="2" charset="-122"/>
              </a:rPr>
              <a:t>             └─────</a:t>
            </a:r>
            <a:r>
              <a:rPr lang="zh-CN" altLang="en-US" sz="2000" b="1" dirty="0">
                <a:latin typeface="宋体" panose="02010600030101010101" pitchFamily="2" charset="-122"/>
              </a:rPr>
              <a:t>←</a:t>
            </a:r>
            <a:r>
              <a:rPr lang="zh-CN" altLang="en-US" sz="2000" dirty="0">
                <a:latin typeface="宋体" panose="02010600030101010101" pitchFamily="2" charset="-122"/>
              </a:rPr>
              <a:t>┴</a:t>
            </a:r>
            <a:r>
              <a:rPr lang="zh-CN" altLang="en-US" sz="2000" b="1" dirty="0">
                <a:latin typeface="宋体" panose="02010600030101010101" pitchFamily="2" charset="-122"/>
              </a:rPr>
              <a:t>←</a:t>
            </a:r>
            <a:r>
              <a:rPr lang="zh-CN" altLang="en-US" sz="2000" b="1" u="sng" dirty="0">
                <a:highlight>
                  <a:srgbClr val="CC99FF"/>
                </a:highlight>
                <a:latin typeface="宋体" panose="02010600030101010101" pitchFamily="2" charset="-122"/>
              </a:rPr>
              <a:t>通道</a:t>
            </a:r>
            <a:r>
              <a:rPr lang="zh-CN" altLang="en-US" sz="2000" b="1" dirty="0">
                <a:latin typeface="宋体" panose="02010600030101010101" pitchFamily="2" charset="-122"/>
              </a:rPr>
              <a:t>或</a:t>
            </a:r>
            <a:r>
              <a:rPr lang="en-US" altLang="zh-CN" sz="2000" b="1" u="sng" dirty="0">
                <a:highlight>
                  <a:srgbClr val="99CCFF"/>
                </a:highlight>
                <a:latin typeface="宋体" panose="02010600030101010101" pitchFamily="2" charset="-122"/>
              </a:rPr>
              <a:t>IOP</a:t>
            </a:r>
            <a:r>
              <a:rPr lang="zh-CN" altLang="en-US" sz="2000" b="1" dirty="0">
                <a:latin typeface="宋体" panose="02010600030101010101" pitchFamily="2" charset="-122"/>
              </a:rPr>
              <a:t>执行程序实现</a:t>
            </a:r>
            <a:endParaRPr lang="en-US" altLang="zh-CN" sz="2000" b="1" spc="-100" dirty="0">
              <a:latin typeface="宋体" panose="02010600030101010101" pitchFamily="2" charset="-122"/>
            </a:endParaRPr>
          </a:p>
        </p:txBody>
      </p:sp>
      <p:sp>
        <p:nvSpPr>
          <p:cNvPr id="38" name="Text Box 93"/>
          <p:cNvSpPr txBox="1">
            <a:spLocks noChangeArrowheads="1"/>
          </p:cNvSpPr>
          <p:nvPr/>
        </p:nvSpPr>
        <p:spPr bwMode="auto">
          <a:xfrm>
            <a:off x="1619672" y="1916832"/>
            <a:ext cx="7034326" cy="44028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tIns="28800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sz="2200" b="1" spc="-130" dirty="0">
                <a:latin typeface="宋体" panose="02010600030101010101" pitchFamily="2" charset="-122"/>
              </a:rPr>
              <a:t>专用</a:t>
            </a:r>
            <a:r>
              <a:rPr lang="zh-CN" altLang="en-US" sz="2200" b="1" spc="-130" dirty="0">
                <a:highlight>
                  <a:srgbClr val="99CCFF"/>
                </a:highlight>
                <a:latin typeface="宋体" panose="02010600030101010101" pitchFamily="2" charset="-122"/>
              </a:rPr>
              <a:t>处理器</a:t>
            </a:r>
            <a:r>
              <a:rPr lang="zh-CN" altLang="en-US" sz="2200" b="1" spc="-130" dirty="0">
                <a:latin typeface="宋体" panose="02010600030101010101" pitchFamily="2" charset="-122"/>
              </a:rPr>
              <a:t>，</a:t>
            </a:r>
            <a:r>
              <a:rPr lang="zh-CN" altLang="en-US" sz="2200" b="1" spc="-100" dirty="0">
                <a:latin typeface="宋体" panose="02010600030101010101" pitchFamily="2" charset="-122"/>
              </a:rPr>
              <a:t>实现外设的管理</a:t>
            </a:r>
            <a:r>
              <a:rPr lang="en-US" altLang="zh-CN" sz="2200" b="1" spc="-100" dirty="0">
                <a:latin typeface="宋体" panose="02010600030101010101" pitchFamily="2" charset="-122"/>
              </a:rPr>
              <a:t>/</a:t>
            </a:r>
            <a:r>
              <a:rPr lang="zh-CN" altLang="en-US" sz="2200" b="1" spc="-100" dirty="0">
                <a:latin typeface="宋体" panose="02010600030101010101" pitchFamily="2" charset="-122"/>
              </a:rPr>
              <a:t>状态监测</a:t>
            </a:r>
            <a:r>
              <a:rPr lang="en-US" altLang="zh-CN" sz="2200" b="1" spc="-100" dirty="0">
                <a:latin typeface="宋体" panose="02010600030101010101" pitchFamily="2" charset="-122"/>
              </a:rPr>
              <a:t>/</a:t>
            </a:r>
            <a:r>
              <a:rPr lang="zh-CN" altLang="en-US" sz="2200" b="1" spc="-100" dirty="0">
                <a:latin typeface="宋体" panose="02010600030101010101" pitchFamily="2" charset="-122"/>
              </a:rPr>
              <a:t>传送控制</a:t>
            </a:r>
            <a:endParaRPr lang="en-US" altLang="zh-CN" sz="2200" b="1" spc="-100" dirty="0">
              <a:latin typeface="宋体" panose="02010600030101010101" pitchFamily="2" charset="-122"/>
            </a:endParaRPr>
          </a:p>
        </p:txBody>
      </p:sp>
      <p:sp>
        <p:nvSpPr>
          <p:cNvPr id="40" name="Text Box 93"/>
          <p:cNvSpPr txBox="1">
            <a:spLocks noChangeArrowheads="1"/>
          </p:cNvSpPr>
          <p:nvPr/>
        </p:nvSpPr>
        <p:spPr bwMode="auto">
          <a:xfrm>
            <a:off x="755576" y="3284984"/>
            <a:ext cx="8280917" cy="294112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lIns="90000" tIns="46800" rIns="90000" bIns="46800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200" b="1" dirty="0">
                <a:latin typeface="宋体" panose="02010600030101010101" pitchFamily="2" charset="-122"/>
              </a:rPr>
              <a:t>               </a:t>
            </a:r>
            <a:r>
              <a:rPr lang="en-US" altLang="zh-CN" sz="2200" b="1" dirty="0">
                <a:highlight>
                  <a:srgbClr val="FFFF00"/>
                </a:highlight>
                <a:latin typeface="宋体" panose="02010600030101010101" pitchFamily="2" charset="-122"/>
              </a:rPr>
              <a:t>CPU</a:t>
            </a:r>
            <a:r>
              <a:rPr lang="zh-CN" altLang="en-US" sz="2200" b="1" u="sng" dirty="0">
                <a:solidFill>
                  <a:srgbClr val="FF3399"/>
                </a:solidFill>
                <a:latin typeface="宋体" panose="02010600030101010101" pitchFamily="2" charset="-122"/>
              </a:rPr>
              <a:t>执行</a:t>
            </a:r>
            <a:r>
              <a:rPr lang="zh-CN" altLang="en-US" sz="2200" b="1" dirty="0">
                <a:latin typeface="宋体" panose="02010600030101010101" pitchFamily="2" charset="-122"/>
              </a:rPr>
              <a:t>访管指令后，</a:t>
            </a:r>
            <a:r>
              <a:rPr lang="zh-CN" altLang="en-US" sz="2200" b="1" dirty="0">
                <a:solidFill>
                  <a:srgbClr val="0070C0"/>
                </a:solidFill>
                <a:latin typeface="宋体" panose="02010600030101010101" pitchFamily="2" charset="-122"/>
              </a:rPr>
              <a:t>继续</a:t>
            </a:r>
            <a:r>
              <a:rPr lang="zh-CN" altLang="en-US" sz="2200" b="1" u="sng" dirty="0">
                <a:solidFill>
                  <a:srgbClr val="FF3399"/>
                </a:solidFill>
                <a:latin typeface="宋体" panose="02010600030101010101" pitchFamily="2" charset="-122"/>
              </a:rPr>
              <a:t>执行</a:t>
            </a:r>
            <a:r>
              <a:rPr lang="zh-CN" altLang="en-US" sz="2200" b="1" dirty="0">
                <a:latin typeface="宋体" panose="02010600030101010101" pitchFamily="2" charset="-122"/>
              </a:rPr>
              <a:t>现行程序；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 algn="l">
              <a:lnSpc>
                <a:spcPct val="105000"/>
              </a:lnSpc>
            </a:pPr>
            <a:r>
              <a:rPr lang="en-US" altLang="zh-CN" sz="1600" b="1" dirty="0">
                <a:latin typeface="宋体" panose="02010600030101010101" pitchFamily="2" charset="-122"/>
              </a:rPr>
              <a:t>                                  </a:t>
            </a:r>
            <a:r>
              <a:rPr lang="en-US" altLang="zh-CN" sz="1600" dirty="0">
                <a:latin typeface="宋体" panose="02010600030101010101" pitchFamily="2" charset="-122"/>
              </a:rPr>
              <a:t>└</a:t>
            </a:r>
            <a:r>
              <a:rPr lang="en-US" altLang="zh-CN" sz="1600" b="1" dirty="0">
                <a:latin typeface="宋体" panose="02010600030101010101" pitchFamily="2" charset="-122"/>
              </a:rPr>
              <a:t>←</a:t>
            </a:r>
            <a:r>
              <a:rPr lang="zh-CN" altLang="en-US" sz="1600" b="1" dirty="0"/>
              <a:t>系统调用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编制通道程序、启动通道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>
                <a:latin typeface="宋体" panose="02010600030101010101" pitchFamily="2" charset="-122"/>
              </a:rPr>
              <a:t>              </a:t>
            </a:r>
            <a:r>
              <a:rPr lang="zh-CN" altLang="en-US" sz="2200" b="1" dirty="0">
                <a:highlight>
                  <a:srgbClr val="CC99FF"/>
                </a:highlight>
                <a:latin typeface="宋体" panose="02010600030101010101" pitchFamily="2" charset="-122"/>
              </a:rPr>
              <a:t>通道</a:t>
            </a:r>
            <a:r>
              <a:rPr lang="zh-CN" altLang="en-US" sz="2200" b="1" u="sng" dirty="0">
                <a:solidFill>
                  <a:schemeClr val="accent2"/>
                </a:solidFill>
                <a:latin typeface="宋体" panose="02010600030101010101" pitchFamily="2" charset="-122"/>
              </a:rPr>
              <a:t>执行</a:t>
            </a:r>
            <a:r>
              <a:rPr lang="zh-CN" altLang="en-US" sz="2200" b="1" dirty="0">
                <a:latin typeface="宋体" panose="02010600030101010101" pitchFamily="2" charset="-122"/>
              </a:rPr>
              <a:t>通道程序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</a:rPr>
              <a:t>主存中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  <a:r>
              <a:rPr lang="zh-CN" altLang="en-US" sz="2200" b="1" dirty="0">
                <a:latin typeface="宋体" panose="02010600030101010101" pitchFamily="2" charset="-122"/>
              </a:rPr>
              <a:t>，</a:t>
            </a:r>
            <a:r>
              <a:rPr lang="zh-CN" altLang="en-US" sz="2200" b="1" spc="-100" dirty="0">
                <a:solidFill>
                  <a:srgbClr val="990099"/>
                </a:solidFill>
                <a:latin typeface="宋体" panose="02010600030101010101" pitchFamily="2" charset="-122"/>
              </a:rPr>
              <a:t>结束</a:t>
            </a:r>
            <a:r>
              <a:rPr lang="zh-CN" altLang="en-US" sz="2200" b="1" spc="-100" dirty="0">
                <a:latin typeface="宋体" panose="02010600030101010101" pitchFamily="2" charset="-122"/>
              </a:rPr>
              <a:t>时向</a:t>
            </a:r>
            <a:r>
              <a:rPr lang="en-US" altLang="zh-CN" sz="2200" b="1" spc="-100" dirty="0">
                <a:latin typeface="宋体" panose="02010600030101010101" pitchFamily="2" charset="-122"/>
              </a:rPr>
              <a:t>CPU</a:t>
            </a:r>
            <a:r>
              <a:rPr lang="zh-CN" altLang="en-US" sz="2200" b="1" u="sng" spc="-100" dirty="0">
                <a:solidFill>
                  <a:srgbClr val="C00000"/>
                </a:solidFill>
                <a:latin typeface="宋体" panose="02010600030101010101" pitchFamily="2" charset="-122"/>
              </a:rPr>
              <a:t>提出</a:t>
            </a:r>
            <a:r>
              <a:rPr lang="zh-CN" altLang="en-US" sz="2200" b="1" spc="-100" dirty="0">
                <a:latin typeface="宋体" panose="02010600030101010101" pitchFamily="2" charset="-122"/>
              </a:rPr>
              <a:t>请求；</a:t>
            </a:r>
            <a:endParaRPr lang="en-US" altLang="zh-CN" sz="2200" b="1" spc="-100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>
                <a:latin typeface="宋体" panose="02010600030101010101" pitchFamily="2" charset="-122"/>
              </a:rPr>
              <a:t>             </a:t>
            </a:r>
            <a:r>
              <a:rPr lang="zh-CN" altLang="en-US" sz="2200" b="1" dirty="0">
                <a:latin typeface="宋体" panose="02010600030101010101" pitchFamily="2" charset="-122"/>
              </a:rPr>
              <a:t>  </a:t>
            </a:r>
            <a:r>
              <a:rPr lang="en-US" altLang="zh-CN" sz="2200" b="1" dirty="0">
                <a:highlight>
                  <a:srgbClr val="FFFF00"/>
                </a:highlight>
                <a:latin typeface="宋体" panose="02010600030101010101" pitchFamily="2" charset="-122"/>
              </a:rPr>
              <a:t>CPU</a:t>
            </a:r>
            <a:r>
              <a:rPr lang="zh-CN" altLang="en-US" sz="2200" b="1" u="sng" dirty="0">
                <a:solidFill>
                  <a:srgbClr val="FF3399"/>
                </a:solidFill>
                <a:latin typeface="宋体" panose="02010600030101010101" pitchFamily="2" charset="-122"/>
              </a:rPr>
              <a:t>响应</a:t>
            </a:r>
            <a:r>
              <a:rPr lang="zh-CN" altLang="en-US" sz="2200" b="1" dirty="0">
                <a:latin typeface="宋体" panose="02010600030101010101" pitchFamily="2" charset="-122"/>
              </a:rPr>
              <a:t>请求，</a:t>
            </a:r>
            <a:r>
              <a:rPr lang="zh-CN" altLang="en-US" sz="2200" b="1" u="sng" dirty="0">
                <a:solidFill>
                  <a:srgbClr val="FF3399"/>
                </a:solidFill>
                <a:latin typeface="宋体" panose="02010600030101010101" pitchFamily="2" charset="-122"/>
              </a:rPr>
              <a:t>处理</a:t>
            </a:r>
            <a:r>
              <a:rPr lang="zh-CN" altLang="en-US" sz="2200" b="1" dirty="0">
                <a:latin typeface="宋体" panose="02010600030101010101" pitchFamily="2" charset="-122"/>
              </a:rPr>
              <a:t>相应事宜、</a:t>
            </a:r>
            <a:r>
              <a:rPr lang="zh-CN" altLang="en-US" sz="2200" b="1" u="sng" dirty="0">
                <a:solidFill>
                  <a:srgbClr val="FF3399"/>
                </a:solidFill>
                <a:latin typeface="宋体" panose="02010600030101010101" pitchFamily="2" charset="-122"/>
              </a:rPr>
              <a:t>返回</a:t>
            </a:r>
            <a:r>
              <a:rPr lang="zh-CN" altLang="en-US" sz="2200" b="1" dirty="0">
                <a:latin typeface="宋体" panose="02010600030101010101" pitchFamily="2" charset="-122"/>
              </a:rPr>
              <a:t>现行程序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lang="zh-CN" altLang="en-US" sz="2200" b="1" dirty="0">
                <a:latin typeface="宋体" panose="02010600030101010101" pitchFamily="2" charset="-122"/>
              </a:rPr>
              <a:t>         比</a:t>
            </a:r>
            <a:r>
              <a:rPr lang="en-US" altLang="zh-CN" sz="2200" b="1" dirty="0">
                <a:latin typeface="宋体" panose="02010600030101010101" pitchFamily="2" charset="-122"/>
              </a:rPr>
              <a:t>DMA</a:t>
            </a:r>
            <a:r>
              <a:rPr lang="zh-CN" altLang="en-US" sz="2200" b="1" dirty="0">
                <a:latin typeface="宋体" panose="02010600030101010101" pitchFamily="2" charset="-122"/>
              </a:rPr>
              <a:t>少</a:t>
            </a:r>
            <a:r>
              <a:rPr lang="en-US" altLang="zh-CN" sz="1800" b="1" dirty="0">
                <a:latin typeface="宋体" panose="02010600030101010101" pitchFamily="2" charset="-122"/>
              </a:rPr>
              <a:t>(CPU</a:t>
            </a:r>
            <a:r>
              <a:rPr lang="zh-CN" altLang="en-US" sz="1800" b="1" dirty="0">
                <a:latin typeface="宋体" panose="02010600030101010101" pitchFamily="2" charset="-122"/>
              </a:rPr>
              <a:t>无需实现传送准备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</a:p>
          <a:p>
            <a:pPr algn="l">
              <a:lnSpc>
                <a:spcPct val="125000"/>
              </a:lnSpc>
              <a:spcBef>
                <a:spcPts val="300"/>
              </a:spcBef>
            </a:pPr>
            <a:endParaRPr lang="en-US" altLang="zh-CN" sz="22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sz="2200" b="1" dirty="0">
                <a:latin typeface="宋体" panose="02010600030101010101" pitchFamily="2" charset="-122"/>
              </a:rPr>
              <a:t>用专用</a:t>
            </a:r>
            <a:r>
              <a:rPr lang="zh-CN" altLang="en-US" sz="2200" b="1" dirty="0">
                <a:highlight>
                  <a:srgbClr val="99CCFF"/>
                </a:highlight>
                <a:latin typeface="宋体" panose="02010600030101010101" pitchFamily="2" charset="-122"/>
              </a:rPr>
              <a:t>处理机</a:t>
            </a:r>
            <a:r>
              <a:rPr lang="zh-CN" altLang="en-US" sz="2200" b="1" dirty="0">
                <a:latin typeface="宋体" panose="02010600030101010101" pitchFamily="2" charset="-122"/>
              </a:rPr>
              <a:t>实现</a:t>
            </a:r>
            <a:r>
              <a:rPr lang="en-US" altLang="zh-CN" sz="2200" b="1" dirty="0">
                <a:latin typeface="宋体" panose="02010600030101010101" pitchFamily="2" charset="-122"/>
              </a:rPr>
              <a:t>I/O</a:t>
            </a:r>
            <a:r>
              <a:rPr lang="zh-CN" altLang="en-US" sz="2200" b="1" dirty="0">
                <a:latin typeface="宋体" panose="02010600030101010101" pitchFamily="2" charset="-122"/>
              </a:rPr>
              <a:t>控制                </a:t>
            </a:r>
            <a:r>
              <a:rPr lang="zh-CN" altLang="en-US" sz="1800" b="1" dirty="0">
                <a:latin typeface="宋体" panose="02010600030101010101" pitchFamily="2" charset="-122"/>
              </a:rPr>
              <a:t>←与</a:t>
            </a:r>
            <a:r>
              <a:rPr lang="en-US" altLang="zh-CN" sz="1800" b="1" dirty="0">
                <a:latin typeface="宋体" panose="02010600030101010101" pitchFamily="2" charset="-122"/>
              </a:rPr>
              <a:t>CPU</a:t>
            </a:r>
            <a:r>
              <a:rPr lang="zh-CN" altLang="en-US" sz="1800" b="1" dirty="0">
                <a:latin typeface="宋体" panose="02010600030101010101" pitchFamily="2" charset="-122"/>
              </a:rPr>
              <a:t>不共享主存</a:t>
            </a:r>
            <a:endParaRPr lang="en-US" altLang="zh-CN" sz="1800" b="1" dirty="0">
              <a:latin typeface="宋体" panose="02010600030101010101" pitchFamily="2" charset="-122"/>
            </a:endParaRPr>
          </a:p>
        </p:txBody>
      </p:sp>
      <p:sp>
        <p:nvSpPr>
          <p:cNvPr id="44" name="AutoShape 69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4068638" y="6526038"/>
            <a:ext cx="287338" cy="287338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" name="AutoShape 62">
            <a:hlinkClick r:id="rId2" action="ppaction://hlinksldjump"/>
          </p:cNvPr>
          <p:cNvSpPr>
            <a:spLocks noChangeArrowheads="1"/>
          </p:cNvSpPr>
          <p:nvPr/>
        </p:nvSpPr>
        <p:spPr bwMode="auto">
          <a:xfrm rot="16200000">
            <a:off x="7452669" y="6237658"/>
            <a:ext cx="287337" cy="864098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zh-CN" altLang="en-US" sz="1600" u="none" dirty="0">
                <a:solidFill>
                  <a:schemeClr val="bg2"/>
                </a:solidFill>
                <a:latin typeface="+mn-ea"/>
                <a:ea typeface="+mn-ea"/>
              </a:rPr>
              <a:t>回目录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44822AB3-45FE-4391-ACDF-45432567923F}"/>
              </a:ext>
            </a:extLst>
          </p:cNvPr>
          <p:cNvGrpSpPr/>
          <p:nvPr/>
        </p:nvGrpSpPr>
        <p:grpSpPr>
          <a:xfrm>
            <a:off x="1259632" y="2420888"/>
            <a:ext cx="7272000" cy="829896"/>
            <a:chOff x="1368000" y="2564904"/>
            <a:chExt cx="7272000" cy="829896"/>
          </a:xfrm>
        </p:grpSpPr>
        <p:sp>
          <p:nvSpPr>
            <p:cNvPr id="46" name="Text Box 72"/>
            <p:cNvSpPr txBox="1">
              <a:spLocks noChangeArrowheads="1"/>
            </p:cNvSpPr>
            <p:nvPr/>
          </p:nvSpPr>
          <p:spPr bwMode="auto">
            <a:xfrm>
              <a:off x="1368000" y="2744904"/>
              <a:ext cx="648000" cy="252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CPU</a:t>
              </a:r>
            </a:p>
          </p:txBody>
        </p:sp>
        <p:sp>
          <p:nvSpPr>
            <p:cNvPr id="47" name="Text Box 74"/>
            <p:cNvSpPr txBox="1">
              <a:spLocks noChangeArrowheads="1"/>
            </p:cNvSpPr>
            <p:nvPr/>
          </p:nvSpPr>
          <p:spPr bwMode="auto">
            <a:xfrm>
              <a:off x="2232000" y="2744904"/>
              <a:ext cx="648000" cy="25200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主存</a:t>
              </a:r>
            </a:p>
          </p:txBody>
        </p:sp>
        <p:sp>
          <p:nvSpPr>
            <p:cNvPr id="48" name="Text Box 79"/>
            <p:cNvSpPr txBox="1">
              <a:spLocks noChangeArrowheads="1"/>
            </p:cNvSpPr>
            <p:nvPr/>
          </p:nvSpPr>
          <p:spPr bwMode="auto">
            <a:xfrm>
              <a:off x="7344000" y="2744904"/>
              <a:ext cx="288925" cy="252000"/>
            </a:xfrm>
            <a:prstGeom prst="rect">
              <a:avLst/>
            </a:prstGeom>
            <a:noFill/>
            <a:ln w="222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latin typeface="+mn-ea"/>
                  <a:ea typeface="+mn-ea"/>
                </a:rPr>
                <a:t>…</a:t>
              </a:r>
            </a:p>
          </p:txBody>
        </p:sp>
        <p:sp>
          <p:nvSpPr>
            <p:cNvPr id="49" name="Text Box 80"/>
            <p:cNvSpPr txBox="1">
              <a:spLocks noChangeArrowheads="1"/>
            </p:cNvSpPr>
            <p:nvPr/>
          </p:nvSpPr>
          <p:spPr bwMode="auto">
            <a:xfrm>
              <a:off x="2975113" y="2618904"/>
              <a:ext cx="948815" cy="216000"/>
            </a:xfrm>
            <a:prstGeom prst="rect">
              <a:avLst/>
            </a:prstGeom>
            <a:noFill/>
            <a:ln w="222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/>
                <a:t>系统总线</a:t>
              </a:r>
            </a:p>
          </p:txBody>
        </p:sp>
        <p:sp>
          <p:nvSpPr>
            <p:cNvPr id="50" name="Text Box 81"/>
            <p:cNvSpPr txBox="1">
              <a:spLocks noChangeArrowheads="1"/>
            </p:cNvSpPr>
            <p:nvPr/>
          </p:nvSpPr>
          <p:spPr bwMode="auto">
            <a:xfrm>
              <a:off x="3995937" y="2744904"/>
              <a:ext cx="720000" cy="25200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通道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0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51" name="直接连接符 50"/>
            <p:cNvCxnSpPr>
              <a:cxnSpLocks/>
            </p:cNvCxnSpPr>
            <p:nvPr/>
          </p:nvCxnSpPr>
          <p:spPr bwMode="auto">
            <a:xfrm>
              <a:off x="1692000" y="2564904"/>
              <a:ext cx="0" cy="180000"/>
            </a:xfrm>
            <a:prstGeom prst="line">
              <a:avLst/>
            </a:prstGeom>
            <a:noFill/>
            <a:ln w="28575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2" name="直接连接符 51"/>
            <p:cNvCxnSpPr>
              <a:cxnSpLocks/>
            </p:cNvCxnSpPr>
            <p:nvPr/>
          </p:nvCxnSpPr>
          <p:spPr bwMode="auto">
            <a:xfrm flipV="1">
              <a:off x="2555776" y="2564904"/>
              <a:ext cx="0" cy="180000"/>
            </a:xfrm>
            <a:prstGeom prst="line">
              <a:avLst/>
            </a:prstGeom>
            <a:noFill/>
            <a:ln w="28575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3" name="直接连接符 52"/>
            <p:cNvCxnSpPr/>
            <p:nvPr/>
          </p:nvCxnSpPr>
          <p:spPr bwMode="auto">
            <a:xfrm flipV="1">
              <a:off x="1368000" y="2564904"/>
              <a:ext cx="7272000" cy="0"/>
            </a:xfrm>
            <a:prstGeom prst="line">
              <a:avLst/>
            </a:prstGeom>
            <a:noFill/>
            <a:ln w="28575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4" name="直接连接符 53"/>
            <p:cNvCxnSpPr>
              <a:cxnSpLocks/>
            </p:cNvCxnSpPr>
            <p:nvPr/>
          </p:nvCxnSpPr>
          <p:spPr bwMode="auto">
            <a:xfrm>
              <a:off x="4392000" y="2564904"/>
              <a:ext cx="0" cy="180000"/>
            </a:xfrm>
            <a:prstGeom prst="line">
              <a:avLst/>
            </a:prstGeom>
            <a:noFill/>
            <a:ln w="28575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55" name="Text Box 81"/>
            <p:cNvSpPr txBox="1">
              <a:spLocks noChangeArrowheads="1"/>
            </p:cNvSpPr>
            <p:nvPr/>
          </p:nvSpPr>
          <p:spPr bwMode="auto">
            <a:xfrm>
              <a:off x="6528927" y="2744904"/>
              <a:ext cx="720000" cy="25200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通道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1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56" name="直接连接符 55"/>
            <p:cNvCxnSpPr>
              <a:cxnSpLocks/>
            </p:cNvCxnSpPr>
            <p:nvPr/>
          </p:nvCxnSpPr>
          <p:spPr bwMode="auto">
            <a:xfrm>
              <a:off x="6912000" y="2564904"/>
              <a:ext cx="0" cy="180000"/>
            </a:xfrm>
            <a:prstGeom prst="line">
              <a:avLst/>
            </a:prstGeom>
            <a:noFill/>
            <a:ln w="28575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57" name="Text Box 81"/>
            <p:cNvSpPr txBox="1">
              <a:spLocks noChangeArrowheads="1"/>
            </p:cNvSpPr>
            <p:nvPr/>
          </p:nvSpPr>
          <p:spPr bwMode="auto">
            <a:xfrm>
              <a:off x="7704000" y="2744904"/>
              <a:ext cx="936000" cy="252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I/O</a:t>
              </a:r>
              <a:r>
                <a:rPr lang="zh-CN" altLang="en-US" sz="1800" b="1" dirty="0">
                  <a:latin typeface="宋体" panose="02010600030101010101" pitchFamily="2" charset="-122"/>
                </a:rPr>
                <a:t>接口</a:t>
              </a:r>
            </a:p>
          </p:txBody>
        </p:sp>
        <p:cxnSp>
          <p:nvCxnSpPr>
            <p:cNvPr id="58" name="直接连接符 57"/>
            <p:cNvCxnSpPr>
              <a:cxnSpLocks/>
            </p:cNvCxnSpPr>
            <p:nvPr/>
          </p:nvCxnSpPr>
          <p:spPr bwMode="auto">
            <a:xfrm>
              <a:off x="8136000" y="2564904"/>
              <a:ext cx="0" cy="180000"/>
            </a:xfrm>
            <a:prstGeom prst="line">
              <a:avLst/>
            </a:prstGeom>
            <a:noFill/>
            <a:ln w="28575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9" name="直接连接符 58"/>
            <p:cNvCxnSpPr/>
            <p:nvPr/>
          </p:nvCxnSpPr>
          <p:spPr bwMode="auto">
            <a:xfrm>
              <a:off x="4716000" y="2888944"/>
              <a:ext cx="1584000" cy="0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0" name="直接连接符 59"/>
            <p:cNvCxnSpPr>
              <a:cxnSpLocks/>
            </p:cNvCxnSpPr>
            <p:nvPr/>
          </p:nvCxnSpPr>
          <p:spPr bwMode="auto">
            <a:xfrm>
              <a:off x="5076056" y="2888944"/>
              <a:ext cx="0" cy="180000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61" name="Text Box 81"/>
            <p:cNvSpPr txBox="1">
              <a:spLocks noChangeArrowheads="1"/>
            </p:cNvSpPr>
            <p:nvPr/>
          </p:nvSpPr>
          <p:spPr bwMode="auto">
            <a:xfrm>
              <a:off x="4788025" y="3068904"/>
              <a:ext cx="576064" cy="2520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外设</a:t>
              </a:r>
            </a:p>
          </p:txBody>
        </p:sp>
        <p:sp>
          <p:nvSpPr>
            <p:cNvPr id="62" name="Text Box 81"/>
            <p:cNvSpPr txBox="1">
              <a:spLocks noChangeArrowheads="1"/>
            </p:cNvSpPr>
            <p:nvPr/>
          </p:nvSpPr>
          <p:spPr bwMode="auto">
            <a:xfrm>
              <a:off x="5724129" y="3068904"/>
              <a:ext cx="576064" cy="2520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外设</a:t>
              </a:r>
            </a:p>
          </p:txBody>
        </p:sp>
        <p:sp>
          <p:nvSpPr>
            <p:cNvPr id="63" name="Text Box 79"/>
            <p:cNvSpPr txBox="1">
              <a:spLocks noChangeArrowheads="1"/>
            </p:cNvSpPr>
            <p:nvPr/>
          </p:nvSpPr>
          <p:spPr bwMode="auto">
            <a:xfrm>
              <a:off x="5400000" y="3068904"/>
              <a:ext cx="288000" cy="252000"/>
            </a:xfrm>
            <a:prstGeom prst="rect">
              <a:avLst/>
            </a:prstGeom>
            <a:noFill/>
            <a:ln w="222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latin typeface="+mn-ea"/>
                  <a:ea typeface="+mn-ea"/>
                </a:rPr>
                <a:t>…</a:t>
              </a:r>
            </a:p>
          </p:txBody>
        </p:sp>
        <p:cxnSp>
          <p:nvCxnSpPr>
            <p:cNvPr id="64" name="直接连接符 63"/>
            <p:cNvCxnSpPr>
              <a:cxnSpLocks/>
            </p:cNvCxnSpPr>
            <p:nvPr/>
          </p:nvCxnSpPr>
          <p:spPr bwMode="auto">
            <a:xfrm>
              <a:off x="6012158" y="2888944"/>
              <a:ext cx="0" cy="180000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5" name="直接连接符 64"/>
            <p:cNvCxnSpPr/>
            <p:nvPr/>
          </p:nvCxnSpPr>
          <p:spPr bwMode="auto">
            <a:xfrm>
              <a:off x="6516216" y="3140904"/>
              <a:ext cx="720000" cy="0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6" name="直接连接符 65"/>
            <p:cNvCxnSpPr>
              <a:cxnSpLocks/>
            </p:cNvCxnSpPr>
            <p:nvPr/>
          </p:nvCxnSpPr>
          <p:spPr bwMode="auto">
            <a:xfrm>
              <a:off x="6912000" y="2996904"/>
              <a:ext cx="0" cy="144000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7" name="直接连接符 66"/>
            <p:cNvCxnSpPr/>
            <p:nvPr/>
          </p:nvCxnSpPr>
          <p:spPr bwMode="auto">
            <a:xfrm>
              <a:off x="6660000" y="3140904"/>
              <a:ext cx="0" cy="144000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8" name="直接连接符 67"/>
            <p:cNvCxnSpPr/>
            <p:nvPr/>
          </p:nvCxnSpPr>
          <p:spPr bwMode="auto">
            <a:xfrm>
              <a:off x="7092000" y="3140904"/>
              <a:ext cx="0" cy="144000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69" name="Text Box 80"/>
            <p:cNvSpPr txBox="1">
              <a:spLocks noChangeArrowheads="1"/>
            </p:cNvSpPr>
            <p:nvPr/>
          </p:nvSpPr>
          <p:spPr bwMode="auto">
            <a:xfrm>
              <a:off x="5076000" y="2672904"/>
              <a:ext cx="936104" cy="216000"/>
            </a:xfrm>
            <a:prstGeom prst="rect">
              <a:avLst/>
            </a:prstGeom>
            <a:noFill/>
            <a:ln w="222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/>
                <a:t>通道总线</a:t>
              </a:r>
            </a:p>
          </p:txBody>
        </p:sp>
        <p:sp>
          <p:nvSpPr>
            <p:cNvPr id="70" name="Text Box 81">
              <a:extLst>
                <a:ext uri="{FF2B5EF4-FFF2-40B4-BE49-F238E27FC236}">
                  <a16:creationId xmlns:a16="http://schemas.microsoft.com/office/drawing/2014/main" id="{E44D0A84-0822-4C30-8756-E1A9131851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76000" y="3142800"/>
              <a:ext cx="720000" cy="2520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外设</a:t>
              </a:r>
            </a:p>
          </p:txBody>
        </p:sp>
        <p:cxnSp>
          <p:nvCxnSpPr>
            <p:cNvPr id="71" name="直接连接符 70">
              <a:extLst>
                <a:ext uri="{FF2B5EF4-FFF2-40B4-BE49-F238E27FC236}">
                  <a16:creationId xmlns:a16="http://schemas.microsoft.com/office/drawing/2014/main" id="{F95189FF-DC76-431B-9AB9-4CFD47B10580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8136000" y="2998800"/>
              <a:ext cx="0" cy="144000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4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3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291" name="Text Box 59"/>
          <p:cNvSpPr txBox="1">
            <a:spLocks noChangeArrowheads="1"/>
          </p:cNvSpPr>
          <p:nvPr/>
        </p:nvSpPr>
        <p:spPr bwMode="auto">
          <a:xfrm>
            <a:off x="179388" y="1268760"/>
            <a:ext cx="8857107" cy="337355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外设的分类：</a:t>
            </a: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按交互方式分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r>
              <a:rPr lang="zh-CN" altLang="en-US" sz="2200" b="1" dirty="0">
                <a:latin typeface="宋体" panose="02010600030101010101" pitchFamily="2" charset="-122"/>
              </a:rPr>
              <a:t>人</a:t>
            </a:r>
            <a:r>
              <a:rPr lang="en-US" altLang="zh-CN" sz="2200" b="1" dirty="0">
                <a:latin typeface="宋体" panose="02010600030101010101" pitchFamily="2" charset="-122"/>
              </a:rPr>
              <a:t>-</a:t>
            </a:r>
            <a:r>
              <a:rPr lang="zh-CN" altLang="en-US" sz="2200" b="1" dirty="0">
                <a:latin typeface="宋体" panose="02010600030101010101" pitchFamily="2" charset="-122"/>
              </a:rPr>
              <a:t>机交互、机</a:t>
            </a:r>
            <a:r>
              <a:rPr lang="en-US" altLang="zh-CN" sz="2200" b="1" dirty="0">
                <a:latin typeface="宋体" panose="02010600030101010101" pitchFamily="2" charset="-122"/>
              </a:rPr>
              <a:t>-</a:t>
            </a:r>
            <a:r>
              <a:rPr lang="zh-CN" altLang="en-US" sz="2200" b="1" dirty="0">
                <a:latin typeface="宋体" panose="02010600030101010101" pitchFamily="2" charset="-122"/>
              </a:rPr>
              <a:t>机通信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磁盘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/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网络等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)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按</a:t>
            </a:r>
            <a:r>
              <a:rPr 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功能行为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分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输入</a:t>
            </a: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/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输出、存储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磁盘等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)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按传送批量分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r>
              <a:rPr lang="zh-CN" altLang="en-US" sz="2200" b="1" dirty="0">
                <a:latin typeface="宋体" panose="02010600030101010101" pitchFamily="2" charset="-122"/>
              </a:rPr>
              <a:t>字符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如键盘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r>
              <a:rPr lang="zh-CN" altLang="en-US" sz="2200" b="1" dirty="0">
                <a:latin typeface="宋体" panose="02010600030101010101" pitchFamily="2" charset="-122"/>
              </a:rPr>
              <a:t>、块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如磁盘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r>
              <a:rPr lang="zh-CN" altLang="en-US" sz="2200" b="1" dirty="0">
                <a:latin typeface="宋体" panose="02010600030101010101" pitchFamily="2" charset="-122"/>
              </a:rPr>
              <a:t>    </a:t>
            </a:r>
            <a:r>
              <a:rPr lang="zh-CN" altLang="en-US" sz="1800" b="1" dirty="0">
                <a:latin typeface="宋体" panose="02010600030101010101" pitchFamily="2" charset="-122"/>
              </a:rPr>
              <a:t>←指一次</a:t>
            </a:r>
            <a:r>
              <a:rPr lang="en-US" altLang="zh-CN" sz="1800" b="1" dirty="0">
                <a:latin typeface="宋体" panose="02010600030101010101" pitchFamily="2" charset="-122"/>
              </a:rPr>
              <a:t>I/O</a:t>
            </a:r>
            <a:r>
              <a:rPr lang="zh-CN" altLang="en-US" sz="1800" b="1" dirty="0">
                <a:latin typeface="宋体" panose="02010600030101010101" pitchFamily="2" charset="-122"/>
              </a:rPr>
              <a:t>的数量</a:t>
            </a:r>
            <a:endParaRPr lang="en-US" altLang="zh-CN" sz="18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300"/>
              </a:spcBef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外设的组成：</a:t>
            </a: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设备接口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</a:p>
          <a:p>
            <a:pPr algn="l"/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*外设的连接：</a:t>
            </a:r>
            <a:endParaRPr lang="en-US" altLang="zh-CN" sz="2200" b="1" dirty="0">
              <a:latin typeface="宋体" panose="02010600030101010101" pitchFamily="2" charset="-122"/>
            </a:endParaRPr>
          </a:p>
        </p:txBody>
      </p:sp>
      <p:sp>
        <p:nvSpPr>
          <p:cNvPr id="2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465785-18F3-4DFA-AB20-FB10518DE8E9}" type="slidenum">
              <a:rPr lang="en-US" altLang="zh-CN"/>
              <a:t>15</a:t>
            </a:fld>
            <a:endParaRPr lang="en-US" altLang="zh-CN"/>
          </a:p>
        </p:txBody>
      </p:sp>
      <p:sp>
        <p:nvSpPr>
          <p:cNvPr id="223236" name="Text Box 4"/>
          <p:cNvSpPr txBox="1">
            <a:spLocks noChangeArrowheads="1"/>
          </p:cNvSpPr>
          <p:nvPr/>
        </p:nvSpPr>
        <p:spPr bwMode="auto">
          <a:xfrm>
            <a:off x="838200" y="260648"/>
            <a:ext cx="7467600" cy="5232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2800" b="1" dirty="0">
                <a:latin typeface="宋体" panose="02010600030101010101" pitchFamily="2" charset="-122"/>
              </a:rPr>
              <a:t>§7.2  </a:t>
            </a:r>
            <a:r>
              <a:rPr lang="zh-CN" altLang="en-US" sz="2800" b="1" dirty="0">
                <a:latin typeface="宋体" panose="02010600030101010101" pitchFamily="2" charset="-122"/>
              </a:rPr>
              <a:t>外部设备</a:t>
            </a:r>
          </a:p>
        </p:txBody>
      </p:sp>
      <p:sp>
        <p:nvSpPr>
          <p:cNvPr id="223239" name="Text Box 7"/>
          <p:cNvSpPr txBox="1">
            <a:spLocks noChangeArrowheads="1"/>
          </p:cNvSpPr>
          <p:nvPr/>
        </p:nvSpPr>
        <p:spPr bwMode="auto">
          <a:xfrm>
            <a:off x="2201045" y="2996952"/>
            <a:ext cx="6835451" cy="163307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部件＋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[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驱动器＋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]</a:t>
            </a:r>
            <a:r>
              <a:rPr lang="zh-CN" altLang="en-US" sz="2200" b="1" dirty="0">
                <a:latin typeface="宋体" panose="02010600030101010101" pitchFamily="2" charset="-122"/>
              </a:rPr>
              <a:t>设备控制器</a:t>
            </a:r>
            <a:r>
              <a:rPr lang="en-US" altLang="zh-CN" sz="2200" b="1" dirty="0">
                <a:latin typeface="宋体" panose="02010600030101010101" pitchFamily="2" charset="-122"/>
              </a:rPr>
              <a:t>  </a:t>
            </a:r>
            <a:r>
              <a:rPr lang="en-US" altLang="zh-CN" sz="1800" b="1" dirty="0">
                <a:latin typeface="宋体" panose="02010600030101010101" pitchFamily="2" charset="-122"/>
              </a:rPr>
              <a:t> 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←驱动器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如光驱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)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可选</a:t>
            </a:r>
            <a:endParaRPr lang="en-US" altLang="zh-CN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sz="2200" b="1" dirty="0">
                <a:latin typeface="宋体" panose="02010600030101010101" pitchFamily="2" charset="-122"/>
              </a:rPr>
              <a:t>即通信接口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如</a:t>
            </a:r>
            <a:r>
              <a:rPr lang="en-US" altLang="zh-CN" sz="1800" b="1" dirty="0">
                <a:latin typeface="宋体" panose="02010600030101010101" pitchFamily="2" charset="-122"/>
              </a:rPr>
              <a:t>USB)</a:t>
            </a:r>
            <a:r>
              <a:rPr lang="zh-CN" altLang="en-US" sz="2200" b="1" dirty="0">
                <a:latin typeface="宋体" panose="02010600030101010101" pitchFamily="2" charset="-122"/>
              </a:rPr>
              <a:t>        </a:t>
            </a:r>
            <a:r>
              <a:rPr lang="en-US" altLang="zh-CN" sz="2200" b="1" dirty="0">
                <a:latin typeface="宋体" panose="02010600030101010101" pitchFamily="2" charset="-122"/>
              </a:rPr>
              <a:t>   </a:t>
            </a:r>
            <a:r>
              <a:rPr lang="zh-CN" altLang="en-US" sz="2200" b="1" dirty="0">
                <a:latin typeface="宋体" panose="02010600030101010101" pitchFamily="2" charset="-122"/>
              </a:rPr>
              <a:t>  </a:t>
            </a:r>
            <a:r>
              <a:rPr lang="zh-CN" altLang="en-US" sz="1800" b="1" dirty="0">
                <a:latin typeface="宋体" panose="02010600030101010101" pitchFamily="2" charset="-122"/>
              </a:rPr>
              <a:t>←便于连接</a:t>
            </a:r>
            <a:endParaRPr lang="en-US" altLang="zh-CN" sz="1800" b="1" dirty="0">
              <a:latin typeface="宋体" panose="02010600030101010101" pitchFamily="2" charset="-122"/>
            </a:endParaRPr>
          </a:p>
          <a:p>
            <a:pPr algn="l">
              <a:lnSpc>
                <a:spcPct val="105000"/>
              </a:lnSpc>
            </a:pPr>
            <a:r>
              <a:rPr lang="zh-CN" altLang="en-US" sz="1800" b="1" dirty="0">
                <a:latin typeface="宋体" panose="02010600030101010101" pitchFamily="2" charset="-122"/>
              </a:rPr>
              <a:t>     </a:t>
            </a:r>
            <a:r>
              <a:rPr lang="zh-CN" altLang="en-US" sz="1800" dirty="0">
                <a:latin typeface="宋体" panose="02010600030101010101" pitchFamily="2" charset="-122"/>
              </a:rPr>
              <a:t>└</a:t>
            </a:r>
            <a:r>
              <a:rPr lang="zh-CN" altLang="en-US" sz="1800" b="1" dirty="0">
                <a:latin typeface="宋体" panose="02010600030101010101" pitchFamily="2" charset="-122"/>
              </a:rPr>
              <a:t>←接口电路放在设备控制器中</a:t>
            </a:r>
            <a:endParaRPr lang="en-US" altLang="zh-CN" sz="18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300"/>
              </a:spcBef>
            </a:pPr>
            <a:r>
              <a:rPr lang="zh-CN" altLang="en-US" sz="2200" b="1" dirty="0">
                <a:latin typeface="宋体" panose="02010600030101010101" pitchFamily="2" charset="-122"/>
              </a:rPr>
              <a:t>基于总线</a:t>
            </a:r>
            <a:r>
              <a:rPr lang="en-US" altLang="zh-CN" sz="2200" b="1" dirty="0">
                <a:latin typeface="宋体" panose="02010600030101010101" pitchFamily="2" charset="-122"/>
              </a:rPr>
              <a:t>&amp;I/O</a:t>
            </a:r>
            <a:r>
              <a:rPr lang="zh-CN" altLang="en-US" sz="2200" b="1" dirty="0">
                <a:latin typeface="宋体" panose="02010600030101010101" pitchFamily="2" charset="-122"/>
              </a:rPr>
              <a:t>接口</a:t>
            </a:r>
            <a:endParaRPr lang="en-US" altLang="zh-CN" sz="2200" b="1" dirty="0">
              <a:latin typeface="宋体" panose="02010600030101010101" pitchFamily="2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966292" y="4653136"/>
            <a:ext cx="7488008" cy="936000"/>
            <a:chOff x="966292" y="4221088"/>
            <a:chExt cx="7488008" cy="936000"/>
          </a:xfrm>
        </p:grpSpPr>
        <p:cxnSp>
          <p:nvCxnSpPr>
            <p:cNvPr id="33" name="直接连接符 32"/>
            <p:cNvCxnSpPr>
              <a:cxnSpLocks/>
            </p:cNvCxnSpPr>
            <p:nvPr/>
          </p:nvCxnSpPr>
          <p:spPr bwMode="auto">
            <a:xfrm flipV="1">
              <a:off x="4104000" y="4293088"/>
              <a:ext cx="0" cy="252000"/>
            </a:xfrm>
            <a:prstGeom prst="line">
              <a:avLst/>
            </a:prstGeom>
            <a:noFill/>
            <a:ln w="28575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4" name="Text Box 82"/>
            <p:cNvSpPr txBox="1">
              <a:spLocks noChangeArrowheads="1"/>
            </p:cNvSpPr>
            <p:nvPr/>
          </p:nvSpPr>
          <p:spPr bwMode="auto">
            <a:xfrm>
              <a:off x="3636000" y="4545088"/>
              <a:ext cx="936000" cy="288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I/O</a:t>
              </a:r>
              <a:r>
                <a:rPr lang="zh-CN" altLang="en-US" sz="1800" b="1" dirty="0">
                  <a:latin typeface="宋体" panose="02010600030101010101" pitchFamily="2" charset="-122"/>
                </a:rPr>
                <a:t>接口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36" name="Text Box 80"/>
            <p:cNvSpPr txBox="1">
              <a:spLocks noChangeArrowheads="1"/>
            </p:cNvSpPr>
            <p:nvPr/>
          </p:nvSpPr>
          <p:spPr bwMode="auto">
            <a:xfrm>
              <a:off x="3059833" y="4293096"/>
              <a:ext cx="504055" cy="282793"/>
            </a:xfrm>
            <a:prstGeom prst="rect">
              <a:avLst/>
            </a:prstGeom>
            <a:noFill/>
            <a:ln w="222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/>
                <a:t>总线</a:t>
              </a:r>
            </a:p>
          </p:txBody>
        </p:sp>
        <p:grpSp>
          <p:nvGrpSpPr>
            <p:cNvPr id="71" name="组合 70"/>
            <p:cNvGrpSpPr/>
            <p:nvPr/>
          </p:nvGrpSpPr>
          <p:grpSpPr>
            <a:xfrm>
              <a:off x="966292" y="4221088"/>
              <a:ext cx="7488008" cy="936000"/>
              <a:chOff x="683568" y="3933056"/>
              <a:chExt cx="7488008" cy="936000"/>
            </a:xfrm>
          </p:grpSpPr>
          <p:sp>
            <p:nvSpPr>
              <p:cNvPr id="73" name="Text Box 72"/>
              <p:cNvSpPr txBox="1">
                <a:spLocks noChangeArrowheads="1"/>
              </p:cNvSpPr>
              <p:nvPr/>
            </p:nvSpPr>
            <p:spPr bwMode="auto">
              <a:xfrm>
                <a:off x="755576" y="4257056"/>
                <a:ext cx="792087" cy="288000"/>
              </a:xfrm>
              <a:prstGeom prst="rect">
                <a:avLst/>
              </a:prstGeom>
              <a:solidFill>
                <a:srgbClr val="FFCCFF">
                  <a:alpha val="80000"/>
                </a:srgbClr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10800" anchor="ctr"/>
              <a:lstStyle/>
              <a:p>
                <a:pPr>
                  <a:lnSpc>
                    <a:spcPct val="90000"/>
                  </a:lnSpc>
                </a:pPr>
                <a:r>
                  <a:rPr lang="en-US" altLang="zh-CN" sz="1800" b="1" dirty="0">
                    <a:latin typeface="宋体" panose="02010600030101010101" pitchFamily="2" charset="-122"/>
                  </a:rPr>
                  <a:t>CPU</a:t>
                </a:r>
              </a:p>
            </p:txBody>
          </p:sp>
          <p:sp>
            <p:nvSpPr>
              <p:cNvPr id="74" name="Text Box 74"/>
              <p:cNvSpPr txBox="1">
                <a:spLocks noChangeArrowheads="1"/>
              </p:cNvSpPr>
              <p:nvPr/>
            </p:nvSpPr>
            <p:spPr bwMode="auto">
              <a:xfrm>
                <a:off x="1763688" y="4257056"/>
                <a:ext cx="864096" cy="288000"/>
              </a:xfrm>
              <a:prstGeom prst="rect">
                <a:avLst/>
              </a:prstGeom>
              <a:solidFill>
                <a:srgbClr val="99CCFF">
                  <a:alpha val="80000"/>
                </a:srgbClr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10800" anchor="ctr"/>
              <a:lstStyle/>
              <a:p>
                <a:pPr>
                  <a:lnSpc>
                    <a:spcPct val="90000"/>
                  </a:lnSpc>
                </a:pPr>
                <a:r>
                  <a:rPr lang="zh-CN" altLang="en-US" sz="1800" b="1" dirty="0">
                    <a:latin typeface="宋体" panose="02010600030101010101" pitchFamily="2" charset="-122"/>
                  </a:rPr>
                  <a:t>主存</a:t>
                </a:r>
              </a:p>
            </p:txBody>
          </p:sp>
          <p:cxnSp>
            <p:nvCxnSpPr>
              <p:cNvPr id="75" name="直接连接符 74"/>
              <p:cNvCxnSpPr>
                <a:cxnSpLocks/>
              </p:cNvCxnSpPr>
              <p:nvPr/>
            </p:nvCxnSpPr>
            <p:spPr bwMode="auto">
              <a:xfrm>
                <a:off x="1192932" y="4005056"/>
                <a:ext cx="0" cy="252000"/>
              </a:xfrm>
              <a:prstGeom prst="line">
                <a:avLst/>
              </a:prstGeom>
              <a:noFill/>
              <a:ln w="28575" cap="flat" cmpd="dbl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6" name="直接连接符 75"/>
              <p:cNvCxnSpPr>
                <a:cxnSpLocks/>
              </p:cNvCxnSpPr>
              <p:nvPr/>
            </p:nvCxnSpPr>
            <p:spPr bwMode="auto">
              <a:xfrm flipV="1">
                <a:off x="2201044" y="4005056"/>
                <a:ext cx="0" cy="252000"/>
              </a:xfrm>
              <a:prstGeom prst="line">
                <a:avLst/>
              </a:prstGeom>
              <a:noFill/>
              <a:ln w="28575" cap="flat" cmpd="dbl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7" name="直接连接符 76"/>
              <p:cNvCxnSpPr/>
              <p:nvPr/>
            </p:nvCxnSpPr>
            <p:spPr bwMode="auto">
              <a:xfrm>
                <a:off x="755576" y="4005064"/>
                <a:ext cx="7416000" cy="0"/>
              </a:xfrm>
              <a:prstGeom prst="line">
                <a:avLst/>
              </a:prstGeom>
              <a:noFill/>
              <a:ln w="28575" cap="flat" cmpd="dbl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78" name="Rectangle 65"/>
              <p:cNvSpPr>
                <a:spLocks noChangeArrowheads="1"/>
              </p:cNvSpPr>
              <p:nvPr/>
            </p:nvSpPr>
            <p:spPr bwMode="auto">
              <a:xfrm>
                <a:off x="683568" y="3933056"/>
                <a:ext cx="2016224" cy="936000"/>
              </a:xfrm>
              <a:prstGeom prst="rect">
                <a:avLst/>
              </a:prstGeom>
              <a:noFill/>
              <a:ln w="15875">
                <a:solidFill>
                  <a:schemeClr val="tx1"/>
                </a:solidFill>
                <a:prstDash val="sysDash"/>
                <a:miter lim="800000"/>
              </a:ln>
              <a:effectLst/>
            </p:spPr>
            <p:txBody>
              <a:bodyPr wrap="none" anchor="b" anchorCtr="0"/>
              <a:lstStyle/>
              <a:p>
                <a:pPr>
                  <a:lnSpc>
                    <a:spcPct val="90000"/>
                  </a:lnSpc>
                </a:pPr>
                <a:r>
                  <a:rPr lang="zh-CN" altLang="en-US" sz="1800" b="1" dirty="0">
                    <a:latin typeface="+mn-ea"/>
                    <a:ea typeface="+mn-ea"/>
                  </a:rPr>
                  <a:t>主机</a:t>
                </a:r>
              </a:p>
            </p:txBody>
          </p:sp>
        </p:grpSp>
      </p:grpSp>
      <p:grpSp>
        <p:nvGrpSpPr>
          <p:cNvPr id="4" name="组合 3"/>
          <p:cNvGrpSpPr/>
          <p:nvPr/>
        </p:nvGrpSpPr>
        <p:grpSpPr>
          <a:xfrm>
            <a:off x="4572000" y="4869136"/>
            <a:ext cx="3886332" cy="1008000"/>
            <a:chOff x="4604400" y="4293096"/>
            <a:chExt cx="3886332" cy="1008000"/>
          </a:xfrm>
        </p:grpSpPr>
        <p:sp>
          <p:nvSpPr>
            <p:cNvPr id="70" name="Rectangle 65"/>
            <p:cNvSpPr>
              <a:spLocks noChangeArrowheads="1"/>
            </p:cNvSpPr>
            <p:nvPr/>
          </p:nvSpPr>
          <p:spPr bwMode="auto">
            <a:xfrm>
              <a:off x="4926732" y="4293096"/>
              <a:ext cx="3564000" cy="1008000"/>
            </a:xfrm>
            <a:prstGeom prst="rect">
              <a:avLst/>
            </a:prstGeom>
            <a:solidFill>
              <a:schemeClr val="accent2">
                <a:lumMod val="20000"/>
                <a:lumOff val="80000"/>
                <a:alpha val="80000"/>
              </a:scheme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anchor="b" anchorCtr="0"/>
            <a:lstStyle/>
            <a:p>
              <a:pPr>
                <a:lnSpc>
                  <a:spcPct val="90000"/>
                </a:lnSpc>
              </a:pPr>
              <a:r>
                <a:rPr lang="zh-CN" altLang="en-US" sz="1800" b="1" dirty="0">
                  <a:latin typeface="+mn-ea"/>
                  <a:ea typeface="+mn-ea"/>
                </a:rPr>
                <a:t>外部设备</a:t>
              </a:r>
            </a:p>
          </p:txBody>
        </p:sp>
        <p:sp>
          <p:nvSpPr>
            <p:cNvPr id="80" name="Text Box 82"/>
            <p:cNvSpPr txBox="1">
              <a:spLocks noChangeArrowheads="1"/>
            </p:cNvSpPr>
            <p:nvPr/>
          </p:nvSpPr>
          <p:spPr bwMode="auto">
            <a:xfrm>
              <a:off x="6188400" y="4365104"/>
              <a:ext cx="828000" cy="57600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设备</a:t>
              </a:r>
              <a:endParaRPr lang="en-US" altLang="zh-CN" sz="1800" b="1" dirty="0">
                <a:latin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驱动器</a:t>
              </a:r>
            </a:p>
          </p:txBody>
        </p:sp>
        <p:sp>
          <p:nvSpPr>
            <p:cNvPr id="81" name="Text Box 84"/>
            <p:cNvSpPr txBox="1">
              <a:spLocks noChangeArrowheads="1"/>
            </p:cNvSpPr>
            <p:nvPr/>
          </p:nvSpPr>
          <p:spPr bwMode="auto">
            <a:xfrm>
              <a:off x="7304400" y="4365104"/>
              <a:ext cx="1080000" cy="57600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机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/</a:t>
              </a:r>
              <a:r>
                <a:rPr lang="zh-CN" altLang="en-US" sz="1800" b="1" dirty="0">
                  <a:latin typeface="宋体" panose="02010600030101010101" pitchFamily="2" charset="-122"/>
                </a:rPr>
                <a:t>电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/</a:t>
              </a:r>
              <a:r>
                <a:rPr lang="zh-CN" altLang="en-US" sz="1800" b="1" dirty="0">
                  <a:latin typeface="宋体" panose="02010600030101010101" pitchFamily="2" charset="-122"/>
                </a:rPr>
                <a:t>光</a:t>
              </a:r>
              <a:endParaRPr lang="en-US" altLang="zh-CN" sz="1800" b="1" dirty="0">
                <a:latin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/</a:t>
              </a:r>
              <a:r>
                <a:rPr lang="zh-CN" altLang="en-US" sz="1800" b="1" dirty="0">
                  <a:latin typeface="宋体" panose="02010600030101010101" pitchFamily="2" charset="-122"/>
                </a:rPr>
                <a:t>磁部件</a:t>
              </a:r>
            </a:p>
          </p:txBody>
        </p:sp>
        <p:cxnSp>
          <p:nvCxnSpPr>
            <p:cNvPr id="82" name="直接箭头连接符 81"/>
            <p:cNvCxnSpPr/>
            <p:nvPr/>
          </p:nvCxnSpPr>
          <p:spPr bwMode="auto">
            <a:xfrm>
              <a:off x="7016400" y="4509096"/>
              <a:ext cx="288000" cy="1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</p:spPr>
        </p:cxnSp>
        <p:cxnSp>
          <p:nvCxnSpPr>
            <p:cNvPr id="83" name="直接箭头连接符 82"/>
            <p:cNvCxnSpPr/>
            <p:nvPr/>
          </p:nvCxnSpPr>
          <p:spPr bwMode="auto">
            <a:xfrm>
              <a:off x="5900400" y="4581096"/>
              <a:ext cx="288000" cy="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triangle"/>
            </a:ln>
          </p:spPr>
        </p:cxnSp>
        <p:cxnSp>
          <p:nvCxnSpPr>
            <p:cNvPr id="84" name="直接箭头连接符 83"/>
            <p:cNvCxnSpPr/>
            <p:nvPr/>
          </p:nvCxnSpPr>
          <p:spPr bwMode="auto">
            <a:xfrm flipH="1">
              <a:off x="7016400" y="4761096"/>
              <a:ext cx="28800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</p:spPr>
        </p:cxnSp>
        <p:cxnSp>
          <p:nvCxnSpPr>
            <p:cNvPr id="38" name="直接箭头连接符 37"/>
            <p:cNvCxnSpPr/>
            <p:nvPr/>
          </p:nvCxnSpPr>
          <p:spPr bwMode="auto">
            <a:xfrm>
              <a:off x="4604400" y="4545096"/>
              <a:ext cx="468000" cy="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triangle"/>
            </a:ln>
          </p:spPr>
        </p:cxnSp>
        <p:sp>
          <p:nvSpPr>
            <p:cNvPr id="40" name="Text Box 82"/>
            <p:cNvSpPr txBox="1">
              <a:spLocks noChangeArrowheads="1"/>
            </p:cNvSpPr>
            <p:nvPr/>
          </p:nvSpPr>
          <p:spPr bwMode="auto">
            <a:xfrm>
              <a:off x="5070747" y="4365476"/>
              <a:ext cx="828000" cy="576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设备</a:t>
              </a:r>
              <a:endParaRPr lang="en-US" altLang="zh-CN" sz="1800" b="1" dirty="0">
                <a:latin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控制器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</p:grpSp>
      <p:sp>
        <p:nvSpPr>
          <p:cNvPr id="27" name="Text Box 526"/>
          <p:cNvSpPr txBox="1">
            <a:spLocks noChangeArrowheads="1"/>
          </p:cNvSpPr>
          <p:nvPr/>
        </p:nvSpPr>
        <p:spPr bwMode="auto">
          <a:xfrm>
            <a:off x="179512" y="836712"/>
            <a:ext cx="8785225" cy="40011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l"/>
            <a:r>
              <a:rPr lang="en-US" altLang="zh-CN" sz="2000" b="1" dirty="0">
                <a:solidFill>
                  <a:srgbClr val="FF3399"/>
                </a:solidFill>
                <a:latin typeface="+mn-ea"/>
                <a:ea typeface="+mn-ea"/>
              </a:rPr>
              <a:t>  ※</a:t>
            </a:r>
            <a:r>
              <a:rPr lang="zh-CN" altLang="en-US" sz="2000" b="1" dirty="0">
                <a:solidFill>
                  <a:srgbClr val="FF3399"/>
                </a:solidFill>
                <a:latin typeface="+mn-ea"/>
                <a:ea typeface="+mn-ea"/>
              </a:rPr>
              <a:t>主要内容：</a:t>
            </a:r>
            <a:r>
              <a:rPr lang="en-US" altLang="zh-CN" sz="2000" b="1" dirty="0">
                <a:latin typeface="+mn-ea"/>
              </a:rPr>
              <a:t>I/O</a:t>
            </a:r>
            <a:r>
              <a:rPr lang="zh-CN" altLang="en-US" sz="2000" b="1" dirty="0">
                <a:latin typeface="+mn-ea"/>
              </a:rPr>
              <a:t>设备</a:t>
            </a:r>
            <a:r>
              <a:rPr lang="en-US" altLang="zh-CN" sz="1600" b="1" dirty="0">
                <a:latin typeface="+mn-ea"/>
              </a:rPr>
              <a:t>(×)</a:t>
            </a:r>
            <a:r>
              <a:rPr lang="zh-CN" altLang="en-US" sz="2000" b="1" dirty="0">
                <a:latin typeface="+mn-ea"/>
              </a:rPr>
              <a:t>、存储设备</a:t>
            </a:r>
            <a:r>
              <a:rPr lang="en-US" altLang="zh-CN" sz="1800" b="1" dirty="0">
                <a:latin typeface="+mn-ea"/>
              </a:rPr>
              <a:t>(</a:t>
            </a:r>
            <a:r>
              <a:rPr lang="zh-CN" altLang="en-US" sz="1800" b="1" dirty="0">
                <a:latin typeface="+mn-ea"/>
              </a:rPr>
              <a:t>◇</a:t>
            </a:r>
            <a:r>
              <a:rPr lang="en-US" altLang="zh-CN" sz="1800" b="1" dirty="0">
                <a:latin typeface="+mn-ea"/>
              </a:rPr>
              <a:t>)</a:t>
            </a:r>
            <a:r>
              <a:rPr lang="zh-CN" altLang="en-US" sz="2000" b="1" dirty="0">
                <a:latin typeface="+mn-ea"/>
              </a:rPr>
              <a:t>的组成、工作原理</a:t>
            </a:r>
            <a:endParaRPr lang="en-US" altLang="zh-CN" sz="1600" b="1" dirty="0">
              <a:latin typeface="+mn-e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23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232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232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2232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232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3291" grpId="0" bldLvl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7E04E-161E-4756-B324-28ED002E2368}" type="slidenum">
              <a:rPr lang="en-US" altLang="zh-CN"/>
              <a:t>16</a:t>
            </a:fld>
            <a:endParaRPr lang="en-US" altLang="zh-CN"/>
          </a:p>
        </p:txBody>
      </p:sp>
      <p:sp>
        <p:nvSpPr>
          <p:cNvPr id="236548" name="Text Box 4"/>
          <p:cNvSpPr txBox="1">
            <a:spLocks noChangeArrowheads="1"/>
          </p:cNvSpPr>
          <p:nvPr/>
        </p:nvSpPr>
        <p:spPr bwMode="auto">
          <a:xfrm>
            <a:off x="179263" y="332656"/>
            <a:ext cx="8785225" cy="92121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tIns="46800" bIns="46800" anchor="t" anchorCtr="0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b="1" dirty="0">
                <a:solidFill>
                  <a:srgbClr val="FF3399"/>
                </a:solidFill>
                <a:latin typeface="+mn-ea"/>
                <a:ea typeface="+mn-ea"/>
              </a:rPr>
              <a:t>1</a:t>
            </a:r>
            <a:r>
              <a:rPr lang="zh-CN" altLang="en-US" b="1" dirty="0">
                <a:solidFill>
                  <a:srgbClr val="FF3399"/>
                </a:solidFill>
                <a:latin typeface="+mn-ea"/>
                <a:ea typeface="+mn-ea"/>
              </a:rPr>
              <a:t>、输入</a:t>
            </a:r>
            <a:r>
              <a:rPr lang="en-US" altLang="zh-CN" b="1" dirty="0">
                <a:solidFill>
                  <a:srgbClr val="FF3399"/>
                </a:solidFill>
                <a:latin typeface="+mn-ea"/>
                <a:ea typeface="+mn-ea"/>
              </a:rPr>
              <a:t>/</a:t>
            </a:r>
            <a:r>
              <a:rPr lang="zh-CN" altLang="en-US" b="1" dirty="0">
                <a:solidFill>
                  <a:srgbClr val="FF3399"/>
                </a:solidFill>
                <a:latin typeface="+mn-ea"/>
                <a:ea typeface="+mn-ea"/>
              </a:rPr>
              <a:t>输出设备   </a:t>
            </a:r>
            <a:r>
              <a:rPr lang="en-US" altLang="zh-CN" sz="1800" b="1" dirty="0">
                <a:latin typeface="+mn-ea"/>
                <a:ea typeface="+mn-ea"/>
              </a:rPr>
              <a:t>(</a:t>
            </a:r>
            <a:r>
              <a:rPr lang="zh-CN" altLang="en-US" sz="1800" b="1" dirty="0">
                <a:latin typeface="+mn-ea"/>
                <a:ea typeface="+mn-ea"/>
              </a:rPr>
              <a:t>不考，了解</a:t>
            </a:r>
            <a:r>
              <a:rPr lang="zh-CN" altLang="en-US" sz="1800" b="1" u="sng" dirty="0">
                <a:highlight>
                  <a:srgbClr val="CCFFFF"/>
                </a:highlight>
                <a:latin typeface="+mn-ea"/>
                <a:ea typeface="+mn-ea"/>
              </a:rPr>
              <a:t>字符</a:t>
            </a:r>
            <a:r>
              <a:rPr lang="zh-CN" altLang="en-US" sz="1800" b="1" u="sng" dirty="0">
                <a:latin typeface="+mn-ea"/>
                <a:ea typeface="+mn-ea"/>
              </a:rPr>
              <a:t>设备</a:t>
            </a:r>
            <a:r>
              <a:rPr lang="en-US" altLang="zh-CN" sz="1800" b="1" dirty="0">
                <a:latin typeface="+mn-ea"/>
                <a:ea typeface="+mn-ea"/>
              </a:rPr>
              <a:t>)</a:t>
            </a:r>
          </a:p>
          <a:p>
            <a:pPr algn="l">
              <a:lnSpc>
                <a:spcPct val="125000"/>
              </a:lnSpc>
            </a:pPr>
            <a:r>
              <a:rPr lang="zh-CN" altLang="en-US" sz="2200" b="1" dirty="0">
                <a:latin typeface="宋体" panose="02010600030101010101" pitchFamily="2" charset="-122"/>
              </a:rPr>
              <a:t>   仅介绍键盘，</a:t>
            </a:r>
            <a:r>
              <a:rPr lang="zh-CN" altLang="en-US" sz="2200" b="1" dirty="0">
                <a:latin typeface="+mn-ea"/>
              </a:rPr>
              <a:t>其它设备</a:t>
            </a:r>
            <a:r>
              <a:rPr lang="en-US" altLang="zh-CN" sz="1800" b="1" dirty="0">
                <a:latin typeface="+mn-ea"/>
              </a:rPr>
              <a:t>(</a:t>
            </a:r>
            <a:r>
              <a:rPr lang="zh-CN" altLang="en-US" sz="1800" b="1" dirty="0">
                <a:latin typeface="+mn-ea"/>
              </a:rPr>
              <a:t>打印机</a:t>
            </a:r>
            <a:r>
              <a:rPr lang="en-US" altLang="zh-CN" sz="1800" b="1" dirty="0">
                <a:latin typeface="+mn-ea"/>
              </a:rPr>
              <a:t>/</a:t>
            </a:r>
            <a:r>
              <a:rPr lang="zh-CN" altLang="en-US" sz="1800" b="1" dirty="0">
                <a:latin typeface="+mn-ea"/>
              </a:rPr>
              <a:t>显示器</a:t>
            </a:r>
            <a:r>
              <a:rPr lang="en-US" altLang="zh-CN" sz="1800" b="1" dirty="0">
                <a:latin typeface="+mn-ea"/>
              </a:rPr>
              <a:t>)</a:t>
            </a:r>
            <a:r>
              <a:rPr lang="zh-CN" altLang="en-US" sz="2200" b="1" dirty="0">
                <a:latin typeface="+mn-ea"/>
              </a:rPr>
              <a:t>自学</a:t>
            </a:r>
            <a:endParaRPr lang="zh-CN" altLang="en-US" sz="2200" b="1" dirty="0">
              <a:latin typeface="+mn-ea"/>
              <a:ea typeface="+mn-ea"/>
            </a:endParaRPr>
          </a:p>
        </p:txBody>
      </p:sp>
      <p:sp>
        <p:nvSpPr>
          <p:cNvPr id="236551" name="Text Box 7"/>
          <p:cNvSpPr txBox="1">
            <a:spLocks noChangeArrowheads="1"/>
          </p:cNvSpPr>
          <p:nvPr/>
        </p:nvSpPr>
        <p:spPr bwMode="auto">
          <a:xfrm>
            <a:off x="179386" y="1268760"/>
            <a:ext cx="8244161" cy="134222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非编码键盘：</a:t>
            </a: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基本组成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r>
              <a:rPr lang="zh-CN" altLang="en-US" sz="2200" b="1" dirty="0">
                <a:latin typeface="宋体" panose="02010600030101010101" pitchFamily="2" charset="-122"/>
              </a:rPr>
              <a:t>仅按键阵列    </a:t>
            </a:r>
            <a:r>
              <a:rPr lang="zh-CN" altLang="en-US" sz="1800" b="1" dirty="0">
                <a:latin typeface="宋体" panose="02010600030101010101" pitchFamily="2" charset="-122"/>
              </a:rPr>
              <a:t>←行线</a:t>
            </a:r>
            <a:r>
              <a:rPr lang="en-US" altLang="zh-CN" sz="1800" b="1" dirty="0">
                <a:latin typeface="宋体" panose="02010600030101010101" pitchFamily="2" charset="-122"/>
              </a:rPr>
              <a:t>=0</a:t>
            </a:r>
            <a:r>
              <a:rPr lang="zh-CN" altLang="en-US" sz="1800" b="1" dirty="0">
                <a:latin typeface="宋体" panose="02010600030101010101" pitchFamily="2" charset="-122"/>
              </a:rPr>
              <a:t>时，列线＝</a:t>
            </a:r>
            <a:r>
              <a:rPr lang="en-US" altLang="zh-CN" sz="1800" b="1" dirty="0">
                <a:latin typeface="宋体" panose="02010600030101010101" pitchFamily="2" charset="-122"/>
              </a:rPr>
              <a:t>0/1</a:t>
            </a:r>
            <a:r>
              <a:rPr lang="zh-CN" altLang="en-US" sz="1800" b="1" dirty="0">
                <a:latin typeface="宋体" panose="02010600030101010101" pitchFamily="2" charset="-122"/>
              </a:rPr>
              <a:t>表示有</a:t>
            </a:r>
            <a:r>
              <a:rPr lang="en-US" altLang="zh-CN" sz="1800" b="1" dirty="0">
                <a:latin typeface="宋体" panose="02010600030101010101" pitchFamily="2" charset="-122"/>
              </a:rPr>
              <a:t>/</a:t>
            </a:r>
            <a:r>
              <a:rPr lang="zh-CN" altLang="en-US" sz="1800" b="1" dirty="0">
                <a:latin typeface="宋体" panose="02010600030101010101" pitchFamily="2" charset="-122"/>
              </a:rPr>
              <a:t>无按键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通信过程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</a:p>
        </p:txBody>
      </p:sp>
      <p:sp>
        <p:nvSpPr>
          <p:cNvPr id="237198" name="AutoShape 654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2988518" y="6524451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" name="Text Box 7"/>
          <p:cNvSpPr txBox="1">
            <a:spLocks noChangeArrowheads="1"/>
          </p:cNvSpPr>
          <p:nvPr/>
        </p:nvSpPr>
        <p:spPr bwMode="auto">
          <a:xfrm>
            <a:off x="2161034" y="2131200"/>
            <a:ext cx="6875462" cy="105872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tIns="28800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sz="2200" b="1" dirty="0">
                <a:latin typeface="宋体" panose="02010600030101010101" pitchFamily="2" charset="-122"/>
              </a:rPr>
              <a:t>软件</a:t>
            </a:r>
            <a:r>
              <a:rPr lang="zh-CN" altLang="en-US" sz="2200" b="1" u="sng" dirty="0">
                <a:latin typeface="宋体" panose="02010600030101010101" pitchFamily="2" charset="-122"/>
              </a:rPr>
              <a:t>检测按键</a:t>
            </a:r>
            <a:r>
              <a:rPr lang="zh-CN" altLang="en-US" sz="2200" b="1" dirty="0">
                <a:latin typeface="宋体" panose="02010600030101010101" pitchFamily="2" charset="-122"/>
              </a:rPr>
              <a:t>、</a:t>
            </a:r>
            <a:r>
              <a:rPr lang="zh-CN" altLang="en-US" sz="2200" b="1" u="sng" dirty="0">
                <a:latin typeface="宋体" panose="02010600030101010101" pitchFamily="2" charset="-122"/>
              </a:rPr>
              <a:t>转换编码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基于坐标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</a:p>
          <a:p>
            <a:pPr algn="l">
              <a:lnSpc>
                <a:spcPct val="105000"/>
              </a:lnSpc>
            </a:pPr>
            <a:r>
              <a:rPr lang="zh-CN" altLang="en-US" sz="1800" b="1" dirty="0">
                <a:latin typeface="宋体" panose="02010600030101010101" pitchFamily="2" charset="-122"/>
              </a:rPr>
              <a:t>           </a:t>
            </a:r>
            <a:r>
              <a:rPr lang="zh-CN" altLang="en-US" sz="1800" dirty="0">
                <a:latin typeface="宋体" panose="02010600030101010101" pitchFamily="2" charset="-122"/>
              </a:rPr>
              <a:t>├</a:t>
            </a:r>
            <a:r>
              <a:rPr lang="zh-CN" altLang="en-US" sz="1800" b="1" dirty="0">
                <a:latin typeface="宋体" panose="02010600030101010101" pitchFamily="2" charset="-122"/>
              </a:rPr>
              <a:t>←各行线＝</a:t>
            </a:r>
            <a:r>
              <a:rPr lang="en-US" altLang="zh-CN" sz="1800" b="1" dirty="0">
                <a:latin typeface="宋体" panose="02010600030101010101" pitchFamily="2" charset="-122"/>
              </a:rPr>
              <a:t>0</a:t>
            </a:r>
            <a:r>
              <a:rPr lang="zh-CN" altLang="en-US" sz="1800" b="1" dirty="0">
                <a:latin typeface="宋体" panose="02010600030101010101" pitchFamily="2" charset="-122"/>
              </a:rPr>
              <a:t>、列线≠全</a:t>
            </a:r>
            <a:r>
              <a:rPr lang="en-US" altLang="zh-CN" sz="1800" b="1" dirty="0">
                <a:latin typeface="宋体" panose="02010600030101010101" pitchFamily="2" charset="-122"/>
              </a:rPr>
              <a:t>1</a:t>
            </a:r>
            <a:r>
              <a:rPr lang="zh-CN" altLang="en-US" sz="1800" b="1" dirty="0">
                <a:latin typeface="宋体" panose="02010600030101010101" pitchFamily="2" charset="-122"/>
              </a:rPr>
              <a:t>时，有按键</a:t>
            </a:r>
            <a:endParaRPr lang="en-US" altLang="zh-CN" sz="1800" dirty="0">
              <a:latin typeface="宋体" panose="02010600030101010101" pitchFamily="2" charset="-122"/>
            </a:endParaRPr>
          </a:p>
          <a:p>
            <a:pPr algn="l">
              <a:lnSpc>
                <a:spcPct val="105000"/>
              </a:lnSpc>
            </a:pPr>
            <a:r>
              <a:rPr lang="zh-CN" altLang="en-US" sz="1800" b="1" dirty="0">
                <a:latin typeface="宋体" panose="02010600030101010101" pitchFamily="2" charset="-122"/>
              </a:rPr>
              <a:t>           </a:t>
            </a:r>
            <a:r>
              <a:rPr lang="zh-CN" altLang="en-US" sz="1800" dirty="0">
                <a:latin typeface="宋体" panose="02010600030101010101" pitchFamily="2" charset="-122"/>
              </a:rPr>
              <a:t>└</a:t>
            </a:r>
            <a:r>
              <a:rPr lang="zh-CN" altLang="en-US" sz="1800" b="1" dirty="0">
                <a:latin typeface="宋体" panose="02010600030101010101" pitchFamily="2" charset="-122"/>
              </a:rPr>
              <a:t>←某行线＝</a:t>
            </a:r>
            <a:r>
              <a:rPr lang="en-US" altLang="zh-CN" sz="1800" b="1" dirty="0">
                <a:latin typeface="宋体" panose="02010600030101010101" pitchFamily="2" charset="-122"/>
              </a:rPr>
              <a:t>0</a:t>
            </a:r>
            <a:r>
              <a:rPr lang="zh-CN" altLang="en-US" sz="1800" b="1" dirty="0">
                <a:latin typeface="宋体" panose="02010600030101010101" pitchFamily="2" charset="-122"/>
              </a:rPr>
              <a:t>、列线≠全</a:t>
            </a:r>
            <a:r>
              <a:rPr lang="en-US" altLang="zh-CN" sz="1800" b="1" dirty="0">
                <a:latin typeface="宋体" panose="02010600030101010101" pitchFamily="2" charset="-122"/>
              </a:rPr>
              <a:t>1</a:t>
            </a:r>
            <a:r>
              <a:rPr lang="zh-CN" altLang="en-US" sz="1800" b="1" dirty="0">
                <a:latin typeface="宋体" panose="02010600030101010101" pitchFamily="2" charset="-122"/>
              </a:rPr>
              <a:t>时，为该行某列</a:t>
            </a:r>
            <a:endParaRPr lang="zh-CN" altLang="en-US" sz="1800" dirty="0"/>
          </a:p>
        </p:txBody>
      </p:sp>
      <p:sp>
        <p:nvSpPr>
          <p:cNvPr id="247" name="Text Box 6"/>
          <p:cNvSpPr txBox="1">
            <a:spLocks noChangeArrowheads="1"/>
          </p:cNvSpPr>
          <p:nvPr/>
        </p:nvSpPr>
        <p:spPr bwMode="auto">
          <a:xfrm>
            <a:off x="179263" y="5805264"/>
            <a:ext cx="2124000" cy="45736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编码键盘：</a:t>
            </a:r>
            <a:endParaRPr lang="en-US" altLang="zh-CN" sz="3200" b="1" dirty="0">
              <a:solidFill>
                <a:srgbClr val="C00000"/>
              </a:solidFill>
              <a:latin typeface="宋体" panose="02010600030101010101" pitchFamily="2" charset="-122"/>
            </a:endParaRPr>
          </a:p>
        </p:txBody>
      </p:sp>
      <p:grpSp>
        <p:nvGrpSpPr>
          <p:cNvPr id="348" name="组合 347">
            <a:extLst>
              <a:ext uri="{FF2B5EF4-FFF2-40B4-BE49-F238E27FC236}">
                <a16:creationId xmlns:a16="http://schemas.microsoft.com/office/drawing/2014/main" id="{7B6DCF09-BE0D-44E0-AFE8-8FA7BFDA0C66}"/>
              </a:ext>
            </a:extLst>
          </p:cNvPr>
          <p:cNvGrpSpPr/>
          <p:nvPr/>
        </p:nvGrpSpPr>
        <p:grpSpPr>
          <a:xfrm>
            <a:off x="251856" y="2700000"/>
            <a:ext cx="3024000" cy="2772000"/>
            <a:chOff x="756000" y="2700000"/>
            <a:chExt cx="3024000" cy="2772000"/>
          </a:xfrm>
        </p:grpSpPr>
        <p:sp>
          <p:nvSpPr>
            <p:cNvPr id="349" name="Rectangle 383">
              <a:extLst>
                <a:ext uri="{FF2B5EF4-FFF2-40B4-BE49-F238E27FC236}">
                  <a16:creationId xmlns:a16="http://schemas.microsoft.com/office/drawing/2014/main" id="{B357265F-DC8F-490A-92FE-B19EE5FCF8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6000" y="2700000"/>
              <a:ext cx="2304000" cy="2160000"/>
            </a:xfrm>
            <a:prstGeom prst="rect">
              <a:avLst/>
            </a:prstGeom>
            <a:solidFill>
              <a:schemeClr val="accent2">
                <a:lumMod val="20000"/>
                <a:lumOff val="80000"/>
                <a:alpha val="80000"/>
              </a:scheme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0" name="Text Box 384">
              <a:extLst>
                <a:ext uri="{FF2B5EF4-FFF2-40B4-BE49-F238E27FC236}">
                  <a16:creationId xmlns:a16="http://schemas.microsoft.com/office/drawing/2014/main" id="{42AA95B8-73E7-4C9A-A794-6F8089AC51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72000" y="3474887"/>
              <a:ext cx="288000" cy="1440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vert="eaVert"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800" b="1" dirty="0">
                  <a:solidFill>
                    <a:srgbClr val="990099"/>
                  </a:solidFill>
                  <a:latin typeface="宋体" panose="02010600030101010101" pitchFamily="2" charset="-122"/>
                </a:rPr>
                <a:t>并行</a:t>
              </a:r>
              <a:r>
                <a:rPr lang="zh-CN" altLang="en-US" sz="1800" b="1" dirty="0">
                  <a:latin typeface="宋体" panose="02010600030101010101" pitchFamily="2" charset="-122"/>
                </a:rPr>
                <a:t>输出接口</a:t>
              </a:r>
            </a:p>
          </p:txBody>
        </p:sp>
        <p:sp>
          <p:nvSpPr>
            <p:cNvPr id="351" name="Line 486">
              <a:extLst>
                <a:ext uri="{FF2B5EF4-FFF2-40B4-BE49-F238E27FC236}">
                  <a16:creationId xmlns:a16="http://schemas.microsoft.com/office/drawing/2014/main" id="{16B5E741-2129-4E48-9200-7E07BCEF75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25589" y="3276449"/>
              <a:ext cx="0" cy="176400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2" name="Line 487">
              <a:extLst>
                <a:ext uri="{FF2B5EF4-FFF2-40B4-BE49-F238E27FC236}">
                  <a16:creationId xmlns:a16="http://schemas.microsoft.com/office/drawing/2014/main" id="{51325687-8F1B-4168-9840-D2D6F7C1BA9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28826" y="3276449"/>
              <a:ext cx="0" cy="176400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3" name="Line 488">
              <a:extLst>
                <a:ext uri="{FF2B5EF4-FFF2-40B4-BE49-F238E27FC236}">
                  <a16:creationId xmlns:a16="http://schemas.microsoft.com/office/drawing/2014/main" id="{CDC8AB62-A721-4C4F-B16D-70B6F868A2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32000" y="3276448"/>
              <a:ext cx="0" cy="176400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4" name="Line 489">
              <a:extLst>
                <a:ext uri="{FF2B5EF4-FFF2-40B4-BE49-F238E27FC236}">
                  <a16:creationId xmlns:a16="http://schemas.microsoft.com/office/drawing/2014/main" id="{D40ABBB3-6102-4A4C-981C-0DC61AAD22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36000" y="3276449"/>
              <a:ext cx="0" cy="176400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5" name="Line 490">
              <a:extLst>
                <a:ext uri="{FF2B5EF4-FFF2-40B4-BE49-F238E27FC236}">
                  <a16:creationId xmlns:a16="http://schemas.microsoft.com/office/drawing/2014/main" id="{307151C6-D16D-4D2A-A3D1-33E2407FCA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76000" y="4789337"/>
              <a:ext cx="20520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6" name="Rectangle 491">
              <a:extLst>
                <a:ext uri="{FF2B5EF4-FFF2-40B4-BE49-F238E27FC236}">
                  <a16:creationId xmlns:a16="http://schemas.microsoft.com/office/drawing/2014/main" id="{30D8DF01-8C10-41FB-98CA-245AF24F1D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52000" y="2987524"/>
              <a:ext cx="144463" cy="288925"/>
            </a:xfrm>
            <a:prstGeom prst="rect">
              <a:avLst/>
            </a:prstGeom>
            <a:solidFill>
              <a:schemeClr val="bg1">
                <a:alpha val="80000"/>
              </a:scheme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7" name="Rectangle 492">
              <a:extLst>
                <a:ext uri="{FF2B5EF4-FFF2-40B4-BE49-F238E27FC236}">
                  <a16:creationId xmlns:a16="http://schemas.microsoft.com/office/drawing/2014/main" id="{F4F18FFD-6C98-444D-9738-BEF08AB8DA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57389" y="2987524"/>
              <a:ext cx="144463" cy="288925"/>
            </a:xfrm>
            <a:prstGeom prst="rect">
              <a:avLst/>
            </a:prstGeom>
            <a:solidFill>
              <a:schemeClr val="bg1">
                <a:alpha val="80000"/>
              </a:scheme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8" name="Rectangle 493">
              <a:extLst>
                <a:ext uri="{FF2B5EF4-FFF2-40B4-BE49-F238E27FC236}">
                  <a16:creationId xmlns:a16="http://schemas.microsoft.com/office/drawing/2014/main" id="{7A7F890B-CD97-40E3-8F5C-1A1EAFE4F1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0000" y="2987524"/>
              <a:ext cx="144463" cy="288925"/>
            </a:xfrm>
            <a:prstGeom prst="rect">
              <a:avLst/>
            </a:prstGeom>
            <a:solidFill>
              <a:schemeClr val="bg1">
                <a:alpha val="80000"/>
              </a:scheme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9" name="Rectangle 494">
              <a:extLst>
                <a:ext uri="{FF2B5EF4-FFF2-40B4-BE49-F238E27FC236}">
                  <a16:creationId xmlns:a16="http://schemas.microsoft.com/office/drawing/2014/main" id="{45685B1A-7E96-4AB7-BF34-170F1D723C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5451" y="2987524"/>
              <a:ext cx="144463" cy="288925"/>
            </a:xfrm>
            <a:prstGeom prst="rect">
              <a:avLst/>
            </a:prstGeom>
            <a:solidFill>
              <a:schemeClr val="bg1">
                <a:alpha val="80000"/>
              </a:scheme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0" name="Line 495">
              <a:extLst>
                <a:ext uri="{FF2B5EF4-FFF2-40B4-BE49-F238E27FC236}">
                  <a16:creationId xmlns:a16="http://schemas.microsoft.com/office/drawing/2014/main" id="{6519AC1C-0A46-4DA5-960F-C2491B210CB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38476" y="2844649"/>
              <a:ext cx="0" cy="144463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1" name="Line 496">
              <a:extLst>
                <a:ext uri="{FF2B5EF4-FFF2-40B4-BE49-F238E27FC236}">
                  <a16:creationId xmlns:a16="http://schemas.microsoft.com/office/drawing/2014/main" id="{5AA548C3-F4EB-4DD6-BBA5-F4F09D730CD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33651" y="2844649"/>
              <a:ext cx="0" cy="144463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 type="oval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2" name="Line 497">
              <a:extLst>
                <a:ext uri="{FF2B5EF4-FFF2-40B4-BE49-F238E27FC236}">
                  <a16:creationId xmlns:a16="http://schemas.microsoft.com/office/drawing/2014/main" id="{9625CD34-F3F4-4F8A-B028-2AE77C83EE9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30414" y="2844649"/>
              <a:ext cx="0" cy="144463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 type="oval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3" name="Line 498">
              <a:extLst>
                <a:ext uri="{FF2B5EF4-FFF2-40B4-BE49-F238E27FC236}">
                  <a16:creationId xmlns:a16="http://schemas.microsoft.com/office/drawing/2014/main" id="{8BE2D63C-9777-470A-9DA2-AD817DCA4E5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125589" y="2844649"/>
              <a:ext cx="0" cy="144463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 type="oval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4" name="Line 499">
              <a:extLst>
                <a:ext uri="{FF2B5EF4-FFF2-40B4-BE49-F238E27FC236}">
                  <a16:creationId xmlns:a16="http://schemas.microsoft.com/office/drawing/2014/main" id="{22AAFC66-F594-4F15-91D3-2E96CF1B99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81126" y="2844649"/>
              <a:ext cx="1655763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5" name="Line 500">
              <a:extLst>
                <a:ext uri="{FF2B5EF4-FFF2-40B4-BE49-F238E27FC236}">
                  <a16:creationId xmlns:a16="http://schemas.microsoft.com/office/drawing/2014/main" id="{E1795B46-6331-40C3-9AED-BAD059B731E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60000" y="3708249"/>
              <a:ext cx="2160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6" name="Line 501">
              <a:extLst>
                <a:ext uri="{FF2B5EF4-FFF2-40B4-BE49-F238E27FC236}">
                  <a16:creationId xmlns:a16="http://schemas.microsoft.com/office/drawing/2014/main" id="{6E49F56F-EB81-4F40-9063-F1AFD8FA4D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60000" y="4068612"/>
              <a:ext cx="2160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7" name="Line 502">
              <a:extLst>
                <a:ext uri="{FF2B5EF4-FFF2-40B4-BE49-F238E27FC236}">
                  <a16:creationId xmlns:a16="http://schemas.microsoft.com/office/drawing/2014/main" id="{F98DC22B-5A2C-4590-900D-E4CDF8EA53A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60000" y="4427387"/>
              <a:ext cx="216000" cy="1588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" name="Line 503">
              <a:extLst>
                <a:ext uri="{FF2B5EF4-FFF2-40B4-BE49-F238E27FC236}">
                  <a16:creationId xmlns:a16="http://schemas.microsoft.com/office/drawing/2014/main" id="{E0E0E6C7-3528-473C-89BF-EA769D8E1F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60000" y="4789337"/>
              <a:ext cx="2160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" name="Text Box 506">
              <a:extLst>
                <a:ext uri="{FF2B5EF4-FFF2-40B4-BE49-F238E27FC236}">
                  <a16:creationId xmlns:a16="http://schemas.microsoft.com/office/drawing/2014/main" id="{9210C3ED-BAB3-40B4-BC77-CB3CFCC962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12000" y="2736000"/>
              <a:ext cx="396000" cy="21590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/>
              <a:r>
                <a:rPr lang="en-US" altLang="zh-CN" sz="1600" b="1" dirty="0">
                  <a:latin typeface="宋体" panose="02010600030101010101" pitchFamily="2" charset="-122"/>
                </a:rPr>
                <a:t>+5V</a:t>
              </a:r>
            </a:p>
          </p:txBody>
        </p:sp>
        <p:sp>
          <p:nvSpPr>
            <p:cNvPr id="370" name="Oval 507">
              <a:extLst>
                <a:ext uri="{FF2B5EF4-FFF2-40B4-BE49-F238E27FC236}">
                  <a16:creationId xmlns:a16="http://schemas.microsoft.com/office/drawing/2014/main" id="{6C870D60-0EDC-45C5-ADF2-372485A52D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08000" y="2806549"/>
              <a:ext cx="71438" cy="73025"/>
            </a:xfrm>
            <a:prstGeom prst="ellips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1" name="Line 534">
              <a:extLst>
                <a:ext uri="{FF2B5EF4-FFF2-40B4-BE49-F238E27FC236}">
                  <a16:creationId xmlns:a16="http://schemas.microsoft.com/office/drawing/2014/main" id="{31596135-FF69-424D-8D8F-708DE60F7D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76000" y="4428974"/>
              <a:ext cx="20520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2" name="Line 559">
              <a:extLst>
                <a:ext uri="{FF2B5EF4-FFF2-40B4-BE49-F238E27FC236}">
                  <a16:creationId xmlns:a16="http://schemas.microsoft.com/office/drawing/2014/main" id="{51B1DFC2-8C8B-44E9-AD96-141711AE5A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76000" y="4068612"/>
              <a:ext cx="20520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3" name="Line 560">
              <a:extLst>
                <a:ext uri="{FF2B5EF4-FFF2-40B4-BE49-F238E27FC236}">
                  <a16:creationId xmlns:a16="http://schemas.microsoft.com/office/drawing/2014/main" id="{092170FC-9751-4E43-A933-971A9239DB4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76000" y="3708249"/>
              <a:ext cx="20520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374" name="组合 373">
              <a:extLst>
                <a:ext uri="{FF2B5EF4-FFF2-40B4-BE49-F238E27FC236}">
                  <a16:creationId xmlns:a16="http://schemas.microsoft.com/office/drawing/2014/main" id="{29BE1001-DBE4-4992-8E7F-D61C6099C0ED}"/>
                </a:ext>
              </a:extLst>
            </p:cNvPr>
            <p:cNvGrpSpPr/>
            <p:nvPr/>
          </p:nvGrpSpPr>
          <p:grpSpPr>
            <a:xfrm>
              <a:off x="1873296" y="3456000"/>
              <a:ext cx="251944" cy="252000"/>
              <a:chOff x="1912864" y="3438887"/>
              <a:chExt cx="251944" cy="252000"/>
            </a:xfrm>
          </p:grpSpPr>
          <p:sp>
            <p:nvSpPr>
              <p:cNvPr id="484" name="Oval 585">
                <a:extLst>
                  <a:ext uri="{FF2B5EF4-FFF2-40B4-BE49-F238E27FC236}">
                    <a16:creationId xmlns:a16="http://schemas.microsoft.com/office/drawing/2014/main" id="{C45D6E04-7826-45C7-9140-BC8B3DCB8E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74143" y="3569777"/>
                <a:ext cx="71438" cy="73025"/>
              </a:xfrm>
              <a:prstGeom prst="ellipse">
                <a:avLst/>
              </a:prstGeom>
              <a:noFill/>
              <a:ln w="15875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85" name="Oval 586">
                <a:extLst>
                  <a:ext uri="{FF2B5EF4-FFF2-40B4-BE49-F238E27FC236}">
                    <a16:creationId xmlns:a16="http://schemas.microsoft.com/office/drawing/2014/main" id="{B70179C3-34CA-4264-AA14-AEC54E8CD8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41253" y="3495332"/>
                <a:ext cx="71438" cy="73025"/>
              </a:xfrm>
              <a:prstGeom prst="ellipse">
                <a:avLst/>
              </a:prstGeom>
              <a:noFill/>
              <a:ln w="15875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86" name="Line 587">
                <a:extLst>
                  <a:ext uri="{FF2B5EF4-FFF2-40B4-BE49-F238E27FC236}">
                    <a16:creationId xmlns:a16="http://schemas.microsoft.com/office/drawing/2014/main" id="{0E915006-2D6C-4499-98CE-9E943162033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942934" y="3469742"/>
                <a:ext cx="104775" cy="106363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87" name="Line 588">
                <a:extLst>
                  <a:ext uri="{FF2B5EF4-FFF2-40B4-BE49-F238E27FC236}">
                    <a16:creationId xmlns:a16="http://schemas.microsoft.com/office/drawing/2014/main" id="{57F2963D-6313-494A-B264-49CBF150307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939630" y="3471328"/>
                <a:ext cx="54000" cy="5400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88" name="Line 589">
                <a:extLst>
                  <a:ext uri="{FF2B5EF4-FFF2-40B4-BE49-F238E27FC236}">
                    <a16:creationId xmlns:a16="http://schemas.microsoft.com/office/drawing/2014/main" id="{4E522CE9-51F3-406E-B4D3-487B3F12F6B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100008" y="3438887"/>
                <a:ext cx="64800" cy="6480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 type="oval" w="med" len="med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89" name="Line 590">
                <a:extLst>
                  <a:ext uri="{FF2B5EF4-FFF2-40B4-BE49-F238E27FC236}">
                    <a16:creationId xmlns:a16="http://schemas.microsoft.com/office/drawing/2014/main" id="{5274103C-BA41-4C54-A869-D2B0CD9275D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912864" y="3626087"/>
                <a:ext cx="64800" cy="6480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tailEnd type="oval" w="med" len="med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75" name="Text Box 384">
              <a:extLst>
                <a:ext uri="{FF2B5EF4-FFF2-40B4-BE49-F238E27FC236}">
                  <a16:creationId xmlns:a16="http://schemas.microsoft.com/office/drawing/2014/main" id="{6B925E4E-4C57-415B-AA84-702EEE1EC6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80000" y="5040000"/>
              <a:ext cx="1764000" cy="252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vert="horz"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800" b="1" dirty="0">
                  <a:solidFill>
                    <a:srgbClr val="990099"/>
                  </a:solidFill>
                  <a:latin typeface="宋体" panose="02010600030101010101" pitchFamily="2" charset="-122"/>
                </a:rPr>
                <a:t>并行</a:t>
              </a:r>
              <a:r>
                <a:rPr lang="zh-CN" altLang="en-US" sz="1800" b="1" dirty="0">
                  <a:latin typeface="宋体" panose="02010600030101010101" pitchFamily="2" charset="-122"/>
                </a:rPr>
                <a:t>输入接口</a:t>
              </a:r>
            </a:p>
          </p:txBody>
        </p:sp>
        <p:cxnSp>
          <p:nvCxnSpPr>
            <p:cNvPr id="376" name="直接箭头连接符 375">
              <a:extLst>
                <a:ext uri="{FF2B5EF4-FFF2-40B4-BE49-F238E27FC236}">
                  <a16:creationId xmlns:a16="http://schemas.microsoft.com/office/drawing/2014/main" id="{68254BE9-66D4-460F-B8A9-7B4D9ED787F9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56000" y="4210766"/>
              <a:ext cx="216000" cy="1402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</p:spPr>
        </p:cxnSp>
        <p:cxnSp>
          <p:nvCxnSpPr>
            <p:cNvPr id="377" name="直接箭头连接符 376">
              <a:extLst>
                <a:ext uri="{FF2B5EF4-FFF2-40B4-BE49-F238E27FC236}">
                  <a16:creationId xmlns:a16="http://schemas.microsoft.com/office/drawing/2014/main" id="{5B471434-DCFE-4684-BA1D-6CB02DA7D8CC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756000" y="5472000"/>
              <a:ext cx="2124000" cy="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</p:spPr>
        </p:cxnSp>
        <p:cxnSp>
          <p:nvCxnSpPr>
            <p:cNvPr id="378" name="直接箭头连接符 179">
              <a:extLst>
                <a:ext uri="{FF2B5EF4-FFF2-40B4-BE49-F238E27FC236}">
                  <a16:creationId xmlns:a16="http://schemas.microsoft.com/office/drawing/2014/main" id="{FFF4CCE4-CEF5-48A8-A8EF-3103C38DBFDB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880000" y="5292000"/>
              <a:ext cx="0" cy="18000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</p:spPr>
        </p:cxnSp>
        <p:grpSp>
          <p:nvGrpSpPr>
            <p:cNvPr id="379" name="组合 378">
              <a:extLst>
                <a:ext uri="{FF2B5EF4-FFF2-40B4-BE49-F238E27FC236}">
                  <a16:creationId xmlns:a16="http://schemas.microsoft.com/office/drawing/2014/main" id="{376D274A-6521-49CF-9066-983F447404A3}"/>
                </a:ext>
              </a:extLst>
            </p:cNvPr>
            <p:cNvGrpSpPr/>
            <p:nvPr/>
          </p:nvGrpSpPr>
          <p:grpSpPr>
            <a:xfrm>
              <a:off x="2376000" y="3456000"/>
              <a:ext cx="251944" cy="252000"/>
              <a:chOff x="1912864" y="3438887"/>
              <a:chExt cx="251944" cy="252000"/>
            </a:xfrm>
          </p:grpSpPr>
          <p:sp>
            <p:nvSpPr>
              <p:cNvPr id="478" name="Oval 585">
                <a:extLst>
                  <a:ext uri="{FF2B5EF4-FFF2-40B4-BE49-F238E27FC236}">
                    <a16:creationId xmlns:a16="http://schemas.microsoft.com/office/drawing/2014/main" id="{324DBC6C-1851-406A-9015-A2097F0168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74143" y="3569777"/>
                <a:ext cx="71438" cy="73025"/>
              </a:xfrm>
              <a:prstGeom prst="ellipse">
                <a:avLst/>
              </a:prstGeom>
              <a:noFill/>
              <a:ln w="15875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79" name="Oval 586">
                <a:extLst>
                  <a:ext uri="{FF2B5EF4-FFF2-40B4-BE49-F238E27FC236}">
                    <a16:creationId xmlns:a16="http://schemas.microsoft.com/office/drawing/2014/main" id="{99BA8A12-CA36-4E84-AD7D-62218FF77D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41253" y="3495332"/>
                <a:ext cx="71438" cy="73025"/>
              </a:xfrm>
              <a:prstGeom prst="ellipse">
                <a:avLst/>
              </a:prstGeom>
              <a:noFill/>
              <a:ln w="15875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80" name="Line 587">
                <a:extLst>
                  <a:ext uri="{FF2B5EF4-FFF2-40B4-BE49-F238E27FC236}">
                    <a16:creationId xmlns:a16="http://schemas.microsoft.com/office/drawing/2014/main" id="{2C238B3E-270D-4AC8-B20B-8ABCF05D85A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942934" y="3469742"/>
                <a:ext cx="104775" cy="106363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81" name="Line 588">
                <a:extLst>
                  <a:ext uri="{FF2B5EF4-FFF2-40B4-BE49-F238E27FC236}">
                    <a16:creationId xmlns:a16="http://schemas.microsoft.com/office/drawing/2014/main" id="{F6601865-6111-4FC9-910D-B8555EF4D3E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939630" y="3471328"/>
                <a:ext cx="54000" cy="5400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82" name="Line 589">
                <a:extLst>
                  <a:ext uri="{FF2B5EF4-FFF2-40B4-BE49-F238E27FC236}">
                    <a16:creationId xmlns:a16="http://schemas.microsoft.com/office/drawing/2014/main" id="{4353F127-587D-478A-B2C2-D7DBED28B14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100008" y="3438887"/>
                <a:ext cx="64800" cy="6480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 type="oval" w="med" len="med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83" name="Line 590">
                <a:extLst>
                  <a:ext uri="{FF2B5EF4-FFF2-40B4-BE49-F238E27FC236}">
                    <a16:creationId xmlns:a16="http://schemas.microsoft.com/office/drawing/2014/main" id="{4AFC8EDB-85BC-4C68-A62D-771652E16E8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912864" y="3626087"/>
                <a:ext cx="64800" cy="6480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tailEnd type="oval" w="med" len="med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380" name="组合 379">
              <a:extLst>
                <a:ext uri="{FF2B5EF4-FFF2-40B4-BE49-F238E27FC236}">
                  <a16:creationId xmlns:a16="http://schemas.microsoft.com/office/drawing/2014/main" id="{83F3C3F2-17A2-4CF7-B70C-73D49E308E19}"/>
                </a:ext>
              </a:extLst>
            </p:cNvPr>
            <p:cNvGrpSpPr/>
            <p:nvPr/>
          </p:nvGrpSpPr>
          <p:grpSpPr>
            <a:xfrm>
              <a:off x="2880000" y="3456000"/>
              <a:ext cx="251944" cy="252000"/>
              <a:chOff x="1912864" y="3438887"/>
              <a:chExt cx="251944" cy="252000"/>
            </a:xfrm>
          </p:grpSpPr>
          <p:sp>
            <p:nvSpPr>
              <p:cNvPr id="472" name="Oval 585">
                <a:extLst>
                  <a:ext uri="{FF2B5EF4-FFF2-40B4-BE49-F238E27FC236}">
                    <a16:creationId xmlns:a16="http://schemas.microsoft.com/office/drawing/2014/main" id="{0EDE0427-E340-41A6-9665-E82422CB4B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74143" y="3569777"/>
                <a:ext cx="71438" cy="73025"/>
              </a:xfrm>
              <a:prstGeom prst="ellipse">
                <a:avLst/>
              </a:prstGeom>
              <a:noFill/>
              <a:ln w="15875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73" name="Oval 586">
                <a:extLst>
                  <a:ext uri="{FF2B5EF4-FFF2-40B4-BE49-F238E27FC236}">
                    <a16:creationId xmlns:a16="http://schemas.microsoft.com/office/drawing/2014/main" id="{93AE6900-8E24-4FDF-8512-946822A615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41253" y="3495332"/>
                <a:ext cx="71438" cy="73025"/>
              </a:xfrm>
              <a:prstGeom prst="ellipse">
                <a:avLst/>
              </a:prstGeom>
              <a:noFill/>
              <a:ln w="15875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74" name="Line 587">
                <a:extLst>
                  <a:ext uri="{FF2B5EF4-FFF2-40B4-BE49-F238E27FC236}">
                    <a16:creationId xmlns:a16="http://schemas.microsoft.com/office/drawing/2014/main" id="{D8C1909A-AB12-4935-BD11-69FA2AE101E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942934" y="3469742"/>
                <a:ext cx="104775" cy="106363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5" name="Line 588">
                <a:extLst>
                  <a:ext uri="{FF2B5EF4-FFF2-40B4-BE49-F238E27FC236}">
                    <a16:creationId xmlns:a16="http://schemas.microsoft.com/office/drawing/2014/main" id="{142F4EF3-842C-4983-A201-F82CEDE8C88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939630" y="3471328"/>
                <a:ext cx="54000" cy="5400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6" name="Line 589">
                <a:extLst>
                  <a:ext uri="{FF2B5EF4-FFF2-40B4-BE49-F238E27FC236}">
                    <a16:creationId xmlns:a16="http://schemas.microsoft.com/office/drawing/2014/main" id="{77D34BB9-75A1-4FF0-B040-22FDBA1CEA6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100008" y="3438887"/>
                <a:ext cx="64800" cy="6480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 type="oval" w="med" len="med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7" name="Line 590">
                <a:extLst>
                  <a:ext uri="{FF2B5EF4-FFF2-40B4-BE49-F238E27FC236}">
                    <a16:creationId xmlns:a16="http://schemas.microsoft.com/office/drawing/2014/main" id="{68CC4208-23DB-4684-B9AC-15393F819A6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912864" y="3626087"/>
                <a:ext cx="64800" cy="6480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tailEnd type="oval" w="med" len="med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381" name="组合 380">
              <a:extLst>
                <a:ext uri="{FF2B5EF4-FFF2-40B4-BE49-F238E27FC236}">
                  <a16:creationId xmlns:a16="http://schemas.microsoft.com/office/drawing/2014/main" id="{4B6B686C-7688-4EBA-9805-7307BA278A4D}"/>
                </a:ext>
              </a:extLst>
            </p:cNvPr>
            <p:cNvGrpSpPr/>
            <p:nvPr/>
          </p:nvGrpSpPr>
          <p:grpSpPr>
            <a:xfrm>
              <a:off x="3384000" y="3456000"/>
              <a:ext cx="251944" cy="252000"/>
              <a:chOff x="1912864" y="3438887"/>
              <a:chExt cx="251944" cy="252000"/>
            </a:xfrm>
          </p:grpSpPr>
          <p:sp>
            <p:nvSpPr>
              <p:cNvPr id="466" name="Oval 585">
                <a:extLst>
                  <a:ext uri="{FF2B5EF4-FFF2-40B4-BE49-F238E27FC236}">
                    <a16:creationId xmlns:a16="http://schemas.microsoft.com/office/drawing/2014/main" id="{C0F4106D-346E-4F9E-9749-0A3B576696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74143" y="3569777"/>
                <a:ext cx="71438" cy="73025"/>
              </a:xfrm>
              <a:prstGeom prst="ellipse">
                <a:avLst/>
              </a:prstGeom>
              <a:noFill/>
              <a:ln w="15875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67" name="Oval 586">
                <a:extLst>
                  <a:ext uri="{FF2B5EF4-FFF2-40B4-BE49-F238E27FC236}">
                    <a16:creationId xmlns:a16="http://schemas.microsoft.com/office/drawing/2014/main" id="{5106F8A1-BC7C-4761-95D1-7F9A25C1E0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41253" y="3495332"/>
                <a:ext cx="71438" cy="73025"/>
              </a:xfrm>
              <a:prstGeom prst="ellipse">
                <a:avLst/>
              </a:prstGeom>
              <a:noFill/>
              <a:ln w="15875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68" name="Line 587">
                <a:extLst>
                  <a:ext uri="{FF2B5EF4-FFF2-40B4-BE49-F238E27FC236}">
                    <a16:creationId xmlns:a16="http://schemas.microsoft.com/office/drawing/2014/main" id="{9BEA87A3-C7FC-4022-9D64-60ABCE0D2BB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942934" y="3469742"/>
                <a:ext cx="104775" cy="106363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69" name="Line 588">
                <a:extLst>
                  <a:ext uri="{FF2B5EF4-FFF2-40B4-BE49-F238E27FC236}">
                    <a16:creationId xmlns:a16="http://schemas.microsoft.com/office/drawing/2014/main" id="{0A686CD5-F4BC-4BC9-BF08-06393A38D28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939630" y="3471328"/>
                <a:ext cx="54000" cy="5400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0" name="Line 589">
                <a:extLst>
                  <a:ext uri="{FF2B5EF4-FFF2-40B4-BE49-F238E27FC236}">
                    <a16:creationId xmlns:a16="http://schemas.microsoft.com/office/drawing/2014/main" id="{3B8C7907-8AD2-4051-9B98-FEF4FEAEA8F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100008" y="3438887"/>
                <a:ext cx="64800" cy="6480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 type="oval" w="med" len="med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1" name="Line 590">
                <a:extLst>
                  <a:ext uri="{FF2B5EF4-FFF2-40B4-BE49-F238E27FC236}">
                    <a16:creationId xmlns:a16="http://schemas.microsoft.com/office/drawing/2014/main" id="{B2AB3AE6-DB3B-4BC2-93B8-766BD4ED93C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912864" y="3626087"/>
                <a:ext cx="64800" cy="6480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tailEnd type="oval" w="med" len="med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382" name="组合 381">
              <a:extLst>
                <a:ext uri="{FF2B5EF4-FFF2-40B4-BE49-F238E27FC236}">
                  <a16:creationId xmlns:a16="http://schemas.microsoft.com/office/drawing/2014/main" id="{05B8E418-BBEA-48F6-B506-CDA69B159C7F}"/>
                </a:ext>
              </a:extLst>
            </p:cNvPr>
            <p:cNvGrpSpPr/>
            <p:nvPr/>
          </p:nvGrpSpPr>
          <p:grpSpPr>
            <a:xfrm>
              <a:off x="1872000" y="3816000"/>
              <a:ext cx="251944" cy="252000"/>
              <a:chOff x="1912864" y="3438887"/>
              <a:chExt cx="251944" cy="252000"/>
            </a:xfrm>
          </p:grpSpPr>
          <p:sp>
            <p:nvSpPr>
              <p:cNvPr id="460" name="Oval 585">
                <a:extLst>
                  <a:ext uri="{FF2B5EF4-FFF2-40B4-BE49-F238E27FC236}">
                    <a16:creationId xmlns:a16="http://schemas.microsoft.com/office/drawing/2014/main" id="{E7104D4A-B9F2-4AB7-B49F-EA1546C76D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74143" y="3569777"/>
                <a:ext cx="71438" cy="73025"/>
              </a:xfrm>
              <a:prstGeom prst="ellipse">
                <a:avLst/>
              </a:prstGeom>
              <a:noFill/>
              <a:ln w="15875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61" name="Oval 586">
                <a:extLst>
                  <a:ext uri="{FF2B5EF4-FFF2-40B4-BE49-F238E27FC236}">
                    <a16:creationId xmlns:a16="http://schemas.microsoft.com/office/drawing/2014/main" id="{4FD1138D-E926-462B-9E3F-9ABAAE148B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41253" y="3495332"/>
                <a:ext cx="71438" cy="73025"/>
              </a:xfrm>
              <a:prstGeom prst="ellipse">
                <a:avLst/>
              </a:prstGeom>
              <a:noFill/>
              <a:ln w="15875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62" name="Line 587">
                <a:extLst>
                  <a:ext uri="{FF2B5EF4-FFF2-40B4-BE49-F238E27FC236}">
                    <a16:creationId xmlns:a16="http://schemas.microsoft.com/office/drawing/2014/main" id="{7085A946-4197-495A-98D7-CD02EB4779C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942934" y="3469742"/>
                <a:ext cx="104775" cy="106363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63" name="Line 588">
                <a:extLst>
                  <a:ext uri="{FF2B5EF4-FFF2-40B4-BE49-F238E27FC236}">
                    <a16:creationId xmlns:a16="http://schemas.microsoft.com/office/drawing/2014/main" id="{6FE58936-9916-48C3-9D20-BC30675FBE6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939630" y="3471328"/>
                <a:ext cx="54000" cy="5400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64" name="Line 589">
                <a:extLst>
                  <a:ext uri="{FF2B5EF4-FFF2-40B4-BE49-F238E27FC236}">
                    <a16:creationId xmlns:a16="http://schemas.microsoft.com/office/drawing/2014/main" id="{6DC3A4AD-DC25-4DCD-A2AB-9F5AA74BD93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100008" y="3438887"/>
                <a:ext cx="64800" cy="6480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 type="oval" w="med" len="med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65" name="Line 590">
                <a:extLst>
                  <a:ext uri="{FF2B5EF4-FFF2-40B4-BE49-F238E27FC236}">
                    <a16:creationId xmlns:a16="http://schemas.microsoft.com/office/drawing/2014/main" id="{EDC338E8-BEE5-4DF2-BCF6-2B2E1A75585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912864" y="3626087"/>
                <a:ext cx="64800" cy="6480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tailEnd type="oval" w="med" len="med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383" name="组合 382">
              <a:extLst>
                <a:ext uri="{FF2B5EF4-FFF2-40B4-BE49-F238E27FC236}">
                  <a16:creationId xmlns:a16="http://schemas.microsoft.com/office/drawing/2014/main" id="{B288ED2B-75D8-4123-8367-7219C4686C35}"/>
                </a:ext>
              </a:extLst>
            </p:cNvPr>
            <p:cNvGrpSpPr/>
            <p:nvPr/>
          </p:nvGrpSpPr>
          <p:grpSpPr>
            <a:xfrm>
              <a:off x="2374704" y="3816000"/>
              <a:ext cx="251944" cy="252000"/>
              <a:chOff x="1912864" y="3438887"/>
              <a:chExt cx="251944" cy="252000"/>
            </a:xfrm>
          </p:grpSpPr>
          <p:sp>
            <p:nvSpPr>
              <p:cNvPr id="454" name="Oval 585">
                <a:extLst>
                  <a:ext uri="{FF2B5EF4-FFF2-40B4-BE49-F238E27FC236}">
                    <a16:creationId xmlns:a16="http://schemas.microsoft.com/office/drawing/2014/main" id="{8E495C8D-395F-4863-BB43-558251A2D7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74143" y="3569777"/>
                <a:ext cx="71438" cy="73025"/>
              </a:xfrm>
              <a:prstGeom prst="ellipse">
                <a:avLst/>
              </a:prstGeom>
              <a:noFill/>
              <a:ln w="15875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55" name="Oval 586">
                <a:extLst>
                  <a:ext uri="{FF2B5EF4-FFF2-40B4-BE49-F238E27FC236}">
                    <a16:creationId xmlns:a16="http://schemas.microsoft.com/office/drawing/2014/main" id="{C92119B6-8749-4C0F-9EFC-579651D147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41253" y="3495332"/>
                <a:ext cx="71438" cy="73025"/>
              </a:xfrm>
              <a:prstGeom prst="ellipse">
                <a:avLst/>
              </a:prstGeom>
              <a:noFill/>
              <a:ln w="15875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56" name="Line 587">
                <a:extLst>
                  <a:ext uri="{FF2B5EF4-FFF2-40B4-BE49-F238E27FC236}">
                    <a16:creationId xmlns:a16="http://schemas.microsoft.com/office/drawing/2014/main" id="{952C23B5-A157-477E-B2C6-22BB3C88BFB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942934" y="3469742"/>
                <a:ext cx="104775" cy="106363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57" name="Line 588">
                <a:extLst>
                  <a:ext uri="{FF2B5EF4-FFF2-40B4-BE49-F238E27FC236}">
                    <a16:creationId xmlns:a16="http://schemas.microsoft.com/office/drawing/2014/main" id="{57FA11BA-5EB6-4919-98AA-E119F98B054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939630" y="3471328"/>
                <a:ext cx="54000" cy="5400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58" name="Line 589">
                <a:extLst>
                  <a:ext uri="{FF2B5EF4-FFF2-40B4-BE49-F238E27FC236}">
                    <a16:creationId xmlns:a16="http://schemas.microsoft.com/office/drawing/2014/main" id="{3BE2DC30-1329-414A-9772-FF40DBF7B2E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100008" y="3438887"/>
                <a:ext cx="64800" cy="6480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 type="oval" w="med" len="med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59" name="Line 590">
                <a:extLst>
                  <a:ext uri="{FF2B5EF4-FFF2-40B4-BE49-F238E27FC236}">
                    <a16:creationId xmlns:a16="http://schemas.microsoft.com/office/drawing/2014/main" id="{E07FC570-2D48-4FC3-A342-B66B83906A1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912864" y="3626087"/>
                <a:ext cx="64800" cy="6480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tailEnd type="oval" w="med" len="med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384" name="组合 383">
              <a:extLst>
                <a:ext uri="{FF2B5EF4-FFF2-40B4-BE49-F238E27FC236}">
                  <a16:creationId xmlns:a16="http://schemas.microsoft.com/office/drawing/2014/main" id="{520A055C-B70B-464D-A1B3-50DB5539FFFB}"/>
                </a:ext>
              </a:extLst>
            </p:cNvPr>
            <p:cNvGrpSpPr/>
            <p:nvPr/>
          </p:nvGrpSpPr>
          <p:grpSpPr>
            <a:xfrm>
              <a:off x="2878704" y="3816000"/>
              <a:ext cx="251944" cy="252000"/>
              <a:chOff x="1912864" y="3438887"/>
              <a:chExt cx="251944" cy="252000"/>
            </a:xfrm>
          </p:grpSpPr>
          <p:sp>
            <p:nvSpPr>
              <p:cNvPr id="448" name="Oval 585">
                <a:extLst>
                  <a:ext uri="{FF2B5EF4-FFF2-40B4-BE49-F238E27FC236}">
                    <a16:creationId xmlns:a16="http://schemas.microsoft.com/office/drawing/2014/main" id="{76AE433F-F906-4C91-89C1-B646E8BDB6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74143" y="3569777"/>
                <a:ext cx="71438" cy="73025"/>
              </a:xfrm>
              <a:prstGeom prst="ellipse">
                <a:avLst/>
              </a:prstGeom>
              <a:noFill/>
              <a:ln w="15875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49" name="Oval 586">
                <a:extLst>
                  <a:ext uri="{FF2B5EF4-FFF2-40B4-BE49-F238E27FC236}">
                    <a16:creationId xmlns:a16="http://schemas.microsoft.com/office/drawing/2014/main" id="{AAEDCAF7-CD1A-4A1F-9864-7A68CCDE9F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41253" y="3495332"/>
                <a:ext cx="71438" cy="73025"/>
              </a:xfrm>
              <a:prstGeom prst="ellipse">
                <a:avLst/>
              </a:prstGeom>
              <a:noFill/>
              <a:ln w="15875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50" name="Line 587">
                <a:extLst>
                  <a:ext uri="{FF2B5EF4-FFF2-40B4-BE49-F238E27FC236}">
                    <a16:creationId xmlns:a16="http://schemas.microsoft.com/office/drawing/2014/main" id="{E96AB520-DC70-4871-8389-BF33793465F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942934" y="3469742"/>
                <a:ext cx="104775" cy="106363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51" name="Line 588">
                <a:extLst>
                  <a:ext uri="{FF2B5EF4-FFF2-40B4-BE49-F238E27FC236}">
                    <a16:creationId xmlns:a16="http://schemas.microsoft.com/office/drawing/2014/main" id="{93EEEA69-EE45-4C07-ADD2-15B36B9112A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939630" y="3471328"/>
                <a:ext cx="54000" cy="5400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52" name="Line 589">
                <a:extLst>
                  <a:ext uri="{FF2B5EF4-FFF2-40B4-BE49-F238E27FC236}">
                    <a16:creationId xmlns:a16="http://schemas.microsoft.com/office/drawing/2014/main" id="{1F91CCAA-60EB-44F1-9DC3-877F0432F61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100008" y="3438887"/>
                <a:ext cx="64800" cy="6480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 type="oval" w="med" len="med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53" name="Line 590">
                <a:extLst>
                  <a:ext uri="{FF2B5EF4-FFF2-40B4-BE49-F238E27FC236}">
                    <a16:creationId xmlns:a16="http://schemas.microsoft.com/office/drawing/2014/main" id="{C5B6A8C8-DA3B-43B8-81DF-7EA4D674E05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912864" y="3626087"/>
                <a:ext cx="64800" cy="6480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tailEnd type="oval" w="med" len="med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385" name="组合 384">
              <a:extLst>
                <a:ext uri="{FF2B5EF4-FFF2-40B4-BE49-F238E27FC236}">
                  <a16:creationId xmlns:a16="http://schemas.microsoft.com/office/drawing/2014/main" id="{2BF10DAE-AB1F-4442-AE6E-8F7C75A8C38B}"/>
                </a:ext>
              </a:extLst>
            </p:cNvPr>
            <p:cNvGrpSpPr/>
            <p:nvPr/>
          </p:nvGrpSpPr>
          <p:grpSpPr>
            <a:xfrm>
              <a:off x="3382704" y="3816000"/>
              <a:ext cx="251944" cy="252000"/>
              <a:chOff x="1912864" y="3438887"/>
              <a:chExt cx="251944" cy="252000"/>
            </a:xfrm>
          </p:grpSpPr>
          <p:sp>
            <p:nvSpPr>
              <p:cNvPr id="442" name="Oval 585">
                <a:extLst>
                  <a:ext uri="{FF2B5EF4-FFF2-40B4-BE49-F238E27FC236}">
                    <a16:creationId xmlns:a16="http://schemas.microsoft.com/office/drawing/2014/main" id="{1E5D9D9B-35D2-4E4E-B4A5-3E04E63A3C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74143" y="3569777"/>
                <a:ext cx="71438" cy="73025"/>
              </a:xfrm>
              <a:prstGeom prst="ellipse">
                <a:avLst/>
              </a:prstGeom>
              <a:noFill/>
              <a:ln w="15875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43" name="Oval 586">
                <a:extLst>
                  <a:ext uri="{FF2B5EF4-FFF2-40B4-BE49-F238E27FC236}">
                    <a16:creationId xmlns:a16="http://schemas.microsoft.com/office/drawing/2014/main" id="{57FDAFCD-8BC8-4BA7-9C28-5FF8CF0500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41253" y="3495332"/>
                <a:ext cx="71438" cy="73025"/>
              </a:xfrm>
              <a:prstGeom prst="ellipse">
                <a:avLst/>
              </a:prstGeom>
              <a:noFill/>
              <a:ln w="15875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44" name="Line 587">
                <a:extLst>
                  <a:ext uri="{FF2B5EF4-FFF2-40B4-BE49-F238E27FC236}">
                    <a16:creationId xmlns:a16="http://schemas.microsoft.com/office/drawing/2014/main" id="{2C6B6F7F-6727-46E8-B0C6-7B0DF4B314B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942934" y="3469742"/>
                <a:ext cx="104775" cy="106363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5" name="Line 588">
                <a:extLst>
                  <a:ext uri="{FF2B5EF4-FFF2-40B4-BE49-F238E27FC236}">
                    <a16:creationId xmlns:a16="http://schemas.microsoft.com/office/drawing/2014/main" id="{DED2196E-F1D9-4D8C-B1DC-E37E1CDF64F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939630" y="3471328"/>
                <a:ext cx="54000" cy="5400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6" name="Line 589">
                <a:extLst>
                  <a:ext uri="{FF2B5EF4-FFF2-40B4-BE49-F238E27FC236}">
                    <a16:creationId xmlns:a16="http://schemas.microsoft.com/office/drawing/2014/main" id="{C69E8639-AE59-4986-B335-14B38A0F58A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100008" y="3438887"/>
                <a:ext cx="64800" cy="6480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 type="oval" w="med" len="med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7" name="Line 590">
                <a:extLst>
                  <a:ext uri="{FF2B5EF4-FFF2-40B4-BE49-F238E27FC236}">
                    <a16:creationId xmlns:a16="http://schemas.microsoft.com/office/drawing/2014/main" id="{A0DC0DD2-A6A9-487B-AE97-B94984102EE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912864" y="3626087"/>
                <a:ext cx="64800" cy="6480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tailEnd type="oval" w="med" len="med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386" name="组合 385">
              <a:extLst>
                <a:ext uri="{FF2B5EF4-FFF2-40B4-BE49-F238E27FC236}">
                  <a16:creationId xmlns:a16="http://schemas.microsoft.com/office/drawing/2014/main" id="{FA37285A-5D45-4A1C-85BA-BE48AA79061C}"/>
                </a:ext>
              </a:extLst>
            </p:cNvPr>
            <p:cNvGrpSpPr/>
            <p:nvPr/>
          </p:nvGrpSpPr>
          <p:grpSpPr>
            <a:xfrm>
              <a:off x="1872000" y="4176000"/>
              <a:ext cx="251944" cy="252000"/>
              <a:chOff x="1912864" y="3438887"/>
              <a:chExt cx="251944" cy="252000"/>
            </a:xfrm>
          </p:grpSpPr>
          <p:sp>
            <p:nvSpPr>
              <p:cNvPr id="436" name="Oval 585">
                <a:extLst>
                  <a:ext uri="{FF2B5EF4-FFF2-40B4-BE49-F238E27FC236}">
                    <a16:creationId xmlns:a16="http://schemas.microsoft.com/office/drawing/2014/main" id="{A22F2837-ADD7-4C08-8FAD-7475509948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74143" y="3569777"/>
                <a:ext cx="71438" cy="73025"/>
              </a:xfrm>
              <a:prstGeom prst="ellipse">
                <a:avLst/>
              </a:prstGeom>
              <a:noFill/>
              <a:ln w="15875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7" name="Oval 586">
                <a:extLst>
                  <a:ext uri="{FF2B5EF4-FFF2-40B4-BE49-F238E27FC236}">
                    <a16:creationId xmlns:a16="http://schemas.microsoft.com/office/drawing/2014/main" id="{81865FB7-2C2F-427B-9B20-7FBACF9359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41253" y="3495332"/>
                <a:ext cx="71438" cy="73025"/>
              </a:xfrm>
              <a:prstGeom prst="ellipse">
                <a:avLst/>
              </a:prstGeom>
              <a:noFill/>
              <a:ln w="15875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8" name="Line 587">
                <a:extLst>
                  <a:ext uri="{FF2B5EF4-FFF2-40B4-BE49-F238E27FC236}">
                    <a16:creationId xmlns:a16="http://schemas.microsoft.com/office/drawing/2014/main" id="{69A42E4F-CB39-4488-B336-580E1E9C35F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942934" y="3469742"/>
                <a:ext cx="104775" cy="106363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9" name="Line 588">
                <a:extLst>
                  <a:ext uri="{FF2B5EF4-FFF2-40B4-BE49-F238E27FC236}">
                    <a16:creationId xmlns:a16="http://schemas.microsoft.com/office/drawing/2014/main" id="{6E4F0BDF-5F6C-4EC7-A259-CBF6D4FE1A0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939630" y="3471328"/>
                <a:ext cx="54000" cy="5400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0" name="Line 589">
                <a:extLst>
                  <a:ext uri="{FF2B5EF4-FFF2-40B4-BE49-F238E27FC236}">
                    <a16:creationId xmlns:a16="http://schemas.microsoft.com/office/drawing/2014/main" id="{3C8F844B-FA6F-4B78-AC28-18914630C49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100008" y="3438887"/>
                <a:ext cx="64800" cy="6480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 type="oval" w="med" len="med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1" name="Line 590">
                <a:extLst>
                  <a:ext uri="{FF2B5EF4-FFF2-40B4-BE49-F238E27FC236}">
                    <a16:creationId xmlns:a16="http://schemas.microsoft.com/office/drawing/2014/main" id="{AC31E2C8-C706-4D86-AECC-CFEC13CEE53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912864" y="3626087"/>
                <a:ext cx="64800" cy="6480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tailEnd type="oval" w="med" len="med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387" name="组合 386">
              <a:extLst>
                <a:ext uri="{FF2B5EF4-FFF2-40B4-BE49-F238E27FC236}">
                  <a16:creationId xmlns:a16="http://schemas.microsoft.com/office/drawing/2014/main" id="{4793A1AD-7328-43A5-B5AE-F0983D59D47A}"/>
                </a:ext>
              </a:extLst>
            </p:cNvPr>
            <p:cNvGrpSpPr/>
            <p:nvPr/>
          </p:nvGrpSpPr>
          <p:grpSpPr>
            <a:xfrm>
              <a:off x="2374704" y="4176000"/>
              <a:ext cx="251944" cy="252000"/>
              <a:chOff x="1912864" y="3438887"/>
              <a:chExt cx="251944" cy="252000"/>
            </a:xfrm>
          </p:grpSpPr>
          <p:sp>
            <p:nvSpPr>
              <p:cNvPr id="430" name="Oval 585">
                <a:extLst>
                  <a:ext uri="{FF2B5EF4-FFF2-40B4-BE49-F238E27FC236}">
                    <a16:creationId xmlns:a16="http://schemas.microsoft.com/office/drawing/2014/main" id="{F1AB765A-10CD-4AD5-A9C9-1D8B0E7464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74143" y="3569777"/>
                <a:ext cx="71438" cy="73025"/>
              </a:xfrm>
              <a:prstGeom prst="ellipse">
                <a:avLst/>
              </a:prstGeom>
              <a:noFill/>
              <a:ln w="15875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1" name="Oval 586">
                <a:extLst>
                  <a:ext uri="{FF2B5EF4-FFF2-40B4-BE49-F238E27FC236}">
                    <a16:creationId xmlns:a16="http://schemas.microsoft.com/office/drawing/2014/main" id="{7088A47E-85C8-4D39-B3B0-A5A62DD712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41253" y="3495332"/>
                <a:ext cx="71438" cy="73025"/>
              </a:xfrm>
              <a:prstGeom prst="ellipse">
                <a:avLst/>
              </a:prstGeom>
              <a:noFill/>
              <a:ln w="15875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2" name="Line 587">
                <a:extLst>
                  <a:ext uri="{FF2B5EF4-FFF2-40B4-BE49-F238E27FC236}">
                    <a16:creationId xmlns:a16="http://schemas.microsoft.com/office/drawing/2014/main" id="{8E2A262E-C588-4402-A7FB-05B7B255267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942934" y="3469742"/>
                <a:ext cx="104775" cy="106363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3" name="Line 588">
                <a:extLst>
                  <a:ext uri="{FF2B5EF4-FFF2-40B4-BE49-F238E27FC236}">
                    <a16:creationId xmlns:a16="http://schemas.microsoft.com/office/drawing/2014/main" id="{98170D60-E7C4-4FE7-B01B-E6468F11768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939630" y="3471328"/>
                <a:ext cx="54000" cy="5400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4" name="Line 589">
                <a:extLst>
                  <a:ext uri="{FF2B5EF4-FFF2-40B4-BE49-F238E27FC236}">
                    <a16:creationId xmlns:a16="http://schemas.microsoft.com/office/drawing/2014/main" id="{076642BF-A6AA-4EBC-B508-A015D3D365E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100008" y="3438887"/>
                <a:ext cx="64800" cy="6480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 type="oval" w="med" len="med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5" name="Line 590">
                <a:extLst>
                  <a:ext uri="{FF2B5EF4-FFF2-40B4-BE49-F238E27FC236}">
                    <a16:creationId xmlns:a16="http://schemas.microsoft.com/office/drawing/2014/main" id="{C7BD9C51-ED0A-44A8-BB3D-7D258FC0335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912864" y="3626087"/>
                <a:ext cx="64800" cy="6480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tailEnd type="oval" w="med" len="med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388" name="组合 387">
              <a:extLst>
                <a:ext uri="{FF2B5EF4-FFF2-40B4-BE49-F238E27FC236}">
                  <a16:creationId xmlns:a16="http://schemas.microsoft.com/office/drawing/2014/main" id="{E6E9E34D-976A-4384-801E-1181666184D3}"/>
                </a:ext>
              </a:extLst>
            </p:cNvPr>
            <p:cNvGrpSpPr/>
            <p:nvPr/>
          </p:nvGrpSpPr>
          <p:grpSpPr>
            <a:xfrm>
              <a:off x="2878704" y="4176000"/>
              <a:ext cx="251944" cy="252000"/>
              <a:chOff x="1912864" y="3438887"/>
              <a:chExt cx="251944" cy="252000"/>
            </a:xfrm>
          </p:grpSpPr>
          <p:sp>
            <p:nvSpPr>
              <p:cNvPr id="424" name="Oval 585">
                <a:extLst>
                  <a:ext uri="{FF2B5EF4-FFF2-40B4-BE49-F238E27FC236}">
                    <a16:creationId xmlns:a16="http://schemas.microsoft.com/office/drawing/2014/main" id="{2837D5BB-3FD6-4CAE-83F1-6ABA0D7458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74143" y="3569777"/>
                <a:ext cx="71438" cy="73025"/>
              </a:xfrm>
              <a:prstGeom prst="ellipse">
                <a:avLst/>
              </a:prstGeom>
              <a:noFill/>
              <a:ln w="15875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25" name="Oval 586">
                <a:extLst>
                  <a:ext uri="{FF2B5EF4-FFF2-40B4-BE49-F238E27FC236}">
                    <a16:creationId xmlns:a16="http://schemas.microsoft.com/office/drawing/2014/main" id="{11161308-08AC-42AB-8F47-157971B385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41253" y="3495332"/>
                <a:ext cx="71438" cy="73025"/>
              </a:xfrm>
              <a:prstGeom prst="ellipse">
                <a:avLst/>
              </a:prstGeom>
              <a:noFill/>
              <a:ln w="15875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26" name="Line 587">
                <a:extLst>
                  <a:ext uri="{FF2B5EF4-FFF2-40B4-BE49-F238E27FC236}">
                    <a16:creationId xmlns:a16="http://schemas.microsoft.com/office/drawing/2014/main" id="{3820D051-36FD-4DC8-82A9-E727EFC56BF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942934" y="3469742"/>
                <a:ext cx="104775" cy="106363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7" name="Line 588">
                <a:extLst>
                  <a:ext uri="{FF2B5EF4-FFF2-40B4-BE49-F238E27FC236}">
                    <a16:creationId xmlns:a16="http://schemas.microsoft.com/office/drawing/2014/main" id="{E0D978E8-4D47-4004-85C0-5DFA0A6F54E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939630" y="3471328"/>
                <a:ext cx="54000" cy="5400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8" name="Line 589">
                <a:extLst>
                  <a:ext uri="{FF2B5EF4-FFF2-40B4-BE49-F238E27FC236}">
                    <a16:creationId xmlns:a16="http://schemas.microsoft.com/office/drawing/2014/main" id="{835A88D1-EA0E-48B4-99BF-D65043CD5F9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100008" y="3438887"/>
                <a:ext cx="64800" cy="6480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 type="oval" w="med" len="med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9" name="Line 590">
                <a:extLst>
                  <a:ext uri="{FF2B5EF4-FFF2-40B4-BE49-F238E27FC236}">
                    <a16:creationId xmlns:a16="http://schemas.microsoft.com/office/drawing/2014/main" id="{7AC767AB-D018-4294-9EEF-B1EC4D89465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912864" y="3626087"/>
                <a:ext cx="64800" cy="6480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tailEnd type="oval" w="med" len="med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389" name="组合 388">
              <a:extLst>
                <a:ext uri="{FF2B5EF4-FFF2-40B4-BE49-F238E27FC236}">
                  <a16:creationId xmlns:a16="http://schemas.microsoft.com/office/drawing/2014/main" id="{63D104EC-4C11-4D3A-A15E-C401604DC7C7}"/>
                </a:ext>
              </a:extLst>
            </p:cNvPr>
            <p:cNvGrpSpPr/>
            <p:nvPr/>
          </p:nvGrpSpPr>
          <p:grpSpPr>
            <a:xfrm>
              <a:off x="3382704" y="4176000"/>
              <a:ext cx="251944" cy="252000"/>
              <a:chOff x="1912864" y="3438887"/>
              <a:chExt cx="251944" cy="252000"/>
            </a:xfrm>
          </p:grpSpPr>
          <p:sp>
            <p:nvSpPr>
              <p:cNvPr id="418" name="Oval 585">
                <a:extLst>
                  <a:ext uri="{FF2B5EF4-FFF2-40B4-BE49-F238E27FC236}">
                    <a16:creationId xmlns:a16="http://schemas.microsoft.com/office/drawing/2014/main" id="{E8DB65CE-7CC1-4E12-A7AB-E5CBE3939E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74143" y="3569777"/>
                <a:ext cx="71438" cy="73025"/>
              </a:xfrm>
              <a:prstGeom prst="ellipse">
                <a:avLst/>
              </a:prstGeom>
              <a:noFill/>
              <a:ln w="15875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19" name="Oval 586">
                <a:extLst>
                  <a:ext uri="{FF2B5EF4-FFF2-40B4-BE49-F238E27FC236}">
                    <a16:creationId xmlns:a16="http://schemas.microsoft.com/office/drawing/2014/main" id="{1406F8FC-269B-4CB6-9129-DFFB372D53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41253" y="3495332"/>
                <a:ext cx="71438" cy="73025"/>
              </a:xfrm>
              <a:prstGeom prst="ellipse">
                <a:avLst/>
              </a:prstGeom>
              <a:noFill/>
              <a:ln w="15875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20" name="Line 587">
                <a:extLst>
                  <a:ext uri="{FF2B5EF4-FFF2-40B4-BE49-F238E27FC236}">
                    <a16:creationId xmlns:a16="http://schemas.microsoft.com/office/drawing/2014/main" id="{C9EAA3A8-3D3C-4F52-89EE-55095FAE6B9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942934" y="3469742"/>
                <a:ext cx="104775" cy="106363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1" name="Line 588">
                <a:extLst>
                  <a:ext uri="{FF2B5EF4-FFF2-40B4-BE49-F238E27FC236}">
                    <a16:creationId xmlns:a16="http://schemas.microsoft.com/office/drawing/2014/main" id="{5C0130BE-B77B-4934-9D91-0BFDABC87CE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939630" y="3471328"/>
                <a:ext cx="54000" cy="5400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2" name="Line 589">
                <a:extLst>
                  <a:ext uri="{FF2B5EF4-FFF2-40B4-BE49-F238E27FC236}">
                    <a16:creationId xmlns:a16="http://schemas.microsoft.com/office/drawing/2014/main" id="{D830E175-D73C-4A1E-AADC-1DAB95FB8F8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100008" y="3438887"/>
                <a:ext cx="64800" cy="6480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 type="oval" w="med" len="med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3" name="Line 590">
                <a:extLst>
                  <a:ext uri="{FF2B5EF4-FFF2-40B4-BE49-F238E27FC236}">
                    <a16:creationId xmlns:a16="http://schemas.microsoft.com/office/drawing/2014/main" id="{7AD66E7B-7C3F-4273-ACFC-90FCC9625FF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912864" y="3626087"/>
                <a:ext cx="64800" cy="6480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tailEnd type="oval" w="med" len="med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390" name="组合 389">
              <a:extLst>
                <a:ext uri="{FF2B5EF4-FFF2-40B4-BE49-F238E27FC236}">
                  <a16:creationId xmlns:a16="http://schemas.microsoft.com/office/drawing/2014/main" id="{FD959D49-55C8-48EE-A3DB-C40697D01E19}"/>
                </a:ext>
              </a:extLst>
            </p:cNvPr>
            <p:cNvGrpSpPr/>
            <p:nvPr/>
          </p:nvGrpSpPr>
          <p:grpSpPr>
            <a:xfrm>
              <a:off x="1872000" y="4536000"/>
              <a:ext cx="251944" cy="252000"/>
              <a:chOff x="1912864" y="3438887"/>
              <a:chExt cx="251944" cy="252000"/>
            </a:xfrm>
          </p:grpSpPr>
          <p:sp>
            <p:nvSpPr>
              <p:cNvPr id="412" name="Oval 585">
                <a:extLst>
                  <a:ext uri="{FF2B5EF4-FFF2-40B4-BE49-F238E27FC236}">
                    <a16:creationId xmlns:a16="http://schemas.microsoft.com/office/drawing/2014/main" id="{0677BAB4-9EE9-415F-8481-9D434B3001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74143" y="3569777"/>
                <a:ext cx="71438" cy="73025"/>
              </a:xfrm>
              <a:prstGeom prst="ellipse">
                <a:avLst/>
              </a:prstGeom>
              <a:noFill/>
              <a:ln w="15875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13" name="Oval 586">
                <a:extLst>
                  <a:ext uri="{FF2B5EF4-FFF2-40B4-BE49-F238E27FC236}">
                    <a16:creationId xmlns:a16="http://schemas.microsoft.com/office/drawing/2014/main" id="{30DB7F4F-1A91-47F9-A0D7-94F09FAEFF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41253" y="3495332"/>
                <a:ext cx="71438" cy="73025"/>
              </a:xfrm>
              <a:prstGeom prst="ellipse">
                <a:avLst/>
              </a:prstGeom>
              <a:noFill/>
              <a:ln w="15875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14" name="Line 587">
                <a:extLst>
                  <a:ext uri="{FF2B5EF4-FFF2-40B4-BE49-F238E27FC236}">
                    <a16:creationId xmlns:a16="http://schemas.microsoft.com/office/drawing/2014/main" id="{98069F77-0F14-4329-B082-CC3B759D3CB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942934" y="3469742"/>
                <a:ext cx="104775" cy="106363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5" name="Line 588">
                <a:extLst>
                  <a:ext uri="{FF2B5EF4-FFF2-40B4-BE49-F238E27FC236}">
                    <a16:creationId xmlns:a16="http://schemas.microsoft.com/office/drawing/2014/main" id="{C61C15F1-6718-4139-A0F8-544EE33A6AD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939630" y="3471328"/>
                <a:ext cx="54000" cy="5400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6" name="Line 589">
                <a:extLst>
                  <a:ext uri="{FF2B5EF4-FFF2-40B4-BE49-F238E27FC236}">
                    <a16:creationId xmlns:a16="http://schemas.microsoft.com/office/drawing/2014/main" id="{612928DA-51F3-4341-91B0-FAAF014ACA2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100008" y="3438887"/>
                <a:ext cx="64800" cy="6480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 type="oval" w="med" len="med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7" name="Line 590">
                <a:extLst>
                  <a:ext uri="{FF2B5EF4-FFF2-40B4-BE49-F238E27FC236}">
                    <a16:creationId xmlns:a16="http://schemas.microsoft.com/office/drawing/2014/main" id="{0B2F6E81-896B-488E-AE68-64A5C894B87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912864" y="3626087"/>
                <a:ext cx="64800" cy="6480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tailEnd type="oval" w="med" len="med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391" name="组合 390">
              <a:extLst>
                <a:ext uri="{FF2B5EF4-FFF2-40B4-BE49-F238E27FC236}">
                  <a16:creationId xmlns:a16="http://schemas.microsoft.com/office/drawing/2014/main" id="{DBAB8C66-0249-4B4A-BE11-4C46EFDFD8F3}"/>
                </a:ext>
              </a:extLst>
            </p:cNvPr>
            <p:cNvGrpSpPr/>
            <p:nvPr/>
          </p:nvGrpSpPr>
          <p:grpSpPr>
            <a:xfrm>
              <a:off x="2374704" y="4536000"/>
              <a:ext cx="251944" cy="252000"/>
              <a:chOff x="1912864" y="3438887"/>
              <a:chExt cx="251944" cy="252000"/>
            </a:xfrm>
          </p:grpSpPr>
          <p:sp>
            <p:nvSpPr>
              <p:cNvPr id="406" name="Oval 585">
                <a:extLst>
                  <a:ext uri="{FF2B5EF4-FFF2-40B4-BE49-F238E27FC236}">
                    <a16:creationId xmlns:a16="http://schemas.microsoft.com/office/drawing/2014/main" id="{7A097180-47A8-40CF-9D91-8D4D35F490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74143" y="3569777"/>
                <a:ext cx="71438" cy="73025"/>
              </a:xfrm>
              <a:prstGeom prst="ellipse">
                <a:avLst/>
              </a:prstGeom>
              <a:noFill/>
              <a:ln w="15875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07" name="Oval 586">
                <a:extLst>
                  <a:ext uri="{FF2B5EF4-FFF2-40B4-BE49-F238E27FC236}">
                    <a16:creationId xmlns:a16="http://schemas.microsoft.com/office/drawing/2014/main" id="{BD25E6FD-2734-4FE2-9DE4-60F1F46B65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41253" y="3495332"/>
                <a:ext cx="71438" cy="73025"/>
              </a:xfrm>
              <a:prstGeom prst="ellipse">
                <a:avLst/>
              </a:prstGeom>
              <a:noFill/>
              <a:ln w="15875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08" name="Line 587">
                <a:extLst>
                  <a:ext uri="{FF2B5EF4-FFF2-40B4-BE49-F238E27FC236}">
                    <a16:creationId xmlns:a16="http://schemas.microsoft.com/office/drawing/2014/main" id="{601B96DC-0F56-4672-BE99-A1C8641B880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942934" y="3469742"/>
                <a:ext cx="104775" cy="106363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09" name="Line 588">
                <a:extLst>
                  <a:ext uri="{FF2B5EF4-FFF2-40B4-BE49-F238E27FC236}">
                    <a16:creationId xmlns:a16="http://schemas.microsoft.com/office/drawing/2014/main" id="{01C6FACE-AC3E-425A-B796-9D0DF4596A3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939630" y="3471328"/>
                <a:ext cx="54000" cy="5400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0" name="Line 589">
                <a:extLst>
                  <a:ext uri="{FF2B5EF4-FFF2-40B4-BE49-F238E27FC236}">
                    <a16:creationId xmlns:a16="http://schemas.microsoft.com/office/drawing/2014/main" id="{F9B56636-D831-4FC3-B463-8AE9A52CA00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100008" y="3438887"/>
                <a:ext cx="64800" cy="6480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 type="oval" w="med" len="med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1" name="Line 590">
                <a:extLst>
                  <a:ext uri="{FF2B5EF4-FFF2-40B4-BE49-F238E27FC236}">
                    <a16:creationId xmlns:a16="http://schemas.microsoft.com/office/drawing/2014/main" id="{AA2FB1DD-9062-4682-9301-41EF8139924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912864" y="3626087"/>
                <a:ext cx="64800" cy="6480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tailEnd type="oval" w="med" len="med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392" name="组合 391">
              <a:extLst>
                <a:ext uri="{FF2B5EF4-FFF2-40B4-BE49-F238E27FC236}">
                  <a16:creationId xmlns:a16="http://schemas.microsoft.com/office/drawing/2014/main" id="{67DB7EBB-FB10-454B-A25C-23A0D99A6F99}"/>
                </a:ext>
              </a:extLst>
            </p:cNvPr>
            <p:cNvGrpSpPr/>
            <p:nvPr/>
          </p:nvGrpSpPr>
          <p:grpSpPr>
            <a:xfrm>
              <a:off x="2878704" y="4536000"/>
              <a:ext cx="251944" cy="252000"/>
              <a:chOff x="1912864" y="3438887"/>
              <a:chExt cx="251944" cy="252000"/>
            </a:xfrm>
          </p:grpSpPr>
          <p:sp>
            <p:nvSpPr>
              <p:cNvPr id="400" name="Oval 585">
                <a:extLst>
                  <a:ext uri="{FF2B5EF4-FFF2-40B4-BE49-F238E27FC236}">
                    <a16:creationId xmlns:a16="http://schemas.microsoft.com/office/drawing/2014/main" id="{2A0C405D-6332-413F-B15A-9BEFEC0A99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74143" y="3569777"/>
                <a:ext cx="71438" cy="73025"/>
              </a:xfrm>
              <a:prstGeom prst="ellipse">
                <a:avLst/>
              </a:prstGeom>
              <a:noFill/>
              <a:ln w="15875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01" name="Oval 586">
                <a:extLst>
                  <a:ext uri="{FF2B5EF4-FFF2-40B4-BE49-F238E27FC236}">
                    <a16:creationId xmlns:a16="http://schemas.microsoft.com/office/drawing/2014/main" id="{028A09A5-F7AB-447C-8169-9EA296783E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41253" y="3495332"/>
                <a:ext cx="71438" cy="73025"/>
              </a:xfrm>
              <a:prstGeom prst="ellipse">
                <a:avLst/>
              </a:prstGeom>
              <a:noFill/>
              <a:ln w="15875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02" name="Line 587">
                <a:extLst>
                  <a:ext uri="{FF2B5EF4-FFF2-40B4-BE49-F238E27FC236}">
                    <a16:creationId xmlns:a16="http://schemas.microsoft.com/office/drawing/2014/main" id="{8438F104-B6F3-4512-A348-A3260B30A9D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942934" y="3469742"/>
                <a:ext cx="104775" cy="106363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03" name="Line 588">
                <a:extLst>
                  <a:ext uri="{FF2B5EF4-FFF2-40B4-BE49-F238E27FC236}">
                    <a16:creationId xmlns:a16="http://schemas.microsoft.com/office/drawing/2014/main" id="{F37D23D3-D12E-464D-AED4-816E0E85587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939630" y="3471328"/>
                <a:ext cx="54000" cy="5400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04" name="Line 589">
                <a:extLst>
                  <a:ext uri="{FF2B5EF4-FFF2-40B4-BE49-F238E27FC236}">
                    <a16:creationId xmlns:a16="http://schemas.microsoft.com/office/drawing/2014/main" id="{1312616A-D09E-4EA1-B90E-A5FAE7FA8F5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100008" y="3438887"/>
                <a:ext cx="64800" cy="6480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 type="oval" w="med" len="med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05" name="Line 590">
                <a:extLst>
                  <a:ext uri="{FF2B5EF4-FFF2-40B4-BE49-F238E27FC236}">
                    <a16:creationId xmlns:a16="http://schemas.microsoft.com/office/drawing/2014/main" id="{47801E76-D316-49F0-BAC5-92B5D82B051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912864" y="3626087"/>
                <a:ext cx="64800" cy="6480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tailEnd type="oval" w="med" len="med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393" name="组合 392">
              <a:extLst>
                <a:ext uri="{FF2B5EF4-FFF2-40B4-BE49-F238E27FC236}">
                  <a16:creationId xmlns:a16="http://schemas.microsoft.com/office/drawing/2014/main" id="{5CF5A1B7-B689-48C1-8397-9A318FE0872C}"/>
                </a:ext>
              </a:extLst>
            </p:cNvPr>
            <p:cNvGrpSpPr/>
            <p:nvPr/>
          </p:nvGrpSpPr>
          <p:grpSpPr>
            <a:xfrm>
              <a:off x="3382704" y="4536000"/>
              <a:ext cx="251944" cy="252000"/>
              <a:chOff x="1912864" y="3438887"/>
              <a:chExt cx="251944" cy="252000"/>
            </a:xfrm>
          </p:grpSpPr>
          <p:sp>
            <p:nvSpPr>
              <p:cNvPr id="394" name="Oval 585">
                <a:extLst>
                  <a:ext uri="{FF2B5EF4-FFF2-40B4-BE49-F238E27FC236}">
                    <a16:creationId xmlns:a16="http://schemas.microsoft.com/office/drawing/2014/main" id="{787B53DE-F6CB-49F9-8092-FC9A049130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74143" y="3569777"/>
                <a:ext cx="71438" cy="73025"/>
              </a:xfrm>
              <a:prstGeom prst="ellipse">
                <a:avLst/>
              </a:prstGeom>
              <a:noFill/>
              <a:ln w="15875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95" name="Oval 586">
                <a:extLst>
                  <a:ext uri="{FF2B5EF4-FFF2-40B4-BE49-F238E27FC236}">
                    <a16:creationId xmlns:a16="http://schemas.microsoft.com/office/drawing/2014/main" id="{01584DBA-91F0-43D6-BA7F-F99213769F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41253" y="3495332"/>
                <a:ext cx="71438" cy="73025"/>
              </a:xfrm>
              <a:prstGeom prst="ellipse">
                <a:avLst/>
              </a:prstGeom>
              <a:noFill/>
              <a:ln w="15875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96" name="Line 587">
                <a:extLst>
                  <a:ext uri="{FF2B5EF4-FFF2-40B4-BE49-F238E27FC236}">
                    <a16:creationId xmlns:a16="http://schemas.microsoft.com/office/drawing/2014/main" id="{781927EA-4538-4DB5-8052-ECF1552B24F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942934" y="3469742"/>
                <a:ext cx="104775" cy="106363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7" name="Line 588">
                <a:extLst>
                  <a:ext uri="{FF2B5EF4-FFF2-40B4-BE49-F238E27FC236}">
                    <a16:creationId xmlns:a16="http://schemas.microsoft.com/office/drawing/2014/main" id="{A9D4DE2B-6FA6-4BA6-A1BD-D9139E9EF0D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939630" y="3471328"/>
                <a:ext cx="54000" cy="5400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8" name="Line 589">
                <a:extLst>
                  <a:ext uri="{FF2B5EF4-FFF2-40B4-BE49-F238E27FC236}">
                    <a16:creationId xmlns:a16="http://schemas.microsoft.com/office/drawing/2014/main" id="{61C29B84-8B98-4276-B03F-7DBE2647839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100008" y="3438887"/>
                <a:ext cx="64800" cy="6480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 type="oval" w="med" len="med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9" name="Line 590">
                <a:extLst>
                  <a:ext uri="{FF2B5EF4-FFF2-40B4-BE49-F238E27FC236}">
                    <a16:creationId xmlns:a16="http://schemas.microsoft.com/office/drawing/2014/main" id="{E4A7481C-5E57-4BE8-A05A-F2AB0F5B28D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912864" y="3626087"/>
                <a:ext cx="64800" cy="6480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tailEnd type="oval" w="med" len="med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490" name="组合 489">
            <a:extLst>
              <a:ext uri="{FF2B5EF4-FFF2-40B4-BE49-F238E27FC236}">
                <a16:creationId xmlns:a16="http://schemas.microsoft.com/office/drawing/2014/main" id="{C0DE0669-07D2-4047-BD26-D66FBC69493C}"/>
              </a:ext>
            </a:extLst>
          </p:cNvPr>
          <p:cNvGrpSpPr/>
          <p:nvPr/>
        </p:nvGrpSpPr>
        <p:grpSpPr>
          <a:xfrm>
            <a:off x="4392000" y="3212976"/>
            <a:ext cx="4536813" cy="3204000"/>
            <a:chOff x="4283659" y="3132000"/>
            <a:chExt cx="4536813" cy="3204000"/>
          </a:xfrm>
        </p:grpSpPr>
        <p:sp>
          <p:nvSpPr>
            <p:cNvPr id="491" name="Text Box 624">
              <a:extLst>
                <a:ext uri="{FF2B5EF4-FFF2-40B4-BE49-F238E27FC236}">
                  <a16:creationId xmlns:a16="http://schemas.microsoft.com/office/drawing/2014/main" id="{40BE5548-6604-4309-A25F-CA0B16B4D9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84224" y="5040000"/>
              <a:ext cx="2628000" cy="252000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键号</a:t>
              </a:r>
              <a:r>
                <a:rPr lang="en-US" altLang="zh-CN" sz="1800" b="1" dirty="0" err="1">
                  <a:latin typeface="宋体" panose="02010600030101010101" pitchFamily="2" charset="-122"/>
                </a:rPr>
                <a:t>k←i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*4</a:t>
              </a:r>
              <a:r>
                <a:rPr lang="zh-CN" altLang="en-US" sz="1800" b="1" dirty="0">
                  <a:latin typeface="宋体" panose="02010600030101010101" pitchFamily="2" charset="-122"/>
                </a:rPr>
                <a:t>＋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C</a:t>
              </a:r>
              <a:r>
                <a:rPr lang="zh-CN" altLang="en-US" sz="1800" b="1" dirty="0">
                  <a:latin typeface="宋体" panose="02010600030101010101" pitchFamily="2" charset="-122"/>
                </a:rPr>
                <a:t>为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0</a:t>
              </a:r>
              <a:r>
                <a:rPr lang="zh-CN" altLang="en-US" sz="1800" b="1" dirty="0">
                  <a:latin typeface="宋体" panose="02010600030101010101" pitchFamily="2" charset="-122"/>
                </a:rPr>
                <a:t>的列号</a:t>
              </a:r>
            </a:p>
          </p:txBody>
        </p:sp>
        <p:sp>
          <p:nvSpPr>
            <p:cNvPr id="492" name="Text Box 611">
              <a:extLst>
                <a:ext uri="{FF2B5EF4-FFF2-40B4-BE49-F238E27FC236}">
                  <a16:creationId xmlns:a16="http://schemas.microsoft.com/office/drawing/2014/main" id="{36FAB9A2-5FBA-432F-ACB8-42CBAEF7DF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60179" y="3420000"/>
              <a:ext cx="2052000" cy="25200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行号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i←0</a:t>
              </a:r>
              <a:r>
                <a:rPr lang="zh-CN" altLang="en-US" sz="1800" b="1" dirty="0">
                  <a:latin typeface="宋体" panose="02010600030101010101" pitchFamily="2" charset="-122"/>
                </a:rPr>
                <a:t>，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L←1110</a:t>
              </a:r>
              <a:endParaRPr lang="en-US" altLang="zh-CN" sz="1800" b="1" baseline="-18000" dirty="0">
                <a:latin typeface="宋体" panose="02010600030101010101" pitchFamily="2" charset="-122"/>
              </a:endParaRPr>
            </a:p>
          </p:txBody>
        </p:sp>
        <p:sp>
          <p:nvSpPr>
            <p:cNvPr id="493" name="Text Box 613">
              <a:extLst>
                <a:ext uri="{FF2B5EF4-FFF2-40B4-BE49-F238E27FC236}">
                  <a16:creationId xmlns:a16="http://schemas.microsoft.com/office/drawing/2014/main" id="{333BC25F-9049-45E2-BD77-B6F42D1C04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56084" y="4608000"/>
              <a:ext cx="144463" cy="18000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8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N</a:t>
              </a:r>
            </a:p>
          </p:txBody>
        </p:sp>
        <p:sp>
          <p:nvSpPr>
            <p:cNvPr id="494" name="AutoShape 614">
              <a:extLst>
                <a:ext uri="{FF2B5EF4-FFF2-40B4-BE49-F238E27FC236}">
                  <a16:creationId xmlns:a16="http://schemas.microsoft.com/office/drawing/2014/main" id="{80BE48CD-308C-4664-8FA9-5ACD257DF8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72256" y="4284000"/>
              <a:ext cx="1727200" cy="288000"/>
            </a:xfrm>
            <a:prstGeom prst="diamond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lIns="0" tIns="0" rIns="0" bIns="0" anchor="ctr"/>
            <a:lstStyle/>
            <a:p>
              <a:r>
                <a:rPr lang="en-US" altLang="zh-CN" sz="1800" b="1" dirty="0">
                  <a:latin typeface="+mn-ea"/>
                  <a:ea typeface="+mn-ea"/>
                </a:rPr>
                <a:t>C=1111?</a:t>
              </a:r>
              <a:endParaRPr lang="zh-CN" altLang="en-US" sz="1800" b="1" dirty="0">
                <a:latin typeface="+mn-ea"/>
                <a:ea typeface="+mn-ea"/>
              </a:endParaRPr>
            </a:p>
          </p:txBody>
        </p:sp>
        <p:sp>
          <p:nvSpPr>
            <p:cNvPr id="495" name="Text Box 615">
              <a:extLst>
                <a:ext uri="{FF2B5EF4-FFF2-40B4-BE49-F238E27FC236}">
                  <a16:creationId xmlns:a16="http://schemas.microsoft.com/office/drawing/2014/main" id="{4A7DA423-9AD1-4AEF-92CB-3A0ECA1B81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92000" y="3420000"/>
              <a:ext cx="2052000" cy="252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36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输出行线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L(L=0000)</a:t>
              </a:r>
            </a:p>
          </p:txBody>
        </p:sp>
        <p:sp>
          <p:nvSpPr>
            <p:cNvPr id="496" name="Text Box 618">
              <a:extLst>
                <a:ext uri="{FF2B5EF4-FFF2-40B4-BE49-F238E27FC236}">
                  <a16:creationId xmlns:a16="http://schemas.microsoft.com/office/drawing/2014/main" id="{3A489086-ED56-4B92-A572-4A7A0E691E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91999" y="3852000"/>
              <a:ext cx="2052000" cy="25200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36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输入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(</a:t>
              </a:r>
              <a:r>
                <a:rPr lang="zh-CN" altLang="en-US" sz="1800" b="1" dirty="0">
                  <a:latin typeface="宋体" panose="02010600030101010101" pitchFamily="2" charset="-122"/>
                </a:rPr>
                <a:t>读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)</a:t>
              </a:r>
              <a:r>
                <a:rPr lang="zh-CN" altLang="en-US" sz="1800" b="1" dirty="0">
                  <a:latin typeface="宋体" panose="02010600030101010101" pitchFamily="2" charset="-122"/>
                </a:rPr>
                <a:t>列线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C</a:t>
              </a:r>
            </a:p>
          </p:txBody>
        </p:sp>
        <p:sp>
          <p:nvSpPr>
            <p:cNvPr id="497" name="Text Box 635">
              <a:extLst>
                <a:ext uri="{FF2B5EF4-FFF2-40B4-BE49-F238E27FC236}">
                  <a16:creationId xmlns:a16="http://schemas.microsoft.com/office/drawing/2014/main" id="{61E414C9-FBEE-47B9-81CE-3830CC00BE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28000" y="4248000"/>
              <a:ext cx="144000" cy="18000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8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Y</a:t>
              </a:r>
            </a:p>
          </p:txBody>
        </p:sp>
        <p:cxnSp>
          <p:nvCxnSpPr>
            <p:cNvPr id="498" name="直接箭头连接符 497">
              <a:extLst>
                <a:ext uri="{FF2B5EF4-FFF2-40B4-BE49-F238E27FC236}">
                  <a16:creationId xmlns:a16="http://schemas.microsoft.com/office/drawing/2014/main" id="{65290304-CE15-44DB-A4B9-4B8FB69DD4CD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435772" y="3672000"/>
              <a:ext cx="0" cy="18000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499" name="直接箭头连接符 498">
              <a:extLst>
                <a:ext uri="{FF2B5EF4-FFF2-40B4-BE49-F238E27FC236}">
                  <a16:creationId xmlns:a16="http://schemas.microsoft.com/office/drawing/2014/main" id="{38C18A9C-275C-4849-97A5-02223AD4A0BD}"/>
                </a:ext>
              </a:extLst>
            </p:cNvPr>
            <p:cNvCxnSpPr/>
            <p:nvPr/>
          </p:nvCxnSpPr>
          <p:spPr bwMode="auto">
            <a:xfrm>
              <a:off x="5436472" y="3132000"/>
              <a:ext cx="496" cy="28800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500" name="直接箭头连接符 499">
              <a:extLst>
                <a:ext uri="{FF2B5EF4-FFF2-40B4-BE49-F238E27FC236}">
                  <a16:creationId xmlns:a16="http://schemas.microsoft.com/office/drawing/2014/main" id="{0411C684-4BEC-45FD-8786-32F730E2D821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5435252" y="4104000"/>
              <a:ext cx="0" cy="18000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501" name="直接箭头连接符 500">
              <a:extLst>
                <a:ext uri="{FF2B5EF4-FFF2-40B4-BE49-F238E27FC236}">
                  <a16:creationId xmlns:a16="http://schemas.microsoft.com/office/drawing/2014/main" id="{D57108C7-158B-42A8-B22E-1B9042775C4A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436096" y="4572000"/>
              <a:ext cx="0" cy="21600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02" name="直接箭头连接符 501">
              <a:extLst>
                <a:ext uri="{FF2B5EF4-FFF2-40B4-BE49-F238E27FC236}">
                  <a16:creationId xmlns:a16="http://schemas.microsoft.com/office/drawing/2014/main" id="{D014CFC9-BF3F-440A-8204-C1B25859BBE6}"/>
                </a:ext>
              </a:extLst>
            </p:cNvPr>
            <p:cNvCxnSpPr/>
            <p:nvPr/>
          </p:nvCxnSpPr>
          <p:spPr bwMode="auto">
            <a:xfrm>
              <a:off x="4284224" y="3204000"/>
              <a:ext cx="1151633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503" name="直接箭头连接符 502">
              <a:extLst>
                <a:ext uri="{FF2B5EF4-FFF2-40B4-BE49-F238E27FC236}">
                  <a16:creationId xmlns:a16="http://schemas.microsoft.com/office/drawing/2014/main" id="{B125124A-CD14-4A73-A736-F4F995E37F8E}"/>
                </a:ext>
              </a:extLst>
            </p:cNvPr>
            <p:cNvCxnSpPr/>
            <p:nvPr/>
          </p:nvCxnSpPr>
          <p:spPr bwMode="auto">
            <a:xfrm>
              <a:off x="5436084" y="4896000"/>
              <a:ext cx="1" cy="14400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504" name="直接箭头连接符 503">
              <a:extLst>
                <a:ext uri="{FF2B5EF4-FFF2-40B4-BE49-F238E27FC236}">
                  <a16:creationId xmlns:a16="http://schemas.microsoft.com/office/drawing/2014/main" id="{9D4D601F-E2E3-4A86-B9A8-A5AC47B5140E}"/>
                </a:ext>
              </a:extLst>
            </p:cNvPr>
            <p:cNvCxnSpPr/>
            <p:nvPr/>
          </p:nvCxnSpPr>
          <p:spPr bwMode="auto">
            <a:xfrm flipH="1">
              <a:off x="5436084" y="4896000"/>
              <a:ext cx="147600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05" name="直接箭头连接符 504">
              <a:extLst>
                <a:ext uri="{FF2B5EF4-FFF2-40B4-BE49-F238E27FC236}">
                  <a16:creationId xmlns:a16="http://schemas.microsoft.com/office/drawing/2014/main" id="{1950E3F4-B3CA-45EB-B352-31CF8C1ED1A1}"/>
                </a:ext>
              </a:extLst>
            </p:cNvPr>
            <p:cNvCxnSpPr/>
            <p:nvPr/>
          </p:nvCxnSpPr>
          <p:spPr bwMode="auto">
            <a:xfrm flipH="1" flipV="1">
              <a:off x="5436472" y="3204000"/>
              <a:ext cx="3384000" cy="1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506" name="Text Box 639">
              <a:extLst>
                <a:ext uri="{FF2B5EF4-FFF2-40B4-BE49-F238E27FC236}">
                  <a16:creationId xmlns:a16="http://schemas.microsoft.com/office/drawing/2014/main" id="{2386814A-9FCE-4B42-A649-0A7E21A66D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27190" y="3889408"/>
              <a:ext cx="1296988" cy="25200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输出行线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L</a:t>
              </a:r>
            </a:p>
          </p:txBody>
        </p:sp>
        <p:sp>
          <p:nvSpPr>
            <p:cNvPr id="507" name="Text Box 641">
              <a:extLst>
                <a:ext uri="{FF2B5EF4-FFF2-40B4-BE49-F238E27FC236}">
                  <a16:creationId xmlns:a16="http://schemas.microsoft.com/office/drawing/2014/main" id="{8B81BBCD-84D1-4DFC-B445-64C79CA8932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27190" y="4321456"/>
              <a:ext cx="1296988" cy="25200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输入列线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C</a:t>
              </a:r>
            </a:p>
          </p:txBody>
        </p:sp>
        <p:sp>
          <p:nvSpPr>
            <p:cNvPr id="508" name="AutoShape 650">
              <a:extLst>
                <a:ext uri="{FF2B5EF4-FFF2-40B4-BE49-F238E27FC236}">
                  <a16:creationId xmlns:a16="http://schemas.microsoft.com/office/drawing/2014/main" id="{1E281B70-4507-402F-A3D2-81DD41F8D1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12084" y="4753504"/>
              <a:ext cx="1727200" cy="288000"/>
            </a:xfrm>
            <a:prstGeom prst="diamond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lIns="0" tIns="0" rIns="0" bIns="0" anchor="ctr"/>
            <a:lstStyle/>
            <a:p>
              <a:r>
                <a:rPr lang="en-US" altLang="zh-CN" sz="1800" b="1" dirty="0">
                  <a:latin typeface="+mn-ea"/>
                  <a:ea typeface="+mn-ea"/>
                </a:rPr>
                <a:t>C=1111?</a:t>
              </a:r>
              <a:endParaRPr lang="zh-CN" altLang="en-US" sz="1800" b="1" dirty="0">
                <a:latin typeface="+mn-ea"/>
                <a:ea typeface="+mn-ea"/>
              </a:endParaRPr>
            </a:p>
          </p:txBody>
        </p:sp>
        <p:cxnSp>
          <p:nvCxnSpPr>
            <p:cNvPr id="509" name="直接箭头连接符 508">
              <a:extLst>
                <a:ext uri="{FF2B5EF4-FFF2-40B4-BE49-F238E27FC236}">
                  <a16:creationId xmlns:a16="http://schemas.microsoft.com/office/drawing/2014/main" id="{1A0AD804-3C9C-4E59-9E7D-B74684C5F7BB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776000" y="4141408"/>
              <a:ext cx="0" cy="180048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510" name="直接箭头连接符 509">
              <a:extLst>
                <a:ext uri="{FF2B5EF4-FFF2-40B4-BE49-F238E27FC236}">
                  <a16:creationId xmlns:a16="http://schemas.microsoft.com/office/drawing/2014/main" id="{B278CF20-5EEF-4C35-BEC4-CF44CE2E0BD9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776000" y="4573456"/>
              <a:ext cx="0" cy="180048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511" name="直接箭头连接符 510">
              <a:extLst>
                <a:ext uri="{FF2B5EF4-FFF2-40B4-BE49-F238E27FC236}">
                  <a16:creationId xmlns:a16="http://schemas.microsoft.com/office/drawing/2014/main" id="{EC874124-B92A-4BC1-B3AC-1171123CE898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7776000" y="5040000"/>
              <a:ext cx="842" cy="36000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512" name="Text Box 635">
              <a:extLst>
                <a:ext uri="{FF2B5EF4-FFF2-40B4-BE49-F238E27FC236}">
                  <a16:creationId xmlns:a16="http://schemas.microsoft.com/office/drawing/2014/main" id="{5DB8252B-6BC6-4458-B440-A759B40E016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96000" y="5076000"/>
              <a:ext cx="144000" cy="18000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8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Y</a:t>
              </a:r>
            </a:p>
          </p:txBody>
        </p:sp>
        <p:sp>
          <p:nvSpPr>
            <p:cNvPr id="513" name="Text Box 623">
              <a:extLst>
                <a:ext uri="{FF2B5EF4-FFF2-40B4-BE49-F238E27FC236}">
                  <a16:creationId xmlns:a16="http://schemas.microsoft.com/office/drawing/2014/main" id="{137499E0-989C-48CB-98A1-58310D7DBB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36000" y="5400280"/>
              <a:ext cx="2268000" cy="25200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36000" tIns="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800" b="1" dirty="0" err="1">
                  <a:latin typeface="宋体" panose="02010600030101010101" pitchFamily="2" charset="-122"/>
                </a:rPr>
                <a:t>i←i</a:t>
              </a:r>
              <a:r>
                <a:rPr lang="zh-CN" altLang="en-US" sz="1800" b="1" dirty="0">
                  <a:latin typeface="宋体" panose="02010600030101010101" pitchFamily="2" charset="-122"/>
                </a:rPr>
                <a:t>＋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1</a:t>
              </a:r>
              <a:r>
                <a:rPr lang="zh-CN" altLang="en-US" sz="1800" b="1" dirty="0">
                  <a:latin typeface="宋体" panose="02010600030101010101" pitchFamily="2" charset="-122"/>
                </a:rPr>
                <a:t>，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L←L&lt;&lt;</a:t>
              </a:r>
              <a:r>
                <a:rPr lang="zh-CN" altLang="en-US" sz="1800" b="1" baseline="-14000" dirty="0">
                  <a:latin typeface="宋体" panose="02010600030101010101" pitchFamily="2" charset="-122"/>
                </a:rPr>
                <a:t>循环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1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514" name="AutoShape 630">
              <a:extLst>
                <a:ext uri="{FF2B5EF4-FFF2-40B4-BE49-F238E27FC236}">
                  <a16:creationId xmlns:a16="http://schemas.microsoft.com/office/drawing/2014/main" id="{03ACA0B4-104E-4483-B47F-F68AB8969B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28148" y="5832328"/>
              <a:ext cx="1295400" cy="288000"/>
            </a:xfrm>
            <a:prstGeom prst="diamond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lIns="0" tIns="0" rIns="0" bIns="0" anchor="ctr"/>
            <a:lstStyle/>
            <a:p>
              <a:r>
                <a:rPr lang="en-US" altLang="zh-CN" sz="1800" b="1" dirty="0" err="1">
                  <a:latin typeface="+mn-ea"/>
                  <a:ea typeface="+mn-ea"/>
                </a:rPr>
                <a:t>i</a:t>
              </a:r>
              <a:r>
                <a:rPr lang="zh-CN" altLang="en-US" sz="1800" b="1" dirty="0">
                  <a:latin typeface="+mn-ea"/>
                  <a:ea typeface="+mn-ea"/>
                </a:rPr>
                <a:t>＞</a:t>
              </a:r>
              <a:r>
                <a:rPr lang="en-US" altLang="zh-CN" sz="1800" b="1" dirty="0">
                  <a:latin typeface="+mn-ea"/>
                  <a:ea typeface="+mn-ea"/>
                </a:rPr>
                <a:t>3?</a:t>
              </a:r>
              <a:endParaRPr lang="zh-CN" altLang="en-US" sz="1800" b="1" dirty="0">
                <a:latin typeface="+mn-ea"/>
                <a:ea typeface="+mn-ea"/>
              </a:endParaRPr>
            </a:p>
          </p:txBody>
        </p:sp>
        <p:sp>
          <p:nvSpPr>
            <p:cNvPr id="515" name="Text Box 634">
              <a:extLst>
                <a:ext uri="{FF2B5EF4-FFF2-40B4-BE49-F238E27FC236}">
                  <a16:creationId xmlns:a16="http://schemas.microsoft.com/office/drawing/2014/main" id="{CEB66F35-9985-42CC-B300-8549BEA0937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96000" y="6156000"/>
              <a:ext cx="144000" cy="18000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8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Y</a:t>
              </a:r>
            </a:p>
          </p:txBody>
        </p:sp>
        <p:sp>
          <p:nvSpPr>
            <p:cNvPr id="516" name="Text Box 636">
              <a:extLst>
                <a:ext uri="{FF2B5EF4-FFF2-40B4-BE49-F238E27FC236}">
                  <a16:creationId xmlns:a16="http://schemas.microsoft.com/office/drawing/2014/main" id="{9E9E7A6B-BDB4-4684-9146-767A71130D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24000" y="5796000"/>
              <a:ext cx="144000" cy="18000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8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N</a:t>
              </a:r>
            </a:p>
          </p:txBody>
        </p:sp>
        <p:cxnSp>
          <p:nvCxnSpPr>
            <p:cNvPr id="517" name="直接箭头连接符 516">
              <a:extLst>
                <a:ext uri="{FF2B5EF4-FFF2-40B4-BE49-F238E27FC236}">
                  <a16:creationId xmlns:a16="http://schemas.microsoft.com/office/drawing/2014/main" id="{E1FC8E9D-3327-449D-8605-D334E9BCD523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776000" y="5652000"/>
              <a:ext cx="0" cy="18000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518" name="直接箭头连接符 517">
              <a:extLst>
                <a:ext uri="{FF2B5EF4-FFF2-40B4-BE49-F238E27FC236}">
                  <a16:creationId xmlns:a16="http://schemas.microsoft.com/office/drawing/2014/main" id="{F27C981E-EF29-4923-903F-C772A25E3BC0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776000" y="6120000"/>
              <a:ext cx="0" cy="21600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519" name="Text Box 634">
              <a:extLst>
                <a:ext uri="{FF2B5EF4-FFF2-40B4-BE49-F238E27FC236}">
                  <a16:creationId xmlns:a16="http://schemas.microsoft.com/office/drawing/2014/main" id="{BCA3949E-1032-475B-A4C7-D9520A0A8E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68000" y="4716000"/>
              <a:ext cx="144000" cy="18000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8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N</a:t>
              </a:r>
            </a:p>
          </p:txBody>
        </p:sp>
        <p:cxnSp>
          <p:nvCxnSpPr>
            <p:cNvPr id="520" name="直接箭头连接符 519">
              <a:extLst>
                <a:ext uri="{FF2B5EF4-FFF2-40B4-BE49-F238E27FC236}">
                  <a16:creationId xmlns:a16="http://schemas.microsoft.com/office/drawing/2014/main" id="{FB31B509-7302-4345-9EBD-E6D77B805B88}"/>
                </a:ext>
              </a:extLst>
            </p:cNvPr>
            <p:cNvCxnSpPr/>
            <p:nvPr/>
          </p:nvCxnSpPr>
          <p:spPr bwMode="auto">
            <a:xfrm>
              <a:off x="7776084" y="3673409"/>
              <a:ext cx="0" cy="21600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521" name="直接箭头连接符 520">
              <a:extLst>
                <a:ext uri="{FF2B5EF4-FFF2-40B4-BE49-F238E27FC236}">
                  <a16:creationId xmlns:a16="http://schemas.microsoft.com/office/drawing/2014/main" id="{C4520B26-E73A-4190-9F44-C56E9540199C}"/>
                </a:ext>
              </a:extLst>
            </p:cNvPr>
            <p:cNvCxnSpPr/>
            <p:nvPr/>
          </p:nvCxnSpPr>
          <p:spPr bwMode="auto">
            <a:xfrm>
              <a:off x="5436084" y="5292240"/>
              <a:ext cx="1" cy="18000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522" name="直接箭头连接符 521">
              <a:extLst>
                <a:ext uri="{FF2B5EF4-FFF2-40B4-BE49-F238E27FC236}">
                  <a16:creationId xmlns:a16="http://schemas.microsoft.com/office/drawing/2014/main" id="{C875E466-D12A-4FCF-964C-2870DD786C27}"/>
                </a:ext>
              </a:extLst>
            </p:cNvPr>
            <p:cNvCxnSpPr/>
            <p:nvPr/>
          </p:nvCxnSpPr>
          <p:spPr bwMode="auto">
            <a:xfrm>
              <a:off x="7776084" y="3276000"/>
              <a:ext cx="0" cy="143123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523" name="直接箭头连接符 522">
              <a:extLst>
                <a:ext uri="{FF2B5EF4-FFF2-40B4-BE49-F238E27FC236}">
                  <a16:creationId xmlns:a16="http://schemas.microsoft.com/office/drawing/2014/main" id="{3DCC0173-E9E4-456E-B366-88FD488F14B5}"/>
                </a:ext>
              </a:extLst>
            </p:cNvPr>
            <p:cNvCxnSpPr/>
            <p:nvPr/>
          </p:nvCxnSpPr>
          <p:spPr bwMode="auto">
            <a:xfrm flipH="1">
              <a:off x="7774841" y="3781409"/>
              <a:ext cx="93600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524" name="直接箭头连接符 523">
              <a:extLst>
                <a:ext uri="{FF2B5EF4-FFF2-40B4-BE49-F238E27FC236}">
                  <a16:creationId xmlns:a16="http://schemas.microsoft.com/office/drawing/2014/main" id="{FB3DC0AC-38E3-4002-BF91-D6B8C186796B}"/>
                </a:ext>
              </a:extLst>
            </p:cNvPr>
            <p:cNvCxnSpPr/>
            <p:nvPr/>
          </p:nvCxnSpPr>
          <p:spPr bwMode="auto">
            <a:xfrm flipH="1">
              <a:off x="4284000" y="4428000"/>
              <a:ext cx="28800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25" name="直接箭头连接符 524">
              <a:extLst>
                <a:ext uri="{FF2B5EF4-FFF2-40B4-BE49-F238E27FC236}">
                  <a16:creationId xmlns:a16="http://schemas.microsoft.com/office/drawing/2014/main" id="{2CF84786-6A6C-4C21-8E75-51F7DCB56CF9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4283659" y="3204000"/>
              <a:ext cx="0" cy="122400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26" name="直接箭头连接符 525">
              <a:extLst>
                <a:ext uri="{FF2B5EF4-FFF2-40B4-BE49-F238E27FC236}">
                  <a16:creationId xmlns:a16="http://schemas.microsoft.com/office/drawing/2014/main" id="{20CEF6DD-7915-471B-A8EC-ECF19A0B06CC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435252" y="4788000"/>
              <a:ext cx="111600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27" name="直接箭头连接符 526">
              <a:extLst>
                <a:ext uri="{FF2B5EF4-FFF2-40B4-BE49-F238E27FC236}">
                  <a16:creationId xmlns:a16="http://schemas.microsoft.com/office/drawing/2014/main" id="{D757D02C-08EC-48F7-A0B4-CBCF7F953CEC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6552000" y="3276000"/>
              <a:ext cx="0" cy="151200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28" name="直接箭头连接符 527">
              <a:extLst>
                <a:ext uri="{FF2B5EF4-FFF2-40B4-BE49-F238E27FC236}">
                  <a16:creationId xmlns:a16="http://schemas.microsoft.com/office/drawing/2014/main" id="{FA14CF52-6857-43FC-8F10-B35DF8E031CF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6551252" y="3276000"/>
              <a:ext cx="122400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29" name="直接箭头连接符 528">
              <a:extLst>
                <a:ext uri="{FF2B5EF4-FFF2-40B4-BE49-F238E27FC236}">
                  <a16:creationId xmlns:a16="http://schemas.microsoft.com/office/drawing/2014/main" id="{674C3BE6-9800-4EAD-B0CB-1F69D5383BC2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774841" y="6336000"/>
              <a:ext cx="104400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30" name="直接箭头连接符 529">
              <a:extLst>
                <a:ext uri="{FF2B5EF4-FFF2-40B4-BE49-F238E27FC236}">
                  <a16:creationId xmlns:a16="http://schemas.microsoft.com/office/drawing/2014/main" id="{D2674D1B-4C1D-45F2-B4A5-402C38D3DC2C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8820000" y="3204000"/>
              <a:ext cx="0" cy="313200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31" name="直接箭头连接符 530">
              <a:extLst>
                <a:ext uri="{FF2B5EF4-FFF2-40B4-BE49-F238E27FC236}">
                  <a16:creationId xmlns:a16="http://schemas.microsoft.com/office/drawing/2014/main" id="{3AA9527F-FD10-4BC1-8964-233EACF2D660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8710841" y="3780000"/>
              <a:ext cx="0" cy="219600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32" name="直接箭头连接符 531">
              <a:extLst>
                <a:ext uri="{FF2B5EF4-FFF2-40B4-BE49-F238E27FC236}">
                  <a16:creationId xmlns:a16="http://schemas.microsoft.com/office/drawing/2014/main" id="{6A8E6193-69E0-4751-B3B4-21D770713A3B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8424000" y="5976000"/>
              <a:ext cx="28800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93" name="Text Box 7">
            <a:extLst>
              <a:ext uri="{FF2B5EF4-FFF2-40B4-BE49-F238E27FC236}">
                <a16:creationId xmlns:a16="http://schemas.microsoft.com/office/drawing/2014/main" id="{6DFC8844-E0AF-4C32-988A-50E5B5C6E1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67744" y="1268760"/>
            <a:ext cx="5060236" cy="45736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200" b="1" dirty="0">
                <a:latin typeface="宋体" panose="02010600030101010101" pitchFamily="2" charset="-122"/>
              </a:rPr>
              <a:t> </a:t>
            </a:r>
            <a:r>
              <a:rPr lang="en-US" altLang="zh-CN" sz="1800" b="1" dirty="0">
                <a:latin typeface="宋体" panose="02010600030101010101" pitchFamily="2" charset="-122"/>
              </a:rPr>
              <a:t>--</a:t>
            </a:r>
            <a:r>
              <a:rPr lang="zh-CN" altLang="en-US" sz="18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无条件传送</a:t>
            </a:r>
            <a:r>
              <a:rPr lang="zh-CN" altLang="en-US" sz="1800" b="1" dirty="0">
                <a:latin typeface="宋体" panose="02010600030101010101" pitchFamily="2" charset="-122"/>
              </a:rPr>
              <a:t>方式的</a:t>
            </a:r>
            <a:r>
              <a:rPr lang="zh-CN" altLang="en-US" sz="1800" b="1" u="sng" dirty="0">
                <a:highlight>
                  <a:srgbClr val="CCFFFF"/>
                </a:highlight>
                <a:latin typeface="宋体" panose="02010600030101010101" pitchFamily="2" charset="-122"/>
              </a:rPr>
              <a:t>字符</a:t>
            </a:r>
            <a:r>
              <a:rPr lang="zh-CN" altLang="en-US" sz="1800" b="1" dirty="0">
                <a:latin typeface="宋体" panose="02010600030101010101" pitchFamily="2" charset="-122"/>
              </a:rPr>
              <a:t>设备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solidFill>
                  <a:srgbClr val="990099"/>
                </a:solidFill>
                <a:highlight>
                  <a:srgbClr val="FFFF00"/>
                </a:highlight>
                <a:latin typeface="宋体" panose="02010600030101010101" pitchFamily="2" charset="-122"/>
              </a:rPr>
              <a:t>随时</a:t>
            </a:r>
            <a:r>
              <a:rPr lang="zh-CN" altLang="en-US" sz="1800" b="1" dirty="0">
                <a:latin typeface="宋体" panose="02010600030101010101" pitchFamily="2" charset="-122"/>
              </a:rPr>
              <a:t>传送数据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365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4" dur="500"/>
                                        <p:tgtEl>
                                          <p:spTgt spid="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500"/>
                                        <p:tgtEl>
                                          <p:spTgt spid="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6551" grpId="0"/>
      <p:bldP spid="184" grpId="0"/>
      <p:bldP spid="247" grpId="0" bldLvl="0"/>
      <p:bldP spid="19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 Box 6"/>
          <p:cNvSpPr txBox="1">
            <a:spLocks noChangeArrowheads="1"/>
          </p:cNvSpPr>
          <p:nvPr/>
        </p:nvSpPr>
        <p:spPr bwMode="auto">
          <a:xfrm>
            <a:off x="179512" y="3501008"/>
            <a:ext cx="6012496" cy="210089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       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键盘接口：</a:t>
            </a:r>
            <a:endParaRPr lang="en-US" altLang="zh-CN" sz="2200" b="1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300"/>
              </a:spcBef>
            </a:pPr>
            <a:r>
              <a:rPr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       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数据格式：</a:t>
            </a:r>
            <a:endParaRPr lang="en-US" altLang="zh-CN" sz="2200" b="1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300"/>
              </a:spcBef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工作原理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endParaRPr lang="en-US" altLang="zh-CN" sz="16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300"/>
              </a:spcBef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通信过程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</a:p>
        </p:txBody>
      </p:sp>
      <p:sp>
        <p:nvSpPr>
          <p:cNvPr id="71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E41EDE-438A-467D-AD24-4544B049ED6A}" type="slidenum">
              <a:rPr lang="en-US" altLang="zh-CN"/>
              <a:t>17</a:t>
            </a:fld>
            <a:endParaRPr lang="en-US" altLang="zh-CN"/>
          </a:p>
        </p:txBody>
      </p:sp>
      <p:sp>
        <p:nvSpPr>
          <p:cNvPr id="224497" name="Text Box 241"/>
          <p:cNvSpPr txBox="1">
            <a:spLocks noChangeArrowheads="1"/>
          </p:cNvSpPr>
          <p:nvPr/>
        </p:nvSpPr>
        <p:spPr bwMode="auto">
          <a:xfrm>
            <a:off x="179388" y="332656"/>
            <a:ext cx="8820660" cy="12649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编码键盘：</a:t>
            </a:r>
            <a:endParaRPr lang="zh-CN" altLang="en-US" sz="18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sz="2200" b="1" dirty="0">
                <a:solidFill>
                  <a:srgbClr val="CC3300"/>
                </a:solidFill>
                <a:latin typeface="宋体" panose="02010600030101010101" pitchFamily="2" charset="-122"/>
              </a:rPr>
              <a:t>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基本组成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r>
              <a:rPr lang="zh-CN" altLang="en-US" sz="2200" b="1" dirty="0">
                <a:latin typeface="宋体" panose="02010600030101010101" pitchFamily="2" charset="-122"/>
              </a:rPr>
              <a:t>按键阵列、计数器、译码器、</a:t>
            </a:r>
            <a:r>
              <a:rPr lang="en-US" altLang="zh-CN" sz="2200" b="1" dirty="0">
                <a:latin typeface="宋体" panose="02010600030101010101" pitchFamily="2" charset="-122"/>
              </a:rPr>
              <a:t>ROM</a:t>
            </a:r>
            <a:r>
              <a:rPr lang="zh-CN" altLang="en-US" sz="2200" b="1" dirty="0">
                <a:latin typeface="宋体" panose="02010600030101010101" pitchFamily="2" charset="-122"/>
              </a:rPr>
              <a:t>、传送电路等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lang="en-US" altLang="zh-CN" sz="1800" b="1" dirty="0">
                <a:latin typeface="宋体" panose="02010600030101010101" pitchFamily="2" charset="-122"/>
              </a:rPr>
              <a:t>                                         </a:t>
            </a:r>
            <a:r>
              <a:rPr lang="en-US" altLang="zh-CN" sz="1800" b="1" dirty="0">
                <a:solidFill>
                  <a:srgbClr val="FF3399"/>
                </a:solidFill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solidFill>
                  <a:srgbClr val="FF3399"/>
                </a:solidFill>
                <a:latin typeface="宋体" panose="02010600030101010101" pitchFamily="2" charset="-122"/>
              </a:rPr>
              <a:t>教材上图</a:t>
            </a:r>
            <a:r>
              <a:rPr lang="en-US" altLang="zh-CN" sz="1800" b="1" dirty="0">
                <a:solidFill>
                  <a:srgbClr val="FF3399"/>
                </a:solidFill>
                <a:latin typeface="宋体" panose="02010600030101010101" pitchFamily="2" charset="-122"/>
              </a:rPr>
              <a:t>7.7</a:t>
            </a:r>
            <a:r>
              <a:rPr lang="zh-CN" altLang="en-US" sz="1800" b="1" dirty="0">
                <a:solidFill>
                  <a:srgbClr val="FF3399"/>
                </a:solidFill>
                <a:latin typeface="宋体" panose="02010600030101010101" pitchFamily="2" charset="-122"/>
              </a:rPr>
              <a:t>有缺陷</a:t>
            </a:r>
            <a:r>
              <a:rPr lang="en-US" altLang="zh-CN" sz="1800" b="1" dirty="0">
                <a:solidFill>
                  <a:srgbClr val="FF3399"/>
                </a:solidFill>
                <a:latin typeface="宋体" panose="02010600030101010101" pitchFamily="2" charset="-122"/>
              </a:rPr>
              <a:t>)</a:t>
            </a:r>
            <a:endParaRPr lang="zh-CN" altLang="en-US" sz="1800" b="1" dirty="0">
              <a:solidFill>
                <a:srgbClr val="FF3399"/>
              </a:solidFill>
              <a:latin typeface="宋体" panose="02010600030101010101" pitchFamily="2" charset="-122"/>
            </a:endParaRPr>
          </a:p>
        </p:txBody>
      </p:sp>
      <p:sp>
        <p:nvSpPr>
          <p:cNvPr id="224706" name="AutoShape 450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2988518" y="6524450"/>
            <a:ext cx="287338" cy="287338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9" name="Text Box 241"/>
          <p:cNvSpPr txBox="1">
            <a:spLocks noChangeArrowheads="1"/>
          </p:cNvSpPr>
          <p:nvPr/>
        </p:nvSpPr>
        <p:spPr bwMode="auto">
          <a:xfrm>
            <a:off x="2160240" y="3501008"/>
            <a:ext cx="6983760" cy="210089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200" b="1" dirty="0">
                <a:latin typeface="宋体" panose="02010600030101010101" pitchFamily="2" charset="-122"/>
              </a:rPr>
              <a:t>   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常</a:t>
            </a:r>
            <a:r>
              <a:rPr lang="zh-CN" altLang="en-US" sz="2200" b="1" dirty="0">
                <a:latin typeface="宋体" panose="02010600030101010101" pitchFamily="2" charset="-122"/>
              </a:rPr>
              <a:t>为</a:t>
            </a:r>
            <a:r>
              <a:rPr lang="en-US" altLang="zh-CN" sz="2200" b="1" dirty="0">
                <a:latin typeface="宋体" panose="02010600030101010101" pitchFamily="2" charset="-122"/>
              </a:rPr>
              <a:t>USB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(</a:t>
            </a:r>
            <a:r>
              <a:rPr lang="en-US" altLang="zh-CN" sz="1800" b="1" dirty="0" err="1">
                <a:latin typeface="宋体" panose="02010600030101010101" pitchFamily="2" charset="-122"/>
                <a:sym typeface="+mn-ea"/>
              </a:rPr>
              <a:t>Vcc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/</a:t>
            </a:r>
            <a:r>
              <a:rPr lang="en-US" altLang="zh-CN" sz="1800" b="1" dirty="0" err="1">
                <a:latin typeface="宋体" panose="02010600030101010101" pitchFamily="2" charset="-122"/>
                <a:sym typeface="+mn-ea"/>
              </a:rPr>
              <a:t>Gnd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/D+/D-)</a:t>
            </a:r>
            <a:r>
              <a:rPr lang="zh-CN" altLang="en-US" sz="2200" b="1" dirty="0">
                <a:latin typeface="宋体" panose="02010600030101010101" pitchFamily="2" charset="-122"/>
              </a:rPr>
              <a:t>或</a:t>
            </a:r>
            <a:r>
              <a:rPr lang="en-US" altLang="zh-CN" sz="2200" b="1" dirty="0">
                <a:latin typeface="宋体" panose="02010600030101010101" pitchFamily="2" charset="-122"/>
              </a:rPr>
              <a:t>PS/2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en-US" altLang="zh-CN" sz="1800" b="1" dirty="0" err="1">
                <a:latin typeface="宋体" panose="02010600030101010101" pitchFamily="2" charset="-122"/>
              </a:rPr>
              <a:t>Vcc</a:t>
            </a:r>
            <a:r>
              <a:rPr lang="en-US" altLang="zh-CN" sz="1800" b="1" dirty="0">
                <a:latin typeface="宋体" panose="02010600030101010101" pitchFamily="2" charset="-122"/>
              </a:rPr>
              <a:t>/</a:t>
            </a:r>
            <a:r>
              <a:rPr lang="en-US" altLang="zh-CN" sz="1800" b="1" dirty="0" err="1">
                <a:latin typeface="宋体" panose="02010600030101010101" pitchFamily="2" charset="-122"/>
              </a:rPr>
              <a:t>Gnd</a:t>
            </a:r>
            <a:r>
              <a:rPr lang="en-US" altLang="zh-CN" sz="1800" b="1" dirty="0">
                <a:latin typeface="宋体" panose="02010600030101010101" pitchFamily="2" charset="-122"/>
              </a:rPr>
              <a:t>/</a:t>
            </a:r>
            <a:r>
              <a:rPr lang="en-US" altLang="zh-CN" sz="1800" b="1" dirty="0">
                <a:solidFill>
                  <a:srgbClr val="990099"/>
                </a:solidFill>
                <a:latin typeface="宋体" panose="02010600030101010101" pitchFamily="2" charset="-122"/>
              </a:rPr>
              <a:t>Clock</a:t>
            </a:r>
            <a:r>
              <a:rPr lang="en-US" altLang="zh-CN" sz="1800" b="1" dirty="0">
                <a:latin typeface="宋体" panose="02010600030101010101" pitchFamily="2" charset="-122"/>
              </a:rPr>
              <a:t>/Data)</a:t>
            </a:r>
            <a:r>
              <a:rPr lang="zh-CN" altLang="en-US" sz="2200" b="1" dirty="0">
                <a:latin typeface="宋体" panose="02010600030101010101" pitchFamily="2" charset="-122"/>
              </a:rPr>
              <a:t>，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300"/>
              </a:spcBef>
            </a:pPr>
            <a:r>
              <a:rPr lang="en-US" altLang="zh-CN" sz="2200" b="1" spc="-50" dirty="0">
                <a:latin typeface="宋体" panose="02010600030101010101" pitchFamily="2" charset="-122"/>
              </a:rPr>
              <a:t>   </a:t>
            </a:r>
            <a:r>
              <a:rPr lang="zh-CN" altLang="en-US" sz="2200" b="1" spc="-50" dirty="0">
                <a:latin typeface="宋体" panose="02010600030101010101" pitchFamily="2" charset="-122"/>
              </a:rPr>
              <a:t>用</a:t>
            </a:r>
            <a:r>
              <a:rPr lang="zh-CN" altLang="en-US" sz="2200" b="1" u="sng" spc="-50" dirty="0">
                <a:latin typeface="宋体" panose="02010600030101010101" pitchFamily="2" charset="-122"/>
              </a:rPr>
              <a:t>帧格式</a:t>
            </a:r>
            <a:r>
              <a:rPr lang="zh-CN" altLang="en-US" sz="2200" b="1" spc="-50" dirty="0">
                <a:latin typeface="宋体" panose="02010600030101010101" pitchFamily="2" charset="-122"/>
              </a:rPr>
              <a:t>约定</a:t>
            </a:r>
            <a:r>
              <a:rPr lang="en-US" altLang="zh-CN" sz="2200" b="1" u="sng" spc="-50" dirty="0">
                <a:solidFill>
                  <a:srgbClr val="990099"/>
                </a:solidFill>
                <a:latin typeface="宋体" panose="02010600030101010101" pitchFamily="2" charset="-122"/>
              </a:rPr>
              <a:t> </a:t>
            </a:r>
          </a:p>
          <a:p>
            <a:pPr algn="l">
              <a:lnSpc>
                <a:spcPct val="125000"/>
              </a:lnSpc>
              <a:spcBef>
                <a:spcPts val="300"/>
              </a:spcBef>
            </a:pPr>
            <a:r>
              <a:rPr lang="zh-CN" altLang="en-US" sz="2200" b="1" u="sng" spc="-50" dirty="0">
                <a:solidFill>
                  <a:srgbClr val="990099"/>
                </a:solidFill>
                <a:latin typeface="宋体" panose="02010600030101010101" pitchFamily="2" charset="-122"/>
              </a:rPr>
              <a:t>复位</a:t>
            </a:r>
            <a:r>
              <a:rPr lang="en-US" altLang="zh-CN" sz="2200" b="1" spc="-50" dirty="0">
                <a:latin typeface="宋体" panose="02010600030101010101" pitchFamily="2" charset="-122"/>
              </a:rPr>
              <a:t>T</a:t>
            </a:r>
            <a:r>
              <a:rPr lang="en-US" altLang="zh-CN" sz="1800" b="1" spc="-50" dirty="0">
                <a:latin typeface="宋体" panose="02010600030101010101" pitchFamily="2" charset="-122"/>
              </a:rPr>
              <a:t>(</a:t>
            </a:r>
            <a:r>
              <a:rPr lang="zh-CN" altLang="en-US" sz="1800" b="1" spc="-50" dirty="0">
                <a:latin typeface="宋体" panose="02010600030101010101" pitchFamily="2" charset="-122"/>
              </a:rPr>
              <a:t>启动</a:t>
            </a:r>
            <a:r>
              <a:rPr lang="en-US" altLang="zh-CN" sz="1800" b="1" spc="-50" dirty="0">
                <a:latin typeface="宋体" panose="02010600030101010101" pitchFamily="2" charset="-122"/>
              </a:rPr>
              <a:t>)</a:t>
            </a:r>
            <a:r>
              <a:rPr lang="en-US" altLang="zh-CN" sz="2200" b="1" spc="-50" dirty="0">
                <a:latin typeface="宋体" panose="02010600030101010101" pitchFamily="2" charset="-122"/>
              </a:rPr>
              <a:t>→</a:t>
            </a:r>
            <a:r>
              <a:rPr lang="zh-CN" altLang="en-US" sz="2200" b="1" spc="-50" dirty="0">
                <a:latin typeface="宋体" panose="02010600030101010101" pitchFamily="2" charset="-122"/>
              </a:rPr>
              <a:t>检测</a:t>
            </a:r>
            <a:r>
              <a:rPr lang="en-US" altLang="zh-CN" sz="1800" b="1" spc="-50" dirty="0">
                <a:latin typeface="宋体" panose="02010600030101010101" pitchFamily="2" charset="-122"/>
              </a:rPr>
              <a:t>(</a:t>
            </a:r>
            <a:r>
              <a:rPr lang="zh-CN" altLang="en-US" sz="1800" b="1" spc="-50" dirty="0">
                <a:latin typeface="宋体" panose="02010600030101010101" pitchFamily="2" charset="-122"/>
              </a:rPr>
              <a:t>有则置位</a:t>
            </a:r>
            <a:r>
              <a:rPr lang="en-US" altLang="zh-CN" sz="1800" b="1" spc="-50" dirty="0">
                <a:latin typeface="宋体" panose="02010600030101010101" pitchFamily="2" charset="-122"/>
              </a:rPr>
              <a:t>T)</a:t>
            </a:r>
            <a:r>
              <a:rPr lang="en-US" altLang="zh-CN" sz="2200" b="1" spc="-50" dirty="0">
                <a:latin typeface="宋体" panose="02010600030101010101" pitchFamily="2" charset="-122"/>
              </a:rPr>
              <a:t>→</a:t>
            </a:r>
            <a:r>
              <a:rPr lang="zh-CN" altLang="en-US" sz="2200" b="1" u="sng" spc="-50" dirty="0">
                <a:solidFill>
                  <a:srgbClr val="990099"/>
                </a:solidFill>
                <a:latin typeface="宋体" panose="02010600030101010101" pitchFamily="2" charset="-122"/>
              </a:rPr>
              <a:t>等待传送</a:t>
            </a:r>
            <a:r>
              <a:rPr lang="zh-CN" altLang="en-US" sz="2200" b="1" spc="-50" dirty="0">
                <a:latin typeface="宋体" panose="02010600030101010101" pitchFamily="2" charset="-122"/>
              </a:rPr>
              <a:t>数据</a:t>
            </a:r>
            <a:endParaRPr lang="en-US" altLang="zh-CN" sz="1800" b="1" spc="-50" dirty="0">
              <a:latin typeface="宋体" panose="02010600030101010101" pitchFamily="2" charset="-122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lang="en-US" altLang="zh-CN" sz="1600" b="1" spc="-50" dirty="0">
                <a:latin typeface="宋体" panose="02010600030101010101" pitchFamily="2" charset="-122"/>
              </a:rPr>
              <a:t>  </a:t>
            </a:r>
            <a:r>
              <a:rPr lang="en-US" altLang="zh-CN" sz="1600" spc="-50" dirty="0">
                <a:latin typeface="宋体" panose="02010600030101010101" pitchFamily="2" charset="-122"/>
              </a:rPr>
              <a:t>└────</a:t>
            </a:r>
            <a:r>
              <a:rPr lang="en-US" altLang="zh-CN" sz="1600" b="1" spc="-50" dirty="0">
                <a:latin typeface="宋体" panose="02010600030101010101" pitchFamily="2" charset="-122"/>
              </a:rPr>
              <a:t>←I/O</a:t>
            </a:r>
            <a:r>
              <a:rPr lang="zh-CN" altLang="en-US" sz="1600" b="1" spc="-50" dirty="0">
                <a:latin typeface="宋体" panose="02010600030101010101" pitchFamily="2" charset="-122"/>
              </a:rPr>
              <a:t>软件控制</a:t>
            </a:r>
            <a:r>
              <a:rPr lang="en-US" altLang="zh-CN" sz="1600" b="1" spc="-50" dirty="0">
                <a:latin typeface="宋体" panose="02010600030101010101" pitchFamily="2" charset="-122"/>
              </a:rPr>
              <a:t>→</a:t>
            </a:r>
            <a:r>
              <a:rPr lang="en-US" altLang="zh-CN" sz="1600" spc="-50" dirty="0">
                <a:latin typeface="宋体" panose="02010600030101010101" pitchFamily="2" charset="-122"/>
              </a:rPr>
              <a:t>──────┴──┘   └</a:t>
            </a:r>
            <a:r>
              <a:rPr lang="en-US" altLang="zh-CN" sz="1600" b="1" spc="-50" dirty="0">
                <a:latin typeface="宋体" panose="02010600030101010101" pitchFamily="2" charset="-122"/>
              </a:rPr>
              <a:t>→</a:t>
            </a:r>
            <a:r>
              <a:rPr lang="zh-CN" altLang="en-US" sz="1600" b="1" spc="-50" dirty="0">
                <a:latin typeface="宋体" panose="02010600030101010101" pitchFamily="2" charset="-122"/>
              </a:rPr>
              <a:t>传后</a:t>
            </a:r>
            <a:r>
              <a:rPr lang="zh-CN" altLang="en-US" sz="1600" b="1" spc="-50" dirty="0">
                <a:solidFill>
                  <a:srgbClr val="0070C0"/>
                </a:solidFill>
                <a:latin typeface="宋体" panose="02010600030101010101" pitchFamily="2" charset="-122"/>
              </a:rPr>
              <a:t>自动</a:t>
            </a:r>
            <a:r>
              <a:rPr lang="zh-CN" altLang="en-US" sz="1600" b="1" spc="-50" dirty="0">
                <a:latin typeface="宋体" panose="02010600030101010101" pitchFamily="2" charset="-122"/>
              </a:rPr>
              <a:t>复位</a:t>
            </a:r>
            <a:r>
              <a:rPr lang="en-US" altLang="zh-CN" sz="1600" b="1" spc="-50" dirty="0">
                <a:latin typeface="宋体" panose="02010600030101010101" pitchFamily="2" charset="-122"/>
              </a:rPr>
              <a:t>T</a:t>
            </a:r>
            <a:endParaRPr lang="en-US" altLang="zh-CN" sz="1600" spc="-50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300"/>
              </a:spcBef>
            </a:pPr>
            <a:r>
              <a:rPr lang="en-US" altLang="zh-CN" sz="2200" b="1" dirty="0">
                <a:latin typeface="宋体" panose="02010600030101010101" pitchFamily="2" charset="-122"/>
              </a:rPr>
              <a:t>I/O</a:t>
            </a:r>
            <a:r>
              <a:rPr lang="zh-CN" altLang="en-US" sz="2200" b="1" dirty="0">
                <a:latin typeface="宋体" panose="02010600030101010101" pitchFamily="2" charset="-122"/>
              </a:rPr>
              <a:t>接口启动</a:t>
            </a:r>
            <a:r>
              <a:rPr lang="en-US" altLang="zh-CN" sz="2200" b="1" dirty="0">
                <a:latin typeface="宋体" panose="02010600030101010101" pitchFamily="2" charset="-122"/>
              </a:rPr>
              <a:t>/</a:t>
            </a:r>
            <a:r>
              <a:rPr lang="zh-CN" altLang="en-US" sz="2200" b="1" dirty="0">
                <a:latin typeface="宋体" panose="02010600030101010101" pitchFamily="2" charset="-122"/>
              </a:rPr>
              <a:t>查询、设备应答   </a:t>
            </a:r>
            <a:r>
              <a:rPr lang="en-US" altLang="zh-CN" sz="1800" b="1" spc="-50" dirty="0">
                <a:latin typeface="宋体" panose="02010600030101010101" pitchFamily="2" charset="-122"/>
              </a:rPr>
              <a:t>←</a:t>
            </a:r>
            <a:r>
              <a:rPr lang="en-US" altLang="zh-CN" sz="1800" b="1" dirty="0">
                <a:latin typeface="宋体" panose="02010600030101010101" pitchFamily="2" charset="-122"/>
              </a:rPr>
              <a:t>n</a:t>
            </a:r>
            <a:r>
              <a:rPr lang="zh-CN" altLang="en-US" sz="1800" b="1" dirty="0">
                <a:latin typeface="宋体" panose="02010600030101010101" pitchFamily="2" charset="-122"/>
              </a:rPr>
              <a:t>事务</a:t>
            </a:r>
            <a:r>
              <a:rPr lang="en-US" altLang="zh-CN" sz="1800" b="1" dirty="0">
                <a:latin typeface="宋体" panose="02010600030101010101" pitchFamily="2" charset="-122"/>
              </a:rPr>
              <a:t>/</a:t>
            </a:r>
            <a:r>
              <a:rPr lang="zh-CN" altLang="en-US" sz="1800" b="1" dirty="0">
                <a:latin typeface="宋体" panose="02010600030101010101" pitchFamily="2" charset="-122"/>
              </a:rPr>
              <a:t>数据，</a:t>
            </a:r>
            <a:r>
              <a:rPr lang="en-US" altLang="zh-CN" sz="1800" b="1" dirty="0">
                <a:latin typeface="宋体" panose="02010600030101010101" pitchFamily="2" charset="-122"/>
              </a:rPr>
              <a:t>m</a:t>
            </a:r>
            <a:r>
              <a:rPr lang="zh-CN" altLang="en-US" sz="1800" b="1" dirty="0">
                <a:latin typeface="宋体" panose="02010600030101010101" pitchFamily="2" charset="-122"/>
              </a:rPr>
              <a:t>帧</a:t>
            </a:r>
            <a:r>
              <a:rPr lang="en-US" altLang="zh-CN" sz="1800" b="1" dirty="0">
                <a:latin typeface="宋体" panose="02010600030101010101" pitchFamily="2" charset="-122"/>
              </a:rPr>
              <a:t>/</a:t>
            </a:r>
            <a:r>
              <a:rPr lang="zh-CN" altLang="en-US" sz="1800" b="1" dirty="0">
                <a:latin typeface="宋体" panose="02010600030101010101" pitchFamily="2" charset="-122"/>
              </a:rPr>
              <a:t>事务</a:t>
            </a:r>
            <a:endParaRPr lang="en-US" altLang="zh-CN" sz="2200" b="1" dirty="0">
              <a:latin typeface="宋体" panose="02010600030101010101" pitchFamily="2" charset="-122"/>
            </a:endParaRPr>
          </a:p>
        </p:txBody>
      </p:sp>
      <p:sp>
        <p:nvSpPr>
          <p:cNvPr id="62" name="线形标注 2 126"/>
          <p:cNvSpPr/>
          <p:nvPr>
            <p:custDataLst>
              <p:tags r:id="rId1"/>
            </p:custDataLst>
          </p:nvPr>
        </p:nvSpPr>
        <p:spPr bwMode="auto">
          <a:xfrm>
            <a:off x="5004048" y="3140968"/>
            <a:ext cx="3996000" cy="252000"/>
          </a:xfrm>
          <a:prstGeom prst="borderCallout2">
            <a:avLst>
              <a:gd name="adj1" fmla="val 50231"/>
              <a:gd name="adj2" fmla="val 48"/>
              <a:gd name="adj3" fmla="val 51089"/>
              <a:gd name="adj4" fmla="val -3902"/>
              <a:gd name="adj5" fmla="val -97052"/>
              <a:gd name="adj6" fmla="val -7320"/>
            </a:avLst>
          </a:prstGeom>
          <a:noFill/>
          <a:ln w="12700" cap="flat" cmpd="sng" algn="ctr">
            <a:solidFill>
              <a:srgbClr val="0070C0"/>
            </a:solidFill>
            <a:prstDash val="sysDash"/>
            <a:round/>
            <a:headEnd type="none" w="med" len="med"/>
            <a:tailEnd type="arrow" w="sm" len="sm"/>
          </a:ln>
          <a:effectLst/>
        </p:spPr>
        <p:txBody>
          <a:bodyPr vert="horz" wrap="square" lIns="36000" tIns="18000" rIns="36000" bIns="18000" numCol="1" rtlCol="0" anchor="ctr" anchorCtr="0" compatLnSpc="1"/>
          <a:lstStyle/>
          <a:p>
            <a:pPr>
              <a:lnSpc>
                <a:spcPct val="90000"/>
              </a:lnSpc>
            </a:pPr>
            <a:r>
              <a:rPr lang="zh-CN" altLang="en-US" sz="1600" b="1" dirty="0">
                <a:latin typeface="宋体" panose="02010600030101010101" pitchFamily="2" charset="-122"/>
              </a:rPr>
              <a:t>串行通信用</a:t>
            </a:r>
            <a:r>
              <a:rPr lang="zh-CN" altLang="en-US" sz="1600" b="1" u="sng" dirty="0">
                <a:solidFill>
                  <a:srgbClr val="0070C0"/>
                </a:solidFill>
                <a:latin typeface="宋体" panose="02010600030101010101" pitchFamily="2" charset="-122"/>
              </a:rPr>
              <a:t>时钟线</a:t>
            </a:r>
            <a:r>
              <a:rPr lang="zh-CN" altLang="en-US" sz="1600" b="1" dirty="0">
                <a:latin typeface="宋体" panose="02010600030101010101" pitchFamily="2" charset="-122"/>
              </a:rPr>
              <a:t>或</a:t>
            </a:r>
            <a:r>
              <a:rPr lang="zh-CN" altLang="en-US" sz="1600" b="1" u="sng" dirty="0">
                <a:solidFill>
                  <a:srgbClr val="0070C0"/>
                </a:solidFill>
                <a:latin typeface="宋体" panose="02010600030101010101" pitchFamily="2" charset="-122"/>
              </a:rPr>
              <a:t>约定速率</a:t>
            </a:r>
            <a:r>
              <a:rPr lang="zh-CN" altLang="en-US" sz="1600" b="1" dirty="0">
                <a:latin typeface="宋体" panose="02010600030101010101" pitchFamily="2" charset="-122"/>
              </a:rPr>
              <a:t>实现</a:t>
            </a:r>
            <a:r>
              <a:rPr lang="zh-CN" altLang="en-US" sz="1600" b="1" u="sng" dirty="0">
                <a:highlight>
                  <a:srgbClr val="FFFF99"/>
                </a:highlight>
                <a:latin typeface="宋体" panose="02010600030101010101" pitchFamily="2" charset="-122"/>
              </a:rPr>
              <a:t>位间定时</a:t>
            </a:r>
            <a:endParaRPr lang="en-US" altLang="zh-CN" sz="1600" b="1" u="sng" dirty="0">
              <a:solidFill>
                <a:srgbClr val="0070C0"/>
              </a:solidFill>
              <a:latin typeface="宋体" panose="02010600030101010101" pitchFamily="2" charset="-122"/>
            </a:endParaRPr>
          </a:p>
        </p:txBody>
      </p:sp>
      <p:grpSp>
        <p:nvGrpSpPr>
          <p:cNvPr id="244" name="组合 243">
            <a:extLst>
              <a:ext uri="{FF2B5EF4-FFF2-40B4-BE49-F238E27FC236}">
                <a16:creationId xmlns:a16="http://schemas.microsoft.com/office/drawing/2014/main" id="{26701AE2-440F-461F-A3ED-8957A42631EA}"/>
              </a:ext>
            </a:extLst>
          </p:cNvPr>
          <p:cNvGrpSpPr/>
          <p:nvPr/>
        </p:nvGrpSpPr>
        <p:grpSpPr>
          <a:xfrm>
            <a:off x="1512368" y="1303200"/>
            <a:ext cx="6804048" cy="2160000"/>
            <a:chOff x="1584000" y="1584000"/>
            <a:chExt cx="6804048" cy="2160000"/>
          </a:xfrm>
        </p:grpSpPr>
        <p:sp>
          <p:nvSpPr>
            <p:cNvPr id="245" name="Rectangle 358">
              <a:extLst>
                <a:ext uri="{FF2B5EF4-FFF2-40B4-BE49-F238E27FC236}">
                  <a16:creationId xmlns:a16="http://schemas.microsoft.com/office/drawing/2014/main" id="{6B65A56F-F76E-4564-AD28-BEF33A728B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4000" y="1584000"/>
              <a:ext cx="2988000" cy="21600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6" name="Text Box 379">
              <a:extLst>
                <a:ext uri="{FF2B5EF4-FFF2-40B4-BE49-F238E27FC236}">
                  <a16:creationId xmlns:a16="http://schemas.microsoft.com/office/drawing/2014/main" id="{44C804A8-DF08-4FA7-A53B-468CCE1A99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99648" y="2124000"/>
              <a:ext cx="252000" cy="864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vert="eaVert"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列译码器</a:t>
              </a:r>
            </a:p>
          </p:txBody>
        </p:sp>
        <p:sp>
          <p:nvSpPr>
            <p:cNvPr id="247" name="Text Box 391">
              <a:extLst>
                <a:ext uri="{FF2B5EF4-FFF2-40B4-BE49-F238E27FC236}">
                  <a16:creationId xmlns:a16="http://schemas.microsoft.com/office/drawing/2014/main" id="{4C42CBBD-C4B7-4CF7-8A6A-D593AE21C3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56000" y="1656000"/>
              <a:ext cx="792000" cy="46800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4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位计数器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CNT</a:t>
              </a:r>
            </a:p>
          </p:txBody>
        </p:sp>
        <p:sp>
          <p:nvSpPr>
            <p:cNvPr id="248" name="Text Box 393">
              <a:extLst>
                <a:ext uri="{FF2B5EF4-FFF2-40B4-BE49-F238E27FC236}">
                  <a16:creationId xmlns:a16="http://schemas.microsoft.com/office/drawing/2014/main" id="{CA096ECE-FD07-4146-846D-E3728D7310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59648" y="1656000"/>
              <a:ext cx="540000" cy="468000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72000" tIns="10800" rIns="72000" bIns="0" anchor="b" anchorCtr="0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ROM</a:t>
              </a:r>
            </a:p>
            <a:p>
              <a:pPr algn="l">
                <a:lnSpc>
                  <a:spcPct val="90000"/>
                </a:lnSpc>
                <a:spcBef>
                  <a:spcPts val="100"/>
                </a:spcBef>
              </a:pPr>
              <a:r>
                <a:rPr lang="en-US" altLang="zh-CN" sz="1600" b="1" dirty="0">
                  <a:latin typeface="宋体" panose="02010600030101010101" pitchFamily="2" charset="-122"/>
                </a:rPr>
                <a:t>CS</a:t>
              </a:r>
            </a:p>
          </p:txBody>
        </p:sp>
        <p:sp>
          <p:nvSpPr>
            <p:cNvPr id="249" name="Line 418">
              <a:extLst>
                <a:ext uri="{FF2B5EF4-FFF2-40B4-BE49-F238E27FC236}">
                  <a16:creationId xmlns:a16="http://schemas.microsoft.com/office/drawing/2014/main" id="{54948096-636B-4C24-B911-066DC5CB01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42448" y="1933200"/>
              <a:ext cx="2052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0" name="Text Box 433">
              <a:extLst>
                <a:ext uri="{FF2B5EF4-FFF2-40B4-BE49-F238E27FC236}">
                  <a16:creationId xmlns:a16="http://schemas.microsoft.com/office/drawing/2014/main" id="{B14A7A0B-35B2-4A99-84E7-FA39D3E71E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12000" y="2340000"/>
              <a:ext cx="252000" cy="100800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vert="eaVert"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传送电路</a:t>
              </a:r>
            </a:p>
          </p:txBody>
        </p:sp>
        <p:sp>
          <p:nvSpPr>
            <p:cNvPr id="251" name="Oval 460">
              <a:extLst>
                <a:ext uri="{FF2B5EF4-FFF2-40B4-BE49-F238E27FC236}">
                  <a16:creationId xmlns:a16="http://schemas.microsoft.com/office/drawing/2014/main" id="{DB94E245-9EB0-4F6A-A12B-B080C52C74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67648" y="2124000"/>
              <a:ext cx="71438" cy="71438"/>
            </a:xfrm>
            <a:prstGeom prst="ellips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cxnSp>
          <p:nvCxnSpPr>
            <p:cNvPr id="252" name="直接箭头连接符 251">
              <a:extLst>
                <a:ext uri="{FF2B5EF4-FFF2-40B4-BE49-F238E27FC236}">
                  <a16:creationId xmlns:a16="http://schemas.microsoft.com/office/drawing/2014/main" id="{9DCC3FD0-8A62-4016-9721-800E5E2E4894}"/>
                </a:ext>
              </a:extLst>
            </p:cNvPr>
            <p:cNvCxnSpPr/>
            <p:nvPr/>
          </p:nvCxnSpPr>
          <p:spPr bwMode="auto">
            <a:xfrm>
              <a:off x="2447648" y="1980000"/>
              <a:ext cx="1512000" cy="0"/>
            </a:xfrm>
            <a:prstGeom prst="straightConnector1">
              <a:avLst/>
            </a:prstGeom>
            <a:noFill/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</p:spPr>
        </p:cxnSp>
        <p:cxnSp>
          <p:nvCxnSpPr>
            <p:cNvPr id="253" name="直接箭头连接符 252">
              <a:extLst>
                <a:ext uri="{FF2B5EF4-FFF2-40B4-BE49-F238E27FC236}">
                  <a16:creationId xmlns:a16="http://schemas.microsoft.com/office/drawing/2014/main" id="{2F82DA5E-869B-435B-8DBC-38B5D24707EC}"/>
                </a:ext>
              </a:extLst>
            </p:cNvPr>
            <p:cNvCxnSpPr/>
            <p:nvPr/>
          </p:nvCxnSpPr>
          <p:spPr bwMode="auto">
            <a:xfrm>
              <a:off x="2447648" y="1908000"/>
              <a:ext cx="1512000" cy="0"/>
            </a:xfrm>
            <a:prstGeom prst="straightConnector1">
              <a:avLst/>
            </a:prstGeom>
            <a:noFill/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</p:spPr>
        </p:cxnSp>
        <p:cxnSp>
          <p:nvCxnSpPr>
            <p:cNvPr id="254" name="直接箭头连接符 253">
              <a:extLst>
                <a:ext uri="{FF2B5EF4-FFF2-40B4-BE49-F238E27FC236}">
                  <a16:creationId xmlns:a16="http://schemas.microsoft.com/office/drawing/2014/main" id="{E4171221-8CFB-415F-95C3-113955E8A140}"/>
                </a:ext>
              </a:extLst>
            </p:cNvPr>
            <p:cNvCxnSpPr/>
            <p:nvPr/>
          </p:nvCxnSpPr>
          <p:spPr bwMode="auto">
            <a:xfrm>
              <a:off x="2447648" y="1800000"/>
              <a:ext cx="1512000" cy="0"/>
            </a:xfrm>
            <a:prstGeom prst="straightConnector1">
              <a:avLst/>
            </a:prstGeom>
            <a:noFill/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</p:spPr>
        </p:cxnSp>
        <p:cxnSp>
          <p:nvCxnSpPr>
            <p:cNvPr id="255" name="直接箭头连接符 254">
              <a:extLst>
                <a:ext uri="{FF2B5EF4-FFF2-40B4-BE49-F238E27FC236}">
                  <a16:creationId xmlns:a16="http://schemas.microsoft.com/office/drawing/2014/main" id="{686D921B-2C30-422A-93C9-A89711FC6E8E}"/>
                </a:ext>
              </a:extLst>
            </p:cNvPr>
            <p:cNvCxnSpPr/>
            <p:nvPr/>
          </p:nvCxnSpPr>
          <p:spPr bwMode="auto">
            <a:xfrm>
              <a:off x="2447648" y="1728000"/>
              <a:ext cx="1512000" cy="0"/>
            </a:xfrm>
            <a:prstGeom prst="straightConnector1">
              <a:avLst/>
            </a:prstGeom>
            <a:noFill/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</p:spPr>
        </p:cxnSp>
        <p:cxnSp>
          <p:nvCxnSpPr>
            <p:cNvPr id="256" name="直接箭头连接符 255">
              <a:extLst>
                <a:ext uri="{FF2B5EF4-FFF2-40B4-BE49-F238E27FC236}">
                  <a16:creationId xmlns:a16="http://schemas.microsoft.com/office/drawing/2014/main" id="{FC2017F7-1E0E-4CAA-A00D-7B3A062AA008}"/>
                </a:ext>
              </a:extLst>
            </p:cNvPr>
            <p:cNvCxnSpPr/>
            <p:nvPr/>
          </p:nvCxnSpPr>
          <p:spPr bwMode="auto">
            <a:xfrm>
              <a:off x="3671648" y="1908000"/>
              <a:ext cx="0" cy="216000"/>
            </a:xfrm>
            <a:prstGeom prst="straightConnector1">
              <a:avLst/>
            </a:prstGeom>
            <a:noFill/>
            <a:ln w="15875" cap="flat" cmpd="sng" algn="ctr">
              <a:solidFill>
                <a:srgbClr val="C00000"/>
              </a:solidFill>
              <a:prstDash val="solid"/>
              <a:round/>
              <a:headEnd type="oval" w="sm" len="sm"/>
              <a:tailEnd type="triangle"/>
            </a:ln>
          </p:spPr>
        </p:cxnSp>
        <p:cxnSp>
          <p:nvCxnSpPr>
            <p:cNvPr id="257" name="直接箭头连接符 256">
              <a:extLst>
                <a:ext uri="{FF2B5EF4-FFF2-40B4-BE49-F238E27FC236}">
                  <a16:creationId xmlns:a16="http://schemas.microsoft.com/office/drawing/2014/main" id="{FC06F448-BCC8-4786-900A-04BA8EDD0504}"/>
                </a:ext>
              </a:extLst>
            </p:cNvPr>
            <p:cNvCxnSpPr/>
            <p:nvPr/>
          </p:nvCxnSpPr>
          <p:spPr bwMode="auto">
            <a:xfrm>
              <a:off x="3779632" y="1980000"/>
              <a:ext cx="0" cy="144000"/>
            </a:xfrm>
            <a:prstGeom prst="straightConnector1">
              <a:avLst/>
            </a:prstGeom>
            <a:noFill/>
            <a:ln w="15875" cap="flat" cmpd="sng" algn="ctr">
              <a:solidFill>
                <a:srgbClr val="C00000"/>
              </a:solidFill>
              <a:prstDash val="solid"/>
              <a:round/>
              <a:headEnd type="oval" w="sm" len="sm"/>
              <a:tailEnd type="triangle"/>
            </a:ln>
          </p:spPr>
        </p:cxnSp>
        <p:cxnSp>
          <p:nvCxnSpPr>
            <p:cNvPr id="258" name="直接箭头连接符 257">
              <a:extLst>
                <a:ext uri="{FF2B5EF4-FFF2-40B4-BE49-F238E27FC236}">
                  <a16:creationId xmlns:a16="http://schemas.microsoft.com/office/drawing/2014/main" id="{0B5A02C5-CB60-492C-A035-522A7100CE04}"/>
                </a:ext>
              </a:extLst>
            </p:cNvPr>
            <p:cNvCxnSpPr/>
            <p:nvPr/>
          </p:nvCxnSpPr>
          <p:spPr bwMode="auto">
            <a:xfrm flipV="1">
              <a:off x="4103648" y="2196000"/>
              <a:ext cx="0" cy="1404000"/>
            </a:xfrm>
            <a:prstGeom prst="straightConnector1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oval" w="sm" len="sm"/>
              <a:tailEnd type="triangle"/>
            </a:ln>
          </p:spPr>
        </p:cxnSp>
        <p:cxnSp>
          <p:nvCxnSpPr>
            <p:cNvPr id="259" name="直接箭头连接符 258">
              <a:extLst>
                <a:ext uri="{FF2B5EF4-FFF2-40B4-BE49-F238E27FC236}">
                  <a16:creationId xmlns:a16="http://schemas.microsoft.com/office/drawing/2014/main" id="{E17E86F6-E6F5-4AF6-B1FE-98CA9D6FF40E}"/>
                </a:ext>
              </a:extLst>
            </p:cNvPr>
            <p:cNvCxnSpPr/>
            <p:nvPr/>
          </p:nvCxnSpPr>
          <p:spPr bwMode="auto">
            <a:xfrm>
              <a:off x="4356000" y="2124000"/>
              <a:ext cx="0" cy="21600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</p:spPr>
        </p:cxnSp>
        <p:sp>
          <p:nvSpPr>
            <p:cNvPr id="260" name="Text Box 360">
              <a:extLst>
                <a:ext uri="{FF2B5EF4-FFF2-40B4-BE49-F238E27FC236}">
                  <a16:creationId xmlns:a16="http://schemas.microsoft.com/office/drawing/2014/main" id="{D7B9873B-40A8-49CE-AEE0-5A9C86472C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00000" y="1978440"/>
              <a:ext cx="612000" cy="1368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vert="eaVert"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(</a:t>
              </a:r>
              <a:r>
                <a:rPr lang="zh-CN" altLang="en-US" sz="1800" b="1" dirty="0">
                  <a:solidFill>
                    <a:srgbClr val="990099"/>
                  </a:solidFill>
                  <a:latin typeface="宋体" panose="02010600030101010101" pitchFamily="2" charset="-122"/>
                </a:rPr>
                <a:t>串行</a:t>
              </a:r>
              <a:r>
                <a:rPr lang="zh-CN" altLang="en-US" sz="1800" b="1" dirty="0">
                  <a:latin typeface="宋体" panose="02010600030101010101" pitchFamily="2" charset="-122"/>
                </a:rPr>
                <a:t>接口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)</a:t>
              </a:r>
            </a:p>
            <a:p>
              <a:pPr>
                <a:lnSpc>
                  <a:spcPct val="90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键盘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I/O</a:t>
              </a:r>
              <a:r>
                <a:rPr lang="zh-CN" altLang="en-US" sz="1800" b="1" dirty="0">
                  <a:latin typeface="宋体" panose="02010600030101010101" pitchFamily="2" charset="-122"/>
                </a:rPr>
                <a:t>接口</a:t>
              </a:r>
            </a:p>
          </p:txBody>
        </p:sp>
        <p:cxnSp>
          <p:nvCxnSpPr>
            <p:cNvPr id="261" name="直接箭头连接符 260">
              <a:extLst>
                <a:ext uri="{FF2B5EF4-FFF2-40B4-BE49-F238E27FC236}">
                  <a16:creationId xmlns:a16="http://schemas.microsoft.com/office/drawing/2014/main" id="{A5CF5CD4-E444-410E-B528-4F52B116DC2D}"/>
                </a:ext>
              </a:extLst>
            </p:cNvPr>
            <p:cNvCxnSpPr/>
            <p:nvPr/>
          </p:nvCxnSpPr>
          <p:spPr bwMode="auto">
            <a:xfrm>
              <a:off x="4464000" y="2700000"/>
              <a:ext cx="936000" cy="1"/>
            </a:xfrm>
            <a:prstGeom prst="straightConnector1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triangle" w="med" len="med"/>
              <a:tailEnd type="triangle"/>
            </a:ln>
          </p:spPr>
        </p:cxnSp>
        <p:cxnSp>
          <p:nvCxnSpPr>
            <p:cNvPr id="262" name="直接箭头连接符 261">
              <a:extLst>
                <a:ext uri="{FF2B5EF4-FFF2-40B4-BE49-F238E27FC236}">
                  <a16:creationId xmlns:a16="http://schemas.microsoft.com/office/drawing/2014/main" id="{EDDC883D-2A7E-449B-B974-8B72919C7728}"/>
                </a:ext>
              </a:extLst>
            </p:cNvPr>
            <p:cNvCxnSpPr/>
            <p:nvPr/>
          </p:nvCxnSpPr>
          <p:spPr bwMode="auto">
            <a:xfrm>
              <a:off x="4464000" y="3132000"/>
              <a:ext cx="936000" cy="0"/>
            </a:xfrm>
            <a:prstGeom prst="straightConnector1">
              <a:avLst/>
            </a:prstGeom>
            <a:noFill/>
            <a:ln w="15875" cap="flat" cmpd="sng" algn="ctr">
              <a:solidFill>
                <a:srgbClr val="C00000"/>
              </a:solidFill>
              <a:prstDash val="sysDash"/>
              <a:round/>
              <a:headEnd type="none" w="med" len="med"/>
              <a:tailEnd type="triangle"/>
            </a:ln>
          </p:spPr>
        </p:cxnSp>
        <p:sp>
          <p:nvSpPr>
            <p:cNvPr id="263" name="Text Box 178">
              <a:extLst>
                <a:ext uri="{FF2B5EF4-FFF2-40B4-BE49-F238E27FC236}">
                  <a16:creationId xmlns:a16="http://schemas.microsoft.com/office/drawing/2014/main" id="{FADFA552-578F-40E1-BEB6-5B37BC9A2A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24000" y="2483999"/>
              <a:ext cx="504000" cy="21600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latin typeface="+mn-ea"/>
                  <a:ea typeface="+mn-ea"/>
                </a:rPr>
                <a:t>Data</a:t>
              </a:r>
              <a:endParaRPr lang="zh-CN" altLang="en-US" sz="1600" b="1" dirty="0">
                <a:latin typeface="+mn-ea"/>
                <a:ea typeface="+mn-ea"/>
              </a:endParaRPr>
            </a:p>
          </p:txBody>
        </p:sp>
        <p:sp>
          <p:nvSpPr>
            <p:cNvPr id="264" name="Text Box 178">
              <a:extLst>
                <a:ext uri="{FF2B5EF4-FFF2-40B4-BE49-F238E27FC236}">
                  <a16:creationId xmlns:a16="http://schemas.microsoft.com/office/drawing/2014/main" id="{0FFC7AB4-E545-45F2-AD70-EC398740D5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16000" y="2915999"/>
              <a:ext cx="648072" cy="21600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latin typeface="+mn-ea"/>
                  <a:ea typeface="+mn-ea"/>
                </a:rPr>
                <a:t>Clock</a:t>
              </a:r>
              <a:endParaRPr lang="zh-CN" altLang="en-US" sz="1600" b="1" dirty="0">
                <a:latin typeface="+mn-ea"/>
                <a:ea typeface="+mn-ea"/>
              </a:endParaRPr>
            </a:p>
          </p:txBody>
        </p:sp>
        <p:cxnSp>
          <p:nvCxnSpPr>
            <p:cNvPr id="265" name="直接连接符 264">
              <a:extLst>
                <a:ext uri="{FF2B5EF4-FFF2-40B4-BE49-F238E27FC236}">
                  <a16:creationId xmlns:a16="http://schemas.microsoft.com/office/drawing/2014/main" id="{B81E3C50-D09C-445B-B00C-9048B7EE1279}"/>
                </a:ext>
              </a:extLst>
            </p:cNvPr>
            <p:cNvCxnSpPr/>
            <p:nvPr/>
          </p:nvCxnSpPr>
          <p:spPr bwMode="auto">
            <a:xfrm>
              <a:off x="4644000" y="2664000"/>
              <a:ext cx="108000" cy="72008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66" name="Text Box 61">
              <a:extLst>
                <a:ext uri="{FF2B5EF4-FFF2-40B4-BE49-F238E27FC236}">
                  <a16:creationId xmlns:a16="http://schemas.microsoft.com/office/drawing/2014/main" id="{E86845F4-47A7-470B-84F8-6A327EF35E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08000" y="2484000"/>
              <a:ext cx="180000" cy="18002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0" bIns="0"/>
            <a:lstStyle/>
            <a:p>
              <a:pPr>
                <a:lnSpc>
                  <a:spcPct val="8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1</a:t>
              </a:r>
            </a:p>
          </p:txBody>
        </p:sp>
        <p:sp>
          <p:nvSpPr>
            <p:cNvPr id="267" name="Text Box 401">
              <a:extLst>
                <a:ext uri="{FF2B5EF4-FFF2-40B4-BE49-F238E27FC236}">
                  <a16:creationId xmlns:a16="http://schemas.microsoft.com/office/drawing/2014/main" id="{A5EF1633-AAF6-4A50-B5E6-FA4D7E52B4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56000" y="2772000"/>
              <a:ext cx="468000" cy="792000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vert="horz"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时钟</a:t>
              </a:r>
              <a:endParaRPr lang="en-US" altLang="zh-CN" sz="1600" b="1" dirty="0">
                <a:latin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发生</a:t>
              </a:r>
              <a:endParaRPr lang="en-US" altLang="zh-CN" sz="1600" b="1" dirty="0">
                <a:latin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器</a:t>
              </a:r>
            </a:p>
          </p:txBody>
        </p:sp>
        <p:sp>
          <p:nvSpPr>
            <p:cNvPr id="268" name="Text Box 428">
              <a:extLst>
                <a:ext uri="{FF2B5EF4-FFF2-40B4-BE49-F238E27FC236}">
                  <a16:creationId xmlns:a16="http://schemas.microsoft.com/office/drawing/2014/main" id="{91144474-ED41-4048-ADC7-C74943D12C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36000" y="2303999"/>
              <a:ext cx="576000" cy="216000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&amp;</a:t>
              </a:r>
            </a:p>
          </p:txBody>
        </p:sp>
        <p:cxnSp>
          <p:nvCxnSpPr>
            <p:cNvPr id="269" name="直接箭头连接符 268">
              <a:extLst>
                <a:ext uri="{FF2B5EF4-FFF2-40B4-BE49-F238E27FC236}">
                  <a16:creationId xmlns:a16="http://schemas.microsoft.com/office/drawing/2014/main" id="{FB140D67-A6ED-4F5E-B370-F569A6158D93}"/>
                </a:ext>
              </a:extLst>
            </p:cNvPr>
            <p:cNvCxnSpPr/>
            <p:nvPr/>
          </p:nvCxnSpPr>
          <p:spPr bwMode="auto">
            <a:xfrm flipH="1" flipV="1">
              <a:off x="1908000" y="2520000"/>
              <a:ext cx="0" cy="25200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</p:spPr>
        </p:cxnSp>
        <p:cxnSp>
          <p:nvCxnSpPr>
            <p:cNvPr id="270" name="直接箭头连接符 269">
              <a:extLst>
                <a:ext uri="{FF2B5EF4-FFF2-40B4-BE49-F238E27FC236}">
                  <a16:creationId xmlns:a16="http://schemas.microsoft.com/office/drawing/2014/main" id="{2D1F162F-7AB1-4822-B2C0-207F9AC1F0B2}"/>
                </a:ext>
              </a:extLst>
            </p:cNvPr>
            <p:cNvCxnSpPr/>
            <p:nvPr/>
          </p:nvCxnSpPr>
          <p:spPr bwMode="auto">
            <a:xfrm flipV="1">
              <a:off x="2340000" y="2592000"/>
              <a:ext cx="0" cy="1008000"/>
            </a:xfrm>
            <a:prstGeom prst="straightConnector1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</p:spPr>
        </p:cxnSp>
        <p:cxnSp>
          <p:nvCxnSpPr>
            <p:cNvPr id="271" name="直接箭头连接符 270">
              <a:extLst>
                <a:ext uri="{FF2B5EF4-FFF2-40B4-BE49-F238E27FC236}">
                  <a16:creationId xmlns:a16="http://schemas.microsoft.com/office/drawing/2014/main" id="{B638995D-20B2-496F-8F95-29E0B42E109C}"/>
                </a:ext>
              </a:extLst>
            </p:cNvPr>
            <p:cNvCxnSpPr/>
            <p:nvPr/>
          </p:nvCxnSpPr>
          <p:spPr bwMode="auto">
            <a:xfrm flipH="1" flipV="1">
              <a:off x="2124000" y="2124000"/>
              <a:ext cx="1" cy="18000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</p:spPr>
        </p:cxnSp>
        <p:cxnSp>
          <p:nvCxnSpPr>
            <p:cNvPr id="272" name="直接箭头连接符 330">
              <a:extLst>
                <a:ext uri="{FF2B5EF4-FFF2-40B4-BE49-F238E27FC236}">
                  <a16:creationId xmlns:a16="http://schemas.microsoft.com/office/drawing/2014/main" id="{F7061646-7027-4CB6-A6C2-9E6D5681982F}"/>
                </a:ext>
              </a:extLst>
            </p:cNvPr>
            <p:cNvCxnSpPr/>
            <p:nvPr/>
          </p:nvCxnSpPr>
          <p:spPr bwMode="auto">
            <a:xfrm>
              <a:off x="1908000" y="2664000"/>
              <a:ext cx="32400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/>
            </a:ln>
          </p:spPr>
        </p:cxnSp>
        <p:sp>
          <p:nvSpPr>
            <p:cNvPr id="273" name="Oval 460">
              <a:extLst>
                <a:ext uri="{FF2B5EF4-FFF2-40B4-BE49-F238E27FC236}">
                  <a16:creationId xmlns:a16="http://schemas.microsoft.com/office/drawing/2014/main" id="{DCF31E1C-F4E9-4A36-93D8-89D7BB8B8A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4000" y="2520000"/>
              <a:ext cx="71438" cy="71438"/>
            </a:xfrm>
            <a:prstGeom prst="ellips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cxnSp>
          <p:nvCxnSpPr>
            <p:cNvPr id="274" name="直接箭头连接符 273">
              <a:extLst>
                <a:ext uri="{FF2B5EF4-FFF2-40B4-BE49-F238E27FC236}">
                  <a16:creationId xmlns:a16="http://schemas.microsoft.com/office/drawing/2014/main" id="{2DA66B90-51A9-4FC3-A53D-75E720168B29}"/>
                </a:ext>
              </a:extLst>
            </p:cNvPr>
            <p:cNvCxnSpPr/>
            <p:nvPr/>
          </p:nvCxnSpPr>
          <p:spPr bwMode="auto">
            <a:xfrm>
              <a:off x="2232000" y="2663999"/>
              <a:ext cx="0" cy="100800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</p:spPr>
        </p:cxnSp>
        <p:sp>
          <p:nvSpPr>
            <p:cNvPr id="275" name="Text Box 178">
              <a:extLst>
                <a:ext uri="{FF2B5EF4-FFF2-40B4-BE49-F238E27FC236}">
                  <a16:creationId xmlns:a16="http://schemas.microsoft.com/office/drawing/2014/main" id="{7BCAB9E4-AC63-49B0-BDA8-7EDB8A9DE6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55800" y="1978440"/>
              <a:ext cx="2232248" cy="136800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t" anchorCtr="0"/>
            <a:lstStyle/>
            <a:p>
              <a:pPr algn="l">
                <a:lnSpc>
                  <a:spcPct val="110000"/>
                </a:lnSpc>
              </a:pPr>
              <a:r>
                <a:rPr lang="zh-CN" altLang="en-US" sz="1600" b="1" dirty="0">
                  <a:latin typeface="+mn-ea"/>
                  <a:ea typeface="+mn-ea"/>
                </a:rPr>
                <a:t>说明：</a:t>
              </a:r>
              <a:endParaRPr lang="en-US" altLang="zh-CN" sz="1600" b="1" dirty="0">
                <a:latin typeface="+mn-ea"/>
                <a:ea typeface="+mn-ea"/>
              </a:endParaRPr>
            </a:p>
            <a:p>
              <a:pPr algn="l">
                <a:lnSpc>
                  <a:spcPct val="110000"/>
                </a:lnSpc>
              </a:pPr>
              <a:r>
                <a:rPr lang="zh-CN" altLang="en-US" sz="1600" b="1" dirty="0">
                  <a:latin typeface="+mn-ea"/>
                  <a:ea typeface="+mn-ea"/>
                </a:rPr>
                <a:t>  译 码 器</a:t>
              </a:r>
              <a:r>
                <a:rPr lang="en-US" altLang="zh-CN" sz="1600" b="1" dirty="0">
                  <a:latin typeface="+mn-ea"/>
                  <a:ea typeface="+mn-ea"/>
                </a:rPr>
                <a:t>—</a:t>
              </a:r>
              <a:r>
                <a:rPr lang="zh-CN" altLang="en-US" sz="1600" b="1" dirty="0">
                  <a:latin typeface="+mn-ea"/>
                  <a:ea typeface="+mn-ea"/>
                </a:rPr>
                <a:t>按键定位</a:t>
              </a:r>
              <a:endParaRPr lang="en-US" altLang="zh-CN" sz="1600" b="1" dirty="0">
                <a:latin typeface="+mn-ea"/>
                <a:ea typeface="+mn-ea"/>
              </a:endParaRPr>
            </a:p>
            <a:p>
              <a:pPr algn="l">
                <a:lnSpc>
                  <a:spcPct val="110000"/>
                </a:lnSpc>
              </a:pPr>
              <a:r>
                <a:rPr lang="zh-CN" altLang="en-US" sz="1600" b="1" dirty="0">
                  <a:latin typeface="+mn-ea"/>
                  <a:ea typeface="+mn-ea"/>
                </a:rPr>
                <a:t>  单稳电路</a:t>
              </a:r>
              <a:r>
                <a:rPr lang="en-US" altLang="zh-CN" sz="1600" b="1" dirty="0">
                  <a:latin typeface="+mn-ea"/>
                  <a:ea typeface="+mn-ea"/>
                </a:rPr>
                <a:t>—</a:t>
              </a:r>
              <a:r>
                <a:rPr lang="zh-CN" altLang="en-US" sz="1600" b="1" dirty="0">
                  <a:latin typeface="+mn-ea"/>
                  <a:ea typeface="+mn-ea"/>
                </a:rPr>
                <a:t>按键检测</a:t>
              </a:r>
              <a:endParaRPr lang="en-US" altLang="zh-CN" sz="1600" b="1" dirty="0">
                <a:latin typeface="+mn-ea"/>
                <a:ea typeface="+mn-ea"/>
              </a:endParaRPr>
            </a:p>
            <a:p>
              <a:pPr algn="l">
                <a:lnSpc>
                  <a:spcPct val="110000"/>
                </a:lnSpc>
              </a:pPr>
              <a:r>
                <a:rPr lang="en-US" altLang="zh-CN" sz="1600" b="1" dirty="0">
                  <a:latin typeface="+mn-ea"/>
                  <a:ea typeface="+mn-ea"/>
                </a:rPr>
                <a:t>  </a:t>
              </a:r>
              <a:r>
                <a:rPr lang="zh-CN" altLang="en-US" sz="1600" b="1" dirty="0">
                  <a:latin typeface="+mn-ea"/>
                  <a:ea typeface="+mn-ea"/>
                </a:rPr>
                <a:t>计 数 器</a:t>
              </a:r>
              <a:r>
                <a:rPr lang="en-US" altLang="zh-CN" sz="1600" b="1" dirty="0">
                  <a:latin typeface="+mn-ea"/>
                  <a:ea typeface="+mn-ea"/>
                </a:rPr>
                <a:t>—</a:t>
              </a:r>
              <a:r>
                <a:rPr lang="zh-CN" altLang="en-US" sz="1600" b="1" dirty="0">
                  <a:latin typeface="+mn-ea"/>
                  <a:ea typeface="+mn-ea"/>
                </a:rPr>
                <a:t>循环扫描</a:t>
              </a:r>
              <a:endParaRPr lang="en-US" altLang="zh-CN" sz="1600" b="1" dirty="0">
                <a:latin typeface="+mn-ea"/>
                <a:ea typeface="+mn-ea"/>
              </a:endParaRPr>
            </a:p>
            <a:p>
              <a:pPr algn="l">
                <a:lnSpc>
                  <a:spcPct val="110000"/>
                </a:lnSpc>
              </a:pPr>
              <a:r>
                <a:rPr lang="en-US" altLang="zh-CN" sz="1600" b="1" dirty="0">
                  <a:latin typeface="+mn-ea"/>
                  <a:ea typeface="+mn-ea"/>
                </a:rPr>
                <a:t>       ROM—</a:t>
              </a:r>
              <a:r>
                <a:rPr lang="zh-CN" altLang="en-US" sz="1600" b="1" dirty="0">
                  <a:latin typeface="+mn-ea"/>
                  <a:ea typeface="+mn-ea"/>
                </a:rPr>
                <a:t>编码转换</a:t>
              </a:r>
              <a:endParaRPr lang="en-US" altLang="zh-CN" sz="1600" b="1" dirty="0">
                <a:latin typeface="+mn-ea"/>
                <a:ea typeface="+mn-ea"/>
              </a:endParaRPr>
            </a:p>
          </p:txBody>
        </p:sp>
        <p:sp>
          <p:nvSpPr>
            <p:cNvPr id="276" name="Text Box 390">
              <a:extLst>
                <a:ext uri="{FF2B5EF4-FFF2-40B4-BE49-F238E27FC236}">
                  <a16:creationId xmlns:a16="http://schemas.microsoft.com/office/drawing/2014/main" id="{990E3863-D503-4C38-B748-75CC0EC594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47632" y="3204000"/>
              <a:ext cx="1080000" cy="25200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单稳电路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T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277" name="直接连接符 276">
              <a:extLst>
                <a:ext uri="{FF2B5EF4-FFF2-40B4-BE49-F238E27FC236}">
                  <a16:creationId xmlns:a16="http://schemas.microsoft.com/office/drawing/2014/main" id="{9181EE80-4E3C-4B8E-AD4A-00F1E2813E43}"/>
                </a:ext>
              </a:extLst>
            </p:cNvPr>
            <p:cNvCxnSpPr/>
            <p:nvPr/>
          </p:nvCxnSpPr>
          <p:spPr bwMode="auto">
            <a:xfrm>
              <a:off x="2340000" y="3600000"/>
              <a:ext cx="1944000" cy="0"/>
            </a:xfrm>
            <a:prstGeom prst="line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8" name="直接箭头连接符 277">
              <a:extLst>
                <a:ext uri="{FF2B5EF4-FFF2-40B4-BE49-F238E27FC236}">
                  <a16:creationId xmlns:a16="http://schemas.microsoft.com/office/drawing/2014/main" id="{EC1F9093-990C-4C2B-AC08-339871BD06A3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915648" y="3456000"/>
              <a:ext cx="0" cy="144000"/>
            </a:xfrm>
            <a:prstGeom prst="straightConnector1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</p:spPr>
        </p:cxnSp>
        <p:cxnSp>
          <p:nvCxnSpPr>
            <p:cNvPr id="279" name="直接连接符 278">
              <a:extLst>
                <a:ext uri="{FF2B5EF4-FFF2-40B4-BE49-F238E27FC236}">
                  <a16:creationId xmlns:a16="http://schemas.microsoft.com/office/drawing/2014/main" id="{8951CB3F-5A64-48CF-AD7B-2D2605F2C40C}"/>
                </a:ext>
              </a:extLst>
            </p:cNvPr>
            <p:cNvCxnSpPr/>
            <p:nvPr/>
          </p:nvCxnSpPr>
          <p:spPr bwMode="auto">
            <a:xfrm>
              <a:off x="2232000" y="3672000"/>
              <a:ext cx="2160000" cy="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80" name="直接箭头连接符 279">
              <a:extLst>
                <a:ext uri="{FF2B5EF4-FFF2-40B4-BE49-F238E27FC236}">
                  <a16:creationId xmlns:a16="http://schemas.microsoft.com/office/drawing/2014/main" id="{B81C6CE7-345B-488F-A64E-1C650380BDDC}"/>
                </a:ext>
              </a:extLst>
            </p:cNvPr>
            <p:cNvCxnSpPr/>
            <p:nvPr/>
          </p:nvCxnSpPr>
          <p:spPr bwMode="auto">
            <a:xfrm flipV="1">
              <a:off x="4392000" y="3348000"/>
              <a:ext cx="0" cy="32400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</p:spPr>
        </p:cxnSp>
        <p:cxnSp>
          <p:nvCxnSpPr>
            <p:cNvPr id="281" name="直接箭头连接符 347">
              <a:extLst>
                <a:ext uri="{FF2B5EF4-FFF2-40B4-BE49-F238E27FC236}">
                  <a16:creationId xmlns:a16="http://schemas.microsoft.com/office/drawing/2014/main" id="{2C1DF8D9-26BE-43DB-B314-9E482804BD07}"/>
                </a:ext>
              </a:extLst>
            </p:cNvPr>
            <p:cNvCxnSpPr/>
            <p:nvPr/>
          </p:nvCxnSpPr>
          <p:spPr bwMode="auto">
            <a:xfrm flipV="1">
              <a:off x="4284000" y="3348000"/>
              <a:ext cx="0" cy="252000"/>
            </a:xfrm>
            <a:prstGeom prst="straightConnector1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sm" len="sm"/>
              <a:tailEnd type="triangle"/>
            </a:ln>
          </p:spPr>
        </p:cxnSp>
        <p:cxnSp>
          <p:nvCxnSpPr>
            <p:cNvPr id="282" name="直接箭头连接符 281">
              <a:extLst>
                <a:ext uri="{FF2B5EF4-FFF2-40B4-BE49-F238E27FC236}">
                  <a16:creationId xmlns:a16="http://schemas.microsoft.com/office/drawing/2014/main" id="{1DD0E502-2E48-426D-A181-ACCD02CED90A}"/>
                </a:ext>
              </a:extLst>
            </p:cNvPr>
            <p:cNvCxnSpPr/>
            <p:nvPr/>
          </p:nvCxnSpPr>
          <p:spPr bwMode="auto">
            <a:xfrm flipH="1" flipV="1">
              <a:off x="3527632" y="3312000"/>
              <a:ext cx="684000" cy="0"/>
            </a:xfrm>
            <a:prstGeom prst="straightConnector1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</p:spPr>
        </p:cxnSp>
        <p:sp>
          <p:nvSpPr>
            <p:cNvPr id="283" name="Text Box 178">
              <a:extLst>
                <a:ext uri="{FF2B5EF4-FFF2-40B4-BE49-F238E27FC236}">
                  <a16:creationId xmlns:a16="http://schemas.microsoft.com/office/drawing/2014/main" id="{FD6E2176-33D7-4BE9-85C1-D4BD52ECED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63632" y="3096000"/>
              <a:ext cx="468000" cy="21600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>
                  <a:latin typeface="+mn-ea"/>
                  <a:ea typeface="+mn-ea"/>
                </a:rPr>
                <a:t>复位</a:t>
              </a:r>
            </a:p>
          </p:txBody>
        </p:sp>
        <p:sp>
          <p:nvSpPr>
            <p:cNvPr id="284" name="Text Box 378">
              <a:extLst>
                <a:ext uri="{FF2B5EF4-FFF2-40B4-BE49-F238E27FC236}">
                  <a16:creationId xmlns:a16="http://schemas.microsoft.com/office/drawing/2014/main" id="{7C928473-D5CE-464E-88B6-F466A8F64C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84000" y="2484000"/>
              <a:ext cx="936000" cy="504000"/>
            </a:xfrm>
            <a:prstGeom prst="rect">
              <a:avLst/>
            </a:prstGeom>
            <a:solidFill>
              <a:srgbClr val="FFFF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4×4</a:t>
              </a:r>
            </a:p>
            <a:p>
              <a:pPr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键盘阵列</a:t>
              </a:r>
            </a:p>
          </p:txBody>
        </p:sp>
        <p:cxnSp>
          <p:nvCxnSpPr>
            <p:cNvPr id="285" name="直接箭头连接符 284">
              <a:extLst>
                <a:ext uri="{FF2B5EF4-FFF2-40B4-BE49-F238E27FC236}">
                  <a16:creationId xmlns:a16="http://schemas.microsoft.com/office/drawing/2014/main" id="{42A63C02-E820-49DB-9EBC-5C843DBF30B1}"/>
                </a:ext>
              </a:extLst>
            </p:cNvPr>
            <p:cNvCxnSpPr/>
            <p:nvPr/>
          </p:nvCxnSpPr>
          <p:spPr bwMode="auto">
            <a:xfrm flipH="1">
              <a:off x="3419648" y="2556000"/>
              <a:ext cx="18000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</p:spPr>
        </p:cxnSp>
        <p:cxnSp>
          <p:nvCxnSpPr>
            <p:cNvPr id="286" name="直接箭头连接符 285">
              <a:extLst>
                <a:ext uri="{FF2B5EF4-FFF2-40B4-BE49-F238E27FC236}">
                  <a16:creationId xmlns:a16="http://schemas.microsoft.com/office/drawing/2014/main" id="{00CA4793-82F2-462D-9AEC-1435D192F9A4}"/>
                </a:ext>
              </a:extLst>
            </p:cNvPr>
            <p:cNvCxnSpPr/>
            <p:nvPr/>
          </p:nvCxnSpPr>
          <p:spPr bwMode="auto">
            <a:xfrm flipH="1">
              <a:off x="3419648" y="2664000"/>
              <a:ext cx="18000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</p:spPr>
        </p:cxnSp>
        <p:cxnSp>
          <p:nvCxnSpPr>
            <p:cNvPr id="287" name="直接箭头连接符 286">
              <a:extLst>
                <a:ext uri="{FF2B5EF4-FFF2-40B4-BE49-F238E27FC236}">
                  <a16:creationId xmlns:a16="http://schemas.microsoft.com/office/drawing/2014/main" id="{0F28FD43-388F-4A44-9760-FF2BD4258610}"/>
                </a:ext>
              </a:extLst>
            </p:cNvPr>
            <p:cNvCxnSpPr/>
            <p:nvPr/>
          </p:nvCxnSpPr>
          <p:spPr bwMode="auto">
            <a:xfrm flipH="1">
              <a:off x="3419648" y="2772000"/>
              <a:ext cx="18000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</p:spPr>
        </p:cxnSp>
        <p:cxnSp>
          <p:nvCxnSpPr>
            <p:cNvPr id="288" name="直接箭头连接符 287">
              <a:extLst>
                <a:ext uri="{FF2B5EF4-FFF2-40B4-BE49-F238E27FC236}">
                  <a16:creationId xmlns:a16="http://schemas.microsoft.com/office/drawing/2014/main" id="{6B9B30B7-222D-44FF-9939-4E8E5F6F19D6}"/>
                </a:ext>
              </a:extLst>
            </p:cNvPr>
            <p:cNvCxnSpPr/>
            <p:nvPr/>
          </p:nvCxnSpPr>
          <p:spPr bwMode="auto">
            <a:xfrm flipH="1">
              <a:off x="3419648" y="2880000"/>
              <a:ext cx="18000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</p:spPr>
        </p:cxnSp>
        <p:sp>
          <p:nvSpPr>
            <p:cNvPr id="289" name="Text Box 380">
              <a:extLst>
                <a:ext uri="{FF2B5EF4-FFF2-40B4-BE49-F238E27FC236}">
                  <a16:creationId xmlns:a16="http://schemas.microsoft.com/office/drawing/2014/main" id="{930D3F3F-95E0-4967-ADD0-DCC6DF4BD0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56000" y="2124000"/>
              <a:ext cx="900000" cy="216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行译码器</a:t>
              </a:r>
            </a:p>
          </p:txBody>
        </p:sp>
        <p:cxnSp>
          <p:nvCxnSpPr>
            <p:cNvPr id="290" name="直接箭头连接符 289">
              <a:extLst>
                <a:ext uri="{FF2B5EF4-FFF2-40B4-BE49-F238E27FC236}">
                  <a16:creationId xmlns:a16="http://schemas.microsoft.com/office/drawing/2014/main" id="{4E2FE08A-444D-4800-92C2-CC5F6777380A}"/>
                </a:ext>
              </a:extLst>
            </p:cNvPr>
            <p:cNvCxnSpPr/>
            <p:nvPr/>
          </p:nvCxnSpPr>
          <p:spPr bwMode="auto">
            <a:xfrm>
              <a:off x="2915896" y="1736487"/>
              <a:ext cx="0" cy="396000"/>
            </a:xfrm>
            <a:prstGeom prst="straightConnector1">
              <a:avLst/>
            </a:prstGeom>
            <a:noFill/>
            <a:ln w="15875" cap="flat" cmpd="sng" algn="ctr">
              <a:solidFill>
                <a:srgbClr val="C00000"/>
              </a:solidFill>
              <a:prstDash val="solid"/>
              <a:round/>
              <a:headEnd type="oval" w="sm" len="sm"/>
              <a:tailEnd type="triangle"/>
            </a:ln>
          </p:spPr>
        </p:cxnSp>
        <p:cxnSp>
          <p:nvCxnSpPr>
            <p:cNvPr id="291" name="直接箭头连接符 290">
              <a:extLst>
                <a:ext uri="{FF2B5EF4-FFF2-40B4-BE49-F238E27FC236}">
                  <a16:creationId xmlns:a16="http://schemas.microsoft.com/office/drawing/2014/main" id="{4E9292CD-700C-44CD-91CD-A1AABC0DD0B9}"/>
                </a:ext>
              </a:extLst>
            </p:cNvPr>
            <p:cNvCxnSpPr/>
            <p:nvPr/>
          </p:nvCxnSpPr>
          <p:spPr bwMode="auto">
            <a:xfrm>
              <a:off x="3023632" y="1800000"/>
              <a:ext cx="0" cy="324000"/>
            </a:xfrm>
            <a:prstGeom prst="straightConnector1">
              <a:avLst/>
            </a:prstGeom>
            <a:noFill/>
            <a:ln w="15875" cap="flat" cmpd="sng" algn="ctr">
              <a:solidFill>
                <a:srgbClr val="C00000"/>
              </a:solidFill>
              <a:prstDash val="solid"/>
              <a:round/>
              <a:headEnd type="oval" w="sm" len="sm"/>
              <a:tailEnd type="triangle"/>
            </a:ln>
          </p:spPr>
        </p:cxnSp>
        <p:cxnSp>
          <p:nvCxnSpPr>
            <p:cNvPr id="292" name="直接箭头连接符 291">
              <a:extLst>
                <a:ext uri="{FF2B5EF4-FFF2-40B4-BE49-F238E27FC236}">
                  <a16:creationId xmlns:a16="http://schemas.microsoft.com/office/drawing/2014/main" id="{7EAA3913-D66E-41B0-88C9-38A044DFD46B}"/>
                </a:ext>
              </a:extLst>
            </p:cNvPr>
            <p:cNvCxnSpPr/>
            <p:nvPr/>
          </p:nvCxnSpPr>
          <p:spPr bwMode="auto">
            <a:xfrm>
              <a:off x="2628000" y="2340000"/>
              <a:ext cx="0" cy="140841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</p:spPr>
        </p:cxnSp>
        <p:cxnSp>
          <p:nvCxnSpPr>
            <p:cNvPr id="293" name="直接箭头连接符 292">
              <a:extLst>
                <a:ext uri="{FF2B5EF4-FFF2-40B4-BE49-F238E27FC236}">
                  <a16:creationId xmlns:a16="http://schemas.microsoft.com/office/drawing/2014/main" id="{D1FA6474-FCBC-4866-8FDA-DDE47057DF4E}"/>
                </a:ext>
              </a:extLst>
            </p:cNvPr>
            <p:cNvCxnSpPr/>
            <p:nvPr/>
          </p:nvCxnSpPr>
          <p:spPr bwMode="auto">
            <a:xfrm>
              <a:off x="2843888" y="2340000"/>
              <a:ext cx="0" cy="144016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</p:spPr>
        </p:cxnSp>
        <p:cxnSp>
          <p:nvCxnSpPr>
            <p:cNvPr id="294" name="直接箭头连接符 293">
              <a:extLst>
                <a:ext uri="{FF2B5EF4-FFF2-40B4-BE49-F238E27FC236}">
                  <a16:creationId xmlns:a16="http://schemas.microsoft.com/office/drawing/2014/main" id="{1AA37A10-C04E-4709-AFFC-530BFD22A2AE}"/>
                </a:ext>
              </a:extLst>
            </p:cNvPr>
            <p:cNvCxnSpPr/>
            <p:nvPr/>
          </p:nvCxnSpPr>
          <p:spPr bwMode="auto">
            <a:xfrm>
              <a:off x="3059912" y="2340000"/>
              <a:ext cx="0" cy="144016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</p:spPr>
        </p:cxnSp>
        <p:cxnSp>
          <p:nvCxnSpPr>
            <p:cNvPr id="295" name="直接箭头连接符 294">
              <a:extLst>
                <a:ext uri="{FF2B5EF4-FFF2-40B4-BE49-F238E27FC236}">
                  <a16:creationId xmlns:a16="http://schemas.microsoft.com/office/drawing/2014/main" id="{EA570698-C648-40BE-8976-B492E51C8834}"/>
                </a:ext>
              </a:extLst>
            </p:cNvPr>
            <p:cNvCxnSpPr/>
            <p:nvPr/>
          </p:nvCxnSpPr>
          <p:spPr bwMode="auto">
            <a:xfrm>
              <a:off x="3275936" y="2340000"/>
              <a:ext cx="0" cy="144016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</p:spPr>
        </p:cxnSp>
        <p:cxnSp>
          <p:nvCxnSpPr>
            <p:cNvPr id="296" name="直接箭头连接符 295">
              <a:extLst>
                <a:ext uri="{FF2B5EF4-FFF2-40B4-BE49-F238E27FC236}">
                  <a16:creationId xmlns:a16="http://schemas.microsoft.com/office/drawing/2014/main" id="{530FAA0C-B4CF-48B5-BF36-22F95D67E3FD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915648" y="2988000"/>
              <a:ext cx="0" cy="21600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</p:spPr>
        </p:cxnSp>
        <p:sp>
          <p:nvSpPr>
            <p:cNvPr id="297" name="Text Box 178">
              <a:extLst>
                <a:ext uri="{FF2B5EF4-FFF2-40B4-BE49-F238E27FC236}">
                  <a16:creationId xmlns:a16="http://schemas.microsoft.com/office/drawing/2014/main" id="{A66C1DDE-317A-415C-9C84-2912348282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52000" y="2988000"/>
              <a:ext cx="468000" cy="21600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>
                  <a:latin typeface="+mn-ea"/>
                  <a:ea typeface="+mn-ea"/>
                </a:rPr>
                <a:t>置位</a:t>
              </a:r>
            </a:p>
          </p:txBody>
        </p:sp>
      </p:grpSp>
      <p:grpSp>
        <p:nvGrpSpPr>
          <p:cNvPr id="304" name="组合 303">
            <a:extLst>
              <a:ext uri="{FF2B5EF4-FFF2-40B4-BE49-F238E27FC236}">
                <a16:creationId xmlns:a16="http://schemas.microsoft.com/office/drawing/2014/main" id="{572C2B41-1A8F-4F1F-9EB2-5B34DFCE1846}"/>
              </a:ext>
            </a:extLst>
          </p:cNvPr>
          <p:cNvGrpSpPr/>
          <p:nvPr/>
        </p:nvGrpSpPr>
        <p:grpSpPr>
          <a:xfrm>
            <a:off x="4644008" y="4005064"/>
            <a:ext cx="3239024" cy="288000"/>
            <a:chOff x="3348000" y="6084000"/>
            <a:chExt cx="3239024" cy="288000"/>
          </a:xfrm>
        </p:grpSpPr>
        <p:sp>
          <p:nvSpPr>
            <p:cNvPr id="305" name="Text Box 61">
              <a:extLst>
                <a:ext uri="{FF2B5EF4-FFF2-40B4-BE49-F238E27FC236}">
                  <a16:creationId xmlns:a16="http://schemas.microsoft.com/office/drawing/2014/main" id="{DC8849F8-93F2-4657-8771-D16AAF7C22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84000" y="6084000"/>
              <a:ext cx="180000" cy="18002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0" bIns="0" anchor="ctr" anchorCtr="0"/>
            <a:lstStyle/>
            <a:p>
              <a:pPr>
                <a:lnSpc>
                  <a:spcPct val="80000"/>
                </a:lnSpc>
              </a:pPr>
              <a:r>
                <a:rPr lang="en-US" altLang="zh-CN" sz="1400" b="1" dirty="0">
                  <a:latin typeface="+mn-ea"/>
                  <a:ea typeface="+mn-ea"/>
                </a:rPr>
                <a:t>1</a:t>
              </a:r>
            </a:p>
          </p:txBody>
        </p:sp>
        <p:sp>
          <p:nvSpPr>
            <p:cNvPr id="306" name="Text Box 19">
              <a:extLst>
                <a:ext uri="{FF2B5EF4-FFF2-40B4-BE49-F238E27FC236}">
                  <a16:creationId xmlns:a16="http://schemas.microsoft.com/office/drawing/2014/main" id="{58920DBA-C040-432A-B866-31AA73E5FD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36000" y="6156000"/>
              <a:ext cx="684000" cy="215982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/>
                <a:t>同步头</a:t>
              </a:r>
            </a:p>
          </p:txBody>
        </p:sp>
        <p:sp>
          <p:nvSpPr>
            <p:cNvPr id="307" name="Text Box 19">
              <a:extLst>
                <a:ext uri="{FF2B5EF4-FFF2-40B4-BE49-F238E27FC236}">
                  <a16:creationId xmlns:a16="http://schemas.microsoft.com/office/drawing/2014/main" id="{B76DB1CE-F0AB-491D-9B06-035173B91D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0000" y="6156000"/>
              <a:ext cx="684000" cy="215982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/>
                <a:t>帧类型</a:t>
              </a:r>
            </a:p>
          </p:txBody>
        </p:sp>
        <p:sp>
          <p:nvSpPr>
            <p:cNvPr id="308" name="Text Box 19">
              <a:extLst>
                <a:ext uri="{FF2B5EF4-FFF2-40B4-BE49-F238E27FC236}">
                  <a16:creationId xmlns:a16="http://schemas.microsoft.com/office/drawing/2014/main" id="{0F8009B3-2C9E-468B-A889-AA4A0D2CCC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04000" y="6156018"/>
              <a:ext cx="720000" cy="215982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/>
                <a:t>数据域</a:t>
              </a:r>
            </a:p>
          </p:txBody>
        </p:sp>
        <p:sp>
          <p:nvSpPr>
            <p:cNvPr id="309" name="Text Box 19">
              <a:extLst>
                <a:ext uri="{FF2B5EF4-FFF2-40B4-BE49-F238E27FC236}">
                  <a16:creationId xmlns:a16="http://schemas.microsoft.com/office/drawing/2014/main" id="{733B2D16-AAAC-4D81-956D-5A179EC311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23024" y="6156018"/>
              <a:ext cx="684000" cy="215982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/>
                <a:t>同步尾</a:t>
              </a:r>
            </a:p>
          </p:txBody>
        </p:sp>
        <p:cxnSp>
          <p:nvCxnSpPr>
            <p:cNvPr id="310" name="直接连接符 309">
              <a:extLst>
                <a:ext uri="{FF2B5EF4-FFF2-40B4-BE49-F238E27FC236}">
                  <a16:creationId xmlns:a16="http://schemas.microsoft.com/office/drawing/2014/main" id="{73CE49B4-7214-494E-B0B0-13138A939C66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3348000" y="6264000"/>
              <a:ext cx="28800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11" name="直接连接符 310">
              <a:extLst>
                <a:ext uri="{FF2B5EF4-FFF2-40B4-BE49-F238E27FC236}">
                  <a16:creationId xmlns:a16="http://schemas.microsoft.com/office/drawing/2014/main" id="{D2AEB136-CE88-437E-9C6D-729AE7009965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6407024" y="6264000"/>
              <a:ext cx="18000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12" name="直接连接符 311">
              <a:extLst>
                <a:ext uri="{FF2B5EF4-FFF2-40B4-BE49-F238E27FC236}">
                  <a16:creationId xmlns:a16="http://schemas.microsoft.com/office/drawing/2014/main" id="{0991732A-8A9B-45B7-92E2-766C3C139FAE}"/>
                </a:ext>
              </a:extLst>
            </p:cNvPr>
            <p:cNvCxnSpPr/>
            <p:nvPr/>
          </p:nvCxnSpPr>
          <p:spPr bwMode="auto">
            <a:xfrm>
              <a:off x="3384000" y="6210000"/>
              <a:ext cx="108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</p:grpSp>
      <p:grpSp>
        <p:nvGrpSpPr>
          <p:cNvPr id="131" name="组合 130">
            <a:extLst>
              <a:ext uri="{FF2B5EF4-FFF2-40B4-BE49-F238E27FC236}">
                <a16:creationId xmlns:a16="http://schemas.microsoft.com/office/drawing/2014/main" id="{034713A8-8DD6-43D8-8D9D-2B01DD3B251C}"/>
              </a:ext>
            </a:extLst>
          </p:cNvPr>
          <p:cNvGrpSpPr/>
          <p:nvPr/>
        </p:nvGrpSpPr>
        <p:grpSpPr>
          <a:xfrm>
            <a:off x="1691680" y="5517232"/>
            <a:ext cx="6984000" cy="936104"/>
            <a:chOff x="1691680" y="5517232"/>
            <a:chExt cx="6984000" cy="936104"/>
          </a:xfrm>
        </p:grpSpPr>
        <p:sp>
          <p:nvSpPr>
            <p:cNvPr id="132" name="Text Box 17">
              <a:extLst>
                <a:ext uri="{FF2B5EF4-FFF2-40B4-BE49-F238E27FC236}">
                  <a16:creationId xmlns:a16="http://schemas.microsoft.com/office/drawing/2014/main" id="{2C5746CE-0188-40A0-BF15-3057F24E067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91680" y="5769336"/>
              <a:ext cx="576064" cy="252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l">
                <a:lnSpc>
                  <a:spcPct val="90000"/>
                </a:lnSpc>
              </a:pPr>
              <a:r>
                <a:rPr lang="zh-CN" altLang="en-US" sz="1800" b="1" dirty="0">
                  <a:latin typeface="+mn-ea"/>
                  <a:ea typeface="+mn-ea"/>
                </a:rPr>
                <a:t>接口</a:t>
              </a:r>
              <a:endParaRPr lang="en-US" altLang="zh-CN" sz="1800" b="1" dirty="0">
                <a:latin typeface="+mn-ea"/>
                <a:ea typeface="+mn-ea"/>
              </a:endParaRPr>
            </a:p>
          </p:txBody>
        </p:sp>
        <p:sp>
          <p:nvSpPr>
            <p:cNvPr id="133" name="Text Box 17">
              <a:extLst>
                <a:ext uri="{FF2B5EF4-FFF2-40B4-BE49-F238E27FC236}">
                  <a16:creationId xmlns:a16="http://schemas.microsoft.com/office/drawing/2014/main" id="{5E8EE104-07E7-4D30-90D6-F8D10FA88E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91680" y="6201336"/>
              <a:ext cx="576000" cy="252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l">
                <a:lnSpc>
                  <a:spcPct val="90000"/>
                </a:lnSpc>
              </a:pPr>
              <a:r>
                <a:rPr lang="zh-CN" altLang="en-US" sz="1800" b="1" dirty="0">
                  <a:latin typeface="+mn-ea"/>
                  <a:ea typeface="+mn-ea"/>
                </a:rPr>
                <a:t>键盘</a:t>
              </a:r>
              <a:endParaRPr lang="en-US" altLang="zh-CN" sz="1800" b="1" dirty="0">
                <a:latin typeface="+mn-ea"/>
                <a:ea typeface="+mn-ea"/>
              </a:endParaRPr>
            </a:p>
          </p:txBody>
        </p:sp>
        <p:sp>
          <p:nvSpPr>
            <p:cNvPr id="134" name="Text Box 15">
              <a:extLst>
                <a:ext uri="{FF2B5EF4-FFF2-40B4-BE49-F238E27FC236}">
                  <a16:creationId xmlns:a16="http://schemas.microsoft.com/office/drawing/2014/main" id="{26518FDD-18EC-4D91-81FE-5C1A56B3B52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67776" y="5769336"/>
              <a:ext cx="720000" cy="252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启动帧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135" name="直接箭头连接符 134">
              <a:extLst>
                <a:ext uri="{FF2B5EF4-FFF2-40B4-BE49-F238E27FC236}">
                  <a16:creationId xmlns:a16="http://schemas.microsoft.com/office/drawing/2014/main" id="{4052F072-22F7-465D-A68F-5BF575490EDC}"/>
                </a:ext>
              </a:extLst>
            </p:cNvPr>
            <p:cNvCxnSpPr/>
            <p:nvPr/>
          </p:nvCxnSpPr>
          <p:spPr bwMode="auto">
            <a:xfrm>
              <a:off x="2556144" y="6021336"/>
              <a:ext cx="1" cy="180000"/>
            </a:xfrm>
            <a:prstGeom prst="straightConnector1">
              <a:avLst/>
            </a:prstGeom>
            <a:noFill/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arrow" w="med" len="sm"/>
            </a:ln>
          </p:spPr>
        </p:cxnSp>
        <p:sp>
          <p:nvSpPr>
            <p:cNvPr id="144" name="Text Box 15">
              <a:extLst>
                <a:ext uri="{FF2B5EF4-FFF2-40B4-BE49-F238E27FC236}">
                  <a16:creationId xmlns:a16="http://schemas.microsoft.com/office/drawing/2014/main" id="{5464AEB5-8EA2-46CD-B138-3C53C229A9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47680" y="6201336"/>
              <a:ext cx="1152000" cy="252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T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复位</a:t>
              </a:r>
              <a:endParaRPr lang="en-US" altLang="zh-CN" sz="14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145" name="直接箭头连接符 144">
              <a:extLst>
                <a:ext uri="{FF2B5EF4-FFF2-40B4-BE49-F238E27FC236}">
                  <a16:creationId xmlns:a16="http://schemas.microsoft.com/office/drawing/2014/main" id="{A9E4DC58-DF8B-4E47-8103-59971B8CC36D}"/>
                </a:ext>
              </a:extLst>
            </p:cNvPr>
            <p:cNvCxnSpPr/>
            <p:nvPr/>
          </p:nvCxnSpPr>
          <p:spPr bwMode="auto">
            <a:xfrm flipV="1">
              <a:off x="7235680" y="6021336"/>
              <a:ext cx="0" cy="180000"/>
            </a:xfrm>
            <a:prstGeom prst="straightConnector1">
              <a:avLst/>
            </a:prstGeom>
            <a:noFill/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arrow" w="med" len="sm"/>
            </a:ln>
          </p:spPr>
        </p:cxnSp>
        <p:sp>
          <p:nvSpPr>
            <p:cNvPr id="146" name="Text Box 15">
              <a:extLst>
                <a:ext uri="{FF2B5EF4-FFF2-40B4-BE49-F238E27FC236}">
                  <a16:creationId xmlns:a16="http://schemas.microsoft.com/office/drawing/2014/main" id="{04BD159C-5BE1-4C04-85B9-1748FA964E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11680" y="6201336"/>
              <a:ext cx="1368000" cy="25200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传数据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&amp;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复位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T</a:t>
              </a:r>
              <a:endParaRPr lang="en-US" altLang="zh-CN" sz="1400" b="1" dirty="0">
                <a:latin typeface="宋体" panose="02010600030101010101" pitchFamily="2" charset="-122"/>
              </a:endParaRPr>
            </a:p>
          </p:txBody>
        </p:sp>
        <p:sp>
          <p:nvSpPr>
            <p:cNvPr id="147" name="Text Box 15">
              <a:extLst>
                <a:ext uri="{FF2B5EF4-FFF2-40B4-BE49-F238E27FC236}">
                  <a16:creationId xmlns:a16="http://schemas.microsoft.com/office/drawing/2014/main" id="{994B43AB-C8CD-4FA4-A3E2-1A6C549D967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39680" y="5769336"/>
              <a:ext cx="684000" cy="252000"/>
            </a:xfrm>
            <a:prstGeom prst="rect">
              <a:avLst/>
            </a:prstGeom>
            <a:solidFill>
              <a:srgbClr val="CC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数据帧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148" name="直接箭头连接符 147">
              <a:extLst>
                <a:ext uri="{FF2B5EF4-FFF2-40B4-BE49-F238E27FC236}">
                  <a16:creationId xmlns:a16="http://schemas.microsoft.com/office/drawing/2014/main" id="{7DDBFEE5-BAD6-4A25-94B2-A7B9822E4B3B}"/>
                </a:ext>
              </a:extLst>
            </p:cNvPr>
            <p:cNvCxnSpPr/>
            <p:nvPr/>
          </p:nvCxnSpPr>
          <p:spPr bwMode="auto">
            <a:xfrm>
              <a:off x="5219680" y="6345336"/>
              <a:ext cx="79200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</p:spPr>
        </p:cxnSp>
        <p:sp>
          <p:nvSpPr>
            <p:cNvPr id="151" name="Text Box 17">
              <a:extLst>
                <a:ext uri="{FF2B5EF4-FFF2-40B4-BE49-F238E27FC236}">
                  <a16:creationId xmlns:a16="http://schemas.microsoft.com/office/drawing/2014/main" id="{152973A4-84FB-4E66-8250-00FEC212E1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55680" y="6093336"/>
              <a:ext cx="684000" cy="252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t" anchorCtr="0"/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>
                  <a:solidFill>
                    <a:srgbClr val="990099"/>
                  </a:solidFill>
                  <a:latin typeface="+mn-ea"/>
                  <a:ea typeface="+mn-ea"/>
                </a:rPr>
                <a:t>有按键</a:t>
              </a:r>
              <a:endParaRPr lang="en-US" altLang="zh-CN" sz="1600" b="1" dirty="0">
                <a:solidFill>
                  <a:srgbClr val="990099"/>
                </a:solidFill>
                <a:latin typeface="+mn-ea"/>
                <a:ea typeface="+mn-ea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latin typeface="+mn-ea"/>
                  <a:ea typeface="+mn-ea"/>
                </a:rPr>
                <a:t>(T=1)</a:t>
              </a:r>
            </a:p>
          </p:txBody>
        </p:sp>
        <p:sp>
          <p:nvSpPr>
            <p:cNvPr id="152" name="Text Box 15">
              <a:extLst>
                <a:ext uri="{FF2B5EF4-FFF2-40B4-BE49-F238E27FC236}">
                  <a16:creationId xmlns:a16="http://schemas.microsoft.com/office/drawing/2014/main" id="{39960F92-5FA9-47BA-A349-8DAF9220CC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47680" y="5771008"/>
              <a:ext cx="720000" cy="25200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传送帧</a:t>
              </a:r>
              <a:endParaRPr lang="en-US" altLang="zh-CN" sz="14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153" name="直接箭头连接符 152">
              <a:extLst>
                <a:ext uri="{FF2B5EF4-FFF2-40B4-BE49-F238E27FC236}">
                  <a16:creationId xmlns:a16="http://schemas.microsoft.com/office/drawing/2014/main" id="{EC1548C1-76C6-4B8E-AD3F-716D89C1F75F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6335680" y="6023008"/>
              <a:ext cx="184" cy="180000"/>
            </a:xfrm>
            <a:prstGeom prst="straightConnector1">
              <a:avLst/>
            </a:prstGeom>
            <a:noFill/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arrow" w="med" len="sm"/>
            </a:ln>
          </p:spPr>
        </p:cxnSp>
        <p:cxnSp>
          <p:nvCxnSpPr>
            <p:cNvPr id="158" name="直接箭头连接符 157">
              <a:extLst>
                <a:ext uri="{FF2B5EF4-FFF2-40B4-BE49-F238E27FC236}">
                  <a16:creationId xmlns:a16="http://schemas.microsoft.com/office/drawing/2014/main" id="{40CD909F-2E75-476D-9F4C-62EFC06610DC}"/>
                </a:ext>
              </a:extLst>
            </p:cNvPr>
            <p:cNvCxnSpPr/>
            <p:nvPr/>
          </p:nvCxnSpPr>
          <p:spPr bwMode="auto">
            <a:xfrm flipV="1">
              <a:off x="3491680" y="6021336"/>
              <a:ext cx="0" cy="180000"/>
            </a:xfrm>
            <a:prstGeom prst="straightConnector1">
              <a:avLst/>
            </a:prstGeom>
            <a:noFill/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arrow" w="med" len="sm"/>
            </a:ln>
          </p:spPr>
        </p:cxnSp>
        <p:sp>
          <p:nvSpPr>
            <p:cNvPr id="159" name="Text Box 15">
              <a:extLst>
                <a:ext uri="{FF2B5EF4-FFF2-40B4-BE49-F238E27FC236}">
                  <a16:creationId xmlns:a16="http://schemas.microsoft.com/office/drawing/2014/main" id="{27259AD8-EC35-41C6-98D5-D6A49FEDD2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59680" y="5769336"/>
              <a:ext cx="720000" cy="252000"/>
            </a:xfrm>
            <a:prstGeom prst="rect">
              <a:avLst/>
            </a:prstGeom>
            <a:solidFill>
              <a:srgbClr val="CC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应答帧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60" name="Text Box 15">
              <a:extLst>
                <a:ext uri="{FF2B5EF4-FFF2-40B4-BE49-F238E27FC236}">
                  <a16:creationId xmlns:a16="http://schemas.microsoft.com/office/drawing/2014/main" id="{5A3E7BAE-45A3-4949-ACCC-F4A220D865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43680" y="5769336"/>
              <a:ext cx="324000" cy="252000"/>
            </a:xfrm>
            <a:prstGeom prst="rect">
              <a:avLst/>
            </a:prstGeom>
            <a:noFill/>
            <a:ln w="15875">
              <a:noFill/>
              <a:prstDash val="solid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…</a:t>
              </a:r>
              <a:endParaRPr lang="en-US" altLang="zh-CN" sz="1400" b="1" dirty="0">
                <a:latin typeface="宋体" panose="02010600030101010101" pitchFamily="2" charset="-122"/>
              </a:endParaRPr>
            </a:p>
          </p:txBody>
        </p:sp>
        <p:sp>
          <p:nvSpPr>
            <p:cNvPr id="161" name="Text Box 15">
              <a:extLst>
                <a:ext uri="{FF2B5EF4-FFF2-40B4-BE49-F238E27FC236}">
                  <a16:creationId xmlns:a16="http://schemas.microsoft.com/office/drawing/2014/main" id="{07B5E96E-4AB8-4149-BF6E-F43E45FADA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67680" y="5769336"/>
              <a:ext cx="720000" cy="25200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查询帧</a:t>
              </a:r>
              <a:endParaRPr lang="en-US" altLang="zh-CN" sz="14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162" name="直接箭头连接符 161">
              <a:extLst>
                <a:ext uri="{FF2B5EF4-FFF2-40B4-BE49-F238E27FC236}">
                  <a16:creationId xmlns:a16="http://schemas.microsoft.com/office/drawing/2014/main" id="{DE672942-40B4-4060-8F11-DC46EA38E791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991680" y="6021336"/>
              <a:ext cx="184" cy="180000"/>
            </a:xfrm>
            <a:prstGeom prst="straightConnector1">
              <a:avLst/>
            </a:prstGeom>
            <a:noFill/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arrow" w="med" len="sm"/>
            </a:ln>
          </p:spPr>
        </p:cxnSp>
        <p:sp>
          <p:nvSpPr>
            <p:cNvPr id="163" name="Text Box 15">
              <a:extLst>
                <a:ext uri="{FF2B5EF4-FFF2-40B4-BE49-F238E27FC236}">
                  <a16:creationId xmlns:a16="http://schemas.microsoft.com/office/drawing/2014/main" id="{66A23448-5608-4DEA-96F0-8C8E25D21C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83680" y="6201336"/>
              <a:ext cx="792000" cy="252000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检测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164" name="直接箭头连接符 163">
              <a:extLst>
                <a:ext uri="{FF2B5EF4-FFF2-40B4-BE49-F238E27FC236}">
                  <a16:creationId xmlns:a16="http://schemas.microsoft.com/office/drawing/2014/main" id="{88B701B7-E3F6-429D-BF1A-8D9EFC0B9890}"/>
                </a:ext>
              </a:extLst>
            </p:cNvPr>
            <p:cNvCxnSpPr/>
            <p:nvPr/>
          </p:nvCxnSpPr>
          <p:spPr bwMode="auto">
            <a:xfrm flipV="1">
              <a:off x="8567680" y="6021336"/>
              <a:ext cx="0" cy="180000"/>
            </a:xfrm>
            <a:prstGeom prst="straightConnector1">
              <a:avLst/>
            </a:prstGeom>
            <a:noFill/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arrow" w="med" len="sm"/>
            </a:ln>
          </p:spPr>
        </p:cxnSp>
        <p:sp>
          <p:nvSpPr>
            <p:cNvPr id="165" name="Text Box 15">
              <a:extLst>
                <a:ext uri="{FF2B5EF4-FFF2-40B4-BE49-F238E27FC236}">
                  <a16:creationId xmlns:a16="http://schemas.microsoft.com/office/drawing/2014/main" id="{D46A5E75-13E1-4C72-9774-0FA8C6E346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23776" y="5769336"/>
              <a:ext cx="720000" cy="25200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查询帧</a:t>
              </a:r>
              <a:endParaRPr lang="en-US" altLang="zh-CN" sz="14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166" name="直接箭头连接符 165">
              <a:extLst>
                <a:ext uri="{FF2B5EF4-FFF2-40B4-BE49-F238E27FC236}">
                  <a16:creationId xmlns:a16="http://schemas.microsoft.com/office/drawing/2014/main" id="{3CA82E41-A0CE-4926-BD33-EB68D4DF7811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211776" y="6021336"/>
              <a:ext cx="184" cy="180000"/>
            </a:xfrm>
            <a:prstGeom prst="straightConnector1">
              <a:avLst/>
            </a:prstGeom>
            <a:noFill/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arrow" w="med" len="sm"/>
            </a:ln>
          </p:spPr>
        </p:cxnSp>
        <p:sp>
          <p:nvSpPr>
            <p:cNvPr id="167" name="Text Box 15">
              <a:extLst>
                <a:ext uri="{FF2B5EF4-FFF2-40B4-BE49-F238E27FC236}">
                  <a16:creationId xmlns:a16="http://schemas.microsoft.com/office/drawing/2014/main" id="{077D760D-A23E-4C85-8FE6-2814B11EA6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03776" y="6201336"/>
              <a:ext cx="1116000" cy="252000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检测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168" name="直接箭头连接符 167">
              <a:extLst>
                <a:ext uri="{FF2B5EF4-FFF2-40B4-BE49-F238E27FC236}">
                  <a16:creationId xmlns:a16="http://schemas.microsoft.com/office/drawing/2014/main" id="{7D78119E-B326-4DC0-9381-0BC615FEFEAB}"/>
                </a:ext>
              </a:extLst>
            </p:cNvPr>
            <p:cNvCxnSpPr/>
            <p:nvPr/>
          </p:nvCxnSpPr>
          <p:spPr bwMode="auto">
            <a:xfrm flipV="1">
              <a:off x="5111680" y="6030624"/>
              <a:ext cx="0" cy="180000"/>
            </a:xfrm>
            <a:prstGeom prst="straightConnector1">
              <a:avLst/>
            </a:prstGeom>
            <a:noFill/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arrow" w="med" len="sm"/>
            </a:ln>
          </p:spPr>
        </p:cxnSp>
        <p:sp>
          <p:nvSpPr>
            <p:cNvPr id="169" name="Text Box 15">
              <a:extLst>
                <a:ext uri="{FF2B5EF4-FFF2-40B4-BE49-F238E27FC236}">
                  <a16:creationId xmlns:a16="http://schemas.microsoft.com/office/drawing/2014/main" id="{2D50EA44-3F78-4219-AEDB-B8E00F3385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15680" y="5769336"/>
              <a:ext cx="720000" cy="252000"/>
            </a:xfrm>
            <a:prstGeom prst="rect">
              <a:avLst/>
            </a:prstGeom>
            <a:solidFill>
              <a:srgbClr val="CC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状态帧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70" name="Text Box 15">
              <a:extLst>
                <a:ext uri="{FF2B5EF4-FFF2-40B4-BE49-F238E27FC236}">
                  <a16:creationId xmlns:a16="http://schemas.microsoft.com/office/drawing/2014/main" id="{6046409E-545B-41AE-861A-151F20F030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80000" y="6201336"/>
              <a:ext cx="144000" cy="252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endParaRPr lang="en-US" altLang="zh-CN" sz="14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171" name="直接箭头连接符 170">
              <a:extLst>
                <a:ext uri="{FF2B5EF4-FFF2-40B4-BE49-F238E27FC236}">
                  <a16:creationId xmlns:a16="http://schemas.microsoft.com/office/drawing/2014/main" id="{25883631-6129-4C9F-BD4D-13AB40B10388}"/>
                </a:ext>
              </a:extLst>
            </p:cNvPr>
            <p:cNvCxnSpPr/>
            <p:nvPr/>
          </p:nvCxnSpPr>
          <p:spPr bwMode="auto">
            <a:xfrm>
              <a:off x="3599696" y="6345336"/>
              <a:ext cx="50400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</p:spPr>
        </p:cxnSp>
        <p:cxnSp>
          <p:nvCxnSpPr>
            <p:cNvPr id="172" name="直接箭头连接符 171">
              <a:extLst>
                <a:ext uri="{FF2B5EF4-FFF2-40B4-BE49-F238E27FC236}">
                  <a16:creationId xmlns:a16="http://schemas.microsoft.com/office/drawing/2014/main" id="{36CD7073-F6AD-4503-A3B5-A91E088BC5C9}"/>
                </a:ext>
              </a:extLst>
            </p:cNvPr>
            <p:cNvCxnSpPr/>
            <p:nvPr/>
          </p:nvCxnSpPr>
          <p:spPr bwMode="auto">
            <a:xfrm>
              <a:off x="7524000" y="6345336"/>
              <a:ext cx="36000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</p:spPr>
        </p:cxnSp>
        <p:sp>
          <p:nvSpPr>
            <p:cNvPr id="173" name="Text Box 17">
              <a:extLst>
                <a:ext uri="{FF2B5EF4-FFF2-40B4-BE49-F238E27FC236}">
                  <a16:creationId xmlns:a16="http://schemas.microsoft.com/office/drawing/2014/main" id="{92252FA1-B91E-448C-9A83-30D8FFB04C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91680" y="5517232"/>
              <a:ext cx="576064" cy="252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l">
                <a:lnSpc>
                  <a:spcPct val="90000"/>
                </a:lnSpc>
              </a:pPr>
              <a:r>
                <a:rPr lang="zh-CN" altLang="en-US" sz="1800" b="1" dirty="0">
                  <a:latin typeface="+mn-ea"/>
                  <a:ea typeface="+mn-ea"/>
                </a:rPr>
                <a:t>软件</a:t>
              </a:r>
              <a:endParaRPr lang="en-US" altLang="zh-CN" sz="1800" b="1" dirty="0">
                <a:latin typeface="+mn-ea"/>
                <a:ea typeface="+mn-ea"/>
              </a:endParaRPr>
            </a:p>
          </p:txBody>
        </p:sp>
        <p:cxnSp>
          <p:nvCxnSpPr>
            <p:cNvPr id="174" name="直接箭头连接符 173">
              <a:extLst>
                <a:ext uri="{FF2B5EF4-FFF2-40B4-BE49-F238E27FC236}">
                  <a16:creationId xmlns:a16="http://schemas.microsoft.com/office/drawing/2014/main" id="{DE997E80-6AC5-4A27-806C-7F1AC5EA3E52}"/>
                </a:ext>
              </a:extLst>
            </p:cNvPr>
            <p:cNvCxnSpPr/>
            <p:nvPr/>
          </p:nvCxnSpPr>
          <p:spPr bwMode="auto">
            <a:xfrm>
              <a:off x="2555776" y="5589240"/>
              <a:ext cx="1" cy="180000"/>
            </a:xfrm>
            <a:prstGeom prst="straightConnector1">
              <a:avLst/>
            </a:prstGeom>
            <a:noFill/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arrow" w="med" len="sm"/>
            </a:ln>
          </p:spPr>
        </p:cxnSp>
        <p:cxnSp>
          <p:nvCxnSpPr>
            <p:cNvPr id="175" name="直接箭头连接符 174">
              <a:extLst>
                <a:ext uri="{FF2B5EF4-FFF2-40B4-BE49-F238E27FC236}">
                  <a16:creationId xmlns:a16="http://schemas.microsoft.com/office/drawing/2014/main" id="{FF2E524A-733F-4FDB-9ECF-38DC69510B4E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7596336" y="5589240"/>
              <a:ext cx="0" cy="185288"/>
            </a:xfrm>
            <a:prstGeom prst="straightConnector1">
              <a:avLst/>
            </a:prstGeom>
            <a:noFill/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arrow" w="med" len="sm"/>
            </a:ln>
          </p:spPr>
        </p:cxnSp>
      </p:grpSp>
      <p:sp>
        <p:nvSpPr>
          <p:cNvPr id="102" name="Text Box 6">
            <a:extLst>
              <a:ext uri="{FF2B5EF4-FFF2-40B4-BE49-F238E27FC236}">
                <a16:creationId xmlns:a16="http://schemas.microsoft.com/office/drawing/2014/main" id="{58C1305E-71C3-4F22-9C50-E8672F2D8B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64937" y="325050"/>
            <a:ext cx="5127343" cy="45736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1800" b="1" dirty="0">
                <a:latin typeface="宋体" panose="02010600030101010101" pitchFamily="2" charset="-122"/>
              </a:rPr>
              <a:t>--</a:t>
            </a:r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</a:rPr>
              <a:t>条件传送</a:t>
            </a:r>
            <a:r>
              <a:rPr lang="zh-CN" altLang="en-US" sz="1800" b="1" dirty="0">
                <a:latin typeface="宋体" panose="02010600030101010101" pitchFamily="2" charset="-122"/>
              </a:rPr>
              <a:t>方式的</a:t>
            </a:r>
            <a:r>
              <a:rPr lang="zh-CN" altLang="en-US" sz="1800" b="1" u="sng" dirty="0">
                <a:highlight>
                  <a:srgbClr val="CCFFFF"/>
                </a:highlight>
                <a:latin typeface="宋体" panose="02010600030101010101" pitchFamily="2" charset="-122"/>
              </a:rPr>
              <a:t>字符</a:t>
            </a:r>
            <a:r>
              <a:rPr lang="zh-CN" altLang="en-US" sz="1800" b="1" dirty="0">
                <a:latin typeface="宋体" panose="02010600030101010101" pitchFamily="2" charset="-122"/>
              </a:rPr>
              <a:t>设备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solidFill>
                  <a:srgbClr val="990099"/>
                </a:solidFill>
                <a:highlight>
                  <a:srgbClr val="FFFF00"/>
                </a:highlight>
                <a:latin typeface="宋体" panose="02010600030101010101" pitchFamily="2" charset="-122"/>
              </a:rPr>
              <a:t>就绪时</a:t>
            </a:r>
            <a:r>
              <a:rPr lang="zh-CN" altLang="en-US" sz="1800" b="1" dirty="0">
                <a:latin typeface="宋体" panose="02010600030101010101" pitchFamily="2" charset="-122"/>
              </a:rPr>
              <a:t>传送数据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endParaRPr lang="en-US" altLang="zh-CN" sz="3200" b="1" dirty="0">
              <a:solidFill>
                <a:srgbClr val="C00000"/>
              </a:solidFill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6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 animBg="1"/>
      <p:bldP spid="102" grpId="0" bldLvl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BFB63-B979-4FAE-8763-D7093A979077}" type="slidenum">
              <a:rPr lang="en-US" altLang="zh-CN" smtClean="0"/>
              <a:t>18</a:t>
            </a:fld>
            <a:endParaRPr lang="en-US" altLang="zh-CN"/>
          </a:p>
        </p:txBody>
      </p:sp>
      <p:sp>
        <p:nvSpPr>
          <p:cNvPr id="339039" name="Text Box 95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79388" y="332656"/>
            <a:ext cx="8785225" cy="92121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tIns="46800" bIns="46800" anchor="t" anchorCtr="0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b="1" dirty="0">
                <a:solidFill>
                  <a:srgbClr val="FF3399"/>
                </a:solidFill>
                <a:latin typeface="+mn-ea"/>
                <a:ea typeface="+mn-ea"/>
              </a:rPr>
              <a:t>2</a:t>
            </a:r>
            <a:r>
              <a:rPr lang="zh-CN" altLang="en-US" b="1" dirty="0">
                <a:solidFill>
                  <a:srgbClr val="FF3399"/>
                </a:solidFill>
                <a:latin typeface="+mn-ea"/>
                <a:ea typeface="+mn-ea"/>
              </a:rPr>
              <a:t>、存储设备        </a:t>
            </a:r>
            <a:r>
              <a:rPr lang="en-US" altLang="zh-CN" sz="1800" b="1" dirty="0">
                <a:latin typeface="+mn-ea"/>
                <a:ea typeface="+mn-ea"/>
              </a:rPr>
              <a:t>(</a:t>
            </a:r>
            <a:r>
              <a:rPr lang="zh-CN" altLang="en-US" sz="1800" b="1" dirty="0">
                <a:latin typeface="+mn-ea"/>
                <a:ea typeface="+mn-ea"/>
              </a:rPr>
              <a:t>不考，了解</a:t>
            </a:r>
            <a:r>
              <a:rPr lang="zh-CN" altLang="en-US" sz="1800" b="1" u="sng" dirty="0">
                <a:highlight>
                  <a:srgbClr val="CCFFFF"/>
                </a:highlight>
                <a:latin typeface="+mn-ea"/>
                <a:ea typeface="+mn-ea"/>
              </a:rPr>
              <a:t>块</a:t>
            </a:r>
            <a:r>
              <a:rPr lang="zh-CN" altLang="en-US" sz="1800" b="1" u="sng" dirty="0">
                <a:latin typeface="+mn-ea"/>
                <a:ea typeface="+mn-ea"/>
              </a:rPr>
              <a:t>设备</a:t>
            </a:r>
            <a:r>
              <a:rPr lang="en-US" altLang="zh-CN" sz="1800" b="1" dirty="0">
                <a:latin typeface="+mn-ea"/>
                <a:ea typeface="+mn-ea"/>
              </a:rPr>
              <a:t>)</a:t>
            </a:r>
          </a:p>
          <a:p>
            <a:pPr algn="l">
              <a:lnSpc>
                <a:spcPct val="125000"/>
              </a:lnSpc>
            </a:pPr>
            <a:r>
              <a:rPr lang="zh-CN" altLang="en-US" sz="2200" b="1" dirty="0">
                <a:latin typeface="+mn-ea"/>
                <a:ea typeface="+mn-ea"/>
              </a:rPr>
              <a:t>   仅介绍磁盘</a:t>
            </a:r>
            <a:r>
              <a:rPr lang="en-US" altLang="zh-CN" sz="2200" b="1" dirty="0">
                <a:latin typeface="+mn-ea"/>
                <a:ea typeface="+mn-ea"/>
              </a:rPr>
              <a:t>MEM</a:t>
            </a:r>
            <a:r>
              <a:rPr lang="zh-CN" altLang="en-US" sz="2200" b="1" dirty="0">
                <a:latin typeface="+mn-ea"/>
                <a:ea typeface="+mn-ea"/>
              </a:rPr>
              <a:t>，其它设备</a:t>
            </a:r>
            <a:r>
              <a:rPr lang="en-US" altLang="zh-CN" sz="1800" b="1" dirty="0">
                <a:latin typeface="+mn-ea"/>
                <a:ea typeface="+mn-ea"/>
              </a:rPr>
              <a:t>(</a:t>
            </a:r>
            <a:r>
              <a:rPr lang="zh-CN" altLang="en-US" sz="1800" b="1" dirty="0">
                <a:latin typeface="+mn-ea"/>
                <a:ea typeface="+mn-ea"/>
              </a:rPr>
              <a:t>光盘等</a:t>
            </a:r>
            <a:r>
              <a:rPr lang="en-US" altLang="zh-CN" sz="1800" b="1" dirty="0">
                <a:latin typeface="+mn-ea"/>
                <a:ea typeface="+mn-ea"/>
              </a:rPr>
              <a:t>)</a:t>
            </a:r>
            <a:r>
              <a:rPr lang="zh-CN" altLang="en-US" sz="2200" b="1" dirty="0">
                <a:latin typeface="+mn-ea"/>
                <a:ea typeface="+mn-ea"/>
              </a:rPr>
              <a:t>自学</a:t>
            </a:r>
          </a:p>
        </p:txBody>
      </p:sp>
      <p:sp>
        <p:nvSpPr>
          <p:cNvPr id="236551" name="Text Box 7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79705" y="1196752"/>
            <a:ext cx="5504185" cy="494167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磁盘结构：  </a:t>
            </a:r>
            <a:r>
              <a:rPr lang="en-US" altLang="zh-CN" sz="1800" b="1" dirty="0">
                <a:latin typeface="宋体" panose="02010600030101010101" pitchFamily="2" charset="-122"/>
              </a:rPr>
              <a:t>--</a:t>
            </a:r>
            <a:r>
              <a:rPr lang="zh-CN" altLang="en-US" sz="1800" b="1" dirty="0">
                <a:latin typeface="宋体" panose="02010600030101010101" pitchFamily="2" charset="-122"/>
              </a:rPr>
              <a:t>块设备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传送</a:t>
            </a:r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</a:rPr>
              <a:t>多个</a:t>
            </a:r>
            <a:r>
              <a:rPr lang="zh-CN" altLang="en-US" sz="1800" b="1" dirty="0">
                <a:latin typeface="宋体" panose="02010600030101010101" pitchFamily="2" charset="-122"/>
              </a:rPr>
              <a:t>数据</a:t>
            </a:r>
            <a:r>
              <a:rPr lang="en-US" altLang="zh-CN" sz="1800" b="1" dirty="0">
                <a:latin typeface="宋体" panose="02010600030101010101" pitchFamily="2" charset="-122"/>
              </a:rPr>
              <a:t>/</a:t>
            </a:r>
            <a:r>
              <a:rPr lang="zh-CN" altLang="en-US" sz="1800" b="1" dirty="0">
                <a:latin typeface="宋体" panose="02010600030101010101" pitchFamily="2" charset="-122"/>
              </a:rPr>
              <a:t>次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300"/>
              </a:spcBef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磁盘</a:t>
            </a: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MEM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组成：</a:t>
            </a:r>
          </a:p>
          <a:p>
            <a:pPr algn="l">
              <a:lnSpc>
                <a:spcPct val="125000"/>
              </a:lnSpc>
            </a:pPr>
            <a:endParaRPr lang="zh-CN" altLang="en-US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zh-CN" altLang="en-US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zh-CN" altLang="en-US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sz="20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sz="16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磁盘接口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000" b="1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工作原理：</a:t>
            </a: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  <a:sym typeface="+mn-ea"/>
            </a:endParaRPr>
          </a:p>
        </p:txBody>
      </p:sp>
      <p:sp>
        <p:nvSpPr>
          <p:cNvPr id="339041" name="Text Box 97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755576" y="1628800"/>
            <a:ext cx="8280920" cy="132514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tIns="28800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sz="2200" b="1" dirty="0">
                <a:latin typeface="宋体" panose="02010600030101010101" pitchFamily="2" charset="-122"/>
              </a:rPr>
              <a:t>包含</a:t>
            </a:r>
            <a:r>
              <a:rPr lang="zh-CN" altLang="en-US" sz="2200" b="1" u="sng" dirty="0">
                <a:latin typeface="宋体" panose="02010600030101010101" pitchFamily="2" charset="-122"/>
              </a:rPr>
              <a:t>多个</a:t>
            </a:r>
            <a:r>
              <a:rPr lang="zh-CN" altLang="en-US" sz="2200" b="1" dirty="0">
                <a:latin typeface="宋体" panose="02010600030101010101" pitchFamily="2" charset="-122"/>
              </a:rPr>
              <a:t>磁道，</a:t>
            </a:r>
            <a:r>
              <a:rPr lang="zh-CN" altLang="en-US" sz="2200" b="1" u="sng" dirty="0">
                <a:latin typeface="宋体" panose="02010600030101010101" pitchFamily="2" charset="-122"/>
              </a:rPr>
              <a:t>多个</a:t>
            </a:r>
            <a:r>
              <a:rPr lang="zh-CN" altLang="en-US" sz="2200" b="1" dirty="0">
                <a:latin typeface="宋体" panose="02010600030101010101" pitchFamily="2" charset="-122"/>
              </a:rPr>
              <a:t>记录块</a:t>
            </a:r>
            <a:r>
              <a:rPr lang="en-US" altLang="zh-CN" sz="2200" b="1" dirty="0">
                <a:latin typeface="宋体" panose="02010600030101010101" pitchFamily="2" charset="-122"/>
              </a:rPr>
              <a:t>/</a:t>
            </a:r>
            <a:r>
              <a:rPr lang="zh-CN" altLang="en-US" sz="2200" b="1" dirty="0">
                <a:latin typeface="宋体" panose="02010600030101010101" pitchFamily="2" charset="-122"/>
              </a:rPr>
              <a:t>磁道；  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←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磁盘地址＝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&lt;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磁道号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,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记录块号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&gt;</a:t>
            </a: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寻址时</a:t>
            </a:r>
            <a:r>
              <a:rPr lang="zh-CN" altLang="en-US" sz="2200" b="1" dirty="0">
                <a:solidFill>
                  <a:schemeClr val="tx1"/>
                </a:solidFill>
                <a:highlight>
                  <a:srgbClr val="CCCCFF"/>
                </a:highlight>
                <a:latin typeface="宋体" panose="02010600030101010101" pitchFamily="2" charset="-122"/>
                <a:sym typeface="+mn-ea"/>
              </a:rPr>
              <a:t>先寻道</a:t>
            </a:r>
            <a:r>
              <a:rPr lang="zh-CN" altLang="en-US" sz="2200" b="1" dirty="0">
                <a:highlight>
                  <a:srgbClr val="CCCCFF"/>
                </a:highlight>
                <a:latin typeface="宋体" panose="02010600030101010101" pitchFamily="2" charset="-122"/>
                <a:sym typeface="+mn-ea"/>
              </a:rPr>
              <a:t>、</a:t>
            </a:r>
            <a:r>
              <a:rPr lang="zh-CN" altLang="en-US" sz="2200" b="1" dirty="0">
                <a:solidFill>
                  <a:schemeClr val="tx1"/>
                </a:solidFill>
                <a:highlight>
                  <a:srgbClr val="CCCCFF"/>
                </a:highlight>
                <a:latin typeface="宋体" panose="02010600030101010101" pitchFamily="2" charset="-122"/>
                <a:sym typeface="+mn-ea"/>
              </a:rPr>
              <a:t>再等待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u="sng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移动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磁头、</a:t>
            </a:r>
            <a:r>
              <a:rPr lang="zh-CN" altLang="en-US" sz="1800" b="1" u="sng" dirty="0">
                <a:latin typeface="宋体" panose="02010600030101010101" pitchFamily="2" charset="-122"/>
                <a:sym typeface="+mn-ea"/>
              </a:rPr>
              <a:t>等待转到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目标记录块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[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磁盘</a:t>
            </a:r>
            <a:r>
              <a:rPr lang="zh-CN" altLang="en-US" sz="1800" b="1" u="sng" dirty="0">
                <a:latin typeface="宋体" panose="02010600030101010101" pitchFamily="2" charset="-122"/>
                <a:sym typeface="+mn-ea"/>
              </a:rPr>
              <a:t>匀速转动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])</a:t>
            </a:r>
          </a:p>
          <a:p>
            <a:pPr algn="l">
              <a:lnSpc>
                <a:spcPct val="125000"/>
              </a:lnSpc>
              <a:spcBef>
                <a:spcPts val="300"/>
              </a:spcBef>
            </a:pP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           由盘片、驱动器、设备控制器组成</a:t>
            </a:r>
          </a:p>
        </p:txBody>
      </p:sp>
      <p:sp>
        <p:nvSpPr>
          <p:cNvPr id="12" name="Text Box 547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2195736" y="4869160"/>
            <a:ext cx="6768559" cy="77367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tIns="46800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sz="2200" b="1" dirty="0">
                <a:latin typeface="宋体" panose="02010600030101010101" pitchFamily="2" charset="-122"/>
              </a:rPr>
              <a:t>有</a:t>
            </a:r>
            <a:r>
              <a:rPr lang="en-US" altLang="zh-CN" sz="2200" b="1" dirty="0">
                <a:latin typeface="宋体" panose="02010600030101010101" pitchFamily="2" charset="-122"/>
              </a:rPr>
              <a:t>IDE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又称</a:t>
            </a:r>
            <a:r>
              <a:rPr lang="en-US" altLang="zh-CN" sz="1800" b="1" dirty="0">
                <a:latin typeface="宋体" panose="02010600030101010101" pitchFamily="2" charset="-122"/>
              </a:rPr>
              <a:t>ATA[</a:t>
            </a:r>
            <a:r>
              <a:rPr lang="zh-CN" altLang="en-US" sz="1800" b="1" dirty="0">
                <a:latin typeface="宋体" panose="02010600030101010101" pitchFamily="2" charset="-122"/>
              </a:rPr>
              <a:t>上图</a:t>
            </a:r>
            <a:r>
              <a:rPr lang="en-US" altLang="zh-CN" sz="1800" b="1" dirty="0">
                <a:latin typeface="宋体" panose="02010600030101010101" pitchFamily="2" charset="-122"/>
              </a:rPr>
              <a:t>])</a:t>
            </a:r>
            <a:r>
              <a:rPr lang="zh-CN" altLang="en-US" sz="2200" b="1" dirty="0">
                <a:latin typeface="宋体" panose="02010600030101010101" pitchFamily="2" charset="-122"/>
              </a:rPr>
              <a:t>、</a:t>
            </a:r>
            <a:r>
              <a:rPr lang="en-US" altLang="zh-CN" sz="2200" b="1" dirty="0">
                <a:latin typeface="宋体" panose="02010600030101010101" pitchFamily="2" charset="-122"/>
              </a:rPr>
              <a:t>USB</a:t>
            </a:r>
            <a:r>
              <a:rPr lang="zh-CN" altLang="en-US" sz="2200" b="1" dirty="0">
                <a:latin typeface="宋体" panose="02010600030101010101" pitchFamily="2" charset="-122"/>
              </a:rPr>
              <a:t>等      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←</a:t>
            </a:r>
            <a:r>
              <a:rPr lang="zh-CN" altLang="en-US" sz="1800" b="1" dirty="0">
                <a:latin typeface="宋体" panose="02010600030101010101" pitchFamily="2" charset="-122"/>
              </a:rPr>
              <a:t>趋势为</a:t>
            </a:r>
            <a:r>
              <a:rPr lang="zh-CN" altLang="en-US" sz="1800" b="1" u="sng" dirty="0">
                <a:latin typeface="宋体" panose="02010600030101010101" pitchFamily="2" charset="-122"/>
              </a:rPr>
              <a:t>串行</a:t>
            </a:r>
            <a:r>
              <a:rPr lang="zh-CN" altLang="en-US" sz="1800" b="1" dirty="0">
                <a:latin typeface="宋体" panose="02010600030101010101" pitchFamily="2" charset="-122"/>
              </a:rPr>
              <a:t>接口</a:t>
            </a:r>
            <a:endParaRPr lang="en-US" altLang="zh-CN" sz="1800" b="1" dirty="0">
              <a:latin typeface="宋体" panose="02010600030101010101" pitchFamily="2" charset="-122"/>
            </a:endParaRPr>
          </a:p>
          <a:p>
            <a:pPr algn="l">
              <a:lnSpc>
                <a:spcPct val="105000"/>
              </a:lnSpc>
            </a:pP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   </a:t>
            </a:r>
            <a:r>
              <a:rPr lang="en-US" altLang="zh-CN" sz="1800" dirty="0">
                <a:latin typeface="宋体" panose="02010600030101010101" pitchFamily="2" charset="-122"/>
              </a:rPr>
              <a:t>└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←</a:t>
            </a:r>
            <a:r>
              <a:rPr lang="zh-CN" altLang="en-US" sz="1800" b="1" u="sng" dirty="0">
                <a:latin typeface="宋体" panose="02010600030101010101" pitchFamily="2" charset="-122"/>
              </a:rPr>
              <a:t>并行</a:t>
            </a:r>
            <a:r>
              <a:rPr lang="zh-CN" altLang="en-US" sz="1800" b="1" dirty="0">
                <a:latin typeface="宋体" panose="02010600030101010101" pitchFamily="2" charset="-122"/>
              </a:rPr>
              <a:t>通信，异步联络用</a:t>
            </a:r>
            <a:r>
              <a:rPr lang="zh-CN" altLang="en-US" sz="1800" b="1" u="sng" dirty="0">
                <a:solidFill>
                  <a:srgbClr val="0070C0"/>
                </a:solidFill>
                <a:latin typeface="宋体" panose="02010600030101010101" pitchFamily="2" charset="-122"/>
              </a:rPr>
              <a:t>请求</a:t>
            </a:r>
            <a:r>
              <a:rPr lang="en-US" altLang="zh-CN" sz="1800" b="1" u="sng" dirty="0">
                <a:solidFill>
                  <a:srgbClr val="0070C0"/>
                </a:solidFill>
                <a:latin typeface="宋体" panose="02010600030101010101" pitchFamily="2" charset="-122"/>
              </a:rPr>
              <a:t>/</a:t>
            </a:r>
            <a:r>
              <a:rPr lang="zh-CN" altLang="en-US" sz="1800" b="1" u="sng" dirty="0">
                <a:solidFill>
                  <a:srgbClr val="0070C0"/>
                </a:solidFill>
                <a:latin typeface="宋体" panose="02010600030101010101" pitchFamily="2" charset="-122"/>
              </a:rPr>
              <a:t>应答线</a:t>
            </a:r>
            <a:r>
              <a:rPr lang="en-US" altLang="zh-CN" sz="1800" b="1" dirty="0">
                <a:latin typeface="宋体" panose="02010600030101010101" pitchFamily="2" charset="-122"/>
              </a:rPr>
              <a:t>(REQ/ACK</a:t>
            </a:r>
            <a:r>
              <a:rPr lang="zh-CN" altLang="en-US" sz="1800" b="1" dirty="0">
                <a:latin typeface="宋体" panose="02010600030101010101" pitchFamily="2" charset="-122"/>
              </a:rPr>
              <a:t>等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r>
              <a:rPr lang="zh-CN" altLang="en-US" sz="1800" b="1" dirty="0">
                <a:latin typeface="宋体" panose="02010600030101010101" pitchFamily="2" charset="-122"/>
              </a:rPr>
              <a:t>实现</a:t>
            </a:r>
            <a:endParaRPr lang="en-US" altLang="zh-CN" sz="1800" b="1" dirty="0">
              <a:latin typeface="宋体" panose="02010600030101010101" pitchFamily="2" charset="-122"/>
            </a:endParaRPr>
          </a:p>
        </p:txBody>
      </p:sp>
      <p:grpSp>
        <p:nvGrpSpPr>
          <p:cNvPr id="44" name="组合 43"/>
          <p:cNvGrpSpPr/>
          <p:nvPr/>
        </p:nvGrpSpPr>
        <p:grpSpPr>
          <a:xfrm>
            <a:off x="5652641" y="2997182"/>
            <a:ext cx="3239770" cy="1871980"/>
            <a:chOff x="8447" y="4082"/>
            <a:chExt cx="5102" cy="2948"/>
          </a:xfrm>
        </p:grpSpPr>
        <p:sp>
          <p:nvSpPr>
            <p:cNvPr id="210" name="Rectangle 731"/>
            <p:cNvSpPr>
              <a:spLocks noChangeArrowheads="1"/>
            </p:cNvSpPr>
            <p:nvPr>
              <p:custDataLst>
                <p:tags r:id="rId86"/>
              </p:custDataLst>
            </p:nvPr>
          </p:nvSpPr>
          <p:spPr bwMode="auto">
            <a:xfrm>
              <a:off x="8447" y="4082"/>
              <a:ext cx="5102" cy="2948"/>
            </a:xfrm>
            <a:prstGeom prst="rect">
              <a:avLst/>
            </a:prstGeom>
            <a:solidFill>
              <a:schemeClr val="accent2">
                <a:lumMod val="20000"/>
                <a:lumOff val="80000"/>
                <a:alpha val="80000"/>
              </a:scheme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5" name="Text Box 732"/>
            <p:cNvSpPr txBox="1">
              <a:spLocks noChangeArrowheads="1"/>
            </p:cNvSpPr>
            <p:nvPr>
              <p:custDataLst>
                <p:tags r:id="rId87"/>
              </p:custDataLst>
            </p:nvPr>
          </p:nvSpPr>
          <p:spPr bwMode="auto">
            <a:xfrm>
              <a:off x="12190" y="5613"/>
              <a:ext cx="340" cy="11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212" name="Text Box 732"/>
            <p:cNvSpPr txBox="1">
              <a:spLocks noChangeArrowheads="1"/>
            </p:cNvSpPr>
            <p:nvPr>
              <p:custDataLst>
                <p:tags r:id="rId88"/>
              </p:custDataLst>
            </p:nvPr>
          </p:nvSpPr>
          <p:spPr bwMode="auto">
            <a:xfrm>
              <a:off x="8790" y="4252"/>
              <a:ext cx="1417" cy="340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</a:rPr>
                <a:t>读出放大</a:t>
              </a:r>
            </a:p>
          </p:txBody>
        </p:sp>
        <p:sp>
          <p:nvSpPr>
            <p:cNvPr id="214" name="Text Box 734"/>
            <p:cNvSpPr txBox="1">
              <a:spLocks noChangeArrowheads="1"/>
            </p:cNvSpPr>
            <p:nvPr>
              <p:custDataLst>
                <p:tags r:id="rId89"/>
              </p:custDataLst>
            </p:nvPr>
          </p:nvSpPr>
          <p:spPr bwMode="auto">
            <a:xfrm>
              <a:off x="8790" y="4706"/>
              <a:ext cx="1417" cy="340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</a:rPr>
                <a:t>写入驱动</a:t>
              </a:r>
            </a:p>
          </p:txBody>
        </p:sp>
        <p:sp>
          <p:nvSpPr>
            <p:cNvPr id="216" name="Text Box 736"/>
            <p:cNvSpPr txBox="1">
              <a:spLocks noChangeArrowheads="1"/>
            </p:cNvSpPr>
            <p:nvPr>
              <p:custDataLst>
                <p:tags r:id="rId90"/>
              </p:custDataLst>
            </p:nvPr>
          </p:nvSpPr>
          <p:spPr bwMode="auto">
            <a:xfrm>
              <a:off x="10488" y="4252"/>
              <a:ext cx="737" cy="794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磁头</a:t>
              </a:r>
            </a:p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选择</a:t>
              </a:r>
            </a:p>
          </p:txBody>
        </p:sp>
        <p:sp>
          <p:nvSpPr>
            <p:cNvPr id="232" name="Rectangle 754"/>
            <p:cNvSpPr>
              <a:spLocks noChangeArrowheads="1"/>
            </p:cNvSpPr>
            <p:nvPr>
              <p:custDataLst>
                <p:tags r:id="rId91"/>
              </p:custDataLst>
            </p:nvPr>
          </p:nvSpPr>
          <p:spPr bwMode="auto">
            <a:xfrm>
              <a:off x="8617" y="4139"/>
              <a:ext cx="2721" cy="107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dash"/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cxnSp>
          <p:nvCxnSpPr>
            <p:cNvPr id="90" name="直接连接符 89"/>
            <p:cNvCxnSpPr/>
            <p:nvPr>
              <p:custDataLst>
                <p:tags r:id="rId92"/>
              </p:custDataLst>
            </p:nvPr>
          </p:nvCxnSpPr>
          <p:spPr>
            <a:xfrm flipH="1" flipV="1">
              <a:off x="8447" y="4422"/>
              <a:ext cx="340" cy="0"/>
            </a:xfrm>
            <a:prstGeom prst="line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91" name="直接连接符 90"/>
            <p:cNvCxnSpPr/>
            <p:nvPr>
              <p:custDataLst>
                <p:tags r:id="rId93"/>
              </p:custDataLst>
            </p:nvPr>
          </p:nvCxnSpPr>
          <p:spPr>
            <a:xfrm flipV="1">
              <a:off x="8447" y="4819"/>
              <a:ext cx="340" cy="0"/>
            </a:xfrm>
            <a:prstGeom prst="line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92" name="直接连接符 91"/>
            <p:cNvCxnSpPr/>
            <p:nvPr>
              <p:custDataLst>
                <p:tags r:id="rId94"/>
              </p:custDataLst>
            </p:nvPr>
          </p:nvCxnSpPr>
          <p:spPr>
            <a:xfrm flipH="1" flipV="1">
              <a:off x="10204" y="4422"/>
              <a:ext cx="283" cy="0"/>
            </a:xfrm>
            <a:prstGeom prst="line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96" name="直接连接符 95"/>
            <p:cNvCxnSpPr/>
            <p:nvPr>
              <p:custDataLst>
                <p:tags r:id="rId95"/>
              </p:custDataLst>
            </p:nvPr>
          </p:nvCxnSpPr>
          <p:spPr>
            <a:xfrm flipV="1">
              <a:off x="10204" y="4876"/>
              <a:ext cx="283" cy="0"/>
            </a:xfrm>
            <a:prstGeom prst="line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97" name="直接连接符 96"/>
            <p:cNvCxnSpPr/>
            <p:nvPr>
              <p:custDataLst>
                <p:tags r:id="rId96"/>
              </p:custDataLst>
            </p:nvPr>
          </p:nvCxnSpPr>
          <p:spPr>
            <a:xfrm flipV="1">
              <a:off x="10828" y="5046"/>
              <a:ext cx="0" cy="227"/>
            </a:xfrm>
            <a:prstGeom prst="line">
              <a:avLst/>
            </a:prstGeom>
            <a:noFill/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01" name="直接连接符 100"/>
            <p:cNvCxnSpPr/>
            <p:nvPr>
              <p:custDataLst>
                <p:tags r:id="rId97"/>
              </p:custDataLst>
            </p:nvPr>
          </p:nvCxnSpPr>
          <p:spPr>
            <a:xfrm>
              <a:off x="8447" y="5273"/>
              <a:ext cx="2381" cy="0"/>
            </a:xfrm>
            <a:prstGeom prst="line">
              <a:avLst/>
            </a:prstGeom>
            <a:noFill/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40" name="Text Box 762"/>
            <p:cNvSpPr txBox="1">
              <a:spLocks noChangeArrowheads="1"/>
            </p:cNvSpPr>
            <p:nvPr>
              <p:custDataLst>
                <p:tags r:id="rId98"/>
              </p:custDataLst>
            </p:nvPr>
          </p:nvSpPr>
          <p:spPr bwMode="auto">
            <a:xfrm>
              <a:off x="10767" y="6577"/>
              <a:ext cx="1417" cy="340"/>
            </a:xfrm>
            <a:prstGeom prst="rect">
              <a:avLst/>
            </a:prstGeom>
            <a:solidFill>
              <a:srgbClr val="FFFF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</a:rPr>
                <a:t>主轴电机</a:t>
              </a:r>
            </a:p>
          </p:txBody>
        </p:sp>
        <p:sp>
          <p:nvSpPr>
            <p:cNvPr id="106" name="Text Box 739"/>
            <p:cNvSpPr txBox="1">
              <a:spLocks noChangeArrowheads="1"/>
            </p:cNvSpPr>
            <p:nvPr>
              <p:custDataLst>
                <p:tags r:id="rId99"/>
              </p:custDataLst>
            </p:nvPr>
          </p:nvSpPr>
          <p:spPr bwMode="auto">
            <a:xfrm>
              <a:off x="8790" y="5499"/>
              <a:ext cx="1701" cy="340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</a:rPr>
                <a:t>比较与控制</a:t>
              </a:r>
            </a:p>
          </p:txBody>
        </p:sp>
        <p:sp>
          <p:nvSpPr>
            <p:cNvPr id="110" name="Text Box 740"/>
            <p:cNvSpPr txBox="1">
              <a:spLocks noChangeArrowheads="1"/>
            </p:cNvSpPr>
            <p:nvPr>
              <p:custDataLst>
                <p:tags r:id="rId100"/>
              </p:custDataLst>
            </p:nvPr>
          </p:nvSpPr>
          <p:spPr bwMode="auto">
            <a:xfrm>
              <a:off x="10771" y="5499"/>
              <a:ext cx="1417" cy="340"/>
            </a:xfrm>
            <a:prstGeom prst="rect">
              <a:avLst/>
            </a:prstGeom>
            <a:solidFill>
              <a:srgbClr val="FFFF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</a:rPr>
                <a:t>音圈电机</a:t>
              </a:r>
            </a:p>
          </p:txBody>
        </p:sp>
        <p:sp>
          <p:nvSpPr>
            <p:cNvPr id="111" name="Text Box 741"/>
            <p:cNvSpPr txBox="1">
              <a:spLocks noChangeArrowheads="1"/>
            </p:cNvSpPr>
            <p:nvPr>
              <p:custDataLst>
                <p:tags r:id="rId101"/>
              </p:custDataLst>
            </p:nvPr>
          </p:nvSpPr>
          <p:spPr bwMode="auto">
            <a:xfrm>
              <a:off x="10771" y="6010"/>
              <a:ext cx="1417" cy="340"/>
            </a:xfrm>
            <a:prstGeom prst="rect">
              <a:avLst/>
            </a:prstGeom>
            <a:solidFill>
              <a:srgbClr val="CC99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</a:rPr>
                <a:t>位置检测</a:t>
              </a:r>
            </a:p>
          </p:txBody>
        </p:sp>
        <p:sp>
          <p:nvSpPr>
            <p:cNvPr id="112" name="Text Box 755"/>
            <p:cNvSpPr txBox="1">
              <a:spLocks noChangeArrowheads="1"/>
            </p:cNvSpPr>
            <p:nvPr>
              <p:custDataLst>
                <p:tags r:id="rId102"/>
              </p:custDataLst>
            </p:nvPr>
          </p:nvSpPr>
          <p:spPr bwMode="auto">
            <a:xfrm>
              <a:off x="9697" y="5896"/>
              <a:ext cx="1077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柱面号</a:t>
              </a:r>
            </a:p>
          </p:txBody>
        </p:sp>
        <p:sp>
          <p:nvSpPr>
            <p:cNvPr id="113" name="Rectangle 754"/>
            <p:cNvSpPr>
              <a:spLocks noChangeArrowheads="1"/>
            </p:cNvSpPr>
            <p:nvPr>
              <p:custDataLst>
                <p:tags r:id="rId103"/>
              </p:custDataLst>
            </p:nvPr>
          </p:nvSpPr>
          <p:spPr bwMode="auto">
            <a:xfrm>
              <a:off x="8617" y="5386"/>
              <a:ext cx="3685" cy="107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dash"/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cxnSp>
          <p:nvCxnSpPr>
            <p:cNvPr id="123" name="直接连接符 122"/>
            <p:cNvCxnSpPr/>
            <p:nvPr>
              <p:custDataLst>
                <p:tags r:id="rId104"/>
              </p:custDataLst>
            </p:nvPr>
          </p:nvCxnSpPr>
          <p:spPr>
            <a:xfrm flipV="1">
              <a:off x="10488" y="5669"/>
              <a:ext cx="283" cy="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27" name="直接连接符 126"/>
            <p:cNvCxnSpPr/>
            <p:nvPr>
              <p:custDataLst>
                <p:tags r:id="rId105"/>
              </p:custDataLst>
            </p:nvPr>
          </p:nvCxnSpPr>
          <p:spPr>
            <a:xfrm>
              <a:off x="9581" y="6236"/>
              <a:ext cx="1191" cy="0"/>
            </a:xfrm>
            <a:prstGeom prst="line">
              <a:avLst/>
            </a:prstGeom>
            <a:noFill/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8" name="直接连接符 127"/>
            <p:cNvCxnSpPr/>
            <p:nvPr>
              <p:custDataLst>
                <p:tags r:id="rId106"/>
              </p:custDataLst>
            </p:nvPr>
          </p:nvCxnSpPr>
          <p:spPr>
            <a:xfrm flipV="1">
              <a:off x="9581" y="5839"/>
              <a:ext cx="0" cy="397"/>
            </a:xfrm>
            <a:prstGeom prst="line">
              <a:avLst/>
            </a:prstGeom>
            <a:noFill/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29" name="直接连接符 128"/>
            <p:cNvCxnSpPr/>
            <p:nvPr>
              <p:custDataLst>
                <p:tags r:id="rId107"/>
              </p:custDataLst>
            </p:nvPr>
          </p:nvCxnSpPr>
          <p:spPr>
            <a:xfrm>
              <a:off x="9184" y="5839"/>
              <a:ext cx="0" cy="454"/>
            </a:xfrm>
            <a:prstGeom prst="line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0" name="直接连接符 129"/>
            <p:cNvCxnSpPr/>
            <p:nvPr>
              <p:custDataLst>
                <p:tags r:id="rId108"/>
              </p:custDataLst>
            </p:nvPr>
          </p:nvCxnSpPr>
          <p:spPr>
            <a:xfrm flipH="1">
              <a:off x="8447" y="6293"/>
              <a:ext cx="737" cy="0"/>
            </a:xfrm>
            <a:prstGeom prst="line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33" name="直接连接符 132"/>
            <p:cNvCxnSpPr/>
            <p:nvPr>
              <p:custDataLst>
                <p:tags r:id="rId109"/>
              </p:custDataLst>
            </p:nvPr>
          </p:nvCxnSpPr>
          <p:spPr>
            <a:xfrm flipV="1">
              <a:off x="8447" y="5669"/>
              <a:ext cx="340" cy="0"/>
            </a:xfrm>
            <a:prstGeom prst="line">
              <a:avLst/>
            </a:prstGeom>
            <a:noFill/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34" name="直接连接符 133"/>
            <p:cNvCxnSpPr/>
            <p:nvPr>
              <p:custDataLst>
                <p:tags r:id="rId110"/>
              </p:custDataLst>
            </p:nvPr>
          </p:nvCxnSpPr>
          <p:spPr>
            <a:xfrm flipV="1">
              <a:off x="8447" y="6803"/>
              <a:ext cx="2324" cy="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98" name="AutoShape 823"/>
            <p:cNvSpPr>
              <a:spLocks noChangeArrowheads="1"/>
            </p:cNvSpPr>
            <p:nvPr>
              <p:custDataLst>
                <p:tags r:id="rId111"/>
              </p:custDataLst>
            </p:nvPr>
          </p:nvSpPr>
          <p:spPr bwMode="auto">
            <a:xfrm>
              <a:off x="13210" y="4195"/>
              <a:ext cx="113" cy="2721"/>
            </a:xfrm>
            <a:prstGeom prst="can">
              <a:avLst>
                <a:gd name="adj" fmla="val 68976"/>
              </a:avLst>
            </a:prstGeom>
            <a:solidFill>
              <a:srgbClr val="969696"/>
            </a:solidFill>
            <a:ln w="15875">
              <a:solidFill>
                <a:schemeClr val="tx1"/>
              </a:solidFill>
              <a:round/>
            </a:ln>
            <a:effectLst/>
          </p:spPr>
          <p:txBody>
            <a:bodyPr lIns="0" tIns="0" rIns="0" bIns="0"/>
            <a:lstStyle/>
            <a:p>
              <a:endParaRPr lang="zh-CN" altLang="en-US"/>
            </a:p>
          </p:txBody>
        </p:sp>
        <p:sp>
          <p:nvSpPr>
            <p:cNvPr id="207" name="弧形 206"/>
            <p:cNvSpPr/>
            <p:nvPr>
              <p:custDataLst>
                <p:tags r:id="rId112"/>
              </p:custDataLst>
            </p:nvPr>
          </p:nvSpPr>
          <p:spPr bwMode="auto">
            <a:xfrm>
              <a:off x="13097" y="6463"/>
              <a:ext cx="397" cy="170"/>
            </a:xfrm>
            <a:prstGeom prst="arc">
              <a:avLst>
                <a:gd name="adj1" fmla="val 18274991"/>
                <a:gd name="adj2" fmla="val 12719267"/>
              </a:avLst>
            </a:prstGeom>
            <a:noFill/>
            <a:ln w="9525" cap="flat" cmpd="sng" algn="ctr">
              <a:solidFill>
                <a:srgbClr val="FF3399"/>
              </a:solidFill>
              <a:prstDash val="solid"/>
              <a:round/>
              <a:headEnd type="triangle" w="sm" len="sm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2" name="Rectangle 796" descr="深色上对角线"/>
            <p:cNvSpPr>
              <a:spLocks noChangeArrowheads="1"/>
            </p:cNvSpPr>
            <p:nvPr>
              <p:custDataLst>
                <p:tags r:id="rId113"/>
              </p:custDataLst>
            </p:nvPr>
          </p:nvSpPr>
          <p:spPr bwMode="auto">
            <a:xfrm>
              <a:off x="12190" y="6690"/>
              <a:ext cx="1134" cy="113"/>
            </a:xfrm>
            <a:prstGeom prst="rect">
              <a:avLst/>
            </a:prstGeom>
            <a:pattFill prst="dkUpDiag">
              <a:fgClr>
                <a:schemeClr val="tx1"/>
              </a:fgClr>
              <a:bgClr>
                <a:schemeClr val="bg1"/>
              </a:bgClr>
            </a:pattFill>
            <a:ln w="12700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7" name="Rectangle 767" descr="深色上对角线"/>
            <p:cNvSpPr>
              <a:spLocks noChangeArrowheads="1"/>
            </p:cNvSpPr>
            <p:nvPr>
              <p:custDataLst>
                <p:tags r:id="rId114"/>
              </p:custDataLst>
            </p:nvPr>
          </p:nvSpPr>
          <p:spPr bwMode="auto">
            <a:xfrm>
              <a:off x="12360" y="6406"/>
              <a:ext cx="567" cy="113"/>
            </a:xfrm>
            <a:prstGeom prst="rect">
              <a:avLst/>
            </a:prstGeom>
            <a:pattFill prst="dkUpDiag">
              <a:fgClr>
                <a:srgbClr val="808080"/>
              </a:fgClr>
              <a:bgClr>
                <a:schemeClr val="bg1"/>
              </a:bgClr>
            </a:patt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7" name="Text Box 732"/>
            <p:cNvSpPr txBox="1">
              <a:spLocks noChangeArrowheads="1"/>
            </p:cNvSpPr>
            <p:nvPr>
              <p:custDataLst>
                <p:tags r:id="rId115"/>
              </p:custDataLst>
            </p:nvPr>
          </p:nvSpPr>
          <p:spPr bwMode="auto">
            <a:xfrm>
              <a:off x="12641" y="4536"/>
              <a:ext cx="329" cy="11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grpSp>
          <p:nvGrpSpPr>
            <p:cNvPr id="158" name="组合 157"/>
            <p:cNvGrpSpPr/>
            <p:nvPr/>
          </p:nvGrpSpPr>
          <p:grpSpPr>
            <a:xfrm>
              <a:off x="12871" y="4422"/>
              <a:ext cx="170" cy="312"/>
              <a:chOff x="12246" y="6236"/>
              <a:chExt cx="170" cy="312"/>
            </a:xfrm>
          </p:grpSpPr>
          <p:cxnSp>
            <p:nvCxnSpPr>
              <p:cNvPr id="144" name="直接连接符 143"/>
              <p:cNvCxnSpPr/>
              <p:nvPr>
                <p:custDataLst>
                  <p:tags r:id="rId142"/>
                </p:custDataLst>
              </p:nvPr>
            </p:nvCxnSpPr>
            <p:spPr>
              <a:xfrm flipV="1">
                <a:off x="12246" y="6265"/>
                <a:ext cx="170" cy="0"/>
              </a:xfrm>
              <a:prstGeom prst="line">
                <a:avLst/>
              </a:prstGeom>
              <a:noFill/>
              <a:ln w="38100" cap="flat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5" name="直接连接符 144"/>
              <p:cNvCxnSpPr/>
              <p:nvPr>
                <p:custDataLst>
                  <p:tags r:id="rId143"/>
                </p:custDataLst>
              </p:nvPr>
            </p:nvCxnSpPr>
            <p:spPr>
              <a:xfrm flipV="1">
                <a:off x="12246" y="6548"/>
                <a:ext cx="170" cy="0"/>
              </a:xfrm>
              <a:prstGeom prst="line">
                <a:avLst/>
              </a:prstGeom>
              <a:noFill/>
              <a:ln w="38100" cap="flat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8" name="直接连接符 147"/>
              <p:cNvCxnSpPr/>
              <p:nvPr>
                <p:custDataLst>
                  <p:tags r:id="rId144"/>
                </p:custDataLst>
              </p:nvPr>
            </p:nvCxnSpPr>
            <p:spPr>
              <a:xfrm flipH="1">
                <a:off x="12330" y="6236"/>
                <a:ext cx="0" cy="281"/>
              </a:xfrm>
              <a:prstGeom prst="line">
                <a:avLst/>
              </a:prstGeom>
              <a:noFill/>
              <a:ln w="38100" cap="flat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150" name="Rectangle 763"/>
            <p:cNvSpPr>
              <a:spLocks noChangeArrowheads="1"/>
            </p:cNvSpPr>
            <p:nvPr>
              <p:custDataLst>
                <p:tags r:id="rId116"/>
              </p:custDataLst>
            </p:nvPr>
          </p:nvSpPr>
          <p:spPr bwMode="auto">
            <a:xfrm>
              <a:off x="12529" y="4536"/>
              <a:ext cx="113" cy="16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1" name="Text Box 732"/>
            <p:cNvSpPr txBox="1">
              <a:spLocks noChangeArrowheads="1"/>
            </p:cNvSpPr>
            <p:nvPr>
              <p:custDataLst>
                <p:tags r:id="rId117"/>
              </p:custDataLst>
            </p:nvPr>
          </p:nvSpPr>
          <p:spPr bwMode="auto">
            <a:xfrm>
              <a:off x="12643" y="5103"/>
              <a:ext cx="329" cy="11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52" name="Text Box 732"/>
            <p:cNvSpPr txBox="1">
              <a:spLocks noChangeArrowheads="1"/>
            </p:cNvSpPr>
            <p:nvPr>
              <p:custDataLst>
                <p:tags r:id="rId118"/>
              </p:custDataLst>
            </p:nvPr>
          </p:nvSpPr>
          <p:spPr bwMode="auto">
            <a:xfrm>
              <a:off x="12643" y="5669"/>
              <a:ext cx="329" cy="11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53" name="Text Box 732"/>
            <p:cNvSpPr txBox="1">
              <a:spLocks noChangeArrowheads="1"/>
            </p:cNvSpPr>
            <p:nvPr>
              <p:custDataLst>
                <p:tags r:id="rId119"/>
              </p:custDataLst>
            </p:nvPr>
          </p:nvSpPr>
          <p:spPr bwMode="auto">
            <a:xfrm>
              <a:off x="12417" y="6180"/>
              <a:ext cx="340" cy="11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54" name="Oval 765"/>
            <p:cNvSpPr>
              <a:spLocks noChangeArrowheads="1"/>
            </p:cNvSpPr>
            <p:nvPr>
              <p:custDataLst>
                <p:tags r:id="rId120"/>
              </p:custDataLst>
            </p:nvPr>
          </p:nvSpPr>
          <p:spPr bwMode="auto">
            <a:xfrm>
              <a:off x="12417" y="6293"/>
              <a:ext cx="113" cy="113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5" name="Oval 765"/>
            <p:cNvSpPr>
              <a:spLocks noChangeArrowheads="1"/>
            </p:cNvSpPr>
            <p:nvPr>
              <p:custDataLst>
                <p:tags r:id="rId121"/>
              </p:custDataLst>
            </p:nvPr>
          </p:nvSpPr>
          <p:spPr bwMode="auto">
            <a:xfrm>
              <a:off x="12643" y="6293"/>
              <a:ext cx="113" cy="113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cxnSp>
          <p:nvCxnSpPr>
            <p:cNvPr id="156" name="直接连接符 155"/>
            <p:cNvCxnSpPr/>
            <p:nvPr>
              <p:custDataLst>
                <p:tags r:id="rId122"/>
              </p:custDataLst>
            </p:nvPr>
          </p:nvCxnSpPr>
          <p:spPr>
            <a:xfrm>
              <a:off x="12360" y="6406"/>
              <a:ext cx="567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59" name="组合 158"/>
            <p:cNvGrpSpPr/>
            <p:nvPr/>
          </p:nvGrpSpPr>
          <p:grpSpPr>
            <a:xfrm>
              <a:off x="12870" y="5017"/>
              <a:ext cx="170" cy="283"/>
              <a:chOff x="12246" y="6265"/>
              <a:chExt cx="170" cy="283"/>
            </a:xfrm>
          </p:grpSpPr>
          <p:cxnSp>
            <p:nvCxnSpPr>
              <p:cNvPr id="160" name="直接连接符 159"/>
              <p:cNvCxnSpPr/>
              <p:nvPr>
                <p:custDataLst>
                  <p:tags r:id="rId139"/>
                </p:custDataLst>
              </p:nvPr>
            </p:nvCxnSpPr>
            <p:spPr>
              <a:xfrm flipV="1">
                <a:off x="12246" y="6265"/>
                <a:ext cx="170" cy="0"/>
              </a:xfrm>
              <a:prstGeom prst="line">
                <a:avLst/>
              </a:prstGeom>
              <a:noFill/>
              <a:ln w="38100" cap="flat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1" name="直接连接符 160"/>
              <p:cNvCxnSpPr/>
              <p:nvPr>
                <p:custDataLst>
                  <p:tags r:id="rId140"/>
                </p:custDataLst>
              </p:nvPr>
            </p:nvCxnSpPr>
            <p:spPr>
              <a:xfrm flipV="1">
                <a:off x="12246" y="6548"/>
                <a:ext cx="170" cy="0"/>
              </a:xfrm>
              <a:prstGeom prst="line">
                <a:avLst/>
              </a:prstGeom>
              <a:noFill/>
              <a:ln w="38100" cap="flat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2" name="直接连接符 161"/>
              <p:cNvCxnSpPr/>
              <p:nvPr>
                <p:custDataLst>
                  <p:tags r:id="rId141"/>
                </p:custDataLst>
              </p:nvPr>
            </p:nvCxnSpPr>
            <p:spPr>
              <a:xfrm flipH="1">
                <a:off x="12331" y="6265"/>
                <a:ext cx="0" cy="281"/>
              </a:xfrm>
              <a:prstGeom prst="line">
                <a:avLst/>
              </a:prstGeom>
              <a:noFill/>
              <a:ln w="38100" cap="flat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63" name="组合 162"/>
            <p:cNvGrpSpPr/>
            <p:nvPr/>
          </p:nvGrpSpPr>
          <p:grpSpPr>
            <a:xfrm>
              <a:off x="12870" y="5584"/>
              <a:ext cx="170" cy="283"/>
              <a:chOff x="12246" y="6265"/>
              <a:chExt cx="170" cy="283"/>
            </a:xfrm>
          </p:grpSpPr>
          <p:cxnSp>
            <p:nvCxnSpPr>
              <p:cNvPr id="164" name="直接连接符 163"/>
              <p:cNvCxnSpPr/>
              <p:nvPr>
                <p:custDataLst>
                  <p:tags r:id="rId136"/>
                </p:custDataLst>
              </p:nvPr>
            </p:nvCxnSpPr>
            <p:spPr>
              <a:xfrm flipV="1">
                <a:off x="12246" y="6265"/>
                <a:ext cx="170" cy="0"/>
              </a:xfrm>
              <a:prstGeom prst="line">
                <a:avLst/>
              </a:prstGeom>
              <a:noFill/>
              <a:ln w="38100" cap="flat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5" name="直接连接符 164"/>
              <p:cNvCxnSpPr/>
              <p:nvPr>
                <p:custDataLst>
                  <p:tags r:id="rId137"/>
                </p:custDataLst>
              </p:nvPr>
            </p:nvCxnSpPr>
            <p:spPr>
              <a:xfrm flipV="1">
                <a:off x="12246" y="6548"/>
                <a:ext cx="170" cy="0"/>
              </a:xfrm>
              <a:prstGeom prst="line">
                <a:avLst/>
              </a:prstGeom>
              <a:noFill/>
              <a:ln w="38100" cap="flat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6" name="直接连接符 165"/>
              <p:cNvCxnSpPr/>
              <p:nvPr>
                <p:custDataLst>
                  <p:tags r:id="rId138"/>
                </p:custDataLst>
              </p:nvPr>
            </p:nvCxnSpPr>
            <p:spPr>
              <a:xfrm flipH="1">
                <a:off x="12331" y="6265"/>
                <a:ext cx="0" cy="281"/>
              </a:xfrm>
              <a:prstGeom prst="line">
                <a:avLst/>
              </a:prstGeom>
              <a:noFill/>
              <a:ln w="38100" cap="flat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cxnSp>
          <p:nvCxnSpPr>
            <p:cNvPr id="167" name="直接连接符 166"/>
            <p:cNvCxnSpPr/>
            <p:nvPr>
              <p:custDataLst>
                <p:tags r:id="rId123"/>
              </p:custDataLst>
            </p:nvPr>
          </p:nvCxnSpPr>
          <p:spPr>
            <a:xfrm>
              <a:off x="12643" y="4536"/>
              <a:ext cx="0" cy="113"/>
            </a:xfrm>
            <a:prstGeom prst="line">
              <a:avLst/>
            </a:prstGeom>
            <a:noFill/>
            <a:ln w="1270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8" name="直接连接符 167"/>
            <p:cNvCxnSpPr/>
            <p:nvPr>
              <p:custDataLst>
                <p:tags r:id="rId124"/>
              </p:custDataLst>
            </p:nvPr>
          </p:nvCxnSpPr>
          <p:spPr>
            <a:xfrm>
              <a:off x="12643" y="5103"/>
              <a:ext cx="0" cy="113"/>
            </a:xfrm>
            <a:prstGeom prst="line">
              <a:avLst/>
            </a:prstGeom>
            <a:noFill/>
            <a:ln w="1270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9" name="直接连接符 168"/>
            <p:cNvCxnSpPr/>
            <p:nvPr>
              <p:custDataLst>
                <p:tags r:id="rId125"/>
              </p:custDataLst>
            </p:nvPr>
          </p:nvCxnSpPr>
          <p:spPr>
            <a:xfrm>
              <a:off x="12643" y="5669"/>
              <a:ext cx="0" cy="113"/>
            </a:xfrm>
            <a:prstGeom prst="line">
              <a:avLst/>
            </a:prstGeom>
            <a:noFill/>
            <a:ln w="1270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0" name="直接连接符 169"/>
            <p:cNvCxnSpPr/>
            <p:nvPr>
              <p:custDataLst>
                <p:tags r:id="rId126"/>
              </p:custDataLst>
            </p:nvPr>
          </p:nvCxnSpPr>
          <p:spPr>
            <a:xfrm flipV="1">
              <a:off x="12530" y="6180"/>
              <a:ext cx="113" cy="0"/>
            </a:xfrm>
            <a:prstGeom prst="line">
              <a:avLst/>
            </a:prstGeom>
            <a:noFill/>
            <a:ln w="1270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1" name="直接连接符 170"/>
            <p:cNvCxnSpPr/>
            <p:nvPr>
              <p:custDataLst>
                <p:tags r:id="rId127"/>
              </p:custDataLst>
            </p:nvPr>
          </p:nvCxnSpPr>
          <p:spPr>
            <a:xfrm>
              <a:off x="11225" y="4592"/>
              <a:ext cx="1701" cy="0"/>
            </a:xfrm>
            <a:prstGeom prst="line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2" name="直接连接符 171"/>
            <p:cNvCxnSpPr/>
            <p:nvPr>
              <p:custDataLst>
                <p:tags r:id="rId128"/>
              </p:custDataLst>
            </p:nvPr>
          </p:nvCxnSpPr>
          <p:spPr>
            <a:xfrm>
              <a:off x="11225" y="4762"/>
              <a:ext cx="1378" cy="0"/>
            </a:xfrm>
            <a:prstGeom prst="line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3" name="直接连接符 172"/>
            <p:cNvCxnSpPr/>
            <p:nvPr>
              <p:custDataLst>
                <p:tags r:id="rId129"/>
              </p:custDataLst>
            </p:nvPr>
          </p:nvCxnSpPr>
          <p:spPr>
            <a:xfrm>
              <a:off x="11225" y="4932"/>
              <a:ext cx="1332" cy="0"/>
            </a:xfrm>
            <a:prstGeom prst="line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6" name="直接连接符 175"/>
            <p:cNvCxnSpPr/>
            <p:nvPr>
              <p:custDataLst>
                <p:tags r:id="rId130"/>
              </p:custDataLst>
            </p:nvPr>
          </p:nvCxnSpPr>
          <p:spPr>
            <a:xfrm>
              <a:off x="12530" y="5613"/>
              <a:ext cx="0" cy="113"/>
            </a:xfrm>
            <a:prstGeom prst="line">
              <a:avLst/>
            </a:prstGeom>
            <a:noFill/>
            <a:ln w="1270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7" name="直接连接符 176"/>
            <p:cNvCxnSpPr/>
            <p:nvPr>
              <p:custDataLst>
                <p:tags r:id="rId131"/>
              </p:custDataLst>
            </p:nvPr>
          </p:nvCxnSpPr>
          <p:spPr>
            <a:xfrm>
              <a:off x="12603" y="5159"/>
              <a:ext cx="323" cy="0"/>
            </a:xfrm>
            <a:prstGeom prst="line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8" name="直接连接符 177"/>
            <p:cNvCxnSpPr/>
            <p:nvPr>
              <p:custDataLst>
                <p:tags r:id="rId132"/>
              </p:custDataLst>
            </p:nvPr>
          </p:nvCxnSpPr>
          <p:spPr>
            <a:xfrm>
              <a:off x="12603" y="4762"/>
              <a:ext cx="0" cy="397"/>
            </a:xfrm>
            <a:prstGeom prst="line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9" name="直接连接符 178"/>
            <p:cNvCxnSpPr/>
            <p:nvPr>
              <p:custDataLst>
                <p:tags r:id="rId133"/>
              </p:custDataLst>
            </p:nvPr>
          </p:nvCxnSpPr>
          <p:spPr>
            <a:xfrm>
              <a:off x="12558" y="4932"/>
              <a:ext cx="0" cy="794"/>
            </a:xfrm>
            <a:prstGeom prst="line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0" name="直接连接符 179"/>
            <p:cNvCxnSpPr/>
            <p:nvPr>
              <p:custDataLst>
                <p:tags r:id="rId134"/>
              </p:custDataLst>
            </p:nvPr>
          </p:nvCxnSpPr>
          <p:spPr>
            <a:xfrm>
              <a:off x="12546" y="5726"/>
              <a:ext cx="369" cy="0"/>
            </a:xfrm>
            <a:prstGeom prst="line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3" name="直接连接符 42"/>
            <p:cNvCxnSpPr/>
            <p:nvPr>
              <p:custDataLst>
                <p:tags r:id="rId135"/>
              </p:custDataLst>
            </p:nvPr>
          </p:nvCxnSpPr>
          <p:spPr>
            <a:xfrm flipH="1">
              <a:off x="12189" y="6236"/>
              <a:ext cx="227" cy="0"/>
            </a:xfrm>
            <a:prstGeom prst="line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grpSp>
        <p:nvGrpSpPr>
          <p:cNvPr id="182" name="组合 181"/>
          <p:cNvGrpSpPr/>
          <p:nvPr/>
        </p:nvGrpSpPr>
        <p:grpSpPr>
          <a:xfrm>
            <a:off x="8388796" y="3102977"/>
            <a:ext cx="647700" cy="1151890"/>
            <a:chOff x="12191" y="6066"/>
            <a:chExt cx="1020" cy="1814"/>
          </a:xfrm>
        </p:grpSpPr>
        <p:sp>
          <p:nvSpPr>
            <p:cNvPr id="199" name="Rectangle 824"/>
            <p:cNvSpPr>
              <a:spLocks noChangeArrowheads="1"/>
            </p:cNvSpPr>
            <p:nvPr>
              <p:custDataLst>
                <p:tags r:id="rId82"/>
              </p:custDataLst>
            </p:nvPr>
          </p:nvSpPr>
          <p:spPr bwMode="auto">
            <a:xfrm>
              <a:off x="12191" y="6066"/>
              <a:ext cx="1020" cy="113"/>
            </a:xfrm>
            <a:prstGeom prst="rect">
              <a:avLst/>
            </a:prstGeom>
            <a:solidFill>
              <a:srgbClr val="3366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/>
            <a:lstStyle/>
            <a:p>
              <a:endParaRPr lang="zh-CN" altLang="en-US"/>
            </a:p>
          </p:txBody>
        </p:sp>
        <p:sp>
          <p:nvSpPr>
            <p:cNvPr id="201" name="Rectangle 826"/>
            <p:cNvSpPr>
              <a:spLocks noChangeArrowheads="1"/>
            </p:cNvSpPr>
            <p:nvPr>
              <p:custDataLst>
                <p:tags r:id="rId83"/>
              </p:custDataLst>
            </p:nvPr>
          </p:nvSpPr>
          <p:spPr bwMode="auto">
            <a:xfrm>
              <a:off x="12191" y="6633"/>
              <a:ext cx="1020" cy="113"/>
            </a:xfrm>
            <a:prstGeom prst="rect">
              <a:avLst/>
            </a:prstGeom>
            <a:solidFill>
              <a:srgbClr val="3366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/>
            <a:lstStyle/>
            <a:p>
              <a:endParaRPr lang="zh-CN" altLang="en-US"/>
            </a:p>
          </p:txBody>
        </p:sp>
        <p:sp>
          <p:nvSpPr>
            <p:cNvPr id="203" name="Rectangle 828"/>
            <p:cNvSpPr>
              <a:spLocks noChangeArrowheads="1"/>
            </p:cNvSpPr>
            <p:nvPr>
              <p:custDataLst>
                <p:tags r:id="rId84"/>
              </p:custDataLst>
            </p:nvPr>
          </p:nvSpPr>
          <p:spPr bwMode="auto">
            <a:xfrm>
              <a:off x="12191" y="7200"/>
              <a:ext cx="1020" cy="113"/>
            </a:xfrm>
            <a:prstGeom prst="rect">
              <a:avLst/>
            </a:prstGeom>
            <a:solidFill>
              <a:srgbClr val="3366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/>
            <a:lstStyle/>
            <a:p>
              <a:endParaRPr lang="zh-CN" altLang="en-US"/>
            </a:p>
          </p:txBody>
        </p:sp>
        <p:sp>
          <p:nvSpPr>
            <p:cNvPr id="205" name="Rectangle 830"/>
            <p:cNvSpPr>
              <a:spLocks noChangeArrowheads="1"/>
            </p:cNvSpPr>
            <p:nvPr>
              <p:custDataLst>
                <p:tags r:id="rId85"/>
              </p:custDataLst>
            </p:nvPr>
          </p:nvSpPr>
          <p:spPr bwMode="auto">
            <a:xfrm>
              <a:off x="12191" y="7767"/>
              <a:ext cx="1020" cy="113"/>
            </a:xfrm>
            <a:prstGeom prst="rect">
              <a:avLst/>
            </a:prstGeom>
            <a:solidFill>
              <a:srgbClr val="3366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/>
            <a:lstStyle/>
            <a:p>
              <a:endParaRPr lang="zh-CN" altLang="en-US"/>
            </a:p>
          </p:txBody>
        </p:sp>
      </p:grpSp>
      <p:grpSp>
        <p:nvGrpSpPr>
          <p:cNvPr id="46" name="组合 45"/>
          <p:cNvGrpSpPr/>
          <p:nvPr/>
        </p:nvGrpSpPr>
        <p:grpSpPr>
          <a:xfrm>
            <a:off x="1225421" y="2996952"/>
            <a:ext cx="4430395" cy="1871980"/>
            <a:chOff x="1475" y="5102"/>
            <a:chExt cx="6977" cy="2948"/>
          </a:xfrm>
        </p:grpSpPr>
        <p:sp>
          <p:nvSpPr>
            <p:cNvPr id="230061" name="Rectangle 685"/>
            <p:cNvSpPr>
              <a:spLocks noChangeArrowheads="1"/>
            </p:cNvSpPr>
            <p:nvPr>
              <p:custDataLst>
                <p:tags r:id="rId32"/>
              </p:custDataLst>
            </p:nvPr>
          </p:nvSpPr>
          <p:spPr bwMode="auto">
            <a:xfrm>
              <a:off x="2722" y="5102"/>
              <a:ext cx="5726" cy="2948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0066" name="Text Box 690"/>
            <p:cNvSpPr txBox="1">
              <a:spLocks noChangeArrowheads="1"/>
            </p:cNvSpPr>
            <p:nvPr>
              <p:custDataLst>
                <p:tags r:id="rId33"/>
              </p:custDataLst>
            </p:nvPr>
          </p:nvSpPr>
          <p:spPr bwMode="auto">
            <a:xfrm>
              <a:off x="3005" y="5215"/>
              <a:ext cx="1361" cy="340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数据缓冲</a:t>
              </a:r>
            </a:p>
          </p:txBody>
        </p:sp>
        <p:sp>
          <p:nvSpPr>
            <p:cNvPr id="230067" name="Text Box 691"/>
            <p:cNvSpPr txBox="1">
              <a:spLocks noChangeArrowheads="1"/>
            </p:cNvSpPr>
            <p:nvPr>
              <p:custDataLst>
                <p:tags r:id="rId34"/>
              </p:custDataLst>
            </p:nvPr>
          </p:nvSpPr>
          <p:spPr bwMode="auto">
            <a:xfrm>
              <a:off x="3969" y="5669"/>
              <a:ext cx="397" cy="2268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vert="eaVert" lIns="18000" tIns="10800" rIns="36195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设备接口控制</a:t>
              </a:r>
            </a:p>
          </p:txBody>
        </p:sp>
        <p:sp>
          <p:nvSpPr>
            <p:cNvPr id="230069" name="Text Box 693"/>
            <p:cNvSpPr txBox="1">
              <a:spLocks noChangeArrowheads="1"/>
            </p:cNvSpPr>
            <p:nvPr>
              <p:custDataLst>
                <p:tags r:id="rId35"/>
              </p:custDataLst>
            </p:nvPr>
          </p:nvSpPr>
          <p:spPr bwMode="auto">
            <a:xfrm>
              <a:off x="4706" y="5215"/>
              <a:ext cx="397" cy="1361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vert="eaVert" lIns="18000" tIns="10800" rIns="36195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>
                  <a:latin typeface="宋体" panose="02010600030101010101" pitchFamily="2" charset="-122"/>
                </a:rPr>
                <a:t>格式控制</a:t>
              </a:r>
            </a:p>
          </p:txBody>
        </p:sp>
        <p:sp>
          <p:nvSpPr>
            <p:cNvPr id="230071" name="Text Box 695"/>
            <p:cNvSpPr txBox="1">
              <a:spLocks noChangeArrowheads="1"/>
            </p:cNvSpPr>
            <p:nvPr>
              <p:custDataLst>
                <p:tags r:id="rId36"/>
              </p:custDataLst>
            </p:nvPr>
          </p:nvSpPr>
          <p:spPr bwMode="auto">
            <a:xfrm>
              <a:off x="5387" y="6066"/>
              <a:ext cx="850" cy="737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10800" rIns="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>
                  <a:latin typeface="宋体" panose="02010600030101010101" pitchFamily="2" charset="-122"/>
                </a:rPr>
                <a:t>并</a:t>
              </a:r>
              <a:r>
                <a:rPr lang="en-US" altLang="zh-CN" sz="1600" b="1">
                  <a:latin typeface="宋体" panose="02010600030101010101" pitchFamily="2" charset="-122"/>
                </a:rPr>
                <a:t>/</a:t>
              </a:r>
              <a:r>
                <a:rPr lang="zh-CN" altLang="en-US" sz="1600" b="1">
                  <a:latin typeface="宋体" panose="02010600030101010101" pitchFamily="2" charset="-122"/>
                </a:rPr>
                <a:t>串转换</a:t>
              </a:r>
            </a:p>
          </p:txBody>
        </p:sp>
        <p:sp>
          <p:nvSpPr>
            <p:cNvPr id="230072" name="Text Box 696"/>
            <p:cNvSpPr txBox="1">
              <a:spLocks noChangeArrowheads="1"/>
            </p:cNvSpPr>
            <p:nvPr>
              <p:custDataLst>
                <p:tags r:id="rId37"/>
              </p:custDataLst>
            </p:nvPr>
          </p:nvSpPr>
          <p:spPr bwMode="auto">
            <a:xfrm>
              <a:off x="5387" y="5215"/>
              <a:ext cx="850" cy="737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10800" rIns="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>
                  <a:latin typeface="宋体" panose="02010600030101010101" pitchFamily="2" charset="-122"/>
                </a:rPr>
                <a:t>串</a:t>
              </a:r>
              <a:r>
                <a:rPr lang="en-US" altLang="zh-CN" sz="1600" b="1">
                  <a:latin typeface="宋体" panose="02010600030101010101" pitchFamily="2" charset="-122"/>
                </a:rPr>
                <a:t>/</a:t>
              </a:r>
              <a:r>
                <a:rPr lang="zh-CN" altLang="en-US" sz="1600" b="1">
                  <a:latin typeface="宋体" panose="02010600030101010101" pitchFamily="2" charset="-122"/>
                </a:rPr>
                <a:t>并转换</a:t>
              </a:r>
            </a:p>
          </p:txBody>
        </p:sp>
        <p:sp>
          <p:nvSpPr>
            <p:cNvPr id="230075" name="Text Box 699"/>
            <p:cNvSpPr txBox="1">
              <a:spLocks noChangeArrowheads="1"/>
            </p:cNvSpPr>
            <p:nvPr>
              <p:custDataLst>
                <p:tags r:id="rId38"/>
              </p:custDataLst>
            </p:nvPr>
          </p:nvSpPr>
          <p:spPr bwMode="auto">
            <a:xfrm>
              <a:off x="6577" y="6066"/>
              <a:ext cx="737" cy="737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>
                  <a:latin typeface="宋体" panose="02010600030101010101" pitchFamily="2" charset="-122"/>
                </a:rPr>
                <a:t>数据编码</a:t>
              </a:r>
            </a:p>
          </p:txBody>
        </p:sp>
        <p:sp>
          <p:nvSpPr>
            <p:cNvPr id="230077" name="Text Box 701"/>
            <p:cNvSpPr txBox="1">
              <a:spLocks noChangeArrowheads="1"/>
            </p:cNvSpPr>
            <p:nvPr>
              <p:custDataLst>
                <p:tags r:id="rId39"/>
              </p:custDataLst>
            </p:nvPr>
          </p:nvSpPr>
          <p:spPr bwMode="auto">
            <a:xfrm>
              <a:off x="6577" y="5215"/>
              <a:ext cx="738" cy="737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>
                  <a:latin typeface="宋体" panose="02010600030101010101" pitchFamily="2" charset="-122"/>
                </a:rPr>
                <a:t>数据译码</a:t>
              </a:r>
            </a:p>
          </p:txBody>
        </p:sp>
        <p:sp>
          <p:nvSpPr>
            <p:cNvPr id="230078" name="Text Box 702"/>
            <p:cNvSpPr txBox="1">
              <a:spLocks noChangeArrowheads="1"/>
            </p:cNvSpPr>
            <p:nvPr>
              <p:custDataLst>
                <p:tags r:id="rId40"/>
              </p:custDataLst>
            </p:nvPr>
          </p:nvSpPr>
          <p:spPr bwMode="auto">
            <a:xfrm>
              <a:off x="7598" y="5215"/>
              <a:ext cx="397" cy="1701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vert="eaVert" lIns="18000" tIns="10800" rIns="18000" bIns="10800" anchor="ctr" anchorCtr="1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时钟发生器</a:t>
              </a:r>
            </a:p>
          </p:txBody>
        </p:sp>
        <p:sp>
          <p:nvSpPr>
            <p:cNvPr id="230092" name="Text Box 716"/>
            <p:cNvSpPr txBox="1">
              <a:spLocks noChangeArrowheads="1"/>
            </p:cNvSpPr>
            <p:nvPr>
              <p:custDataLst>
                <p:tags r:id="rId41"/>
              </p:custDataLst>
            </p:nvPr>
          </p:nvSpPr>
          <p:spPr bwMode="auto">
            <a:xfrm>
              <a:off x="3005" y="7256"/>
              <a:ext cx="794" cy="680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DMA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控制</a:t>
              </a:r>
            </a:p>
          </p:txBody>
        </p:sp>
        <p:sp>
          <p:nvSpPr>
            <p:cNvPr id="230095" name="Text Box 719"/>
            <p:cNvSpPr txBox="1">
              <a:spLocks noChangeArrowheads="1"/>
            </p:cNvSpPr>
            <p:nvPr>
              <p:custDataLst>
                <p:tags r:id="rId42"/>
              </p:custDataLst>
            </p:nvPr>
          </p:nvSpPr>
          <p:spPr bwMode="auto">
            <a:xfrm>
              <a:off x="4987" y="7370"/>
              <a:ext cx="1361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数据控制</a:t>
              </a:r>
            </a:p>
          </p:txBody>
        </p:sp>
        <p:sp>
          <p:nvSpPr>
            <p:cNvPr id="230103" name="Text Box 727"/>
            <p:cNvSpPr txBox="1">
              <a:spLocks noChangeArrowheads="1"/>
            </p:cNvSpPr>
            <p:nvPr>
              <p:custDataLst>
                <p:tags r:id="rId43"/>
              </p:custDataLst>
            </p:nvPr>
          </p:nvSpPr>
          <p:spPr bwMode="auto">
            <a:xfrm>
              <a:off x="6693" y="7370"/>
              <a:ext cx="1361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数据分离</a:t>
              </a:r>
            </a:p>
          </p:txBody>
        </p:sp>
        <p:cxnSp>
          <p:nvCxnSpPr>
            <p:cNvPr id="13" name="直接连接符 12"/>
            <p:cNvCxnSpPr/>
            <p:nvPr>
              <p:custDataLst>
                <p:tags r:id="rId44"/>
              </p:custDataLst>
            </p:nvPr>
          </p:nvCxnSpPr>
          <p:spPr>
            <a:xfrm flipH="1" flipV="1">
              <a:off x="7994" y="5442"/>
              <a:ext cx="454" cy="0"/>
            </a:xfrm>
            <a:prstGeom prst="line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4" name="直接连接符 13"/>
            <p:cNvCxnSpPr/>
            <p:nvPr>
              <p:custDataLst>
                <p:tags r:id="rId45"/>
              </p:custDataLst>
            </p:nvPr>
          </p:nvCxnSpPr>
          <p:spPr>
            <a:xfrm flipH="1" flipV="1">
              <a:off x="7314" y="5442"/>
              <a:ext cx="283" cy="0"/>
            </a:xfrm>
            <a:prstGeom prst="line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5" name="直接连接符 14"/>
            <p:cNvCxnSpPr/>
            <p:nvPr>
              <p:custDataLst>
                <p:tags r:id="rId46"/>
              </p:custDataLst>
            </p:nvPr>
          </p:nvCxnSpPr>
          <p:spPr>
            <a:xfrm flipH="1" flipV="1">
              <a:off x="6237" y="5442"/>
              <a:ext cx="340" cy="0"/>
            </a:xfrm>
            <a:prstGeom prst="line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6" name="直接连接符 15"/>
            <p:cNvCxnSpPr/>
            <p:nvPr>
              <p:custDataLst>
                <p:tags r:id="rId47"/>
              </p:custDataLst>
            </p:nvPr>
          </p:nvCxnSpPr>
          <p:spPr>
            <a:xfrm flipH="1" flipV="1">
              <a:off x="5103" y="5442"/>
              <a:ext cx="283" cy="0"/>
            </a:xfrm>
            <a:prstGeom prst="line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7" name="直接连接符 16"/>
            <p:cNvCxnSpPr/>
            <p:nvPr>
              <p:custDataLst>
                <p:tags r:id="rId48"/>
              </p:custDataLst>
            </p:nvPr>
          </p:nvCxnSpPr>
          <p:spPr>
            <a:xfrm flipV="1">
              <a:off x="5103" y="6293"/>
              <a:ext cx="283" cy="0"/>
            </a:xfrm>
            <a:prstGeom prst="line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8" name="直接连接符 17"/>
            <p:cNvCxnSpPr/>
            <p:nvPr>
              <p:custDataLst>
                <p:tags r:id="rId49"/>
              </p:custDataLst>
            </p:nvPr>
          </p:nvCxnSpPr>
          <p:spPr>
            <a:xfrm flipV="1">
              <a:off x="6238" y="6293"/>
              <a:ext cx="340" cy="0"/>
            </a:xfrm>
            <a:prstGeom prst="line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9" name="直接连接符 18"/>
            <p:cNvCxnSpPr/>
            <p:nvPr>
              <p:custDataLst>
                <p:tags r:id="rId50"/>
              </p:custDataLst>
            </p:nvPr>
          </p:nvCxnSpPr>
          <p:spPr>
            <a:xfrm flipV="1">
              <a:off x="7998" y="5839"/>
              <a:ext cx="454" cy="0"/>
            </a:xfrm>
            <a:prstGeom prst="line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0" name="直接连接符 19"/>
            <p:cNvCxnSpPr/>
            <p:nvPr>
              <p:custDataLst>
                <p:tags r:id="rId51"/>
              </p:custDataLst>
            </p:nvPr>
          </p:nvCxnSpPr>
          <p:spPr>
            <a:xfrm flipH="1" flipV="1">
              <a:off x="4366" y="5442"/>
              <a:ext cx="340" cy="0"/>
            </a:xfrm>
            <a:prstGeom prst="line">
              <a:avLst/>
            </a:prstGeom>
            <a:noFill/>
            <a:ln w="19050" cap="flat" cmpd="sng" algn="ctr">
              <a:solidFill>
                <a:schemeClr val="accent2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21" name="直接连接符 20"/>
            <p:cNvCxnSpPr/>
            <p:nvPr>
              <p:custDataLst>
                <p:tags r:id="rId52"/>
              </p:custDataLst>
            </p:nvPr>
          </p:nvCxnSpPr>
          <p:spPr>
            <a:xfrm>
              <a:off x="4366" y="7200"/>
              <a:ext cx="3855" cy="0"/>
            </a:xfrm>
            <a:prstGeom prst="line">
              <a:avLst/>
            </a:prstGeom>
            <a:noFill/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" name="直接连接符 21"/>
            <p:cNvCxnSpPr/>
            <p:nvPr>
              <p:custDataLst>
                <p:tags r:id="rId53"/>
              </p:custDataLst>
            </p:nvPr>
          </p:nvCxnSpPr>
          <p:spPr>
            <a:xfrm>
              <a:off x="4366" y="6066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3" name="直接连接符 22"/>
            <p:cNvCxnSpPr/>
            <p:nvPr>
              <p:custDataLst>
                <p:tags r:id="rId54"/>
              </p:custDataLst>
            </p:nvPr>
          </p:nvCxnSpPr>
          <p:spPr>
            <a:xfrm>
              <a:off x="4366" y="7030"/>
              <a:ext cx="3742" cy="0"/>
            </a:xfrm>
            <a:prstGeom prst="line">
              <a:avLst/>
            </a:prstGeom>
            <a:noFill/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" name="直接连接符 23"/>
            <p:cNvCxnSpPr/>
            <p:nvPr>
              <p:custDataLst>
                <p:tags r:id="rId55"/>
              </p:custDataLst>
            </p:nvPr>
          </p:nvCxnSpPr>
          <p:spPr>
            <a:xfrm flipH="1" flipV="1">
              <a:off x="4366" y="6179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5" name="直接连接符 24"/>
            <p:cNvCxnSpPr/>
            <p:nvPr>
              <p:custDataLst>
                <p:tags r:id="rId56"/>
              </p:custDataLst>
            </p:nvPr>
          </p:nvCxnSpPr>
          <p:spPr>
            <a:xfrm flipH="1" flipV="1">
              <a:off x="4366" y="7313"/>
              <a:ext cx="4082" cy="0"/>
            </a:xfrm>
            <a:prstGeom prst="line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6" name="直接连接符 25"/>
            <p:cNvCxnSpPr/>
            <p:nvPr>
              <p:custDataLst>
                <p:tags r:id="rId57"/>
              </p:custDataLst>
            </p:nvPr>
          </p:nvCxnSpPr>
          <p:spPr>
            <a:xfrm>
              <a:off x="4366" y="7823"/>
              <a:ext cx="4082" cy="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35" name="直接连接符 34"/>
            <p:cNvCxnSpPr/>
            <p:nvPr>
              <p:custDataLst>
                <p:tags r:id="rId58"/>
              </p:custDataLst>
            </p:nvPr>
          </p:nvCxnSpPr>
          <p:spPr>
            <a:xfrm flipV="1">
              <a:off x="8112" y="6293"/>
              <a:ext cx="340" cy="0"/>
            </a:xfrm>
            <a:prstGeom prst="line">
              <a:avLst/>
            </a:prstGeom>
            <a:noFill/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36" name="直接连接符 35"/>
            <p:cNvCxnSpPr/>
            <p:nvPr>
              <p:custDataLst>
                <p:tags r:id="rId59"/>
              </p:custDataLst>
            </p:nvPr>
          </p:nvCxnSpPr>
          <p:spPr>
            <a:xfrm>
              <a:off x="8112" y="6293"/>
              <a:ext cx="0" cy="737"/>
            </a:xfrm>
            <a:prstGeom prst="line">
              <a:avLst/>
            </a:prstGeom>
            <a:noFill/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9" name="直接连接符 38"/>
            <p:cNvCxnSpPr/>
            <p:nvPr>
              <p:custDataLst>
                <p:tags r:id="rId60"/>
              </p:custDataLst>
            </p:nvPr>
          </p:nvCxnSpPr>
          <p:spPr>
            <a:xfrm>
              <a:off x="6407" y="5102"/>
              <a:ext cx="0" cy="2665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sp>
          <p:nvSpPr>
            <p:cNvPr id="230060" name="Text Box 684"/>
            <p:cNvSpPr txBox="1">
              <a:spLocks noChangeArrowheads="1"/>
            </p:cNvSpPr>
            <p:nvPr>
              <p:custDataLst>
                <p:tags r:id="rId61"/>
              </p:custDataLst>
            </p:nvPr>
          </p:nvSpPr>
          <p:spPr bwMode="auto">
            <a:xfrm>
              <a:off x="1475" y="5272"/>
              <a:ext cx="397" cy="2494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vert="eaVert"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磁盘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I/O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接口</a:t>
              </a:r>
            </a:p>
          </p:txBody>
        </p:sp>
        <p:sp>
          <p:nvSpPr>
            <p:cNvPr id="230096" name="Text Box 720"/>
            <p:cNvSpPr txBox="1">
              <a:spLocks noChangeArrowheads="1"/>
            </p:cNvSpPr>
            <p:nvPr>
              <p:custDataLst>
                <p:tags r:id="rId62"/>
              </p:custDataLst>
            </p:nvPr>
          </p:nvSpPr>
          <p:spPr bwMode="auto">
            <a:xfrm>
              <a:off x="1928" y="5102"/>
              <a:ext cx="794" cy="28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Data</a:t>
              </a:r>
            </a:p>
          </p:txBody>
        </p:sp>
        <p:sp>
          <p:nvSpPr>
            <p:cNvPr id="230097" name="Text Box 721"/>
            <p:cNvSpPr txBox="1">
              <a:spLocks noChangeArrowheads="1"/>
            </p:cNvSpPr>
            <p:nvPr>
              <p:custDataLst>
                <p:tags r:id="rId63"/>
              </p:custDataLst>
            </p:nvPr>
          </p:nvSpPr>
          <p:spPr bwMode="auto">
            <a:xfrm>
              <a:off x="2042" y="5952"/>
              <a:ext cx="567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highlight>
                    <a:srgbClr val="CC99FF"/>
                  </a:highlight>
                  <a:latin typeface="宋体" panose="02010600030101010101" pitchFamily="2" charset="-122"/>
                </a:rPr>
                <a:t>REQ</a:t>
              </a:r>
            </a:p>
          </p:txBody>
        </p:sp>
        <p:sp>
          <p:nvSpPr>
            <p:cNvPr id="230098" name="Text Box 722"/>
            <p:cNvSpPr txBox="1">
              <a:spLocks noChangeArrowheads="1"/>
            </p:cNvSpPr>
            <p:nvPr>
              <p:custDataLst>
                <p:tags r:id="rId64"/>
              </p:custDataLst>
            </p:nvPr>
          </p:nvSpPr>
          <p:spPr bwMode="auto">
            <a:xfrm>
              <a:off x="1985" y="6802"/>
              <a:ext cx="737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highlight>
                    <a:srgbClr val="CC99FF"/>
                  </a:highlight>
                  <a:latin typeface="宋体" panose="02010600030101010101" pitchFamily="2" charset="-122"/>
                </a:rPr>
                <a:t>BUSY</a:t>
              </a:r>
            </a:p>
          </p:txBody>
        </p:sp>
        <p:sp>
          <p:nvSpPr>
            <p:cNvPr id="230099" name="Text Box 723"/>
            <p:cNvSpPr txBox="1">
              <a:spLocks noChangeArrowheads="1"/>
            </p:cNvSpPr>
            <p:nvPr>
              <p:custDataLst>
                <p:tags r:id="rId65"/>
              </p:custDataLst>
            </p:nvPr>
          </p:nvSpPr>
          <p:spPr bwMode="auto">
            <a:xfrm>
              <a:off x="2042" y="5556"/>
              <a:ext cx="567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highlight>
                    <a:srgbClr val="CCCCFF"/>
                  </a:highlight>
                  <a:latin typeface="宋体" panose="02010600030101010101" pitchFamily="2" charset="-122"/>
                </a:rPr>
                <a:t>C/D</a:t>
              </a:r>
              <a:endParaRPr lang="zh-CN" altLang="en-US" sz="1600" b="1" dirty="0">
                <a:highlight>
                  <a:srgbClr val="CCCCFF"/>
                </a:highlight>
                <a:latin typeface="宋体" panose="02010600030101010101" pitchFamily="2" charset="-122"/>
              </a:endParaRPr>
            </a:p>
          </p:txBody>
        </p:sp>
        <p:sp>
          <p:nvSpPr>
            <p:cNvPr id="230101" name="Text Box 725"/>
            <p:cNvSpPr txBox="1">
              <a:spLocks noChangeArrowheads="1"/>
            </p:cNvSpPr>
            <p:nvPr>
              <p:custDataLst>
                <p:tags r:id="rId66"/>
              </p:custDataLst>
            </p:nvPr>
          </p:nvSpPr>
          <p:spPr bwMode="auto">
            <a:xfrm>
              <a:off x="1929" y="7199"/>
              <a:ext cx="794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DREQ</a:t>
              </a:r>
            </a:p>
          </p:txBody>
        </p:sp>
        <p:cxnSp>
          <p:nvCxnSpPr>
            <p:cNvPr id="27" name="直接连接符 26"/>
            <p:cNvCxnSpPr/>
            <p:nvPr>
              <p:custDataLst>
                <p:tags r:id="rId67"/>
              </p:custDataLst>
            </p:nvPr>
          </p:nvCxnSpPr>
          <p:spPr>
            <a:xfrm flipH="1" flipV="1">
              <a:off x="1872" y="5386"/>
              <a:ext cx="1134" cy="0"/>
            </a:xfrm>
            <a:prstGeom prst="line">
              <a:avLst/>
            </a:prstGeom>
            <a:noFill/>
            <a:ln w="19050" cap="flat" cmpd="sng" algn="ctr">
              <a:solidFill>
                <a:schemeClr val="accent2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28" name="直接连接符 27"/>
            <p:cNvCxnSpPr/>
            <p:nvPr>
              <p:custDataLst>
                <p:tags r:id="rId68"/>
              </p:custDataLst>
            </p:nvPr>
          </p:nvCxnSpPr>
          <p:spPr>
            <a:xfrm flipH="1">
              <a:off x="2836" y="5386"/>
              <a:ext cx="0" cy="340"/>
            </a:xfrm>
            <a:prstGeom prst="line">
              <a:avLst/>
            </a:prstGeom>
            <a:noFill/>
            <a:ln w="15875" cap="flat" cmpd="sng" algn="ctr">
              <a:solidFill>
                <a:srgbClr val="C00000"/>
              </a:solidFill>
              <a:prstDash val="solid"/>
              <a:round/>
              <a:headEnd type="oval" w="sm" len="sm"/>
              <a:tailEnd type="none" w="med" len="med"/>
            </a:ln>
          </p:spPr>
        </p:cxnSp>
        <p:cxnSp>
          <p:nvCxnSpPr>
            <p:cNvPr id="29" name="直接连接符 28"/>
            <p:cNvCxnSpPr/>
            <p:nvPr>
              <p:custDataLst>
                <p:tags r:id="rId69"/>
              </p:custDataLst>
            </p:nvPr>
          </p:nvCxnSpPr>
          <p:spPr>
            <a:xfrm>
              <a:off x="2836" y="5726"/>
              <a:ext cx="1134" cy="0"/>
            </a:xfrm>
            <a:prstGeom prst="line">
              <a:avLst/>
            </a:prstGeom>
            <a:noFill/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30" name="直接连接符 29"/>
            <p:cNvCxnSpPr/>
            <p:nvPr>
              <p:custDataLst>
                <p:tags r:id="rId70"/>
              </p:custDataLst>
            </p:nvPr>
          </p:nvCxnSpPr>
          <p:spPr>
            <a:xfrm>
              <a:off x="1871" y="5896"/>
              <a:ext cx="2098" cy="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31" name="直接连接符 30"/>
            <p:cNvCxnSpPr/>
            <p:nvPr>
              <p:custDataLst>
                <p:tags r:id="rId71"/>
              </p:custDataLst>
            </p:nvPr>
          </p:nvCxnSpPr>
          <p:spPr>
            <a:xfrm>
              <a:off x="1871" y="6292"/>
              <a:ext cx="2098" cy="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32" name="直接连接符 31"/>
            <p:cNvCxnSpPr/>
            <p:nvPr>
              <p:custDataLst>
                <p:tags r:id="rId72"/>
              </p:custDataLst>
            </p:nvPr>
          </p:nvCxnSpPr>
          <p:spPr>
            <a:xfrm flipH="1" flipV="1">
              <a:off x="1871" y="6406"/>
              <a:ext cx="2098" cy="0"/>
            </a:xfrm>
            <a:prstGeom prst="line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33" name="直接连接符 32"/>
            <p:cNvCxnSpPr/>
            <p:nvPr>
              <p:custDataLst>
                <p:tags r:id="rId73"/>
              </p:custDataLst>
            </p:nvPr>
          </p:nvCxnSpPr>
          <p:spPr>
            <a:xfrm flipH="1" flipV="1">
              <a:off x="1872" y="7143"/>
              <a:ext cx="2098" cy="0"/>
            </a:xfrm>
            <a:prstGeom prst="line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34" name="直接连接符 33"/>
            <p:cNvCxnSpPr/>
            <p:nvPr>
              <p:custDataLst>
                <p:tags r:id="rId74"/>
              </p:custDataLst>
            </p:nvPr>
          </p:nvCxnSpPr>
          <p:spPr>
            <a:xfrm flipH="1" flipV="1">
              <a:off x="1872" y="7539"/>
              <a:ext cx="1134" cy="0"/>
            </a:xfrm>
            <a:prstGeom prst="line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37" name="直接连接符 36"/>
            <p:cNvCxnSpPr/>
            <p:nvPr>
              <p:custDataLst>
                <p:tags r:id="rId75"/>
              </p:custDataLst>
            </p:nvPr>
          </p:nvCxnSpPr>
          <p:spPr>
            <a:xfrm>
              <a:off x="1871" y="7653"/>
              <a:ext cx="1134" cy="0"/>
            </a:xfrm>
            <a:prstGeom prst="line">
              <a:avLst/>
            </a:prstGeom>
            <a:noFill/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41" name="Text Box 725"/>
            <p:cNvSpPr txBox="1">
              <a:spLocks noChangeArrowheads="1"/>
            </p:cNvSpPr>
            <p:nvPr>
              <p:custDataLst>
                <p:tags r:id="rId76"/>
              </p:custDataLst>
            </p:nvPr>
          </p:nvSpPr>
          <p:spPr bwMode="auto">
            <a:xfrm>
              <a:off x="1929" y="7653"/>
              <a:ext cx="794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DACK</a:t>
              </a:r>
            </a:p>
          </p:txBody>
        </p:sp>
        <p:cxnSp>
          <p:nvCxnSpPr>
            <p:cNvPr id="38" name="直接连接符 37"/>
            <p:cNvCxnSpPr/>
            <p:nvPr>
              <p:custDataLst>
                <p:tags r:id="rId77"/>
              </p:custDataLst>
            </p:nvPr>
          </p:nvCxnSpPr>
          <p:spPr>
            <a:xfrm flipV="1">
              <a:off x="8225" y="6689"/>
              <a:ext cx="227" cy="0"/>
            </a:xfrm>
            <a:prstGeom prst="line">
              <a:avLst/>
            </a:prstGeom>
            <a:noFill/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40" name="直接连接符 39"/>
            <p:cNvCxnSpPr/>
            <p:nvPr>
              <p:custDataLst>
                <p:tags r:id="rId78"/>
              </p:custDataLst>
            </p:nvPr>
          </p:nvCxnSpPr>
          <p:spPr>
            <a:xfrm>
              <a:off x="8225" y="6689"/>
              <a:ext cx="0" cy="510"/>
            </a:xfrm>
            <a:prstGeom prst="line">
              <a:avLst/>
            </a:prstGeom>
            <a:noFill/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7" name="直接连接符 136"/>
            <p:cNvCxnSpPr/>
            <p:nvPr>
              <p:custDataLst>
                <p:tags r:id="rId79"/>
              </p:custDataLst>
            </p:nvPr>
          </p:nvCxnSpPr>
          <p:spPr>
            <a:xfrm flipV="1">
              <a:off x="7314" y="6293"/>
              <a:ext cx="283" cy="0"/>
            </a:xfrm>
            <a:prstGeom prst="line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41" name="Text Box 721"/>
            <p:cNvSpPr txBox="1">
              <a:spLocks noChangeArrowheads="1"/>
            </p:cNvSpPr>
            <p:nvPr>
              <p:custDataLst>
                <p:tags r:id="rId80"/>
              </p:custDataLst>
            </p:nvPr>
          </p:nvSpPr>
          <p:spPr bwMode="auto">
            <a:xfrm>
              <a:off x="2042" y="6406"/>
              <a:ext cx="567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highlight>
                    <a:srgbClr val="CC99FF"/>
                  </a:highlight>
                  <a:latin typeface="宋体" panose="02010600030101010101" pitchFamily="2" charset="-122"/>
                </a:rPr>
                <a:t>ACK</a:t>
              </a:r>
            </a:p>
          </p:txBody>
        </p:sp>
        <p:sp>
          <p:nvSpPr>
            <p:cNvPr id="45" name="Text Box 719"/>
            <p:cNvSpPr txBox="1">
              <a:spLocks noChangeArrowheads="1"/>
            </p:cNvSpPr>
            <p:nvPr>
              <p:custDataLst>
                <p:tags r:id="rId81"/>
              </p:custDataLst>
            </p:nvPr>
          </p:nvSpPr>
          <p:spPr bwMode="auto">
            <a:xfrm>
              <a:off x="4479" y="6690"/>
              <a:ext cx="737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盘号</a:t>
              </a:r>
            </a:p>
          </p:txBody>
        </p:sp>
      </p:grpSp>
      <p:sp>
        <p:nvSpPr>
          <p:cNvPr id="3" name="AutoShape 654">
            <a:hlinkClick r:id="" action="ppaction://hlinkshowjump?jump=nextslide" highlightClick="1"/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 rot="10800000">
            <a:off x="2988518" y="6524451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43" name="组合 142">
            <a:extLst>
              <a:ext uri="{FF2B5EF4-FFF2-40B4-BE49-F238E27FC236}">
                <a16:creationId xmlns:a16="http://schemas.microsoft.com/office/drawing/2014/main" id="{A1BD877B-7E2E-4332-9BAC-1F0CBFE9ECD1}"/>
              </a:ext>
            </a:extLst>
          </p:cNvPr>
          <p:cNvGrpSpPr/>
          <p:nvPr/>
        </p:nvGrpSpPr>
        <p:grpSpPr>
          <a:xfrm>
            <a:off x="6228000" y="476672"/>
            <a:ext cx="2448075" cy="1153795"/>
            <a:chOff x="6228000" y="540000"/>
            <a:chExt cx="2448075" cy="1153795"/>
          </a:xfrm>
        </p:grpSpPr>
        <p:sp>
          <p:nvSpPr>
            <p:cNvPr id="146" name="Text Box 101">
              <a:extLst>
                <a:ext uri="{FF2B5EF4-FFF2-40B4-BE49-F238E27FC236}">
                  <a16:creationId xmlns:a16="http://schemas.microsoft.com/office/drawing/2014/main" id="{A9676BBC-49AA-45B8-ACA4-89A7442055E5}"/>
                </a:ext>
              </a:extLst>
            </p:cNvPr>
            <p:cNvSpPr txBox="1"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7524201" y="540000"/>
              <a:ext cx="431794" cy="2159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0" tIns="0" rIns="0" bIns="0" anchor="ctr" anchorCtr="0"/>
            <a:lstStyle/>
            <a:p>
              <a:r>
                <a:rPr lang="zh-CN" altLang="en-US" sz="1600" b="1" dirty="0">
                  <a:latin typeface="宋体" panose="02010600030101010101" pitchFamily="2" charset="-122"/>
                </a:rPr>
                <a:t>磁道</a:t>
              </a:r>
            </a:p>
          </p:txBody>
        </p:sp>
        <p:sp>
          <p:nvSpPr>
            <p:cNvPr id="149" name="Oval 105">
              <a:extLst>
                <a:ext uri="{FF2B5EF4-FFF2-40B4-BE49-F238E27FC236}">
                  <a16:creationId xmlns:a16="http://schemas.microsoft.com/office/drawing/2014/main" id="{E7637A29-39E5-4149-B7E4-063EADD9D8A0}"/>
                </a:ext>
              </a:extLst>
            </p:cNvPr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6228184" y="541270"/>
              <a:ext cx="1152509" cy="1152525"/>
            </a:xfrm>
            <a:prstGeom prst="ellipse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round/>
            </a:ln>
            <a:effectLst/>
          </p:spPr>
          <p:txBody>
            <a:bodyPr lIns="0" tIns="0" rIns="0" bIns="0"/>
            <a:lstStyle/>
            <a:p>
              <a:endParaRPr lang="zh-CN" altLang="en-US"/>
            </a:p>
          </p:txBody>
        </p:sp>
        <p:sp>
          <p:nvSpPr>
            <p:cNvPr id="174" name="Oval 142">
              <a:extLst>
                <a:ext uri="{FF2B5EF4-FFF2-40B4-BE49-F238E27FC236}">
                  <a16:creationId xmlns:a16="http://schemas.microsoft.com/office/drawing/2014/main" id="{D27D21FC-B765-4B0E-B62D-F221E01CAD62}"/>
                </a:ext>
              </a:extLst>
            </p:cNvPr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6301208" y="614295"/>
              <a:ext cx="1008366" cy="1008380"/>
            </a:xfrm>
            <a:prstGeom prst="ellipse">
              <a:avLst/>
            </a:prstGeom>
            <a:noFill/>
            <a:ln w="31750" cmpd="dbl">
              <a:solidFill>
                <a:schemeClr val="tx1"/>
              </a:solidFill>
              <a:round/>
            </a:ln>
            <a:effectLst/>
          </p:spPr>
          <p:txBody>
            <a:bodyPr lIns="0" tIns="0" rIns="0" bIns="0"/>
            <a:lstStyle/>
            <a:p>
              <a:endParaRPr lang="zh-CN" altLang="en-US"/>
            </a:p>
          </p:txBody>
        </p:sp>
        <p:sp>
          <p:nvSpPr>
            <p:cNvPr id="181" name="Oval 144">
              <a:extLst>
                <a:ext uri="{FF2B5EF4-FFF2-40B4-BE49-F238E27FC236}">
                  <a16:creationId xmlns:a16="http://schemas.microsoft.com/office/drawing/2014/main" id="{13271D1F-2190-41B2-95FA-919DBF11BB96}"/>
                </a:ext>
              </a:extLst>
            </p:cNvPr>
            <p:cNvSpPr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6517105" y="834640"/>
              <a:ext cx="576572" cy="576580"/>
            </a:xfrm>
            <a:prstGeom prst="ellipse">
              <a:avLst/>
            </a:prstGeom>
            <a:noFill/>
            <a:ln w="31750" cmpd="dbl">
              <a:solidFill>
                <a:schemeClr val="tx1"/>
              </a:solidFill>
              <a:round/>
            </a:ln>
            <a:effectLst/>
          </p:spPr>
          <p:txBody>
            <a:bodyPr lIns="0" tIns="0" rIns="0" bIns="0"/>
            <a:lstStyle/>
            <a:p>
              <a:endParaRPr lang="zh-CN" altLang="en-US"/>
            </a:p>
          </p:txBody>
        </p:sp>
        <p:sp>
          <p:nvSpPr>
            <p:cNvPr id="183" name="Oval 145">
              <a:extLst>
                <a:ext uri="{FF2B5EF4-FFF2-40B4-BE49-F238E27FC236}">
                  <a16:creationId xmlns:a16="http://schemas.microsoft.com/office/drawing/2014/main" id="{97117DAE-F91E-48C0-AC11-11F79254E464}"/>
                </a:ext>
              </a:extLst>
            </p:cNvPr>
            <p:cNvSpPr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6607909" y="941320"/>
              <a:ext cx="386075" cy="379730"/>
            </a:xfrm>
            <a:prstGeom prst="ellipse">
              <a:avLst/>
            </a:prstGeom>
            <a:noFill/>
            <a:ln w="31750" cmpd="dbl">
              <a:solidFill>
                <a:schemeClr val="tx1"/>
              </a:solidFill>
              <a:round/>
            </a:ln>
            <a:effectLst/>
          </p:spPr>
          <p:txBody>
            <a:bodyPr lIns="0" tIns="0" rIns="0" bIns="0"/>
            <a:lstStyle/>
            <a:p>
              <a:endParaRPr lang="zh-CN" altLang="en-US"/>
            </a:p>
          </p:txBody>
        </p:sp>
        <p:sp>
          <p:nvSpPr>
            <p:cNvPr id="184" name="Oval 146">
              <a:extLst>
                <a:ext uri="{FF2B5EF4-FFF2-40B4-BE49-F238E27FC236}">
                  <a16:creationId xmlns:a16="http://schemas.microsoft.com/office/drawing/2014/main" id="{2F73EA7D-B352-4542-A0F2-DAE79DC6EC4C}"/>
                </a:ext>
              </a:extLst>
            </p:cNvPr>
            <p:cNvSpPr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6693633" y="1017520"/>
              <a:ext cx="215897" cy="215900"/>
            </a:xfrm>
            <a:prstGeom prst="ellipse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round/>
            </a:ln>
            <a:effectLst/>
          </p:spPr>
          <p:txBody>
            <a:bodyPr lIns="0" tIns="0" rIns="0" bIns="0"/>
            <a:lstStyle/>
            <a:p>
              <a:endParaRPr lang="zh-CN" altLang="en-US"/>
            </a:p>
          </p:txBody>
        </p:sp>
        <p:sp>
          <p:nvSpPr>
            <p:cNvPr id="185" name="AutoShape 162">
              <a:extLst>
                <a:ext uri="{FF2B5EF4-FFF2-40B4-BE49-F238E27FC236}">
                  <a16:creationId xmlns:a16="http://schemas.microsoft.com/office/drawing/2014/main" id="{A9EACA45-3D30-483C-BFED-ECDA6111B73A}"/>
                </a:ext>
              </a:extLst>
            </p:cNvPr>
            <p:cNvSpPr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 rot="5400000">
              <a:off x="7955993" y="523498"/>
              <a:ext cx="287655" cy="1115680"/>
            </a:xfrm>
            <a:prstGeom prst="wave">
              <a:avLst>
                <a:gd name="adj1" fmla="val 1968"/>
                <a:gd name="adj2" fmla="val 0"/>
              </a:avLst>
            </a:prstGeom>
            <a:solidFill>
              <a:srgbClr val="99CCFF">
                <a:alpha val="80000"/>
              </a:srgbClr>
            </a:solidFill>
            <a:ln w="12700">
              <a:solidFill>
                <a:schemeClr val="tx1"/>
              </a:solidFill>
              <a:prstDash val="sysDash"/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6" name="Rectangle 163">
              <a:extLst>
                <a:ext uri="{FF2B5EF4-FFF2-40B4-BE49-F238E27FC236}">
                  <a16:creationId xmlns:a16="http://schemas.microsoft.com/office/drawing/2014/main" id="{9CBCF238-9691-432D-AC95-D5F7785F7CD6}"/>
                </a:ext>
              </a:extLst>
            </p:cNvPr>
            <p:cNvSpPr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7632149" y="1010535"/>
              <a:ext cx="215897" cy="142875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7" name="Rectangle 164">
              <a:extLst>
                <a:ext uri="{FF2B5EF4-FFF2-40B4-BE49-F238E27FC236}">
                  <a16:creationId xmlns:a16="http://schemas.microsoft.com/office/drawing/2014/main" id="{BAE28AE7-F684-4C54-9A94-BC56AEF3B5C3}"/>
                </a:ext>
              </a:extLst>
            </p:cNvPr>
            <p:cNvSpPr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7992189" y="1010535"/>
              <a:ext cx="215897" cy="142875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8" name="Rectangle 165">
              <a:extLst>
                <a:ext uri="{FF2B5EF4-FFF2-40B4-BE49-F238E27FC236}">
                  <a16:creationId xmlns:a16="http://schemas.microsoft.com/office/drawing/2014/main" id="{9BD19409-3A03-4371-9AFC-09961BFFE0DA}"/>
                </a:ext>
              </a:extLst>
            </p:cNvPr>
            <p:cNvSpPr>
              <a:spLocks noChangeArrowheads="1"/>
            </p:cNvSpPr>
            <p:nvPr>
              <p:custDataLst>
                <p:tags r:id="rId20"/>
              </p:custDataLst>
            </p:nvPr>
          </p:nvSpPr>
          <p:spPr bwMode="auto">
            <a:xfrm>
              <a:off x="8352229" y="1010535"/>
              <a:ext cx="215897" cy="142875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9" name="Text Box 169">
              <a:extLst>
                <a:ext uri="{FF2B5EF4-FFF2-40B4-BE49-F238E27FC236}">
                  <a16:creationId xmlns:a16="http://schemas.microsoft.com/office/drawing/2014/main" id="{DD083001-6577-486F-92F0-EAF80BE795C1}"/>
                </a:ext>
              </a:extLst>
            </p:cNvPr>
            <p:cNvSpPr txBox="1">
              <a:spLocks noChangeArrowheads="1"/>
            </p:cNvSpPr>
            <p:nvPr>
              <p:custDataLst>
                <p:tags r:id="rId21"/>
              </p:custDataLst>
            </p:nvPr>
          </p:nvSpPr>
          <p:spPr bwMode="auto">
            <a:xfrm>
              <a:off x="7380058" y="1431540"/>
              <a:ext cx="1296017" cy="252095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0" tIns="0" rIns="0" bIns="0" anchor="ctr" anchorCtr="0"/>
            <a:lstStyle/>
            <a:p>
              <a:r>
                <a:rPr lang="zh-CN" altLang="en-US" sz="1600" b="1" dirty="0">
                  <a:latin typeface="宋体" panose="02010600030101010101" pitchFamily="2" charset="-122"/>
                </a:rPr>
                <a:t>位信息磁化元</a:t>
              </a:r>
            </a:p>
          </p:txBody>
        </p:sp>
        <p:cxnSp>
          <p:nvCxnSpPr>
            <p:cNvPr id="190" name="直接箭头连接符 189">
              <a:extLst>
                <a:ext uri="{FF2B5EF4-FFF2-40B4-BE49-F238E27FC236}">
                  <a16:creationId xmlns:a16="http://schemas.microsoft.com/office/drawing/2014/main" id="{55284D54-2856-432F-A2E2-D0A288367CD1}"/>
                </a:ext>
              </a:extLst>
            </p:cNvPr>
            <p:cNvCxnSpPr/>
            <p:nvPr>
              <p:custDataLst>
                <p:tags r:id="rId22"/>
              </p:custDataLst>
            </p:nvPr>
          </p:nvCxnSpPr>
          <p:spPr bwMode="auto">
            <a:xfrm flipH="1" flipV="1">
              <a:off x="8136332" y="1153410"/>
              <a:ext cx="205737" cy="259715"/>
            </a:xfrm>
            <a:prstGeom prst="straightConnector1">
              <a:avLst/>
            </a:prstGeom>
            <a:noFill/>
            <a:ln w="12700" cap="flat" cmpd="sng" algn="ctr">
              <a:solidFill>
                <a:schemeClr val="accent2"/>
              </a:solidFill>
              <a:prstDash val="sysDash"/>
              <a:round/>
              <a:headEnd type="none" w="med" len="med"/>
              <a:tailEnd type="none"/>
            </a:ln>
          </p:spPr>
        </p:cxnSp>
        <p:cxnSp>
          <p:nvCxnSpPr>
            <p:cNvPr id="191" name="直接箭头连接符 190">
              <a:extLst>
                <a:ext uri="{FF2B5EF4-FFF2-40B4-BE49-F238E27FC236}">
                  <a16:creationId xmlns:a16="http://schemas.microsoft.com/office/drawing/2014/main" id="{65509C38-DE0F-41A7-9757-06F3AE73D863}"/>
                </a:ext>
              </a:extLst>
            </p:cNvPr>
            <p:cNvCxnSpPr/>
            <p:nvPr>
              <p:custDataLst>
                <p:tags r:id="rId23"/>
              </p:custDataLst>
            </p:nvPr>
          </p:nvCxnSpPr>
          <p:spPr bwMode="auto">
            <a:xfrm flipH="1" flipV="1">
              <a:off x="7740098" y="1153410"/>
              <a:ext cx="572127" cy="259715"/>
            </a:xfrm>
            <a:prstGeom prst="straightConnector1">
              <a:avLst/>
            </a:prstGeom>
            <a:noFill/>
            <a:ln w="12700" cap="flat" cmpd="sng" algn="ctr">
              <a:solidFill>
                <a:schemeClr val="accent2"/>
              </a:solidFill>
              <a:prstDash val="sysDash"/>
              <a:round/>
              <a:headEnd type="none" w="med" len="med"/>
              <a:tailEnd type="none"/>
            </a:ln>
          </p:spPr>
        </p:cxnSp>
        <p:cxnSp>
          <p:nvCxnSpPr>
            <p:cNvPr id="192" name="直接箭头连接符 191">
              <a:extLst>
                <a:ext uri="{FF2B5EF4-FFF2-40B4-BE49-F238E27FC236}">
                  <a16:creationId xmlns:a16="http://schemas.microsoft.com/office/drawing/2014/main" id="{3AD8EC05-70B4-4FC5-BD2B-A2F8727C78C6}"/>
                </a:ext>
              </a:extLst>
            </p:cNvPr>
            <p:cNvCxnSpPr/>
            <p:nvPr>
              <p:custDataLst>
                <p:tags r:id="rId24"/>
              </p:custDataLst>
            </p:nvPr>
          </p:nvCxnSpPr>
          <p:spPr bwMode="auto">
            <a:xfrm flipV="1">
              <a:off x="7020653" y="685415"/>
              <a:ext cx="467988" cy="215900"/>
            </a:xfrm>
            <a:prstGeom prst="straightConnector1">
              <a:avLst/>
            </a:prstGeom>
            <a:noFill/>
            <a:ln w="12700" cap="flat" cmpd="sng" algn="ctr">
              <a:solidFill>
                <a:srgbClr val="C00000"/>
              </a:solidFill>
              <a:prstDash val="sysDash"/>
              <a:round/>
              <a:headEnd type="none" w="med" len="med"/>
              <a:tailEnd type="none"/>
            </a:ln>
          </p:spPr>
        </p:cxnSp>
        <p:cxnSp>
          <p:nvCxnSpPr>
            <p:cNvPr id="193" name="直接箭头连接符 192">
              <a:extLst>
                <a:ext uri="{FF2B5EF4-FFF2-40B4-BE49-F238E27FC236}">
                  <a16:creationId xmlns:a16="http://schemas.microsoft.com/office/drawing/2014/main" id="{85424E4A-E140-415B-A214-C9D48F3C7DAF}"/>
                </a:ext>
              </a:extLst>
            </p:cNvPr>
            <p:cNvCxnSpPr/>
            <p:nvPr>
              <p:custDataLst>
                <p:tags r:id="rId25"/>
              </p:custDataLst>
            </p:nvPr>
          </p:nvCxnSpPr>
          <p:spPr bwMode="auto">
            <a:xfrm flipV="1">
              <a:off x="7020653" y="685415"/>
              <a:ext cx="450209" cy="360045"/>
            </a:xfrm>
            <a:prstGeom prst="straightConnector1">
              <a:avLst/>
            </a:prstGeom>
            <a:noFill/>
            <a:ln w="12700" cap="flat" cmpd="sng" algn="ctr">
              <a:solidFill>
                <a:srgbClr val="C00000"/>
              </a:solidFill>
              <a:prstDash val="sysDash"/>
              <a:round/>
              <a:headEnd type="none" w="med" len="med"/>
              <a:tailEnd type="none"/>
            </a:ln>
          </p:spPr>
        </p:cxnSp>
        <p:sp>
          <p:nvSpPr>
            <p:cNvPr id="194" name="Line 450">
              <a:extLst>
                <a:ext uri="{FF2B5EF4-FFF2-40B4-BE49-F238E27FC236}">
                  <a16:creationId xmlns:a16="http://schemas.microsoft.com/office/drawing/2014/main" id="{3B282362-CA41-4A5E-B080-FD413C4BA935}"/>
                </a:ext>
              </a:extLst>
            </p:cNvPr>
            <p:cNvSpPr>
              <a:spLocks noChangeShapeType="1"/>
            </p:cNvSpPr>
            <p:nvPr>
              <p:custDataLst>
                <p:tags r:id="rId26"/>
              </p:custDataLst>
            </p:nvPr>
          </p:nvSpPr>
          <p:spPr bwMode="auto">
            <a:xfrm flipV="1">
              <a:off x="6803876" y="540000"/>
              <a:ext cx="0" cy="1152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" name="Line 451">
              <a:extLst>
                <a:ext uri="{FF2B5EF4-FFF2-40B4-BE49-F238E27FC236}">
                  <a16:creationId xmlns:a16="http://schemas.microsoft.com/office/drawing/2014/main" id="{918811FB-49C3-4CAF-A3E6-ABC1269B1664}"/>
                </a:ext>
              </a:extLst>
            </p:cNvPr>
            <p:cNvSpPr>
              <a:spLocks noChangeShapeType="1"/>
            </p:cNvSpPr>
            <p:nvPr>
              <p:custDataLst>
                <p:tags r:id="rId27"/>
              </p:custDataLst>
            </p:nvPr>
          </p:nvSpPr>
          <p:spPr bwMode="auto">
            <a:xfrm flipV="1">
              <a:off x="6228000" y="1116000"/>
              <a:ext cx="1152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6" name="Line 452">
              <a:extLst>
                <a:ext uri="{FF2B5EF4-FFF2-40B4-BE49-F238E27FC236}">
                  <a16:creationId xmlns:a16="http://schemas.microsoft.com/office/drawing/2014/main" id="{551FD8D9-2172-4EA7-A1CF-AE5829C40891}"/>
                </a:ext>
              </a:extLst>
            </p:cNvPr>
            <p:cNvSpPr>
              <a:spLocks noChangeShapeType="1"/>
            </p:cNvSpPr>
            <p:nvPr>
              <p:custDataLst>
                <p:tags r:id="rId28"/>
              </p:custDataLst>
            </p:nvPr>
          </p:nvSpPr>
          <p:spPr bwMode="auto">
            <a:xfrm flipV="1">
              <a:off x="6372000" y="720000"/>
              <a:ext cx="864000" cy="792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7" name="Line 453">
              <a:extLst>
                <a:ext uri="{FF2B5EF4-FFF2-40B4-BE49-F238E27FC236}">
                  <a16:creationId xmlns:a16="http://schemas.microsoft.com/office/drawing/2014/main" id="{2B0390D5-4ADC-42FC-99E1-825101157744}"/>
                </a:ext>
              </a:extLst>
            </p:cNvPr>
            <p:cNvSpPr>
              <a:spLocks noChangeShapeType="1"/>
            </p:cNvSpPr>
            <p:nvPr>
              <p:custDataLst>
                <p:tags r:id="rId29"/>
              </p:custDataLst>
            </p:nvPr>
          </p:nvSpPr>
          <p:spPr bwMode="auto">
            <a:xfrm flipH="1" flipV="1">
              <a:off x="6372000" y="720000"/>
              <a:ext cx="864000" cy="792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0" name="Arc 454">
              <a:extLst>
                <a:ext uri="{FF2B5EF4-FFF2-40B4-BE49-F238E27FC236}">
                  <a16:creationId xmlns:a16="http://schemas.microsoft.com/office/drawing/2014/main" id="{57442ACA-1C21-4C29-9EDD-4C120508AA82}"/>
                </a:ext>
              </a:extLst>
            </p:cNvPr>
            <p:cNvSpPr/>
            <p:nvPr>
              <p:custDataLst>
                <p:tags r:id="rId30"/>
              </p:custDataLst>
            </p:nvPr>
          </p:nvSpPr>
          <p:spPr bwMode="auto">
            <a:xfrm rot="15900000">
              <a:off x="6346800" y="732094"/>
              <a:ext cx="324000" cy="412636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16420"/>
                <a:gd name="T1" fmla="*/ 0 h 21600"/>
                <a:gd name="T2" fmla="*/ 16420 w 16420"/>
                <a:gd name="T3" fmla="*/ 7566 h 21600"/>
                <a:gd name="T4" fmla="*/ 0 w 1642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6420" h="21600" fill="none" extrusionOk="0">
                  <a:moveTo>
                    <a:pt x="-1" y="0"/>
                  </a:moveTo>
                  <a:cubicBezTo>
                    <a:pt x="6316" y="0"/>
                    <a:pt x="12316" y="2764"/>
                    <a:pt x="16419" y="7566"/>
                  </a:cubicBezTo>
                </a:path>
                <a:path w="16420" h="21600" stroke="0" extrusionOk="0">
                  <a:moveTo>
                    <a:pt x="-1" y="0"/>
                  </a:moveTo>
                  <a:cubicBezTo>
                    <a:pt x="6316" y="0"/>
                    <a:pt x="12316" y="2764"/>
                    <a:pt x="16419" y="7566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38100">
              <a:solidFill>
                <a:srgbClr val="CC3300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2" name="Arc 455">
              <a:extLst>
                <a:ext uri="{FF2B5EF4-FFF2-40B4-BE49-F238E27FC236}">
                  <a16:creationId xmlns:a16="http://schemas.microsoft.com/office/drawing/2014/main" id="{337BE881-5FA0-4DE0-B472-4B77BFD396F4}"/>
                </a:ext>
              </a:extLst>
            </p:cNvPr>
            <p:cNvSpPr/>
            <p:nvPr>
              <p:custDataLst>
                <p:tags r:id="rId31"/>
              </p:custDataLst>
            </p:nvPr>
          </p:nvSpPr>
          <p:spPr bwMode="auto">
            <a:xfrm rot="15780000">
              <a:off x="6372000" y="702000"/>
              <a:ext cx="540000" cy="396000"/>
            </a:xfrm>
            <a:custGeom>
              <a:avLst/>
              <a:gdLst>
                <a:gd name="G0" fmla="+- 0 0 0"/>
                <a:gd name="G1" fmla="+- 13889 0 0"/>
                <a:gd name="G2" fmla="+- 21600 0 0"/>
                <a:gd name="T0" fmla="*/ 16542 w 21600"/>
                <a:gd name="T1" fmla="*/ 0 h 13899"/>
                <a:gd name="T2" fmla="*/ 21600 w 21600"/>
                <a:gd name="T3" fmla="*/ 13899 h 13899"/>
                <a:gd name="T4" fmla="*/ 0 w 21600"/>
                <a:gd name="T5" fmla="*/ 13889 h 138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3899" fill="none" extrusionOk="0">
                  <a:moveTo>
                    <a:pt x="16542" y="-1"/>
                  </a:moveTo>
                  <a:cubicBezTo>
                    <a:pt x="19809" y="3890"/>
                    <a:pt x="21600" y="8808"/>
                    <a:pt x="21600" y="13889"/>
                  </a:cubicBezTo>
                  <a:cubicBezTo>
                    <a:pt x="21600" y="13892"/>
                    <a:pt x="21599" y="13895"/>
                    <a:pt x="21599" y="13898"/>
                  </a:cubicBezTo>
                </a:path>
                <a:path w="21600" h="13899" stroke="0" extrusionOk="0">
                  <a:moveTo>
                    <a:pt x="16542" y="-1"/>
                  </a:moveTo>
                  <a:cubicBezTo>
                    <a:pt x="19809" y="3890"/>
                    <a:pt x="21600" y="8808"/>
                    <a:pt x="21600" y="13889"/>
                  </a:cubicBezTo>
                  <a:cubicBezTo>
                    <a:pt x="21600" y="13892"/>
                    <a:pt x="21599" y="13895"/>
                    <a:pt x="21599" y="13898"/>
                  </a:cubicBezTo>
                  <a:lnTo>
                    <a:pt x="0" y="13889"/>
                  </a:lnTo>
                  <a:close/>
                </a:path>
              </a:pathLst>
            </a:custGeom>
            <a:noFill/>
            <a:ln w="38100">
              <a:solidFill>
                <a:schemeClr val="accent2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 dirty="0"/>
            </a:p>
          </p:txBody>
        </p:sp>
      </p:grpSp>
      <p:sp>
        <p:nvSpPr>
          <p:cNvPr id="204" name="线形标注 2 126">
            <a:extLst>
              <a:ext uri="{FF2B5EF4-FFF2-40B4-BE49-F238E27FC236}">
                <a16:creationId xmlns:a16="http://schemas.microsoft.com/office/drawing/2014/main" id="{BF5329D8-4FC0-4E27-91DD-DE3E69F4B64A}"/>
              </a:ext>
            </a:extLst>
          </p:cNvPr>
          <p:cNvSpPr/>
          <p:nvPr>
            <p:custDataLst>
              <p:tags r:id="rId6"/>
            </p:custDataLst>
          </p:nvPr>
        </p:nvSpPr>
        <p:spPr bwMode="auto">
          <a:xfrm>
            <a:off x="7130077" y="2564904"/>
            <a:ext cx="1368000" cy="252000"/>
          </a:xfrm>
          <a:prstGeom prst="borderCallout2">
            <a:avLst>
              <a:gd name="adj1" fmla="val 50231"/>
              <a:gd name="adj2" fmla="val 48"/>
              <a:gd name="adj3" fmla="val 51089"/>
              <a:gd name="adj4" fmla="val -13747"/>
              <a:gd name="adj5" fmla="val -53246"/>
              <a:gd name="adj6" fmla="val -95511"/>
            </a:avLst>
          </a:prstGeom>
          <a:noFill/>
          <a:ln w="12700" cap="flat" cmpd="sng" algn="ctr">
            <a:solidFill>
              <a:srgbClr val="0070C0"/>
            </a:solidFill>
            <a:prstDash val="sysDash"/>
            <a:round/>
            <a:headEnd type="none" w="med" len="med"/>
            <a:tailEnd type="arrow" w="sm" len="sm"/>
          </a:ln>
          <a:effectLst/>
        </p:spPr>
        <p:txBody>
          <a:bodyPr vert="horz" wrap="square" lIns="36000" tIns="18000" rIns="36000" bIns="18000" numCol="1" rtlCol="0" anchor="ctr" anchorCtr="0" compatLnSpc="1"/>
          <a:lstStyle/>
          <a:p>
            <a:pPr>
              <a:lnSpc>
                <a:spcPct val="90000"/>
              </a:lnSpc>
            </a:pPr>
            <a:r>
              <a:rPr lang="zh-CN" altLang="en-US" sz="16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条件传送</a:t>
            </a:r>
            <a:r>
              <a:rPr lang="zh-CN" altLang="en-US" sz="1600" b="1" dirty="0">
                <a:latin typeface="宋体" panose="02010600030101010101" pitchFamily="2" charset="-122"/>
              </a:rPr>
              <a:t>方式</a:t>
            </a:r>
            <a:endParaRPr lang="en-US" altLang="zh-CN" sz="1600" b="1" u="sng" dirty="0">
              <a:solidFill>
                <a:srgbClr val="0070C0"/>
              </a:solidFill>
              <a:latin typeface="宋体" panose="02010600030101010101" pitchFamily="2" charset="-122"/>
            </a:endParaRPr>
          </a:p>
        </p:txBody>
      </p:sp>
      <p:sp>
        <p:nvSpPr>
          <p:cNvPr id="206" name="线形标注 2 126">
            <a:extLst>
              <a:ext uri="{FF2B5EF4-FFF2-40B4-BE49-F238E27FC236}">
                <a16:creationId xmlns:a16="http://schemas.microsoft.com/office/drawing/2014/main" id="{04751340-1704-4E1C-AE58-983E197A131F}"/>
              </a:ext>
            </a:extLst>
          </p:cNvPr>
          <p:cNvSpPr/>
          <p:nvPr>
            <p:custDataLst>
              <p:tags r:id="rId7"/>
            </p:custDataLst>
          </p:nvPr>
        </p:nvSpPr>
        <p:spPr bwMode="auto">
          <a:xfrm>
            <a:off x="179512" y="3068960"/>
            <a:ext cx="864000" cy="468000"/>
          </a:xfrm>
          <a:prstGeom prst="borderCallout2">
            <a:avLst>
              <a:gd name="adj1" fmla="val 50335"/>
              <a:gd name="adj2" fmla="val 100519"/>
              <a:gd name="adj3" fmla="val 50762"/>
              <a:gd name="adj4" fmla="val 114668"/>
              <a:gd name="adj5" fmla="val 76740"/>
              <a:gd name="adj6" fmla="val 163390"/>
            </a:avLst>
          </a:prstGeom>
          <a:noFill/>
          <a:ln w="12700" cap="flat" cmpd="sng" algn="ctr">
            <a:solidFill>
              <a:srgbClr val="0070C0"/>
            </a:solidFill>
            <a:prstDash val="sysDash"/>
            <a:round/>
            <a:headEnd type="none" w="med" len="med"/>
            <a:tailEnd type="arrow" w="sm" len="sm"/>
          </a:ln>
          <a:effectLst/>
        </p:spPr>
        <p:txBody>
          <a:bodyPr vert="horz" wrap="square" lIns="0" tIns="10800" rIns="0" bIns="10800" numCol="1" rtlCol="0" anchor="ctr" anchorCtr="0" compatLnSpc="1"/>
          <a:lstStyle/>
          <a:p>
            <a:pPr>
              <a:lnSpc>
                <a:spcPct val="90000"/>
              </a:lnSpc>
            </a:pPr>
            <a:r>
              <a:rPr lang="en-US" altLang="zh-CN" sz="1600" b="1" dirty="0">
                <a:latin typeface="宋体" panose="02010600030101010101" pitchFamily="2" charset="-122"/>
              </a:rPr>
              <a:t>Data</a:t>
            </a:r>
            <a:r>
              <a:rPr lang="zh-CN" altLang="en-US" sz="1600" b="1" dirty="0">
                <a:latin typeface="宋体" panose="02010600030101010101" pitchFamily="2" charset="-122"/>
              </a:rPr>
              <a:t>线</a:t>
            </a:r>
            <a:endParaRPr lang="en-US" altLang="zh-CN" sz="1600" b="1" dirty="0">
              <a:latin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r>
              <a:rPr lang="zh-CN" altLang="en-US" sz="1600" b="1" dirty="0">
                <a:latin typeface="宋体" panose="02010600030101010101" pitchFamily="2" charset="-122"/>
              </a:rPr>
              <a:t>当前类型</a:t>
            </a:r>
            <a:endParaRPr lang="en-US" altLang="zh-CN" sz="1600" b="1" dirty="0">
              <a:latin typeface="宋体" panose="02010600030101010101" pitchFamily="2" charset="-122"/>
            </a:endParaRPr>
          </a:p>
        </p:txBody>
      </p:sp>
      <p:sp>
        <p:nvSpPr>
          <p:cNvPr id="208" name="线形标注 2 126">
            <a:extLst>
              <a:ext uri="{FF2B5EF4-FFF2-40B4-BE49-F238E27FC236}">
                <a16:creationId xmlns:a16="http://schemas.microsoft.com/office/drawing/2014/main" id="{676CA556-EF4F-47D7-AAD4-AB99B4245AA6}"/>
              </a:ext>
            </a:extLst>
          </p:cNvPr>
          <p:cNvSpPr/>
          <p:nvPr>
            <p:custDataLst>
              <p:tags r:id="rId8"/>
            </p:custDataLst>
          </p:nvPr>
        </p:nvSpPr>
        <p:spPr bwMode="auto">
          <a:xfrm>
            <a:off x="179512" y="3717032"/>
            <a:ext cx="864000" cy="504000"/>
          </a:xfrm>
          <a:prstGeom prst="borderCallout2">
            <a:avLst>
              <a:gd name="adj1" fmla="val 50265"/>
              <a:gd name="adj2" fmla="val 100163"/>
              <a:gd name="adj3" fmla="val 50168"/>
              <a:gd name="adj4" fmla="val 119691"/>
              <a:gd name="adj5" fmla="val 14520"/>
              <a:gd name="adj6" fmla="val 170020"/>
            </a:avLst>
          </a:prstGeom>
          <a:noFill/>
          <a:ln w="12700" cap="flat" cmpd="sng" algn="ctr">
            <a:solidFill>
              <a:srgbClr val="0070C0"/>
            </a:solidFill>
            <a:prstDash val="sysDash"/>
            <a:round/>
            <a:headEnd type="none" w="med" len="med"/>
            <a:tailEnd type="arrow" w="sm" len="sm"/>
          </a:ln>
          <a:effectLst/>
        </p:spPr>
        <p:txBody>
          <a:bodyPr vert="horz" wrap="square" lIns="0" tIns="18000" rIns="0" bIns="18000" numCol="1" rtlCol="0" anchor="ctr" anchorCtr="0" compatLnSpc="1"/>
          <a:lstStyle/>
          <a:p>
            <a:pPr>
              <a:lnSpc>
                <a:spcPct val="90000"/>
              </a:lnSpc>
            </a:pPr>
            <a:r>
              <a:rPr lang="zh-CN" altLang="en-US" sz="1600" b="1" dirty="0">
                <a:latin typeface="宋体" panose="02010600030101010101" pitchFamily="2" charset="-122"/>
              </a:rPr>
              <a:t>寻址状态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</a:rPr>
              <a:t>异步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  <a:endParaRPr lang="en-US" altLang="zh-CN" sz="1600" b="1" u="sng" dirty="0">
              <a:solidFill>
                <a:srgbClr val="0070C0"/>
              </a:solidFill>
              <a:latin typeface="宋体" panose="02010600030101010101" pitchFamily="2" charset="-122"/>
            </a:endParaRPr>
          </a:p>
        </p:txBody>
      </p:sp>
      <p:sp>
        <p:nvSpPr>
          <p:cNvPr id="209" name="Text Box 97">
            <a:extLst>
              <a:ext uri="{FF2B5EF4-FFF2-40B4-BE49-F238E27FC236}">
                <a16:creationId xmlns:a16="http://schemas.microsoft.com/office/drawing/2014/main" id="{D35A798D-CA30-4C08-8562-FD47A83BC16E}"/>
              </a:ext>
            </a:extLst>
          </p:cNvPr>
          <p:cNvSpPr txBox="1"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1835696" y="5589240"/>
            <a:ext cx="7200800" cy="88165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tIns="4680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读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r>
              <a:rPr lang="zh-CN" altLang="en-US" sz="2200" b="1" u="sng" dirty="0">
                <a:solidFill>
                  <a:srgbClr val="990099"/>
                </a:solidFill>
                <a:highlight>
                  <a:srgbClr val="FFFF99"/>
                </a:highlight>
                <a:latin typeface="宋体" panose="02010600030101010101" pitchFamily="2" charset="-122"/>
              </a:rPr>
              <a:t>收</a:t>
            </a:r>
            <a:r>
              <a:rPr lang="zh-CN" altLang="en-US" sz="2200" b="1" dirty="0">
                <a:latin typeface="宋体" panose="02010600030101010101" pitchFamily="2" charset="-122"/>
              </a:rPr>
              <a:t>命令→寻址→</a:t>
            </a:r>
            <a:r>
              <a:rPr lang="zh-CN" altLang="en-US" sz="2200" b="1" u="sng" dirty="0">
                <a:solidFill>
                  <a:srgbClr val="990099"/>
                </a:solidFill>
                <a:highlight>
                  <a:srgbClr val="FFFF99"/>
                </a:highlight>
                <a:latin typeface="宋体" panose="02010600030101010101" pitchFamily="2" charset="-122"/>
              </a:rPr>
              <a:t>发</a:t>
            </a:r>
            <a:r>
              <a:rPr lang="zh-CN" altLang="en-US" sz="2200" b="1" dirty="0">
                <a:latin typeface="宋体" panose="02010600030101010101" pitchFamily="2" charset="-122"/>
              </a:rPr>
              <a:t>状态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就绪</a:t>
            </a:r>
            <a:r>
              <a:rPr lang="en-US" altLang="zh-CN" sz="1800" b="1" dirty="0">
                <a:latin typeface="宋体" panose="02010600030101010101" pitchFamily="2" charset="-122"/>
              </a:rPr>
              <a:t>[DREQ])</a:t>
            </a:r>
            <a:r>
              <a:rPr lang="zh-CN" altLang="en-US" sz="2200" b="1" dirty="0">
                <a:latin typeface="宋体" panose="02010600030101010101" pitchFamily="2" charset="-122"/>
              </a:rPr>
              <a:t>→读出</a:t>
            </a:r>
            <a:r>
              <a:rPr lang="en-US" altLang="zh-CN" sz="2200" b="1" dirty="0">
                <a:latin typeface="宋体" panose="02010600030101010101" pitchFamily="2" charset="-122"/>
              </a:rPr>
              <a:t>&amp;</a:t>
            </a:r>
            <a:r>
              <a:rPr lang="zh-CN" altLang="en-US" sz="2200" b="1" u="sng" dirty="0">
                <a:solidFill>
                  <a:srgbClr val="990099"/>
                </a:solidFill>
                <a:highlight>
                  <a:srgbClr val="FFFF99"/>
                </a:highlight>
                <a:latin typeface="宋体" panose="02010600030101010101" pitchFamily="2" charset="-122"/>
              </a:rPr>
              <a:t>发</a:t>
            </a:r>
            <a:r>
              <a:rPr lang="zh-CN" altLang="en-US" sz="2200" b="1" dirty="0">
                <a:latin typeface="宋体" panose="02010600030101010101" pitchFamily="2" charset="-122"/>
              </a:rPr>
              <a:t>数据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写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r>
              <a:rPr lang="zh-CN" altLang="en-US" sz="2200" b="1" u="sng" dirty="0">
                <a:solidFill>
                  <a:srgbClr val="990099"/>
                </a:solidFill>
                <a:highlight>
                  <a:srgbClr val="FFFF99"/>
                </a:highlight>
                <a:latin typeface="宋体" panose="02010600030101010101" pitchFamily="2" charset="-122"/>
              </a:rPr>
              <a:t>收</a:t>
            </a:r>
            <a:r>
              <a:rPr lang="zh-CN" altLang="en-US" sz="2200" b="1" dirty="0">
                <a:latin typeface="宋体" panose="02010600030101010101" pitchFamily="2" charset="-122"/>
              </a:rPr>
              <a:t>命令→寻址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磁道</a:t>
            </a:r>
            <a:r>
              <a:rPr lang="en-US" altLang="zh-CN" sz="1800" b="1" dirty="0">
                <a:latin typeface="宋体" panose="02010600030101010101" pitchFamily="2" charset="-122"/>
              </a:rPr>
              <a:t>&amp;</a:t>
            </a:r>
            <a:r>
              <a:rPr lang="zh-CN" altLang="en-US" sz="1800" b="1" dirty="0">
                <a:latin typeface="宋体" panose="02010600030101010101" pitchFamily="2" charset="-122"/>
              </a:rPr>
              <a:t>记录块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r>
              <a:rPr lang="zh-CN" altLang="en-US" sz="2200" b="1" dirty="0">
                <a:latin typeface="宋体" panose="02010600030101010101" pitchFamily="2" charset="-122"/>
              </a:rPr>
              <a:t>→</a:t>
            </a:r>
            <a:r>
              <a:rPr lang="zh-CN" altLang="en-US" sz="2200" b="1" u="sng" dirty="0">
                <a:solidFill>
                  <a:srgbClr val="990099"/>
                </a:solidFill>
                <a:highlight>
                  <a:srgbClr val="FFFF99"/>
                </a:highlight>
                <a:latin typeface="宋体" panose="02010600030101010101" pitchFamily="2" charset="-122"/>
              </a:rPr>
              <a:t>发</a:t>
            </a:r>
            <a:r>
              <a:rPr lang="zh-CN" altLang="en-US" sz="2200" b="1" dirty="0">
                <a:latin typeface="宋体" panose="02010600030101010101" pitchFamily="2" charset="-122"/>
              </a:rPr>
              <a:t>状态→</a:t>
            </a:r>
            <a:r>
              <a:rPr lang="zh-CN" altLang="en-US" sz="2200" b="1" u="sng" dirty="0">
                <a:solidFill>
                  <a:srgbClr val="990099"/>
                </a:solidFill>
                <a:highlight>
                  <a:srgbClr val="FFFF99"/>
                </a:highlight>
                <a:latin typeface="宋体" panose="02010600030101010101" pitchFamily="2" charset="-122"/>
              </a:rPr>
              <a:t>收</a:t>
            </a:r>
            <a:r>
              <a:rPr lang="zh-CN" altLang="en-US" sz="2200" b="1" dirty="0">
                <a:latin typeface="宋体" panose="02010600030101010101" pitchFamily="2" charset="-122"/>
              </a:rPr>
              <a:t>数据</a:t>
            </a:r>
            <a:r>
              <a:rPr lang="en-US" altLang="zh-CN" sz="2200" b="1" dirty="0">
                <a:latin typeface="宋体" panose="02010600030101010101" pitchFamily="2" charset="-122"/>
              </a:rPr>
              <a:t>&amp;</a:t>
            </a:r>
            <a:r>
              <a:rPr lang="zh-CN" altLang="en-US" sz="2200" b="1" dirty="0">
                <a:latin typeface="宋体" panose="02010600030101010101" pitchFamily="2" charset="-122"/>
              </a:rPr>
              <a:t>写入</a:t>
            </a:r>
            <a:endParaRPr lang="en-US" altLang="zh-CN" sz="2200" b="1" dirty="0">
              <a:latin typeface="宋体" panose="02010600030101010101" pitchFamily="2" charset="-122"/>
            </a:endParaRPr>
          </a:p>
        </p:txBody>
      </p:sp>
      <p:sp>
        <p:nvSpPr>
          <p:cNvPr id="211" name="线形标注 2 126">
            <a:extLst>
              <a:ext uri="{FF2B5EF4-FFF2-40B4-BE49-F238E27FC236}">
                <a16:creationId xmlns:a16="http://schemas.microsoft.com/office/drawing/2014/main" id="{9B6723C9-5A8D-40A7-8E53-12E7E067E25F}"/>
              </a:ext>
            </a:extLst>
          </p:cNvPr>
          <p:cNvSpPr/>
          <p:nvPr>
            <p:custDataLst>
              <p:tags r:id="rId10"/>
            </p:custDataLst>
          </p:nvPr>
        </p:nvSpPr>
        <p:spPr bwMode="auto">
          <a:xfrm>
            <a:off x="180000" y="4365104"/>
            <a:ext cx="864000" cy="504000"/>
          </a:xfrm>
          <a:prstGeom prst="borderCallout2">
            <a:avLst>
              <a:gd name="adj1" fmla="val 50265"/>
              <a:gd name="adj2" fmla="val 100163"/>
              <a:gd name="adj3" fmla="val 50912"/>
              <a:gd name="adj4" fmla="val 114762"/>
              <a:gd name="adj5" fmla="val 39058"/>
              <a:gd name="adj6" fmla="val 162568"/>
            </a:avLst>
          </a:prstGeom>
          <a:noFill/>
          <a:ln w="12700" cap="flat" cmpd="sng" algn="ctr">
            <a:solidFill>
              <a:srgbClr val="0070C0"/>
            </a:solidFill>
            <a:prstDash val="sysDash"/>
            <a:round/>
            <a:headEnd type="none" w="med" len="med"/>
            <a:tailEnd type="arrow" w="sm" len="sm"/>
          </a:ln>
          <a:effectLst/>
        </p:spPr>
        <p:txBody>
          <a:bodyPr vert="horz" wrap="square" lIns="36000" tIns="18000" rIns="36000" bIns="18000" numCol="1" rtlCol="0" anchor="ctr" anchorCtr="0" compatLnSpc="1"/>
          <a:lstStyle/>
          <a:p>
            <a:pPr>
              <a:lnSpc>
                <a:spcPct val="90000"/>
              </a:lnSpc>
            </a:pPr>
            <a:r>
              <a:rPr lang="zh-CN" altLang="en-US" sz="1600" b="1" dirty="0">
                <a:latin typeface="宋体" panose="02010600030101010101" pitchFamily="2" charset="-122"/>
              </a:rPr>
              <a:t>数据准备状态</a:t>
            </a:r>
            <a:endParaRPr lang="en-US" altLang="zh-CN" sz="1600" b="1" u="sng" dirty="0">
              <a:solidFill>
                <a:srgbClr val="0070C0"/>
              </a:solidFill>
              <a:latin typeface="宋体" panose="02010600030101010101" pitchFamily="2" charset="-122"/>
            </a:endParaRPr>
          </a:p>
        </p:txBody>
      </p:sp>
      <p:cxnSp>
        <p:nvCxnSpPr>
          <p:cNvPr id="213" name="直接箭头连接符 212">
            <a:extLst>
              <a:ext uri="{FF2B5EF4-FFF2-40B4-BE49-F238E27FC236}">
                <a16:creationId xmlns:a16="http://schemas.microsoft.com/office/drawing/2014/main" id="{9E414685-9D6A-438B-A6E4-7D1D35446627}"/>
              </a:ext>
            </a:extLst>
          </p:cNvPr>
          <p:cNvCxnSpPr>
            <a:cxnSpLocks/>
          </p:cNvCxnSpPr>
          <p:nvPr/>
        </p:nvCxnSpPr>
        <p:spPr bwMode="auto">
          <a:xfrm>
            <a:off x="2233161" y="2420888"/>
            <a:ext cx="1296040" cy="216024"/>
          </a:xfrm>
          <a:prstGeom prst="straightConnector1">
            <a:avLst/>
          </a:prstGeom>
          <a:noFill/>
          <a:ln w="12700" cap="flat" cmpd="sng" algn="ctr">
            <a:solidFill>
              <a:srgbClr val="0070C0"/>
            </a:solidFill>
            <a:prstDash val="sysDash"/>
            <a:round/>
            <a:headEnd type="none" w="med" len="med"/>
            <a:tailEnd type="triangle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365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0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390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0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3390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0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3390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4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3"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9" dur="5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3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6"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1" dur="500"/>
                                        <p:tgtEl>
                                          <p:spTgt spid="2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4" dur="500"/>
                                        <p:tgtEl>
                                          <p:spTgt spid="20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6551" grpId="0"/>
      <p:bldP spid="204" grpId="0" animBg="1"/>
      <p:bldP spid="206" grpId="0" animBg="1"/>
      <p:bldP spid="208" grpId="0" animBg="1"/>
      <p:bldP spid="211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40C07-C469-4C59-9496-1B3443C501F3}" type="slidenum">
              <a:rPr lang="en-US" altLang="zh-CN"/>
              <a:t>19</a:t>
            </a:fld>
            <a:endParaRPr lang="en-US" altLang="zh-CN"/>
          </a:p>
        </p:txBody>
      </p:sp>
      <p:sp>
        <p:nvSpPr>
          <p:cNvPr id="126" name="Text Box 6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78435" y="331200"/>
            <a:ext cx="3187065" cy="532280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Bef>
                <a:spcPts val="100"/>
              </a:spcBef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信息记录格式：</a:t>
            </a: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编址单位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定长记录格式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</a:p>
          <a:p>
            <a:pPr algn="l">
              <a:lnSpc>
                <a:spcPct val="125000"/>
              </a:lnSpc>
            </a:pPr>
            <a:endParaRPr lang="en-US" altLang="zh-CN" sz="2000" b="1" dirty="0">
              <a:solidFill>
                <a:srgbClr val="990099"/>
              </a:solidFill>
              <a:latin typeface="宋体" panose="02010600030101010101" pitchFamily="2" charset="-122"/>
              <a:sym typeface="+mn-ea"/>
            </a:endParaRPr>
          </a:p>
          <a:p>
            <a:pPr algn="l">
              <a:lnSpc>
                <a:spcPct val="125000"/>
              </a:lnSpc>
              <a:spcBef>
                <a:spcPts val="200"/>
              </a:spcBef>
            </a:pPr>
            <a:r>
              <a:rPr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      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磁盘地址：</a:t>
            </a:r>
            <a:endParaRPr lang="en-US" altLang="zh-CN" sz="2200" b="1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      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磁盘容量：</a:t>
            </a:r>
            <a:endParaRPr lang="en-US" altLang="zh-CN" sz="2200" b="1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>
              <a:solidFill>
                <a:srgbClr val="990099"/>
              </a:solidFill>
              <a:latin typeface="宋体" panose="02010600030101010101" pitchFamily="2" charset="-122"/>
              <a:sym typeface="+mn-ea"/>
            </a:endParaRPr>
          </a:p>
          <a:p>
            <a:pPr algn="l">
              <a:lnSpc>
                <a:spcPct val="125000"/>
              </a:lnSpc>
              <a:spcBef>
                <a:spcPts val="600"/>
              </a:spcBef>
            </a:pPr>
            <a:r>
              <a:rPr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      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扇区格式：</a:t>
            </a:r>
            <a:endParaRPr lang="en-US" altLang="zh-CN" sz="2200" b="1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endParaRPr lang="en-US" altLang="zh-CN" sz="16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endParaRPr lang="en-US" altLang="zh-CN" sz="18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endParaRPr lang="en-US" altLang="zh-CN" sz="18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1500"/>
              </a:spcBef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变长记录格式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</a:p>
        </p:txBody>
      </p:sp>
      <p:sp>
        <p:nvSpPr>
          <p:cNvPr id="5" name="Text Box 488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2195736" y="764704"/>
            <a:ext cx="6689090" cy="488749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>
                <a:latin typeface="宋体" panose="02010600030101010101" pitchFamily="2" charset="-122"/>
              </a:rPr>
              <a:t>记录块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含多个数据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r>
              <a:rPr lang="zh-CN" altLang="en-US" sz="2200" b="1" dirty="0">
                <a:latin typeface="宋体" panose="02010600030101010101" pitchFamily="2" charset="-122"/>
              </a:rPr>
              <a:t>，            </a:t>
            </a:r>
            <a:r>
              <a:rPr lang="en-US" altLang="zh-CN" sz="1800" b="1" dirty="0">
                <a:latin typeface="宋体" panose="02010600030101010101" pitchFamily="2" charset="-122"/>
              </a:rPr>
              <a:t>←</a:t>
            </a:r>
            <a:r>
              <a:rPr lang="zh-CN" altLang="en-US" sz="1800" b="1" dirty="0">
                <a:latin typeface="宋体" panose="02010600030101010101" pitchFamily="2" charset="-122"/>
              </a:rPr>
              <a:t>降低寻址开销</a:t>
            </a:r>
            <a:endParaRPr lang="zh-CN" altLang="en-US" sz="22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>
                <a:latin typeface="宋体" panose="02010600030101010101" pitchFamily="2" charset="-122"/>
              </a:rPr>
              <a:t>记录块格式有定长、变长</a:t>
            </a:r>
            <a:r>
              <a:rPr lang="en-US" altLang="zh-CN" sz="2200" b="1" dirty="0">
                <a:latin typeface="宋体" panose="02010600030101010101" pitchFamily="2" charset="-122"/>
              </a:rPr>
              <a:t>2</a:t>
            </a:r>
            <a:r>
              <a:rPr lang="zh-CN" altLang="en-US" sz="2200" b="1" dirty="0">
                <a:latin typeface="宋体" panose="02010600030101010101" pitchFamily="2" charset="-122"/>
              </a:rPr>
              <a:t>种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记录块称为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扇区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，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 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   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扇区</a:t>
            </a:r>
            <a:r>
              <a:rPr lang="zh-CN" altLang="en-US" sz="2200" b="1" u="sng" dirty="0">
                <a:latin typeface="宋体" panose="02010600030101010101" pitchFamily="2" charset="-122"/>
                <a:sym typeface="+mn-ea"/>
              </a:rPr>
              <a:t>大小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固定、</a:t>
            </a:r>
            <a:r>
              <a:rPr lang="zh-CN" altLang="en-US" sz="2200" b="1" u="sng" dirty="0">
                <a:latin typeface="宋体" panose="02010600030101010101" pitchFamily="2" charset="-122"/>
                <a:sym typeface="+mn-ea"/>
              </a:rPr>
              <a:t>扇角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固定</a:t>
            </a:r>
            <a:endParaRPr lang="en-US" altLang="zh-CN" sz="2200" b="1" dirty="0">
              <a:latin typeface="宋体" panose="02010600030101010101" pitchFamily="2" charset="-122"/>
              <a:sym typeface="+mn-ea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latin typeface="宋体" panose="02010600030101010101" pitchFamily="2" charset="-122"/>
              <a:sym typeface="+mn-ea"/>
            </a:endParaRPr>
          </a:p>
          <a:p>
            <a:pPr marL="0" indent="0" algn="l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  S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＝</a:t>
            </a: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2</a:t>
            </a:r>
            <a:r>
              <a:rPr lang="en-US" altLang="zh-CN" sz="2200" b="1" baseline="300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m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个盘面</a:t>
            </a: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×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容量</a:t>
            </a: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/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盘面＝</a:t>
            </a: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2</a:t>
            </a:r>
            <a:r>
              <a:rPr lang="en-US" altLang="zh-CN" sz="2200" b="1" baseline="300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n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个柱面</a:t>
            </a: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×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容量</a:t>
            </a: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/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柱面</a:t>
            </a:r>
            <a:endParaRPr lang="en-US" altLang="zh-CN" sz="2200" b="1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＝</a:t>
            </a: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2</a:t>
            </a:r>
            <a:r>
              <a:rPr lang="en-US" altLang="zh-CN" sz="2200" b="1" baseline="300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m</a:t>
            </a: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×(2</a:t>
            </a:r>
            <a:r>
              <a:rPr lang="en-US" altLang="zh-CN" sz="2200" b="1" baseline="300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n</a:t>
            </a: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×2</a:t>
            </a:r>
            <a:r>
              <a:rPr lang="en-US" altLang="zh-CN" sz="2200" b="1" baseline="300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p</a:t>
            </a: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×S</a:t>
            </a:r>
            <a:r>
              <a:rPr lang="en-US" altLang="zh-CN" sz="2200" b="1" baseline="-180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P</a:t>
            </a: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＝</a:t>
            </a: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(2</a:t>
            </a:r>
            <a:r>
              <a:rPr lang="en-US" altLang="zh-CN" sz="2200" b="1" baseline="300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n</a:t>
            </a: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×2</a:t>
            </a:r>
            <a:r>
              <a:rPr lang="en-US" altLang="zh-CN" sz="2200" b="1" baseline="300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m</a:t>
            </a: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)×(2</a:t>
            </a:r>
            <a:r>
              <a:rPr lang="en-US" altLang="zh-CN" sz="2200" b="1" baseline="300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p</a:t>
            </a: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×S</a:t>
            </a:r>
            <a:r>
              <a:rPr lang="en-US" altLang="zh-CN" sz="2200" b="1" baseline="-180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P</a:t>
            </a: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</a:p>
          <a:p>
            <a:pPr algn="l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</a:pPr>
            <a:endParaRPr lang="en-US" altLang="zh-CN" sz="2200" b="1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endParaRPr lang="en-US" altLang="zh-CN" sz="1600" b="1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                </a:t>
            </a:r>
            <a:r>
              <a:rPr lang="en-US" altLang="zh-CN" sz="1600" dirty="0">
                <a:latin typeface="宋体" panose="02010600030101010101" pitchFamily="2" charset="-122"/>
                <a:sym typeface="+mn-ea"/>
              </a:rPr>
              <a:t>│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  </a:t>
            </a:r>
            <a:r>
              <a:rPr lang="en-US" altLang="zh-CN" sz="1600" dirty="0">
                <a:latin typeface="宋体" panose="02010600030101010101" pitchFamily="2" charset="-122"/>
                <a:sym typeface="+mn-ea"/>
              </a:rPr>
              <a:t>│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 </a:t>
            </a:r>
            <a:r>
              <a:rPr lang="en-US" altLang="zh-CN" sz="1600" dirty="0">
                <a:latin typeface="宋体" panose="02010600030101010101" pitchFamily="2" charset="-122"/>
                <a:sym typeface="+mn-ea"/>
              </a:rPr>
              <a:t>└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←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预留的接收方响应时间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磁盘匀速转动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                </a:t>
            </a:r>
            <a:r>
              <a:rPr lang="en-US" altLang="zh-CN" sz="1600" dirty="0">
                <a:latin typeface="宋体" panose="02010600030101010101" pitchFamily="2" charset="-122"/>
                <a:sym typeface="+mn-ea"/>
              </a:rPr>
              <a:t>│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  </a:t>
            </a:r>
            <a:r>
              <a:rPr lang="en-US" altLang="zh-CN" sz="1600" dirty="0">
                <a:latin typeface="宋体" panose="02010600030101010101" pitchFamily="2" charset="-122"/>
                <a:sym typeface="+mn-ea"/>
              </a:rPr>
              <a:t>└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←</a:t>
            </a:r>
            <a:r>
              <a:rPr lang="zh-CN" altLang="en-US" sz="1600" b="1" dirty="0">
                <a:latin typeface="+mn-ea"/>
              </a:rPr>
              <a:t>提高传输可靠性</a:t>
            </a:r>
            <a:endParaRPr lang="en-US" altLang="zh-CN" sz="1600" b="1" dirty="0">
              <a:latin typeface="+mn-ea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                </a:t>
            </a:r>
            <a:r>
              <a:rPr lang="en-US" altLang="zh-CN" sz="1600" dirty="0">
                <a:latin typeface="宋体" panose="02010600030101010101" pitchFamily="2" charset="-122"/>
                <a:sym typeface="+mn-ea"/>
              </a:rPr>
              <a:t>└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←</a:t>
            </a:r>
            <a:r>
              <a:rPr lang="zh-CN" altLang="en-US" sz="1600" b="1" dirty="0">
                <a:latin typeface="+mn-ea"/>
              </a:rPr>
              <a:t>寻址无需从</a:t>
            </a:r>
            <a:r>
              <a:rPr lang="en-US" altLang="zh-CN" sz="1600" b="1" dirty="0">
                <a:latin typeface="+mn-ea"/>
              </a:rPr>
              <a:t>0</a:t>
            </a:r>
            <a:r>
              <a:rPr lang="zh-CN" altLang="en-US" sz="1600" b="1" dirty="0">
                <a:latin typeface="+mn-ea"/>
              </a:rPr>
              <a:t>扇区开始计数，可减少等待时间</a:t>
            </a:r>
            <a:endParaRPr lang="en-US" altLang="zh-CN" sz="1600" b="1" dirty="0">
              <a:latin typeface="宋体" panose="02010600030101010101" pitchFamily="2" charset="-122"/>
              <a:sym typeface="+mn-ea"/>
            </a:endParaRP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    记录块</a:t>
            </a:r>
            <a:r>
              <a:rPr lang="zh-CN" altLang="en-US" sz="2200" b="1" u="sng" dirty="0">
                <a:latin typeface="宋体" panose="02010600030101010101" pitchFamily="2" charset="-122"/>
                <a:sym typeface="+mn-ea"/>
              </a:rPr>
              <a:t>大小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可变，数据域中包含长度字段</a:t>
            </a:r>
            <a:endParaRPr lang="en-US" altLang="zh-CN" sz="1800" b="1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grpSp>
        <p:nvGrpSpPr>
          <p:cNvPr id="6" name="Group 502"/>
          <p:cNvGrpSpPr/>
          <p:nvPr/>
        </p:nvGrpSpPr>
        <p:grpSpPr bwMode="auto">
          <a:xfrm>
            <a:off x="6660232" y="1556792"/>
            <a:ext cx="2232025" cy="1352550"/>
            <a:chOff x="4196" y="1852"/>
            <a:chExt cx="1406" cy="852"/>
          </a:xfrm>
        </p:grpSpPr>
        <p:sp>
          <p:nvSpPr>
            <p:cNvPr id="7" name="Text Box 445"/>
            <p:cNvSpPr txBox="1">
              <a:spLocks noChangeArrowheads="1"/>
            </p:cNvSpPr>
            <p:nvPr>
              <p:custDataLst>
                <p:tags r:id="rId30"/>
              </p:custDataLst>
            </p:nvPr>
          </p:nvSpPr>
          <p:spPr bwMode="auto">
            <a:xfrm>
              <a:off x="4967" y="1852"/>
              <a:ext cx="544" cy="13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en-US" altLang="zh-CN" sz="1600" b="1" dirty="0">
                  <a:latin typeface="宋体" panose="02010600030101010101" pitchFamily="2" charset="-122"/>
                </a:rPr>
                <a:t>0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道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0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扇区</a:t>
              </a:r>
            </a:p>
          </p:txBody>
        </p:sp>
        <p:sp>
          <p:nvSpPr>
            <p:cNvPr id="8" name="Oval 446"/>
            <p:cNvSpPr>
              <a:spLocks noChangeArrowheads="1"/>
            </p:cNvSpPr>
            <p:nvPr>
              <p:custDataLst>
                <p:tags r:id="rId31"/>
              </p:custDataLst>
            </p:nvPr>
          </p:nvSpPr>
          <p:spPr bwMode="auto">
            <a:xfrm>
              <a:off x="4242" y="1934"/>
              <a:ext cx="725" cy="72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" name="Oval 447"/>
            <p:cNvSpPr>
              <a:spLocks noChangeArrowheads="1"/>
            </p:cNvSpPr>
            <p:nvPr>
              <p:custDataLst>
                <p:tags r:id="rId32"/>
              </p:custDataLst>
            </p:nvPr>
          </p:nvSpPr>
          <p:spPr bwMode="auto">
            <a:xfrm>
              <a:off x="4514" y="2206"/>
              <a:ext cx="181" cy="182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" name="Oval 448"/>
            <p:cNvSpPr>
              <a:spLocks noChangeArrowheads="1"/>
            </p:cNvSpPr>
            <p:nvPr>
              <p:custDataLst>
                <p:tags r:id="rId33"/>
              </p:custDataLst>
            </p:nvPr>
          </p:nvSpPr>
          <p:spPr bwMode="auto">
            <a:xfrm>
              <a:off x="4423" y="2116"/>
              <a:ext cx="363" cy="363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" name="Oval 449"/>
            <p:cNvSpPr>
              <a:spLocks noChangeArrowheads="1"/>
            </p:cNvSpPr>
            <p:nvPr>
              <p:custDataLst>
                <p:tags r:id="rId34"/>
              </p:custDataLst>
            </p:nvPr>
          </p:nvSpPr>
          <p:spPr bwMode="auto">
            <a:xfrm>
              <a:off x="4332" y="2025"/>
              <a:ext cx="545" cy="544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" name="Line 450"/>
            <p:cNvSpPr>
              <a:spLocks noChangeShapeType="1"/>
            </p:cNvSpPr>
            <p:nvPr>
              <p:custDataLst>
                <p:tags r:id="rId35"/>
              </p:custDataLst>
            </p:nvPr>
          </p:nvSpPr>
          <p:spPr bwMode="auto">
            <a:xfrm flipV="1">
              <a:off x="4604" y="1888"/>
              <a:ext cx="0" cy="8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Line 451"/>
            <p:cNvSpPr>
              <a:spLocks noChangeShapeType="1"/>
            </p:cNvSpPr>
            <p:nvPr>
              <p:custDataLst>
                <p:tags r:id="rId36"/>
              </p:custDataLst>
            </p:nvPr>
          </p:nvSpPr>
          <p:spPr bwMode="auto">
            <a:xfrm flipV="1">
              <a:off x="4196" y="2296"/>
              <a:ext cx="81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Line 452"/>
            <p:cNvSpPr>
              <a:spLocks noChangeShapeType="1"/>
            </p:cNvSpPr>
            <p:nvPr>
              <p:custDataLst>
                <p:tags r:id="rId37"/>
              </p:custDataLst>
            </p:nvPr>
          </p:nvSpPr>
          <p:spPr bwMode="auto">
            <a:xfrm flipV="1">
              <a:off x="4287" y="2024"/>
              <a:ext cx="635" cy="5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Line 453"/>
            <p:cNvSpPr>
              <a:spLocks noChangeShapeType="1"/>
            </p:cNvSpPr>
            <p:nvPr>
              <p:custDataLst>
                <p:tags r:id="rId38"/>
              </p:custDataLst>
            </p:nvPr>
          </p:nvSpPr>
          <p:spPr bwMode="auto">
            <a:xfrm flipH="1" flipV="1">
              <a:off x="4332" y="2024"/>
              <a:ext cx="590" cy="5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Arc 454"/>
            <p:cNvSpPr/>
            <p:nvPr>
              <p:custDataLst>
                <p:tags r:id="rId39"/>
              </p:custDataLst>
            </p:nvPr>
          </p:nvSpPr>
          <p:spPr bwMode="auto">
            <a:xfrm>
              <a:off x="4604" y="1934"/>
              <a:ext cx="272" cy="362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16420"/>
                <a:gd name="T1" fmla="*/ 0 h 21600"/>
                <a:gd name="T2" fmla="*/ 16420 w 16420"/>
                <a:gd name="T3" fmla="*/ 7566 h 21600"/>
                <a:gd name="T4" fmla="*/ 0 w 1642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6420" h="21600" fill="none" extrusionOk="0">
                  <a:moveTo>
                    <a:pt x="-1" y="0"/>
                  </a:moveTo>
                  <a:cubicBezTo>
                    <a:pt x="6316" y="0"/>
                    <a:pt x="12316" y="2764"/>
                    <a:pt x="16419" y="7566"/>
                  </a:cubicBezTo>
                </a:path>
                <a:path w="16420" h="21600" stroke="0" extrusionOk="0">
                  <a:moveTo>
                    <a:pt x="-1" y="0"/>
                  </a:moveTo>
                  <a:cubicBezTo>
                    <a:pt x="6316" y="0"/>
                    <a:pt x="12316" y="2764"/>
                    <a:pt x="16419" y="7566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38100">
              <a:solidFill>
                <a:srgbClr val="CC3300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" name="Arc 455"/>
            <p:cNvSpPr/>
            <p:nvPr>
              <p:custDataLst>
                <p:tags r:id="rId40"/>
              </p:custDataLst>
            </p:nvPr>
          </p:nvSpPr>
          <p:spPr bwMode="auto">
            <a:xfrm>
              <a:off x="4604" y="2064"/>
              <a:ext cx="359" cy="232"/>
            </a:xfrm>
            <a:custGeom>
              <a:avLst/>
              <a:gdLst>
                <a:gd name="G0" fmla="+- 0 0 0"/>
                <a:gd name="G1" fmla="+- 13889 0 0"/>
                <a:gd name="G2" fmla="+- 21600 0 0"/>
                <a:gd name="T0" fmla="*/ 16542 w 21600"/>
                <a:gd name="T1" fmla="*/ 0 h 13899"/>
                <a:gd name="T2" fmla="*/ 21600 w 21600"/>
                <a:gd name="T3" fmla="*/ 13899 h 13899"/>
                <a:gd name="T4" fmla="*/ 0 w 21600"/>
                <a:gd name="T5" fmla="*/ 13889 h 138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3899" fill="none" extrusionOk="0">
                  <a:moveTo>
                    <a:pt x="16542" y="-1"/>
                  </a:moveTo>
                  <a:cubicBezTo>
                    <a:pt x="19809" y="3890"/>
                    <a:pt x="21600" y="8808"/>
                    <a:pt x="21600" y="13889"/>
                  </a:cubicBezTo>
                  <a:cubicBezTo>
                    <a:pt x="21600" y="13892"/>
                    <a:pt x="21599" y="13895"/>
                    <a:pt x="21599" y="13898"/>
                  </a:cubicBezTo>
                </a:path>
                <a:path w="21600" h="13899" stroke="0" extrusionOk="0">
                  <a:moveTo>
                    <a:pt x="16542" y="-1"/>
                  </a:moveTo>
                  <a:cubicBezTo>
                    <a:pt x="19809" y="3890"/>
                    <a:pt x="21600" y="8808"/>
                    <a:pt x="21600" y="13889"/>
                  </a:cubicBezTo>
                  <a:cubicBezTo>
                    <a:pt x="21600" y="13892"/>
                    <a:pt x="21599" y="13895"/>
                    <a:pt x="21599" y="13898"/>
                  </a:cubicBezTo>
                  <a:lnTo>
                    <a:pt x="0" y="13889"/>
                  </a:lnTo>
                  <a:close/>
                </a:path>
              </a:pathLst>
            </a:custGeom>
            <a:noFill/>
            <a:ln w="38100">
              <a:solidFill>
                <a:schemeClr val="accent2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" name="Arc 456"/>
            <p:cNvSpPr/>
            <p:nvPr>
              <p:custDataLst>
                <p:tags r:id="rId41"/>
              </p:custDataLst>
            </p:nvPr>
          </p:nvSpPr>
          <p:spPr bwMode="auto">
            <a:xfrm>
              <a:off x="4650" y="2298"/>
              <a:ext cx="227" cy="195"/>
            </a:xfrm>
            <a:custGeom>
              <a:avLst/>
              <a:gdLst>
                <a:gd name="G0" fmla="+- 0 0 0"/>
                <a:gd name="G1" fmla="+- 674 0 0"/>
                <a:gd name="G2" fmla="+- 21600 0 0"/>
                <a:gd name="T0" fmla="*/ 21589 w 21600"/>
                <a:gd name="T1" fmla="*/ 0 h 16702"/>
                <a:gd name="T2" fmla="*/ 14480 w 21600"/>
                <a:gd name="T3" fmla="*/ 16702 h 16702"/>
                <a:gd name="T4" fmla="*/ 0 w 21600"/>
                <a:gd name="T5" fmla="*/ 674 h 167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6702" fill="none" extrusionOk="0">
                  <a:moveTo>
                    <a:pt x="21589" y="-1"/>
                  </a:moveTo>
                  <a:cubicBezTo>
                    <a:pt x="21596" y="224"/>
                    <a:pt x="21600" y="449"/>
                    <a:pt x="21600" y="674"/>
                  </a:cubicBezTo>
                  <a:cubicBezTo>
                    <a:pt x="21600" y="6783"/>
                    <a:pt x="19013" y="12606"/>
                    <a:pt x="14479" y="16701"/>
                  </a:cubicBezTo>
                </a:path>
                <a:path w="21600" h="16702" stroke="0" extrusionOk="0">
                  <a:moveTo>
                    <a:pt x="21589" y="-1"/>
                  </a:moveTo>
                  <a:cubicBezTo>
                    <a:pt x="21596" y="224"/>
                    <a:pt x="21600" y="449"/>
                    <a:pt x="21600" y="674"/>
                  </a:cubicBezTo>
                  <a:cubicBezTo>
                    <a:pt x="21600" y="6783"/>
                    <a:pt x="19013" y="12606"/>
                    <a:pt x="14479" y="16701"/>
                  </a:cubicBezTo>
                  <a:lnTo>
                    <a:pt x="0" y="674"/>
                  </a:lnTo>
                  <a:close/>
                </a:path>
              </a:pathLst>
            </a:custGeom>
            <a:noFill/>
            <a:ln w="38100">
              <a:solidFill>
                <a:srgbClr val="990099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" name="Line 457"/>
            <p:cNvSpPr>
              <a:spLocks noChangeShapeType="1"/>
            </p:cNvSpPr>
            <p:nvPr>
              <p:custDataLst>
                <p:tags r:id="rId42"/>
              </p:custDataLst>
            </p:nvPr>
          </p:nvSpPr>
          <p:spPr bwMode="auto">
            <a:xfrm flipV="1">
              <a:off x="4851" y="1989"/>
              <a:ext cx="91" cy="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Line 458"/>
            <p:cNvSpPr>
              <a:spLocks noChangeShapeType="1"/>
            </p:cNvSpPr>
            <p:nvPr>
              <p:custDataLst>
                <p:tags r:id="rId43"/>
              </p:custDataLst>
            </p:nvPr>
          </p:nvSpPr>
          <p:spPr bwMode="auto">
            <a:xfrm flipV="1">
              <a:off x="4943" y="1988"/>
              <a:ext cx="49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Line 459"/>
            <p:cNvSpPr>
              <a:spLocks noChangeShapeType="1"/>
            </p:cNvSpPr>
            <p:nvPr>
              <p:custDataLst>
                <p:tags r:id="rId44"/>
              </p:custDataLst>
            </p:nvPr>
          </p:nvSpPr>
          <p:spPr bwMode="auto">
            <a:xfrm flipV="1">
              <a:off x="4967" y="2205"/>
              <a:ext cx="91" cy="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Line 460"/>
            <p:cNvSpPr>
              <a:spLocks noChangeShapeType="1"/>
            </p:cNvSpPr>
            <p:nvPr>
              <p:custDataLst>
                <p:tags r:id="rId45"/>
              </p:custDataLst>
            </p:nvPr>
          </p:nvSpPr>
          <p:spPr bwMode="auto">
            <a:xfrm flipV="1">
              <a:off x="5059" y="2205"/>
              <a:ext cx="49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Text Box 461"/>
            <p:cNvSpPr txBox="1">
              <a:spLocks noChangeArrowheads="1"/>
            </p:cNvSpPr>
            <p:nvPr>
              <p:custDataLst>
                <p:tags r:id="rId46"/>
              </p:custDataLst>
            </p:nvPr>
          </p:nvSpPr>
          <p:spPr bwMode="auto">
            <a:xfrm>
              <a:off x="5058" y="2056"/>
              <a:ext cx="544" cy="13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en-US" altLang="zh-CN" sz="1600" b="1" dirty="0">
                  <a:latin typeface="宋体" panose="02010600030101010101" pitchFamily="2" charset="-122"/>
                </a:rPr>
                <a:t>0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道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1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扇区</a:t>
              </a:r>
            </a:p>
          </p:txBody>
        </p:sp>
        <p:sp>
          <p:nvSpPr>
            <p:cNvPr id="24" name="Line 462"/>
            <p:cNvSpPr>
              <a:spLocks noChangeShapeType="1"/>
            </p:cNvSpPr>
            <p:nvPr>
              <p:custDataLst>
                <p:tags r:id="rId47"/>
              </p:custDataLst>
            </p:nvPr>
          </p:nvSpPr>
          <p:spPr bwMode="auto">
            <a:xfrm>
              <a:off x="4831" y="2432"/>
              <a:ext cx="182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Line 463"/>
            <p:cNvSpPr>
              <a:spLocks noChangeShapeType="1"/>
            </p:cNvSpPr>
            <p:nvPr>
              <p:custDataLst>
                <p:tags r:id="rId48"/>
              </p:custDataLst>
            </p:nvPr>
          </p:nvSpPr>
          <p:spPr bwMode="auto">
            <a:xfrm flipV="1">
              <a:off x="5014" y="2523"/>
              <a:ext cx="49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Text Box 464"/>
            <p:cNvSpPr txBox="1">
              <a:spLocks noChangeArrowheads="1"/>
            </p:cNvSpPr>
            <p:nvPr>
              <p:custDataLst>
                <p:tags r:id="rId49"/>
              </p:custDataLst>
            </p:nvPr>
          </p:nvSpPr>
          <p:spPr bwMode="auto">
            <a:xfrm>
              <a:off x="5013" y="2374"/>
              <a:ext cx="544" cy="13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en-US" altLang="zh-CN" sz="1600" b="1" dirty="0">
                  <a:latin typeface="宋体" panose="02010600030101010101" pitchFamily="2" charset="-122"/>
                </a:rPr>
                <a:t>1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道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2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扇区</a:t>
              </a:r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2555776" y="2562848"/>
            <a:ext cx="3888740" cy="252000"/>
            <a:chOff x="4535" y="3288"/>
            <a:chExt cx="6124" cy="340"/>
          </a:xfrm>
        </p:grpSpPr>
        <p:sp>
          <p:nvSpPr>
            <p:cNvPr id="28" name="Text Box 467"/>
            <p:cNvSpPr txBox="1">
              <a:spLocks noChangeArrowheads="1"/>
            </p:cNvSpPr>
            <p:nvPr>
              <p:custDataLst>
                <p:tags r:id="rId27"/>
              </p:custDataLst>
            </p:nvPr>
          </p:nvSpPr>
          <p:spPr bwMode="auto">
            <a:xfrm>
              <a:off x="6577" y="3288"/>
              <a:ext cx="2040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800" b="1" dirty="0">
                  <a:latin typeface="宋体" panose="02010600030101010101" pitchFamily="2" charset="-122"/>
                </a:rPr>
                <a:t>磁道号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(n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位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)</a:t>
              </a:r>
            </a:p>
          </p:txBody>
        </p:sp>
        <p:sp>
          <p:nvSpPr>
            <p:cNvPr id="29" name="Text Box 468"/>
            <p:cNvSpPr txBox="1">
              <a:spLocks noChangeArrowheads="1"/>
            </p:cNvSpPr>
            <p:nvPr>
              <p:custDataLst>
                <p:tags r:id="rId28"/>
              </p:custDataLst>
            </p:nvPr>
          </p:nvSpPr>
          <p:spPr bwMode="auto">
            <a:xfrm>
              <a:off x="4535" y="3288"/>
              <a:ext cx="2041" cy="34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800" b="1" dirty="0">
                  <a:latin typeface="宋体" panose="02010600030101010101" pitchFamily="2" charset="-122"/>
                </a:rPr>
                <a:t>盘面号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(m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位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)</a:t>
              </a:r>
            </a:p>
          </p:txBody>
        </p:sp>
        <p:sp>
          <p:nvSpPr>
            <p:cNvPr id="30" name="Text Box 469"/>
            <p:cNvSpPr txBox="1">
              <a:spLocks noChangeArrowheads="1"/>
            </p:cNvSpPr>
            <p:nvPr>
              <p:custDataLst>
                <p:tags r:id="rId29"/>
              </p:custDataLst>
            </p:nvPr>
          </p:nvSpPr>
          <p:spPr bwMode="auto">
            <a:xfrm>
              <a:off x="8618" y="3288"/>
              <a:ext cx="2041" cy="34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800" b="1" dirty="0">
                  <a:latin typeface="宋体" panose="02010600030101010101" pitchFamily="2" charset="-122"/>
                </a:rPr>
                <a:t>扇区号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(p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位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)</a:t>
              </a:r>
            </a:p>
          </p:txBody>
        </p:sp>
      </p:grpSp>
      <p:grpSp>
        <p:nvGrpSpPr>
          <p:cNvPr id="282" name="组合 281"/>
          <p:cNvGrpSpPr/>
          <p:nvPr/>
        </p:nvGrpSpPr>
        <p:grpSpPr>
          <a:xfrm>
            <a:off x="2555776" y="3714976"/>
            <a:ext cx="4716780" cy="684530"/>
            <a:chOff x="5556" y="7200"/>
            <a:chExt cx="7428" cy="1078"/>
          </a:xfrm>
        </p:grpSpPr>
        <p:sp>
          <p:nvSpPr>
            <p:cNvPr id="184" name="Text Box 472"/>
            <p:cNvSpPr txBox="1"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5556" y="7542"/>
              <a:ext cx="454" cy="737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vert="eaVert" lIns="18000" tIns="10800" rIns="36195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头空</a:t>
              </a:r>
            </a:p>
          </p:txBody>
        </p:sp>
        <p:sp>
          <p:nvSpPr>
            <p:cNvPr id="185" name="Text Box 473"/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6009" y="7542"/>
              <a:ext cx="737" cy="737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同步字符</a:t>
              </a:r>
            </a:p>
          </p:txBody>
        </p:sp>
        <p:sp>
          <p:nvSpPr>
            <p:cNvPr id="186" name="Text Box 474"/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6746" y="7542"/>
              <a:ext cx="737" cy="737"/>
            </a:xfrm>
            <a:prstGeom prst="rect">
              <a:avLst/>
            </a:prstGeom>
            <a:solidFill>
              <a:srgbClr val="CCFFCC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地址标志</a:t>
              </a:r>
            </a:p>
          </p:txBody>
        </p:sp>
        <p:sp>
          <p:nvSpPr>
            <p:cNvPr id="187" name="Text Box 475"/>
            <p:cNvSpPr txBox="1"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7483" y="7542"/>
              <a:ext cx="737" cy="737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扇区地址</a:t>
              </a:r>
            </a:p>
          </p:txBody>
        </p:sp>
        <p:sp>
          <p:nvSpPr>
            <p:cNvPr id="188" name="Text Box 476"/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8220" y="7542"/>
              <a:ext cx="567" cy="737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en-US" altLang="zh-CN" sz="1600" b="1">
                  <a:solidFill>
                    <a:srgbClr val="FF3399"/>
                  </a:solidFill>
                  <a:latin typeface="宋体" panose="02010600030101010101" pitchFamily="2" charset="-122"/>
                </a:rPr>
                <a:t>CRC</a:t>
              </a:r>
            </a:p>
          </p:txBody>
        </p:sp>
        <p:sp>
          <p:nvSpPr>
            <p:cNvPr id="189" name="Text Box 477"/>
            <p:cNvSpPr txBox="1"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8786" y="7542"/>
              <a:ext cx="567" cy="737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vert="eaVert"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间隙</a:t>
              </a:r>
            </a:p>
          </p:txBody>
        </p:sp>
        <p:sp>
          <p:nvSpPr>
            <p:cNvPr id="190" name="Text Box 478"/>
            <p:cNvSpPr txBox="1"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9354" y="7542"/>
              <a:ext cx="737" cy="737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同步字符</a:t>
              </a:r>
            </a:p>
          </p:txBody>
        </p:sp>
        <p:sp>
          <p:nvSpPr>
            <p:cNvPr id="191" name="Text Box 479"/>
            <p:cNvSpPr txBox="1"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10091" y="7542"/>
              <a:ext cx="737" cy="737"/>
            </a:xfrm>
            <a:prstGeom prst="rect">
              <a:avLst/>
            </a:prstGeom>
            <a:solidFill>
              <a:srgbClr val="CCFFCC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>
                  <a:latin typeface="宋体" panose="02010600030101010101" pitchFamily="2" charset="-122"/>
                </a:rPr>
                <a:t>数据标志</a:t>
              </a:r>
            </a:p>
          </p:txBody>
        </p:sp>
        <p:sp>
          <p:nvSpPr>
            <p:cNvPr id="192" name="Text Box 480"/>
            <p:cNvSpPr txBox="1"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10828" y="7542"/>
              <a:ext cx="1134" cy="737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600" b="1" dirty="0">
                  <a:latin typeface="宋体" panose="02010600030101010101" pitchFamily="2" charset="-122"/>
                </a:rPr>
                <a:t>数据</a:t>
              </a:r>
            </a:p>
          </p:txBody>
        </p:sp>
        <p:sp>
          <p:nvSpPr>
            <p:cNvPr id="193" name="Text Box 481"/>
            <p:cNvSpPr txBox="1"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11961" y="7542"/>
              <a:ext cx="567" cy="737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en-US" altLang="zh-CN" sz="1600" b="1">
                  <a:solidFill>
                    <a:srgbClr val="FF3399"/>
                  </a:solidFill>
                  <a:latin typeface="宋体" panose="02010600030101010101" pitchFamily="2" charset="-122"/>
                </a:rPr>
                <a:t>CRC</a:t>
              </a:r>
            </a:p>
          </p:txBody>
        </p:sp>
        <p:sp>
          <p:nvSpPr>
            <p:cNvPr id="194" name="Text Box 482"/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12530" y="7542"/>
              <a:ext cx="454" cy="737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vert="eaVert" lIns="18000" tIns="10800" rIns="36195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尾空</a:t>
              </a:r>
            </a:p>
          </p:txBody>
        </p:sp>
        <p:sp>
          <p:nvSpPr>
            <p:cNvPr id="195" name="Text Box 483"/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7030" y="7200"/>
              <a:ext cx="737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en-US" altLang="zh-CN" sz="1600" b="1" dirty="0">
                  <a:latin typeface="宋体" panose="02010600030101010101" pitchFamily="2" charset="-122"/>
                </a:rPr>
                <a:t>ID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域</a:t>
              </a:r>
            </a:p>
          </p:txBody>
        </p:sp>
        <p:sp>
          <p:nvSpPr>
            <p:cNvPr id="196" name="Text Box 484"/>
            <p:cNvSpPr txBox="1"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10600" y="7200"/>
              <a:ext cx="1077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600" b="1">
                  <a:latin typeface="宋体" panose="02010600030101010101" pitchFamily="2" charset="-122"/>
                </a:rPr>
                <a:t>数据域</a:t>
              </a:r>
            </a:p>
          </p:txBody>
        </p:sp>
        <p:cxnSp>
          <p:nvCxnSpPr>
            <p:cNvPr id="197" name="直接连接符 196"/>
            <p:cNvCxnSpPr/>
            <p:nvPr>
              <p:custDataLst>
                <p:tags r:id="rId19"/>
              </p:custDataLst>
            </p:nvPr>
          </p:nvCxnSpPr>
          <p:spPr bwMode="auto">
            <a:xfrm>
              <a:off x="6009" y="7200"/>
              <a:ext cx="0" cy="283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8" name="直接连接符 207"/>
            <p:cNvCxnSpPr/>
            <p:nvPr>
              <p:custDataLst>
                <p:tags r:id="rId20"/>
              </p:custDataLst>
            </p:nvPr>
          </p:nvCxnSpPr>
          <p:spPr bwMode="auto">
            <a:xfrm>
              <a:off x="8785" y="7200"/>
              <a:ext cx="0" cy="283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67" name="直接连接符 266"/>
            <p:cNvCxnSpPr/>
            <p:nvPr>
              <p:custDataLst>
                <p:tags r:id="rId21"/>
              </p:custDataLst>
            </p:nvPr>
          </p:nvCxnSpPr>
          <p:spPr bwMode="auto">
            <a:xfrm>
              <a:off x="7824" y="7370"/>
              <a:ext cx="964" cy="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77" name="直接连接符 276"/>
            <p:cNvCxnSpPr/>
            <p:nvPr>
              <p:custDataLst>
                <p:tags r:id="rId22"/>
              </p:custDataLst>
            </p:nvPr>
          </p:nvCxnSpPr>
          <p:spPr bwMode="auto">
            <a:xfrm flipH="1">
              <a:off x="6009" y="7370"/>
              <a:ext cx="1020" cy="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78" name="直接连接符 277"/>
            <p:cNvCxnSpPr/>
            <p:nvPr>
              <p:custDataLst>
                <p:tags r:id="rId23"/>
              </p:custDataLst>
            </p:nvPr>
          </p:nvCxnSpPr>
          <p:spPr bwMode="auto">
            <a:xfrm>
              <a:off x="9354" y="7200"/>
              <a:ext cx="0" cy="283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9" name="直接连接符 278"/>
            <p:cNvCxnSpPr/>
            <p:nvPr>
              <p:custDataLst>
                <p:tags r:id="rId24"/>
              </p:custDataLst>
            </p:nvPr>
          </p:nvCxnSpPr>
          <p:spPr bwMode="auto">
            <a:xfrm>
              <a:off x="12981" y="7200"/>
              <a:ext cx="0" cy="283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80" name="直接连接符 279"/>
            <p:cNvCxnSpPr/>
            <p:nvPr>
              <p:custDataLst>
                <p:tags r:id="rId25"/>
              </p:custDataLst>
            </p:nvPr>
          </p:nvCxnSpPr>
          <p:spPr bwMode="auto">
            <a:xfrm>
              <a:off x="11735" y="7370"/>
              <a:ext cx="1247" cy="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81" name="直接连接符 280"/>
            <p:cNvCxnSpPr/>
            <p:nvPr>
              <p:custDataLst>
                <p:tags r:id="rId26"/>
              </p:custDataLst>
            </p:nvPr>
          </p:nvCxnSpPr>
          <p:spPr bwMode="auto">
            <a:xfrm flipH="1" flipV="1">
              <a:off x="9354" y="7370"/>
              <a:ext cx="1247" cy="2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sp>
        <p:nvSpPr>
          <p:cNvPr id="127" name="线形标注 2 126"/>
          <p:cNvSpPr/>
          <p:nvPr>
            <p:custDataLst>
              <p:tags r:id="rId3"/>
            </p:custDataLst>
          </p:nvPr>
        </p:nvSpPr>
        <p:spPr bwMode="auto">
          <a:xfrm>
            <a:off x="6228183" y="1268761"/>
            <a:ext cx="2408484" cy="235640"/>
          </a:xfrm>
          <a:prstGeom prst="borderCallout2">
            <a:avLst>
              <a:gd name="adj1" fmla="val 48221"/>
              <a:gd name="adj2" fmla="val 346"/>
              <a:gd name="adj3" fmla="val 47422"/>
              <a:gd name="adj4" fmla="val -9269"/>
              <a:gd name="adj5" fmla="val 348963"/>
              <a:gd name="adj6" fmla="val -24162"/>
            </a:avLst>
          </a:prstGeom>
          <a:noFill/>
          <a:ln w="12700" cap="flat" cmpd="sng" algn="ctr">
            <a:solidFill>
              <a:srgbClr val="0070C0"/>
            </a:solidFill>
            <a:prstDash val="sysDash"/>
            <a:round/>
            <a:headEnd type="none" w="med" len="med"/>
            <a:tailEnd type="arrow" w="sm" len="sm"/>
          </a:ln>
          <a:effectLst/>
        </p:spPr>
        <p:txBody>
          <a:bodyPr vert="horz" wrap="square" lIns="36000" tIns="18000" rIns="36000" bIns="18000" numCol="1" rtlCol="0" anchor="ctr" anchorCtr="0" compatLnSpc="1"/>
          <a:lstStyle/>
          <a:p>
            <a:pPr>
              <a:lnSpc>
                <a:spcPct val="105000"/>
              </a:lnSpc>
            </a:pPr>
            <a:r>
              <a:rPr lang="zh-CN" altLang="en-US" sz="1600" b="1" dirty="0">
                <a:latin typeface="+mn-ea"/>
                <a:ea typeface="+mn-ea"/>
              </a:rPr>
              <a:t>利于匀速转动＋定时采样</a:t>
            </a:r>
          </a:p>
        </p:txBody>
      </p:sp>
      <p:sp>
        <p:nvSpPr>
          <p:cNvPr id="388" name="AutoShape 450">
            <a:hlinkClick r:id="" action="ppaction://hlinkshowjump?jump=previousslide" highlightClick="1"/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 rot="5400000">
            <a:off x="2988518" y="6526038"/>
            <a:ext cx="287338" cy="287338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" name="AutoShape 654">
            <a:hlinkClick r:id="" action="ppaction://hlinkshowjump?jump=nextslide" highlightClick="1"/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 rot="10800000">
            <a:off x="4068638" y="6524450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2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2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1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500"/>
                            </p:stCondLst>
                            <p:childTnLst>
                              <p:par>
                                <p:cTn id="43" presetID="3" presetClass="entr" presetSubtype="10" fill="hold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12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3" dur="500"/>
                                        <p:tgtEl>
                                          <p:spTgt spid="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9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7" grpId="0" bldLvl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BFB63-B979-4FAE-8763-D7093A979077}" type="slidenum">
              <a:rPr lang="en-US" altLang="zh-CN" smtClean="0"/>
              <a:t>20</a:t>
            </a:fld>
            <a:endParaRPr lang="en-US" altLang="zh-CN"/>
          </a:p>
        </p:txBody>
      </p:sp>
      <p:sp>
        <p:nvSpPr>
          <p:cNvPr id="3" name="Text Box 173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79705" y="332656"/>
            <a:ext cx="3390900" cy="206550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主要性能指标：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存储容量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数据传输率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平均访问时间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</a:p>
        </p:txBody>
      </p:sp>
      <p:sp>
        <p:nvSpPr>
          <p:cNvPr id="5" name="Text Box 180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2195736" y="737315"/>
            <a:ext cx="6840760" cy="19466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S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＝磁道数</a:t>
            </a: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×</a:t>
            </a:r>
            <a:r>
              <a:rPr lang="zh-CN" altLang="en-US" sz="2200" b="1" u="sng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磁道长度</a:t>
            </a:r>
            <a:r>
              <a:rPr lang="en-US" altLang="zh-CN" sz="2200" b="1" u="sng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×</a:t>
            </a:r>
            <a:r>
              <a:rPr lang="zh-CN" altLang="en-US" sz="2200" b="1" u="sng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记录密度</a:t>
            </a: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←</a:t>
            </a:r>
            <a:r>
              <a:rPr lang="zh-CN" altLang="en-US" sz="1600" b="1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格式化</a:t>
            </a:r>
            <a:r>
              <a:rPr lang="zh-CN" sz="1600" b="1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前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基于长度</a:t>
            </a:r>
            <a:endParaRPr lang="en-US" altLang="zh-CN" sz="1800" b="1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S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＝磁道数</a:t>
            </a: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×</a:t>
            </a:r>
            <a:r>
              <a:rPr lang="zh-CN" altLang="en-US" sz="2200" b="1" u="sng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扇区数</a:t>
            </a:r>
            <a:r>
              <a:rPr lang="en-US" altLang="zh-CN" sz="2200" b="1" u="sng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/</a:t>
            </a:r>
            <a:r>
              <a:rPr lang="zh-CN" altLang="en-US" sz="2200" b="1" u="sng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磁道</a:t>
            </a:r>
            <a:r>
              <a:rPr lang="en-US" altLang="zh-CN" sz="2200" b="1" u="sng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×</a:t>
            </a:r>
            <a:r>
              <a:rPr lang="zh-CN" altLang="en-US" sz="2200" b="1" u="sng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扇区大小</a:t>
            </a: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←</a:t>
            </a:r>
            <a:r>
              <a:rPr lang="zh-CN" altLang="en-US" sz="1600" b="1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格式化后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基于扇区</a:t>
            </a:r>
            <a:endParaRPr lang="en-US" altLang="zh-CN" sz="1800" b="1" dirty="0" err="1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 err="1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D</a:t>
            </a:r>
            <a:r>
              <a:rPr lang="en-US" altLang="zh-CN" sz="2200" b="1" baseline="-18000" dirty="0" err="1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r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＝</a:t>
            </a:r>
            <a:r>
              <a:rPr lang="zh-CN" altLang="en-US" sz="2200" b="1" u="sng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磁道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容量</a:t>
            </a: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×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磁盘转速</a:t>
            </a:r>
            <a:endParaRPr lang="zh-CN" altLang="en-US" sz="2200" b="1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T</a:t>
            </a:r>
            <a:r>
              <a:rPr lang="en-US" altLang="zh-CN" sz="2200" b="1" baseline="-180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A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＝</a:t>
            </a: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T</a:t>
            </a:r>
            <a:r>
              <a:rPr lang="zh-CN" altLang="en-US" sz="2200" b="1" baseline="-18000" dirty="0">
                <a:highlight>
                  <a:srgbClr val="FFFF99"/>
                </a:highlight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平均</a:t>
            </a:r>
            <a:r>
              <a:rPr lang="zh-CN" altLang="en-US" sz="2200" b="1" baseline="-180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寻道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＋</a:t>
            </a: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T</a:t>
            </a:r>
            <a:r>
              <a:rPr lang="zh-CN" altLang="en-US" sz="2200" b="1" baseline="-18000" dirty="0">
                <a:highlight>
                  <a:srgbClr val="FFFF99"/>
                </a:highlight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平均</a:t>
            </a:r>
            <a:r>
              <a:rPr lang="zh-CN" altLang="en-US" sz="2200" b="1" baseline="-180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等待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＋</a:t>
            </a: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T</a:t>
            </a:r>
            <a:r>
              <a:rPr lang="zh-CN" altLang="en-US" sz="2200" b="1" baseline="-180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数据传送</a:t>
            </a: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←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T</a:t>
            </a:r>
            <a:r>
              <a:rPr lang="zh-CN" altLang="en-US" sz="1600" b="1" baseline="-180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数据传送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可忽略</a:t>
            </a:r>
            <a:endParaRPr lang="en-US" altLang="zh-CN" sz="1600" b="1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            </a:t>
            </a:r>
            <a:r>
              <a:rPr lang="en-US" altLang="zh-CN" sz="1600" dirty="0">
                <a:latin typeface="宋体" panose="02010600030101010101" pitchFamily="2" charset="-122"/>
                <a:sym typeface="+mn-ea"/>
              </a:rPr>
              <a:t>└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当前</a:t>
            </a:r>
            <a:r>
              <a:rPr lang="zh-CN" altLang="en-US" sz="1600" b="1" dirty="0">
                <a:latin typeface="+mn-ea"/>
              </a:rPr>
              <a:t>→目标</a:t>
            </a:r>
            <a:r>
              <a:rPr lang="zh-CN" altLang="en-US" sz="1600" dirty="0">
                <a:latin typeface="+mn-ea"/>
              </a:rPr>
              <a:t>┘</a:t>
            </a:r>
            <a:endParaRPr lang="zh-CN" altLang="en-US" sz="1600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8" name="Text Box 59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56210" y="2708920"/>
            <a:ext cx="8808720" cy="293814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L="0" indent="0" algn="l" eaLnBrk="1" latinLnBrk="0" hangingPunct="1">
              <a:lnSpc>
                <a:spcPct val="125000"/>
              </a:lnSpc>
            </a:pPr>
            <a:r>
              <a:rPr lang="en-US" altLang="zh-CN" sz="2000" b="1" dirty="0">
                <a:solidFill>
                  <a:srgbClr val="990099"/>
                </a:solidFill>
                <a:latin typeface="+mn-ea"/>
                <a:ea typeface="+mn-ea"/>
              </a:rPr>
              <a:t>    </a:t>
            </a:r>
            <a:r>
              <a:rPr lang="zh-CN" altLang="en-US" sz="2000" b="1" dirty="0">
                <a:solidFill>
                  <a:srgbClr val="990099"/>
                </a:solidFill>
                <a:latin typeface="+mn-ea"/>
                <a:ea typeface="+mn-ea"/>
              </a:rPr>
              <a:t>例</a:t>
            </a:r>
            <a:r>
              <a:rPr lang="en-US" altLang="zh-CN" sz="2000" b="1" dirty="0">
                <a:solidFill>
                  <a:srgbClr val="990099"/>
                </a:solidFill>
                <a:latin typeface="+mn-ea"/>
                <a:ea typeface="+mn-ea"/>
              </a:rPr>
              <a:t>1—</a:t>
            </a:r>
            <a:r>
              <a:rPr lang="zh-CN" altLang="en-US" sz="2000" b="1" dirty="0">
                <a:latin typeface="+mn-ea"/>
                <a:ea typeface="+mn-ea"/>
              </a:rPr>
              <a:t>某磁盘</a:t>
            </a:r>
            <a:r>
              <a:rPr lang="zh-CN" sz="2000" b="1" dirty="0">
                <a:latin typeface="+mn-ea"/>
                <a:ea typeface="+mn-ea"/>
              </a:rPr>
              <a:t>有</a:t>
            </a:r>
            <a:r>
              <a:rPr lang="en-US" altLang="zh-CN" sz="2000" b="1" dirty="0">
                <a:latin typeface="+mn-ea"/>
                <a:ea typeface="+mn-ea"/>
              </a:rPr>
              <a:t>50000</a:t>
            </a:r>
            <a:r>
              <a:rPr lang="zh-CN" altLang="en-US" sz="2000" b="1" dirty="0">
                <a:latin typeface="+mn-ea"/>
                <a:ea typeface="+mn-ea"/>
              </a:rPr>
              <a:t>个磁道</a:t>
            </a:r>
            <a:r>
              <a:rPr lang="zh-CN" altLang="zh-CN" sz="2000" b="1" dirty="0">
                <a:latin typeface="+mn-ea"/>
                <a:ea typeface="+mn-ea"/>
              </a:rPr>
              <a:t>，磁盘转速为</a:t>
            </a:r>
            <a:r>
              <a:rPr lang="en-US" altLang="zh-CN" sz="2000" b="1" dirty="0">
                <a:latin typeface="+mn-ea"/>
                <a:ea typeface="+mn-ea"/>
              </a:rPr>
              <a:t>7200RPM</a:t>
            </a:r>
            <a:r>
              <a:rPr lang="en-US" altLang="zh-CN" sz="1600" b="1" dirty="0">
                <a:latin typeface="+mn-ea"/>
                <a:ea typeface="+mn-ea"/>
              </a:rPr>
              <a:t>(</a:t>
            </a:r>
            <a:r>
              <a:rPr lang="zh-CN" altLang="zh-CN" sz="1600" b="1" dirty="0">
                <a:latin typeface="+mn-ea"/>
                <a:ea typeface="+mn-ea"/>
              </a:rPr>
              <a:t>转</a:t>
            </a:r>
            <a:r>
              <a:rPr lang="en-US" altLang="zh-CN" sz="1600" b="1" dirty="0">
                <a:latin typeface="+mn-ea"/>
                <a:ea typeface="+mn-ea"/>
              </a:rPr>
              <a:t>/</a:t>
            </a:r>
            <a:r>
              <a:rPr lang="zh-CN" altLang="zh-CN" sz="1600" b="1" dirty="0">
                <a:latin typeface="+mn-ea"/>
                <a:ea typeface="+mn-ea"/>
              </a:rPr>
              <a:t>分钟</a:t>
            </a:r>
            <a:r>
              <a:rPr lang="en-US" altLang="zh-CN" sz="1600" b="1" dirty="0">
                <a:latin typeface="+mn-ea"/>
                <a:ea typeface="+mn-ea"/>
              </a:rPr>
              <a:t>)</a:t>
            </a:r>
            <a:r>
              <a:rPr lang="zh-CN" altLang="en-US" sz="2000" b="1" dirty="0">
                <a:latin typeface="+mn-ea"/>
                <a:ea typeface="+mn-ea"/>
              </a:rPr>
              <a:t>；磁盘格式化后</a:t>
            </a:r>
            <a:r>
              <a:rPr lang="en-US" altLang="zh-CN" sz="2000" b="1" dirty="0">
                <a:latin typeface="+mn-ea"/>
                <a:ea typeface="+mn-ea"/>
                <a:sym typeface="+mn-ea"/>
              </a:rPr>
              <a:t>1000</a:t>
            </a:r>
            <a:r>
              <a:rPr lang="zh-CN" altLang="en-US" sz="2000" b="1" dirty="0">
                <a:latin typeface="+mn-ea"/>
                <a:ea typeface="+mn-ea"/>
                <a:sym typeface="+mn-ea"/>
              </a:rPr>
              <a:t>扇区</a:t>
            </a:r>
            <a:r>
              <a:rPr lang="en-US" altLang="zh-CN" sz="2000" b="1" dirty="0">
                <a:latin typeface="+mn-ea"/>
                <a:ea typeface="+mn-ea"/>
                <a:sym typeface="+mn-ea"/>
              </a:rPr>
              <a:t>/</a:t>
            </a:r>
            <a:r>
              <a:rPr lang="zh-CN" altLang="en-US" sz="2000" b="1" dirty="0">
                <a:latin typeface="+mn-ea"/>
                <a:ea typeface="+mn-ea"/>
              </a:rPr>
              <a:t>磁道、扇区大小为</a:t>
            </a:r>
            <a:r>
              <a:rPr lang="en-US" altLang="zh-CN" sz="2000" b="1" dirty="0">
                <a:latin typeface="+mn-ea"/>
                <a:ea typeface="+mn-ea"/>
              </a:rPr>
              <a:t>512B</a:t>
            </a:r>
            <a:r>
              <a:rPr lang="zh-CN" altLang="en-US" sz="2000" b="1" dirty="0">
                <a:latin typeface="+mn-ea"/>
                <a:ea typeface="+mn-ea"/>
              </a:rPr>
              <a:t>，平均寻道时间为</a:t>
            </a:r>
            <a:r>
              <a:rPr lang="en-US" altLang="zh-CN" sz="2000" b="1" dirty="0">
                <a:latin typeface="+mn-ea"/>
                <a:ea typeface="+mn-ea"/>
              </a:rPr>
              <a:t>8ms</a:t>
            </a:r>
            <a:r>
              <a:rPr lang="zh-CN" altLang="en-US" sz="2000" b="1" dirty="0">
                <a:latin typeface="+mn-ea"/>
                <a:ea typeface="+mn-ea"/>
              </a:rPr>
              <a:t>，</a:t>
            </a:r>
            <a:r>
              <a:rPr lang="zh-CN" altLang="zh-CN" sz="2000" b="1" dirty="0">
                <a:latin typeface="+mn-ea"/>
                <a:ea typeface="+mn-ea"/>
              </a:rPr>
              <a:t>请回答下列问题：</a:t>
            </a:r>
            <a:endParaRPr lang="en-US" altLang="zh-CN" sz="2000" b="1" dirty="0">
              <a:latin typeface="+mn-ea"/>
              <a:ea typeface="+mn-ea"/>
            </a:endParaRPr>
          </a:p>
          <a:p>
            <a:pPr marL="0" indent="0" algn="l" eaLnBrk="1" latinLnBrk="0" hangingPunct="1">
              <a:lnSpc>
                <a:spcPct val="125000"/>
              </a:lnSpc>
              <a:spcBef>
                <a:spcPts val="300"/>
              </a:spcBef>
            </a:pP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   </a:t>
            </a:r>
            <a:r>
              <a:rPr lang="en-US" altLang="zh-CN" sz="2000" b="1" dirty="0">
                <a:latin typeface="宋体" panose="02010600030101010101" pitchFamily="2" charset="-122"/>
              </a:rPr>
              <a:t>(1)</a:t>
            </a:r>
            <a:r>
              <a:rPr lang="zh-CN" altLang="en-US" sz="2000" b="1" dirty="0">
                <a:latin typeface="宋体" panose="02010600030101010101" pitchFamily="2" charset="-122"/>
              </a:rPr>
              <a:t>磁盘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容量</a:t>
            </a:r>
            <a:r>
              <a:rPr lang="zh-CN" altLang="en-US" sz="2000" b="1" dirty="0">
                <a:latin typeface="宋体" panose="02010600030101010101" pitchFamily="2" charset="-122"/>
              </a:rPr>
              <a:t>＝</a:t>
            </a:r>
            <a:endParaRPr lang="en-US" altLang="zh-CN" sz="2000" b="1" dirty="0">
              <a:latin typeface="宋体" panose="02010600030101010101" pitchFamily="2" charset="-122"/>
            </a:endParaRPr>
          </a:p>
          <a:p>
            <a:pPr marL="0" indent="0" algn="l" eaLnBrk="1" latinLnBrk="0" hangingPunct="1">
              <a:lnSpc>
                <a:spcPct val="125000"/>
              </a:lnSpc>
            </a:pPr>
            <a:endParaRPr lang="en-US" altLang="zh-CN" sz="2000" b="1" dirty="0">
              <a:latin typeface="宋体" panose="02010600030101010101" pitchFamily="2" charset="-122"/>
            </a:endParaRPr>
          </a:p>
          <a:p>
            <a:pPr marL="0" indent="0" algn="l" eaLnBrk="1" latinLnBrk="0" hangingPunct="1">
              <a:lnSpc>
                <a:spcPct val="125000"/>
              </a:lnSpc>
            </a:pPr>
            <a:endParaRPr lang="en-US" altLang="zh-CN" sz="2000" b="1" dirty="0">
              <a:latin typeface="宋体" panose="02010600030101010101" pitchFamily="2" charset="-122"/>
            </a:endParaRPr>
          </a:p>
          <a:p>
            <a:pPr marL="0" indent="0" algn="l" eaLnBrk="1" latinLnBrk="0" hangingPunct="1">
              <a:lnSpc>
                <a:spcPct val="125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altLang="zh-CN" sz="2000" b="1" dirty="0">
                <a:latin typeface="宋体" panose="02010600030101010101" pitchFamily="2" charset="-122"/>
              </a:rPr>
              <a:t>   (2)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数据传输率＝</a:t>
            </a:r>
            <a:endParaRPr lang="en-US" altLang="zh-CN" sz="2000" b="1" dirty="0">
              <a:latin typeface="宋体" panose="02010600030101010101" pitchFamily="2" charset="-122"/>
            </a:endParaRPr>
          </a:p>
          <a:p>
            <a:pPr marL="0" indent="0" algn="l" eaLnBrk="1" latinLnBrk="0" hangingPunct="1">
              <a:lnSpc>
                <a:spcPct val="125000"/>
              </a:lnSpc>
            </a:pPr>
            <a:r>
              <a:rPr lang="en-US" altLang="zh-CN" sz="2000" b="1" dirty="0">
                <a:latin typeface="宋体" panose="02010600030101010101" pitchFamily="2" charset="-122"/>
              </a:rPr>
              <a:t>   (3)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平均访问时间＝</a:t>
            </a:r>
          </a:p>
        </p:txBody>
      </p:sp>
      <p:sp>
        <p:nvSpPr>
          <p:cNvPr id="10" name="Text Box 89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475740" y="3501008"/>
            <a:ext cx="7488555" cy="255333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0" indent="0" algn="l" eaLnBrk="1" latinLnBrk="0" hangingPunct="1">
              <a:lnSpc>
                <a:spcPct val="125000"/>
              </a:lnSpc>
            </a:pPr>
            <a:r>
              <a:rPr lang="en-US" altLang="zh-CN" sz="2000" b="1" spc="-50" dirty="0">
                <a:latin typeface="宋体" panose="02010600030101010101" pitchFamily="2" charset="-122"/>
              </a:rPr>
              <a:t>      50000×1000</a:t>
            </a:r>
            <a:r>
              <a:rPr lang="en-US" altLang="zh-CN" sz="2000" b="1" spc="-50" dirty="0">
                <a:latin typeface="宋体" panose="02010600030101010101" pitchFamily="2" charset="-122"/>
                <a:sym typeface="+mn-ea"/>
              </a:rPr>
              <a:t>×512B</a:t>
            </a:r>
            <a:r>
              <a:rPr lang="zh-CN" altLang="en-US" sz="2000" b="1" spc="-50" dirty="0">
                <a:latin typeface="宋体" panose="02010600030101010101" pitchFamily="2" charset="-122"/>
              </a:rPr>
              <a:t>＝</a:t>
            </a:r>
            <a:r>
              <a:rPr lang="en-US" altLang="zh-CN" sz="2000" b="1" spc="-50" dirty="0">
                <a:latin typeface="宋体" panose="02010600030101010101" pitchFamily="2" charset="-122"/>
              </a:rPr>
              <a:t>25</a:t>
            </a:r>
            <a:r>
              <a:rPr lang="en-US" altLang="zh-CN" sz="2000" b="1" spc="-50" dirty="0">
                <a:latin typeface="宋体" panose="02010600030101010101" pitchFamily="2" charset="-122"/>
                <a:sym typeface="+mn-ea"/>
              </a:rPr>
              <a:t>.</a:t>
            </a:r>
            <a:r>
              <a:rPr lang="en-US" altLang="zh-CN" sz="2000" b="1" spc="-50" dirty="0">
                <a:latin typeface="宋体" panose="02010600030101010101" pitchFamily="2" charset="-122"/>
              </a:rPr>
              <a:t>6</a:t>
            </a:r>
            <a:r>
              <a:rPr lang="en-US" altLang="zh-CN" sz="2000" b="1" spc="-50" dirty="0">
                <a:solidFill>
                  <a:srgbClr val="FF3399"/>
                </a:solidFill>
                <a:latin typeface="宋体" panose="02010600030101010101" pitchFamily="2" charset="-122"/>
              </a:rPr>
              <a:t>GB</a:t>
            </a:r>
            <a:r>
              <a:rPr lang="zh-CN" altLang="en-US" sz="2000" b="1" spc="-50" dirty="0">
                <a:latin typeface="宋体" panose="02010600030101010101" pitchFamily="2" charset="-122"/>
                <a:sym typeface="+mn-ea"/>
              </a:rPr>
              <a:t>＝</a:t>
            </a:r>
            <a:r>
              <a:rPr lang="en-US" altLang="zh-CN" sz="2000" b="1" spc="-50" dirty="0">
                <a:latin typeface="宋体" panose="02010600030101010101" pitchFamily="2" charset="-122"/>
              </a:rPr>
              <a:t>25</a:t>
            </a:r>
            <a:r>
              <a:rPr lang="en-US" altLang="zh-CN" sz="2000" b="1" spc="-50" dirty="0">
                <a:solidFill>
                  <a:srgbClr val="FF3399"/>
                </a:solidFill>
                <a:latin typeface="宋体" panose="02010600030101010101" pitchFamily="2" charset="-122"/>
              </a:rPr>
              <a:t>GiB</a:t>
            </a:r>
          </a:p>
          <a:p>
            <a:pPr marL="0" indent="0" algn="l" eaLnBrk="1" latinLnBrk="0" hangingPunct="1">
              <a:lnSpc>
                <a:spcPct val="125000"/>
              </a:lnSpc>
            </a:pPr>
            <a:endParaRPr lang="en-US" altLang="zh-CN" sz="2000" b="1" spc="-50" dirty="0">
              <a:latin typeface="宋体" panose="02010600030101010101" pitchFamily="2" charset="-122"/>
              <a:sym typeface="+mn-ea"/>
            </a:endParaRPr>
          </a:p>
          <a:p>
            <a:pPr marL="0" indent="0" algn="l" eaLnBrk="1" latinLnBrk="0" hangingPunct="1">
              <a:lnSpc>
                <a:spcPct val="125000"/>
              </a:lnSpc>
            </a:pPr>
            <a:endParaRPr lang="en-US" altLang="zh-CN" sz="2000" b="1" spc="-50" dirty="0">
              <a:latin typeface="宋体" panose="02010600030101010101" pitchFamily="2" charset="-122"/>
              <a:sym typeface="+mn-ea"/>
            </a:endParaRPr>
          </a:p>
          <a:p>
            <a:pPr marL="0" indent="0" algn="l" eaLnBrk="1" latinLnBrk="0" hangingPunct="1">
              <a:lnSpc>
                <a:spcPct val="125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altLang="zh-CN" sz="2000" b="1" spc="-50" dirty="0">
                <a:latin typeface="宋体" panose="02010600030101010101" pitchFamily="2" charset="-122"/>
                <a:sym typeface="+mn-ea"/>
              </a:rPr>
              <a:t>        (1000×512B)×(7200÷60)</a:t>
            </a:r>
            <a:r>
              <a:rPr lang="zh-CN" altLang="en-US" sz="2000" b="1" spc="-50" dirty="0">
                <a:latin typeface="宋体" panose="02010600030101010101" pitchFamily="2" charset="-122"/>
                <a:sym typeface="+mn-ea"/>
              </a:rPr>
              <a:t>＝</a:t>
            </a:r>
            <a:r>
              <a:rPr lang="en-US" altLang="zh-CN" sz="2000" b="1" spc="-50" dirty="0">
                <a:latin typeface="宋体" panose="02010600030101010101" pitchFamily="2" charset="-122"/>
                <a:sym typeface="+mn-ea"/>
              </a:rPr>
              <a:t>61.44MB/s</a:t>
            </a:r>
            <a:endParaRPr lang="zh-CN" altLang="en-US" sz="2000" b="1" spc="-50" dirty="0">
              <a:latin typeface="宋体" panose="02010600030101010101" pitchFamily="2" charset="-122"/>
            </a:endParaRPr>
          </a:p>
          <a:p>
            <a:pPr marL="0" indent="0" algn="l" eaLnBrk="1" latinLnBrk="0" hangingPunct="1">
              <a:lnSpc>
                <a:spcPct val="125000"/>
              </a:lnSpc>
            </a:pP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          8ms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＋</a:t>
            </a: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[1/(7200÷60s)]</a:t>
            </a: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÷2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＋</a:t>
            </a: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[1/(7200÷60s)]</a:t>
            </a: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÷1000</a:t>
            </a:r>
            <a:endParaRPr lang="en-US" altLang="zh-CN" sz="2000" b="1" spc="-50" dirty="0">
              <a:latin typeface="宋体" panose="02010600030101010101" pitchFamily="2" charset="-122"/>
              <a:sym typeface="+mn-ea"/>
            </a:endParaRPr>
          </a:p>
          <a:p>
            <a:pPr marL="0" indent="0" algn="l" eaLnBrk="1" latinLnBrk="0" hangingPunct="1"/>
            <a:r>
              <a:rPr lang="en-US" altLang="zh-CN" sz="2000" b="1" spc="-50" dirty="0">
                <a:latin typeface="宋体" panose="02010600030101010101" pitchFamily="2" charset="-122"/>
                <a:sym typeface="+mn-ea"/>
              </a:rPr>
              <a:t>        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＝</a:t>
            </a: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8</a:t>
            </a:r>
            <a:r>
              <a:rPr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ms</a:t>
            </a: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＋</a:t>
            </a:r>
            <a:r>
              <a:rPr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4.17ms</a:t>
            </a: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＋</a:t>
            </a:r>
            <a:r>
              <a:rPr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8.33</a:t>
            </a:r>
            <a:r>
              <a:rPr lang="en-US" altLang="zh-CN" sz="2000" b="1" dirty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ns</a:t>
            </a:r>
            <a:r>
              <a:rPr lang="zh-CN" altLang="en-US" sz="2000" b="1" spc="-50" dirty="0">
                <a:latin typeface="宋体" panose="02010600030101010101" pitchFamily="2" charset="-122"/>
                <a:sym typeface="+mn-ea"/>
              </a:rPr>
              <a:t>≈</a:t>
            </a:r>
            <a:r>
              <a:rPr lang="en-US" altLang="zh-CN" sz="2000" b="1" spc="-50" dirty="0">
                <a:latin typeface="宋体" panose="02010600030101010101" pitchFamily="2" charset="-122"/>
                <a:sym typeface="+mn-ea"/>
              </a:rPr>
              <a:t>12.17ms</a:t>
            </a:r>
            <a:endParaRPr lang="zh-CN" altLang="en-US" sz="2000" b="1" spc="-50" dirty="0">
              <a:solidFill>
                <a:srgbClr val="FF3399"/>
              </a:solidFill>
              <a:latin typeface="宋体" panose="02010600030101010101" pitchFamily="2" charset="-122"/>
            </a:endParaRPr>
          </a:p>
        </p:txBody>
      </p:sp>
      <p:sp>
        <p:nvSpPr>
          <p:cNvPr id="49" name="Text Box 726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186815" y="3933725"/>
            <a:ext cx="7236000" cy="864000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Dot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lstStyle>
            <a:defPPr>
              <a:defRPr lang="zh-CN"/>
            </a:defPPr>
            <a:lvl1pPr>
              <a:lnSpc>
                <a:spcPct val="125000"/>
              </a:lnSpc>
              <a:defRPr sz="2000" b="1" u="none">
                <a:solidFill>
                  <a:srgbClr val="990099"/>
                </a:solidFill>
                <a:latin typeface="宋体" panose="02010600030101010101" pitchFamily="2" charset="-122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en-US" altLang="zh-CN" sz="1800" dirty="0">
                <a:solidFill>
                  <a:srgbClr val="C00000"/>
                </a:solidFill>
              </a:rPr>
              <a:t>MEM</a:t>
            </a:r>
            <a:r>
              <a:rPr lang="zh-CN" altLang="en-US" sz="1800" dirty="0">
                <a:solidFill>
                  <a:srgbClr val="C00000"/>
                </a:solidFill>
              </a:rPr>
              <a:t>容量单位：</a:t>
            </a:r>
            <a:r>
              <a:rPr lang="en-US" sz="1800" dirty="0">
                <a:solidFill>
                  <a:srgbClr val="990099"/>
                </a:solidFill>
              </a:rPr>
              <a:t>RAM</a:t>
            </a:r>
            <a:r>
              <a:rPr lang="zh-CN" altLang="en-US" sz="1800" dirty="0">
                <a:solidFill>
                  <a:srgbClr val="990099"/>
                </a:solidFill>
              </a:rPr>
              <a:t>类</a:t>
            </a:r>
            <a:r>
              <a:rPr lang="en-US" altLang="zh-CN" sz="1800" dirty="0">
                <a:solidFill>
                  <a:schemeClr val="tx1"/>
                </a:solidFill>
                <a:sym typeface="+mn-ea"/>
              </a:rPr>
              <a:t>(</a:t>
            </a:r>
            <a:r>
              <a:rPr lang="zh-CN" altLang="en-US" sz="1800" dirty="0">
                <a:solidFill>
                  <a:schemeClr val="tx1"/>
                </a:solidFill>
                <a:sym typeface="+mn-ea"/>
              </a:rPr>
              <a:t>寻址</a:t>
            </a:r>
            <a:r>
              <a:rPr lang="zh-CN" altLang="en-US" sz="1800" u="sng" dirty="0">
                <a:solidFill>
                  <a:schemeClr val="tx1"/>
                </a:solidFill>
                <a:sym typeface="+mn-ea"/>
              </a:rPr>
              <a:t>用译码器</a:t>
            </a:r>
            <a:r>
              <a:rPr lang="en-US" altLang="zh-CN" sz="1800" dirty="0">
                <a:solidFill>
                  <a:schemeClr val="tx1"/>
                </a:solidFill>
                <a:sym typeface="+mn-ea"/>
              </a:rPr>
              <a:t>)</a:t>
            </a:r>
            <a:r>
              <a:rPr lang="zh-CN" altLang="en-US" sz="1800" dirty="0">
                <a:solidFill>
                  <a:schemeClr val="tx1"/>
                </a:solidFill>
              </a:rPr>
              <a:t>的</a:t>
            </a:r>
            <a:r>
              <a:rPr lang="en-US" altLang="zh-CN" sz="1800" dirty="0">
                <a:solidFill>
                  <a:schemeClr val="tx1"/>
                </a:solidFill>
              </a:rPr>
              <a:t>1KB</a:t>
            </a:r>
            <a:r>
              <a:rPr lang="zh-CN" altLang="en-US" sz="1800" dirty="0">
                <a:solidFill>
                  <a:schemeClr val="tx1"/>
                </a:solidFill>
              </a:rPr>
              <a:t>＝</a:t>
            </a:r>
            <a:r>
              <a:rPr lang="en-US" altLang="zh-CN" sz="1800" dirty="0">
                <a:solidFill>
                  <a:schemeClr val="tx1"/>
                </a:solidFill>
              </a:rPr>
              <a:t>2</a:t>
            </a:r>
            <a:r>
              <a:rPr lang="en-US" altLang="zh-CN" sz="1800" baseline="50000" dirty="0">
                <a:solidFill>
                  <a:schemeClr val="tx1"/>
                </a:solidFill>
                <a:uFillTx/>
              </a:rPr>
              <a:t>10</a:t>
            </a:r>
            <a:r>
              <a:rPr lang="en-US" altLang="zh-CN" sz="1800" dirty="0">
                <a:solidFill>
                  <a:schemeClr val="tx1"/>
                </a:solidFill>
                <a:uFillTx/>
              </a:rPr>
              <a:t>B</a:t>
            </a:r>
            <a:r>
              <a:rPr lang="zh-CN" altLang="en-US" sz="1800" dirty="0">
                <a:solidFill>
                  <a:schemeClr val="tx1"/>
                </a:solidFill>
                <a:sym typeface="+mn-ea"/>
              </a:rPr>
              <a:t>，</a:t>
            </a:r>
          </a:p>
          <a:p>
            <a:pPr algn="l">
              <a:lnSpc>
                <a:spcPct val="100000"/>
              </a:lnSpc>
            </a:pPr>
            <a:r>
              <a:rPr lang="zh-CN" altLang="en-US" sz="1800" dirty="0">
                <a:solidFill>
                  <a:schemeClr val="tx1"/>
                </a:solidFill>
                <a:sym typeface="+mn-ea"/>
              </a:rPr>
              <a:t> </a:t>
            </a:r>
            <a:r>
              <a:rPr lang="en-US" altLang="zh-CN" sz="1800" dirty="0">
                <a:solidFill>
                  <a:schemeClr val="tx1"/>
                </a:solidFill>
                <a:sym typeface="+mn-ea"/>
              </a:rPr>
              <a:t>            </a:t>
            </a:r>
            <a:r>
              <a:rPr lang="zh-CN" sz="1800" dirty="0">
                <a:solidFill>
                  <a:srgbClr val="990099"/>
                </a:solidFill>
              </a:rPr>
              <a:t>其余</a:t>
            </a:r>
            <a:r>
              <a:rPr lang="en-US" altLang="zh-CN" sz="1800" dirty="0">
                <a:solidFill>
                  <a:schemeClr val="tx1"/>
                </a:solidFill>
              </a:rPr>
              <a:t>(</a:t>
            </a:r>
            <a:r>
              <a:rPr lang="zh-CN" altLang="en-US" sz="1800" dirty="0">
                <a:solidFill>
                  <a:schemeClr val="tx1"/>
                </a:solidFill>
              </a:rPr>
              <a:t>寻址</a:t>
            </a:r>
            <a:r>
              <a:rPr lang="zh-CN" altLang="en-US" sz="1800" u="sng" dirty="0">
                <a:solidFill>
                  <a:schemeClr val="tx1"/>
                </a:solidFill>
              </a:rPr>
              <a:t>与时间有关</a:t>
            </a:r>
            <a:r>
              <a:rPr lang="en-US" altLang="zh-CN" sz="1800" dirty="0">
                <a:solidFill>
                  <a:schemeClr val="tx1"/>
                </a:solidFill>
              </a:rPr>
              <a:t>)</a:t>
            </a:r>
            <a:r>
              <a:rPr lang="zh-CN" sz="1800" dirty="0">
                <a:solidFill>
                  <a:schemeClr val="tx1"/>
                </a:solidFill>
              </a:rPr>
              <a:t>的</a:t>
            </a:r>
            <a:r>
              <a:rPr lang="en-US" altLang="zh-CN" sz="1800" dirty="0">
                <a:solidFill>
                  <a:schemeClr val="tx1"/>
                </a:solidFill>
              </a:rPr>
              <a:t>1KB</a:t>
            </a:r>
            <a:r>
              <a:rPr lang="zh-CN" altLang="en-US" sz="1800" dirty="0">
                <a:solidFill>
                  <a:schemeClr val="tx1"/>
                </a:solidFill>
                <a:sym typeface="+mn-ea"/>
              </a:rPr>
              <a:t>＝</a:t>
            </a:r>
            <a:r>
              <a:rPr lang="en-US" altLang="zh-CN" sz="1800" dirty="0">
                <a:solidFill>
                  <a:schemeClr val="tx1"/>
                </a:solidFill>
                <a:sym typeface="+mn-ea"/>
              </a:rPr>
              <a:t>10</a:t>
            </a:r>
            <a:r>
              <a:rPr lang="en-US" altLang="zh-CN" sz="1800" baseline="50000" dirty="0">
                <a:solidFill>
                  <a:schemeClr val="tx1"/>
                </a:solidFill>
                <a:uFillTx/>
                <a:sym typeface="+mn-ea"/>
              </a:rPr>
              <a:t>3</a:t>
            </a:r>
            <a:r>
              <a:rPr lang="en-US" altLang="zh-CN" sz="1800" dirty="0">
                <a:solidFill>
                  <a:schemeClr val="tx1"/>
                </a:solidFill>
                <a:uFillTx/>
                <a:sym typeface="+mn-ea"/>
              </a:rPr>
              <a:t>B</a:t>
            </a:r>
            <a:r>
              <a:rPr lang="zh-CN" altLang="en-US" sz="1800" dirty="0">
                <a:solidFill>
                  <a:schemeClr val="tx1"/>
                </a:solidFill>
                <a:sym typeface="+mn-ea"/>
              </a:rPr>
              <a:t>；</a:t>
            </a:r>
            <a:r>
              <a:rPr lang="en-US" altLang="zh-CN" sz="1800" dirty="0">
                <a:solidFill>
                  <a:schemeClr val="tx1"/>
                </a:solidFill>
                <a:sym typeface="+mn-ea"/>
              </a:rPr>
              <a:t>  </a:t>
            </a:r>
            <a:r>
              <a:rPr lang="en-US" altLang="zh-CN" sz="1600" dirty="0">
                <a:solidFill>
                  <a:schemeClr val="tx1"/>
                </a:solidFill>
                <a:uFillTx/>
                <a:sym typeface="+mn-ea"/>
              </a:rPr>
              <a:t>←</a:t>
            </a:r>
            <a:r>
              <a:rPr lang="zh-CN" altLang="en-US" sz="1600" dirty="0">
                <a:solidFill>
                  <a:schemeClr val="tx1"/>
                </a:solidFill>
                <a:uFillTx/>
                <a:sym typeface="+mn-ea"/>
              </a:rPr>
              <a:t>历史原因所致</a:t>
            </a:r>
            <a:endParaRPr lang="zh-CN" altLang="en-US" sz="1600" dirty="0">
              <a:solidFill>
                <a:schemeClr val="tx1"/>
              </a:solidFill>
              <a:sym typeface="+mn-ea"/>
            </a:endParaRPr>
          </a:p>
          <a:p>
            <a:pPr algn="l">
              <a:lnSpc>
                <a:spcPct val="100000"/>
              </a:lnSpc>
            </a:pPr>
            <a:r>
              <a:rPr lang="zh-CN" altLang="en-US" sz="1800" dirty="0">
                <a:solidFill>
                  <a:srgbClr val="C00000"/>
                </a:solidFill>
              </a:rPr>
              <a:t>容量单位统一：</a:t>
            </a:r>
            <a:r>
              <a:rPr lang="zh-CN" altLang="en-US" sz="1800" dirty="0">
                <a:solidFill>
                  <a:schemeClr val="tx1"/>
                </a:solidFill>
              </a:rPr>
              <a:t>非</a:t>
            </a:r>
            <a:r>
              <a:rPr lang="en-US" altLang="zh-CN" sz="1800" dirty="0">
                <a:solidFill>
                  <a:schemeClr val="tx1"/>
                </a:solidFill>
              </a:rPr>
              <a:t>RAM</a:t>
            </a:r>
            <a:r>
              <a:rPr lang="zh-CN" altLang="en-US" sz="1800" dirty="0">
                <a:solidFill>
                  <a:schemeClr val="tx1"/>
                </a:solidFill>
              </a:rPr>
              <a:t>的用</a:t>
            </a:r>
            <a:r>
              <a:rPr lang="en-US" altLang="zh-CN" sz="1800" dirty="0">
                <a:solidFill>
                  <a:srgbClr val="0070C0"/>
                </a:solidFill>
              </a:rPr>
              <a:t>1KiB</a:t>
            </a:r>
            <a:r>
              <a:rPr lang="zh-CN" altLang="en-US" sz="1800" dirty="0">
                <a:solidFill>
                  <a:srgbClr val="0070C0"/>
                </a:solidFill>
                <a:sym typeface="+mn-ea"/>
              </a:rPr>
              <a:t>表示</a:t>
            </a:r>
            <a:r>
              <a:rPr lang="en-US" altLang="zh-CN" sz="1800" dirty="0">
                <a:solidFill>
                  <a:srgbClr val="0070C0"/>
                </a:solidFill>
                <a:sym typeface="+mn-ea"/>
              </a:rPr>
              <a:t>2</a:t>
            </a:r>
            <a:r>
              <a:rPr lang="en-US" altLang="zh-CN" sz="1800" baseline="50000" dirty="0">
                <a:solidFill>
                  <a:srgbClr val="0070C0"/>
                </a:solidFill>
                <a:uFillTx/>
                <a:sym typeface="+mn-ea"/>
              </a:rPr>
              <a:t>10</a:t>
            </a:r>
            <a:r>
              <a:rPr lang="en-US" altLang="zh-CN" sz="1800" dirty="0">
                <a:solidFill>
                  <a:srgbClr val="0070C0"/>
                </a:solidFill>
                <a:uFillTx/>
                <a:sym typeface="+mn-ea"/>
              </a:rPr>
              <a:t>B</a:t>
            </a:r>
            <a:r>
              <a:rPr lang="zh-CN" altLang="en-US" sz="1800" dirty="0">
                <a:solidFill>
                  <a:schemeClr val="tx1"/>
                </a:solidFill>
                <a:uFillTx/>
                <a:sym typeface="+mn-ea"/>
              </a:rPr>
              <a:t>，</a:t>
            </a:r>
            <a:r>
              <a:rPr lang="en-US" altLang="zh-CN" sz="1800" dirty="0">
                <a:solidFill>
                  <a:schemeClr val="tx1"/>
                </a:solidFill>
                <a:uFillTx/>
                <a:sym typeface="+mn-ea"/>
              </a:rPr>
              <a:t>1KB</a:t>
            </a:r>
            <a:r>
              <a:rPr lang="zh-CN" altLang="en-US" sz="1800" dirty="0">
                <a:solidFill>
                  <a:schemeClr val="tx1"/>
                </a:solidFill>
                <a:uFillTx/>
                <a:sym typeface="+mn-ea"/>
              </a:rPr>
              <a:t>则</a:t>
            </a:r>
            <a:r>
              <a:rPr lang="zh-CN" altLang="en-US" sz="1800" dirty="0">
                <a:solidFill>
                  <a:schemeClr val="tx1"/>
                </a:solidFill>
                <a:sym typeface="+mn-ea"/>
              </a:rPr>
              <a:t>表示</a:t>
            </a:r>
            <a:r>
              <a:rPr lang="en-US" altLang="zh-CN" sz="1800" dirty="0">
                <a:solidFill>
                  <a:schemeClr val="tx1"/>
                </a:solidFill>
                <a:sym typeface="+mn-ea"/>
              </a:rPr>
              <a:t>10</a:t>
            </a:r>
            <a:r>
              <a:rPr lang="en-US" altLang="zh-CN" sz="1800" baseline="50000" dirty="0">
                <a:solidFill>
                  <a:schemeClr val="tx1"/>
                </a:solidFill>
                <a:uFillTx/>
                <a:sym typeface="+mn-ea"/>
              </a:rPr>
              <a:t>3</a:t>
            </a:r>
            <a:r>
              <a:rPr lang="en-US" altLang="zh-CN" sz="1800" dirty="0">
                <a:solidFill>
                  <a:schemeClr val="tx1"/>
                </a:solidFill>
                <a:uFillTx/>
                <a:sym typeface="+mn-ea"/>
              </a:rPr>
              <a:t>B</a:t>
            </a:r>
            <a:endParaRPr lang="zh-CN" altLang="en-US" sz="1600" dirty="0">
              <a:solidFill>
                <a:schemeClr val="tx1"/>
              </a:solidFill>
              <a:uFillTx/>
              <a:sym typeface="+mn-ea"/>
            </a:endParaRPr>
          </a:p>
        </p:txBody>
      </p:sp>
      <p:sp>
        <p:nvSpPr>
          <p:cNvPr id="13" name="线形标注 2 12"/>
          <p:cNvSpPr/>
          <p:nvPr>
            <p:custDataLst>
              <p:tags r:id="rId6"/>
            </p:custDataLst>
          </p:nvPr>
        </p:nvSpPr>
        <p:spPr bwMode="auto">
          <a:xfrm>
            <a:off x="5436096" y="6021288"/>
            <a:ext cx="2448000" cy="252000"/>
          </a:xfrm>
          <a:prstGeom prst="borderCallout2">
            <a:avLst>
              <a:gd name="adj1" fmla="val 50463"/>
              <a:gd name="adj2" fmla="val 145"/>
              <a:gd name="adj3" fmla="val 48024"/>
              <a:gd name="adj4" fmla="val -8441"/>
              <a:gd name="adj5" fmla="val -52120"/>
              <a:gd name="adj6" fmla="val -13658"/>
            </a:avLst>
          </a:prstGeom>
          <a:noFill/>
          <a:ln w="12700" cap="flat" cmpd="sng" algn="ctr">
            <a:solidFill>
              <a:srgbClr val="0070C0"/>
            </a:solidFill>
            <a:prstDash val="sysDash"/>
            <a:round/>
            <a:headEnd type="none" w="med" len="med"/>
            <a:tailEnd type="arrow" w="sm" len="sm"/>
          </a:ln>
          <a:effectLst/>
        </p:spPr>
        <p:txBody>
          <a:bodyPr vert="horz" wrap="square" lIns="18000" tIns="10800" rIns="18000" bIns="10800" numCol="1" rtlCol="0" anchor="ctr" anchorCtr="0" compatLnSpc="1"/>
          <a:lstStyle/>
          <a:p>
            <a:pPr>
              <a:lnSpc>
                <a:spcPct val="90000"/>
              </a:lnSpc>
            </a:pP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T</a:t>
            </a:r>
            <a:r>
              <a:rPr lang="zh-CN" altLang="en-US" sz="1600" b="1" baseline="-180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数据传送</a:t>
            </a:r>
            <a:r>
              <a:rPr lang="en-US" altLang="zh-CN" sz="1600" b="1" dirty="0">
                <a:latin typeface="+mn-ea"/>
                <a:ea typeface="+mn-ea"/>
              </a:rPr>
              <a:t>&lt;&lt;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T</a:t>
            </a:r>
            <a:r>
              <a:rPr lang="zh-CN" altLang="en-US" sz="1600" b="1" baseline="-180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平均等待</a:t>
            </a:r>
            <a:r>
              <a:rPr lang="zh-CN" altLang="en-US" sz="1600" b="1" dirty="0">
                <a:latin typeface="+mn-ea"/>
                <a:ea typeface="+mn-ea"/>
              </a:rPr>
              <a:t>，可忽略</a:t>
            </a:r>
          </a:p>
        </p:txBody>
      </p:sp>
      <p:sp>
        <p:nvSpPr>
          <p:cNvPr id="83" name="AutoShape 450">
            <a:hlinkClick r:id="" action="ppaction://hlinkshowjump?jump=previousslide" highlightClick="1"/>
          </p:cNvPr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 rot="5400000">
            <a:off x="4068638" y="6526038"/>
            <a:ext cx="287338" cy="287338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" name="线形标注 2 12"/>
          <p:cNvSpPr/>
          <p:nvPr>
            <p:custDataLst>
              <p:tags r:id="rId8"/>
            </p:custDataLst>
          </p:nvPr>
        </p:nvSpPr>
        <p:spPr bwMode="auto">
          <a:xfrm>
            <a:off x="6948416" y="5697280"/>
            <a:ext cx="1368000" cy="252000"/>
          </a:xfrm>
          <a:prstGeom prst="borderCallout2">
            <a:avLst>
              <a:gd name="adj1" fmla="val 50463"/>
              <a:gd name="adj2" fmla="val 145"/>
              <a:gd name="adj3" fmla="val 48024"/>
              <a:gd name="adj4" fmla="val -15700"/>
              <a:gd name="adj5" fmla="val -63434"/>
              <a:gd name="adj6" fmla="val -83979"/>
            </a:avLst>
          </a:prstGeom>
          <a:noFill/>
          <a:ln w="12700" cap="flat" cmpd="sng" algn="ctr">
            <a:solidFill>
              <a:srgbClr val="0070C0"/>
            </a:solidFill>
            <a:prstDash val="sysDash"/>
            <a:round/>
            <a:headEnd type="none" w="med" len="med"/>
            <a:tailEnd type="arrow" w="sm" len="sm"/>
          </a:ln>
          <a:effectLst/>
        </p:spPr>
        <p:txBody>
          <a:bodyPr vert="horz" wrap="square" lIns="18000" tIns="10800" rIns="18000" bIns="10800" numCol="1" rtlCol="0" anchor="ctr" anchorCtr="0" compatLnSpc="1"/>
          <a:lstStyle/>
          <a:p>
            <a:pPr algn="ctr">
              <a:lnSpc>
                <a:spcPct val="90000"/>
              </a:lnSpc>
            </a:pP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平均等待半圈</a:t>
            </a:r>
            <a:endParaRPr lang="zh-CN" altLang="en-US" sz="1600" b="1" dirty="0">
              <a:latin typeface="+mn-ea"/>
              <a:ea typeface="+mn-ea"/>
            </a:endParaRPr>
          </a:p>
        </p:txBody>
      </p:sp>
      <p:sp>
        <p:nvSpPr>
          <p:cNvPr id="20" name="线形标注 2 19"/>
          <p:cNvSpPr/>
          <p:nvPr>
            <p:custDataLst>
              <p:tags r:id="rId9"/>
            </p:custDataLst>
          </p:nvPr>
        </p:nvSpPr>
        <p:spPr bwMode="auto">
          <a:xfrm>
            <a:off x="6804248" y="3582943"/>
            <a:ext cx="2052000" cy="216000"/>
          </a:xfrm>
          <a:prstGeom prst="borderCallout2">
            <a:avLst>
              <a:gd name="adj1" fmla="val 50463"/>
              <a:gd name="adj2" fmla="val 145"/>
              <a:gd name="adj3" fmla="val 50920"/>
              <a:gd name="adj4" fmla="val -10015"/>
              <a:gd name="adj5" fmla="val -228545"/>
              <a:gd name="adj6" fmla="val -29560"/>
            </a:avLst>
          </a:prstGeom>
          <a:noFill/>
          <a:ln w="12700" cap="flat" cmpd="sng" algn="ctr">
            <a:solidFill>
              <a:srgbClr val="0070C0"/>
            </a:solidFill>
            <a:prstDash val="sysDash"/>
            <a:round/>
            <a:headEnd type="none" w="med" len="med"/>
            <a:tailEnd type="arrow" w="sm" len="sm"/>
          </a:ln>
          <a:effectLst/>
        </p:spPr>
        <p:txBody>
          <a:bodyPr vert="horz" wrap="square" lIns="18000" tIns="10800" rIns="18000" bIns="10800" numCol="1" rtlCol="0" anchor="ctr" anchorCtr="0" compatLnSpc="1"/>
          <a:lstStyle/>
          <a:p>
            <a:pPr>
              <a:lnSpc>
                <a:spcPct val="90000"/>
              </a:lnSpc>
            </a:pPr>
            <a:r>
              <a:rPr lang="en-US" altLang="zh-CN" sz="1600" dirty="0">
                <a:solidFill>
                  <a:srgbClr val="990099"/>
                </a:solidFill>
              </a:rPr>
              <a:t>R</a:t>
            </a:r>
            <a:r>
              <a:rPr lang="en-US" altLang="zh-CN" sz="1600" dirty="0"/>
              <a:t>evolutions </a:t>
            </a:r>
            <a:r>
              <a:rPr lang="en-US" altLang="zh-CN" sz="1600" dirty="0">
                <a:solidFill>
                  <a:srgbClr val="990099"/>
                </a:solidFill>
              </a:rPr>
              <a:t>P</a:t>
            </a:r>
            <a:r>
              <a:rPr lang="en-US" altLang="zh-CN" sz="1600" dirty="0"/>
              <a:t>er </a:t>
            </a:r>
            <a:r>
              <a:rPr lang="en-US" altLang="zh-CN" sz="1600" dirty="0">
                <a:solidFill>
                  <a:srgbClr val="990099"/>
                </a:solidFill>
              </a:rPr>
              <a:t>M</a:t>
            </a:r>
            <a:r>
              <a:rPr lang="en-US" altLang="zh-CN" sz="1600" dirty="0"/>
              <a:t>inute</a:t>
            </a:r>
            <a:endParaRPr lang="en-US" altLang="zh-CN" sz="1600" b="1" dirty="0">
              <a:latin typeface="+mn-e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000"/>
                            </p:stCondLst>
                            <p:childTnLst>
                              <p:par>
                                <p:cTn id="51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 bldLvl="0" animBg="1"/>
      <p:bldP spid="13" grpId="0" bldLvl="0" animBg="1"/>
      <p:bldP spid="11" grpId="0" bldLvl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BFB63-B979-4FAE-8763-D7093A979077}" type="slidenum">
              <a:rPr lang="en-US" altLang="zh-CN" smtClean="0"/>
              <a:t>21</a:t>
            </a:fld>
            <a:endParaRPr lang="en-US" altLang="zh-CN"/>
          </a:p>
        </p:txBody>
      </p:sp>
      <p:sp>
        <p:nvSpPr>
          <p:cNvPr id="99" name="AutoShape 62">
            <a:hlinkClick r:id="rId4" action="ppaction://hlinksldjump"/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 rot="16200000">
            <a:off x="7452669" y="6237657"/>
            <a:ext cx="287337" cy="864098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zh-CN" altLang="en-US" sz="1600" u="none" dirty="0">
                <a:solidFill>
                  <a:schemeClr val="bg2"/>
                </a:solidFill>
                <a:latin typeface="+mn-ea"/>
                <a:ea typeface="+mn-ea"/>
              </a:rPr>
              <a:t>回目录</a:t>
            </a:r>
          </a:p>
        </p:txBody>
      </p:sp>
      <p:sp>
        <p:nvSpPr>
          <p:cNvPr id="159" name="Text Box 4"/>
          <p:cNvSpPr txBox="1">
            <a:spLocks noChangeArrowheads="1"/>
          </p:cNvSpPr>
          <p:nvPr/>
        </p:nvSpPr>
        <p:spPr bwMode="auto">
          <a:xfrm>
            <a:off x="179704" y="332740"/>
            <a:ext cx="8784784" cy="6120458"/>
          </a:xfrm>
          <a:prstGeom prst="rect">
            <a:avLst/>
          </a:prstGeom>
          <a:noFill/>
          <a:ln w="38100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※</a:t>
            </a:r>
            <a:r>
              <a:rPr lang="zh-CN" altLang="en-US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外设的特点小结：</a:t>
            </a:r>
            <a:endParaRPr lang="en-US" altLang="zh-CN" sz="2200" b="1" dirty="0">
              <a:solidFill>
                <a:srgbClr val="FF3399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*传送方式：</a:t>
            </a:r>
            <a:endParaRPr lang="zh-CN" altLang="en-US" sz="2200" b="1" dirty="0">
              <a:latin typeface="宋体" panose="02010600030101010101" pitchFamily="2" charset="-122"/>
            </a:endParaRPr>
          </a:p>
          <a:p>
            <a:pPr algn="l">
              <a:lnSpc>
                <a:spcPct val="110000"/>
              </a:lnSpc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无条件传送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sz="2200" b="1" spc="-30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90000"/>
              </a:lnSpc>
              <a:spcBef>
                <a:spcPts val="200"/>
              </a:spcBef>
            </a:pP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rPr>
              <a:t>       (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</a:rPr>
              <a:t>简单设备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rPr>
              <a:t>)</a:t>
            </a:r>
            <a:endParaRPr lang="en-US" altLang="zh-CN" sz="1600" b="1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 marL="3143250" indent="-3143250" algn="l">
              <a:lnSpc>
                <a:spcPct val="125000"/>
              </a:lnSpc>
              <a:spcBef>
                <a:spcPts val="300"/>
              </a:spcBef>
            </a:pP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条件传送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 algn="l">
              <a:lnSpc>
                <a:spcPct val="90000"/>
              </a:lnSpc>
            </a:pP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rPr>
              <a:t>       (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</a:rPr>
              <a:t>复杂设备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rPr>
              <a:t>)</a:t>
            </a:r>
            <a:endParaRPr lang="en-US" altLang="zh-CN" sz="1600" b="1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*联络方式：</a:t>
            </a: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立即响应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                              </a:t>
            </a:r>
            <a:r>
              <a:rPr lang="zh-CN" altLang="en-US" sz="1800" b="1" dirty="0">
                <a:latin typeface="宋体" panose="02010600030101010101" pitchFamily="2" charset="-122"/>
              </a:rPr>
              <a:t>←面向</a:t>
            </a:r>
            <a:r>
              <a:rPr lang="zh-CN" altLang="en-US" sz="1800" b="1" u="sng" dirty="0">
                <a:latin typeface="宋体" panose="02010600030101010101" pitchFamily="2" charset="-122"/>
              </a:rPr>
              <a:t>无条件传送</a:t>
            </a:r>
            <a:endParaRPr lang="en-US" altLang="zh-CN" sz="18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异步联络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                              </a:t>
            </a:r>
            <a:r>
              <a:rPr lang="zh-CN" altLang="en-US" sz="1800" b="1" dirty="0">
                <a:latin typeface="宋体" panose="02010600030101010101" pitchFamily="2" charset="-122"/>
              </a:rPr>
              <a:t>←面向</a:t>
            </a:r>
            <a:r>
              <a:rPr lang="zh-CN" altLang="en-US" sz="1800" b="1" u="sng" dirty="0">
                <a:latin typeface="宋体" panose="02010600030101010101" pitchFamily="2" charset="-122"/>
              </a:rPr>
              <a:t>条件传送</a:t>
            </a:r>
            <a:r>
              <a:rPr lang="en-US" altLang="zh-CN" sz="1800" b="1" u="sng" dirty="0">
                <a:latin typeface="宋体" panose="02010600030101010101" pitchFamily="2" charset="-122"/>
              </a:rPr>
              <a:t>(</a:t>
            </a:r>
            <a:r>
              <a:rPr lang="zh-CN" altLang="en-US" sz="1800" b="1" u="sng" dirty="0">
                <a:latin typeface="宋体" panose="02010600030101010101" pitchFamily="2" charset="-122"/>
              </a:rPr>
              <a:t>并行</a:t>
            </a:r>
            <a:r>
              <a:rPr lang="en-US" altLang="zh-CN" sz="1800" b="1" u="sng" dirty="0">
                <a:latin typeface="宋体" panose="02010600030101010101" pitchFamily="2" charset="-122"/>
              </a:rPr>
              <a:t>)</a:t>
            </a:r>
            <a:endParaRPr lang="en-US" altLang="zh-CN" sz="18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同步联络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                              </a:t>
            </a:r>
            <a:r>
              <a:rPr lang="zh-CN" altLang="en-US" sz="1800" b="1" dirty="0">
                <a:latin typeface="宋体" panose="02010600030101010101" pitchFamily="2" charset="-122"/>
              </a:rPr>
              <a:t>←面向</a:t>
            </a:r>
            <a:r>
              <a:rPr lang="zh-CN" altLang="en-US" sz="1800" b="1" u="sng" dirty="0">
                <a:latin typeface="宋体" panose="02010600030101010101" pitchFamily="2" charset="-122"/>
              </a:rPr>
              <a:t>条件传送</a:t>
            </a:r>
            <a:r>
              <a:rPr lang="en-US" altLang="zh-CN" sz="1800" b="1" u="sng" dirty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u="sng" dirty="0">
                <a:latin typeface="宋体" panose="02010600030101010101" pitchFamily="2" charset="-122"/>
                <a:sym typeface="+mn-ea"/>
              </a:rPr>
              <a:t>串行</a:t>
            </a:r>
            <a:r>
              <a:rPr lang="en-US" altLang="zh-CN" sz="1800" b="1" u="sng" dirty="0">
                <a:latin typeface="宋体" panose="02010600030101010101" pitchFamily="2" charset="-122"/>
                <a:sym typeface="+mn-ea"/>
              </a:rPr>
              <a:t>)</a:t>
            </a:r>
            <a:endParaRPr lang="en-US" altLang="zh-CN" sz="18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500"/>
              </a:spcBef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设备接口：</a:t>
            </a: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</p:txBody>
      </p:sp>
      <p:sp>
        <p:nvSpPr>
          <p:cNvPr id="5" name="Text Box 145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872005" y="5949280"/>
            <a:ext cx="6948467" cy="472437"/>
          </a:xfrm>
          <a:prstGeom prst="rect">
            <a:avLst/>
          </a:prstGeom>
          <a:noFill/>
          <a:ln w="38100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spc="-50" dirty="0">
                <a:latin typeface="宋体" panose="02010600030101010101" pitchFamily="2" charset="-122"/>
                <a:cs typeface="宋体" panose="02010600030101010101" pitchFamily="2" charset="-122"/>
              </a:rPr>
              <a:t>串行有</a:t>
            </a:r>
            <a:r>
              <a:rPr lang="en-US" altLang="zh-CN" sz="2200" b="1" spc="-50" dirty="0">
                <a:latin typeface="宋体" panose="02010600030101010101" pitchFamily="2" charset="-122"/>
                <a:cs typeface="宋体" panose="02010600030101010101" pitchFamily="2" charset="-122"/>
              </a:rPr>
              <a:t>USB/PS2</a:t>
            </a:r>
            <a:r>
              <a:rPr lang="zh-CN" altLang="en-US" sz="2200" b="1" spc="-50" dirty="0">
                <a:latin typeface="宋体" panose="02010600030101010101" pitchFamily="2" charset="-122"/>
                <a:cs typeface="宋体" panose="02010600030101010101" pitchFamily="2" charset="-122"/>
              </a:rPr>
              <a:t>等，并行有</a:t>
            </a:r>
            <a:r>
              <a:rPr lang="en-US" altLang="zh-CN" sz="2200" spc="-50" dirty="0">
                <a:cs typeface="Times New Roman" panose="02020603050405020304" pitchFamily="18" charset="0"/>
                <a:sym typeface="+mn-ea"/>
              </a:rPr>
              <a:t>Centronics</a:t>
            </a:r>
            <a:r>
              <a:rPr lang="zh-CN" altLang="en-US" sz="2200" b="1" spc="-5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、</a:t>
            </a:r>
            <a:r>
              <a:rPr lang="en-US" altLang="zh-CN" sz="2200" b="1" spc="-5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IDE</a:t>
            </a:r>
            <a:r>
              <a:rPr lang="zh-CN" altLang="en-US" sz="2200" b="1" spc="-5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、</a:t>
            </a:r>
            <a:r>
              <a:rPr lang="en-US" altLang="zh-CN" sz="2200" b="1" spc="-5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VGA</a:t>
            </a:r>
            <a:r>
              <a:rPr lang="zh-CN" altLang="en-US" sz="2200" b="1" spc="-5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、</a:t>
            </a:r>
            <a:r>
              <a:rPr lang="en-US" altLang="zh-CN" sz="2200" b="1" spc="-5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HDMI</a:t>
            </a:r>
            <a:r>
              <a:rPr lang="zh-CN" altLang="en-US" sz="2200" b="1" spc="-5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等</a:t>
            </a:r>
          </a:p>
        </p:txBody>
      </p:sp>
      <p:sp>
        <p:nvSpPr>
          <p:cNvPr id="66" name="AutoShape 121">
            <a:hlinkClick r:id="rId5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2988518" y="6524451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7" name="Text Box 4">
            <a:extLst>
              <a:ext uri="{FF2B5EF4-FFF2-40B4-BE49-F238E27FC236}">
                <a16:creationId xmlns:a16="http://schemas.microsoft.com/office/drawing/2014/main" id="{4656B360-F784-4D8D-A363-B7E23B1D67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5736" y="1124744"/>
            <a:ext cx="6696744" cy="2325638"/>
          </a:xfrm>
          <a:prstGeom prst="rect">
            <a:avLst/>
          </a:prstGeom>
          <a:noFill/>
          <a:ln w="38100">
            <a:noFill/>
            <a:miter lim="800000"/>
          </a:ln>
          <a:effectLst/>
        </p:spPr>
        <p:txBody>
          <a:bodyPr wrap="square" lIns="90000" tIns="46800" rIns="90000" bIns="46800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200" b="1" spc="-30" dirty="0">
                <a:latin typeface="宋体" panose="02010600030101010101" pitchFamily="2" charset="-122"/>
                <a:sym typeface="+mn-ea"/>
              </a:rPr>
              <a:t>  </a:t>
            </a:r>
            <a:r>
              <a:rPr lang="zh-CN" altLang="en-US" sz="2200" b="1" spc="-30" dirty="0">
                <a:latin typeface="宋体" panose="02010600030101010101" pitchFamily="2" charset="-122"/>
                <a:sym typeface="+mn-ea"/>
              </a:rPr>
              <a:t>可</a:t>
            </a:r>
            <a:r>
              <a:rPr lang="zh-CN" altLang="en-US" sz="2200" b="1" u="sng" spc="-30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随时</a:t>
            </a:r>
            <a:r>
              <a:rPr lang="zh-CN" altLang="en-US" sz="2200" b="1" u="sng" spc="-30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传送</a:t>
            </a:r>
            <a:r>
              <a:rPr lang="zh-CN" altLang="en-US" sz="2200" b="1" spc="-30" dirty="0">
                <a:latin typeface="宋体" panose="02010600030101010101" pitchFamily="2" charset="-122"/>
                <a:sym typeface="+mn-ea"/>
              </a:rPr>
              <a:t>数据；</a:t>
            </a:r>
            <a:r>
              <a:rPr lang="zh-CN" altLang="en-US" sz="2200" b="1" dirty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都为</a:t>
            </a:r>
            <a:r>
              <a:rPr lang="zh-CN" altLang="en-US" sz="2200" b="1" u="sng" dirty="0">
                <a:latin typeface="宋体" panose="02010600030101010101" pitchFamily="2" charset="-122"/>
                <a:sym typeface="+mn-ea"/>
              </a:rPr>
              <a:t>字符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设备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并行传输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)</a:t>
            </a:r>
            <a:endParaRPr lang="zh-CN" altLang="en-US" sz="1800" b="1" dirty="0">
              <a:latin typeface="宋体" panose="02010600030101010101" pitchFamily="2" charset="-122"/>
              <a:sym typeface="+mn-ea"/>
            </a:endParaRPr>
          </a:p>
          <a:p>
            <a:pPr algn="l">
              <a:lnSpc>
                <a:spcPct val="90000"/>
              </a:lnSpc>
            </a:pP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          </a:t>
            </a:r>
            <a:r>
              <a:rPr lang="en-US" altLang="zh-CN" sz="1600" dirty="0">
                <a:latin typeface="宋体" panose="02010600030101010101" pitchFamily="2" charset="-122"/>
                <a:sym typeface="+mn-ea"/>
              </a:rPr>
              <a:t>└</a:t>
            </a:r>
            <a:r>
              <a:rPr lang="zh-CN" altLang="en-US" sz="1600" b="1" spc="-30" dirty="0">
                <a:latin typeface="宋体" panose="02010600030101010101" pitchFamily="2" charset="-122"/>
                <a:sym typeface="+mn-ea"/>
              </a:rPr>
              <a:t>←</a:t>
            </a:r>
            <a:r>
              <a:rPr lang="zh-CN" sz="1600" b="1" spc="-30" dirty="0">
                <a:latin typeface="宋体" panose="02010600030101010101" pitchFamily="2" charset="-122"/>
                <a:sym typeface="+mn-ea"/>
              </a:rPr>
              <a:t>如</a:t>
            </a:r>
            <a:r>
              <a:rPr lang="en-US" altLang="zh-CN" sz="1600" b="1" spc="-30" dirty="0">
                <a:latin typeface="宋体" panose="02010600030101010101" pitchFamily="2" charset="-122"/>
                <a:sym typeface="+mn-ea"/>
              </a:rPr>
              <a:t>LED/</a:t>
            </a:r>
            <a:r>
              <a:rPr lang="zh-CN" altLang="en-US" sz="1600" b="1" spc="-30" dirty="0">
                <a:latin typeface="宋体" panose="02010600030101010101" pitchFamily="2" charset="-122"/>
                <a:sym typeface="+mn-ea"/>
              </a:rPr>
              <a:t>开关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        </a:t>
            </a:r>
            <a:r>
              <a:rPr lang="en-US" altLang="zh-CN" sz="1600" dirty="0">
                <a:latin typeface="宋体" panose="02010600030101010101" pitchFamily="2" charset="-122"/>
                <a:sym typeface="+mn-ea"/>
              </a:rPr>
              <a:t>└</a:t>
            </a:r>
            <a:r>
              <a:rPr lang="zh-CN" altLang="en-US" sz="1600" b="1" spc="-30" dirty="0">
                <a:latin typeface="宋体" panose="02010600030101010101" pitchFamily="2" charset="-122"/>
                <a:sym typeface="+mn-ea"/>
              </a:rPr>
              <a:t>←</a:t>
            </a:r>
            <a:r>
              <a:rPr lang="en-US" altLang="zh-CN" sz="1600" b="1" spc="-30" dirty="0">
                <a:latin typeface="宋体" panose="02010600030101010101" pitchFamily="2" charset="-122"/>
                <a:sym typeface="+mn-ea"/>
              </a:rPr>
              <a:t>1</a:t>
            </a:r>
            <a:r>
              <a:rPr lang="zh-CN" altLang="en-US" sz="1600" b="1" spc="-30" dirty="0">
                <a:latin typeface="宋体" panose="02010600030101010101" pitchFamily="2" charset="-122"/>
                <a:sym typeface="+mn-ea"/>
              </a:rPr>
              <a:t>个数据</a:t>
            </a:r>
            <a:r>
              <a:rPr lang="en-US" altLang="zh-CN" sz="1600" b="1" spc="-30" dirty="0">
                <a:latin typeface="宋体" panose="02010600030101010101" pitchFamily="2" charset="-122"/>
                <a:sym typeface="+mn-ea"/>
              </a:rPr>
              <a:t>/</a:t>
            </a:r>
            <a:r>
              <a:rPr lang="zh-CN" altLang="en-US" sz="1600" b="1" spc="-30" dirty="0">
                <a:latin typeface="宋体" panose="02010600030101010101" pitchFamily="2" charset="-122"/>
                <a:sym typeface="+mn-ea"/>
              </a:rPr>
              <a:t>次</a:t>
            </a:r>
            <a:endParaRPr lang="en-US" altLang="zh-CN" sz="1600" b="1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 marL="266700" indent="-266700" algn="l">
              <a:lnSpc>
                <a:spcPct val="125000"/>
              </a:lnSpc>
              <a:spcBef>
                <a:spcPts val="400"/>
              </a:spcBef>
            </a:pP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先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启动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设备，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等到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设备</a:t>
            </a:r>
            <a:r>
              <a:rPr lang="zh-CN" altLang="en-US" sz="2200" b="1" u="sng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就绪时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，才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传送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数据；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 marL="266700" indent="-266700" algn="l">
              <a:lnSpc>
                <a:spcPct val="125000"/>
              </a:lnSpc>
            </a:pPr>
            <a:r>
              <a:rPr lang="zh-CN" altLang="en-US" sz="2200" b="1" spc="-70" dirty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可为</a:t>
            </a:r>
            <a:r>
              <a:rPr lang="zh-CN" altLang="en-US" sz="2200" b="1" u="sng" spc="-70" dirty="0">
                <a:latin typeface="宋体" panose="02010600030101010101" pitchFamily="2" charset="-122"/>
                <a:sym typeface="+mn-ea"/>
              </a:rPr>
              <a:t>字符</a:t>
            </a:r>
            <a:r>
              <a:rPr lang="zh-CN" altLang="en-US" sz="2200" b="1" spc="-70" dirty="0">
                <a:latin typeface="宋体" panose="02010600030101010101" pitchFamily="2" charset="-122"/>
                <a:sym typeface="+mn-ea"/>
              </a:rPr>
              <a:t>设备</a:t>
            </a:r>
            <a:r>
              <a:rPr lang="en-US" altLang="zh-CN" sz="2200" b="1" spc="-70" dirty="0">
                <a:latin typeface="宋体" panose="02010600030101010101" pitchFamily="2" charset="-122"/>
                <a:sym typeface="+mn-ea"/>
              </a:rPr>
              <a:t>/</a:t>
            </a:r>
            <a:r>
              <a:rPr lang="zh-CN" altLang="en-US" sz="2200" b="1" u="sng" spc="-70" dirty="0">
                <a:latin typeface="宋体" panose="02010600030101010101" pitchFamily="2" charset="-122"/>
                <a:sym typeface="+mn-ea"/>
              </a:rPr>
              <a:t>块</a:t>
            </a:r>
            <a:r>
              <a:rPr lang="zh-CN" altLang="en-US" sz="2200" b="1" spc="-70" dirty="0">
                <a:latin typeface="宋体" panose="02010600030101010101" pitchFamily="2" charset="-122"/>
                <a:sym typeface="+mn-ea"/>
              </a:rPr>
              <a:t>设备</a:t>
            </a:r>
            <a:r>
              <a:rPr lang="en-US" altLang="zh-CN" sz="1800" b="1" spc="-70" dirty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spc="-70" dirty="0">
                <a:latin typeface="宋体" panose="02010600030101010101" pitchFamily="2" charset="-122"/>
                <a:sym typeface="+mn-ea"/>
              </a:rPr>
              <a:t>均可并行传输</a:t>
            </a:r>
            <a:r>
              <a:rPr lang="en-US" altLang="zh-CN" sz="1800" b="1" spc="-70" dirty="0">
                <a:latin typeface="宋体" panose="02010600030101010101" pitchFamily="2" charset="-122"/>
                <a:sym typeface="+mn-ea"/>
              </a:rPr>
              <a:t>/</a:t>
            </a:r>
            <a:r>
              <a:rPr lang="zh-CN" altLang="en-US" sz="1800" b="1" spc="-70" dirty="0">
                <a:latin typeface="宋体" panose="02010600030101010101" pitchFamily="2" charset="-122"/>
                <a:sym typeface="+mn-ea"/>
              </a:rPr>
              <a:t>串行传输</a:t>
            </a:r>
            <a:r>
              <a:rPr lang="en-US" altLang="zh-CN" sz="1800" b="1" spc="-70" dirty="0">
                <a:latin typeface="宋体" panose="02010600030101010101" pitchFamily="2" charset="-122"/>
                <a:sym typeface="+mn-ea"/>
              </a:rPr>
              <a:t>)</a:t>
            </a:r>
            <a:endParaRPr lang="zh-CN" altLang="en-US" sz="1800" b="1" dirty="0">
              <a:latin typeface="宋体" panose="02010600030101010101" pitchFamily="2" charset="-122"/>
              <a:sym typeface="+mn-ea"/>
            </a:endParaRPr>
          </a:p>
          <a:p>
            <a:pPr marL="266700" indent="-266700" algn="l">
              <a:lnSpc>
                <a:spcPct val="125000"/>
              </a:lnSpc>
              <a:spcBef>
                <a:spcPts val="0"/>
              </a:spcBef>
            </a:pPr>
            <a:endParaRPr lang="en-US" altLang="zh-CN" sz="2000" b="1" dirty="0">
              <a:latin typeface="宋体" panose="02010600030101010101" pitchFamily="2" charset="-122"/>
              <a:sym typeface="+mn-ea"/>
            </a:endParaRPr>
          </a:p>
          <a:p>
            <a:pPr marL="266700" indent="-266700" algn="l">
              <a:lnSpc>
                <a:spcPct val="125000"/>
              </a:lnSpc>
              <a:spcBef>
                <a:spcPts val="0"/>
              </a:spcBef>
            </a:pP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表示数据何时有效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)</a:t>
            </a:r>
            <a:endParaRPr lang="zh-CN" altLang="en-US" sz="1600" b="1" spc="-70" dirty="0">
              <a:solidFill>
                <a:srgbClr val="990099"/>
              </a:solidFill>
              <a:latin typeface="宋体" panose="02010600030101010101" pitchFamily="2" charset="-122"/>
              <a:sym typeface="+mn-ea"/>
            </a:endParaRPr>
          </a:p>
        </p:txBody>
      </p:sp>
      <p:sp>
        <p:nvSpPr>
          <p:cNvPr id="68" name="线形标注 2 67">
            <a:extLst>
              <a:ext uri="{FF2B5EF4-FFF2-40B4-BE49-F238E27FC236}">
                <a16:creationId xmlns:a16="http://schemas.microsoft.com/office/drawing/2014/main" id="{4E2DAFDC-73A3-4BF7-BB52-0439D49D11AB}"/>
              </a:ext>
            </a:extLst>
          </p:cNvPr>
          <p:cNvSpPr/>
          <p:nvPr/>
        </p:nvSpPr>
        <p:spPr bwMode="auto">
          <a:xfrm>
            <a:off x="4268127" y="692696"/>
            <a:ext cx="945045" cy="252000"/>
          </a:xfrm>
          <a:prstGeom prst="borderCallout2">
            <a:avLst>
              <a:gd name="adj1" fmla="val 48951"/>
              <a:gd name="adj2" fmla="val -598"/>
              <a:gd name="adj3" fmla="val 48851"/>
              <a:gd name="adj4" fmla="val -23065"/>
              <a:gd name="adj5" fmla="val 203594"/>
              <a:gd name="adj6" fmla="val -62714"/>
            </a:avLst>
          </a:prstGeom>
          <a:noFill/>
          <a:ln w="12700" cap="flat" cmpd="sng" algn="ctr">
            <a:solidFill>
              <a:srgbClr val="990099"/>
            </a:solidFill>
            <a:prstDash val="sysDash"/>
            <a:round/>
            <a:headEnd type="none" w="med" len="med"/>
            <a:tailEnd type="arrow" w="med" len="med"/>
          </a:ln>
          <a:effectLst/>
        </p:spPr>
        <p:txBody>
          <a:bodyPr vert="horz" wrap="square" lIns="36000" tIns="18000" rIns="36000" bIns="18000" numCol="1" rtlCol="0" anchor="ctr" anchorCtr="0" compatLnSpc="1"/>
          <a:lstStyle/>
          <a:p>
            <a:pPr algn="ctr">
              <a:lnSpc>
                <a:spcPct val="105000"/>
              </a:lnSpc>
            </a:pPr>
            <a:r>
              <a:rPr lang="zh-CN" altLang="en-US" sz="1600" b="1" dirty="0">
                <a:latin typeface="+mn-lt"/>
                <a:ea typeface="+mn-ea"/>
              </a:rPr>
              <a:t>无需启动</a:t>
            </a:r>
          </a:p>
        </p:txBody>
      </p:sp>
      <p:grpSp>
        <p:nvGrpSpPr>
          <p:cNvPr id="69" name="组合 68">
            <a:extLst>
              <a:ext uri="{FF2B5EF4-FFF2-40B4-BE49-F238E27FC236}">
                <a16:creationId xmlns:a16="http://schemas.microsoft.com/office/drawing/2014/main" id="{07C21F42-2B35-4774-9A76-25662F824697}"/>
              </a:ext>
            </a:extLst>
          </p:cNvPr>
          <p:cNvGrpSpPr/>
          <p:nvPr/>
        </p:nvGrpSpPr>
        <p:grpSpPr>
          <a:xfrm>
            <a:off x="3132000" y="908720"/>
            <a:ext cx="4536464" cy="324000"/>
            <a:chOff x="3132000" y="1008000"/>
            <a:chExt cx="4536464" cy="324000"/>
          </a:xfrm>
        </p:grpSpPr>
        <p:sp>
          <p:nvSpPr>
            <p:cNvPr id="70" name="Text Box 80">
              <a:extLst>
                <a:ext uri="{FF2B5EF4-FFF2-40B4-BE49-F238E27FC236}">
                  <a16:creationId xmlns:a16="http://schemas.microsoft.com/office/drawing/2014/main" id="{1CBA2D99-A95F-47A2-9EFB-EC24E5A237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04464" y="1008000"/>
              <a:ext cx="1764000" cy="252000"/>
            </a:xfrm>
            <a:prstGeom prst="rect">
              <a:avLst/>
            </a:prstGeom>
            <a:noFill/>
            <a:ln w="12700">
              <a:solidFill>
                <a:srgbClr val="0070C0"/>
              </a:solidFill>
              <a:prstDash val="sysDash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105000"/>
                </a:lnSpc>
              </a:pPr>
              <a:r>
                <a:rPr lang="zh-CN" altLang="en-US" sz="1600" b="1" spc="-30" dirty="0">
                  <a:latin typeface="宋体" panose="02010600030101010101" pitchFamily="2" charset="-122"/>
                  <a:sym typeface="+mn-ea"/>
                </a:rPr>
                <a:t>否则</a:t>
              </a:r>
              <a:r>
                <a:rPr lang="zh-CN" altLang="en-US" sz="1600" b="1" dirty="0">
                  <a:latin typeface="+mn-lt"/>
                  <a:ea typeface="+mn-ea"/>
                </a:rPr>
                <a:t>无法确定间隔</a:t>
              </a:r>
            </a:p>
          </p:txBody>
        </p:sp>
        <p:cxnSp>
          <p:nvCxnSpPr>
            <p:cNvPr id="71" name="直接连接符 70">
              <a:extLst>
                <a:ext uri="{FF2B5EF4-FFF2-40B4-BE49-F238E27FC236}">
                  <a16:creationId xmlns:a16="http://schemas.microsoft.com/office/drawing/2014/main" id="{7F9F10C0-D20A-4563-9127-092A6DC7F69D}"/>
                </a:ext>
              </a:extLst>
            </p:cNvPr>
            <p:cNvCxnSpPr/>
            <p:nvPr/>
          </p:nvCxnSpPr>
          <p:spPr bwMode="auto">
            <a:xfrm>
              <a:off x="3132000" y="1116000"/>
              <a:ext cx="277200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2" name="直接连接符 71">
              <a:extLst>
                <a:ext uri="{FF2B5EF4-FFF2-40B4-BE49-F238E27FC236}">
                  <a16:creationId xmlns:a16="http://schemas.microsoft.com/office/drawing/2014/main" id="{B4374B03-5206-4507-B667-0AC9982A560A}"/>
                </a:ext>
              </a:extLst>
            </p:cNvPr>
            <p:cNvCxnSpPr/>
            <p:nvPr/>
          </p:nvCxnSpPr>
          <p:spPr bwMode="auto">
            <a:xfrm>
              <a:off x="3132000" y="1116000"/>
              <a:ext cx="0" cy="216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0070C0"/>
              </a:solidFill>
              <a:prstDash val="sysDash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73" name="直接连接符 72">
              <a:extLst>
                <a:ext uri="{FF2B5EF4-FFF2-40B4-BE49-F238E27FC236}">
                  <a16:creationId xmlns:a16="http://schemas.microsoft.com/office/drawing/2014/main" id="{A406AF08-C5FB-4CD5-B522-6E5464B82276}"/>
                </a:ext>
              </a:extLst>
            </p:cNvPr>
            <p:cNvCxnSpPr/>
            <p:nvPr/>
          </p:nvCxnSpPr>
          <p:spPr bwMode="auto">
            <a:xfrm>
              <a:off x="5652120" y="1116000"/>
              <a:ext cx="0" cy="216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0070C0"/>
              </a:solidFill>
              <a:prstDash val="sysDash"/>
              <a:round/>
              <a:headEnd type="none" w="sm" len="sm"/>
              <a:tailEnd type="triangle" w="med" len="med"/>
            </a:ln>
            <a:effectLst/>
          </p:spPr>
        </p:cxnSp>
      </p:grpSp>
      <p:sp>
        <p:nvSpPr>
          <p:cNvPr id="74" name="线形标注 2 67">
            <a:extLst>
              <a:ext uri="{FF2B5EF4-FFF2-40B4-BE49-F238E27FC236}">
                <a16:creationId xmlns:a16="http://schemas.microsoft.com/office/drawing/2014/main" id="{E4DD4F37-FEBC-4F91-B74D-AA48AAFF098E}"/>
              </a:ext>
            </a:extLst>
          </p:cNvPr>
          <p:cNvSpPr/>
          <p:nvPr/>
        </p:nvSpPr>
        <p:spPr bwMode="auto">
          <a:xfrm>
            <a:off x="7677150" y="1628800"/>
            <a:ext cx="1188000" cy="252000"/>
          </a:xfrm>
          <a:prstGeom prst="borderCallout2">
            <a:avLst>
              <a:gd name="adj1" fmla="val 48951"/>
              <a:gd name="adj2" fmla="val -598"/>
              <a:gd name="adj3" fmla="val 48851"/>
              <a:gd name="adj4" fmla="val -23065"/>
              <a:gd name="adj5" fmla="val -9433"/>
              <a:gd name="adj6" fmla="val -36211"/>
            </a:avLst>
          </a:prstGeom>
          <a:noFill/>
          <a:ln w="12700" cap="flat" cmpd="sng" algn="ctr">
            <a:solidFill>
              <a:srgbClr val="0070C0"/>
            </a:solidFill>
            <a:prstDash val="sysDash"/>
            <a:round/>
            <a:headEnd type="none" w="med" len="med"/>
            <a:tailEnd type="arrow" w="med" len="med"/>
          </a:ln>
          <a:effectLst/>
        </p:spPr>
        <p:txBody>
          <a:bodyPr vert="horz" wrap="square" lIns="36000" tIns="18000" rIns="36000" bIns="18000" numCol="1" rtlCol="0" anchor="ctr" anchorCtr="0" compatLnSpc="1"/>
          <a:lstStyle/>
          <a:p>
            <a:pPr algn="ctr">
              <a:lnSpc>
                <a:spcPct val="105000"/>
              </a:lnSpc>
            </a:pPr>
            <a:r>
              <a:rPr lang="zh-CN" altLang="en-US" sz="1600" b="1" dirty="0">
                <a:latin typeface="+mn-lt"/>
                <a:ea typeface="+mn-ea"/>
              </a:rPr>
              <a:t>串行效率低</a:t>
            </a:r>
          </a:p>
        </p:txBody>
      </p:sp>
      <p:grpSp>
        <p:nvGrpSpPr>
          <p:cNvPr id="75" name="组合 74">
            <a:extLst>
              <a:ext uri="{FF2B5EF4-FFF2-40B4-BE49-F238E27FC236}">
                <a16:creationId xmlns:a16="http://schemas.microsoft.com/office/drawing/2014/main" id="{BBC30331-007F-457E-A8A2-6BB24D7758F5}"/>
              </a:ext>
            </a:extLst>
          </p:cNvPr>
          <p:cNvGrpSpPr/>
          <p:nvPr/>
        </p:nvGrpSpPr>
        <p:grpSpPr>
          <a:xfrm>
            <a:off x="3349464" y="2636912"/>
            <a:ext cx="5615024" cy="288032"/>
            <a:chOff x="972000" y="6084000"/>
            <a:chExt cx="5615024" cy="288032"/>
          </a:xfrm>
        </p:grpSpPr>
        <p:grpSp>
          <p:nvGrpSpPr>
            <p:cNvPr id="76" name="组合 75">
              <a:extLst>
                <a:ext uri="{FF2B5EF4-FFF2-40B4-BE49-F238E27FC236}">
                  <a16:creationId xmlns:a16="http://schemas.microsoft.com/office/drawing/2014/main" id="{A29E534B-717C-471C-907B-9004E29C8FFB}"/>
                </a:ext>
              </a:extLst>
            </p:cNvPr>
            <p:cNvGrpSpPr/>
            <p:nvPr/>
          </p:nvGrpSpPr>
          <p:grpSpPr>
            <a:xfrm>
              <a:off x="3348000" y="6084000"/>
              <a:ext cx="3239024" cy="288000"/>
              <a:chOff x="3348000" y="6084000"/>
              <a:chExt cx="3239024" cy="288000"/>
            </a:xfrm>
          </p:grpSpPr>
          <p:sp>
            <p:nvSpPr>
              <p:cNvPr id="87" name="Text Box 61">
                <a:extLst>
                  <a:ext uri="{FF2B5EF4-FFF2-40B4-BE49-F238E27FC236}">
                    <a16:creationId xmlns:a16="http://schemas.microsoft.com/office/drawing/2014/main" id="{101E7621-316D-4B55-A252-CE059ADA3C1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84000" y="6084000"/>
                <a:ext cx="180000" cy="180020"/>
              </a:xfrm>
              <a:prstGeom prst="rect">
                <a:avLst/>
              </a:prstGeom>
              <a:solidFill>
                <a:srgbClr val="FFCC99"/>
              </a:solidFill>
              <a:ln w="19050">
                <a:noFill/>
                <a:miter lim="800000"/>
              </a:ln>
              <a:effectLst/>
            </p:spPr>
            <p:txBody>
              <a:bodyPr lIns="0" tIns="0" rIns="0" bIns="0" anchor="ctr" anchorCtr="0"/>
              <a:lstStyle/>
              <a:p>
                <a:pPr>
                  <a:lnSpc>
                    <a:spcPct val="80000"/>
                  </a:lnSpc>
                </a:pPr>
                <a:r>
                  <a:rPr lang="en-US" altLang="zh-CN" sz="1400" b="1" dirty="0">
                    <a:latin typeface="+mn-ea"/>
                    <a:ea typeface="+mn-ea"/>
                  </a:rPr>
                  <a:t>1</a:t>
                </a:r>
              </a:p>
            </p:txBody>
          </p:sp>
          <p:sp>
            <p:nvSpPr>
              <p:cNvPr id="88" name="Text Box 19">
                <a:extLst>
                  <a:ext uri="{FF2B5EF4-FFF2-40B4-BE49-F238E27FC236}">
                    <a16:creationId xmlns:a16="http://schemas.microsoft.com/office/drawing/2014/main" id="{90A49CAC-C89C-4E2E-9A3A-AE17399149F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36000" y="6156000"/>
                <a:ext cx="684000" cy="215982"/>
              </a:xfrm>
              <a:prstGeom prst="rect">
                <a:avLst/>
              </a:prstGeom>
              <a:solidFill>
                <a:srgbClr val="CCFFFF">
                  <a:alpha val="80000"/>
                </a:srgbClr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1080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zh-CN" altLang="en-US" sz="1600" b="1" dirty="0"/>
                  <a:t>同步头</a:t>
                </a:r>
              </a:p>
            </p:txBody>
          </p:sp>
          <p:sp>
            <p:nvSpPr>
              <p:cNvPr id="89" name="Text Box 19">
                <a:extLst>
                  <a:ext uri="{FF2B5EF4-FFF2-40B4-BE49-F238E27FC236}">
                    <a16:creationId xmlns:a16="http://schemas.microsoft.com/office/drawing/2014/main" id="{CDFC51FC-AB57-42D1-9F28-55B76453D84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20000" y="6156000"/>
                <a:ext cx="684000" cy="215982"/>
              </a:xfrm>
              <a:prstGeom prst="rect">
                <a:avLst/>
              </a:prstGeom>
              <a:solidFill>
                <a:srgbClr val="FFCCFF">
                  <a:alpha val="80000"/>
                </a:srgbClr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1080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zh-CN" altLang="en-US" sz="1600" b="1" dirty="0"/>
                  <a:t>帧类型</a:t>
                </a:r>
              </a:p>
            </p:txBody>
          </p:sp>
          <p:sp>
            <p:nvSpPr>
              <p:cNvPr id="90" name="Text Box 19">
                <a:extLst>
                  <a:ext uri="{FF2B5EF4-FFF2-40B4-BE49-F238E27FC236}">
                    <a16:creationId xmlns:a16="http://schemas.microsoft.com/office/drawing/2014/main" id="{38A549E1-4969-4228-B320-B8B6CD8E06A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004000" y="6156018"/>
                <a:ext cx="720000" cy="215982"/>
              </a:xfrm>
              <a:prstGeom prst="rect">
                <a:avLst/>
              </a:prstGeom>
              <a:solidFill>
                <a:srgbClr val="99CCFF">
                  <a:alpha val="80000"/>
                </a:srgbClr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1080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zh-CN" altLang="en-US" sz="1600" b="1" dirty="0"/>
                  <a:t>数据域</a:t>
                </a:r>
              </a:p>
            </p:txBody>
          </p:sp>
          <p:sp>
            <p:nvSpPr>
              <p:cNvPr id="91" name="Text Box 19">
                <a:extLst>
                  <a:ext uri="{FF2B5EF4-FFF2-40B4-BE49-F238E27FC236}">
                    <a16:creationId xmlns:a16="http://schemas.microsoft.com/office/drawing/2014/main" id="{6B7EAD15-414B-455D-80C9-585A596B87A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723024" y="6156018"/>
                <a:ext cx="684000" cy="215982"/>
              </a:xfrm>
              <a:prstGeom prst="rect">
                <a:avLst/>
              </a:prstGeom>
              <a:solidFill>
                <a:srgbClr val="CCFFFF">
                  <a:alpha val="80000"/>
                </a:srgbClr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1080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zh-CN" altLang="en-US" sz="1600" b="1" dirty="0"/>
                  <a:t>同步尾</a:t>
                </a:r>
              </a:p>
            </p:txBody>
          </p:sp>
          <p:cxnSp>
            <p:nvCxnSpPr>
              <p:cNvPr id="92" name="直接连接符 91">
                <a:extLst>
                  <a:ext uri="{FF2B5EF4-FFF2-40B4-BE49-F238E27FC236}">
                    <a16:creationId xmlns:a16="http://schemas.microsoft.com/office/drawing/2014/main" id="{2109C74C-8D2A-42AF-9F7A-8B16411E33A6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3348000" y="6264000"/>
                <a:ext cx="288000" cy="0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93" name="直接连接符 92">
                <a:extLst>
                  <a:ext uri="{FF2B5EF4-FFF2-40B4-BE49-F238E27FC236}">
                    <a16:creationId xmlns:a16="http://schemas.microsoft.com/office/drawing/2014/main" id="{667D06FE-6AA5-49DF-A4F1-7B9641CC3944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6407024" y="6264000"/>
                <a:ext cx="180000" cy="0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94" name="直接连接符 93">
                <a:extLst>
                  <a:ext uri="{FF2B5EF4-FFF2-40B4-BE49-F238E27FC236}">
                    <a16:creationId xmlns:a16="http://schemas.microsoft.com/office/drawing/2014/main" id="{77781B7B-E7D1-46F7-8480-65D367C5B627}"/>
                  </a:ext>
                </a:extLst>
              </p:cNvPr>
              <p:cNvCxnSpPr/>
              <p:nvPr/>
            </p:nvCxnSpPr>
            <p:spPr bwMode="auto">
              <a:xfrm>
                <a:off x="3384000" y="6210000"/>
                <a:ext cx="108000" cy="108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</p:grpSp>
        <p:grpSp>
          <p:nvGrpSpPr>
            <p:cNvPr id="77" name="组合 76">
              <a:extLst>
                <a:ext uri="{FF2B5EF4-FFF2-40B4-BE49-F238E27FC236}">
                  <a16:creationId xmlns:a16="http://schemas.microsoft.com/office/drawing/2014/main" id="{AD4DC13C-8481-463D-B77B-8E89C64810A6}"/>
                </a:ext>
              </a:extLst>
            </p:cNvPr>
            <p:cNvGrpSpPr/>
            <p:nvPr/>
          </p:nvGrpSpPr>
          <p:grpSpPr>
            <a:xfrm>
              <a:off x="972000" y="6084000"/>
              <a:ext cx="2051616" cy="288032"/>
              <a:chOff x="1044000" y="6084000"/>
              <a:chExt cx="2051616" cy="288032"/>
            </a:xfrm>
          </p:grpSpPr>
          <p:sp>
            <p:nvSpPr>
              <p:cNvPr id="78" name="Text Box 61">
                <a:extLst>
                  <a:ext uri="{FF2B5EF4-FFF2-40B4-BE49-F238E27FC236}">
                    <a16:creationId xmlns:a16="http://schemas.microsoft.com/office/drawing/2014/main" id="{D9BC7E7C-53D0-4CB3-A055-02A68786C23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80000" y="6084000"/>
                <a:ext cx="180000" cy="180020"/>
              </a:xfrm>
              <a:prstGeom prst="rect">
                <a:avLst/>
              </a:prstGeom>
              <a:solidFill>
                <a:srgbClr val="FFCC99"/>
              </a:solidFill>
              <a:ln w="19050">
                <a:noFill/>
                <a:miter lim="800000"/>
              </a:ln>
              <a:effectLst/>
            </p:spPr>
            <p:txBody>
              <a:bodyPr lIns="0" tIns="0" rIns="0" bIns="0" anchor="ctr" anchorCtr="0"/>
              <a:lstStyle/>
              <a:p>
                <a:pPr>
                  <a:lnSpc>
                    <a:spcPct val="80000"/>
                  </a:lnSpc>
                </a:pPr>
                <a:r>
                  <a:rPr lang="en-US" altLang="zh-CN" sz="1400" b="1" dirty="0">
                    <a:latin typeface="+mn-ea"/>
                    <a:ea typeface="+mn-ea"/>
                  </a:rPr>
                  <a:t>n</a:t>
                </a:r>
              </a:p>
            </p:txBody>
          </p:sp>
          <p:sp>
            <p:nvSpPr>
              <p:cNvPr id="79" name="AutoShape 215">
                <a:extLst>
                  <a:ext uri="{FF2B5EF4-FFF2-40B4-BE49-F238E27FC236}">
                    <a16:creationId xmlns:a16="http://schemas.microsoft.com/office/drawing/2014/main" id="{97C79FD5-D844-40F4-84AA-37ED78D43C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30872" y="6156008"/>
                <a:ext cx="432000" cy="216024"/>
              </a:xfrm>
              <a:prstGeom prst="hexagon">
                <a:avLst>
                  <a:gd name="adj" fmla="val 31447"/>
                  <a:gd name="vf" fmla="val 115470"/>
                </a:avLst>
              </a:prstGeom>
              <a:solidFill>
                <a:srgbClr val="99CCFF"/>
              </a:solidFill>
              <a:ln w="15875" algn="ctr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10800" anchor="ctr">
                <a:no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dirty="0">
                    <a:latin typeface="+mn-ea"/>
                    <a:ea typeface="+mn-ea"/>
                  </a:rPr>
                  <a:t>D1</a:t>
                </a:r>
                <a:endParaRPr lang="zh-CN" altLang="en-US" sz="1600" b="1" dirty="0">
                  <a:latin typeface="+mn-ea"/>
                  <a:ea typeface="+mn-ea"/>
                </a:endParaRPr>
              </a:p>
            </p:txBody>
          </p:sp>
          <p:sp>
            <p:nvSpPr>
              <p:cNvPr id="80" name="AutoShape 215">
                <a:extLst>
                  <a:ext uri="{FF2B5EF4-FFF2-40B4-BE49-F238E27FC236}">
                    <a16:creationId xmlns:a16="http://schemas.microsoft.com/office/drawing/2014/main" id="{C5D34BA6-8A01-4B20-B168-5A8B591B88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07616" y="6156008"/>
                <a:ext cx="432000" cy="216024"/>
              </a:xfrm>
              <a:prstGeom prst="hexagon">
                <a:avLst>
                  <a:gd name="adj" fmla="val 31447"/>
                  <a:gd name="vf" fmla="val 115470"/>
                </a:avLst>
              </a:prstGeom>
              <a:solidFill>
                <a:srgbClr val="99CCFF"/>
              </a:solidFill>
              <a:ln w="15875" algn="ctr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10800" anchor="ctr">
                <a:no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dirty="0">
                    <a:latin typeface="+mn-ea"/>
                    <a:ea typeface="+mn-ea"/>
                  </a:rPr>
                  <a:t>D2</a:t>
                </a:r>
                <a:endParaRPr lang="zh-CN" altLang="en-US" sz="1600" b="1" dirty="0">
                  <a:latin typeface="+mn-ea"/>
                  <a:ea typeface="+mn-ea"/>
                </a:endParaRPr>
              </a:p>
            </p:txBody>
          </p:sp>
          <p:cxnSp>
            <p:nvCxnSpPr>
              <p:cNvPr id="81" name="直接连接符 80">
                <a:extLst>
                  <a:ext uri="{FF2B5EF4-FFF2-40B4-BE49-F238E27FC236}">
                    <a16:creationId xmlns:a16="http://schemas.microsoft.com/office/drawing/2014/main" id="{D9ED60B2-3B7E-4D4E-BC0A-8DB39E4D6225}"/>
                  </a:ext>
                </a:extLst>
              </p:cNvPr>
              <p:cNvCxnSpPr/>
              <p:nvPr/>
            </p:nvCxnSpPr>
            <p:spPr bwMode="auto">
              <a:xfrm>
                <a:off x="1044000" y="6264000"/>
                <a:ext cx="288000" cy="0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82" name="直接连接符 81">
                <a:extLst>
                  <a:ext uri="{FF2B5EF4-FFF2-40B4-BE49-F238E27FC236}">
                    <a16:creationId xmlns:a16="http://schemas.microsoft.com/office/drawing/2014/main" id="{75143754-F364-4EBE-AEFE-CC9FE7816CE3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1762872" y="6265872"/>
                <a:ext cx="144000" cy="0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83" name="AutoShape 215">
                <a:extLst>
                  <a:ext uri="{FF2B5EF4-FFF2-40B4-BE49-F238E27FC236}">
                    <a16:creationId xmlns:a16="http://schemas.microsoft.com/office/drawing/2014/main" id="{40D49D2B-64D2-4942-B728-2908B7530D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83616" y="6156000"/>
                <a:ext cx="432000" cy="216024"/>
              </a:xfrm>
              <a:prstGeom prst="hexagon">
                <a:avLst>
                  <a:gd name="adj" fmla="val 31447"/>
                  <a:gd name="vf" fmla="val 115470"/>
                </a:avLst>
              </a:prstGeom>
              <a:solidFill>
                <a:srgbClr val="99CCFF"/>
              </a:solidFill>
              <a:ln w="15875" algn="ctr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10800" anchor="ctr">
                <a:no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dirty="0">
                    <a:latin typeface="+mn-ea"/>
                    <a:ea typeface="+mn-ea"/>
                  </a:rPr>
                  <a:t>D3</a:t>
                </a:r>
                <a:endParaRPr lang="zh-CN" altLang="en-US" sz="1600" b="1" dirty="0">
                  <a:latin typeface="+mn-ea"/>
                  <a:ea typeface="+mn-ea"/>
                </a:endParaRPr>
              </a:p>
            </p:txBody>
          </p:sp>
          <p:cxnSp>
            <p:nvCxnSpPr>
              <p:cNvPr id="84" name="直接连接符 83">
                <a:extLst>
                  <a:ext uri="{FF2B5EF4-FFF2-40B4-BE49-F238E27FC236}">
                    <a16:creationId xmlns:a16="http://schemas.microsoft.com/office/drawing/2014/main" id="{E22BFFE5-EF9D-41D8-8AB4-64595555A3D7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2339616" y="6264000"/>
                <a:ext cx="144000" cy="0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85" name="直接连接符 84">
                <a:extLst>
                  <a:ext uri="{FF2B5EF4-FFF2-40B4-BE49-F238E27FC236}">
                    <a16:creationId xmlns:a16="http://schemas.microsoft.com/office/drawing/2014/main" id="{B63E3C0A-3A9A-4032-9FEE-CC1BD0E99FEC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2915616" y="6264000"/>
                <a:ext cx="180000" cy="0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86" name="直接连接符 85">
                <a:extLst>
                  <a:ext uri="{FF2B5EF4-FFF2-40B4-BE49-F238E27FC236}">
                    <a16:creationId xmlns:a16="http://schemas.microsoft.com/office/drawing/2014/main" id="{8C96358A-D061-4951-BABF-4632B5C07139}"/>
                  </a:ext>
                </a:extLst>
              </p:cNvPr>
              <p:cNvCxnSpPr/>
              <p:nvPr/>
            </p:nvCxnSpPr>
            <p:spPr bwMode="auto">
              <a:xfrm>
                <a:off x="1080000" y="6210000"/>
                <a:ext cx="108000" cy="108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</p:grpSp>
      </p:grpSp>
      <p:grpSp>
        <p:nvGrpSpPr>
          <p:cNvPr id="95" name="组合 94">
            <a:extLst>
              <a:ext uri="{FF2B5EF4-FFF2-40B4-BE49-F238E27FC236}">
                <a16:creationId xmlns:a16="http://schemas.microsoft.com/office/drawing/2014/main" id="{67A433D8-6F71-4809-9936-155189214718}"/>
              </a:ext>
            </a:extLst>
          </p:cNvPr>
          <p:cNvGrpSpPr/>
          <p:nvPr/>
        </p:nvGrpSpPr>
        <p:grpSpPr>
          <a:xfrm>
            <a:off x="4284920" y="2924944"/>
            <a:ext cx="2663272" cy="252000"/>
            <a:chOff x="3492592" y="3070800"/>
            <a:chExt cx="2663272" cy="252000"/>
          </a:xfrm>
        </p:grpSpPr>
        <p:grpSp>
          <p:nvGrpSpPr>
            <p:cNvPr id="96" name="组合 95">
              <a:extLst>
                <a:ext uri="{FF2B5EF4-FFF2-40B4-BE49-F238E27FC236}">
                  <a16:creationId xmlns:a16="http://schemas.microsoft.com/office/drawing/2014/main" id="{B7CC0EF5-2908-435C-9676-DBB9B3FDE60C}"/>
                </a:ext>
              </a:extLst>
            </p:cNvPr>
            <p:cNvGrpSpPr/>
            <p:nvPr/>
          </p:nvGrpSpPr>
          <p:grpSpPr>
            <a:xfrm>
              <a:off x="5507864" y="3070800"/>
              <a:ext cx="648000" cy="252000"/>
              <a:chOff x="4739671" y="6336000"/>
              <a:chExt cx="648000" cy="252000"/>
            </a:xfrm>
          </p:grpSpPr>
          <p:cxnSp>
            <p:nvCxnSpPr>
              <p:cNvPr id="102" name="直接连接符 101">
                <a:extLst>
                  <a:ext uri="{FF2B5EF4-FFF2-40B4-BE49-F238E27FC236}">
                    <a16:creationId xmlns:a16="http://schemas.microsoft.com/office/drawing/2014/main" id="{DE40FCAD-7EAF-468A-9E6F-FAD5423E182E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4847671" y="6336000"/>
                <a:ext cx="0" cy="25200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rgbClr val="990099"/>
                </a:solidFill>
                <a:prstDash val="solid"/>
                <a:round/>
                <a:headEnd type="none" w="sm" len="sm"/>
                <a:tailEnd type="arrow" w="sm" len="sm"/>
              </a:ln>
              <a:effectLst/>
            </p:spPr>
          </p:cxnSp>
          <p:cxnSp>
            <p:nvCxnSpPr>
              <p:cNvPr id="103" name="直接连接符 102">
                <a:extLst>
                  <a:ext uri="{FF2B5EF4-FFF2-40B4-BE49-F238E27FC236}">
                    <a16:creationId xmlns:a16="http://schemas.microsoft.com/office/drawing/2014/main" id="{2B43C613-B589-4701-838C-31C88ADF8BC1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4739671" y="6336000"/>
                <a:ext cx="0" cy="25200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rgbClr val="990099"/>
                </a:solidFill>
                <a:prstDash val="solid"/>
                <a:round/>
                <a:headEnd type="none" w="sm" len="sm"/>
                <a:tailEnd type="arrow" w="sm" len="sm"/>
              </a:ln>
              <a:effectLst/>
            </p:spPr>
          </p:cxnSp>
          <p:sp>
            <p:nvSpPr>
              <p:cNvPr id="104" name="Text Box 61">
                <a:extLst>
                  <a:ext uri="{FF2B5EF4-FFF2-40B4-BE49-F238E27FC236}">
                    <a16:creationId xmlns:a16="http://schemas.microsoft.com/office/drawing/2014/main" id="{D7C84CCB-3D88-46EC-9C3A-F2B081754F8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83671" y="6372000"/>
                <a:ext cx="504000" cy="216000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lIns="0" tIns="18000" rIns="0" bIns="0" anchor="ctr" anchorCtr="0"/>
              <a:lstStyle/>
              <a:p>
                <a:pPr>
                  <a:lnSpc>
                    <a:spcPct val="80000"/>
                  </a:lnSpc>
                </a:pPr>
                <a:r>
                  <a:rPr lang="zh-CN" altLang="en-US" sz="1600" b="1" dirty="0">
                    <a:latin typeface="+mn-ea"/>
                    <a:ea typeface="+mn-ea"/>
                  </a:rPr>
                  <a:t>位间</a:t>
                </a:r>
                <a:endParaRPr lang="en-US" altLang="zh-CN" sz="1600" b="1" dirty="0">
                  <a:latin typeface="+mn-ea"/>
                  <a:ea typeface="+mn-ea"/>
                </a:endParaRPr>
              </a:p>
            </p:txBody>
          </p:sp>
        </p:grpSp>
        <p:grpSp>
          <p:nvGrpSpPr>
            <p:cNvPr id="97" name="组合 96">
              <a:extLst>
                <a:ext uri="{FF2B5EF4-FFF2-40B4-BE49-F238E27FC236}">
                  <a16:creationId xmlns:a16="http://schemas.microsoft.com/office/drawing/2014/main" id="{705058CB-B5C5-4EDF-9AAB-99FD550BD989}"/>
                </a:ext>
              </a:extLst>
            </p:cNvPr>
            <p:cNvGrpSpPr/>
            <p:nvPr/>
          </p:nvGrpSpPr>
          <p:grpSpPr>
            <a:xfrm>
              <a:off x="3492592" y="3070800"/>
              <a:ext cx="1296000" cy="252000"/>
              <a:chOff x="1404000" y="6372000"/>
              <a:chExt cx="1296000" cy="252000"/>
            </a:xfrm>
          </p:grpSpPr>
          <p:cxnSp>
            <p:nvCxnSpPr>
              <p:cNvPr id="98" name="直接连接符 97">
                <a:extLst>
                  <a:ext uri="{FF2B5EF4-FFF2-40B4-BE49-F238E27FC236}">
                    <a16:creationId xmlns:a16="http://schemas.microsoft.com/office/drawing/2014/main" id="{AD007E92-3D46-4B56-951D-8627B0450289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1980000" y="6372000"/>
                <a:ext cx="0" cy="25200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rgbClr val="990099"/>
                </a:solidFill>
                <a:prstDash val="solid"/>
                <a:round/>
                <a:headEnd type="none" w="sm" len="sm"/>
                <a:tailEnd type="arrow" w="sm" len="sm"/>
              </a:ln>
              <a:effectLst/>
            </p:spPr>
          </p:cxnSp>
          <p:cxnSp>
            <p:nvCxnSpPr>
              <p:cNvPr id="100" name="直接连接符 99">
                <a:extLst>
                  <a:ext uri="{FF2B5EF4-FFF2-40B4-BE49-F238E27FC236}">
                    <a16:creationId xmlns:a16="http://schemas.microsoft.com/office/drawing/2014/main" id="{EC266D6E-CD4B-4C1C-8C85-8F2702BD383F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1404000" y="6372000"/>
                <a:ext cx="0" cy="25200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rgbClr val="990099"/>
                </a:solidFill>
                <a:prstDash val="solid"/>
                <a:round/>
                <a:headEnd type="none" w="sm" len="sm"/>
                <a:tailEnd type="arrow" w="sm" len="sm"/>
              </a:ln>
              <a:effectLst/>
            </p:spPr>
          </p:cxnSp>
          <p:sp>
            <p:nvSpPr>
              <p:cNvPr id="101" name="Text Box 61">
                <a:extLst>
                  <a:ext uri="{FF2B5EF4-FFF2-40B4-BE49-F238E27FC236}">
                    <a16:creationId xmlns:a16="http://schemas.microsoft.com/office/drawing/2014/main" id="{44326A87-E3A6-45F7-94B4-F289CE324DE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52000" y="6408000"/>
                <a:ext cx="648000" cy="216000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lIns="0" tIns="18000" rIns="0" bIns="0" anchor="ctr" anchorCtr="0"/>
              <a:lstStyle/>
              <a:p>
                <a:pPr>
                  <a:lnSpc>
                    <a:spcPct val="80000"/>
                  </a:lnSpc>
                </a:pPr>
                <a:r>
                  <a:rPr lang="zh-CN" altLang="en-US" sz="1600" b="1" dirty="0">
                    <a:latin typeface="+mn-ea"/>
                    <a:ea typeface="+mn-ea"/>
                  </a:rPr>
                  <a:t>数据间</a:t>
                </a:r>
                <a:endParaRPr lang="en-US" altLang="zh-CN" sz="1600" b="1" dirty="0">
                  <a:latin typeface="+mn-ea"/>
                  <a:ea typeface="+mn-ea"/>
                </a:endParaRPr>
              </a:p>
            </p:txBody>
          </p:sp>
        </p:grpSp>
      </p:grpSp>
      <p:grpSp>
        <p:nvGrpSpPr>
          <p:cNvPr id="105" name="组合 104">
            <a:extLst>
              <a:ext uri="{FF2B5EF4-FFF2-40B4-BE49-F238E27FC236}">
                <a16:creationId xmlns:a16="http://schemas.microsoft.com/office/drawing/2014/main" id="{BB0B2713-F1D6-45C3-AE9B-CBDC30078664}"/>
              </a:ext>
            </a:extLst>
          </p:cNvPr>
          <p:cNvGrpSpPr/>
          <p:nvPr/>
        </p:nvGrpSpPr>
        <p:grpSpPr>
          <a:xfrm>
            <a:off x="5616000" y="5410752"/>
            <a:ext cx="936000" cy="292794"/>
            <a:chOff x="5652120" y="5295032"/>
            <a:chExt cx="936000" cy="292794"/>
          </a:xfrm>
        </p:grpSpPr>
        <p:cxnSp>
          <p:nvCxnSpPr>
            <p:cNvPr id="106" name="直接连接符 105">
              <a:extLst>
                <a:ext uri="{FF2B5EF4-FFF2-40B4-BE49-F238E27FC236}">
                  <a16:creationId xmlns:a16="http://schemas.microsoft.com/office/drawing/2014/main" id="{31C3E942-E402-412F-BC85-E94C49CCCE73}"/>
                </a:ext>
              </a:extLst>
            </p:cNvPr>
            <p:cNvCxnSpPr/>
            <p:nvPr/>
          </p:nvCxnSpPr>
          <p:spPr bwMode="auto">
            <a:xfrm>
              <a:off x="5652120" y="5295032"/>
              <a:ext cx="0" cy="292794"/>
            </a:xfrm>
            <a:prstGeom prst="line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07" name="直接连接符 106">
              <a:extLst>
                <a:ext uri="{FF2B5EF4-FFF2-40B4-BE49-F238E27FC236}">
                  <a16:creationId xmlns:a16="http://schemas.microsoft.com/office/drawing/2014/main" id="{79011301-9AE4-462C-882E-FA3D6B559E1E}"/>
                </a:ext>
              </a:extLst>
            </p:cNvPr>
            <p:cNvCxnSpPr/>
            <p:nvPr/>
          </p:nvCxnSpPr>
          <p:spPr bwMode="auto">
            <a:xfrm flipV="1">
              <a:off x="5724128" y="5295032"/>
              <a:ext cx="0" cy="289446"/>
            </a:xfrm>
            <a:prstGeom prst="line">
              <a:avLst/>
            </a:prstGeom>
            <a:noFill/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08" name="Text Box 61">
              <a:extLst>
                <a:ext uri="{FF2B5EF4-FFF2-40B4-BE49-F238E27FC236}">
                  <a16:creationId xmlns:a16="http://schemas.microsoft.com/office/drawing/2014/main" id="{A319EE09-5AE6-41F3-B907-15DC61CD31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60120" y="5295032"/>
              <a:ext cx="828000" cy="288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l">
                <a:lnSpc>
                  <a:spcPct val="90000"/>
                </a:lnSpc>
              </a:pPr>
              <a:r>
                <a:rPr lang="en-US" altLang="zh-CN" sz="1600" b="1" dirty="0" err="1">
                  <a:latin typeface="+mn-ea"/>
                  <a:ea typeface="+mn-ea"/>
                </a:rPr>
                <a:t>Req</a:t>
              </a:r>
              <a:r>
                <a:rPr lang="en-US" altLang="zh-CN" sz="1600" b="1" dirty="0">
                  <a:latin typeface="+mn-ea"/>
                  <a:ea typeface="+mn-ea"/>
                </a:rPr>
                <a:t>/</a:t>
              </a:r>
              <a:r>
                <a:rPr lang="en-US" altLang="zh-CN" sz="1600" b="1" dirty="0" err="1">
                  <a:latin typeface="+mn-ea"/>
                  <a:ea typeface="+mn-ea"/>
                </a:rPr>
                <a:t>Ack</a:t>
              </a:r>
              <a:endParaRPr lang="en-US" altLang="zh-CN" sz="1600" b="1" dirty="0">
                <a:latin typeface="+mn-ea"/>
                <a:ea typeface="+mn-ea"/>
              </a:endParaRPr>
            </a:p>
          </p:txBody>
        </p:sp>
      </p:grpSp>
      <p:grpSp>
        <p:nvGrpSpPr>
          <p:cNvPr id="109" name="组合 108">
            <a:extLst>
              <a:ext uri="{FF2B5EF4-FFF2-40B4-BE49-F238E27FC236}">
                <a16:creationId xmlns:a16="http://schemas.microsoft.com/office/drawing/2014/main" id="{7AB0A4C0-D356-4FA3-8BAB-AF79ED3C7F7A}"/>
              </a:ext>
            </a:extLst>
          </p:cNvPr>
          <p:cNvGrpSpPr/>
          <p:nvPr/>
        </p:nvGrpSpPr>
        <p:grpSpPr>
          <a:xfrm>
            <a:off x="7307808" y="5410752"/>
            <a:ext cx="468240" cy="288032"/>
            <a:chOff x="7236296" y="5301208"/>
            <a:chExt cx="468240" cy="288032"/>
          </a:xfrm>
        </p:grpSpPr>
        <p:sp>
          <p:nvSpPr>
            <p:cNvPr id="110" name="Text Box 61">
              <a:extLst>
                <a:ext uri="{FF2B5EF4-FFF2-40B4-BE49-F238E27FC236}">
                  <a16:creationId xmlns:a16="http://schemas.microsoft.com/office/drawing/2014/main" id="{0735D220-9D7A-47BA-A86A-0DBCF7AAB7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72488" y="5301208"/>
              <a:ext cx="432048" cy="288032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l">
                <a:lnSpc>
                  <a:spcPct val="90000"/>
                </a:lnSpc>
              </a:pPr>
              <a:r>
                <a:rPr lang="en-US" altLang="zh-CN" sz="1600" b="1" dirty="0">
                  <a:latin typeface="+mn-ea"/>
                  <a:ea typeface="+mn-ea"/>
                </a:rPr>
                <a:t>CLK</a:t>
              </a:r>
            </a:p>
          </p:txBody>
        </p:sp>
        <p:cxnSp>
          <p:nvCxnSpPr>
            <p:cNvPr id="111" name="直接连接符 110">
              <a:extLst>
                <a:ext uri="{FF2B5EF4-FFF2-40B4-BE49-F238E27FC236}">
                  <a16:creationId xmlns:a16="http://schemas.microsoft.com/office/drawing/2014/main" id="{3E4E2777-1483-4386-B350-5E9637D848C5}"/>
                </a:ext>
              </a:extLst>
            </p:cNvPr>
            <p:cNvCxnSpPr/>
            <p:nvPr/>
          </p:nvCxnSpPr>
          <p:spPr bwMode="auto">
            <a:xfrm>
              <a:off x="7236296" y="5301208"/>
              <a:ext cx="0" cy="288000"/>
            </a:xfrm>
            <a:prstGeom prst="line">
              <a:avLst/>
            </a:prstGeom>
            <a:noFill/>
            <a:ln w="15875" cap="flat" cmpd="sng" algn="ctr">
              <a:solidFill>
                <a:srgbClr val="CC3300"/>
              </a:solidFill>
              <a:prstDash val="sysDash"/>
              <a:round/>
              <a:headEnd type="none" w="med" len="med"/>
              <a:tailEnd type="triangle" w="med" len="med"/>
            </a:ln>
          </p:spPr>
        </p:cxnSp>
      </p:grpSp>
      <p:grpSp>
        <p:nvGrpSpPr>
          <p:cNvPr id="112" name="组合 111">
            <a:extLst>
              <a:ext uri="{FF2B5EF4-FFF2-40B4-BE49-F238E27FC236}">
                <a16:creationId xmlns:a16="http://schemas.microsoft.com/office/drawing/2014/main" id="{3E9923F9-F37E-4E6B-BBE1-4D6F093F0F7A}"/>
              </a:ext>
            </a:extLst>
          </p:cNvPr>
          <p:cNvGrpSpPr/>
          <p:nvPr/>
        </p:nvGrpSpPr>
        <p:grpSpPr>
          <a:xfrm>
            <a:off x="1619672" y="5013176"/>
            <a:ext cx="6120680" cy="937576"/>
            <a:chOff x="1619672" y="5436000"/>
            <a:chExt cx="6120680" cy="937576"/>
          </a:xfrm>
        </p:grpSpPr>
        <p:cxnSp>
          <p:nvCxnSpPr>
            <p:cNvPr id="113" name="直接连接符 112">
              <a:extLst>
                <a:ext uri="{FF2B5EF4-FFF2-40B4-BE49-F238E27FC236}">
                  <a16:creationId xmlns:a16="http://schemas.microsoft.com/office/drawing/2014/main" id="{C69E754F-9815-4222-89E5-74C565DA3976}"/>
                </a:ext>
              </a:extLst>
            </p:cNvPr>
            <p:cNvCxnSpPr/>
            <p:nvPr/>
          </p:nvCxnSpPr>
          <p:spPr bwMode="auto">
            <a:xfrm>
              <a:off x="6984000" y="5832000"/>
              <a:ext cx="0" cy="294208"/>
            </a:xfrm>
            <a:prstGeom prst="line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4" name="直接连接符 113">
              <a:extLst>
                <a:ext uri="{FF2B5EF4-FFF2-40B4-BE49-F238E27FC236}">
                  <a16:creationId xmlns:a16="http://schemas.microsoft.com/office/drawing/2014/main" id="{3CA92E24-386F-4699-A7E7-FC0A064E6676}"/>
                </a:ext>
              </a:extLst>
            </p:cNvPr>
            <p:cNvCxnSpPr/>
            <p:nvPr/>
          </p:nvCxnSpPr>
          <p:spPr bwMode="auto">
            <a:xfrm>
              <a:off x="6930000" y="5904000"/>
              <a:ext cx="108000" cy="72008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15" name="Text Box 61">
              <a:extLst>
                <a:ext uri="{FF2B5EF4-FFF2-40B4-BE49-F238E27FC236}">
                  <a16:creationId xmlns:a16="http://schemas.microsoft.com/office/drawing/2014/main" id="{BA52949A-9B8A-4544-B695-0304F6A597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68000" y="5868000"/>
              <a:ext cx="216000" cy="18002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0" bIns="0" anchor="ctr" anchorCtr="0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1</a:t>
              </a:r>
            </a:p>
          </p:txBody>
        </p:sp>
        <p:sp>
          <p:nvSpPr>
            <p:cNvPr id="116" name="Text Box 72">
              <a:extLst>
                <a:ext uri="{FF2B5EF4-FFF2-40B4-BE49-F238E27FC236}">
                  <a16:creationId xmlns:a16="http://schemas.microsoft.com/office/drawing/2014/main" id="{9BABF213-E49D-4809-AC86-52AC9D5BD0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20168" y="5580016"/>
              <a:ext cx="1476000" cy="6480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17" name="Text Box 72">
              <a:extLst>
                <a:ext uri="{FF2B5EF4-FFF2-40B4-BE49-F238E27FC236}">
                  <a16:creationId xmlns:a16="http://schemas.microsoft.com/office/drawing/2014/main" id="{65315446-D36E-4B30-A2DA-ADAA6C4ECB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91744" y="5651131"/>
              <a:ext cx="576000" cy="252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CPU</a:t>
              </a:r>
            </a:p>
          </p:txBody>
        </p:sp>
        <p:sp>
          <p:nvSpPr>
            <p:cNvPr id="118" name="Text Box 74">
              <a:extLst>
                <a:ext uri="{FF2B5EF4-FFF2-40B4-BE49-F238E27FC236}">
                  <a16:creationId xmlns:a16="http://schemas.microsoft.com/office/drawing/2014/main" id="{A7A683C5-BA87-4707-BED4-027BB08498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11824" y="5651131"/>
              <a:ext cx="576000" cy="25200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主存</a:t>
              </a:r>
            </a:p>
          </p:txBody>
        </p:sp>
        <p:sp>
          <p:nvSpPr>
            <p:cNvPr id="119" name="Text Box 75">
              <a:extLst>
                <a:ext uri="{FF2B5EF4-FFF2-40B4-BE49-F238E27FC236}">
                  <a16:creationId xmlns:a16="http://schemas.microsoft.com/office/drawing/2014/main" id="{BA0C913A-1CE5-40C3-A22E-2F48370A76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03848" y="5582298"/>
              <a:ext cx="1152128" cy="252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I/O</a:t>
              </a:r>
              <a:r>
                <a:rPr lang="zh-CN" altLang="en-US" sz="1800" b="1" dirty="0">
                  <a:latin typeface="宋体" panose="02010600030101010101" pitchFamily="2" charset="-122"/>
                </a:rPr>
                <a:t>接口</a:t>
              </a:r>
              <a:r>
                <a:rPr lang="en-US" altLang="zh-CN" sz="1800" b="1" dirty="0" err="1">
                  <a:latin typeface="宋体" panose="02010600030101010101" pitchFamily="2" charset="-122"/>
                </a:rPr>
                <a:t>i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20" name="Text Box 79">
              <a:extLst>
                <a:ext uri="{FF2B5EF4-FFF2-40B4-BE49-F238E27FC236}">
                  <a16:creationId xmlns:a16="http://schemas.microsoft.com/office/drawing/2014/main" id="{3B379A1C-D746-4105-8903-F51FAF6989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71107" y="6121576"/>
              <a:ext cx="288925" cy="252000"/>
            </a:xfrm>
            <a:prstGeom prst="rect">
              <a:avLst/>
            </a:prstGeom>
            <a:noFill/>
            <a:ln w="222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latin typeface="+mn-ea"/>
                  <a:ea typeface="+mn-ea"/>
                </a:rPr>
                <a:t>…</a:t>
              </a:r>
            </a:p>
          </p:txBody>
        </p:sp>
        <p:sp>
          <p:nvSpPr>
            <p:cNvPr id="121" name="Text Box 80">
              <a:extLst>
                <a:ext uri="{FF2B5EF4-FFF2-40B4-BE49-F238E27FC236}">
                  <a16:creationId xmlns:a16="http://schemas.microsoft.com/office/drawing/2014/main" id="{EC2B2BFD-1F93-4AC5-A975-4630DB9B3F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27984" y="5436000"/>
              <a:ext cx="504000" cy="251917"/>
            </a:xfrm>
            <a:prstGeom prst="rect">
              <a:avLst/>
            </a:prstGeom>
            <a:noFill/>
            <a:ln w="222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zh-CN" altLang="en-US" sz="1600" b="1" dirty="0"/>
                <a:t>总线</a:t>
              </a:r>
            </a:p>
          </p:txBody>
        </p:sp>
        <p:cxnSp>
          <p:nvCxnSpPr>
            <p:cNvPr id="122" name="直接连接符 121">
              <a:extLst>
                <a:ext uri="{FF2B5EF4-FFF2-40B4-BE49-F238E27FC236}">
                  <a16:creationId xmlns:a16="http://schemas.microsoft.com/office/drawing/2014/main" id="{6F1464E3-770B-4EE6-ADE2-5514A3F04854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1979712" y="5436000"/>
              <a:ext cx="0" cy="207020"/>
            </a:xfrm>
            <a:prstGeom prst="line">
              <a:avLst/>
            </a:prstGeom>
            <a:noFill/>
            <a:ln w="28575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3" name="直接连接符 122">
              <a:extLst>
                <a:ext uri="{FF2B5EF4-FFF2-40B4-BE49-F238E27FC236}">
                  <a16:creationId xmlns:a16="http://schemas.microsoft.com/office/drawing/2014/main" id="{731D1545-8ABC-49AE-B745-52CAAA81027E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2699792" y="5436000"/>
              <a:ext cx="0" cy="205332"/>
            </a:xfrm>
            <a:prstGeom prst="line">
              <a:avLst/>
            </a:prstGeom>
            <a:noFill/>
            <a:ln w="28575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4" name="直接连接符 123">
              <a:extLst>
                <a:ext uri="{FF2B5EF4-FFF2-40B4-BE49-F238E27FC236}">
                  <a16:creationId xmlns:a16="http://schemas.microsoft.com/office/drawing/2014/main" id="{C0163450-73C5-4DE6-B22C-2A9B01D1F9C9}"/>
                </a:ext>
              </a:extLst>
            </p:cNvPr>
            <p:cNvCxnSpPr/>
            <p:nvPr/>
          </p:nvCxnSpPr>
          <p:spPr bwMode="auto">
            <a:xfrm>
              <a:off x="1619672" y="5436000"/>
              <a:ext cx="6120000" cy="0"/>
            </a:xfrm>
            <a:prstGeom prst="line">
              <a:avLst/>
            </a:prstGeom>
            <a:noFill/>
            <a:ln w="28575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5" name="直接连接符 124">
              <a:extLst>
                <a:ext uri="{FF2B5EF4-FFF2-40B4-BE49-F238E27FC236}">
                  <a16:creationId xmlns:a16="http://schemas.microsoft.com/office/drawing/2014/main" id="{04AB5E34-9FE8-43FF-988F-399F79929D58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3779912" y="5437414"/>
              <a:ext cx="0" cy="144884"/>
            </a:xfrm>
            <a:prstGeom prst="line">
              <a:avLst/>
            </a:prstGeom>
            <a:noFill/>
            <a:ln w="28575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26" name="Text Box 80">
              <a:extLst>
                <a:ext uri="{FF2B5EF4-FFF2-40B4-BE49-F238E27FC236}">
                  <a16:creationId xmlns:a16="http://schemas.microsoft.com/office/drawing/2014/main" id="{5023CA48-CFAE-406E-957C-BA454900B9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51522" y="5941576"/>
              <a:ext cx="576262" cy="251917"/>
            </a:xfrm>
            <a:prstGeom prst="rect">
              <a:avLst/>
            </a:prstGeom>
            <a:noFill/>
            <a:ln w="222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zh-CN" altLang="en-US" sz="1600" b="1" dirty="0"/>
                <a:t>主机</a:t>
              </a:r>
            </a:p>
          </p:txBody>
        </p:sp>
        <p:sp>
          <p:nvSpPr>
            <p:cNvPr id="127" name="Text Box 75">
              <a:extLst>
                <a:ext uri="{FF2B5EF4-FFF2-40B4-BE49-F238E27FC236}">
                  <a16:creationId xmlns:a16="http://schemas.microsoft.com/office/drawing/2014/main" id="{FCC70AA6-2E4A-4C7E-A0D3-B53382046E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88224" y="5580884"/>
              <a:ext cx="1152128" cy="252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I/O</a:t>
              </a:r>
              <a:r>
                <a:rPr lang="zh-CN" altLang="en-US" sz="1800" b="1" dirty="0">
                  <a:latin typeface="宋体" panose="02010600030101010101" pitchFamily="2" charset="-122"/>
                </a:rPr>
                <a:t>接口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k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128" name="直接连接符 127">
              <a:extLst>
                <a:ext uri="{FF2B5EF4-FFF2-40B4-BE49-F238E27FC236}">
                  <a16:creationId xmlns:a16="http://schemas.microsoft.com/office/drawing/2014/main" id="{A7DB6466-36CE-4971-9D4B-7FAA8AA2CDDE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164288" y="5436000"/>
              <a:ext cx="0" cy="144884"/>
            </a:xfrm>
            <a:prstGeom prst="line">
              <a:avLst/>
            </a:prstGeom>
            <a:noFill/>
            <a:ln w="28575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9" name="直接连接符 128">
              <a:extLst>
                <a:ext uri="{FF2B5EF4-FFF2-40B4-BE49-F238E27FC236}">
                  <a16:creationId xmlns:a16="http://schemas.microsoft.com/office/drawing/2014/main" id="{862F3A4F-D96A-4963-843A-E5750729D2B0}"/>
                </a:ext>
              </a:extLst>
            </p:cNvPr>
            <p:cNvCxnSpPr/>
            <p:nvPr/>
          </p:nvCxnSpPr>
          <p:spPr bwMode="auto">
            <a:xfrm>
              <a:off x="5363944" y="5832000"/>
              <a:ext cx="0" cy="294208"/>
            </a:xfrm>
            <a:prstGeom prst="line">
              <a:avLst/>
            </a:prstGeom>
            <a:noFill/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0" name="直接连接符 129">
              <a:extLst>
                <a:ext uri="{FF2B5EF4-FFF2-40B4-BE49-F238E27FC236}">
                  <a16:creationId xmlns:a16="http://schemas.microsoft.com/office/drawing/2014/main" id="{D1304922-547E-4FE4-A68E-62FA5445FC11}"/>
                </a:ext>
              </a:extLst>
            </p:cNvPr>
            <p:cNvCxnSpPr/>
            <p:nvPr/>
          </p:nvCxnSpPr>
          <p:spPr bwMode="auto">
            <a:xfrm>
              <a:off x="5309944" y="5904000"/>
              <a:ext cx="108000" cy="72008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31" name="Text Box 61">
              <a:extLst>
                <a:ext uri="{FF2B5EF4-FFF2-40B4-BE49-F238E27FC236}">
                  <a16:creationId xmlns:a16="http://schemas.microsoft.com/office/drawing/2014/main" id="{8DD4B035-77DC-425F-8451-33E3EE2860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47944" y="5868000"/>
              <a:ext cx="216000" cy="18002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0" bIns="0" anchor="ctr" anchorCtr="0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latin typeface="+mn-ea"/>
                  <a:ea typeface="+mn-ea"/>
                </a:rPr>
                <a:t>n</a:t>
              </a:r>
            </a:p>
          </p:txBody>
        </p:sp>
        <p:sp>
          <p:nvSpPr>
            <p:cNvPr id="132" name="Text Box 75">
              <a:extLst>
                <a:ext uri="{FF2B5EF4-FFF2-40B4-BE49-F238E27FC236}">
                  <a16:creationId xmlns:a16="http://schemas.microsoft.com/office/drawing/2014/main" id="{C24D60EE-D0FF-4FE0-8CA8-8880D9D18D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04000" y="5580884"/>
              <a:ext cx="1152128" cy="252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I/O</a:t>
              </a:r>
              <a:r>
                <a:rPr lang="zh-CN" altLang="en-US" sz="1800" b="1" dirty="0">
                  <a:latin typeface="宋体" panose="02010600030101010101" pitchFamily="2" charset="-122"/>
                </a:rPr>
                <a:t>接口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j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133" name="直接连接符 132">
              <a:extLst>
                <a:ext uri="{FF2B5EF4-FFF2-40B4-BE49-F238E27FC236}">
                  <a16:creationId xmlns:a16="http://schemas.microsoft.com/office/drawing/2014/main" id="{E3EDA36B-5E9F-4E78-A4C5-62FAC8719399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580064" y="5436000"/>
              <a:ext cx="0" cy="144884"/>
            </a:xfrm>
            <a:prstGeom prst="line">
              <a:avLst/>
            </a:prstGeom>
            <a:noFill/>
            <a:ln w="28575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34" name="Text Box 81">
              <a:extLst>
                <a:ext uri="{FF2B5EF4-FFF2-40B4-BE49-F238E27FC236}">
                  <a16:creationId xmlns:a16="http://schemas.microsoft.com/office/drawing/2014/main" id="{8E4944E8-EA21-45A6-A4E3-7FA6709369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04000" y="6120000"/>
              <a:ext cx="1152128" cy="2520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外设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(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并行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)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35" name="Text Box 81">
              <a:extLst>
                <a:ext uri="{FF2B5EF4-FFF2-40B4-BE49-F238E27FC236}">
                  <a16:creationId xmlns:a16="http://schemas.microsoft.com/office/drawing/2014/main" id="{6453AFEE-9FB4-4D10-87FF-25AA4E7E99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88224" y="6120000"/>
              <a:ext cx="1152128" cy="2520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外设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(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串行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)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36" name="Text Box 81">
              <a:extLst>
                <a:ext uri="{FF2B5EF4-FFF2-40B4-BE49-F238E27FC236}">
                  <a16:creationId xmlns:a16="http://schemas.microsoft.com/office/drawing/2014/main" id="{07DF99AC-5B34-470D-9898-1976CF8C70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03848" y="6120000"/>
              <a:ext cx="1152128" cy="2520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外设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(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简单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)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137" name="直接连接符 136">
              <a:extLst>
                <a:ext uri="{FF2B5EF4-FFF2-40B4-BE49-F238E27FC236}">
                  <a16:creationId xmlns:a16="http://schemas.microsoft.com/office/drawing/2014/main" id="{B33CBAAE-4A98-470A-8BD2-751BCCAF6AED}"/>
                </a:ext>
              </a:extLst>
            </p:cNvPr>
            <p:cNvCxnSpPr/>
            <p:nvPr/>
          </p:nvCxnSpPr>
          <p:spPr bwMode="auto">
            <a:xfrm>
              <a:off x="3600000" y="5832000"/>
              <a:ext cx="0" cy="294208"/>
            </a:xfrm>
            <a:prstGeom prst="line">
              <a:avLst/>
            </a:prstGeom>
            <a:noFill/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8" name="直接连接符 137">
              <a:extLst>
                <a:ext uri="{FF2B5EF4-FFF2-40B4-BE49-F238E27FC236}">
                  <a16:creationId xmlns:a16="http://schemas.microsoft.com/office/drawing/2014/main" id="{F70E2265-7069-45DD-8D81-9C4796044AC0}"/>
                </a:ext>
              </a:extLst>
            </p:cNvPr>
            <p:cNvCxnSpPr/>
            <p:nvPr/>
          </p:nvCxnSpPr>
          <p:spPr bwMode="auto">
            <a:xfrm>
              <a:off x="3546000" y="5904000"/>
              <a:ext cx="108000" cy="72008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39" name="Text Box 61">
              <a:extLst>
                <a:ext uri="{FF2B5EF4-FFF2-40B4-BE49-F238E27FC236}">
                  <a16:creationId xmlns:a16="http://schemas.microsoft.com/office/drawing/2014/main" id="{AF59198B-3815-4FAC-A5CE-FDF0BE3C2B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84000" y="5868000"/>
              <a:ext cx="216000" cy="18002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0" bIns="0" anchor="ctr" anchorCtr="0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latin typeface="+mn-ea"/>
                  <a:ea typeface="+mn-ea"/>
                </a:rPr>
                <a:t>n</a:t>
              </a:r>
            </a:p>
          </p:txBody>
        </p:sp>
      </p:grpSp>
      <p:sp>
        <p:nvSpPr>
          <p:cNvPr id="140" name="Text Box 145">
            <a:extLst>
              <a:ext uri="{FF2B5EF4-FFF2-40B4-BE49-F238E27FC236}">
                <a16:creationId xmlns:a16="http://schemas.microsoft.com/office/drawing/2014/main" id="{3AE46D8C-6C8F-4403-A610-5AA623EB74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5735" y="3356992"/>
            <a:ext cx="4572264" cy="1638236"/>
          </a:xfrm>
          <a:prstGeom prst="rect">
            <a:avLst/>
          </a:prstGeom>
          <a:noFill/>
          <a:ln w="38100">
            <a:noFill/>
            <a:miter lim="800000"/>
          </a:ln>
          <a:effectLst/>
        </p:spPr>
        <p:txBody>
          <a:bodyPr wrap="square" tIns="64800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无需</a:t>
            </a:r>
            <a:r>
              <a:rPr lang="zh-CN" altLang="en-US" sz="2200" b="1" dirty="0">
                <a:latin typeface="宋体" panose="02010600030101010101" pitchFamily="2" charset="-122"/>
              </a:rPr>
              <a:t>联络信号线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</a:rPr>
              <a:t>随时有效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lang="zh-CN" altLang="en-US" sz="2200" b="1" dirty="0">
                <a:latin typeface="宋体" panose="02010600030101010101" pitchFamily="2" charset="-122"/>
              </a:rPr>
              <a:t>用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请求</a:t>
            </a:r>
            <a:r>
              <a:rPr lang="en-US" altLang="zh-CN" sz="22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/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应答线</a:t>
            </a:r>
            <a:r>
              <a:rPr lang="zh-CN" altLang="en-US" sz="2200" b="1" dirty="0">
                <a:latin typeface="宋体" panose="02010600030101010101" pitchFamily="2" charset="-122"/>
              </a:rPr>
              <a:t>指明</a:t>
            </a:r>
            <a:r>
              <a:rPr lang="en-US" altLang="zh-CN" sz="1600" b="1" dirty="0">
                <a:latin typeface="宋体" panose="02010600030101010101" pitchFamily="2" charset="-122"/>
              </a:rPr>
              <a:t>(1</a:t>
            </a:r>
            <a:r>
              <a:rPr lang="zh-CN" altLang="en-US" sz="1600" b="1" dirty="0">
                <a:latin typeface="宋体" panose="02010600030101010101" pitchFamily="2" charset="-122"/>
              </a:rPr>
              <a:t>个数据</a:t>
            </a:r>
            <a:r>
              <a:rPr lang="en-US" altLang="zh-CN" sz="1600" b="1" dirty="0">
                <a:latin typeface="宋体" panose="02010600030101010101" pitchFamily="2" charset="-122"/>
              </a:rPr>
              <a:t>/</a:t>
            </a:r>
            <a:r>
              <a:rPr lang="zh-CN" altLang="en-US" sz="1600" b="1" dirty="0">
                <a:latin typeface="宋体" panose="02010600030101010101" pitchFamily="2" charset="-122"/>
              </a:rPr>
              <a:t>定时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  <a:endParaRPr lang="en-US" altLang="zh-CN" sz="1600" b="1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lang="zh-CN" altLang="en-US" sz="2200" b="1" dirty="0">
                <a:latin typeface="宋体" panose="02010600030101010101" pitchFamily="2" charset="-122"/>
              </a:rPr>
              <a:t>用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同步头</a:t>
            </a:r>
            <a:r>
              <a:rPr lang="zh-CN" altLang="en-US" sz="2200" b="1" dirty="0">
                <a:latin typeface="宋体" panose="02010600030101010101" pitchFamily="2" charset="-122"/>
              </a:rPr>
              <a:t>或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时钟线</a:t>
            </a:r>
            <a:r>
              <a:rPr lang="zh-CN" altLang="en-US" sz="2200" b="1" dirty="0">
                <a:latin typeface="宋体" panose="02010600030101010101" pitchFamily="2" charset="-122"/>
              </a:rPr>
              <a:t>指明</a:t>
            </a:r>
            <a:r>
              <a:rPr lang="en-US" altLang="zh-CN" sz="1600" b="1" dirty="0">
                <a:latin typeface="宋体" panose="02010600030101010101" pitchFamily="2" charset="-122"/>
              </a:rPr>
              <a:t>(1</a:t>
            </a:r>
            <a:r>
              <a:rPr lang="zh-CN" altLang="en-US" sz="1600" b="1" dirty="0">
                <a:latin typeface="宋体" panose="02010600030101010101" pitchFamily="2" charset="-122"/>
              </a:rPr>
              <a:t>个位</a:t>
            </a:r>
            <a:r>
              <a:rPr lang="en-US" altLang="zh-CN" sz="1600" b="1" dirty="0">
                <a:latin typeface="宋体" panose="02010600030101010101" pitchFamily="2" charset="-122"/>
              </a:rPr>
              <a:t>/</a:t>
            </a:r>
            <a:r>
              <a:rPr lang="zh-CN" altLang="en-US" sz="1600" b="1" dirty="0">
                <a:latin typeface="宋体" panose="02010600030101010101" pitchFamily="2" charset="-122"/>
              </a:rPr>
              <a:t>定时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  <a:endParaRPr lang="zh-CN" altLang="en-US" sz="2200" b="1" dirty="0">
              <a:latin typeface="宋体" panose="02010600030101010101" pitchFamily="2" charset="-122"/>
            </a:endParaRPr>
          </a:p>
          <a:p>
            <a:pPr algn="l">
              <a:lnSpc>
                <a:spcPct val="105000"/>
              </a:lnSpc>
            </a:pP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   </a:t>
            </a:r>
            <a:r>
              <a:rPr lang="en-US" altLang="zh-CN" sz="1800" dirty="0">
                <a:latin typeface="宋体" panose="02010600030101010101" pitchFamily="2" charset="-122"/>
                <a:sym typeface="+mn-ea"/>
              </a:rPr>
              <a:t>└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←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帧中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   </a:t>
            </a:r>
            <a:r>
              <a:rPr lang="en-US" altLang="zh-CN" sz="1800" dirty="0">
                <a:latin typeface="宋体" panose="02010600030101010101" pitchFamily="2" charset="-122"/>
                <a:sym typeface="+mn-ea"/>
              </a:rPr>
              <a:t>└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←</a:t>
            </a:r>
            <a:r>
              <a:rPr lang="zh-CN" altLang="en-US" sz="18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常省略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600" b="1" u="sng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约定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或</a:t>
            </a:r>
            <a:r>
              <a:rPr lang="zh-CN" altLang="en-US" sz="1600" b="1" u="sng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侦测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速率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)</a:t>
            </a:r>
            <a:endParaRPr lang="en-US" altLang="zh-CN" sz="1800" b="1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12" presetClass="entr" presetSubtype="1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" presetClass="entr" presetSubtype="1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1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0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1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15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1" dur="500"/>
                                        <p:tgtEl>
                                          <p:spTgt spid="15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6" dur="500"/>
                                        <p:tgtEl>
                                          <p:spTgt spid="1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1" dur="500"/>
                                        <p:tgtEl>
                                          <p:spTgt spid="1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500"/>
                            </p:stCondLst>
                            <p:childTnLst>
                              <p:par>
                                <p:cTn id="83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750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6" dur="75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1" dur="500"/>
                                        <p:tgtEl>
                                          <p:spTgt spid="1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500"/>
                            </p:stCondLst>
                            <p:childTnLst>
                              <p:par>
                                <p:cTn id="93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750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96" dur="75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1250"/>
                            </p:stCondLst>
                            <p:childTnLst>
                              <p:par>
                                <p:cTn id="98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0" dur="500"/>
                                        <p:tgtEl>
                                          <p:spTgt spid="1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5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" grpId="0" animBg="1"/>
      <p:bldP spid="74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02927-8F9A-4872-8282-2378DCCC528F}" type="slidenum">
              <a:rPr lang="en-US" altLang="zh-CN"/>
              <a:t>22</a:t>
            </a:fld>
            <a:endParaRPr lang="en-US" altLang="zh-CN"/>
          </a:p>
        </p:txBody>
      </p:sp>
      <p:sp>
        <p:nvSpPr>
          <p:cNvPr id="114696" name="Text Box 8"/>
          <p:cNvSpPr txBox="1">
            <a:spLocks noChangeArrowheads="1"/>
          </p:cNvSpPr>
          <p:nvPr/>
        </p:nvSpPr>
        <p:spPr bwMode="auto">
          <a:xfrm>
            <a:off x="179389" y="1268760"/>
            <a:ext cx="3240500" cy="79464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tIns="10795" bIns="10795" anchor="t" anchorCtr="0">
            <a:spAutoFit/>
          </a:bodyPr>
          <a:lstStyle/>
          <a:p>
            <a:pPr algn="l"/>
            <a:r>
              <a:rPr lang="en-US" altLang="zh-CN" b="1" dirty="0">
                <a:solidFill>
                  <a:srgbClr val="FF3399"/>
                </a:solidFill>
                <a:latin typeface="+mn-ea"/>
                <a:ea typeface="+mn-ea"/>
              </a:rPr>
              <a:t>1</a:t>
            </a:r>
            <a:r>
              <a:rPr lang="zh-CN" altLang="en-US" b="1" dirty="0">
                <a:solidFill>
                  <a:srgbClr val="FF3399"/>
                </a:solidFill>
                <a:latin typeface="+mn-ea"/>
                <a:ea typeface="+mn-ea"/>
              </a:rPr>
              <a:t>、</a:t>
            </a:r>
            <a:r>
              <a:rPr lang="en-US" altLang="zh-CN" b="1" dirty="0">
                <a:solidFill>
                  <a:srgbClr val="FF3399"/>
                </a:solidFill>
                <a:latin typeface="+mn-ea"/>
                <a:ea typeface="+mn-ea"/>
              </a:rPr>
              <a:t>I/O</a:t>
            </a:r>
            <a:r>
              <a:rPr lang="zh-CN" altLang="en-US" b="1" dirty="0">
                <a:solidFill>
                  <a:srgbClr val="FF3399"/>
                </a:solidFill>
                <a:latin typeface="+mn-ea"/>
                <a:ea typeface="+mn-ea"/>
              </a:rPr>
              <a:t>接口的功能</a:t>
            </a:r>
            <a:endParaRPr lang="en-US" altLang="zh-CN" b="1" dirty="0">
              <a:solidFill>
                <a:srgbClr val="FF3399"/>
              </a:solidFill>
              <a:latin typeface="+mn-ea"/>
              <a:ea typeface="+mn-ea"/>
            </a:endParaRPr>
          </a:p>
          <a:p>
            <a:pPr algn="l">
              <a:lnSpc>
                <a:spcPct val="125000"/>
              </a:lnSpc>
              <a:spcBef>
                <a:spcPts val="300"/>
              </a:spcBef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*I/O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接口：</a:t>
            </a:r>
            <a:endParaRPr lang="zh-CN" altLang="en-US" sz="2200" b="1" dirty="0">
              <a:solidFill>
                <a:srgbClr val="FF3399"/>
              </a:solidFill>
              <a:latin typeface="+mn-ea"/>
              <a:ea typeface="+mn-ea"/>
            </a:endParaRPr>
          </a:p>
        </p:txBody>
      </p:sp>
      <p:sp>
        <p:nvSpPr>
          <p:cNvPr id="114697" name="Text Box 9"/>
          <p:cNvSpPr txBox="1">
            <a:spLocks noChangeArrowheads="1"/>
          </p:cNvSpPr>
          <p:nvPr/>
        </p:nvSpPr>
        <p:spPr bwMode="auto">
          <a:xfrm>
            <a:off x="838200" y="260648"/>
            <a:ext cx="7467600" cy="5232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2800" b="1" dirty="0">
                <a:latin typeface="宋体" panose="02010600030101010101" pitchFamily="2" charset="-122"/>
              </a:rPr>
              <a:t>§7.3  I/O</a:t>
            </a:r>
            <a:r>
              <a:rPr lang="zh-CN" altLang="en-US" sz="2800" b="1" dirty="0">
                <a:latin typeface="宋体" panose="02010600030101010101" pitchFamily="2" charset="-122"/>
              </a:rPr>
              <a:t>接口</a:t>
            </a:r>
          </a:p>
        </p:txBody>
      </p:sp>
      <p:sp>
        <p:nvSpPr>
          <p:cNvPr id="114867" name="Text Box 179"/>
          <p:cNvSpPr txBox="1">
            <a:spLocks noChangeArrowheads="1"/>
          </p:cNvSpPr>
          <p:nvPr/>
        </p:nvSpPr>
        <p:spPr bwMode="auto">
          <a:xfrm>
            <a:off x="1691680" y="1628800"/>
            <a:ext cx="6940862" cy="765915"/>
          </a:xfrm>
          <a:prstGeom prst="rect">
            <a:avLst/>
          </a:prstGeom>
          <a:noFill/>
          <a:ln w="38100">
            <a:noFill/>
            <a:miter lim="800000"/>
          </a:ln>
          <a:effectLst/>
        </p:spPr>
        <p:txBody>
          <a:bodyPr wrap="square" tIns="46800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sz="2200" b="1" dirty="0">
                <a:latin typeface="宋体" panose="02010600030101010101" pitchFamily="2" charset="-122"/>
              </a:rPr>
              <a:t>主机</a:t>
            </a:r>
            <a:r>
              <a:rPr lang="en-US" altLang="zh-CN" sz="2200" b="1" dirty="0">
                <a:latin typeface="宋体" panose="02010600030101010101" pitchFamily="2" charset="-122"/>
              </a:rPr>
              <a:t>-</a:t>
            </a:r>
            <a:r>
              <a:rPr lang="zh-CN" altLang="en-US" sz="2200" b="1" dirty="0">
                <a:latin typeface="宋体" panose="02010600030101010101" pitchFamily="2" charset="-122"/>
              </a:rPr>
              <a:t>外设间的</a:t>
            </a:r>
            <a:r>
              <a:rPr lang="zh-CN" altLang="en-US" sz="2200" b="1" u="sng" dirty="0">
                <a:latin typeface="宋体" panose="02010600030101010101" pitchFamily="2" charset="-122"/>
              </a:rPr>
              <a:t>连接电路</a:t>
            </a:r>
            <a:r>
              <a:rPr lang="zh-CN" altLang="en-US" sz="2200" b="1" dirty="0">
                <a:latin typeface="宋体" panose="02010600030101010101" pitchFamily="2" charset="-122"/>
              </a:rPr>
              <a:t>，负责</a:t>
            </a:r>
            <a:r>
              <a:rPr lang="zh-CN" altLang="en-US" sz="2200" b="1" u="sng" dirty="0">
                <a:solidFill>
                  <a:srgbClr val="FF3399"/>
                </a:solidFill>
                <a:latin typeface="宋体" panose="02010600030101010101" pitchFamily="2" charset="-122"/>
              </a:rPr>
              <a:t>中转</a:t>
            </a:r>
            <a:r>
              <a:rPr lang="zh-CN" altLang="en-US" sz="2200" b="1" u="sng" dirty="0">
                <a:latin typeface="宋体" panose="02010600030101010101" pitchFamily="2" charset="-122"/>
              </a:rPr>
              <a:t>各种</a:t>
            </a:r>
            <a:r>
              <a:rPr lang="zh-CN" altLang="en-US" sz="2200" b="1" dirty="0">
                <a:latin typeface="宋体" panose="02010600030101010101" pitchFamily="2" charset="-122"/>
              </a:rPr>
              <a:t>信息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 algn="l">
              <a:lnSpc>
                <a:spcPct val="90000"/>
              </a:lnSpc>
              <a:spcBef>
                <a:spcPts val="0"/>
              </a:spcBef>
            </a:pPr>
            <a:r>
              <a:rPr lang="zh-CN" altLang="en-US" sz="1800" b="1" dirty="0">
                <a:latin typeface="+mn-ea"/>
              </a:rPr>
              <a:t>                                        </a:t>
            </a:r>
            <a:r>
              <a:rPr lang="zh-CN" altLang="en-US" sz="1800" dirty="0">
                <a:latin typeface="+mn-ea"/>
              </a:rPr>
              <a:t>└←</a:t>
            </a:r>
            <a:r>
              <a:rPr lang="zh-CN" altLang="en-US" sz="1800" b="1" dirty="0">
                <a:latin typeface="+mn-ea"/>
              </a:rPr>
              <a:t>命令</a:t>
            </a:r>
            <a:r>
              <a:rPr lang="en-US" altLang="zh-CN" sz="1800" b="1" dirty="0">
                <a:latin typeface="+mn-ea"/>
              </a:rPr>
              <a:t>/</a:t>
            </a:r>
            <a:r>
              <a:rPr lang="zh-CN" altLang="en-US" sz="1800" b="1" dirty="0">
                <a:latin typeface="+mn-ea"/>
              </a:rPr>
              <a:t>数据</a:t>
            </a:r>
            <a:r>
              <a:rPr lang="en-US" altLang="zh-CN" sz="1800" b="1" dirty="0">
                <a:latin typeface="+mn-ea"/>
              </a:rPr>
              <a:t>/</a:t>
            </a:r>
            <a:r>
              <a:rPr lang="zh-CN" altLang="en-US" sz="1800" b="1" dirty="0">
                <a:latin typeface="+mn-ea"/>
              </a:rPr>
              <a:t>状态</a:t>
            </a:r>
            <a:endParaRPr lang="zh-CN" altLang="en-US" b="1" dirty="0">
              <a:latin typeface="+mn-ea"/>
            </a:endParaRPr>
          </a:p>
        </p:txBody>
      </p:sp>
      <p:sp>
        <p:nvSpPr>
          <p:cNvPr id="114874" name="AutoShape 186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2843808" y="6524451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0" name="Text Box 4"/>
          <p:cNvSpPr txBox="1">
            <a:spLocks noChangeArrowheads="1"/>
          </p:cNvSpPr>
          <p:nvPr/>
        </p:nvSpPr>
        <p:spPr bwMode="auto">
          <a:xfrm>
            <a:off x="152401" y="3068960"/>
            <a:ext cx="3123456" cy="3419719"/>
          </a:xfrm>
          <a:prstGeom prst="rect">
            <a:avLst/>
          </a:prstGeom>
          <a:noFill/>
          <a:ln w="38100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*I/O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接口的功能：</a:t>
            </a: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数据缓冲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</a:p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操作中转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</a:p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状态监测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</a:p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通信控制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</a:p>
          <a:p>
            <a:pPr algn="l">
              <a:lnSpc>
                <a:spcPct val="105000"/>
              </a:lnSpc>
            </a:pPr>
            <a:endParaRPr lang="en-US" altLang="zh-CN" sz="18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信号转换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</a:p>
          <a:p>
            <a:pPr algn="l">
              <a:lnSpc>
                <a:spcPct val="125000"/>
              </a:lnSpc>
              <a:spcBef>
                <a:spcPts val="300"/>
              </a:spcBef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*I/O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端口：</a:t>
            </a: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</p:txBody>
      </p:sp>
      <p:sp>
        <p:nvSpPr>
          <p:cNvPr id="101" name="Text Box 5"/>
          <p:cNvSpPr txBox="1">
            <a:spLocks noChangeArrowheads="1"/>
          </p:cNvSpPr>
          <p:nvPr/>
        </p:nvSpPr>
        <p:spPr bwMode="auto">
          <a:xfrm>
            <a:off x="1691680" y="3501008"/>
            <a:ext cx="7273057" cy="297944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tIns="28800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sz="2200" b="1" dirty="0">
                <a:latin typeface="+mn-ea"/>
                <a:ea typeface="+mn-ea"/>
              </a:rPr>
              <a:t>   用</a:t>
            </a:r>
            <a:r>
              <a:rPr lang="zh-CN" altLang="en-US" sz="2200" b="1" u="sng" dirty="0">
                <a:latin typeface="+mn-ea"/>
                <a:ea typeface="+mn-ea"/>
              </a:rPr>
              <a:t>寄存器</a:t>
            </a:r>
            <a:r>
              <a:rPr lang="zh-CN" altLang="en-US" sz="2200" b="1" dirty="0">
                <a:solidFill>
                  <a:srgbClr val="FF3399"/>
                </a:solidFill>
                <a:latin typeface="+mn-ea"/>
                <a:ea typeface="+mn-ea"/>
              </a:rPr>
              <a:t>暂存</a:t>
            </a:r>
            <a:r>
              <a:rPr lang="zh-CN" altLang="en-US" sz="2200" b="1" dirty="0">
                <a:latin typeface="+mn-ea"/>
                <a:ea typeface="+mn-ea"/>
              </a:rPr>
              <a:t>来自主机</a:t>
            </a:r>
            <a:r>
              <a:rPr lang="en-US" altLang="zh-CN" sz="2200" b="1" dirty="0">
                <a:latin typeface="+mn-ea"/>
                <a:ea typeface="+mn-ea"/>
              </a:rPr>
              <a:t>/</a:t>
            </a:r>
            <a:r>
              <a:rPr lang="zh-CN" altLang="en-US" sz="2200" b="1" dirty="0">
                <a:latin typeface="+mn-ea"/>
                <a:ea typeface="+mn-ea"/>
              </a:rPr>
              <a:t>外设的</a:t>
            </a:r>
            <a:r>
              <a:rPr lang="zh-CN" altLang="en-US" sz="2200" b="1" dirty="0">
                <a:solidFill>
                  <a:srgbClr val="990099"/>
                </a:solidFill>
                <a:latin typeface="+mn-ea"/>
                <a:ea typeface="+mn-ea"/>
              </a:rPr>
              <a:t>数据</a:t>
            </a:r>
            <a:endParaRPr lang="en-US" altLang="zh-CN" sz="2200" b="1" dirty="0">
              <a:solidFill>
                <a:srgbClr val="990099"/>
              </a:solidFill>
              <a:latin typeface="+mn-ea"/>
              <a:ea typeface="+mn-ea"/>
            </a:endParaRPr>
          </a:p>
          <a:p>
            <a:pPr algn="l">
              <a:lnSpc>
                <a:spcPct val="125000"/>
              </a:lnSpc>
            </a:pPr>
            <a:r>
              <a:rPr lang="zh-CN" altLang="en-US" sz="2200" b="1" dirty="0">
                <a:latin typeface="+mn-ea"/>
                <a:ea typeface="+mn-ea"/>
              </a:rPr>
              <a:t>   用</a:t>
            </a:r>
            <a:r>
              <a:rPr lang="zh-CN" altLang="en-US" sz="2200" b="1" u="sng" dirty="0">
                <a:latin typeface="+mn-ea"/>
                <a:ea typeface="+mn-ea"/>
              </a:rPr>
              <a:t>寄存器</a:t>
            </a:r>
            <a:r>
              <a:rPr lang="zh-CN" altLang="en-US" sz="2200" b="1" dirty="0">
                <a:solidFill>
                  <a:srgbClr val="FF3399"/>
                </a:solidFill>
                <a:latin typeface="+mn-ea"/>
                <a:ea typeface="+mn-ea"/>
              </a:rPr>
              <a:t>暂存</a:t>
            </a:r>
            <a:r>
              <a:rPr lang="zh-CN" altLang="en-US" sz="2200" b="1" dirty="0">
                <a:latin typeface="+mn-ea"/>
                <a:ea typeface="+mn-ea"/>
              </a:rPr>
              <a:t>主机的</a:t>
            </a:r>
            <a:r>
              <a:rPr lang="zh-CN" altLang="en-US" sz="2200" b="1" dirty="0">
                <a:solidFill>
                  <a:srgbClr val="990099"/>
                </a:solidFill>
                <a:latin typeface="+mn-ea"/>
                <a:ea typeface="+mn-ea"/>
              </a:rPr>
              <a:t>操作命令</a:t>
            </a:r>
            <a:r>
              <a:rPr lang="zh-CN" altLang="en-US" sz="2200" b="1" dirty="0">
                <a:latin typeface="+mn-ea"/>
                <a:ea typeface="+mn-ea"/>
              </a:rPr>
              <a:t>，并</a:t>
            </a:r>
            <a:r>
              <a:rPr lang="zh-CN" altLang="en-US" sz="2200" b="1" u="sng" dirty="0">
                <a:solidFill>
                  <a:srgbClr val="C00000"/>
                </a:solidFill>
                <a:latin typeface="+mn-ea"/>
                <a:ea typeface="+mn-ea"/>
              </a:rPr>
              <a:t>适时</a:t>
            </a:r>
            <a:r>
              <a:rPr lang="zh-CN" altLang="en-US" sz="2200" b="1" dirty="0">
                <a:solidFill>
                  <a:srgbClr val="FF3399"/>
                </a:solidFill>
                <a:latin typeface="+mn-ea"/>
                <a:ea typeface="+mn-ea"/>
              </a:rPr>
              <a:t>转发</a:t>
            </a:r>
            <a:endParaRPr lang="en-US" altLang="zh-CN" sz="2200" b="1" dirty="0">
              <a:solidFill>
                <a:srgbClr val="FF3399"/>
              </a:solidFill>
              <a:latin typeface="+mn-ea"/>
              <a:ea typeface="+mn-ea"/>
            </a:endParaRPr>
          </a:p>
          <a:p>
            <a:pPr algn="l">
              <a:lnSpc>
                <a:spcPct val="125000"/>
              </a:lnSpc>
            </a:pPr>
            <a:r>
              <a:rPr lang="zh-CN" altLang="en-US" sz="2200" b="1" dirty="0">
                <a:latin typeface="+mn-ea"/>
              </a:rPr>
              <a:t>   持续</a:t>
            </a:r>
            <a:r>
              <a:rPr lang="zh-CN" altLang="en-US" sz="2200" b="1" dirty="0">
                <a:solidFill>
                  <a:srgbClr val="FF3399"/>
                </a:solidFill>
                <a:latin typeface="+mn-ea"/>
                <a:ea typeface="+mn-ea"/>
              </a:rPr>
              <a:t>监视</a:t>
            </a:r>
            <a:r>
              <a:rPr lang="zh-CN" altLang="en-US" sz="2200" b="1" dirty="0">
                <a:latin typeface="+mn-ea"/>
                <a:ea typeface="+mn-ea"/>
              </a:rPr>
              <a:t>外设</a:t>
            </a:r>
            <a:r>
              <a:rPr lang="zh-CN" altLang="en-US" sz="2200" b="1" dirty="0">
                <a:solidFill>
                  <a:srgbClr val="990099"/>
                </a:solidFill>
                <a:latin typeface="+mn-ea"/>
                <a:ea typeface="+mn-ea"/>
              </a:rPr>
              <a:t>工作状态</a:t>
            </a:r>
            <a:r>
              <a:rPr lang="zh-CN" altLang="en-US" sz="2200" b="1" dirty="0">
                <a:latin typeface="+mn-ea"/>
                <a:ea typeface="+mn-ea"/>
              </a:rPr>
              <a:t>，并</a:t>
            </a:r>
            <a:r>
              <a:rPr lang="zh-CN" altLang="en-US" sz="2200" b="1" dirty="0">
                <a:solidFill>
                  <a:srgbClr val="FF3399"/>
                </a:solidFill>
                <a:latin typeface="+mn-ea"/>
                <a:ea typeface="+mn-ea"/>
              </a:rPr>
              <a:t>暂存</a:t>
            </a:r>
            <a:r>
              <a:rPr lang="zh-CN" altLang="en-US" sz="2200" b="1" dirty="0">
                <a:latin typeface="+mn-ea"/>
                <a:ea typeface="+mn-ea"/>
              </a:rPr>
              <a:t>到</a:t>
            </a:r>
            <a:r>
              <a:rPr lang="zh-CN" altLang="en-US" sz="2200" b="1" u="sng" dirty="0">
                <a:latin typeface="+mn-ea"/>
                <a:ea typeface="+mn-ea"/>
              </a:rPr>
              <a:t>寄存器</a:t>
            </a:r>
            <a:r>
              <a:rPr lang="zh-CN" altLang="en-US" sz="2200" b="1" dirty="0">
                <a:latin typeface="+mn-ea"/>
                <a:ea typeface="+mn-ea"/>
              </a:rPr>
              <a:t>中</a:t>
            </a:r>
            <a:endParaRPr lang="en-US" altLang="zh-CN" sz="1600" b="1" dirty="0">
              <a:latin typeface="+mn-ea"/>
              <a:ea typeface="+mn-ea"/>
            </a:endParaRPr>
          </a:p>
          <a:p>
            <a:pPr algn="l">
              <a:lnSpc>
                <a:spcPct val="125000"/>
              </a:lnSpc>
            </a:pPr>
            <a:r>
              <a:rPr lang="zh-CN" altLang="en-US" sz="2200" b="1" dirty="0">
                <a:solidFill>
                  <a:srgbClr val="FF3399"/>
                </a:solidFill>
                <a:latin typeface="+mn-ea"/>
                <a:ea typeface="+mn-ea"/>
              </a:rPr>
              <a:t>   实现</a:t>
            </a:r>
            <a:r>
              <a:rPr lang="zh-CN" altLang="en-US" sz="2200" b="1" dirty="0">
                <a:latin typeface="+mn-ea"/>
                <a:ea typeface="+mn-ea"/>
              </a:rPr>
              <a:t>与主机交互、与外设通信          </a:t>
            </a:r>
            <a:r>
              <a:rPr lang="en-US" altLang="zh-CN" sz="1600" b="1" dirty="0">
                <a:latin typeface="+mn-ea"/>
              </a:rPr>
              <a:t>←</a:t>
            </a:r>
            <a:r>
              <a:rPr lang="zh-CN" altLang="en-US" sz="1600" b="1" dirty="0">
                <a:latin typeface="+mn-ea"/>
              </a:rPr>
              <a:t>有需要时</a:t>
            </a:r>
            <a:endParaRPr lang="zh-CN" altLang="en-US" sz="2200" b="1" dirty="0">
              <a:latin typeface="+mn-ea"/>
              <a:ea typeface="+mn-ea"/>
            </a:endParaRPr>
          </a:p>
          <a:p>
            <a:pPr algn="l">
              <a:lnSpc>
                <a:spcPct val="105000"/>
              </a:lnSpc>
            </a:pPr>
            <a:r>
              <a:rPr lang="en-US" altLang="zh-CN" sz="1800" b="1" dirty="0">
                <a:latin typeface="+mn-ea"/>
                <a:ea typeface="+mn-ea"/>
              </a:rPr>
              <a:t>               </a:t>
            </a:r>
            <a:r>
              <a:rPr lang="en-US" altLang="zh-CN" sz="1800" dirty="0">
                <a:solidFill>
                  <a:srgbClr val="990099"/>
                </a:solidFill>
                <a:latin typeface="+mn-ea"/>
                <a:ea typeface="+mn-ea"/>
              </a:rPr>
              <a:t>└</a:t>
            </a:r>
            <a:r>
              <a:rPr lang="en-US" altLang="zh-CN" sz="1800" b="1" dirty="0">
                <a:solidFill>
                  <a:srgbClr val="990099"/>
                </a:solidFill>
                <a:latin typeface="+mn-ea"/>
                <a:ea typeface="+mn-ea"/>
              </a:rPr>
              <a:t>←</a:t>
            </a:r>
            <a:r>
              <a:rPr lang="zh-CN" altLang="en-US" sz="1800" b="1" dirty="0">
                <a:solidFill>
                  <a:srgbClr val="990099"/>
                </a:solidFill>
                <a:latin typeface="+mn-ea"/>
                <a:ea typeface="+mn-ea"/>
              </a:rPr>
              <a:t>思考：</a:t>
            </a:r>
            <a:r>
              <a:rPr lang="zh-CN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通过什么信号线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传输命令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/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状态信息</a:t>
            </a:r>
            <a:r>
              <a:rPr lang="zh-CN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？</a:t>
            </a:r>
            <a:endParaRPr lang="en-US" altLang="zh-CN" sz="1800" b="1" dirty="0">
              <a:latin typeface="+mn-ea"/>
              <a:ea typeface="+mn-ea"/>
            </a:endParaRPr>
          </a:p>
          <a:p>
            <a:pPr algn="l">
              <a:lnSpc>
                <a:spcPct val="125000"/>
              </a:lnSpc>
            </a:pPr>
            <a:r>
              <a:rPr lang="zh-CN" altLang="en-US" sz="2200" b="1" dirty="0">
                <a:solidFill>
                  <a:srgbClr val="FF3399"/>
                </a:solidFill>
                <a:latin typeface="+mn-ea"/>
                <a:ea typeface="+mn-ea"/>
              </a:rPr>
              <a:t>   实现</a:t>
            </a:r>
            <a:r>
              <a:rPr lang="zh-CN" altLang="en-US" sz="2200" b="1" dirty="0">
                <a:latin typeface="+mn-ea"/>
                <a:ea typeface="+mn-ea"/>
              </a:rPr>
              <a:t>接口</a:t>
            </a:r>
            <a:r>
              <a:rPr lang="en-US" altLang="zh-CN" sz="2200" b="1" dirty="0">
                <a:latin typeface="+mn-ea"/>
                <a:ea typeface="+mn-ea"/>
              </a:rPr>
              <a:t>-</a:t>
            </a:r>
            <a:r>
              <a:rPr lang="zh-CN" altLang="en-US" sz="2200" b="1" dirty="0">
                <a:latin typeface="+mn-ea"/>
                <a:ea typeface="+mn-ea"/>
              </a:rPr>
              <a:t>外设间的信号转换</a:t>
            </a:r>
            <a:r>
              <a:rPr lang="en-US" altLang="zh-CN" sz="1800" b="1" dirty="0">
                <a:latin typeface="+mn-ea"/>
                <a:ea typeface="+mn-ea"/>
              </a:rPr>
              <a:t>(</a:t>
            </a:r>
            <a:r>
              <a:rPr lang="zh-CN" altLang="en-US" sz="1800" b="1" dirty="0">
                <a:latin typeface="+mn-ea"/>
                <a:ea typeface="+mn-ea"/>
              </a:rPr>
              <a:t>格式</a:t>
            </a:r>
            <a:r>
              <a:rPr lang="en-US" altLang="zh-CN" sz="1800" b="1" dirty="0">
                <a:latin typeface="+mn-ea"/>
                <a:ea typeface="+mn-ea"/>
              </a:rPr>
              <a:t>/</a:t>
            </a:r>
            <a:r>
              <a:rPr lang="zh-CN" altLang="en-US" sz="1800" b="1" dirty="0">
                <a:latin typeface="+mn-ea"/>
                <a:ea typeface="+mn-ea"/>
              </a:rPr>
              <a:t>电平</a:t>
            </a:r>
            <a:r>
              <a:rPr lang="en-US" altLang="zh-CN" sz="1800" b="1" dirty="0">
                <a:latin typeface="+mn-ea"/>
                <a:ea typeface="+mn-ea"/>
              </a:rPr>
              <a:t>/</a:t>
            </a:r>
            <a:r>
              <a:rPr lang="zh-CN" altLang="en-US" sz="1800" b="1" dirty="0">
                <a:latin typeface="+mn-ea"/>
                <a:ea typeface="+mn-ea"/>
              </a:rPr>
              <a:t>时序等</a:t>
            </a:r>
            <a:r>
              <a:rPr lang="en-US" altLang="zh-CN" sz="1800" b="1" dirty="0">
                <a:latin typeface="+mn-ea"/>
                <a:ea typeface="+mn-ea"/>
              </a:rPr>
              <a:t>)</a:t>
            </a:r>
          </a:p>
          <a:p>
            <a:pPr algn="l">
              <a:lnSpc>
                <a:spcPct val="125000"/>
              </a:lnSpc>
              <a:spcBef>
                <a:spcPts val="300"/>
              </a:spcBef>
            </a:pPr>
            <a:r>
              <a:rPr lang="zh-CN" altLang="en-US" sz="2200" b="1" spc="-100" dirty="0">
                <a:latin typeface="+mn-ea"/>
                <a:ea typeface="+mn-ea"/>
              </a:rPr>
              <a:t>可与</a:t>
            </a:r>
            <a:r>
              <a:rPr lang="zh-CN" altLang="en-US" sz="2200" b="1" u="sng" spc="-100" dirty="0">
                <a:solidFill>
                  <a:srgbClr val="990099"/>
                </a:solidFill>
                <a:latin typeface="+mn-ea"/>
                <a:ea typeface="+mn-ea"/>
              </a:rPr>
              <a:t>数据总线</a:t>
            </a:r>
            <a:r>
              <a:rPr lang="zh-CN" altLang="en-US" sz="2200" b="1" spc="-100" dirty="0">
                <a:latin typeface="+mn-ea"/>
                <a:ea typeface="+mn-ea"/>
              </a:rPr>
              <a:t>交换信息的</a:t>
            </a:r>
            <a:r>
              <a:rPr lang="zh-CN" altLang="en-US" sz="2200" b="1" spc="-100" dirty="0">
                <a:solidFill>
                  <a:schemeClr val="accent2"/>
                </a:solidFill>
                <a:latin typeface="+mn-ea"/>
                <a:ea typeface="+mn-ea"/>
              </a:rPr>
              <a:t>寄存器</a:t>
            </a:r>
            <a:r>
              <a:rPr lang="en-US" altLang="zh-CN" sz="1800" b="1" spc="-100" dirty="0">
                <a:latin typeface="+mn-ea"/>
                <a:ea typeface="+mn-ea"/>
              </a:rPr>
              <a:t>(</a:t>
            </a:r>
            <a:r>
              <a:rPr lang="zh-CN" altLang="en-US" sz="1800" b="1" spc="-100" dirty="0">
                <a:latin typeface="+mn-ea"/>
                <a:ea typeface="+mn-ea"/>
              </a:rPr>
              <a:t>称为数据口</a:t>
            </a:r>
            <a:r>
              <a:rPr lang="en-US" altLang="zh-CN" sz="1800" b="1" spc="-100" dirty="0">
                <a:latin typeface="+mn-ea"/>
                <a:ea typeface="+mn-ea"/>
              </a:rPr>
              <a:t>/</a:t>
            </a:r>
            <a:r>
              <a:rPr lang="zh-CN" altLang="en-US" sz="1800" b="1" spc="-100" dirty="0">
                <a:latin typeface="+mn-ea"/>
                <a:ea typeface="+mn-ea"/>
              </a:rPr>
              <a:t>控制口</a:t>
            </a:r>
            <a:r>
              <a:rPr lang="en-US" altLang="zh-CN" sz="1800" b="1" spc="-100" dirty="0">
                <a:latin typeface="+mn-ea"/>
                <a:ea typeface="+mn-ea"/>
              </a:rPr>
              <a:t>/</a:t>
            </a:r>
            <a:r>
              <a:rPr lang="zh-CN" altLang="en-US" sz="1800" b="1" spc="-100" dirty="0">
                <a:latin typeface="+mn-ea"/>
                <a:ea typeface="+mn-ea"/>
              </a:rPr>
              <a:t>状态口</a:t>
            </a:r>
            <a:r>
              <a:rPr lang="en-US" altLang="zh-CN" sz="1800" b="1" spc="-100" dirty="0">
                <a:latin typeface="+mn-ea"/>
                <a:ea typeface="+mn-ea"/>
              </a:rPr>
              <a:t>)</a:t>
            </a:r>
            <a:endParaRPr lang="zh-CN" altLang="en-US" sz="2000" b="1" dirty="0">
              <a:latin typeface="+mn-ea"/>
              <a:ea typeface="+mn-ea"/>
            </a:endParaRPr>
          </a:p>
        </p:txBody>
      </p:sp>
      <p:sp>
        <p:nvSpPr>
          <p:cNvPr id="42" name="Text Box 526"/>
          <p:cNvSpPr txBox="1">
            <a:spLocks noChangeArrowheads="1"/>
          </p:cNvSpPr>
          <p:nvPr/>
        </p:nvSpPr>
        <p:spPr bwMode="auto">
          <a:xfrm>
            <a:off x="179512" y="764704"/>
            <a:ext cx="8785225" cy="40011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l"/>
            <a:r>
              <a:rPr lang="en-US" altLang="zh-CN" sz="2000" b="1" dirty="0">
                <a:solidFill>
                  <a:srgbClr val="FF3399"/>
                </a:solidFill>
                <a:latin typeface="+mn-ea"/>
                <a:ea typeface="+mn-ea"/>
              </a:rPr>
              <a:t>  ※</a:t>
            </a:r>
            <a:r>
              <a:rPr lang="zh-CN" altLang="en-US" sz="2000" b="1" dirty="0">
                <a:solidFill>
                  <a:srgbClr val="FF3399"/>
                </a:solidFill>
                <a:latin typeface="+mn-ea"/>
                <a:ea typeface="+mn-ea"/>
              </a:rPr>
              <a:t>主要内容：</a:t>
            </a:r>
            <a:r>
              <a:rPr lang="en-US" altLang="zh-CN" sz="2000" b="1" dirty="0">
                <a:latin typeface="+mn-ea"/>
              </a:rPr>
              <a:t>I/O</a:t>
            </a:r>
            <a:r>
              <a:rPr lang="zh-CN" altLang="en-US" sz="2000" b="1" dirty="0">
                <a:latin typeface="+mn-ea"/>
              </a:rPr>
              <a:t>接口的功能、组成及工作原理、访问方法</a:t>
            </a:r>
            <a:endParaRPr lang="en-US" altLang="zh-CN" sz="2000" b="1" dirty="0">
              <a:latin typeface="+mn-ea"/>
              <a:ea typeface="+mn-ea"/>
            </a:endParaRPr>
          </a:p>
        </p:txBody>
      </p:sp>
      <p:grpSp>
        <p:nvGrpSpPr>
          <p:cNvPr id="43" name="组合 42"/>
          <p:cNvGrpSpPr/>
          <p:nvPr/>
        </p:nvGrpSpPr>
        <p:grpSpPr>
          <a:xfrm>
            <a:off x="1080192" y="2170792"/>
            <a:ext cx="5220000" cy="865596"/>
            <a:chOff x="864000" y="2358614"/>
            <a:chExt cx="5220000" cy="865596"/>
          </a:xfrm>
        </p:grpSpPr>
        <p:sp>
          <p:nvSpPr>
            <p:cNvPr id="44" name="Rectangle 8"/>
            <p:cNvSpPr>
              <a:spLocks noChangeArrowheads="1"/>
            </p:cNvSpPr>
            <p:nvPr/>
          </p:nvSpPr>
          <p:spPr bwMode="auto">
            <a:xfrm>
              <a:off x="864000" y="2432210"/>
              <a:ext cx="1044000" cy="7920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" name="Rectangle 9"/>
            <p:cNvSpPr>
              <a:spLocks noChangeArrowheads="1"/>
            </p:cNvSpPr>
            <p:nvPr/>
          </p:nvSpPr>
          <p:spPr bwMode="auto">
            <a:xfrm>
              <a:off x="3420000" y="2430622"/>
              <a:ext cx="1152000" cy="7920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" name="Text Box 10"/>
            <p:cNvSpPr txBox="1">
              <a:spLocks noChangeArrowheads="1"/>
            </p:cNvSpPr>
            <p:nvPr/>
          </p:nvSpPr>
          <p:spPr bwMode="auto">
            <a:xfrm>
              <a:off x="936000" y="2503646"/>
              <a:ext cx="252000" cy="648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vert="eaVert"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dirty="0">
                  <a:latin typeface="+mn-ea"/>
                  <a:ea typeface="+mn-ea"/>
                </a:rPr>
                <a:t>ALU</a:t>
              </a:r>
            </a:p>
          </p:txBody>
        </p:sp>
        <p:sp>
          <p:nvSpPr>
            <p:cNvPr id="47" name="Text Box 14"/>
            <p:cNvSpPr txBox="1">
              <a:spLocks noChangeArrowheads="1"/>
            </p:cNvSpPr>
            <p:nvPr/>
          </p:nvSpPr>
          <p:spPr bwMode="auto">
            <a:xfrm>
              <a:off x="1258812" y="2898614"/>
              <a:ext cx="576262" cy="25200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>
                  <a:latin typeface="+mn-ea"/>
                  <a:ea typeface="+mn-ea"/>
                </a:rPr>
                <a:t>CU</a:t>
              </a:r>
            </a:p>
          </p:txBody>
        </p:sp>
        <p:sp>
          <p:nvSpPr>
            <p:cNvPr id="48" name="Text Box 15"/>
            <p:cNvSpPr txBox="1">
              <a:spLocks noChangeArrowheads="1"/>
            </p:cNvSpPr>
            <p:nvPr/>
          </p:nvSpPr>
          <p:spPr bwMode="auto">
            <a:xfrm>
              <a:off x="1258812" y="2503647"/>
              <a:ext cx="576262" cy="252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dirty="0">
                  <a:latin typeface="+mn-ea"/>
                  <a:ea typeface="+mn-ea"/>
                </a:rPr>
                <a:t>BIU</a:t>
              </a:r>
            </a:p>
          </p:txBody>
        </p:sp>
        <p:sp>
          <p:nvSpPr>
            <p:cNvPr id="49" name="Rectangle 16"/>
            <p:cNvSpPr>
              <a:spLocks noChangeArrowheads="1"/>
            </p:cNvSpPr>
            <p:nvPr/>
          </p:nvSpPr>
          <p:spPr bwMode="auto">
            <a:xfrm>
              <a:off x="1979712" y="2432210"/>
              <a:ext cx="1368000" cy="7920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" name="Text Box 18"/>
            <p:cNvSpPr txBox="1">
              <a:spLocks noChangeArrowheads="1"/>
            </p:cNvSpPr>
            <p:nvPr/>
          </p:nvSpPr>
          <p:spPr bwMode="auto">
            <a:xfrm>
              <a:off x="3492000" y="2898614"/>
              <a:ext cx="1008000" cy="2520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800" b="1" dirty="0">
                  <a:latin typeface="+mn-ea"/>
                  <a:ea typeface="+mn-ea"/>
                </a:rPr>
                <a:t>外设</a:t>
              </a:r>
              <a:r>
                <a:rPr lang="en-US" altLang="zh-CN" sz="1800" b="1" dirty="0">
                  <a:latin typeface="+mn-ea"/>
                  <a:ea typeface="+mn-ea"/>
                </a:rPr>
                <a:t>1</a:t>
              </a:r>
              <a:endParaRPr lang="zh-CN" altLang="en-US" sz="1800" b="1" dirty="0">
                <a:latin typeface="+mn-ea"/>
                <a:ea typeface="+mn-ea"/>
              </a:endParaRPr>
            </a:p>
          </p:txBody>
        </p:sp>
        <p:sp>
          <p:nvSpPr>
            <p:cNvPr id="51" name="Text Box 20"/>
            <p:cNvSpPr txBox="1">
              <a:spLocks noChangeArrowheads="1"/>
            </p:cNvSpPr>
            <p:nvPr/>
          </p:nvSpPr>
          <p:spPr bwMode="auto">
            <a:xfrm>
              <a:off x="3492000" y="2503647"/>
              <a:ext cx="1008000" cy="252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dirty="0">
                  <a:latin typeface="+mn-ea"/>
                  <a:ea typeface="+mn-ea"/>
                </a:rPr>
                <a:t>I/O</a:t>
              </a:r>
              <a:r>
                <a:rPr lang="zh-CN" altLang="en-US" sz="1800" b="1" dirty="0">
                  <a:latin typeface="+mn-ea"/>
                  <a:ea typeface="+mn-ea"/>
                </a:rPr>
                <a:t>接口</a:t>
              </a:r>
              <a:r>
                <a:rPr lang="en-US" altLang="zh-CN" sz="1800" b="1" dirty="0">
                  <a:latin typeface="+mn-ea"/>
                  <a:ea typeface="+mn-ea"/>
                </a:rPr>
                <a:t>1</a:t>
              </a:r>
              <a:endParaRPr lang="zh-CN" altLang="en-US" sz="1800" b="1" dirty="0">
                <a:latin typeface="+mn-ea"/>
                <a:ea typeface="+mn-ea"/>
              </a:endParaRPr>
            </a:p>
          </p:txBody>
        </p:sp>
        <p:sp>
          <p:nvSpPr>
            <p:cNvPr id="52" name="Text Box 21"/>
            <p:cNvSpPr txBox="1">
              <a:spLocks noChangeArrowheads="1"/>
            </p:cNvSpPr>
            <p:nvPr/>
          </p:nvSpPr>
          <p:spPr bwMode="auto">
            <a:xfrm>
              <a:off x="2051149" y="2503647"/>
              <a:ext cx="1224000" cy="252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zh-CN" altLang="en-US" sz="1800" b="1" dirty="0"/>
                <a:t>主存控制器</a:t>
              </a:r>
            </a:p>
          </p:txBody>
        </p:sp>
        <p:sp>
          <p:nvSpPr>
            <p:cNvPr id="53" name="Text Box 22"/>
            <p:cNvSpPr txBox="1">
              <a:spLocks noChangeArrowheads="1"/>
            </p:cNvSpPr>
            <p:nvPr/>
          </p:nvSpPr>
          <p:spPr bwMode="auto">
            <a:xfrm>
              <a:off x="2051149" y="2898614"/>
              <a:ext cx="1224000" cy="25200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800" b="1" dirty="0"/>
                <a:t>内存条</a:t>
              </a:r>
            </a:p>
          </p:txBody>
        </p:sp>
        <p:cxnSp>
          <p:nvCxnSpPr>
            <p:cNvPr id="54" name="直接连接符 53"/>
            <p:cNvCxnSpPr/>
            <p:nvPr/>
          </p:nvCxnSpPr>
          <p:spPr bwMode="auto">
            <a:xfrm>
              <a:off x="864000" y="2358614"/>
              <a:ext cx="5220000" cy="0"/>
            </a:xfrm>
            <a:prstGeom prst="line">
              <a:avLst/>
            </a:prstGeom>
            <a:noFill/>
            <a:ln w="28575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1" name="直接连接符 80"/>
            <p:cNvCxnSpPr>
              <a:cxnSpLocks/>
            </p:cNvCxnSpPr>
            <p:nvPr/>
          </p:nvCxnSpPr>
          <p:spPr bwMode="auto">
            <a:xfrm flipH="1">
              <a:off x="1547304" y="2358614"/>
              <a:ext cx="0" cy="144000"/>
            </a:xfrm>
            <a:prstGeom prst="line">
              <a:avLst/>
            </a:prstGeom>
            <a:noFill/>
            <a:ln w="28575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3" name="直接连接符 82"/>
            <p:cNvCxnSpPr/>
            <p:nvPr/>
          </p:nvCxnSpPr>
          <p:spPr bwMode="auto">
            <a:xfrm flipH="1">
              <a:off x="1547266" y="2754614"/>
              <a:ext cx="0" cy="144711"/>
            </a:xfrm>
            <a:prstGeom prst="line">
              <a:avLst/>
            </a:prstGeom>
            <a:noFill/>
            <a:ln w="222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4" name="直接连接符 83"/>
            <p:cNvCxnSpPr>
              <a:cxnSpLocks/>
            </p:cNvCxnSpPr>
            <p:nvPr/>
          </p:nvCxnSpPr>
          <p:spPr bwMode="auto">
            <a:xfrm flipH="1">
              <a:off x="1188000" y="2826614"/>
              <a:ext cx="360000" cy="0"/>
            </a:xfrm>
            <a:prstGeom prst="line">
              <a:avLst/>
            </a:prstGeom>
            <a:noFill/>
            <a:ln w="2222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 w="med" len="med"/>
            </a:ln>
            <a:effectLst/>
          </p:spPr>
        </p:cxnSp>
        <p:cxnSp>
          <p:nvCxnSpPr>
            <p:cNvPr id="85" name="直接连接符 84"/>
            <p:cNvCxnSpPr>
              <a:cxnSpLocks/>
            </p:cNvCxnSpPr>
            <p:nvPr/>
          </p:nvCxnSpPr>
          <p:spPr bwMode="auto">
            <a:xfrm>
              <a:off x="2700000" y="2358614"/>
              <a:ext cx="0" cy="144000"/>
            </a:xfrm>
            <a:prstGeom prst="line">
              <a:avLst/>
            </a:prstGeom>
            <a:noFill/>
            <a:ln w="28575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6" name="直接连接符 85"/>
            <p:cNvCxnSpPr>
              <a:cxnSpLocks/>
            </p:cNvCxnSpPr>
            <p:nvPr/>
          </p:nvCxnSpPr>
          <p:spPr bwMode="auto">
            <a:xfrm>
              <a:off x="2699792" y="2755647"/>
              <a:ext cx="0" cy="144000"/>
            </a:xfrm>
            <a:prstGeom prst="line">
              <a:avLst/>
            </a:prstGeom>
            <a:noFill/>
            <a:ln w="222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7" name="直接连接符 86"/>
            <p:cNvCxnSpPr>
              <a:cxnSpLocks/>
            </p:cNvCxnSpPr>
            <p:nvPr/>
          </p:nvCxnSpPr>
          <p:spPr bwMode="auto">
            <a:xfrm>
              <a:off x="3996000" y="2358614"/>
              <a:ext cx="0" cy="144000"/>
            </a:xfrm>
            <a:prstGeom prst="line">
              <a:avLst/>
            </a:prstGeom>
            <a:noFill/>
            <a:ln w="28575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8" name="直接连接符 87"/>
            <p:cNvCxnSpPr/>
            <p:nvPr/>
          </p:nvCxnSpPr>
          <p:spPr bwMode="auto">
            <a:xfrm>
              <a:off x="4104000" y="2754614"/>
              <a:ext cx="0" cy="143693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89" name="Text Box 13"/>
            <p:cNvSpPr txBox="1">
              <a:spLocks noChangeArrowheads="1"/>
            </p:cNvSpPr>
            <p:nvPr/>
          </p:nvSpPr>
          <p:spPr bwMode="auto">
            <a:xfrm>
              <a:off x="4608000" y="2610614"/>
              <a:ext cx="288000" cy="288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algn="ctr">
                <a:lnSpc>
                  <a:spcPct val="100000"/>
                </a:lnSpc>
              </a:pPr>
              <a:r>
                <a:rPr lang="en-US" altLang="zh-CN" sz="1800" b="1" dirty="0">
                  <a:latin typeface="+mn-ea"/>
                  <a:ea typeface="+mn-ea"/>
                </a:rPr>
                <a:t>…</a:t>
              </a:r>
            </a:p>
          </p:txBody>
        </p:sp>
        <p:cxnSp>
          <p:nvCxnSpPr>
            <p:cNvPr id="90" name="直接连接符 89"/>
            <p:cNvCxnSpPr/>
            <p:nvPr/>
          </p:nvCxnSpPr>
          <p:spPr bwMode="auto">
            <a:xfrm>
              <a:off x="3924000" y="2754614"/>
              <a:ext cx="0" cy="143693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91" name="Rectangle 9"/>
            <p:cNvSpPr>
              <a:spLocks noChangeArrowheads="1"/>
            </p:cNvSpPr>
            <p:nvPr/>
          </p:nvSpPr>
          <p:spPr bwMode="auto">
            <a:xfrm>
              <a:off x="4932000" y="2430614"/>
              <a:ext cx="1152000" cy="7920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" name="Text Box 18"/>
            <p:cNvSpPr txBox="1">
              <a:spLocks noChangeArrowheads="1"/>
            </p:cNvSpPr>
            <p:nvPr/>
          </p:nvSpPr>
          <p:spPr bwMode="auto">
            <a:xfrm>
              <a:off x="5004000" y="2898614"/>
              <a:ext cx="1008000" cy="2520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800" b="1" dirty="0">
                  <a:latin typeface="+mn-ea"/>
                  <a:ea typeface="+mn-ea"/>
                </a:rPr>
                <a:t>外设</a:t>
              </a:r>
              <a:r>
                <a:rPr lang="en-US" altLang="zh-CN" sz="1800" b="1" dirty="0">
                  <a:latin typeface="+mn-ea"/>
                  <a:ea typeface="+mn-ea"/>
                </a:rPr>
                <a:t>n</a:t>
              </a:r>
              <a:endParaRPr lang="zh-CN" altLang="en-US" sz="1800" b="1" dirty="0">
                <a:latin typeface="+mn-ea"/>
                <a:ea typeface="+mn-ea"/>
              </a:endParaRPr>
            </a:p>
          </p:txBody>
        </p:sp>
        <p:sp>
          <p:nvSpPr>
            <p:cNvPr id="93" name="Text Box 20"/>
            <p:cNvSpPr txBox="1">
              <a:spLocks noChangeArrowheads="1"/>
            </p:cNvSpPr>
            <p:nvPr/>
          </p:nvSpPr>
          <p:spPr bwMode="auto">
            <a:xfrm>
              <a:off x="5004000" y="2502614"/>
              <a:ext cx="1008000" cy="252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latin typeface="+mn-ea"/>
                  <a:ea typeface="+mn-ea"/>
                </a:rPr>
                <a:t>I/O</a:t>
              </a:r>
              <a:r>
                <a:rPr lang="zh-CN" altLang="en-US" sz="1800" b="1" dirty="0">
                  <a:latin typeface="+mn-ea"/>
                  <a:ea typeface="+mn-ea"/>
                </a:rPr>
                <a:t>接口</a:t>
              </a:r>
              <a:r>
                <a:rPr lang="en-US" altLang="zh-CN" sz="1800" b="1" dirty="0">
                  <a:latin typeface="+mn-ea"/>
                  <a:ea typeface="+mn-ea"/>
                </a:rPr>
                <a:t>n</a:t>
              </a:r>
              <a:endParaRPr lang="zh-CN" altLang="en-US" sz="1800" b="1" dirty="0">
                <a:latin typeface="+mn-ea"/>
                <a:ea typeface="+mn-ea"/>
              </a:endParaRPr>
            </a:p>
          </p:txBody>
        </p:sp>
        <p:cxnSp>
          <p:nvCxnSpPr>
            <p:cNvPr id="94" name="直接连接符 93"/>
            <p:cNvCxnSpPr>
              <a:cxnSpLocks/>
            </p:cNvCxnSpPr>
            <p:nvPr/>
          </p:nvCxnSpPr>
          <p:spPr bwMode="auto">
            <a:xfrm>
              <a:off x="5508000" y="2358614"/>
              <a:ext cx="0" cy="144000"/>
            </a:xfrm>
            <a:prstGeom prst="line">
              <a:avLst/>
            </a:prstGeom>
            <a:noFill/>
            <a:ln w="28575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5" name="直接连接符 94"/>
            <p:cNvCxnSpPr/>
            <p:nvPr/>
          </p:nvCxnSpPr>
          <p:spPr bwMode="auto">
            <a:xfrm>
              <a:off x="5508000" y="2754614"/>
              <a:ext cx="0" cy="143693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37" name="线形标注 2 67">
            <a:extLst>
              <a:ext uri="{FF2B5EF4-FFF2-40B4-BE49-F238E27FC236}">
                <a16:creationId xmlns:a16="http://schemas.microsoft.com/office/drawing/2014/main" id="{331CC19E-9793-4278-B00D-AD7AE13AC4BC}"/>
              </a:ext>
            </a:extLst>
          </p:cNvPr>
          <p:cNvSpPr/>
          <p:nvPr/>
        </p:nvSpPr>
        <p:spPr bwMode="auto">
          <a:xfrm>
            <a:off x="7164288" y="3645024"/>
            <a:ext cx="1188000" cy="252000"/>
          </a:xfrm>
          <a:prstGeom prst="borderCallout2">
            <a:avLst>
              <a:gd name="adj1" fmla="val 48951"/>
              <a:gd name="adj2" fmla="val -598"/>
              <a:gd name="adj3" fmla="val 47046"/>
              <a:gd name="adj4" fmla="val -16555"/>
              <a:gd name="adj5" fmla="val 151235"/>
              <a:gd name="adj6" fmla="val -35828"/>
            </a:avLst>
          </a:prstGeom>
          <a:noFill/>
          <a:ln w="12700" cap="flat" cmpd="sng" algn="ctr">
            <a:solidFill>
              <a:srgbClr val="0070C0"/>
            </a:solidFill>
            <a:prstDash val="sysDash"/>
            <a:round/>
            <a:headEnd type="none" w="med" len="med"/>
            <a:tailEnd type="arrow" w="med" len="med"/>
          </a:ln>
          <a:effectLst/>
        </p:spPr>
        <p:txBody>
          <a:bodyPr vert="horz" wrap="square" lIns="36000" tIns="18000" rIns="36000" bIns="18000" numCol="1" rtlCol="0" anchor="ctr" anchorCtr="0" compatLnSpc="1"/>
          <a:lstStyle/>
          <a:p>
            <a:pPr algn="ctr">
              <a:lnSpc>
                <a:spcPct val="105000"/>
              </a:lnSpc>
            </a:pPr>
            <a:r>
              <a:rPr lang="zh-CN" altLang="en-US" sz="1600" b="1" dirty="0">
                <a:latin typeface="+mn-lt"/>
                <a:ea typeface="+mn-ea"/>
              </a:rPr>
              <a:t>外设就绪时</a:t>
            </a:r>
          </a:p>
        </p:txBody>
      </p:sp>
      <p:sp>
        <p:nvSpPr>
          <p:cNvPr id="38" name="线形标注 2 67">
            <a:extLst>
              <a:ext uri="{FF2B5EF4-FFF2-40B4-BE49-F238E27FC236}">
                <a16:creationId xmlns:a16="http://schemas.microsoft.com/office/drawing/2014/main" id="{C3F2F004-3E0B-46C6-82D3-E13B0A9A2BA3}"/>
              </a:ext>
            </a:extLst>
          </p:cNvPr>
          <p:cNvSpPr/>
          <p:nvPr/>
        </p:nvSpPr>
        <p:spPr bwMode="auto">
          <a:xfrm>
            <a:off x="3563888" y="6381328"/>
            <a:ext cx="1188000" cy="252000"/>
          </a:xfrm>
          <a:prstGeom prst="borderCallout2">
            <a:avLst>
              <a:gd name="adj1" fmla="val 48951"/>
              <a:gd name="adj2" fmla="val -598"/>
              <a:gd name="adj3" fmla="val 47046"/>
              <a:gd name="adj4" fmla="val -16555"/>
              <a:gd name="adj5" fmla="val -22571"/>
              <a:gd name="adj6" fmla="val -28066"/>
            </a:avLst>
          </a:prstGeom>
          <a:noFill/>
          <a:ln w="12700" cap="flat" cmpd="sng" algn="ctr">
            <a:solidFill>
              <a:srgbClr val="0070C0"/>
            </a:solidFill>
            <a:prstDash val="sysDash"/>
            <a:round/>
            <a:headEnd type="none" w="med" len="med"/>
            <a:tailEnd type="arrow" w="med" len="med"/>
          </a:ln>
          <a:effectLst/>
        </p:spPr>
        <p:txBody>
          <a:bodyPr vert="horz" wrap="square" lIns="36000" tIns="18000" rIns="36000" bIns="18000" numCol="1" rtlCol="0" anchor="ctr" anchorCtr="0" compatLnSpc="1"/>
          <a:lstStyle/>
          <a:p>
            <a:pPr algn="ctr">
              <a:lnSpc>
                <a:spcPct val="105000"/>
              </a:lnSpc>
            </a:pPr>
            <a:r>
              <a:rPr lang="zh-CN" altLang="en-US" sz="1600" b="1" dirty="0">
                <a:latin typeface="+mn-lt"/>
                <a:ea typeface="+mn-ea"/>
              </a:rPr>
              <a:t>软件可访问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4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14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3" presetClass="entr" presetSubtype="1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8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148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10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1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1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10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10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10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3" dur="500"/>
                                        <p:tgtEl>
                                          <p:spTgt spid="10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8" dur="500"/>
                                        <p:tgtEl>
                                          <p:spTgt spid="10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3" dur="500"/>
                                        <p:tgtEl>
                                          <p:spTgt spid="10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500"/>
                            </p:stCondLst>
                            <p:childTnLst>
                              <p:par>
                                <p:cTn id="8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4696" grpId="0" bldLvl="0" animBg="1"/>
      <p:bldP spid="37" grpId="0" animBg="1"/>
      <p:bldP spid="38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117" name="Text Box 5"/>
          <p:cNvSpPr txBox="1">
            <a:spLocks noChangeArrowheads="1"/>
          </p:cNvSpPr>
          <p:nvPr/>
        </p:nvSpPr>
        <p:spPr bwMode="auto">
          <a:xfrm>
            <a:off x="179388" y="764704"/>
            <a:ext cx="8137028" cy="3496663"/>
          </a:xfrm>
          <a:prstGeom prst="rect">
            <a:avLst/>
          </a:prstGeom>
          <a:noFill/>
          <a:ln w="38100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(1)I/O</a:t>
            </a:r>
            <a:r>
              <a:rPr lang="zh-CN" altLang="en-US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接口的组成</a:t>
            </a:r>
          </a:p>
          <a:p>
            <a:pPr algn="l">
              <a:lnSpc>
                <a:spcPct val="125000"/>
              </a:lnSpc>
            </a:pPr>
            <a:r>
              <a:rPr lang="zh-CN" altLang="en-US" sz="2200" b="1" dirty="0">
                <a:solidFill>
                  <a:srgbClr val="CC33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*基本组成：</a:t>
            </a:r>
            <a:r>
              <a:rPr lang="zh-CN" altLang="en-US" sz="2200" b="1" dirty="0">
                <a:latin typeface="宋体" panose="02010600030101010101" pitchFamily="2" charset="-122"/>
              </a:rPr>
              <a:t>总线缓冲器、</a:t>
            </a:r>
            <a:r>
              <a:rPr lang="en-US" altLang="zh-CN" sz="2200" b="1" spc="-100" dirty="0">
                <a:latin typeface="宋体" panose="02010600030101010101" pitchFamily="2" charset="-122"/>
              </a:rPr>
              <a:t>I/O</a:t>
            </a:r>
            <a:r>
              <a:rPr lang="zh-CN" altLang="en-US" sz="2200" b="1" spc="-100" dirty="0">
                <a:latin typeface="宋体" panose="02010600030101010101" pitchFamily="2" charset="-122"/>
              </a:rPr>
              <a:t>端口、设备选择、</a:t>
            </a:r>
            <a:r>
              <a:rPr lang="zh-CN" altLang="en-US" sz="2200" b="1" spc="-100" dirty="0"/>
              <a:t>控制逻辑等</a:t>
            </a:r>
            <a:endParaRPr lang="en-US" altLang="zh-CN" sz="2200" b="1" spc="-100" dirty="0"/>
          </a:p>
          <a:p>
            <a:pPr algn="l">
              <a:lnSpc>
                <a:spcPct val="125000"/>
              </a:lnSpc>
            </a:pPr>
            <a:endParaRPr lang="en-US" altLang="zh-CN" sz="2200" b="1" spc="-100" dirty="0">
              <a:latin typeface="+mn-ea"/>
              <a:ea typeface="+mn-ea"/>
            </a:endParaRPr>
          </a:p>
          <a:p>
            <a:pPr algn="l">
              <a:lnSpc>
                <a:spcPct val="125000"/>
              </a:lnSpc>
            </a:pPr>
            <a:endParaRPr lang="en-US" altLang="zh-CN" sz="2200" b="1" spc="-100" dirty="0">
              <a:latin typeface="+mn-ea"/>
              <a:ea typeface="+mn-ea"/>
            </a:endParaRPr>
          </a:p>
          <a:p>
            <a:pPr algn="l">
              <a:lnSpc>
                <a:spcPct val="125000"/>
              </a:lnSpc>
            </a:pPr>
            <a:endParaRPr lang="en-US" altLang="zh-CN" sz="2200" b="1" spc="-100" dirty="0">
              <a:latin typeface="+mn-ea"/>
              <a:ea typeface="+mn-ea"/>
            </a:endParaRPr>
          </a:p>
          <a:p>
            <a:pPr algn="l">
              <a:lnSpc>
                <a:spcPct val="125000"/>
              </a:lnSpc>
            </a:pPr>
            <a:endParaRPr lang="en-US" altLang="zh-CN" sz="2200" b="1" spc="-100" dirty="0">
              <a:latin typeface="+mn-ea"/>
              <a:ea typeface="+mn-ea"/>
            </a:endParaRPr>
          </a:p>
          <a:p>
            <a:pPr algn="l">
              <a:lnSpc>
                <a:spcPct val="125000"/>
              </a:lnSpc>
            </a:pPr>
            <a:endParaRPr lang="en-US" altLang="zh-CN" sz="2200" b="1" spc="-100" dirty="0">
              <a:latin typeface="+mn-ea"/>
              <a:ea typeface="+mn-ea"/>
            </a:endParaRPr>
          </a:p>
          <a:p>
            <a:pPr algn="l">
              <a:lnSpc>
                <a:spcPct val="125000"/>
              </a:lnSpc>
              <a:spcBef>
                <a:spcPts val="700"/>
              </a:spcBef>
            </a:pPr>
            <a:r>
              <a:rPr lang="en-US" altLang="zh-CN" sz="2200" b="1" spc="-100" dirty="0">
                <a:solidFill>
                  <a:srgbClr val="C00000"/>
                </a:solidFill>
                <a:latin typeface="+mn-ea"/>
                <a:ea typeface="+mn-ea"/>
              </a:rPr>
              <a:t> *</a:t>
            </a:r>
            <a:r>
              <a:rPr lang="zh-CN" altLang="en-US" sz="2200" b="1" spc="-100" dirty="0">
                <a:solidFill>
                  <a:srgbClr val="C00000"/>
                </a:solidFill>
                <a:latin typeface="+mn-ea"/>
                <a:ea typeface="+mn-ea"/>
              </a:rPr>
              <a:t>工作原理：</a:t>
            </a:r>
          </a:p>
        </p:txBody>
      </p:sp>
      <p:sp>
        <p:nvSpPr>
          <p:cNvPr id="81" name="Text Box 207"/>
          <p:cNvSpPr txBox="1">
            <a:spLocks noChangeArrowheads="1"/>
          </p:cNvSpPr>
          <p:nvPr/>
        </p:nvSpPr>
        <p:spPr bwMode="auto">
          <a:xfrm>
            <a:off x="180600" y="3790800"/>
            <a:ext cx="6479632" cy="172694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          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--2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段式中转</a:t>
            </a:r>
            <a:endParaRPr lang="zh-CN" altLang="en-US" sz="18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主机</a:t>
            </a:r>
            <a:r>
              <a:rPr 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侧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 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按总线标准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)</a:t>
            </a:r>
            <a:endParaRPr lang="en-US" altLang="zh-CN" sz="2200" b="1" dirty="0">
              <a:latin typeface="宋体" panose="02010600030101010101" pitchFamily="2" charset="-122"/>
              <a:sym typeface="+mn-ea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 algn="l">
              <a:lnSpc>
                <a:spcPct val="125000"/>
              </a:lnSpc>
            </a:pP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外设</a:t>
            </a:r>
            <a:r>
              <a:rPr 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侧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 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按通信协议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)</a:t>
            </a:r>
            <a:endParaRPr lang="zh-CN" altLang="en-US" sz="2200" b="1" dirty="0">
              <a:latin typeface="宋体" panose="02010600030101010101" pitchFamily="2" charset="-122"/>
            </a:endParaRPr>
          </a:p>
        </p:txBody>
      </p:sp>
      <p:sp>
        <p:nvSpPr>
          <p:cNvPr id="346319" name="Text Box 207"/>
          <p:cNvSpPr txBox="1">
            <a:spLocks noChangeArrowheads="1"/>
          </p:cNvSpPr>
          <p:nvPr/>
        </p:nvSpPr>
        <p:spPr bwMode="auto">
          <a:xfrm>
            <a:off x="1088504" y="4653136"/>
            <a:ext cx="7903096" cy="16916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tIns="10800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sz="2200" b="1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有总线操作时，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暂存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命令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/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数据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(Out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时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)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、或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发送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数据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/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状态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(In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时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)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sz="2200" b="1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持续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检测</a:t>
            </a:r>
            <a:r>
              <a:rPr lang="en-US" altLang="zh-CN" sz="2200" b="1" u="sng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&amp;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暂存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外设的状态，</a:t>
            </a:r>
          </a:p>
          <a:p>
            <a:pPr algn="l">
              <a:lnSpc>
                <a:spcPct val="125000"/>
              </a:lnSpc>
            </a:pPr>
            <a:r>
              <a:rPr lang="zh-CN" altLang="en-US" sz="2200" b="1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设备就绪时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转发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命令、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发送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或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接收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数据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连接输出设备或输入设备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)</a:t>
            </a:r>
            <a:endParaRPr lang="zh-CN" altLang="en-US" sz="2200" b="1" dirty="0">
              <a:latin typeface="宋体" panose="02010600030101010101" pitchFamily="2" charset="-122"/>
            </a:endParaRPr>
          </a:p>
        </p:txBody>
      </p:sp>
      <p:sp>
        <p:nvSpPr>
          <p:cNvPr id="97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9E304-526A-46A4-9ED3-4D88CF6665EF}" type="slidenum">
              <a:rPr lang="en-US" altLang="zh-CN"/>
              <a:t>23</a:t>
            </a:fld>
            <a:endParaRPr lang="en-US" altLang="zh-CN"/>
          </a:p>
        </p:txBody>
      </p:sp>
      <p:sp>
        <p:nvSpPr>
          <p:cNvPr id="346116" name="Text Box 4"/>
          <p:cNvSpPr txBox="1">
            <a:spLocks noChangeArrowheads="1"/>
          </p:cNvSpPr>
          <p:nvPr/>
        </p:nvSpPr>
        <p:spPr bwMode="auto">
          <a:xfrm>
            <a:off x="179388" y="332656"/>
            <a:ext cx="8785225" cy="3905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tIns="10795" bIns="10795" anchor="ctr" anchorCtr="0">
            <a:spAutoFit/>
          </a:bodyPr>
          <a:lstStyle>
            <a:defPPr>
              <a:defRPr lang="zh-CN"/>
            </a:defPPr>
            <a:lvl1pPr algn="l">
              <a:defRPr b="1">
                <a:solidFill>
                  <a:srgbClr val="FF3300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1pPr>
          </a:lstStyle>
          <a:p>
            <a:r>
              <a:rPr lang="en-US" altLang="zh-CN" dirty="0">
                <a:solidFill>
                  <a:srgbClr val="FF3399"/>
                </a:solidFill>
                <a:latin typeface="+mn-ea"/>
                <a:ea typeface="+mn-ea"/>
              </a:rPr>
              <a:t>2</a:t>
            </a:r>
            <a:r>
              <a:rPr lang="zh-CN" altLang="en-US" dirty="0">
                <a:solidFill>
                  <a:srgbClr val="FF3399"/>
                </a:solidFill>
                <a:latin typeface="+mn-ea"/>
                <a:ea typeface="+mn-ea"/>
              </a:rPr>
              <a:t>、</a:t>
            </a:r>
            <a:r>
              <a:rPr lang="en-US" altLang="zh-CN" dirty="0">
                <a:solidFill>
                  <a:srgbClr val="FF3399"/>
                </a:solidFill>
                <a:latin typeface="+mn-ea"/>
                <a:ea typeface="+mn-ea"/>
              </a:rPr>
              <a:t>I/O</a:t>
            </a:r>
            <a:r>
              <a:rPr lang="zh-CN" altLang="en-US" dirty="0">
                <a:solidFill>
                  <a:srgbClr val="FF3399"/>
                </a:solidFill>
                <a:latin typeface="+mn-ea"/>
                <a:ea typeface="+mn-ea"/>
              </a:rPr>
              <a:t>接口的组成</a:t>
            </a:r>
          </a:p>
        </p:txBody>
      </p:sp>
      <p:sp>
        <p:nvSpPr>
          <p:cNvPr id="98" name="AutoShape 450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2844502" y="6523557"/>
            <a:ext cx="287338" cy="287338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9" name="AutoShape 186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4068638" y="6523557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95" name="组合 94"/>
          <p:cNvGrpSpPr/>
          <p:nvPr/>
        </p:nvGrpSpPr>
        <p:grpSpPr>
          <a:xfrm>
            <a:off x="2663701" y="1872000"/>
            <a:ext cx="3528169" cy="1620000"/>
            <a:chOff x="2339975" y="2098824"/>
            <a:chExt cx="3528169" cy="1620000"/>
          </a:xfrm>
        </p:grpSpPr>
        <p:cxnSp>
          <p:nvCxnSpPr>
            <p:cNvPr id="103" name="直接箭头连接符 102"/>
            <p:cNvCxnSpPr/>
            <p:nvPr/>
          </p:nvCxnSpPr>
          <p:spPr bwMode="auto">
            <a:xfrm>
              <a:off x="3851920" y="2278824"/>
              <a:ext cx="216471" cy="0"/>
            </a:xfrm>
            <a:prstGeom prst="straightConnector1">
              <a:avLst/>
            </a:prstGeom>
            <a:noFill/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</p:spPr>
        </p:cxnSp>
        <p:cxnSp>
          <p:nvCxnSpPr>
            <p:cNvPr id="104" name="直接箭头连接符 103"/>
            <p:cNvCxnSpPr/>
            <p:nvPr/>
          </p:nvCxnSpPr>
          <p:spPr bwMode="auto">
            <a:xfrm>
              <a:off x="3851920" y="2674824"/>
              <a:ext cx="216024" cy="0"/>
            </a:xfrm>
            <a:prstGeom prst="straightConnector1">
              <a:avLst/>
            </a:prstGeom>
            <a:noFill/>
            <a:ln w="19050" cap="flat" cmpd="sng" algn="ctr">
              <a:solidFill>
                <a:schemeClr val="accent2"/>
              </a:solidFill>
              <a:prstDash val="solid"/>
              <a:round/>
              <a:headEnd type="oval" w="sm" len="sm"/>
              <a:tailEnd type="triangle"/>
            </a:ln>
          </p:spPr>
        </p:cxnSp>
        <p:cxnSp>
          <p:nvCxnSpPr>
            <p:cNvPr id="105" name="直接箭头连接符 104"/>
            <p:cNvCxnSpPr/>
            <p:nvPr/>
          </p:nvCxnSpPr>
          <p:spPr bwMode="auto">
            <a:xfrm flipH="1">
              <a:off x="3851920" y="3068118"/>
              <a:ext cx="216025" cy="0"/>
            </a:xfrm>
            <a:prstGeom prst="straightConnector1">
              <a:avLst/>
            </a:prstGeom>
            <a:noFill/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oval" w="sm" len="sm"/>
            </a:ln>
          </p:spPr>
        </p:cxnSp>
        <p:cxnSp>
          <p:nvCxnSpPr>
            <p:cNvPr id="106" name="直接箭头连接符 105"/>
            <p:cNvCxnSpPr/>
            <p:nvPr/>
          </p:nvCxnSpPr>
          <p:spPr bwMode="auto">
            <a:xfrm flipH="1">
              <a:off x="2339975" y="2278824"/>
              <a:ext cx="1511945" cy="0"/>
            </a:xfrm>
            <a:prstGeom prst="straightConnector1">
              <a:avLst/>
            </a:prstGeom>
            <a:noFill/>
            <a:ln w="19050" cap="flat" cmpd="sng" algn="ctr">
              <a:solidFill>
                <a:schemeClr val="accent2"/>
              </a:solidFill>
              <a:prstDash val="solid"/>
              <a:round/>
              <a:headEnd type="oval" w="sm" len="sm"/>
              <a:tailEnd type="triangle"/>
            </a:ln>
          </p:spPr>
        </p:cxnSp>
        <p:cxnSp>
          <p:nvCxnSpPr>
            <p:cNvPr id="107" name="直接箭头连接符 106"/>
            <p:cNvCxnSpPr/>
            <p:nvPr/>
          </p:nvCxnSpPr>
          <p:spPr bwMode="auto">
            <a:xfrm flipH="1" flipV="1">
              <a:off x="3851027" y="3466824"/>
              <a:ext cx="216917" cy="0"/>
            </a:xfrm>
            <a:prstGeom prst="straightConnector1">
              <a:avLst/>
            </a:prstGeom>
            <a:noFill/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/>
            </a:ln>
          </p:spPr>
        </p:cxnSp>
        <p:cxnSp>
          <p:nvCxnSpPr>
            <p:cNvPr id="108" name="直接箭头连接符 107"/>
            <p:cNvCxnSpPr/>
            <p:nvPr/>
          </p:nvCxnSpPr>
          <p:spPr bwMode="auto">
            <a:xfrm flipH="1">
              <a:off x="3851027" y="2278824"/>
              <a:ext cx="893" cy="1188000"/>
            </a:xfrm>
            <a:prstGeom prst="straightConnector1">
              <a:avLst/>
            </a:prstGeom>
            <a:noFill/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/>
            </a:ln>
          </p:spPr>
        </p:cxnSp>
        <p:cxnSp>
          <p:nvCxnSpPr>
            <p:cNvPr id="109" name="直接箭头连接符 108"/>
            <p:cNvCxnSpPr/>
            <p:nvPr/>
          </p:nvCxnSpPr>
          <p:spPr bwMode="auto">
            <a:xfrm flipV="1">
              <a:off x="5508104" y="2348186"/>
              <a:ext cx="0" cy="144462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sm"/>
            </a:ln>
          </p:spPr>
        </p:cxnSp>
        <p:cxnSp>
          <p:nvCxnSpPr>
            <p:cNvPr id="110" name="直接箭头连接符 109"/>
            <p:cNvCxnSpPr/>
            <p:nvPr/>
          </p:nvCxnSpPr>
          <p:spPr bwMode="auto">
            <a:xfrm flipV="1">
              <a:off x="5220072" y="2746824"/>
              <a:ext cx="0" cy="144462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sm"/>
            </a:ln>
          </p:spPr>
        </p:cxnSp>
        <p:cxnSp>
          <p:nvCxnSpPr>
            <p:cNvPr id="111" name="直接箭头连接符 110"/>
            <p:cNvCxnSpPr/>
            <p:nvPr/>
          </p:nvCxnSpPr>
          <p:spPr bwMode="auto">
            <a:xfrm flipV="1">
              <a:off x="4932040" y="3142824"/>
              <a:ext cx="0" cy="144462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sm"/>
            </a:ln>
          </p:spPr>
        </p:cxnSp>
        <p:cxnSp>
          <p:nvCxnSpPr>
            <p:cNvPr id="112" name="直接箭头连接符 111"/>
            <p:cNvCxnSpPr/>
            <p:nvPr/>
          </p:nvCxnSpPr>
          <p:spPr bwMode="auto">
            <a:xfrm flipV="1">
              <a:off x="4644008" y="3538824"/>
              <a:ext cx="0" cy="18000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sm"/>
            </a:ln>
          </p:spPr>
        </p:cxnSp>
        <p:cxnSp>
          <p:nvCxnSpPr>
            <p:cNvPr id="113" name="直接箭头连接符 112"/>
            <p:cNvCxnSpPr/>
            <p:nvPr/>
          </p:nvCxnSpPr>
          <p:spPr bwMode="auto">
            <a:xfrm flipV="1">
              <a:off x="5508104" y="2746824"/>
              <a:ext cx="0" cy="144462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sm"/>
            </a:ln>
          </p:spPr>
        </p:cxnSp>
        <p:cxnSp>
          <p:nvCxnSpPr>
            <p:cNvPr id="114" name="直接箭头连接符 113"/>
            <p:cNvCxnSpPr/>
            <p:nvPr/>
          </p:nvCxnSpPr>
          <p:spPr bwMode="auto">
            <a:xfrm flipV="1">
              <a:off x="5508104" y="3142824"/>
              <a:ext cx="0" cy="144462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sm"/>
            </a:ln>
          </p:spPr>
        </p:cxnSp>
        <p:cxnSp>
          <p:nvCxnSpPr>
            <p:cNvPr id="115" name="直接箭头连接符 114"/>
            <p:cNvCxnSpPr/>
            <p:nvPr/>
          </p:nvCxnSpPr>
          <p:spPr bwMode="auto">
            <a:xfrm flipV="1">
              <a:off x="5220072" y="3142824"/>
              <a:ext cx="0" cy="144462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sm"/>
            </a:ln>
          </p:spPr>
        </p:cxnSp>
        <p:cxnSp>
          <p:nvCxnSpPr>
            <p:cNvPr id="116" name="直接箭头连接符 115"/>
            <p:cNvCxnSpPr/>
            <p:nvPr/>
          </p:nvCxnSpPr>
          <p:spPr bwMode="auto">
            <a:xfrm flipV="1">
              <a:off x="5508104" y="3538824"/>
              <a:ext cx="0" cy="18000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sm"/>
            </a:ln>
          </p:spPr>
        </p:cxnSp>
        <p:cxnSp>
          <p:nvCxnSpPr>
            <p:cNvPr id="117" name="直接箭头连接符 116"/>
            <p:cNvCxnSpPr/>
            <p:nvPr/>
          </p:nvCxnSpPr>
          <p:spPr bwMode="auto">
            <a:xfrm flipV="1">
              <a:off x="5220072" y="3538824"/>
              <a:ext cx="0" cy="18000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sm"/>
            </a:ln>
          </p:spPr>
        </p:cxnSp>
        <p:cxnSp>
          <p:nvCxnSpPr>
            <p:cNvPr id="118" name="直接箭头连接符 117"/>
            <p:cNvCxnSpPr/>
            <p:nvPr/>
          </p:nvCxnSpPr>
          <p:spPr bwMode="auto">
            <a:xfrm flipV="1">
              <a:off x="4932040" y="3538824"/>
              <a:ext cx="0" cy="18000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sm"/>
            </a:ln>
          </p:spPr>
        </p:cxnSp>
        <p:sp>
          <p:nvSpPr>
            <p:cNvPr id="96" name="Text Box 517"/>
            <p:cNvSpPr txBox="1">
              <a:spLocks noChangeArrowheads="1"/>
            </p:cNvSpPr>
            <p:nvPr/>
          </p:nvSpPr>
          <p:spPr bwMode="auto">
            <a:xfrm>
              <a:off x="4068391" y="2494824"/>
              <a:ext cx="1799753" cy="252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数据输出寄存器</a:t>
              </a:r>
            </a:p>
          </p:txBody>
        </p:sp>
        <p:sp>
          <p:nvSpPr>
            <p:cNvPr id="100" name="Text Box 518"/>
            <p:cNvSpPr txBox="1">
              <a:spLocks noChangeArrowheads="1"/>
            </p:cNvSpPr>
            <p:nvPr/>
          </p:nvSpPr>
          <p:spPr bwMode="auto">
            <a:xfrm>
              <a:off x="4068391" y="3286824"/>
              <a:ext cx="1799753" cy="252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状态寄存器</a:t>
              </a:r>
            </a:p>
          </p:txBody>
        </p:sp>
        <p:sp>
          <p:nvSpPr>
            <p:cNvPr id="101" name="Text Box 519"/>
            <p:cNvSpPr txBox="1">
              <a:spLocks noChangeArrowheads="1"/>
            </p:cNvSpPr>
            <p:nvPr/>
          </p:nvSpPr>
          <p:spPr bwMode="auto">
            <a:xfrm>
              <a:off x="4068391" y="2890824"/>
              <a:ext cx="1799753" cy="252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数据输入寄存器</a:t>
              </a:r>
            </a:p>
          </p:txBody>
        </p:sp>
        <p:sp>
          <p:nvSpPr>
            <p:cNvPr id="102" name="Text Box 520"/>
            <p:cNvSpPr txBox="1">
              <a:spLocks noChangeArrowheads="1"/>
            </p:cNvSpPr>
            <p:nvPr/>
          </p:nvSpPr>
          <p:spPr bwMode="auto">
            <a:xfrm>
              <a:off x="4068391" y="2098824"/>
              <a:ext cx="1799753" cy="252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控制寄存器</a:t>
              </a:r>
            </a:p>
          </p:txBody>
        </p:sp>
      </p:grpSp>
      <p:grpSp>
        <p:nvGrpSpPr>
          <p:cNvPr id="119" name="组合 118"/>
          <p:cNvGrpSpPr/>
          <p:nvPr/>
        </p:nvGrpSpPr>
        <p:grpSpPr>
          <a:xfrm>
            <a:off x="2556000" y="1943999"/>
            <a:ext cx="1836117" cy="1368001"/>
            <a:chOff x="2232274" y="2160023"/>
            <a:chExt cx="1836117" cy="1368001"/>
          </a:xfrm>
        </p:grpSpPr>
        <p:sp>
          <p:nvSpPr>
            <p:cNvPr id="120" name="Text Box 547"/>
            <p:cNvSpPr txBox="1">
              <a:spLocks noChangeArrowheads="1"/>
            </p:cNvSpPr>
            <p:nvPr/>
          </p:nvSpPr>
          <p:spPr bwMode="auto">
            <a:xfrm>
              <a:off x="2232274" y="2736024"/>
              <a:ext cx="1044000" cy="288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控制逻辑</a:t>
              </a:r>
            </a:p>
          </p:txBody>
        </p:sp>
        <p:cxnSp>
          <p:nvCxnSpPr>
            <p:cNvPr id="121" name="直接箭头连接符 120"/>
            <p:cNvCxnSpPr/>
            <p:nvPr/>
          </p:nvCxnSpPr>
          <p:spPr bwMode="auto">
            <a:xfrm>
              <a:off x="3563888" y="3204024"/>
              <a:ext cx="0" cy="32400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oval" w="sm" len="sm"/>
            </a:ln>
          </p:spPr>
        </p:cxnSp>
        <p:cxnSp>
          <p:nvCxnSpPr>
            <p:cNvPr id="122" name="直接箭头连接符 121"/>
            <p:cNvCxnSpPr>
              <a:cxnSpLocks/>
            </p:cNvCxnSpPr>
            <p:nvPr/>
          </p:nvCxnSpPr>
          <p:spPr bwMode="auto">
            <a:xfrm flipV="1">
              <a:off x="2772274" y="3024024"/>
              <a:ext cx="0" cy="18000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23" name="直接箭头连接符 122"/>
            <p:cNvCxnSpPr/>
            <p:nvPr/>
          </p:nvCxnSpPr>
          <p:spPr bwMode="auto">
            <a:xfrm>
              <a:off x="2772274" y="3204024"/>
              <a:ext cx="792000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sm"/>
            </a:ln>
          </p:spPr>
        </p:cxnSp>
        <p:cxnSp>
          <p:nvCxnSpPr>
            <p:cNvPr id="124" name="直接箭头连接符 123"/>
            <p:cNvCxnSpPr/>
            <p:nvPr/>
          </p:nvCxnSpPr>
          <p:spPr bwMode="auto">
            <a:xfrm>
              <a:off x="3708400" y="3348023"/>
              <a:ext cx="359991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sm"/>
            </a:ln>
          </p:spPr>
        </p:cxnSp>
        <p:cxnSp>
          <p:nvCxnSpPr>
            <p:cNvPr id="125" name="直接箭头连接符 124"/>
            <p:cNvCxnSpPr/>
            <p:nvPr/>
          </p:nvCxnSpPr>
          <p:spPr bwMode="auto">
            <a:xfrm>
              <a:off x="3707904" y="2952023"/>
              <a:ext cx="359991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oval" w="sm" len="sm"/>
              <a:tailEnd type="triangle" w="med" len="sm"/>
            </a:ln>
          </p:spPr>
        </p:cxnSp>
        <p:cxnSp>
          <p:nvCxnSpPr>
            <p:cNvPr id="126" name="直接箭头连接符 125"/>
            <p:cNvCxnSpPr/>
            <p:nvPr/>
          </p:nvCxnSpPr>
          <p:spPr bwMode="auto">
            <a:xfrm>
              <a:off x="3707904" y="2556024"/>
              <a:ext cx="359991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oval" w="sm" len="sm"/>
              <a:tailEnd type="triangle" w="med" len="sm"/>
            </a:ln>
          </p:spPr>
        </p:cxnSp>
        <p:cxnSp>
          <p:nvCxnSpPr>
            <p:cNvPr id="127" name="直接箭头连接符 126"/>
            <p:cNvCxnSpPr/>
            <p:nvPr/>
          </p:nvCxnSpPr>
          <p:spPr bwMode="auto">
            <a:xfrm>
              <a:off x="3707904" y="2160023"/>
              <a:ext cx="359991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sm"/>
            </a:ln>
          </p:spPr>
        </p:cxnSp>
        <p:cxnSp>
          <p:nvCxnSpPr>
            <p:cNvPr id="128" name="直接箭头连接符 127"/>
            <p:cNvCxnSpPr/>
            <p:nvPr/>
          </p:nvCxnSpPr>
          <p:spPr bwMode="auto">
            <a:xfrm flipV="1">
              <a:off x="3707904" y="2160024"/>
              <a:ext cx="0" cy="118800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sm"/>
            </a:ln>
          </p:spPr>
        </p:cxnSp>
        <p:cxnSp>
          <p:nvCxnSpPr>
            <p:cNvPr id="129" name="直接箭头连接符 128"/>
            <p:cNvCxnSpPr/>
            <p:nvPr/>
          </p:nvCxnSpPr>
          <p:spPr bwMode="auto">
            <a:xfrm>
              <a:off x="3275857" y="2952024"/>
              <a:ext cx="432000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oval" w="sm" len="sm"/>
            </a:ln>
          </p:spPr>
        </p:cxnSp>
      </p:grpSp>
      <p:grpSp>
        <p:nvGrpSpPr>
          <p:cNvPr id="130" name="组合 129"/>
          <p:cNvGrpSpPr/>
          <p:nvPr/>
        </p:nvGrpSpPr>
        <p:grpSpPr>
          <a:xfrm>
            <a:off x="3599582" y="1800000"/>
            <a:ext cx="3168418" cy="1620017"/>
            <a:chOff x="3275856" y="1988840"/>
            <a:chExt cx="3168418" cy="1620017"/>
          </a:xfrm>
        </p:grpSpPr>
        <p:sp>
          <p:nvSpPr>
            <p:cNvPr id="131" name="Text Box 522"/>
            <p:cNvSpPr txBox="1">
              <a:spLocks noChangeArrowheads="1"/>
            </p:cNvSpPr>
            <p:nvPr/>
          </p:nvSpPr>
          <p:spPr bwMode="auto">
            <a:xfrm>
              <a:off x="6156274" y="2132857"/>
              <a:ext cx="288000" cy="1476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vert="eaVert"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信号转换逻辑</a:t>
              </a:r>
            </a:p>
          </p:txBody>
        </p:sp>
        <p:cxnSp>
          <p:nvCxnSpPr>
            <p:cNvPr id="132" name="直接箭头连接符 131"/>
            <p:cNvCxnSpPr/>
            <p:nvPr/>
          </p:nvCxnSpPr>
          <p:spPr bwMode="auto">
            <a:xfrm>
              <a:off x="5868144" y="2204864"/>
              <a:ext cx="288000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</p:spPr>
        </p:cxnSp>
        <p:cxnSp>
          <p:nvCxnSpPr>
            <p:cNvPr id="133" name="直接箭头连接符 132"/>
            <p:cNvCxnSpPr/>
            <p:nvPr/>
          </p:nvCxnSpPr>
          <p:spPr bwMode="auto">
            <a:xfrm>
              <a:off x="5868144" y="2600840"/>
              <a:ext cx="288000" cy="0"/>
            </a:xfrm>
            <a:prstGeom prst="straightConnector1">
              <a:avLst/>
            </a:prstGeom>
            <a:noFill/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</p:spPr>
        </p:cxnSp>
        <p:cxnSp>
          <p:nvCxnSpPr>
            <p:cNvPr id="134" name="直接箭头连接符 133"/>
            <p:cNvCxnSpPr/>
            <p:nvPr/>
          </p:nvCxnSpPr>
          <p:spPr bwMode="auto">
            <a:xfrm flipH="1">
              <a:off x="5868144" y="2996840"/>
              <a:ext cx="288000" cy="0"/>
            </a:xfrm>
            <a:prstGeom prst="straightConnector1">
              <a:avLst/>
            </a:prstGeom>
            <a:noFill/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</p:spPr>
        </p:cxnSp>
        <p:cxnSp>
          <p:nvCxnSpPr>
            <p:cNvPr id="135" name="直接箭头连接符 134"/>
            <p:cNvCxnSpPr/>
            <p:nvPr/>
          </p:nvCxnSpPr>
          <p:spPr bwMode="auto">
            <a:xfrm flipH="1">
              <a:off x="5868144" y="3392840"/>
              <a:ext cx="288000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/>
            </a:ln>
          </p:spPr>
        </p:cxnSp>
        <p:cxnSp>
          <p:nvCxnSpPr>
            <p:cNvPr id="136" name="直接箭头连接符 135"/>
            <p:cNvCxnSpPr/>
            <p:nvPr/>
          </p:nvCxnSpPr>
          <p:spPr bwMode="auto">
            <a:xfrm>
              <a:off x="6300274" y="1988840"/>
              <a:ext cx="0" cy="144016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sm"/>
            </a:ln>
          </p:spPr>
        </p:cxnSp>
        <p:cxnSp>
          <p:nvCxnSpPr>
            <p:cNvPr id="137" name="直接箭头连接符 136"/>
            <p:cNvCxnSpPr/>
            <p:nvPr/>
          </p:nvCxnSpPr>
          <p:spPr bwMode="auto">
            <a:xfrm>
              <a:off x="3563888" y="1988840"/>
              <a:ext cx="2736000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sm"/>
            </a:ln>
          </p:spPr>
        </p:cxnSp>
        <p:cxnSp>
          <p:nvCxnSpPr>
            <p:cNvPr id="138" name="直接箭头连接符 137"/>
            <p:cNvCxnSpPr/>
            <p:nvPr/>
          </p:nvCxnSpPr>
          <p:spPr bwMode="auto">
            <a:xfrm flipV="1">
              <a:off x="3275856" y="2780840"/>
              <a:ext cx="288032" cy="36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sm"/>
            </a:ln>
          </p:spPr>
        </p:cxnSp>
        <p:cxnSp>
          <p:nvCxnSpPr>
            <p:cNvPr id="139" name="直接箭头连接符 138"/>
            <p:cNvCxnSpPr/>
            <p:nvPr/>
          </p:nvCxnSpPr>
          <p:spPr bwMode="auto">
            <a:xfrm flipV="1">
              <a:off x="3563888" y="1988840"/>
              <a:ext cx="0" cy="79200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sm"/>
            </a:ln>
          </p:spPr>
        </p:cxnSp>
      </p:grpSp>
      <p:grpSp>
        <p:nvGrpSpPr>
          <p:cNvPr id="140" name="组合 139"/>
          <p:cNvGrpSpPr/>
          <p:nvPr/>
        </p:nvGrpSpPr>
        <p:grpSpPr>
          <a:xfrm>
            <a:off x="1260000" y="1728000"/>
            <a:ext cx="6191337" cy="2088000"/>
            <a:chOff x="936274" y="1916832"/>
            <a:chExt cx="6191337" cy="2088000"/>
          </a:xfrm>
        </p:grpSpPr>
        <p:sp>
          <p:nvSpPr>
            <p:cNvPr id="141" name="Rectangle 8"/>
            <p:cNvSpPr>
              <a:spLocks noChangeArrowheads="1"/>
            </p:cNvSpPr>
            <p:nvPr/>
          </p:nvSpPr>
          <p:spPr bwMode="auto">
            <a:xfrm>
              <a:off x="1763687" y="1916832"/>
              <a:ext cx="4680000" cy="2088000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2" name="Text Box 159"/>
            <p:cNvSpPr txBox="1">
              <a:spLocks noChangeArrowheads="1"/>
            </p:cNvSpPr>
            <p:nvPr/>
          </p:nvSpPr>
          <p:spPr bwMode="auto">
            <a:xfrm>
              <a:off x="936274" y="1988832"/>
              <a:ext cx="539750" cy="504055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数据总线</a:t>
              </a:r>
            </a:p>
          </p:txBody>
        </p:sp>
        <p:sp>
          <p:nvSpPr>
            <p:cNvPr id="143" name="Text Box 160"/>
            <p:cNvSpPr txBox="1">
              <a:spLocks noChangeArrowheads="1"/>
            </p:cNvSpPr>
            <p:nvPr/>
          </p:nvSpPr>
          <p:spPr bwMode="auto">
            <a:xfrm>
              <a:off x="936274" y="2600832"/>
              <a:ext cx="539750" cy="50361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控制总线</a:t>
              </a:r>
            </a:p>
          </p:txBody>
        </p:sp>
        <p:sp>
          <p:nvSpPr>
            <p:cNvPr id="144" name="Text Box 190"/>
            <p:cNvSpPr txBox="1">
              <a:spLocks noChangeArrowheads="1"/>
            </p:cNvSpPr>
            <p:nvPr/>
          </p:nvSpPr>
          <p:spPr bwMode="auto">
            <a:xfrm>
              <a:off x="6840274" y="2348832"/>
              <a:ext cx="287337" cy="1008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vert="eaVert"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外设信号</a:t>
              </a:r>
            </a:p>
          </p:txBody>
        </p:sp>
        <p:cxnSp>
          <p:nvCxnSpPr>
            <p:cNvPr id="145" name="直接箭头连接符 144"/>
            <p:cNvCxnSpPr/>
            <p:nvPr/>
          </p:nvCxnSpPr>
          <p:spPr bwMode="auto">
            <a:xfrm>
              <a:off x="1476274" y="3680832"/>
              <a:ext cx="288000" cy="0"/>
            </a:xfrm>
            <a:prstGeom prst="straightConnector1">
              <a:avLst/>
            </a:prstGeom>
            <a:noFill/>
            <a:ln w="222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</p:spPr>
        </p:cxnSp>
        <p:cxnSp>
          <p:nvCxnSpPr>
            <p:cNvPr id="146" name="直接箭头连接符 145"/>
            <p:cNvCxnSpPr/>
            <p:nvPr/>
          </p:nvCxnSpPr>
          <p:spPr bwMode="auto">
            <a:xfrm>
              <a:off x="1476274" y="2240832"/>
              <a:ext cx="288000" cy="0"/>
            </a:xfrm>
            <a:prstGeom prst="straightConnector1">
              <a:avLst/>
            </a:prstGeom>
            <a:noFill/>
            <a:ln w="22225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triangle"/>
            </a:ln>
          </p:spPr>
        </p:cxnSp>
        <p:cxnSp>
          <p:nvCxnSpPr>
            <p:cNvPr id="147" name="直接箭头连接符 146"/>
            <p:cNvCxnSpPr/>
            <p:nvPr/>
          </p:nvCxnSpPr>
          <p:spPr bwMode="auto">
            <a:xfrm>
              <a:off x="6444274" y="2204864"/>
              <a:ext cx="288000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ysDash"/>
              <a:round/>
              <a:headEnd type="none" w="med" len="med"/>
              <a:tailEnd type="triangle"/>
            </a:ln>
          </p:spPr>
        </p:cxnSp>
        <p:cxnSp>
          <p:nvCxnSpPr>
            <p:cNvPr id="148" name="直接箭头连接符 147"/>
            <p:cNvCxnSpPr/>
            <p:nvPr/>
          </p:nvCxnSpPr>
          <p:spPr bwMode="auto">
            <a:xfrm>
              <a:off x="6444274" y="2600832"/>
              <a:ext cx="288000" cy="0"/>
            </a:xfrm>
            <a:prstGeom prst="straightConnector1">
              <a:avLst/>
            </a:prstGeom>
            <a:noFill/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</p:spPr>
        </p:cxnSp>
        <p:cxnSp>
          <p:nvCxnSpPr>
            <p:cNvPr id="149" name="直接箭头连接符 148"/>
            <p:cNvCxnSpPr/>
            <p:nvPr/>
          </p:nvCxnSpPr>
          <p:spPr bwMode="auto">
            <a:xfrm flipH="1">
              <a:off x="6444274" y="2996832"/>
              <a:ext cx="288000" cy="0"/>
            </a:xfrm>
            <a:prstGeom prst="straightConnector1">
              <a:avLst/>
            </a:prstGeom>
            <a:noFill/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</p:spPr>
        </p:cxnSp>
        <p:cxnSp>
          <p:nvCxnSpPr>
            <p:cNvPr id="150" name="直接箭头连接符 149"/>
            <p:cNvCxnSpPr/>
            <p:nvPr/>
          </p:nvCxnSpPr>
          <p:spPr bwMode="auto">
            <a:xfrm flipH="1">
              <a:off x="6444274" y="3392832"/>
              <a:ext cx="288000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990099"/>
              </a:solidFill>
              <a:prstDash val="sysDash"/>
              <a:round/>
              <a:headEnd type="none" w="med" len="med"/>
              <a:tailEnd type="triangle"/>
            </a:ln>
          </p:spPr>
        </p:cxnSp>
        <p:cxnSp>
          <p:nvCxnSpPr>
            <p:cNvPr id="151" name="直接箭头连接符 150"/>
            <p:cNvCxnSpPr/>
            <p:nvPr/>
          </p:nvCxnSpPr>
          <p:spPr bwMode="auto">
            <a:xfrm flipV="1">
              <a:off x="1476274" y="2780832"/>
              <a:ext cx="756000" cy="137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</p:spPr>
        </p:cxnSp>
        <p:cxnSp>
          <p:nvCxnSpPr>
            <p:cNvPr id="152" name="直接箭头连接符 151"/>
            <p:cNvCxnSpPr/>
            <p:nvPr/>
          </p:nvCxnSpPr>
          <p:spPr bwMode="auto">
            <a:xfrm flipH="1" flipV="1">
              <a:off x="1476274" y="2888832"/>
              <a:ext cx="756000" cy="372"/>
            </a:xfrm>
            <a:prstGeom prst="straightConnector1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/>
            </a:ln>
          </p:spPr>
        </p:cxnSp>
        <p:sp>
          <p:nvSpPr>
            <p:cNvPr id="153" name="Text Box 547"/>
            <p:cNvSpPr txBox="1">
              <a:spLocks noChangeArrowheads="1"/>
            </p:cNvSpPr>
            <p:nvPr/>
          </p:nvSpPr>
          <p:spPr bwMode="auto">
            <a:xfrm>
              <a:off x="1763688" y="1988832"/>
              <a:ext cx="576064" cy="504825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数据缓冲</a:t>
              </a:r>
            </a:p>
          </p:txBody>
        </p:sp>
        <p:sp>
          <p:nvSpPr>
            <p:cNvPr id="154" name="Text Box 547"/>
            <p:cNvSpPr txBox="1">
              <a:spLocks noChangeArrowheads="1"/>
            </p:cNvSpPr>
            <p:nvPr/>
          </p:nvSpPr>
          <p:spPr bwMode="auto">
            <a:xfrm>
              <a:off x="1763688" y="3428832"/>
              <a:ext cx="576064" cy="504825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地址锁存</a:t>
              </a:r>
            </a:p>
          </p:txBody>
        </p:sp>
        <p:sp>
          <p:nvSpPr>
            <p:cNvPr id="155" name="Text Box 161"/>
            <p:cNvSpPr txBox="1">
              <a:spLocks noChangeArrowheads="1"/>
            </p:cNvSpPr>
            <p:nvPr/>
          </p:nvSpPr>
          <p:spPr bwMode="auto">
            <a:xfrm>
              <a:off x="936274" y="3428832"/>
              <a:ext cx="539750" cy="504056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地址总线</a:t>
              </a:r>
            </a:p>
          </p:txBody>
        </p:sp>
        <p:sp>
          <p:nvSpPr>
            <p:cNvPr id="156" name="右大括号 155"/>
            <p:cNvSpPr/>
            <p:nvPr/>
          </p:nvSpPr>
          <p:spPr bwMode="auto">
            <a:xfrm>
              <a:off x="6768274" y="2204516"/>
              <a:ext cx="72008" cy="1188000"/>
            </a:xfrm>
            <a:prstGeom prst="rightBrace">
              <a:avLst>
                <a:gd name="adj1" fmla="val 31009"/>
                <a:gd name="adj2" fmla="val 50000"/>
              </a:avLst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57" name="组合 156"/>
          <p:cNvGrpSpPr/>
          <p:nvPr/>
        </p:nvGrpSpPr>
        <p:grpSpPr>
          <a:xfrm>
            <a:off x="2663478" y="3096000"/>
            <a:ext cx="3420522" cy="648000"/>
            <a:chOff x="2339752" y="3426271"/>
            <a:chExt cx="3420522" cy="648000"/>
          </a:xfrm>
        </p:grpSpPr>
        <p:sp>
          <p:nvSpPr>
            <p:cNvPr id="158" name="Text Box 161"/>
            <p:cNvSpPr txBox="1">
              <a:spLocks noChangeArrowheads="1"/>
            </p:cNvSpPr>
            <p:nvPr/>
          </p:nvSpPr>
          <p:spPr bwMode="auto">
            <a:xfrm>
              <a:off x="2339752" y="3429000"/>
              <a:ext cx="504056" cy="19260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高位</a:t>
              </a:r>
            </a:p>
          </p:txBody>
        </p:sp>
        <p:sp>
          <p:nvSpPr>
            <p:cNvPr id="159" name="Text Box 547"/>
            <p:cNvSpPr txBox="1">
              <a:spLocks noChangeArrowheads="1"/>
            </p:cNvSpPr>
            <p:nvPr/>
          </p:nvSpPr>
          <p:spPr bwMode="auto">
            <a:xfrm>
              <a:off x="2843808" y="3426271"/>
              <a:ext cx="576063" cy="504000"/>
            </a:xfrm>
            <a:prstGeom prst="rect">
              <a:avLst/>
            </a:prstGeom>
            <a:solidFill>
              <a:srgbClr val="CC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设备选择</a:t>
              </a:r>
            </a:p>
          </p:txBody>
        </p:sp>
        <p:sp>
          <p:nvSpPr>
            <p:cNvPr id="160" name="Text Box 549"/>
            <p:cNvSpPr txBox="1">
              <a:spLocks noChangeArrowheads="1"/>
            </p:cNvSpPr>
            <p:nvPr/>
          </p:nvSpPr>
          <p:spPr bwMode="auto">
            <a:xfrm>
              <a:off x="4248274" y="3822271"/>
              <a:ext cx="1512000" cy="252000"/>
            </a:xfrm>
            <a:prstGeom prst="rect">
              <a:avLst/>
            </a:prstGeom>
            <a:solidFill>
              <a:srgbClr val="CC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端口地址译码</a:t>
              </a:r>
            </a:p>
          </p:txBody>
        </p:sp>
        <p:cxnSp>
          <p:nvCxnSpPr>
            <p:cNvPr id="161" name="直接箭头连接符 160"/>
            <p:cNvCxnSpPr/>
            <p:nvPr/>
          </p:nvCxnSpPr>
          <p:spPr bwMode="auto">
            <a:xfrm>
              <a:off x="2339975" y="4005064"/>
              <a:ext cx="1908000" cy="0"/>
            </a:xfrm>
            <a:prstGeom prst="straightConnector1">
              <a:avLst/>
            </a:prstGeom>
            <a:noFill/>
            <a:ln w="15875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/>
            </a:ln>
          </p:spPr>
        </p:cxnSp>
        <p:cxnSp>
          <p:nvCxnSpPr>
            <p:cNvPr id="162" name="直接箭头连接符 161"/>
            <p:cNvCxnSpPr/>
            <p:nvPr/>
          </p:nvCxnSpPr>
          <p:spPr bwMode="auto">
            <a:xfrm flipH="1" flipV="1">
              <a:off x="3563888" y="3642270"/>
              <a:ext cx="0" cy="25200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sm"/>
            </a:ln>
          </p:spPr>
        </p:cxnSp>
        <p:cxnSp>
          <p:nvCxnSpPr>
            <p:cNvPr id="163" name="直接箭头连接符 162"/>
            <p:cNvCxnSpPr/>
            <p:nvPr/>
          </p:nvCxnSpPr>
          <p:spPr bwMode="auto">
            <a:xfrm>
              <a:off x="3563888" y="3894271"/>
              <a:ext cx="684000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64" name="直接箭头连接符 163"/>
            <p:cNvCxnSpPr/>
            <p:nvPr/>
          </p:nvCxnSpPr>
          <p:spPr bwMode="auto">
            <a:xfrm>
              <a:off x="2339975" y="3645024"/>
              <a:ext cx="503833" cy="0"/>
            </a:xfrm>
            <a:prstGeom prst="straightConnector1">
              <a:avLst/>
            </a:prstGeom>
            <a:noFill/>
            <a:ln w="1905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/>
            </a:ln>
          </p:spPr>
        </p:cxnSp>
        <p:sp>
          <p:nvSpPr>
            <p:cNvPr id="165" name="Text Box 161"/>
            <p:cNvSpPr txBox="1">
              <a:spLocks noChangeArrowheads="1"/>
            </p:cNvSpPr>
            <p:nvPr/>
          </p:nvSpPr>
          <p:spPr bwMode="auto">
            <a:xfrm>
              <a:off x="2339752" y="3789040"/>
              <a:ext cx="504056" cy="19260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低位</a:t>
              </a:r>
            </a:p>
          </p:txBody>
        </p:sp>
        <p:cxnSp>
          <p:nvCxnSpPr>
            <p:cNvPr id="166" name="直接箭头连接符 165"/>
            <p:cNvCxnSpPr/>
            <p:nvPr/>
          </p:nvCxnSpPr>
          <p:spPr bwMode="auto">
            <a:xfrm>
              <a:off x="3419871" y="3642271"/>
              <a:ext cx="144000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sm" len="sm"/>
            </a:ln>
          </p:spPr>
        </p:cxnSp>
      </p:grpSp>
      <p:sp>
        <p:nvSpPr>
          <p:cNvPr id="78" name="AutoShape 62">
            <a:hlinkClick r:id="rId3" action="ppaction://hlinksldjump"/>
          </p:cNvPr>
          <p:cNvSpPr>
            <a:spLocks noChangeArrowheads="1"/>
          </p:cNvSpPr>
          <p:nvPr/>
        </p:nvSpPr>
        <p:spPr bwMode="auto">
          <a:xfrm rot="16200000">
            <a:off x="5148411" y="6524102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eaVert" wrap="none" lIns="0" tIns="0" rIns="0" bIns="0" anchor="ctr"/>
          <a:lstStyle/>
          <a:p>
            <a:pPr algn="ctr"/>
            <a:r>
              <a:rPr lang="en-US" altLang="zh-CN" sz="1600" dirty="0">
                <a:solidFill>
                  <a:schemeClr val="bg2"/>
                </a:solidFill>
                <a:latin typeface="+mn-ea"/>
                <a:ea typeface="+mn-ea"/>
              </a:rPr>
              <a:t>7</a:t>
            </a:r>
            <a:endParaRPr lang="zh-CN" altLang="en-US" sz="1600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80" name="AutoShape 144">
            <a:hlinkClick r:id="rId4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6372000" y="6524450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46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3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3463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3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3463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3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3463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6117" grpId="0"/>
      <p:bldP spid="81" grpId="0" bldLvl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Box 207"/>
          <p:cNvSpPr txBox="1">
            <a:spLocks noChangeArrowheads="1"/>
          </p:cNvSpPr>
          <p:nvPr/>
        </p:nvSpPr>
        <p:spPr bwMode="auto">
          <a:xfrm>
            <a:off x="179389" y="332656"/>
            <a:ext cx="3672532" cy="518943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(2)I/O</a:t>
            </a:r>
            <a:r>
              <a:rPr lang="zh-CN" altLang="en-US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接口的分类</a:t>
            </a: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按数据的</a:t>
            </a:r>
            <a:r>
              <a:rPr lang="zh-CN" altLang="en-US" sz="2200" b="1" u="sng" dirty="0">
                <a:solidFill>
                  <a:srgbClr val="C00000"/>
                </a:solidFill>
                <a:latin typeface="宋体" panose="02010600030101010101" pitchFamily="2" charset="-122"/>
              </a:rPr>
              <a:t>传送方式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分类：</a:t>
            </a: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并行接口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</a:p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串行接口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</a:p>
          <a:p>
            <a:pPr algn="l">
              <a:lnSpc>
                <a:spcPct val="125000"/>
              </a:lnSpc>
            </a:pP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按功能的</a:t>
            </a:r>
            <a:r>
              <a:rPr lang="zh-CN" altLang="en-US" sz="2200" b="1" u="sng" dirty="0">
                <a:solidFill>
                  <a:srgbClr val="C00000"/>
                </a:solidFill>
                <a:latin typeface="宋体" panose="02010600030101010101" pitchFamily="2" charset="-122"/>
              </a:rPr>
              <a:t>选择方式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分类：</a:t>
            </a: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  可编程接口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zh-CN" altLang="en-US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不可编程接口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sz="2200" b="1" dirty="0">
              <a:solidFill>
                <a:srgbClr val="CC33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300"/>
              </a:spcBef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按传送的</a:t>
            </a:r>
            <a:r>
              <a:rPr lang="zh-CN" altLang="en-US" sz="2200" b="1" u="sng" dirty="0">
                <a:solidFill>
                  <a:srgbClr val="C00000"/>
                </a:solidFill>
                <a:latin typeface="宋体" panose="02010600030101010101" pitchFamily="2" charset="-122"/>
              </a:rPr>
              <a:t>控制方式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分类：</a:t>
            </a: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查询接口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</a:p>
          <a:p>
            <a:pPr algn="l">
              <a:lnSpc>
                <a:spcPct val="125000"/>
              </a:lnSpc>
            </a:pP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中断接口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</a:p>
          <a:p>
            <a:pPr algn="l">
              <a:lnSpc>
                <a:spcPct val="125000"/>
              </a:lnSpc>
            </a:pP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 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DMA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接口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zh-CN" altLang="en-US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</p:txBody>
      </p:sp>
      <p:sp>
        <p:nvSpPr>
          <p:cNvPr id="7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296F3-E060-4568-A881-951D159CB440}" type="slidenum">
              <a:rPr lang="en-US" altLang="zh-CN"/>
              <a:t>24</a:t>
            </a:fld>
            <a:endParaRPr lang="en-US" altLang="zh-CN"/>
          </a:p>
        </p:txBody>
      </p:sp>
      <p:sp>
        <p:nvSpPr>
          <p:cNvPr id="6177" name="Text Box 33"/>
          <p:cNvSpPr txBox="1">
            <a:spLocks noChangeArrowheads="1"/>
          </p:cNvSpPr>
          <p:nvPr/>
        </p:nvSpPr>
        <p:spPr bwMode="auto">
          <a:xfrm>
            <a:off x="2195736" y="1196752"/>
            <a:ext cx="6696744" cy="864567"/>
          </a:xfrm>
          <a:prstGeom prst="rect">
            <a:avLst/>
          </a:prstGeom>
          <a:noFill/>
          <a:ln w="38100">
            <a:noFill/>
            <a:miter lim="800000"/>
          </a:ln>
          <a:effectLst/>
        </p:spPr>
        <p:txBody>
          <a:bodyPr wrap="square" lIns="90000" tIns="28800" rIns="90000" bIns="46800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sz="2200" b="1" dirty="0">
                <a:latin typeface="宋体" panose="02010600030101010101" pitchFamily="2" charset="-122"/>
              </a:rPr>
              <a:t>接口</a:t>
            </a:r>
            <a:r>
              <a:rPr lang="en-US" altLang="zh-CN" sz="2200" b="1" dirty="0">
                <a:latin typeface="宋体" panose="02010600030101010101" pitchFamily="2" charset="-122"/>
              </a:rPr>
              <a:t>-</a:t>
            </a:r>
            <a:r>
              <a:rPr lang="zh-CN" altLang="en-US" sz="2200" b="1" dirty="0">
                <a:latin typeface="宋体" panose="02010600030101010101" pitchFamily="2" charset="-122"/>
              </a:rPr>
              <a:t>外设间同时传送</a:t>
            </a:r>
            <a:r>
              <a:rPr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n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位</a:t>
            </a:r>
            <a:r>
              <a:rPr lang="zh-CN" altLang="en-US" sz="2200" b="1" dirty="0">
                <a:latin typeface="宋体" panose="02010600030101010101" pitchFamily="2" charset="-122"/>
              </a:rPr>
              <a:t>数据，</a:t>
            </a:r>
            <a:r>
              <a:rPr lang="en-US" altLang="zh-CN" sz="2200" b="1" dirty="0">
                <a:latin typeface="宋体" panose="02010600030101010101" pitchFamily="2" charset="-122"/>
              </a:rPr>
              <a:t>1</a:t>
            </a:r>
            <a:r>
              <a:rPr lang="zh-CN" altLang="en-US" sz="2200" b="1" dirty="0">
                <a:latin typeface="宋体" panose="02010600030101010101" pitchFamily="2" charset="-122"/>
              </a:rPr>
              <a:t>个数据</a:t>
            </a:r>
            <a:r>
              <a:rPr lang="en-US" altLang="zh-CN" sz="2200" b="1" dirty="0">
                <a:latin typeface="宋体" panose="02010600030101010101" pitchFamily="2" charset="-122"/>
              </a:rPr>
              <a:t>/</a:t>
            </a:r>
            <a:r>
              <a:rPr lang="zh-CN" altLang="en-US" sz="2200" b="1" dirty="0">
                <a:latin typeface="宋体" panose="02010600030101010101" pitchFamily="2" charset="-122"/>
              </a:rPr>
              <a:t>次</a:t>
            </a:r>
          </a:p>
          <a:p>
            <a:pPr algn="l">
              <a:lnSpc>
                <a:spcPct val="125000"/>
              </a:lnSpc>
            </a:pPr>
            <a:r>
              <a:rPr lang="zh-CN" altLang="en-US" sz="2200" b="1" dirty="0">
                <a:latin typeface="宋体" panose="02010600030101010101" pitchFamily="2" charset="-122"/>
              </a:rPr>
              <a:t>接口</a:t>
            </a:r>
            <a:r>
              <a:rPr lang="en-US" altLang="zh-CN" sz="2200" b="1" dirty="0">
                <a:latin typeface="宋体" panose="02010600030101010101" pitchFamily="2" charset="-122"/>
              </a:rPr>
              <a:t>-</a:t>
            </a:r>
            <a:r>
              <a:rPr lang="zh-CN" altLang="en-US" sz="2200" b="1" dirty="0">
                <a:latin typeface="宋体" panose="02010600030101010101" pitchFamily="2" charset="-122"/>
              </a:rPr>
              <a:t>外设间同时传送</a:t>
            </a:r>
            <a:r>
              <a:rPr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1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位</a:t>
            </a:r>
            <a:r>
              <a:rPr lang="zh-CN" altLang="en-US" sz="2200" b="1" dirty="0">
                <a:latin typeface="宋体" panose="02010600030101010101" pitchFamily="2" charset="-122"/>
              </a:rPr>
              <a:t>数据，</a:t>
            </a:r>
            <a:r>
              <a:rPr lang="en-US" altLang="zh-CN" sz="2200" b="1" dirty="0">
                <a:latin typeface="宋体" panose="02010600030101010101" pitchFamily="2" charset="-122"/>
              </a:rPr>
              <a:t>1</a:t>
            </a:r>
            <a:r>
              <a:rPr lang="zh-CN" altLang="en-US" sz="2200" b="1" dirty="0">
                <a:latin typeface="宋体" panose="02010600030101010101" pitchFamily="2" charset="-122"/>
              </a:rPr>
              <a:t>个帧</a:t>
            </a:r>
            <a:r>
              <a:rPr lang="en-US" altLang="zh-CN" sz="2200" b="1" dirty="0">
                <a:latin typeface="宋体" panose="02010600030101010101" pitchFamily="2" charset="-122"/>
              </a:rPr>
              <a:t>/</a:t>
            </a:r>
            <a:r>
              <a:rPr lang="zh-CN" altLang="en-US" sz="2200" b="1" dirty="0">
                <a:latin typeface="宋体" panose="02010600030101010101" pitchFamily="2" charset="-122"/>
              </a:rPr>
              <a:t>次</a:t>
            </a:r>
          </a:p>
        </p:txBody>
      </p:sp>
      <p:sp>
        <p:nvSpPr>
          <p:cNvPr id="6178" name="Text Box 34"/>
          <p:cNvSpPr txBox="1">
            <a:spLocks noChangeArrowheads="1"/>
          </p:cNvSpPr>
          <p:nvPr/>
        </p:nvSpPr>
        <p:spPr bwMode="auto">
          <a:xfrm>
            <a:off x="2748657" y="2852936"/>
            <a:ext cx="5567759" cy="881653"/>
          </a:xfrm>
          <a:prstGeom prst="rect">
            <a:avLst/>
          </a:prstGeom>
          <a:noFill/>
          <a:ln w="38100">
            <a:noFill/>
            <a:miter lim="800000"/>
          </a:ln>
          <a:effectLst/>
        </p:spPr>
        <p:txBody>
          <a:bodyPr wrap="square" tIns="46800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sz="2200" b="1" dirty="0">
                <a:latin typeface="宋体" panose="02010600030101010101" pitchFamily="2" charset="-122"/>
              </a:rPr>
              <a:t>可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通过软件</a:t>
            </a:r>
            <a:r>
              <a:rPr lang="zh-CN" altLang="en-US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选择</a:t>
            </a:r>
            <a:r>
              <a:rPr lang="zh-CN" altLang="en-US" sz="2200" b="1" dirty="0">
                <a:latin typeface="宋体" panose="02010600030101010101" pitchFamily="2" charset="-122"/>
              </a:rPr>
              <a:t>接口的</a:t>
            </a:r>
            <a:r>
              <a:rPr lang="zh-CN" altLang="en-US" sz="2200" b="1" u="sng" dirty="0">
                <a:latin typeface="宋体" panose="02010600030101010101" pitchFamily="2" charset="-122"/>
              </a:rPr>
              <a:t>当前</a:t>
            </a:r>
            <a:r>
              <a:rPr lang="zh-CN" altLang="en-US" sz="2200" b="1" dirty="0">
                <a:latin typeface="宋体" panose="02010600030101010101" pitchFamily="2" charset="-122"/>
              </a:rPr>
              <a:t>功能</a:t>
            </a:r>
          </a:p>
          <a:p>
            <a:pPr algn="l">
              <a:lnSpc>
                <a:spcPct val="125000"/>
              </a:lnSpc>
            </a:pPr>
            <a:r>
              <a:rPr lang="zh-CN" altLang="en-US" sz="2200" b="1" dirty="0">
                <a:latin typeface="宋体" panose="02010600030101010101" pitchFamily="2" charset="-122"/>
              </a:rPr>
              <a:t>须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通过硬连线</a:t>
            </a:r>
            <a:r>
              <a:rPr lang="zh-CN" altLang="en-US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选择</a:t>
            </a:r>
            <a:r>
              <a:rPr lang="zh-CN" altLang="en-US" sz="2200" b="1" dirty="0"/>
              <a:t>接口的</a:t>
            </a:r>
            <a:r>
              <a:rPr lang="zh-CN" altLang="en-US" sz="2200" b="1" u="sng" dirty="0"/>
              <a:t>当前</a:t>
            </a:r>
            <a:r>
              <a:rPr lang="zh-CN" altLang="en-US" sz="2200" b="1" dirty="0"/>
              <a:t>功能</a:t>
            </a:r>
            <a:endParaRPr lang="zh-CN" altLang="en-US" sz="2200" b="1" dirty="0">
              <a:latin typeface="宋体" panose="02010600030101010101" pitchFamily="2" charset="-122"/>
            </a:endParaRPr>
          </a:p>
        </p:txBody>
      </p:sp>
      <p:sp>
        <p:nvSpPr>
          <p:cNvPr id="6179" name="Text Box 35"/>
          <p:cNvSpPr txBox="1">
            <a:spLocks noChangeArrowheads="1"/>
          </p:cNvSpPr>
          <p:nvPr/>
        </p:nvSpPr>
        <p:spPr bwMode="auto">
          <a:xfrm>
            <a:off x="2168375" y="4149080"/>
            <a:ext cx="5499969" cy="1336904"/>
          </a:xfrm>
          <a:prstGeom prst="rect">
            <a:avLst/>
          </a:prstGeom>
          <a:noFill/>
          <a:ln w="38100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sz="2200" b="1" u="sng" dirty="0">
                <a:solidFill>
                  <a:srgbClr val="0070C0"/>
                </a:solidFill>
                <a:latin typeface="宋体" panose="02010600030101010101" pitchFamily="2" charset="-122"/>
              </a:rPr>
              <a:t>不实现</a:t>
            </a:r>
            <a:r>
              <a:rPr lang="zh-CN" altLang="en-US" sz="2200" b="1" dirty="0">
                <a:latin typeface="宋体" panose="02010600030101010101" pitchFamily="2" charset="-122"/>
              </a:rPr>
              <a:t>传送控制，</a:t>
            </a:r>
            <a:r>
              <a:rPr lang="zh-CN" altLang="en-US" sz="2200" b="1" u="sng" dirty="0">
                <a:solidFill>
                  <a:srgbClr val="0070C0"/>
                </a:solidFill>
                <a:latin typeface="宋体" panose="02010600030101010101" pitchFamily="2" charset="-122"/>
              </a:rPr>
              <a:t>记录</a:t>
            </a:r>
            <a:r>
              <a:rPr lang="zh-CN" altLang="en-US" sz="2200" b="1" dirty="0">
                <a:latin typeface="宋体" panose="02010600030101010101" pitchFamily="2" charset="-122"/>
              </a:rPr>
              <a:t>状态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就绪否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endParaRPr lang="zh-CN" altLang="en-US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sz="2200" b="1" u="sng" dirty="0">
                <a:solidFill>
                  <a:srgbClr val="0070C0"/>
                </a:solidFill>
                <a:latin typeface="宋体" panose="02010600030101010101" pitchFamily="2" charset="-122"/>
              </a:rPr>
              <a:t>不实现</a:t>
            </a:r>
            <a:r>
              <a:rPr lang="zh-CN" altLang="en-US" sz="2200" b="1" dirty="0">
                <a:latin typeface="宋体" panose="02010600030101010101" pitchFamily="2" charset="-122"/>
              </a:rPr>
              <a:t>传送控制，</a:t>
            </a:r>
            <a:r>
              <a:rPr lang="zh-CN" altLang="en-US" sz="2200" b="1" u="sng" dirty="0">
                <a:solidFill>
                  <a:srgbClr val="0070C0"/>
                </a:solidFill>
                <a:latin typeface="宋体" panose="02010600030101010101" pitchFamily="2" charset="-122"/>
              </a:rPr>
              <a:t>记录</a:t>
            </a:r>
            <a:r>
              <a:rPr lang="en-US" altLang="zh-CN" sz="2200" b="1" dirty="0">
                <a:latin typeface="宋体" panose="02010600030101010101" pitchFamily="2" charset="-122"/>
              </a:rPr>
              <a:t>&amp;</a:t>
            </a:r>
            <a:r>
              <a:rPr lang="zh-CN" altLang="en-US" sz="2200" b="1" u="sng" dirty="0">
                <a:solidFill>
                  <a:srgbClr val="0070C0"/>
                </a:solidFill>
                <a:latin typeface="宋体" panose="02010600030101010101" pitchFamily="2" charset="-122"/>
              </a:rPr>
              <a:t>报告</a:t>
            </a:r>
            <a:r>
              <a:rPr lang="zh-CN" altLang="en-US" sz="2200" b="1" dirty="0">
                <a:latin typeface="宋体" panose="02010600030101010101" pitchFamily="2" charset="-122"/>
              </a:rPr>
              <a:t>状态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就绪否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endParaRPr lang="zh-CN" altLang="en-US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sz="2200" b="1" dirty="0">
                <a:solidFill>
                  <a:srgbClr val="0070C0"/>
                </a:solidFill>
                <a:latin typeface="宋体" panose="02010600030101010101" pitchFamily="2" charset="-122"/>
              </a:rPr>
              <a:t>  </a:t>
            </a:r>
            <a:r>
              <a:rPr lang="zh-CN" altLang="en-US" sz="2200" b="1" u="sng" dirty="0">
                <a:solidFill>
                  <a:srgbClr val="0070C0"/>
                </a:solidFill>
                <a:latin typeface="宋体" panose="02010600030101010101" pitchFamily="2" charset="-122"/>
              </a:rPr>
              <a:t>实现</a:t>
            </a:r>
            <a:r>
              <a:rPr lang="zh-CN" altLang="en-US" sz="2200" b="1" dirty="0">
                <a:latin typeface="宋体" panose="02010600030101010101" pitchFamily="2" charset="-122"/>
              </a:rPr>
              <a:t>传送控制，</a:t>
            </a:r>
            <a:r>
              <a:rPr lang="zh-CN" altLang="en-US" sz="2200" b="1" u="sng" dirty="0">
                <a:solidFill>
                  <a:srgbClr val="0070C0"/>
                </a:solidFill>
                <a:latin typeface="宋体" panose="02010600030101010101" pitchFamily="2" charset="-122"/>
              </a:rPr>
              <a:t>记录</a:t>
            </a:r>
            <a:r>
              <a:rPr lang="en-US" altLang="zh-CN" sz="2200" b="1" dirty="0">
                <a:latin typeface="宋体" panose="02010600030101010101" pitchFamily="2" charset="-122"/>
              </a:rPr>
              <a:t>&amp;</a:t>
            </a:r>
            <a:r>
              <a:rPr lang="zh-CN" altLang="en-US" sz="2200" b="1" u="sng" dirty="0">
                <a:solidFill>
                  <a:srgbClr val="0070C0"/>
                </a:solidFill>
                <a:latin typeface="宋体" panose="02010600030101010101" pitchFamily="2" charset="-122"/>
              </a:rPr>
              <a:t>报告</a:t>
            </a:r>
            <a:r>
              <a:rPr lang="zh-CN" altLang="en-US" sz="2200" b="1" dirty="0">
                <a:latin typeface="宋体" panose="02010600030101010101" pitchFamily="2" charset="-122"/>
              </a:rPr>
              <a:t>状态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结束否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endParaRPr lang="zh-CN" altLang="en-US" sz="1800" b="1" dirty="0">
              <a:solidFill>
                <a:srgbClr val="990099"/>
              </a:solidFill>
              <a:latin typeface="宋体" panose="02010600030101010101" pitchFamily="2" charset="-122"/>
            </a:endParaRPr>
          </a:p>
        </p:txBody>
      </p:sp>
      <p:sp>
        <p:nvSpPr>
          <p:cNvPr id="12" name="AutoShape 450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4068638" y="6526038"/>
            <a:ext cx="287338" cy="287338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" name="Text Box 200"/>
          <p:cNvSpPr txBox="1">
            <a:spLocks noChangeArrowheads="1"/>
          </p:cNvSpPr>
          <p:nvPr/>
        </p:nvSpPr>
        <p:spPr bwMode="auto">
          <a:xfrm>
            <a:off x="899592" y="5949280"/>
            <a:ext cx="7272000" cy="28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lstStyle>
            <a:defPPr>
              <a:defRPr lang="zh-CN"/>
            </a:defPPr>
            <a:lvl1pPr marL="805180" indent="-805180" algn="l">
              <a:lnSpc>
                <a:spcPct val="90000"/>
              </a:lnSpc>
              <a:defRPr sz="1800" b="1">
                <a:solidFill>
                  <a:srgbClr val="990099"/>
                </a:solidFill>
                <a:latin typeface="+mn-ea"/>
                <a:ea typeface="+mn-ea"/>
              </a:defRPr>
            </a:lvl1pPr>
          </a:lstStyle>
          <a:p>
            <a:r>
              <a:rPr lang="zh-CN" altLang="en-US" dirty="0"/>
              <a:t>思考：</a:t>
            </a:r>
            <a:r>
              <a:rPr lang="zh-CN" altLang="en-US" u="sng" dirty="0">
                <a:solidFill>
                  <a:schemeClr val="tx1"/>
                </a:solidFill>
              </a:rPr>
              <a:t>串行接口</a:t>
            </a:r>
            <a:r>
              <a:rPr lang="zh-CN" altLang="en-US" dirty="0">
                <a:solidFill>
                  <a:schemeClr val="tx1"/>
                </a:solidFill>
              </a:rPr>
              <a:t>可否连接</a:t>
            </a:r>
            <a:r>
              <a:rPr lang="zh-CN" altLang="en-US" dirty="0">
                <a:solidFill>
                  <a:srgbClr val="0070C0"/>
                </a:solidFill>
              </a:rPr>
              <a:t>无条件传送</a:t>
            </a:r>
            <a:r>
              <a:rPr lang="zh-CN" altLang="en-US" dirty="0">
                <a:solidFill>
                  <a:schemeClr val="tx1"/>
                </a:solidFill>
              </a:rPr>
              <a:t>设备？</a:t>
            </a:r>
            <a:r>
              <a:rPr lang="zh-CN" altLang="en-US" u="sng" dirty="0">
                <a:solidFill>
                  <a:schemeClr val="tx1"/>
                </a:solidFill>
              </a:rPr>
              <a:t>查询接口</a:t>
            </a:r>
            <a:r>
              <a:rPr lang="zh-CN" altLang="en-US" dirty="0">
                <a:solidFill>
                  <a:schemeClr val="tx1"/>
                </a:solidFill>
              </a:rPr>
              <a:t>是否必有</a:t>
            </a:r>
            <a:r>
              <a:rPr lang="zh-CN" altLang="en-US" dirty="0">
                <a:solidFill>
                  <a:srgbClr val="0070C0"/>
                </a:solidFill>
              </a:rPr>
              <a:t>控制口</a:t>
            </a:r>
            <a:r>
              <a:rPr lang="zh-CN" altLang="en-US" dirty="0">
                <a:solidFill>
                  <a:schemeClr val="tx1"/>
                </a:solidFill>
              </a:rPr>
              <a:t>？</a:t>
            </a:r>
          </a:p>
        </p:txBody>
      </p:sp>
      <p:sp>
        <p:nvSpPr>
          <p:cNvPr id="13" name="线形标注 2 12"/>
          <p:cNvSpPr/>
          <p:nvPr/>
        </p:nvSpPr>
        <p:spPr bwMode="auto">
          <a:xfrm>
            <a:off x="5904329" y="5497970"/>
            <a:ext cx="1115944" cy="288000"/>
          </a:xfrm>
          <a:prstGeom prst="borderCallout2">
            <a:avLst>
              <a:gd name="adj1" fmla="val 50463"/>
              <a:gd name="adj2" fmla="val 145"/>
              <a:gd name="adj3" fmla="val 50920"/>
              <a:gd name="adj4" fmla="val -14835"/>
              <a:gd name="adj5" fmla="val -177458"/>
              <a:gd name="adj6" fmla="val -32371"/>
            </a:avLst>
          </a:prstGeom>
          <a:noFill/>
          <a:ln w="12700" cap="flat" cmpd="sng" algn="ctr">
            <a:solidFill>
              <a:srgbClr val="0070C0"/>
            </a:solidFill>
            <a:prstDash val="sysDash"/>
            <a:round/>
            <a:headEnd type="none" w="med" len="med"/>
            <a:tailEnd type="arrow" w="sm" len="sm"/>
          </a:ln>
          <a:effectLst/>
        </p:spPr>
        <p:txBody>
          <a:bodyPr vert="horz" wrap="square" lIns="36000" tIns="18000" rIns="36000" bIns="18000" numCol="1" rtlCol="0" anchor="ctr" anchorCtr="0" compatLnSpc="1"/>
          <a:lstStyle/>
          <a:p>
            <a:pPr>
              <a:lnSpc>
                <a:spcPct val="90000"/>
              </a:lnSpc>
            </a:pPr>
            <a:r>
              <a:rPr lang="zh-CN" altLang="en-US" sz="1800" b="1" dirty="0">
                <a:latin typeface="+mn-ea"/>
                <a:ea typeface="+mn-ea"/>
              </a:rPr>
              <a:t>发送请求</a:t>
            </a:r>
          </a:p>
        </p:txBody>
      </p:sp>
      <p:sp>
        <p:nvSpPr>
          <p:cNvPr id="16" name="Text Box 200">
            <a:extLst>
              <a:ext uri="{FF2B5EF4-FFF2-40B4-BE49-F238E27FC236}">
                <a16:creationId xmlns:a16="http://schemas.microsoft.com/office/drawing/2014/main" id="{BA8EFA5D-1A02-453D-91C6-9B2F3B8900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081" y="2098800"/>
            <a:ext cx="4176000" cy="288000"/>
          </a:xfrm>
          <a:prstGeom prst="rect">
            <a:avLst/>
          </a:prstGeom>
          <a:noFill/>
          <a:ln w="12700">
            <a:solidFill>
              <a:srgbClr val="0070C0"/>
            </a:solidFill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lstStyle/>
          <a:p>
            <a:pPr marL="805180" indent="-805180" algn="l">
              <a:lnSpc>
                <a:spcPct val="90000"/>
              </a:lnSpc>
            </a:pPr>
            <a:r>
              <a:rPr lang="zh-CN" altLang="en-US" sz="1800" b="1" dirty="0">
                <a:solidFill>
                  <a:srgbClr val="990099"/>
                </a:solidFill>
                <a:latin typeface="+mn-ea"/>
                <a:ea typeface="+mn-ea"/>
              </a:rPr>
              <a:t>注：</a:t>
            </a:r>
            <a:r>
              <a:rPr lang="zh-CN" altLang="en-US" sz="1800" b="1" dirty="0">
                <a:latin typeface="宋体" panose="02010600030101010101" pitchFamily="2" charset="-122"/>
              </a:rPr>
              <a:t>接口</a:t>
            </a:r>
            <a:r>
              <a:rPr lang="en-US" altLang="zh-CN" sz="1800" b="1" dirty="0">
                <a:latin typeface="宋体" panose="02010600030101010101" pitchFamily="2" charset="-122"/>
              </a:rPr>
              <a:t>-</a:t>
            </a:r>
            <a:r>
              <a:rPr lang="zh-CN" altLang="en-US" sz="1800" b="1" dirty="0">
                <a:latin typeface="宋体" panose="02010600030101010101" pitchFamily="2" charset="-122"/>
              </a:rPr>
              <a:t>主机间为</a:t>
            </a:r>
            <a:r>
              <a:rPr lang="zh-CN" altLang="en-US" sz="1800" b="1" dirty="0">
                <a:solidFill>
                  <a:srgbClr val="0070C0"/>
                </a:solidFill>
                <a:latin typeface="宋体" panose="02010600030101010101" pitchFamily="2" charset="-122"/>
              </a:rPr>
              <a:t>并行传送</a:t>
            </a:r>
            <a:r>
              <a:rPr lang="zh-CN" altLang="en-US" sz="1800" b="1" dirty="0">
                <a:latin typeface="宋体" panose="02010600030101010101" pitchFamily="2" charset="-122"/>
              </a:rPr>
              <a:t>方式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总线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endParaRPr lang="zh-CN" altLang="en-US" sz="1800" b="1" dirty="0">
              <a:latin typeface="+mn-ea"/>
              <a:ea typeface="+mn-ea"/>
            </a:endParaRPr>
          </a:p>
        </p:txBody>
      </p:sp>
      <p:sp>
        <p:nvSpPr>
          <p:cNvPr id="17" name="线形标注 2 12">
            <a:extLst>
              <a:ext uri="{FF2B5EF4-FFF2-40B4-BE49-F238E27FC236}">
                <a16:creationId xmlns:a16="http://schemas.microsoft.com/office/drawing/2014/main" id="{12446201-8B77-48FE-9427-3FA6B7679D1B}"/>
              </a:ext>
            </a:extLst>
          </p:cNvPr>
          <p:cNvSpPr/>
          <p:nvPr/>
        </p:nvSpPr>
        <p:spPr bwMode="auto">
          <a:xfrm>
            <a:off x="3059832" y="5517232"/>
            <a:ext cx="1404000" cy="288032"/>
          </a:xfrm>
          <a:prstGeom prst="borderCallout2">
            <a:avLst>
              <a:gd name="adj1" fmla="val 50463"/>
              <a:gd name="adj2" fmla="val 145"/>
              <a:gd name="adj3" fmla="val 50920"/>
              <a:gd name="adj4" fmla="val -14054"/>
              <a:gd name="adj5" fmla="val -319780"/>
              <a:gd name="adj6" fmla="val -26219"/>
            </a:avLst>
          </a:prstGeom>
          <a:noFill/>
          <a:ln w="12700" cap="flat" cmpd="sng" algn="ctr">
            <a:solidFill>
              <a:srgbClr val="0070C0"/>
            </a:solidFill>
            <a:prstDash val="sysDash"/>
            <a:round/>
            <a:headEnd type="none" w="med" len="med"/>
            <a:tailEnd type="arrow" w="sm" len="sm"/>
          </a:ln>
          <a:effectLst/>
        </p:spPr>
        <p:txBody>
          <a:bodyPr vert="horz" wrap="square" lIns="36000" tIns="18000" rIns="36000" bIns="18000" numCol="1" rtlCol="0" anchor="ctr" anchorCtr="0" compatLnSpc="1"/>
          <a:lstStyle/>
          <a:p>
            <a:pPr>
              <a:lnSpc>
                <a:spcPct val="90000"/>
              </a:lnSpc>
            </a:pPr>
            <a:r>
              <a:rPr lang="en-US" altLang="zh-CN" sz="1800" b="1" dirty="0">
                <a:latin typeface="+mn-ea"/>
                <a:ea typeface="+mn-ea"/>
              </a:rPr>
              <a:t>CPU</a:t>
            </a:r>
            <a:r>
              <a:rPr lang="zh-CN" altLang="en-US" sz="1800" b="1" dirty="0">
                <a:latin typeface="+mn-ea"/>
                <a:ea typeface="+mn-ea"/>
              </a:rPr>
              <a:t>负责实现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EE9D8618-95A9-40B2-84B3-D75B8C8BE5F1}"/>
              </a:ext>
            </a:extLst>
          </p:cNvPr>
          <p:cNvGrpSpPr/>
          <p:nvPr/>
        </p:nvGrpSpPr>
        <p:grpSpPr>
          <a:xfrm>
            <a:off x="7236296" y="4401737"/>
            <a:ext cx="1728192" cy="1009063"/>
            <a:chOff x="7236296" y="4401737"/>
            <a:chExt cx="1728192" cy="1009063"/>
          </a:xfrm>
        </p:grpSpPr>
        <p:sp>
          <p:nvSpPr>
            <p:cNvPr id="2" name="右大括号 1"/>
            <p:cNvSpPr/>
            <p:nvPr/>
          </p:nvSpPr>
          <p:spPr bwMode="auto">
            <a:xfrm>
              <a:off x="7355368" y="4401737"/>
              <a:ext cx="107999" cy="504000"/>
            </a:xfrm>
            <a:prstGeom prst="rightBrace">
              <a:avLst>
                <a:gd name="adj1" fmla="val 34788"/>
                <a:gd name="adj2" fmla="val 50000"/>
              </a:avLst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" name="Text Box 161"/>
            <p:cNvSpPr txBox="1">
              <a:spLocks noChangeArrowheads="1"/>
            </p:cNvSpPr>
            <p:nvPr/>
          </p:nvSpPr>
          <p:spPr bwMode="auto">
            <a:xfrm>
              <a:off x="7463133" y="4509737"/>
              <a:ext cx="1501355" cy="288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适于</a:t>
              </a:r>
              <a:r>
                <a:rPr lang="zh-CN" altLang="en-US" sz="1800" b="1" dirty="0">
                  <a:solidFill>
                    <a:srgbClr val="990099"/>
                  </a:solidFill>
                  <a:latin typeface="宋体" panose="02010600030101010101" pitchFamily="2" charset="-122"/>
                </a:rPr>
                <a:t>字符</a:t>
              </a:r>
              <a:r>
                <a:rPr lang="zh-CN" altLang="en-US" sz="1800" b="1" dirty="0">
                  <a:latin typeface="宋体" panose="02010600030101010101" pitchFamily="2" charset="-122"/>
                </a:rPr>
                <a:t>设备</a:t>
              </a:r>
            </a:p>
          </p:txBody>
        </p:sp>
        <p:sp>
          <p:nvSpPr>
            <p:cNvPr id="18" name="Text Box 161">
              <a:extLst>
                <a:ext uri="{FF2B5EF4-FFF2-40B4-BE49-F238E27FC236}">
                  <a16:creationId xmlns:a16="http://schemas.microsoft.com/office/drawing/2014/main" id="{CC9DE3AB-ECF8-4AFD-9DAA-52646BDBFC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36296" y="5122800"/>
              <a:ext cx="1501355" cy="288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←适于</a:t>
              </a:r>
              <a:r>
                <a:rPr lang="zh-CN" altLang="en-US" sz="1800" b="1" dirty="0">
                  <a:solidFill>
                    <a:srgbClr val="990099"/>
                  </a:solidFill>
                  <a:latin typeface="宋体" panose="02010600030101010101" pitchFamily="2" charset="-122"/>
                </a:rPr>
                <a:t>块</a:t>
              </a:r>
              <a:r>
                <a:rPr lang="zh-CN" altLang="en-US" sz="1800" b="1" dirty="0">
                  <a:latin typeface="宋体" panose="02010600030101010101" pitchFamily="2" charset="-122"/>
                </a:rPr>
                <a:t>设备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6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6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77" grpId="0"/>
      <p:bldP spid="6178" grpId="0"/>
      <p:bldP spid="6179" grpId="0"/>
      <p:bldP spid="14" grpId="0" animBg="1"/>
      <p:bldP spid="13" grpId="0" animBg="1"/>
      <p:bldP spid="16" grpId="0" animBg="1"/>
      <p:bldP spid="17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Box 4"/>
          <p:cNvSpPr txBox="1">
            <a:spLocks noChangeArrowheads="1"/>
          </p:cNvSpPr>
          <p:nvPr/>
        </p:nvSpPr>
        <p:spPr bwMode="auto">
          <a:xfrm>
            <a:off x="179512" y="764704"/>
            <a:ext cx="3744416" cy="4246099"/>
          </a:xfrm>
          <a:prstGeom prst="rect">
            <a:avLst/>
          </a:prstGeom>
          <a:noFill/>
          <a:ln w="38100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访问方法：</a:t>
            </a: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90000"/>
              </a:lnSpc>
              <a:spcBef>
                <a:spcPts val="0"/>
              </a:spcBef>
            </a:pPr>
            <a:endParaRPr lang="en-US" altLang="zh-CN" sz="18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访问指令：</a:t>
            </a: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ISA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统一编址时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</a:p>
          <a:p>
            <a:pPr algn="l">
              <a:lnSpc>
                <a:spcPct val="125000"/>
              </a:lnSpc>
              <a:spcBef>
                <a:spcPts val="0"/>
              </a:spcBef>
            </a:pPr>
            <a:endParaRPr lang="en-US" altLang="zh-CN" sz="18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300"/>
              </a:spcBef>
            </a:pP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ISA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独立编址时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</a:p>
          <a:p>
            <a:pPr algn="l">
              <a:lnSpc>
                <a:spcPct val="125000"/>
              </a:lnSpc>
              <a:spcBef>
                <a:spcPts val="0"/>
              </a:spcBef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1500"/>
              </a:spcBef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*访问时机：</a:t>
            </a: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BFB63-B979-4FAE-8763-D7093A979077}" type="slidenum">
              <a:rPr lang="en-US" altLang="zh-CN" smtClean="0"/>
              <a:t>25</a:t>
            </a:fld>
            <a:endParaRPr lang="en-US" altLang="zh-CN"/>
          </a:p>
        </p:txBody>
      </p:sp>
      <p:sp>
        <p:nvSpPr>
          <p:cNvPr id="3" name="Text Box 4"/>
          <p:cNvSpPr txBox="1">
            <a:spLocks noChangeArrowheads="1"/>
          </p:cNvSpPr>
          <p:nvPr/>
        </p:nvSpPr>
        <p:spPr bwMode="auto">
          <a:xfrm>
            <a:off x="179388" y="332656"/>
            <a:ext cx="8785225" cy="3905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tIns="10795" bIns="10795" anchor="ctr" anchorCtr="0">
            <a:spAutoFit/>
          </a:bodyPr>
          <a:lstStyle>
            <a:defPPr>
              <a:defRPr lang="zh-CN"/>
            </a:defPPr>
            <a:lvl1pPr algn="l">
              <a:defRPr b="1">
                <a:solidFill>
                  <a:srgbClr val="FF3300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1pPr>
          </a:lstStyle>
          <a:p>
            <a:r>
              <a:rPr lang="en-US" altLang="zh-CN" dirty="0">
                <a:solidFill>
                  <a:srgbClr val="FF3399"/>
                </a:solidFill>
                <a:latin typeface="+mn-ea"/>
                <a:ea typeface="+mn-ea"/>
              </a:rPr>
              <a:t>3</a:t>
            </a:r>
            <a:r>
              <a:rPr lang="zh-CN" altLang="en-US" dirty="0">
                <a:solidFill>
                  <a:srgbClr val="FF3399"/>
                </a:solidFill>
                <a:latin typeface="+mn-ea"/>
                <a:ea typeface="+mn-ea"/>
              </a:rPr>
              <a:t>、</a:t>
            </a:r>
            <a:r>
              <a:rPr lang="en-US" altLang="zh-CN" dirty="0">
                <a:solidFill>
                  <a:srgbClr val="FF3399"/>
                </a:solidFill>
                <a:latin typeface="+mn-ea"/>
                <a:ea typeface="+mn-ea"/>
              </a:rPr>
              <a:t>I/O</a:t>
            </a:r>
            <a:r>
              <a:rPr lang="zh-CN" altLang="en-US" dirty="0">
                <a:solidFill>
                  <a:srgbClr val="FF3399"/>
                </a:solidFill>
                <a:latin typeface="+mn-ea"/>
                <a:ea typeface="+mn-ea"/>
              </a:rPr>
              <a:t>接口的软件访问</a:t>
            </a:r>
          </a:p>
        </p:txBody>
      </p:sp>
      <p:sp>
        <p:nvSpPr>
          <p:cNvPr id="4" name="Text Box 179"/>
          <p:cNvSpPr txBox="1">
            <a:spLocks noChangeArrowheads="1"/>
          </p:cNvSpPr>
          <p:nvPr/>
        </p:nvSpPr>
        <p:spPr bwMode="auto">
          <a:xfrm>
            <a:off x="2915816" y="1844824"/>
            <a:ext cx="5976664" cy="1946687"/>
          </a:xfrm>
          <a:prstGeom prst="rect">
            <a:avLst/>
          </a:prstGeom>
          <a:noFill/>
          <a:ln w="38100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sz="2200" b="1" dirty="0">
                <a:latin typeface="宋体" panose="02010600030101010101" pitchFamily="2" charset="-122"/>
              </a:rPr>
              <a:t>访存指令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sz="1800" b="1" dirty="0">
                <a:latin typeface="宋体" panose="02010600030101010101" pitchFamily="2" charset="-122"/>
              </a:rPr>
              <a:t>  </a:t>
            </a:r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</a:rPr>
              <a:t>如：</a:t>
            </a:r>
            <a:r>
              <a:rPr lang="en-US" altLang="zh-CN" sz="1800" b="1" dirty="0">
                <a:latin typeface="宋体" panose="02010600030101010101" pitchFamily="2" charset="-122"/>
              </a:rPr>
              <a:t>MIPS</a:t>
            </a:r>
            <a:r>
              <a:rPr lang="zh-CN" altLang="en-US" sz="1800" b="1" dirty="0">
                <a:latin typeface="宋体" panose="02010600030101010101" pitchFamily="2" charset="-122"/>
              </a:rPr>
              <a:t>的</a:t>
            </a:r>
            <a:r>
              <a:rPr lang="en-US" altLang="zh-CN" sz="1800" b="1" dirty="0" err="1">
                <a:solidFill>
                  <a:srgbClr val="FF3399"/>
                </a:solidFill>
                <a:latin typeface="宋体" panose="02010600030101010101" pitchFamily="2" charset="-122"/>
              </a:rPr>
              <a:t>lw</a:t>
            </a:r>
            <a:r>
              <a:rPr lang="en-US" altLang="zh-CN" sz="1800" b="1" dirty="0">
                <a:latin typeface="宋体" panose="02010600030101010101" pitchFamily="2" charset="-122"/>
              </a:rPr>
              <a:t> </a:t>
            </a:r>
            <a:r>
              <a:rPr lang="en-US" altLang="zh-CN" sz="1800" b="1" dirty="0" err="1">
                <a:latin typeface="宋体" panose="02010600030101010101" pitchFamily="2" charset="-122"/>
              </a:rPr>
              <a:t>rt,</a:t>
            </a:r>
            <a:r>
              <a:rPr lang="en-US" altLang="zh-CN" sz="1800" b="1" dirty="0" err="1">
                <a:solidFill>
                  <a:srgbClr val="C00000"/>
                </a:solidFill>
                <a:latin typeface="宋体" panose="02010600030101010101" pitchFamily="2" charset="-122"/>
              </a:rPr>
              <a:t>disp</a:t>
            </a:r>
            <a:r>
              <a:rPr lang="en-US" altLang="zh-CN" sz="1800" b="1" dirty="0">
                <a:solidFill>
                  <a:srgbClr val="C00000"/>
                </a:solidFill>
                <a:latin typeface="宋体" panose="02010600030101010101" pitchFamily="2" charset="-122"/>
              </a:rPr>
              <a:t>(</a:t>
            </a:r>
            <a:r>
              <a:rPr lang="en-US" altLang="zh-CN" sz="1800" b="1" dirty="0" err="1">
                <a:solidFill>
                  <a:srgbClr val="C00000"/>
                </a:solidFill>
                <a:latin typeface="宋体" panose="02010600030101010101" pitchFamily="2" charset="-122"/>
              </a:rPr>
              <a:t>rs</a:t>
            </a:r>
            <a:r>
              <a:rPr lang="en-US" altLang="zh-CN" sz="1800" b="1" dirty="0">
                <a:solidFill>
                  <a:srgbClr val="C00000"/>
                </a:solidFill>
                <a:latin typeface="宋体" panose="02010600030101010101" pitchFamily="2" charset="-122"/>
              </a:rPr>
              <a:t>)</a:t>
            </a:r>
            <a:r>
              <a:rPr lang="en-US" altLang="zh-CN" sz="1800" b="1" dirty="0">
                <a:latin typeface="宋体" panose="02010600030101010101" pitchFamily="2" charset="-122"/>
              </a:rPr>
              <a:t> </a:t>
            </a:r>
            <a:r>
              <a:rPr lang="zh-CN" altLang="en-US" sz="1800" b="1" dirty="0">
                <a:latin typeface="宋体" panose="02010600030101010101" pitchFamily="2" charset="-122"/>
              </a:rPr>
              <a:t>及 </a:t>
            </a:r>
            <a:r>
              <a:rPr lang="en-US" altLang="zh-CN" sz="1800" b="1" dirty="0" err="1">
                <a:solidFill>
                  <a:srgbClr val="FF3399"/>
                </a:solidFill>
                <a:latin typeface="宋体" panose="02010600030101010101" pitchFamily="2" charset="-122"/>
              </a:rPr>
              <a:t>sw</a:t>
            </a:r>
            <a:r>
              <a:rPr lang="en-US" altLang="zh-CN" sz="1800" b="1" dirty="0">
                <a:latin typeface="宋体" panose="02010600030101010101" pitchFamily="2" charset="-122"/>
              </a:rPr>
              <a:t> </a:t>
            </a:r>
            <a:r>
              <a:rPr lang="en-US" altLang="zh-CN" sz="1800" b="1" dirty="0" err="1">
                <a:latin typeface="宋体" panose="02010600030101010101" pitchFamily="2" charset="-122"/>
              </a:rPr>
              <a:t>rt,disp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en-US" altLang="zh-CN" sz="1800" b="1" dirty="0" err="1">
                <a:latin typeface="宋体" panose="02010600030101010101" pitchFamily="2" charset="-122"/>
              </a:rPr>
              <a:t>rs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</a:p>
          <a:p>
            <a:pPr algn="l">
              <a:lnSpc>
                <a:spcPct val="125000"/>
              </a:lnSpc>
              <a:spcBef>
                <a:spcPts val="300"/>
              </a:spcBef>
            </a:pPr>
            <a:r>
              <a:rPr lang="en-US" altLang="zh-CN" sz="2200" b="1" dirty="0">
                <a:latin typeface="宋体" panose="02010600030101010101" pitchFamily="2" charset="-122"/>
              </a:rPr>
              <a:t>I/O</a:t>
            </a:r>
            <a:r>
              <a:rPr lang="zh-CN" altLang="en-US" sz="2200" b="1" dirty="0">
                <a:latin typeface="宋体" panose="02010600030101010101" pitchFamily="2" charset="-122"/>
              </a:rPr>
              <a:t>指令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sz="1800" b="1" dirty="0">
                <a:latin typeface="宋体" panose="02010600030101010101" pitchFamily="2" charset="-122"/>
              </a:rPr>
              <a:t>  </a:t>
            </a:r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</a:rPr>
              <a:t>如：</a:t>
            </a:r>
            <a:r>
              <a:rPr lang="en-US" altLang="zh-CN" sz="1800" b="1" dirty="0">
                <a:latin typeface="宋体" panose="02010600030101010101" pitchFamily="2" charset="-122"/>
              </a:rPr>
              <a:t>8086</a:t>
            </a:r>
            <a:r>
              <a:rPr lang="zh-CN" altLang="en-US" sz="1800" b="1" dirty="0">
                <a:latin typeface="宋体" panose="02010600030101010101" pitchFamily="2" charset="-122"/>
              </a:rPr>
              <a:t>的</a:t>
            </a:r>
            <a:r>
              <a:rPr lang="en-US" altLang="zh-CN" sz="1800" b="1" spc="150" dirty="0">
                <a:latin typeface="宋体" panose="02010600030101010101" pitchFamily="2" charset="-122"/>
              </a:rPr>
              <a:t>I/O</a:t>
            </a:r>
            <a:r>
              <a:rPr lang="zh-CN" altLang="en-US" sz="1800" b="1" spc="150" dirty="0">
                <a:latin typeface="宋体" panose="02010600030101010101" pitchFamily="2" charset="-122"/>
              </a:rPr>
              <a:t>指令</a:t>
            </a:r>
            <a:r>
              <a:rPr lang="zh-CN" altLang="en-US" sz="1800" b="1" dirty="0">
                <a:latin typeface="宋体" panose="02010600030101010101" pitchFamily="2" charset="-122"/>
              </a:rPr>
              <a:t>为 </a:t>
            </a:r>
            <a:r>
              <a:rPr lang="en-US" altLang="zh-CN" sz="1800" b="1" dirty="0">
                <a:solidFill>
                  <a:srgbClr val="FF3399"/>
                </a:solidFill>
                <a:latin typeface="宋体" panose="02010600030101010101" pitchFamily="2" charset="-122"/>
              </a:rPr>
              <a:t>IN</a:t>
            </a:r>
            <a:r>
              <a:rPr lang="en-US" altLang="zh-CN" sz="1800" b="1" dirty="0">
                <a:latin typeface="宋体" panose="02010600030101010101" pitchFamily="2" charset="-122"/>
              </a:rPr>
              <a:t> AL</a:t>
            </a:r>
            <a:r>
              <a:rPr lang="en-US" altLang="zh-CN" sz="1800" b="1" dirty="0">
                <a:latin typeface="+mn-ea"/>
                <a:ea typeface="+mn-ea"/>
              </a:rPr>
              <a:t>,</a:t>
            </a:r>
            <a:r>
              <a:rPr lang="en-US" altLang="zh-CN" sz="1800" b="1" dirty="0">
                <a:solidFill>
                  <a:srgbClr val="C00000"/>
                </a:solidFill>
                <a:latin typeface="宋体" panose="02010600030101010101" pitchFamily="2" charset="-122"/>
              </a:rPr>
              <a:t>DX</a:t>
            </a:r>
            <a:r>
              <a:rPr lang="en-US" altLang="zh-CN" sz="1800" b="1" dirty="0">
                <a:latin typeface="宋体" panose="02010600030101010101" pitchFamily="2" charset="-122"/>
              </a:rPr>
              <a:t>    </a:t>
            </a:r>
            <a:r>
              <a:rPr lang="zh-CN" altLang="en-US" sz="1800" b="1" dirty="0">
                <a:latin typeface="宋体" panose="02010600030101010101" pitchFamily="2" charset="-122"/>
              </a:rPr>
              <a:t>及 </a:t>
            </a:r>
            <a:r>
              <a:rPr lang="en-US" altLang="zh-CN" sz="1800" b="1" dirty="0">
                <a:solidFill>
                  <a:srgbClr val="FF3399"/>
                </a:solidFill>
                <a:latin typeface="宋体" panose="02010600030101010101" pitchFamily="2" charset="-122"/>
              </a:rPr>
              <a:t>OUT</a:t>
            </a:r>
            <a:r>
              <a:rPr lang="en-US" altLang="zh-CN" sz="1800" b="1" dirty="0">
                <a:latin typeface="宋体" panose="02010600030101010101" pitchFamily="2" charset="-122"/>
              </a:rPr>
              <a:t> DX</a:t>
            </a:r>
            <a:r>
              <a:rPr lang="en-US" altLang="zh-CN" sz="1800" b="1" dirty="0">
                <a:latin typeface="+mn-ea"/>
                <a:ea typeface="+mn-ea"/>
              </a:rPr>
              <a:t>,</a:t>
            </a:r>
            <a:r>
              <a:rPr lang="en-US" altLang="zh-CN" sz="1800" b="1" dirty="0">
                <a:latin typeface="宋体" panose="02010600030101010101" pitchFamily="2" charset="-122"/>
              </a:rPr>
              <a:t>AL</a:t>
            </a:r>
          </a:p>
          <a:p>
            <a:pPr algn="l"/>
            <a:r>
              <a:rPr lang="en-US" altLang="zh-CN" sz="1800" b="1" dirty="0">
                <a:latin typeface="宋体" panose="02010600030101010101" pitchFamily="2" charset="-122"/>
              </a:rPr>
              <a:t>      8086</a:t>
            </a:r>
            <a:r>
              <a:rPr lang="zh-CN" altLang="en-US" sz="1800" b="1" dirty="0">
                <a:latin typeface="宋体" panose="02010600030101010101" pitchFamily="2" charset="-122"/>
              </a:rPr>
              <a:t>的访存指令为 </a:t>
            </a:r>
            <a:r>
              <a:rPr lang="en-US" altLang="zh-CN" sz="1800" b="1" dirty="0">
                <a:solidFill>
                  <a:srgbClr val="FF3399"/>
                </a:solidFill>
                <a:latin typeface="宋体" panose="02010600030101010101" pitchFamily="2" charset="-122"/>
              </a:rPr>
              <a:t>MOV</a:t>
            </a:r>
            <a:r>
              <a:rPr lang="en-US" altLang="zh-CN" sz="1800" b="1" dirty="0">
                <a:latin typeface="宋体" panose="02010600030101010101" pitchFamily="2" charset="-122"/>
              </a:rPr>
              <a:t> AL,[BX] </a:t>
            </a:r>
            <a:r>
              <a:rPr lang="zh-CN" altLang="en-US" sz="1800" b="1" dirty="0">
                <a:latin typeface="宋体" panose="02010600030101010101" pitchFamily="2" charset="-122"/>
              </a:rPr>
              <a:t>及 </a:t>
            </a:r>
            <a:r>
              <a:rPr lang="en-US" altLang="zh-CN" sz="1800" b="1" dirty="0">
                <a:solidFill>
                  <a:srgbClr val="FF3399"/>
                </a:solidFill>
                <a:latin typeface="宋体" panose="02010600030101010101" pitchFamily="2" charset="-122"/>
              </a:rPr>
              <a:t>MOV</a:t>
            </a:r>
            <a:r>
              <a:rPr lang="en-US" altLang="zh-CN" sz="1800" b="1" dirty="0">
                <a:latin typeface="宋体" panose="02010600030101010101" pitchFamily="2" charset="-122"/>
              </a:rPr>
              <a:t> [BX],AL</a:t>
            </a:r>
          </a:p>
        </p:txBody>
      </p:sp>
      <p:sp>
        <p:nvSpPr>
          <p:cNvPr id="7" name="Text Box 179"/>
          <p:cNvSpPr txBox="1">
            <a:spLocks noChangeArrowheads="1"/>
          </p:cNvSpPr>
          <p:nvPr/>
        </p:nvSpPr>
        <p:spPr bwMode="auto">
          <a:xfrm>
            <a:off x="1907455" y="4509120"/>
            <a:ext cx="5400849" cy="457369"/>
          </a:xfrm>
          <a:prstGeom prst="rect">
            <a:avLst/>
          </a:prstGeom>
          <a:noFill/>
          <a:ln w="38100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sz="2200" b="1" dirty="0">
                <a:latin typeface="宋体" panose="02010600030101010101" pitchFamily="2" charset="-122"/>
              </a:rPr>
              <a:t>取决于软件需求、</a:t>
            </a:r>
            <a:r>
              <a:rPr lang="en-US" altLang="zh-CN" sz="2200" b="1" dirty="0">
                <a:latin typeface="宋体" panose="02010600030101010101" pitchFamily="2" charset="-122"/>
              </a:rPr>
              <a:t>I/O</a:t>
            </a:r>
            <a:r>
              <a:rPr lang="zh-CN" altLang="en-US" sz="2200" b="1" dirty="0">
                <a:latin typeface="宋体" panose="02010600030101010101" pitchFamily="2" charset="-122"/>
              </a:rPr>
              <a:t>方式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如查询</a:t>
            </a:r>
            <a:r>
              <a:rPr lang="en-US" altLang="zh-CN" sz="1800" b="1" dirty="0">
                <a:latin typeface="宋体" panose="02010600030101010101" pitchFamily="2" charset="-122"/>
              </a:rPr>
              <a:t>/</a:t>
            </a:r>
            <a:r>
              <a:rPr lang="zh-CN" altLang="en-US" sz="1800" b="1" dirty="0">
                <a:latin typeface="宋体" panose="02010600030101010101" pitchFamily="2" charset="-122"/>
              </a:rPr>
              <a:t>中断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endParaRPr lang="en-US" altLang="zh-CN" sz="2200" b="1" dirty="0">
              <a:latin typeface="宋体" panose="02010600030101010101" pitchFamily="2" charset="-122"/>
            </a:endParaRPr>
          </a:p>
        </p:txBody>
      </p:sp>
      <p:sp>
        <p:nvSpPr>
          <p:cNvPr id="8" name="Text Box 36"/>
          <p:cNvSpPr txBox="1">
            <a:spLocks noChangeArrowheads="1"/>
          </p:cNvSpPr>
          <p:nvPr/>
        </p:nvSpPr>
        <p:spPr bwMode="auto">
          <a:xfrm>
            <a:off x="827461" y="5919663"/>
            <a:ext cx="3960563" cy="400110"/>
          </a:xfrm>
          <a:prstGeom prst="rect">
            <a:avLst/>
          </a:prstGeom>
          <a:solidFill>
            <a:srgbClr val="99CCFF"/>
          </a:solidFill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/>
            <a:r>
              <a:rPr lang="zh-CN" altLang="en-US" sz="2000" b="1" dirty="0">
                <a:solidFill>
                  <a:srgbClr val="CC3300"/>
                </a:solidFill>
                <a:latin typeface="宋体" panose="02010600030101010101" pitchFamily="2" charset="-122"/>
              </a:rPr>
              <a:t>作业</a:t>
            </a:r>
            <a:r>
              <a:rPr lang="en-US" altLang="zh-CN" sz="2000" b="1" dirty="0">
                <a:solidFill>
                  <a:srgbClr val="CC3300"/>
                </a:solidFill>
                <a:latin typeface="宋体" panose="02010600030101010101" pitchFamily="2" charset="-122"/>
              </a:rPr>
              <a:t>7-1</a:t>
            </a:r>
            <a:r>
              <a:rPr lang="zh-CN" altLang="en-US" sz="2000" b="1" dirty="0">
                <a:solidFill>
                  <a:srgbClr val="CC3300"/>
                </a:solidFill>
                <a:latin typeface="宋体" panose="02010600030101010101" pitchFamily="2" charset="-122"/>
              </a:rPr>
              <a:t>：</a:t>
            </a:r>
            <a:r>
              <a:rPr lang="en-US" altLang="zh-CN" sz="2000" b="1" dirty="0">
                <a:latin typeface="宋体" panose="02010600030101010101" pitchFamily="2" charset="-122"/>
              </a:rPr>
              <a:t>P293—</a:t>
            </a:r>
            <a:r>
              <a:rPr lang="en-US" altLang="zh-CN" sz="2000" b="1" dirty="0">
                <a:solidFill>
                  <a:srgbClr val="CC33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000" b="1" dirty="0">
                <a:latin typeface="宋体" panose="02010600030101010101" pitchFamily="2" charset="-122"/>
              </a:rPr>
              <a:t>4</a:t>
            </a:r>
            <a:r>
              <a:rPr lang="zh-CN" altLang="en-US" sz="2000" b="1" dirty="0">
                <a:latin typeface="宋体" panose="02010600030101010101" pitchFamily="2" charset="-122"/>
              </a:rPr>
              <a:t>、</a:t>
            </a:r>
            <a:r>
              <a:rPr lang="en-US" altLang="zh-CN" sz="2000" b="1" dirty="0">
                <a:latin typeface="宋体" panose="02010600030101010101" pitchFamily="2" charset="-122"/>
              </a:rPr>
              <a:t>9</a:t>
            </a:r>
            <a:r>
              <a:rPr lang="zh-CN" altLang="en-US" sz="2000" b="1" dirty="0">
                <a:latin typeface="宋体" panose="02010600030101010101" pitchFamily="2" charset="-122"/>
              </a:rPr>
              <a:t>、</a:t>
            </a:r>
            <a:r>
              <a:rPr lang="en-US" altLang="zh-CN" sz="2000" b="1" dirty="0">
                <a:latin typeface="宋体" panose="02010600030101010101" pitchFamily="2" charset="-122"/>
              </a:rPr>
              <a:t>10</a:t>
            </a:r>
          </a:p>
        </p:txBody>
      </p:sp>
      <p:sp>
        <p:nvSpPr>
          <p:cNvPr id="9" name="Text Box 30"/>
          <p:cNvSpPr txBox="1">
            <a:spLocks noChangeArrowheads="1"/>
          </p:cNvSpPr>
          <p:nvPr/>
        </p:nvSpPr>
        <p:spPr bwMode="auto">
          <a:xfrm>
            <a:off x="1331391" y="3789040"/>
            <a:ext cx="7417073" cy="70801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</a:rPr>
              <a:t>说明：</a:t>
            </a:r>
            <a:r>
              <a:rPr lang="en-US" altLang="zh-CN" sz="1800" b="1" dirty="0">
                <a:latin typeface="宋体" panose="02010600030101010101" pitchFamily="2" charset="-122"/>
              </a:rPr>
              <a:t>C</a:t>
            </a:r>
            <a:r>
              <a:rPr lang="zh-CN" altLang="en-US" sz="1800" b="1" dirty="0">
                <a:latin typeface="宋体" panose="02010600030101010101" pitchFamily="2" charset="-122"/>
              </a:rPr>
              <a:t>语言为</a:t>
            </a:r>
            <a:r>
              <a:rPr lang="en-US" altLang="zh-CN" sz="1800" b="1" dirty="0">
                <a:solidFill>
                  <a:srgbClr val="990099"/>
                </a:solidFill>
                <a:latin typeface="宋体" panose="02010600030101010101" pitchFamily="2" charset="-122"/>
              </a:rPr>
              <a:t>  </a:t>
            </a:r>
            <a:r>
              <a:rPr lang="en-US" altLang="zh-CN" sz="1800" b="1" spc="-100" dirty="0">
                <a:latin typeface="宋体" panose="02010600030101010101" pitchFamily="2" charset="-122"/>
              </a:rPr>
              <a:t>BYTE  _</a:t>
            </a:r>
            <a:r>
              <a:rPr lang="en-US" altLang="zh-CN" sz="1800" b="1" spc="-100" dirty="0" err="1">
                <a:latin typeface="宋体" panose="02010600030101010101" pitchFamily="2" charset="-122"/>
              </a:rPr>
              <a:t>inp</a:t>
            </a:r>
            <a:r>
              <a:rPr lang="en-US" altLang="zh-CN" sz="1800" b="1" spc="-100" dirty="0">
                <a:latin typeface="宋体" panose="02010600030101010101" pitchFamily="2" charset="-122"/>
              </a:rPr>
              <a:t>(unsigned short </a:t>
            </a:r>
            <a:r>
              <a:rPr lang="en-US" altLang="zh-CN" sz="1800" b="1" spc="-100" dirty="0" err="1">
                <a:latin typeface="宋体" panose="02010600030101010101" pitchFamily="2" charset="-122"/>
              </a:rPr>
              <a:t>usPort</a:t>
            </a:r>
            <a:r>
              <a:rPr lang="en-US" altLang="zh-CN" sz="1800" b="1" spc="-100" dirty="0">
                <a:latin typeface="宋体" panose="02010600030101010101" pitchFamily="2" charset="-122"/>
              </a:rPr>
              <a:t>)</a:t>
            </a:r>
            <a:r>
              <a:rPr lang="en-US" altLang="zh-CN" sz="1800" b="1" spc="-100" dirty="0"/>
              <a:t>;</a:t>
            </a:r>
          </a:p>
          <a:p>
            <a:pPr algn="l">
              <a:lnSpc>
                <a:spcPct val="105000"/>
              </a:lnSpc>
            </a:pPr>
            <a:r>
              <a:rPr lang="en-US" altLang="zh-CN" sz="1800" b="1" dirty="0">
                <a:latin typeface="宋体" panose="02010600030101010101" pitchFamily="2" charset="-122"/>
              </a:rPr>
              <a:t>               </a:t>
            </a:r>
            <a:r>
              <a:rPr lang="en-US" altLang="zh-CN" sz="1800" b="1" spc="-100" dirty="0">
                <a:latin typeface="宋体" panose="02010600030101010101" pitchFamily="2" charset="-122"/>
              </a:rPr>
              <a:t>BYTE _</a:t>
            </a:r>
            <a:r>
              <a:rPr lang="en-US" altLang="zh-CN" sz="1800" b="1" spc="-100" dirty="0" err="1">
                <a:latin typeface="宋体" panose="02010600030101010101" pitchFamily="2" charset="-122"/>
              </a:rPr>
              <a:t>outp</a:t>
            </a:r>
            <a:r>
              <a:rPr lang="en-US" altLang="zh-CN" sz="1800" b="1" spc="-100" dirty="0">
                <a:latin typeface="宋体" panose="02010600030101010101" pitchFamily="2" charset="-122"/>
              </a:rPr>
              <a:t>(unsigned short </a:t>
            </a:r>
            <a:r>
              <a:rPr lang="en-US" altLang="zh-CN" sz="1800" b="1" spc="-100" dirty="0" err="1">
                <a:latin typeface="宋体" panose="02010600030101010101" pitchFamily="2" charset="-122"/>
              </a:rPr>
              <a:t>usPort</a:t>
            </a:r>
            <a:r>
              <a:rPr lang="zh-CN" altLang="en-US" sz="1800" b="1" spc="-100" dirty="0"/>
              <a:t>，</a:t>
            </a:r>
            <a:r>
              <a:rPr lang="en-US" altLang="zh-CN" sz="1800" b="1" spc="-100" dirty="0">
                <a:latin typeface="宋体" panose="02010600030101010101" pitchFamily="2" charset="-122"/>
              </a:rPr>
              <a:t>BYTE </a:t>
            </a:r>
            <a:r>
              <a:rPr lang="en-US" altLang="zh-CN" sz="1800" b="1" spc="-100" dirty="0" err="1">
                <a:latin typeface="宋体" panose="02010600030101010101" pitchFamily="2" charset="-122"/>
              </a:rPr>
              <a:t>btData</a:t>
            </a:r>
            <a:r>
              <a:rPr lang="en-US" altLang="zh-CN" sz="1800" b="1" spc="-100" dirty="0">
                <a:latin typeface="宋体" panose="02010600030101010101" pitchFamily="2" charset="-122"/>
              </a:rPr>
              <a:t>)</a:t>
            </a:r>
            <a:r>
              <a:rPr lang="en-US" altLang="zh-CN" sz="1800" b="1" spc="-100" dirty="0"/>
              <a:t>;</a:t>
            </a:r>
          </a:p>
        </p:txBody>
      </p:sp>
      <p:grpSp>
        <p:nvGrpSpPr>
          <p:cNvPr id="10" name="Group 41"/>
          <p:cNvGrpSpPr/>
          <p:nvPr/>
        </p:nvGrpSpPr>
        <p:grpSpPr bwMode="auto">
          <a:xfrm>
            <a:off x="4355976" y="2782800"/>
            <a:ext cx="3616325" cy="252412"/>
            <a:chOff x="2925" y="2069"/>
            <a:chExt cx="2278" cy="159"/>
          </a:xfrm>
        </p:grpSpPr>
        <p:sp>
          <p:nvSpPr>
            <p:cNvPr id="11" name="Text Box 22"/>
            <p:cNvSpPr txBox="1">
              <a:spLocks noChangeArrowheads="1"/>
            </p:cNvSpPr>
            <p:nvPr/>
          </p:nvSpPr>
          <p:spPr bwMode="auto">
            <a:xfrm>
              <a:off x="2925" y="2069"/>
              <a:ext cx="554" cy="159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操作码</a:t>
              </a:r>
            </a:p>
          </p:txBody>
        </p:sp>
        <p:sp>
          <p:nvSpPr>
            <p:cNvPr id="12" name="Text Box 23"/>
            <p:cNvSpPr txBox="1">
              <a:spLocks noChangeArrowheads="1"/>
            </p:cNvSpPr>
            <p:nvPr/>
          </p:nvSpPr>
          <p:spPr bwMode="auto">
            <a:xfrm>
              <a:off x="3479" y="2069"/>
              <a:ext cx="862" cy="159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I/O</a:t>
              </a:r>
              <a:r>
                <a:rPr lang="zh-CN" altLang="en-US" sz="1800" b="1" dirty="0">
                  <a:latin typeface="宋体" panose="02010600030101010101" pitchFamily="2" charset="-122"/>
                </a:rPr>
                <a:t>端口地址</a:t>
              </a:r>
            </a:p>
          </p:txBody>
        </p:sp>
        <p:sp>
          <p:nvSpPr>
            <p:cNvPr id="13" name="Text Box 24"/>
            <p:cNvSpPr txBox="1">
              <a:spLocks noChangeArrowheads="1"/>
            </p:cNvSpPr>
            <p:nvPr/>
          </p:nvSpPr>
          <p:spPr bwMode="auto">
            <a:xfrm>
              <a:off x="4341" y="2069"/>
              <a:ext cx="862" cy="159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CPU</a:t>
              </a:r>
              <a:r>
                <a:rPr lang="zh-CN" altLang="en-US" sz="1800" b="1" dirty="0">
                  <a:latin typeface="宋体" panose="02010600030101010101" pitchFamily="2" charset="-122"/>
                </a:rPr>
                <a:t>的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REG</a:t>
              </a:r>
              <a:r>
                <a:rPr lang="zh-CN" altLang="en-US" sz="1800" b="1" dirty="0">
                  <a:latin typeface="宋体" panose="02010600030101010101" pitchFamily="2" charset="-122"/>
                </a:rPr>
                <a:t>号</a:t>
              </a:r>
            </a:p>
          </p:txBody>
        </p:sp>
      </p:grpSp>
      <p:sp>
        <p:nvSpPr>
          <p:cNvPr id="15" name="Text Box 179"/>
          <p:cNvSpPr txBox="1">
            <a:spLocks noChangeArrowheads="1"/>
          </p:cNvSpPr>
          <p:nvPr/>
        </p:nvSpPr>
        <p:spPr bwMode="auto">
          <a:xfrm>
            <a:off x="1871577" y="764704"/>
            <a:ext cx="6084799" cy="772584"/>
          </a:xfrm>
          <a:prstGeom prst="rect">
            <a:avLst/>
          </a:prstGeom>
          <a:noFill/>
          <a:ln w="38100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CPU</a:t>
            </a:r>
            <a:r>
              <a:rPr lang="zh-CN" altLang="en-US" sz="2200" b="1" u="sng" dirty="0">
                <a:latin typeface="宋体" panose="02010600030101010101" pitchFamily="2" charset="-122"/>
              </a:rPr>
              <a:t>执行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相应的</a:t>
            </a:r>
            <a:r>
              <a:rPr lang="zh-CN" altLang="en-US" sz="2200" b="1" dirty="0">
                <a:latin typeface="宋体" panose="02010600030101010101" pitchFamily="2" charset="-122"/>
              </a:rPr>
              <a:t>机器指令，访问</a:t>
            </a:r>
            <a:r>
              <a:rPr lang="zh-CN" altLang="en-US" sz="2200" b="1" u="sng" dirty="0">
                <a:latin typeface="宋体" panose="02010600030101010101" pitchFamily="2" charset="-122"/>
              </a:rPr>
              <a:t>一个</a:t>
            </a:r>
            <a:r>
              <a:rPr lang="en-US" altLang="zh-CN" sz="2200" b="1" u="sng" dirty="0">
                <a:latin typeface="宋体" panose="02010600030101010101" pitchFamily="2" charset="-122"/>
              </a:rPr>
              <a:t>I/O</a:t>
            </a:r>
            <a:r>
              <a:rPr lang="zh-CN" altLang="en-US" sz="2200" b="1" u="sng" dirty="0">
                <a:latin typeface="宋体" panose="02010600030101010101" pitchFamily="2" charset="-122"/>
              </a:rPr>
              <a:t>端口</a:t>
            </a:r>
            <a:endParaRPr lang="en-US" altLang="zh-CN" sz="2200" b="1" u="sng" dirty="0">
              <a:latin typeface="宋体" panose="02010600030101010101" pitchFamily="2" charset="-122"/>
            </a:endParaRPr>
          </a:p>
          <a:p>
            <a:pPr algn="l">
              <a:lnSpc>
                <a:spcPct val="90000"/>
              </a:lnSpc>
            </a:pPr>
            <a:r>
              <a:rPr lang="en-US" altLang="zh-CN" sz="1800" b="1" dirty="0">
                <a:latin typeface="宋体" panose="02010600030101010101" pitchFamily="2" charset="-122"/>
              </a:rPr>
              <a:t>     </a:t>
            </a:r>
            <a:r>
              <a:rPr lang="zh-CN" altLang="en-US" sz="1800" dirty="0">
                <a:latin typeface="宋体" panose="02010600030101010101" pitchFamily="2" charset="-122"/>
              </a:rPr>
              <a:t>└</a:t>
            </a:r>
            <a:r>
              <a:rPr lang="zh-CN" altLang="en-US" sz="1800" b="1" dirty="0">
                <a:latin typeface="宋体" panose="02010600030101010101" pitchFamily="2" charset="-122"/>
              </a:rPr>
              <a:t>→</a:t>
            </a:r>
            <a:r>
              <a:rPr lang="zh-CN" altLang="en-US" sz="1800" b="1" u="sng" dirty="0">
                <a:latin typeface="宋体" panose="02010600030101010101" pitchFamily="2" charset="-122"/>
              </a:rPr>
              <a:t>产生</a:t>
            </a:r>
            <a:r>
              <a:rPr lang="zh-CN" altLang="en-US" sz="1800" b="1" dirty="0">
                <a:latin typeface="宋体" panose="02010600030101010101" pitchFamily="2" charset="-122"/>
              </a:rPr>
              <a:t>总线事务→</a:t>
            </a:r>
            <a:r>
              <a:rPr lang="en-US" altLang="zh-CN" sz="1800" b="1" dirty="0">
                <a:solidFill>
                  <a:srgbClr val="FF3399"/>
                </a:solidFill>
                <a:latin typeface="宋体" panose="02010600030101010101" pitchFamily="2" charset="-122"/>
              </a:rPr>
              <a:t>I/O</a:t>
            </a:r>
            <a:r>
              <a:rPr lang="zh-CN" altLang="en-US" sz="1800" b="1" dirty="0">
                <a:solidFill>
                  <a:srgbClr val="FF3399"/>
                </a:solidFill>
                <a:latin typeface="宋体" panose="02010600030101010101" pitchFamily="2" charset="-122"/>
              </a:rPr>
              <a:t>接口</a:t>
            </a:r>
            <a:r>
              <a:rPr lang="zh-CN" altLang="en-US" sz="1800" b="1" u="sng" dirty="0">
                <a:latin typeface="宋体" panose="02010600030101010101" pitchFamily="2" charset="-122"/>
              </a:rPr>
              <a:t>响应</a:t>
            </a:r>
            <a:r>
              <a:rPr lang="zh-CN" altLang="en-US" sz="1800" b="1" dirty="0">
                <a:latin typeface="宋体" panose="02010600030101010101" pitchFamily="2" charset="-122"/>
              </a:rPr>
              <a:t>事务→</a:t>
            </a:r>
            <a:r>
              <a:rPr lang="zh-CN" altLang="en-US" sz="1800" dirty="0">
                <a:latin typeface="宋体" panose="02010600030101010101" pitchFamily="2" charset="-122"/>
              </a:rPr>
              <a:t>┘</a:t>
            </a:r>
            <a:endParaRPr lang="en-US" altLang="zh-CN" sz="1800" b="1" dirty="0">
              <a:latin typeface="宋体" panose="02010600030101010101" pitchFamily="2" charset="-122"/>
            </a:endParaRPr>
          </a:p>
        </p:txBody>
      </p:sp>
      <p:sp>
        <p:nvSpPr>
          <p:cNvPr id="18" name="AutoShape 144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5148000" y="6524450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9" name="Group 41"/>
          <p:cNvGrpSpPr/>
          <p:nvPr/>
        </p:nvGrpSpPr>
        <p:grpSpPr bwMode="auto">
          <a:xfrm>
            <a:off x="4355976" y="1990800"/>
            <a:ext cx="3616325" cy="252412"/>
            <a:chOff x="2925" y="2069"/>
            <a:chExt cx="2278" cy="159"/>
          </a:xfrm>
        </p:grpSpPr>
        <p:sp>
          <p:nvSpPr>
            <p:cNvPr id="20" name="Text Box 22"/>
            <p:cNvSpPr txBox="1">
              <a:spLocks noChangeArrowheads="1"/>
            </p:cNvSpPr>
            <p:nvPr/>
          </p:nvSpPr>
          <p:spPr bwMode="auto">
            <a:xfrm>
              <a:off x="2925" y="2069"/>
              <a:ext cx="554" cy="159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操作码</a:t>
              </a:r>
            </a:p>
          </p:txBody>
        </p:sp>
        <p:sp>
          <p:nvSpPr>
            <p:cNvPr id="21" name="Text Box 23"/>
            <p:cNvSpPr txBox="1">
              <a:spLocks noChangeArrowheads="1"/>
            </p:cNvSpPr>
            <p:nvPr/>
          </p:nvSpPr>
          <p:spPr bwMode="auto">
            <a:xfrm>
              <a:off x="3479" y="2069"/>
              <a:ext cx="862" cy="159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MEM</a:t>
              </a:r>
              <a:r>
                <a:rPr lang="zh-CN" altLang="en-US" sz="1800" b="1" dirty="0">
                  <a:latin typeface="宋体" panose="02010600030101010101" pitchFamily="2" charset="-122"/>
                </a:rPr>
                <a:t>单元地址</a:t>
              </a:r>
            </a:p>
          </p:txBody>
        </p:sp>
        <p:sp>
          <p:nvSpPr>
            <p:cNvPr id="22" name="Text Box 24"/>
            <p:cNvSpPr txBox="1">
              <a:spLocks noChangeArrowheads="1"/>
            </p:cNvSpPr>
            <p:nvPr/>
          </p:nvSpPr>
          <p:spPr bwMode="auto">
            <a:xfrm>
              <a:off x="4341" y="2069"/>
              <a:ext cx="862" cy="159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CPU</a:t>
              </a:r>
              <a:r>
                <a:rPr lang="zh-CN" altLang="en-US" sz="1800" b="1" dirty="0">
                  <a:latin typeface="宋体" panose="02010600030101010101" pitchFamily="2" charset="-122"/>
                </a:rPr>
                <a:t>的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REG</a:t>
              </a:r>
              <a:r>
                <a:rPr lang="zh-CN" altLang="en-US" sz="1800" b="1" dirty="0">
                  <a:latin typeface="宋体" panose="02010600030101010101" pitchFamily="2" charset="-122"/>
                </a:rPr>
                <a:t>号</a:t>
              </a:r>
            </a:p>
          </p:txBody>
        </p:sp>
      </p:grpSp>
      <p:sp>
        <p:nvSpPr>
          <p:cNvPr id="24" name="AutoShape 62">
            <a:hlinkClick r:id="rId4" action="ppaction://hlinksldjump"/>
          </p:cNvPr>
          <p:cNvSpPr>
            <a:spLocks noChangeArrowheads="1"/>
          </p:cNvSpPr>
          <p:nvPr/>
        </p:nvSpPr>
        <p:spPr bwMode="auto">
          <a:xfrm rot="16200000">
            <a:off x="7452669" y="6236070"/>
            <a:ext cx="287337" cy="864098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zh-CN" altLang="en-US" sz="1600" u="none" dirty="0">
                <a:solidFill>
                  <a:schemeClr val="bg2"/>
                </a:solidFill>
                <a:latin typeface="+mn-ea"/>
                <a:ea typeface="+mn-ea"/>
              </a:rPr>
              <a:t>回目录</a:t>
            </a: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81100F4D-21AB-4710-B417-85809317B89F}"/>
              </a:ext>
            </a:extLst>
          </p:cNvPr>
          <p:cNvGrpSpPr/>
          <p:nvPr/>
        </p:nvGrpSpPr>
        <p:grpSpPr>
          <a:xfrm>
            <a:off x="1691680" y="1166267"/>
            <a:ext cx="1592432" cy="1510537"/>
            <a:chOff x="1691680" y="1166267"/>
            <a:chExt cx="1592432" cy="1510537"/>
          </a:xfrm>
        </p:grpSpPr>
        <p:cxnSp>
          <p:nvCxnSpPr>
            <p:cNvPr id="6" name="直接箭头连接符 5"/>
            <p:cNvCxnSpPr>
              <a:cxnSpLocks/>
            </p:cNvCxnSpPr>
            <p:nvPr/>
          </p:nvCxnSpPr>
          <p:spPr bwMode="auto">
            <a:xfrm flipH="1">
              <a:off x="1727748" y="1177288"/>
              <a:ext cx="1547980" cy="778980"/>
            </a:xfrm>
            <a:prstGeom prst="straightConnector1">
              <a:avLst/>
            </a:prstGeom>
            <a:noFill/>
            <a:ln w="12700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triangle"/>
            </a:ln>
          </p:spPr>
        </p:cxnSp>
        <p:cxnSp>
          <p:nvCxnSpPr>
            <p:cNvPr id="25" name="直接箭头连接符 24">
              <a:extLst>
                <a:ext uri="{FF2B5EF4-FFF2-40B4-BE49-F238E27FC236}">
                  <a16:creationId xmlns:a16="http://schemas.microsoft.com/office/drawing/2014/main" id="{FF4472B3-F571-47DA-BC27-390BE24DC976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1691680" y="1166267"/>
              <a:ext cx="1592432" cy="1510537"/>
            </a:xfrm>
            <a:prstGeom prst="straightConnector1">
              <a:avLst/>
            </a:prstGeom>
            <a:noFill/>
            <a:ln w="12700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triangle"/>
            </a:ln>
          </p:spPr>
        </p:cxnSp>
      </p:grpSp>
      <p:sp>
        <p:nvSpPr>
          <p:cNvPr id="26" name="线形标注 2 12">
            <a:extLst>
              <a:ext uri="{FF2B5EF4-FFF2-40B4-BE49-F238E27FC236}">
                <a16:creationId xmlns:a16="http://schemas.microsoft.com/office/drawing/2014/main" id="{E98A790B-A4C5-4D2A-B32F-86F4DB264B49}"/>
              </a:ext>
            </a:extLst>
          </p:cNvPr>
          <p:cNvSpPr/>
          <p:nvPr/>
        </p:nvSpPr>
        <p:spPr bwMode="auto">
          <a:xfrm>
            <a:off x="6217071" y="1569964"/>
            <a:ext cx="1595289" cy="274860"/>
          </a:xfrm>
          <a:prstGeom prst="borderCallout2">
            <a:avLst>
              <a:gd name="adj1" fmla="val 50463"/>
              <a:gd name="adj2" fmla="val 145"/>
              <a:gd name="adj3" fmla="val 50920"/>
              <a:gd name="adj4" fmla="val -14835"/>
              <a:gd name="adj5" fmla="val 141817"/>
              <a:gd name="adj6" fmla="val -20513"/>
            </a:avLst>
          </a:prstGeom>
          <a:noFill/>
          <a:ln w="12700" cap="flat" cmpd="sng" algn="ctr">
            <a:solidFill>
              <a:srgbClr val="0070C0"/>
            </a:solidFill>
            <a:prstDash val="sysDash"/>
            <a:round/>
            <a:headEnd type="none" w="med" len="med"/>
            <a:tailEnd type="arrow" w="sm" len="sm"/>
          </a:ln>
          <a:effectLst/>
        </p:spPr>
        <p:txBody>
          <a:bodyPr vert="horz" wrap="square" lIns="36000" tIns="18000" rIns="36000" bIns="18000" numCol="1" rtlCol="0" anchor="ctr" anchorCtr="0" compatLnSpc="1"/>
          <a:lstStyle/>
          <a:p>
            <a:pPr>
              <a:lnSpc>
                <a:spcPct val="90000"/>
              </a:lnSpc>
            </a:pPr>
            <a:r>
              <a:rPr lang="zh-CN" altLang="en-US" sz="1800" b="1" dirty="0">
                <a:latin typeface="+mn-ea"/>
                <a:ea typeface="+mn-ea"/>
              </a:rPr>
              <a:t>∈</a:t>
            </a:r>
            <a:r>
              <a:rPr lang="en-US" altLang="zh-CN" sz="1800" b="1" dirty="0">
                <a:latin typeface="+mn-ea"/>
                <a:ea typeface="+mn-ea"/>
              </a:rPr>
              <a:t>I/O</a:t>
            </a:r>
            <a:r>
              <a:rPr lang="zh-CN" altLang="en-US" sz="1800" b="1" dirty="0">
                <a:latin typeface="+mn-ea"/>
                <a:ea typeface="+mn-ea"/>
              </a:rPr>
              <a:t>端口区域</a:t>
            </a:r>
            <a:endParaRPr lang="en-US" altLang="zh-CN" sz="1800" b="1" dirty="0">
              <a:latin typeface="+mn-e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 animBg="1"/>
      <p:bldP spid="15" grpId="0"/>
      <p:bldP spid="26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7EED5-ADD4-4FA2-981A-AF19393737AE}" type="slidenum">
              <a:rPr lang="en-US" altLang="zh-CN"/>
              <a:t>26</a:t>
            </a:fld>
            <a:endParaRPr lang="en-US" altLang="zh-CN"/>
          </a:p>
        </p:txBody>
      </p:sp>
      <p:sp>
        <p:nvSpPr>
          <p:cNvPr id="347140" name="Text Box 4"/>
          <p:cNvSpPr txBox="1">
            <a:spLocks noChangeArrowheads="1"/>
          </p:cNvSpPr>
          <p:nvPr/>
        </p:nvSpPr>
        <p:spPr bwMode="auto">
          <a:xfrm>
            <a:off x="838200" y="260648"/>
            <a:ext cx="7467600" cy="5232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2800" b="1" dirty="0">
                <a:latin typeface="宋体" panose="02010600030101010101" pitchFamily="2" charset="-122"/>
              </a:rPr>
              <a:t>§7.4  </a:t>
            </a:r>
            <a:r>
              <a:rPr lang="zh-CN" altLang="en-US" sz="2800" b="1" dirty="0">
                <a:latin typeface="宋体" panose="02010600030101010101" pitchFamily="2" charset="-122"/>
              </a:rPr>
              <a:t>程序直接控制</a:t>
            </a:r>
            <a:r>
              <a:rPr lang="en-US" altLang="zh-CN" sz="2800" b="1" dirty="0">
                <a:latin typeface="宋体" panose="02010600030101010101" pitchFamily="2" charset="-122"/>
              </a:rPr>
              <a:t>I/O</a:t>
            </a:r>
            <a:r>
              <a:rPr lang="zh-CN" altLang="en-US" sz="2800" b="1" dirty="0">
                <a:latin typeface="宋体" panose="02010600030101010101" pitchFamily="2" charset="-122"/>
              </a:rPr>
              <a:t>方式</a:t>
            </a:r>
          </a:p>
        </p:txBody>
      </p:sp>
      <p:sp>
        <p:nvSpPr>
          <p:cNvPr id="173" name="AutoShape 62">
            <a:hlinkClick r:id="rId4" action="ppaction://hlinksldjump"/>
          </p:cNvPr>
          <p:cNvSpPr>
            <a:spLocks noChangeArrowheads="1"/>
          </p:cNvSpPr>
          <p:nvPr/>
        </p:nvSpPr>
        <p:spPr bwMode="auto">
          <a:xfrm rot="16200000">
            <a:off x="5148412" y="6524995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eaVert" wrap="none" lIns="0" tIns="0" rIns="0" bIns="0" anchor="ctr"/>
          <a:lstStyle/>
          <a:p>
            <a:pPr algn="ctr"/>
            <a:r>
              <a:rPr lang="en-US" altLang="zh-CN" sz="1600" dirty="0">
                <a:solidFill>
                  <a:schemeClr val="bg2"/>
                </a:solidFill>
                <a:latin typeface="+mn-ea"/>
                <a:ea typeface="+mn-ea"/>
              </a:rPr>
              <a:t>11</a:t>
            </a:r>
            <a:endParaRPr lang="zh-CN" altLang="en-US" sz="1600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61" name="AutoShape 62">
            <a:hlinkClick r:id="rId5" action="ppaction://hlinksldjump"/>
          </p:cNvPr>
          <p:cNvSpPr>
            <a:spLocks noChangeArrowheads="1"/>
          </p:cNvSpPr>
          <p:nvPr/>
        </p:nvSpPr>
        <p:spPr bwMode="auto">
          <a:xfrm rot="16200000">
            <a:off x="6228000" y="6524996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eaVert" wrap="none" lIns="0" tIns="0" rIns="0" bIns="0" anchor="ctr"/>
          <a:lstStyle/>
          <a:p>
            <a:pPr algn="ctr"/>
            <a:r>
              <a:rPr lang="en-US" altLang="zh-CN" sz="1600" dirty="0">
                <a:solidFill>
                  <a:schemeClr val="bg2"/>
                </a:solidFill>
                <a:latin typeface="+mn-ea"/>
                <a:ea typeface="+mn-ea"/>
              </a:rPr>
              <a:t>23</a:t>
            </a:r>
            <a:endParaRPr lang="zh-CN" altLang="en-US" sz="1600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62" name="Text Box 526"/>
          <p:cNvSpPr txBox="1">
            <a:spLocks noChangeArrowheads="1"/>
          </p:cNvSpPr>
          <p:nvPr/>
        </p:nvSpPr>
        <p:spPr bwMode="auto">
          <a:xfrm>
            <a:off x="179512" y="764704"/>
            <a:ext cx="8785225" cy="40011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l"/>
            <a:r>
              <a:rPr lang="en-US" altLang="zh-CN" sz="2000" b="1" dirty="0">
                <a:solidFill>
                  <a:srgbClr val="FF3399"/>
                </a:solidFill>
                <a:latin typeface="+mn-ea"/>
                <a:ea typeface="+mn-ea"/>
              </a:rPr>
              <a:t>  ※</a:t>
            </a:r>
            <a:r>
              <a:rPr lang="zh-CN" altLang="en-US" sz="2000" b="1" dirty="0">
                <a:solidFill>
                  <a:srgbClr val="FF3399"/>
                </a:solidFill>
                <a:latin typeface="+mn-ea"/>
                <a:ea typeface="+mn-ea"/>
              </a:rPr>
              <a:t>主要内容：</a:t>
            </a:r>
            <a:r>
              <a:rPr lang="en-US" altLang="zh-CN" sz="2000" b="1" dirty="0">
                <a:latin typeface="+mn-ea"/>
              </a:rPr>
              <a:t>I/O</a:t>
            </a:r>
            <a:r>
              <a:rPr lang="zh-CN" altLang="en-US" sz="2000" b="1" dirty="0">
                <a:latin typeface="+mn-ea"/>
              </a:rPr>
              <a:t>控制流程，</a:t>
            </a:r>
            <a:r>
              <a:rPr lang="en-US" altLang="zh-CN" sz="2000" b="1" dirty="0">
                <a:latin typeface="+mn-ea"/>
              </a:rPr>
              <a:t>I/O</a:t>
            </a:r>
            <a:r>
              <a:rPr lang="zh-CN" altLang="en-US" sz="2000" b="1" dirty="0">
                <a:latin typeface="+mn-ea"/>
              </a:rPr>
              <a:t>接口的组织</a:t>
            </a:r>
            <a:r>
              <a:rPr lang="en-US" altLang="zh-CN" sz="1800" b="1" dirty="0">
                <a:latin typeface="+mn-ea"/>
              </a:rPr>
              <a:t>(I/O</a:t>
            </a:r>
            <a:r>
              <a:rPr lang="zh-CN" altLang="en-US" sz="1800" b="1" dirty="0">
                <a:latin typeface="+mn-ea"/>
              </a:rPr>
              <a:t>端口、所支持操作</a:t>
            </a:r>
            <a:r>
              <a:rPr lang="en-US" altLang="zh-CN" sz="1800" b="1" dirty="0">
                <a:latin typeface="+mn-ea"/>
              </a:rPr>
              <a:t>)</a:t>
            </a:r>
            <a:endParaRPr lang="en-US" altLang="zh-CN" sz="2000" b="1" dirty="0">
              <a:latin typeface="+mn-ea"/>
              <a:ea typeface="+mn-ea"/>
            </a:endParaRPr>
          </a:p>
        </p:txBody>
      </p:sp>
      <p:sp>
        <p:nvSpPr>
          <p:cNvPr id="85" name="Text Box 4"/>
          <p:cNvSpPr txBox="1">
            <a:spLocks noChangeArrowheads="1"/>
          </p:cNvSpPr>
          <p:nvPr/>
        </p:nvSpPr>
        <p:spPr bwMode="auto">
          <a:xfrm>
            <a:off x="179511" y="1772816"/>
            <a:ext cx="3516605" cy="3535135"/>
          </a:xfrm>
          <a:prstGeom prst="rect">
            <a:avLst/>
          </a:prstGeom>
          <a:noFill/>
          <a:ln w="38100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*I/O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控制流程：</a:t>
            </a: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*</a:t>
            </a: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I/O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软件组成：</a:t>
            </a: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600"/>
              </a:spcBef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*I/O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开销：</a:t>
            </a: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marL="2600325" indent="-2600325" algn="l">
              <a:lnSpc>
                <a:spcPct val="125000"/>
              </a:lnSpc>
              <a:spcBef>
                <a:spcPts val="300"/>
              </a:spcBef>
            </a:pP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优化</a:t>
            </a: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</p:txBody>
      </p:sp>
      <p:sp>
        <p:nvSpPr>
          <p:cNvPr id="88" name="Text Box 5"/>
          <p:cNvSpPr txBox="1">
            <a:spLocks noChangeArrowheads="1"/>
          </p:cNvSpPr>
          <p:nvPr/>
        </p:nvSpPr>
        <p:spPr bwMode="auto">
          <a:xfrm>
            <a:off x="179388" y="1342800"/>
            <a:ext cx="8785225" cy="3905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tIns="10795" bIns="10795" anchor="ctr" anchorCtr="0">
            <a:spAutoFit/>
          </a:bodyPr>
          <a:lstStyle>
            <a:defPPr>
              <a:defRPr lang="zh-CN"/>
            </a:defPPr>
            <a:lvl1pPr algn="l">
              <a:defRPr b="1">
                <a:solidFill>
                  <a:srgbClr val="FF3300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1pPr>
          </a:lstStyle>
          <a:p>
            <a:r>
              <a:rPr lang="en-US" altLang="zh-CN" dirty="0">
                <a:solidFill>
                  <a:srgbClr val="FF3399"/>
                </a:solidFill>
                <a:latin typeface="+mn-ea"/>
                <a:ea typeface="+mn-ea"/>
              </a:rPr>
              <a:t>1</a:t>
            </a:r>
            <a:r>
              <a:rPr lang="zh-CN" altLang="en-US" dirty="0">
                <a:solidFill>
                  <a:srgbClr val="FF3399"/>
                </a:solidFill>
                <a:latin typeface="+mn-ea"/>
                <a:ea typeface="+mn-ea"/>
              </a:rPr>
              <a:t>、程序查询方式的</a:t>
            </a:r>
            <a:r>
              <a:rPr lang="en-US" altLang="zh-CN" dirty="0">
                <a:solidFill>
                  <a:srgbClr val="FF3399"/>
                </a:solidFill>
                <a:latin typeface="+mn-ea"/>
                <a:ea typeface="+mn-ea"/>
              </a:rPr>
              <a:t>I/O</a:t>
            </a:r>
            <a:r>
              <a:rPr lang="zh-CN" altLang="en-US" dirty="0">
                <a:solidFill>
                  <a:srgbClr val="FF3399"/>
                </a:solidFill>
                <a:latin typeface="+mn-ea"/>
                <a:ea typeface="+mn-ea"/>
              </a:rPr>
              <a:t>控制流程</a:t>
            </a:r>
          </a:p>
        </p:txBody>
      </p:sp>
      <p:sp>
        <p:nvSpPr>
          <p:cNvPr id="100" name="Text Box 6"/>
          <p:cNvSpPr txBox="1">
            <a:spLocks noChangeArrowheads="1"/>
          </p:cNvSpPr>
          <p:nvPr/>
        </p:nvSpPr>
        <p:spPr bwMode="auto">
          <a:xfrm>
            <a:off x="2339752" y="1772816"/>
            <a:ext cx="4896536" cy="130375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2600325" indent="-2600325" algn="l">
              <a:lnSpc>
                <a:spcPct val="125000"/>
              </a:lnSpc>
            </a:pPr>
            <a:r>
              <a:rPr lang="en-US" altLang="zh-CN" sz="2200" b="1" dirty="0">
                <a:highlight>
                  <a:srgbClr val="FFFF00"/>
                </a:highlight>
                <a:latin typeface="宋体" panose="02010600030101010101" pitchFamily="2" charset="-122"/>
              </a:rPr>
              <a:t>CPU</a:t>
            </a:r>
            <a:r>
              <a:rPr lang="zh-CN" altLang="en-US" sz="2200" b="1" u="sng" dirty="0">
                <a:solidFill>
                  <a:srgbClr val="FF3399"/>
                </a:solidFill>
                <a:latin typeface="宋体" panose="02010600030101010101" pitchFamily="2" charset="-122"/>
              </a:rPr>
              <a:t>启动</a:t>
            </a:r>
            <a:r>
              <a:rPr lang="zh-CN" altLang="en-US" sz="2200" b="1" dirty="0">
                <a:latin typeface="宋体" panose="02010600030101010101" pitchFamily="2" charset="-122"/>
              </a:rPr>
              <a:t>外设后，</a:t>
            </a:r>
            <a:r>
              <a:rPr lang="zh-CN" altLang="en-US" sz="2200" b="1" dirty="0">
                <a:solidFill>
                  <a:srgbClr val="0070C0"/>
                </a:solidFill>
                <a:latin typeface="宋体" panose="02010600030101010101" pitchFamily="2" charset="-122"/>
              </a:rPr>
              <a:t>不断</a:t>
            </a:r>
            <a:r>
              <a:rPr lang="zh-CN" altLang="en-US" sz="2200" b="1" u="sng" dirty="0">
                <a:solidFill>
                  <a:srgbClr val="FF3399"/>
                </a:solidFill>
                <a:latin typeface="宋体" panose="02010600030101010101" pitchFamily="2" charset="-122"/>
              </a:rPr>
              <a:t>查询</a:t>
            </a:r>
            <a:r>
              <a:rPr lang="zh-CN" altLang="en-US" sz="2200" b="1" dirty="0">
                <a:latin typeface="宋体" panose="02010600030101010101" pitchFamily="2" charset="-122"/>
              </a:rPr>
              <a:t>外设状态，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 marL="2600325" indent="-2600325" algn="l">
              <a:lnSpc>
                <a:spcPct val="125000"/>
              </a:lnSpc>
            </a:pPr>
            <a:r>
              <a:rPr lang="zh-CN" altLang="en-US" sz="2200" b="1" dirty="0">
                <a:latin typeface="宋体" panose="02010600030101010101" pitchFamily="2" charset="-122"/>
              </a:rPr>
              <a:t>   </a:t>
            </a:r>
            <a:r>
              <a:rPr lang="zh-CN" altLang="en-US" sz="2200" b="1" dirty="0">
                <a:solidFill>
                  <a:srgbClr val="0070C0"/>
                </a:solidFill>
                <a:latin typeface="宋体" panose="02010600030101010101" pitchFamily="2" charset="-122"/>
              </a:rPr>
              <a:t>直到</a:t>
            </a:r>
            <a:r>
              <a:rPr lang="zh-CN" altLang="en-US" sz="2200" b="1" dirty="0">
                <a:latin typeface="宋体" panose="02010600030101010101" pitchFamily="2" charset="-122"/>
              </a:rPr>
              <a:t>外设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就绪</a:t>
            </a:r>
            <a:r>
              <a:rPr lang="zh-CN" altLang="en-US" sz="2200" b="1" dirty="0">
                <a:latin typeface="宋体" panose="02010600030101010101" pitchFamily="2" charset="-122"/>
              </a:rPr>
              <a:t>时，才</a:t>
            </a:r>
            <a:r>
              <a:rPr lang="zh-CN" altLang="en-US" sz="2200" b="1" u="sng" dirty="0">
                <a:solidFill>
                  <a:srgbClr val="FF3399"/>
                </a:solidFill>
                <a:latin typeface="宋体" panose="02010600030101010101" pitchFamily="2" charset="-122"/>
              </a:rPr>
              <a:t>传送</a:t>
            </a:r>
            <a:r>
              <a:rPr lang="zh-CN" altLang="en-US" sz="2200" b="1" dirty="0">
                <a:latin typeface="宋体" panose="02010600030101010101" pitchFamily="2" charset="-122"/>
              </a:rPr>
              <a:t>数据</a:t>
            </a:r>
            <a:endParaRPr lang="en-US" altLang="zh-CN" sz="2200" b="1" dirty="0">
              <a:solidFill>
                <a:srgbClr val="FF3399"/>
              </a:solidFill>
              <a:latin typeface="宋体" panose="02010600030101010101" pitchFamily="2" charset="-122"/>
            </a:endParaRPr>
          </a:p>
          <a:p>
            <a:pPr marL="2600325" indent="-2600325" algn="l">
              <a:lnSpc>
                <a:spcPct val="125000"/>
              </a:lnSpc>
            </a:pPr>
            <a:r>
              <a:rPr lang="zh-CN" altLang="en-US" sz="2200" b="1" dirty="0">
                <a:latin typeface="宋体" panose="02010600030101010101" pitchFamily="2" charset="-122"/>
              </a:rPr>
              <a:t>程序中用</a:t>
            </a:r>
            <a:r>
              <a:rPr lang="en-US" altLang="zh-CN" sz="2200" b="1" u="sng" dirty="0">
                <a:latin typeface="宋体" panose="02010600030101010101" pitchFamily="2" charset="-122"/>
              </a:rPr>
              <a:t>I/O</a:t>
            </a:r>
            <a:r>
              <a:rPr lang="zh-CN" altLang="en-US" sz="2200" b="1" u="sng" dirty="0">
                <a:latin typeface="宋体" panose="02010600030101010101" pitchFamily="2" charset="-122"/>
              </a:rPr>
              <a:t>指令</a:t>
            </a:r>
            <a:r>
              <a:rPr lang="zh-CN" altLang="en-US" sz="2200" b="1" dirty="0">
                <a:latin typeface="宋体" panose="02010600030101010101" pitchFamily="2" charset="-122"/>
              </a:rPr>
              <a:t>实现所需的</a:t>
            </a:r>
            <a:r>
              <a:rPr lang="en-US" altLang="zh-CN" sz="2200" b="1" dirty="0">
                <a:latin typeface="宋体" panose="02010600030101010101" pitchFamily="2" charset="-122"/>
              </a:rPr>
              <a:t>I/O</a:t>
            </a:r>
            <a:r>
              <a:rPr lang="zh-CN" altLang="en-US" sz="2200" b="1" dirty="0">
                <a:latin typeface="宋体" panose="02010600030101010101" pitchFamily="2" charset="-122"/>
              </a:rPr>
              <a:t>操作</a:t>
            </a:r>
            <a:endParaRPr lang="en-US" altLang="zh-CN" sz="2200" b="1" dirty="0">
              <a:latin typeface="宋体" panose="02010600030101010101" pitchFamily="2" charset="-122"/>
            </a:endParaRPr>
          </a:p>
        </p:txBody>
      </p:sp>
      <p:sp>
        <p:nvSpPr>
          <p:cNvPr id="117" name="Text Box 5"/>
          <p:cNvSpPr txBox="1">
            <a:spLocks noChangeArrowheads="1"/>
          </p:cNvSpPr>
          <p:nvPr/>
        </p:nvSpPr>
        <p:spPr bwMode="auto">
          <a:xfrm>
            <a:off x="1619672" y="4365104"/>
            <a:ext cx="7344816" cy="91903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sz="2200" b="1" dirty="0">
                <a:latin typeface="宋体" panose="02010600030101010101" pitchFamily="2" charset="-122"/>
              </a:rPr>
              <a:t> </a:t>
            </a:r>
            <a:r>
              <a:rPr lang="zh-CN" altLang="en-US" sz="2200" b="1" u="sng" dirty="0">
                <a:latin typeface="宋体" panose="02010600030101010101" pitchFamily="2" charset="-122"/>
              </a:rPr>
              <a:t>开始查询→数据传送完成</a:t>
            </a:r>
            <a:r>
              <a:rPr lang="zh-CN" altLang="en-US" sz="2200" b="1" dirty="0">
                <a:latin typeface="宋体" panose="02010600030101010101" pitchFamily="2" charset="-122"/>
              </a:rPr>
              <a:t>的时间</a:t>
            </a:r>
            <a:r>
              <a:rPr lang="en-US" altLang="zh-CN" sz="1800" b="1" dirty="0">
                <a:latin typeface="宋体" panose="02010600030101010101" pitchFamily="2" charset="-122"/>
              </a:rPr>
              <a:t>     ←</a:t>
            </a:r>
            <a:r>
              <a:rPr lang="zh-CN" altLang="en-US" sz="1800" b="1" dirty="0">
                <a:latin typeface="宋体" panose="02010600030101010101" pitchFamily="2" charset="-122"/>
              </a:rPr>
              <a:t>可忽略启动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仅</a:t>
            </a:r>
            <a:r>
              <a:rPr lang="en-US" altLang="zh-CN" sz="1800" b="1" dirty="0">
                <a:latin typeface="宋体" panose="02010600030101010101" pitchFamily="2" charset="-122"/>
              </a:rPr>
              <a:t>1</a:t>
            </a:r>
            <a:r>
              <a:rPr lang="zh-CN" altLang="en-US" sz="1800" b="1" dirty="0">
                <a:latin typeface="宋体" panose="02010600030101010101" pitchFamily="2" charset="-122"/>
              </a:rPr>
              <a:t>次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</a:p>
          <a:p>
            <a:pPr algn="l">
              <a:lnSpc>
                <a:spcPct val="125000"/>
              </a:lnSpc>
              <a:spcBef>
                <a:spcPts val="300"/>
              </a:spcBef>
            </a:pPr>
            <a:r>
              <a:rPr lang="zh-CN" altLang="en-US" sz="2200" b="1" dirty="0">
                <a:latin typeface="宋体" panose="02010600030101010101" pitchFamily="2" charset="-122"/>
              </a:rPr>
              <a:t>用</a:t>
            </a:r>
            <a:r>
              <a:rPr lang="zh-CN" altLang="en-US" sz="2200" b="1" u="sng" dirty="0">
                <a:solidFill>
                  <a:srgbClr val="0070C0"/>
                </a:solidFill>
                <a:latin typeface="宋体" panose="02010600030101010101" pitchFamily="2" charset="-122"/>
              </a:rPr>
              <a:t>定时查询</a:t>
            </a:r>
            <a:r>
              <a:rPr lang="zh-CN" altLang="en-US" sz="2200" b="1" dirty="0">
                <a:latin typeface="宋体" panose="02010600030101010101" pitchFamily="2" charset="-122"/>
              </a:rPr>
              <a:t>代替</a:t>
            </a:r>
            <a:r>
              <a:rPr lang="zh-CN" altLang="en-US" sz="2200" b="1" u="sng" dirty="0">
                <a:latin typeface="宋体" panose="02010600030101010101" pitchFamily="2" charset="-122"/>
              </a:rPr>
              <a:t>独占查询</a:t>
            </a:r>
            <a:r>
              <a:rPr lang="zh-CN" altLang="en-US" sz="2200" b="1" dirty="0">
                <a:latin typeface="宋体" panose="02010600030101010101" pitchFamily="2" charset="-122"/>
              </a:rPr>
              <a:t>           </a:t>
            </a:r>
            <a:r>
              <a:rPr lang="en-US" altLang="zh-CN" sz="1800" b="1" dirty="0">
                <a:latin typeface="宋体" panose="02010600030101010101" pitchFamily="2" charset="-122"/>
              </a:rPr>
              <a:t>←</a:t>
            </a:r>
            <a:r>
              <a:rPr lang="zh-CN" altLang="en-US" sz="1800" b="1" dirty="0">
                <a:latin typeface="宋体" panose="02010600030101010101" pitchFamily="2" charset="-122"/>
              </a:rPr>
              <a:t>减少查询时间</a:t>
            </a:r>
            <a:endParaRPr lang="en-US" altLang="zh-CN" sz="2200" b="1" dirty="0">
              <a:latin typeface="宋体" panose="02010600030101010101" pitchFamily="2" charset="-122"/>
            </a:endParaRPr>
          </a:p>
        </p:txBody>
      </p:sp>
      <p:sp>
        <p:nvSpPr>
          <p:cNvPr id="45" name="矩形 44"/>
          <p:cNvSpPr/>
          <p:nvPr>
            <p:custDataLst>
              <p:tags r:id="rId1"/>
            </p:custDataLst>
          </p:nvPr>
        </p:nvSpPr>
        <p:spPr>
          <a:xfrm>
            <a:off x="1259632" y="3140968"/>
            <a:ext cx="4968331" cy="1147982"/>
          </a:xfrm>
          <a:prstGeom prst="rect">
            <a:avLst/>
          </a:prstGeom>
          <a:ln w="12700">
            <a:solidFill>
              <a:schemeClr val="tx1"/>
            </a:solidFill>
            <a:prstDash val="sysDash"/>
          </a:ln>
        </p:spPr>
        <p:txBody>
          <a:bodyPr wrap="square" lIns="54000" tIns="10800" rIns="18000" bIns="28800">
            <a:spAutoFit/>
          </a:bodyPr>
          <a:lstStyle/>
          <a:p>
            <a:pPr algn="l"/>
            <a:r>
              <a:rPr lang="en-US" altLang="zh-CN" sz="1800" b="1" dirty="0" err="1">
                <a:solidFill>
                  <a:srgbClr val="FF3399"/>
                </a:solidFill>
                <a:latin typeface="宋体" panose="02010600030101010101" pitchFamily="2" charset="-122"/>
              </a:rPr>
              <a:t>outp</a:t>
            </a:r>
            <a:r>
              <a:rPr lang="en-US" altLang="zh-CN" sz="1800" b="1" dirty="0">
                <a:solidFill>
                  <a:srgbClr val="000000"/>
                </a:solidFill>
                <a:latin typeface="宋体" panose="02010600030101010101" pitchFamily="2" charset="-122"/>
              </a:rPr>
              <a:t>(</a:t>
            </a:r>
            <a:r>
              <a:rPr lang="en-US" altLang="zh-CN" sz="18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PA</a:t>
            </a:r>
            <a:r>
              <a:rPr lang="en-US" altLang="zh-CN" sz="1800" b="1" baseline="-18000" dirty="0" err="1">
                <a:solidFill>
                  <a:srgbClr val="000000"/>
                </a:solidFill>
                <a:latin typeface="宋体" panose="02010600030101010101" pitchFamily="2" charset="-122"/>
              </a:rPr>
              <a:t>Ctrl</a:t>
            </a:r>
            <a:r>
              <a:rPr lang="en-US" altLang="zh-CN" sz="18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,RA</a:t>
            </a:r>
            <a:r>
              <a:rPr lang="en-US" altLang="zh-CN" sz="1800" b="1" dirty="0">
                <a:solidFill>
                  <a:srgbClr val="000000"/>
                </a:solidFill>
                <a:latin typeface="宋体" panose="02010600030101010101" pitchFamily="2" charset="-122"/>
              </a:rPr>
              <a:t>);        //</a:t>
            </a:r>
            <a:r>
              <a:rPr lang="zh-CN" altLang="en-US" sz="1800" b="1" dirty="0">
                <a:solidFill>
                  <a:srgbClr val="000000"/>
                </a:solidFill>
                <a:latin typeface="宋体" panose="02010600030101010101" pitchFamily="2" charset="-122"/>
              </a:rPr>
              <a:t>启动，</a:t>
            </a:r>
            <a:r>
              <a:rPr lang="zh-CN" altLang="en-US" sz="1800" b="1" dirty="0">
                <a:solidFill>
                  <a:srgbClr val="0070C0"/>
                </a:solidFill>
                <a:latin typeface="宋体" panose="02010600030101010101" pitchFamily="2" charset="-122"/>
              </a:rPr>
              <a:t>写控制口</a:t>
            </a:r>
            <a:endParaRPr lang="en-US" altLang="zh-CN" sz="1800" b="1" dirty="0">
              <a:solidFill>
                <a:srgbClr val="0070C0"/>
              </a:solidFill>
              <a:latin typeface="宋体" panose="02010600030101010101" pitchFamily="2" charset="-122"/>
            </a:endParaRPr>
          </a:p>
          <a:p>
            <a:pPr algn="l"/>
            <a:r>
              <a:rPr lang="en-US" altLang="zh-CN" sz="1800" b="1" dirty="0">
                <a:solidFill>
                  <a:srgbClr val="000000"/>
                </a:solidFill>
                <a:latin typeface="宋体" panose="02010600030101010101" pitchFamily="2" charset="-122"/>
              </a:rPr>
              <a:t>do { </a:t>
            </a:r>
            <a:r>
              <a:rPr lang="en-US" altLang="zh-CN" sz="18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st</a:t>
            </a:r>
            <a:r>
              <a:rPr lang="en-US" altLang="zh-CN" sz="1800" b="1" dirty="0">
                <a:solidFill>
                  <a:srgbClr val="000000"/>
                </a:solidFill>
                <a:latin typeface="宋体" panose="02010600030101010101" pitchFamily="2" charset="-122"/>
              </a:rPr>
              <a:t> = </a:t>
            </a:r>
            <a:r>
              <a:rPr lang="en-US" altLang="zh-CN" sz="1800" b="1" dirty="0" err="1">
                <a:solidFill>
                  <a:srgbClr val="FF3399"/>
                </a:solidFill>
                <a:latin typeface="宋体" panose="02010600030101010101" pitchFamily="2" charset="-122"/>
              </a:rPr>
              <a:t>inp</a:t>
            </a:r>
            <a:r>
              <a:rPr lang="en-US" altLang="zh-CN" sz="1800" b="1" dirty="0">
                <a:solidFill>
                  <a:srgbClr val="000000"/>
                </a:solidFill>
                <a:latin typeface="宋体" panose="02010600030101010101" pitchFamily="2" charset="-122"/>
              </a:rPr>
              <a:t>(</a:t>
            </a:r>
            <a:r>
              <a:rPr lang="en-US" altLang="zh-CN" sz="18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PA</a:t>
            </a:r>
            <a:r>
              <a:rPr lang="en-US" altLang="zh-CN" sz="1800" b="1" baseline="-18000" dirty="0" err="1">
                <a:solidFill>
                  <a:srgbClr val="000000"/>
                </a:solidFill>
                <a:latin typeface="宋体" panose="02010600030101010101" pitchFamily="2" charset="-122"/>
              </a:rPr>
              <a:t>Stat</a:t>
            </a:r>
            <a:r>
              <a:rPr lang="en-US" altLang="zh-CN" sz="1800" b="1" dirty="0">
                <a:solidFill>
                  <a:srgbClr val="000000"/>
                </a:solidFill>
                <a:latin typeface="宋体" panose="02010600030101010101" pitchFamily="2" charset="-122"/>
              </a:rPr>
              <a:t>);  //</a:t>
            </a:r>
            <a:r>
              <a:rPr lang="zh-CN" altLang="en-US" sz="1800" b="1" dirty="0">
                <a:solidFill>
                  <a:srgbClr val="000000"/>
                </a:solidFill>
                <a:latin typeface="宋体" panose="02010600030101010101" pitchFamily="2" charset="-122"/>
              </a:rPr>
              <a:t>查询，</a:t>
            </a:r>
            <a:r>
              <a:rPr lang="zh-CN" altLang="en-US" sz="1800" b="1" dirty="0">
                <a:solidFill>
                  <a:srgbClr val="0070C0"/>
                </a:solidFill>
                <a:latin typeface="宋体" panose="02010600030101010101" pitchFamily="2" charset="-122"/>
              </a:rPr>
              <a:t>读状态口</a:t>
            </a:r>
            <a:endParaRPr lang="en-US" altLang="zh-CN" sz="1800" b="1" dirty="0">
              <a:solidFill>
                <a:srgbClr val="0070C0"/>
              </a:solidFill>
              <a:latin typeface="宋体" panose="02010600030101010101" pitchFamily="2" charset="-122"/>
            </a:endParaRPr>
          </a:p>
          <a:p>
            <a:pPr algn="l"/>
            <a:r>
              <a:rPr lang="en-US" altLang="zh-CN" sz="1800" b="1" dirty="0">
                <a:solidFill>
                  <a:srgbClr val="000000"/>
                </a:solidFill>
                <a:latin typeface="宋体" panose="02010600030101010101" pitchFamily="2" charset="-122"/>
              </a:rPr>
              <a:t>} while (!</a:t>
            </a:r>
            <a:r>
              <a:rPr lang="en-US" altLang="zh-CN" sz="18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st</a:t>
            </a:r>
            <a:r>
              <a:rPr lang="en-US" altLang="zh-CN" sz="1800" b="1" dirty="0">
                <a:solidFill>
                  <a:srgbClr val="000000"/>
                </a:solidFill>
                <a:latin typeface="宋体" panose="02010600030101010101" pitchFamily="2" charset="-122"/>
              </a:rPr>
              <a:t>);</a:t>
            </a:r>
          </a:p>
          <a:p>
            <a:pPr algn="l"/>
            <a:r>
              <a:rPr lang="en-US" altLang="zh-CN" sz="1800" b="1" dirty="0" err="1">
                <a:solidFill>
                  <a:srgbClr val="FF3399"/>
                </a:solidFill>
                <a:latin typeface="宋体" panose="02010600030101010101" pitchFamily="2" charset="-122"/>
              </a:rPr>
              <a:t>outp</a:t>
            </a:r>
            <a:r>
              <a:rPr lang="en-US" altLang="zh-CN" sz="1800" b="1" dirty="0">
                <a:solidFill>
                  <a:srgbClr val="000000"/>
                </a:solidFill>
                <a:latin typeface="宋体" panose="02010600030101010101" pitchFamily="2" charset="-122"/>
              </a:rPr>
              <a:t>(</a:t>
            </a:r>
            <a:r>
              <a:rPr lang="en-US" altLang="zh-CN" sz="18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PA</a:t>
            </a:r>
            <a:r>
              <a:rPr lang="en-US" altLang="zh-CN" sz="1800" b="1" baseline="-18000" dirty="0" err="1">
                <a:solidFill>
                  <a:srgbClr val="000000"/>
                </a:solidFill>
                <a:latin typeface="宋体" panose="02010600030101010101" pitchFamily="2" charset="-122"/>
              </a:rPr>
              <a:t>Data</a:t>
            </a:r>
            <a:r>
              <a:rPr lang="en-US" altLang="zh-CN" sz="18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,RB</a:t>
            </a:r>
            <a:r>
              <a:rPr lang="en-US" altLang="zh-CN" sz="1800" b="1" dirty="0">
                <a:solidFill>
                  <a:srgbClr val="000000"/>
                </a:solidFill>
                <a:latin typeface="宋体" panose="02010600030101010101" pitchFamily="2" charset="-122"/>
              </a:rPr>
              <a:t>);        //</a:t>
            </a:r>
            <a:r>
              <a:rPr lang="zh-CN" altLang="en-US" sz="1800" b="1" dirty="0">
                <a:solidFill>
                  <a:srgbClr val="000000"/>
                </a:solidFill>
                <a:latin typeface="宋体" panose="02010600030101010101" pitchFamily="2" charset="-122"/>
              </a:rPr>
              <a:t>传送，</a:t>
            </a:r>
            <a:r>
              <a:rPr lang="zh-CN" altLang="en-US" sz="1800" b="1" dirty="0">
                <a:solidFill>
                  <a:srgbClr val="0070C0"/>
                </a:solidFill>
                <a:latin typeface="宋体" panose="02010600030101010101" pitchFamily="2" charset="-122"/>
              </a:rPr>
              <a:t>读</a:t>
            </a:r>
            <a:r>
              <a:rPr lang="en-US" altLang="zh-CN" sz="1800" b="1" dirty="0">
                <a:solidFill>
                  <a:srgbClr val="0070C0"/>
                </a:solidFill>
                <a:latin typeface="宋体" panose="02010600030101010101" pitchFamily="2" charset="-122"/>
              </a:rPr>
              <a:t>/</a:t>
            </a:r>
            <a:r>
              <a:rPr lang="zh-CN" altLang="en-US" sz="1800" b="1" dirty="0">
                <a:solidFill>
                  <a:srgbClr val="0070C0"/>
                </a:solidFill>
                <a:latin typeface="宋体" panose="02010600030101010101" pitchFamily="2" charset="-122"/>
              </a:rPr>
              <a:t>写数据口</a:t>
            </a:r>
            <a:endParaRPr lang="zh-CN" altLang="en-US" sz="1800" b="1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grpSp>
        <p:nvGrpSpPr>
          <p:cNvPr id="77" name="组合 76"/>
          <p:cNvGrpSpPr/>
          <p:nvPr/>
        </p:nvGrpSpPr>
        <p:grpSpPr>
          <a:xfrm>
            <a:off x="1115616" y="5313600"/>
            <a:ext cx="3672353" cy="972769"/>
            <a:chOff x="899648" y="1884392"/>
            <a:chExt cx="3672353" cy="972769"/>
          </a:xfrm>
        </p:grpSpPr>
        <p:sp>
          <p:nvSpPr>
            <p:cNvPr id="78" name="Text Box 9"/>
            <p:cNvSpPr txBox="1">
              <a:spLocks noChangeArrowheads="1"/>
            </p:cNvSpPr>
            <p:nvPr/>
          </p:nvSpPr>
          <p:spPr bwMode="auto">
            <a:xfrm>
              <a:off x="1619672" y="2604392"/>
              <a:ext cx="2520281" cy="252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1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次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I/O</a:t>
              </a:r>
            </a:p>
          </p:txBody>
        </p:sp>
        <p:sp>
          <p:nvSpPr>
            <p:cNvPr id="79" name="Text Box 12"/>
            <p:cNvSpPr txBox="1">
              <a:spLocks noChangeArrowheads="1"/>
            </p:cNvSpPr>
            <p:nvPr/>
          </p:nvSpPr>
          <p:spPr bwMode="auto">
            <a:xfrm>
              <a:off x="899648" y="2604392"/>
              <a:ext cx="504000" cy="25200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105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接口</a:t>
              </a:r>
            </a:p>
          </p:txBody>
        </p:sp>
        <p:sp>
          <p:nvSpPr>
            <p:cNvPr id="80" name="Text Box 13"/>
            <p:cNvSpPr txBox="1">
              <a:spLocks noChangeArrowheads="1"/>
            </p:cNvSpPr>
            <p:nvPr/>
          </p:nvSpPr>
          <p:spPr bwMode="auto">
            <a:xfrm>
              <a:off x="899648" y="2134577"/>
              <a:ext cx="504000" cy="287337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105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CPU</a:t>
              </a:r>
            </a:p>
          </p:txBody>
        </p:sp>
        <p:sp>
          <p:nvSpPr>
            <p:cNvPr id="81" name="Line 15"/>
            <p:cNvSpPr>
              <a:spLocks noChangeShapeType="1"/>
            </p:cNvSpPr>
            <p:nvPr/>
          </p:nvSpPr>
          <p:spPr bwMode="auto">
            <a:xfrm>
              <a:off x="1619672" y="2388392"/>
              <a:ext cx="0" cy="216000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" name="Line 15"/>
            <p:cNvSpPr>
              <a:spLocks noChangeShapeType="1"/>
            </p:cNvSpPr>
            <p:nvPr/>
          </p:nvSpPr>
          <p:spPr bwMode="auto">
            <a:xfrm flipV="1">
              <a:off x="2051720" y="2388392"/>
              <a:ext cx="0" cy="216000"/>
            </a:xfrm>
            <a:prstGeom prst="line">
              <a:avLst/>
            </a:prstGeom>
            <a:noFill/>
            <a:ln w="19050">
              <a:solidFill>
                <a:srgbClr val="9900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" name="Line 15"/>
            <p:cNvSpPr>
              <a:spLocks noChangeShapeType="1"/>
            </p:cNvSpPr>
            <p:nvPr/>
          </p:nvSpPr>
          <p:spPr bwMode="auto">
            <a:xfrm flipV="1">
              <a:off x="3491880" y="2388392"/>
              <a:ext cx="0" cy="216000"/>
            </a:xfrm>
            <a:prstGeom prst="line">
              <a:avLst/>
            </a:prstGeom>
            <a:noFill/>
            <a:ln w="19050">
              <a:solidFill>
                <a:srgbClr val="9900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" name="Line 15"/>
            <p:cNvSpPr>
              <a:spLocks noChangeShapeType="1"/>
            </p:cNvSpPr>
            <p:nvPr/>
          </p:nvSpPr>
          <p:spPr bwMode="auto">
            <a:xfrm>
              <a:off x="3923928" y="2388392"/>
              <a:ext cx="0" cy="21600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" name="Line 15"/>
            <p:cNvSpPr>
              <a:spLocks noChangeShapeType="1"/>
            </p:cNvSpPr>
            <p:nvPr/>
          </p:nvSpPr>
          <p:spPr bwMode="auto">
            <a:xfrm>
              <a:off x="4355976" y="2388392"/>
              <a:ext cx="0" cy="216000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9" name="Text Box 13"/>
            <p:cNvSpPr txBox="1">
              <a:spLocks noChangeArrowheads="1"/>
            </p:cNvSpPr>
            <p:nvPr/>
          </p:nvSpPr>
          <p:spPr bwMode="auto">
            <a:xfrm>
              <a:off x="2267744" y="2134577"/>
              <a:ext cx="288031" cy="25200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0" tIns="10800" rIns="0" bIns="10800" anchor="ctr"/>
            <a:lstStyle/>
            <a:p>
              <a:pPr>
                <a:lnSpc>
                  <a:spcPct val="105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…</a:t>
              </a:r>
            </a:p>
          </p:txBody>
        </p:sp>
        <p:sp>
          <p:nvSpPr>
            <p:cNvPr id="90" name="Text Box 17"/>
            <p:cNvSpPr txBox="1">
              <a:spLocks noChangeArrowheads="1"/>
            </p:cNvSpPr>
            <p:nvPr/>
          </p:nvSpPr>
          <p:spPr bwMode="auto">
            <a:xfrm>
              <a:off x="4137100" y="2134578"/>
              <a:ext cx="434900" cy="252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noFill/>
              <a:miter lim="800000"/>
            </a:ln>
            <a:effectLst/>
          </p:spPr>
          <p:txBody>
            <a:bodyPr vert="horz" lIns="0" tIns="10800" rIns="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启动</a:t>
              </a:r>
            </a:p>
          </p:txBody>
        </p:sp>
        <p:sp>
          <p:nvSpPr>
            <p:cNvPr id="91" name="Line 26"/>
            <p:cNvSpPr>
              <a:spLocks noChangeShapeType="1"/>
            </p:cNvSpPr>
            <p:nvPr/>
          </p:nvSpPr>
          <p:spPr bwMode="auto">
            <a:xfrm>
              <a:off x="4137099" y="2132856"/>
              <a:ext cx="434901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ash"/>
              <a:round/>
              <a:tailEnd type="none" w="med" len="med"/>
            </a:ln>
            <a:effectLst/>
          </p:spPr>
          <p:txBody>
            <a:bodyPr lIns="0" rIns="0"/>
            <a:lstStyle/>
            <a:p>
              <a:endParaRPr lang="zh-CN" altLang="en-US" sz="1600"/>
            </a:p>
          </p:txBody>
        </p:sp>
        <p:sp>
          <p:nvSpPr>
            <p:cNvPr id="92" name="Line 26"/>
            <p:cNvSpPr>
              <a:spLocks noChangeShapeType="1"/>
            </p:cNvSpPr>
            <p:nvPr/>
          </p:nvSpPr>
          <p:spPr bwMode="auto">
            <a:xfrm>
              <a:off x="4139953" y="2388392"/>
              <a:ext cx="432048" cy="347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ash"/>
              <a:round/>
              <a:tailEnd type="none" w="med" len="med"/>
            </a:ln>
            <a:effectLst/>
          </p:spPr>
          <p:txBody>
            <a:bodyPr lIns="0" rIns="0"/>
            <a:lstStyle/>
            <a:p>
              <a:endParaRPr lang="zh-CN" altLang="en-US" sz="1600"/>
            </a:p>
          </p:txBody>
        </p:sp>
        <p:sp>
          <p:nvSpPr>
            <p:cNvPr id="93" name="Text Box 10"/>
            <p:cNvSpPr txBox="1">
              <a:spLocks noChangeArrowheads="1"/>
            </p:cNvSpPr>
            <p:nvPr/>
          </p:nvSpPr>
          <p:spPr bwMode="auto">
            <a:xfrm>
              <a:off x="1835696" y="2134577"/>
              <a:ext cx="432048" cy="252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vert="horz" lIns="0" tIns="10800" rIns="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查询</a:t>
              </a:r>
            </a:p>
          </p:txBody>
        </p:sp>
        <p:sp>
          <p:nvSpPr>
            <p:cNvPr id="94" name="Text Box 17"/>
            <p:cNvSpPr txBox="1">
              <a:spLocks noChangeArrowheads="1"/>
            </p:cNvSpPr>
            <p:nvPr/>
          </p:nvSpPr>
          <p:spPr bwMode="auto">
            <a:xfrm>
              <a:off x="1403649" y="2134578"/>
              <a:ext cx="432048" cy="252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vert="horz" lIns="0" tIns="10800" rIns="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启动</a:t>
              </a:r>
            </a:p>
          </p:txBody>
        </p:sp>
        <p:sp>
          <p:nvSpPr>
            <p:cNvPr id="95" name="Text Box 10"/>
            <p:cNvSpPr txBox="1">
              <a:spLocks noChangeArrowheads="1"/>
            </p:cNvSpPr>
            <p:nvPr/>
          </p:nvSpPr>
          <p:spPr bwMode="auto">
            <a:xfrm>
              <a:off x="2555777" y="2134577"/>
              <a:ext cx="432047" cy="252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vert="horz" lIns="0" tIns="10800" rIns="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查询</a:t>
              </a:r>
            </a:p>
          </p:txBody>
        </p:sp>
        <p:sp>
          <p:nvSpPr>
            <p:cNvPr id="96" name="Line 15"/>
            <p:cNvSpPr>
              <a:spLocks noChangeShapeType="1"/>
            </p:cNvSpPr>
            <p:nvPr/>
          </p:nvSpPr>
          <p:spPr bwMode="auto">
            <a:xfrm flipV="1">
              <a:off x="2771800" y="2388392"/>
              <a:ext cx="0" cy="216000"/>
            </a:xfrm>
            <a:prstGeom prst="line">
              <a:avLst/>
            </a:prstGeom>
            <a:noFill/>
            <a:ln w="19050">
              <a:solidFill>
                <a:srgbClr val="9900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7" name="Text Box 9"/>
            <p:cNvSpPr txBox="1">
              <a:spLocks noChangeArrowheads="1"/>
            </p:cNvSpPr>
            <p:nvPr/>
          </p:nvSpPr>
          <p:spPr bwMode="auto">
            <a:xfrm>
              <a:off x="4355976" y="2604392"/>
              <a:ext cx="216025" cy="252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noFill/>
              <a:prstDash val="sysDash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98" name="Line 26"/>
            <p:cNvSpPr>
              <a:spLocks noChangeShapeType="1"/>
            </p:cNvSpPr>
            <p:nvPr/>
          </p:nvSpPr>
          <p:spPr bwMode="auto">
            <a:xfrm>
              <a:off x="4355976" y="2604392"/>
              <a:ext cx="216025" cy="3176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ash"/>
              <a:round/>
              <a:tailEnd type="non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9" name="Line 26"/>
            <p:cNvSpPr>
              <a:spLocks noChangeShapeType="1"/>
            </p:cNvSpPr>
            <p:nvPr/>
          </p:nvSpPr>
          <p:spPr bwMode="auto">
            <a:xfrm>
              <a:off x="4355976" y="2856392"/>
              <a:ext cx="216024" cy="769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ash"/>
              <a:round/>
              <a:tailEnd type="non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1" name="Line 26"/>
            <p:cNvSpPr>
              <a:spLocks noChangeShapeType="1"/>
            </p:cNvSpPr>
            <p:nvPr/>
          </p:nvSpPr>
          <p:spPr bwMode="auto">
            <a:xfrm>
              <a:off x="4357304" y="2604392"/>
              <a:ext cx="0" cy="25200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ash"/>
              <a:round/>
              <a:tailEnd type="non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" name="Text Box 13"/>
            <p:cNvSpPr txBox="1">
              <a:spLocks noChangeArrowheads="1"/>
            </p:cNvSpPr>
            <p:nvPr/>
          </p:nvSpPr>
          <p:spPr bwMode="auto">
            <a:xfrm>
              <a:off x="2987825" y="2134577"/>
              <a:ext cx="288031" cy="25200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0" tIns="10800" rIns="0" bIns="10800" anchor="ctr"/>
            <a:lstStyle/>
            <a:p>
              <a:pPr>
                <a:lnSpc>
                  <a:spcPct val="105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…</a:t>
              </a:r>
            </a:p>
          </p:txBody>
        </p:sp>
        <p:sp>
          <p:nvSpPr>
            <p:cNvPr id="103" name="Text Box 10"/>
            <p:cNvSpPr txBox="1">
              <a:spLocks noChangeArrowheads="1"/>
            </p:cNvSpPr>
            <p:nvPr/>
          </p:nvSpPr>
          <p:spPr bwMode="auto">
            <a:xfrm>
              <a:off x="3275857" y="2134577"/>
              <a:ext cx="432047" cy="252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vert="horz" lIns="0" tIns="10800" rIns="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查询</a:t>
              </a:r>
            </a:p>
          </p:txBody>
        </p:sp>
        <p:sp>
          <p:nvSpPr>
            <p:cNvPr id="104" name="Text Box 10"/>
            <p:cNvSpPr txBox="1">
              <a:spLocks noChangeArrowheads="1"/>
            </p:cNvSpPr>
            <p:nvPr/>
          </p:nvSpPr>
          <p:spPr bwMode="auto">
            <a:xfrm>
              <a:off x="3707904" y="2134577"/>
              <a:ext cx="432047" cy="252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vert="horz" lIns="0" tIns="10800" rIns="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传送</a:t>
              </a:r>
            </a:p>
          </p:txBody>
        </p:sp>
        <p:sp>
          <p:nvSpPr>
            <p:cNvPr id="105" name="Line 21"/>
            <p:cNvSpPr>
              <a:spLocks noChangeShapeType="1"/>
            </p:cNvSpPr>
            <p:nvPr/>
          </p:nvSpPr>
          <p:spPr bwMode="auto">
            <a:xfrm flipH="1">
              <a:off x="1835696" y="1920392"/>
              <a:ext cx="0" cy="216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6" name="Text Box 25"/>
            <p:cNvSpPr txBox="1">
              <a:spLocks noChangeArrowheads="1"/>
            </p:cNvSpPr>
            <p:nvPr/>
          </p:nvSpPr>
          <p:spPr bwMode="auto">
            <a:xfrm>
              <a:off x="2304000" y="1884392"/>
              <a:ext cx="900000" cy="21600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>
                  <a:latin typeface="+mn-ea"/>
                  <a:ea typeface="+mn-ea"/>
                </a:rPr>
                <a:t>独占查询</a:t>
              </a:r>
              <a:endParaRPr lang="en-US" altLang="zh-CN" sz="1800" b="1" baseline="-18000" dirty="0">
                <a:latin typeface="宋体" panose="02010600030101010101" pitchFamily="2" charset="-122"/>
              </a:endParaRPr>
            </a:p>
          </p:txBody>
        </p:sp>
        <p:sp>
          <p:nvSpPr>
            <p:cNvPr id="107" name="Line 28"/>
            <p:cNvSpPr>
              <a:spLocks noChangeShapeType="1"/>
            </p:cNvSpPr>
            <p:nvPr/>
          </p:nvSpPr>
          <p:spPr bwMode="auto">
            <a:xfrm>
              <a:off x="3240000" y="1992392"/>
              <a:ext cx="468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8" name="Line 29"/>
            <p:cNvSpPr>
              <a:spLocks noChangeShapeType="1"/>
            </p:cNvSpPr>
            <p:nvPr/>
          </p:nvSpPr>
          <p:spPr bwMode="auto">
            <a:xfrm flipH="1">
              <a:off x="1835696" y="1992392"/>
              <a:ext cx="468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1" name="Line 21"/>
            <p:cNvSpPr>
              <a:spLocks noChangeShapeType="1"/>
            </p:cNvSpPr>
            <p:nvPr/>
          </p:nvSpPr>
          <p:spPr bwMode="auto">
            <a:xfrm flipH="1">
              <a:off x="3707904" y="1920392"/>
              <a:ext cx="0" cy="216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21" name="组合 120"/>
          <p:cNvGrpSpPr/>
          <p:nvPr/>
        </p:nvGrpSpPr>
        <p:grpSpPr>
          <a:xfrm>
            <a:off x="5076056" y="5313600"/>
            <a:ext cx="3168352" cy="972769"/>
            <a:chOff x="2303712" y="3491526"/>
            <a:chExt cx="3168352" cy="972769"/>
          </a:xfrm>
        </p:grpSpPr>
        <p:sp>
          <p:nvSpPr>
            <p:cNvPr id="123" name="Text Box 17"/>
            <p:cNvSpPr txBox="1">
              <a:spLocks noChangeArrowheads="1"/>
            </p:cNvSpPr>
            <p:nvPr/>
          </p:nvSpPr>
          <p:spPr bwMode="auto">
            <a:xfrm>
              <a:off x="2734334" y="3740569"/>
              <a:ext cx="720080" cy="252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其它</a:t>
              </a:r>
            </a:p>
          </p:txBody>
        </p:sp>
        <p:sp>
          <p:nvSpPr>
            <p:cNvPr id="124" name="Text Box 9"/>
            <p:cNvSpPr txBox="1">
              <a:spLocks noChangeArrowheads="1"/>
            </p:cNvSpPr>
            <p:nvPr/>
          </p:nvSpPr>
          <p:spPr bwMode="auto">
            <a:xfrm>
              <a:off x="2519735" y="4211526"/>
              <a:ext cx="2520281" cy="252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1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次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I/O</a:t>
              </a:r>
            </a:p>
          </p:txBody>
        </p:sp>
        <p:sp>
          <p:nvSpPr>
            <p:cNvPr id="127" name="Line 15"/>
            <p:cNvSpPr>
              <a:spLocks noChangeShapeType="1"/>
            </p:cNvSpPr>
            <p:nvPr/>
          </p:nvSpPr>
          <p:spPr bwMode="auto">
            <a:xfrm>
              <a:off x="2519735" y="3995526"/>
              <a:ext cx="0" cy="216000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" name="Line 15"/>
            <p:cNvSpPr>
              <a:spLocks noChangeShapeType="1"/>
            </p:cNvSpPr>
            <p:nvPr/>
          </p:nvSpPr>
          <p:spPr bwMode="auto">
            <a:xfrm flipV="1">
              <a:off x="4391943" y="3995526"/>
              <a:ext cx="0" cy="216000"/>
            </a:xfrm>
            <a:prstGeom prst="line">
              <a:avLst/>
            </a:prstGeom>
            <a:noFill/>
            <a:ln w="19050">
              <a:solidFill>
                <a:srgbClr val="9900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" name="Line 15"/>
            <p:cNvSpPr>
              <a:spLocks noChangeShapeType="1"/>
            </p:cNvSpPr>
            <p:nvPr/>
          </p:nvSpPr>
          <p:spPr bwMode="auto">
            <a:xfrm>
              <a:off x="4823991" y="3995526"/>
              <a:ext cx="0" cy="21600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5" name="Line 15"/>
            <p:cNvSpPr>
              <a:spLocks noChangeShapeType="1"/>
            </p:cNvSpPr>
            <p:nvPr/>
          </p:nvSpPr>
          <p:spPr bwMode="auto">
            <a:xfrm>
              <a:off x="5256039" y="3995526"/>
              <a:ext cx="0" cy="216000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6" name="Text Box 17"/>
            <p:cNvSpPr txBox="1">
              <a:spLocks noChangeArrowheads="1"/>
            </p:cNvSpPr>
            <p:nvPr/>
          </p:nvSpPr>
          <p:spPr bwMode="auto">
            <a:xfrm>
              <a:off x="5037163" y="3741712"/>
              <a:ext cx="434900" cy="252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noFill/>
              <a:miter lim="800000"/>
            </a:ln>
            <a:effectLst/>
          </p:spPr>
          <p:txBody>
            <a:bodyPr vert="horz" lIns="0" tIns="10800" rIns="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启动</a:t>
              </a:r>
            </a:p>
          </p:txBody>
        </p:sp>
        <p:sp>
          <p:nvSpPr>
            <p:cNvPr id="147" name="Line 26"/>
            <p:cNvSpPr>
              <a:spLocks noChangeShapeType="1"/>
            </p:cNvSpPr>
            <p:nvPr/>
          </p:nvSpPr>
          <p:spPr bwMode="auto">
            <a:xfrm>
              <a:off x="5037162" y="3739990"/>
              <a:ext cx="434901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ash"/>
              <a:round/>
              <a:tailEnd type="none" w="med" len="med"/>
            </a:ln>
            <a:effectLst/>
          </p:spPr>
          <p:txBody>
            <a:bodyPr lIns="0" rIns="0"/>
            <a:lstStyle/>
            <a:p>
              <a:endParaRPr lang="zh-CN" altLang="en-US" sz="1600"/>
            </a:p>
          </p:txBody>
        </p:sp>
        <p:sp>
          <p:nvSpPr>
            <p:cNvPr id="148" name="Line 26"/>
            <p:cNvSpPr>
              <a:spLocks noChangeShapeType="1"/>
            </p:cNvSpPr>
            <p:nvPr/>
          </p:nvSpPr>
          <p:spPr bwMode="auto">
            <a:xfrm>
              <a:off x="5040016" y="3995526"/>
              <a:ext cx="432048" cy="347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ash"/>
              <a:round/>
              <a:tailEnd type="none" w="med" len="med"/>
            </a:ln>
            <a:effectLst/>
          </p:spPr>
          <p:txBody>
            <a:bodyPr lIns="0" rIns="0"/>
            <a:lstStyle/>
            <a:p>
              <a:endParaRPr lang="zh-CN" altLang="en-US" sz="1600"/>
            </a:p>
          </p:txBody>
        </p:sp>
        <p:sp>
          <p:nvSpPr>
            <p:cNvPr id="149" name="Text Box 17"/>
            <p:cNvSpPr txBox="1">
              <a:spLocks noChangeArrowheads="1"/>
            </p:cNvSpPr>
            <p:nvPr/>
          </p:nvSpPr>
          <p:spPr bwMode="auto">
            <a:xfrm>
              <a:off x="2303712" y="3741712"/>
              <a:ext cx="432048" cy="252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vert="horz" lIns="0" tIns="10800" rIns="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启动</a:t>
              </a:r>
            </a:p>
          </p:txBody>
        </p:sp>
        <p:sp>
          <p:nvSpPr>
            <p:cNvPr id="150" name="Text Box 10"/>
            <p:cNvSpPr txBox="1">
              <a:spLocks noChangeArrowheads="1"/>
            </p:cNvSpPr>
            <p:nvPr/>
          </p:nvSpPr>
          <p:spPr bwMode="auto">
            <a:xfrm>
              <a:off x="3455840" y="3741711"/>
              <a:ext cx="432047" cy="252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vert="horz" lIns="0" tIns="10800" rIns="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查询</a:t>
              </a:r>
            </a:p>
          </p:txBody>
        </p:sp>
        <p:sp>
          <p:nvSpPr>
            <p:cNvPr id="151" name="Line 15"/>
            <p:cNvSpPr>
              <a:spLocks noChangeShapeType="1"/>
            </p:cNvSpPr>
            <p:nvPr/>
          </p:nvSpPr>
          <p:spPr bwMode="auto">
            <a:xfrm flipV="1">
              <a:off x="3671863" y="3995526"/>
              <a:ext cx="0" cy="216000"/>
            </a:xfrm>
            <a:prstGeom prst="line">
              <a:avLst/>
            </a:prstGeom>
            <a:noFill/>
            <a:ln w="19050">
              <a:solidFill>
                <a:srgbClr val="9900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2" name="Text Box 9"/>
            <p:cNvSpPr txBox="1">
              <a:spLocks noChangeArrowheads="1"/>
            </p:cNvSpPr>
            <p:nvPr/>
          </p:nvSpPr>
          <p:spPr bwMode="auto">
            <a:xfrm>
              <a:off x="5256039" y="4211526"/>
              <a:ext cx="216025" cy="252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noFill/>
              <a:prstDash val="sysDash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53" name="Line 26"/>
            <p:cNvSpPr>
              <a:spLocks noChangeShapeType="1"/>
            </p:cNvSpPr>
            <p:nvPr/>
          </p:nvSpPr>
          <p:spPr bwMode="auto">
            <a:xfrm>
              <a:off x="5256039" y="4211526"/>
              <a:ext cx="216025" cy="3176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ash"/>
              <a:round/>
              <a:tailEnd type="non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" name="Line 26"/>
            <p:cNvSpPr>
              <a:spLocks noChangeShapeType="1"/>
            </p:cNvSpPr>
            <p:nvPr/>
          </p:nvSpPr>
          <p:spPr bwMode="auto">
            <a:xfrm>
              <a:off x="5256039" y="4463526"/>
              <a:ext cx="216024" cy="769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ash"/>
              <a:round/>
              <a:tailEnd type="non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5" name="Line 26"/>
            <p:cNvSpPr>
              <a:spLocks noChangeShapeType="1"/>
            </p:cNvSpPr>
            <p:nvPr/>
          </p:nvSpPr>
          <p:spPr bwMode="auto">
            <a:xfrm>
              <a:off x="5257367" y="4211526"/>
              <a:ext cx="0" cy="25200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ash"/>
              <a:round/>
              <a:tailEnd type="non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6" name="Text Box 13"/>
            <p:cNvSpPr txBox="1">
              <a:spLocks noChangeArrowheads="1"/>
            </p:cNvSpPr>
            <p:nvPr/>
          </p:nvSpPr>
          <p:spPr bwMode="auto">
            <a:xfrm>
              <a:off x="3887888" y="3741711"/>
              <a:ext cx="288031" cy="25200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0" tIns="10800" rIns="0" bIns="10800" anchor="ctr"/>
            <a:lstStyle/>
            <a:p>
              <a:pPr>
                <a:lnSpc>
                  <a:spcPct val="105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…</a:t>
              </a:r>
            </a:p>
          </p:txBody>
        </p:sp>
        <p:sp>
          <p:nvSpPr>
            <p:cNvPr id="157" name="Text Box 10"/>
            <p:cNvSpPr txBox="1">
              <a:spLocks noChangeArrowheads="1"/>
            </p:cNvSpPr>
            <p:nvPr/>
          </p:nvSpPr>
          <p:spPr bwMode="auto">
            <a:xfrm>
              <a:off x="4175920" y="3741711"/>
              <a:ext cx="432047" cy="252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vert="horz" lIns="0" tIns="10800" rIns="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查询</a:t>
              </a:r>
            </a:p>
          </p:txBody>
        </p:sp>
        <p:sp>
          <p:nvSpPr>
            <p:cNvPr id="158" name="Text Box 10"/>
            <p:cNvSpPr txBox="1">
              <a:spLocks noChangeArrowheads="1"/>
            </p:cNvSpPr>
            <p:nvPr/>
          </p:nvSpPr>
          <p:spPr bwMode="auto">
            <a:xfrm>
              <a:off x="4607967" y="3741711"/>
              <a:ext cx="432047" cy="252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vert="horz" lIns="0" tIns="10800" rIns="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传送</a:t>
              </a:r>
            </a:p>
          </p:txBody>
        </p:sp>
        <p:sp>
          <p:nvSpPr>
            <p:cNvPr id="159" name="Line 21"/>
            <p:cNvSpPr>
              <a:spLocks noChangeShapeType="1"/>
            </p:cNvSpPr>
            <p:nvPr/>
          </p:nvSpPr>
          <p:spPr bwMode="auto">
            <a:xfrm flipH="1">
              <a:off x="3455839" y="3527526"/>
              <a:ext cx="0" cy="216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0" name="Text Box 25"/>
            <p:cNvSpPr txBox="1">
              <a:spLocks noChangeArrowheads="1"/>
            </p:cNvSpPr>
            <p:nvPr/>
          </p:nvSpPr>
          <p:spPr bwMode="auto">
            <a:xfrm>
              <a:off x="3563951" y="3491526"/>
              <a:ext cx="900000" cy="21600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>
                  <a:latin typeface="+mn-ea"/>
                  <a:ea typeface="+mn-ea"/>
                </a:rPr>
                <a:t>定时查询</a:t>
              </a:r>
              <a:endParaRPr lang="en-US" altLang="zh-CN" sz="1800" b="1" baseline="-18000" dirty="0">
                <a:latin typeface="宋体" panose="02010600030101010101" pitchFamily="2" charset="-122"/>
              </a:endParaRPr>
            </a:p>
          </p:txBody>
        </p:sp>
        <p:sp>
          <p:nvSpPr>
            <p:cNvPr id="161" name="Line 28"/>
            <p:cNvSpPr>
              <a:spLocks noChangeShapeType="1"/>
            </p:cNvSpPr>
            <p:nvPr/>
          </p:nvSpPr>
          <p:spPr bwMode="auto">
            <a:xfrm>
              <a:off x="4463951" y="3599526"/>
              <a:ext cx="144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162" name="Line 29"/>
            <p:cNvSpPr>
              <a:spLocks noChangeShapeType="1"/>
            </p:cNvSpPr>
            <p:nvPr/>
          </p:nvSpPr>
          <p:spPr bwMode="auto">
            <a:xfrm flipH="1">
              <a:off x="3455855" y="3599526"/>
              <a:ext cx="144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163" name="Line 21"/>
            <p:cNvSpPr>
              <a:spLocks noChangeShapeType="1"/>
            </p:cNvSpPr>
            <p:nvPr/>
          </p:nvSpPr>
          <p:spPr bwMode="auto">
            <a:xfrm flipH="1">
              <a:off x="4607967" y="3527526"/>
              <a:ext cx="0" cy="216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09" name="组合 108">
            <a:extLst>
              <a:ext uri="{FF2B5EF4-FFF2-40B4-BE49-F238E27FC236}">
                <a16:creationId xmlns:a16="http://schemas.microsoft.com/office/drawing/2014/main" id="{55651425-1CF9-454D-B3CF-1434F54A7452}"/>
              </a:ext>
            </a:extLst>
          </p:cNvPr>
          <p:cNvGrpSpPr/>
          <p:nvPr/>
        </p:nvGrpSpPr>
        <p:grpSpPr>
          <a:xfrm>
            <a:off x="7164488" y="1772816"/>
            <a:ext cx="1800000" cy="2556008"/>
            <a:chOff x="7092280" y="1556792"/>
            <a:chExt cx="1800000" cy="2556008"/>
          </a:xfrm>
        </p:grpSpPr>
        <p:sp>
          <p:nvSpPr>
            <p:cNvPr id="118" name="Text Box 202">
              <a:extLst>
                <a:ext uri="{FF2B5EF4-FFF2-40B4-BE49-F238E27FC236}">
                  <a16:creationId xmlns:a16="http://schemas.microsoft.com/office/drawing/2014/main" id="{D5B657F5-3EA4-4DED-8CD8-A2FF172A25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64280" y="2132800"/>
              <a:ext cx="1728000" cy="140400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vert="horz" lIns="18000" tIns="10800" rIns="18000" bIns="10800" anchor="ctr"/>
            <a:lstStyle/>
            <a:p>
              <a:pPr eaLnBrk="0" hangingPunct="0"/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19" name="AutoShape 175">
              <a:extLst>
                <a:ext uri="{FF2B5EF4-FFF2-40B4-BE49-F238E27FC236}">
                  <a16:creationId xmlns:a16="http://schemas.microsoft.com/office/drawing/2014/main" id="{B0BF0ED1-5FAA-429E-8998-6E7C39A396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52280" y="2744800"/>
              <a:ext cx="1152000" cy="252000"/>
            </a:xfrm>
            <a:prstGeom prst="flowChartDecision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/>
                <a:t>就绪？</a:t>
              </a:r>
            </a:p>
          </p:txBody>
        </p:sp>
        <p:sp>
          <p:nvSpPr>
            <p:cNvPr id="120" name="Text Box 177">
              <a:extLst>
                <a:ext uri="{FF2B5EF4-FFF2-40B4-BE49-F238E27FC236}">
                  <a16:creationId xmlns:a16="http://schemas.microsoft.com/office/drawing/2014/main" id="{4A907F73-3D6F-4CEE-862D-686771D1BAF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08280" y="2690800"/>
              <a:ext cx="144000" cy="18000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 eaLnBrk="0" hangingPunct="0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N</a:t>
              </a:r>
            </a:p>
          </p:txBody>
        </p:sp>
        <p:sp>
          <p:nvSpPr>
            <p:cNvPr id="122" name="Text Box 182">
              <a:extLst>
                <a:ext uri="{FF2B5EF4-FFF2-40B4-BE49-F238E27FC236}">
                  <a16:creationId xmlns:a16="http://schemas.microsoft.com/office/drawing/2014/main" id="{349B3B30-CD5F-4D3D-8B51-592965040C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36584" y="3212800"/>
              <a:ext cx="1584000" cy="252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eaLnBrk="0" hangingPunct="0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与外设</a:t>
              </a:r>
              <a:r>
                <a:rPr lang="zh-CN" altLang="en-US" sz="1600" b="1" dirty="0">
                  <a:solidFill>
                    <a:srgbClr val="FF3399"/>
                  </a:solidFill>
                  <a:latin typeface="宋体" panose="02010600030101010101" pitchFamily="2" charset="-122"/>
                </a:rPr>
                <a:t>交换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数据</a:t>
              </a:r>
            </a:p>
          </p:txBody>
        </p:sp>
        <p:sp>
          <p:nvSpPr>
            <p:cNvPr id="128" name="Text Box 184">
              <a:extLst>
                <a:ext uri="{FF2B5EF4-FFF2-40B4-BE49-F238E27FC236}">
                  <a16:creationId xmlns:a16="http://schemas.microsoft.com/office/drawing/2014/main" id="{FA7A5940-6584-44C6-8ADB-48F5ADAB92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52608" y="2312800"/>
              <a:ext cx="1152000" cy="252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eaLnBrk="0" hangingPunct="0">
                <a:lnSpc>
                  <a:spcPct val="90000"/>
                </a:lnSpc>
              </a:pPr>
              <a:r>
                <a:rPr lang="zh-CN" altLang="en-US" sz="1600" b="1" dirty="0">
                  <a:solidFill>
                    <a:srgbClr val="FF3399"/>
                  </a:solidFill>
                  <a:latin typeface="宋体" panose="02010600030101010101" pitchFamily="2" charset="-122"/>
                </a:rPr>
                <a:t>读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外设状态</a:t>
              </a:r>
            </a:p>
          </p:txBody>
        </p:sp>
        <p:sp>
          <p:nvSpPr>
            <p:cNvPr id="129" name="Text Box 185">
              <a:extLst>
                <a:ext uri="{FF2B5EF4-FFF2-40B4-BE49-F238E27FC236}">
                  <a16:creationId xmlns:a16="http://schemas.microsoft.com/office/drawing/2014/main" id="{25371CB7-717F-465D-9DE9-0570B59715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48280" y="2996800"/>
              <a:ext cx="144000" cy="18000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eaLnBrk="0" hangingPunct="0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Y</a:t>
              </a:r>
            </a:p>
          </p:txBody>
        </p:sp>
        <p:sp>
          <p:nvSpPr>
            <p:cNvPr id="130" name="AutoShape 187">
              <a:extLst>
                <a:ext uri="{FF2B5EF4-FFF2-40B4-BE49-F238E27FC236}">
                  <a16:creationId xmlns:a16="http://schemas.microsoft.com/office/drawing/2014/main" id="{6AFCFF5A-6B97-4101-BA60-660F0E99BC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52280" y="3644800"/>
              <a:ext cx="1152000" cy="252000"/>
            </a:xfrm>
            <a:prstGeom prst="flowChartDecision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/>
                <a:t>传完？</a:t>
              </a:r>
            </a:p>
          </p:txBody>
        </p:sp>
        <p:sp>
          <p:nvSpPr>
            <p:cNvPr id="131" name="Text Box 193">
              <a:extLst>
                <a:ext uri="{FF2B5EF4-FFF2-40B4-BE49-F238E27FC236}">
                  <a16:creationId xmlns:a16="http://schemas.microsoft.com/office/drawing/2014/main" id="{DD7D59E3-0D08-4623-992B-60B68F8DB3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52736" y="1736792"/>
              <a:ext cx="1152000" cy="252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eaLnBrk="0" hangingPunct="0">
                <a:lnSpc>
                  <a:spcPct val="90000"/>
                </a:lnSpc>
              </a:pPr>
              <a:r>
                <a:rPr lang="zh-CN" altLang="en-US" sz="1600" b="1" dirty="0">
                  <a:solidFill>
                    <a:srgbClr val="FF3399"/>
                  </a:solidFill>
                  <a:latin typeface="宋体" panose="02010600030101010101" pitchFamily="2" charset="-122"/>
                </a:rPr>
                <a:t>启动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外设</a:t>
              </a:r>
            </a:p>
          </p:txBody>
        </p:sp>
        <p:cxnSp>
          <p:nvCxnSpPr>
            <p:cNvPr id="132" name="直接箭头连接符 131">
              <a:extLst>
                <a:ext uri="{FF2B5EF4-FFF2-40B4-BE49-F238E27FC236}">
                  <a16:creationId xmlns:a16="http://schemas.microsoft.com/office/drawing/2014/main" id="{6BEF6967-242F-4F4A-BDAF-8E26FD0227F6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8028458" y="1556792"/>
              <a:ext cx="0" cy="18000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33" name="直接箭头连接符 132">
              <a:extLst>
                <a:ext uri="{FF2B5EF4-FFF2-40B4-BE49-F238E27FC236}">
                  <a16:creationId xmlns:a16="http://schemas.microsoft.com/office/drawing/2014/main" id="{19CC89C3-6047-43C1-BF2B-2B6738EE6049}"/>
                </a:ext>
              </a:extLst>
            </p:cNvPr>
            <p:cNvCxnSpPr>
              <a:cxnSpLocks/>
              <a:stCxn id="131" idx="2"/>
            </p:cNvCxnSpPr>
            <p:nvPr/>
          </p:nvCxnSpPr>
          <p:spPr bwMode="auto">
            <a:xfrm flipH="1">
              <a:off x="8028544" y="1988792"/>
              <a:ext cx="192" cy="324008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34" name="直接箭头连接符 133">
              <a:extLst>
                <a:ext uri="{FF2B5EF4-FFF2-40B4-BE49-F238E27FC236}">
                  <a16:creationId xmlns:a16="http://schemas.microsoft.com/office/drawing/2014/main" id="{411F7675-F3FE-47E2-92B3-CB8ACC9CA8AD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8028536" y="2564800"/>
              <a:ext cx="0" cy="180048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35" name="直接箭头连接符 134">
              <a:extLst>
                <a:ext uri="{FF2B5EF4-FFF2-40B4-BE49-F238E27FC236}">
                  <a16:creationId xmlns:a16="http://schemas.microsoft.com/office/drawing/2014/main" id="{0A8B2118-ECE5-4D9C-8D83-B5B05895DB77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8028512" y="2996800"/>
              <a:ext cx="0" cy="216024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36" name="直接箭头连接符 135">
              <a:extLst>
                <a:ext uri="{FF2B5EF4-FFF2-40B4-BE49-F238E27FC236}">
                  <a16:creationId xmlns:a16="http://schemas.microsoft.com/office/drawing/2014/main" id="{5DD3475B-7BFF-4B31-9A2A-3508628B7D08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8028512" y="3464800"/>
              <a:ext cx="0" cy="180048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37" name="直接箭头连接符 136">
              <a:extLst>
                <a:ext uri="{FF2B5EF4-FFF2-40B4-BE49-F238E27FC236}">
                  <a16:creationId xmlns:a16="http://schemas.microsoft.com/office/drawing/2014/main" id="{4F4B6C0E-974E-46CB-B472-7D7250E59319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8028450" y="3896800"/>
              <a:ext cx="0" cy="21600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38" name="Text Box 177">
              <a:extLst>
                <a:ext uri="{FF2B5EF4-FFF2-40B4-BE49-F238E27FC236}">
                  <a16:creationId xmlns:a16="http://schemas.microsoft.com/office/drawing/2014/main" id="{3507E726-1068-44AE-BBDA-1CE439D490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36280" y="3590800"/>
              <a:ext cx="144000" cy="18000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 eaLnBrk="0" hangingPunct="0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N</a:t>
              </a:r>
            </a:p>
          </p:txBody>
        </p:sp>
        <p:sp>
          <p:nvSpPr>
            <p:cNvPr id="139" name="Text Box 185">
              <a:extLst>
                <a:ext uri="{FF2B5EF4-FFF2-40B4-BE49-F238E27FC236}">
                  <a16:creationId xmlns:a16="http://schemas.microsoft.com/office/drawing/2014/main" id="{89006EE5-EF0A-4B4F-B453-1CF8B5CEAFA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48280" y="3896800"/>
              <a:ext cx="144000" cy="18000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eaLnBrk="0" hangingPunct="0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Y</a:t>
              </a:r>
            </a:p>
          </p:txBody>
        </p:sp>
        <p:cxnSp>
          <p:nvCxnSpPr>
            <p:cNvPr id="140" name="直接箭头连接符 139">
              <a:extLst>
                <a:ext uri="{FF2B5EF4-FFF2-40B4-BE49-F238E27FC236}">
                  <a16:creationId xmlns:a16="http://schemas.microsoft.com/office/drawing/2014/main" id="{94D91DAE-9C31-45BE-824E-7A089E87114D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092280" y="1628800"/>
              <a:ext cx="93600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41" name="直接箭头连接符 140">
              <a:extLst>
                <a:ext uri="{FF2B5EF4-FFF2-40B4-BE49-F238E27FC236}">
                  <a16:creationId xmlns:a16="http://schemas.microsoft.com/office/drawing/2014/main" id="{1C4A80E8-C9F7-4765-83EA-27239DD7A45D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7092280" y="1628800"/>
              <a:ext cx="0" cy="214200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2" name="直接箭头连接符 141">
              <a:extLst>
                <a:ext uri="{FF2B5EF4-FFF2-40B4-BE49-F238E27FC236}">
                  <a16:creationId xmlns:a16="http://schemas.microsoft.com/office/drawing/2014/main" id="{9D9C55FD-BD74-4D06-B97B-E7C450B2F098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7092280" y="3770800"/>
              <a:ext cx="36000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0" name="直接箭头连接符 179">
              <a:extLst>
                <a:ext uri="{FF2B5EF4-FFF2-40B4-BE49-F238E27FC236}">
                  <a16:creationId xmlns:a16="http://schemas.microsoft.com/office/drawing/2014/main" id="{CFED259D-F23D-44E4-81C9-EE243B752291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236280" y="2204800"/>
              <a:ext cx="79200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81" name="直接箭头连接符 180">
              <a:extLst>
                <a:ext uri="{FF2B5EF4-FFF2-40B4-BE49-F238E27FC236}">
                  <a16:creationId xmlns:a16="http://schemas.microsoft.com/office/drawing/2014/main" id="{B137B11F-7DAD-4798-A8E9-33F71B00F8B0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7236280" y="2204800"/>
              <a:ext cx="0" cy="66600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2" name="直接箭头连接符 181">
              <a:extLst>
                <a:ext uri="{FF2B5EF4-FFF2-40B4-BE49-F238E27FC236}">
                  <a16:creationId xmlns:a16="http://schemas.microsoft.com/office/drawing/2014/main" id="{A14683A5-9071-474D-A863-5FE3B1368DFA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7236280" y="2870800"/>
              <a:ext cx="21600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3" name="直接箭头连接符 182">
              <a:extLst>
                <a:ext uri="{FF2B5EF4-FFF2-40B4-BE49-F238E27FC236}">
                  <a16:creationId xmlns:a16="http://schemas.microsoft.com/office/drawing/2014/main" id="{CC590462-155C-4532-83F0-54EE7FEA9B35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092280" y="2060848"/>
              <a:ext cx="93600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triangle" w="med" len="med"/>
            </a:ln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9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1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000"/>
                            </p:stCondLst>
                            <p:childTnLst>
                              <p:par>
                                <p:cTn id="49" presetID="3" presetClass="entr" presetSubtype="1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8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1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0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" grpId="0" bldLvl="0"/>
      <p:bldP spid="45" grpId="0" bldLvl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" name="组合 94">
            <a:extLst>
              <a:ext uri="{FF2B5EF4-FFF2-40B4-BE49-F238E27FC236}">
                <a16:creationId xmlns:a16="http://schemas.microsoft.com/office/drawing/2014/main" id="{E3F37A17-2B45-4259-B341-D7C7FBAD3252}"/>
              </a:ext>
            </a:extLst>
          </p:cNvPr>
          <p:cNvGrpSpPr/>
          <p:nvPr/>
        </p:nvGrpSpPr>
        <p:grpSpPr>
          <a:xfrm>
            <a:off x="1188000" y="2961192"/>
            <a:ext cx="7344440" cy="2196000"/>
            <a:chOff x="1188000" y="2952000"/>
            <a:chExt cx="7344440" cy="2196000"/>
          </a:xfrm>
        </p:grpSpPr>
        <p:sp>
          <p:nvSpPr>
            <p:cNvPr id="96" name="Text Box 313">
              <a:extLst>
                <a:ext uri="{FF2B5EF4-FFF2-40B4-BE49-F238E27FC236}">
                  <a16:creationId xmlns:a16="http://schemas.microsoft.com/office/drawing/2014/main" id="{1833ED44-5499-49C2-8A17-0E73FA4879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43808" y="4752000"/>
              <a:ext cx="1080120" cy="252000"/>
            </a:xfrm>
            <a:prstGeom prst="rect">
              <a:avLst/>
            </a:prstGeom>
            <a:solidFill>
              <a:srgbClr val="CC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设备选择</a:t>
              </a:r>
            </a:p>
          </p:txBody>
        </p:sp>
        <p:sp>
          <p:nvSpPr>
            <p:cNvPr id="97" name="Text Box 319">
              <a:extLst>
                <a:ext uri="{FF2B5EF4-FFF2-40B4-BE49-F238E27FC236}">
                  <a16:creationId xmlns:a16="http://schemas.microsoft.com/office/drawing/2014/main" id="{7D8E9DE9-FC4A-4D3E-B7F2-6F409899E2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11960" y="4066440"/>
              <a:ext cx="864096" cy="252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9050">
              <a:solidFill>
                <a:srgbClr val="990099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控制口</a:t>
              </a:r>
            </a:p>
          </p:txBody>
        </p:sp>
        <p:sp>
          <p:nvSpPr>
            <p:cNvPr id="98" name="Text Box 320">
              <a:extLst>
                <a:ext uri="{FF2B5EF4-FFF2-40B4-BE49-F238E27FC236}">
                  <a16:creationId xmlns:a16="http://schemas.microsoft.com/office/drawing/2014/main" id="{152FA113-4287-48CE-A394-3B741A7624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08104" y="4066440"/>
              <a:ext cx="865361" cy="252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数据口</a:t>
              </a:r>
            </a:p>
          </p:txBody>
        </p:sp>
        <p:sp>
          <p:nvSpPr>
            <p:cNvPr id="99" name="Text Box 324">
              <a:extLst>
                <a:ext uri="{FF2B5EF4-FFF2-40B4-BE49-F238E27FC236}">
                  <a16:creationId xmlns:a16="http://schemas.microsoft.com/office/drawing/2014/main" id="{E1BA17D7-CA68-49CA-97F5-EA4AD7E416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63071" y="3274352"/>
              <a:ext cx="721097" cy="432048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0" rIns="0" bIns="0" anchor="ctr" anchorCtr="0"/>
            <a:lstStyle/>
            <a:p>
              <a:pPr>
                <a:lnSpc>
                  <a:spcPct val="8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Q</a:t>
              </a:r>
            </a:p>
            <a:p>
              <a:pPr algn="l">
                <a:lnSpc>
                  <a:spcPct val="8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 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 BS 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R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00" name="Rectangle 327">
              <a:extLst>
                <a:ext uri="{FF2B5EF4-FFF2-40B4-BE49-F238E27FC236}">
                  <a16:creationId xmlns:a16="http://schemas.microsoft.com/office/drawing/2014/main" id="{7EB291DA-EE6A-437F-8039-697F81EC41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99792" y="3058327"/>
              <a:ext cx="1728689" cy="788539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9050">
              <a:solidFill>
                <a:srgbClr val="990099"/>
              </a:solidFill>
              <a:miter lim="800000"/>
            </a:ln>
            <a:effectLst/>
          </p:spPr>
          <p:txBody>
            <a:bodyPr wrap="none" lIns="18000" tIns="25200" rIns="18000" bIns="10800" anchor="t" anchorCtr="0"/>
            <a:lstStyle/>
            <a:p>
              <a:pPr algn="l"/>
              <a:r>
                <a:rPr lang="zh-CN" altLang="en-US" sz="1400" b="1" dirty="0">
                  <a:latin typeface="+mn-ea"/>
                  <a:ea typeface="+mn-ea"/>
                </a:rPr>
                <a:t> </a:t>
              </a:r>
              <a:r>
                <a:rPr lang="zh-CN" altLang="en-US" sz="1800" b="1" dirty="0">
                  <a:latin typeface="+mn-ea"/>
                  <a:ea typeface="+mn-ea"/>
                </a:rPr>
                <a:t>状态口</a:t>
              </a:r>
              <a:endParaRPr lang="en-US" altLang="zh-CN" sz="1800" b="1" dirty="0">
                <a:latin typeface="+mn-ea"/>
                <a:ea typeface="+mn-ea"/>
              </a:endParaRPr>
            </a:p>
            <a:p>
              <a:pPr algn="l"/>
              <a:r>
                <a:rPr lang="en-US" altLang="zh-CN" sz="1800" b="1" dirty="0">
                  <a:latin typeface="+mn-ea"/>
                  <a:ea typeface="+mn-ea"/>
                </a:rPr>
                <a:t>   …</a:t>
              </a:r>
              <a:endParaRPr lang="zh-CN" altLang="en-US" sz="1800" b="1" dirty="0">
                <a:latin typeface="+mn-ea"/>
                <a:ea typeface="+mn-ea"/>
              </a:endParaRPr>
            </a:p>
          </p:txBody>
        </p:sp>
        <p:sp>
          <p:nvSpPr>
            <p:cNvPr id="101" name="Text Box 342">
              <a:extLst>
                <a:ext uri="{FF2B5EF4-FFF2-40B4-BE49-F238E27FC236}">
                  <a16:creationId xmlns:a16="http://schemas.microsoft.com/office/drawing/2014/main" id="{C596B16F-2A60-4664-A0C5-33349E13B4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72400" y="2952000"/>
              <a:ext cx="360040" cy="1584325"/>
            </a:xfrm>
            <a:prstGeom prst="rect">
              <a:avLst/>
            </a:prstGeom>
            <a:solidFill>
              <a:schemeClr val="accent2">
                <a:lumMod val="20000"/>
                <a:lumOff val="80000"/>
                <a:alpha val="80000"/>
              </a:scheme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vert="eaVert"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外部设备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(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输入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)</a:t>
              </a:r>
            </a:p>
          </p:txBody>
        </p:sp>
        <p:cxnSp>
          <p:nvCxnSpPr>
            <p:cNvPr id="102" name="直接连接符 101">
              <a:extLst>
                <a:ext uri="{FF2B5EF4-FFF2-40B4-BE49-F238E27FC236}">
                  <a16:creationId xmlns:a16="http://schemas.microsoft.com/office/drawing/2014/main" id="{79085FE0-388D-4FE4-876B-D3CCC234028C}"/>
                </a:ext>
              </a:extLst>
            </p:cNvPr>
            <p:cNvCxnSpPr/>
            <p:nvPr/>
          </p:nvCxnSpPr>
          <p:spPr bwMode="auto">
            <a:xfrm>
              <a:off x="4355976" y="3600000"/>
              <a:ext cx="936104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03" name="Text Box 324">
              <a:extLst>
                <a:ext uri="{FF2B5EF4-FFF2-40B4-BE49-F238E27FC236}">
                  <a16:creationId xmlns:a16="http://schemas.microsoft.com/office/drawing/2014/main" id="{9C370E8E-479F-42BA-AEE6-E22FC462A8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62871" y="3274352"/>
              <a:ext cx="721097" cy="43200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0" rIns="0" bIns="0" anchor="ctr" anchorCtr="0"/>
            <a:lstStyle/>
            <a:p>
              <a:pPr>
                <a:lnSpc>
                  <a:spcPct val="8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Q</a:t>
              </a:r>
            </a:p>
            <a:p>
              <a:pPr algn="l">
                <a:lnSpc>
                  <a:spcPct val="8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 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 RD 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R</a:t>
              </a:r>
            </a:p>
          </p:txBody>
        </p:sp>
        <p:sp>
          <p:nvSpPr>
            <p:cNvPr id="104" name="椭圆 103">
              <a:extLst>
                <a:ext uri="{FF2B5EF4-FFF2-40B4-BE49-F238E27FC236}">
                  <a16:creationId xmlns:a16="http://schemas.microsoft.com/office/drawing/2014/main" id="{F30641B1-EFA8-4BB8-A185-34CEFBC972EF}"/>
                </a:ext>
              </a:extLst>
            </p:cNvPr>
            <p:cNvSpPr/>
            <p:nvPr/>
          </p:nvSpPr>
          <p:spPr bwMode="auto">
            <a:xfrm>
              <a:off x="4283968" y="3564000"/>
              <a:ext cx="72008" cy="72000"/>
            </a:xfrm>
            <a:prstGeom prst="ellipse">
              <a:avLst/>
            </a:prstGeom>
            <a:solidFill>
              <a:schemeClr val="bg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5" name="椭圆 104">
              <a:extLst>
                <a:ext uri="{FF2B5EF4-FFF2-40B4-BE49-F238E27FC236}">
                  <a16:creationId xmlns:a16="http://schemas.microsoft.com/office/drawing/2014/main" id="{EB905297-A616-4C38-9A9F-52C5D89C5850}"/>
                </a:ext>
              </a:extLst>
            </p:cNvPr>
            <p:cNvSpPr/>
            <p:nvPr/>
          </p:nvSpPr>
          <p:spPr bwMode="auto">
            <a:xfrm>
              <a:off x="5292080" y="3564000"/>
              <a:ext cx="72008" cy="72000"/>
            </a:xfrm>
            <a:prstGeom prst="ellipse">
              <a:avLst/>
            </a:prstGeom>
            <a:solidFill>
              <a:schemeClr val="bg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6" name="椭圆 105">
              <a:extLst>
                <a:ext uri="{FF2B5EF4-FFF2-40B4-BE49-F238E27FC236}">
                  <a16:creationId xmlns:a16="http://schemas.microsoft.com/office/drawing/2014/main" id="{1D0EBD80-0738-41B0-86C3-191424D76032}"/>
                </a:ext>
              </a:extLst>
            </p:cNvPr>
            <p:cNvSpPr/>
            <p:nvPr/>
          </p:nvSpPr>
          <p:spPr bwMode="auto">
            <a:xfrm>
              <a:off x="6084168" y="3564000"/>
              <a:ext cx="72008" cy="72000"/>
            </a:xfrm>
            <a:prstGeom prst="ellipse">
              <a:avLst/>
            </a:prstGeom>
            <a:solidFill>
              <a:schemeClr val="bg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107" name="直接连接符 106">
              <a:extLst>
                <a:ext uri="{FF2B5EF4-FFF2-40B4-BE49-F238E27FC236}">
                  <a16:creationId xmlns:a16="http://schemas.microsoft.com/office/drawing/2014/main" id="{22EF1EBE-C664-46A4-AA40-1D559D4D37C4}"/>
                </a:ext>
              </a:extLst>
            </p:cNvPr>
            <p:cNvCxnSpPr/>
            <p:nvPr/>
          </p:nvCxnSpPr>
          <p:spPr bwMode="auto">
            <a:xfrm>
              <a:off x="3420000" y="3778829"/>
              <a:ext cx="309600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08" name="Text Box 143">
              <a:extLst>
                <a:ext uri="{FF2B5EF4-FFF2-40B4-BE49-F238E27FC236}">
                  <a16:creationId xmlns:a16="http://schemas.microsoft.com/office/drawing/2014/main" id="{68C9905C-B015-41DC-BC82-08155B21E0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16000" y="3240000"/>
              <a:ext cx="143146" cy="216023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8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&amp;</a:t>
              </a:r>
            </a:p>
          </p:txBody>
        </p:sp>
        <p:cxnSp>
          <p:nvCxnSpPr>
            <p:cNvPr id="109" name="直接连接符 108">
              <a:extLst>
                <a:ext uri="{FF2B5EF4-FFF2-40B4-BE49-F238E27FC236}">
                  <a16:creationId xmlns:a16="http://schemas.microsoft.com/office/drawing/2014/main" id="{D46FC774-AD8A-45A1-A741-EAD62446839F}"/>
                </a:ext>
              </a:extLst>
            </p:cNvPr>
            <p:cNvCxnSpPr/>
            <p:nvPr/>
          </p:nvCxnSpPr>
          <p:spPr bwMode="auto">
            <a:xfrm flipV="1">
              <a:off x="1763688" y="4570496"/>
              <a:ext cx="4176464" cy="496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10" name="Text Box 177">
              <a:extLst>
                <a:ext uri="{FF2B5EF4-FFF2-40B4-BE49-F238E27FC236}">
                  <a16:creationId xmlns:a16="http://schemas.microsoft.com/office/drawing/2014/main" id="{9CE0ED01-D840-45A4-8A6C-FC418585DA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72000" y="3850541"/>
              <a:ext cx="288031" cy="215899"/>
            </a:xfrm>
            <a:prstGeom prst="rect">
              <a:avLst/>
            </a:prstGeom>
            <a:noFill/>
            <a:ln w="3810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eaLnBrk="0" hangingPunct="0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SD</a:t>
              </a:r>
            </a:p>
          </p:txBody>
        </p:sp>
        <p:cxnSp>
          <p:nvCxnSpPr>
            <p:cNvPr id="111" name="直接连接符 110">
              <a:extLst>
                <a:ext uri="{FF2B5EF4-FFF2-40B4-BE49-F238E27FC236}">
                  <a16:creationId xmlns:a16="http://schemas.microsoft.com/office/drawing/2014/main" id="{62DCEB50-A5C0-4A90-9322-0DBE31179D3A}"/>
                </a:ext>
              </a:extLst>
            </p:cNvPr>
            <p:cNvCxnSpPr/>
            <p:nvPr/>
          </p:nvCxnSpPr>
          <p:spPr bwMode="auto">
            <a:xfrm flipV="1">
              <a:off x="4644008" y="4320000"/>
              <a:ext cx="0" cy="252000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12" name="直接连接符 111">
              <a:extLst>
                <a:ext uri="{FF2B5EF4-FFF2-40B4-BE49-F238E27FC236}">
                  <a16:creationId xmlns:a16="http://schemas.microsoft.com/office/drawing/2014/main" id="{E466D922-FE16-4065-9EA7-726925711A43}"/>
                </a:ext>
              </a:extLst>
            </p:cNvPr>
            <p:cNvCxnSpPr/>
            <p:nvPr/>
          </p:nvCxnSpPr>
          <p:spPr bwMode="auto">
            <a:xfrm flipV="1">
              <a:off x="5940152" y="4320000"/>
              <a:ext cx="0" cy="252000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4" name="直接连接符 113">
              <a:extLst>
                <a:ext uri="{FF2B5EF4-FFF2-40B4-BE49-F238E27FC236}">
                  <a16:creationId xmlns:a16="http://schemas.microsoft.com/office/drawing/2014/main" id="{2C7FCE35-A531-474F-8698-6CA99F282D75}"/>
                </a:ext>
              </a:extLst>
            </p:cNvPr>
            <p:cNvCxnSpPr/>
            <p:nvPr/>
          </p:nvCxnSpPr>
          <p:spPr bwMode="auto">
            <a:xfrm>
              <a:off x="3347864" y="3852000"/>
              <a:ext cx="0" cy="715295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15" name="Text Box 318">
              <a:extLst>
                <a:ext uri="{FF2B5EF4-FFF2-40B4-BE49-F238E27FC236}">
                  <a16:creationId xmlns:a16="http://schemas.microsoft.com/office/drawing/2014/main" id="{46EE3949-4B9A-45B8-9179-4DC63B3CFE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48064" y="4752000"/>
              <a:ext cx="1081459" cy="252000"/>
            </a:xfrm>
            <a:prstGeom prst="rect">
              <a:avLst/>
            </a:prstGeom>
            <a:solidFill>
              <a:srgbClr val="CC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端口译码</a:t>
              </a:r>
            </a:p>
          </p:txBody>
        </p:sp>
        <p:cxnSp>
          <p:nvCxnSpPr>
            <p:cNvPr id="116" name="直接连接符 115">
              <a:extLst>
                <a:ext uri="{FF2B5EF4-FFF2-40B4-BE49-F238E27FC236}">
                  <a16:creationId xmlns:a16="http://schemas.microsoft.com/office/drawing/2014/main" id="{CD5DF91D-ACEF-4EFE-ACE7-3207205E8765}"/>
                </a:ext>
              </a:extLst>
            </p:cNvPr>
            <p:cNvCxnSpPr/>
            <p:nvPr/>
          </p:nvCxnSpPr>
          <p:spPr bwMode="auto">
            <a:xfrm>
              <a:off x="1763688" y="4896000"/>
              <a:ext cx="1080000" cy="162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17" name="直接连接符 116">
              <a:extLst>
                <a:ext uri="{FF2B5EF4-FFF2-40B4-BE49-F238E27FC236}">
                  <a16:creationId xmlns:a16="http://schemas.microsoft.com/office/drawing/2014/main" id="{671954DC-9CFB-4EE7-8C2B-78D5C85FB73C}"/>
                </a:ext>
              </a:extLst>
            </p:cNvPr>
            <p:cNvCxnSpPr/>
            <p:nvPr/>
          </p:nvCxnSpPr>
          <p:spPr bwMode="auto">
            <a:xfrm>
              <a:off x="6372200" y="4210456"/>
              <a:ext cx="144016" cy="0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8" name="直接连接符 117">
              <a:extLst>
                <a:ext uri="{FF2B5EF4-FFF2-40B4-BE49-F238E27FC236}">
                  <a16:creationId xmlns:a16="http://schemas.microsoft.com/office/drawing/2014/main" id="{19F7C4A8-0917-4F3A-ADC6-C4FD91A5F0D6}"/>
                </a:ext>
              </a:extLst>
            </p:cNvPr>
            <p:cNvCxnSpPr/>
            <p:nvPr/>
          </p:nvCxnSpPr>
          <p:spPr bwMode="auto">
            <a:xfrm>
              <a:off x="6516216" y="3168000"/>
              <a:ext cx="1656184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19" name="直接连接符 118">
              <a:extLst>
                <a:ext uri="{FF2B5EF4-FFF2-40B4-BE49-F238E27FC236}">
                  <a16:creationId xmlns:a16="http://schemas.microsoft.com/office/drawing/2014/main" id="{FD97E16F-873C-4BD9-861D-AD947391D2C5}"/>
                </a:ext>
              </a:extLst>
            </p:cNvPr>
            <p:cNvCxnSpPr/>
            <p:nvPr/>
          </p:nvCxnSpPr>
          <p:spPr bwMode="auto">
            <a:xfrm flipH="1">
              <a:off x="6516216" y="3778408"/>
              <a:ext cx="1656184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20" name="直接连接符 119">
              <a:extLst>
                <a:ext uri="{FF2B5EF4-FFF2-40B4-BE49-F238E27FC236}">
                  <a16:creationId xmlns:a16="http://schemas.microsoft.com/office/drawing/2014/main" id="{13337D95-E29A-448D-B6D2-DD115FF0EB5A}"/>
                </a:ext>
              </a:extLst>
            </p:cNvPr>
            <p:cNvCxnSpPr/>
            <p:nvPr/>
          </p:nvCxnSpPr>
          <p:spPr bwMode="auto">
            <a:xfrm flipH="1">
              <a:off x="6516216" y="4210456"/>
              <a:ext cx="1656184" cy="0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21" name="Rectangle 327">
              <a:extLst>
                <a:ext uri="{FF2B5EF4-FFF2-40B4-BE49-F238E27FC236}">
                  <a16:creationId xmlns:a16="http://schemas.microsoft.com/office/drawing/2014/main" id="{F9B87E4D-A2BD-49B5-89DE-AC8E1E7946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7784" y="2952000"/>
              <a:ext cx="3888432" cy="2196000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lIns="18000" tIns="25200" rIns="18000" bIns="10800" anchor="t" anchorCtr="0"/>
            <a:lstStyle/>
            <a:p>
              <a:pPr algn="l"/>
              <a:r>
                <a:rPr lang="zh-CN" altLang="en-US" sz="1400" b="1" dirty="0">
                  <a:latin typeface="+mn-ea"/>
                  <a:ea typeface="+mn-ea"/>
                </a:rPr>
                <a:t> </a:t>
              </a:r>
              <a:endParaRPr lang="zh-CN" altLang="en-US" sz="1800" b="1" dirty="0">
                <a:latin typeface="+mn-ea"/>
                <a:ea typeface="+mn-ea"/>
              </a:endParaRPr>
            </a:p>
          </p:txBody>
        </p:sp>
        <p:sp>
          <p:nvSpPr>
            <p:cNvPr id="122" name="Text Box 177">
              <a:extLst>
                <a:ext uri="{FF2B5EF4-FFF2-40B4-BE49-F238E27FC236}">
                  <a16:creationId xmlns:a16="http://schemas.microsoft.com/office/drawing/2014/main" id="{BE61403D-7630-4E83-9A78-9AF929CBF7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88000" y="4104000"/>
              <a:ext cx="576000" cy="215899"/>
            </a:xfrm>
            <a:prstGeom prst="rect">
              <a:avLst/>
            </a:prstGeom>
            <a:noFill/>
            <a:ln w="3810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eaLnBrk="0" hangingPunct="0">
                <a:lnSpc>
                  <a:spcPct val="90000"/>
                </a:lnSpc>
              </a:pPr>
              <a:r>
                <a:rPr lang="en-US" altLang="zh-CN" sz="1800" b="1" dirty="0" err="1">
                  <a:latin typeface="宋体" panose="02010600030101010101" pitchFamily="2" charset="-122"/>
                </a:rPr>
                <a:t>CBus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23" name="Text Box 177">
              <a:extLst>
                <a:ext uri="{FF2B5EF4-FFF2-40B4-BE49-F238E27FC236}">
                  <a16:creationId xmlns:a16="http://schemas.microsoft.com/office/drawing/2014/main" id="{C467039B-89FF-419A-94EA-70AE4BA4E0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88000" y="4464000"/>
              <a:ext cx="576064" cy="215899"/>
            </a:xfrm>
            <a:prstGeom prst="rect">
              <a:avLst/>
            </a:prstGeom>
            <a:noFill/>
            <a:ln w="3810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eaLnBrk="0" hangingPunct="0">
                <a:lnSpc>
                  <a:spcPct val="90000"/>
                </a:lnSpc>
              </a:pPr>
              <a:r>
                <a:rPr lang="en-US" altLang="zh-CN" sz="1800" b="1" dirty="0" err="1">
                  <a:latin typeface="宋体" panose="02010600030101010101" pitchFamily="2" charset="-122"/>
                </a:rPr>
                <a:t>DBus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24" name="Text Box 177">
              <a:extLst>
                <a:ext uri="{FF2B5EF4-FFF2-40B4-BE49-F238E27FC236}">
                  <a16:creationId xmlns:a16="http://schemas.microsoft.com/office/drawing/2014/main" id="{EC717744-DED7-444E-A8D6-E4726C363E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88000" y="4788000"/>
              <a:ext cx="576064" cy="215899"/>
            </a:xfrm>
            <a:prstGeom prst="rect">
              <a:avLst/>
            </a:prstGeom>
            <a:noFill/>
            <a:ln w="3810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eaLnBrk="0" hangingPunct="0">
                <a:lnSpc>
                  <a:spcPct val="90000"/>
                </a:lnSpc>
              </a:pPr>
              <a:r>
                <a:rPr lang="en-US" altLang="zh-CN" sz="1800" b="1" dirty="0" err="1">
                  <a:latin typeface="宋体" panose="02010600030101010101" pitchFamily="2" charset="-122"/>
                </a:rPr>
                <a:t>ABus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25" name="椭圆 124">
              <a:extLst>
                <a:ext uri="{FF2B5EF4-FFF2-40B4-BE49-F238E27FC236}">
                  <a16:creationId xmlns:a16="http://schemas.microsoft.com/office/drawing/2014/main" id="{C754CEE5-1FF5-486B-A0D2-7DCA9014C3E4}"/>
                </a:ext>
              </a:extLst>
            </p:cNvPr>
            <p:cNvSpPr/>
            <p:nvPr/>
          </p:nvSpPr>
          <p:spPr bwMode="auto">
            <a:xfrm>
              <a:off x="4860000" y="3312000"/>
              <a:ext cx="72008" cy="72000"/>
            </a:xfrm>
            <a:prstGeom prst="ellips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126" name="直接连接符 125">
              <a:extLst>
                <a:ext uri="{FF2B5EF4-FFF2-40B4-BE49-F238E27FC236}">
                  <a16:creationId xmlns:a16="http://schemas.microsoft.com/office/drawing/2014/main" id="{4E20A41E-6E2D-45FC-B1C5-5ECD55446877}"/>
                </a:ext>
              </a:extLst>
            </p:cNvPr>
            <p:cNvCxnSpPr/>
            <p:nvPr/>
          </p:nvCxnSpPr>
          <p:spPr bwMode="auto">
            <a:xfrm flipV="1">
              <a:off x="1763688" y="4210618"/>
              <a:ext cx="864096" cy="212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27" name="直接连接符 126">
              <a:extLst>
                <a:ext uri="{FF2B5EF4-FFF2-40B4-BE49-F238E27FC236}">
                  <a16:creationId xmlns:a16="http://schemas.microsoft.com/office/drawing/2014/main" id="{6728C770-9378-4CEE-984B-EC775CB3D867}"/>
                </a:ext>
              </a:extLst>
            </p:cNvPr>
            <p:cNvCxnSpPr/>
            <p:nvPr/>
          </p:nvCxnSpPr>
          <p:spPr bwMode="auto">
            <a:xfrm flipV="1">
              <a:off x="4212000" y="4896000"/>
              <a:ext cx="936000" cy="212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28" name="直接连接符 127">
              <a:extLst>
                <a:ext uri="{FF2B5EF4-FFF2-40B4-BE49-F238E27FC236}">
                  <a16:creationId xmlns:a16="http://schemas.microsoft.com/office/drawing/2014/main" id="{040AD3AF-20C4-4893-9FDC-A7E7D474FF6F}"/>
                </a:ext>
              </a:extLst>
            </p:cNvPr>
            <p:cNvCxnSpPr/>
            <p:nvPr/>
          </p:nvCxnSpPr>
          <p:spPr bwMode="auto">
            <a:xfrm flipV="1">
              <a:off x="4212000" y="4896000"/>
              <a:ext cx="0" cy="18000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9" name="直接连接符 128">
              <a:extLst>
                <a:ext uri="{FF2B5EF4-FFF2-40B4-BE49-F238E27FC236}">
                  <a16:creationId xmlns:a16="http://schemas.microsoft.com/office/drawing/2014/main" id="{90EA4978-A9C9-4DF3-8010-21A060E7F06F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2700000" y="4896000"/>
              <a:ext cx="0" cy="18000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 w="med" len="med"/>
            </a:ln>
          </p:spPr>
        </p:cxnSp>
        <p:cxnSp>
          <p:nvCxnSpPr>
            <p:cNvPr id="130" name="直接连接符 129">
              <a:extLst>
                <a:ext uri="{FF2B5EF4-FFF2-40B4-BE49-F238E27FC236}">
                  <a16:creationId xmlns:a16="http://schemas.microsoft.com/office/drawing/2014/main" id="{5EA5DB5C-401A-4C66-8E5D-5D3FA1AD48D1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699792" y="5076000"/>
              <a:ext cx="151200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1" name="直接连接符 130">
              <a:extLst>
                <a:ext uri="{FF2B5EF4-FFF2-40B4-BE49-F238E27FC236}">
                  <a16:creationId xmlns:a16="http://schemas.microsoft.com/office/drawing/2014/main" id="{412E36E6-2B9F-49DE-B058-E67EA2365ACB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3420000" y="3600000"/>
              <a:ext cx="14400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2" name="直接连接符 131">
              <a:extLst>
                <a:ext uri="{FF2B5EF4-FFF2-40B4-BE49-F238E27FC236}">
                  <a16:creationId xmlns:a16="http://schemas.microsoft.com/office/drawing/2014/main" id="{2BD5121A-1DC2-426C-9703-BA3D11B5D7D3}"/>
                </a:ext>
              </a:extLst>
            </p:cNvPr>
            <p:cNvCxnSpPr/>
            <p:nvPr/>
          </p:nvCxnSpPr>
          <p:spPr bwMode="auto">
            <a:xfrm flipV="1">
              <a:off x="3420000" y="3600000"/>
              <a:ext cx="0" cy="18000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3" name="直接连接符 132">
              <a:extLst>
                <a:ext uri="{FF2B5EF4-FFF2-40B4-BE49-F238E27FC236}">
                  <a16:creationId xmlns:a16="http://schemas.microsoft.com/office/drawing/2014/main" id="{B15A22E4-B837-4968-9AA4-93DC1DD921A9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572000" y="3420000"/>
              <a:ext cx="14400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4" name="直接连接符 133">
              <a:extLst>
                <a:ext uri="{FF2B5EF4-FFF2-40B4-BE49-F238E27FC236}">
                  <a16:creationId xmlns:a16="http://schemas.microsoft.com/office/drawing/2014/main" id="{A5F4C7E5-D779-4350-B0F7-006880D63B2A}"/>
                </a:ext>
              </a:extLst>
            </p:cNvPr>
            <p:cNvCxnSpPr/>
            <p:nvPr/>
          </p:nvCxnSpPr>
          <p:spPr bwMode="auto">
            <a:xfrm flipV="1">
              <a:off x="4572000" y="3420000"/>
              <a:ext cx="0" cy="64800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5" name="直接连接符 134">
              <a:extLst>
                <a:ext uri="{FF2B5EF4-FFF2-40B4-BE49-F238E27FC236}">
                  <a16:creationId xmlns:a16="http://schemas.microsoft.com/office/drawing/2014/main" id="{88518023-8C6F-4B70-ABD1-DCBA1A0E503B}"/>
                </a:ext>
              </a:extLst>
            </p:cNvPr>
            <p:cNvCxnSpPr/>
            <p:nvPr/>
          </p:nvCxnSpPr>
          <p:spPr bwMode="auto">
            <a:xfrm flipV="1">
              <a:off x="3924000" y="3168000"/>
              <a:ext cx="0" cy="10800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6" name="直接连接符 135">
              <a:extLst>
                <a:ext uri="{FF2B5EF4-FFF2-40B4-BE49-F238E27FC236}">
                  <a16:creationId xmlns:a16="http://schemas.microsoft.com/office/drawing/2014/main" id="{1AB213B4-2BC8-48E5-84BC-9BD740673069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3924000" y="3168000"/>
              <a:ext cx="64800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7" name="直接连接符 136">
              <a:extLst>
                <a:ext uri="{FF2B5EF4-FFF2-40B4-BE49-F238E27FC236}">
                  <a16:creationId xmlns:a16="http://schemas.microsoft.com/office/drawing/2014/main" id="{7DF3E061-7BB4-4BAF-83C2-A9A854864966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572000" y="3276000"/>
              <a:ext cx="14400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8" name="直接连接符 137">
              <a:extLst>
                <a:ext uri="{FF2B5EF4-FFF2-40B4-BE49-F238E27FC236}">
                  <a16:creationId xmlns:a16="http://schemas.microsoft.com/office/drawing/2014/main" id="{4EB15830-E9B4-4563-BD6B-03A7D1A5B0B1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572000" y="3168000"/>
              <a:ext cx="0" cy="10800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9" name="直接连接符 138">
              <a:extLst>
                <a:ext uri="{FF2B5EF4-FFF2-40B4-BE49-F238E27FC236}">
                  <a16:creationId xmlns:a16="http://schemas.microsoft.com/office/drawing/2014/main" id="{223B55FB-CF96-4DC9-92F0-5491A63C880D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932000" y="3348000"/>
              <a:ext cx="14400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0" name="直接连接符 139">
              <a:extLst>
                <a:ext uri="{FF2B5EF4-FFF2-40B4-BE49-F238E27FC236}">
                  <a16:creationId xmlns:a16="http://schemas.microsoft.com/office/drawing/2014/main" id="{053E4E43-5FEC-4316-BD72-645A6DDE00B2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076000" y="3348000"/>
              <a:ext cx="0" cy="25200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oval" w="sm" len="sm"/>
            </a:ln>
          </p:spPr>
        </p:cxnSp>
        <p:cxnSp>
          <p:nvCxnSpPr>
            <p:cNvPr id="141" name="直接连接符 140">
              <a:extLst>
                <a:ext uri="{FF2B5EF4-FFF2-40B4-BE49-F238E27FC236}">
                  <a16:creationId xmlns:a16="http://schemas.microsoft.com/office/drawing/2014/main" id="{5ACE3AA1-119F-4411-BBE0-A9BD40C20036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6300192" y="3600000"/>
              <a:ext cx="0" cy="178408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 w="med" len="med"/>
            </a:ln>
          </p:spPr>
        </p:cxnSp>
        <p:cxnSp>
          <p:nvCxnSpPr>
            <p:cNvPr id="142" name="直接连接符 141">
              <a:extLst>
                <a:ext uri="{FF2B5EF4-FFF2-40B4-BE49-F238E27FC236}">
                  <a16:creationId xmlns:a16="http://schemas.microsoft.com/office/drawing/2014/main" id="{E8C44AA0-3C62-4A28-9B35-273C20AA650B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6156000" y="3600000"/>
              <a:ext cx="144016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3" name="直接连接符 142">
              <a:extLst>
                <a:ext uri="{FF2B5EF4-FFF2-40B4-BE49-F238E27FC236}">
                  <a16:creationId xmlns:a16="http://schemas.microsoft.com/office/drawing/2014/main" id="{CEA0CD57-3113-42B5-A9D8-B4895CA3E27C}"/>
                </a:ext>
              </a:extLst>
            </p:cNvPr>
            <p:cNvCxnSpPr/>
            <p:nvPr/>
          </p:nvCxnSpPr>
          <p:spPr bwMode="auto">
            <a:xfrm flipV="1">
              <a:off x="5724000" y="3168000"/>
              <a:ext cx="792000" cy="212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44" name="直接连接符 143">
              <a:extLst>
                <a:ext uri="{FF2B5EF4-FFF2-40B4-BE49-F238E27FC236}">
                  <a16:creationId xmlns:a16="http://schemas.microsoft.com/office/drawing/2014/main" id="{D28A3D05-4AA1-45C1-B720-FD0BD2F83CB6}"/>
                </a:ext>
              </a:extLst>
            </p:cNvPr>
            <p:cNvCxnSpPr/>
            <p:nvPr/>
          </p:nvCxnSpPr>
          <p:spPr bwMode="auto">
            <a:xfrm flipV="1">
              <a:off x="5724000" y="3168000"/>
              <a:ext cx="0" cy="10800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45" name="等腰三角形 144">
              <a:extLst>
                <a:ext uri="{FF2B5EF4-FFF2-40B4-BE49-F238E27FC236}">
                  <a16:creationId xmlns:a16="http://schemas.microsoft.com/office/drawing/2014/main" id="{F3171EA1-F7E2-4FD4-ABAC-5F4B286C04F0}"/>
                </a:ext>
              </a:extLst>
            </p:cNvPr>
            <p:cNvSpPr/>
            <p:nvPr/>
          </p:nvSpPr>
          <p:spPr bwMode="auto">
            <a:xfrm rot="5400000">
              <a:off x="3527399" y="3564000"/>
              <a:ext cx="144000" cy="72000"/>
            </a:xfrm>
            <a:prstGeom prst="triangle">
              <a:avLst/>
            </a:prstGeom>
            <a:solidFill>
              <a:schemeClr val="bg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46" name="等腰三角形 145">
              <a:extLst>
                <a:ext uri="{FF2B5EF4-FFF2-40B4-BE49-F238E27FC236}">
                  <a16:creationId xmlns:a16="http://schemas.microsoft.com/office/drawing/2014/main" id="{A0BDC81C-4328-4D15-B715-76B85E62386D}"/>
                </a:ext>
              </a:extLst>
            </p:cNvPr>
            <p:cNvSpPr/>
            <p:nvPr/>
          </p:nvSpPr>
          <p:spPr bwMode="auto">
            <a:xfrm rot="5400000">
              <a:off x="5328000" y="3564000"/>
              <a:ext cx="144000" cy="72000"/>
            </a:xfrm>
            <a:prstGeom prst="triangle">
              <a:avLst/>
            </a:prstGeom>
            <a:solidFill>
              <a:schemeClr val="bg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349529" name="Text Box 345"/>
          <p:cNvSpPr txBox="1">
            <a:spLocks noChangeArrowheads="1"/>
          </p:cNvSpPr>
          <p:nvPr/>
        </p:nvSpPr>
        <p:spPr bwMode="auto">
          <a:xfrm>
            <a:off x="179511" y="764704"/>
            <a:ext cx="5399203" cy="539667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*I/O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端口的组织：</a:t>
            </a: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300"/>
              </a:spcBef>
            </a:pPr>
            <a:endParaRPr lang="en-US" altLang="zh-CN" sz="18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300"/>
              </a:spcBef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*所支持操作的组织：</a:t>
            </a:r>
            <a:r>
              <a:rPr lang="zh-CN" altLang="en-US" sz="2200" b="1" dirty="0">
                <a:latin typeface="宋体" panose="02010600030101010101" pitchFamily="2" charset="-122"/>
              </a:rPr>
              <a:t>有</a:t>
            </a:r>
            <a:r>
              <a:rPr lang="en-US" altLang="zh-CN" sz="2200" b="1" dirty="0">
                <a:latin typeface="宋体" panose="02010600030101010101" pitchFamily="2" charset="-122"/>
              </a:rPr>
              <a:t>3</a:t>
            </a:r>
            <a:r>
              <a:rPr lang="zh-CN" altLang="en-US" sz="2200" b="1" dirty="0">
                <a:latin typeface="宋体" panose="02010600030101010101" pitchFamily="2" charset="-122"/>
              </a:rPr>
              <a:t>种操作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面向</a:t>
            </a:r>
            <a:r>
              <a:rPr lang="en-US" altLang="zh-CN" sz="1800" b="1" dirty="0">
                <a:latin typeface="宋体" panose="02010600030101010101" pitchFamily="2" charset="-122"/>
              </a:rPr>
              <a:t>CPU)</a:t>
            </a:r>
          </a:p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启动设备操作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</a:p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      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启动完成时的动作：</a:t>
            </a:r>
            <a:endParaRPr lang="en-US" altLang="zh-CN" sz="2200" b="1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>
              <a:latin typeface="宋体" panose="02010600030101010101" pitchFamily="2" charset="-122"/>
            </a:endParaRPr>
          </a:p>
          <a:p>
            <a:pPr algn="l">
              <a:lnSpc>
                <a:spcPct val="105000"/>
              </a:lnSpc>
            </a:pPr>
            <a:endParaRPr lang="en-US" altLang="zh-CN" sz="2200" b="1" dirty="0">
              <a:latin typeface="宋体" panose="02010600030101010101" pitchFamily="2" charset="-122"/>
            </a:endParaRPr>
          </a:p>
          <a:p>
            <a:pPr algn="l">
              <a:lnSpc>
                <a:spcPct val="105000"/>
              </a:lnSpc>
            </a:pPr>
            <a:endParaRPr lang="en-US" altLang="zh-CN" sz="2200" b="1" dirty="0">
              <a:latin typeface="宋体" panose="02010600030101010101" pitchFamily="2" charset="-122"/>
            </a:endParaRPr>
          </a:p>
          <a:p>
            <a:pPr algn="l">
              <a:lnSpc>
                <a:spcPct val="105000"/>
              </a:lnSpc>
            </a:pPr>
            <a:endParaRPr lang="en-US" altLang="zh-CN" sz="22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500"/>
              </a:spcBef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查询状态操作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</a:p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传送数据操作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</a:p>
        </p:txBody>
      </p:sp>
      <p:sp>
        <p:nvSpPr>
          <p:cNvPr id="11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73988-4683-4F66-921F-9DAB2D0A5067}" type="slidenum">
              <a:rPr lang="en-US" altLang="zh-CN"/>
              <a:t>27</a:t>
            </a:fld>
            <a:endParaRPr lang="en-US" altLang="zh-CN"/>
          </a:p>
        </p:txBody>
      </p:sp>
      <p:sp>
        <p:nvSpPr>
          <p:cNvPr id="349196" name="Text Box 12"/>
          <p:cNvSpPr txBox="1">
            <a:spLocks noChangeArrowheads="1"/>
          </p:cNvSpPr>
          <p:nvPr/>
        </p:nvSpPr>
        <p:spPr bwMode="auto">
          <a:xfrm>
            <a:off x="2627784" y="764704"/>
            <a:ext cx="6264696" cy="45736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sz="2200" b="1" dirty="0">
                <a:latin typeface="宋体" panose="02010600030101010101" pitchFamily="2" charset="-122"/>
              </a:rPr>
              <a:t>须设置</a:t>
            </a:r>
            <a:r>
              <a:rPr lang="zh-CN" altLang="en-US" sz="2200" b="1" u="sng" dirty="0">
                <a:latin typeface="宋体" panose="02010600030101010101" pitchFamily="2" charset="-122"/>
              </a:rPr>
              <a:t>状态口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含就绪</a:t>
            </a:r>
            <a:r>
              <a:rPr lang="en-US" altLang="zh-CN" sz="1800" b="1" dirty="0">
                <a:latin typeface="宋体" panose="02010600030101010101" pitchFamily="2" charset="-122"/>
              </a:rPr>
              <a:t>/</a:t>
            </a:r>
            <a:r>
              <a:rPr lang="zh-CN" altLang="en-US" sz="1800" b="1" dirty="0">
                <a:latin typeface="宋体" panose="02010600030101010101" pitchFamily="2" charset="-122"/>
              </a:rPr>
              <a:t>忙位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r>
              <a:rPr lang="zh-CN" altLang="en-US" sz="2200" b="1" dirty="0">
                <a:latin typeface="宋体" panose="02010600030101010101" pitchFamily="2" charset="-122"/>
              </a:rPr>
              <a:t>、</a:t>
            </a:r>
            <a:r>
              <a:rPr lang="zh-CN" altLang="en-US" sz="2200" b="1" u="sng" dirty="0">
                <a:latin typeface="宋体" panose="02010600030101010101" pitchFamily="2" charset="-122"/>
              </a:rPr>
              <a:t>控制口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含启动位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endParaRPr lang="en-US" altLang="zh-CN" sz="1600" b="1" dirty="0">
              <a:latin typeface="宋体" panose="02010600030101010101" pitchFamily="2" charset="-122"/>
            </a:endParaRPr>
          </a:p>
        </p:txBody>
      </p:sp>
      <p:sp>
        <p:nvSpPr>
          <p:cNvPr id="349216" name="Text Box 32"/>
          <p:cNvSpPr txBox="1">
            <a:spLocks noChangeArrowheads="1"/>
          </p:cNvSpPr>
          <p:nvPr/>
        </p:nvSpPr>
        <p:spPr bwMode="auto">
          <a:xfrm>
            <a:off x="179388" y="332656"/>
            <a:ext cx="8785225" cy="3905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tIns="10795" bIns="10795" anchor="ctr" anchorCtr="0">
            <a:spAutoFit/>
          </a:bodyPr>
          <a:lstStyle>
            <a:defPPr>
              <a:defRPr lang="zh-CN"/>
            </a:defPPr>
            <a:lvl1pPr algn="l">
              <a:defRPr b="1">
                <a:solidFill>
                  <a:srgbClr val="FF3300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1pPr>
          </a:lstStyle>
          <a:p>
            <a:r>
              <a:rPr lang="en-US" altLang="zh-CN" dirty="0">
                <a:solidFill>
                  <a:srgbClr val="FF3399"/>
                </a:solidFill>
                <a:latin typeface="+mn-ea"/>
                <a:ea typeface="+mn-ea"/>
              </a:rPr>
              <a:t>2</a:t>
            </a:r>
            <a:r>
              <a:rPr lang="zh-CN" altLang="en-US" dirty="0">
                <a:solidFill>
                  <a:srgbClr val="FF3399"/>
                </a:solidFill>
                <a:latin typeface="+mn-ea"/>
                <a:ea typeface="+mn-ea"/>
              </a:rPr>
              <a:t>、程序查询方式的</a:t>
            </a:r>
            <a:r>
              <a:rPr lang="en-US" altLang="zh-CN" dirty="0">
                <a:solidFill>
                  <a:srgbClr val="FF3399"/>
                </a:solidFill>
                <a:latin typeface="+mn-ea"/>
                <a:ea typeface="+mn-ea"/>
              </a:rPr>
              <a:t>I/O</a:t>
            </a:r>
            <a:r>
              <a:rPr lang="zh-CN" altLang="en-US" dirty="0">
                <a:solidFill>
                  <a:srgbClr val="FF3399"/>
                </a:solidFill>
                <a:latin typeface="+mn-ea"/>
                <a:ea typeface="+mn-ea"/>
              </a:rPr>
              <a:t>接口组织</a:t>
            </a:r>
          </a:p>
        </p:txBody>
      </p:sp>
      <p:sp>
        <p:nvSpPr>
          <p:cNvPr id="349359" name="AutoShape 175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4068000" y="6524450"/>
            <a:ext cx="287337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9530" name="Text Box 346"/>
          <p:cNvSpPr txBox="1">
            <a:spLocks noChangeArrowheads="1"/>
          </p:cNvSpPr>
          <p:nvPr/>
        </p:nvSpPr>
        <p:spPr bwMode="auto">
          <a:xfrm>
            <a:off x="2771798" y="2060848"/>
            <a:ext cx="6372201" cy="84530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tIns="10800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sz="2200" b="1" u="sng" spc="-100" dirty="0">
                <a:solidFill>
                  <a:srgbClr val="990099"/>
                </a:solidFill>
                <a:latin typeface="宋体" panose="02010600030101010101" pitchFamily="2" charset="-122"/>
              </a:rPr>
              <a:t>响应</a:t>
            </a:r>
            <a:r>
              <a:rPr lang="zh-CN" altLang="en-US" sz="2200" b="1" spc="-100" dirty="0">
                <a:latin typeface="宋体" panose="02010600030101010101" pitchFamily="2" charset="-122"/>
              </a:rPr>
              <a:t>总线事务</a:t>
            </a:r>
            <a:r>
              <a:rPr lang="en-US" altLang="zh-CN" sz="1800" b="1" spc="-100" dirty="0">
                <a:latin typeface="宋体" panose="02010600030101010101" pitchFamily="2" charset="-122"/>
              </a:rPr>
              <a:t>(</a:t>
            </a:r>
            <a:r>
              <a:rPr lang="zh-CN" altLang="en-US" sz="1800" b="1" spc="-100" dirty="0">
                <a:latin typeface="宋体" panose="02010600030101010101" pitchFamily="2" charset="-122"/>
              </a:rPr>
              <a:t>写控制口</a:t>
            </a:r>
            <a:r>
              <a:rPr lang="en-US" altLang="zh-CN" sz="1800" b="1" spc="-100" dirty="0">
                <a:latin typeface="宋体" panose="02010600030101010101" pitchFamily="2" charset="-122"/>
              </a:rPr>
              <a:t>)</a:t>
            </a:r>
            <a:r>
              <a:rPr lang="zh-CN" altLang="en-US" sz="2200" b="1" spc="-100" dirty="0">
                <a:latin typeface="宋体" panose="02010600030101010101" pitchFamily="2" charset="-122"/>
              </a:rPr>
              <a:t>，</a:t>
            </a:r>
            <a:r>
              <a:rPr lang="zh-CN" altLang="en-US" sz="2200" b="1" spc="-100" dirty="0">
                <a:solidFill>
                  <a:srgbClr val="0070C0"/>
                </a:solidFill>
                <a:latin typeface="宋体" panose="02010600030101010101" pitchFamily="2" charset="-122"/>
              </a:rPr>
              <a:t>就绪时</a:t>
            </a:r>
            <a:r>
              <a:rPr lang="zh-CN" altLang="en-US" sz="2200" b="1" u="sng" spc="-100" dirty="0">
                <a:solidFill>
                  <a:srgbClr val="990099"/>
                </a:solidFill>
                <a:latin typeface="宋体" panose="02010600030101010101" pitchFamily="2" charset="-122"/>
              </a:rPr>
              <a:t>转发</a:t>
            </a:r>
            <a:r>
              <a:rPr lang="zh-CN" altLang="en-US" sz="2200" b="1" spc="-100" dirty="0">
                <a:latin typeface="宋体" panose="02010600030101010101" pitchFamily="2" charset="-122"/>
              </a:rPr>
              <a:t>命令到外设</a:t>
            </a:r>
            <a:endParaRPr lang="en-US" altLang="zh-CN" sz="2200" b="1" spc="-100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sz="2200" b="1" spc="-100" dirty="0">
                <a:latin typeface="宋体" panose="02010600030101010101" pitchFamily="2" charset="-122"/>
              </a:rPr>
              <a:t>      状态位←</a:t>
            </a:r>
            <a:r>
              <a:rPr lang="en-US" altLang="zh-CN" sz="2200" b="1" spc="-100" dirty="0">
                <a:latin typeface="宋体" panose="02010600030101010101" pitchFamily="2" charset="-122"/>
              </a:rPr>
              <a:t>1</a:t>
            </a:r>
            <a:r>
              <a:rPr lang="zh-CN" altLang="en-US" sz="2200" b="1" spc="-100" dirty="0">
                <a:latin typeface="宋体" panose="02010600030101010101" pitchFamily="2" charset="-122"/>
              </a:rPr>
              <a:t>、暂存数据</a:t>
            </a:r>
            <a:r>
              <a:rPr lang="en-US" altLang="zh-CN" sz="1800" b="1" spc="-100" dirty="0">
                <a:latin typeface="宋体" panose="02010600030101010101" pitchFamily="2" charset="-122"/>
              </a:rPr>
              <a:t>(IN</a:t>
            </a:r>
            <a:r>
              <a:rPr lang="zh-CN" altLang="en-US" sz="1800" b="1" spc="-100" dirty="0">
                <a:latin typeface="宋体" panose="02010600030101010101" pitchFamily="2" charset="-122"/>
              </a:rPr>
              <a:t>时</a:t>
            </a:r>
            <a:r>
              <a:rPr lang="en-US" altLang="zh-CN" sz="1800" b="1" spc="-100" dirty="0">
                <a:latin typeface="宋体" panose="02010600030101010101" pitchFamily="2" charset="-122"/>
              </a:rPr>
              <a:t>)</a:t>
            </a:r>
            <a:r>
              <a:rPr lang="zh-CN" altLang="en-US" sz="2200" b="1" spc="-100" dirty="0">
                <a:latin typeface="宋体" panose="02010600030101010101" pitchFamily="2" charset="-122"/>
              </a:rPr>
              <a:t>、启动位←</a:t>
            </a:r>
            <a:r>
              <a:rPr lang="en-US" altLang="zh-CN" sz="2200" b="1" spc="-100" dirty="0">
                <a:latin typeface="宋体" panose="02010600030101010101" pitchFamily="2" charset="-122"/>
              </a:rPr>
              <a:t>0</a:t>
            </a:r>
            <a:r>
              <a:rPr lang="en-US" altLang="zh-CN" sz="1600" b="1" spc="-100" dirty="0">
                <a:latin typeface="宋体" panose="02010600030101010101" pitchFamily="2" charset="-122"/>
              </a:rPr>
              <a:t>(→BS=0)</a:t>
            </a:r>
            <a:endParaRPr lang="zh-CN" altLang="en-US" sz="1600" b="1" spc="-100" dirty="0">
              <a:latin typeface="宋体" panose="02010600030101010101" pitchFamily="2" charset="-122"/>
            </a:endParaRPr>
          </a:p>
        </p:txBody>
      </p:sp>
      <p:sp>
        <p:nvSpPr>
          <p:cNvPr id="349584" name="Text Box 400"/>
          <p:cNvSpPr txBox="1">
            <a:spLocks noChangeArrowheads="1"/>
          </p:cNvSpPr>
          <p:nvPr/>
        </p:nvSpPr>
        <p:spPr bwMode="auto">
          <a:xfrm>
            <a:off x="2771799" y="5229200"/>
            <a:ext cx="6264697" cy="8805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响应</a:t>
            </a:r>
            <a:r>
              <a:rPr lang="zh-CN" altLang="en-US" sz="2200" b="1" dirty="0">
                <a:latin typeface="宋体" panose="02010600030101010101" pitchFamily="2" charset="-122"/>
              </a:rPr>
              <a:t>总线事务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读状态口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r>
              <a:rPr lang="zh-CN" altLang="en-US" sz="2200" b="1" dirty="0">
                <a:latin typeface="宋体" panose="02010600030101010101" pitchFamily="2" charset="-122"/>
              </a:rPr>
              <a:t>   </a:t>
            </a:r>
            <a:r>
              <a:rPr lang="zh-CN" altLang="en-US" sz="1600" b="1" dirty="0">
                <a:latin typeface="宋体" panose="02010600030101010101" pitchFamily="2" charset="-122"/>
              </a:rPr>
              <a:t>  </a:t>
            </a:r>
            <a:r>
              <a:rPr lang="zh-CN" altLang="en-US" sz="1800" b="1" dirty="0">
                <a:latin typeface="宋体" panose="02010600030101010101" pitchFamily="2" charset="-122"/>
              </a:rPr>
              <a:t>←状态为最新</a:t>
            </a:r>
            <a:r>
              <a:rPr lang="en-US" altLang="zh-CN" sz="1800" b="1" dirty="0">
                <a:latin typeface="宋体" panose="02010600030101010101" pitchFamily="2" charset="-122"/>
              </a:rPr>
              <a:t>[</a:t>
            </a:r>
            <a:r>
              <a:rPr lang="zh-CN" altLang="en-US" sz="1800" b="1" dirty="0">
                <a:latin typeface="宋体" panose="02010600030101010101" pitchFamily="2" charset="-122"/>
              </a:rPr>
              <a:t>持续检测</a:t>
            </a:r>
            <a:r>
              <a:rPr lang="en-US" altLang="zh-CN" sz="1800" b="1" dirty="0">
                <a:latin typeface="宋体" panose="02010600030101010101" pitchFamily="2" charset="-122"/>
              </a:rPr>
              <a:t>]</a:t>
            </a:r>
          </a:p>
          <a:p>
            <a:pPr algn="l">
              <a:lnSpc>
                <a:spcPct val="125000"/>
              </a:lnSpc>
            </a:pP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响应</a:t>
            </a:r>
            <a:r>
              <a:rPr lang="zh-CN" altLang="en-US" sz="2200" b="1" dirty="0">
                <a:latin typeface="宋体" panose="02010600030101010101" pitchFamily="2" charset="-122"/>
              </a:rPr>
              <a:t>总线事务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读</a:t>
            </a:r>
            <a:r>
              <a:rPr lang="en-US" altLang="zh-CN" sz="1800" b="1" dirty="0">
                <a:latin typeface="宋体" panose="02010600030101010101" pitchFamily="2" charset="-122"/>
              </a:rPr>
              <a:t>/</a:t>
            </a:r>
            <a:r>
              <a:rPr lang="zh-CN" altLang="en-US" sz="1800" b="1" dirty="0">
                <a:latin typeface="宋体" panose="02010600030101010101" pitchFamily="2" charset="-122"/>
              </a:rPr>
              <a:t>写数据口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r>
              <a:rPr lang="zh-CN" altLang="en-US" sz="2200" b="1" dirty="0">
                <a:latin typeface="宋体" panose="02010600030101010101" pitchFamily="2" charset="-122"/>
              </a:rPr>
              <a:t> </a:t>
            </a:r>
            <a:r>
              <a:rPr lang="zh-CN" altLang="en-US" sz="1800" b="1" dirty="0">
                <a:latin typeface="宋体" panose="02010600030101010101" pitchFamily="2" charset="-122"/>
              </a:rPr>
              <a:t> ←</a:t>
            </a:r>
            <a:r>
              <a:rPr lang="en-US" altLang="zh-CN" sz="1800" b="1" spc="-100" dirty="0">
                <a:latin typeface="宋体" panose="02010600030101010101" pitchFamily="2" charset="-122"/>
              </a:rPr>
              <a:t>OUT</a:t>
            </a:r>
            <a:r>
              <a:rPr lang="zh-CN" altLang="en-US" sz="1800" b="1" spc="-100" dirty="0">
                <a:latin typeface="宋体" panose="02010600030101010101" pitchFamily="2" charset="-122"/>
              </a:rPr>
              <a:t>时先准备数据后启动</a:t>
            </a:r>
            <a:endParaRPr lang="zh-CN" sz="2200" b="1" dirty="0">
              <a:latin typeface="宋体" panose="02010600030101010101" pitchFamily="2" charset="-122"/>
            </a:endParaRPr>
          </a:p>
        </p:txBody>
      </p:sp>
      <p:grpSp>
        <p:nvGrpSpPr>
          <p:cNvPr id="205" name="组合 204"/>
          <p:cNvGrpSpPr/>
          <p:nvPr/>
        </p:nvGrpSpPr>
        <p:grpSpPr>
          <a:xfrm>
            <a:off x="2051719" y="4005192"/>
            <a:ext cx="2736281" cy="864000"/>
            <a:chOff x="1331639" y="3832932"/>
            <a:chExt cx="2736281" cy="864000"/>
          </a:xfrm>
        </p:grpSpPr>
        <p:sp>
          <p:nvSpPr>
            <p:cNvPr id="206" name="Text Box 177"/>
            <p:cNvSpPr txBox="1">
              <a:spLocks noChangeArrowheads="1"/>
            </p:cNvSpPr>
            <p:nvPr/>
          </p:nvSpPr>
          <p:spPr bwMode="auto">
            <a:xfrm>
              <a:off x="3851920" y="4516932"/>
              <a:ext cx="216000" cy="18000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38100">
              <a:noFill/>
              <a:miter lim="800000"/>
            </a:ln>
            <a:effectLst/>
          </p:spPr>
          <p:txBody>
            <a:bodyPr lIns="18000" tIns="0" rIns="18000" bIns="0" anchor="ctr"/>
            <a:lstStyle/>
            <a:p>
              <a:pPr eaLnBrk="0" hangingPunct="0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⑵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207" name="Text Box 177"/>
            <p:cNvSpPr txBox="1">
              <a:spLocks noChangeArrowheads="1"/>
            </p:cNvSpPr>
            <p:nvPr/>
          </p:nvSpPr>
          <p:spPr bwMode="auto">
            <a:xfrm>
              <a:off x="1331640" y="4516932"/>
              <a:ext cx="216000" cy="18000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38100">
              <a:noFill/>
              <a:miter lim="800000"/>
            </a:ln>
            <a:effectLst/>
          </p:spPr>
          <p:txBody>
            <a:bodyPr lIns="18000" tIns="0" rIns="18000" bIns="0" anchor="ctr"/>
            <a:lstStyle/>
            <a:p>
              <a:pPr eaLnBrk="0" hangingPunct="0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⑴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209" name="Text Box 177"/>
            <p:cNvSpPr txBox="1">
              <a:spLocks noChangeArrowheads="1"/>
            </p:cNvSpPr>
            <p:nvPr/>
          </p:nvSpPr>
          <p:spPr bwMode="auto">
            <a:xfrm>
              <a:off x="1331640" y="4192932"/>
              <a:ext cx="216000" cy="18000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38100">
              <a:noFill/>
              <a:miter lim="800000"/>
            </a:ln>
            <a:effectLst/>
          </p:spPr>
          <p:txBody>
            <a:bodyPr lIns="18000" tIns="0" rIns="18000" bIns="0" anchor="ctr"/>
            <a:lstStyle/>
            <a:p>
              <a:pPr eaLnBrk="0" hangingPunct="0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⑶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210" name="Text Box 177"/>
            <p:cNvSpPr txBox="1">
              <a:spLocks noChangeArrowheads="1"/>
            </p:cNvSpPr>
            <p:nvPr/>
          </p:nvSpPr>
          <p:spPr bwMode="auto">
            <a:xfrm>
              <a:off x="1331639" y="3832932"/>
              <a:ext cx="216000" cy="18000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38100">
              <a:noFill/>
              <a:miter lim="800000"/>
            </a:ln>
            <a:effectLst/>
          </p:spPr>
          <p:txBody>
            <a:bodyPr lIns="18000" tIns="0" rIns="18000" bIns="0" anchor="ctr"/>
            <a:lstStyle/>
            <a:p>
              <a:pPr eaLnBrk="0" hangingPunct="0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←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211" name="Text Box 177"/>
            <p:cNvSpPr txBox="1">
              <a:spLocks noChangeArrowheads="1"/>
            </p:cNvSpPr>
            <p:nvPr/>
          </p:nvSpPr>
          <p:spPr bwMode="auto">
            <a:xfrm>
              <a:off x="2680953" y="4156932"/>
              <a:ext cx="216000" cy="18000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38100">
              <a:noFill/>
              <a:miter lim="800000"/>
            </a:ln>
            <a:effectLst/>
          </p:spPr>
          <p:txBody>
            <a:bodyPr lIns="18000" tIns="0" rIns="18000" bIns="0" anchor="ctr"/>
            <a:lstStyle/>
            <a:p>
              <a:pPr eaLnBrk="0" hangingPunct="0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⑶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</p:grpSp>
      <p:grpSp>
        <p:nvGrpSpPr>
          <p:cNvPr id="215" name="组合 214"/>
          <p:cNvGrpSpPr/>
          <p:nvPr/>
        </p:nvGrpSpPr>
        <p:grpSpPr>
          <a:xfrm>
            <a:off x="2377347" y="4005192"/>
            <a:ext cx="3888000" cy="864000"/>
            <a:chOff x="1583920" y="3832932"/>
            <a:chExt cx="3888000" cy="864000"/>
          </a:xfrm>
        </p:grpSpPr>
        <p:sp>
          <p:nvSpPr>
            <p:cNvPr id="216" name="Text Box 177"/>
            <p:cNvSpPr txBox="1">
              <a:spLocks noChangeArrowheads="1"/>
            </p:cNvSpPr>
            <p:nvPr/>
          </p:nvSpPr>
          <p:spPr bwMode="auto">
            <a:xfrm>
              <a:off x="4103920" y="4516932"/>
              <a:ext cx="216000" cy="18000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38100">
              <a:noFill/>
              <a:miter lim="800000"/>
            </a:ln>
            <a:effectLst/>
          </p:spPr>
          <p:txBody>
            <a:bodyPr lIns="18000" tIns="0" rIns="18000" bIns="0" anchor="ctr"/>
            <a:lstStyle/>
            <a:p>
              <a:pPr eaLnBrk="0" hangingPunct="0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㈡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217" name="Text Box 177"/>
            <p:cNvSpPr txBox="1">
              <a:spLocks noChangeArrowheads="1"/>
            </p:cNvSpPr>
            <p:nvPr/>
          </p:nvSpPr>
          <p:spPr bwMode="auto">
            <a:xfrm>
              <a:off x="1583920" y="4516932"/>
              <a:ext cx="216000" cy="18000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38100">
              <a:noFill/>
              <a:miter lim="800000"/>
            </a:ln>
            <a:effectLst/>
          </p:spPr>
          <p:txBody>
            <a:bodyPr lIns="18000" tIns="0" rIns="18000" bIns="0" anchor="ctr"/>
            <a:lstStyle/>
            <a:p>
              <a:pPr eaLnBrk="0" hangingPunct="0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㈠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218" name="Text Box 177"/>
            <p:cNvSpPr txBox="1">
              <a:spLocks noChangeArrowheads="1"/>
            </p:cNvSpPr>
            <p:nvPr/>
          </p:nvSpPr>
          <p:spPr bwMode="auto">
            <a:xfrm>
              <a:off x="5255920" y="4192932"/>
              <a:ext cx="216000" cy="18000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38100">
              <a:noFill/>
              <a:miter lim="800000"/>
            </a:ln>
            <a:effectLst/>
          </p:spPr>
          <p:txBody>
            <a:bodyPr lIns="18000" tIns="0" rIns="18000" bIns="0" anchor="ctr"/>
            <a:lstStyle/>
            <a:p>
              <a:pPr eaLnBrk="0" hangingPunct="0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㈢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223" name="Text Box 177"/>
            <p:cNvSpPr txBox="1">
              <a:spLocks noChangeArrowheads="1"/>
            </p:cNvSpPr>
            <p:nvPr/>
          </p:nvSpPr>
          <p:spPr bwMode="auto">
            <a:xfrm>
              <a:off x="1583920" y="3832932"/>
              <a:ext cx="216000" cy="18000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38100">
              <a:noFill/>
              <a:miter lim="800000"/>
            </a:ln>
            <a:effectLst/>
          </p:spPr>
          <p:txBody>
            <a:bodyPr lIns="18000" tIns="0" rIns="18000" bIns="0" anchor="ctr"/>
            <a:lstStyle/>
            <a:p>
              <a:pPr eaLnBrk="0" hangingPunct="0">
                <a:lnSpc>
                  <a:spcPct val="90000"/>
                </a:lnSpc>
              </a:pPr>
              <a:r>
                <a:rPr lang="zh-CN" altLang="en-US" sz="1600" dirty="0">
                  <a:latin typeface="宋体" panose="02010600030101010101" pitchFamily="2" charset="-122"/>
                </a:rPr>
                <a:t>─</a:t>
              </a:r>
              <a:endParaRPr lang="en-US" altLang="zh-CN" sz="1600" dirty="0">
                <a:latin typeface="宋体" panose="02010600030101010101" pitchFamily="2" charset="-122"/>
              </a:endParaRPr>
            </a:p>
          </p:txBody>
        </p:sp>
        <p:sp>
          <p:nvSpPr>
            <p:cNvPr id="224" name="Text Box 177"/>
            <p:cNvSpPr txBox="1">
              <a:spLocks noChangeArrowheads="1"/>
            </p:cNvSpPr>
            <p:nvPr/>
          </p:nvSpPr>
          <p:spPr bwMode="auto">
            <a:xfrm>
              <a:off x="1583920" y="4192932"/>
              <a:ext cx="216000" cy="18000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38100">
              <a:noFill/>
              <a:miter lim="800000"/>
            </a:ln>
            <a:effectLst/>
          </p:spPr>
          <p:txBody>
            <a:bodyPr lIns="18000" tIns="0" rIns="18000" bIns="0" anchor="ctr"/>
            <a:lstStyle/>
            <a:p>
              <a:pPr eaLnBrk="0" hangingPunct="0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㈢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</p:grpSp>
      <p:sp>
        <p:nvSpPr>
          <p:cNvPr id="89" name="AutoShape 175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2988000" y="6524450"/>
            <a:ext cx="287337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0" name="线形标注 2 89"/>
          <p:cNvSpPr/>
          <p:nvPr/>
        </p:nvSpPr>
        <p:spPr bwMode="auto">
          <a:xfrm>
            <a:off x="6660231" y="4662328"/>
            <a:ext cx="2376263" cy="252000"/>
          </a:xfrm>
          <a:prstGeom prst="borderCallout2">
            <a:avLst>
              <a:gd name="adj1" fmla="val -3404"/>
              <a:gd name="adj2" fmla="val 8451"/>
              <a:gd name="adj3" fmla="val -86542"/>
              <a:gd name="adj4" fmla="val 8340"/>
              <a:gd name="adj5" fmla="val -286293"/>
              <a:gd name="adj6" fmla="val -17489"/>
            </a:avLst>
          </a:prstGeom>
          <a:noFill/>
          <a:ln w="12700" cap="flat" cmpd="sng" algn="ctr">
            <a:solidFill>
              <a:srgbClr val="990099"/>
            </a:solidFill>
            <a:prstDash val="sysDash"/>
            <a:round/>
            <a:headEnd type="none" w="med" len="med"/>
            <a:tailEnd type="arrow" w="sm" len="sm"/>
          </a:ln>
          <a:effectLst/>
        </p:spPr>
        <p:txBody>
          <a:bodyPr vert="horz" wrap="square" lIns="36000" tIns="18000" rIns="36000" bIns="18000" numCol="1" rtlCol="0" anchor="ctr" anchorCtr="0" compatLnSpc="1"/>
          <a:lstStyle/>
          <a:p>
            <a:pPr>
              <a:lnSpc>
                <a:spcPct val="90000"/>
              </a:lnSpc>
            </a:pPr>
            <a:r>
              <a:rPr lang="zh-CN" altLang="en-US" sz="1600" b="1" dirty="0">
                <a:latin typeface="+mn-ea"/>
                <a:ea typeface="+mn-ea"/>
              </a:rPr>
              <a:t>异步联络方式的数据接收</a:t>
            </a:r>
            <a:endParaRPr lang="en-US" altLang="zh-CN" sz="1600" b="1" dirty="0">
              <a:latin typeface="+mn-ea"/>
              <a:ea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932040" y="3789192"/>
            <a:ext cx="1296144" cy="288031"/>
            <a:chOff x="4932040" y="3955122"/>
            <a:chExt cx="1296144" cy="288031"/>
          </a:xfrm>
        </p:grpSpPr>
        <p:cxnSp>
          <p:nvCxnSpPr>
            <p:cNvPr id="91" name="直接连接符 90"/>
            <p:cNvCxnSpPr/>
            <p:nvPr/>
          </p:nvCxnSpPr>
          <p:spPr bwMode="auto">
            <a:xfrm>
              <a:off x="6228184" y="3955542"/>
              <a:ext cx="0" cy="287611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oval" w="sm" len="sm"/>
              <a:tailEnd type="triangle" w="med" len="sm"/>
            </a:ln>
          </p:spPr>
        </p:cxnSp>
        <p:cxnSp>
          <p:nvCxnSpPr>
            <p:cNvPr id="92" name="直接连接符 91"/>
            <p:cNvCxnSpPr/>
            <p:nvPr/>
          </p:nvCxnSpPr>
          <p:spPr bwMode="auto">
            <a:xfrm>
              <a:off x="4932040" y="3955122"/>
              <a:ext cx="0" cy="287611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oval" w="sm" len="sm"/>
              <a:tailEnd type="triangle" w="med" len="sm"/>
            </a:ln>
          </p:spPr>
        </p:cxnSp>
      </p:grpSp>
      <p:grpSp>
        <p:nvGrpSpPr>
          <p:cNvPr id="3" name="组合 2"/>
          <p:cNvGrpSpPr/>
          <p:nvPr/>
        </p:nvGrpSpPr>
        <p:grpSpPr>
          <a:xfrm>
            <a:off x="1764000" y="2961192"/>
            <a:ext cx="6336000" cy="1908000"/>
            <a:chOff x="1764000" y="2833885"/>
            <a:chExt cx="6336000" cy="1908000"/>
          </a:xfrm>
        </p:grpSpPr>
        <p:sp>
          <p:nvSpPr>
            <p:cNvPr id="150" name="Text Box 177"/>
            <p:cNvSpPr txBox="1">
              <a:spLocks noChangeArrowheads="1"/>
            </p:cNvSpPr>
            <p:nvPr/>
          </p:nvSpPr>
          <p:spPr bwMode="auto">
            <a:xfrm>
              <a:off x="6624000" y="2833885"/>
              <a:ext cx="1116000" cy="180000"/>
            </a:xfrm>
            <a:prstGeom prst="rect">
              <a:avLst/>
            </a:prstGeom>
            <a:solidFill>
              <a:srgbClr val="FFFF99"/>
            </a:solidFill>
            <a:ln w="38100">
              <a:noFill/>
              <a:miter lim="800000"/>
            </a:ln>
            <a:effectLst/>
          </p:spPr>
          <p:txBody>
            <a:bodyPr lIns="18000" tIns="0" rIns="18000" bIns="0" anchor="ctr"/>
            <a:lstStyle/>
            <a:p>
              <a:pPr algn="l" eaLnBrk="0" hangingPunct="0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⑤启动设备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51" name="Text Box 177"/>
            <p:cNvSpPr txBox="1">
              <a:spLocks noChangeArrowheads="1"/>
            </p:cNvSpPr>
            <p:nvPr/>
          </p:nvSpPr>
          <p:spPr bwMode="auto">
            <a:xfrm>
              <a:off x="6624000" y="3445885"/>
              <a:ext cx="1476000" cy="180000"/>
            </a:xfrm>
            <a:prstGeom prst="rect">
              <a:avLst/>
            </a:prstGeom>
            <a:solidFill>
              <a:srgbClr val="FFFF99"/>
            </a:solidFill>
            <a:ln w="38100">
              <a:noFill/>
              <a:miter lim="800000"/>
            </a:ln>
            <a:effectLst/>
          </p:spPr>
          <p:txBody>
            <a:bodyPr lIns="18000" tIns="0" rIns="18000" bIns="0" anchor="ctr"/>
            <a:lstStyle/>
            <a:p>
              <a:pPr algn="l" eaLnBrk="0" hangingPunct="0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⑦设备工作结束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52" name="Text Box 177"/>
            <p:cNvSpPr txBox="1">
              <a:spLocks noChangeArrowheads="1"/>
            </p:cNvSpPr>
            <p:nvPr/>
          </p:nvSpPr>
          <p:spPr bwMode="auto">
            <a:xfrm>
              <a:off x="6624000" y="3877885"/>
              <a:ext cx="720080" cy="180000"/>
            </a:xfrm>
            <a:prstGeom prst="rect">
              <a:avLst/>
            </a:prstGeom>
            <a:solidFill>
              <a:srgbClr val="FFFF99"/>
            </a:solidFill>
            <a:ln w="38100">
              <a:noFill/>
              <a:miter lim="800000"/>
            </a:ln>
            <a:effectLst/>
          </p:spPr>
          <p:txBody>
            <a:bodyPr lIns="18000" tIns="0" rIns="18000" bIns="0" anchor="ctr"/>
            <a:lstStyle/>
            <a:p>
              <a:pPr algn="l" eaLnBrk="0" hangingPunct="0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⑥数据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53" name="Text Box 177"/>
            <p:cNvSpPr txBox="1">
              <a:spLocks noChangeArrowheads="1"/>
            </p:cNvSpPr>
            <p:nvPr/>
          </p:nvSpPr>
          <p:spPr bwMode="auto">
            <a:xfrm>
              <a:off x="3672000" y="2941885"/>
              <a:ext cx="216000" cy="180000"/>
            </a:xfrm>
            <a:prstGeom prst="rect">
              <a:avLst/>
            </a:prstGeom>
            <a:solidFill>
              <a:srgbClr val="FFFF99"/>
            </a:solidFill>
            <a:ln w="38100">
              <a:noFill/>
              <a:miter lim="800000"/>
            </a:ln>
            <a:effectLst/>
          </p:spPr>
          <p:txBody>
            <a:bodyPr lIns="18000" tIns="0" rIns="18000" bIns="0" anchor="ctr"/>
            <a:lstStyle/>
            <a:p>
              <a:pPr eaLnBrk="0" hangingPunct="0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⑧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54" name="Text Box 177"/>
            <p:cNvSpPr txBox="1">
              <a:spLocks noChangeArrowheads="1"/>
            </p:cNvSpPr>
            <p:nvPr/>
          </p:nvSpPr>
          <p:spPr bwMode="auto">
            <a:xfrm>
              <a:off x="4968000" y="3013885"/>
              <a:ext cx="216000" cy="180000"/>
            </a:xfrm>
            <a:prstGeom prst="rect">
              <a:avLst/>
            </a:prstGeom>
            <a:solidFill>
              <a:srgbClr val="FFFF99"/>
            </a:solidFill>
            <a:ln w="38100">
              <a:noFill/>
              <a:miter lim="800000"/>
            </a:ln>
            <a:effectLst/>
          </p:spPr>
          <p:txBody>
            <a:bodyPr lIns="18000" tIns="0" rIns="18000" bIns="0" anchor="ctr"/>
            <a:lstStyle/>
            <a:p>
              <a:pPr eaLnBrk="0" hangingPunct="0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④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55" name="Text Box 177"/>
            <p:cNvSpPr txBox="1">
              <a:spLocks noChangeArrowheads="1"/>
            </p:cNvSpPr>
            <p:nvPr/>
          </p:nvSpPr>
          <p:spPr bwMode="auto">
            <a:xfrm>
              <a:off x="4716000" y="4237885"/>
              <a:ext cx="216000" cy="180000"/>
            </a:xfrm>
            <a:prstGeom prst="rect">
              <a:avLst/>
            </a:prstGeom>
            <a:solidFill>
              <a:srgbClr val="CCFFFF"/>
            </a:solidFill>
            <a:ln w="38100">
              <a:noFill/>
              <a:miter lim="800000"/>
            </a:ln>
            <a:effectLst/>
          </p:spPr>
          <p:txBody>
            <a:bodyPr lIns="18000" tIns="0" rIns="18000" bIns="0" anchor="ctr"/>
            <a:lstStyle/>
            <a:p>
              <a:pPr eaLnBrk="0" hangingPunct="0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③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56" name="Text Box 177"/>
            <p:cNvSpPr txBox="1">
              <a:spLocks noChangeArrowheads="1"/>
            </p:cNvSpPr>
            <p:nvPr/>
          </p:nvSpPr>
          <p:spPr bwMode="auto">
            <a:xfrm>
              <a:off x="4320000" y="4561885"/>
              <a:ext cx="216000" cy="180000"/>
            </a:xfrm>
            <a:prstGeom prst="rect">
              <a:avLst/>
            </a:prstGeom>
            <a:solidFill>
              <a:srgbClr val="CCFFFF"/>
            </a:solidFill>
            <a:ln w="38100">
              <a:noFill/>
              <a:miter lim="800000"/>
            </a:ln>
            <a:effectLst/>
          </p:spPr>
          <p:txBody>
            <a:bodyPr lIns="18000" tIns="0" rIns="18000" bIns="0" anchor="ctr"/>
            <a:lstStyle/>
            <a:p>
              <a:pPr eaLnBrk="0" hangingPunct="0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②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57" name="Text Box 177"/>
            <p:cNvSpPr txBox="1">
              <a:spLocks noChangeArrowheads="1"/>
            </p:cNvSpPr>
            <p:nvPr/>
          </p:nvSpPr>
          <p:spPr bwMode="auto">
            <a:xfrm>
              <a:off x="1764000" y="4561885"/>
              <a:ext cx="216000" cy="180000"/>
            </a:xfrm>
            <a:prstGeom prst="rect">
              <a:avLst/>
            </a:prstGeom>
            <a:solidFill>
              <a:srgbClr val="CCFFFF"/>
            </a:solidFill>
            <a:ln w="38100">
              <a:noFill/>
              <a:miter lim="800000"/>
            </a:ln>
            <a:effectLst/>
          </p:spPr>
          <p:txBody>
            <a:bodyPr lIns="18000" tIns="0" rIns="18000" bIns="0" anchor="ctr"/>
            <a:lstStyle/>
            <a:p>
              <a:pPr eaLnBrk="0" hangingPunct="0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①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58" name="Text Box 177"/>
            <p:cNvSpPr txBox="1">
              <a:spLocks noChangeArrowheads="1"/>
            </p:cNvSpPr>
            <p:nvPr/>
          </p:nvSpPr>
          <p:spPr bwMode="auto">
            <a:xfrm>
              <a:off x="1800000" y="3877885"/>
              <a:ext cx="216000" cy="180000"/>
            </a:xfrm>
            <a:prstGeom prst="rect">
              <a:avLst/>
            </a:prstGeom>
            <a:solidFill>
              <a:srgbClr val="CCFFFF"/>
            </a:solidFill>
            <a:ln w="38100">
              <a:noFill/>
              <a:miter lim="800000"/>
            </a:ln>
            <a:effectLst/>
          </p:spPr>
          <p:txBody>
            <a:bodyPr lIns="18000" tIns="0" rIns="18000" bIns="0" anchor="ctr"/>
            <a:lstStyle/>
            <a:p>
              <a:pPr eaLnBrk="0" hangingPunct="0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→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59" name="Text Box 177"/>
            <p:cNvSpPr txBox="1">
              <a:spLocks noChangeArrowheads="1"/>
            </p:cNvSpPr>
            <p:nvPr/>
          </p:nvSpPr>
          <p:spPr bwMode="auto">
            <a:xfrm>
              <a:off x="1764000" y="4237885"/>
              <a:ext cx="216000" cy="180000"/>
            </a:xfrm>
            <a:prstGeom prst="rect">
              <a:avLst/>
            </a:prstGeom>
            <a:solidFill>
              <a:srgbClr val="CCFFFF"/>
            </a:solidFill>
            <a:ln w="38100">
              <a:noFill/>
              <a:miter lim="800000"/>
            </a:ln>
            <a:effectLst/>
          </p:spPr>
          <p:txBody>
            <a:bodyPr lIns="18000" tIns="0" rIns="18000" bIns="0" anchor="ctr"/>
            <a:lstStyle/>
            <a:p>
              <a:pPr eaLnBrk="0" hangingPunct="0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③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</p:grpSp>
      <p:sp>
        <p:nvSpPr>
          <p:cNvPr id="93" name="Text Box 200"/>
          <p:cNvSpPr txBox="1">
            <a:spLocks noChangeArrowheads="1"/>
          </p:cNvSpPr>
          <p:nvPr/>
        </p:nvSpPr>
        <p:spPr bwMode="auto">
          <a:xfrm>
            <a:off x="1295928" y="1268760"/>
            <a:ext cx="2628000" cy="28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lstStyle/>
          <a:p>
            <a:pPr marL="805180" indent="-805180" algn="l">
              <a:lnSpc>
                <a:spcPct val="90000"/>
              </a:lnSpc>
            </a:pPr>
            <a:r>
              <a:rPr lang="zh-CN" altLang="en-US" sz="1800" b="1" dirty="0">
                <a:solidFill>
                  <a:srgbClr val="990099"/>
                </a:solidFill>
                <a:latin typeface="+mn-ea"/>
                <a:ea typeface="+mn-ea"/>
              </a:rPr>
              <a:t>思考：</a:t>
            </a:r>
            <a:r>
              <a:rPr lang="zh-CN" altLang="en-US" sz="1800" b="1" dirty="0">
                <a:latin typeface="+mn-ea"/>
                <a:ea typeface="+mn-ea"/>
              </a:rPr>
              <a:t>没有控制口行吗？</a:t>
            </a:r>
          </a:p>
        </p:txBody>
      </p:sp>
      <p:sp>
        <p:nvSpPr>
          <p:cNvPr id="94" name="Text Box 200"/>
          <p:cNvSpPr txBox="1">
            <a:spLocks noChangeArrowheads="1"/>
          </p:cNvSpPr>
          <p:nvPr/>
        </p:nvSpPr>
        <p:spPr bwMode="auto">
          <a:xfrm>
            <a:off x="4067944" y="1268760"/>
            <a:ext cx="4752000" cy="288000"/>
          </a:xfrm>
          <a:prstGeom prst="rect">
            <a:avLst/>
          </a:prstGeom>
          <a:noFill/>
          <a:ln w="12700">
            <a:noFill/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lstStyle/>
          <a:p>
            <a:pPr marL="805180" indent="-805180" algn="l">
              <a:lnSpc>
                <a:spcPct val="90000"/>
              </a:lnSpc>
            </a:pPr>
            <a:r>
              <a:rPr lang="zh-CN" altLang="en-US" sz="1600" b="1" dirty="0">
                <a:latin typeface="+mn-ea"/>
                <a:ea typeface="+mn-ea"/>
              </a:rPr>
              <a:t>不行，无法知道何时需要启动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49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3" presetClass="entr" presetSubtype="1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5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495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5" presetClass="entr" presetSubtype="1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000"/>
                            </p:stCondLst>
                            <p:childTnLst>
                              <p:par>
                                <p:cTn id="31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5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3495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5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3495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12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" presetClass="entr" presetSubtype="1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6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5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3495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5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56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5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5" presetClass="entr" presetSubtype="1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4" dur="5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5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9" dur="500"/>
                                        <p:tgtEl>
                                          <p:spTgt spid="3495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71" dur="5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00"/>
                            </p:stCondLst>
                            <p:childTnLst>
                              <p:par>
                                <p:cTn id="74" presetID="5" presetClass="entr" presetSubtype="1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6" dur="5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9196" grpId="0"/>
      <p:bldP spid="90" grpId="0" animBg="1"/>
      <p:bldP spid="90" grpId="1" animBg="1"/>
      <p:bldP spid="93" grpId="0" animBg="1"/>
      <p:bldP spid="94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ext Box 4"/>
          <p:cNvSpPr txBox="1">
            <a:spLocks noChangeArrowheads="1"/>
          </p:cNvSpPr>
          <p:nvPr/>
        </p:nvSpPr>
        <p:spPr bwMode="auto">
          <a:xfrm>
            <a:off x="179512" y="767612"/>
            <a:ext cx="3528096" cy="2188612"/>
          </a:xfrm>
          <a:prstGeom prst="rect">
            <a:avLst/>
          </a:prstGeom>
          <a:noFill/>
          <a:ln w="38100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*</a:t>
            </a: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I/O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控制流程：</a:t>
            </a: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*I/O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接口的组织：</a:t>
            </a: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端口的组织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所支持操作的组织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300"/>
              </a:spcBef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*I/O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软件组成：</a:t>
            </a: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</p:txBody>
      </p:sp>
      <p:sp>
        <p:nvSpPr>
          <p:cNvPr id="7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19BA2-27F5-4F77-BDC2-FD186FD2A2A8}" type="slidenum">
              <a:rPr lang="en-US" altLang="zh-CN"/>
              <a:t>28</a:t>
            </a:fld>
            <a:endParaRPr lang="en-US" altLang="zh-CN"/>
          </a:p>
        </p:txBody>
      </p:sp>
      <p:sp>
        <p:nvSpPr>
          <p:cNvPr id="352260" name="Text Box 4"/>
          <p:cNvSpPr txBox="1">
            <a:spLocks noChangeArrowheads="1"/>
          </p:cNvSpPr>
          <p:nvPr/>
        </p:nvSpPr>
        <p:spPr bwMode="auto">
          <a:xfrm>
            <a:off x="179388" y="332656"/>
            <a:ext cx="8785225" cy="3905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tIns="10795" bIns="10795" anchor="ctr" anchorCtr="0">
            <a:spAutoFit/>
          </a:bodyPr>
          <a:lstStyle>
            <a:defPPr>
              <a:defRPr lang="zh-CN"/>
            </a:defPPr>
            <a:lvl1pPr algn="l">
              <a:defRPr b="1">
                <a:solidFill>
                  <a:srgbClr val="FF3300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1pPr>
          </a:lstStyle>
          <a:p>
            <a:r>
              <a:rPr lang="en-US" altLang="zh-CN" dirty="0">
                <a:solidFill>
                  <a:srgbClr val="FF3399"/>
                </a:solidFill>
                <a:latin typeface="+mn-ea"/>
                <a:ea typeface="+mn-ea"/>
              </a:rPr>
              <a:t>3</a:t>
            </a:r>
            <a:r>
              <a:rPr lang="zh-CN" altLang="en-US" dirty="0">
                <a:solidFill>
                  <a:srgbClr val="FF3399"/>
                </a:solidFill>
                <a:latin typeface="+mn-ea"/>
                <a:ea typeface="+mn-ea"/>
              </a:rPr>
              <a:t>、直接传送方式的</a:t>
            </a:r>
            <a:r>
              <a:rPr lang="en-US" altLang="zh-CN" dirty="0">
                <a:solidFill>
                  <a:srgbClr val="FF3399"/>
                </a:solidFill>
                <a:latin typeface="+mn-ea"/>
                <a:ea typeface="+mn-ea"/>
              </a:rPr>
              <a:t>I/O</a:t>
            </a:r>
            <a:r>
              <a:rPr lang="zh-CN" altLang="en-US" dirty="0">
                <a:solidFill>
                  <a:srgbClr val="FF3399"/>
                </a:solidFill>
                <a:latin typeface="+mn-ea"/>
                <a:ea typeface="+mn-ea"/>
              </a:rPr>
              <a:t>组织</a:t>
            </a:r>
          </a:p>
        </p:txBody>
      </p:sp>
      <p:sp>
        <p:nvSpPr>
          <p:cNvPr id="352261" name="Text Box 5"/>
          <p:cNvSpPr txBox="1">
            <a:spLocks noChangeArrowheads="1"/>
          </p:cNvSpPr>
          <p:nvPr/>
        </p:nvSpPr>
        <p:spPr bwMode="auto">
          <a:xfrm>
            <a:off x="2339752" y="764704"/>
            <a:ext cx="6624736" cy="218861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200" b="1" dirty="0">
                <a:highlight>
                  <a:srgbClr val="FFFF00"/>
                </a:highlight>
                <a:latin typeface="宋体" panose="02010600030101010101" pitchFamily="2" charset="-122"/>
              </a:rPr>
              <a:t>CPU</a:t>
            </a:r>
            <a:r>
              <a:rPr lang="zh-CN" altLang="en-US" sz="2200" b="1" dirty="0">
                <a:solidFill>
                  <a:srgbClr val="0070C0"/>
                </a:solidFill>
                <a:latin typeface="宋体" panose="02010600030101010101" pitchFamily="2" charset="-122"/>
              </a:rPr>
              <a:t>随时</a:t>
            </a:r>
            <a:r>
              <a:rPr lang="zh-CN" altLang="en-US" sz="2200" b="1" dirty="0">
                <a:latin typeface="宋体" panose="02010600030101010101" pitchFamily="2" charset="-122"/>
              </a:rPr>
              <a:t>可</a:t>
            </a:r>
            <a:r>
              <a:rPr lang="zh-CN" altLang="en-US" sz="2200" b="1" u="sng" dirty="0">
                <a:solidFill>
                  <a:srgbClr val="FF3399"/>
                </a:solidFill>
                <a:latin typeface="宋体" panose="02010600030101010101" pitchFamily="2" charset="-122"/>
              </a:rPr>
              <a:t>传送</a:t>
            </a:r>
            <a:r>
              <a:rPr lang="zh-CN" altLang="en-US" sz="2200" b="1" dirty="0">
                <a:latin typeface="宋体" panose="02010600030101010101" pitchFamily="2" charset="-122"/>
              </a:rPr>
              <a:t>数据              </a:t>
            </a:r>
            <a:r>
              <a:rPr lang="zh-CN" altLang="en-US" sz="1800" b="1" dirty="0">
                <a:latin typeface="宋体" panose="02010600030101010101" pitchFamily="2" charset="-122"/>
              </a:rPr>
              <a:t>←</a:t>
            </a:r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</a:rPr>
              <a:t>无需</a:t>
            </a:r>
            <a:r>
              <a:rPr lang="zh-CN" altLang="en-US" sz="1800" b="1" dirty="0">
                <a:latin typeface="宋体" panose="02010600030101010101" pitchFamily="2" charset="-122"/>
              </a:rPr>
              <a:t>启动</a:t>
            </a:r>
            <a:r>
              <a:rPr lang="en-US" altLang="zh-CN" sz="1800" b="1" dirty="0">
                <a:latin typeface="宋体" panose="02010600030101010101" pitchFamily="2" charset="-122"/>
              </a:rPr>
              <a:t>/</a:t>
            </a:r>
            <a:r>
              <a:rPr lang="zh-CN" altLang="en-US" sz="1800" b="1" dirty="0">
                <a:latin typeface="宋体" panose="02010600030101010101" pitchFamily="2" charset="-122"/>
              </a:rPr>
              <a:t>查询</a:t>
            </a:r>
            <a:endParaRPr lang="en-US" altLang="zh-CN" sz="2200" b="1" spc="-50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sz="2200" b="1" spc="-50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lang="zh-CN" altLang="en-US" sz="2200" b="1" dirty="0">
                <a:latin typeface="宋体" panose="02010600030101010101" pitchFamily="2" charset="-122"/>
              </a:rPr>
              <a:t>仅设置</a:t>
            </a:r>
            <a:r>
              <a:rPr lang="zh-CN" altLang="en-US" sz="2200" b="1" u="sng" dirty="0">
                <a:latin typeface="宋体" panose="02010600030101010101" pitchFamily="2" charset="-122"/>
              </a:rPr>
              <a:t>数据口</a:t>
            </a:r>
            <a:r>
              <a:rPr lang="zh-CN" altLang="en-US" sz="2200" b="1" dirty="0">
                <a:latin typeface="宋体" panose="02010600030101010101" pitchFamily="2" charset="-122"/>
              </a:rPr>
              <a:t>，必是并行接口     </a:t>
            </a:r>
            <a:r>
              <a:rPr lang="zh-CN" altLang="en-US" sz="1800" b="1" dirty="0">
                <a:latin typeface="宋体" panose="02010600030101010101" pitchFamily="2" charset="-122"/>
              </a:rPr>
              <a:t>←串行</a:t>
            </a:r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</a:rPr>
              <a:t>性</a:t>
            </a:r>
            <a:r>
              <a:rPr lang="en-US" altLang="zh-CN" sz="1800" b="1" dirty="0">
                <a:solidFill>
                  <a:srgbClr val="990099"/>
                </a:solidFill>
                <a:latin typeface="宋体" panose="02010600030101010101" pitchFamily="2" charset="-122"/>
              </a:rPr>
              <a:t>/</a:t>
            </a:r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</a:rPr>
              <a:t>价低</a:t>
            </a:r>
            <a:endParaRPr lang="en-US" altLang="zh-CN" sz="1800" b="1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lang="zh-CN" altLang="en-US" sz="2200" b="1" dirty="0">
                <a:latin typeface="宋体" panose="02010600030101010101" pitchFamily="2" charset="-122"/>
              </a:rPr>
              <a:t>      仅</a:t>
            </a:r>
            <a:r>
              <a:rPr lang="zh-CN" altLang="en-US" sz="2200" b="1" u="sng" dirty="0">
                <a:latin typeface="宋体" panose="02010600030101010101" pitchFamily="2" charset="-122"/>
              </a:rPr>
              <a:t>数据传送</a:t>
            </a:r>
            <a:r>
              <a:rPr lang="zh-CN" altLang="en-US" sz="2200" b="1" dirty="0">
                <a:latin typeface="宋体" panose="02010600030101010101" pitchFamily="2" charset="-122"/>
              </a:rPr>
              <a:t>操作，组织同</a:t>
            </a:r>
            <a:r>
              <a:rPr lang="zh-CN" altLang="en-US" sz="2200" b="1" u="sng" dirty="0">
                <a:latin typeface="宋体" panose="02010600030101010101" pitchFamily="2" charset="-122"/>
              </a:rPr>
              <a:t>程序查询方式</a:t>
            </a:r>
            <a:endParaRPr lang="en-US" altLang="zh-CN" sz="2200" b="1" u="sng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300"/>
              </a:spcBef>
            </a:pPr>
            <a:r>
              <a:rPr lang="zh-CN" altLang="en-US" sz="2200" b="1" spc="-50" dirty="0">
                <a:latin typeface="宋体" panose="02010600030101010101" pitchFamily="2" charset="-122"/>
              </a:rPr>
              <a:t>程序中用</a:t>
            </a:r>
            <a:r>
              <a:rPr lang="en-US" altLang="zh-CN" sz="2200" b="1" u="sng" spc="-50" dirty="0">
                <a:latin typeface="宋体" panose="02010600030101010101" pitchFamily="2" charset="-122"/>
              </a:rPr>
              <a:t>I/O</a:t>
            </a:r>
            <a:r>
              <a:rPr lang="zh-CN" altLang="en-US" sz="2200" b="1" u="sng" spc="-50" dirty="0">
                <a:latin typeface="宋体" panose="02010600030101010101" pitchFamily="2" charset="-122"/>
              </a:rPr>
              <a:t>指令</a:t>
            </a:r>
            <a:r>
              <a:rPr lang="zh-CN" altLang="en-US" sz="2200" b="1" spc="-50" dirty="0">
                <a:latin typeface="宋体" panose="02010600030101010101" pitchFamily="2" charset="-122"/>
              </a:rPr>
              <a:t>实现数据传送</a:t>
            </a:r>
            <a:r>
              <a:rPr lang="en-US" altLang="zh-CN" sz="1800" b="1" spc="-50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同</a:t>
            </a:r>
            <a:r>
              <a:rPr lang="zh-CN" altLang="en-US" sz="1800" b="1" u="sng" dirty="0">
                <a:latin typeface="宋体" panose="02010600030101010101" pitchFamily="2" charset="-122"/>
              </a:rPr>
              <a:t>程序查询方式</a:t>
            </a:r>
            <a:r>
              <a:rPr lang="en-US" altLang="zh-CN" sz="1800" b="1" spc="-50" dirty="0">
                <a:latin typeface="宋体" panose="02010600030101010101" pitchFamily="2" charset="-122"/>
              </a:rPr>
              <a:t>)</a:t>
            </a:r>
            <a:endParaRPr lang="en-US" altLang="zh-CN" sz="2200" b="1" u="sng" dirty="0">
              <a:latin typeface="宋体" panose="02010600030101010101" pitchFamily="2" charset="-122"/>
            </a:endParaRPr>
          </a:p>
        </p:txBody>
      </p:sp>
      <p:sp>
        <p:nvSpPr>
          <p:cNvPr id="352267" name="AutoShape 11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4068000" y="6526038"/>
            <a:ext cx="287338" cy="287338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2270" name="Text Box 14"/>
          <p:cNvSpPr txBox="1">
            <a:spLocks noChangeArrowheads="1"/>
          </p:cNvSpPr>
          <p:nvPr/>
        </p:nvSpPr>
        <p:spPr bwMode="auto">
          <a:xfrm>
            <a:off x="179388" y="2924944"/>
            <a:ext cx="8821768" cy="119359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1116000" indent="-1116000" algn="l">
              <a:lnSpc>
                <a:spcPct val="125000"/>
              </a:lnSpc>
            </a:pP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例</a:t>
            </a: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2—</a:t>
            </a:r>
            <a:r>
              <a:rPr lang="zh-CN" altLang="en-US" sz="2000" b="1" dirty="0">
                <a:latin typeface="宋体" panose="02010600030101010101" pitchFamily="2" charset="-122"/>
              </a:rPr>
              <a:t>某</a:t>
            </a:r>
            <a:r>
              <a:rPr lang="en-US" altLang="zh-CN" sz="2000" b="1" dirty="0">
                <a:latin typeface="宋体" panose="02010600030101010101" pitchFamily="2" charset="-122"/>
              </a:rPr>
              <a:t>8</a:t>
            </a:r>
            <a:r>
              <a:rPr lang="zh-CN" altLang="en-US" sz="2000" b="1" dirty="0">
                <a:latin typeface="宋体" panose="02010600030101010101" pitchFamily="2" charset="-122"/>
              </a:rPr>
              <a:t>位总线上的并行输出接口连接了</a:t>
            </a:r>
            <a:r>
              <a:rPr lang="en-US" altLang="zh-CN" sz="2000" b="1" dirty="0">
                <a:latin typeface="宋体" panose="02010600030101010101" pitchFamily="2" charset="-122"/>
              </a:rPr>
              <a:t>8</a:t>
            </a:r>
            <a:r>
              <a:rPr lang="zh-CN" altLang="en-US" sz="2000" b="1" dirty="0">
                <a:latin typeface="宋体" panose="02010600030101010101" pitchFamily="2" charset="-122"/>
              </a:rPr>
              <a:t>个信号灯，该接口采用直接传送方式工作、数据口地址为</a:t>
            </a:r>
            <a:r>
              <a:rPr lang="en-US" altLang="zh-CN" sz="2000" b="1" dirty="0">
                <a:latin typeface="宋体" panose="02010600030101010101" pitchFamily="2" charset="-122"/>
              </a:rPr>
              <a:t>0060H</a:t>
            </a:r>
            <a:r>
              <a:rPr lang="zh-CN" altLang="en-US" sz="2000" b="1" dirty="0">
                <a:latin typeface="宋体" panose="02010600030101010101" pitchFamily="2" charset="-122"/>
              </a:rPr>
              <a:t>。编写不停地轮流点亮各个信号灯</a:t>
            </a:r>
            <a:r>
              <a:rPr lang="en-US" altLang="zh-CN" sz="2000" b="1" dirty="0">
                <a:latin typeface="宋体" panose="02010600030101010101" pitchFamily="2" charset="-122"/>
              </a:rPr>
              <a:t>(</a:t>
            </a:r>
            <a:r>
              <a:rPr lang="zh-CN" altLang="en-US" sz="2000" b="1" dirty="0">
                <a:latin typeface="宋体" panose="02010600030101010101" pitchFamily="2" charset="-122"/>
              </a:rPr>
              <a:t>各保持</a:t>
            </a:r>
            <a:r>
              <a:rPr lang="en-US" altLang="zh-CN" sz="2000" b="1" dirty="0">
                <a:latin typeface="宋体" panose="02010600030101010101" pitchFamily="2" charset="-122"/>
              </a:rPr>
              <a:t>1s)</a:t>
            </a:r>
            <a:r>
              <a:rPr lang="zh-CN" altLang="en-US" sz="2000" b="1" dirty="0">
                <a:latin typeface="宋体" panose="02010600030101010101" pitchFamily="2" charset="-122"/>
              </a:rPr>
              <a:t>的</a:t>
            </a:r>
            <a:r>
              <a:rPr lang="en-US" altLang="zh-CN" sz="2000" b="1" dirty="0">
                <a:latin typeface="宋体" panose="02010600030101010101" pitchFamily="2" charset="-122"/>
              </a:rPr>
              <a:t>C</a:t>
            </a:r>
            <a:r>
              <a:rPr lang="zh-CN" altLang="en-US" sz="2000" b="1" dirty="0">
                <a:latin typeface="宋体" panose="02010600030101010101" pitchFamily="2" charset="-122"/>
              </a:rPr>
              <a:t>语言程序段。</a:t>
            </a:r>
          </a:p>
        </p:txBody>
      </p:sp>
      <p:sp>
        <p:nvSpPr>
          <p:cNvPr id="352271" name="Text Box 15"/>
          <p:cNvSpPr txBox="1">
            <a:spLocks noChangeArrowheads="1"/>
          </p:cNvSpPr>
          <p:nvPr/>
        </p:nvSpPr>
        <p:spPr bwMode="auto">
          <a:xfrm>
            <a:off x="3851920" y="4509120"/>
            <a:ext cx="4747439" cy="192052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/>
            <a:r>
              <a:rPr lang="en-US" altLang="zh-CN" sz="1800" b="1" dirty="0">
                <a:latin typeface="+mn-ea"/>
                <a:ea typeface="+mn-ea"/>
              </a:rPr>
              <a:t>BYTE Lamp[8]={</a:t>
            </a:r>
            <a:r>
              <a:rPr lang="en-US" altLang="zh-CN" sz="1800" b="1" dirty="0">
                <a:solidFill>
                  <a:srgbClr val="CC3300"/>
                </a:solidFill>
                <a:latin typeface="+mn-ea"/>
                <a:ea typeface="+mn-ea"/>
              </a:rPr>
              <a:t>0xFE</a:t>
            </a:r>
            <a:r>
              <a:rPr lang="en-US" altLang="zh-CN" sz="1800" b="1" dirty="0">
                <a:latin typeface="+mn-ea"/>
                <a:ea typeface="+mn-ea"/>
              </a:rPr>
              <a:t>,</a:t>
            </a:r>
            <a:r>
              <a:rPr lang="en-US" altLang="zh-CN" sz="1800" b="1" dirty="0">
                <a:solidFill>
                  <a:srgbClr val="CC3300"/>
                </a:solidFill>
                <a:latin typeface="+mn-ea"/>
                <a:ea typeface="+mn-ea"/>
              </a:rPr>
              <a:t>0xFD</a:t>
            </a:r>
            <a:r>
              <a:rPr lang="en-US" altLang="zh-CN" sz="1800" b="1" dirty="0">
                <a:latin typeface="+mn-ea"/>
                <a:ea typeface="+mn-ea"/>
              </a:rPr>
              <a:t>,</a:t>
            </a:r>
            <a:r>
              <a:rPr lang="en-US" altLang="zh-CN" sz="1800" b="1" dirty="0">
                <a:solidFill>
                  <a:srgbClr val="CC3300"/>
                </a:solidFill>
                <a:latin typeface="+mn-ea"/>
                <a:ea typeface="+mn-ea"/>
              </a:rPr>
              <a:t>0xFB</a:t>
            </a:r>
            <a:r>
              <a:rPr lang="en-US" altLang="zh-CN" sz="1800" b="1" dirty="0">
                <a:latin typeface="+mn-ea"/>
                <a:ea typeface="+mn-ea"/>
              </a:rPr>
              <a:t>,</a:t>
            </a:r>
            <a:r>
              <a:rPr lang="en-US" altLang="zh-CN" sz="1800" b="1" dirty="0">
                <a:solidFill>
                  <a:srgbClr val="CC3300"/>
                </a:solidFill>
                <a:latin typeface="+mn-ea"/>
                <a:ea typeface="+mn-ea"/>
              </a:rPr>
              <a:t>0xF7</a:t>
            </a:r>
            <a:r>
              <a:rPr lang="en-US" altLang="zh-CN" sz="1800" b="1" dirty="0">
                <a:latin typeface="+mn-ea"/>
                <a:ea typeface="+mn-ea"/>
              </a:rPr>
              <a:t>,…};</a:t>
            </a:r>
          </a:p>
          <a:p>
            <a:pPr algn="l"/>
            <a:r>
              <a:rPr lang="en-US" altLang="zh-CN" sz="1800" b="1" dirty="0">
                <a:latin typeface="+mn-ea"/>
                <a:ea typeface="+mn-ea"/>
              </a:rPr>
              <a:t>while ( !</a:t>
            </a:r>
            <a:r>
              <a:rPr lang="en-US" altLang="zh-CN" sz="1800" b="1" dirty="0" err="1">
                <a:latin typeface="+mn-ea"/>
                <a:ea typeface="+mn-ea"/>
              </a:rPr>
              <a:t>kbhit</a:t>
            </a:r>
            <a:r>
              <a:rPr lang="en-US" altLang="zh-CN" sz="1800" b="1" dirty="0">
                <a:latin typeface="+mn-ea"/>
                <a:ea typeface="+mn-ea"/>
              </a:rPr>
              <a:t>() ){  </a:t>
            </a:r>
          </a:p>
          <a:p>
            <a:pPr algn="l"/>
            <a:r>
              <a:rPr lang="en-US" altLang="zh-CN" sz="1800" b="1" dirty="0">
                <a:latin typeface="+mn-ea"/>
                <a:ea typeface="+mn-ea"/>
              </a:rPr>
              <a:t>   for ( </a:t>
            </a:r>
            <a:r>
              <a:rPr lang="en-US" altLang="zh-CN" sz="1800" b="1" dirty="0" err="1">
                <a:latin typeface="+mn-ea"/>
                <a:ea typeface="+mn-ea"/>
              </a:rPr>
              <a:t>int</a:t>
            </a:r>
            <a:r>
              <a:rPr lang="en-US" altLang="zh-CN" sz="1800" b="1" dirty="0">
                <a:latin typeface="+mn-ea"/>
                <a:ea typeface="+mn-ea"/>
              </a:rPr>
              <a:t> </a:t>
            </a:r>
            <a:r>
              <a:rPr lang="en-US" altLang="zh-CN" sz="1800" b="1" dirty="0" err="1">
                <a:latin typeface="+mn-ea"/>
                <a:ea typeface="+mn-ea"/>
              </a:rPr>
              <a:t>i</a:t>
            </a:r>
            <a:r>
              <a:rPr lang="en-US" altLang="zh-CN" sz="1800" b="1" dirty="0">
                <a:latin typeface="+mn-ea"/>
                <a:ea typeface="+mn-ea"/>
              </a:rPr>
              <a:t>=0; </a:t>
            </a:r>
            <a:r>
              <a:rPr lang="en-US" altLang="zh-CN" sz="1800" b="1" dirty="0" err="1">
                <a:latin typeface="+mn-ea"/>
                <a:ea typeface="+mn-ea"/>
              </a:rPr>
              <a:t>i</a:t>
            </a:r>
            <a:r>
              <a:rPr lang="en-US" altLang="zh-CN" sz="1800" b="1" dirty="0">
                <a:latin typeface="+mn-ea"/>
                <a:ea typeface="+mn-ea"/>
              </a:rPr>
              <a:t>&lt;8; </a:t>
            </a:r>
            <a:r>
              <a:rPr lang="en-US" altLang="zh-CN" sz="1800" b="1" dirty="0" err="1">
                <a:latin typeface="+mn-ea"/>
                <a:ea typeface="+mn-ea"/>
              </a:rPr>
              <a:t>i</a:t>
            </a:r>
            <a:r>
              <a:rPr lang="en-US" altLang="zh-CN" sz="1800" b="1" dirty="0">
                <a:latin typeface="+mn-ea"/>
                <a:ea typeface="+mn-ea"/>
              </a:rPr>
              <a:t>++ ){</a:t>
            </a:r>
          </a:p>
          <a:p>
            <a:pPr algn="l"/>
            <a:r>
              <a:rPr lang="en-US" altLang="zh-CN" sz="1800" b="1" dirty="0">
                <a:latin typeface="+mn-ea"/>
                <a:ea typeface="+mn-ea"/>
              </a:rPr>
              <a:t>       </a:t>
            </a:r>
            <a:r>
              <a:rPr lang="en-US" altLang="zh-CN" sz="1800" b="1" dirty="0" err="1">
                <a:solidFill>
                  <a:srgbClr val="FF3399"/>
                </a:solidFill>
                <a:latin typeface="+mn-ea"/>
                <a:ea typeface="+mn-ea"/>
              </a:rPr>
              <a:t>outp</a:t>
            </a:r>
            <a:r>
              <a:rPr lang="en-US" altLang="zh-CN" sz="1800" b="1" dirty="0">
                <a:solidFill>
                  <a:srgbClr val="FF3399"/>
                </a:solidFill>
                <a:latin typeface="+mn-ea"/>
                <a:ea typeface="+mn-ea"/>
              </a:rPr>
              <a:t>(0x0060, Lamp[</a:t>
            </a:r>
            <a:r>
              <a:rPr lang="en-US" altLang="zh-CN" sz="1800" b="1" dirty="0" err="1">
                <a:solidFill>
                  <a:srgbClr val="FF3399"/>
                </a:solidFill>
                <a:latin typeface="+mn-ea"/>
                <a:ea typeface="+mn-ea"/>
              </a:rPr>
              <a:t>i</a:t>
            </a:r>
            <a:r>
              <a:rPr lang="en-US" altLang="zh-CN" sz="1800" b="1" dirty="0">
                <a:solidFill>
                  <a:srgbClr val="FF3399"/>
                </a:solidFill>
                <a:latin typeface="+mn-ea"/>
                <a:ea typeface="+mn-ea"/>
              </a:rPr>
              <a:t>]);</a:t>
            </a:r>
          </a:p>
          <a:p>
            <a:pPr algn="l"/>
            <a:r>
              <a:rPr lang="en-US" altLang="zh-CN" sz="1800" b="1" dirty="0">
                <a:latin typeface="+mn-ea"/>
                <a:ea typeface="+mn-ea"/>
              </a:rPr>
              <a:t>       Sleep(1000);   //</a:t>
            </a:r>
            <a:r>
              <a:rPr lang="zh-CN" altLang="en-US" sz="1800" b="1" dirty="0">
                <a:latin typeface="+mn-ea"/>
                <a:ea typeface="+mn-ea"/>
              </a:rPr>
              <a:t>延迟</a:t>
            </a:r>
            <a:r>
              <a:rPr lang="en-US" altLang="zh-CN" sz="1800" b="1" dirty="0">
                <a:latin typeface="+mn-ea"/>
                <a:ea typeface="+mn-ea"/>
              </a:rPr>
              <a:t>1s</a:t>
            </a:r>
            <a:endParaRPr lang="zh-CN" altLang="en-US" sz="1800" b="1" dirty="0">
              <a:latin typeface="+mn-ea"/>
              <a:ea typeface="+mn-ea"/>
            </a:endParaRPr>
          </a:p>
          <a:p>
            <a:pPr algn="l">
              <a:lnSpc>
                <a:spcPct val="80000"/>
              </a:lnSpc>
            </a:pPr>
            <a:r>
              <a:rPr lang="zh-CN" altLang="en-US" sz="1800" b="1" dirty="0">
                <a:latin typeface="+mn-ea"/>
                <a:ea typeface="+mn-ea"/>
              </a:rPr>
              <a:t>   </a:t>
            </a:r>
            <a:r>
              <a:rPr lang="en-US" altLang="zh-CN" sz="1800" b="1" dirty="0">
                <a:latin typeface="+mn-ea"/>
                <a:ea typeface="+mn-ea"/>
              </a:rPr>
              <a:t>}</a:t>
            </a:r>
          </a:p>
          <a:p>
            <a:pPr algn="l">
              <a:lnSpc>
                <a:spcPct val="80000"/>
              </a:lnSpc>
            </a:pPr>
            <a:r>
              <a:rPr lang="en-US" altLang="zh-CN" sz="1800" b="1" dirty="0">
                <a:latin typeface="+mn-ea"/>
                <a:ea typeface="+mn-ea"/>
              </a:rPr>
              <a:t>}</a:t>
            </a:r>
          </a:p>
        </p:txBody>
      </p:sp>
      <p:sp>
        <p:nvSpPr>
          <p:cNvPr id="82" name="Text Box 76"/>
          <p:cNvSpPr txBox="1">
            <a:spLocks noChangeArrowheads="1"/>
          </p:cNvSpPr>
          <p:nvPr/>
        </p:nvSpPr>
        <p:spPr bwMode="auto">
          <a:xfrm>
            <a:off x="827581" y="4077072"/>
            <a:ext cx="5760641" cy="42415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解</a:t>
            </a: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—</a:t>
            </a:r>
            <a:r>
              <a:rPr lang="en-US" altLang="zh-CN" sz="2000" b="1" dirty="0">
                <a:latin typeface="宋体" panose="02010600030101010101" pitchFamily="2" charset="-122"/>
              </a:rPr>
              <a:t>0#</a:t>
            </a:r>
            <a:r>
              <a:rPr lang="zh-CN" altLang="en-US" sz="2000" b="1" dirty="0">
                <a:latin typeface="宋体" panose="02010600030101010101" pitchFamily="2" charset="-122"/>
              </a:rPr>
              <a:t>灯</a:t>
            </a:r>
            <a:r>
              <a:rPr lang="en-US" altLang="zh-CN" sz="2000" b="1" dirty="0">
                <a:latin typeface="宋体" panose="02010600030101010101" pitchFamily="2" charset="-122"/>
              </a:rPr>
              <a:t>(</a:t>
            </a:r>
            <a:r>
              <a:rPr lang="zh-CN" altLang="en-US" sz="2000" b="1" dirty="0">
                <a:latin typeface="宋体" panose="02010600030101010101" pitchFamily="2" charset="-122"/>
              </a:rPr>
              <a:t>最右边</a:t>
            </a:r>
            <a:r>
              <a:rPr lang="en-US" altLang="zh-CN" sz="2000" b="1" dirty="0">
                <a:latin typeface="宋体" panose="02010600030101010101" pitchFamily="2" charset="-122"/>
              </a:rPr>
              <a:t>)</a:t>
            </a:r>
            <a:r>
              <a:rPr lang="zh-CN" altLang="en-US" sz="2000" b="1" dirty="0">
                <a:latin typeface="宋体" panose="02010600030101010101" pitchFamily="2" charset="-122"/>
              </a:rPr>
              <a:t>亮时，数据口的值应为</a:t>
            </a:r>
            <a:r>
              <a:rPr lang="zh-CN" altLang="en-US" sz="2000" b="1" u="sng" dirty="0">
                <a:latin typeface="宋体" panose="02010600030101010101" pitchFamily="2" charset="-122"/>
              </a:rPr>
              <a:t>      </a:t>
            </a:r>
            <a:r>
              <a:rPr lang="zh-CN" altLang="en-US" sz="2000" b="1" dirty="0">
                <a:latin typeface="宋体" panose="02010600030101010101" pitchFamily="2" charset="-122"/>
              </a:rPr>
              <a:t>。</a:t>
            </a:r>
          </a:p>
        </p:txBody>
      </p:sp>
      <p:sp>
        <p:nvSpPr>
          <p:cNvPr id="72" name="AutoShape 62">
            <a:hlinkClick r:id="rId3" action="ppaction://hlinksldjump"/>
          </p:cNvPr>
          <p:cNvSpPr>
            <a:spLocks noChangeArrowheads="1"/>
          </p:cNvSpPr>
          <p:nvPr/>
        </p:nvSpPr>
        <p:spPr bwMode="auto">
          <a:xfrm rot="16200000">
            <a:off x="5148000" y="6524997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eaVert" wrap="none" lIns="0" tIns="0" rIns="0" bIns="0" anchor="ctr"/>
          <a:lstStyle/>
          <a:p>
            <a:pPr algn="ctr"/>
            <a:r>
              <a:rPr lang="en-US" altLang="zh-CN" sz="1600" dirty="0">
                <a:solidFill>
                  <a:schemeClr val="bg2"/>
                </a:solidFill>
                <a:latin typeface="+mn-ea"/>
                <a:ea typeface="+mn-ea"/>
              </a:rPr>
              <a:t>25</a:t>
            </a:r>
            <a:endParaRPr lang="zh-CN" altLang="en-US" sz="1600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76" name="Text Box 76"/>
          <p:cNvSpPr txBox="1">
            <a:spLocks noChangeArrowheads="1"/>
          </p:cNvSpPr>
          <p:nvPr/>
        </p:nvSpPr>
        <p:spPr bwMode="auto">
          <a:xfrm>
            <a:off x="5580112" y="4077072"/>
            <a:ext cx="864096" cy="42415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000" b="1" dirty="0">
                <a:latin typeface="宋体" panose="02010600030101010101" pitchFamily="2" charset="-122"/>
              </a:rPr>
              <a:t>0xFE</a:t>
            </a:r>
            <a:endParaRPr lang="zh-CN" altLang="en-US" sz="2000" b="1" dirty="0">
              <a:latin typeface="宋体" panose="02010600030101010101" pitchFamily="2" charset="-122"/>
            </a:endParaRPr>
          </a:p>
        </p:txBody>
      </p:sp>
      <p:sp>
        <p:nvSpPr>
          <p:cNvPr id="77" name="AutoShape 62">
            <a:hlinkClick r:id="rId4" action="ppaction://hlinksldjump"/>
          </p:cNvPr>
          <p:cNvSpPr>
            <a:spLocks noChangeArrowheads="1"/>
          </p:cNvSpPr>
          <p:nvPr/>
        </p:nvSpPr>
        <p:spPr bwMode="auto">
          <a:xfrm rot="16200000">
            <a:off x="7452669" y="6236964"/>
            <a:ext cx="287337" cy="864098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zh-CN" altLang="en-US" sz="1600" u="none" dirty="0">
                <a:solidFill>
                  <a:schemeClr val="bg2"/>
                </a:solidFill>
                <a:latin typeface="+mn-ea"/>
                <a:ea typeface="+mn-ea"/>
              </a:rPr>
              <a:t>回目录</a:t>
            </a:r>
          </a:p>
        </p:txBody>
      </p:sp>
      <p:sp>
        <p:nvSpPr>
          <p:cNvPr id="78" name="线形标注 2 77"/>
          <p:cNvSpPr/>
          <p:nvPr/>
        </p:nvSpPr>
        <p:spPr bwMode="auto">
          <a:xfrm>
            <a:off x="1043608" y="6157167"/>
            <a:ext cx="2664000" cy="288000"/>
          </a:xfrm>
          <a:prstGeom prst="borderCallout2">
            <a:avLst>
              <a:gd name="adj1" fmla="val 49513"/>
              <a:gd name="adj2" fmla="val -100"/>
              <a:gd name="adj3" fmla="val 49529"/>
              <a:gd name="adj4" fmla="val -6625"/>
              <a:gd name="adj5" fmla="val -46435"/>
              <a:gd name="adj6" fmla="val -2314"/>
            </a:avLst>
          </a:prstGeom>
          <a:noFill/>
          <a:ln w="12700" cap="flat" cmpd="sng" algn="ctr">
            <a:solidFill>
              <a:srgbClr val="990099"/>
            </a:solidFill>
            <a:prstDash val="sysDash"/>
            <a:round/>
            <a:headEnd type="none" w="med" len="med"/>
            <a:tailEnd type="arrow" w="sm" len="sm"/>
          </a:ln>
          <a:effectLst/>
        </p:spPr>
        <p:txBody>
          <a:bodyPr vert="horz" wrap="square" lIns="36000" tIns="18000" rIns="36000" bIns="18000" numCol="1" rtlCol="0" anchor="ctr" anchorCtr="0" compatLnSpc="1"/>
          <a:lstStyle/>
          <a:p>
            <a:pPr marL="358775" indent="-358775">
              <a:lnSpc>
                <a:spcPct val="90000"/>
              </a:lnSpc>
            </a:pPr>
            <a:r>
              <a:rPr lang="zh-CN" altLang="en-US" sz="1600" b="1" dirty="0">
                <a:solidFill>
                  <a:srgbClr val="990099"/>
                </a:solidFill>
                <a:latin typeface="+mn-ea"/>
                <a:ea typeface="+mn-ea"/>
              </a:rPr>
              <a:t>思考：</a:t>
            </a:r>
            <a:r>
              <a:rPr lang="zh-CN" altLang="en-US" sz="1600" b="1" dirty="0">
                <a:latin typeface="+mn-ea"/>
                <a:ea typeface="+mn-ea"/>
              </a:rPr>
              <a:t>若改为</a:t>
            </a:r>
            <a:r>
              <a:rPr lang="en-US" altLang="zh-CN" sz="1600" b="1" dirty="0">
                <a:latin typeface="+mn-ea"/>
                <a:ea typeface="+mn-ea"/>
              </a:rPr>
              <a:t>0V</a:t>
            </a:r>
            <a:r>
              <a:rPr lang="zh-CN" altLang="en-US" sz="1600" b="1" dirty="0">
                <a:latin typeface="+mn-ea"/>
                <a:ea typeface="+mn-ea"/>
              </a:rPr>
              <a:t>，</a:t>
            </a:r>
            <a:r>
              <a:rPr lang="en-US" altLang="zh-CN" sz="1600" b="1" dirty="0">
                <a:latin typeface="+mn-ea"/>
                <a:ea typeface="+mn-ea"/>
              </a:rPr>
              <a:t>Lamp[]=</a:t>
            </a:r>
            <a:r>
              <a:rPr lang="zh-CN" altLang="en-US" sz="1600" b="1" dirty="0">
                <a:latin typeface="+mn-ea"/>
                <a:ea typeface="+mn-ea"/>
              </a:rPr>
              <a:t>？</a:t>
            </a:r>
            <a:endParaRPr lang="en-US" altLang="zh-CN" sz="1600" b="1" dirty="0">
              <a:latin typeface="+mn-ea"/>
              <a:ea typeface="+mn-ea"/>
            </a:endParaRPr>
          </a:p>
        </p:txBody>
      </p:sp>
      <p:grpSp>
        <p:nvGrpSpPr>
          <p:cNvPr id="74" name="组合 73">
            <a:extLst>
              <a:ext uri="{FF2B5EF4-FFF2-40B4-BE49-F238E27FC236}">
                <a16:creationId xmlns:a16="http://schemas.microsoft.com/office/drawing/2014/main" id="{E429EEC3-2CDE-4BDC-B354-5CA41C10CF6D}"/>
              </a:ext>
            </a:extLst>
          </p:cNvPr>
          <p:cNvGrpSpPr/>
          <p:nvPr/>
        </p:nvGrpSpPr>
        <p:grpSpPr>
          <a:xfrm>
            <a:off x="972000" y="4644999"/>
            <a:ext cx="2412000" cy="1404000"/>
            <a:chOff x="972000" y="4356000"/>
            <a:chExt cx="2412000" cy="1404000"/>
          </a:xfrm>
        </p:grpSpPr>
        <p:sp>
          <p:nvSpPr>
            <p:cNvPr id="79" name="Line 17">
              <a:extLst>
                <a:ext uri="{FF2B5EF4-FFF2-40B4-BE49-F238E27FC236}">
                  <a16:creationId xmlns:a16="http://schemas.microsoft.com/office/drawing/2014/main" id="{4F167397-3FD2-4E57-824E-FA1F406320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76000" y="4608413"/>
              <a:ext cx="0" cy="14446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" name="Line 18">
              <a:extLst>
                <a:ext uri="{FF2B5EF4-FFF2-40B4-BE49-F238E27FC236}">
                  <a16:creationId xmlns:a16="http://schemas.microsoft.com/office/drawing/2014/main" id="{C72BB421-02E3-485F-B006-F1E5ADAB1E2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72000" y="4752875"/>
              <a:ext cx="24120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" name="Line 19">
              <a:extLst>
                <a:ext uri="{FF2B5EF4-FFF2-40B4-BE49-F238E27FC236}">
                  <a16:creationId xmlns:a16="http://schemas.microsoft.com/office/drawing/2014/main" id="{63B6552B-6A13-43C9-92E0-8562573B37B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0000" y="4608413"/>
              <a:ext cx="0" cy="14446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" name="Line 20">
              <a:extLst>
                <a:ext uri="{FF2B5EF4-FFF2-40B4-BE49-F238E27FC236}">
                  <a16:creationId xmlns:a16="http://schemas.microsoft.com/office/drawing/2014/main" id="{8504440A-53EC-4226-91DB-EE39EBA728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12000" y="4752875"/>
              <a:ext cx="0" cy="14446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" name="Text Box 21">
              <a:extLst>
                <a:ext uri="{FF2B5EF4-FFF2-40B4-BE49-F238E27FC236}">
                  <a16:creationId xmlns:a16="http://schemas.microsoft.com/office/drawing/2014/main" id="{D2579640-3254-4D17-B682-4431FD2C37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72000" y="4897338"/>
              <a:ext cx="287338" cy="252413"/>
            </a:xfrm>
            <a:prstGeom prst="rect">
              <a:avLst/>
            </a:prstGeom>
            <a:noFill/>
            <a:ln w="22225">
              <a:noFill/>
              <a:miter lim="800000"/>
            </a:ln>
            <a:effectLst/>
          </p:spPr>
          <p:txBody>
            <a:bodyPr lIns="18000" tIns="10800" rIns="18000" bIns="18000" anchor="ctr" anchorCtr="0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latin typeface="+mn-ea"/>
                  <a:ea typeface="+mn-ea"/>
                </a:rPr>
                <a:t>…</a:t>
              </a:r>
            </a:p>
          </p:txBody>
        </p:sp>
        <p:sp>
          <p:nvSpPr>
            <p:cNvPr id="85" name="Text Box 22">
              <a:extLst>
                <a:ext uri="{FF2B5EF4-FFF2-40B4-BE49-F238E27FC236}">
                  <a16:creationId xmlns:a16="http://schemas.microsoft.com/office/drawing/2014/main" id="{989CD97C-0E9D-4419-B0DE-E05B2CFA9E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2000" y="4356000"/>
              <a:ext cx="647700" cy="252413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CPU</a:t>
              </a:r>
            </a:p>
          </p:txBody>
        </p:sp>
        <p:sp>
          <p:nvSpPr>
            <p:cNvPr id="86" name="Text Box 23">
              <a:extLst>
                <a:ext uri="{FF2B5EF4-FFF2-40B4-BE49-F238E27FC236}">
                  <a16:creationId xmlns:a16="http://schemas.microsoft.com/office/drawing/2014/main" id="{00824850-F67C-44D2-9F12-84B7615CA86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56000" y="4356000"/>
              <a:ext cx="647700" cy="252413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主存</a:t>
              </a:r>
            </a:p>
          </p:txBody>
        </p:sp>
        <p:sp>
          <p:nvSpPr>
            <p:cNvPr id="87" name="Text Box 24">
              <a:extLst>
                <a:ext uri="{FF2B5EF4-FFF2-40B4-BE49-F238E27FC236}">
                  <a16:creationId xmlns:a16="http://schemas.microsoft.com/office/drawing/2014/main" id="{A7E2B601-0BBC-4F0F-A097-AB904BC868C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04000" y="4897338"/>
              <a:ext cx="1980000" cy="252413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并行输出接口</a:t>
              </a:r>
            </a:p>
          </p:txBody>
        </p:sp>
        <p:sp>
          <p:nvSpPr>
            <p:cNvPr id="88" name="Text Box 25">
              <a:extLst>
                <a:ext uri="{FF2B5EF4-FFF2-40B4-BE49-F238E27FC236}">
                  <a16:creationId xmlns:a16="http://schemas.microsoft.com/office/drawing/2014/main" id="{769250BC-AB52-4A64-9AE4-3F60793E30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72000" y="5544000"/>
              <a:ext cx="360000" cy="21600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l"/>
              <a:r>
                <a:rPr lang="en-US" altLang="zh-CN" sz="1600" b="1" dirty="0">
                  <a:latin typeface="宋体" panose="02010600030101010101" pitchFamily="2" charset="-122"/>
                </a:rPr>
                <a:t>+5V</a:t>
              </a:r>
            </a:p>
          </p:txBody>
        </p:sp>
        <p:sp>
          <p:nvSpPr>
            <p:cNvPr id="89" name="Line 30">
              <a:extLst>
                <a:ext uri="{FF2B5EF4-FFF2-40B4-BE49-F238E27FC236}">
                  <a16:creationId xmlns:a16="http://schemas.microsoft.com/office/drawing/2014/main" id="{982327AC-D7F9-4338-ADD1-BB22E3B0D28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04000" y="5652000"/>
              <a:ext cx="1872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90" name="组合 89">
              <a:extLst>
                <a:ext uri="{FF2B5EF4-FFF2-40B4-BE49-F238E27FC236}">
                  <a16:creationId xmlns:a16="http://schemas.microsoft.com/office/drawing/2014/main" id="{3F91F5C6-1C44-42A0-85F7-F66FC3514CE1}"/>
                </a:ext>
              </a:extLst>
            </p:cNvPr>
            <p:cNvGrpSpPr/>
            <p:nvPr/>
          </p:nvGrpSpPr>
          <p:grpSpPr>
            <a:xfrm>
              <a:off x="1404000" y="5148000"/>
              <a:ext cx="215900" cy="504000"/>
              <a:chOff x="1404000" y="5148000"/>
              <a:chExt cx="215900" cy="504000"/>
            </a:xfrm>
          </p:grpSpPr>
          <p:grpSp>
            <p:nvGrpSpPr>
              <p:cNvPr id="141" name="Group 26">
                <a:extLst>
                  <a:ext uri="{FF2B5EF4-FFF2-40B4-BE49-F238E27FC236}">
                    <a16:creationId xmlns:a16="http://schemas.microsoft.com/office/drawing/2014/main" id="{E611A6C5-F706-4876-AA8D-632F12E774F5}"/>
                  </a:ext>
                </a:extLst>
              </p:cNvPr>
              <p:cNvGrpSpPr/>
              <p:nvPr/>
            </p:nvGrpSpPr>
            <p:grpSpPr bwMode="auto">
              <a:xfrm>
                <a:off x="1404000" y="5292000"/>
                <a:ext cx="215900" cy="215900"/>
                <a:chOff x="2208" y="3072"/>
                <a:chExt cx="136" cy="136"/>
              </a:xfrm>
            </p:grpSpPr>
            <p:sp>
              <p:nvSpPr>
                <p:cNvPr id="144" name="Oval 27">
                  <a:extLst>
                    <a:ext uri="{FF2B5EF4-FFF2-40B4-BE49-F238E27FC236}">
                      <a16:creationId xmlns:a16="http://schemas.microsoft.com/office/drawing/2014/main" id="{FC51E5A8-C008-4726-8631-1524A70806B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208" y="3072"/>
                  <a:ext cx="136" cy="136"/>
                </a:xfrm>
                <a:prstGeom prst="ellipse">
                  <a:avLst/>
                </a:prstGeom>
                <a:solidFill>
                  <a:schemeClr val="accent2">
                    <a:lumMod val="20000"/>
                    <a:lumOff val="80000"/>
                    <a:alpha val="80000"/>
                  </a:schemeClr>
                </a:solidFill>
                <a:ln w="12700">
                  <a:solidFill>
                    <a:schemeClr val="tx1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45" name="Line 28">
                  <a:extLst>
                    <a:ext uri="{FF2B5EF4-FFF2-40B4-BE49-F238E27FC236}">
                      <a16:creationId xmlns:a16="http://schemas.microsoft.com/office/drawing/2014/main" id="{03A6B73B-8676-4300-ADDC-D49FF189066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26" y="3096"/>
                  <a:ext cx="96" cy="96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</a:ln>
                <a:effectLst/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6" name="Line 29">
                  <a:extLst>
                    <a:ext uri="{FF2B5EF4-FFF2-40B4-BE49-F238E27FC236}">
                      <a16:creationId xmlns:a16="http://schemas.microsoft.com/office/drawing/2014/main" id="{BA136C00-CF17-44F2-867B-98115413776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226" y="3096"/>
                  <a:ext cx="96" cy="96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</a:ln>
                <a:effectLst/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142" name="Line 31">
                <a:extLst>
                  <a:ext uri="{FF2B5EF4-FFF2-40B4-BE49-F238E27FC236}">
                    <a16:creationId xmlns:a16="http://schemas.microsoft.com/office/drawing/2014/main" id="{891236FA-F2F9-4748-B560-39EAFC581F2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12000" y="5148000"/>
                <a:ext cx="0" cy="144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3" name="Line 32">
                <a:extLst>
                  <a:ext uri="{FF2B5EF4-FFF2-40B4-BE49-F238E27FC236}">
                    <a16:creationId xmlns:a16="http://schemas.microsoft.com/office/drawing/2014/main" id="{672A1753-886D-4033-981D-8D393083908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12000" y="5508000"/>
                <a:ext cx="0" cy="144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91" name="Oval 75">
              <a:extLst>
                <a:ext uri="{FF2B5EF4-FFF2-40B4-BE49-F238E27FC236}">
                  <a16:creationId xmlns:a16="http://schemas.microsoft.com/office/drawing/2014/main" id="{37B484D4-0607-4F91-BFFA-96A84A1196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2000" y="5616000"/>
              <a:ext cx="73025" cy="73025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92" name="组合 91">
              <a:extLst>
                <a:ext uri="{FF2B5EF4-FFF2-40B4-BE49-F238E27FC236}">
                  <a16:creationId xmlns:a16="http://schemas.microsoft.com/office/drawing/2014/main" id="{78AE9607-9F36-4EEC-A797-34679614F45B}"/>
                </a:ext>
              </a:extLst>
            </p:cNvPr>
            <p:cNvGrpSpPr/>
            <p:nvPr/>
          </p:nvGrpSpPr>
          <p:grpSpPr>
            <a:xfrm>
              <a:off x="1656000" y="5148000"/>
              <a:ext cx="215900" cy="504000"/>
              <a:chOff x="1404000" y="5148000"/>
              <a:chExt cx="215900" cy="504000"/>
            </a:xfrm>
          </p:grpSpPr>
          <p:grpSp>
            <p:nvGrpSpPr>
              <p:cNvPr id="135" name="Group 26">
                <a:extLst>
                  <a:ext uri="{FF2B5EF4-FFF2-40B4-BE49-F238E27FC236}">
                    <a16:creationId xmlns:a16="http://schemas.microsoft.com/office/drawing/2014/main" id="{F0596FCA-4EEA-4898-8FDA-65578021669D}"/>
                  </a:ext>
                </a:extLst>
              </p:cNvPr>
              <p:cNvGrpSpPr/>
              <p:nvPr/>
            </p:nvGrpSpPr>
            <p:grpSpPr bwMode="auto">
              <a:xfrm>
                <a:off x="1404000" y="5292000"/>
                <a:ext cx="215900" cy="215900"/>
                <a:chOff x="2208" y="3072"/>
                <a:chExt cx="136" cy="136"/>
              </a:xfrm>
            </p:grpSpPr>
            <p:sp>
              <p:nvSpPr>
                <p:cNvPr id="138" name="Oval 27">
                  <a:extLst>
                    <a:ext uri="{FF2B5EF4-FFF2-40B4-BE49-F238E27FC236}">
                      <a16:creationId xmlns:a16="http://schemas.microsoft.com/office/drawing/2014/main" id="{7063A206-75E1-49F5-9AB9-96F2A05DE71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208" y="3072"/>
                  <a:ext cx="136" cy="136"/>
                </a:xfrm>
                <a:prstGeom prst="ellipse">
                  <a:avLst/>
                </a:prstGeom>
                <a:solidFill>
                  <a:schemeClr val="accent2">
                    <a:lumMod val="20000"/>
                    <a:lumOff val="80000"/>
                    <a:alpha val="80000"/>
                  </a:schemeClr>
                </a:solidFill>
                <a:ln w="12700">
                  <a:solidFill>
                    <a:schemeClr val="tx1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39" name="Line 28">
                  <a:extLst>
                    <a:ext uri="{FF2B5EF4-FFF2-40B4-BE49-F238E27FC236}">
                      <a16:creationId xmlns:a16="http://schemas.microsoft.com/office/drawing/2014/main" id="{23AF044F-4284-4CB1-A6CD-5E85994AE0D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26" y="3096"/>
                  <a:ext cx="96" cy="96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</a:ln>
                <a:effectLst/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0" name="Line 29">
                  <a:extLst>
                    <a:ext uri="{FF2B5EF4-FFF2-40B4-BE49-F238E27FC236}">
                      <a16:creationId xmlns:a16="http://schemas.microsoft.com/office/drawing/2014/main" id="{E0734DC9-11ED-49A7-962B-69FDB8A9DF5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226" y="3096"/>
                  <a:ext cx="96" cy="96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</a:ln>
                <a:effectLst/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136" name="Line 31">
                <a:extLst>
                  <a:ext uri="{FF2B5EF4-FFF2-40B4-BE49-F238E27FC236}">
                    <a16:creationId xmlns:a16="http://schemas.microsoft.com/office/drawing/2014/main" id="{18157FA6-A030-43FC-96A5-F4023912076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12000" y="5148000"/>
                <a:ext cx="0" cy="144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7" name="Line 32">
                <a:extLst>
                  <a:ext uri="{FF2B5EF4-FFF2-40B4-BE49-F238E27FC236}">
                    <a16:creationId xmlns:a16="http://schemas.microsoft.com/office/drawing/2014/main" id="{F0730731-C805-4ACD-85BD-1BB1C74EFE7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12000" y="5508000"/>
                <a:ext cx="0" cy="144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93" name="组合 92">
              <a:extLst>
                <a:ext uri="{FF2B5EF4-FFF2-40B4-BE49-F238E27FC236}">
                  <a16:creationId xmlns:a16="http://schemas.microsoft.com/office/drawing/2014/main" id="{7D9E136E-B57A-48D3-B730-8B64B52CFDB7}"/>
                </a:ext>
              </a:extLst>
            </p:cNvPr>
            <p:cNvGrpSpPr/>
            <p:nvPr/>
          </p:nvGrpSpPr>
          <p:grpSpPr>
            <a:xfrm>
              <a:off x="1908000" y="5148000"/>
              <a:ext cx="215900" cy="504000"/>
              <a:chOff x="1404000" y="5148000"/>
              <a:chExt cx="215900" cy="504000"/>
            </a:xfrm>
          </p:grpSpPr>
          <p:grpSp>
            <p:nvGrpSpPr>
              <p:cNvPr id="129" name="Group 26">
                <a:extLst>
                  <a:ext uri="{FF2B5EF4-FFF2-40B4-BE49-F238E27FC236}">
                    <a16:creationId xmlns:a16="http://schemas.microsoft.com/office/drawing/2014/main" id="{CB3FAD74-F63D-4BD3-81B3-9233613814F6}"/>
                  </a:ext>
                </a:extLst>
              </p:cNvPr>
              <p:cNvGrpSpPr/>
              <p:nvPr/>
            </p:nvGrpSpPr>
            <p:grpSpPr bwMode="auto">
              <a:xfrm>
                <a:off x="1404000" y="5292000"/>
                <a:ext cx="215900" cy="215900"/>
                <a:chOff x="2208" y="3072"/>
                <a:chExt cx="136" cy="136"/>
              </a:xfrm>
            </p:grpSpPr>
            <p:sp>
              <p:nvSpPr>
                <p:cNvPr id="132" name="Oval 27">
                  <a:extLst>
                    <a:ext uri="{FF2B5EF4-FFF2-40B4-BE49-F238E27FC236}">
                      <a16:creationId xmlns:a16="http://schemas.microsoft.com/office/drawing/2014/main" id="{CCC03804-E18D-44FF-ABD3-DFDA3E35C0E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208" y="3072"/>
                  <a:ext cx="136" cy="136"/>
                </a:xfrm>
                <a:prstGeom prst="ellipse">
                  <a:avLst/>
                </a:prstGeom>
                <a:solidFill>
                  <a:schemeClr val="accent2">
                    <a:lumMod val="20000"/>
                    <a:lumOff val="80000"/>
                    <a:alpha val="80000"/>
                  </a:schemeClr>
                </a:solidFill>
                <a:ln w="12700">
                  <a:solidFill>
                    <a:schemeClr val="tx1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33" name="Line 28">
                  <a:extLst>
                    <a:ext uri="{FF2B5EF4-FFF2-40B4-BE49-F238E27FC236}">
                      <a16:creationId xmlns:a16="http://schemas.microsoft.com/office/drawing/2014/main" id="{C58633EA-34D4-4965-BC7D-176E35A9DB9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26" y="3096"/>
                  <a:ext cx="96" cy="96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</a:ln>
                <a:effectLst/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4" name="Line 29">
                  <a:extLst>
                    <a:ext uri="{FF2B5EF4-FFF2-40B4-BE49-F238E27FC236}">
                      <a16:creationId xmlns:a16="http://schemas.microsoft.com/office/drawing/2014/main" id="{DC935FD1-0E61-4EA4-B2E6-D5B9A0B9CA3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226" y="3096"/>
                  <a:ext cx="96" cy="96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</a:ln>
                <a:effectLst/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130" name="Line 31">
                <a:extLst>
                  <a:ext uri="{FF2B5EF4-FFF2-40B4-BE49-F238E27FC236}">
                    <a16:creationId xmlns:a16="http://schemas.microsoft.com/office/drawing/2014/main" id="{42623660-D9C4-483B-8397-823CB9CFD91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12000" y="5148000"/>
                <a:ext cx="0" cy="144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" name="Line 32">
                <a:extLst>
                  <a:ext uri="{FF2B5EF4-FFF2-40B4-BE49-F238E27FC236}">
                    <a16:creationId xmlns:a16="http://schemas.microsoft.com/office/drawing/2014/main" id="{3D8FB15B-30BB-4384-8AAE-0586335B3E1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12000" y="5508000"/>
                <a:ext cx="0" cy="144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94" name="组合 93">
              <a:extLst>
                <a:ext uri="{FF2B5EF4-FFF2-40B4-BE49-F238E27FC236}">
                  <a16:creationId xmlns:a16="http://schemas.microsoft.com/office/drawing/2014/main" id="{88636967-67BE-4B0E-A121-886249CFF6BB}"/>
                </a:ext>
              </a:extLst>
            </p:cNvPr>
            <p:cNvGrpSpPr/>
            <p:nvPr/>
          </p:nvGrpSpPr>
          <p:grpSpPr>
            <a:xfrm>
              <a:off x="2160000" y="5148000"/>
              <a:ext cx="215900" cy="504000"/>
              <a:chOff x="1404000" y="5148000"/>
              <a:chExt cx="215900" cy="504000"/>
            </a:xfrm>
          </p:grpSpPr>
          <p:grpSp>
            <p:nvGrpSpPr>
              <p:cNvPr id="123" name="Group 26">
                <a:extLst>
                  <a:ext uri="{FF2B5EF4-FFF2-40B4-BE49-F238E27FC236}">
                    <a16:creationId xmlns:a16="http://schemas.microsoft.com/office/drawing/2014/main" id="{C4F43C65-C86C-42CF-A811-F580737F6FB2}"/>
                  </a:ext>
                </a:extLst>
              </p:cNvPr>
              <p:cNvGrpSpPr/>
              <p:nvPr/>
            </p:nvGrpSpPr>
            <p:grpSpPr bwMode="auto">
              <a:xfrm>
                <a:off x="1404000" y="5292000"/>
                <a:ext cx="215900" cy="215900"/>
                <a:chOff x="2208" y="3072"/>
                <a:chExt cx="136" cy="136"/>
              </a:xfrm>
            </p:grpSpPr>
            <p:sp>
              <p:nvSpPr>
                <p:cNvPr id="126" name="Oval 27">
                  <a:extLst>
                    <a:ext uri="{FF2B5EF4-FFF2-40B4-BE49-F238E27FC236}">
                      <a16:creationId xmlns:a16="http://schemas.microsoft.com/office/drawing/2014/main" id="{EAE9C2B1-5DFE-4720-9214-B5EB0EA1CBD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208" y="3072"/>
                  <a:ext cx="136" cy="136"/>
                </a:xfrm>
                <a:prstGeom prst="ellipse">
                  <a:avLst/>
                </a:prstGeom>
                <a:solidFill>
                  <a:schemeClr val="accent2">
                    <a:lumMod val="20000"/>
                    <a:lumOff val="80000"/>
                    <a:alpha val="80000"/>
                  </a:schemeClr>
                </a:solidFill>
                <a:ln w="12700">
                  <a:solidFill>
                    <a:schemeClr val="tx1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27" name="Line 28">
                  <a:extLst>
                    <a:ext uri="{FF2B5EF4-FFF2-40B4-BE49-F238E27FC236}">
                      <a16:creationId xmlns:a16="http://schemas.microsoft.com/office/drawing/2014/main" id="{D01B0468-1FF3-4284-9752-04C006CA9DB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26" y="3096"/>
                  <a:ext cx="96" cy="96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</a:ln>
                <a:effectLst/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8" name="Line 29">
                  <a:extLst>
                    <a:ext uri="{FF2B5EF4-FFF2-40B4-BE49-F238E27FC236}">
                      <a16:creationId xmlns:a16="http://schemas.microsoft.com/office/drawing/2014/main" id="{CB7E6BEE-E803-4C27-9CD7-00D9B00ACCC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226" y="3096"/>
                  <a:ext cx="96" cy="96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</a:ln>
                <a:effectLst/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124" name="Line 31">
                <a:extLst>
                  <a:ext uri="{FF2B5EF4-FFF2-40B4-BE49-F238E27FC236}">
                    <a16:creationId xmlns:a16="http://schemas.microsoft.com/office/drawing/2014/main" id="{FD981A88-1C73-4A75-B58D-AF99F7E633F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12000" y="5148000"/>
                <a:ext cx="0" cy="144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" name="Line 32">
                <a:extLst>
                  <a:ext uri="{FF2B5EF4-FFF2-40B4-BE49-F238E27FC236}">
                    <a16:creationId xmlns:a16="http://schemas.microsoft.com/office/drawing/2014/main" id="{25822630-72BA-403D-BC45-F8D67690E70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12000" y="5508000"/>
                <a:ext cx="0" cy="144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95" name="组合 94">
              <a:extLst>
                <a:ext uri="{FF2B5EF4-FFF2-40B4-BE49-F238E27FC236}">
                  <a16:creationId xmlns:a16="http://schemas.microsoft.com/office/drawing/2014/main" id="{70801A8D-28BB-4817-B62D-B2DDD8896CDA}"/>
                </a:ext>
              </a:extLst>
            </p:cNvPr>
            <p:cNvGrpSpPr/>
            <p:nvPr/>
          </p:nvGrpSpPr>
          <p:grpSpPr>
            <a:xfrm>
              <a:off x="2412000" y="5148000"/>
              <a:ext cx="215900" cy="504000"/>
              <a:chOff x="1404000" y="5148000"/>
              <a:chExt cx="215900" cy="504000"/>
            </a:xfrm>
          </p:grpSpPr>
          <p:grpSp>
            <p:nvGrpSpPr>
              <p:cNvPr id="117" name="Group 26">
                <a:extLst>
                  <a:ext uri="{FF2B5EF4-FFF2-40B4-BE49-F238E27FC236}">
                    <a16:creationId xmlns:a16="http://schemas.microsoft.com/office/drawing/2014/main" id="{71447CD7-C7FE-49D7-8B89-4E4B17E84CA0}"/>
                  </a:ext>
                </a:extLst>
              </p:cNvPr>
              <p:cNvGrpSpPr/>
              <p:nvPr/>
            </p:nvGrpSpPr>
            <p:grpSpPr bwMode="auto">
              <a:xfrm>
                <a:off x="1404000" y="5292000"/>
                <a:ext cx="215900" cy="215900"/>
                <a:chOff x="2208" y="3072"/>
                <a:chExt cx="136" cy="136"/>
              </a:xfrm>
            </p:grpSpPr>
            <p:sp>
              <p:nvSpPr>
                <p:cNvPr id="120" name="Oval 27">
                  <a:extLst>
                    <a:ext uri="{FF2B5EF4-FFF2-40B4-BE49-F238E27FC236}">
                      <a16:creationId xmlns:a16="http://schemas.microsoft.com/office/drawing/2014/main" id="{81D06850-5401-4E9C-BBFA-1B2FEA1650A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208" y="3072"/>
                  <a:ext cx="136" cy="136"/>
                </a:xfrm>
                <a:prstGeom prst="ellipse">
                  <a:avLst/>
                </a:prstGeom>
                <a:solidFill>
                  <a:schemeClr val="accent2">
                    <a:lumMod val="20000"/>
                    <a:lumOff val="80000"/>
                    <a:alpha val="80000"/>
                  </a:schemeClr>
                </a:solidFill>
                <a:ln w="12700">
                  <a:solidFill>
                    <a:schemeClr val="tx1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21" name="Line 28">
                  <a:extLst>
                    <a:ext uri="{FF2B5EF4-FFF2-40B4-BE49-F238E27FC236}">
                      <a16:creationId xmlns:a16="http://schemas.microsoft.com/office/drawing/2014/main" id="{6240D237-C19E-4F3E-9A45-0421FD03462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26" y="3096"/>
                  <a:ext cx="96" cy="96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</a:ln>
                <a:effectLst/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2" name="Line 29">
                  <a:extLst>
                    <a:ext uri="{FF2B5EF4-FFF2-40B4-BE49-F238E27FC236}">
                      <a16:creationId xmlns:a16="http://schemas.microsoft.com/office/drawing/2014/main" id="{48A818AD-E14D-4DC0-8413-A7626073C27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226" y="3096"/>
                  <a:ext cx="96" cy="96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</a:ln>
                <a:effectLst/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118" name="Line 31">
                <a:extLst>
                  <a:ext uri="{FF2B5EF4-FFF2-40B4-BE49-F238E27FC236}">
                    <a16:creationId xmlns:a16="http://schemas.microsoft.com/office/drawing/2014/main" id="{649F1371-FC45-42F2-B9AC-EAC60FF4B81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12000" y="5148000"/>
                <a:ext cx="0" cy="144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9" name="Line 32">
                <a:extLst>
                  <a:ext uri="{FF2B5EF4-FFF2-40B4-BE49-F238E27FC236}">
                    <a16:creationId xmlns:a16="http://schemas.microsoft.com/office/drawing/2014/main" id="{4DF29442-28DE-462D-9C71-58E72BB6671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12000" y="5508000"/>
                <a:ext cx="0" cy="144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96" name="组合 95">
              <a:extLst>
                <a:ext uri="{FF2B5EF4-FFF2-40B4-BE49-F238E27FC236}">
                  <a16:creationId xmlns:a16="http://schemas.microsoft.com/office/drawing/2014/main" id="{64447300-CB3A-41E6-A9D3-CEB59135BCE9}"/>
                </a:ext>
              </a:extLst>
            </p:cNvPr>
            <p:cNvGrpSpPr/>
            <p:nvPr/>
          </p:nvGrpSpPr>
          <p:grpSpPr>
            <a:xfrm>
              <a:off x="2664000" y="5148000"/>
              <a:ext cx="215900" cy="504000"/>
              <a:chOff x="1404000" y="5148000"/>
              <a:chExt cx="215900" cy="504000"/>
            </a:xfrm>
          </p:grpSpPr>
          <p:grpSp>
            <p:nvGrpSpPr>
              <p:cNvPr id="111" name="Group 26">
                <a:extLst>
                  <a:ext uri="{FF2B5EF4-FFF2-40B4-BE49-F238E27FC236}">
                    <a16:creationId xmlns:a16="http://schemas.microsoft.com/office/drawing/2014/main" id="{624381E0-523E-4BAC-BA2A-A7686A465069}"/>
                  </a:ext>
                </a:extLst>
              </p:cNvPr>
              <p:cNvGrpSpPr/>
              <p:nvPr/>
            </p:nvGrpSpPr>
            <p:grpSpPr bwMode="auto">
              <a:xfrm>
                <a:off x="1404000" y="5292000"/>
                <a:ext cx="215900" cy="215900"/>
                <a:chOff x="2208" y="3072"/>
                <a:chExt cx="136" cy="136"/>
              </a:xfrm>
            </p:grpSpPr>
            <p:sp>
              <p:nvSpPr>
                <p:cNvPr id="114" name="Oval 27">
                  <a:extLst>
                    <a:ext uri="{FF2B5EF4-FFF2-40B4-BE49-F238E27FC236}">
                      <a16:creationId xmlns:a16="http://schemas.microsoft.com/office/drawing/2014/main" id="{1265BD63-C57D-45B6-9279-3B71792DA43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208" y="3072"/>
                  <a:ext cx="136" cy="136"/>
                </a:xfrm>
                <a:prstGeom prst="ellipse">
                  <a:avLst/>
                </a:prstGeom>
                <a:solidFill>
                  <a:schemeClr val="accent2">
                    <a:lumMod val="20000"/>
                    <a:lumOff val="80000"/>
                    <a:alpha val="80000"/>
                  </a:schemeClr>
                </a:solidFill>
                <a:ln w="12700">
                  <a:solidFill>
                    <a:schemeClr val="tx1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5" name="Line 28">
                  <a:extLst>
                    <a:ext uri="{FF2B5EF4-FFF2-40B4-BE49-F238E27FC236}">
                      <a16:creationId xmlns:a16="http://schemas.microsoft.com/office/drawing/2014/main" id="{7F6B6B94-827D-4FEC-926A-88343F2BA08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26" y="3096"/>
                  <a:ext cx="96" cy="96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</a:ln>
                <a:effectLst/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6" name="Line 29">
                  <a:extLst>
                    <a:ext uri="{FF2B5EF4-FFF2-40B4-BE49-F238E27FC236}">
                      <a16:creationId xmlns:a16="http://schemas.microsoft.com/office/drawing/2014/main" id="{D8D7CE2C-138B-4A40-B652-02BF771A968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226" y="3096"/>
                  <a:ext cx="96" cy="96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</a:ln>
                <a:effectLst/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112" name="Line 31">
                <a:extLst>
                  <a:ext uri="{FF2B5EF4-FFF2-40B4-BE49-F238E27FC236}">
                    <a16:creationId xmlns:a16="http://schemas.microsoft.com/office/drawing/2014/main" id="{179726E1-33AA-47C6-B9E6-B13DFD8FBE4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12000" y="5148000"/>
                <a:ext cx="0" cy="144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" name="Line 32">
                <a:extLst>
                  <a:ext uri="{FF2B5EF4-FFF2-40B4-BE49-F238E27FC236}">
                    <a16:creationId xmlns:a16="http://schemas.microsoft.com/office/drawing/2014/main" id="{6E85A23D-77E6-48EA-8640-092D6F72403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12000" y="5508000"/>
                <a:ext cx="0" cy="144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97" name="组合 96">
              <a:extLst>
                <a:ext uri="{FF2B5EF4-FFF2-40B4-BE49-F238E27FC236}">
                  <a16:creationId xmlns:a16="http://schemas.microsoft.com/office/drawing/2014/main" id="{193372B7-ED14-4284-B642-5639F150924B}"/>
                </a:ext>
              </a:extLst>
            </p:cNvPr>
            <p:cNvGrpSpPr/>
            <p:nvPr/>
          </p:nvGrpSpPr>
          <p:grpSpPr>
            <a:xfrm>
              <a:off x="2916000" y="5148000"/>
              <a:ext cx="215900" cy="504000"/>
              <a:chOff x="1404000" y="5148000"/>
              <a:chExt cx="215900" cy="504000"/>
            </a:xfrm>
          </p:grpSpPr>
          <p:grpSp>
            <p:nvGrpSpPr>
              <p:cNvPr id="105" name="Group 26">
                <a:extLst>
                  <a:ext uri="{FF2B5EF4-FFF2-40B4-BE49-F238E27FC236}">
                    <a16:creationId xmlns:a16="http://schemas.microsoft.com/office/drawing/2014/main" id="{90AC2CBC-AF9A-4E4F-BCEF-9FCC0D8CFA4C}"/>
                  </a:ext>
                </a:extLst>
              </p:cNvPr>
              <p:cNvGrpSpPr/>
              <p:nvPr/>
            </p:nvGrpSpPr>
            <p:grpSpPr bwMode="auto">
              <a:xfrm>
                <a:off x="1404000" y="5292000"/>
                <a:ext cx="215900" cy="215900"/>
                <a:chOff x="2208" y="3072"/>
                <a:chExt cx="136" cy="136"/>
              </a:xfrm>
            </p:grpSpPr>
            <p:sp>
              <p:nvSpPr>
                <p:cNvPr id="108" name="Oval 27">
                  <a:extLst>
                    <a:ext uri="{FF2B5EF4-FFF2-40B4-BE49-F238E27FC236}">
                      <a16:creationId xmlns:a16="http://schemas.microsoft.com/office/drawing/2014/main" id="{5687E46C-C12B-4490-95B3-DB241C1B6F9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208" y="3072"/>
                  <a:ext cx="136" cy="136"/>
                </a:xfrm>
                <a:prstGeom prst="ellipse">
                  <a:avLst/>
                </a:prstGeom>
                <a:solidFill>
                  <a:schemeClr val="accent2">
                    <a:lumMod val="20000"/>
                    <a:lumOff val="80000"/>
                    <a:alpha val="80000"/>
                  </a:schemeClr>
                </a:solidFill>
                <a:ln w="12700">
                  <a:solidFill>
                    <a:schemeClr val="tx1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9" name="Line 28">
                  <a:extLst>
                    <a:ext uri="{FF2B5EF4-FFF2-40B4-BE49-F238E27FC236}">
                      <a16:creationId xmlns:a16="http://schemas.microsoft.com/office/drawing/2014/main" id="{7C156DE6-770F-4C59-BFC0-64DD2A5626B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26" y="3096"/>
                  <a:ext cx="96" cy="96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</a:ln>
                <a:effectLst/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0" name="Line 29">
                  <a:extLst>
                    <a:ext uri="{FF2B5EF4-FFF2-40B4-BE49-F238E27FC236}">
                      <a16:creationId xmlns:a16="http://schemas.microsoft.com/office/drawing/2014/main" id="{E9E62DDF-E8A7-4F92-B48B-5934BB6FDB9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226" y="3096"/>
                  <a:ext cx="96" cy="96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</a:ln>
                <a:effectLst/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106" name="Line 31">
                <a:extLst>
                  <a:ext uri="{FF2B5EF4-FFF2-40B4-BE49-F238E27FC236}">
                    <a16:creationId xmlns:a16="http://schemas.microsoft.com/office/drawing/2014/main" id="{E245E37D-A2DC-4594-89AB-D9A3EE1F245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12000" y="5148000"/>
                <a:ext cx="0" cy="144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7" name="Line 32">
                <a:extLst>
                  <a:ext uri="{FF2B5EF4-FFF2-40B4-BE49-F238E27FC236}">
                    <a16:creationId xmlns:a16="http://schemas.microsoft.com/office/drawing/2014/main" id="{16162FD2-AFDF-465A-B303-C2034F84AF0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12000" y="5508000"/>
                <a:ext cx="0" cy="144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98" name="组合 97">
              <a:extLst>
                <a:ext uri="{FF2B5EF4-FFF2-40B4-BE49-F238E27FC236}">
                  <a16:creationId xmlns:a16="http://schemas.microsoft.com/office/drawing/2014/main" id="{BC6C7DBC-B0A4-440C-8591-F29E32FE3FB7}"/>
                </a:ext>
              </a:extLst>
            </p:cNvPr>
            <p:cNvGrpSpPr/>
            <p:nvPr/>
          </p:nvGrpSpPr>
          <p:grpSpPr>
            <a:xfrm>
              <a:off x="3168000" y="5148000"/>
              <a:ext cx="215900" cy="504000"/>
              <a:chOff x="1404000" y="5148000"/>
              <a:chExt cx="215900" cy="504000"/>
            </a:xfrm>
          </p:grpSpPr>
          <p:grpSp>
            <p:nvGrpSpPr>
              <p:cNvPr id="99" name="Group 26">
                <a:extLst>
                  <a:ext uri="{FF2B5EF4-FFF2-40B4-BE49-F238E27FC236}">
                    <a16:creationId xmlns:a16="http://schemas.microsoft.com/office/drawing/2014/main" id="{823EB186-E032-4446-B5E4-B9C209E54288}"/>
                  </a:ext>
                </a:extLst>
              </p:cNvPr>
              <p:cNvGrpSpPr/>
              <p:nvPr/>
            </p:nvGrpSpPr>
            <p:grpSpPr bwMode="auto">
              <a:xfrm>
                <a:off x="1404000" y="5292000"/>
                <a:ext cx="215900" cy="215900"/>
                <a:chOff x="2208" y="3072"/>
                <a:chExt cx="136" cy="136"/>
              </a:xfrm>
            </p:grpSpPr>
            <p:sp>
              <p:nvSpPr>
                <p:cNvPr id="102" name="Oval 27">
                  <a:extLst>
                    <a:ext uri="{FF2B5EF4-FFF2-40B4-BE49-F238E27FC236}">
                      <a16:creationId xmlns:a16="http://schemas.microsoft.com/office/drawing/2014/main" id="{34E38AAE-141E-4669-961A-29833D3C259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208" y="3072"/>
                  <a:ext cx="136" cy="136"/>
                </a:xfrm>
                <a:prstGeom prst="ellipse">
                  <a:avLst/>
                </a:prstGeom>
                <a:solidFill>
                  <a:schemeClr val="accent2">
                    <a:lumMod val="20000"/>
                    <a:lumOff val="80000"/>
                    <a:alpha val="80000"/>
                  </a:schemeClr>
                </a:solidFill>
                <a:ln w="12700">
                  <a:solidFill>
                    <a:schemeClr val="tx1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3" name="Line 28">
                  <a:extLst>
                    <a:ext uri="{FF2B5EF4-FFF2-40B4-BE49-F238E27FC236}">
                      <a16:creationId xmlns:a16="http://schemas.microsoft.com/office/drawing/2014/main" id="{09924955-E116-4CEF-94D3-1867A2EFA12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26" y="3096"/>
                  <a:ext cx="96" cy="96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</a:ln>
                <a:effectLst/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4" name="Line 29">
                  <a:extLst>
                    <a:ext uri="{FF2B5EF4-FFF2-40B4-BE49-F238E27FC236}">
                      <a16:creationId xmlns:a16="http://schemas.microsoft.com/office/drawing/2014/main" id="{880F8192-0E7F-4D1E-B293-E2ED78FD14C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226" y="3096"/>
                  <a:ext cx="96" cy="96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</a:ln>
                <a:effectLst/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100" name="Line 31">
                <a:extLst>
                  <a:ext uri="{FF2B5EF4-FFF2-40B4-BE49-F238E27FC236}">
                    <a16:creationId xmlns:a16="http://schemas.microsoft.com/office/drawing/2014/main" id="{638781CE-0A32-4EAE-B016-1E938535D26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12000" y="5148000"/>
                <a:ext cx="0" cy="144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1" name="Line 32">
                <a:extLst>
                  <a:ext uri="{FF2B5EF4-FFF2-40B4-BE49-F238E27FC236}">
                    <a16:creationId xmlns:a16="http://schemas.microsoft.com/office/drawing/2014/main" id="{CDB2E883-CC53-42AD-9899-09B38607959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12000" y="5508000"/>
                <a:ext cx="0" cy="144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2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522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2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522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26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5226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26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5226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52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3" presetClass="entr" presetSubtype="1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2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3522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0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2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3522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2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3522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2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3522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2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3522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2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3522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2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3522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2270" grpId="0"/>
      <p:bldP spid="82" grpId="0"/>
      <p:bldP spid="76" grpId="0"/>
      <p:bldP spid="78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Box 4"/>
          <p:cNvSpPr txBox="1">
            <a:spLocks noChangeArrowheads="1"/>
          </p:cNvSpPr>
          <p:nvPr/>
        </p:nvSpPr>
        <p:spPr bwMode="auto">
          <a:xfrm>
            <a:off x="179389" y="1196752"/>
            <a:ext cx="4644578" cy="534332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1884680" indent="-1884680" algn="l">
              <a:lnSpc>
                <a:spcPct val="125000"/>
              </a:lnSpc>
            </a:pPr>
            <a:r>
              <a:rPr lang="en-US" altLang="zh-CN" b="1" dirty="0">
                <a:solidFill>
                  <a:srgbClr val="FF3399"/>
                </a:solidFill>
                <a:latin typeface="宋体" panose="02010600030101010101" pitchFamily="2" charset="-122"/>
              </a:rPr>
              <a:t>1</a:t>
            </a:r>
            <a:r>
              <a:rPr lang="zh-CN" altLang="en-US" b="1" dirty="0">
                <a:solidFill>
                  <a:srgbClr val="FF3399"/>
                </a:solidFill>
                <a:latin typeface="宋体" panose="02010600030101010101" pitchFamily="2" charset="-122"/>
              </a:rPr>
              <a:t>、程序中断方式的</a:t>
            </a:r>
            <a:r>
              <a:rPr lang="en-US" altLang="zh-CN" b="1" dirty="0">
                <a:solidFill>
                  <a:srgbClr val="FF3399"/>
                </a:solidFill>
                <a:latin typeface="宋体" panose="02010600030101010101" pitchFamily="2" charset="-122"/>
              </a:rPr>
              <a:t>I/O</a:t>
            </a:r>
            <a:r>
              <a:rPr lang="zh-CN" altLang="en-US" b="1" dirty="0">
                <a:solidFill>
                  <a:srgbClr val="FF3399"/>
                </a:solidFill>
                <a:latin typeface="宋体" panose="02010600030101010101" pitchFamily="2" charset="-122"/>
              </a:rPr>
              <a:t>控制流程</a:t>
            </a:r>
            <a:endParaRPr lang="en-US" altLang="zh-CN" b="1" dirty="0">
              <a:solidFill>
                <a:srgbClr val="FF3399"/>
              </a:solidFill>
              <a:latin typeface="宋体" panose="02010600030101010101" pitchFamily="2" charset="-122"/>
            </a:endParaRPr>
          </a:p>
          <a:p>
            <a:pPr marL="2152650" indent="-2152650" algn="l"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*</a:t>
            </a: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I/O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控制流程：</a:t>
            </a: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marL="2152650" indent="-2152650" algn="l">
              <a:lnSpc>
                <a:spcPct val="125000"/>
              </a:lnSpc>
            </a:pP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marL="2152650" indent="-2152650" algn="l">
              <a:lnSpc>
                <a:spcPct val="125000"/>
              </a:lnSpc>
              <a:spcBef>
                <a:spcPts val="300"/>
              </a:spcBef>
            </a:pP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marL="2152650" indent="-2152650" algn="l">
              <a:lnSpc>
                <a:spcPct val="125000"/>
              </a:lnSpc>
              <a:spcBef>
                <a:spcPts val="300"/>
              </a:spcBef>
            </a:pP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marL="2152650" indent="-2152650" algn="l">
              <a:lnSpc>
                <a:spcPct val="125000"/>
              </a:lnSpc>
              <a:spcBef>
                <a:spcPts val="300"/>
              </a:spcBef>
            </a:pPr>
            <a:endParaRPr lang="en-US" altLang="zh-CN" sz="18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marL="2152650" indent="-2152650" algn="l">
              <a:lnSpc>
                <a:spcPct val="125000"/>
              </a:lnSpc>
              <a:spcBef>
                <a:spcPts val="300"/>
              </a:spcBef>
            </a:pPr>
            <a:endParaRPr lang="en-US" altLang="zh-CN" sz="16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marL="2152650" indent="-2152650" algn="l"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*</a:t>
            </a: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I/O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软件组成：</a:t>
            </a: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marL="2152650" indent="-2152650" algn="l">
              <a:lnSpc>
                <a:spcPct val="125000"/>
              </a:lnSpc>
              <a:spcBef>
                <a:spcPts val="0"/>
              </a:spcBef>
            </a:pP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marL="2152650" indent="-2152650" algn="l">
              <a:lnSpc>
                <a:spcPct val="125000"/>
              </a:lnSpc>
              <a:spcBef>
                <a:spcPts val="0"/>
              </a:spcBef>
            </a:pP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marL="2152650" indent="-2152650" algn="l">
              <a:lnSpc>
                <a:spcPct val="125000"/>
              </a:lnSpc>
              <a:spcBef>
                <a:spcPts val="0"/>
              </a:spcBef>
            </a:pP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marL="2152650" indent="-2152650" algn="l">
              <a:lnSpc>
                <a:spcPct val="125000"/>
              </a:lnSpc>
              <a:spcBef>
                <a:spcPts val="1200"/>
              </a:spcBef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*</a:t>
            </a: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I/O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开销：</a:t>
            </a:r>
            <a:endParaRPr lang="en-US" altLang="zh-CN" sz="2200" b="1" dirty="0">
              <a:latin typeface="宋体" panose="02010600030101010101" pitchFamily="2" charset="-122"/>
            </a:endParaRPr>
          </a:p>
        </p:txBody>
      </p:sp>
      <p:sp>
        <p:nvSpPr>
          <p:cNvPr id="90" name="Text Box 5"/>
          <p:cNvSpPr txBox="1">
            <a:spLocks noChangeArrowheads="1"/>
          </p:cNvSpPr>
          <p:nvPr/>
        </p:nvSpPr>
        <p:spPr bwMode="auto">
          <a:xfrm>
            <a:off x="1763688" y="5949280"/>
            <a:ext cx="4752528" cy="45736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sz="2200" b="1" dirty="0">
                <a:latin typeface="宋体" panose="02010600030101010101" pitchFamily="2" charset="-122"/>
              </a:rPr>
              <a:t>响应中断＋执行中断程序的总时间</a:t>
            </a:r>
            <a:endParaRPr lang="en-US" altLang="zh-CN" sz="2200" b="1" dirty="0">
              <a:latin typeface="宋体" panose="02010600030101010101" pitchFamily="2" charset="-122"/>
            </a:endParaRPr>
          </a:p>
        </p:txBody>
      </p:sp>
      <p:sp>
        <p:nvSpPr>
          <p:cNvPr id="3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05C84-7FF9-4760-82C8-8C6DB5D46440}" type="slidenum">
              <a:rPr lang="en-US" altLang="zh-CN"/>
              <a:t>29</a:t>
            </a:fld>
            <a:endParaRPr lang="en-US" altLang="zh-CN"/>
          </a:p>
        </p:txBody>
      </p:sp>
      <p:sp>
        <p:nvSpPr>
          <p:cNvPr id="7187" name="Text Box 19"/>
          <p:cNvSpPr txBox="1">
            <a:spLocks noChangeArrowheads="1"/>
          </p:cNvSpPr>
          <p:nvPr/>
        </p:nvSpPr>
        <p:spPr bwMode="auto">
          <a:xfrm>
            <a:off x="838200" y="260648"/>
            <a:ext cx="7467600" cy="5232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2800" b="1" dirty="0">
                <a:latin typeface="宋体" panose="02010600030101010101" pitchFamily="2" charset="-122"/>
              </a:rPr>
              <a:t>§7.5  </a:t>
            </a:r>
            <a:r>
              <a:rPr lang="zh-CN" altLang="en-US" sz="2800" b="1" dirty="0">
                <a:latin typeface="宋体" panose="02010600030101010101" pitchFamily="2" charset="-122"/>
              </a:rPr>
              <a:t>程序中断</a:t>
            </a:r>
            <a:r>
              <a:rPr lang="en-US" altLang="zh-CN" sz="2800" b="1" dirty="0">
                <a:latin typeface="宋体" panose="02010600030101010101" pitchFamily="2" charset="-122"/>
              </a:rPr>
              <a:t>I/O</a:t>
            </a:r>
            <a:r>
              <a:rPr lang="zh-CN" altLang="en-US" sz="2800" b="1" dirty="0">
                <a:latin typeface="宋体" panose="02010600030101010101" pitchFamily="2" charset="-122"/>
              </a:rPr>
              <a:t>方式</a:t>
            </a:r>
          </a:p>
        </p:txBody>
      </p:sp>
      <p:sp>
        <p:nvSpPr>
          <p:cNvPr id="56" name="Text Box 4"/>
          <p:cNvSpPr txBox="1">
            <a:spLocks noChangeArrowheads="1"/>
          </p:cNvSpPr>
          <p:nvPr/>
        </p:nvSpPr>
        <p:spPr bwMode="auto">
          <a:xfrm>
            <a:off x="2267744" y="1628800"/>
            <a:ext cx="6768752" cy="297408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tIns="64800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200" b="1" dirty="0">
                <a:latin typeface="宋体" panose="02010600030101010101" pitchFamily="2" charset="-122"/>
              </a:rPr>
              <a:t> </a:t>
            </a:r>
            <a:r>
              <a:rPr lang="en-US" altLang="zh-CN" sz="2200" b="1" dirty="0">
                <a:highlight>
                  <a:srgbClr val="FFFF00"/>
                </a:highlight>
                <a:latin typeface="宋体" panose="02010600030101010101" pitchFamily="2" charset="-122"/>
              </a:rPr>
              <a:t>CPU</a:t>
            </a:r>
            <a:r>
              <a:rPr lang="zh-CN" altLang="en-US" sz="2200" b="1" u="sng" dirty="0">
                <a:solidFill>
                  <a:srgbClr val="FF3399"/>
                </a:solidFill>
                <a:latin typeface="宋体" panose="02010600030101010101" pitchFamily="2" charset="-122"/>
              </a:rPr>
              <a:t>启动</a:t>
            </a:r>
            <a:r>
              <a:rPr lang="zh-CN" altLang="en-US" sz="2200" b="1" dirty="0">
                <a:latin typeface="宋体" panose="02010600030101010101" pitchFamily="2" charset="-122"/>
              </a:rPr>
              <a:t>设备后，</a:t>
            </a:r>
            <a:r>
              <a:rPr lang="zh-CN" altLang="en-US" sz="2200" b="1" dirty="0">
                <a:solidFill>
                  <a:srgbClr val="0070C0"/>
                </a:solidFill>
                <a:latin typeface="宋体" panose="02010600030101010101" pitchFamily="2" charset="-122"/>
              </a:rPr>
              <a:t>继续</a:t>
            </a:r>
            <a:r>
              <a:rPr lang="zh-CN" altLang="en-US" sz="2200" b="1" u="sng" dirty="0">
                <a:solidFill>
                  <a:srgbClr val="FF3399"/>
                </a:solidFill>
                <a:latin typeface="宋体" panose="02010600030101010101" pitchFamily="2" charset="-122"/>
              </a:rPr>
              <a:t>执行</a:t>
            </a:r>
            <a:r>
              <a:rPr lang="zh-CN" altLang="en-US" sz="2200" b="1" dirty="0">
                <a:latin typeface="宋体" panose="02010600030101010101" pitchFamily="2" charset="-122"/>
              </a:rPr>
              <a:t>现行程序；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>
                <a:highlight>
                  <a:srgbClr val="FFCC99"/>
                </a:highlight>
                <a:latin typeface="宋体" panose="02010600030101010101" pitchFamily="2" charset="-122"/>
              </a:rPr>
              <a:t>I/O</a:t>
            </a:r>
            <a:r>
              <a:rPr lang="zh-CN" altLang="en-US" sz="2200" b="1" dirty="0">
                <a:highlight>
                  <a:srgbClr val="FFCC99"/>
                </a:highlight>
                <a:latin typeface="宋体" panose="02010600030101010101" pitchFamily="2" charset="-122"/>
              </a:rPr>
              <a:t>接口</a:t>
            </a:r>
            <a:r>
              <a:rPr lang="zh-CN" altLang="en-US" sz="2200" b="1" dirty="0">
                <a:latin typeface="宋体" panose="02010600030101010101" pitchFamily="2" charset="-122"/>
              </a:rPr>
              <a:t>在设备准备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就绪</a:t>
            </a:r>
            <a:r>
              <a:rPr lang="zh-CN" altLang="en-US" sz="2200" b="1" dirty="0">
                <a:latin typeface="宋体" panose="02010600030101010101" pitchFamily="2" charset="-122"/>
              </a:rPr>
              <a:t>时，向</a:t>
            </a:r>
            <a:r>
              <a:rPr lang="en-US" altLang="zh-CN" sz="2200" b="1" dirty="0">
                <a:latin typeface="宋体" panose="02010600030101010101" pitchFamily="2" charset="-122"/>
              </a:rPr>
              <a:t>CPU</a:t>
            </a:r>
            <a:r>
              <a:rPr lang="zh-CN" altLang="en-US" sz="2200" b="1" u="sng" dirty="0">
                <a:solidFill>
                  <a:srgbClr val="C00000"/>
                </a:solidFill>
                <a:latin typeface="宋体" panose="02010600030101010101" pitchFamily="2" charset="-122"/>
              </a:rPr>
              <a:t>提出</a:t>
            </a:r>
            <a:r>
              <a:rPr lang="zh-CN" altLang="en-US" sz="2200" b="1" dirty="0">
                <a:latin typeface="宋体" panose="02010600030101010101" pitchFamily="2" charset="-122"/>
              </a:rPr>
              <a:t>请求；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>
                <a:highlight>
                  <a:srgbClr val="FFFF00"/>
                </a:highlight>
                <a:latin typeface="宋体" panose="02010600030101010101" pitchFamily="2" charset="-122"/>
              </a:rPr>
              <a:t> CPU</a:t>
            </a:r>
            <a:r>
              <a:rPr lang="zh-CN" altLang="en-US" sz="2200" b="1" u="sng" dirty="0">
                <a:solidFill>
                  <a:srgbClr val="FF3399"/>
                </a:solidFill>
                <a:latin typeface="宋体" panose="02010600030101010101" pitchFamily="2" charset="-122"/>
              </a:rPr>
              <a:t>响应</a:t>
            </a:r>
            <a:r>
              <a:rPr lang="zh-CN" altLang="en-US" sz="2200" b="1" dirty="0">
                <a:latin typeface="宋体" panose="02010600030101010101" pitchFamily="2" charset="-122"/>
              </a:rPr>
              <a:t>请求，</a:t>
            </a:r>
            <a:r>
              <a:rPr lang="zh-CN" altLang="en-US" sz="2200" b="1" u="sng" dirty="0">
                <a:solidFill>
                  <a:srgbClr val="FF3399"/>
                </a:solidFill>
                <a:latin typeface="宋体" panose="02010600030101010101" pitchFamily="2" charset="-122"/>
              </a:rPr>
              <a:t>传送</a:t>
            </a:r>
            <a:r>
              <a:rPr lang="zh-CN" altLang="en-US" sz="2200" b="1" dirty="0">
                <a:latin typeface="宋体" panose="02010600030101010101" pitchFamily="2" charset="-122"/>
              </a:rPr>
              <a:t>数据、</a:t>
            </a:r>
            <a:r>
              <a:rPr lang="zh-CN" altLang="en-US" sz="2200" b="1" u="sng" dirty="0">
                <a:solidFill>
                  <a:srgbClr val="FF3399"/>
                </a:solidFill>
                <a:latin typeface="宋体" panose="02010600030101010101" pitchFamily="2" charset="-122"/>
              </a:rPr>
              <a:t>返回</a:t>
            </a:r>
            <a:r>
              <a:rPr lang="zh-CN" altLang="en-US" sz="2200" b="1" dirty="0">
                <a:latin typeface="宋体" panose="02010600030101010101" pitchFamily="2" charset="-122"/>
              </a:rPr>
              <a:t>现行程序</a:t>
            </a:r>
            <a:endParaRPr lang="zh-CN" altLang="en-US" sz="2200" b="1" u="sng" dirty="0">
              <a:solidFill>
                <a:srgbClr val="FF3399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sz="20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lang="zh-CN" altLang="en-US" sz="2200" b="1" dirty="0">
                <a:latin typeface="宋体" panose="02010600030101010101" pitchFamily="2" charset="-122"/>
              </a:rPr>
              <a:t>主程序</a:t>
            </a:r>
            <a:r>
              <a:rPr lang="en-US" altLang="zh-CN" sz="2200" b="1" dirty="0">
                <a:latin typeface="宋体" panose="02010600030101010101" pitchFamily="2" charset="-122"/>
              </a:rPr>
              <a:t>&amp;</a:t>
            </a:r>
            <a:r>
              <a:rPr lang="zh-CN" altLang="en-US" sz="2200" b="1" dirty="0">
                <a:latin typeface="宋体" panose="02010600030101010101" pitchFamily="2" charset="-122"/>
              </a:rPr>
              <a:t>中断服务程序，</a:t>
            </a:r>
            <a:r>
              <a:rPr lang="zh-CN" altLang="en-US" sz="2200" b="1" u="sng" dirty="0">
                <a:latin typeface="宋体" panose="02010600030101010101" pitchFamily="2" charset="-122"/>
              </a:rPr>
              <a:t>启动</a:t>
            </a:r>
            <a:r>
              <a:rPr lang="en-US" altLang="zh-CN" sz="2200" b="1" u="sng" dirty="0">
                <a:latin typeface="宋体" panose="02010600030101010101" pitchFamily="2" charset="-122"/>
              </a:rPr>
              <a:t>&amp;</a:t>
            </a:r>
            <a:r>
              <a:rPr lang="zh-CN" altLang="en-US" sz="2200" b="1" u="sng" dirty="0">
                <a:latin typeface="宋体" panose="02010600030101010101" pitchFamily="2" charset="-122"/>
              </a:rPr>
              <a:t>传送</a:t>
            </a:r>
            <a:r>
              <a:rPr lang="zh-CN" altLang="en-US" sz="2200" b="1" dirty="0">
                <a:latin typeface="宋体" panose="02010600030101010101" pitchFamily="2" charset="-122"/>
              </a:rPr>
              <a:t>用</a:t>
            </a:r>
            <a:r>
              <a:rPr lang="en-US" altLang="zh-CN" sz="2200" b="1" dirty="0">
                <a:latin typeface="宋体" panose="02010600030101010101" pitchFamily="2" charset="-122"/>
              </a:rPr>
              <a:t>I/O</a:t>
            </a:r>
            <a:r>
              <a:rPr lang="zh-CN" altLang="en-US" sz="2200" b="1" dirty="0">
                <a:latin typeface="宋体" panose="02010600030101010101" pitchFamily="2" charset="-122"/>
              </a:rPr>
              <a:t>指令实现</a:t>
            </a:r>
            <a:endParaRPr lang="en-US" altLang="zh-CN" sz="2200" b="1" dirty="0">
              <a:latin typeface="宋体" panose="02010600030101010101" pitchFamily="2" charset="-122"/>
            </a:endParaRPr>
          </a:p>
        </p:txBody>
      </p:sp>
      <p:sp>
        <p:nvSpPr>
          <p:cNvPr id="69" name="Text Box 526"/>
          <p:cNvSpPr txBox="1">
            <a:spLocks noChangeArrowheads="1"/>
          </p:cNvSpPr>
          <p:nvPr/>
        </p:nvSpPr>
        <p:spPr bwMode="auto">
          <a:xfrm>
            <a:off x="179512" y="764704"/>
            <a:ext cx="8856984" cy="40011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altLang="zh-CN" sz="2000" b="1" dirty="0">
                <a:solidFill>
                  <a:srgbClr val="FF3399"/>
                </a:solidFill>
                <a:latin typeface="+mn-ea"/>
                <a:ea typeface="+mn-ea"/>
              </a:rPr>
              <a:t> ※</a:t>
            </a:r>
            <a:r>
              <a:rPr lang="zh-CN" altLang="en-US" sz="2000" b="1" dirty="0">
                <a:solidFill>
                  <a:srgbClr val="FF3399"/>
                </a:solidFill>
                <a:latin typeface="+mn-ea"/>
                <a:ea typeface="+mn-ea"/>
              </a:rPr>
              <a:t>主要内容：</a:t>
            </a:r>
            <a:r>
              <a:rPr lang="en-US" altLang="zh-CN" sz="2000" b="1" dirty="0">
                <a:latin typeface="+mn-ea"/>
              </a:rPr>
              <a:t>I/O</a:t>
            </a:r>
            <a:r>
              <a:rPr lang="zh-CN" altLang="en-US" sz="2000" b="1" dirty="0">
                <a:latin typeface="+mn-ea"/>
              </a:rPr>
              <a:t>控制流程，中断处理过程，</a:t>
            </a:r>
            <a:r>
              <a:rPr lang="en-US" altLang="zh-CN" sz="2000" b="1" dirty="0">
                <a:latin typeface="+mn-ea"/>
              </a:rPr>
              <a:t>I/O</a:t>
            </a:r>
            <a:r>
              <a:rPr lang="zh-CN" altLang="en-US" sz="2000" b="1" dirty="0">
                <a:latin typeface="+mn-ea"/>
              </a:rPr>
              <a:t>接口组织，中断系统结构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△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2000" b="1" dirty="0">
              <a:latin typeface="+mn-ea"/>
              <a:ea typeface="+mn-ea"/>
            </a:endParaRPr>
          </a:p>
        </p:txBody>
      </p:sp>
      <p:sp>
        <p:nvSpPr>
          <p:cNvPr id="82" name="矩形 81"/>
          <p:cNvSpPr/>
          <p:nvPr/>
        </p:nvSpPr>
        <p:spPr>
          <a:xfrm>
            <a:off x="4788024" y="4653136"/>
            <a:ext cx="3924000" cy="1268306"/>
          </a:xfrm>
          <a:prstGeom prst="rect">
            <a:avLst/>
          </a:prstGeom>
          <a:ln w="12700">
            <a:solidFill>
              <a:schemeClr val="tx1"/>
            </a:solidFill>
            <a:prstDash val="sysDash"/>
          </a:ln>
        </p:spPr>
        <p:txBody>
          <a:bodyPr wrap="square" lIns="54000" tIns="10800" rIns="18000" bIns="1080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altLang="zh-CN" sz="1800" b="1" dirty="0">
                <a:solidFill>
                  <a:srgbClr val="3333CC"/>
                </a:solidFill>
                <a:latin typeface="宋体" panose="02010600030101010101" pitchFamily="2" charset="-122"/>
              </a:rPr>
              <a:t>static void interrupt</a:t>
            </a:r>
            <a:r>
              <a:rPr lang="en-US" altLang="zh-CN" sz="1800" b="1" dirty="0">
                <a:solidFill>
                  <a:srgbClr val="000000"/>
                </a:solidFill>
                <a:latin typeface="宋体" panose="02010600030101010101" pitchFamily="2" charset="-122"/>
              </a:rPr>
              <a:t> </a:t>
            </a:r>
            <a:r>
              <a:rPr lang="en-US" altLang="zh-CN" sz="18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intx</a:t>
            </a:r>
            <a:r>
              <a:rPr lang="en-US" altLang="zh-CN" sz="1800" b="1" dirty="0">
                <a:solidFill>
                  <a:srgbClr val="000000"/>
                </a:solidFill>
                <a:latin typeface="宋体" panose="02010600030101010101" pitchFamily="2" charset="-122"/>
              </a:rPr>
              <a:t>()</a:t>
            </a:r>
          </a:p>
          <a:p>
            <a:pPr algn="l">
              <a:lnSpc>
                <a:spcPct val="90000"/>
              </a:lnSpc>
            </a:pPr>
            <a:r>
              <a:rPr lang="en-US" altLang="zh-CN" sz="1800" b="1" dirty="0">
                <a:solidFill>
                  <a:srgbClr val="000000"/>
                </a:solidFill>
                <a:latin typeface="宋体" panose="02010600030101010101" pitchFamily="2" charset="-122"/>
              </a:rPr>
              <a:t>{  char </a:t>
            </a:r>
            <a:r>
              <a:rPr lang="en-US" altLang="zh-CN" sz="18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ch</a:t>
            </a:r>
            <a:r>
              <a:rPr lang="en-US" altLang="zh-CN" sz="1800" b="1" dirty="0">
                <a:solidFill>
                  <a:srgbClr val="000000"/>
                </a:solidFill>
                <a:latin typeface="宋体" panose="02010600030101010101" pitchFamily="2" charset="-122"/>
              </a:rPr>
              <a:t> = </a:t>
            </a:r>
            <a:r>
              <a:rPr lang="en-US" altLang="zh-CN" sz="1800" b="1" dirty="0" err="1">
                <a:solidFill>
                  <a:srgbClr val="990099"/>
                </a:solidFill>
                <a:latin typeface="宋体" panose="02010600030101010101" pitchFamily="2" charset="-122"/>
              </a:rPr>
              <a:t>inp</a:t>
            </a:r>
            <a:r>
              <a:rPr lang="en-US" altLang="zh-CN" sz="1800" b="1" dirty="0">
                <a:solidFill>
                  <a:srgbClr val="000000"/>
                </a:solidFill>
                <a:latin typeface="宋体" panose="02010600030101010101" pitchFamily="2" charset="-122"/>
              </a:rPr>
              <a:t>(</a:t>
            </a:r>
            <a:r>
              <a:rPr lang="en-US" altLang="zh-CN" sz="18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PA</a:t>
            </a:r>
            <a:r>
              <a:rPr lang="en-US" altLang="zh-CN" sz="1800" b="1" baseline="-18000" dirty="0" err="1">
                <a:solidFill>
                  <a:srgbClr val="000000"/>
                </a:solidFill>
                <a:latin typeface="宋体" panose="02010600030101010101" pitchFamily="2" charset="-122"/>
              </a:rPr>
              <a:t>Data</a:t>
            </a:r>
            <a:r>
              <a:rPr lang="en-US" altLang="zh-CN" sz="1800" b="1" dirty="0">
                <a:solidFill>
                  <a:srgbClr val="000000"/>
                </a:solidFill>
                <a:latin typeface="宋体" panose="02010600030101010101" pitchFamily="2" charset="-122"/>
              </a:rPr>
              <a:t>); //</a:t>
            </a:r>
            <a:r>
              <a:rPr lang="zh-CN" altLang="en-US" sz="1800" b="1" dirty="0">
                <a:solidFill>
                  <a:srgbClr val="000000"/>
                </a:solidFill>
                <a:latin typeface="宋体" panose="02010600030101010101" pitchFamily="2" charset="-122"/>
              </a:rPr>
              <a:t>传送</a:t>
            </a:r>
            <a:endParaRPr lang="en-US" altLang="zh-CN" sz="18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90000"/>
              </a:lnSpc>
            </a:pPr>
            <a:r>
              <a:rPr lang="en-US" altLang="zh-CN" sz="1800" b="1" dirty="0">
                <a:solidFill>
                  <a:srgbClr val="000000"/>
                </a:solidFill>
                <a:latin typeface="宋体" panose="02010600030101010101" pitchFamily="2" charset="-122"/>
              </a:rPr>
              <a:t>   buff[</a:t>
            </a:r>
            <a:r>
              <a:rPr lang="en-US" altLang="zh-CN" sz="18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ndx</a:t>
            </a:r>
            <a:r>
              <a:rPr lang="en-US" altLang="zh-CN" sz="1800" b="1" dirty="0">
                <a:solidFill>
                  <a:srgbClr val="000000"/>
                </a:solidFill>
                <a:latin typeface="宋体" panose="02010600030101010101" pitchFamily="2" charset="-122"/>
              </a:rPr>
              <a:t>++] = </a:t>
            </a:r>
            <a:r>
              <a:rPr lang="en-US" altLang="zh-CN" sz="18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ch</a:t>
            </a:r>
            <a:r>
              <a:rPr lang="en-US" altLang="zh-CN" sz="1800" b="1" dirty="0">
                <a:solidFill>
                  <a:srgbClr val="000000"/>
                </a:solidFill>
                <a:latin typeface="宋体" panose="02010600030101010101" pitchFamily="2" charset="-122"/>
              </a:rPr>
              <a:t>;</a:t>
            </a:r>
          </a:p>
          <a:p>
            <a:pPr algn="l">
              <a:lnSpc>
                <a:spcPct val="90000"/>
              </a:lnSpc>
            </a:pPr>
            <a:r>
              <a:rPr lang="en-US" altLang="zh-CN" sz="1800" b="1" dirty="0">
                <a:solidFill>
                  <a:srgbClr val="000000"/>
                </a:solidFill>
                <a:latin typeface="宋体" panose="02010600030101010101" pitchFamily="2" charset="-122"/>
              </a:rPr>
              <a:t>   if (</a:t>
            </a:r>
            <a:r>
              <a:rPr lang="en-US" altLang="zh-CN" sz="18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ndx</a:t>
            </a:r>
            <a:r>
              <a:rPr lang="en-US" altLang="zh-CN" sz="1800" b="1" dirty="0">
                <a:solidFill>
                  <a:srgbClr val="000000"/>
                </a:solidFill>
                <a:latin typeface="宋体" panose="02010600030101010101" pitchFamily="2" charset="-122"/>
              </a:rPr>
              <a:t>&lt;_MAX) </a:t>
            </a:r>
            <a:r>
              <a:rPr lang="en-US" altLang="zh-CN" sz="1800" b="1" dirty="0" err="1">
                <a:solidFill>
                  <a:srgbClr val="990099"/>
                </a:solidFill>
                <a:latin typeface="宋体" panose="02010600030101010101" pitchFamily="2" charset="-122"/>
              </a:rPr>
              <a:t>outp</a:t>
            </a:r>
            <a:r>
              <a:rPr lang="en-US" altLang="zh-CN" sz="1800" b="1" dirty="0">
                <a:solidFill>
                  <a:srgbClr val="000000"/>
                </a:solidFill>
                <a:latin typeface="宋体" panose="02010600030101010101" pitchFamily="2" charset="-122"/>
              </a:rPr>
              <a:t>(</a:t>
            </a:r>
            <a:r>
              <a:rPr lang="en-US" altLang="zh-CN" sz="18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PA</a:t>
            </a:r>
            <a:r>
              <a:rPr lang="en-US" altLang="zh-CN" sz="1800" b="1" baseline="-18000" dirty="0" err="1">
                <a:solidFill>
                  <a:srgbClr val="000000"/>
                </a:solidFill>
                <a:latin typeface="宋体" panose="02010600030101010101" pitchFamily="2" charset="-122"/>
              </a:rPr>
              <a:t>Ctrl</a:t>
            </a:r>
            <a:r>
              <a:rPr lang="en-US" altLang="zh-CN" sz="18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,RA</a:t>
            </a:r>
            <a:r>
              <a:rPr lang="en-US" altLang="zh-CN" sz="1800" b="1" dirty="0">
                <a:solidFill>
                  <a:srgbClr val="000000"/>
                </a:solidFill>
                <a:latin typeface="宋体" panose="02010600030101010101" pitchFamily="2" charset="-122"/>
              </a:rPr>
              <a:t>);</a:t>
            </a:r>
          </a:p>
          <a:p>
            <a:pPr algn="l">
              <a:lnSpc>
                <a:spcPct val="90000"/>
              </a:lnSpc>
            </a:pPr>
            <a:r>
              <a:rPr lang="en-US" altLang="zh-CN" sz="1800" b="1" dirty="0">
                <a:solidFill>
                  <a:srgbClr val="000000"/>
                </a:solidFill>
                <a:latin typeface="宋体" panose="02010600030101010101" pitchFamily="2" charset="-122"/>
              </a:rPr>
              <a:t>}         </a:t>
            </a:r>
          </a:p>
        </p:txBody>
      </p:sp>
      <p:grpSp>
        <p:nvGrpSpPr>
          <p:cNvPr id="53" name="组合 52">
            <a:extLst>
              <a:ext uri="{FF2B5EF4-FFF2-40B4-BE49-F238E27FC236}">
                <a16:creationId xmlns:a16="http://schemas.microsoft.com/office/drawing/2014/main" id="{D16F5A47-A42B-41C1-89C9-8CFAA86FC73C}"/>
              </a:ext>
            </a:extLst>
          </p:cNvPr>
          <p:cNvGrpSpPr/>
          <p:nvPr/>
        </p:nvGrpSpPr>
        <p:grpSpPr>
          <a:xfrm>
            <a:off x="1907704" y="2924944"/>
            <a:ext cx="6192000" cy="1152000"/>
            <a:chOff x="1224000" y="2988000"/>
            <a:chExt cx="6192000" cy="1152000"/>
          </a:xfrm>
        </p:grpSpPr>
        <p:sp>
          <p:nvSpPr>
            <p:cNvPr id="54" name="Text Box 12">
              <a:extLst>
                <a:ext uri="{FF2B5EF4-FFF2-40B4-BE49-F238E27FC236}">
                  <a16:creationId xmlns:a16="http://schemas.microsoft.com/office/drawing/2014/main" id="{45584E16-40FF-481F-98B9-35E41F94BA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63632" y="3095074"/>
              <a:ext cx="864000" cy="54000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algn="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当前程序</a:t>
              </a:r>
            </a:p>
            <a:p>
              <a:pPr algn="r">
                <a:lnSpc>
                  <a:spcPct val="80000"/>
                </a:lnSpc>
                <a:spcBef>
                  <a:spcPts val="500"/>
                </a:spcBef>
              </a:pPr>
              <a:r>
                <a:rPr lang="zh-CN" altLang="en-US" sz="1600" b="1" dirty="0">
                  <a:latin typeface="宋体" panose="02010600030101010101" pitchFamily="2" charset="-122"/>
                </a:rPr>
                <a:t>中断程序</a:t>
              </a:r>
            </a:p>
          </p:txBody>
        </p:sp>
        <p:sp>
          <p:nvSpPr>
            <p:cNvPr id="55" name="Text Box 19">
              <a:extLst>
                <a:ext uri="{FF2B5EF4-FFF2-40B4-BE49-F238E27FC236}">
                  <a16:creationId xmlns:a16="http://schemas.microsoft.com/office/drawing/2014/main" id="{D16AC6E2-77F8-43A5-B9FC-34DB790277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59632" y="3240000"/>
              <a:ext cx="395288" cy="25200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l"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CPU</a:t>
              </a:r>
            </a:p>
          </p:txBody>
        </p:sp>
        <p:sp>
          <p:nvSpPr>
            <p:cNvPr id="57" name="Rectangle 64">
              <a:extLst>
                <a:ext uri="{FF2B5EF4-FFF2-40B4-BE49-F238E27FC236}">
                  <a16:creationId xmlns:a16="http://schemas.microsoft.com/office/drawing/2014/main" id="{9585CF0D-2D47-448C-BB50-D602A0B649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6000" y="3168099"/>
              <a:ext cx="1620000" cy="144463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8" name="Rectangle 66">
              <a:extLst>
                <a:ext uri="{FF2B5EF4-FFF2-40B4-BE49-F238E27FC236}">
                  <a16:creationId xmlns:a16="http://schemas.microsoft.com/office/drawing/2014/main" id="{9E8B42B1-4655-46B4-842C-9E1CD3E2F6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76000" y="3168099"/>
              <a:ext cx="144463" cy="14446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" name="Line 71">
              <a:extLst>
                <a:ext uri="{FF2B5EF4-FFF2-40B4-BE49-F238E27FC236}">
                  <a16:creationId xmlns:a16="http://schemas.microsoft.com/office/drawing/2014/main" id="{C16A7583-A2F6-472B-A776-44EAA4789F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6000" y="3239536"/>
              <a:ext cx="16200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solid"/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" name="Text Box 85">
              <a:extLst>
                <a:ext uri="{FF2B5EF4-FFF2-40B4-BE49-F238E27FC236}">
                  <a16:creationId xmlns:a16="http://schemas.microsoft.com/office/drawing/2014/main" id="{67A1EBB7-CADD-44E3-8656-BDF57005BB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24000" y="3888000"/>
              <a:ext cx="1692000" cy="25200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l">
                <a:lnSpc>
                  <a:spcPct val="90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中断接口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(</a:t>
              </a:r>
              <a:r>
                <a:rPr lang="zh-CN" altLang="en-US" sz="1800" b="1" dirty="0">
                  <a:latin typeface="宋体" panose="02010600030101010101" pitchFamily="2" charset="-122"/>
                </a:rPr>
                <a:t>设备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)</a:t>
              </a:r>
            </a:p>
          </p:txBody>
        </p:sp>
        <p:sp>
          <p:nvSpPr>
            <p:cNvPr id="61" name="Line 87">
              <a:extLst>
                <a:ext uri="{FF2B5EF4-FFF2-40B4-BE49-F238E27FC236}">
                  <a16:creationId xmlns:a16="http://schemas.microsoft.com/office/drawing/2014/main" id="{B6F2D374-DE51-49F0-A414-D1F8CBBAEB5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348000" y="3312562"/>
              <a:ext cx="0" cy="648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  <a:tailEnd type="arrow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" name="Rectangle 90">
              <a:extLst>
                <a:ext uri="{FF2B5EF4-FFF2-40B4-BE49-F238E27FC236}">
                  <a16:creationId xmlns:a16="http://schemas.microsoft.com/office/drawing/2014/main" id="{E10944B5-AF71-4B52-B3E5-7ADC977DE9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2000" y="3960000"/>
              <a:ext cx="1080000" cy="144462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3" name="左大括号 62">
              <a:extLst>
                <a:ext uri="{FF2B5EF4-FFF2-40B4-BE49-F238E27FC236}">
                  <a16:creationId xmlns:a16="http://schemas.microsoft.com/office/drawing/2014/main" id="{D26DAE0B-4F4D-4C1C-838E-A1CAD562DBBE}"/>
                </a:ext>
              </a:extLst>
            </p:cNvPr>
            <p:cNvSpPr/>
            <p:nvPr/>
          </p:nvSpPr>
          <p:spPr bwMode="auto">
            <a:xfrm>
              <a:off x="1691632" y="3204000"/>
              <a:ext cx="72000" cy="324000"/>
            </a:xfrm>
            <a:prstGeom prst="leftBrace">
              <a:avLst>
                <a:gd name="adj1" fmla="val 23172"/>
                <a:gd name="adj2" fmla="val 50000"/>
              </a:avLst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4" name="Line 71">
              <a:extLst>
                <a:ext uri="{FF2B5EF4-FFF2-40B4-BE49-F238E27FC236}">
                  <a16:creationId xmlns:a16="http://schemas.microsoft.com/office/drawing/2014/main" id="{085D2CF4-B816-4D93-BA88-0CA8E354F7E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000" y="4032000"/>
              <a:ext cx="10800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olid"/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" name="Rectangle 65">
              <a:extLst>
                <a:ext uri="{FF2B5EF4-FFF2-40B4-BE49-F238E27FC236}">
                  <a16:creationId xmlns:a16="http://schemas.microsoft.com/office/drawing/2014/main" id="{E8B3807E-F727-4EE0-AA4F-F145B9E620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4000" y="3456000"/>
              <a:ext cx="648000" cy="142875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" name="Rectangle 67">
              <a:extLst>
                <a:ext uri="{FF2B5EF4-FFF2-40B4-BE49-F238E27FC236}">
                  <a16:creationId xmlns:a16="http://schemas.microsoft.com/office/drawing/2014/main" id="{D95739A5-7ADD-4FA5-AD68-AA760CDE8A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08000" y="3168099"/>
              <a:ext cx="612000" cy="142875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7" name="Rectangle 69">
              <a:extLst>
                <a:ext uri="{FF2B5EF4-FFF2-40B4-BE49-F238E27FC236}">
                  <a16:creationId xmlns:a16="http://schemas.microsoft.com/office/drawing/2014/main" id="{48DA1949-6F69-4953-8D5A-0899AA84A4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60000" y="3456000"/>
              <a:ext cx="146050" cy="14287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" name="Line 70">
              <a:extLst>
                <a:ext uri="{FF2B5EF4-FFF2-40B4-BE49-F238E27FC236}">
                  <a16:creationId xmlns:a16="http://schemas.microsoft.com/office/drawing/2014/main" id="{AA376000-EC35-43EE-A1B1-D0D5AA677D5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55648" y="3239537"/>
              <a:ext cx="288000" cy="28800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prstDash val="sysDash"/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" name="Line 72">
              <a:extLst>
                <a:ext uri="{FF2B5EF4-FFF2-40B4-BE49-F238E27FC236}">
                  <a16:creationId xmlns:a16="http://schemas.microsoft.com/office/drawing/2014/main" id="{787FE93C-EB17-4381-A815-83EA518D00F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292000" y="3240000"/>
              <a:ext cx="216000" cy="288000"/>
            </a:xfrm>
            <a:prstGeom prst="line">
              <a:avLst/>
            </a:prstGeom>
            <a:noFill/>
            <a:ln w="19050">
              <a:solidFill>
                <a:srgbClr val="990099"/>
              </a:solidFill>
              <a:prstDash val="solid"/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" name="Line 75">
              <a:extLst>
                <a:ext uri="{FF2B5EF4-FFF2-40B4-BE49-F238E27FC236}">
                  <a16:creationId xmlns:a16="http://schemas.microsoft.com/office/drawing/2014/main" id="{73D713FA-5DC4-4CB5-A403-BA201768AF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08000" y="3239536"/>
              <a:ext cx="6120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solid"/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" name="Line 92">
              <a:extLst>
                <a:ext uri="{FF2B5EF4-FFF2-40B4-BE49-F238E27FC236}">
                  <a16:creationId xmlns:a16="http://schemas.microsoft.com/office/drawing/2014/main" id="{8ADF5679-F45C-47D6-9898-3B5F346000B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55648" y="3310973"/>
              <a:ext cx="0" cy="648000"/>
            </a:xfrm>
            <a:prstGeom prst="line">
              <a:avLst/>
            </a:prstGeom>
            <a:noFill/>
            <a:ln w="12700">
              <a:solidFill>
                <a:srgbClr val="CC3300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" name="Text Box 100">
              <a:extLst>
                <a:ext uri="{FF2B5EF4-FFF2-40B4-BE49-F238E27FC236}">
                  <a16:creationId xmlns:a16="http://schemas.microsoft.com/office/drawing/2014/main" id="{3FEE4820-E5D5-4C1C-B6B0-B1D1789877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28000" y="2988000"/>
              <a:ext cx="252000" cy="43200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vert="eaVert" lIns="18000" tIns="10800" rIns="18000" bIns="10800" anchor="t" anchorCtr="1"/>
            <a:lstStyle/>
            <a:p>
              <a:pPr algn="l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响应</a:t>
              </a:r>
            </a:p>
          </p:txBody>
        </p:sp>
        <p:sp>
          <p:nvSpPr>
            <p:cNvPr id="74" name="Text Box 101">
              <a:extLst>
                <a:ext uri="{FF2B5EF4-FFF2-40B4-BE49-F238E27FC236}">
                  <a16:creationId xmlns:a16="http://schemas.microsoft.com/office/drawing/2014/main" id="{157E7EB5-8759-4C52-BB11-DEF3886A77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20000" y="2988000"/>
              <a:ext cx="252000" cy="43200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vert="eaVert" lIns="18000" tIns="10800" rIns="18000" bIns="10800" anchor="ctr" anchorCtr="1"/>
            <a:lstStyle/>
            <a:p>
              <a:pPr algn="l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返回</a:t>
              </a:r>
            </a:p>
          </p:txBody>
        </p:sp>
        <p:sp>
          <p:nvSpPr>
            <p:cNvPr id="75" name="Text Box 96">
              <a:extLst>
                <a:ext uri="{FF2B5EF4-FFF2-40B4-BE49-F238E27FC236}">
                  <a16:creationId xmlns:a16="http://schemas.microsoft.com/office/drawing/2014/main" id="{FB1C2C2E-0DE8-446E-83A1-87DF665A1B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87648" y="3456000"/>
              <a:ext cx="468000" cy="43200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vert="horz" lIns="18000" tIns="10800" rIns="18000" bIns="10800" anchor="ctr" anchorCtr="0"/>
            <a:lstStyle/>
            <a:p>
              <a:pPr algn="l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中断</a:t>
              </a:r>
              <a:endParaRPr lang="en-US" altLang="zh-CN" sz="1600" b="1" dirty="0">
                <a:latin typeface="宋体" panose="02010600030101010101" pitchFamily="2" charset="-122"/>
              </a:endParaRPr>
            </a:p>
            <a:p>
              <a:pPr algn="l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请求</a:t>
              </a:r>
            </a:p>
          </p:txBody>
        </p:sp>
        <p:sp>
          <p:nvSpPr>
            <p:cNvPr id="76" name="Line 74">
              <a:extLst>
                <a:ext uri="{FF2B5EF4-FFF2-40B4-BE49-F238E27FC236}">
                  <a16:creationId xmlns:a16="http://schemas.microsoft.com/office/drawing/2014/main" id="{2E55EFCD-1E56-48DF-B8BB-62CD4D5D29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20000" y="3239537"/>
              <a:ext cx="288000" cy="28800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prstDash val="sysDash"/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" name="Rectangle 78">
              <a:extLst>
                <a:ext uri="{FF2B5EF4-FFF2-40B4-BE49-F238E27FC236}">
                  <a16:creationId xmlns:a16="http://schemas.microsoft.com/office/drawing/2014/main" id="{FD72F804-4443-42A1-8338-CE1B940C49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00000" y="3168099"/>
              <a:ext cx="216000" cy="142875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8" name="Line 80">
              <a:extLst>
                <a:ext uri="{FF2B5EF4-FFF2-40B4-BE49-F238E27FC236}">
                  <a16:creationId xmlns:a16="http://schemas.microsoft.com/office/drawing/2014/main" id="{2F660656-980B-4BC1-9C1C-BF6929C0206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984000" y="3239536"/>
              <a:ext cx="216000" cy="288000"/>
            </a:xfrm>
            <a:prstGeom prst="line">
              <a:avLst/>
            </a:prstGeom>
            <a:noFill/>
            <a:ln w="19050">
              <a:solidFill>
                <a:srgbClr val="990099"/>
              </a:solidFill>
              <a:prstDash val="solid"/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" name="Line 82">
              <a:extLst>
                <a:ext uri="{FF2B5EF4-FFF2-40B4-BE49-F238E27FC236}">
                  <a16:creationId xmlns:a16="http://schemas.microsoft.com/office/drawing/2014/main" id="{F310BFC7-58B6-4946-9A99-2650555E65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00000" y="3239536"/>
              <a:ext cx="2160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solid"/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" name="Line 95">
              <a:extLst>
                <a:ext uri="{FF2B5EF4-FFF2-40B4-BE49-F238E27FC236}">
                  <a16:creationId xmlns:a16="http://schemas.microsoft.com/office/drawing/2014/main" id="{5D4511B5-4068-482F-A03D-684D2FC7AD1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120000" y="3310973"/>
              <a:ext cx="0" cy="648000"/>
            </a:xfrm>
            <a:prstGeom prst="line">
              <a:avLst/>
            </a:prstGeom>
            <a:noFill/>
            <a:ln w="12700">
              <a:solidFill>
                <a:srgbClr val="CC3300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" name="Text Box 102">
              <a:extLst>
                <a:ext uri="{FF2B5EF4-FFF2-40B4-BE49-F238E27FC236}">
                  <a16:creationId xmlns:a16="http://schemas.microsoft.com/office/drawing/2014/main" id="{2100BDEE-4E8D-4967-BEEF-A0AD2A306C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92000" y="2988000"/>
              <a:ext cx="252000" cy="43200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vert="eaVert" lIns="18000" tIns="10800" rIns="18000" bIns="10800" anchor="t" anchorCtr="1"/>
            <a:lstStyle/>
            <a:p>
              <a:pPr algn="l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响应</a:t>
              </a:r>
            </a:p>
          </p:txBody>
        </p:sp>
        <p:sp>
          <p:nvSpPr>
            <p:cNvPr id="83" name="Text Box 103">
              <a:extLst>
                <a:ext uri="{FF2B5EF4-FFF2-40B4-BE49-F238E27FC236}">
                  <a16:creationId xmlns:a16="http://schemas.microsoft.com/office/drawing/2014/main" id="{AD238BDD-3158-4384-A305-509670907F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12000" y="2988000"/>
              <a:ext cx="252000" cy="43200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vert="eaVert" lIns="18000" tIns="10800" rIns="18000" bIns="10800" anchor="t" anchorCtr="1"/>
            <a:lstStyle/>
            <a:p>
              <a:pPr algn="l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返回</a:t>
              </a:r>
            </a:p>
          </p:txBody>
        </p:sp>
        <p:sp>
          <p:nvSpPr>
            <p:cNvPr id="84" name="Rectangle 65">
              <a:extLst>
                <a:ext uri="{FF2B5EF4-FFF2-40B4-BE49-F238E27FC236}">
                  <a16:creationId xmlns:a16="http://schemas.microsoft.com/office/drawing/2014/main" id="{C734F092-DA42-4D3D-B466-694D69D763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08000" y="3456000"/>
              <a:ext cx="576000" cy="142875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5" name="Rectangle 69">
              <a:extLst>
                <a:ext uri="{FF2B5EF4-FFF2-40B4-BE49-F238E27FC236}">
                  <a16:creationId xmlns:a16="http://schemas.microsoft.com/office/drawing/2014/main" id="{EBC3522D-F9AA-4C2D-8ED4-1065940EDE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24000" y="3456000"/>
              <a:ext cx="144000" cy="14287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6" name="Line 73">
              <a:extLst>
                <a:ext uri="{FF2B5EF4-FFF2-40B4-BE49-F238E27FC236}">
                  <a16:creationId xmlns:a16="http://schemas.microsoft.com/office/drawing/2014/main" id="{8E32B97C-B86B-45C0-887A-6C07E979D05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408000" y="3528000"/>
              <a:ext cx="576000" cy="1164"/>
            </a:xfrm>
            <a:prstGeom prst="line">
              <a:avLst/>
            </a:prstGeom>
            <a:noFill/>
            <a:ln w="19050">
              <a:solidFill>
                <a:srgbClr val="990099"/>
              </a:solidFill>
              <a:prstDash val="solid"/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E490A631-3723-4B2B-A101-BD50FB8C6B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59648" y="3960000"/>
              <a:ext cx="1296000" cy="144462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8" name="Text Box 88">
              <a:extLst>
                <a:ext uri="{FF2B5EF4-FFF2-40B4-BE49-F238E27FC236}">
                  <a16:creationId xmlns:a16="http://schemas.microsoft.com/office/drawing/2014/main" id="{F5016780-0551-4D1A-92F4-855FF08876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64000" y="3672000"/>
              <a:ext cx="468000" cy="21600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vert="horz" lIns="18000" tIns="10800" rIns="18000" bIns="10800" anchor="ctr" anchorCtr="0"/>
            <a:lstStyle/>
            <a:p>
              <a:pPr algn="l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传送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89" name="Line 89">
              <a:extLst>
                <a:ext uri="{FF2B5EF4-FFF2-40B4-BE49-F238E27FC236}">
                  <a16:creationId xmlns:a16="http://schemas.microsoft.com/office/drawing/2014/main" id="{17F5ADBC-ABA4-4B85-83F4-14859727F5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32000" y="3600000"/>
              <a:ext cx="0" cy="360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  <a:tailEnd type="arrow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" name="Line 71">
              <a:extLst>
                <a:ext uri="{FF2B5EF4-FFF2-40B4-BE49-F238E27FC236}">
                  <a16:creationId xmlns:a16="http://schemas.microsoft.com/office/drawing/2014/main" id="{59CD2464-41DF-4386-88CC-36494623B7C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004000" y="4032000"/>
              <a:ext cx="11520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olid"/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" name="Text Box 96">
              <a:extLst>
                <a:ext uri="{FF2B5EF4-FFF2-40B4-BE49-F238E27FC236}">
                  <a16:creationId xmlns:a16="http://schemas.microsoft.com/office/drawing/2014/main" id="{ACECE900-0433-47AF-A4BB-7886D0F14A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52000" y="3672000"/>
              <a:ext cx="468000" cy="21600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vert="horz" lIns="18000" tIns="10800" rIns="18000" bIns="10800" anchor="ctr" anchorCtr="0"/>
            <a:lstStyle/>
            <a:p>
              <a:pPr algn="l"/>
              <a:r>
                <a:rPr lang="zh-CN" altLang="en-US" sz="1600" b="1" dirty="0">
                  <a:latin typeface="宋体" panose="02010600030101010101" pitchFamily="2" charset="-122"/>
                </a:rPr>
                <a:t>请求</a:t>
              </a:r>
            </a:p>
          </p:txBody>
        </p:sp>
        <p:sp>
          <p:nvSpPr>
            <p:cNvPr id="93" name="Rectangle 97">
              <a:extLst>
                <a:ext uri="{FF2B5EF4-FFF2-40B4-BE49-F238E27FC236}">
                  <a16:creationId xmlns:a16="http://schemas.microsoft.com/office/drawing/2014/main" id="{C43462E8-7C34-49EA-9B99-16F3DAF67D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24000" y="3960000"/>
              <a:ext cx="684000" cy="144461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4" name="Line 99">
              <a:extLst>
                <a:ext uri="{FF2B5EF4-FFF2-40B4-BE49-F238E27FC236}">
                  <a16:creationId xmlns:a16="http://schemas.microsoft.com/office/drawing/2014/main" id="{5BFD5C56-3E3A-4549-B2C5-838EB4A253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696000" y="3600000"/>
              <a:ext cx="0" cy="360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  <a:tailEnd type="arrow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" name="Text Box 88">
              <a:extLst>
                <a:ext uri="{FF2B5EF4-FFF2-40B4-BE49-F238E27FC236}">
                  <a16:creationId xmlns:a16="http://schemas.microsoft.com/office/drawing/2014/main" id="{B97688A7-6192-4300-86C9-D44620E601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28000" y="3672000"/>
              <a:ext cx="468000" cy="21600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vert="horz" lIns="18000" tIns="10800" rIns="18000" bIns="10800" anchor="ctr" anchorCtr="0"/>
            <a:lstStyle/>
            <a:p>
              <a:pPr algn="l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传送</a:t>
              </a:r>
            </a:p>
          </p:txBody>
        </p:sp>
        <p:sp>
          <p:nvSpPr>
            <p:cNvPr id="96" name="Line 89">
              <a:extLst>
                <a:ext uri="{FF2B5EF4-FFF2-40B4-BE49-F238E27FC236}">
                  <a16:creationId xmlns:a16="http://schemas.microsoft.com/office/drawing/2014/main" id="{124A7986-D4FB-45E0-89BB-ED4B015A84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76000" y="3600000"/>
              <a:ext cx="0" cy="360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  <a:tailEnd type="arrow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7" name="Text Box 91">
              <a:extLst>
                <a:ext uri="{FF2B5EF4-FFF2-40B4-BE49-F238E27FC236}">
                  <a16:creationId xmlns:a16="http://schemas.microsoft.com/office/drawing/2014/main" id="{6E06FAC1-5CE4-44D6-A207-BA61CEEBD0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76000" y="3672000"/>
              <a:ext cx="468000" cy="21600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vert="horz" lIns="18000" tIns="10800" rIns="18000" bIns="10800" anchor="ctr" anchorCtr="0"/>
            <a:lstStyle/>
            <a:p>
              <a:pPr algn="l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启动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98" name="Rectangle 69">
              <a:extLst>
                <a:ext uri="{FF2B5EF4-FFF2-40B4-BE49-F238E27FC236}">
                  <a16:creationId xmlns:a16="http://schemas.microsoft.com/office/drawing/2014/main" id="{C637EDD5-6975-4D3A-9BE9-61C023E746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04000" y="3456000"/>
              <a:ext cx="146050" cy="14287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9" name="Line 73">
              <a:extLst>
                <a:ext uri="{FF2B5EF4-FFF2-40B4-BE49-F238E27FC236}">
                  <a16:creationId xmlns:a16="http://schemas.microsoft.com/office/drawing/2014/main" id="{390A022E-2C55-4767-A195-6FCADD23898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644000" y="3528000"/>
              <a:ext cx="648000" cy="0"/>
            </a:xfrm>
            <a:prstGeom prst="line">
              <a:avLst/>
            </a:prstGeom>
            <a:noFill/>
            <a:ln w="19050">
              <a:solidFill>
                <a:srgbClr val="990099"/>
              </a:solidFill>
              <a:prstDash val="solid"/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" name="Line 87">
              <a:extLst>
                <a:ext uri="{FF2B5EF4-FFF2-40B4-BE49-F238E27FC236}">
                  <a16:creationId xmlns:a16="http://schemas.microsoft.com/office/drawing/2014/main" id="{84F33408-8596-42FC-9043-325B685CB06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004000" y="3960000"/>
              <a:ext cx="0" cy="144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none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1" name="Line 87">
              <a:extLst>
                <a:ext uri="{FF2B5EF4-FFF2-40B4-BE49-F238E27FC236}">
                  <a16:creationId xmlns:a16="http://schemas.microsoft.com/office/drawing/2014/main" id="{A1E34A72-407B-4365-8275-4A253D7089D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768000" y="3960000"/>
              <a:ext cx="0" cy="144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none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" name="Text Box 96">
              <a:extLst>
                <a:ext uri="{FF2B5EF4-FFF2-40B4-BE49-F238E27FC236}">
                  <a16:creationId xmlns:a16="http://schemas.microsoft.com/office/drawing/2014/main" id="{AD5DB76E-1FF7-4104-998F-FD49817409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0000" y="3456000"/>
              <a:ext cx="468000" cy="43200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vert="horz" lIns="18000" tIns="10800" rIns="18000" bIns="10800" anchor="ctr" anchorCtr="0"/>
            <a:lstStyle/>
            <a:p>
              <a:pPr algn="l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启动设备</a:t>
              </a:r>
            </a:p>
          </p:txBody>
        </p:sp>
      </p:grpSp>
      <p:sp>
        <p:nvSpPr>
          <p:cNvPr id="103" name="矩形 102">
            <a:extLst>
              <a:ext uri="{FF2B5EF4-FFF2-40B4-BE49-F238E27FC236}">
                <a16:creationId xmlns:a16="http://schemas.microsoft.com/office/drawing/2014/main" id="{01AC0D2B-1394-4A00-9FD6-B3673DA52CB8}"/>
              </a:ext>
            </a:extLst>
          </p:cNvPr>
          <p:cNvSpPr/>
          <p:nvPr/>
        </p:nvSpPr>
        <p:spPr>
          <a:xfrm>
            <a:off x="1295992" y="4653136"/>
            <a:ext cx="3204000" cy="1268306"/>
          </a:xfrm>
          <a:prstGeom prst="rect">
            <a:avLst/>
          </a:prstGeom>
          <a:ln w="12700">
            <a:solidFill>
              <a:schemeClr val="tx1"/>
            </a:solidFill>
            <a:prstDash val="sysDash"/>
          </a:ln>
        </p:spPr>
        <p:txBody>
          <a:bodyPr wrap="square" lIns="54000" tIns="10800" rIns="18000" bIns="1080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altLang="zh-CN" sz="1800" b="1" dirty="0">
                <a:latin typeface="宋体" panose="02010600030101010101" pitchFamily="2" charset="-122"/>
              </a:rPr>
              <a:t>void main</a:t>
            </a:r>
            <a:r>
              <a:rPr lang="en-US" altLang="zh-CN" sz="1800" b="1" dirty="0">
                <a:solidFill>
                  <a:srgbClr val="000000"/>
                </a:solidFill>
                <a:latin typeface="宋体" panose="02010600030101010101" pitchFamily="2" charset="-122"/>
              </a:rPr>
              <a:t>()</a:t>
            </a:r>
          </a:p>
          <a:p>
            <a:pPr algn="l">
              <a:lnSpc>
                <a:spcPct val="90000"/>
              </a:lnSpc>
            </a:pPr>
            <a:r>
              <a:rPr lang="en-US" altLang="zh-CN" sz="1800" b="1" dirty="0">
                <a:solidFill>
                  <a:srgbClr val="000000"/>
                </a:solidFill>
                <a:latin typeface="宋体" panose="02010600030101010101" pitchFamily="2" charset="-122"/>
              </a:rPr>
              <a:t>{  ;</a:t>
            </a:r>
            <a:r>
              <a:rPr lang="zh-CN" altLang="en-US" sz="1800" b="1" dirty="0">
                <a:solidFill>
                  <a:srgbClr val="000000"/>
                </a:solidFill>
                <a:latin typeface="宋体" panose="02010600030101010101" pitchFamily="2" charset="-122"/>
              </a:rPr>
              <a:t>其他功能</a:t>
            </a:r>
            <a:endParaRPr lang="en-US" altLang="zh-CN" sz="18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90000"/>
              </a:lnSpc>
            </a:pPr>
            <a:r>
              <a:rPr lang="en-US" altLang="zh-CN" sz="1800" b="1" dirty="0">
                <a:solidFill>
                  <a:srgbClr val="000000"/>
                </a:solidFill>
                <a:latin typeface="宋体" panose="02010600030101010101" pitchFamily="2" charset="-122"/>
              </a:rPr>
              <a:t>   </a:t>
            </a:r>
            <a:r>
              <a:rPr lang="en-US" altLang="zh-CN" sz="1800" b="1" dirty="0" err="1">
                <a:solidFill>
                  <a:srgbClr val="990099"/>
                </a:solidFill>
                <a:latin typeface="宋体" panose="02010600030101010101" pitchFamily="2" charset="-122"/>
              </a:rPr>
              <a:t>outp</a:t>
            </a:r>
            <a:r>
              <a:rPr lang="en-US" altLang="zh-CN" sz="1800" b="1" dirty="0">
                <a:solidFill>
                  <a:srgbClr val="000000"/>
                </a:solidFill>
                <a:latin typeface="宋体" panose="02010600030101010101" pitchFamily="2" charset="-122"/>
              </a:rPr>
              <a:t>(</a:t>
            </a:r>
            <a:r>
              <a:rPr lang="en-US" altLang="zh-CN" sz="18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PA</a:t>
            </a:r>
            <a:r>
              <a:rPr lang="en-US" altLang="zh-CN" sz="1800" b="1" baseline="-18000" dirty="0" err="1">
                <a:solidFill>
                  <a:srgbClr val="000000"/>
                </a:solidFill>
                <a:latin typeface="宋体" panose="02010600030101010101" pitchFamily="2" charset="-122"/>
              </a:rPr>
              <a:t>Ctrl</a:t>
            </a:r>
            <a:r>
              <a:rPr lang="en-US" altLang="zh-CN" sz="18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,RA</a:t>
            </a:r>
            <a:r>
              <a:rPr lang="en-US" altLang="zh-CN" sz="1800" b="1" dirty="0">
                <a:solidFill>
                  <a:srgbClr val="000000"/>
                </a:solidFill>
                <a:latin typeface="宋体" panose="02010600030101010101" pitchFamily="2" charset="-122"/>
              </a:rPr>
              <a:t>);  //</a:t>
            </a:r>
            <a:r>
              <a:rPr lang="zh-CN" altLang="en-US" sz="1800" b="1" dirty="0">
                <a:solidFill>
                  <a:srgbClr val="000000"/>
                </a:solidFill>
                <a:latin typeface="宋体" panose="02010600030101010101" pitchFamily="2" charset="-122"/>
              </a:rPr>
              <a:t>启动</a:t>
            </a:r>
            <a:endParaRPr lang="en-US" altLang="zh-CN" sz="18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90000"/>
              </a:lnSpc>
            </a:pPr>
            <a:r>
              <a:rPr lang="en-US" altLang="zh-CN" sz="1800" b="1" dirty="0">
                <a:solidFill>
                  <a:srgbClr val="000000"/>
                </a:solidFill>
                <a:latin typeface="宋体" panose="02010600030101010101" pitchFamily="2" charset="-122"/>
              </a:rPr>
              <a:t>   ;</a:t>
            </a:r>
            <a:r>
              <a:rPr lang="zh-CN" altLang="en-US" sz="1800" b="1" dirty="0">
                <a:solidFill>
                  <a:srgbClr val="000000"/>
                </a:solidFill>
                <a:latin typeface="宋体" panose="02010600030101010101" pitchFamily="2" charset="-122"/>
              </a:rPr>
              <a:t>继续其他功能</a:t>
            </a:r>
            <a:endParaRPr lang="en-US" altLang="zh-CN" sz="18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90000"/>
              </a:lnSpc>
            </a:pPr>
            <a:r>
              <a:rPr lang="en-US" altLang="zh-CN" sz="1800" b="1" dirty="0">
                <a:solidFill>
                  <a:srgbClr val="000000"/>
                </a:solidFill>
                <a:latin typeface="宋体" panose="02010600030101010101" pitchFamily="2" charset="-122"/>
              </a:rPr>
              <a:t>}         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90" grpId="0"/>
      <p:bldP spid="82" grpId="0" bldLvl="0" animBg="1"/>
      <p:bldP spid="103" grpId="0" bldLvl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Text Box 4"/>
          <p:cNvSpPr txBox="1">
            <a:spLocks noChangeArrowheads="1"/>
          </p:cNvSpPr>
          <p:nvPr/>
        </p:nvSpPr>
        <p:spPr bwMode="auto">
          <a:xfrm>
            <a:off x="179512" y="332656"/>
            <a:ext cx="7920880" cy="58142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3222625" indent="-3222625" algn="l">
              <a:lnSpc>
                <a:spcPct val="125000"/>
              </a:lnSpc>
            </a:pPr>
            <a:r>
              <a:rPr lang="en-US" altLang="zh-CN" b="1" dirty="0">
                <a:solidFill>
                  <a:srgbClr val="FF3399"/>
                </a:solidFill>
                <a:latin typeface="宋体" panose="02010600030101010101" pitchFamily="2" charset="-122"/>
              </a:rPr>
              <a:t>2</a:t>
            </a:r>
            <a:r>
              <a:rPr lang="zh-CN" altLang="en-US" b="1" dirty="0">
                <a:solidFill>
                  <a:srgbClr val="FF3399"/>
                </a:solidFill>
                <a:latin typeface="宋体" panose="02010600030101010101" pitchFamily="2" charset="-122"/>
              </a:rPr>
              <a:t>、中断的</a:t>
            </a:r>
            <a:r>
              <a:rPr lang="zh-CN" altLang="en-US" b="1" dirty="0">
                <a:solidFill>
                  <a:srgbClr val="FF3399"/>
                </a:solidFill>
                <a:latin typeface="+mn-ea"/>
                <a:ea typeface="+mn-ea"/>
              </a:rPr>
              <a:t>处理过程 </a:t>
            </a:r>
            <a:endParaRPr lang="en-US" altLang="zh-CN" b="1" dirty="0">
              <a:solidFill>
                <a:srgbClr val="FF3399"/>
              </a:solidFill>
              <a:latin typeface="+mn-ea"/>
              <a:ea typeface="+mn-ea"/>
            </a:endParaRPr>
          </a:p>
          <a:p>
            <a:pPr marL="3222625" indent="-3222625" algn="l"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(1)</a:t>
            </a:r>
            <a:r>
              <a:rPr lang="zh-CN" altLang="en-US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中断的类型    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广义的中断概念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</a:p>
          <a:p>
            <a:pPr marL="3222625" indent="-3222625" algn="l"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可屏蔽中断与不可屏蔽中断： 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基于</a:t>
            </a:r>
            <a:r>
              <a:rPr lang="zh-CN" altLang="en-US" sz="18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请求</a:t>
            </a:r>
            <a:r>
              <a:rPr lang="zh-CN" altLang="en-US" sz="1800" b="1" dirty="0">
                <a:latin typeface="宋体" panose="02010600030101010101" pitchFamily="2" charset="-122"/>
              </a:rPr>
              <a:t>的紧急程度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endParaRPr lang="en-US" altLang="zh-CN" sz="20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处理时机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</a:p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返回方式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</a:p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可屏蔽的实现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sz="2200" b="1" dirty="0">
              <a:solidFill>
                <a:srgbClr val="FF3399"/>
              </a:solidFill>
              <a:latin typeface="宋体" panose="02010600030101010101" pitchFamily="2" charset="-122"/>
            </a:endParaRPr>
          </a:p>
          <a:p>
            <a:pPr marL="3222625" indent="-3222625" algn="l">
              <a:lnSpc>
                <a:spcPct val="125000"/>
              </a:lnSpc>
              <a:spcBef>
                <a:spcPts val="300"/>
              </a:spcBef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向量中断与非向量中断：     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基于</a:t>
            </a:r>
            <a:r>
              <a:rPr lang="zh-CN" altLang="en-US" sz="18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响应</a:t>
            </a:r>
            <a:r>
              <a:rPr lang="zh-CN" altLang="en-US" sz="1800" b="1" dirty="0">
                <a:latin typeface="宋体" panose="02010600030101010101" pitchFamily="2" charset="-122"/>
              </a:rPr>
              <a:t>的实现方法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endParaRPr lang="en-US" altLang="zh-CN" sz="20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识别事件类型</a:t>
            </a:r>
            <a:r>
              <a:rPr lang="en-US" altLang="zh-CN" sz="1600" b="1" dirty="0">
                <a:solidFill>
                  <a:schemeClr val="accent2"/>
                </a:solidFill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solidFill>
                  <a:schemeClr val="accent2"/>
                </a:solidFill>
                <a:latin typeface="宋体" panose="02010600030101010101" pitchFamily="2" charset="-122"/>
              </a:rPr>
              <a:t>异常</a:t>
            </a:r>
            <a:r>
              <a:rPr lang="en-US" altLang="zh-CN" sz="1600" b="1" dirty="0">
                <a:solidFill>
                  <a:schemeClr val="accent2"/>
                </a:solidFill>
                <a:latin typeface="宋体" panose="02010600030101010101" pitchFamily="2" charset="-122"/>
              </a:rPr>
              <a:t>/</a:t>
            </a:r>
            <a:r>
              <a:rPr lang="zh-CN" altLang="en-US" sz="1600" b="1" dirty="0">
                <a:solidFill>
                  <a:schemeClr val="accent2"/>
                </a:solidFill>
                <a:latin typeface="宋体" panose="02010600030101010101" pitchFamily="2" charset="-122"/>
              </a:rPr>
              <a:t>中断</a:t>
            </a:r>
            <a:r>
              <a:rPr lang="en-US" altLang="zh-CN" sz="1600" b="1" dirty="0">
                <a:solidFill>
                  <a:schemeClr val="accent2"/>
                </a:solidFill>
                <a:latin typeface="宋体" panose="02010600030101010101" pitchFamily="2" charset="-122"/>
              </a:rPr>
              <a:t>)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方法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获得处理程序入口地址方法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sz="2200" b="1" dirty="0">
              <a:solidFill>
                <a:srgbClr val="FF3399"/>
              </a:solidFill>
              <a:latin typeface="宋体" panose="02010600030101010101" pitchFamily="2" charset="-122"/>
            </a:endParaRPr>
          </a:p>
          <a:p>
            <a:pPr marL="3222625" indent="-3222625" algn="l">
              <a:lnSpc>
                <a:spcPct val="125000"/>
              </a:lnSpc>
              <a:spcBef>
                <a:spcPts val="300"/>
              </a:spcBef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*单重中断与多重中断：       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基于</a:t>
            </a:r>
            <a:r>
              <a:rPr lang="zh-CN" altLang="en-US" sz="18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处理过程</a:t>
            </a:r>
            <a:r>
              <a:rPr lang="zh-CN" altLang="en-US" sz="1800" b="1" dirty="0">
                <a:latin typeface="宋体" panose="02010600030101010101" pitchFamily="2" charset="-122"/>
              </a:rPr>
              <a:t>是否重叠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r>
              <a:rPr lang="en-US" altLang="zh-CN" sz="2000" b="1" dirty="0">
                <a:latin typeface="宋体" panose="02010600030101010101" pitchFamily="2" charset="-122"/>
              </a:rPr>
              <a:t> </a:t>
            </a:r>
          </a:p>
          <a:p>
            <a:pPr marL="3222625" indent="-3222625" algn="l">
              <a:lnSpc>
                <a:spcPct val="105000"/>
              </a:lnSpc>
            </a:pPr>
            <a:endParaRPr lang="en-US" altLang="zh-CN" sz="2200" b="1" dirty="0">
              <a:solidFill>
                <a:srgbClr val="FF3399"/>
              </a:solidFill>
              <a:latin typeface="宋体" panose="02010600030101010101" pitchFamily="2" charset="-122"/>
            </a:endParaRPr>
          </a:p>
          <a:p>
            <a:pPr marL="3222625" indent="-3222625" algn="l">
              <a:lnSpc>
                <a:spcPct val="125000"/>
              </a:lnSpc>
            </a:pPr>
            <a:endParaRPr lang="en-US" altLang="zh-CN" sz="2200" b="1" dirty="0">
              <a:solidFill>
                <a:srgbClr val="FF3399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2100"/>
              </a:spcBef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常见应用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</a:p>
        </p:txBody>
      </p:sp>
      <p:sp>
        <p:nvSpPr>
          <p:cNvPr id="161" name="Text Box 176"/>
          <p:cNvSpPr txBox="1">
            <a:spLocks noChangeArrowheads="1"/>
          </p:cNvSpPr>
          <p:nvPr/>
        </p:nvSpPr>
        <p:spPr bwMode="auto">
          <a:xfrm>
            <a:off x="2158604" y="5661248"/>
            <a:ext cx="6804740" cy="7648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1611630" indent="-1611630" algn="l">
              <a:lnSpc>
                <a:spcPct val="125000"/>
              </a:lnSpc>
            </a:pP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响应时</a:t>
            </a:r>
            <a:r>
              <a:rPr lang="zh-CN" altLang="en-US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为</a:t>
            </a:r>
            <a:r>
              <a:rPr lang="zh-CN" altLang="en-US" sz="2200" b="1" u="sng" dirty="0">
                <a:latin typeface="宋体" panose="02010600030101010101" pitchFamily="2" charset="-122"/>
              </a:rPr>
              <a:t>单重</a:t>
            </a:r>
            <a:r>
              <a:rPr lang="zh-CN" altLang="en-US" sz="2200" b="1" dirty="0">
                <a:latin typeface="宋体" panose="02010600030101010101" pitchFamily="2" charset="-122"/>
              </a:rPr>
              <a:t>方式，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处理时</a:t>
            </a:r>
            <a:r>
              <a:rPr lang="zh-CN" altLang="en-US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可为</a:t>
            </a:r>
            <a:r>
              <a:rPr lang="zh-CN" altLang="en-US" sz="2200" b="1" u="sng" dirty="0">
                <a:latin typeface="宋体" panose="02010600030101010101" pitchFamily="2" charset="-122"/>
              </a:rPr>
              <a:t>多重</a:t>
            </a:r>
            <a:r>
              <a:rPr lang="zh-CN" altLang="en-US" sz="2200" b="1" dirty="0">
                <a:latin typeface="宋体" panose="02010600030101010101" pitchFamily="2" charset="-122"/>
              </a:rPr>
              <a:t>方式   </a:t>
            </a:r>
            <a:r>
              <a:rPr lang="zh-CN" altLang="en-US" sz="1600" b="1" dirty="0">
                <a:latin typeface="宋体" panose="02010600030101010101" pitchFamily="2" charset="-122"/>
              </a:rPr>
              <a:t>←针对</a:t>
            </a:r>
            <a:r>
              <a:rPr lang="en-US" altLang="zh-CN" sz="1600" b="1" dirty="0">
                <a:latin typeface="宋体" panose="02010600030101010101" pitchFamily="2" charset="-122"/>
              </a:rPr>
              <a:t>INTR</a:t>
            </a:r>
            <a:endParaRPr lang="en-US" altLang="zh-CN" sz="1800" b="1" dirty="0">
              <a:latin typeface="宋体" panose="02010600030101010101" pitchFamily="2" charset="-122"/>
            </a:endParaRPr>
          </a:p>
          <a:p>
            <a:pPr marL="1611630" indent="-1611630" algn="l">
              <a:lnSpc>
                <a:spcPct val="90000"/>
              </a:lnSpc>
            </a:pPr>
            <a:r>
              <a:rPr lang="en-US" altLang="zh-CN" sz="1600" b="1" dirty="0">
                <a:latin typeface="宋体" panose="02010600030101010101" pitchFamily="2" charset="-122"/>
              </a:rPr>
              <a:t>         </a:t>
            </a:r>
            <a:r>
              <a:rPr lang="en-US" altLang="zh-CN" sz="1600" dirty="0">
                <a:latin typeface="宋体" panose="02010600030101010101" pitchFamily="2" charset="-122"/>
              </a:rPr>
              <a:t>└</a:t>
            </a:r>
            <a:r>
              <a:rPr lang="en-US" altLang="zh-CN" sz="1600" b="1" dirty="0">
                <a:latin typeface="宋体" panose="02010600030101010101" pitchFamily="2" charset="-122"/>
              </a:rPr>
              <a:t>←</a:t>
            </a:r>
            <a:r>
              <a:rPr lang="zh-CN" altLang="en-US" sz="1600" b="1" dirty="0">
                <a:latin typeface="宋体" panose="02010600030101010101" pitchFamily="2" charset="-122"/>
              </a:rPr>
              <a:t>硬件使</a:t>
            </a:r>
            <a:r>
              <a:rPr lang="en-US" altLang="zh-CN" sz="1600" b="1" dirty="0">
                <a:latin typeface="宋体" panose="02010600030101010101" pitchFamily="2" charset="-122"/>
              </a:rPr>
              <a:t>IF</a:t>
            </a:r>
            <a:r>
              <a:rPr lang="zh-CN" altLang="en-US" sz="1600" b="1" dirty="0">
                <a:latin typeface="宋体" panose="02010600030101010101" pitchFamily="2" charset="-122"/>
              </a:rPr>
              <a:t>←</a:t>
            </a:r>
            <a:r>
              <a:rPr lang="en-US" altLang="zh-CN" sz="1600" b="1" dirty="0">
                <a:latin typeface="宋体" panose="02010600030101010101" pitchFamily="2" charset="-122"/>
              </a:rPr>
              <a:t>0           </a:t>
            </a:r>
            <a:r>
              <a:rPr lang="en-US" altLang="zh-CN" sz="1600" dirty="0">
                <a:latin typeface="宋体" panose="02010600030101010101" pitchFamily="2" charset="-122"/>
              </a:rPr>
              <a:t>└</a:t>
            </a:r>
            <a:r>
              <a:rPr lang="en-US" altLang="zh-CN" sz="1600" b="1" dirty="0">
                <a:latin typeface="宋体" panose="02010600030101010101" pitchFamily="2" charset="-122"/>
              </a:rPr>
              <a:t>←</a:t>
            </a:r>
            <a:r>
              <a:rPr lang="zh-CN" altLang="en-US" sz="1600" b="1" dirty="0">
                <a:latin typeface="宋体" panose="02010600030101010101" pitchFamily="2" charset="-122"/>
              </a:rPr>
              <a:t>服务程序中可使</a:t>
            </a:r>
            <a:r>
              <a:rPr lang="en-US" altLang="zh-CN" sz="1600" b="1" dirty="0">
                <a:latin typeface="宋体" panose="02010600030101010101" pitchFamily="2" charset="-122"/>
              </a:rPr>
              <a:t>IF</a:t>
            </a:r>
            <a:r>
              <a:rPr lang="zh-CN" altLang="en-US" sz="1600" b="1" dirty="0">
                <a:latin typeface="宋体" panose="02010600030101010101" pitchFamily="2" charset="-122"/>
              </a:rPr>
              <a:t>←</a:t>
            </a:r>
            <a:r>
              <a:rPr lang="en-US" altLang="zh-CN" sz="1600" b="1" dirty="0">
                <a:latin typeface="宋体" panose="02010600030101010101" pitchFamily="2" charset="-122"/>
              </a:rPr>
              <a:t>1</a:t>
            </a:r>
            <a:endParaRPr lang="zh-CN" altLang="en-US" sz="1600" b="1" dirty="0">
              <a:solidFill>
                <a:srgbClr val="990099"/>
              </a:solidFill>
              <a:latin typeface="宋体" panose="02010600030101010101" pitchFamily="2" charset="-122"/>
            </a:endParaRPr>
          </a:p>
        </p:txBody>
      </p:sp>
      <p:sp>
        <p:nvSpPr>
          <p:cNvPr id="111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597D1-EB9C-4983-85E8-0CD28432B761}" type="slidenum">
              <a:rPr lang="en-US" altLang="zh-CN"/>
              <a:t>30</a:t>
            </a:fld>
            <a:endParaRPr lang="en-US" altLang="zh-CN"/>
          </a:p>
        </p:txBody>
      </p:sp>
      <p:sp>
        <p:nvSpPr>
          <p:cNvPr id="121" name="Text Box 82"/>
          <p:cNvSpPr txBox="1">
            <a:spLocks noChangeArrowheads="1"/>
          </p:cNvSpPr>
          <p:nvPr/>
        </p:nvSpPr>
        <p:spPr bwMode="auto">
          <a:xfrm>
            <a:off x="2159732" y="1628800"/>
            <a:ext cx="6804740" cy="130375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200" b="1" dirty="0">
                <a:latin typeface="宋体" panose="02010600030101010101" pitchFamily="2" charset="-122"/>
              </a:rPr>
              <a:t>(</a:t>
            </a:r>
            <a:r>
              <a:rPr lang="zh-CN" altLang="en-US" sz="2200" b="1" dirty="0">
                <a:latin typeface="宋体" panose="02010600030101010101" pitchFamily="2" charset="-122"/>
              </a:rPr>
              <a:t>当前</a:t>
            </a:r>
            <a:r>
              <a:rPr lang="en-US" altLang="zh-CN" sz="2200" b="1" dirty="0">
                <a:latin typeface="宋体" panose="02010600030101010101" pitchFamily="2" charset="-122"/>
              </a:rPr>
              <a:t>/</a:t>
            </a:r>
            <a:r>
              <a:rPr lang="zh-CN" altLang="en-US" sz="2200" b="1" dirty="0">
                <a:latin typeface="宋体" panose="02010600030101010101" pitchFamily="2" charset="-122"/>
              </a:rPr>
              <a:t>多个</a:t>
            </a:r>
            <a:r>
              <a:rPr lang="zh-CN" altLang="en-US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、</a:t>
            </a:r>
            <a:r>
              <a:rPr lang="zh-CN" altLang="en-US" sz="2200" b="1" dirty="0">
                <a:latin typeface="宋体" panose="02010600030101010101" pitchFamily="2" charset="-122"/>
              </a:rPr>
              <a:t>当前</a:t>
            </a:r>
            <a:r>
              <a:rPr lang="en-US" altLang="zh-CN" sz="2200" b="1" dirty="0">
                <a:latin typeface="宋体" panose="02010600030101010101" pitchFamily="2" charset="-122"/>
              </a:rPr>
              <a:t>)</a:t>
            </a:r>
            <a:r>
              <a:rPr lang="zh-CN" altLang="en-US" sz="2200" b="1" u="sng" dirty="0">
                <a:latin typeface="宋体" panose="02010600030101010101" pitchFamily="2" charset="-122"/>
              </a:rPr>
              <a:t>指令周期结束</a:t>
            </a:r>
            <a:r>
              <a:rPr lang="zh-CN" altLang="en-US" sz="2200" b="1" dirty="0">
                <a:latin typeface="宋体" panose="02010600030101010101" pitchFamily="2" charset="-122"/>
              </a:rPr>
              <a:t>时  </a:t>
            </a:r>
            <a:r>
              <a:rPr lang="zh-CN" altLang="en-US" sz="1600" b="1" dirty="0">
                <a:latin typeface="宋体" panose="02010600030101010101" pitchFamily="2" charset="-122"/>
              </a:rPr>
              <a:t>←易实现</a:t>
            </a:r>
            <a:r>
              <a:rPr lang="en-US" altLang="zh-CN" sz="1600" b="1" dirty="0">
                <a:latin typeface="宋体" panose="02010600030101010101" pitchFamily="2" charset="-122"/>
              </a:rPr>
              <a:t>+</a:t>
            </a:r>
            <a:r>
              <a:rPr lang="zh-CN" altLang="en-US" sz="1600" b="1" dirty="0">
                <a:latin typeface="宋体" panose="02010600030101010101" pitchFamily="2" charset="-122"/>
              </a:rPr>
              <a:t>不影响速度</a:t>
            </a:r>
            <a:endParaRPr lang="en-US" altLang="zh-CN" sz="16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均为</a:t>
            </a:r>
            <a:r>
              <a:rPr lang="zh-CN" altLang="en-US" sz="2200" b="1" dirty="0">
                <a:latin typeface="宋体" panose="02010600030101010101" pitchFamily="2" charset="-122"/>
              </a:rPr>
              <a:t>下条指令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>
                <a:latin typeface="宋体" panose="02010600030101010101" pitchFamily="2" charset="-122"/>
              </a:rPr>
              <a:t>    PSR</a:t>
            </a:r>
            <a:r>
              <a:rPr lang="zh-CN" altLang="en-US" sz="2200" b="1" dirty="0">
                <a:latin typeface="宋体" panose="02010600030101010101" pitchFamily="2" charset="-122"/>
              </a:rPr>
              <a:t>含</a:t>
            </a:r>
            <a:r>
              <a:rPr lang="en-US" altLang="zh-CN" sz="2200" b="1" dirty="0">
                <a:latin typeface="宋体" panose="02010600030101010101" pitchFamily="2" charset="-122"/>
              </a:rPr>
              <a:t>IF</a:t>
            </a:r>
            <a:r>
              <a:rPr lang="zh-CN" altLang="en-US" sz="2200" b="1" dirty="0">
                <a:latin typeface="宋体" panose="02010600030101010101" pitchFamily="2" charset="-122"/>
              </a:rPr>
              <a:t>位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允许</a:t>
            </a:r>
            <a:r>
              <a:rPr lang="en-US" altLang="zh-CN" sz="1800" b="1" dirty="0">
                <a:latin typeface="宋体" panose="02010600030101010101" pitchFamily="2" charset="-122"/>
              </a:rPr>
              <a:t>/</a:t>
            </a:r>
            <a:r>
              <a:rPr lang="zh-CN" altLang="en-US" sz="1800" b="1" dirty="0">
                <a:latin typeface="宋体" panose="02010600030101010101" pitchFamily="2" charset="-122"/>
              </a:rPr>
              <a:t>屏蔽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r>
              <a:rPr lang="zh-CN" altLang="en-US" sz="2200" b="1" dirty="0">
                <a:latin typeface="宋体" panose="02010600030101010101" pitchFamily="2" charset="-122"/>
              </a:rPr>
              <a:t>，软件可控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用开</a:t>
            </a:r>
            <a:r>
              <a:rPr lang="en-US" altLang="zh-CN" sz="1800" b="1" dirty="0">
                <a:latin typeface="宋体" panose="02010600030101010101" pitchFamily="2" charset="-122"/>
              </a:rPr>
              <a:t>/</a:t>
            </a:r>
            <a:r>
              <a:rPr lang="zh-CN" altLang="en-US" sz="1800" b="1" dirty="0">
                <a:latin typeface="宋体" panose="02010600030101010101" pitchFamily="2" charset="-122"/>
              </a:rPr>
              <a:t>关中断指令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endParaRPr lang="en-US" altLang="zh-CN" sz="2200" b="1" dirty="0">
              <a:latin typeface="宋体" panose="02010600030101010101" pitchFamily="2" charset="-122"/>
            </a:endParaRPr>
          </a:p>
        </p:txBody>
      </p:sp>
      <p:sp>
        <p:nvSpPr>
          <p:cNvPr id="166" name="AutoShape 186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2988000" y="6523558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9" name="线形标注 2 48"/>
          <p:cNvSpPr/>
          <p:nvPr/>
        </p:nvSpPr>
        <p:spPr bwMode="auto">
          <a:xfrm>
            <a:off x="5724360" y="1016760"/>
            <a:ext cx="2088000" cy="252000"/>
          </a:xfrm>
          <a:prstGeom prst="borderCallout2">
            <a:avLst>
              <a:gd name="adj1" fmla="val 51026"/>
              <a:gd name="adj2" fmla="val -152"/>
              <a:gd name="adj3" fmla="val 49329"/>
              <a:gd name="adj4" fmla="val -12014"/>
              <a:gd name="adj5" fmla="val 137310"/>
              <a:gd name="adj6" fmla="val -21605"/>
            </a:avLst>
          </a:prstGeom>
          <a:noFill/>
          <a:ln w="12700" cap="flat" cmpd="sng" algn="ctr">
            <a:solidFill>
              <a:srgbClr val="0070C0"/>
            </a:solidFill>
            <a:prstDash val="sysDash"/>
            <a:round/>
            <a:headEnd type="none" w="med" len="med"/>
            <a:tailEnd type="arrow" w="sm" len="sm"/>
          </a:ln>
          <a:effectLst/>
        </p:spPr>
        <p:txBody>
          <a:bodyPr vert="horz" wrap="square" lIns="36000" tIns="18000" rIns="36000" bIns="18000" numCol="1" rtlCol="0" anchor="t" anchorCtr="0" compatLnSpc="1"/>
          <a:lstStyle/>
          <a:p>
            <a:pPr>
              <a:lnSpc>
                <a:spcPct val="90000"/>
              </a:lnSpc>
            </a:pPr>
            <a:r>
              <a:rPr lang="en-US" altLang="zh-CN" sz="1600" b="1" dirty="0">
                <a:latin typeface="+mn-ea"/>
                <a:ea typeface="+mn-ea"/>
              </a:rPr>
              <a:t>I/O</a:t>
            </a:r>
            <a:r>
              <a:rPr lang="zh-CN" altLang="en-US" sz="1600" b="1" dirty="0">
                <a:latin typeface="+mn-ea"/>
                <a:ea typeface="+mn-ea"/>
              </a:rPr>
              <a:t>中断∈可屏蔽中断</a:t>
            </a:r>
          </a:p>
        </p:txBody>
      </p:sp>
      <p:sp>
        <p:nvSpPr>
          <p:cNvPr id="54" name="Text Box 82"/>
          <p:cNvSpPr txBox="1">
            <a:spLocks noChangeArrowheads="1"/>
          </p:cNvSpPr>
          <p:nvPr/>
        </p:nvSpPr>
        <p:spPr bwMode="auto">
          <a:xfrm>
            <a:off x="4427984" y="3356992"/>
            <a:ext cx="3671143" cy="8805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sz="2200" b="1" spc="-50" dirty="0">
                <a:latin typeface="宋体" panose="02010600030101010101" pitchFamily="2" charset="-122"/>
              </a:rPr>
              <a:t>硬件判优</a:t>
            </a:r>
            <a:r>
              <a:rPr lang="zh-CN" altLang="en-US" sz="2200" b="1" spc="-50" dirty="0">
                <a:solidFill>
                  <a:srgbClr val="FF3399"/>
                </a:solidFill>
                <a:latin typeface="宋体" panose="02010600030101010101" pitchFamily="2" charset="-122"/>
              </a:rPr>
              <a:t>、 </a:t>
            </a:r>
            <a:r>
              <a:rPr lang="zh-CN" altLang="en-US" sz="2200" b="1" spc="-50" dirty="0">
                <a:latin typeface="宋体" panose="02010600030101010101" pitchFamily="2" charset="-122"/>
              </a:rPr>
              <a:t>软件查询</a:t>
            </a:r>
            <a:endParaRPr lang="en-US" altLang="zh-CN" sz="2200" b="1" spc="-50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sz="2200" b="1" spc="-50" dirty="0">
                <a:latin typeface="宋体" panose="02010600030101010101" pitchFamily="2" charset="-122"/>
              </a:rPr>
              <a:t>硬件查</a:t>
            </a:r>
            <a:r>
              <a:rPr lang="en-US" altLang="zh-CN" sz="2200" b="1" spc="-50" dirty="0">
                <a:latin typeface="宋体" panose="02010600030101010101" pitchFamily="2" charset="-122"/>
              </a:rPr>
              <a:t>IVT</a:t>
            </a:r>
            <a:r>
              <a:rPr lang="zh-CN" altLang="en-US" sz="2200" b="1" spc="-50" dirty="0">
                <a:solidFill>
                  <a:srgbClr val="FF3399"/>
                </a:solidFill>
                <a:latin typeface="宋体" panose="02010600030101010101" pitchFamily="2" charset="-122"/>
              </a:rPr>
              <a:t>、</a:t>
            </a:r>
            <a:r>
              <a:rPr lang="zh-CN" altLang="en-US" sz="2200" b="1" spc="-50" dirty="0">
                <a:latin typeface="宋体" panose="02010600030101010101" pitchFamily="2" charset="-122"/>
              </a:rPr>
              <a:t>软件调用子程序</a:t>
            </a:r>
            <a:endParaRPr lang="en-US" altLang="zh-CN" sz="2200" b="1" spc="-50" dirty="0">
              <a:solidFill>
                <a:schemeClr val="accent2"/>
              </a:solidFill>
              <a:latin typeface="宋体" panose="02010600030101010101" pitchFamily="2" charset="-122"/>
            </a:endParaRPr>
          </a:p>
        </p:txBody>
      </p:sp>
      <p:sp>
        <p:nvSpPr>
          <p:cNvPr id="55" name="AutoShape 62">
            <a:hlinkClick r:id="rId3" action="ppaction://hlinkpres?slideindex=72&amp;slidetitle=PowerPoint 演示文稿"/>
          </p:cNvPr>
          <p:cNvSpPr>
            <a:spLocks noChangeArrowheads="1"/>
          </p:cNvSpPr>
          <p:nvPr/>
        </p:nvSpPr>
        <p:spPr bwMode="auto">
          <a:xfrm>
            <a:off x="8172400" y="1340768"/>
            <a:ext cx="523466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horz" wrap="none" lIns="0" tIns="0" rIns="0" bIns="0" anchor="ctr"/>
          <a:lstStyle/>
          <a:p>
            <a:pPr algn="ctr"/>
            <a:r>
              <a:rPr lang="en-US" altLang="zh-CN" sz="1600" dirty="0">
                <a:solidFill>
                  <a:schemeClr val="bg2"/>
                </a:solidFill>
                <a:latin typeface="+mn-ea"/>
                <a:ea typeface="+mn-ea"/>
              </a:rPr>
              <a:t>5-72</a:t>
            </a:r>
            <a:endParaRPr lang="zh-CN" altLang="en-US" sz="1600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56" name="AutoShape 62">
            <a:hlinkClick r:id="rId4" action="ppaction://hlinkpres?slideindex=76&amp;slidetitle=PowerPoint 演示文稿"/>
          </p:cNvPr>
          <p:cNvSpPr>
            <a:spLocks noChangeArrowheads="1"/>
          </p:cNvSpPr>
          <p:nvPr/>
        </p:nvSpPr>
        <p:spPr bwMode="auto">
          <a:xfrm>
            <a:off x="8172400" y="2996952"/>
            <a:ext cx="519932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horz" wrap="none" lIns="0" tIns="0" rIns="0" bIns="0" anchor="ctr"/>
          <a:lstStyle/>
          <a:p>
            <a:pPr algn="ctr"/>
            <a:r>
              <a:rPr lang="en-US" altLang="zh-CN" sz="1600" dirty="0">
                <a:solidFill>
                  <a:schemeClr val="bg2"/>
                </a:solidFill>
                <a:latin typeface="+mn-ea"/>
                <a:ea typeface="+mn-ea"/>
              </a:rPr>
              <a:t>5-75</a:t>
            </a:r>
            <a:endParaRPr lang="zh-CN" altLang="en-US" sz="1600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grpSp>
        <p:nvGrpSpPr>
          <p:cNvPr id="47" name="组合 46"/>
          <p:cNvGrpSpPr/>
          <p:nvPr/>
        </p:nvGrpSpPr>
        <p:grpSpPr>
          <a:xfrm>
            <a:off x="792392" y="4726800"/>
            <a:ext cx="4139648" cy="864000"/>
            <a:chOff x="468000" y="4283712"/>
            <a:chExt cx="4139648" cy="864000"/>
          </a:xfrm>
        </p:grpSpPr>
        <p:sp>
          <p:nvSpPr>
            <p:cNvPr id="50" name="Text Box 79"/>
            <p:cNvSpPr txBox="1">
              <a:spLocks noChangeArrowheads="1"/>
            </p:cNvSpPr>
            <p:nvPr/>
          </p:nvSpPr>
          <p:spPr bwMode="auto">
            <a:xfrm>
              <a:off x="1403647" y="4283712"/>
              <a:ext cx="2628305" cy="287224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algn="l"/>
              <a:r>
                <a:rPr lang="zh-CN" altLang="en-US" sz="1600" b="1" dirty="0">
                  <a:latin typeface="宋体" panose="02010600030101010101" pitchFamily="2" charset="-122"/>
                </a:rPr>
                <a:t>请求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A  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请求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B(B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比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A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更紧急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)</a:t>
              </a:r>
            </a:p>
          </p:txBody>
        </p:sp>
        <p:sp>
          <p:nvSpPr>
            <p:cNvPr id="51" name="Line 67"/>
            <p:cNvSpPr>
              <a:spLocks noChangeShapeType="1"/>
            </p:cNvSpPr>
            <p:nvPr/>
          </p:nvSpPr>
          <p:spPr bwMode="auto">
            <a:xfrm flipV="1">
              <a:off x="1403648" y="5074472"/>
              <a:ext cx="28803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" name="Line 68"/>
            <p:cNvSpPr>
              <a:spLocks noChangeShapeType="1"/>
            </p:cNvSpPr>
            <p:nvPr/>
          </p:nvSpPr>
          <p:spPr bwMode="auto">
            <a:xfrm>
              <a:off x="4320000" y="5074472"/>
              <a:ext cx="28733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" name="Line 70"/>
            <p:cNvSpPr>
              <a:spLocks noChangeShapeType="1"/>
            </p:cNvSpPr>
            <p:nvPr/>
          </p:nvSpPr>
          <p:spPr bwMode="auto">
            <a:xfrm>
              <a:off x="2988000" y="4788000"/>
              <a:ext cx="144016" cy="288000"/>
            </a:xfrm>
            <a:prstGeom prst="line">
              <a:avLst/>
            </a:prstGeom>
            <a:noFill/>
            <a:ln w="19050">
              <a:solidFill>
                <a:srgbClr val="9900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" name="Line 72"/>
            <p:cNvSpPr>
              <a:spLocks noChangeShapeType="1"/>
            </p:cNvSpPr>
            <p:nvPr/>
          </p:nvSpPr>
          <p:spPr bwMode="auto">
            <a:xfrm flipV="1">
              <a:off x="3276000" y="4788000"/>
              <a:ext cx="900000" cy="0"/>
            </a:xfrm>
            <a:prstGeom prst="line">
              <a:avLst/>
            </a:prstGeom>
            <a:noFill/>
            <a:ln w="19050">
              <a:solidFill>
                <a:srgbClr val="9900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" name="Text Box 75"/>
            <p:cNvSpPr txBox="1">
              <a:spLocks noChangeArrowheads="1"/>
            </p:cNvSpPr>
            <p:nvPr/>
          </p:nvSpPr>
          <p:spPr bwMode="auto">
            <a:xfrm>
              <a:off x="3240000" y="4825664"/>
              <a:ext cx="972000" cy="21600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中断程序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B</a:t>
              </a:r>
            </a:p>
          </p:txBody>
        </p:sp>
        <p:sp>
          <p:nvSpPr>
            <p:cNvPr id="60" name="Line 77"/>
            <p:cNvSpPr>
              <a:spLocks noChangeShapeType="1"/>
            </p:cNvSpPr>
            <p:nvPr/>
          </p:nvSpPr>
          <p:spPr bwMode="auto">
            <a:xfrm>
              <a:off x="1619672" y="4535712"/>
              <a:ext cx="0" cy="504000"/>
            </a:xfrm>
            <a:prstGeom prst="line">
              <a:avLst/>
            </a:prstGeom>
            <a:noFill/>
            <a:ln w="12700">
              <a:solidFill>
                <a:srgbClr val="CC3300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" name="Line 80"/>
            <p:cNvSpPr>
              <a:spLocks noChangeShapeType="1"/>
            </p:cNvSpPr>
            <p:nvPr/>
          </p:nvSpPr>
          <p:spPr bwMode="auto">
            <a:xfrm>
              <a:off x="1403648" y="5147288"/>
              <a:ext cx="3204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" name="Line 110"/>
            <p:cNvSpPr>
              <a:spLocks noChangeShapeType="1"/>
            </p:cNvSpPr>
            <p:nvPr/>
          </p:nvSpPr>
          <p:spPr bwMode="auto">
            <a:xfrm flipV="1">
              <a:off x="3132000" y="4788000"/>
              <a:ext cx="144016" cy="28800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prstDash val="sysDash"/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" name="Line 111"/>
            <p:cNvSpPr>
              <a:spLocks noChangeShapeType="1"/>
            </p:cNvSpPr>
            <p:nvPr/>
          </p:nvSpPr>
          <p:spPr bwMode="auto">
            <a:xfrm>
              <a:off x="4176000" y="4788000"/>
              <a:ext cx="144016" cy="288000"/>
            </a:xfrm>
            <a:prstGeom prst="line">
              <a:avLst/>
            </a:prstGeom>
            <a:noFill/>
            <a:ln w="19050">
              <a:solidFill>
                <a:srgbClr val="9900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" name="Text Box 75"/>
            <p:cNvSpPr txBox="1">
              <a:spLocks noChangeArrowheads="1"/>
            </p:cNvSpPr>
            <p:nvPr/>
          </p:nvSpPr>
          <p:spPr bwMode="auto">
            <a:xfrm>
              <a:off x="468000" y="4715712"/>
              <a:ext cx="936000" cy="43200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t" anchorCtr="0"/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中断程序</a:t>
              </a:r>
              <a:endParaRPr lang="en-US" altLang="zh-CN" sz="1600" b="1" dirty="0">
                <a:latin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当前程序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65" name="Text Box 75"/>
            <p:cNvSpPr txBox="1">
              <a:spLocks noChangeArrowheads="1"/>
            </p:cNvSpPr>
            <p:nvPr/>
          </p:nvSpPr>
          <p:spPr bwMode="auto">
            <a:xfrm>
              <a:off x="1906118" y="4825664"/>
              <a:ext cx="1043560" cy="21600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中断程序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A</a:t>
              </a:r>
            </a:p>
          </p:txBody>
        </p:sp>
        <p:sp>
          <p:nvSpPr>
            <p:cNvPr id="66" name="Line 76"/>
            <p:cNvSpPr>
              <a:spLocks noChangeShapeType="1"/>
            </p:cNvSpPr>
            <p:nvPr/>
          </p:nvSpPr>
          <p:spPr bwMode="auto">
            <a:xfrm flipV="1">
              <a:off x="1817068" y="4788000"/>
              <a:ext cx="1188000" cy="1576"/>
            </a:xfrm>
            <a:prstGeom prst="line">
              <a:avLst/>
            </a:prstGeom>
            <a:noFill/>
            <a:ln w="19050">
              <a:solidFill>
                <a:srgbClr val="9900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" name="Line 110"/>
            <p:cNvSpPr>
              <a:spLocks noChangeShapeType="1"/>
            </p:cNvSpPr>
            <p:nvPr/>
          </p:nvSpPr>
          <p:spPr bwMode="auto">
            <a:xfrm flipV="1">
              <a:off x="1691680" y="4788000"/>
              <a:ext cx="144016" cy="28800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prstDash val="sysDash"/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" name="Line 77"/>
            <p:cNvSpPr>
              <a:spLocks noChangeShapeType="1"/>
            </p:cNvSpPr>
            <p:nvPr/>
          </p:nvSpPr>
          <p:spPr bwMode="auto">
            <a:xfrm>
              <a:off x="2339752" y="4535712"/>
              <a:ext cx="0" cy="252000"/>
            </a:xfrm>
            <a:prstGeom prst="line">
              <a:avLst/>
            </a:prstGeom>
            <a:noFill/>
            <a:ln w="12700">
              <a:solidFill>
                <a:srgbClr val="CC3300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9" name="组合 68"/>
          <p:cNvGrpSpPr/>
          <p:nvPr/>
        </p:nvGrpSpPr>
        <p:grpSpPr>
          <a:xfrm>
            <a:off x="5221142" y="4726800"/>
            <a:ext cx="3671338" cy="863049"/>
            <a:chOff x="5148000" y="2421688"/>
            <a:chExt cx="3671338" cy="863049"/>
          </a:xfrm>
        </p:grpSpPr>
        <p:sp>
          <p:nvSpPr>
            <p:cNvPr id="70" name="Text Box 79"/>
            <p:cNvSpPr txBox="1">
              <a:spLocks noChangeArrowheads="1"/>
            </p:cNvSpPr>
            <p:nvPr/>
          </p:nvSpPr>
          <p:spPr bwMode="auto">
            <a:xfrm>
              <a:off x="5148000" y="2421688"/>
              <a:ext cx="1440000" cy="25200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algn="l"/>
              <a:r>
                <a:rPr lang="zh-CN" altLang="en-US" sz="1600" b="1" dirty="0">
                  <a:latin typeface="宋体" panose="02010600030101010101" pitchFamily="2" charset="-122"/>
                </a:rPr>
                <a:t>请求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A   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请求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B</a:t>
              </a:r>
            </a:p>
          </p:txBody>
        </p:sp>
        <p:sp>
          <p:nvSpPr>
            <p:cNvPr id="71" name="Line 67"/>
            <p:cNvSpPr>
              <a:spLocks noChangeShapeType="1"/>
            </p:cNvSpPr>
            <p:nvPr/>
          </p:nvSpPr>
          <p:spPr bwMode="auto">
            <a:xfrm>
              <a:off x="5148064" y="3212168"/>
              <a:ext cx="2880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" name="Line 68"/>
            <p:cNvSpPr>
              <a:spLocks noChangeShapeType="1"/>
            </p:cNvSpPr>
            <p:nvPr/>
          </p:nvSpPr>
          <p:spPr bwMode="auto">
            <a:xfrm>
              <a:off x="8532000" y="3212976"/>
              <a:ext cx="28733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" name="Line 70"/>
            <p:cNvSpPr>
              <a:spLocks noChangeShapeType="1"/>
            </p:cNvSpPr>
            <p:nvPr/>
          </p:nvSpPr>
          <p:spPr bwMode="auto">
            <a:xfrm>
              <a:off x="7488000" y="2637688"/>
              <a:ext cx="144016" cy="288000"/>
            </a:xfrm>
            <a:prstGeom prst="line">
              <a:avLst/>
            </a:prstGeom>
            <a:noFill/>
            <a:ln w="19050">
              <a:solidFill>
                <a:srgbClr val="9900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" name="Line 72"/>
            <p:cNvSpPr>
              <a:spLocks noChangeShapeType="1"/>
            </p:cNvSpPr>
            <p:nvPr/>
          </p:nvSpPr>
          <p:spPr bwMode="auto">
            <a:xfrm flipV="1">
              <a:off x="6586960" y="2637688"/>
              <a:ext cx="900000" cy="0"/>
            </a:xfrm>
            <a:prstGeom prst="line">
              <a:avLst/>
            </a:prstGeom>
            <a:noFill/>
            <a:ln w="19050">
              <a:solidFill>
                <a:srgbClr val="9900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" name="Text Box 75"/>
            <p:cNvSpPr txBox="1">
              <a:spLocks noChangeArrowheads="1"/>
            </p:cNvSpPr>
            <p:nvPr/>
          </p:nvSpPr>
          <p:spPr bwMode="auto">
            <a:xfrm>
              <a:off x="7200000" y="2963352"/>
              <a:ext cx="1224000" cy="21600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中断程序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A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②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76" name="Line 76"/>
            <p:cNvSpPr>
              <a:spLocks noChangeShapeType="1"/>
            </p:cNvSpPr>
            <p:nvPr/>
          </p:nvSpPr>
          <p:spPr bwMode="auto">
            <a:xfrm>
              <a:off x="7632000" y="2925688"/>
              <a:ext cx="791716" cy="1"/>
            </a:xfrm>
            <a:prstGeom prst="line">
              <a:avLst/>
            </a:prstGeom>
            <a:noFill/>
            <a:ln w="19050">
              <a:solidFill>
                <a:srgbClr val="9900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" name="Line 77"/>
            <p:cNvSpPr>
              <a:spLocks noChangeShapeType="1"/>
            </p:cNvSpPr>
            <p:nvPr/>
          </p:nvSpPr>
          <p:spPr bwMode="auto">
            <a:xfrm>
              <a:off x="5364000" y="2673688"/>
              <a:ext cx="0" cy="503040"/>
            </a:xfrm>
            <a:prstGeom prst="line">
              <a:avLst/>
            </a:prstGeom>
            <a:noFill/>
            <a:ln w="12700">
              <a:solidFill>
                <a:srgbClr val="CC3300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" name="Line 80"/>
            <p:cNvSpPr>
              <a:spLocks noChangeShapeType="1"/>
            </p:cNvSpPr>
            <p:nvPr/>
          </p:nvSpPr>
          <p:spPr bwMode="auto">
            <a:xfrm>
              <a:off x="5148064" y="3284737"/>
              <a:ext cx="367114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" name="Line 110"/>
            <p:cNvSpPr>
              <a:spLocks noChangeShapeType="1"/>
            </p:cNvSpPr>
            <p:nvPr/>
          </p:nvSpPr>
          <p:spPr bwMode="auto">
            <a:xfrm flipV="1">
              <a:off x="6442944" y="2637688"/>
              <a:ext cx="144016" cy="28800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prstDash val="sysDash"/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" name="Line 111"/>
            <p:cNvSpPr>
              <a:spLocks noChangeShapeType="1"/>
            </p:cNvSpPr>
            <p:nvPr/>
          </p:nvSpPr>
          <p:spPr bwMode="auto">
            <a:xfrm>
              <a:off x="8388000" y="2925688"/>
              <a:ext cx="144016" cy="288000"/>
            </a:xfrm>
            <a:prstGeom prst="line">
              <a:avLst/>
            </a:prstGeom>
            <a:noFill/>
            <a:ln w="19050">
              <a:solidFill>
                <a:srgbClr val="9900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" name="Text Box 75"/>
            <p:cNvSpPr txBox="1">
              <a:spLocks noChangeArrowheads="1"/>
            </p:cNvSpPr>
            <p:nvPr/>
          </p:nvSpPr>
          <p:spPr bwMode="auto">
            <a:xfrm>
              <a:off x="6552000" y="2675352"/>
              <a:ext cx="972000" cy="21600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中断程序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B</a:t>
              </a:r>
            </a:p>
          </p:txBody>
        </p:sp>
        <p:sp>
          <p:nvSpPr>
            <p:cNvPr id="82" name="Text Box 75"/>
            <p:cNvSpPr txBox="1">
              <a:spLocks noChangeArrowheads="1"/>
            </p:cNvSpPr>
            <p:nvPr/>
          </p:nvSpPr>
          <p:spPr bwMode="auto">
            <a:xfrm>
              <a:off x="5544000" y="2963352"/>
              <a:ext cx="1224000" cy="21600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中断程序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A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①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83" name="Line 76"/>
            <p:cNvSpPr>
              <a:spLocks noChangeShapeType="1"/>
            </p:cNvSpPr>
            <p:nvPr/>
          </p:nvSpPr>
          <p:spPr bwMode="auto">
            <a:xfrm>
              <a:off x="5580000" y="2925688"/>
              <a:ext cx="864000" cy="1"/>
            </a:xfrm>
            <a:prstGeom prst="line">
              <a:avLst/>
            </a:prstGeom>
            <a:noFill/>
            <a:ln w="19050">
              <a:solidFill>
                <a:srgbClr val="9900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" name="Line 110"/>
            <p:cNvSpPr>
              <a:spLocks noChangeShapeType="1"/>
            </p:cNvSpPr>
            <p:nvPr/>
          </p:nvSpPr>
          <p:spPr bwMode="auto">
            <a:xfrm flipV="1">
              <a:off x="5436000" y="2925688"/>
              <a:ext cx="144016" cy="28800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prstDash val="sysDash"/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" name="Line 77"/>
            <p:cNvSpPr>
              <a:spLocks noChangeShapeType="1"/>
            </p:cNvSpPr>
            <p:nvPr/>
          </p:nvSpPr>
          <p:spPr bwMode="auto">
            <a:xfrm>
              <a:off x="6370936" y="2673688"/>
              <a:ext cx="0" cy="216000"/>
            </a:xfrm>
            <a:prstGeom prst="line">
              <a:avLst/>
            </a:prstGeom>
            <a:noFill/>
            <a:ln w="12700">
              <a:solidFill>
                <a:srgbClr val="CC3300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1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BFB63-B979-4FAE-8763-D7093A979077}" type="slidenum">
              <a:rPr lang="en-US" altLang="zh-CN" smtClean="0"/>
              <a:t>31</a:t>
            </a:fld>
            <a:endParaRPr lang="en-US" altLang="zh-CN"/>
          </a:p>
        </p:txBody>
      </p:sp>
      <p:sp>
        <p:nvSpPr>
          <p:cNvPr id="89" name="Text Box 4"/>
          <p:cNvSpPr txBox="1">
            <a:spLocks noChangeArrowheads="1"/>
          </p:cNvSpPr>
          <p:nvPr/>
        </p:nvSpPr>
        <p:spPr bwMode="auto">
          <a:xfrm>
            <a:off x="179512" y="332656"/>
            <a:ext cx="8856808" cy="606101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3222625" indent="-3222625" algn="l">
              <a:lnSpc>
                <a:spcPct val="125000"/>
              </a:lnSpc>
            </a:pPr>
            <a:r>
              <a:rPr lang="en-US" altLang="zh-CN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(2)</a:t>
            </a:r>
            <a:r>
              <a:rPr lang="zh-CN" altLang="en-US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中断的过程</a:t>
            </a:r>
            <a:endParaRPr lang="en-US" altLang="zh-CN" sz="2200" b="1" dirty="0">
              <a:solidFill>
                <a:srgbClr val="FF3399"/>
              </a:solidFill>
              <a:latin typeface="宋体" panose="02010600030101010101" pitchFamily="2" charset="-122"/>
            </a:endParaRPr>
          </a:p>
          <a:p>
            <a:pPr marL="3222625" indent="-3222625" algn="l"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*中断响应：</a:t>
            </a:r>
            <a:r>
              <a:rPr lang="en-US" altLang="zh-CN" sz="2200" b="1" dirty="0">
                <a:latin typeface="宋体" panose="02010600030101010101" pitchFamily="2" charset="-122"/>
              </a:rPr>
              <a:t>CPU</a:t>
            </a:r>
            <a:r>
              <a:rPr lang="zh-CN" altLang="en-US" sz="2200" b="1" dirty="0">
                <a:latin typeface="宋体" panose="02010600030101010101" pitchFamily="2" charset="-122"/>
              </a:rPr>
              <a:t>的中断机构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硬件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r>
              <a:rPr lang="zh-CN" altLang="en-US" sz="2200" b="1" dirty="0">
                <a:latin typeface="宋体" panose="02010600030101010101" pitchFamily="2" charset="-122"/>
              </a:rPr>
              <a:t>实现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由</a:t>
            </a:r>
            <a:r>
              <a:rPr lang="en-US" altLang="zh-CN" sz="1800" b="1" dirty="0">
                <a:latin typeface="宋体" panose="02010600030101010101" pitchFamily="2" charset="-122"/>
              </a:rPr>
              <a:t>CU</a:t>
            </a:r>
            <a:r>
              <a:rPr lang="zh-CN" altLang="en-US" sz="1800" b="1" dirty="0">
                <a:latin typeface="宋体" panose="02010600030101010101" pitchFamily="2" charset="-122"/>
              </a:rPr>
              <a:t>产生</a:t>
            </a:r>
            <a:r>
              <a:rPr lang="el-GR" altLang="zh-CN" sz="1800" dirty="0">
                <a:latin typeface="+mn-lt"/>
              </a:rPr>
              <a:t>μ</a:t>
            </a:r>
            <a:r>
              <a:rPr lang="en-US" altLang="zh-CN" sz="1800" b="1" dirty="0" err="1">
                <a:latin typeface="宋体" panose="02010600030101010101" pitchFamily="2" charset="-122"/>
              </a:rPr>
              <a:t>OPCmd</a:t>
            </a:r>
            <a:r>
              <a:rPr lang="zh-CN" altLang="en-US" sz="1800" b="1" dirty="0">
                <a:latin typeface="宋体" panose="02010600030101010101" pitchFamily="2" charset="-122"/>
              </a:rPr>
              <a:t>序列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</a:p>
          <a:p>
            <a:pPr algn="l">
              <a:lnSpc>
                <a:spcPct val="125000"/>
              </a:lnSpc>
            </a:pPr>
            <a:r>
              <a:rPr lang="zh-CN" altLang="en-US" sz="2200" b="1" spc="-100" dirty="0">
                <a:solidFill>
                  <a:schemeClr val="accent2"/>
                </a:solidFill>
                <a:latin typeface="宋体" panose="02010600030101010101" pitchFamily="2" charset="-122"/>
              </a:rPr>
              <a:t>    ⑴保存断点及程序状态</a:t>
            </a:r>
            <a:r>
              <a:rPr lang="en-US" altLang="zh-CN" sz="2200" b="1" spc="-100" dirty="0">
                <a:solidFill>
                  <a:schemeClr val="accent2"/>
                </a:solidFill>
                <a:latin typeface="宋体" panose="02010600030101010101" pitchFamily="2" charset="-122"/>
              </a:rPr>
              <a:t>—            </a:t>
            </a:r>
            <a:r>
              <a:rPr lang="zh-CN" altLang="en-US" sz="1800" b="1" dirty="0">
                <a:latin typeface="宋体" panose="02010600030101010101" pitchFamily="2" charset="-122"/>
              </a:rPr>
              <a:t>←</a:t>
            </a:r>
            <a:r>
              <a:rPr lang="en-US" altLang="zh-CN" sz="1800" b="1" dirty="0">
                <a:latin typeface="宋体" panose="02010600030101010101" pitchFamily="2" charset="-122"/>
              </a:rPr>
              <a:t>GPR</a:t>
            </a:r>
            <a:r>
              <a:rPr lang="zh-CN" altLang="en-US" sz="1800" b="1" dirty="0">
                <a:latin typeface="宋体" panose="02010600030101010101" pitchFamily="2" charset="-122"/>
              </a:rPr>
              <a:t>由</a:t>
            </a:r>
            <a:r>
              <a:rPr lang="zh-CN" altLang="en-US" sz="1800" b="1" u="sng" dirty="0">
                <a:latin typeface="宋体" panose="02010600030101010101" pitchFamily="2" charset="-122"/>
              </a:rPr>
              <a:t>软件</a:t>
            </a:r>
            <a:r>
              <a:rPr lang="zh-CN" altLang="en-US" sz="1800" b="1" dirty="0">
                <a:latin typeface="宋体" panose="02010600030101010101" pitchFamily="2" charset="-122"/>
              </a:rPr>
              <a:t>保存</a:t>
            </a:r>
            <a:endParaRPr lang="en-US" altLang="zh-CN" sz="1800" b="1" spc="-100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14000"/>
              </a:lnSpc>
              <a:spcBef>
                <a:spcPts val="0"/>
              </a:spcBef>
            </a:pP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       实现：</a:t>
            </a:r>
            <a:endParaRPr lang="en-US" altLang="zh-CN" sz="2200" b="1" spc="-100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300"/>
              </a:spcBef>
            </a:pPr>
            <a:r>
              <a:rPr lang="en-US" altLang="zh-CN" sz="2200" b="1" spc="-100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spc="-100" dirty="0">
                <a:solidFill>
                  <a:schemeClr val="accent2"/>
                </a:solidFill>
                <a:latin typeface="宋体" panose="02010600030101010101" pitchFamily="2" charset="-122"/>
              </a:rPr>
              <a:t>⑵关中断</a:t>
            </a:r>
            <a:r>
              <a:rPr lang="en-US" altLang="zh-CN" sz="2200" b="1" spc="-100" dirty="0">
                <a:solidFill>
                  <a:schemeClr val="accent2"/>
                </a:solidFill>
                <a:latin typeface="宋体" panose="02010600030101010101" pitchFamily="2" charset="-122"/>
              </a:rPr>
              <a:t>— </a:t>
            </a:r>
            <a:r>
              <a:rPr lang="en-US" altLang="zh-CN" sz="2200" b="1" spc="-100" dirty="0">
                <a:latin typeface="宋体" panose="02010600030101010101" pitchFamily="2" charset="-122"/>
              </a:rPr>
              <a:t>                    </a:t>
            </a:r>
            <a:r>
              <a:rPr lang="en-US" altLang="zh-CN" sz="1800" b="1" spc="-100" dirty="0">
                <a:latin typeface="宋体" panose="02010600030101010101" pitchFamily="2" charset="-122"/>
              </a:rPr>
              <a:t>    </a:t>
            </a:r>
            <a:r>
              <a:rPr lang="zh-CN" altLang="en-US" sz="1800" b="1" dirty="0">
                <a:latin typeface="宋体" panose="02010600030101010101" pitchFamily="2" charset="-122"/>
              </a:rPr>
              <a:t>←避免</a:t>
            </a:r>
            <a:r>
              <a:rPr lang="en-US" altLang="zh-CN" sz="1800" b="1" dirty="0">
                <a:latin typeface="宋体" panose="02010600030101010101" pitchFamily="2" charset="-122"/>
              </a:rPr>
              <a:t>INTR(</a:t>
            </a:r>
            <a:r>
              <a:rPr lang="zh-CN" altLang="en-US" sz="1800" b="1" dirty="0">
                <a:latin typeface="宋体" panose="02010600030101010101" pitchFamily="2" charset="-122"/>
              </a:rPr>
              <a:t>很频繁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r>
              <a:rPr lang="zh-CN" altLang="en-US" sz="1800" b="1" dirty="0">
                <a:latin typeface="宋体" panose="02010600030101010101" pitchFamily="2" charset="-122"/>
              </a:rPr>
              <a:t>处理过程被打断</a:t>
            </a:r>
            <a:endParaRPr lang="en-US" altLang="zh-CN" sz="1800" b="1" spc="-100" dirty="0">
              <a:latin typeface="宋体" panose="02010600030101010101" pitchFamily="2" charset="-122"/>
            </a:endParaRPr>
          </a:p>
          <a:p>
            <a:pPr algn="l">
              <a:lnSpc>
                <a:spcPct val="114000"/>
              </a:lnSpc>
            </a:pP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       实现：</a:t>
            </a:r>
            <a:endParaRPr lang="en-US" altLang="zh-CN" sz="2200" b="1" spc="-100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300"/>
              </a:spcBef>
            </a:pPr>
            <a:r>
              <a:rPr lang="en-US" altLang="zh-CN" sz="2200" b="1" spc="-100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spc="-100" dirty="0">
                <a:solidFill>
                  <a:schemeClr val="accent2"/>
                </a:solidFill>
                <a:latin typeface="宋体" panose="02010600030101010101" pitchFamily="2" charset="-122"/>
              </a:rPr>
              <a:t>⑶识别事件类型并转入处理程序</a:t>
            </a:r>
            <a:r>
              <a:rPr lang="en-US" altLang="zh-CN" sz="2200" b="1" spc="-100" dirty="0">
                <a:solidFill>
                  <a:schemeClr val="accent2"/>
                </a:solidFill>
                <a:latin typeface="宋体" panose="02010600030101010101" pitchFamily="2" charset="-122"/>
              </a:rPr>
              <a:t>— </a:t>
            </a:r>
            <a:r>
              <a:rPr lang="en-US" altLang="zh-CN" sz="1800" b="1" spc="-100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共</a:t>
            </a:r>
            <a:r>
              <a:rPr lang="en-US" altLang="zh-CN" sz="1800" b="1" dirty="0">
                <a:latin typeface="宋体" panose="02010600030101010101" pitchFamily="2" charset="-122"/>
              </a:rPr>
              <a:t>3</a:t>
            </a:r>
            <a:r>
              <a:rPr lang="zh-CN" altLang="en-US" sz="1800" b="1" dirty="0">
                <a:latin typeface="宋体" panose="02010600030101010101" pitchFamily="2" charset="-122"/>
              </a:rPr>
              <a:t>个子任务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</a:p>
          <a:p>
            <a:pPr algn="l">
              <a:lnSpc>
                <a:spcPct val="114000"/>
              </a:lnSpc>
            </a:pPr>
            <a:r>
              <a:rPr lang="zh-CN" altLang="en-US" sz="2200" b="1" dirty="0">
                <a:latin typeface="宋体" panose="02010600030101010101" pitchFamily="2" charset="-122"/>
              </a:rPr>
              <a:t>       ①识别</a:t>
            </a:r>
            <a:r>
              <a:rPr lang="zh-CN" altLang="en-US" sz="2200" b="1" u="sng" dirty="0">
                <a:latin typeface="宋体" panose="02010600030101010101" pitchFamily="2" charset="-122"/>
              </a:rPr>
              <a:t>事件类型</a:t>
            </a:r>
            <a:r>
              <a:rPr lang="zh-CN" altLang="en-US" sz="2200" b="1" dirty="0">
                <a:latin typeface="宋体" panose="02010600030101010101" pitchFamily="2" charset="-122"/>
              </a:rPr>
              <a:t> ②获得</a:t>
            </a:r>
            <a:r>
              <a:rPr lang="zh-CN" altLang="en-US" sz="2200" b="1" u="sng" dirty="0">
                <a:latin typeface="宋体" panose="02010600030101010101" pitchFamily="2" charset="-122"/>
              </a:rPr>
              <a:t>处理程序入口地址</a:t>
            </a:r>
            <a:r>
              <a:rPr lang="zh-CN" altLang="en-US" sz="2200" b="1" dirty="0">
                <a:latin typeface="宋体" panose="02010600030101010101" pitchFamily="2" charset="-122"/>
              </a:rPr>
              <a:t> ③</a:t>
            </a:r>
            <a:r>
              <a:rPr lang="en-US" altLang="zh-CN" sz="2200" b="1" dirty="0">
                <a:latin typeface="宋体" panose="02010600030101010101" pitchFamily="2" charset="-122"/>
              </a:rPr>
              <a:t>PC</a:t>
            </a:r>
            <a:r>
              <a:rPr lang="zh-CN" altLang="en-US" sz="2200" b="1" dirty="0">
                <a:latin typeface="宋体" panose="02010600030101010101" pitchFamily="2" charset="-122"/>
              </a:rPr>
              <a:t>←入口地址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</a:pPr>
            <a:endParaRPr lang="en-US" altLang="zh-CN" sz="22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1800"/>
              </a:spcBef>
            </a:pPr>
            <a:r>
              <a:rPr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      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向量方式实现： 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dirty="0">
                <a:solidFill>
                  <a:srgbClr val="CC3300"/>
                </a:solidFill>
                <a:latin typeface="宋体" panose="02010600030101010101" pitchFamily="2" charset="-122"/>
              </a:rPr>
              <a:t>        INTR—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endParaRPr lang="en-US" altLang="zh-CN" sz="1800" b="1" dirty="0">
              <a:solidFill>
                <a:srgbClr val="CC33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dirty="0">
                <a:solidFill>
                  <a:srgbClr val="CC3300"/>
                </a:solidFill>
                <a:latin typeface="宋体" panose="02010600030101010101" pitchFamily="2" charset="-122"/>
              </a:rPr>
              <a:t>         NMI—</a:t>
            </a:r>
          </a:p>
          <a:p>
            <a:pPr algn="l">
              <a:lnSpc>
                <a:spcPct val="125000"/>
              </a:lnSpc>
              <a:spcBef>
                <a:spcPts val="300"/>
              </a:spcBef>
            </a:pP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      非向量方式实现：</a:t>
            </a:r>
            <a:endParaRPr lang="zh-CN" altLang="en-US" sz="2200" b="1" spc="-150" dirty="0">
              <a:solidFill>
                <a:srgbClr val="C00000"/>
              </a:solidFill>
              <a:latin typeface="宋体" panose="02010600030101010101" pitchFamily="2" charset="-122"/>
            </a:endParaRPr>
          </a:p>
        </p:txBody>
      </p:sp>
      <p:sp>
        <p:nvSpPr>
          <p:cNvPr id="91" name="Text Box 149"/>
          <p:cNvSpPr txBox="1">
            <a:spLocks noChangeArrowheads="1"/>
          </p:cNvSpPr>
          <p:nvPr/>
        </p:nvSpPr>
        <p:spPr bwMode="auto">
          <a:xfrm>
            <a:off x="1996918" y="1628800"/>
            <a:ext cx="6823554" cy="12418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tIns="10800">
            <a:spAutoFit/>
          </a:bodyPr>
          <a:lstStyle/>
          <a:p>
            <a:pPr algn="l">
              <a:lnSpc>
                <a:spcPct val="114000"/>
              </a:lnSpc>
            </a:pPr>
            <a:r>
              <a:rPr lang="zh-CN" altLang="en-US" sz="2200" b="1" dirty="0">
                <a:latin typeface="宋体" panose="02010600030101010101" pitchFamily="2" charset="-122"/>
              </a:rPr>
              <a:t>保存在</a:t>
            </a:r>
            <a:r>
              <a:rPr lang="zh-CN" altLang="en-US" sz="2200" b="1" u="sng" dirty="0">
                <a:latin typeface="宋体" panose="02010600030101010101" pitchFamily="2" charset="-122"/>
              </a:rPr>
              <a:t>寄存器</a:t>
            </a:r>
            <a:r>
              <a:rPr lang="en-US" altLang="zh-CN" sz="2200" b="1" u="sng" dirty="0">
                <a:latin typeface="宋体" panose="02010600030101010101" pitchFamily="2" charset="-122"/>
              </a:rPr>
              <a:t>(</a:t>
            </a:r>
            <a:r>
              <a:rPr lang="zh-CN" altLang="en-US" sz="2200" b="1" u="sng" dirty="0">
                <a:latin typeface="宋体" panose="02010600030101010101" pitchFamily="2" charset="-122"/>
              </a:rPr>
              <a:t>栈</a:t>
            </a:r>
            <a:r>
              <a:rPr lang="en-US" altLang="zh-CN" sz="2200" b="1" u="sng" dirty="0">
                <a:latin typeface="宋体" panose="02010600030101010101" pitchFamily="2" charset="-122"/>
              </a:rPr>
              <a:t>)</a:t>
            </a:r>
            <a:r>
              <a:rPr lang="zh-CN" altLang="en-US" sz="2200" b="1" dirty="0">
                <a:latin typeface="宋体" panose="02010600030101010101" pitchFamily="2" charset="-122"/>
              </a:rPr>
              <a:t>中   </a:t>
            </a:r>
            <a:r>
              <a:rPr lang="zh-CN" altLang="en-US" sz="1600" b="1" dirty="0">
                <a:latin typeface="宋体" panose="02010600030101010101" pitchFamily="2" charset="-122"/>
              </a:rPr>
              <a:t>  </a:t>
            </a:r>
            <a:r>
              <a:rPr lang="zh-CN" altLang="en-US" sz="1800" b="1" dirty="0">
                <a:latin typeface="宋体" panose="02010600030101010101" pitchFamily="2" charset="-122"/>
              </a:rPr>
              <a:t>←栈用于支持</a:t>
            </a:r>
            <a:r>
              <a:rPr lang="zh-CN" altLang="en-US" sz="1800" b="1" u="sng" dirty="0">
                <a:latin typeface="宋体" panose="02010600030101010101" pitchFamily="2" charset="-122"/>
              </a:rPr>
              <a:t>多重中断</a:t>
            </a:r>
            <a:endParaRPr lang="en-US" altLang="zh-CN" sz="1800" b="1" u="sng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300"/>
              </a:spcBef>
            </a:pPr>
            <a:endParaRPr lang="en-US" altLang="zh-CN" sz="2200" b="1" dirty="0">
              <a:latin typeface="宋体" panose="02010600030101010101" pitchFamily="2" charset="-122"/>
            </a:endParaRPr>
          </a:p>
          <a:p>
            <a:pPr algn="l">
              <a:lnSpc>
                <a:spcPct val="114000"/>
              </a:lnSpc>
              <a:spcBef>
                <a:spcPts val="0"/>
              </a:spcBef>
            </a:pPr>
            <a:r>
              <a:rPr lang="zh-CN" altLang="en-US" sz="2200" b="1" dirty="0">
                <a:latin typeface="宋体" panose="02010600030101010101" pitchFamily="2" charset="-122"/>
              </a:rPr>
              <a:t>使</a:t>
            </a:r>
            <a:r>
              <a:rPr lang="en-US" altLang="zh-CN" sz="2200" b="1" u="sng" dirty="0">
                <a:latin typeface="宋体" panose="02010600030101010101" pitchFamily="2" charset="-122"/>
              </a:rPr>
              <a:t>PSR</a:t>
            </a:r>
            <a:r>
              <a:rPr lang="zh-CN" altLang="en-US" sz="2200" b="1" u="sng" dirty="0">
                <a:latin typeface="宋体" panose="02010600030101010101" pitchFamily="2" charset="-122"/>
              </a:rPr>
              <a:t>的</a:t>
            </a:r>
            <a:r>
              <a:rPr lang="en-US" altLang="zh-CN" sz="2200" b="1" u="sng" dirty="0">
                <a:latin typeface="宋体" panose="02010600030101010101" pitchFamily="2" charset="-122"/>
              </a:rPr>
              <a:t>IF</a:t>
            </a:r>
            <a:r>
              <a:rPr lang="zh-CN" altLang="en-US" sz="2200" b="1" u="sng" dirty="0">
                <a:latin typeface="宋体" panose="02010600030101010101" pitchFamily="2" charset="-122"/>
              </a:rPr>
              <a:t>位</a:t>
            </a:r>
            <a:r>
              <a:rPr lang="zh-CN" altLang="en-US" sz="2200" b="1" dirty="0">
                <a:latin typeface="宋体" panose="02010600030101010101" pitchFamily="2" charset="-122"/>
              </a:rPr>
              <a:t>←</a:t>
            </a:r>
            <a:r>
              <a:rPr lang="en-US" altLang="zh-CN" sz="2200" b="1" dirty="0">
                <a:latin typeface="宋体" panose="02010600030101010101" pitchFamily="2" charset="-122"/>
              </a:rPr>
              <a:t>0</a:t>
            </a:r>
            <a:r>
              <a:rPr lang="zh-CN" altLang="en-US" sz="2200" b="1" dirty="0">
                <a:latin typeface="宋体" panose="02010600030101010101" pitchFamily="2" charset="-122"/>
              </a:rPr>
              <a:t>       </a:t>
            </a:r>
            <a:r>
              <a:rPr lang="zh-CN" altLang="en-US" sz="1600" b="1" dirty="0">
                <a:latin typeface="宋体" panose="02010600030101010101" pitchFamily="2" charset="-122"/>
              </a:rPr>
              <a:t>  </a:t>
            </a:r>
            <a:r>
              <a:rPr lang="zh-CN" altLang="en-US" sz="1800" b="1" dirty="0">
                <a:latin typeface="宋体" panose="02010600030101010101" pitchFamily="2" charset="-122"/>
              </a:rPr>
              <a:t>←响应时</a:t>
            </a:r>
            <a:r>
              <a:rPr lang="zh-CN" altLang="en-US" sz="1800" b="1" spc="-100" dirty="0">
                <a:latin typeface="宋体" panose="02010600030101010101" pitchFamily="2" charset="-122"/>
              </a:rPr>
              <a:t>为</a:t>
            </a:r>
            <a:r>
              <a:rPr lang="zh-CN" altLang="en-US" sz="1800" b="1" u="sng" spc="-100" dirty="0">
                <a:latin typeface="宋体" panose="02010600030101010101" pitchFamily="2" charset="-122"/>
              </a:rPr>
              <a:t>单重中断</a:t>
            </a:r>
            <a:endParaRPr lang="en-US" altLang="zh-CN" b="1" u="sng" dirty="0">
              <a:latin typeface="宋体" panose="02010600030101010101" pitchFamily="2" charset="-122"/>
            </a:endParaRPr>
          </a:p>
        </p:txBody>
      </p:sp>
      <p:sp>
        <p:nvSpPr>
          <p:cNvPr id="98" name="Text Box 82"/>
          <p:cNvSpPr txBox="1">
            <a:spLocks noChangeArrowheads="1"/>
          </p:cNvSpPr>
          <p:nvPr/>
        </p:nvSpPr>
        <p:spPr bwMode="auto">
          <a:xfrm>
            <a:off x="2195736" y="4725144"/>
            <a:ext cx="6768752" cy="163307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sz="2200" b="1" u="sng" dirty="0">
                <a:latin typeface="+mn-ea"/>
                <a:ea typeface="+mn-ea"/>
              </a:rPr>
              <a:t>中断响应操作</a:t>
            </a:r>
            <a:r>
              <a:rPr lang="en-US" altLang="zh-CN" sz="1800" b="1" dirty="0">
                <a:latin typeface="+mn-ea"/>
                <a:ea typeface="+mn-ea"/>
              </a:rPr>
              <a:t>(</a:t>
            </a:r>
            <a:r>
              <a:rPr lang="zh-CN" altLang="en-US" sz="1800" b="1" dirty="0">
                <a:latin typeface="+mn-ea"/>
                <a:ea typeface="+mn-ea"/>
              </a:rPr>
              <a:t>获得</a:t>
            </a:r>
            <a:r>
              <a:rPr lang="en-US" altLang="zh-CN" sz="1800" b="1" dirty="0">
                <a:latin typeface="+mn-ea"/>
                <a:ea typeface="+mn-ea"/>
              </a:rPr>
              <a:t>x)</a:t>
            </a:r>
            <a:r>
              <a:rPr lang="zh-CN" altLang="en-US" sz="2200" b="1" dirty="0">
                <a:latin typeface="+mn-ea"/>
                <a:ea typeface="+mn-ea"/>
              </a:rPr>
              <a:t>、</a:t>
            </a:r>
            <a:r>
              <a:rPr lang="zh-CN" altLang="en-US" sz="2200" b="1" u="sng" dirty="0">
                <a:latin typeface="+mn-ea"/>
                <a:ea typeface="+mn-ea"/>
              </a:rPr>
              <a:t>访存操作</a:t>
            </a:r>
            <a:r>
              <a:rPr lang="en-US" altLang="zh-CN" sz="1800" b="1" dirty="0">
                <a:latin typeface="+mn-ea"/>
                <a:ea typeface="+mn-ea"/>
              </a:rPr>
              <a:t>(</a:t>
            </a:r>
            <a:r>
              <a:rPr lang="zh-CN" altLang="en-US" sz="1800" b="1" dirty="0">
                <a:latin typeface="+mn-ea"/>
                <a:ea typeface="+mn-ea"/>
              </a:rPr>
              <a:t>获得</a:t>
            </a:r>
            <a:r>
              <a:rPr lang="en-US" altLang="zh-CN" sz="1800" b="1" dirty="0">
                <a:latin typeface="+mn-ea"/>
                <a:ea typeface="+mn-ea"/>
              </a:rPr>
              <a:t>y=IVT[x])</a:t>
            </a:r>
            <a:r>
              <a:rPr lang="zh-CN" altLang="en-US" sz="2200" b="1" dirty="0">
                <a:latin typeface="+mn-ea"/>
                <a:ea typeface="+mn-ea"/>
              </a:rPr>
              <a:t>、</a:t>
            </a:r>
            <a:r>
              <a:rPr lang="en-US" altLang="zh-CN" sz="2200" b="1" dirty="0">
                <a:latin typeface="+mn-ea"/>
                <a:ea typeface="+mn-ea"/>
              </a:rPr>
              <a:t>PC</a:t>
            </a:r>
            <a:r>
              <a:rPr lang="zh-CN" altLang="en-US" sz="2200" b="1" dirty="0">
                <a:latin typeface="+mn-ea"/>
                <a:ea typeface="+mn-ea"/>
              </a:rPr>
              <a:t>←</a:t>
            </a:r>
            <a:r>
              <a:rPr lang="en-US" altLang="zh-CN" sz="2200" b="1" dirty="0">
                <a:latin typeface="+mn-ea"/>
                <a:ea typeface="+mn-ea"/>
              </a:rPr>
              <a:t>y</a:t>
            </a:r>
          </a:p>
          <a:p>
            <a:pPr algn="l">
              <a:lnSpc>
                <a:spcPct val="105000"/>
              </a:lnSpc>
            </a:pPr>
            <a:r>
              <a:rPr lang="en-US" altLang="zh-CN" sz="1800" b="1" dirty="0">
                <a:latin typeface="+mn-ea"/>
                <a:ea typeface="+mn-ea"/>
              </a:rPr>
              <a:t>    </a:t>
            </a:r>
            <a:r>
              <a:rPr lang="en-US" altLang="zh-CN" sz="1800" dirty="0">
                <a:latin typeface="+mn-ea"/>
                <a:ea typeface="+mn-ea"/>
              </a:rPr>
              <a:t>└</a:t>
            </a:r>
            <a:r>
              <a:rPr lang="en-US" altLang="zh-CN" sz="1800" b="1" dirty="0">
                <a:latin typeface="+mn-ea"/>
                <a:ea typeface="+mn-ea"/>
              </a:rPr>
              <a:t>←</a:t>
            </a:r>
            <a:r>
              <a:rPr lang="zh-CN" altLang="en-US" sz="1800" b="1" dirty="0">
                <a:latin typeface="+mn-ea"/>
                <a:ea typeface="+mn-ea"/>
              </a:rPr>
              <a:t>最紧急的</a:t>
            </a:r>
            <a:r>
              <a:rPr lang="en-US" altLang="zh-CN" sz="1800" b="1" dirty="0">
                <a:latin typeface="+mn-ea"/>
                <a:ea typeface="+mn-ea"/>
              </a:rPr>
              <a:t>I/O</a:t>
            </a:r>
            <a:r>
              <a:rPr lang="zh-CN" altLang="en-US" sz="1800" b="1" dirty="0">
                <a:latin typeface="+mn-ea"/>
                <a:ea typeface="+mn-ea"/>
              </a:rPr>
              <a:t>接口响应</a:t>
            </a:r>
            <a:r>
              <a:rPr lang="en-US" altLang="zh-CN" sz="1600" b="1" dirty="0">
                <a:latin typeface="+mn-ea"/>
                <a:ea typeface="+mn-ea"/>
              </a:rPr>
              <a:t>(</a:t>
            </a:r>
            <a:r>
              <a:rPr lang="zh-CN" altLang="en-US" sz="1600" b="1" dirty="0">
                <a:latin typeface="+mn-ea"/>
                <a:ea typeface="+mn-ea"/>
              </a:rPr>
              <a:t>机制类似总线仲裁</a:t>
            </a:r>
            <a:r>
              <a:rPr lang="en-US" altLang="zh-CN" sz="1600" b="1" dirty="0">
                <a:latin typeface="+mn-ea"/>
              </a:rPr>
              <a:t>)</a:t>
            </a:r>
            <a:r>
              <a:rPr lang="zh-CN" altLang="en-US" sz="1600" b="1" dirty="0">
                <a:latin typeface="宋体" panose="02010600030101010101" pitchFamily="2" charset="-122"/>
              </a:rPr>
              <a:t>    ←稍后讨论</a:t>
            </a:r>
            <a:endParaRPr lang="en-US" altLang="zh-CN" sz="1600" b="1" dirty="0">
              <a:latin typeface="+mn-ea"/>
              <a:ea typeface="+mn-ea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>
                <a:latin typeface="+mn-ea"/>
                <a:ea typeface="+mn-ea"/>
              </a:rPr>
              <a:t>         </a:t>
            </a:r>
            <a:r>
              <a:rPr lang="en-US" altLang="zh-CN" sz="2200" b="1" spc="100" dirty="0">
                <a:latin typeface="+mn-ea"/>
                <a:ea typeface="+mn-ea"/>
              </a:rPr>
              <a:t> </a:t>
            </a:r>
            <a:r>
              <a:rPr lang="en-US" altLang="zh-CN" sz="1800" b="1" dirty="0">
                <a:latin typeface="+mn-ea"/>
                <a:ea typeface="+mn-ea"/>
              </a:rPr>
              <a:t>(x</a:t>
            </a:r>
            <a:r>
              <a:rPr lang="zh-CN" altLang="en-US" sz="1800" b="1" dirty="0">
                <a:latin typeface="+mn-ea"/>
                <a:ea typeface="+mn-ea"/>
              </a:rPr>
              <a:t>＝常数</a:t>
            </a:r>
            <a:r>
              <a:rPr lang="en-US" altLang="zh-CN" sz="1800" b="1" dirty="0">
                <a:latin typeface="+mn-ea"/>
                <a:ea typeface="+mn-ea"/>
              </a:rPr>
              <a:t>)</a:t>
            </a:r>
            <a:r>
              <a:rPr lang="en-US" altLang="zh-CN" sz="2200" b="1" dirty="0">
                <a:latin typeface="+mn-ea"/>
                <a:ea typeface="+mn-ea"/>
              </a:rPr>
              <a:t>  </a:t>
            </a:r>
            <a:r>
              <a:rPr lang="zh-CN" altLang="en-US" sz="2200" b="1" u="sng" dirty="0">
                <a:latin typeface="+mn-ea"/>
                <a:ea typeface="+mn-ea"/>
              </a:rPr>
              <a:t>访存操作</a:t>
            </a:r>
            <a:r>
              <a:rPr lang="en-US" altLang="zh-CN" sz="1800" b="1" dirty="0">
                <a:latin typeface="+mn-ea"/>
                <a:ea typeface="+mn-ea"/>
              </a:rPr>
              <a:t>(</a:t>
            </a:r>
            <a:r>
              <a:rPr lang="zh-CN" altLang="en-US" sz="1800" b="1" dirty="0">
                <a:latin typeface="+mn-ea"/>
              </a:rPr>
              <a:t>获得</a:t>
            </a:r>
            <a:r>
              <a:rPr lang="en-US" altLang="zh-CN" sz="1800" b="1" dirty="0">
                <a:latin typeface="+mn-ea"/>
              </a:rPr>
              <a:t>y=IVT[x]</a:t>
            </a:r>
            <a:r>
              <a:rPr lang="en-US" altLang="zh-CN" sz="1800" b="1" dirty="0">
                <a:latin typeface="+mn-ea"/>
                <a:ea typeface="+mn-ea"/>
              </a:rPr>
              <a:t>)</a:t>
            </a:r>
            <a:r>
              <a:rPr lang="zh-CN" altLang="en-US" sz="2200" b="1" dirty="0">
                <a:latin typeface="+mn-ea"/>
                <a:ea typeface="+mn-ea"/>
              </a:rPr>
              <a:t>、</a:t>
            </a:r>
            <a:r>
              <a:rPr lang="en-US" altLang="zh-CN" sz="2200" b="1" dirty="0">
                <a:latin typeface="+mn-ea"/>
                <a:ea typeface="+mn-ea"/>
              </a:rPr>
              <a:t>PC</a:t>
            </a:r>
            <a:r>
              <a:rPr lang="zh-CN" altLang="en-US" sz="2200" b="1" dirty="0">
                <a:latin typeface="+mn-ea"/>
                <a:ea typeface="+mn-ea"/>
              </a:rPr>
              <a:t>←</a:t>
            </a:r>
            <a:r>
              <a:rPr lang="en-US" altLang="zh-CN" sz="2200" b="1" dirty="0">
                <a:latin typeface="+mn-ea"/>
                <a:ea typeface="+mn-ea"/>
              </a:rPr>
              <a:t>y</a:t>
            </a:r>
          </a:p>
          <a:p>
            <a:pPr algn="l">
              <a:lnSpc>
                <a:spcPct val="125000"/>
              </a:lnSpc>
              <a:spcBef>
                <a:spcPts val="300"/>
              </a:spcBef>
            </a:pPr>
            <a:r>
              <a:rPr lang="en-US" altLang="zh-CN" sz="2200" b="1" dirty="0">
                <a:latin typeface="宋体" panose="02010600030101010101" pitchFamily="2" charset="-122"/>
              </a:rPr>
              <a:t>        PC</a:t>
            </a:r>
            <a:r>
              <a:rPr lang="zh-CN" altLang="en-US" sz="2200" b="1" dirty="0">
                <a:latin typeface="宋体" panose="02010600030101010101" pitchFamily="2" charset="-122"/>
              </a:rPr>
              <a:t>←常数            </a:t>
            </a:r>
            <a:r>
              <a:rPr lang="zh-CN" altLang="en-US" sz="1800" b="1" dirty="0">
                <a:latin typeface="宋体" panose="02010600030101010101" pitchFamily="2" charset="-122"/>
              </a:rPr>
              <a:t>←①②在处理程序中完成</a:t>
            </a:r>
            <a:endParaRPr lang="en-US" altLang="zh-CN" sz="2000" b="1" dirty="0">
              <a:solidFill>
                <a:srgbClr val="990099"/>
              </a:solidFill>
              <a:latin typeface="宋体" panose="02010600030101010101" pitchFamily="2" charset="-122"/>
            </a:endParaRPr>
          </a:p>
        </p:txBody>
      </p:sp>
      <p:sp>
        <p:nvSpPr>
          <p:cNvPr id="100" name="AutoShape 450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2988000" y="6523557"/>
            <a:ext cx="287338" cy="287338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" name="AutoShape 175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4068000" y="6524450"/>
            <a:ext cx="287337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" name="Text Box 200">
            <a:extLst>
              <a:ext uri="{FF2B5EF4-FFF2-40B4-BE49-F238E27FC236}">
                <a16:creationId xmlns:a16="http://schemas.microsoft.com/office/drawing/2014/main" id="{8696A8EB-A155-48B9-8883-617B11D6E6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6032" y="3789040"/>
            <a:ext cx="4104000" cy="28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lstStyle/>
          <a:p>
            <a:pPr marL="805180" indent="-805180" algn="l">
              <a:lnSpc>
                <a:spcPct val="90000"/>
              </a:lnSpc>
            </a:pPr>
            <a:r>
              <a:rPr lang="zh-CN" altLang="en-US" sz="1800" b="1" dirty="0">
                <a:solidFill>
                  <a:srgbClr val="0070C0"/>
                </a:solidFill>
                <a:latin typeface="+mn-ea"/>
                <a:ea typeface="+mn-ea"/>
              </a:rPr>
              <a:t>回顾：</a:t>
            </a:r>
            <a:r>
              <a:rPr lang="zh-CN" altLang="en-US" sz="1800" b="1" dirty="0">
                <a:latin typeface="+mn-ea"/>
                <a:ea typeface="+mn-ea"/>
              </a:rPr>
              <a:t>异常</a:t>
            </a:r>
            <a:r>
              <a:rPr lang="en-US" altLang="zh-CN" sz="1800" b="1" dirty="0">
                <a:latin typeface="+mn-ea"/>
                <a:ea typeface="+mn-ea"/>
              </a:rPr>
              <a:t>&amp;</a:t>
            </a:r>
            <a:r>
              <a:rPr lang="zh-CN" altLang="en-US" sz="1800" b="1" dirty="0">
                <a:latin typeface="+mn-ea"/>
                <a:ea typeface="+mn-ea"/>
              </a:rPr>
              <a:t>中断的事件类型保存在哪？</a:t>
            </a:r>
          </a:p>
        </p:txBody>
      </p:sp>
      <p:sp>
        <p:nvSpPr>
          <p:cNvPr id="16" name="Text Box 200">
            <a:extLst>
              <a:ext uri="{FF2B5EF4-FFF2-40B4-BE49-F238E27FC236}">
                <a16:creationId xmlns:a16="http://schemas.microsoft.com/office/drawing/2014/main" id="{F441D6A8-47BC-4D75-9FB1-3E5BE6D06D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32040" y="3717032"/>
            <a:ext cx="4032448" cy="792000"/>
          </a:xfrm>
          <a:prstGeom prst="rect">
            <a:avLst/>
          </a:prstGeom>
          <a:noFill/>
          <a:ln w="12700">
            <a:noFill/>
            <a:prstDash val="sysDash"/>
            <a:miter lim="800000"/>
          </a:ln>
          <a:effectLst/>
        </p:spPr>
        <p:txBody>
          <a:bodyPr wrap="square" lIns="18000" tIns="10800" rIns="18000" bIns="10800" anchor="t" anchorCtr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lang="zh-CN" altLang="en-US" sz="1600" b="1" dirty="0">
                <a:latin typeface="宋体" panose="02010600030101010101" pitchFamily="2" charset="-122"/>
              </a:rPr>
              <a:t>异常在</a:t>
            </a:r>
            <a:r>
              <a:rPr lang="en-US" altLang="zh-CN" sz="1600" b="1" dirty="0">
                <a:solidFill>
                  <a:srgbClr val="0070C0"/>
                </a:solidFill>
                <a:latin typeface="宋体" panose="02010600030101010101" pitchFamily="2" charset="-122"/>
              </a:rPr>
              <a:t>CPU</a:t>
            </a:r>
            <a:r>
              <a:rPr lang="zh-CN" altLang="en-US" sz="1600" b="1" dirty="0">
                <a:latin typeface="宋体" panose="02010600030101010101" pitchFamily="2" charset="-122"/>
              </a:rPr>
              <a:t>中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</a:rPr>
              <a:t>异常原因</a:t>
            </a:r>
            <a:r>
              <a:rPr lang="en-US" altLang="zh-CN" sz="1600" b="1" dirty="0">
                <a:latin typeface="宋体" panose="02010600030101010101" pitchFamily="2" charset="-122"/>
              </a:rPr>
              <a:t>REG</a:t>
            </a:r>
            <a:r>
              <a:rPr lang="zh-CN" altLang="en-US" sz="1600" b="1" dirty="0">
                <a:latin typeface="宋体" panose="02010600030101010101" pitchFamily="2" charset="-122"/>
              </a:rPr>
              <a:t>、</a:t>
            </a:r>
            <a:r>
              <a:rPr lang="en-US" altLang="zh-CN" sz="1600" b="1" dirty="0">
                <a:latin typeface="宋体" panose="02010600030101010101" pitchFamily="2" charset="-122"/>
              </a:rPr>
              <a:t>⑴</a:t>
            </a:r>
            <a:r>
              <a:rPr lang="zh-CN" altLang="en-US" sz="1600" b="1" dirty="0">
                <a:latin typeface="宋体" panose="02010600030101010101" pitchFamily="2" charset="-122"/>
              </a:rPr>
              <a:t>时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  <a:r>
              <a:rPr lang="zh-CN" altLang="en-US" sz="1600" b="1" dirty="0">
                <a:latin typeface="宋体" panose="02010600030101010101" pitchFamily="2" charset="-122"/>
              </a:rPr>
              <a:t>，</a:t>
            </a:r>
            <a:endParaRPr lang="en-US" altLang="zh-CN" sz="1600" b="1" dirty="0">
              <a:latin typeface="宋体" panose="02010600030101010101" pitchFamily="2" charset="-122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lang="en-US" altLang="zh-CN" sz="1600" b="1" dirty="0">
                <a:latin typeface="宋体" panose="02010600030101010101" pitchFamily="2" charset="-122"/>
              </a:rPr>
              <a:t>NMI</a:t>
            </a:r>
            <a:r>
              <a:rPr lang="zh-CN" altLang="en-US" sz="1600" b="1" dirty="0">
                <a:solidFill>
                  <a:srgbClr val="0070C0"/>
                </a:solidFill>
                <a:latin typeface="宋体" panose="02010600030101010101" pitchFamily="2" charset="-122"/>
              </a:rPr>
              <a:t>无需</a:t>
            </a:r>
            <a:r>
              <a:rPr lang="zh-CN" altLang="en-US" sz="1600" b="1" dirty="0">
                <a:latin typeface="宋体" panose="02010600030101010101" pitchFamily="2" charset="-122"/>
              </a:rPr>
              <a:t>保存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</a:rPr>
              <a:t>值固定</a:t>
            </a:r>
            <a:r>
              <a:rPr lang="en-US" altLang="zh-CN" sz="1600" b="1" dirty="0">
                <a:latin typeface="宋体" panose="02010600030101010101" pitchFamily="2" charset="-122"/>
              </a:rPr>
              <a:t>[</a:t>
            </a:r>
            <a:r>
              <a:rPr lang="zh-CN" altLang="en-US" sz="1600" b="1" dirty="0">
                <a:latin typeface="宋体" panose="02010600030101010101" pitchFamily="2" charset="-122"/>
              </a:rPr>
              <a:t>仅</a:t>
            </a:r>
            <a:r>
              <a:rPr lang="en-US" altLang="zh-CN" sz="1600" b="1" dirty="0">
                <a:latin typeface="宋体" panose="02010600030101010101" pitchFamily="2" charset="-122"/>
              </a:rPr>
              <a:t>1</a:t>
            </a:r>
            <a:r>
              <a:rPr lang="zh-CN" altLang="en-US" sz="1600" b="1" dirty="0">
                <a:latin typeface="宋体" panose="02010600030101010101" pitchFamily="2" charset="-122"/>
              </a:rPr>
              <a:t>种</a:t>
            </a:r>
            <a:r>
              <a:rPr lang="en-US" altLang="zh-CN" sz="1600" b="1" dirty="0">
                <a:latin typeface="宋体" panose="02010600030101010101" pitchFamily="2" charset="-122"/>
              </a:rPr>
              <a:t>]</a:t>
            </a:r>
            <a:r>
              <a:rPr lang="zh-CN" altLang="en-US" sz="1600" b="1" dirty="0">
                <a:latin typeface="宋体" panose="02010600030101010101" pitchFamily="2" charset="-122"/>
              </a:rPr>
              <a:t>、处理时查询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lang="en-US" altLang="zh-CN" sz="1600" b="1" dirty="0">
                <a:latin typeface="宋体" panose="02010600030101010101" pitchFamily="2" charset="-122"/>
              </a:rPr>
              <a:t>INTR</a:t>
            </a:r>
            <a:r>
              <a:rPr lang="zh-CN" altLang="en-US" sz="1600" b="1" dirty="0">
                <a:latin typeface="宋体" panose="02010600030101010101" pitchFamily="2" charset="-122"/>
              </a:rPr>
              <a:t>在</a:t>
            </a:r>
            <a:r>
              <a:rPr lang="zh-CN" altLang="en-US" sz="1600" b="1" dirty="0">
                <a:solidFill>
                  <a:srgbClr val="0070C0"/>
                </a:solidFill>
                <a:latin typeface="宋体" panose="02010600030101010101" pitchFamily="2" charset="-122"/>
              </a:rPr>
              <a:t>各</a:t>
            </a:r>
            <a:r>
              <a:rPr lang="en-US" altLang="zh-CN" sz="1600" b="1" dirty="0">
                <a:solidFill>
                  <a:srgbClr val="0070C0"/>
                </a:solidFill>
                <a:latin typeface="宋体" panose="02010600030101010101" pitchFamily="2" charset="-122"/>
              </a:rPr>
              <a:t>I/O</a:t>
            </a:r>
            <a:r>
              <a:rPr lang="zh-CN" altLang="en-US" sz="1600" b="1" dirty="0">
                <a:solidFill>
                  <a:srgbClr val="0070C0"/>
                </a:solidFill>
                <a:latin typeface="宋体" panose="02010600030101010101" pitchFamily="2" charset="-122"/>
              </a:rPr>
              <a:t>接口</a:t>
            </a:r>
            <a:r>
              <a:rPr lang="zh-CN" altLang="en-US" sz="1600" b="1" dirty="0">
                <a:latin typeface="宋体" panose="02010600030101010101" pitchFamily="2" charset="-122"/>
              </a:rPr>
              <a:t>中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</a:rPr>
              <a:t>状态口、请求时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  <a:endParaRPr lang="en-US" altLang="zh-CN" sz="1600" b="1" dirty="0">
              <a:solidFill>
                <a:srgbClr val="0070C0"/>
              </a:solidFill>
              <a:latin typeface="宋体" panose="02010600030101010101" pitchFamily="2" charset="-122"/>
            </a:endParaRPr>
          </a:p>
        </p:txBody>
      </p:sp>
      <p:sp>
        <p:nvSpPr>
          <p:cNvPr id="19" name="Line 77">
            <a:extLst>
              <a:ext uri="{FF2B5EF4-FFF2-40B4-BE49-F238E27FC236}">
                <a16:creationId xmlns:a16="http://schemas.microsoft.com/office/drawing/2014/main" id="{90525597-2065-432C-933E-EE6495E8482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960000" y="4510800"/>
            <a:ext cx="1656000" cy="324000"/>
          </a:xfrm>
          <a:prstGeom prst="line">
            <a:avLst/>
          </a:prstGeom>
          <a:noFill/>
          <a:ln w="12700">
            <a:solidFill>
              <a:srgbClr val="0070C0"/>
            </a:solidFill>
            <a:prstDash val="sysDash"/>
            <a:rou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03581358-9CE6-4546-B93E-AA9F427EC025}"/>
              </a:ext>
            </a:extLst>
          </p:cNvPr>
          <p:cNvGrpSpPr/>
          <p:nvPr/>
        </p:nvGrpSpPr>
        <p:grpSpPr>
          <a:xfrm>
            <a:off x="324000" y="1412776"/>
            <a:ext cx="359568" cy="1260000"/>
            <a:chOff x="324000" y="1412776"/>
            <a:chExt cx="359568" cy="1260000"/>
          </a:xfrm>
        </p:grpSpPr>
        <p:sp>
          <p:nvSpPr>
            <p:cNvPr id="4" name="左大括号 3">
              <a:extLst>
                <a:ext uri="{FF2B5EF4-FFF2-40B4-BE49-F238E27FC236}">
                  <a16:creationId xmlns:a16="http://schemas.microsoft.com/office/drawing/2014/main" id="{B2E31B2B-1ABA-43AF-8994-F76BD98752AC}"/>
                </a:ext>
              </a:extLst>
            </p:cNvPr>
            <p:cNvSpPr/>
            <p:nvPr/>
          </p:nvSpPr>
          <p:spPr bwMode="auto">
            <a:xfrm>
              <a:off x="575568" y="1412776"/>
              <a:ext cx="108000" cy="1260000"/>
            </a:xfrm>
            <a:prstGeom prst="leftBrace">
              <a:avLst>
                <a:gd name="adj1" fmla="val 30113"/>
                <a:gd name="adj2" fmla="val 50000"/>
              </a:avLst>
            </a:prstGeom>
            <a:noFill/>
            <a:ln w="12700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2" name="Text Box 75">
              <a:extLst>
                <a:ext uri="{FF2B5EF4-FFF2-40B4-BE49-F238E27FC236}">
                  <a16:creationId xmlns:a16="http://schemas.microsoft.com/office/drawing/2014/main" id="{F4FE58D4-9BC7-4953-969F-D17C9A41D0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4000" y="1808776"/>
              <a:ext cx="216000" cy="46800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vert="eaVert"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>
                  <a:solidFill>
                    <a:srgbClr val="0070C0"/>
                  </a:solidFill>
                  <a:latin typeface="宋体" panose="02010600030101010101" pitchFamily="2" charset="-122"/>
                </a:rPr>
                <a:t>回顾</a:t>
              </a:r>
              <a:endParaRPr lang="en-US" altLang="zh-CN" sz="1600" b="1" dirty="0">
                <a:solidFill>
                  <a:srgbClr val="0070C0"/>
                </a:solidFill>
                <a:latin typeface="宋体" panose="02010600030101010101" pitchFamily="2" charset="-122"/>
              </a:endParaRPr>
            </a:p>
          </p:txBody>
        </p:sp>
      </p:grpSp>
      <p:sp>
        <p:nvSpPr>
          <p:cNvPr id="23" name="AutoShape 175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81620375-BB47-4FC6-82E3-1FD0CBECE3B7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5148759" y="6525344"/>
            <a:ext cx="287337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/>
      <p:bldP spid="19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Box 205"/>
          <p:cNvSpPr txBox="1">
            <a:spLocks noChangeArrowheads="1"/>
          </p:cNvSpPr>
          <p:nvPr/>
        </p:nvSpPr>
        <p:spPr bwMode="auto">
          <a:xfrm>
            <a:off x="179389" y="332656"/>
            <a:ext cx="7128916" cy="611276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*中断处理：</a:t>
            </a:r>
            <a:r>
              <a:rPr lang="zh-CN" altLang="en-US" sz="2200" b="1" dirty="0">
                <a:latin typeface="宋体" panose="02010600030101010101" pitchFamily="2" charset="-122"/>
              </a:rPr>
              <a:t>处理程序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软件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r>
              <a:rPr lang="zh-CN" altLang="en-US" sz="2200" b="1" dirty="0">
                <a:latin typeface="宋体" panose="02010600030101010101" pitchFamily="2" charset="-122"/>
              </a:rPr>
              <a:t>实现</a:t>
            </a:r>
            <a:endParaRPr lang="en-US" altLang="zh-CN" sz="18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spc="-100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spc="-100" dirty="0">
                <a:solidFill>
                  <a:schemeClr val="accent2"/>
                </a:solidFill>
                <a:latin typeface="宋体" panose="02010600030101010101" pitchFamily="2" charset="-122"/>
              </a:rPr>
              <a:t>处理程序的功能</a:t>
            </a:r>
            <a:r>
              <a:rPr lang="en-US" altLang="zh-CN" sz="2200" b="1" spc="-100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</a:p>
          <a:p>
            <a:pPr algn="l">
              <a:lnSpc>
                <a:spcPct val="125000"/>
              </a:lnSpc>
            </a:pPr>
            <a:endParaRPr lang="en-US" altLang="zh-CN" sz="2200" b="1" spc="-100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sz="2200" b="1" spc="-100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sz="2200" b="1" spc="-100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sz="2200" b="1" spc="-100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sz="2200" b="1" spc="-100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sz="2200" b="1" spc="-100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sz="2200" b="1" spc="-100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sz="2200" b="1" spc="-100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sz="2200" b="1" spc="-100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sz="2200" b="1" spc="-100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sz="2200" b="1" spc="-100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1200"/>
              </a:spcBef>
            </a:pPr>
            <a:r>
              <a:rPr lang="en-US" altLang="zh-CN" sz="2200" b="1" spc="-100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spc="-100" dirty="0">
                <a:solidFill>
                  <a:schemeClr val="accent2"/>
                </a:solidFill>
                <a:latin typeface="宋体" panose="02010600030101010101" pitchFamily="2" charset="-122"/>
              </a:rPr>
              <a:t>中断返回指令的功能</a:t>
            </a:r>
            <a:r>
              <a:rPr lang="en-US" altLang="zh-CN" sz="2200" b="1" spc="-100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</a:p>
        </p:txBody>
      </p:sp>
      <p:grpSp>
        <p:nvGrpSpPr>
          <p:cNvPr id="70" name="组合 69"/>
          <p:cNvGrpSpPr/>
          <p:nvPr/>
        </p:nvGrpSpPr>
        <p:grpSpPr>
          <a:xfrm>
            <a:off x="1296695" y="2420888"/>
            <a:ext cx="6515665" cy="3483128"/>
            <a:chOff x="-324315" y="2181246"/>
            <a:chExt cx="6515665" cy="3483128"/>
          </a:xfrm>
        </p:grpSpPr>
        <p:sp>
          <p:nvSpPr>
            <p:cNvPr id="75" name="Text Box 327"/>
            <p:cNvSpPr txBox="1">
              <a:spLocks noChangeArrowheads="1"/>
            </p:cNvSpPr>
            <p:nvPr>
              <p:custDataLst>
                <p:tags r:id="rId34"/>
              </p:custDataLst>
            </p:nvPr>
          </p:nvSpPr>
          <p:spPr bwMode="auto">
            <a:xfrm>
              <a:off x="-324315" y="2181246"/>
              <a:ext cx="1656000" cy="252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7780" rIns="18000" bIns="0" anchor="ctr"/>
            <a:lstStyle/>
            <a:p>
              <a:pPr marL="0" indent="0" algn="r" eaLnBrk="0" latinLnBrk="0" hangingPunct="0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(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硬件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)</a:t>
              </a:r>
              <a:r>
                <a:rPr lang="zh-CN" altLang="en-US" sz="1800" b="1" dirty="0">
                  <a:latin typeface="宋体" panose="02010600030101010101" pitchFamily="2" charset="-122"/>
                </a:rPr>
                <a:t>中断响应</a:t>
              </a:r>
            </a:p>
          </p:txBody>
        </p:sp>
        <p:sp>
          <p:nvSpPr>
            <p:cNvPr id="76" name="Text Box 337"/>
            <p:cNvSpPr txBox="1">
              <a:spLocks noChangeArrowheads="1"/>
            </p:cNvSpPr>
            <p:nvPr>
              <p:custDataLst>
                <p:tags r:id="rId35"/>
              </p:custDataLst>
            </p:nvPr>
          </p:nvSpPr>
          <p:spPr bwMode="auto">
            <a:xfrm>
              <a:off x="1403350" y="2181246"/>
              <a:ext cx="4788000" cy="252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18000" tIns="17780" rIns="18000" bIns="0" anchor="ctr"/>
            <a:lstStyle/>
            <a:p>
              <a:pPr marL="0" indent="0" eaLnBrk="0" latinLnBrk="0" hangingPunct="0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保存断点及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PSW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，关中断，识别事件并转入处理程序</a:t>
              </a:r>
            </a:p>
          </p:txBody>
        </p:sp>
        <p:sp>
          <p:nvSpPr>
            <p:cNvPr id="78" name="左大括号 77"/>
            <p:cNvSpPr/>
            <p:nvPr>
              <p:custDataLst>
                <p:tags r:id="rId36"/>
              </p:custDataLst>
            </p:nvPr>
          </p:nvSpPr>
          <p:spPr bwMode="auto">
            <a:xfrm>
              <a:off x="1367872" y="2604374"/>
              <a:ext cx="108012" cy="3060000"/>
            </a:xfrm>
            <a:prstGeom prst="leftBrace">
              <a:avLst>
                <a:gd name="adj1" fmla="val 33987"/>
                <a:gd name="adj2" fmla="val 50000"/>
              </a:avLst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9" name="Text Box 327"/>
            <p:cNvSpPr txBox="1">
              <a:spLocks noChangeArrowheads="1"/>
            </p:cNvSpPr>
            <p:nvPr>
              <p:custDataLst>
                <p:tags r:id="rId37"/>
              </p:custDataLst>
            </p:nvPr>
          </p:nvSpPr>
          <p:spPr bwMode="auto">
            <a:xfrm>
              <a:off x="-324315" y="4019174"/>
              <a:ext cx="1656000" cy="252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7780" rIns="18000" bIns="0" anchor="ctr"/>
            <a:lstStyle/>
            <a:p>
              <a:pPr marL="0" indent="0" algn="r" eaLnBrk="0" latinLnBrk="0" hangingPunct="0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(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软件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)</a:t>
              </a:r>
              <a:r>
                <a:rPr lang="zh-CN" altLang="en-US" sz="1800" b="1" dirty="0">
                  <a:latin typeface="宋体" panose="02010600030101010101" pitchFamily="2" charset="-122"/>
                </a:rPr>
                <a:t>中断处理</a:t>
              </a:r>
            </a:p>
          </p:txBody>
        </p:sp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BFB63-B979-4FAE-8763-D7093A979077}" type="slidenum">
              <a:rPr lang="en-US" altLang="zh-CN" smtClean="0"/>
              <a:t>32</a:t>
            </a:fld>
            <a:endParaRPr lang="en-US" altLang="zh-CN"/>
          </a:p>
        </p:txBody>
      </p:sp>
      <p:sp>
        <p:nvSpPr>
          <p:cNvPr id="12" name="Text Box 338"/>
          <p:cNvSpPr txBox="1">
            <a:spLocks noChangeArrowheads="1"/>
          </p:cNvSpPr>
          <p:nvPr/>
        </p:nvSpPr>
        <p:spPr bwMode="auto">
          <a:xfrm>
            <a:off x="2843807" y="764704"/>
            <a:ext cx="6192690" cy="161896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只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传送</a:t>
            </a:r>
            <a:r>
              <a:rPr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1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个</a:t>
            </a:r>
            <a:r>
              <a:rPr lang="zh-CN" altLang="en-US" sz="2200" b="1" dirty="0">
                <a:latin typeface="宋体" panose="02010600030101010101" pitchFamily="2" charset="-122"/>
              </a:rPr>
              <a:t>数据，</a:t>
            </a:r>
            <a:r>
              <a:rPr lang="zh-CN" altLang="en-US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不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破坏</a:t>
            </a:r>
            <a:r>
              <a:rPr lang="zh-CN" altLang="en-US" sz="2200" b="1" dirty="0">
                <a:latin typeface="宋体" panose="02010600030101010101" pitchFamily="2" charset="-122"/>
              </a:rPr>
              <a:t>现场</a:t>
            </a:r>
            <a:r>
              <a:rPr lang="en-US" altLang="zh-CN" sz="1800" b="1" dirty="0">
                <a:latin typeface="宋体" panose="02010600030101010101" pitchFamily="2" charset="-122"/>
              </a:rPr>
              <a:t>(GPRs)</a:t>
            </a:r>
            <a:r>
              <a:rPr lang="zh-CN" altLang="en-US" sz="2200" b="1" dirty="0">
                <a:latin typeface="宋体" panose="02010600030101010101" pitchFamily="2" charset="-122"/>
              </a:rPr>
              <a:t>；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可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支持多重</a:t>
            </a:r>
            <a:r>
              <a:rPr lang="zh-CN" altLang="en-US" sz="2200" b="1" dirty="0">
                <a:latin typeface="宋体" panose="02010600030101010101" pitchFamily="2" charset="-122"/>
              </a:rPr>
              <a:t>中断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默认为单重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r>
              <a:rPr lang="zh-CN" altLang="en-US" sz="2200" b="1" dirty="0">
                <a:latin typeface="宋体" panose="02010600030101010101" pitchFamily="2" charset="-122"/>
              </a:rPr>
              <a:t>；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可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改变</a:t>
            </a:r>
            <a:r>
              <a:rPr lang="zh-CN" altLang="en-US" sz="2200" b="1" u="sng" dirty="0">
                <a:latin typeface="宋体" panose="02010600030101010101" pitchFamily="2" charset="-122"/>
              </a:rPr>
              <a:t>处理优先级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正服务</a:t>
            </a:r>
            <a:r>
              <a:rPr lang="en-US" altLang="zh-CN" sz="1800" b="1" dirty="0">
                <a:latin typeface="宋体" panose="02010600030101010101" pitchFamily="2" charset="-122"/>
              </a:rPr>
              <a:t>-</a:t>
            </a:r>
            <a:r>
              <a:rPr lang="zh-CN" altLang="en-US" sz="1800" b="1" dirty="0">
                <a:latin typeface="宋体" panose="02010600030101010101" pitchFamily="2" charset="-122"/>
              </a:rPr>
              <a:t>未响应请求间</a:t>
            </a:r>
            <a:r>
              <a:rPr lang="en-US" altLang="zh-CN" sz="1800" b="1" dirty="0">
                <a:latin typeface="宋体" panose="02010600030101010101" pitchFamily="2" charset="-122"/>
              </a:rPr>
              <a:t>) </a:t>
            </a:r>
            <a:r>
              <a:rPr lang="zh-CN" altLang="en-US" sz="1800" b="1" dirty="0">
                <a:latin typeface="宋体" panose="02010600030101010101" pitchFamily="2" charset="-122"/>
              </a:rPr>
              <a:t>←稍后讨论</a:t>
            </a:r>
            <a:endParaRPr lang="en-US" altLang="zh-CN" sz="1800" b="1" u="sng" dirty="0">
              <a:latin typeface="宋体" panose="02010600030101010101" pitchFamily="2" charset="-122"/>
            </a:endParaRPr>
          </a:p>
          <a:p>
            <a:pPr algn="l">
              <a:lnSpc>
                <a:spcPct val="105000"/>
              </a:lnSpc>
            </a:pPr>
            <a:r>
              <a:rPr lang="zh-CN" altLang="en-US" sz="1800" b="1" dirty="0">
                <a:latin typeface="宋体" panose="02010600030101010101" pitchFamily="2" charset="-122"/>
              </a:rPr>
              <a:t>           </a:t>
            </a:r>
            <a:r>
              <a:rPr lang="zh-CN" altLang="en-US" sz="1800" dirty="0">
                <a:latin typeface="宋体" panose="02010600030101010101" pitchFamily="2" charset="-122"/>
              </a:rPr>
              <a:t>└</a:t>
            </a:r>
            <a:r>
              <a:rPr lang="zh-CN" altLang="en-US" sz="1800" b="1" dirty="0">
                <a:latin typeface="宋体" panose="02010600030101010101" pitchFamily="2" charset="-122"/>
              </a:rPr>
              <a:t>←如用</a:t>
            </a:r>
            <a:r>
              <a:rPr lang="zh-CN" altLang="en-US" sz="1800" b="1" u="sng" dirty="0">
                <a:solidFill>
                  <a:srgbClr val="0070C0"/>
                </a:solidFill>
                <a:latin typeface="宋体" panose="02010600030101010101" pitchFamily="2" charset="-122"/>
              </a:rPr>
              <a:t>屏蔽字</a:t>
            </a:r>
            <a:r>
              <a:rPr lang="zh-CN" altLang="en-US" sz="1800" b="1" dirty="0">
                <a:latin typeface="宋体" panose="02010600030101010101" pitchFamily="2" charset="-122"/>
              </a:rPr>
              <a:t>表示</a:t>
            </a:r>
            <a:endParaRPr lang="en-US" altLang="zh-CN" sz="1600" b="1" dirty="0">
              <a:latin typeface="宋体" panose="02010600030101010101" pitchFamily="2" charset="-122"/>
            </a:endParaRPr>
          </a:p>
        </p:txBody>
      </p:sp>
      <p:sp>
        <p:nvSpPr>
          <p:cNvPr id="47" name="Text Box 205"/>
          <p:cNvSpPr txBox="1">
            <a:spLocks noChangeArrowheads="1"/>
          </p:cNvSpPr>
          <p:nvPr/>
        </p:nvSpPr>
        <p:spPr bwMode="auto">
          <a:xfrm>
            <a:off x="3419872" y="5949280"/>
            <a:ext cx="5004618" cy="45736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sz="2200" b="1" dirty="0">
                <a:latin typeface="宋体" panose="02010600030101010101" pitchFamily="2" charset="-122"/>
              </a:rPr>
              <a:t>恢复所保存的断点及程序状态</a:t>
            </a:r>
            <a:endParaRPr lang="en-US" altLang="zh-CN" sz="2200" b="1" dirty="0">
              <a:latin typeface="宋体" panose="02010600030101010101" pitchFamily="2" charset="-122"/>
            </a:endParaRPr>
          </a:p>
        </p:txBody>
      </p:sp>
      <p:grpSp>
        <p:nvGrpSpPr>
          <p:cNvPr id="51" name="组合 50"/>
          <p:cNvGrpSpPr/>
          <p:nvPr/>
        </p:nvGrpSpPr>
        <p:grpSpPr>
          <a:xfrm>
            <a:off x="3276535" y="2674800"/>
            <a:ext cx="937594" cy="3249208"/>
            <a:chOff x="2266286" y="2407947"/>
            <a:chExt cx="937594" cy="3249208"/>
          </a:xfrm>
        </p:grpSpPr>
        <p:cxnSp>
          <p:nvCxnSpPr>
            <p:cNvPr id="52" name="直接箭头连接符 51"/>
            <p:cNvCxnSpPr/>
            <p:nvPr>
              <p:custDataLst>
                <p:tags r:id="rId26"/>
              </p:custDataLst>
            </p:nvPr>
          </p:nvCxnSpPr>
          <p:spPr bwMode="auto">
            <a:xfrm>
              <a:off x="2735880" y="2407947"/>
              <a:ext cx="0" cy="18000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</p:spPr>
        </p:cxnSp>
        <p:sp>
          <p:nvSpPr>
            <p:cNvPr id="53" name="Text Box 382"/>
            <p:cNvSpPr txBox="1">
              <a:spLocks noChangeArrowheads="1"/>
            </p:cNvSpPr>
            <p:nvPr>
              <p:custDataLst>
                <p:tags r:id="rId27"/>
              </p:custDataLst>
            </p:nvPr>
          </p:nvSpPr>
          <p:spPr bwMode="auto">
            <a:xfrm>
              <a:off x="2267880" y="2587947"/>
              <a:ext cx="936000" cy="25200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eaLnBrk="0" hangingPunct="0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保存现场</a:t>
              </a:r>
            </a:p>
          </p:txBody>
        </p:sp>
        <p:sp>
          <p:nvSpPr>
            <p:cNvPr id="54" name="Text Box 383"/>
            <p:cNvSpPr txBox="1">
              <a:spLocks noChangeArrowheads="1"/>
            </p:cNvSpPr>
            <p:nvPr>
              <p:custDataLst>
                <p:tags r:id="rId28"/>
              </p:custDataLst>
            </p:nvPr>
          </p:nvSpPr>
          <p:spPr bwMode="auto">
            <a:xfrm>
              <a:off x="2267880" y="3883947"/>
              <a:ext cx="936000" cy="430213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eaLnBrk="0" hangingPunct="0"/>
              <a:r>
                <a:rPr lang="zh-CN" altLang="en-US" sz="1600" b="1" dirty="0">
                  <a:latin typeface="宋体" panose="02010600030101010101" pitchFamily="2" charset="-122"/>
                </a:rPr>
                <a:t>设备服务</a:t>
              </a:r>
              <a:endParaRPr lang="zh-CN" altLang="en-US" sz="1600" b="1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56" name="Text Box 385"/>
            <p:cNvSpPr txBox="1">
              <a:spLocks noChangeArrowheads="1"/>
            </p:cNvSpPr>
            <p:nvPr>
              <p:custDataLst>
                <p:tags r:id="rId29"/>
              </p:custDataLst>
            </p:nvPr>
          </p:nvSpPr>
          <p:spPr bwMode="auto">
            <a:xfrm>
              <a:off x="2266286" y="5405155"/>
              <a:ext cx="936000" cy="25200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eaLnBrk="0" hangingPunct="0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中断返回</a:t>
              </a:r>
            </a:p>
          </p:txBody>
        </p:sp>
        <p:cxnSp>
          <p:nvCxnSpPr>
            <p:cNvPr id="63" name="直接箭头连接符 62"/>
            <p:cNvCxnSpPr/>
            <p:nvPr>
              <p:custDataLst>
                <p:tags r:id="rId30"/>
              </p:custDataLst>
            </p:nvPr>
          </p:nvCxnSpPr>
          <p:spPr bwMode="auto">
            <a:xfrm>
              <a:off x="2735476" y="2839947"/>
              <a:ext cx="0" cy="104400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</p:spPr>
        </p:cxnSp>
        <p:cxnSp>
          <p:nvCxnSpPr>
            <p:cNvPr id="64" name="直接箭头连接符 63"/>
            <p:cNvCxnSpPr/>
            <p:nvPr>
              <p:custDataLst>
                <p:tags r:id="rId31"/>
              </p:custDataLst>
            </p:nvPr>
          </p:nvCxnSpPr>
          <p:spPr bwMode="auto">
            <a:xfrm>
              <a:off x="2734621" y="4315947"/>
              <a:ext cx="0" cy="61200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</p:spPr>
        </p:cxnSp>
        <p:sp>
          <p:nvSpPr>
            <p:cNvPr id="67" name="Text Box 382"/>
            <p:cNvSpPr txBox="1">
              <a:spLocks noChangeArrowheads="1"/>
            </p:cNvSpPr>
            <p:nvPr>
              <p:custDataLst>
                <p:tags r:id="rId32"/>
              </p:custDataLst>
            </p:nvPr>
          </p:nvSpPr>
          <p:spPr bwMode="auto">
            <a:xfrm>
              <a:off x="2266479" y="4927947"/>
              <a:ext cx="936000" cy="25200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eaLnBrk="0" hangingPunct="0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恢复现场</a:t>
              </a:r>
            </a:p>
          </p:txBody>
        </p:sp>
        <p:cxnSp>
          <p:nvCxnSpPr>
            <p:cNvPr id="68" name="直接箭头连接符 67"/>
            <p:cNvCxnSpPr/>
            <p:nvPr>
              <p:custDataLst>
                <p:tags r:id="rId33"/>
              </p:custDataLst>
            </p:nvPr>
          </p:nvCxnSpPr>
          <p:spPr bwMode="auto">
            <a:xfrm>
              <a:off x="2734206" y="5189155"/>
              <a:ext cx="0" cy="21600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</p:spPr>
        </p:cxnSp>
      </p:grpSp>
      <p:sp>
        <p:nvSpPr>
          <p:cNvPr id="80" name="线形标注 2 108"/>
          <p:cNvSpPr/>
          <p:nvPr>
            <p:custDataLst>
              <p:tags r:id="rId1"/>
            </p:custDataLst>
          </p:nvPr>
        </p:nvSpPr>
        <p:spPr bwMode="auto">
          <a:xfrm>
            <a:off x="1476335" y="3140968"/>
            <a:ext cx="1152000" cy="468000"/>
          </a:xfrm>
          <a:prstGeom prst="borderCallout2">
            <a:avLst>
              <a:gd name="adj1" fmla="val 51211"/>
              <a:gd name="adj2" fmla="val 99843"/>
              <a:gd name="adj3" fmla="val 51158"/>
              <a:gd name="adj4" fmla="val 119201"/>
              <a:gd name="adj5" fmla="val -31945"/>
              <a:gd name="adj6" fmla="val 154059"/>
            </a:avLst>
          </a:prstGeom>
          <a:noFill/>
          <a:ln w="12700" cap="flat" cmpd="sng" algn="ctr">
            <a:solidFill>
              <a:srgbClr val="0070C0"/>
            </a:solidFill>
            <a:prstDash val="sysDash"/>
            <a:round/>
            <a:headEnd type="none" w="med" len="med"/>
            <a:tailEnd type="triangle" w="med" len="med"/>
          </a:ln>
          <a:effectLst/>
        </p:spPr>
        <p:txBody>
          <a:bodyPr vert="horz" wrap="square" lIns="36000" tIns="18000" rIns="36000" bIns="18000" numCol="1" rtlCol="0" anchor="ctr" anchorCtr="0" compatLnSpc="1"/>
          <a:lstStyle/>
          <a:p>
            <a:pPr>
              <a:lnSpc>
                <a:spcPct val="90000"/>
              </a:lnSpc>
            </a:pPr>
            <a:r>
              <a:rPr lang="zh-CN" altLang="en-US" sz="1600" b="1" dirty="0">
                <a:latin typeface="+mn-ea"/>
                <a:ea typeface="+mn-ea"/>
              </a:rPr>
              <a:t>仅保存</a:t>
            </a:r>
            <a:r>
              <a:rPr lang="zh-CN" altLang="en-US" sz="1600" b="1" dirty="0">
                <a:solidFill>
                  <a:srgbClr val="990099"/>
                </a:solidFill>
                <a:latin typeface="+mn-ea"/>
                <a:ea typeface="+mn-ea"/>
              </a:rPr>
              <a:t>程序所用</a:t>
            </a:r>
            <a:r>
              <a:rPr lang="en-US" altLang="zh-CN" sz="1600" b="1" dirty="0">
                <a:latin typeface="+mn-ea"/>
                <a:ea typeface="+mn-ea"/>
              </a:rPr>
              <a:t>GPR</a:t>
            </a:r>
            <a:endParaRPr lang="zh-CN" altLang="en-US" sz="1600" b="1" dirty="0">
              <a:latin typeface="+mn-ea"/>
              <a:ea typeface="+mn-ea"/>
            </a:endParaRPr>
          </a:p>
        </p:txBody>
      </p:sp>
      <p:grpSp>
        <p:nvGrpSpPr>
          <p:cNvPr id="83" name="组合 82"/>
          <p:cNvGrpSpPr/>
          <p:nvPr/>
        </p:nvGrpSpPr>
        <p:grpSpPr>
          <a:xfrm>
            <a:off x="5292759" y="2674816"/>
            <a:ext cx="1728000" cy="3204337"/>
            <a:chOff x="9298" y="3855"/>
            <a:chExt cx="2721" cy="5046"/>
          </a:xfrm>
        </p:grpSpPr>
        <p:cxnSp>
          <p:nvCxnSpPr>
            <p:cNvPr id="84" name="直接箭头连接符 83"/>
            <p:cNvCxnSpPr/>
            <p:nvPr>
              <p:custDataLst>
                <p:tags r:id="rId14"/>
              </p:custDataLst>
            </p:nvPr>
          </p:nvCxnSpPr>
          <p:spPr bwMode="auto">
            <a:xfrm>
              <a:off x="10658" y="3855"/>
              <a:ext cx="0" cy="283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</p:spPr>
        </p:cxnSp>
        <p:sp>
          <p:nvSpPr>
            <p:cNvPr id="85" name="Text Box 380"/>
            <p:cNvSpPr txBox="1"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10091" y="5499"/>
              <a:ext cx="1134" cy="397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 eaLnBrk="0" hangingPunct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</a:rPr>
                <a:t>开中断</a:t>
              </a:r>
            </a:p>
          </p:txBody>
        </p:sp>
        <p:sp>
          <p:nvSpPr>
            <p:cNvPr id="86" name="Text Box 382"/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9298" y="4138"/>
              <a:ext cx="2721" cy="397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l" eaLnBrk="0" hangingPunct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</a:rPr>
                <a:t>保存现场</a:t>
              </a:r>
              <a:endParaRPr lang="zh-CN" altLang="en-US" sz="1600" b="1" dirty="0">
                <a:solidFill>
                  <a:srgbClr val="C00000"/>
                </a:solidFill>
                <a:highlight>
                  <a:srgbClr val="99CCFF"/>
                </a:highlight>
                <a:latin typeface="宋体" panose="02010600030101010101" pitchFamily="2" charset="-122"/>
              </a:endParaRPr>
            </a:p>
          </p:txBody>
        </p:sp>
        <p:sp>
          <p:nvSpPr>
            <p:cNvPr id="87" name="Text Box 383"/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9865" y="6179"/>
              <a:ext cx="1587" cy="678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 eaLnBrk="0" hangingPunct="0"/>
              <a:r>
                <a:rPr lang="zh-CN" altLang="en-US" sz="1800" b="1" dirty="0">
                  <a:latin typeface="宋体" panose="02010600030101010101" pitchFamily="2" charset="-122"/>
                </a:rPr>
                <a:t>设备服务</a:t>
              </a:r>
              <a:endPara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88" name="Text Box 385"/>
            <p:cNvSpPr txBox="1"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9921" y="8504"/>
              <a:ext cx="1474" cy="397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 eaLnBrk="0" hangingPunct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</a:rPr>
                <a:t>中断返回</a:t>
              </a:r>
            </a:p>
          </p:txBody>
        </p:sp>
        <p:cxnSp>
          <p:nvCxnSpPr>
            <p:cNvPr id="90" name="直接箭头连接符 89"/>
            <p:cNvCxnSpPr/>
            <p:nvPr>
              <p:custDataLst>
                <p:tags r:id="rId19"/>
              </p:custDataLst>
            </p:nvPr>
          </p:nvCxnSpPr>
          <p:spPr bwMode="auto">
            <a:xfrm>
              <a:off x="10658" y="5896"/>
              <a:ext cx="0" cy="283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</p:spPr>
        </p:cxnSp>
        <p:sp>
          <p:nvSpPr>
            <p:cNvPr id="91" name="Text Box 380"/>
            <p:cNvSpPr txBox="1">
              <a:spLocks noChangeArrowheads="1"/>
            </p:cNvSpPr>
            <p:nvPr>
              <p:custDataLst>
                <p:tags r:id="rId20"/>
              </p:custDataLst>
            </p:nvPr>
          </p:nvSpPr>
          <p:spPr bwMode="auto">
            <a:xfrm>
              <a:off x="10091" y="7143"/>
              <a:ext cx="1134" cy="397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 eaLnBrk="0" hangingPunct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</a:rPr>
                <a:t>关中断</a:t>
              </a:r>
            </a:p>
          </p:txBody>
        </p:sp>
        <p:cxnSp>
          <p:nvCxnSpPr>
            <p:cNvPr id="92" name="直接箭头连接符 91"/>
            <p:cNvCxnSpPr/>
            <p:nvPr>
              <p:custDataLst>
                <p:tags r:id="rId21"/>
              </p:custDataLst>
            </p:nvPr>
          </p:nvCxnSpPr>
          <p:spPr bwMode="auto">
            <a:xfrm>
              <a:off x="10658" y="6860"/>
              <a:ext cx="0" cy="283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</p:spPr>
        </p:cxnSp>
        <p:cxnSp>
          <p:nvCxnSpPr>
            <p:cNvPr id="93" name="直接箭头连接符 92"/>
            <p:cNvCxnSpPr/>
            <p:nvPr>
              <p:custDataLst>
                <p:tags r:id="rId22"/>
              </p:custDataLst>
            </p:nvPr>
          </p:nvCxnSpPr>
          <p:spPr bwMode="auto">
            <a:xfrm>
              <a:off x="10658" y="7540"/>
              <a:ext cx="2" cy="283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</p:spPr>
        </p:cxnSp>
        <p:cxnSp>
          <p:nvCxnSpPr>
            <p:cNvPr id="95" name="直接箭头连接符 94"/>
            <p:cNvCxnSpPr/>
            <p:nvPr>
              <p:custDataLst>
                <p:tags r:id="rId23"/>
              </p:custDataLst>
            </p:nvPr>
          </p:nvCxnSpPr>
          <p:spPr bwMode="auto">
            <a:xfrm flipH="1">
              <a:off x="10658" y="4535"/>
              <a:ext cx="1" cy="964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</p:spPr>
        </p:cxnSp>
        <p:cxnSp>
          <p:nvCxnSpPr>
            <p:cNvPr id="96" name="直接箭头连接符 95"/>
            <p:cNvCxnSpPr/>
            <p:nvPr>
              <p:custDataLst>
                <p:tags r:id="rId24"/>
              </p:custDataLst>
            </p:nvPr>
          </p:nvCxnSpPr>
          <p:spPr bwMode="auto">
            <a:xfrm flipH="1">
              <a:off x="10658" y="8220"/>
              <a:ext cx="2" cy="283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</p:spPr>
        </p:cxnSp>
        <p:sp>
          <p:nvSpPr>
            <p:cNvPr id="97" name="Text Box 382"/>
            <p:cNvSpPr txBox="1">
              <a:spLocks noChangeArrowheads="1"/>
            </p:cNvSpPr>
            <p:nvPr>
              <p:custDataLst>
                <p:tags r:id="rId25"/>
              </p:custDataLst>
            </p:nvPr>
          </p:nvSpPr>
          <p:spPr bwMode="auto">
            <a:xfrm>
              <a:off x="9298" y="7823"/>
              <a:ext cx="2721" cy="397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l" eaLnBrk="0" hangingPunct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</a:rPr>
                <a:t>恢复现场</a:t>
              </a:r>
              <a:endParaRPr lang="zh-CN" altLang="en-US" sz="1600" b="1" dirty="0">
                <a:solidFill>
                  <a:srgbClr val="C00000"/>
                </a:solidFill>
                <a:highlight>
                  <a:srgbClr val="99CCFF"/>
                </a:highlight>
                <a:latin typeface="宋体" panose="02010600030101010101" pitchFamily="2" charset="-122"/>
              </a:endParaRPr>
            </a:p>
          </p:txBody>
        </p:sp>
      </p:grpSp>
      <p:grpSp>
        <p:nvGrpSpPr>
          <p:cNvPr id="98" name="组合 97"/>
          <p:cNvGrpSpPr/>
          <p:nvPr/>
        </p:nvGrpSpPr>
        <p:grpSpPr>
          <a:xfrm>
            <a:off x="4284647" y="2675011"/>
            <a:ext cx="828040" cy="3168015"/>
            <a:chOff x="6465" y="3855"/>
            <a:chExt cx="1304" cy="4989"/>
          </a:xfrm>
        </p:grpSpPr>
        <p:sp>
          <p:nvSpPr>
            <p:cNvPr id="99" name="右大括号 98"/>
            <p:cNvSpPr/>
            <p:nvPr>
              <p:custDataLst>
                <p:tags r:id="rId11"/>
              </p:custDataLst>
            </p:nvPr>
          </p:nvSpPr>
          <p:spPr bwMode="auto">
            <a:xfrm>
              <a:off x="6465" y="4252"/>
              <a:ext cx="170" cy="4592"/>
            </a:xfrm>
            <a:prstGeom prst="rightBrace">
              <a:avLst>
                <a:gd name="adj1" fmla="val 38095"/>
                <a:gd name="adj2" fmla="val 50000"/>
              </a:avLst>
            </a:prstGeom>
            <a:noFill/>
            <a:ln w="12700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0" name="Text Box 341"/>
            <p:cNvSpPr txBox="1"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6635" y="5538"/>
              <a:ext cx="1134" cy="2041"/>
            </a:xfrm>
            <a:prstGeom prst="rect">
              <a:avLst/>
            </a:prstGeom>
            <a:noFill/>
            <a:ln w="19050">
              <a:noFill/>
              <a:prstDash val="sysDot"/>
              <a:miter lim="800000"/>
            </a:ln>
            <a:effectLst/>
          </p:spPr>
          <p:txBody>
            <a:bodyPr vert="horz" lIns="18000" tIns="10800" rIns="18000" bIns="10800" anchor="ctr"/>
            <a:lstStyle/>
            <a:p>
              <a:pPr algn="ctr"/>
              <a:r>
                <a:rPr lang="zh-CN" altLang="en-US" sz="1600" b="1" dirty="0">
                  <a:solidFill>
                    <a:srgbClr val="990099"/>
                  </a:solidFill>
                  <a:latin typeface="宋体" panose="02010600030101010101" pitchFamily="2" charset="-122"/>
                </a:rPr>
                <a:t>不响应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新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INTR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请求</a:t>
              </a:r>
              <a:endParaRPr lang="en-US" altLang="zh-CN" sz="1600" b="1" dirty="0">
                <a:latin typeface="宋体" panose="02010600030101010101" pitchFamily="2" charset="-122"/>
              </a:endParaRPr>
            </a:p>
            <a:p>
              <a:pPr algn="ctr"/>
              <a:r>
                <a:rPr lang="en-US" altLang="zh-CN" sz="1800" b="1" dirty="0">
                  <a:latin typeface="宋体" panose="02010600030101010101" pitchFamily="2" charset="-122"/>
                </a:rPr>
                <a:t>(</a:t>
              </a:r>
              <a:r>
                <a:rPr lang="zh-CN" altLang="en-US" sz="1800" b="1" dirty="0">
                  <a:highlight>
                    <a:srgbClr val="FFFF99"/>
                  </a:highlight>
                  <a:latin typeface="宋体" panose="02010600030101010101" pitchFamily="2" charset="-122"/>
                </a:rPr>
                <a:t>单重中断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)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101" name="直接箭头连接符 100"/>
            <p:cNvCxnSpPr/>
            <p:nvPr>
              <p:custDataLst>
                <p:tags r:id="rId13"/>
              </p:custDataLst>
            </p:nvPr>
          </p:nvCxnSpPr>
          <p:spPr bwMode="auto">
            <a:xfrm flipH="1">
              <a:off x="6690" y="3855"/>
              <a:ext cx="680" cy="680"/>
            </a:xfrm>
            <a:prstGeom prst="straightConnector1">
              <a:avLst/>
            </a:prstGeom>
            <a:noFill/>
            <a:ln w="9525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triangle" w="med" len="med"/>
            </a:ln>
          </p:spPr>
        </p:cxnSp>
      </p:grpSp>
      <p:grpSp>
        <p:nvGrpSpPr>
          <p:cNvPr id="102" name="组合 101"/>
          <p:cNvGrpSpPr/>
          <p:nvPr/>
        </p:nvGrpSpPr>
        <p:grpSpPr>
          <a:xfrm>
            <a:off x="6552695" y="3744208"/>
            <a:ext cx="1080135" cy="1296035"/>
            <a:chOff x="10432" y="5783"/>
            <a:chExt cx="1701" cy="2041"/>
          </a:xfrm>
        </p:grpSpPr>
        <p:sp>
          <p:nvSpPr>
            <p:cNvPr id="107" name="右大括号 106"/>
            <p:cNvSpPr/>
            <p:nvPr>
              <p:custDataLst>
                <p:tags r:id="rId7"/>
              </p:custDataLst>
            </p:nvPr>
          </p:nvSpPr>
          <p:spPr bwMode="auto">
            <a:xfrm>
              <a:off x="10715" y="6463"/>
              <a:ext cx="170" cy="624"/>
            </a:xfrm>
            <a:prstGeom prst="rightBrace">
              <a:avLst>
                <a:gd name="adj1" fmla="val 38095"/>
                <a:gd name="adj2" fmla="val 50000"/>
              </a:avLst>
            </a:prstGeom>
            <a:noFill/>
            <a:ln w="12700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0" name="Text Box 341"/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10999" y="5783"/>
              <a:ext cx="1134" cy="2041"/>
            </a:xfrm>
            <a:prstGeom prst="rect">
              <a:avLst/>
            </a:prstGeom>
            <a:noFill/>
            <a:ln w="19050">
              <a:noFill/>
              <a:prstDash val="sysDot"/>
              <a:miter lim="800000"/>
            </a:ln>
            <a:effectLst/>
          </p:spPr>
          <p:txBody>
            <a:bodyPr vert="horz"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>
                  <a:solidFill>
                    <a:srgbClr val="990099"/>
                  </a:solidFill>
                  <a:latin typeface="宋体" panose="02010600030101010101" pitchFamily="2" charset="-122"/>
                </a:rPr>
                <a:t>可响应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新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INTR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请求</a:t>
              </a:r>
              <a:endParaRPr lang="en-US" altLang="zh-CN" sz="1600" b="1" dirty="0">
                <a:latin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(</a:t>
              </a:r>
              <a:r>
                <a:rPr lang="zh-CN" altLang="en-US" sz="1800" b="1" dirty="0">
                  <a:highlight>
                    <a:srgbClr val="FFFF99"/>
                  </a:highlight>
                  <a:latin typeface="宋体" panose="02010600030101010101" pitchFamily="2" charset="-122"/>
                </a:rPr>
                <a:t>多重中断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)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111" name="直接箭头连接符 110"/>
            <p:cNvCxnSpPr/>
            <p:nvPr>
              <p:custDataLst>
                <p:tags r:id="rId9"/>
              </p:custDataLst>
            </p:nvPr>
          </p:nvCxnSpPr>
          <p:spPr bwMode="auto">
            <a:xfrm>
              <a:off x="10432" y="5967"/>
              <a:ext cx="283" cy="397"/>
            </a:xfrm>
            <a:prstGeom prst="straightConnector1">
              <a:avLst/>
            </a:prstGeom>
            <a:noFill/>
            <a:ln w="9525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triangle" w="med" len="med"/>
            </a:ln>
          </p:spPr>
        </p:cxnSp>
        <p:cxnSp>
          <p:nvCxnSpPr>
            <p:cNvPr id="112" name="直接箭头连接符 111"/>
            <p:cNvCxnSpPr/>
            <p:nvPr>
              <p:custDataLst>
                <p:tags r:id="rId10"/>
              </p:custDataLst>
            </p:nvPr>
          </p:nvCxnSpPr>
          <p:spPr bwMode="auto">
            <a:xfrm flipV="1">
              <a:off x="10432" y="7160"/>
              <a:ext cx="283" cy="397"/>
            </a:xfrm>
            <a:prstGeom prst="straightConnector1">
              <a:avLst/>
            </a:prstGeom>
            <a:noFill/>
            <a:ln w="9525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triangle" w="med" len="med"/>
            </a:ln>
          </p:spPr>
        </p:cxnSp>
      </p:grpSp>
      <p:sp>
        <p:nvSpPr>
          <p:cNvPr id="46" name="线形标注 2 99">
            <a:extLst>
              <a:ext uri="{FF2B5EF4-FFF2-40B4-BE49-F238E27FC236}">
                <a16:creationId xmlns:a16="http://schemas.microsoft.com/office/drawing/2014/main" id="{4A8A8AF2-3EB7-4D24-BE75-F874FB8198EF}"/>
              </a:ext>
            </a:extLst>
          </p:cNvPr>
          <p:cNvSpPr/>
          <p:nvPr>
            <p:custDataLst>
              <p:tags r:id="rId2"/>
            </p:custDataLst>
          </p:nvPr>
        </p:nvSpPr>
        <p:spPr bwMode="auto">
          <a:xfrm>
            <a:off x="4860032" y="548680"/>
            <a:ext cx="2844000" cy="252000"/>
          </a:xfrm>
          <a:prstGeom prst="borderCallout2">
            <a:avLst>
              <a:gd name="adj1" fmla="val 51162"/>
              <a:gd name="adj2" fmla="val -873"/>
              <a:gd name="adj3" fmla="val 51162"/>
              <a:gd name="adj4" fmla="val -10044"/>
              <a:gd name="adj5" fmla="val 148758"/>
              <a:gd name="adj6" fmla="val -29529"/>
            </a:avLst>
          </a:prstGeom>
          <a:noFill/>
          <a:ln w="12700" cap="flat" cmpd="sng" algn="ctr">
            <a:solidFill>
              <a:srgbClr val="0070C0"/>
            </a:solidFill>
            <a:prstDash val="sysDash"/>
            <a:round/>
            <a:headEnd type="none" w="med" len="med"/>
            <a:tailEnd type="triangle" w="med" len="med"/>
          </a:ln>
          <a:effectLst/>
        </p:spPr>
        <p:txBody>
          <a:bodyPr vert="horz" wrap="square" lIns="36000" tIns="18000" rIns="36000" bIns="18000" numCol="1" rtlCol="0" anchor="ctr" anchorCtr="0" compatLnSpc="1"/>
          <a:lstStyle/>
          <a:p>
            <a:pPr>
              <a:lnSpc>
                <a:spcPct val="90000"/>
              </a:lnSpc>
            </a:pPr>
            <a:r>
              <a:rPr lang="en-US" altLang="zh-CN" sz="1600" b="1" dirty="0">
                <a:latin typeface="+mn-ea"/>
                <a:ea typeface="+mn-ea"/>
              </a:rPr>
              <a:t>I/O</a:t>
            </a:r>
            <a:r>
              <a:rPr lang="zh-CN" altLang="en-US" sz="1600" b="1" dirty="0">
                <a:latin typeface="+mn-ea"/>
                <a:ea typeface="+mn-ea"/>
              </a:rPr>
              <a:t>开销↓</a:t>
            </a:r>
            <a:r>
              <a:rPr lang="en-US" altLang="zh-CN" sz="1600" b="1" dirty="0">
                <a:latin typeface="+mn-ea"/>
                <a:ea typeface="+mn-ea"/>
              </a:rPr>
              <a:t>(</a:t>
            </a:r>
            <a:r>
              <a:rPr lang="zh-CN" altLang="en-US" sz="1600" b="1" dirty="0">
                <a:latin typeface="+mn-ea"/>
                <a:ea typeface="+mn-ea"/>
              </a:rPr>
              <a:t>硬件等待再次就绪</a:t>
            </a:r>
            <a:r>
              <a:rPr lang="en-US" altLang="zh-CN" sz="1600" b="1" dirty="0">
                <a:latin typeface="+mn-ea"/>
                <a:ea typeface="+mn-ea"/>
              </a:rPr>
              <a:t>)</a:t>
            </a:r>
            <a:endParaRPr lang="zh-CN" altLang="en-US" sz="1600" b="1" dirty="0">
              <a:latin typeface="+mn-ea"/>
              <a:ea typeface="+mn-ea"/>
            </a:endParaRPr>
          </a:p>
        </p:txBody>
      </p:sp>
      <p:sp>
        <p:nvSpPr>
          <p:cNvPr id="49" name="AutoShape 175">
            <a:hlinkClick r:id="rId40" action="ppaction://hlinksldjump" highlightClick="1"/>
            <a:extLst>
              <a:ext uri="{FF2B5EF4-FFF2-40B4-BE49-F238E27FC236}">
                <a16:creationId xmlns:a16="http://schemas.microsoft.com/office/drawing/2014/main" id="{E853015B-7FFF-4712-B107-997EFA24888E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4068000" y="6524450"/>
            <a:ext cx="287337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64402CA8-CF85-44A8-BE56-BBF32ED00485}"/>
              </a:ext>
            </a:extLst>
          </p:cNvPr>
          <p:cNvGrpSpPr/>
          <p:nvPr/>
        </p:nvGrpSpPr>
        <p:grpSpPr>
          <a:xfrm>
            <a:off x="5580441" y="2836800"/>
            <a:ext cx="1404254" cy="2592105"/>
            <a:chOff x="5580441" y="2836800"/>
            <a:chExt cx="1404254" cy="2592105"/>
          </a:xfrm>
        </p:grpSpPr>
        <p:sp>
          <p:nvSpPr>
            <p:cNvPr id="48" name="Text Box 382">
              <a:extLst>
                <a:ext uri="{FF2B5EF4-FFF2-40B4-BE49-F238E27FC236}">
                  <a16:creationId xmlns:a16="http://schemas.microsoft.com/office/drawing/2014/main" id="{6A751463-6FCA-4C6C-96C6-15B0385ECEB7}"/>
                </a:ext>
              </a:extLst>
            </p:cNvPr>
            <p:cNvSpPr txBox="1"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6120695" y="2836800"/>
              <a:ext cx="864000" cy="252105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 eaLnBrk="0" hangingPunct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highlight>
                    <a:srgbClr val="99CCFF"/>
                  </a:highlight>
                  <a:latin typeface="宋体" panose="02010600030101010101" pitchFamily="2" charset="-122"/>
                </a:rPr>
                <a:t>及</a:t>
              </a:r>
              <a:r>
                <a:rPr lang="zh-CN" altLang="en-US" sz="1600" b="1" dirty="0">
                  <a:solidFill>
                    <a:srgbClr val="C00000"/>
                  </a:solidFill>
                  <a:highlight>
                    <a:srgbClr val="99CCFF"/>
                  </a:highlight>
                  <a:latin typeface="宋体" panose="02010600030101010101" pitchFamily="2" charset="-122"/>
                </a:rPr>
                <a:t>屏蔽字</a:t>
              </a:r>
            </a:p>
          </p:txBody>
        </p:sp>
        <p:sp>
          <p:nvSpPr>
            <p:cNvPr id="50" name="Text Box 382">
              <a:extLst>
                <a:ext uri="{FF2B5EF4-FFF2-40B4-BE49-F238E27FC236}">
                  <a16:creationId xmlns:a16="http://schemas.microsoft.com/office/drawing/2014/main" id="{8E17D92D-2B60-46A9-B230-B45685523FCA}"/>
                </a:ext>
              </a:extLst>
            </p:cNvPr>
            <p:cNvSpPr txBox="1"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6120000" y="5176800"/>
              <a:ext cx="864000" cy="252105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 eaLnBrk="0" hangingPunct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highlight>
                    <a:srgbClr val="99CCFF"/>
                  </a:highlight>
                  <a:latin typeface="宋体" panose="02010600030101010101" pitchFamily="2" charset="-122"/>
                </a:rPr>
                <a:t>及</a:t>
              </a:r>
              <a:r>
                <a:rPr lang="zh-CN" altLang="en-US" sz="1600" b="1" dirty="0">
                  <a:solidFill>
                    <a:srgbClr val="C00000"/>
                  </a:solidFill>
                  <a:highlight>
                    <a:srgbClr val="99CCFF"/>
                  </a:highlight>
                  <a:latin typeface="宋体" panose="02010600030101010101" pitchFamily="2" charset="-122"/>
                </a:rPr>
                <a:t>屏蔽字</a:t>
              </a:r>
            </a:p>
          </p:txBody>
        </p:sp>
        <p:cxnSp>
          <p:nvCxnSpPr>
            <p:cNvPr id="55" name="直接箭头连接符 54">
              <a:extLst>
                <a:ext uri="{FF2B5EF4-FFF2-40B4-BE49-F238E27FC236}">
                  <a16:creationId xmlns:a16="http://schemas.microsoft.com/office/drawing/2014/main" id="{A4FC6BC6-D186-4239-AE4E-06E4863137FB}"/>
                </a:ext>
              </a:extLst>
            </p:cNvPr>
            <p:cNvCxnSpPr/>
            <p:nvPr>
              <p:custDataLst>
                <p:tags r:id="rId5"/>
              </p:custDataLst>
            </p:nvPr>
          </p:nvCxnSpPr>
          <p:spPr bwMode="auto">
            <a:xfrm flipH="1">
              <a:off x="6156441" y="3106633"/>
              <a:ext cx="635" cy="179712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</p:spPr>
        </p:cxnSp>
        <p:sp>
          <p:nvSpPr>
            <p:cNvPr id="57" name="Text Box 380">
              <a:extLst>
                <a:ext uri="{FF2B5EF4-FFF2-40B4-BE49-F238E27FC236}">
                  <a16:creationId xmlns:a16="http://schemas.microsoft.com/office/drawing/2014/main" id="{344DCCE9-5DC3-4C8E-A588-200DA8E41DC0}"/>
                </a:ext>
              </a:extLst>
            </p:cNvPr>
            <p:cNvSpPr txBox="1"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5580441" y="3286980"/>
              <a:ext cx="1152000" cy="252105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 eaLnBrk="0" hangingPunct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</a:rPr>
                <a:t>修改</a:t>
              </a:r>
              <a:r>
                <a:rPr lang="zh-CN" altLang="en-US" sz="1600" b="1" dirty="0">
                  <a:solidFill>
                    <a:srgbClr val="C00000"/>
                  </a:solidFill>
                  <a:latin typeface="宋体" panose="02010600030101010101" pitchFamily="2" charset="-122"/>
                </a:rPr>
                <a:t>屏蔽字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6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  <p:bldP spid="80" grpId="0" bldLvl="0" animBg="1"/>
      <p:bldP spid="46" grpId="0" bldLvl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8EE83-3116-4D89-A4AB-7F21572FA6AE}" type="slidenum">
              <a:rPr lang="en-US" altLang="zh-CN"/>
              <a:t>33</a:t>
            </a:fld>
            <a:endParaRPr lang="en-US" altLang="zh-CN"/>
          </a:p>
        </p:txBody>
      </p:sp>
      <p:sp>
        <p:nvSpPr>
          <p:cNvPr id="425988" name="Text Box 4"/>
          <p:cNvSpPr txBox="1">
            <a:spLocks noChangeArrowheads="1"/>
          </p:cNvSpPr>
          <p:nvPr/>
        </p:nvSpPr>
        <p:spPr bwMode="auto">
          <a:xfrm>
            <a:off x="179388" y="332656"/>
            <a:ext cx="8785225" cy="234775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L="984250" indent="-984250" algn="l">
              <a:lnSpc>
                <a:spcPct val="125000"/>
              </a:lnSpc>
            </a:pP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例</a:t>
            </a: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—</a:t>
            </a:r>
            <a:r>
              <a:rPr lang="zh-CN" altLang="de-DE" sz="2000" b="1" dirty="0">
                <a:latin typeface="宋体" panose="02010600030101010101" pitchFamily="2" charset="-122"/>
              </a:rPr>
              <a:t>某</a:t>
            </a:r>
            <a:r>
              <a:rPr lang="de-DE" altLang="zh-CN" sz="2000" b="1" dirty="0">
                <a:latin typeface="宋体" panose="02010600030101010101" pitchFamily="2" charset="-122"/>
              </a:rPr>
              <a:t>CPU</a:t>
            </a:r>
            <a:r>
              <a:rPr lang="zh-CN" altLang="de-DE" sz="2000" b="1" dirty="0">
                <a:latin typeface="宋体" panose="02010600030101010101" pitchFamily="2" charset="-122"/>
              </a:rPr>
              <a:t>主频为</a:t>
            </a:r>
            <a:r>
              <a:rPr lang="de-DE" altLang="zh-CN" sz="2000" b="1" dirty="0">
                <a:latin typeface="宋体" panose="02010600030101010101" pitchFamily="2" charset="-122"/>
              </a:rPr>
              <a:t>50MHz</a:t>
            </a:r>
            <a:r>
              <a:rPr lang="zh-CN" altLang="en-US" sz="2000" b="1" dirty="0">
                <a:latin typeface="宋体" panose="02010600030101010101" pitchFamily="2" charset="-122"/>
              </a:rPr>
              <a:t>、</a:t>
            </a:r>
            <a:r>
              <a:rPr lang="de-DE" altLang="zh-CN" sz="2000" b="1" dirty="0">
                <a:latin typeface="宋体" panose="02010600030101010101" pitchFamily="2" charset="-122"/>
              </a:rPr>
              <a:t>CPI</a:t>
            </a:r>
            <a:r>
              <a:rPr lang="zh-CN" altLang="en-US" sz="2000" b="1" dirty="0">
                <a:latin typeface="宋体" panose="02010600030101010101" pitchFamily="2" charset="-122"/>
              </a:rPr>
              <a:t>＝</a:t>
            </a:r>
            <a:r>
              <a:rPr lang="de-DE" altLang="zh-CN" sz="2000" b="1" dirty="0">
                <a:latin typeface="宋体" panose="02010600030101010101" pitchFamily="2" charset="-122"/>
              </a:rPr>
              <a:t>5</a:t>
            </a:r>
            <a:r>
              <a:rPr lang="zh-CN" altLang="de-DE" sz="2000" b="1" dirty="0">
                <a:latin typeface="宋体" panose="02010600030101010101" pitchFamily="2" charset="-122"/>
              </a:rPr>
              <a:t>，中断响应需</a:t>
            </a:r>
            <a:r>
              <a:rPr lang="zh-CN" altLang="en-US" sz="2000" b="1" dirty="0">
                <a:latin typeface="宋体" panose="02010600030101010101" pitchFamily="2" charset="-122"/>
              </a:rPr>
              <a:t>要</a:t>
            </a:r>
            <a:r>
              <a:rPr lang="de-DE" altLang="zh-CN" sz="2000" b="1" dirty="0">
                <a:latin typeface="宋体" panose="02010600030101010101" pitchFamily="2" charset="-122"/>
              </a:rPr>
              <a:t>6</a:t>
            </a:r>
            <a:r>
              <a:rPr lang="zh-CN" altLang="de-DE" sz="2000" b="1" dirty="0">
                <a:latin typeface="宋体" panose="02010600030101010101" pitchFamily="2" charset="-122"/>
              </a:rPr>
              <a:t>个时钟周期</a:t>
            </a:r>
            <a:r>
              <a:rPr lang="zh-CN" altLang="en-US" sz="2000" b="1" dirty="0">
                <a:latin typeface="宋体" panose="02010600030101010101" pitchFamily="2" charset="-122"/>
              </a:rPr>
              <a:t>。</a:t>
            </a:r>
            <a:r>
              <a:rPr lang="zh-CN" altLang="de-DE" sz="2000" b="1" dirty="0">
                <a:latin typeface="宋体" panose="02010600030101010101" pitchFamily="2" charset="-122"/>
              </a:rPr>
              <a:t>外设</a:t>
            </a:r>
            <a:r>
              <a:rPr lang="en-US" altLang="zh-CN" sz="2000" b="1" dirty="0">
                <a:latin typeface="宋体" panose="02010600030101010101" pitchFamily="2" charset="-122"/>
              </a:rPr>
              <a:t>D</a:t>
            </a:r>
            <a:r>
              <a:rPr lang="zh-CN" altLang="en-US" sz="2000" b="1" dirty="0">
                <a:latin typeface="宋体" panose="02010600030101010101" pitchFamily="2" charset="-122"/>
              </a:rPr>
              <a:t>的</a:t>
            </a:r>
            <a:r>
              <a:rPr lang="zh-CN" altLang="de-DE" sz="2000" b="1" dirty="0">
                <a:latin typeface="宋体" panose="02010600030101010101" pitchFamily="2" charset="-122"/>
              </a:rPr>
              <a:t>数据传输率为</a:t>
            </a:r>
            <a:r>
              <a:rPr lang="de-DE" altLang="zh-CN" sz="2000" b="1" dirty="0">
                <a:latin typeface="宋体" panose="02010600030101010101" pitchFamily="2" charset="-122"/>
              </a:rPr>
              <a:t>20KB/s</a:t>
            </a:r>
            <a:r>
              <a:rPr lang="zh-CN" altLang="de-DE" sz="2000" b="1" dirty="0">
                <a:latin typeface="宋体" panose="02010600030101010101" pitchFamily="2" charset="-122"/>
              </a:rPr>
              <a:t>，</a:t>
            </a:r>
            <a:r>
              <a:rPr lang="zh-CN" altLang="en-US" sz="2000" b="1" dirty="0">
                <a:latin typeface="宋体" panose="02010600030101010101" pitchFamily="2" charset="-122"/>
              </a:rPr>
              <a:t>每次传输</a:t>
            </a:r>
            <a:r>
              <a:rPr lang="de-DE" altLang="zh-CN" sz="2000" b="1" dirty="0">
                <a:latin typeface="宋体" panose="02010600030101010101" pitchFamily="2" charset="-122"/>
              </a:rPr>
              <a:t>16</a:t>
            </a:r>
            <a:r>
              <a:rPr lang="zh-CN" altLang="de-DE" sz="2000" b="1" dirty="0">
                <a:latin typeface="宋体" panose="02010600030101010101" pitchFamily="2" charset="-122"/>
              </a:rPr>
              <a:t>位</a:t>
            </a:r>
            <a:r>
              <a:rPr lang="zh-CN" altLang="en-US" sz="2000" b="1" dirty="0">
                <a:latin typeface="宋体" panose="02010600030101010101" pitchFamily="2" charset="-122"/>
              </a:rPr>
              <a:t>数据</a:t>
            </a:r>
            <a:r>
              <a:rPr lang="zh-CN" altLang="de-DE" sz="2000" b="1" dirty="0">
                <a:latin typeface="宋体" panose="02010600030101010101" pitchFamily="2" charset="-122"/>
              </a:rPr>
              <a:t>，相应的中断服务程序包含</a:t>
            </a:r>
            <a:r>
              <a:rPr lang="de-DE" altLang="zh-CN" sz="2000" b="1" dirty="0">
                <a:latin typeface="宋体" panose="02010600030101010101" pitchFamily="2" charset="-122"/>
              </a:rPr>
              <a:t>10</a:t>
            </a:r>
            <a:r>
              <a:rPr lang="zh-CN" altLang="de-DE" sz="2000" b="1" dirty="0">
                <a:latin typeface="宋体" panose="02010600030101010101" pitchFamily="2" charset="-122"/>
              </a:rPr>
              <a:t>条机器指令。</a:t>
            </a:r>
            <a:endParaRPr lang="en-US" altLang="zh-CN" sz="2000" b="1" dirty="0">
              <a:latin typeface="宋体" panose="02010600030101010101" pitchFamily="2" charset="-122"/>
            </a:endParaRPr>
          </a:p>
          <a:p>
            <a:pPr marL="1257300" indent="-1257300" algn="l">
              <a:lnSpc>
                <a:spcPct val="125000"/>
              </a:lnSpc>
            </a:pPr>
            <a:r>
              <a:rPr lang="zh-CN" altLang="de-DE" sz="2000" b="1" dirty="0">
                <a:latin typeface="宋体" panose="02010600030101010101" pitchFamily="2" charset="-122"/>
              </a:rPr>
              <a:t>       </a:t>
            </a:r>
            <a:r>
              <a:rPr lang="en-US" altLang="zh-CN" sz="2000" b="1" dirty="0">
                <a:latin typeface="宋体" panose="02010600030101010101" pitchFamily="2" charset="-122"/>
              </a:rPr>
              <a:t>(1)D</a:t>
            </a:r>
            <a:r>
              <a:rPr lang="zh-CN" altLang="de-DE" sz="2000" b="1" dirty="0">
                <a:latin typeface="宋体" panose="02010600030101010101" pitchFamily="2" charset="-122"/>
              </a:rPr>
              <a:t>可</a:t>
            </a:r>
            <a:r>
              <a:rPr lang="zh-CN" altLang="en-US" sz="2000" b="1" dirty="0">
                <a:latin typeface="宋体" panose="02010600030101010101" pitchFamily="2" charset="-122"/>
              </a:rPr>
              <a:t>否</a:t>
            </a:r>
            <a:r>
              <a:rPr lang="zh-CN" altLang="de-DE" sz="2000" b="1" dirty="0">
                <a:latin typeface="宋体" panose="02010600030101010101" pitchFamily="2" charset="-122"/>
              </a:rPr>
              <a:t>用中断方式</a:t>
            </a:r>
            <a:r>
              <a:rPr lang="de-DE" altLang="zh-CN" sz="2000" b="1" dirty="0">
                <a:latin typeface="宋体" panose="02010600030101010101" pitchFamily="2" charset="-122"/>
              </a:rPr>
              <a:t>I/O</a:t>
            </a:r>
            <a:r>
              <a:rPr lang="zh-CN" altLang="de-DE" sz="2000" b="1" dirty="0">
                <a:latin typeface="宋体" panose="02010600030101010101" pitchFamily="2" charset="-122"/>
              </a:rPr>
              <a:t>？若能，</a:t>
            </a:r>
            <a:r>
              <a:rPr lang="en-US" altLang="zh-CN" sz="2000" b="1" dirty="0">
                <a:latin typeface="宋体" panose="02010600030101010101" pitchFamily="2" charset="-122"/>
              </a:rPr>
              <a:t>D</a:t>
            </a:r>
            <a:r>
              <a:rPr lang="zh-CN" altLang="en-US" sz="2000" b="1" dirty="0">
                <a:latin typeface="宋体" panose="02010600030101010101" pitchFamily="2" charset="-122"/>
              </a:rPr>
              <a:t>不停地</a:t>
            </a:r>
            <a:r>
              <a:rPr lang="en-US" altLang="zh-CN" sz="2000" b="1" dirty="0">
                <a:latin typeface="宋体" panose="02010600030101010101" pitchFamily="2" charset="-122"/>
              </a:rPr>
              <a:t>I/O</a:t>
            </a:r>
            <a:r>
              <a:rPr lang="zh-CN" altLang="en-US" sz="2000" b="1" dirty="0">
                <a:latin typeface="宋体" panose="02010600030101010101" pitchFamily="2" charset="-122"/>
              </a:rPr>
              <a:t>时</a:t>
            </a:r>
            <a:r>
              <a:rPr lang="zh-CN" altLang="de-DE" sz="2000" b="1" dirty="0">
                <a:latin typeface="宋体" panose="02010600030101010101" pitchFamily="2" charset="-122"/>
              </a:rPr>
              <a:t>，</a:t>
            </a:r>
            <a:r>
              <a:rPr lang="de-DE" altLang="zh-CN" sz="2000" b="1" dirty="0">
                <a:latin typeface="宋体" panose="02010600030101010101" pitchFamily="2" charset="-122"/>
              </a:rPr>
              <a:t>CPU</a:t>
            </a:r>
            <a:r>
              <a:rPr lang="zh-CN" altLang="de-DE" sz="2000" b="1" dirty="0">
                <a:latin typeface="宋体" panose="02010600030101010101" pitchFamily="2" charset="-122"/>
              </a:rPr>
              <a:t>用于</a:t>
            </a:r>
            <a:r>
              <a:rPr lang="en-US" altLang="zh-CN" sz="2000" b="1" dirty="0">
                <a:latin typeface="宋体" panose="02010600030101010101" pitchFamily="2" charset="-122"/>
              </a:rPr>
              <a:t>D</a:t>
            </a:r>
            <a:r>
              <a:rPr lang="zh-CN" altLang="en-US" sz="2000" b="1" dirty="0">
                <a:latin typeface="宋体" panose="02010600030101010101" pitchFamily="2" charset="-122"/>
              </a:rPr>
              <a:t>的</a:t>
            </a:r>
            <a:r>
              <a:rPr lang="de-DE" altLang="zh-CN" sz="2000" b="1" dirty="0">
                <a:latin typeface="宋体" panose="02010600030101010101" pitchFamily="2" charset="-122"/>
              </a:rPr>
              <a:t>I/O</a:t>
            </a:r>
            <a:r>
              <a:rPr lang="zh-CN" altLang="de-DE" sz="2000" b="1" dirty="0">
                <a:latin typeface="宋体" panose="02010600030101010101" pitchFamily="2" charset="-122"/>
              </a:rPr>
              <a:t>时间占整个</a:t>
            </a:r>
            <a:r>
              <a:rPr lang="de-DE" altLang="zh-CN" sz="2000" b="1" dirty="0">
                <a:latin typeface="宋体" panose="02010600030101010101" pitchFamily="2" charset="-122"/>
              </a:rPr>
              <a:t>CPU</a:t>
            </a:r>
            <a:r>
              <a:rPr lang="zh-CN" altLang="de-DE" sz="2000" b="1" dirty="0">
                <a:latin typeface="宋体" panose="02010600030101010101" pitchFamily="2" charset="-122"/>
              </a:rPr>
              <a:t>时间的</a:t>
            </a:r>
            <a:r>
              <a:rPr lang="en-US" altLang="zh-CN" sz="2000" b="1" dirty="0">
                <a:latin typeface="宋体" panose="02010600030101010101" pitchFamily="2" charset="-122"/>
              </a:rPr>
              <a:t>%</a:t>
            </a:r>
            <a:r>
              <a:rPr lang="zh-CN" altLang="de-DE" sz="2000" b="1" dirty="0">
                <a:latin typeface="宋体" panose="02010600030101010101" pitchFamily="2" charset="-122"/>
              </a:rPr>
              <a:t>为多少？</a:t>
            </a:r>
          </a:p>
          <a:p>
            <a:pPr algn="l">
              <a:lnSpc>
                <a:spcPct val="125000"/>
              </a:lnSpc>
            </a:pPr>
            <a:r>
              <a:rPr lang="zh-CN" altLang="de-DE" sz="2000" b="1" dirty="0">
                <a:latin typeface="宋体" panose="02010600030101010101" pitchFamily="2" charset="-122"/>
              </a:rPr>
              <a:t>       </a:t>
            </a:r>
            <a:r>
              <a:rPr lang="en-US" altLang="zh-CN" sz="2000" b="1" dirty="0">
                <a:latin typeface="宋体" panose="02010600030101010101" pitchFamily="2" charset="-122"/>
              </a:rPr>
              <a:t>(2)</a:t>
            </a:r>
            <a:r>
              <a:rPr lang="zh-CN" altLang="de-DE" sz="2000" b="1" dirty="0">
                <a:latin typeface="宋体" panose="02010600030101010101" pitchFamily="2" charset="-122"/>
              </a:rPr>
              <a:t>若</a:t>
            </a:r>
            <a:r>
              <a:rPr lang="en-US" altLang="zh-CN" sz="2000" b="1" dirty="0">
                <a:latin typeface="宋体" panose="02010600030101010101" pitchFamily="2" charset="-122"/>
              </a:rPr>
              <a:t>D</a:t>
            </a:r>
            <a:r>
              <a:rPr lang="zh-CN" altLang="en-US" sz="2000" b="1" dirty="0">
                <a:latin typeface="宋体" panose="02010600030101010101" pitchFamily="2" charset="-122"/>
              </a:rPr>
              <a:t>的</a:t>
            </a:r>
            <a:r>
              <a:rPr lang="zh-CN" altLang="de-DE" sz="2000" b="1" dirty="0">
                <a:latin typeface="宋体" panose="02010600030101010101" pitchFamily="2" charset="-122"/>
              </a:rPr>
              <a:t>数据传输率为</a:t>
            </a:r>
            <a:r>
              <a:rPr lang="de-DE" altLang="zh-CN" sz="2000" b="1" dirty="0">
                <a:latin typeface="宋体" panose="02010600030101010101" pitchFamily="2" charset="-122"/>
              </a:rPr>
              <a:t>1MB/s</a:t>
            </a:r>
            <a:r>
              <a:rPr lang="zh-CN" altLang="de-DE" sz="2000" b="1" dirty="0">
                <a:latin typeface="宋体" panose="02010600030101010101" pitchFamily="2" charset="-122"/>
              </a:rPr>
              <a:t>，可否</a:t>
            </a:r>
            <a:r>
              <a:rPr lang="zh-CN" altLang="en-US" sz="2000" b="1" dirty="0">
                <a:latin typeface="宋体" panose="02010600030101010101" pitchFamily="2" charset="-122"/>
              </a:rPr>
              <a:t>采</a:t>
            </a:r>
            <a:r>
              <a:rPr lang="zh-CN" altLang="de-DE" sz="2000" b="1" dirty="0">
                <a:latin typeface="宋体" panose="02010600030101010101" pitchFamily="2" charset="-122"/>
              </a:rPr>
              <a:t>用中断方式</a:t>
            </a:r>
            <a:r>
              <a:rPr lang="de-DE" altLang="zh-CN" sz="2000" b="1" dirty="0">
                <a:latin typeface="宋体" panose="02010600030101010101" pitchFamily="2" charset="-122"/>
              </a:rPr>
              <a:t>I/O</a:t>
            </a:r>
            <a:r>
              <a:rPr lang="zh-CN" altLang="de-DE" sz="2000" b="1" dirty="0">
                <a:latin typeface="宋体" panose="02010600030101010101" pitchFamily="2" charset="-122"/>
              </a:rPr>
              <a:t>？</a:t>
            </a:r>
            <a:endParaRPr lang="zh-CN" altLang="en-US" sz="2000" b="1" dirty="0">
              <a:latin typeface="宋体" panose="02010600030101010101" pitchFamily="2" charset="-122"/>
            </a:endParaRPr>
          </a:p>
        </p:txBody>
      </p:sp>
      <p:sp>
        <p:nvSpPr>
          <p:cNvPr id="425989" name="Text Box 5"/>
          <p:cNvSpPr txBox="1">
            <a:spLocks noChangeArrowheads="1"/>
          </p:cNvSpPr>
          <p:nvPr/>
        </p:nvSpPr>
        <p:spPr bwMode="auto">
          <a:xfrm>
            <a:off x="179388" y="2644463"/>
            <a:ext cx="8785225" cy="157831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解</a:t>
            </a: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—⑴</a:t>
            </a:r>
            <a:r>
              <a:rPr lang="en-US" altLang="zh-CN" sz="2000" b="1" dirty="0">
                <a:latin typeface="宋体" panose="02010600030101010101" pitchFamily="2" charset="-122"/>
              </a:rPr>
              <a:t>2</a:t>
            </a:r>
            <a:r>
              <a:rPr lang="zh-CN" altLang="en-US" sz="2000" b="1" dirty="0">
                <a:latin typeface="宋体" panose="02010600030101010101" pitchFamily="2" charset="-122"/>
              </a:rPr>
              <a:t>次中断请求间隔</a:t>
            </a:r>
            <a:r>
              <a:rPr lang="en-US" altLang="zh-CN" sz="2000" b="1" dirty="0">
                <a:latin typeface="宋体" panose="02010600030101010101" pitchFamily="2" charset="-122"/>
              </a:rPr>
              <a:t>T</a:t>
            </a:r>
            <a:r>
              <a:rPr lang="en-US" altLang="zh-CN" sz="2000" b="1" baseline="-16000" dirty="0">
                <a:latin typeface="宋体" panose="02010600030101010101" pitchFamily="2" charset="-122"/>
              </a:rPr>
              <a:t>I/O</a:t>
            </a:r>
            <a:r>
              <a:rPr lang="zh-CN" altLang="en-US" sz="2000" b="1" dirty="0">
                <a:latin typeface="宋体" panose="02010600030101010101" pitchFamily="2" charset="-122"/>
              </a:rPr>
              <a:t>＝</a:t>
            </a:r>
            <a:endParaRPr lang="zh-CN" altLang="de-DE" sz="20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de-DE" sz="2000" b="1" dirty="0">
                <a:latin typeface="宋体" panose="02010600030101010101" pitchFamily="2" charset="-122"/>
              </a:rPr>
              <a:t>          </a:t>
            </a:r>
            <a:r>
              <a:rPr lang="zh-CN" altLang="en-US" sz="2000" b="1" dirty="0">
                <a:latin typeface="宋体" panose="02010600030101010101" pitchFamily="2" charset="-122"/>
              </a:rPr>
              <a:t>一次</a:t>
            </a:r>
            <a:r>
              <a:rPr lang="en-US" altLang="zh-CN" sz="2000" b="1" dirty="0">
                <a:latin typeface="宋体" panose="02010600030101010101" pitchFamily="2" charset="-122"/>
              </a:rPr>
              <a:t>I/O</a:t>
            </a:r>
            <a:r>
              <a:rPr lang="zh-CN" altLang="en-US" sz="2000" b="1" dirty="0">
                <a:latin typeface="宋体" panose="02010600030101010101" pitchFamily="2" charset="-122"/>
              </a:rPr>
              <a:t>所占</a:t>
            </a:r>
            <a:r>
              <a:rPr lang="en-US" altLang="zh-CN" sz="2000" b="1" dirty="0">
                <a:latin typeface="宋体" panose="02010600030101010101" pitchFamily="2" charset="-122"/>
              </a:rPr>
              <a:t>CPU</a:t>
            </a:r>
            <a:r>
              <a:rPr lang="zh-CN" altLang="en-US" sz="2000" b="1" dirty="0">
                <a:latin typeface="宋体" panose="02010600030101010101" pitchFamily="2" charset="-122"/>
              </a:rPr>
              <a:t>时间</a:t>
            </a:r>
            <a:r>
              <a:rPr lang="en-US" altLang="zh-CN" sz="2000" b="1" dirty="0">
                <a:latin typeface="宋体" panose="02010600030101010101" pitchFamily="2" charset="-122"/>
              </a:rPr>
              <a:t>T</a:t>
            </a:r>
            <a:r>
              <a:rPr lang="en-US" altLang="zh-CN" sz="2000" b="1" baseline="-16000" dirty="0">
                <a:latin typeface="宋体" panose="02010600030101010101" pitchFamily="2" charset="-122"/>
              </a:rPr>
              <a:t>INT</a:t>
            </a:r>
            <a:r>
              <a:rPr lang="zh-CN" altLang="en-US" sz="2000" b="1" dirty="0">
                <a:latin typeface="宋体" panose="02010600030101010101" pitchFamily="2" charset="-122"/>
              </a:rPr>
              <a:t>＝</a:t>
            </a:r>
            <a:endParaRPr lang="en-US" altLang="zh-CN" sz="20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de-DE" altLang="zh-CN" sz="2000" b="1" dirty="0">
                <a:latin typeface="宋体" panose="02010600030101010101" pitchFamily="2" charset="-122"/>
              </a:rPr>
              <a:t>          I/O</a:t>
            </a:r>
            <a:r>
              <a:rPr lang="zh-CN" altLang="en-US" sz="2000" b="1" dirty="0">
                <a:latin typeface="宋体" panose="02010600030101010101" pitchFamily="2" charset="-122"/>
              </a:rPr>
              <a:t>占</a:t>
            </a:r>
            <a:r>
              <a:rPr lang="en-US" altLang="zh-CN" sz="2000" b="1" dirty="0">
                <a:latin typeface="宋体" panose="02010600030101010101" pitchFamily="2" charset="-122"/>
              </a:rPr>
              <a:t>CPU</a:t>
            </a:r>
            <a:r>
              <a:rPr lang="zh-CN" altLang="de-DE" sz="2000" b="1" dirty="0">
                <a:latin typeface="宋体" panose="02010600030101010101" pitchFamily="2" charset="-122"/>
              </a:rPr>
              <a:t>时间</a:t>
            </a:r>
            <a:r>
              <a:rPr lang="en-US" altLang="zh-CN" sz="2000" b="1" dirty="0">
                <a:latin typeface="宋体" panose="02010600030101010101" pitchFamily="2" charset="-122"/>
              </a:rPr>
              <a:t>%</a:t>
            </a:r>
            <a:r>
              <a:rPr lang="zh-CN" altLang="en-US" sz="2000" b="1" dirty="0">
                <a:latin typeface="宋体" panose="02010600030101010101" pitchFamily="2" charset="-122"/>
              </a:rPr>
              <a:t>＝</a:t>
            </a:r>
            <a:r>
              <a:rPr lang="zh-CN" altLang="en-US" sz="2000" b="1" u="sng" dirty="0">
                <a:latin typeface="宋体" panose="02010600030101010101" pitchFamily="2" charset="-122"/>
              </a:rPr>
              <a:t>      </a:t>
            </a:r>
            <a:r>
              <a:rPr lang="zh-CN" altLang="en-US" sz="2000" b="1" dirty="0">
                <a:latin typeface="宋体" panose="02010600030101010101" pitchFamily="2" charset="-122"/>
              </a:rPr>
              <a:t>，</a:t>
            </a:r>
            <a:endParaRPr lang="en-US" altLang="zh-CN" sz="20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000" b="1" dirty="0">
                <a:latin typeface="宋体" panose="02010600030101010101" pitchFamily="2" charset="-122"/>
              </a:rPr>
              <a:t>          </a:t>
            </a:r>
            <a:r>
              <a:rPr lang="zh-CN" altLang="en-US" sz="2000" b="1" dirty="0">
                <a:latin typeface="宋体" panose="02010600030101010101" pitchFamily="2" charset="-122"/>
              </a:rPr>
              <a:t>∴</a:t>
            </a:r>
            <a:endParaRPr lang="zh-CN" altLang="de-DE" sz="2000" b="1" dirty="0">
              <a:latin typeface="宋体" panose="02010600030101010101" pitchFamily="2" charset="-122"/>
            </a:endParaRPr>
          </a:p>
        </p:txBody>
      </p:sp>
      <p:sp>
        <p:nvSpPr>
          <p:cNvPr id="425990" name="Text Box 6"/>
          <p:cNvSpPr txBox="1">
            <a:spLocks noChangeArrowheads="1"/>
          </p:cNvSpPr>
          <p:nvPr/>
        </p:nvSpPr>
        <p:spPr bwMode="auto">
          <a:xfrm>
            <a:off x="1763688" y="3356992"/>
            <a:ext cx="2809678" cy="84734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de-DE" altLang="zh-CN" sz="2000" b="1" dirty="0">
                <a:latin typeface="宋体" panose="02010600030101010101" pitchFamily="2" charset="-122"/>
              </a:rPr>
              <a:t>             1.12</a:t>
            </a:r>
            <a:r>
              <a:rPr lang="en-US" altLang="zh-CN" sz="2000" b="1" dirty="0">
                <a:latin typeface="宋体" panose="02010600030101010101" pitchFamily="2" charset="-122"/>
              </a:rPr>
              <a:t>%</a:t>
            </a:r>
            <a:endParaRPr lang="zh-CN" altLang="en-US" sz="20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300"/>
              </a:spcBef>
            </a:pPr>
            <a:r>
              <a:rPr lang="zh-CN" altLang="de-DE" sz="2000" b="1" dirty="0">
                <a:latin typeface="宋体" panose="02010600030101010101" pitchFamily="2" charset="-122"/>
              </a:rPr>
              <a:t>可采用中断方式</a:t>
            </a:r>
            <a:r>
              <a:rPr lang="de-DE" altLang="zh-CN" sz="2000" b="1" dirty="0">
                <a:latin typeface="宋体" panose="02010600030101010101" pitchFamily="2" charset="-122"/>
              </a:rPr>
              <a:t>I/O</a:t>
            </a:r>
            <a:r>
              <a:rPr lang="zh-CN" altLang="en-US" sz="2000" b="1" dirty="0">
                <a:latin typeface="宋体" panose="02010600030101010101" pitchFamily="2" charset="-122"/>
              </a:rPr>
              <a:t>。</a:t>
            </a:r>
          </a:p>
        </p:txBody>
      </p:sp>
      <p:sp>
        <p:nvSpPr>
          <p:cNvPr id="425991" name="Text Box 7"/>
          <p:cNvSpPr txBox="1">
            <a:spLocks noChangeArrowheads="1"/>
          </p:cNvSpPr>
          <p:nvPr/>
        </p:nvSpPr>
        <p:spPr bwMode="auto">
          <a:xfrm>
            <a:off x="179388" y="4149080"/>
            <a:ext cx="5037505" cy="119359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        ⑵</a:t>
            </a:r>
            <a:r>
              <a:rPr lang="en-US" altLang="zh-CN" sz="2000" b="1" dirty="0">
                <a:latin typeface="宋体" panose="02010600030101010101" pitchFamily="2" charset="-122"/>
              </a:rPr>
              <a:t>T</a:t>
            </a:r>
            <a:r>
              <a:rPr lang="en-US" altLang="zh-CN" sz="2000" b="1" baseline="-16000" dirty="0">
                <a:latin typeface="宋体" panose="02010600030101010101" pitchFamily="2" charset="-122"/>
              </a:rPr>
              <a:t>I/O</a:t>
            </a:r>
            <a:r>
              <a:rPr lang="zh-CN" altLang="en-US" sz="2000" b="1" dirty="0">
                <a:latin typeface="宋体" panose="02010600030101010101" pitchFamily="2" charset="-122"/>
              </a:rPr>
              <a:t>＝</a:t>
            </a:r>
            <a:r>
              <a:rPr lang="de-DE" altLang="zh-CN" sz="2000" b="1" dirty="0">
                <a:latin typeface="宋体" panose="02010600030101010101" pitchFamily="2" charset="-122"/>
              </a:rPr>
              <a:t>2B/1MBps</a:t>
            </a:r>
            <a:r>
              <a:rPr lang="zh-CN" altLang="en-US" sz="2000" b="1" dirty="0">
                <a:latin typeface="宋体" panose="02010600030101010101" pitchFamily="2" charset="-122"/>
              </a:rPr>
              <a:t>＝</a:t>
            </a:r>
            <a:r>
              <a:rPr lang="de-DE" altLang="zh-CN" sz="2000" b="1" dirty="0">
                <a:latin typeface="宋体" panose="02010600030101010101" pitchFamily="2" charset="-122"/>
              </a:rPr>
              <a:t>2</a:t>
            </a:r>
            <a:r>
              <a:rPr lang="en-US" altLang="zh-CN" sz="2000" dirty="0"/>
              <a:t>μ</a:t>
            </a:r>
            <a:r>
              <a:rPr lang="de-DE" altLang="zh-CN" sz="2000" b="1" dirty="0">
                <a:latin typeface="宋体" panose="02010600030101010101" pitchFamily="2" charset="-122"/>
              </a:rPr>
              <a:t>s</a:t>
            </a:r>
            <a:r>
              <a:rPr lang="zh-CN" altLang="de-DE" sz="2000" b="1" dirty="0">
                <a:latin typeface="宋体" panose="02010600030101010101" pitchFamily="2" charset="-122"/>
              </a:rPr>
              <a:t>，</a:t>
            </a:r>
            <a:endParaRPr lang="en-US" altLang="zh-CN" sz="20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de-DE" altLang="zh-CN" sz="2000" b="1" dirty="0">
                <a:latin typeface="宋体" panose="02010600030101010101" pitchFamily="2" charset="-122"/>
              </a:rPr>
              <a:t>          I/O</a:t>
            </a:r>
            <a:r>
              <a:rPr lang="zh-CN" altLang="en-US" sz="2000" b="1" dirty="0">
                <a:latin typeface="宋体" panose="02010600030101010101" pitchFamily="2" charset="-122"/>
              </a:rPr>
              <a:t>占</a:t>
            </a:r>
            <a:r>
              <a:rPr lang="en-US" altLang="zh-CN" sz="2000" b="1" dirty="0">
                <a:latin typeface="宋体" panose="02010600030101010101" pitchFamily="2" charset="-122"/>
              </a:rPr>
              <a:t>CPU</a:t>
            </a:r>
            <a:r>
              <a:rPr lang="zh-CN" altLang="de-DE" sz="2000" b="1" dirty="0">
                <a:latin typeface="宋体" panose="02010600030101010101" pitchFamily="2" charset="-122"/>
              </a:rPr>
              <a:t>时间</a:t>
            </a:r>
            <a:r>
              <a:rPr lang="en-US" altLang="zh-CN" sz="2000" b="1" dirty="0">
                <a:latin typeface="宋体" panose="02010600030101010101" pitchFamily="2" charset="-122"/>
              </a:rPr>
              <a:t>%</a:t>
            </a:r>
            <a:r>
              <a:rPr lang="zh-CN" altLang="en-US" sz="2000" b="1" dirty="0">
                <a:latin typeface="宋体" panose="02010600030101010101" pitchFamily="2" charset="-122"/>
              </a:rPr>
              <a:t>＝</a:t>
            </a:r>
            <a:r>
              <a:rPr lang="en-US" altLang="zh-CN" sz="2000" b="1" dirty="0">
                <a:latin typeface="宋体" panose="02010600030101010101" pitchFamily="2" charset="-122"/>
              </a:rPr>
              <a:t>1.12/2</a:t>
            </a:r>
            <a:r>
              <a:rPr lang="zh-CN" altLang="en-US" sz="2000" b="1" dirty="0">
                <a:latin typeface="宋体" panose="02010600030101010101" pitchFamily="2" charset="-122"/>
              </a:rPr>
              <a:t>＝</a:t>
            </a:r>
            <a:r>
              <a:rPr lang="de-DE" altLang="zh-CN" sz="2000" b="1" dirty="0">
                <a:latin typeface="宋体" panose="02010600030101010101" pitchFamily="2" charset="-122"/>
              </a:rPr>
              <a:t>56%</a:t>
            </a:r>
            <a:r>
              <a:rPr lang="zh-CN" altLang="en-US" sz="2000" b="1" dirty="0">
                <a:latin typeface="宋体" panose="02010600030101010101" pitchFamily="2" charset="-122"/>
              </a:rPr>
              <a:t>，</a:t>
            </a:r>
            <a:endParaRPr lang="en-US" altLang="zh-CN" sz="20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000" b="1" dirty="0">
                <a:latin typeface="宋体" panose="02010600030101010101" pitchFamily="2" charset="-122"/>
              </a:rPr>
              <a:t>          </a:t>
            </a:r>
            <a:r>
              <a:rPr lang="zh-CN" altLang="en-US" sz="2000" b="1" dirty="0">
                <a:latin typeface="宋体" panose="02010600030101010101" pitchFamily="2" charset="-122"/>
              </a:rPr>
              <a:t>∴</a:t>
            </a:r>
            <a:endParaRPr lang="zh-CN" altLang="de-DE" sz="2000" b="1" dirty="0">
              <a:latin typeface="宋体" panose="02010600030101010101" pitchFamily="2" charset="-122"/>
            </a:endParaRPr>
          </a:p>
        </p:txBody>
      </p:sp>
      <p:sp>
        <p:nvSpPr>
          <p:cNvPr id="425992" name="Text Box 8"/>
          <p:cNvSpPr txBox="1">
            <a:spLocks noChangeArrowheads="1"/>
          </p:cNvSpPr>
          <p:nvPr/>
        </p:nvSpPr>
        <p:spPr bwMode="auto">
          <a:xfrm>
            <a:off x="1835447" y="4941168"/>
            <a:ext cx="6913017" cy="38889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tIns="10800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de-DE" sz="2000" b="1" dirty="0">
                <a:latin typeface="宋体" panose="02010600030101010101" pitchFamily="2" charset="-122"/>
              </a:rPr>
              <a:t>不</a:t>
            </a:r>
            <a:r>
              <a:rPr lang="zh-CN" altLang="en-US" sz="2000" b="1" dirty="0">
                <a:latin typeface="宋体" panose="02010600030101010101" pitchFamily="2" charset="-122"/>
              </a:rPr>
              <a:t>应</a:t>
            </a:r>
            <a:r>
              <a:rPr lang="zh-CN" altLang="de-DE" sz="2000" b="1" dirty="0">
                <a:latin typeface="宋体" panose="02010600030101010101" pitchFamily="2" charset="-122"/>
              </a:rPr>
              <a:t>采用中断方式</a:t>
            </a:r>
            <a:r>
              <a:rPr lang="de-DE" altLang="zh-CN" sz="2000" b="1" dirty="0">
                <a:latin typeface="宋体" panose="02010600030101010101" pitchFamily="2" charset="-122"/>
              </a:rPr>
              <a:t>I/O</a:t>
            </a:r>
            <a:r>
              <a:rPr lang="zh-CN" altLang="en-US" sz="2000" b="1" dirty="0">
                <a:latin typeface="宋体" panose="02010600030101010101" pitchFamily="2" charset="-122"/>
              </a:rPr>
              <a:t>。   </a:t>
            </a:r>
            <a:r>
              <a:rPr lang="zh-CN" altLang="en-US" sz="1800" b="1" dirty="0">
                <a:latin typeface="宋体" panose="02010600030101010101" pitchFamily="2" charset="-122"/>
              </a:rPr>
              <a:t>←</a:t>
            </a:r>
            <a:r>
              <a:rPr lang="en-US" altLang="zh-CN" sz="1800" b="1" dirty="0">
                <a:latin typeface="宋体" panose="02010600030101010101" pitchFamily="2" charset="-122"/>
              </a:rPr>
              <a:t>CPU</a:t>
            </a:r>
            <a:r>
              <a:rPr lang="zh-CN" altLang="en-US" sz="1800" b="1" dirty="0">
                <a:latin typeface="宋体" panose="02010600030101010101" pitchFamily="2" charset="-122"/>
              </a:rPr>
              <a:t>无法</a:t>
            </a:r>
            <a:r>
              <a:rPr lang="zh-CN" altLang="en-US" sz="1800" b="1" u="sng" dirty="0">
                <a:latin typeface="宋体" panose="02010600030101010101" pitchFamily="2" charset="-122"/>
              </a:rPr>
              <a:t>及时响应</a:t>
            </a:r>
            <a:r>
              <a:rPr lang="zh-CN" altLang="en-US" sz="1800" b="1" dirty="0">
                <a:latin typeface="宋体" panose="02010600030101010101" pitchFamily="2" charset="-122"/>
              </a:rPr>
              <a:t>其余外设</a:t>
            </a:r>
            <a:endParaRPr lang="zh-CN" altLang="en-US" b="1" dirty="0">
              <a:latin typeface="宋体" panose="02010600030101010101" pitchFamily="2" charset="-122"/>
            </a:endParaRPr>
          </a:p>
        </p:txBody>
      </p:sp>
      <p:sp>
        <p:nvSpPr>
          <p:cNvPr id="9" name="Text Box 5"/>
          <p:cNvSpPr txBox="1">
            <a:spLocks noChangeArrowheads="1"/>
          </p:cNvSpPr>
          <p:nvPr/>
        </p:nvSpPr>
        <p:spPr bwMode="auto">
          <a:xfrm>
            <a:off x="4067944" y="2636912"/>
            <a:ext cx="4347841" cy="82259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de-DE" altLang="zh-CN" sz="2000" b="1" dirty="0">
                <a:latin typeface="宋体" panose="02010600030101010101" pitchFamily="2" charset="-122"/>
              </a:rPr>
              <a:t>2B/20KBps</a:t>
            </a:r>
            <a:r>
              <a:rPr lang="zh-CN" altLang="en-US" sz="2000" b="1" dirty="0">
                <a:latin typeface="宋体" panose="02010600030101010101" pitchFamily="2" charset="-122"/>
              </a:rPr>
              <a:t>＝</a:t>
            </a:r>
            <a:r>
              <a:rPr lang="de-DE" altLang="zh-CN" sz="2000" b="1" dirty="0">
                <a:latin typeface="宋体" panose="02010600030101010101" pitchFamily="2" charset="-122"/>
              </a:rPr>
              <a:t>100</a:t>
            </a:r>
            <a:r>
              <a:rPr lang="en-US" altLang="zh-CN" sz="2000" dirty="0">
                <a:latin typeface="+mn-lt"/>
              </a:rPr>
              <a:t>μ</a:t>
            </a:r>
            <a:r>
              <a:rPr lang="de-DE" altLang="zh-CN" sz="2000" b="1" dirty="0">
                <a:latin typeface="宋体" panose="02010600030101010101" pitchFamily="2" charset="-122"/>
              </a:rPr>
              <a:t>s</a:t>
            </a:r>
            <a:r>
              <a:rPr lang="zh-CN" altLang="en-US" sz="2000" b="1" dirty="0">
                <a:latin typeface="宋体" panose="02010600030101010101" pitchFamily="2" charset="-122"/>
              </a:rPr>
              <a:t>，</a:t>
            </a:r>
            <a:endParaRPr lang="zh-CN" altLang="de-DE" sz="20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de-DE" altLang="zh-CN" sz="2000" b="1" dirty="0">
                <a:latin typeface="宋体" panose="02010600030101010101" pitchFamily="2" charset="-122"/>
              </a:rPr>
              <a:t>   (6</a:t>
            </a:r>
            <a:r>
              <a:rPr lang="zh-CN" altLang="de-DE" sz="2000" b="1" dirty="0">
                <a:latin typeface="宋体" panose="02010600030101010101" pitchFamily="2" charset="-122"/>
              </a:rPr>
              <a:t>＋</a:t>
            </a:r>
            <a:r>
              <a:rPr lang="de-DE" altLang="zh-CN" sz="2000" b="1" dirty="0">
                <a:latin typeface="宋体" panose="02010600030101010101" pitchFamily="2" charset="-122"/>
              </a:rPr>
              <a:t>10*5)/(50*10</a:t>
            </a:r>
            <a:r>
              <a:rPr lang="de-DE" altLang="zh-CN" sz="2000" b="1" baseline="30000" dirty="0">
                <a:latin typeface="宋体" panose="02010600030101010101" pitchFamily="2" charset="-122"/>
              </a:rPr>
              <a:t>6</a:t>
            </a:r>
            <a:r>
              <a:rPr lang="de-DE" altLang="zh-CN" sz="2000" b="1" dirty="0">
                <a:latin typeface="宋体" panose="02010600030101010101" pitchFamily="2" charset="-122"/>
              </a:rPr>
              <a:t>)</a:t>
            </a:r>
            <a:r>
              <a:rPr lang="zh-CN" altLang="en-US" sz="2000" b="1" dirty="0">
                <a:latin typeface="宋体" panose="02010600030101010101" pitchFamily="2" charset="-122"/>
              </a:rPr>
              <a:t>＝</a:t>
            </a:r>
            <a:r>
              <a:rPr lang="de-DE" altLang="zh-CN" sz="2000" b="1" dirty="0">
                <a:latin typeface="宋体" panose="02010600030101010101" pitchFamily="2" charset="-122"/>
              </a:rPr>
              <a:t>1.12</a:t>
            </a:r>
            <a:r>
              <a:rPr lang="en-US" altLang="zh-CN" sz="2000" dirty="0"/>
              <a:t>μ</a:t>
            </a:r>
            <a:r>
              <a:rPr lang="de-DE" altLang="zh-CN" sz="2000" b="1" dirty="0">
                <a:latin typeface="宋体" panose="02010600030101010101" pitchFamily="2" charset="-122"/>
              </a:rPr>
              <a:t>s</a:t>
            </a:r>
            <a:r>
              <a:rPr lang="zh-CN" altLang="en-US" sz="2000" b="1" dirty="0">
                <a:latin typeface="宋体" panose="02010600030101010101" pitchFamily="2" charset="-122"/>
              </a:rPr>
              <a:t>，</a:t>
            </a:r>
            <a:endParaRPr lang="zh-CN" altLang="de-DE" sz="2000" b="1" dirty="0">
              <a:latin typeface="宋体" panose="02010600030101010101" pitchFamily="2" charset="-122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4717205" y="3501008"/>
            <a:ext cx="4175275" cy="1224000"/>
            <a:chOff x="396925" y="2934155"/>
            <a:chExt cx="4175275" cy="1224000"/>
          </a:xfrm>
        </p:grpSpPr>
        <p:sp>
          <p:nvSpPr>
            <p:cNvPr id="11" name="Text Box 9"/>
            <p:cNvSpPr txBox="1">
              <a:spLocks noChangeArrowheads="1"/>
            </p:cNvSpPr>
            <p:nvPr/>
          </p:nvSpPr>
          <p:spPr bwMode="auto">
            <a:xfrm>
              <a:off x="2051819" y="2934155"/>
              <a:ext cx="1944118" cy="252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1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次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I/O</a:t>
              </a:r>
            </a:p>
          </p:txBody>
        </p:sp>
        <p:sp>
          <p:nvSpPr>
            <p:cNvPr id="12" name="Text Box 10"/>
            <p:cNvSpPr txBox="1">
              <a:spLocks noChangeArrowheads="1"/>
            </p:cNvSpPr>
            <p:nvPr/>
          </p:nvSpPr>
          <p:spPr bwMode="auto">
            <a:xfrm>
              <a:off x="1836917" y="3366155"/>
              <a:ext cx="1080000" cy="25200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中断程序</a:t>
              </a:r>
            </a:p>
          </p:txBody>
        </p:sp>
        <p:sp>
          <p:nvSpPr>
            <p:cNvPr id="13" name="Text Box 11"/>
            <p:cNvSpPr txBox="1">
              <a:spLocks noChangeArrowheads="1"/>
            </p:cNvSpPr>
            <p:nvPr/>
          </p:nvSpPr>
          <p:spPr bwMode="auto">
            <a:xfrm>
              <a:off x="2916917" y="3366155"/>
              <a:ext cx="1080120" cy="252000"/>
            </a:xfrm>
            <a:prstGeom prst="rect">
              <a:avLst/>
            </a:prstGeom>
            <a:solidFill>
              <a:srgbClr val="FFCCFF">
                <a:alpha val="7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其它程序</a:t>
              </a:r>
            </a:p>
          </p:txBody>
        </p:sp>
        <p:sp>
          <p:nvSpPr>
            <p:cNvPr id="14" name="Text Box 12"/>
            <p:cNvSpPr txBox="1">
              <a:spLocks noChangeArrowheads="1"/>
            </p:cNvSpPr>
            <p:nvPr/>
          </p:nvSpPr>
          <p:spPr bwMode="auto">
            <a:xfrm>
              <a:off x="396925" y="2934155"/>
              <a:ext cx="574675" cy="25200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105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外设</a:t>
              </a:r>
            </a:p>
          </p:txBody>
        </p:sp>
        <p:sp>
          <p:nvSpPr>
            <p:cNvPr id="15" name="Text Box 13"/>
            <p:cNvSpPr txBox="1">
              <a:spLocks noChangeArrowheads="1"/>
            </p:cNvSpPr>
            <p:nvPr/>
          </p:nvSpPr>
          <p:spPr bwMode="auto">
            <a:xfrm>
              <a:off x="396925" y="3366155"/>
              <a:ext cx="574675" cy="25200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105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CPU</a:t>
              </a:r>
            </a:p>
          </p:txBody>
        </p:sp>
        <p:sp>
          <p:nvSpPr>
            <p:cNvPr id="16" name="Line 14"/>
            <p:cNvSpPr>
              <a:spLocks noChangeShapeType="1"/>
            </p:cNvSpPr>
            <p:nvPr/>
          </p:nvSpPr>
          <p:spPr bwMode="auto">
            <a:xfrm flipV="1">
              <a:off x="2123928" y="3185492"/>
              <a:ext cx="0" cy="180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Line 15"/>
            <p:cNvSpPr>
              <a:spLocks noChangeShapeType="1"/>
            </p:cNvSpPr>
            <p:nvPr/>
          </p:nvSpPr>
          <p:spPr bwMode="auto">
            <a:xfrm>
              <a:off x="1256978" y="3185492"/>
              <a:ext cx="0" cy="18000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Text Box 17"/>
            <p:cNvSpPr txBox="1">
              <a:spLocks noChangeArrowheads="1"/>
            </p:cNvSpPr>
            <p:nvPr/>
          </p:nvSpPr>
          <p:spPr bwMode="auto">
            <a:xfrm>
              <a:off x="1260917" y="3366155"/>
              <a:ext cx="576000" cy="25200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响应</a:t>
              </a:r>
            </a:p>
          </p:txBody>
        </p:sp>
        <p:sp>
          <p:nvSpPr>
            <p:cNvPr id="19" name="Line 18"/>
            <p:cNvSpPr>
              <a:spLocks noChangeShapeType="1"/>
            </p:cNvSpPr>
            <p:nvPr/>
          </p:nvSpPr>
          <p:spPr bwMode="auto">
            <a:xfrm>
              <a:off x="3995936" y="3185492"/>
              <a:ext cx="0" cy="18000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Line 19"/>
            <p:cNvSpPr>
              <a:spLocks noChangeShapeType="1"/>
            </p:cNvSpPr>
            <p:nvPr/>
          </p:nvSpPr>
          <p:spPr bwMode="auto">
            <a:xfrm>
              <a:off x="969642" y="3690155"/>
              <a:ext cx="3602558" cy="793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Line 21"/>
            <p:cNvSpPr>
              <a:spLocks noChangeShapeType="1"/>
            </p:cNvSpPr>
            <p:nvPr/>
          </p:nvSpPr>
          <p:spPr bwMode="auto">
            <a:xfrm>
              <a:off x="1255391" y="3726155"/>
              <a:ext cx="0" cy="432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Line 22"/>
            <p:cNvSpPr>
              <a:spLocks noChangeShapeType="1"/>
            </p:cNvSpPr>
            <p:nvPr/>
          </p:nvSpPr>
          <p:spPr bwMode="auto">
            <a:xfrm>
              <a:off x="2915816" y="3726155"/>
              <a:ext cx="0" cy="216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Line 23"/>
            <p:cNvSpPr>
              <a:spLocks noChangeShapeType="1"/>
            </p:cNvSpPr>
            <p:nvPr/>
          </p:nvSpPr>
          <p:spPr bwMode="auto">
            <a:xfrm flipH="1">
              <a:off x="3995936" y="3726155"/>
              <a:ext cx="0" cy="432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Text Box 24"/>
            <p:cNvSpPr txBox="1">
              <a:spLocks noChangeArrowheads="1"/>
            </p:cNvSpPr>
            <p:nvPr/>
          </p:nvSpPr>
          <p:spPr bwMode="auto">
            <a:xfrm>
              <a:off x="1836917" y="3726155"/>
              <a:ext cx="504000" cy="21600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T</a:t>
              </a:r>
              <a:r>
                <a:rPr lang="en-US" altLang="zh-CN" sz="1800" b="1" baseline="-18000" dirty="0">
                  <a:latin typeface="宋体" panose="02010600030101010101" pitchFamily="2" charset="-122"/>
                </a:rPr>
                <a:t>INT</a:t>
              </a:r>
            </a:p>
          </p:txBody>
        </p:sp>
        <p:sp>
          <p:nvSpPr>
            <p:cNvPr id="25" name="Text Box 25"/>
            <p:cNvSpPr txBox="1">
              <a:spLocks noChangeArrowheads="1"/>
            </p:cNvSpPr>
            <p:nvPr/>
          </p:nvSpPr>
          <p:spPr bwMode="auto">
            <a:xfrm>
              <a:off x="2339752" y="3942155"/>
              <a:ext cx="576263" cy="21600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T</a:t>
              </a:r>
              <a:r>
                <a:rPr lang="en-US" altLang="zh-CN" sz="1800" b="1" baseline="-18000" dirty="0">
                  <a:latin typeface="宋体" panose="02010600030101010101" pitchFamily="2" charset="-122"/>
                </a:rPr>
                <a:t>I/O</a:t>
              </a:r>
            </a:p>
          </p:txBody>
        </p:sp>
        <p:sp>
          <p:nvSpPr>
            <p:cNvPr id="26" name="Line 26"/>
            <p:cNvSpPr>
              <a:spLocks noChangeShapeType="1"/>
            </p:cNvSpPr>
            <p:nvPr/>
          </p:nvSpPr>
          <p:spPr bwMode="auto">
            <a:xfrm>
              <a:off x="2339753" y="3834155"/>
              <a:ext cx="57606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Line 27"/>
            <p:cNvSpPr>
              <a:spLocks noChangeShapeType="1"/>
            </p:cNvSpPr>
            <p:nvPr/>
          </p:nvSpPr>
          <p:spPr bwMode="auto">
            <a:xfrm flipH="1">
              <a:off x="1256978" y="3834155"/>
              <a:ext cx="576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Line 28"/>
            <p:cNvSpPr>
              <a:spLocks noChangeShapeType="1"/>
            </p:cNvSpPr>
            <p:nvPr/>
          </p:nvSpPr>
          <p:spPr bwMode="auto">
            <a:xfrm>
              <a:off x="2880917" y="4050155"/>
              <a:ext cx="1116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" name="Line 29"/>
            <p:cNvSpPr>
              <a:spLocks noChangeShapeType="1"/>
            </p:cNvSpPr>
            <p:nvPr/>
          </p:nvSpPr>
          <p:spPr bwMode="auto">
            <a:xfrm flipH="1">
              <a:off x="1255391" y="4050155"/>
              <a:ext cx="1116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" name="Text Box 33"/>
            <p:cNvSpPr txBox="1">
              <a:spLocks noChangeArrowheads="1"/>
            </p:cNvSpPr>
            <p:nvPr/>
          </p:nvSpPr>
          <p:spPr bwMode="auto">
            <a:xfrm>
              <a:off x="3996917" y="3366155"/>
              <a:ext cx="504000" cy="25200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prstDash val="sysDot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响应</a:t>
              </a:r>
            </a:p>
          </p:txBody>
        </p:sp>
        <p:sp>
          <p:nvSpPr>
            <p:cNvPr id="31" name="Rectangle 34"/>
            <p:cNvSpPr>
              <a:spLocks noChangeArrowheads="1"/>
            </p:cNvSpPr>
            <p:nvPr/>
          </p:nvSpPr>
          <p:spPr bwMode="auto">
            <a:xfrm>
              <a:off x="969641" y="2934155"/>
              <a:ext cx="288925" cy="252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prstDash val="sysDot"/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25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425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425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6" dur="500"/>
                                        <p:tgtEl>
                                          <p:spTgt spid="4259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5989" grpId="0"/>
      <p:bldP spid="425990" grpId="0"/>
      <p:bldP spid="425991" grpId="0"/>
      <p:bldP spid="425992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Text Box 4"/>
          <p:cNvSpPr txBox="1">
            <a:spLocks noChangeArrowheads="1"/>
          </p:cNvSpPr>
          <p:nvPr/>
        </p:nvSpPr>
        <p:spPr bwMode="auto">
          <a:xfrm>
            <a:off x="179512" y="764704"/>
            <a:ext cx="8712968" cy="5711115"/>
          </a:xfrm>
          <a:prstGeom prst="rect">
            <a:avLst/>
          </a:prstGeom>
          <a:noFill/>
          <a:ln w="38100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200" b="1" spc="-100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200" b="1" spc="-100" dirty="0">
                <a:solidFill>
                  <a:srgbClr val="C00000"/>
                </a:solidFill>
                <a:latin typeface="宋体" panose="02010600030101010101" pitchFamily="2" charset="-122"/>
              </a:rPr>
              <a:t>*功能：</a:t>
            </a:r>
            <a:endParaRPr lang="en-US" altLang="zh-CN" sz="1800" b="1" spc="-100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</a:pPr>
            <a:endParaRPr lang="en-US" altLang="zh-CN" sz="1800" spc="-100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lang="zh-CN" altLang="en-US" sz="2200" b="1" spc="-100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en-US" altLang="zh-CN" sz="2200" b="1" spc="-100" dirty="0">
                <a:solidFill>
                  <a:srgbClr val="C00000"/>
                </a:solidFill>
                <a:latin typeface="宋体" panose="02010600030101010101" pitchFamily="2" charset="-122"/>
              </a:rPr>
              <a:t>I/O</a:t>
            </a:r>
            <a:r>
              <a:rPr lang="zh-CN" altLang="en-US" sz="2200" b="1" spc="-100" dirty="0">
                <a:solidFill>
                  <a:srgbClr val="C00000"/>
                </a:solidFill>
                <a:latin typeface="宋体" panose="02010600030101010101" pitchFamily="2" charset="-122"/>
              </a:rPr>
              <a:t>端口的组织：</a:t>
            </a:r>
            <a:endParaRPr lang="en-US" altLang="zh-CN" sz="2200" b="1" spc="-100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900"/>
              </a:spcBef>
            </a:pPr>
            <a:r>
              <a:rPr lang="en-US" altLang="zh-CN" sz="2200" b="1" spc="-100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spc="-100" dirty="0">
                <a:solidFill>
                  <a:srgbClr val="C00000"/>
                </a:solidFill>
                <a:latin typeface="宋体" panose="02010600030101010101" pitchFamily="2" charset="-122"/>
              </a:rPr>
              <a:t>中断请求的组织：</a:t>
            </a:r>
            <a:endParaRPr lang="en-US" altLang="zh-CN" sz="2200" b="1" spc="-100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sz="2200" b="1" spc="-100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300"/>
              </a:spcBef>
            </a:pPr>
            <a:endParaRPr lang="en-US" altLang="zh-CN" sz="2200" b="1" spc="-100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</a:pPr>
            <a:endParaRPr lang="en-US" altLang="zh-CN" sz="2200" b="1" spc="-100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</a:pPr>
            <a:endParaRPr lang="en-US" altLang="zh-CN" sz="2200" b="1" spc="-100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</a:pPr>
            <a:endParaRPr lang="en-US" altLang="zh-CN" sz="2200" b="1" spc="-100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1500"/>
              </a:spcBef>
            </a:pPr>
            <a:r>
              <a:rPr lang="en-US" altLang="zh-CN" sz="2200" b="1" spc="-100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spc="-100" dirty="0">
                <a:solidFill>
                  <a:schemeClr val="accent2"/>
                </a:solidFill>
                <a:latin typeface="宋体" panose="02010600030101010101" pitchFamily="2" charset="-122"/>
              </a:rPr>
              <a:t>产生请求</a:t>
            </a:r>
            <a:r>
              <a:rPr lang="en-US" altLang="zh-CN" sz="2200" b="1" spc="-100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</a:p>
          <a:p>
            <a:pPr algn="l">
              <a:lnSpc>
                <a:spcPct val="125000"/>
              </a:lnSpc>
            </a:pPr>
            <a:r>
              <a:rPr lang="zh-CN" altLang="en-US" sz="2200" b="1" spc="-100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spc="-100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撤销请求</a:t>
            </a:r>
            <a:r>
              <a:rPr lang="en-US" altLang="zh-CN" sz="2200" b="1" spc="-100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</a:p>
          <a:p>
            <a:pPr algn="l">
              <a:lnSpc>
                <a:spcPct val="125000"/>
              </a:lnSpc>
            </a:pPr>
            <a:r>
              <a:rPr lang="zh-CN" altLang="en-US" sz="2200" b="1" spc="-100" dirty="0">
                <a:solidFill>
                  <a:srgbClr val="C00000"/>
                </a:solidFill>
                <a:latin typeface="宋体" panose="02010600030101010101" pitchFamily="2" charset="-122"/>
              </a:rPr>
              <a:t>  *所支持操作的组织：</a:t>
            </a:r>
            <a:r>
              <a:rPr lang="zh-CN" altLang="en-US" sz="2200" b="1" dirty="0">
                <a:latin typeface="宋体" panose="02010600030101010101" pitchFamily="2" charset="-122"/>
              </a:rPr>
              <a:t>有</a:t>
            </a:r>
            <a:r>
              <a:rPr lang="en-US" altLang="zh-CN" sz="2200" b="1" dirty="0">
                <a:latin typeface="宋体" panose="02010600030101010101" pitchFamily="2" charset="-122"/>
              </a:rPr>
              <a:t>3</a:t>
            </a:r>
            <a:r>
              <a:rPr lang="zh-CN" altLang="en-US" sz="2200" b="1" dirty="0">
                <a:latin typeface="宋体" panose="02010600030101010101" pitchFamily="2" charset="-122"/>
              </a:rPr>
              <a:t>种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查询方式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r>
              <a:rPr lang="zh-CN" altLang="en-US" sz="2200" b="1" dirty="0">
                <a:latin typeface="宋体" panose="02010600030101010101" pitchFamily="2" charset="-122"/>
              </a:rPr>
              <a:t>＋</a:t>
            </a:r>
            <a:r>
              <a:rPr lang="en-US" altLang="zh-CN" sz="2200" b="1" dirty="0">
                <a:latin typeface="宋体" panose="02010600030101010101" pitchFamily="2" charset="-122"/>
              </a:rPr>
              <a:t>1</a:t>
            </a:r>
            <a:r>
              <a:rPr lang="zh-CN" altLang="en-US" sz="2200" b="1" dirty="0">
                <a:latin typeface="宋体" panose="02010600030101010101" pitchFamily="2" charset="-122"/>
              </a:rPr>
              <a:t>种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中断方式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</a:p>
          <a:p>
            <a:pPr algn="l">
              <a:lnSpc>
                <a:spcPct val="114000"/>
              </a:lnSpc>
            </a:pPr>
            <a:r>
              <a:rPr lang="en-US" altLang="zh-CN" sz="2200" b="1" spc="-100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spc="-100" dirty="0">
                <a:solidFill>
                  <a:schemeClr val="accent2"/>
                </a:solidFill>
                <a:latin typeface="宋体" panose="02010600030101010101" pitchFamily="2" charset="-122"/>
              </a:rPr>
              <a:t>中断响应操作</a:t>
            </a:r>
            <a:r>
              <a:rPr lang="en-US" altLang="zh-CN" sz="2200" b="1" spc="-100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BFB63-B979-4FAE-8763-D7093A979077}" type="slidenum">
              <a:rPr lang="en-US" altLang="zh-CN" smtClean="0"/>
              <a:t>34</a:t>
            </a:fld>
            <a:endParaRPr lang="en-US" altLang="zh-CN"/>
          </a:p>
        </p:txBody>
      </p:sp>
      <p:sp>
        <p:nvSpPr>
          <p:cNvPr id="3" name="Text Box 244"/>
          <p:cNvSpPr txBox="1">
            <a:spLocks noChangeArrowheads="1"/>
          </p:cNvSpPr>
          <p:nvPr/>
        </p:nvSpPr>
        <p:spPr bwMode="auto">
          <a:xfrm>
            <a:off x="179388" y="332656"/>
            <a:ext cx="8785225" cy="3905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tIns="10795" bIns="10795" anchor="ctr" anchorCtr="0">
            <a:spAutoFit/>
          </a:bodyPr>
          <a:lstStyle>
            <a:defPPr>
              <a:defRPr lang="zh-CN"/>
            </a:defPPr>
            <a:lvl1pPr algn="l">
              <a:defRPr b="1">
                <a:solidFill>
                  <a:srgbClr val="FF3300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1pPr>
          </a:lstStyle>
          <a:p>
            <a:r>
              <a:rPr lang="en-US" altLang="zh-CN" dirty="0">
                <a:solidFill>
                  <a:srgbClr val="FF3399"/>
                </a:solidFill>
                <a:latin typeface="+mn-ea"/>
                <a:ea typeface="+mn-ea"/>
              </a:rPr>
              <a:t>3</a:t>
            </a:r>
            <a:r>
              <a:rPr lang="zh-CN" altLang="en-US" dirty="0">
                <a:solidFill>
                  <a:srgbClr val="FF3399"/>
                </a:solidFill>
                <a:latin typeface="+mn-ea"/>
                <a:ea typeface="+mn-ea"/>
              </a:rPr>
              <a:t>、中断接口的组织</a:t>
            </a:r>
          </a:p>
        </p:txBody>
      </p:sp>
      <p:sp>
        <p:nvSpPr>
          <p:cNvPr id="182" name="AutoShape 62">
            <a:hlinkClick r:id="rId3" action="ppaction://hlinksldjump"/>
          </p:cNvPr>
          <p:cNvSpPr>
            <a:spLocks noChangeArrowheads="1"/>
          </p:cNvSpPr>
          <p:nvPr/>
        </p:nvSpPr>
        <p:spPr bwMode="auto">
          <a:xfrm rot="16200000">
            <a:off x="2988000" y="6524103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eaVert" wrap="none" lIns="0" tIns="0" rIns="0" bIns="0" anchor="ctr"/>
          <a:lstStyle/>
          <a:p>
            <a:pPr algn="ctr"/>
            <a:r>
              <a:rPr lang="en-US" altLang="zh-CN" sz="1600" dirty="0">
                <a:solidFill>
                  <a:schemeClr val="bg2"/>
                </a:solidFill>
                <a:latin typeface="+mn-ea"/>
                <a:ea typeface="+mn-ea"/>
              </a:rPr>
              <a:t>27</a:t>
            </a:r>
            <a:endParaRPr lang="zh-CN" altLang="en-US" sz="1600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183" name="AutoShape 62">
            <a:hlinkClick r:id="rId4" action="ppaction://hlinksldjump"/>
          </p:cNvPr>
          <p:cNvSpPr>
            <a:spLocks noChangeArrowheads="1"/>
          </p:cNvSpPr>
          <p:nvPr/>
        </p:nvSpPr>
        <p:spPr bwMode="auto">
          <a:xfrm rot="16200000">
            <a:off x="4068000" y="6524103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eaVert" wrap="none" lIns="0" tIns="0" rIns="0" bIns="0" anchor="ctr"/>
          <a:lstStyle/>
          <a:p>
            <a:pPr algn="ctr"/>
            <a:r>
              <a:rPr lang="en-US" altLang="zh-CN" sz="1600" dirty="0">
                <a:solidFill>
                  <a:schemeClr val="bg2"/>
                </a:solidFill>
                <a:latin typeface="+mn-ea"/>
                <a:ea typeface="+mn-ea"/>
              </a:rPr>
              <a:t>31</a:t>
            </a:r>
            <a:endParaRPr lang="zh-CN" altLang="en-US" sz="1600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296" name="Text Box 776"/>
          <p:cNvSpPr txBox="1">
            <a:spLocks noChangeArrowheads="1"/>
          </p:cNvSpPr>
          <p:nvPr/>
        </p:nvSpPr>
        <p:spPr bwMode="auto">
          <a:xfrm>
            <a:off x="2051720" y="4725144"/>
            <a:ext cx="6975589" cy="169905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200" b="1" u="sng" dirty="0">
                <a:latin typeface="宋体" panose="02010600030101010101" pitchFamily="2" charset="-122"/>
              </a:rPr>
              <a:t>EI</a:t>
            </a:r>
            <a:r>
              <a:rPr lang="zh-CN" altLang="en-US" sz="2200" b="1" u="sng" dirty="0">
                <a:latin typeface="宋体" panose="02010600030101010101" pitchFamily="2" charset="-122"/>
              </a:rPr>
              <a:t>＝</a:t>
            </a:r>
            <a:r>
              <a:rPr lang="en-US" altLang="zh-CN" sz="2200" b="1" u="sng" dirty="0">
                <a:latin typeface="宋体" panose="02010600030101010101" pitchFamily="2" charset="-122"/>
              </a:rPr>
              <a:t>1</a:t>
            </a:r>
            <a:r>
              <a:rPr lang="zh-CN" altLang="en-US" sz="2200" b="1" u="sng" dirty="0">
                <a:latin typeface="宋体" panose="02010600030101010101" pitchFamily="2" charset="-122"/>
              </a:rPr>
              <a:t>、外设</a:t>
            </a:r>
            <a:r>
              <a:rPr lang="zh-CN" altLang="en-US" sz="2200" b="1" u="sng" dirty="0">
                <a:highlight>
                  <a:srgbClr val="CCFFFF"/>
                </a:highlight>
                <a:latin typeface="宋体" panose="02010600030101010101" pitchFamily="2" charset="-122"/>
              </a:rPr>
              <a:t>刚就绪</a:t>
            </a:r>
            <a:r>
              <a:rPr lang="zh-CN" altLang="en-US" sz="2200" b="1" dirty="0">
                <a:latin typeface="宋体" panose="02010600030101010101" pitchFamily="2" charset="-122"/>
              </a:rPr>
              <a:t>时 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由</a:t>
            </a:r>
            <a:r>
              <a:rPr lang="zh-CN" altLang="en-US" sz="1800" b="1" u="sng" dirty="0">
                <a:latin typeface="宋体" panose="02010600030101010101" pitchFamily="2" charset="-122"/>
              </a:rPr>
              <a:t>启动</a:t>
            </a:r>
            <a:r>
              <a:rPr lang="zh-CN" altLang="en-US" sz="1800" b="1" dirty="0">
                <a:latin typeface="宋体" panose="02010600030101010101" pitchFamily="2" charset="-122"/>
              </a:rPr>
              <a:t>操作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触发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,INT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的</a:t>
            </a:r>
            <a:r>
              <a:rPr lang="zh-CN" altLang="en-US" sz="1800" b="1" dirty="0">
                <a:latin typeface="+mn-lt"/>
                <a:sym typeface="+mn-ea"/>
              </a:rPr>
              <a:t>↑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逻辑</a:t>
            </a:r>
            <a:r>
              <a:rPr lang="zh-CN" altLang="en-US" sz="1800" b="1" dirty="0">
                <a:latin typeface="宋体" panose="02010600030101010101" pitchFamily="2" charset="-122"/>
              </a:rPr>
              <a:t>＝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RD&amp;EI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</a:p>
          <a:p>
            <a:pPr algn="l">
              <a:lnSpc>
                <a:spcPct val="125000"/>
              </a:lnSpc>
            </a:pPr>
            <a:r>
              <a:rPr lang="zh-CN" altLang="en-US" sz="2200" b="1" u="sng" dirty="0">
                <a:latin typeface="宋体" panose="02010600030101010101" pitchFamily="2" charset="-122"/>
                <a:sym typeface="+mn-ea"/>
              </a:rPr>
              <a:t>中断响应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操作时      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被询问表示</a:t>
            </a:r>
            <a:r>
              <a:rPr lang="zh-CN" altLang="en-US" sz="1800" b="1" u="sng" dirty="0">
                <a:latin typeface="宋体" panose="02010600030101010101" pitchFamily="2" charset="-122"/>
                <a:sym typeface="+mn-ea"/>
              </a:rPr>
              <a:t>可获得服务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、应撤销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)</a:t>
            </a:r>
            <a:endParaRPr lang="zh-CN" altLang="en-US" sz="18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>
              <a:latin typeface="宋体" panose="02010600030101010101" pitchFamily="2" charset="-122"/>
            </a:endParaRPr>
          </a:p>
          <a:p>
            <a:pPr algn="l">
              <a:lnSpc>
                <a:spcPct val="114000"/>
              </a:lnSpc>
            </a:pPr>
            <a:r>
              <a:rPr lang="zh-CN" altLang="en-US" sz="2200" b="1" dirty="0">
                <a:latin typeface="宋体" panose="02010600030101010101" pitchFamily="2" charset="-122"/>
              </a:rPr>
              <a:t>    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响应</a:t>
            </a:r>
            <a:r>
              <a:rPr lang="zh-CN" altLang="en-US" sz="2200" b="1" dirty="0">
                <a:latin typeface="宋体" panose="02010600030101010101" pitchFamily="2" charset="-122"/>
              </a:rPr>
              <a:t>总线事务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提供中断类型号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r>
              <a:rPr lang="zh-CN" altLang="en-US" sz="2200" b="1" dirty="0">
                <a:latin typeface="宋体" panose="02010600030101010101" pitchFamily="2" charset="-122"/>
              </a:rPr>
              <a:t>、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撤销</a:t>
            </a:r>
            <a:r>
              <a:rPr lang="zh-CN" altLang="en-US" sz="2200" b="1" dirty="0">
                <a:latin typeface="宋体" panose="02010600030101010101" pitchFamily="2" charset="-122"/>
              </a:rPr>
              <a:t>请求</a:t>
            </a:r>
          </a:p>
        </p:txBody>
      </p:sp>
      <p:sp>
        <p:nvSpPr>
          <p:cNvPr id="107" name="AutoShape 186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6156177" y="6524450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3" name="Text Box 245">
            <a:extLst>
              <a:ext uri="{FF2B5EF4-FFF2-40B4-BE49-F238E27FC236}">
                <a16:creationId xmlns:a16="http://schemas.microsoft.com/office/drawing/2014/main" id="{2D375F87-BED0-4178-AB36-4F9B2EB2A3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624" y="764704"/>
            <a:ext cx="7839685" cy="148348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sz="2200" b="1" dirty="0">
                <a:latin typeface="宋体" panose="02010600030101010101" pitchFamily="2" charset="-122"/>
              </a:rPr>
              <a:t>支持</a:t>
            </a:r>
            <a:r>
              <a:rPr lang="zh-CN" altLang="en-US" sz="2200" b="1" u="sng" dirty="0">
                <a:latin typeface="宋体" panose="02010600030101010101" pitchFamily="2" charset="-122"/>
              </a:rPr>
              <a:t>查询</a:t>
            </a:r>
            <a:r>
              <a:rPr lang="zh-CN" altLang="en-US" sz="2200" b="1" dirty="0">
                <a:latin typeface="宋体" panose="02010600030101010101" pitchFamily="2" charset="-122"/>
              </a:rPr>
              <a:t>方式，可</a:t>
            </a:r>
            <a:r>
              <a:rPr lang="zh-CN" altLang="en-US" sz="2200" b="1" u="sng" dirty="0">
                <a:latin typeface="宋体" panose="02010600030101010101" pitchFamily="2" charset="-122"/>
              </a:rPr>
              <a:t>产生</a:t>
            </a:r>
            <a:r>
              <a:rPr lang="en-US" altLang="zh-CN" sz="2200" b="1" dirty="0">
                <a:latin typeface="宋体" panose="02010600030101010101" pitchFamily="2" charset="-122"/>
              </a:rPr>
              <a:t>/</a:t>
            </a:r>
            <a:r>
              <a:rPr lang="zh-CN" altLang="en-US" sz="2200" b="1" u="sng" dirty="0">
                <a:latin typeface="宋体" panose="02010600030101010101" pitchFamily="2" charset="-122"/>
              </a:rPr>
              <a:t>撤销</a:t>
            </a:r>
            <a:r>
              <a:rPr lang="zh-CN" altLang="en-US" sz="2200" b="1" dirty="0">
                <a:latin typeface="宋体" panose="02010600030101010101" pitchFamily="2" charset="-122"/>
              </a:rPr>
              <a:t>中断请求、</a:t>
            </a:r>
            <a:r>
              <a:rPr lang="zh-CN" altLang="en-US" sz="2200" b="1" u="sng" dirty="0">
                <a:latin typeface="宋体" panose="02010600030101010101" pitchFamily="2" charset="-122"/>
              </a:rPr>
              <a:t>提供</a:t>
            </a:r>
            <a:r>
              <a:rPr lang="zh-CN" altLang="en-US" sz="2200" b="1" dirty="0">
                <a:latin typeface="宋体" panose="02010600030101010101" pitchFamily="2" charset="-122"/>
              </a:rPr>
              <a:t>中断类型号</a:t>
            </a:r>
            <a:r>
              <a:rPr lang="en-US" altLang="zh-CN" sz="1800" b="1" dirty="0">
                <a:latin typeface="宋体" panose="02010600030101010101" pitchFamily="2" charset="-122"/>
              </a:rPr>
              <a:t>[</a:t>
            </a:r>
            <a:r>
              <a:rPr lang="zh-CN" altLang="en-US" sz="1800" b="1" dirty="0">
                <a:latin typeface="宋体" panose="02010600030101010101" pitchFamily="2" charset="-122"/>
              </a:rPr>
              <a:t>可选</a:t>
            </a:r>
            <a:r>
              <a:rPr lang="en-US" altLang="zh-CN" sz="1800" b="1" dirty="0">
                <a:latin typeface="宋体" panose="02010600030101010101" pitchFamily="2" charset="-122"/>
              </a:rPr>
              <a:t>]</a:t>
            </a:r>
            <a:endParaRPr lang="en-US" altLang="zh-CN" sz="18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lang="en-US" altLang="zh-CN" sz="1800" b="1" dirty="0">
                <a:latin typeface="宋体" panose="02010600030101010101" pitchFamily="2" charset="-122"/>
              </a:rPr>
              <a:t>                           </a:t>
            </a:r>
            <a:r>
              <a:rPr lang="en-US" altLang="zh-CN" sz="1800" dirty="0">
                <a:latin typeface="宋体" panose="02010600030101010101" pitchFamily="2" charset="-122"/>
              </a:rPr>
              <a:t>└</a:t>
            </a:r>
            <a:r>
              <a:rPr lang="en-US" altLang="zh-CN" sz="1800" b="1" dirty="0">
                <a:latin typeface="宋体" panose="02010600030101010101" pitchFamily="2" charset="-122"/>
              </a:rPr>
              <a:t>←</a:t>
            </a:r>
            <a:r>
              <a:rPr lang="zh-CN" altLang="en-US" sz="1800" b="1" dirty="0">
                <a:solidFill>
                  <a:srgbClr val="0070C0"/>
                </a:solidFill>
                <a:latin typeface="宋体" panose="02010600030101010101" pitchFamily="2" charset="-122"/>
              </a:rPr>
              <a:t>中断响应</a:t>
            </a:r>
            <a:r>
              <a:rPr lang="zh-CN" altLang="en-US" sz="1800" b="1" dirty="0">
                <a:latin typeface="宋体" panose="02010600030101010101" pitchFamily="2" charset="-122"/>
              </a:rPr>
              <a:t>时</a:t>
            </a:r>
            <a:r>
              <a:rPr lang="en-US" altLang="zh-CN" sz="1800" b="1" dirty="0">
                <a:latin typeface="宋体" panose="02010600030101010101" pitchFamily="2" charset="-122"/>
              </a:rPr>
              <a:t>→</a:t>
            </a:r>
            <a:r>
              <a:rPr lang="en-US" altLang="zh-CN" sz="1800" dirty="0">
                <a:latin typeface="宋体" panose="02010600030101010101" pitchFamily="2" charset="-122"/>
              </a:rPr>
              <a:t>┘└</a:t>
            </a:r>
            <a:r>
              <a:rPr lang="en-US" altLang="zh-CN" sz="1800" b="1" dirty="0">
                <a:latin typeface="宋体" panose="02010600030101010101" pitchFamily="2" charset="-122"/>
              </a:rPr>
              <a:t>←</a:t>
            </a:r>
            <a:r>
              <a:rPr lang="zh-CN" altLang="en-US" sz="1800" b="1" dirty="0">
                <a:solidFill>
                  <a:srgbClr val="0070C0"/>
                </a:solidFill>
                <a:latin typeface="宋体" panose="02010600030101010101" pitchFamily="2" charset="-122"/>
              </a:rPr>
              <a:t>向量中断</a:t>
            </a:r>
            <a:r>
              <a:rPr lang="zh-CN" altLang="en-US" sz="1800" b="1" dirty="0">
                <a:latin typeface="宋体" panose="02010600030101010101" pitchFamily="2" charset="-122"/>
              </a:rPr>
              <a:t>可能需要</a:t>
            </a:r>
            <a:endParaRPr lang="en-US" altLang="zh-CN" sz="18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sz="2200" b="1" dirty="0">
                <a:latin typeface="宋体" panose="02010600030101010101" pitchFamily="2" charset="-122"/>
              </a:rPr>
              <a:t>         控制口含</a:t>
            </a:r>
            <a:r>
              <a:rPr lang="zh-CN" altLang="en-US" sz="2200" b="1" u="sng" dirty="0">
                <a:latin typeface="宋体" panose="02010600030101010101" pitchFamily="2" charset="-122"/>
              </a:rPr>
              <a:t>中断允许位</a:t>
            </a:r>
            <a:r>
              <a:rPr lang="en-US" altLang="zh-CN" sz="2200" b="1" u="sng" dirty="0">
                <a:latin typeface="宋体" panose="02010600030101010101" pitchFamily="2" charset="-122"/>
              </a:rPr>
              <a:t>EI</a:t>
            </a:r>
            <a:r>
              <a:rPr lang="zh-CN" altLang="en-US" sz="2200" b="1" dirty="0">
                <a:latin typeface="宋体" panose="02010600030101010101" pitchFamily="2" charset="-122"/>
              </a:rPr>
              <a:t>，状态口含</a:t>
            </a:r>
            <a:r>
              <a:rPr lang="zh-CN" altLang="en-US" sz="2200" b="1" u="sng" dirty="0">
                <a:latin typeface="宋体" panose="02010600030101010101" pitchFamily="2" charset="-122"/>
              </a:rPr>
              <a:t>中断请求位</a:t>
            </a:r>
            <a:r>
              <a:rPr lang="en-US" altLang="zh-CN" sz="2200" b="1" u="sng" dirty="0">
                <a:latin typeface="宋体" panose="02010600030101010101" pitchFamily="2" charset="-122"/>
              </a:rPr>
              <a:t>INT</a:t>
            </a:r>
          </a:p>
          <a:p>
            <a:pPr algn="l">
              <a:lnSpc>
                <a:spcPct val="105000"/>
              </a:lnSpc>
            </a:pPr>
            <a:r>
              <a:rPr lang="en-US" altLang="zh-CN" sz="1600" b="1" dirty="0">
                <a:latin typeface="+mn-ea"/>
                <a:ea typeface="+mn-ea"/>
              </a:rPr>
              <a:t>                 (</a:t>
            </a:r>
            <a:r>
              <a:rPr lang="en-US" altLang="zh-CN" sz="1600" dirty="0"/>
              <a:t>Enable Interrupt</a:t>
            </a:r>
            <a:r>
              <a:rPr lang="en-US" altLang="zh-CN" sz="1600" b="1" dirty="0">
                <a:latin typeface="+mn-ea"/>
                <a:ea typeface="+mn-ea"/>
              </a:rPr>
              <a:t>)</a:t>
            </a:r>
            <a:r>
              <a:rPr lang="en-US" altLang="zh-CN" sz="1600" dirty="0">
                <a:latin typeface="宋体" panose="02010600030101010101" pitchFamily="2" charset="-122"/>
              </a:rPr>
              <a:t>└</a:t>
            </a:r>
            <a:r>
              <a:rPr lang="en-US" altLang="zh-CN" sz="1600" b="1" dirty="0">
                <a:latin typeface="宋体" panose="02010600030101010101" pitchFamily="2" charset="-122"/>
              </a:rPr>
              <a:t>←</a:t>
            </a:r>
            <a:r>
              <a:rPr lang="en-US" altLang="zh-CN" sz="1600" b="1" dirty="0">
                <a:latin typeface="+mn-ea"/>
                <a:ea typeface="+mn-ea"/>
              </a:rPr>
              <a:t>EI</a:t>
            </a:r>
            <a:r>
              <a:rPr lang="zh-CN" altLang="en-US" sz="1600" dirty="0"/>
              <a:t>＝</a:t>
            </a:r>
            <a:r>
              <a:rPr lang="en-US" altLang="zh-CN" sz="1600" b="1" dirty="0">
                <a:latin typeface="+mn-ea"/>
              </a:rPr>
              <a:t>0/1</a:t>
            </a:r>
            <a:r>
              <a:rPr lang="zh-CN" altLang="en-US" sz="1600" b="1" dirty="0"/>
              <a:t>为查询</a:t>
            </a:r>
            <a:r>
              <a:rPr lang="en-US" altLang="zh-CN" sz="1600" b="1" dirty="0"/>
              <a:t>/</a:t>
            </a:r>
            <a:r>
              <a:rPr lang="zh-CN" altLang="en-US" sz="1600" b="1" dirty="0"/>
              <a:t>中断方式</a:t>
            </a:r>
            <a:endParaRPr lang="zh-CN" altLang="en-US" b="1" dirty="0">
              <a:latin typeface="+mn-ea"/>
            </a:endParaRPr>
          </a:p>
        </p:txBody>
      </p:sp>
      <p:grpSp>
        <p:nvGrpSpPr>
          <p:cNvPr id="104" name="组合 103">
            <a:extLst>
              <a:ext uri="{FF2B5EF4-FFF2-40B4-BE49-F238E27FC236}">
                <a16:creationId xmlns:a16="http://schemas.microsoft.com/office/drawing/2014/main" id="{0E239991-A930-47F2-B788-62D706575EBE}"/>
              </a:ext>
            </a:extLst>
          </p:cNvPr>
          <p:cNvGrpSpPr/>
          <p:nvPr/>
        </p:nvGrpSpPr>
        <p:grpSpPr>
          <a:xfrm>
            <a:off x="827090" y="2520000"/>
            <a:ext cx="7632950" cy="2196000"/>
            <a:chOff x="827090" y="2988000"/>
            <a:chExt cx="7632950" cy="2196000"/>
          </a:xfrm>
        </p:grpSpPr>
        <p:sp>
          <p:nvSpPr>
            <p:cNvPr id="105" name="Text Box 313">
              <a:extLst>
                <a:ext uri="{FF2B5EF4-FFF2-40B4-BE49-F238E27FC236}">
                  <a16:creationId xmlns:a16="http://schemas.microsoft.com/office/drawing/2014/main" id="{172844A7-80F5-424D-9AF5-0EDB19C231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91808" y="4788000"/>
              <a:ext cx="1080120" cy="252000"/>
            </a:xfrm>
            <a:prstGeom prst="rect">
              <a:avLst/>
            </a:prstGeom>
            <a:solidFill>
              <a:srgbClr val="CC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设备选择</a:t>
              </a:r>
            </a:p>
          </p:txBody>
        </p:sp>
        <p:sp>
          <p:nvSpPr>
            <p:cNvPr id="106" name="Text Box 319">
              <a:extLst>
                <a:ext uri="{FF2B5EF4-FFF2-40B4-BE49-F238E27FC236}">
                  <a16:creationId xmlns:a16="http://schemas.microsoft.com/office/drawing/2014/main" id="{83E45E90-1E81-4890-AB05-E69A7781BC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59960" y="4102440"/>
              <a:ext cx="864096" cy="252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控制口</a:t>
              </a:r>
            </a:p>
          </p:txBody>
        </p:sp>
        <p:sp>
          <p:nvSpPr>
            <p:cNvPr id="109" name="Text Box 320">
              <a:extLst>
                <a:ext uri="{FF2B5EF4-FFF2-40B4-BE49-F238E27FC236}">
                  <a16:creationId xmlns:a16="http://schemas.microsoft.com/office/drawing/2014/main" id="{3AE7F6FD-C310-42D3-AF09-1507F625D2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56104" y="4102440"/>
              <a:ext cx="865361" cy="252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数据口</a:t>
              </a:r>
            </a:p>
          </p:txBody>
        </p:sp>
        <p:sp>
          <p:nvSpPr>
            <p:cNvPr id="110" name="Text Box 324">
              <a:extLst>
                <a:ext uri="{FF2B5EF4-FFF2-40B4-BE49-F238E27FC236}">
                  <a16:creationId xmlns:a16="http://schemas.microsoft.com/office/drawing/2014/main" id="{B5E073C8-22AD-4AF0-9978-AE41BEED7B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11071" y="3310352"/>
              <a:ext cx="721097" cy="432048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0" rIns="0" bIns="0" anchor="ctr" anchorCtr="0"/>
            <a:lstStyle/>
            <a:p>
              <a:pPr>
                <a:lnSpc>
                  <a:spcPct val="8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Q</a:t>
              </a:r>
            </a:p>
            <a:p>
              <a:pPr algn="l">
                <a:lnSpc>
                  <a:spcPct val="8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 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 BS 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R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11" name="Rectangle 327">
              <a:extLst>
                <a:ext uri="{FF2B5EF4-FFF2-40B4-BE49-F238E27FC236}">
                  <a16:creationId xmlns:a16="http://schemas.microsoft.com/office/drawing/2014/main" id="{82C17A7B-5C0E-4FBA-AEB4-13951F412F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7999" y="3094327"/>
              <a:ext cx="2448000" cy="788539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lIns="18000" tIns="25200" rIns="18000" bIns="10800" anchor="t" anchorCtr="0"/>
            <a:lstStyle/>
            <a:p>
              <a:r>
                <a:rPr lang="zh-CN" altLang="en-US" sz="1800" b="1" dirty="0">
                  <a:latin typeface="+mn-ea"/>
                  <a:ea typeface="+mn-ea"/>
                </a:rPr>
                <a:t>状态口</a:t>
              </a:r>
              <a:endParaRPr lang="en-US" altLang="zh-CN" sz="1800" b="1" dirty="0">
                <a:latin typeface="+mn-ea"/>
                <a:ea typeface="+mn-ea"/>
              </a:endParaRPr>
            </a:p>
            <a:p>
              <a:pPr algn="l"/>
              <a:r>
                <a:rPr lang="en-US" altLang="zh-CN" sz="1800" b="1" dirty="0">
                  <a:latin typeface="+mn-ea"/>
                  <a:ea typeface="+mn-ea"/>
                </a:rPr>
                <a:t>         …</a:t>
              </a:r>
              <a:endParaRPr lang="zh-CN" altLang="en-US" sz="1800" b="1" dirty="0">
                <a:latin typeface="+mn-ea"/>
                <a:ea typeface="+mn-ea"/>
              </a:endParaRPr>
            </a:p>
          </p:txBody>
        </p:sp>
        <p:sp>
          <p:nvSpPr>
            <p:cNvPr id="112" name="Text Box 342">
              <a:extLst>
                <a:ext uri="{FF2B5EF4-FFF2-40B4-BE49-F238E27FC236}">
                  <a16:creationId xmlns:a16="http://schemas.microsoft.com/office/drawing/2014/main" id="{320E6A7E-08F7-4082-8AA0-3548B4A3CD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00000" y="2988000"/>
              <a:ext cx="360040" cy="1584325"/>
            </a:xfrm>
            <a:prstGeom prst="rect">
              <a:avLst/>
            </a:prstGeom>
            <a:solidFill>
              <a:schemeClr val="accent2">
                <a:lumMod val="20000"/>
                <a:lumOff val="80000"/>
                <a:alpha val="80000"/>
              </a:scheme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vert="eaVert"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外部设备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(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输入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)</a:t>
              </a:r>
            </a:p>
          </p:txBody>
        </p:sp>
        <p:cxnSp>
          <p:nvCxnSpPr>
            <p:cNvPr id="113" name="直接连接符 112">
              <a:extLst>
                <a:ext uri="{FF2B5EF4-FFF2-40B4-BE49-F238E27FC236}">
                  <a16:creationId xmlns:a16="http://schemas.microsoft.com/office/drawing/2014/main" id="{EAFDA4A9-8772-4111-9A1D-E21BF6997D35}"/>
                </a:ext>
              </a:extLst>
            </p:cNvPr>
            <p:cNvCxnSpPr/>
            <p:nvPr/>
          </p:nvCxnSpPr>
          <p:spPr bwMode="auto">
            <a:xfrm>
              <a:off x="5003976" y="3636000"/>
              <a:ext cx="936104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14" name="Text Box 324">
              <a:extLst>
                <a:ext uri="{FF2B5EF4-FFF2-40B4-BE49-F238E27FC236}">
                  <a16:creationId xmlns:a16="http://schemas.microsoft.com/office/drawing/2014/main" id="{36F3B130-A0FE-4DD6-87E0-0A0102E004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10871" y="3310352"/>
              <a:ext cx="721097" cy="43200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0" rIns="0" bIns="0" anchor="ctr" anchorCtr="0"/>
            <a:lstStyle/>
            <a:p>
              <a:pPr>
                <a:lnSpc>
                  <a:spcPct val="8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Q</a:t>
              </a:r>
            </a:p>
            <a:p>
              <a:pPr algn="l">
                <a:lnSpc>
                  <a:spcPct val="8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 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 RD 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R</a:t>
              </a:r>
            </a:p>
          </p:txBody>
        </p:sp>
        <p:sp>
          <p:nvSpPr>
            <p:cNvPr id="115" name="椭圆 114">
              <a:extLst>
                <a:ext uri="{FF2B5EF4-FFF2-40B4-BE49-F238E27FC236}">
                  <a16:creationId xmlns:a16="http://schemas.microsoft.com/office/drawing/2014/main" id="{5DBAC796-9751-4C56-9A70-5EA80FBC69DB}"/>
                </a:ext>
              </a:extLst>
            </p:cNvPr>
            <p:cNvSpPr/>
            <p:nvPr/>
          </p:nvSpPr>
          <p:spPr bwMode="auto">
            <a:xfrm>
              <a:off x="4931968" y="3600000"/>
              <a:ext cx="72008" cy="72000"/>
            </a:xfrm>
            <a:prstGeom prst="ellipse">
              <a:avLst/>
            </a:prstGeom>
            <a:solidFill>
              <a:schemeClr val="bg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6" name="椭圆 115">
              <a:extLst>
                <a:ext uri="{FF2B5EF4-FFF2-40B4-BE49-F238E27FC236}">
                  <a16:creationId xmlns:a16="http://schemas.microsoft.com/office/drawing/2014/main" id="{B22889AB-AB4D-4C6F-99D0-6E32AF176EFB}"/>
                </a:ext>
              </a:extLst>
            </p:cNvPr>
            <p:cNvSpPr/>
            <p:nvPr/>
          </p:nvSpPr>
          <p:spPr bwMode="auto">
            <a:xfrm>
              <a:off x="5940080" y="3600000"/>
              <a:ext cx="72008" cy="72000"/>
            </a:xfrm>
            <a:prstGeom prst="ellipse">
              <a:avLst/>
            </a:prstGeom>
            <a:solidFill>
              <a:schemeClr val="bg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7" name="椭圆 116">
              <a:extLst>
                <a:ext uri="{FF2B5EF4-FFF2-40B4-BE49-F238E27FC236}">
                  <a16:creationId xmlns:a16="http://schemas.microsoft.com/office/drawing/2014/main" id="{6CBEBFEE-C93A-495B-B390-AFE6FEB51E57}"/>
                </a:ext>
              </a:extLst>
            </p:cNvPr>
            <p:cNvSpPr/>
            <p:nvPr/>
          </p:nvSpPr>
          <p:spPr bwMode="auto">
            <a:xfrm>
              <a:off x="6732168" y="3600000"/>
              <a:ext cx="72008" cy="72000"/>
            </a:xfrm>
            <a:prstGeom prst="ellipse">
              <a:avLst/>
            </a:prstGeom>
            <a:solidFill>
              <a:schemeClr val="bg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118" name="直接连接符 117">
              <a:extLst>
                <a:ext uri="{FF2B5EF4-FFF2-40B4-BE49-F238E27FC236}">
                  <a16:creationId xmlns:a16="http://schemas.microsoft.com/office/drawing/2014/main" id="{2217FD9C-460C-4422-879B-84E2678681AE}"/>
                </a:ext>
              </a:extLst>
            </p:cNvPr>
            <p:cNvCxnSpPr/>
            <p:nvPr/>
          </p:nvCxnSpPr>
          <p:spPr bwMode="auto">
            <a:xfrm>
              <a:off x="4068000" y="3814829"/>
              <a:ext cx="309600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19" name="Text Box 143">
              <a:extLst>
                <a:ext uri="{FF2B5EF4-FFF2-40B4-BE49-F238E27FC236}">
                  <a16:creationId xmlns:a16="http://schemas.microsoft.com/office/drawing/2014/main" id="{EABA1CFB-C13B-456A-89FF-379334F384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72000" y="3276000"/>
              <a:ext cx="143146" cy="216023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8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&amp;</a:t>
              </a:r>
            </a:p>
          </p:txBody>
        </p:sp>
        <p:cxnSp>
          <p:nvCxnSpPr>
            <p:cNvPr id="120" name="直接连接符 119">
              <a:extLst>
                <a:ext uri="{FF2B5EF4-FFF2-40B4-BE49-F238E27FC236}">
                  <a16:creationId xmlns:a16="http://schemas.microsoft.com/office/drawing/2014/main" id="{F23B2C29-50AC-4BDF-8A4A-C3CF82DB6945}"/>
                </a:ext>
              </a:extLst>
            </p:cNvPr>
            <p:cNvCxnSpPr/>
            <p:nvPr/>
          </p:nvCxnSpPr>
          <p:spPr bwMode="auto">
            <a:xfrm flipV="1">
              <a:off x="1476000" y="4606496"/>
              <a:ext cx="5112000" cy="496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21" name="Text Box 177">
              <a:extLst>
                <a:ext uri="{FF2B5EF4-FFF2-40B4-BE49-F238E27FC236}">
                  <a16:creationId xmlns:a16="http://schemas.microsoft.com/office/drawing/2014/main" id="{A079C4DB-0525-4387-98CD-20D8497BA6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28000" y="3886541"/>
              <a:ext cx="288031" cy="215899"/>
            </a:xfrm>
            <a:prstGeom prst="rect">
              <a:avLst/>
            </a:prstGeom>
            <a:noFill/>
            <a:ln w="3810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eaLnBrk="0" hangingPunct="0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SD</a:t>
              </a:r>
            </a:p>
          </p:txBody>
        </p:sp>
        <p:cxnSp>
          <p:nvCxnSpPr>
            <p:cNvPr id="122" name="直接连接符 121">
              <a:extLst>
                <a:ext uri="{FF2B5EF4-FFF2-40B4-BE49-F238E27FC236}">
                  <a16:creationId xmlns:a16="http://schemas.microsoft.com/office/drawing/2014/main" id="{09A1DDFD-C733-4873-A899-111F50C7561A}"/>
                </a:ext>
              </a:extLst>
            </p:cNvPr>
            <p:cNvCxnSpPr/>
            <p:nvPr/>
          </p:nvCxnSpPr>
          <p:spPr bwMode="auto">
            <a:xfrm flipV="1">
              <a:off x="5292008" y="4356000"/>
              <a:ext cx="0" cy="252000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23" name="直接连接符 122">
              <a:extLst>
                <a:ext uri="{FF2B5EF4-FFF2-40B4-BE49-F238E27FC236}">
                  <a16:creationId xmlns:a16="http://schemas.microsoft.com/office/drawing/2014/main" id="{653C551E-09C3-4778-8104-B117FA4844AB}"/>
                </a:ext>
              </a:extLst>
            </p:cNvPr>
            <p:cNvCxnSpPr/>
            <p:nvPr/>
          </p:nvCxnSpPr>
          <p:spPr bwMode="auto">
            <a:xfrm flipV="1">
              <a:off x="6588152" y="4356000"/>
              <a:ext cx="0" cy="252000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4" name="直接连接符 123">
              <a:extLst>
                <a:ext uri="{FF2B5EF4-FFF2-40B4-BE49-F238E27FC236}">
                  <a16:creationId xmlns:a16="http://schemas.microsoft.com/office/drawing/2014/main" id="{B8E662A9-6850-4379-A5AF-A6BAA0400C55}"/>
                </a:ext>
              </a:extLst>
            </p:cNvPr>
            <p:cNvCxnSpPr/>
            <p:nvPr/>
          </p:nvCxnSpPr>
          <p:spPr bwMode="auto">
            <a:xfrm>
              <a:off x="4212000" y="3888000"/>
              <a:ext cx="0" cy="715295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25" name="Text Box 318">
              <a:extLst>
                <a:ext uri="{FF2B5EF4-FFF2-40B4-BE49-F238E27FC236}">
                  <a16:creationId xmlns:a16="http://schemas.microsoft.com/office/drawing/2014/main" id="{5AEB40B4-913F-4707-B11D-0112D03CA2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96064" y="4788000"/>
              <a:ext cx="1081459" cy="252000"/>
            </a:xfrm>
            <a:prstGeom prst="rect">
              <a:avLst/>
            </a:prstGeom>
            <a:solidFill>
              <a:srgbClr val="CC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端口译码</a:t>
              </a:r>
            </a:p>
          </p:txBody>
        </p:sp>
        <p:cxnSp>
          <p:nvCxnSpPr>
            <p:cNvPr id="126" name="直接连接符 125">
              <a:extLst>
                <a:ext uri="{FF2B5EF4-FFF2-40B4-BE49-F238E27FC236}">
                  <a16:creationId xmlns:a16="http://schemas.microsoft.com/office/drawing/2014/main" id="{6ABC8B89-65DF-461C-B4F6-EB757307641F}"/>
                </a:ext>
              </a:extLst>
            </p:cNvPr>
            <p:cNvCxnSpPr/>
            <p:nvPr/>
          </p:nvCxnSpPr>
          <p:spPr bwMode="auto">
            <a:xfrm>
              <a:off x="1476000" y="4932000"/>
              <a:ext cx="2016000" cy="162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27" name="直接连接符 126">
              <a:extLst>
                <a:ext uri="{FF2B5EF4-FFF2-40B4-BE49-F238E27FC236}">
                  <a16:creationId xmlns:a16="http://schemas.microsoft.com/office/drawing/2014/main" id="{BF3BDAC9-7610-45E1-9DE0-5F8C9EF983B6}"/>
                </a:ext>
              </a:extLst>
            </p:cNvPr>
            <p:cNvCxnSpPr/>
            <p:nvPr/>
          </p:nvCxnSpPr>
          <p:spPr bwMode="auto">
            <a:xfrm>
              <a:off x="7020200" y="4246456"/>
              <a:ext cx="144016" cy="0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8" name="直接连接符 127">
              <a:extLst>
                <a:ext uri="{FF2B5EF4-FFF2-40B4-BE49-F238E27FC236}">
                  <a16:creationId xmlns:a16="http://schemas.microsoft.com/office/drawing/2014/main" id="{7B288F88-5DFE-444C-B64E-98AE6D463E2C}"/>
                </a:ext>
              </a:extLst>
            </p:cNvPr>
            <p:cNvCxnSpPr/>
            <p:nvPr/>
          </p:nvCxnSpPr>
          <p:spPr bwMode="auto">
            <a:xfrm>
              <a:off x="7164000" y="3204000"/>
              <a:ext cx="93600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29" name="直接连接符 128">
              <a:extLst>
                <a:ext uri="{FF2B5EF4-FFF2-40B4-BE49-F238E27FC236}">
                  <a16:creationId xmlns:a16="http://schemas.microsoft.com/office/drawing/2014/main" id="{8B6909D4-4A04-44A2-B31A-0D8B62462BCA}"/>
                </a:ext>
              </a:extLst>
            </p:cNvPr>
            <p:cNvCxnSpPr/>
            <p:nvPr/>
          </p:nvCxnSpPr>
          <p:spPr bwMode="auto">
            <a:xfrm flipH="1">
              <a:off x="7164216" y="3814408"/>
              <a:ext cx="93600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30" name="直接连接符 129">
              <a:extLst>
                <a:ext uri="{FF2B5EF4-FFF2-40B4-BE49-F238E27FC236}">
                  <a16:creationId xmlns:a16="http://schemas.microsoft.com/office/drawing/2014/main" id="{0E556037-EE0F-45A3-BE39-3FCE5D6AE98C}"/>
                </a:ext>
              </a:extLst>
            </p:cNvPr>
            <p:cNvCxnSpPr/>
            <p:nvPr/>
          </p:nvCxnSpPr>
          <p:spPr bwMode="auto">
            <a:xfrm flipH="1">
              <a:off x="7164216" y="4246456"/>
              <a:ext cx="936000" cy="0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31" name="Rectangle 327">
              <a:extLst>
                <a:ext uri="{FF2B5EF4-FFF2-40B4-BE49-F238E27FC236}">
                  <a16:creationId xmlns:a16="http://schemas.microsoft.com/office/drawing/2014/main" id="{8DBC8C2D-2CF1-4050-B6C2-050A47BEF6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96000" y="2988000"/>
              <a:ext cx="4968000" cy="2196000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lIns="18000" tIns="25200" rIns="18000" bIns="10800" anchor="t" anchorCtr="0"/>
            <a:lstStyle/>
            <a:p>
              <a:pPr algn="l"/>
              <a:r>
                <a:rPr lang="zh-CN" altLang="en-US" sz="1400" b="1" dirty="0">
                  <a:latin typeface="+mn-ea"/>
                  <a:ea typeface="+mn-ea"/>
                </a:rPr>
                <a:t> </a:t>
              </a:r>
              <a:endParaRPr lang="zh-CN" altLang="en-US" sz="1800" b="1" dirty="0">
                <a:latin typeface="+mn-ea"/>
                <a:ea typeface="+mn-ea"/>
              </a:endParaRPr>
            </a:p>
          </p:txBody>
        </p:sp>
        <p:sp>
          <p:nvSpPr>
            <p:cNvPr id="132" name="Text Box 177">
              <a:extLst>
                <a:ext uri="{FF2B5EF4-FFF2-40B4-BE49-F238E27FC236}">
                  <a16:creationId xmlns:a16="http://schemas.microsoft.com/office/drawing/2014/main" id="{80FEB0D5-3956-4AE7-99F3-CBD87AA02E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00000" y="4140000"/>
              <a:ext cx="576000" cy="215899"/>
            </a:xfrm>
            <a:prstGeom prst="rect">
              <a:avLst/>
            </a:prstGeom>
            <a:noFill/>
            <a:ln w="3810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eaLnBrk="0" hangingPunct="0">
                <a:lnSpc>
                  <a:spcPct val="90000"/>
                </a:lnSpc>
              </a:pPr>
              <a:r>
                <a:rPr lang="en-US" altLang="zh-CN" sz="1800" b="1" dirty="0" err="1">
                  <a:latin typeface="宋体" panose="02010600030101010101" pitchFamily="2" charset="-122"/>
                </a:rPr>
                <a:t>CBus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33" name="Text Box 177">
              <a:extLst>
                <a:ext uri="{FF2B5EF4-FFF2-40B4-BE49-F238E27FC236}">
                  <a16:creationId xmlns:a16="http://schemas.microsoft.com/office/drawing/2014/main" id="{79388147-0CF5-4711-8AEA-FF55D16756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00000" y="4500000"/>
              <a:ext cx="576064" cy="215899"/>
            </a:xfrm>
            <a:prstGeom prst="rect">
              <a:avLst/>
            </a:prstGeom>
            <a:noFill/>
            <a:ln w="3810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eaLnBrk="0" hangingPunct="0">
                <a:lnSpc>
                  <a:spcPct val="90000"/>
                </a:lnSpc>
              </a:pPr>
              <a:r>
                <a:rPr lang="en-US" altLang="zh-CN" sz="1800" b="1" dirty="0" err="1">
                  <a:latin typeface="宋体" panose="02010600030101010101" pitchFamily="2" charset="-122"/>
                </a:rPr>
                <a:t>DBus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34" name="Text Box 177">
              <a:extLst>
                <a:ext uri="{FF2B5EF4-FFF2-40B4-BE49-F238E27FC236}">
                  <a16:creationId xmlns:a16="http://schemas.microsoft.com/office/drawing/2014/main" id="{6284720B-F26A-434C-99CD-AE15FC330A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00000" y="4824000"/>
              <a:ext cx="576064" cy="215899"/>
            </a:xfrm>
            <a:prstGeom prst="rect">
              <a:avLst/>
            </a:prstGeom>
            <a:noFill/>
            <a:ln w="3810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eaLnBrk="0" hangingPunct="0">
                <a:lnSpc>
                  <a:spcPct val="90000"/>
                </a:lnSpc>
              </a:pPr>
              <a:r>
                <a:rPr lang="en-US" altLang="zh-CN" sz="1800" b="1" dirty="0" err="1">
                  <a:latin typeface="宋体" panose="02010600030101010101" pitchFamily="2" charset="-122"/>
                </a:rPr>
                <a:t>ABus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35" name="椭圆 134">
              <a:extLst>
                <a:ext uri="{FF2B5EF4-FFF2-40B4-BE49-F238E27FC236}">
                  <a16:creationId xmlns:a16="http://schemas.microsoft.com/office/drawing/2014/main" id="{CB886307-CD47-46DB-A646-9AD2733EB832}"/>
                </a:ext>
              </a:extLst>
            </p:cNvPr>
            <p:cNvSpPr/>
            <p:nvPr/>
          </p:nvSpPr>
          <p:spPr bwMode="auto">
            <a:xfrm>
              <a:off x="5616000" y="3348000"/>
              <a:ext cx="72008" cy="72000"/>
            </a:xfrm>
            <a:prstGeom prst="ellips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136" name="直接连接符 135">
              <a:extLst>
                <a:ext uri="{FF2B5EF4-FFF2-40B4-BE49-F238E27FC236}">
                  <a16:creationId xmlns:a16="http://schemas.microsoft.com/office/drawing/2014/main" id="{819E0E5E-1C4D-4F03-9C0C-54EB51078771}"/>
                </a:ext>
              </a:extLst>
            </p:cNvPr>
            <p:cNvCxnSpPr/>
            <p:nvPr/>
          </p:nvCxnSpPr>
          <p:spPr bwMode="auto">
            <a:xfrm flipV="1">
              <a:off x="1476000" y="4246618"/>
              <a:ext cx="720000" cy="212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37" name="直接连接符 136">
              <a:extLst>
                <a:ext uri="{FF2B5EF4-FFF2-40B4-BE49-F238E27FC236}">
                  <a16:creationId xmlns:a16="http://schemas.microsoft.com/office/drawing/2014/main" id="{863788BF-86DF-4A8D-85FD-393405368106}"/>
                </a:ext>
              </a:extLst>
            </p:cNvPr>
            <p:cNvCxnSpPr/>
            <p:nvPr/>
          </p:nvCxnSpPr>
          <p:spPr bwMode="auto">
            <a:xfrm flipV="1">
              <a:off x="4860000" y="4932000"/>
              <a:ext cx="936000" cy="212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38" name="直接连接符 137">
              <a:extLst>
                <a:ext uri="{FF2B5EF4-FFF2-40B4-BE49-F238E27FC236}">
                  <a16:creationId xmlns:a16="http://schemas.microsoft.com/office/drawing/2014/main" id="{A7B45548-38AA-4A25-A2F1-B1FD246E6657}"/>
                </a:ext>
              </a:extLst>
            </p:cNvPr>
            <p:cNvCxnSpPr/>
            <p:nvPr/>
          </p:nvCxnSpPr>
          <p:spPr bwMode="auto">
            <a:xfrm flipV="1">
              <a:off x="4860000" y="4932000"/>
              <a:ext cx="0" cy="18000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9" name="直接连接符 138">
              <a:extLst>
                <a:ext uri="{FF2B5EF4-FFF2-40B4-BE49-F238E27FC236}">
                  <a16:creationId xmlns:a16="http://schemas.microsoft.com/office/drawing/2014/main" id="{135340A0-2CCE-4398-B2CA-09F337DF87DA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3348000" y="4932000"/>
              <a:ext cx="0" cy="18000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 w="med" len="med"/>
            </a:ln>
          </p:spPr>
        </p:cxnSp>
        <p:cxnSp>
          <p:nvCxnSpPr>
            <p:cNvPr id="140" name="直接连接符 139">
              <a:extLst>
                <a:ext uri="{FF2B5EF4-FFF2-40B4-BE49-F238E27FC236}">
                  <a16:creationId xmlns:a16="http://schemas.microsoft.com/office/drawing/2014/main" id="{B5E72C11-8E4C-4052-89E0-4AD9AFC6E0C9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3347792" y="5112000"/>
              <a:ext cx="151200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1" name="直接连接符 140">
              <a:extLst>
                <a:ext uri="{FF2B5EF4-FFF2-40B4-BE49-F238E27FC236}">
                  <a16:creationId xmlns:a16="http://schemas.microsoft.com/office/drawing/2014/main" id="{3165159A-0F86-40C8-A18E-8E6BCB84EB6F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068000" y="3636000"/>
              <a:ext cx="14400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2" name="直接连接符 141">
              <a:extLst>
                <a:ext uri="{FF2B5EF4-FFF2-40B4-BE49-F238E27FC236}">
                  <a16:creationId xmlns:a16="http://schemas.microsoft.com/office/drawing/2014/main" id="{413D50DB-D6C0-488D-800B-24166DDEB50A}"/>
                </a:ext>
              </a:extLst>
            </p:cNvPr>
            <p:cNvCxnSpPr/>
            <p:nvPr/>
          </p:nvCxnSpPr>
          <p:spPr bwMode="auto">
            <a:xfrm flipV="1">
              <a:off x="4068000" y="3636000"/>
              <a:ext cx="0" cy="18000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3" name="直接连接符 142">
              <a:extLst>
                <a:ext uri="{FF2B5EF4-FFF2-40B4-BE49-F238E27FC236}">
                  <a16:creationId xmlns:a16="http://schemas.microsoft.com/office/drawing/2014/main" id="{5013F25E-8897-42B7-9DC0-4658140ACA5C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328000" y="3456000"/>
              <a:ext cx="14400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4" name="直接连接符 143">
              <a:extLst>
                <a:ext uri="{FF2B5EF4-FFF2-40B4-BE49-F238E27FC236}">
                  <a16:creationId xmlns:a16="http://schemas.microsoft.com/office/drawing/2014/main" id="{92421B27-F428-45AA-AE7F-C9C9016E0B35}"/>
                </a:ext>
              </a:extLst>
            </p:cNvPr>
            <p:cNvCxnSpPr/>
            <p:nvPr/>
          </p:nvCxnSpPr>
          <p:spPr bwMode="auto">
            <a:xfrm flipV="1">
              <a:off x="5328000" y="3456000"/>
              <a:ext cx="0" cy="64800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5" name="直接连接符 144">
              <a:extLst>
                <a:ext uri="{FF2B5EF4-FFF2-40B4-BE49-F238E27FC236}">
                  <a16:creationId xmlns:a16="http://schemas.microsoft.com/office/drawing/2014/main" id="{175177BD-146B-47A5-998C-95894696A2B6}"/>
                </a:ext>
              </a:extLst>
            </p:cNvPr>
            <p:cNvCxnSpPr/>
            <p:nvPr/>
          </p:nvCxnSpPr>
          <p:spPr bwMode="auto">
            <a:xfrm flipV="1">
              <a:off x="4572000" y="3204000"/>
              <a:ext cx="0" cy="10800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6" name="直接连接符 145">
              <a:extLst>
                <a:ext uri="{FF2B5EF4-FFF2-40B4-BE49-F238E27FC236}">
                  <a16:creationId xmlns:a16="http://schemas.microsoft.com/office/drawing/2014/main" id="{1F2A64FA-0388-45B5-8CCA-5D21A7611BE8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572000" y="3204000"/>
              <a:ext cx="64800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7" name="直接连接符 146">
              <a:extLst>
                <a:ext uri="{FF2B5EF4-FFF2-40B4-BE49-F238E27FC236}">
                  <a16:creationId xmlns:a16="http://schemas.microsoft.com/office/drawing/2014/main" id="{60D63AC9-5562-4454-984D-6916A98848F2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220000" y="3312000"/>
              <a:ext cx="25200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8" name="直接连接符 147">
              <a:extLst>
                <a:ext uri="{FF2B5EF4-FFF2-40B4-BE49-F238E27FC236}">
                  <a16:creationId xmlns:a16="http://schemas.microsoft.com/office/drawing/2014/main" id="{5B5F2328-B26A-420A-A43E-2CCD96A28CA1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220000" y="3204000"/>
              <a:ext cx="0" cy="10800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9" name="直接连接符 148">
              <a:extLst>
                <a:ext uri="{FF2B5EF4-FFF2-40B4-BE49-F238E27FC236}">
                  <a16:creationId xmlns:a16="http://schemas.microsoft.com/office/drawing/2014/main" id="{D5F422DF-1C4F-4389-ACB8-2A5B8FD4799F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688000" y="3384000"/>
              <a:ext cx="10800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0" name="直接连接符 149">
              <a:extLst>
                <a:ext uri="{FF2B5EF4-FFF2-40B4-BE49-F238E27FC236}">
                  <a16:creationId xmlns:a16="http://schemas.microsoft.com/office/drawing/2014/main" id="{361319DC-5465-4163-BCA3-EE371DED388D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796000" y="3384000"/>
              <a:ext cx="0" cy="25200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oval" w="sm" len="sm"/>
            </a:ln>
          </p:spPr>
        </p:cxnSp>
        <p:cxnSp>
          <p:nvCxnSpPr>
            <p:cNvPr id="151" name="直接连接符 150">
              <a:extLst>
                <a:ext uri="{FF2B5EF4-FFF2-40B4-BE49-F238E27FC236}">
                  <a16:creationId xmlns:a16="http://schemas.microsoft.com/office/drawing/2014/main" id="{80EE7B78-DD5D-4CD3-A761-3EB053832A22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6948192" y="3636000"/>
              <a:ext cx="0" cy="178408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 w="med" len="med"/>
            </a:ln>
          </p:spPr>
        </p:cxnSp>
        <p:cxnSp>
          <p:nvCxnSpPr>
            <p:cNvPr id="152" name="直接连接符 151">
              <a:extLst>
                <a:ext uri="{FF2B5EF4-FFF2-40B4-BE49-F238E27FC236}">
                  <a16:creationId xmlns:a16="http://schemas.microsoft.com/office/drawing/2014/main" id="{092EE6EC-0441-4E80-AE2E-E9AC0B57FFFD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6804000" y="3636000"/>
              <a:ext cx="144016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3" name="直接连接符 152">
              <a:extLst>
                <a:ext uri="{FF2B5EF4-FFF2-40B4-BE49-F238E27FC236}">
                  <a16:creationId xmlns:a16="http://schemas.microsoft.com/office/drawing/2014/main" id="{18B1F668-3231-4E95-9E49-59748494F373}"/>
                </a:ext>
              </a:extLst>
            </p:cNvPr>
            <p:cNvCxnSpPr/>
            <p:nvPr/>
          </p:nvCxnSpPr>
          <p:spPr bwMode="auto">
            <a:xfrm flipV="1">
              <a:off x="6372000" y="3204000"/>
              <a:ext cx="792000" cy="212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54" name="直接连接符 153">
              <a:extLst>
                <a:ext uri="{FF2B5EF4-FFF2-40B4-BE49-F238E27FC236}">
                  <a16:creationId xmlns:a16="http://schemas.microsoft.com/office/drawing/2014/main" id="{2AA62F14-B8C0-4421-AFE4-B384AAB15EE4}"/>
                </a:ext>
              </a:extLst>
            </p:cNvPr>
            <p:cNvCxnSpPr/>
            <p:nvPr/>
          </p:nvCxnSpPr>
          <p:spPr bwMode="auto">
            <a:xfrm flipV="1">
              <a:off x="6372000" y="3204000"/>
              <a:ext cx="0" cy="10800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55" name="等腰三角形 154">
              <a:extLst>
                <a:ext uri="{FF2B5EF4-FFF2-40B4-BE49-F238E27FC236}">
                  <a16:creationId xmlns:a16="http://schemas.microsoft.com/office/drawing/2014/main" id="{A7226B4B-C067-4703-B796-73530846D9FA}"/>
                </a:ext>
              </a:extLst>
            </p:cNvPr>
            <p:cNvSpPr/>
            <p:nvPr/>
          </p:nvSpPr>
          <p:spPr bwMode="auto">
            <a:xfrm rot="5400000">
              <a:off x="4175399" y="3600000"/>
              <a:ext cx="144000" cy="72000"/>
            </a:xfrm>
            <a:prstGeom prst="triangle">
              <a:avLst/>
            </a:prstGeom>
            <a:solidFill>
              <a:schemeClr val="bg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56" name="等腰三角形 155">
              <a:extLst>
                <a:ext uri="{FF2B5EF4-FFF2-40B4-BE49-F238E27FC236}">
                  <a16:creationId xmlns:a16="http://schemas.microsoft.com/office/drawing/2014/main" id="{73175D5B-338A-433A-A218-1C2F72CD46D9}"/>
                </a:ext>
              </a:extLst>
            </p:cNvPr>
            <p:cNvSpPr/>
            <p:nvPr/>
          </p:nvSpPr>
          <p:spPr bwMode="auto">
            <a:xfrm rot="5400000">
              <a:off x="5976000" y="3600000"/>
              <a:ext cx="144000" cy="72000"/>
            </a:xfrm>
            <a:prstGeom prst="triangle">
              <a:avLst/>
            </a:prstGeom>
            <a:solidFill>
              <a:schemeClr val="bg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57" name="Text Box 177">
              <a:extLst>
                <a:ext uri="{FF2B5EF4-FFF2-40B4-BE49-F238E27FC236}">
                  <a16:creationId xmlns:a16="http://schemas.microsoft.com/office/drawing/2014/main" id="{DF888707-D919-4D94-92C6-C76820E912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7090" y="3096000"/>
              <a:ext cx="1008112" cy="215899"/>
            </a:xfrm>
            <a:prstGeom prst="rect">
              <a:avLst/>
            </a:prstGeom>
            <a:noFill/>
            <a:ln w="3810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r" eaLnBrk="0" hangingPunct="0">
                <a:lnSpc>
                  <a:spcPct val="90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中断请求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158" name="直接连接符 157">
              <a:extLst>
                <a:ext uri="{FF2B5EF4-FFF2-40B4-BE49-F238E27FC236}">
                  <a16:creationId xmlns:a16="http://schemas.microsoft.com/office/drawing/2014/main" id="{F6856F20-F3D4-49F5-92AC-105CE0304ED1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1835202" y="3204000"/>
              <a:ext cx="36000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59" name="Text Box 177">
              <a:extLst>
                <a:ext uri="{FF2B5EF4-FFF2-40B4-BE49-F238E27FC236}">
                  <a16:creationId xmlns:a16="http://schemas.microsoft.com/office/drawing/2014/main" id="{4631E67E-0FF0-43C4-9D9F-CA51F6EF12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8000" y="3528000"/>
              <a:ext cx="1008112" cy="215899"/>
            </a:xfrm>
            <a:prstGeom prst="rect">
              <a:avLst/>
            </a:prstGeom>
            <a:noFill/>
            <a:ln w="3810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r" eaLnBrk="0" hangingPunct="0">
                <a:lnSpc>
                  <a:spcPct val="90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中断响应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160" name="直接连接符 159">
              <a:extLst>
                <a:ext uri="{FF2B5EF4-FFF2-40B4-BE49-F238E27FC236}">
                  <a16:creationId xmlns:a16="http://schemas.microsoft.com/office/drawing/2014/main" id="{0078D4DF-30D6-453C-8233-3C41E1FA772E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1836000" y="3636000"/>
              <a:ext cx="360000" cy="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grpSp>
        <p:nvGrpSpPr>
          <p:cNvPr id="195" name="组合 194">
            <a:extLst>
              <a:ext uri="{FF2B5EF4-FFF2-40B4-BE49-F238E27FC236}">
                <a16:creationId xmlns:a16="http://schemas.microsoft.com/office/drawing/2014/main" id="{5F46B6DE-0DFB-4F1D-892E-F6553559C444}"/>
              </a:ext>
            </a:extLst>
          </p:cNvPr>
          <p:cNvGrpSpPr/>
          <p:nvPr/>
        </p:nvGrpSpPr>
        <p:grpSpPr>
          <a:xfrm>
            <a:off x="3420064" y="2844000"/>
            <a:ext cx="1799936" cy="792000"/>
            <a:chOff x="2592000" y="4521193"/>
            <a:chExt cx="1799936" cy="792000"/>
          </a:xfrm>
        </p:grpSpPr>
        <p:sp>
          <p:nvSpPr>
            <p:cNvPr id="196" name="Text Box 143">
              <a:extLst>
                <a:ext uri="{FF2B5EF4-FFF2-40B4-BE49-F238E27FC236}">
                  <a16:creationId xmlns:a16="http://schemas.microsoft.com/office/drawing/2014/main" id="{206A6C4A-B900-4F3B-867C-FC8288ED87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27936" y="5133193"/>
              <a:ext cx="143146" cy="180000"/>
            </a:xfrm>
            <a:prstGeom prst="rect">
              <a:avLst/>
            </a:prstGeom>
            <a:solidFill>
              <a:srgbClr val="FFFF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80000"/>
                </a:lnSpc>
              </a:pPr>
              <a:r>
                <a:rPr lang="en-US" altLang="zh-CN" sz="1400" b="1" dirty="0">
                  <a:latin typeface="宋体" panose="02010600030101010101" pitchFamily="2" charset="-122"/>
                </a:rPr>
                <a:t>&amp;</a:t>
              </a:r>
            </a:p>
          </p:txBody>
        </p:sp>
        <p:cxnSp>
          <p:nvCxnSpPr>
            <p:cNvPr id="197" name="直接连接符 196">
              <a:extLst>
                <a:ext uri="{FF2B5EF4-FFF2-40B4-BE49-F238E27FC236}">
                  <a16:creationId xmlns:a16="http://schemas.microsoft.com/office/drawing/2014/main" id="{9FB1F05D-C416-4C0E-BE1E-B1EDAAA8B731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391936" y="4521193"/>
              <a:ext cx="0" cy="64800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 w="med" len="med"/>
            </a:ln>
          </p:spPr>
        </p:cxnSp>
        <p:cxnSp>
          <p:nvCxnSpPr>
            <p:cNvPr id="198" name="直接连接符 197">
              <a:extLst>
                <a:ext uri="{FF2B5EF4-FFF2-40B4-BE49-F238E27FC236}">
                  <a16:creationId xmlns:a16="http://schemas.microsoft.com/office/drawing/2014/main" id="{D411534E-8679-40C4-8C80-E9C716C10DF5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3671936" y="5169193"/>
              <a:ext cx="72000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9" name="直接连接符 198">
              <a:extLst>
                <a:ext uri="{FF2B5EF4-FFF2-40B4-BE49-F238E27FC236}">
                  <a16:creationId xmlns:a16="http://schemas.microsoft.com/office/drawing/2014/main" id="{AC944726-DD3E-4B19-A45E-A7B62154121B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2736000" y="5205193"/>
              <a:ext cx="79200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0" name="直接连接符 199">
              <a:extLst>
                <a:ext uri="{FF2B5EF4-FFF2-40B4-BE49-F238E27FC236}">
                  <a16:creationId xmlns:a16="http://schemas.microsoft.com/office/drawing/2014/main" id="{63D8536F-1A66-487C-BDEA-7AE44C946E2F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2736000" y="4845193"/>
              <a:ext cx="0" cy="36000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1" name="直接连接符 200">
              <a:extLst>
                <a:ext uri="{FF2B5EF4-FFF2-40B4-BE49-F238E27FC236}">
                  <a16:creationId xmlns:a16="http://schemas.microsoft.com/office/drawing/2014/main" id="{C067CD1F-3707-402C-9452-07B326DF938B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2592000" y="4845193"/>
              <a:ext cx="14400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02" name="组合 201">
            <a:extLst>
              <a:ext uri="{FF2B5EF4-FFF2-40B4-BE49-F238E27FC236}">
                <a16:creationId xmlns:a16="http://schemas.microsoft.com/office/drawing/2014/main" id="{83DF7BBB-AAC6-424F-A9D7-744D698956DF}"/>
              </a:ext>
            </a:extLst>
          </p:cNvPr>
          <p:cNvGrpSpPr/>
          <p:nvPr/>
        </p:nvGrpSpPr>
        <p:grpSpPr>
          <a:xfrm>
            <a:off x="1620000" y="2520000"/>
            <a:ext cx="6336000" cy="1908000"/>
            <a:chOff x="1620000" y="2520000"/>
            <a:chExt cx="6336000" cy="1908000"/>
          </a:xfrm>
        </p:grpSpPr>
        <p:sp>
          <p:nvSpPr>
            <p:cNvPr id="203" name="Text Box 177">
              <a:extLst>
                <a:ext uri="{FF2B5EF4-FFF2-40B4-BE49-F238E27FC236}">
                  <a16:creationId xmlns:a16="http://schemas.microsoft.com/office/drawing/2014/main" id="{8E5451E7-E054-418C-9E44-5399D8AD99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72000" y="2520000"/>
              <a:ext cx="684000" cy="180000"/>
            </a:xfrm>
            <a:prstGeom prst="rect">
              <a:avLst/>
            </a:prstGeom>
            <a:solidFill>
              <a:srgbClr val="FFFF99"/>
            </a:solidFill>
            <a:ln w="38100">
              <a:noFill/>
              <a:miter lim="800000"/>
            </a:ln>
            <a:effectLst/>
          </p:spPr>
          <p:txBody>
            <a:bodyPr lIns="18000" tIns="0" rIns="18000" bIns="0" anchor="ctr"/>
            <a:lstStyle/>
            <a:p>
              <a:pPr algn="l" eaLnBrk="0" hangingPunct="0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⑤启动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204" name="Text Box 177">
              <a:extLst>
                <a:ext uri="{FF2B5EF4-FFF2-40B4-BE49-F238E27FC236}">
                  <a16:creationId xmlns:a16="http://schemas.microsoft.com/office/drawing/2014/main" id="{95229F6B-21C4-4880-BE22-45D67F0022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72000" y="3132000"/>
              <a:ext cx="684000" cy="180000"/>
            </a:xfrm>
            <a:prstGeom prst="rect">
              <a:avLst/>
            </a:prstGeom>
            <a:solidFill>
              <a:srgbClr val="FFFF99"/>
            </a:solidFill>
            <a:ln w="38100">
              <a:noFill/>
              <a:miter lim="800000"/>
            </a:ln>
            <a:effectLst/>
          </p:spPr>
          <p:txBody>
            <a:bodyPr lIns="18000" tIns="0" rIns="18000" bIns="0" anchor="ctr"/>
            <a:lstStyle/>
            <a:p>
              <a:pPr algn="l" eaLnBrk="0" hangingPunct="0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⑦就绪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205" name="Text Box 177">
              <a:extLst>
                <a:ext uri="{FF2B5EF4-FFF2-40B4-BE49-F238E27FC236}">
                  <a16:creationId xmlns:a16="http://schemas.microsoft.com/office/drawing/2014/main" id="{3D30DC69-EE7F-4D5E-B99D-D1B178E665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72000" y="3564000"/>
              <a:ext cx="684000" cy="180000"/>
            </a:xfrm>
            <a:prstGeom prst="rect">
              <a:avLst/>
            </a:prstGeom>
            <a:solidFill>
              <a:srgbClr val="FFFF99"/>
            </a:solidFill>
            <a:ln w="38100">
              <a:noFill/>
              <a:miter lim="800000"/>
            </a:ln>
            <a:effectLst/>
          </p:spPr>
          <p:txBody>
            <a:bodyPr lIns="18000" tIns="0" rIns="18000" bIns="0" anchor="ctr"/>
            <a:lstStyle/>
            <a:p>
              <a:pPr algn="l" eaLnBrk="0" hangingPunct="0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⑥数据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206" name="Text Box 177">
              <a:extLst>
                <a:ext uri="{FF2B5EF4-FFF2-40B4-BE49-F238E27FC236}">
                  <a16:creationId xmlns:a16="http://schemas.microsoft.com/office/drawing/2014/main" id="{07D8EC1D-DC53-42F3-B9F4-3B000F4982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0000" y="2628000"/>
              <a:ext cx="216000" cy="180000"/>
            </a:xfrm>
            <a:prstGeom prst="rect">
              <a:avLst/>
            </a:prstGeom>
            <a:solidFill>
              <a:srgbClr val="FFFF99"/>
            </a:solidFill>
            <a:ln w="38100">
              <a:noFill/>
              <a:miter lim="800000"/>
            </a:ln>
            <a:effectLst/>
          </p:spPr>
          <p:txBody>
            <a:bodyPr lIns="18000" tIns="0" rIns="18000" bIns="0" anchor="ctr"/>
            <a:lstStyle/>
            <a:p>
              <a:pPr eaLnBrk="0" hangingPunct="0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⑧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207" name="Text Box 177">
              <a:extLst>
                <a:ext uri="{FF2B5EF4-FFF2-40B4-BE49-F238E27FC236}">
                  <a16:creationId xmlns:a16="http://schemas.microsoft.com/office/drawing/2014/main" id="{F1CE691F-8F9C-4311-893F-5E703EA174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24000" y="2700000"/>
              <a:ext cx="216000" cy="180000"/>
            </a:xfrm>
            <a:prstGeom prst="rect">
              <a:avLst/>
            </a:prstGeom>
            <a:solidFill>
              <a:srgbClr val="FFFF99"/>
            </a:solidFill>
            <a:ln w="38100">
              <a:noFill/>
              <a:miter lim="800000"/>
            </a:ln>
            <a:effectLst/>
          </p:spPr>
          <p:txBody>
            <a:bodyPr lIns="18000" tIns="0" rIns="18000" bIns="0" anchor="ctr"/>
            <a:lstStyle/>
            <a:p>
              <a:pPr eaLnBrk="0" hangingPunct="0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④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208" name="Text Box 177">
              <a:extLst>
                <a:ext uri="{FF2B5EF4-FFF2-40B4-BE49-F238E27FC236}">
                  <a16:creationId xmlns:a16="http://schemas.microsoft.com/office/drawing/2014/main" id="{3A4EA90A-26BF-4C84-90C1-F019235288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64000" y="3924000"/>
              <a:ext cx="216000" cy="180000"/>
            </a:xfrm>
            <a:prstGeom prst="rect">
              <a:avLst/>
            </a:prstGeom>
            <a:solidFill>
              <a:srgbClr val="CCFFFF"/>
            </a:solidFill>
            <a:ln w="38100">
              <a:noFill/>
              <a:miter lim="800000"/>
            </a:ln>
            <a:effectLst/>
          </p:spPr>
          <p:txBody>
            <a:bodyPr lIns="18000" tIns="0" rIns="18000" bIns="0" anchor="ctr"/>
            <a:lstStyle/>
            <a:p>
              <a:pPr eaLnBrk="0" hangingPunct="0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③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209" name="Text Box 177">
              <a:extLst>
                <a:ext uri="{FF2B5EF4-FFF2-40B4-BE49-F238E27FC236}">
                  <a16:creationId xmlns:a16="http://schemas.microsoft.com/office/drawing/2014/main" id="{D3CE4DCD-6DF4-4889-B049-5068627976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68000" y="4248000"/>
              <a:ext cx="216000" cy="180000"/>
            </a:xfrm>
            <a:prstGeom prst="rect">
              <a:avLst/>
            </a:prstGeom>
            <a:solidFill>
              <a:srgbClr val="CCFFFF"/>
            </a:solidFill>
            <a:ln w="38100">
              <a:noFill/>
              <a:miter lim="800000"/>
            </a:ln>
            <a:effectLst/>
          </p:spPr>
          <p:txBody>
            <a:bodyPr lIns="18000" tIns="0" rIns="18000" bIns="0" anchor="ctr"/>
            <a:lstStyle/>
            <a:p>
              <a:pPr eaLnBrk="0" hangingPunct="0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②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210" name="Text Box 177">
              <a:extLst>
                <a:ext uri="{FF2B5EF4-FFF2-40B4-BE49-F238E27FC236}">
                  <a16:creationId xmlns:a16="http://schemas.microsoft.com/office/drawing/2014/main" id="{BBE3227D-91C1-4234-9812-852691782D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20000" y="4248000"/>
              <a:ext cx="216000" cy="180000"/>
            </a:xfrm>
            <a:prstGeom prst="rect">
              <a:avLst/>
            </a:prstGeom>
            <a:solidFill>
              <a:srgbClr val="CCFFFF"/>
            </a:solidFill>
            <a:ln w="38100">
              <a:noFill/>
              <a:miter lim="800000"/>
            </a:ln>
            <a:effectLst/>
          </p:spPr>
          <p:txBody>
            <a:bodyPr lIns="18000" tIns="0" rIns="18000" bIns="0" anchor="ctr"/>
            <a:lstStyle/>
            <a:p>
              <a:pPr eaLnBrk="0" hangingPunct="0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①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211" name="Text Box 177">
              <a:extLst>
                <a:ext uri="{FF2B5EF4-FFF2-40B4-BE49-F238E27FC236}">
                  <a16:creationId xmlns:a16="http://schemas.microsoft.com/office/drawing/2014/main" id="{47DB7D60-2293-4444-A36A-6FC9EF4388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20000" y="3564000"/>
              <a:ext cx="216000" cy="180000"/>
            </a:xfrm>
            <a:prstGeom prst="rect">
              <a:avLst/>
            </a:prstGeom>
            <a:solidFill>
              <a:srgbClr val="CCFFFF"/>
            </a:solidFill>
            <a:ln w="38100">
              <a:noFill/>
              <a:miter lim="800000"/>
            </a:ln>
            <a:effectLst/>
          </p:spPr>
          <p:txBody>
            <a:bodyPr lIns="18000" tIns="0" rIns="18000" bIns="0" anchor="ctr"/>
            <a:lstStyle/>
            <a:p>
              <a:pPr eaLnBrk="0" hangingPunct="0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→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212" name="Text Box 177">
              <a:extLst>
                <a:ext uri="{FF2B5EF4-FFF2-40B4-BE49-F238E27FC236}">
                  <a16:creationId xmlns:a16="http://schemas.microsoft.com/office/drawing/2014/main" id="{A90C6F28-E44D-4AD1-8DA7-E397210A00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20000" y="3924000"/>
              <a:ext cx="216000" cy="180000"/>
            </a:xfrm>
            <a:prstGeom prst="rect">
              <a:avLst/>
            </a:prstGeom>
            <a:solidFill>
              <a:srgbClr val="CCFFFF"/>
            </a:solidFill>
            <a:ln w="38100">
              <a:noFill/>
              <a:miter lim="800000"/>
            </a:ln>
            <a:effectLst/>
          </p:spPr>
          <p:txBody>
            <a:bodyPr lIns="18000" tIns="0" rIns="18000" bIns="0" anchor="ctr"/>
            <a:lstStyle/>
            <a:p>
              <a:pPr eaLnBrk="0" hangingPunct="0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③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213" name="Text Box 177">
              <a:extLst>
                <a:ext uri="{FF2B5EF4-FFF2-40B4-BE49-F238E27FC236}">
                  <a16:creationId xmlns:a16="http://schemas.microsoft.com/office/drawing/2014/main" id="{BE806967-7DAD-444A-B2C5-E7880A0A70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44000" y="2520000"/>
              <a:ext cx="216000" cy="180000"/>
            </a:xfrm>
            <a:prstGeom prst="rect">
              <a:avLst/>
            </a:prstGeom>
            <a:solidFill>
              <a:srgbClr val="FFCCFF"/>
            </a:solidFill>
            <a:ln w="38100">
              <a:noFill/>
              <a:miter lim="800000"/>
            </a:ln>
            <a:effectLst/>
          </p:spPr>
          <p:txBody>
            <a:bodyPr lIns="18000" tIns="0" rIns="18000" bIns="0" anchor="ctr"/>
            <a:lstStyle/>
            <a:p>
              <a:pPr eaLnBrk="0" hangingPunct="0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⑨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</p:grpSp>
      <p:cxnSp>
        <p:nvCxnSpPr>
          <p:cNvPr id="321" name="直接连接符 320">
            <a:extLst>
              <a:ext uri="{FF2B5EF4-FFF2-40B4-BE49-F238E27FC236}">
                <a16:creationId xmlns:a16="http://schemas.microsoft.com/office/drawing/2014/main" id="{564F6C1F-8D3F-4A80-92C2-0A6134881C86}"/>
              </a:ext>
            </a:extLst>
          </p:cNvPr>
          <p:cNvCxnSpPr>
            <a:cxnSpLocks/>
          </p:cNvCxnSpPr>
          <p:nvPr/>
        </p:nvCxnSpPr>
        <p:spPr bwMode="auto">
          <a:xfrm>
            <a:off x="2196000" y="3168000"/>
            <a:ext cx="504000" cy="0"/>
          </a:xfrm>
          <a:prstGeom prst="line">
            <a:avLst/>
          </a:prstGeom>
          <a:noFill/>
          <a:ln w="15875" cap="flat" cmpd="sng" algn="ctr">
            <a:solidFill>
              <a:srgbClr val="FF3399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322" name="组合 321">
            <a:extLst>
              <a:ext uri="{FF2B5EF4-FFF2-40B4-BE49-F238E27FC236}">
                <a16:creationId xmlns:a16="http://schemas.microsoft.com/office/drawing/2014/main" id="{6F5D48BA-6B2A-4267-8FDA-7A696EE1B5CD}"/>
              </a:ext>
            </a:extLst>
          </p:cNvPr>
          <p:cNvGrpSpPr/>
          <p:nvPr/>
        </p:nvGrpSpPr>
        <p:grpSpPr>
          <a:xfrm>
            <a:off x="2196000" y="2736000"/>
            <a:ext cx="2808000" cy="1404000"/>
            <a:chOff x="2196000" y="2736000"/>
            <a:chExt cx="2808000" cy="1404000"/>
          </a:xfrm>
        </p:grpSpPr>
        <p:sp>
          <p:nvSpPr>
            <p:cNvPr id="323" name="Text Box 319">
              <a:extLst>
                <a:ext uri="{FF2B5EF4-FFF2-40B4-BE49-F238E27FC236}">
                  <a16:creationId xmlns:a16="http://schemas.microsoft.com/office/drawing/2014/main" id="{613A4CE4-0405-44AC-B082-199D08B2AA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25563" y="3600000"/>
              <a:ext cx="1260000" cy="252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rgbClr val="990099"/>
              </a:solidFill>
              <a:prstDash val="sysDash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中断类型号</a:t>
              </a:r>
            </a:p>
          </p:txBody>
        </p:sp>
        <p:cxnSp>
          <p:nvCxnSpPr>
            <p:cNvPr id="324" name="直接连接符 323">
              <a:extLst>
                <a:ext uri="{FF2B5EF4-FFF2-40B4-BE49-F238E27FC236}">
                  <a16:creationId xmlns:a16="http://schemas.microsoft.com/office/drawing/2014/main" id="{C5EA26BB-EC8C-47FB-BB1F-57C39E5E24AD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3456000" y="3852000"/>
              <a:ext cx="0" cy="288000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325" name="Text Box 324">
              <a:extLst>
                <a:ext uri="{FF2B5EF4-FFF2-40B4-BE49-F238E27FC236}">
                  <a16:creationId xmlns:a16="http://schemas.microsoft.com/office/drawing/2014/main" id="{904F8F31-DFA4-4EA1-ADCE-CB3C466939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71776" y="2844000"/>
              <a:ext cx="648000" cy="432048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rgbClr val="990099"/>
              </a:solidFill>
              <a:miter lim="800000"/>
            </a:ln>
            <a:effectLst/>
          </p:spPr>
          <p:txBody>
            <a:bodyPr lIns="18000" tIns="0" rIns="0" bIns="0"/>
            <a:lstStyle/>
            <a:p>
              <a:pPr>
                <a:lnSpc>
                  <a:spcPct val="8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Q</a:t>
              </a:r>
            </a:p>
            <a:p>
              <a:pPr algn="l">
                <a:lnSpc>
                  <a:spcPct val="8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R</a:t>
              </a:r>
              <a:r>
                <a:rPr lang="en-US" altLang="zh-CN" sz="1100" b="1" dirty="0">
                  <a:latin typeface="宋体" panose="02010600030101010101" pitchFamily="2" charset="-122"/>
                </a:rPr>
                <a:t> 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INT  </a:t>
              </a:r>
            </a:p>
          </p:txBody>
        </p:sp>
        <p:sp>
          <p:nvSpPr>
            <p:cNvPr id="326" name="椭圆 325">
              <a:extLst>
                <a:ext uri="{FF2B5EF4-FFF2-40B4-BE49-F238E27FC236}">
                  <a16:creationId xmlns:a16="http://schemas.microsoft.com/office/drawing/2014/main" id="{94A66CEA-0EEE-4D01-B916-677BA9F35D87}"/>
                </a:ext>
              </a:extLst>
            </p:cNvPr>
            <p:cNvSpPr/>
            <p:nvPr/>
          </p:nvSpPr>
          <p:spPr bwMode="auto">
            <a:xfrm>
              <a:off x="2699768" y="3132000"/>
              <a:ext cx="72008" cy="72000"/>
            </a:xfrm>
            <a:prstGeom prst="ellips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27" name="Text Box 177">
              <a:extLst>
                <a:ext uri="{FF2B5EF4-FFF2-40B4-BE49-F238E27FC236}">
                  <a16:creationId xmlns:a16="http://schemas.microsoft.com/office/drawing/2014/main" id="{58914961-1E84-4996-885B-456DE6D75D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72000" y="3564000"/>
              <a:ext cx="252000" cy="180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3810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 eaLnBrk="0" hangingPunct="0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EI</a:t>
              </a:r>
            </a:p>
          </p:txBody>
        </p:sp>
        <p:sp>
          <p:nvSpPr>
            <p:cNvPr id="328" name="等腰三角形 327">
              <a:extLst>
                <a:ext uri="{FF2B5EF4-FFF2-40B4-BE49-F238E27FC236}">
                  <a16:creationId xmlns:a16="http://schemas.microsoft.com/office/drawing/2014/main" id="{C8EE59CE-0853-4E50-91C8-7C5BD291947A}"/>
                </a:ext>
              </a:extLst>
            </p:cNvPr>
            <p:cNvSpPr/>
            <p:nvPr/>
          </p:nvSpPr>
          <p:spPr bwMode="auto">
            <a:xfrm rot="16200000">
              <a:off x="3312000" y="3132000"/>
              <a:ext cx="144000" cy="72008"/>
            </a:xfrm>
            <a:prstGeom prst="triangle">
              <a:avLst/>
            </a:prstGeom>
            <a:solidFill>
              <a:schemeClr val="bg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329" name="直接连接符 90">
              <a:extLst>
                <a:ext uri="{FF2B5EF4-FFF2-40B4-BE49-F238E27FC236}">
                  <a16:creationId xmlns:a16="http://schemas.microsoft.com/office/drawing/2014/main" id="{962D6961-A61D-4F0E-8010-0ED497C8AC84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3096000" y="2736000"/>
              <a:ext cx="0" cy="10800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0" name="直接连接符 90">
              <a:extLst>
                <a:ext uri="{FF2B5EF4-FFF2-40B4-BE49-F238E27FC236}">
                  <a16:creationId xmlns:a16="http://schemas.microsoft.com/office/drawing/2014/main" id="{3932649D-AAE5-4D15-88AD-A1C8A6748DE9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2196000" y="2736000"/>
              <a:ext cx="900000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1" name="直接连接符 90">
              <a:extLst>
                <a:ext uri="{FF2B5EF4-FFF2-40B4-BE49-F238E27FC236}">
                  <a16:creationId xmlns:a16="http://schemas.microsoft.com/office/drawing/2014/main" id="{72B36C48-E3C0-42C0-88D5-549222BC69C3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5004000" y="3564000"/>
              <a:ext cx="0" cy="7200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2" name="直接连接符 90">
              <a:extLst>
                <a:ext uri="{FF2B5EF4-FFF2-40B4-BE49-F238E27FC236}">
                  <a16:creationId xmlns:a16="http://schemas.microsoft.com/office/drawing/2014/main" id="{A51F90FA-B301-4B2F-8C65-2791B013009B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4500000" y="3564000"/>
              <a:ext cx="504000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D5EAE1B2-A514-4000-99BF-EA0C695A0D9C}"/>
              </a:ext>
            </a:extLst>
          </p:cNvPr>
          <p:cNvGrpSpPr/>
          <p:nvPr/>
        </p:nvGrpSpPr>
        <p:grpSpPr>
          <a:xfrm>
            <a:off x="1872000" y="2736000"/>
            <a:ext cx="1872000" cy="1368000"/>
            <a:chOff x="1872000" y="2736000"/>
            <a:chExt cx="1872000" cy="1368000"/>
          </a:xfrm>
        </p:grpSpPr>
        <p:sp>
          <p:nvSpPr>
            <p:cNvPr id="312" name="Text Box 143">
              <a:extLst>
                <a:ext uri="{FF2B5EF4-FFF2-40B4-BE49-F238E27FC236}">
                  <a16:creationId xmlns:a16="http://schemas.microsoft.com/office/drawing/2014/main" id="{2DF8866E-E4A1-4FC8-8CE0-E95C6975AB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56000" y="3852000"/>
              <a:ext cx="143146" cy="216023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8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&amp;</a:t>
              </a:r>
            </a:p>
          </p:txBody>
        </p:sp>
        <p:sp>
          <p:nvSpPr>
            <p:cNvPr id="313" name="等腰三角形 312">
              <a:extLst>
                <a:ext uri="{FF2B5EF4-FFF2-40B4-BE49-F238E27FC236}">
                  <a16:creationId xmlns:a16="http://schemas.microsoft.com/office/drawing/2014/main" id="{F2CBB3A4-F35A-400E-8156-9EA4351ABA12}"/>
                </a:ext>
              </a:extLst>
            </p:cNvPr>
            <p:cNvSpPr/>
            <p:nvPr/>
          </p:nvSpPr>
          <p:spPr bwMode="auto">
            <a:xfrm rot="10800000">
              <a:off x="3402000" y="3924000"/>
              <a:ext cx="108012" cy="108000"/>
            </a:xfrm>
            <a:prstGeom prst="triangle">
              <a:avLst/>
            </a:prstGeom>
            <a:solidFill>
              <a:schemeClr val="bg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314" name="直接连接符 85">
              <a:extLst>
                <a:ext uri="{FF2B5EF4-FFF2-40B4-BE49-F238E27FC236}">
                  <a16:creationId xmlns:a16="http://schemas.microsoft.com/office/drawing/2014/main" id="{94CFFE2E-7BCA-44E7-B999-7E32D2E756CC}"/>
                </a:ext>
              </a:extLst>
            </p:cNvPr>
            <p:cNvCxnSpPr/>
            <p:nvPr/>
          </p:nvCxnSpPr>
          <p:spPr bwMode="auto">
            <a:xfrm>
              <a:off x="2304000" y="4032000"/>
              <a:ext cx="252000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15" name="直接连接符 85">
              <a:extLst>
                <a:ext uri="{FF2B5EF4-FFF2-40B4-BE49-F238E27FC236}">
                  <a16:creationId xmlns:a16="http://schemas.microsoft.com/office/drawing/2014/main" id="{BFA3A735-A6FE-4504-AEE2-ECD665F96168}"/>
                </a:ext>
              </a:extLst>
            </p:cNvPr>
            <p:cNvCxnSpPr/>
            <p:nvPr/>
          </p:nvCxnSpPr>
          <p:spPr bwMode="auto">
            <a:xfrm>
              <a:off x="2304000" y="2736000"/>
              <a:ext cx="0" cy="129600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 w="sm" len="sm"/>
            </a:ln>
          </p:spPr>
        </p:cxnSp>
        <p:cxnSp>
          <p:nvCxnSpPr>
            <p:cNvPr id="316" name="直接连接符 315">
              <a:extLst>
                <a:ext uri="{FF2B5EF4-FFF2-40B4-BE49-F238E27FC236}">
                  <a16:creationId xmlns:a16="http://schemas.microsoft.com/office/drawing/2014/main" id="{509C22D6-95A6-424B-9428-D35DB64963DE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412000" y="3168000"/>
              <a:ext cx="0" cy="720000"/>
            </a:xfrm>
            <a:prstGeom prst="line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oval" w="sm" len="sm"/>
              <a:tailEnd type="none" w="med" len="med"/>
            </a:ln>
          </p:spPr>
        </p:cxnSp>
        <p:cxnSp>
          <p:nvCxnSpPr>
            <p:cNvPr id="317" name="直接连接符 316">
              <a:extLst>
                <a:ext uri="{FF2B5EF4-FFF2-40B4-BE49-F238E27FC236}">
                  <a16:creationId xmlns:a16="http://schemas.microsoft.com/office/drawing/2014/main" id="{52630E50-36DF-4BDD-90EB-9DE6719EF858}"/>
                </a:ext>
              </a:extLst>
            </p:cNvPr>
            <p:cNvCxnSpPr/>
            <p:nvPr/>
          </p:nvCxnSpPr>
          <p:spPr bwMode="auto">
            <a:xfrm>
              <a:off x="2700000" y="3978000"/>
              <a:ext cx="73800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320" name="直接连接符 85">
              <a:extLst>
                <a:ext uri="{FF2B5EF4-FFF2-40B4-BE49-F238E27FC236}">
                  <a16:creationId xmlns:a16="http://schemas.microsoft.com/office/drawing/2014/main" id="{DF994E43-3273-4A6D-8BEE-AAE0572E4821}"/>
                </a:ext>
              </a:extLst>
            </p:cNvPr>
            <p:cNvCxnSpPr/>
            <p:nvPr/>
          </p:nvCxnSpPr>
          <p:spPr bwMode="auto">
            <a:xfrm>
              <a:off x="2412000" y="3888000"/>
              <a:ext cx="144000" cy="0"/>
            </a:xfrm>
            <a:prstGeom prst="straightConnector1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33" name="Text Box 177">
              <a:extLst>
                <a:ext uri="{FF2B5EF4-FFF2-40B4-BE49-F238E27FC236}">
                  <a16:creationId xmlns:a16="http://schemas.microsoft.com/office/drawing/2014/main" id="{0EEFC13E-1C4B-4AF0-9369-F4850A9997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2000" y="2952000"/>
              <a:ext cx="216000" cy="18000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38100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 eaLnBrk="0" hangingPunct="0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⑴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334" name="Text Box 177">
              <a:extLst>
                <a:ext uri="{FF2B5EF4-FFF2-40B4-BE49-F238E27FC236}">
                  <a16:creationId xmlns:a16="http://schemas.microsoft.com/office/drawing/2014/main" id="{72BADE8A-7F15-4FA6-A646-530B8F1E3F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2000" y="3924000"/>
              <a:ext cx="216000" cy="18000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38100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 eaLnBrk="0" hangingPunct="0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⑵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335" name="Text Box 177">
              <a:extLst>
                <a:ext uri="{FF2B5EF4-FFF2-40B4-BE49-F238E27FC236}">
                  <a16:creationId xmlns:a16="http://schemas.microsoft.com/office/drawing/2014/main" id="{949B953D-5A37-479B-83E5-717B4C709C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28000" y="3924000"/>
              <a:ext cx="216000" cy="18000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38100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 eaLnBrk="0" hangingPunct="0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⑵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336" name="Text Box 177">
              <a:extLst>
                <a:ext uri="{FF2B5EF4-FFF2-40B4-BE49-F238E27FC236}">
                  <a16:creationId xmlns:a16="http://schemas.microsoft.com/office/drawing/2014/main" id="{CF1A0711-BB9D-4358-B271-BC08EB575B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2000" y="3564000"/>
              <a:ext cx="216000" cy="18000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38100">
              <a:noFill/>
              <a:miter lim="800000"/>
            </a:ln>
            <a:effectLst/>
          </p:spPr>
          <p:txBody>
            <a:bodyPr lIns="18000" tIns="0" rIns="18000" bIns="0" anchor="ctr"/>
            <a:lstStyle/>
            <a:p>
              <a:pPr eaLnBrk="0" hangingPunct="0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←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337" name="Text Box 177">
              <a:extLst>
                <a:ext uri="{FF2B5EF4-FFF2-40B4-BE49-F238E27FC236}">
                  <a16:creationId xmlns:a16="http://schemas.microsoft.com/office/drawing/2014/main" id="{69AEF3FB-B9DE-4883-AC69-3B4F50F9AF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76000" y="2952000"/>
              <a:ext cx="216000" cy="18000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38100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 eaLnBrk="0" hangingPunct="0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⑶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2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750"/>
                                        <p:tgtEl>
                                          <p:spTgt spid="3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7" dur="750"/>
                                        <p:tgtEl>
                                          <p:spTgt spid="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BFB63-B979-4FAE-8763-D7093A979077}" type="slidenum">
              <a:rPr lang="en-US" altLang="zh-CN" smtClean="0"/>
              <a:t>35</a:t>
            </a:fld>
            <a:endParaRPr lang="en-US" altLang="zh-CN"/>
          </a:p>
        </p:txBody>
      </p:sp>
      <p:sp>
        <p:nvSpPr>
          <p:cNvPr id="346117" name="Text Box 5"/>
          <p:cNvSpPr txBox="1">
            <a:spLocks noChangeArrowheads="1"/>
          </p:cNvSpPr>
          <p:nvPr/>
        </p:nvSpPr>
        <p:spPr bwMode="auto">
          <a:xfrm>
            <a:off x="179705" y="764704"/>
            <a:ext cx="3813175" cy="5295617"/>
          </a:xfrm>
          <a:prstGeom prst="rect">
            <a:avLst/>
          </a:prstGeom>
          <a:noFill/>
          <a:ln w="38100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(1)</a:t>
            </a:r>
            <a:r>
              <a:rPr lang="zh-CN" altLang="en-US" sz="2200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识别</a:t>
            </a:r>
            <a:r>
              <a:rPr lang="zh-CN" sz="2200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中断源的组织</a:t>
            </a:r>
            <a:endParaRPr lang="zh-CN" altLang="en-US" sz="2200" b="1" dirty="0">
              <a:solidFill>
                <a:srgbClr val="FF3399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*</a:t>
            </a:r>
            <a:r>
              <a:rPr lang="zh-CN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目标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：</a:t>
            </a: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600" b="1" dirty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请求</a:t>
            </a:r>
            <a:r>
              <a:rPr lang="zh-CN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连接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：</a:t>
            </a: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000" b="1" dirty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判优方法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：</a:t>
            </a: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  <a:sym typeface="+mn-ea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000" b="1" dirty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l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常见的选择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：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请求连接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判优方法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331640" y="1196752"/>
            <a:ext cx="7272000" cy="70186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tIns="1080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选出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最紧急请求，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产生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其中断类型号，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撤销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该请求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r>
              <a:rPr lang="en-US" altLang="zh-CN" sz="16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└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←～请求线连接      </a:t>
            </a:r>
            <a:r>
              <a:rPr lang="zh-CN" altLang="en-US" sz="16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└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─←～</a:t>
            </a:r>
            <a:r>
              <a:rPr 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事件识别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方法→─</a:t>
            </a:r>
            <a:r>
              <a:rPr sz="1600" dirty="0">
                <a:latin typeface="宋体" panose="02010600030101010101" pitchFamily="2" charset="-122"/>
                <a:cs typeface="宋体" panose="02010600030101010101" pitchFamily="2" charset="-122"/>
              </a:rPr>
              <a:t>┘</a:t>
            </a:r>
            <a:r>
              <a:rPr lang="en-US" altLang="zh-CN" sz="1600" b="1" spc="-150" dirty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 </a:t>
            </a:r>
          </a:p>
        </p:txBody>
      </p:sp>
      <p:graphicFrame>
        <p:nvGraphicFramePr>
          <p:cNvPr id="115" name="表格 114"/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94945813"/>
              </p:ext>
            </p:extLst>
          </p:nvPr>
        </p:nvGraphicFramePr>
        <p:xfrm>
          <a:off x="971600" y="3140968"/>
          <a:ext cx="7632848" cy="2007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42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62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4216">
                  <a:extLst>
                    <a:ext uri="{9D8B030D-6E8A-4147-A177-3AD203B41FA5}">
                      <a16:colId xmlns:a16="http://schemas.microsoft.com/office/drawing/2014/main" val="2646746363"/>
                    </a:ext>
                  </a:extLst>
                </a:gridCol>
                <a:gridCol w="17281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9071">
                <a:tc rowSpan="2">
                  <a:txBody>
                    <a:bodyPr/>
                    <a:lstStyle/>
                    <a:p>
                      <a:pPr indent="0" fontAlgn="auto">
                        <a:lnSpc>
                          <a:spcPct val="90000"/>
                        </a:lnSpc>
                      </a:pPr>
                      <a:endParaRPr lang="zh-CN" altLang="en-US" sz="18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</a:pP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软件识别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</a:t>
                      </a: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非向量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)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硬件识别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</a:t>
                      </a: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向量方式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)</a:t>
                      </a:r>
                      <a:endParaRPr lang="zh-CN" altLang="en-US" dirty="0"/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>
                        <a:alpha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3517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</a:pP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软件判优</a:t>
                      </a: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</a:pP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串行判优</a:t>
                      </a: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</a:pP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并行判优</a:t>
                      </a: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>
                        <a:alpha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3517">
                <a:tc>
                  <a:txBody>
                    <a:bodyPr/>
                    <a:lstStyle/>
                    <a:p>
                      <a:pPr marR="0" indent="0" algn="l" defTabSz="914400" rtl="0" fontAlgn="auto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请求连接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</a:pP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共用请求式</a:t>
                      </a: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</a:pPr>
                      <a:endParaRPr lang="zh-CN" altLang="en-US" sz="18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</a:pP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独立请求式</a:t>
                      </a: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3500">
                <a:tc>
                  <a:txBody>
                    <a:bodyPr/>
                    <a:lstStyle/>
                    <a:p>
                      <a:pPr marR="0" indent="0" algn="l" defTabSz="914400" rtl="0" fontAlgn="auto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判优原理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fontAlgn="auto">
                        <a:lnSpc>
                          <a:spcPct val="90000"/>
                        </a:lnSpc>
                        <a:buNone/>
                      </a:pPr>
                      <a:endParaRPr lang="zh-CN" altLang="en-US" sz="18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indent="0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</a:t>
                      </a: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fontAlgn="auto">
                        <a:lnSpc>
                          <a:spcPct val="90000"/>
                        </a:lnSpc>
                        <a:buNone/>
                      </a:pPr>
                      <a:endParaRPr lang="zh-CN" altLang="en-US" sz="18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fontAlgn="auto">
                        <a:lnSpc>
                          <a:spcPct val="90000"/>
                        </a:lnSpc>
                        <a:buNone/>
                      </a:pPr>
                      <a:endParaRPr lang="zh-CN" altLang="en-US" sz="18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0285">
                <a:tc>
                  <a:txBody>
                    <a:bodyPr/>
                    <a:lstStyle/>
                    <a:p>
                      <a:pPr marR="0" indent="0" algn="l" defTabSz="914400" rtl="0" fontAlgn="auto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中断类型号的提供</a:t>
                      </a:r>
                    </a:p>
                  </a:txBody>
                  <a:tcPr marL="36000" marR="36000" marT="36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fontAlgn="auto">
                        <a:lnSpc>
                          <a:spcPct val="90000"/>
                        </a:lnSpc>
                      </a:pPr>
                      <a:endParaRPr lang="zh-CN" altLang="en-US" sz="18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fontAlgn="auto">
                        <a:lnSpc>
                          <a:spcPct val="90000"/>
                        </a:lnSpc>
                      </a:pPr>
                      <a:endParaRPr lang="zh-CN" altLang="en-US" sz="18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fontAlgn="auto">
                        <a:lnSpc>
                          <a:spcPct val="90000"/>
                        </a:lnSpc>
                      </a:pPr>
                      <a:endParaRPr lang="zh-CN" altLang="en-US" sz="18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0285">
                <a:tc>
                  <a:txBody>
                    <a:bodyPr/>
                    <a:lstStyle/>
                    <a:p>
                      <a:pPr indent="0" fontAlgn="auto">
                        <a:lnSpc>
                          <a:spcPct val="90000"/>
                        </a:lnSpc>
                      </a:pP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请求撤销</a:t>
                      </a: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的</a:t>
                      </a: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方法</a:t>
                      </a:r>
                    </a:p>
                  </a:txBody>
                  <a:tcPr marL="36000" marR="36000" marT="36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fontAlgn="auto">
                        <a:lnSpc>
                          <a:spcPct val="90000"/>
                        </a:lnSpc>
                      </a:pPr>
                      <a:endParaRPr lang="zh-CN" altLang="en-US" sz="18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fontAlgn="auto">
                        <a:lnSpc>
                          <a:spcPct val="90000"/>
                        </a:lnSpc>
                      </a:pPr>
                      <a:endParaRPr lang="zh-CN" altLang="en-US" sz="18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fontAlgn="auto">
                        <a:lnSpc>
                          <a:spcPct val="90000"/>
                        </a:lnSpc>
                      </a:pPr>
                      <a:endParaRPr lang="en-US" altLang="zh-CN" sz="18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5" name="Text Box 326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2991797" y="4005184"/>
            <a:ext cx="1868235" cy="1152000"/>
          </a:xfrm>
          <a:prstGeom prst="rect">
            <a:avLst/>
          </a:prstGeom>
          <a:noFill/>
          <a:ln w="19050">
            <a:noFill/>
            <a:miter lim="800000"/>
          </a:ln>
          <a:effectLst/>
        </p:spPr>
        <p:txBody>
          <a:bodyPr lIns="18000" tIns="36195" rIns="18000" bIns="0" anchor="t" anchorCtr="0"/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lang="zh-CN" altLang="en-US" sz="1800" b="1" dirty="0">
                <a:latin typeface="+mn-ea"/>
                <a:ea typeface="+mn-ea"/>
                <a:sym typeface="+mn-ea"/>
              </a:rPr>
              <a:t>按序查询</a:t>
            </a:r>
          </a:p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静态优先级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endParaRPr lang="zh-CN" altLang="en-US" sz="1600" b="1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</a:pPr>
            <a:r>
              <a:rPr lang="zh-CN" altLang="en-US" sz="1800" b="1" dirty="0">
                <a:latin typeface="+mn-ea"/>
                <a:ea typeface="+mn-ea"/>
                <a:sym typeface="+mn-ea"/>
              </a:rPr>
              <a:t>不需要</a:t>
            </a:r>
            <a:r>
              <a:rPr lang="en-US" altLang="zh-CN" sz="1600" b="1" dirty="0">
                <a:latin typeface="+mn-ea"/>
                <a:ea typeface="+mn-ea"/>
                <a:sym typeface="+mn-ea"/>
              </a:rPr>
              <a:t>(</a:t>
            </a:r>
            <a:r>
              <a:rPr lang="zh-CN" altLang="en-US" sz="1600" b="1" dirty="0">
                <a:latin typeface="+mn-ea"/>
                <a:ea typeface="+mn-ea"/>
                <a:sym typeface="+mn-ea"/>
              </a:rPr>
              <a:t>函数调用</a:t>
            </a:r>
            <a:r>
              <a:rPr lang="en-US" altLang="zh-CN" sz="1600" b="1" dirty="0">
                <a:latin typeface="+mn-ea"/>
                <a:ea typeface="+mn-ea"/>
                <a:sym typeface="+mn-ea"/>
              </a:rPr>
              <a:t>)</a:t>
            </a:r>
          </a:p>
          <a:p>
            <a:pPr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</a:pPr>
            <a:r>
              <a:rPr lang="zh-CN" altLang="en-US" sz="1800" b="1" dirty="0">
                <a:latin typeface="+mn-ea"/>
                <a:ea typeface="+mn-ea"/>
                <a:sym typeface="+mn-ea"/>
              </a:rPr>
              <a:t>读状态口时</a:t>
            </a:r>
          </a:p>
        </p:txBody>
      </p:sp>
      <p:sp>
        <p:nvSpPr>
          <p:cNvPr id="16" name="Text Box 326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5004048" y="4005184"/>
            <a:ext cx="1800000" cy="1152000"/>
          </a:xfrm>
          <a:prstGeom prst="rect">
            <a:avLst/>
          </a:prstGeom>
          <a:noFill/>
          <a:ln w="19050">
            <a:noFill/>
            <a:miter lim="800000"/>
          </a:ln>
          <a:effectLst/>
        </p:spPr>
        <p:txBody>
          <a:bodyPr lIns="18000" tIns="36195" rIns="18000" bIns="0" anchor="t" anchorCtr="0"/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lang="zh-CN" altLang="en-US" sz="1800" b="1" dirty="0">
                <a:latin typeface="+mn-ea"/>
                <a:ea typeface="+mn-ea"/>
                <a:sym typeface="+mn-ea"/>
              </a:rPr>
              <a:t>自动轮询</a:t>
            </a:r>
          </a:p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静态优先级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endParaRPr lang="zh-CN" altLang="en-US" sz="1600" b="1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</a:pPr>
            <a:r>
              <a:rPr lang="zh-CN" altLang="en-US" sz="1800" b="1" dirty="0">
                <a:latin typeface="+mn-ea"/>
                <a:ea typeface="+mn-ea"/>
                <a:sym typeface="+mn-ea"/>
              </a:rPr>
              <a:t>中断接口</a:t>
            </a:r>
            <a:r>
              <a:rPr lang="en-US" altLang="zh-CN" sz="1600" b="1" dirty="0">
                <a:latin typeface="+mn-ea"/>
                <a:ea typeface="+mn-ea"/>
                <a:sym typeface="+mn-ea"/>
              </a:rPr>
              <a:t>(</a:t>
            </a:r>
            <a:r>
              <a:rPr lang="zh-CN" altLang="en-US" sz="1600" b="1" dirty="0">
                <a:latin typeface="+mn-ea"/>
                <a:ea typeface="+mn-ea"/>
                <a:sym typeface="+mn-ea"/>
              </a:rPr>
              <a:t>→</a:t>
            </a:r>
            <a:r>
              <a:rPr lang="en-US" altLang="zh-CN" sz="1600" b="1" dirty="0" err="1">
                <a:latin typeface="+mn-ea"/>
                <a:ea typeface="+mn-ea"/>
                <a:sym typeface="+mn-ea"/>
              </a:rPr>
              <a:t>DBus</a:t>
            </a:r>
            <a:r>
              <a:rPr lang="en-US" altLang="zh-CN" sz="1600" b="1" dirty="0">
                <a:latin typeface="+mn-ea"/>
                <a:ea typeface="+mn-ea"/>
                <a:sym typeface="+mn-ea"/>
              </a:rPr>
              <a:t>)</a:t>
            </a:r>
          </a:p>
          <a:p>
            <a:pPr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</a:pPr>
            <a:r>
              <a:rPr lang="zh-CN" altLang="en-US" sz="1800" b="1" dirty="0">
                <a:latin typeface="+mn-ea"/>
                <a:ea typeface="+mn-ea"/>
                <a:sym typeface="+mn-ea"/>
              </a:rPr>
              <a:t>中断响应操作时</a:t>
            </a:r>
          </a:p>
        </p:txBody>
      </p:sp>
      <p:sp>
        <p:nvSpPr>
          <p:cNvPr id="17" name="Text Box 326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6912440" y="4005184"/>
            <a:ext cx="1620000" cy="1152000"/>
          </a:xfrm>
          <a:prstGeom prst="rect">
            <a:avLst/>
          </a:prstGeom>
          <a:noFill/>
          <a:ln w="19050">
            <a:noFill/>
            <a:miter lim="800000"/>
          </a:ln>
          <a:effectLst/>
        </p:spPr>
        <p:txBody>
          <a:bodyPr lIns="18000" tIns="36195" rIns="18000" bIns="0" anchor="t" anchorCtr="0"/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lang="zh-CN" altLang="en-US" sz="1800" b="1" dirty="0">
                <a:latin typeface="+mn-ea"/>
                <a:ea typeface="+mn-ea"/>
                <a:sym typeface="+mn-ea"/>
              </a:rPr>
              <a:t>基于连接次序</a:t>
            </a:r>
          </a:p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动态优先级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)</a:t>
            </a:r>
            <a:endParaRPr lang="zh-CN" altLang="en-US" sz="1800" b="1" dirty="0">
              <a:latin typeface="+mn-ea"/>
              <a:ea typeface="+mn-ea"/>
              <a:sym typeface="+mn-ea"/>
            </a:endParaRPr>
          </a:p>
          <a:p>
            <a:pPr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</a:pPr>
            <a:r>
              <a:rPr lang="zh-CN" altLang="en-US" sz="1800" b="1" dirty="0">
                <a:latin typeface="+mn-ea"/>
                <a:ea typeface="+mn-ea"/>
                <a:sym typeface="+mn-ea"/>
              </a:rPr>
              <a:t>中断机构</a:t>
            </a:r>
            <a:r>
              <a:rPr lang="en-US" altLang="zh-CN" sz="1600" b="1" dirty="0">
                <a:latin typeface="+mn-ea"/>
                <a:ea typeface="+mn-ea"/>
                <a:sym typeface="+mn-ea"/>
              </a:rPr>
              <a:t>(</a:t>
            </a:r>
            <a:r>
              <a:rPr lang="zh-CN" sz="1600" b="1" dirty="0">
                <a:latin typeface="+mn-ea"/>
                <a:ea typeface="+mn-ea"/>
                <a:sym typeface="+mn-ea"/>
              </a:rPr>
              <a:t>直接</a:t>
            </a:r>
            <a:r>
              <a:rPr lang="en-US" altLang="zh-CN" sz="1600" b="1" dirty="0">
                <a:latin typeface="+mn-ea"/>
                <a:ea typeface="+mn-ea"/>
                <a:sym typeface="+mn-ea"/>
              </a:rPr>
              <a:t>)</a:t>
            </a:r>
          </a:p>
          <a:p>
            <a:pPr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</a:pPr>
            <a:r>
              <a:rPr lang="zh-CN" altLang="en-US" sz="1800" b="1" dirty="0">
                <a:latin typeface="+mn-ea"/>
                <a:ea typeface="+mn-ea"/>
                <a:sym typeface="+mn-ea"/>
              </a:rPr>
              <a:t>读</a:t>
            </a:r>
            <a:r>
              <a:rPr lang="en-US" altLang="zh-CN" sz="1800" b="1" dirty="0">
                <a:latin typeface="+mn-ea"/>
                <a:ea typeface="+mn-ea"/>
                <a:sym typeface="+mn-ea"/>
              </a:rPr>
              <a:t>/</a:t>
            </a:r>
            <a:r>
              <a:rPr lang="zh-CN" altLang="en-US" sz="1800" b="1" dirty="0">
                <a:latin typeface="+mn-ea"/>
                <a:ea typeface="+mn-ea"/>
                <a:sym typeface="+mn-ea"/>
              </a:rPr>
              <a:t>写数据口时</a:t>
            </a:r>
          </a:p>
        </p:txBody>
      </p:sp>
      <p:sp>
        <p:nvSpPr>
          <p:cNvPr id="30" name="Text Box 243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3563888" y="5157192"/>
            <a:ext cx="5544616" cy="118801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lang="en-US" altLang="zh-CN" sz="2200" b="1" dirty="0">
                <a:latin typeface="宋体" panose="02010600030101010101" pitchFamily="2" charset="-122"/>
              </a:rPr>
              <a:t>INTR</a:t>
            </a:r>
            <a:r>
              <a:rPr lang="zh-CN" altLang="en-US" sz="2200" b="1" dirty="0">
                <a:latin typeface="宋体" panose="02010600030101010101" pitchFamily="2" charset="-122"/>
              </a:rPr>
              <a:t>、</a:t>
            </a:r>
            <a:r>
              <a:rPr lang="en-US" altLang="zh-CN" sz="2200" b="1" dirty="0">
                <a:latin typeface="宋体" panose="02010600030101010101" pitchFamily="2" charset="-122"/>
              </a:rPr>
              <a:t>NMI</a:t>
            </a:r>
            <a:r>
              <a:rPr lang="zh-CN" altLang="en-US" sz="2200" b="1" dirty="0">
                <a:latin typeface="宋体" panose="02010600030101010101" pitchFamily="2" charset="-122"/>
              </a:rPr>
              <a:t>均为</a:t>
            </a:r>
            <a:r>
              <a:rPr lang="zh-CN" altLang="en-US" sz="2200" b="1" u="sng" dirty="0">
                <a:solidFill>
                  <a:srgbClr val="0070C0"/>
                </a:solidFill>
                <a:latin typeface="宋体" panose="02010600030101010101" pitchFamily="2" charset="-122"/>
              </a:rPr>
              <a:t>共用请求式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</a:rPr>
              <a:t>可扩展性好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  <a:endParaRPr lang="en-US" altLang="zh-CN" sz="2200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</a:rPr>
              <a:t>INTR</a:t>
            </a:r>
            <a:r>
              <a:rPr lang="zh-CN" altLang="en-US" sz="2200" b="1" u="sng" dirty="0">
                <a:solidFill>
                  <a:srgbClr val="0070C0"/>
                </a:solidFill>
                <a:latin typeface="宋体" panose="02010600030101010101" pitchFamily="2" charset="-122"/>
              </a:rPr>
              <a:t>并行判优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</a:rPr>
              <a:t>速度快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  <a:r>
              <a:rPr lang="zh-CN" altLang="en-US" sz="2200" b="1" dirty="0">
                <a:latin typeface="宋体" panose="02010600030101010101" pitchFamily="2" charset="-122"/>
              </a:rPr>
              <a:t>，</a:t>
            </a:r>
            <a:r>
              <a:rPr lang="en-US" altLang="zh-CN" sz="2200" b="1" dirty="0">
                <a:latin typeface="宋体" panose="02010600030101010101" pitchFamily="2" charset="-122"/>
              </a:rPr>
              <a:t>NMI</a:t>
            </a:r>
            <a:r>
              <a:rPr lang="zh-CN" altLang="en-US" sz="2200" b="1" u="sng" dirty="0">
                <a:solidFill>
                  <a:srgbClr val="0070C0"/>
                </a:solidFill>
                <a:latin typeface="宋体" panose="02010600030101010101" pitchFamily="2" charset="-122"/>
              </a:rPr>
              <a:t>软件判优</a:t>
            </a:r>
            <a:r>
              <a:rPr lang="en-US" altLang="zh-CN" sz="1600" b="1" dirty="0">
                <a:latin typeface="宋体" panose="02010600030101010101" pitchFamily="2" charset="-122"/>
              </a:rPr>
              <a:t>(1</a:t>
            </a:r>
            <a:r>
              <a:rPr lang="zh-CN" altLang="en-US" sz="1600" b="1" dirty="0">
                <a:latin typeface="宋体" panose="02010600030101010101" pitchFamily="2" charset="-122"/>
              </a:rPr>
              <a:t>个事件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800" b="1" dirty="0">
                <a:latin typeface="宋体" panose="02010600030101010101" pitchFamily="2" charset="-122"/>
              </a:rPr>
              <a:t>       </a:t>
            </a:r>
            <a:r>
              <a:rPr lang="zh-CN" altLang="en-US" sz="1800" b="1" dirty="0">
                <a:latin typeface="宋体" panose="02010600030101010101" pitchFamily="2" charset="-122"/>
              </a:rPr>
              <a:t> </a:t>
            </a:r>
            <a:r>
              <a:rPr lang="en-US" altLang="zh-CN" sz="18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└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←</a:t>
            </a:r>
            <a:r>
              <a:rPr lang="zh-CN" altLang="en-US" sz="1800" b="1" dirty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需增设</a:t>
            </a:r>
            <a:r>
              <a:rPr lang="zh-CN" altLang="en-US" sz="1800" b="1" u="sng" dirty="0">
                <a:latin typeface="宋体" panose="02010600030101010101" pitchFamily="2" charset="-122"/>
                <a:sym typeface="+mn-ea"/>
              </a:rPr>
              <a:t>中断控制器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串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-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并转换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)</a:t>
            </a:r>
            <a:r>
              <a:rPr lang="zh-CN" altLang="en-US" sz="1800" b="1" dirty="0">
                <a:latin typeface="宋体" panose="02010600030101010101" pitchFamily="2" charset="-122"/>
              </a:rPr>
              <a:t>     </a:t>
            </a:r>
            <a:r>
              <a:rPr lang="zh-CN" altLang="en-US" sz="1800" dirty="0">
                <a:latin typeface="宋体" panose="02010600030101010101" pitchFamily="2" charset="-122"/>
              </a:rPr>
              <a:t>  </a:t>
            </a:r>
            <a:endParaRPr lang="en-US" altLang="zh-CN" sz="1800" b="1" dirty="0">
              <a:latin typeface="宋体" panose="02010600030101010101" pitchFamily="2" charset="-122"/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4826500" y="2852936"/>
            <a:ext cx="2337788" cy="739240"/>
            <a:chOff x="8585010" y="907797"/>
            <a:chExt cx="629292" cy="739240"/>
          </a:xfrm>
        </p:grpSpPr>
        <p:sp>
          <p:nvSpPr>
            <p:cNvPr id="20" name="Text Box 317"/>
            <p:cNvSpPr txBox="1">
              <a:spLocks noChangeArrowheads="1"/>
            </p:cNvSpPr>
            <p:nvPr>
              <p:custDataLst>
                <p:tags r:id="rId58"/>
              </p:custDataLst>
            </p:nvPr>
          </p:nvSpPr>
          <p:spPr bwMode="auto">
            <a:xfrm>
              <a:off x="8585010" y="907797"/>
              <a:ext cx="465148" cy="216000"/>
            </a:xfrm>
            <a:prstGeom prst="rect">
              <a:avLst/>
            </a:prstGeom>
            <a:noFill/>
            <a:ln w="12700">
              <a:solidFill>
                <a:srgbClr val="0070C0"/>
              </a:solidFill>
              <a:prstDash val="sysDash"/>
              <a:miter lim="800000"/>
            </a:ln>
            <a:effectLst/>
          </p:spPr>
          <p:txBody>
            <a:bodyPr vert="horz" lIns="18000" tIns="17780" rIns="18000" bIns="0" anchor="ctr"/>
            <a:lstStyle/>
            <a:p>
              <a:pPr marL="0" indent="0" eaLnBrk="1" latinLnBrk="0" hangingPunct="1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类似总线仲裁方式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21" name="直接箭头连接符 20"/>
            <p:cNvCxnSpPr/>
            <p:nvPr>
              <p:custDataLst>
                <p:tags r:id="rId59"/>
              </p:custDataLst>
            </p:nvPr>
          </p:nvCxnSpPr>
          <p:spPr bwMode="auto">
            <a:xfrm>
              <a:off x="9011395" y="1123797"/>
              <a:ext cx="38459" cy="523240"/>
            </a:xfrm>
            <a:prstGeom prst="straightConnector1">
              <a:avLst/>
            </a:prstGeom>
            <a:noFill/>
            <a:ln w="12700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arrow" w="sm" len="sm"/>
            </a:ln>
          </p:spPr>
        </p:cxnSp>
        <p:cxnSp>
          <p:nvCxnSpPr>
            <p:cNvPr id="22" name="直接箭头连接符 21"/>
            <p:cNvCxnSpPr/>
            <p:nvPr>
              <p:custDataLst>
                <p:tags r:id="rId60"/>
              </p:custDataLst>
            </p:nvPr>
          </p:nvCxnSpPr>
          <p:spPr bwMode="auto">
            <a:xfrm>
              <a:off x="9020490" y="1123797"/>
              <a:ext cx="193812" cy="504000"/>
            </a:xfrm>
            <a:prstGeom prst="straightConnector1">
              <a:avLst/>
            </a:prstGeom>
            <a:noFill/>
            <a:ln w="12700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arrow" w="sm" len="sm"/>
            </a:ln>
          </p:spPr>
        </p:cxnSp>
      </p:grpSp>
      <p:grpSp>
        <p:nvGrpSpPr>
          <p:cNvPr id="26" name="组合 25"/>
          <p:cNvGrpSpPr/>
          <p:nvPr/>
        </p:nvGrpSpPr>
        <p:grpSpPr>
          <a:xfrm>
            <a:off x="5044495" y="5589240"/>
            <a:ext cx="1039673" cy="468000"/>
            <a:chOff x="3245334" y="5295241"/>
            <a:chExt cx="1052510" cy="468000"/>
          </a:xfrm>
        </p:grpSpPr>
        <p:cxnSp>
          <p:nvCxnSpPr>
            <p:cNvPr id="27" name="直接箭头连接符 26"/>
            <p:cNvCxnSpPr/>
            <p:nvPr>
              <p:custDataLst>
                <p:tags r:id="rId56"/>
              </p:custDataLst>
            </p:nvPr>
          </p:nvCxnSpPr>
          <p:spPr bwMode="auto">
            <a:xfrm flipH="1">
              <a:off x="3245334" y="5295241"/>
              <a:ext cx="648000" cy="108000"/>
            </a:xfrm>
            <a:prstGeom prst="straightConnector1">
              <a:avLst/>
            </a:prstGeom>
            <a:noFill/>
            <a:ln w="12700" cap="flat" cmpd="sng" algn="ctr">
              <a:solidFill>
                <a:srgbClr val="CC3300"/>
              </a:solidFill>
              <a:prstDash val="sysDash"/>
              <a:round/>
              <a:headEnd type="none" w="med" len="med"/>
              <a:tailEnd type="arrow"/>
            </a:ln>
          </p:spPr>
        </p:cxnSp>
        <p:cxnSp>
          <p:nvCxnSpPr>
            <p:cNvPr id="28" name="直接箭头连接符 27"/>
            <p:cNvCxnSpPr/>
            <p:nvPr>
              <p:custDataLst>
                <p:tags r:id="rId57"/>
              </p:custDataLst>
            </p:nvPr>
          </p:nvCxnSpPr>
          <p:spPr bwMode="auto">
            <a:xfrm flipH="1" flipV="1">
              <a:off x="3605398" y="5367241"/>
              <a:ext cx="692446" cy="39600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ysDash"/>
              <a:round/>
              <a:headEnd type="none" w="med" len="med"/>
              <a:tailEnd type="arrow"/>
            </a:ln>
          </p:spPr>
        </p:cxnSp>
      </p:grpSp>
      <p:sp>
        <p:nvSpPr>
          <p:cNvPr id="4" name="Text Box 244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179388" y="332656"/>
            <a:ext cx="8785225" cy="3905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tIns="10795" bIns="10795" anchor="ctr" anchorCtr="0">
            <a:spAutoFit/>
          </a:bodyPr>
          <a:lstStyle>
            <a:defPPr>
              <a:defRPr lang="zh-CN"/>
            </a:defPPr>
            <a:lvl1pPr algn="l">
              <a:defRPr b="1">
                <a:solidFill>
                  <a:srgbClr val="FF3300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1pPr>
          </a:lstStyle>
          <a:p>
            <a:r>
              <a:rPr lang="en-US" altLang="zh-CN" dirty="0">
                <a:solidFill>
                  <a:srgbClr val="FF3399"/>
                </a:solidFill>
                <a:latin typeface="+mn-ea"/>
                <a:ea typeface="+mn-ea"/>
              </a:rPr>
              <a:t>4</a:t>
            </a:r>
            <a:r>
              <a:rPr lang="zh-CN" altLang="en-US" dirty="0">
                <a:solidFill>
                  <a:srgbClr val="FF3399"/>
                </a:solidFill>
                <a:latin typeface="+mn-ea"/>
                <a:ea typeface="+mn-ea"/>
              </a:rPr>
              <a:t>、中断系统的结构</a:t>
            </a:r>
          </a:p>
        </p:txBody>
      </p:sp>
      <p:sp>
        <p:nvSpPr>
          <p:cNvPr id="9" name="AutoShape 450">
            <a:hlinkClick r:id="" action="ppaction://hlinkshowjump?jump=previousslide" highlightClick="1"/>
          </p:cNvPr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 rot="5400000">
            <a:off x="6156000" y="6525344"/>
            <a:ext cx="287338" cy="287338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" name="AutoShape 175">
            <a:hlinkClick r:id="rId62" action="ppaction://hlinksldjump" highlightClick="1"/>
          </p:cNvPr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 rot="10800000">
            <a:off x="4067945" y="6524450"/>
            <a:ext cx="287337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" name="AutoShape 175">
            <a:hlinkClick r:id="rId63" action="ppaction://hlinksldjump" highlightClick="1"/>
          </p:cNvPr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 rot="10800000">
            <a:off x="2987824" y="6524450"/>
            <a:ext cx="287337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5" name="组合 4"/>
          <p:cNvGrpSpPr/>
          <p:nvPr/>
        </p:nvGrpSpPr>
        <p:grpSpPr>
          <a:xfrm>
            <a:off x="2087915" y="1988840"/>
            <a:ext cx="6588125" cy="829945"/>
            <a:chOff x="3459" y="3402"/>
            <a:chExt cx="10375" cy="1307"/>
          </a:xfrm>
        </p:grpSpPr>
        <p:sp>
          <p:nvSpPr>
            <p:cNvPr id="6" name="Text Box 317"/>
            <p:cNvSpPr txBox="1">
              <a:spLocks noChangeArrowheads="1"/>
            </p:cNvSpPr>
            <p:nvPr>
              <p:custDataLst>
                <p:tags r:id="rId37"/>
              </p:custDataLst>
            </p:nvPr>
          </p:nvSpPr>
          <p:spPr bwMode="auto">
            <a:xfrm>
              <a:off x="5896" y="3971"/>
              <a:ext cx="1247" cy="397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</a:rPr>
                <a:t>中断源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1</a:t>
              </a:r>
            </a:p>
          </p:txBody>
        </p:sp>
        <p:sp>
          <p:nvSpPr>
            <p:cNvPr id="7" name="Text Box 320"/>
            <p:cNvSpPr txBox="1">
              <a:spLocks noChangeArrowheads="1"/>
            </p:cNvSpPr>
            <p:nvPr>
              <p:custDataLst>
                <p:tags r:id="rId38"/>
              </p:custDataLst>
            </p:nvPr>
          </p:nvSpPr>
          <p:spPr bwMode="auto">
            <a:xfrm>
              <a:off x="7484" y="3971"/>
              <a:ext cx="454" cy="397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latin typeface="+mn-ea"/>
                  <a:ea typeface="+mn-ea"/>
                </a:rPr>
                <a:t>…</a:t>
              </a:r>
            </a:p>
          </p:txBody>
        </p:sp>
        <p:sp>
          <p:nvSpPr>
            <p:cNvPr id="11" name="Text Box 323"/>
            <p:cNvSpPr txBox="1">
              <a:spLocks noChangeArrowheads="1"/>
            </p:cNvSpPr>
            <p:nvPr>
              <p:custDataLst>
                <p:tags r:id="rId39"/>
              </p:custDataLst>
            </p:nvPr>
          </p:nvSpPr>
          <p:spPr bwMode="auto">
            <a:xfrm>
              <a:off x="4593" y="3405"/>
              <a:ext cx="397" cy="1304"/>
            </a:xfrm>
            <a:prstGeom prst="rect">
              <a:avLst/>
            </a:prstGeom>
            <a:solidFill>
              <a:schemeClr val="hlink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vert="eaVert" lIns="18000" tIns="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中断机构</a:t>
              </a:r>
            </a:p>
          </p:txBody>
        </p:sp>
        <p:sp>
          <p:nvSpPr>
            <p:cNvPr id="13" name="Text Box 325"/>
            <p:cNvSpPr txBox="1">
              <a:spLocks noChangeArrowheads="1"/>
            </p:cNvSpPr>
            <p:nvPr>
              <p:custDataLst>
                <p:tags r:id="rId40"/>
              </p:custDataLst>
            </p:nvPr>
          </p:nvSpPr>
          <p:spPr bwMode="auto">
            <a:xfrm>
              <a:off x="8277" y="3970"/>
              <a:ext cx="1247" cy="397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</a:rPr>
                <a:t>中断源</a:t>
              </a:r>
              <a:r>
                <a:rPr lang="en-US" altLang="zh-CN" sz="1600" dirty="0"/>
                <a:t>n</a:t>
              </a:r>
            </a:p>
          </p:txBody>
        </p:sp>
        <p:sp>
          <p:nvSpPr>
            <p:cNvPr id="14" name="Text Box 326"/>
            <p:cNvSpPr txBox="1">
              <a:spLocks noChangeArrowheads="1"/>
            </p:cNvSpPr>
            <p:nvPr>
              <p:custDataLst>
                <p:tags r:id="rId41"/>
              </p:custDataLst>
            </p:nvPr>
          </p:nvSpPr>
          <p:spPr bwMode="auto">
            <a:xfrm>
              <a:off x="5046" y="4252"/>
              <a:ext cx="737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7780" rIns="18000" bIns="0" anchor="ctr" anchorCtr="0"/>
            <a:lstStyle/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INTR</a:t>
              </a:r>
            </a:p>
          </p:txBody>
        </p:sp>
        <p:sp>
          <p:nvSpPr>
            <p:cNvPr id="18" name="Text Box 314"/>
            <p:cNvSpPr txBox="1">
              <a:spLocks noChangeArrowheads="1"/>
            </p:cNvSpPr>
            <p:nvPr>
              <p:custDataLst>
                <p:tags r:id="rId42"/>
              </p:custDataLst>
            </p:nvPr>
          </p:nvSpPr>
          <p:spPr bwMode="auto">
            <a:xfrm>
              <a:off x="3685" y="3856"/>
              <a:ext cx="567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7780" rIns="1800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dirty="0" err="1">
                  <a:latin typeface="+mn-lt"/>
                </a:rPr>
                <a:t>μ</a:t>
              </a:r>
              <a:r>
                <a:rPr lang="en-US" altLang="zh-CN" sz="1600" b="1" dirty="0" err="1">
                  <a:latin typeface="宋体" panose="02010600030101010101" pitchFamily="2" charset="-122"/>
                </a:rPr>
                <a:t>OP</a:t>
              </a:r>
            </a:p>
          </p:txBody>
        </p:sp>
        <p:cxnSp>
          <p:nvCxnSpPr>
            <p:cNvPr id="23" name="直接箭头连接符 22"/>
            <p:cNvCxnSpPr>
              <a:endCxn id="6" idx="2"/>
            </p:cNvCxnSpPr>
            <p:nvPr>
              <p:custDataLst>
                <p:tags r:id="rId43"/>
              </p:custDataLst>
            </p:nvPr>
          </p:nvCxnSpPr>
          <p:spPr bwMode="auto">
            <a:xfrm flipH="1">
              <a:off x="6520" y="4365"/>
              <a:ext cx="1" cy="227"/>
            </a:xfrm>
            <a:prstGeom prst="straightConnector1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/>
            </a:ln>
          </p:spPr>
        </p:cxnSp>
        <p:cxnSp>
          <p:nvCxnSpPr>
            <p:cNvPr id="24" name="直接箭头连接符 23"/>
            <p:cNvCxnSpPr/>
            <p:nvPr>
              <p:custDataLst>
                <p:tags r:id="rId44"/>
              </p:custDataLst>
            </p:nvPr>
          </p:nvCxnSpPr>
          <p:spPr bwMode="auto">
            <a:xfrm>
              <a:off x="8901" y="4365"/>
              <a:ext cx="0" cy="227"/>
            </a:xfrm>
            <a:prstGeom prst="straightConnector1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/>
            </a:ln>
          </p:spPr>
        </p:cxnSp>
        <p:cxnSp>
          <p:nvCxnSpPr>
            <p:cNvPr id="25" name="直接箭头连接符 24"/>
            <p:cNvCxnSpPr/>
            <p:nvPr>
              <p:custDataLst>
                <p:tags r:id="rId45"/>
              </p:custDataLst>
            </p:nvPr>
          </p:nvCxnSpPr>
          <p:spPr bwMode="auto">
            <a:xfrm flipV="1">
              <a:off x="4989" y="4592"/>
              <a:ext cx="4082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triangle" w="med" len="med"/>
              <a:tailEnd type="none"/>
            </a:ln>
          </p:spPr>
        </p:cxnSp>
        <p:cxnSp>
          <p:nvCxnSpPr>
            <p:cNvPr id="32" name="直接箭头连接符 31"/>
            <p:cNvCxnSpPr/>
            <p:nvPr>
              <p:custDataLst>
                <p:tags r:id="rId46"/>
              </p:custDataLst>
            </p:nvPr>
          </p:nvCxnSpPr>
          <p:spPr bwMode="auto">
            <a:xfrm>
              <a:off x="3459" y="4197"/>
              <a:ext cx="1134" cy="1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</p:spPr>
        </p:cxnSp>
        <p:sp>
          <p:nvSpPr>
            <p:cNvPr id="33" name="Text Box 317"/>
            <p:cNvSpPr txBox="1">
              <a:spLocks noChangeArrowheads="1"/>
            </p:cNvSpPr>
            <p:nvPr>
              <p:custDataLst>
                <p:tags r:id="rId47"/>
              </p:custDataLst>
            </p:nvPr>
          </p:nvSpPr>
          <p:spPr bwMode="auto">
            <a:xfrm>
              <a:off x="12587" y="4252"/>
              <a:ext cx="1247" cy="397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中断源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n</a:t>
              </a:r>
            </a:p>
          </p:txBody>
        </p:sp>
        <p:sp>
          <p:nvSpPr>
            <p:cNvPr id="34" name="Text Box 323"/>
            <p:cNvSpPr txBox="1">
              <a:spLocks noChangeArrowheads="1"/>
            </p:cNvSpPr>
            <p:nvPr>
              <p:custDataLst>
                <p:tags r:id="rId48"/>
              </p:custDataLst>
            </p:nvPr>
          </p:nvSpPr>
          <p:spPr bwMode="auto">
            <a:xfrm>
              <a:off x="11056" y="3405"/>
              <a:ext cx="397" cy="1304"/>
            </a:xfrm>
            <a:prstGeom prst="rect">
              <a:avLst/>
            </a:prstGeom>
            <a:solidFill>
              <a:schemeClr val="hlink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vert="eaVert" lIns="18000" tIns="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中断机构</a:t>
              </a:r>
            </a:p>
          </p:txBody>
        </p:sp>
        <p:sp>
          <p:nvSpPr>
            <p:cNvPr id="35" name="Text Box 325"/>
            <p:cNvSpPr txBox="1">
              <a:spLocks noChangeArrowheads="1"/>
            </p:cNvSpPr>
            <p:nvPr>
              <p:custDataLst>
                <p:tags r:id="rId49"/>
              </p:custDataLst>
            </p:nvPr>
          </p:nvSpPr>
          <p:spPr bwMode="auto">
            <a:xfrm>
              <a:off x="12587" y="3515"/>
              <a:ext cx="1247" cy="397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中断源</a:t>
              </a:r>
              <a:r>
                <a:rPr lang="en-US" altLang="zh-CN" sz="1600" dirty="0"/>
                <a:t>1</a:t>
              </a:r>
            </a:p>
          </p:txBody>
        </p:sp>
        <p:sp>
          <p:nvSpPr>
            <p:cNvPr id="36" name="Text Box 314"/>
            <p:cNvSpPr txBox="1">
              <a:spLocks noChangeArrowheads="1"/>
            </p:cNvSpPr>
            <p:nvPr>
              <p:custDataLst>
                <p:tags r:id="rId50"/>
              </p:custDataLst>
            </p:nvPr>
          </p:nvSpPr>
          <p:spPr bwMode="auto">
            <a:xfrm>
              <a:off x="10149" y="3912"/>
              <a:ext cx="567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7780" rIns="18000" bIns="0" anchor="ctr" anchorCtr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dirty="0" err="1">
                  <a:latin typeface="+mn-lt"/>
                </a:rPr>
                <a:t>μ</a:t>
              </a:r>
              <a:r>
                <a:rPr lang="en-US" altLang="zh-CN" sz="1600" b="1" dirty="0" err="1">
                  <a:latin typeface="宋体" panose="02010600030101010101" pitchFamily="2" charset="-122"/>
                </a:rPr>
                <a:t>OP</a:t>
              </a:r>
            </a:p>
          </p:txBody>
        </p:sp>
        <p:cxnSp>
          <p:nvCxnSpPr>
            <p:cNvPr id="38" name="直接箭头连接符 37"/>
            <p:cNvCxnSpPr/>
            <p:nvPr>
              <p:custDataLst>
                <p:tags r:id="rId51"/>
              </p:custDataLst>
            </p:nvPr>
          </p:nvCxnSpPr>
          <p:spPr bwMode="auto">
            <a:xfrm>
              <a:off x="9922" y="4253"/>
              <a:ext cx="1134" cy="1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</p:spPr>
        </p:cxnSp>
        <p:sp>
          <p:nvSpPr>
            <p:cNvPr id="39" name="Text Box 320"/>
            <p:cNvSpPr txBox="1">
              <a:spLocks noChangeArrowheads="1"/>
            </p:cNvSpPr>
            <p:nvPr>
              <p:custDataLst>
                <p:tags r:id="rId52"/>
              </p:custDataLst>
            </p:nvPr>
          </p:nvSpPr>
          <p:spPr bwMode="auto">
            <a:xfrm>
              <a:off x="13041" y="3912"/>
              <a:ext cx="454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…</a:t>
              </a:r>
            </a:p>
          </p:txBody>
        </p:sp>
        <p:sp>
          <p:nvSpPr>
            <p:cNvPr id="50" name="Text Box 326"/>
            <p:cNvSpPr txBox="1">
              <a:spLocks noChangeArrowheads="1"/>
            </p:cNvSpPr>
            <p:nvPr>
              <p:custDataLst>
                <p:tags r:id="rId53"/>
              </p:custDataLst>
            </p:nvPr>
          </p:nvSpPr>
          <p:spPr bwMode="auto">
            <a:xfrm>
              <a:off x="11623" y="3402"/>
              <a:ext cx="907" cy="1077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t" anchorCtr="0"/>
            <a:lstStyle/>
            <a:p>
              <a:pPr algn="l">
                <a:lnSpc>
                  <a:spcPct val="90000"/>
                </a:lnSpc>
              </a:pPr>
              <a:r>
                <a:rPr lang="en-US" altLang="zh-CN" sz="1600" b="1" dirty="0" err="1">
                  <a:latin typeface="宋体" panose="02010600030101010101" pitchFamily="2" charset="-122"/>
                </a:rPr>
                <a:t>INTR1</a:t>
              </a:r>
            </a:p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0"/>
                </a:spcAft>
              </a:pPr>
              <a:r>
                <a:rPr lang="en-US" altLang="zh-CN" sz="1600" b="1" dirty="0" err="1">
                  <a:latin typeface="宋体" panose="02010600030101010101" pitchFamily="2" charset="-122"/>
                </a:rPr>
                <a:t>…</a:t>
              </a:r>
            </a:p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 err="1">
                  <a:latin typeface="宋体" panose="02010600030101010101" pitchFamily="2" charset="-122"/>
                </a:rPr>
                <a:t>INTRn</a:t>
              </a:r>
            </a:p>
          </p:txBody>
        </p:sp>
        <p:cxnSp>
          <p:nvCxnSpPr>
            <p:cNvPr id="55" name="直接箭头连接符 54"/>
            <p:cNvCxnSpPr/>
            <p:nvPr>
              <p:custDataLst>
                <p:tags r:id="rId54"/>
              </p:custDataLst>
            </p:nvPr>
          </p:nvCxnSpPr>
          <p:spPr bwMode="auto">
            <a:xfrm flipH="1">
              <a:off x="11453" y="3742"/>
              <a:ext cx="1134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/>
            </a:ln>
          </p:spPr>
        </p:cxnSp>
        <p:cxnSp>
          <p:nvCxnSpPr>
            <p:cNvPr id="63" name="直接箭头连接符 62"/>
            <p:cNvCxnSpPr/>
            <p:nvPr>
              <p:custDataLst>
                <p:tags r:id="rId55"/>
              </p:custDataLst>
            </p:nvPr>
          </p:nvCxnSpPr>
          <p:spPr bwMode="auto">
            <a:xfrm flipH="1">
              <a:off x="11453" y="4479"/>
              <a:ext cx="1134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/>
            </a:ln>
          </p:spPr>
        </p:cxnSp>
      </p:grpSp>
      <p:grpSp>
        <p:nvGrpSpPr>
          <p:cNvPr id="64" name="组合 63"/>
          <p:cNvGrpSpPr/>
          <p:nvPr/>
        </p:nvGrpSpPr>
        <p:grpSpPr>
          <a:xfrm>
            <a:off x="2087915" y="1988840"/>
            <a:ext cx="4824095" cy="503555"/>
            <a:chOff x="3459" y="3402"/>
            <a:chExt cx="7597" cy="793"/>
          </a:xfrm>
        </p:grpSpPr>
        <p:sp>
          <p:nvSpPr>
            <p:cNvPr id="65" name="Text Box 303"/>
            <p:cNvSpPr txBox="1">
              <a:spLocks noChangeArrowheads="1"/>
            </p:cNvSpPr>
            <p:nvPr>
              <p:custDataLst>
                <p:tags r:id="rId24"/>
              </p:custDataLst>
            </p:nvPr>
          </p:nvSpPr>
          <p:spPr bwMode="auto">
            <a:xfrm>
              <a:off x="3516" y="3402"/>
              <a:ext cx="1020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spc="-100" dirty="0">
                  <a:latin typeface="宋体" panose="02010600030101010101" pitchFamily="2" charset="-122"/>
                </a:rPr>
                <a:t>类型号</a:t>
              </a:r>
            </a:p>
          </p:txBody>
        </p:sp>
        <p:sp>
          <p:nvSpPr>
            <p:cNvPr id="66" name="Text Box 303"/>
            <p:cNvSpPr txBox="1">
              <a:spLocks noChangeArrowheads="1"/>
            </p:cNvSpPr>
            <p:nvPr>
              <p:custDataLst>
                <p:tags r:id="rId25"/>
              </p:custDataLst>
            </p:nvPr>
          </p:nvSpPr>
          <p:spPr bwMode="auto">
            <a:xfrm>
              <a:off x="9979" y="3402"/>
              <a:ext cx="1020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spc="-100" dirty="0">
                  <a:latin typeface="宋体" panose="02010600030101010101" pitchFamily="2" charset="-122"/>
                </a:rPr>
                <a:t>类型号</a:t>
              </a:r>
            </a:p>
          </p:txBody>
        </p:sp>
        <p:cxnSp>
          <p:nvCxnSpPr>
            <p:cNvPr id="67" name="直接箭头连接符 66"/>
            <p:cNvCxnSpPr/>
            <p:nvPr>
              <p:custDataLst>
                <p:tags r:id="rId26"/>
              </p:custDataLst>
            </p:nvPr>
          </p:nvCxnSpPr>
          <p:spPr bwMode="auto">
            <a:xfrm flipH="1">
              <a:off x="9922" y="3742"/>
              <a:ext cx="1134" cy="0"/>
            </a:xfrm>
            <a:prstGeom prst="straightConnector1">
              <a:avLst/>
            </a:prstGeom>
            <a:noFill/>
            <a:ln w="25400" cap="flat" cmpd="dbl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</p:spPr>
        </p:cxnSp>
        <p:cxnSp>
          <p:nvCxnSpPr>
            <p:cNvPr id="68" name="直接箭头连接符 67"/>
            <p:cNvCxnSpPr/>
            <p:nvPr>
              <p:custDataLst>
                <p:tags r:id="rId27"/>
              </p:custDataLst>
            </p:nvPr>
          </p:nvCxnSpPr>
          <p:spPr bwMode="auto">
            <a:xfrm flipH="1">
              <a:off x="3459" y="3742"/>
              <a:ext cx="1134" cy="2"/>
            </a:xfrm>
            <a:prstGeom prst="straightConnector1">
              <a:avLst/>
            </a:prstGeom>
            <a:noFill/>
            <a:ln w="25400" cap="flat" cmpd="dbl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</p:spPr>
        </p:cxnSp>
        <p:sp>
          <p:nvSpPr>
            <p:cNvPr id="69" name="Text Box 312"/>
            <p:cNvSpPr txBox="1">
              <a:spLocks noChangeArrowheads="1"/>
            </p:cNvSpPr>
            <p:nvPr>
              <p:custDataLst>
                <p:tags r:id="rId28"/>
              </p:custDataLst>
            </p:nvPr>
          </p:nvSpPr>
          <p:spPr bwMode="auto">
            <a:xfrm>
              <a:off x="5047" y="3855"/>
              <a:ext cx="737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7780" rIns="18000" bIns="0" anchor="ctr" anchorCtr="0"/>
            <a:lstStyle/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INTA</a:t>
              </a:r>
            </a:p>
          </p:txBody>
        </p:sp>
        <p:cxnSp>
          <p:nvCxnSpPr>
            <p:cNvPr id="70" name="直接箭头连接符 69"/>
            <p:cNvCxnSpPr/>
            <p:nvPr>
              <p:custDataLst>
                <p:tags r:id="rId29"/>
              </p:custDataLst>
            </p:nvPr>
          </p:nvCxnSpPr>
          <p:spPr bwMode="auto">
            <a:xfrm flipV="1">
              <a:off x="4990" y="4195"/>
              <a:ext cx="907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</p:spPr>
        </p:cxnSp>
        <p:cxnSp>
          <p:nvCxnSpPr>
            <p:cNvPr id="71" name="直接箭头连接符 70"/>
            <p:cNvCxnSpPr/>
            <p:nvPr>
              <p:custDataLst>
                <p:tags r:id="rId30"/>
              </p:custDataLst>
            </p:nvPr>
          </p:nvCxnSpPr>
          <p:spPr bwMode="auto">
            <a:xfrm flipV="1">
              <a:off x="7144" y="4195"/>
              <a:ext cx="283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</p:spPr>
        </p:cxnSp>
        <p:cxnSp>
          <p:nvCxnSpPr>
            <p:cNvPr id="72" name="直接箭头连接符 71"/>
            <p:cNvCxnSpPr/>
            <p:nvPr>
              <p:custDataLst>
                <p:tags r:id="rId31"/>
              </p:custDataLst>
            </p:nvPr>
          </p:nvCxnSpPr>
          <p:spPr bwMode="auto">
            <a:xfrm flipV="1">
              <a:off x="4991" y="3742"/>
              <a:ext cx="4082" cy="0"/>
            </a:xfrm>
            <a:prstGeom prst="straightConnector1">
              <a:avLst/>
            </a:prstGeom>
            <a:noFill/>
            <a:ln w="25400" cap="flat" cmpd="dbl" algn="ctr">
              <a:solidFill>
                <a:schemeClr val="accent2"/>
              </a:solidFill>
              <a:prstDash val="solid"/>
              <a:round/>
              <a:headEnd type="none" w="med" len="med"/>
              <a:tailEnd type="none"/>
            </a:ln>
          </p:spPr>
        </p:cxnSp>
        <p:cxnSp>
          <p:nvCxnSpPr>
            <p:cNvPr id="73" name="直接箭头连接符 72"/>
            <p:cNvCxnSpPr/>
            <p:nvPr>
              <p:custDataLst>
                <p:tags r:id="rId32"/>
              </p:custDataLst>
            </p:nvPr>
          </p:nvCxnSpPr>
          <p:spPr bwMode="auto">
            <a:xfrm flipH="1" flipV="1">
              <a:off x="6521" y="3742"/>
              <a:ext cx="0" cy="227"/>
            </a:xfrm>
            <a:prstGeom prst="straightConnector1">
              <a:avLst/>
            </a:prstGeom>
            <a:noFill/>
            <a:ln w="25400" cap="flat" cmpd="dbl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</p:spPr>
        </p:cxnSp>
        <p:cxnSp>
          <p:nvCxnSpPr>
            <p:cNvPr id="74" name="直接箭头连接符 73"/>
            <p:cNvCxnSpPr/>
            <p:nvPr>
              <p:custDataLst>
                <p:tags r:id="rId33"/>
              </p:custDataLst>
            </p:nvPr>
          </p:nvCxnSpPr>
          <p:spPr bwMode="auto">
            <a:xfrm flipV="1">
              <a:off x="8902" y="3742"/>
              <a:ext cx="0" cy="227"/>
            </a:xfrm>
            <a:prstGeom prst="straightConnector1">
              <a:avLst/>
            </a:prstGeom>
            <a:noFill/>
            <a:ln w="25400" cap="flat" cmpd="dbl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</p:spPr>
        </p:cxnSp>
        <p:sp>
          <p:nvSpPr>
            <p:cNvPr id="75" name="Text Box 312"/>
            <p:cNvSpPr txBox="1">
              <a:spLocks noChangeArrowheads="1"/>
            </p:cNvSpPr>
            <p:nvPr>
              <p:custDataLst>
                <p:tags r:id="rId34"/>
              </p:custDataLst>
            </p:nvPr>
          </p:nvSpPr>
          <p:spPr bwMode="auto">
            <a:xfrm>
              <a:off x="7371" y="3402"/>
              <a:ext cx="737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 err="1">
                  <a:latin typeface="宋体" panose="02010600030101010101" pitchFamily="2" charset="-122"/>
                </a:rPr>
                <a:t>DBus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76" name="直接箭头连接符 75"/>
            <p:cNvCxnSpPr/>
            <p:nvPr>
              <p:custDataLst>
                <p:tags r:id="rId35"/>
              </p:custDataLst>
            </p:nvPr>
          </p:nvCxnSpPr>
          <p:spPr bwMode="auto">
            <a:xfrm flipV="1">
              <a:off x="7995" y="4195"/>
              <a:ext cx="283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</p:spPr>
        </p:cxnSp>
        <p:cxnSp>
          <p:nvCxnSpPr>
            <p:cNvPr id="77" name="直接箭头连接符 76"/>
            <p:cNvCxnSpPr/>
            <p:nvPr>
              <p:custDataLst>
                <p:tags r:id="rId36"/>
              </p:custDataLst>
            </p:nvPr>
          </p:nvCxnSpPr>
          <p:spPr bwMode="auto">
            <a:xfrm flipV="1">
              <a:off x="5104" y="3855"/>
              <a:ext cx="624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</p:spPr>
        </p:cxnSp>
      </p:grpSp>
      <p:sp>
        <p:nvSpPr>
          <p:cNvPr id="91" name="AutoShape 62">
            <a:hlinkClick r:id="rId64" action="ppaction://hlinksldjump"/>
            <a:extLst>
              <a:ext uri="{FF2B5EF4-FFF2-40B4-BE49-F238E27FC236}">
                <a16:creationId xmlns:a16="http://schemas.microsoft.com/office/drawing/2014/main" id="{CF2DBBF1-4073-4AB6-A3C5-0E57CF1187C4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5148000" y="6524103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eaVert" wrap="none" lIns="0" tIns="0" rIns="0" bIns="0" anchor="ctr"/>
          <a:lstStyle/>
          <a:p>
            <a:pPr algn="ctr"/>
            <a:r>
              <a:rPr lang="en-US" altLang="zh-CN" sz="1600" dirty="0">
                <a:solidFill>
                  <a:schemeClr val="bg2"/>
                </a:solidFill>
                <a:latin typeface="+mn-ea"/>
                <a:ea typeface="+mn-ea"/>
              </a:rPr>
              <a:t>31</a:t>
            </a:r>
            <a:endParaRPr lang="zh-CN" altLang="en-US" sz="1600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grpSp>
        <p:nvGrpSpPr>
          <p:cNvPr id="92" name="组合 91">
            <a:extLst>
              <a:ext uri="{FF2B5EF4-FFF2-40B4-BE49-F238E27FC236}">
                <a16:creationId xmlns:a16="http://schemas.microsoft.com/office/drawing/2014/main" id="{A9BF99D9-77FE-45C9-9DB3-2964699DA1ED}"/>
              </a:ext>
            </a:extLst>
          </p:cNvPr>
          <p:cNvGrpSpPr/>
          <p:nvPr/>
        </p:nvGrpSpPr>
        <p:grpSpPr>
          <a:xfrm>
            <a:off x="395536" y="5626800"/>
            <a:ext cx="1764228" cy="972185"/>
            <a:chOff x="2555772" y="2916000"/>
            <a:chExt cx="1764228" cy="972185"/>
          </a:xfrm>
        </p:grpSpPr>
        <p:sp>
          <p:nvSpPr>
            <p:cNvPr id="93" name="Text Box 326">
              <a:extLst>
                <a:ext uri="{FF2B5EF4-FFF2-40B4-BE49-F238E27FC236}">
                  <a16:creationId xmlns:a16="http://schemas.microsoft.com/office/drawing/2014/main" id="{1A9FE962-C8E8-4CD5-9924-FD9D0F092F73}"/>
                </a:ext>
              </a:extLst>
            </p:cNvPr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3023722" y="2952195"/>
              <a:ext cx="467950" cy="2159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7780" rIns="18000" bIns="0" anchor="ctr" anchorCtr="0"/>
            <a:lstStyle/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INTR</a:t>
              </a:r>
            </a:p>
          </p:txBody>
        </p:sp>
        <p:sp>
          <p:nvSpPr>
            <p:cNvPr id="94" name="Text Box 323">
              <a:extLst>
                <a:ext uri="{FF2B5EF4-FFF2-40B4-BE49-F238E27FC236}">
                  <a16:creationId xmlns:a16="http://schemas.microsoft.com/office/drawing/2014/main" id="{7E6BC397-42DB-4306-B768-D49242F74B04}"/>
                </a:ext>
              </a:extLst>
            </p:cNvPr>
            <p:cNvSpPr txBox="1"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2735460" y="2916000"/>
              <a:ext cx="252071" cy="828040"/>
            </a:xfrm>
            <a:prstGeom prst="rect">
              <a:avLst/>
            </a:prstGeom>
            <a:solidFill>
              <a:schemeClr val="hlink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vert="eaVert"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中断机构</a:t>
              </a:r>
            </a:p>
          </p:txBody>
        </p:sp>
        <p:cxnSp>
          <p:nvCxnSpPr>
            <p:cNvPr id="95" name="直接箭头连接符 94">
              <a:extLst>
                <a:ext uri="{FF2B5EF4-FFF2-40B4-BE49-F238E27FC236}">
                  <a16:creationId xmlns:a16="http://schemas.microsoft.com/office/drawing/2014/main" id="{FFF19CCA-7CE8-4661-90F5-E593E58C47BB}"/>
                </a:ext>
              </a:extLst>
            </p:cNvPr>
            <p:cNvCxnSpPr/>
            <p:nvPr>
              <p:custDataLst>
                <p:tags r:id="rId12"/>
              </p:custDataLst>
            </p:nvPr>
          </p:nvCxnSpPr>
          <p:spPr bwMode="auto">
            <a:xfrm flipH="1">
              <a:off x="2555772" y="3636725"/>
              <a:ext cx="179688" cy="0"/>
            </a:xfrm>
            <a:prstGeom prst="straightConnector1">
              <a:avLst/>
            </a:prstGeom>
            <a:noFill/>
            <a:ln w="25400" cap="flat" cmpd="dbl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</p:spPr>
        </p:cxnSp>
        <p:cxnSp>
          <p:nvCxnSpPr>
            <p:cNvPr id="96" name="直接箭头连接符 95">
              <a:extLst>
                <a:ext uri="{FF2B5EF4-FFF2-40B4-BE49-F238E27FC236}">
                  <a16:creationId xmlns:a16="http://schemas.microsoft.com/office/drawing/2014/main" id="{69E50A7F-7C57-422C-822E-170DF03C4788}"/>
                </a:ext>
              </a:extLst>
            </p:cNvPr>
            <p:cNvCxnSpPr/>
            <p:nvPr>
              <p:custDataLst>
                <p:tags r:id="rId13"/>
              </p:custDataLst>
            </p:nvPr>
          </p:nvCxnSpPr>
          <p:spPr bwMode="auto">
            <a:xfrm>
              <a:off x="2555772" y="3457020"/>
              <a:ext cx="179688" cy="635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</p:spPr>
        </p:cxnSp>
        <p:sp>
          <p:nvSpPr>
            <p:cNvPr id="97" name="Text Box 326">
              <a:extLst>
                <a:ext uri="{FF2B5EF4-FFF2-40B4-BE49-F238E27FC236}">
                  <a16:creationId xmlns:a16="http://schemas.microsoft.com/office/drawing/2014/main" id="{CC6F831F-C294-4957-85A9-63D5CC17C639}"/>
                </a:ext>
              </a:extLst>
            </p:cNvPr>
            <p:cNvSpPr txBox="1"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3924000" y="3204000"/>
              <a:ext cx="252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vert="horz" lIns="0" tIns="0" rIns="0" bIns="0" anchor="ctr" anchorCtr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…</a:t>
              </a:r>
            </a:p>
          </p:txBody>
        </p:sp>
        <p:cxnSp>
          <p:nvCxnSpPr>
            <p:cNvPr id="98" name="直接箭头连接符 97">
              <a:extLst>
                <a:ext uri="{FF2B5EF4-FFF2-40B4-BE49-F238E27FC236}">
                  <a16:creationId xmlns:a16="http://schemas.microsoft.com/office/drawing/2014/main" id="{B2BE2D93-8611-43B8-BFA9-6F7D1B1A39D1}"/>
                </a:ext>
              </a:extLst>
            </p:cNvPr>
            <p:cNvCxnSpPr/>
            <p:nvPr>
              <p:custDataLst>
                <p:tags r:id="rId15"/>
              </p:custDataLst>
            </p:nvPr>
          </p:nvCxnSpPr>
          <p:spPr bwMode="auto">
            <a:xfrm flipH="1">
              <a:off x="3816125" y="3096975"/>
              <a:ext cx="17968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/>
            </a:ln>
          </p:spPr>
        </p:cxnSp>
        <p:cxnSp>
          <p:nvCxnSpPr>
            <p:cNvPr id="99" name="直接箭头连接符 98">
              <a:extLst>
                <a:ext uri="{FF2B5EF4-FFF2-40B4-BE49-F238E27FC236}">
                  <a16:creationId xmlns:a16="http://schemas.microsoft.com/office/drawing/2014/main" id="{1514E7FF-B097-4463-BF6F-0D9EA1C9A817}"/>
                </a:ext>
              </a:extLst>
            </p:cNvPr>
            <p:cNvCxnSpPr/>
            <p:nvPr>
              <p:custDataLst>
                <p:tags r:id="rId16"/>
              </p:custDataLst>
            </p:nvPr>
          </p:nvCxnSpPr>
          <p:spPr bwMode="auto">
            <a:xfrm flipH="1">
              <a:off x="3816125" y="3528140"/>
              <a:ext cx="17968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/>
            </a:ln>
          </p:spPr>
        </p:cxnSp>
        <p:sp>
          <p:nvSpPr>
            <p:cNvPr id="100" name="Text Box 317">
              <a:extLst>
                <a:ext uri="{FF2B5EF4-FFF2-40B4-BE49-F238E27FC236}">
                  <a16:creationId xmlns:a16="http://schemas.microsoft.com/office/drawing/2014/main" id="{7F1BBD86-4F7C-402F-B40D-EF27237D6168}"/>
                </a:ext>
              </a:extLst>
            </p:cNvPr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3563419" y="2916000"/>
              <a:ext cx="252071" cy="972185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vert="eaVert" lIns="0" tIns="0" rIns="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INT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控制器</a:t>
              </a:r>
            </a:p>
          </p:txBody>
        </p:sp>
        <p:cxnSp>
          <p:nvCxnSpPr>
            <p:cNvPr id="101" name="直接箭头连接符 100">
              <a:extLst>
                <a:ext uri="{FF2B5EF4-FFF2-40B4-BE49-F238E27FC236}">
                  <a16:creationId xmlns:a16="http://schemas.microsoft.com/office/drawing/2014/main" id="{F73970E0-0DFB-453B-B921-9CC1A1A1BD61}"/>
                </a:ext>
              </a:extLst>
            </p:cNvPr>
            <p:cNvCxnSpPr/>
            <p:nvPr>
              <p:custDataLst>
                <p:tags r:id="rId18"/>
              </p:custDataLst>
            </p:nvPr>
          </p:nvCxnSpPr>
          <p:spPr bwMode="auto">
            <a:xfrm flipH="1">
              <a:off x="2987530" y="3168095"/>
              <a:ext cx="575889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/>
            </a:ln>
          </p:spPr>
        </p:cxnSp>
        <p:sp>
          <p:nvSpPr>
            <p:cNvPr id="102" name="Text Box 312">
              <a:extLst>
                <a:ext uri="{FF2B5EF4-FFF2-40B4-BE49-F238E27FC236}">
                  <a16:creationId xmlns:a16="http://schemas.microsoft.com/office/drawing/2014/main" id="{5B8BBF0D-8A2D-488B-87B4-1DB30693405C}"/>
                </a:ext>
              </a:extLst>
            </p:cNvPr>
            <p:cNvSpPr txBox="1"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3023722" y="3240485"/>
              <a:ext cx="467950" cy="2159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7780" rIns="18000" bIns="0" anchor="ctr" anchorCtr="0"/>
            <a:lstStyle/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INTA</a:t>
              </a:r>
            </a:p>
          </p:txBody>
        </p:sp>
        <p:cxnSp>
          <p:nvCxnSpPr>
            <p:cNvPr id="103" name="直接箭头连接符 102">
              <a:extLst>
                <a:ext uri="{FF2B5EF4-FFF2-40B4-BE49-F238E27FC236}">
                  <a16:creationId xmlns:a16="http://schemas.microsoft.com/office/drawing/2014/main" id="{A3F33B61-9C96-4DE3-97FE-109EF99EDEB4}"/>
                </a:ext>
              </a:extLst>
            </p:cNvPr>
            <p:cNvCxnSpPr/>
            <p:nvPr>
              <p:custDataLst>
                <p:tags r:id="rId20"/>
              </p:custDataLst>
            </p:nvPr>
          </p:nvCxnSpPr>
          <p:spPr bwMode="auto">
            <a:xfrm flipV="1">
              <a:off x="2987530" y="3456385"/>
              <a:ext cx="575889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</p:spPr>
        </p:cxnSp>
        <p:cxnSp>
          <p:nvCxnSpPr>
            <p:cNvPr id="104" name="直接箭头连接符 103">
              <a:extLst>
                <a:ext uri="{FF2B5EF4-FFF2-40B4-BE49-F238E27FC236}">
                  <a16:creationId xmlns:a16="http://schemas.microsoft.com/office/drawing/2014/main" id="{FE82479C-E114-49E0-8BB9-01275DEC5AC7}"/>
                </a:ext>
              </a:extLst>
            </p:cNvPr>
            <p:cNvCxnSpPr/>
            <p:nvPr>
              <p:custDataLst>
                <p:tags r:id="rId21"/>
              </p:custDataLst>
            </p:nvPr>
          </p:nvCxnSpPr>
          <p:spPr bwMode="auto">
            <a:xfrm flipV="1">
              <a:off x="3059913" y="3258900"/>
              <a:ext cx="396202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</p:spPr>
        </p:cxnSp>
        <p:sp>
          <p:nvSpPr>
            <p:cNvPr id="105" name="Text Box 326">
              <a:extLst>
                <a:ext uri="{FF2B5EF4-FFF2-40B4-BE49-F238E27FC236}">
                  <a16:creationId xmlns:a16="http://schemas.microsoft.com/office/drawing/2014/main" id="{A65B2CA0-4DD2-4263-AA68-C270148D2CE6}"/>
                </a:ext>
              </a:extLst>
            </p:cNvPr>
            <p:cNvSpPr txBox="1">
              <a:spLocks noChangeArrowheads="1"/>
            </p:cNvSpPr>
            <p:nvPr>
              <p:custDataLst>
                <p:tags r:id="rId22"/>
              </p:custDataLst>
            </p:nvPr>
          </p:nvSpPr>
          <p:spPr bwMode="auto">
            <a:xfrm>
              <a:off x="3996000" y="2996249"/>
              <a:ext cx="324000" cy="180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vert="horz" lIns="0" tIns="0" rIns="0" bIns="0" anchor="ctr" anchorCtr="0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0"/>
                </a:spcAft>
              </a:pPr>
              <a:r>
                <a:rPr lang="en-US" altLang="zh-CN" sz="1400" b="1" dirty="0">
                  <a:latin typeface="宋体" panose="02010600030101010101" pitchFamily="2" charset="-122"/>
                </a:rPr>
                <a:t>IR0</a:t>
              </a:r>
              <a:endParaRPr lang="en-US" altLang="zh-CN" sz="1200" b="1" dirty="0">
                <a:latin typeface="宋体" panose="02010600030101010101" pitchFamily="2" charset="-122"/>
              </a:endParaRPr>
            </a:p>
          </p:txBody>
        </p:sp>
        <p:sp>
          <p:nvSpPr>
            <p:cNvPr id="106" name="Text Box 326">
              <a:extLst>
                <a:ext uri="{FF2B5EF4-FFF2-40B4-BE49-F238E27FC236}">
                  <a16:creationId xmlns:a16="http://schemas.microsoft.com/office/drawing/2014/main" id="{0F3DFDEE-C09A-4B73-8975-84C23332742C}"/>
                </a:ext>
              </a:extLst>
            </p:cNvPr>
            <p:cNvSpPr txBox="1">
              <a:spLocks noChangeArrowheads="1"/>
            </p:cNvSpPr>
            <p:nvPr>
              <p:custDataLst>
                <p:tags r:id="rId23"/>
              </p:custDataLst>
            </p:nvPr>
          </p:nvSpPr>
          <p:spPr bwMode="auto">
            <a:xfrm>
              <a:off x="3996000" y="3420000"/>
              <a:ext cx="324000" cy="180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vert="horz" lIns="0" tIns="0" rIns="0" bIns="0" anchor="ctr" anchorCtr="0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0"/>
                </a:spcAft>
              </a:pPr>
              <a:r>
                <a:rPr lang="en-US" altLang="zh-CN" sz="1400" b="1" dirty="0">
                  <a:latin typeface="宋体" panose="02010600030101010101" pitchFamily="2" charset="-122"/>
                </a:rPr>
                <a:t>IR7</a:t>
              </a:r>
              <a:endParaRPr lang="en-US" altLang="zh-CN" sz="1200" b="1" dirty="0">
                <a:latin typeface="宋体" panose="0201060003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46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75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750"/>
                            </p:stCondLst>
                            <p:childTnLst>
                              <p:par>
                                <p:cTn id="27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3" dur="75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0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6117" grpId="0" bldLvl="0" animBg="1"/>
      <p:bldP spid="15" grpId="0" bldLvl="0" animBg="1"/>
      <p:bldP spid="16" grpId="0" bldLvl="0" animBg="1"/>
      <p:bldP spid="17" grpId="0" bldLvl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16466-330C-4093-A11D-AA0B9834796A}" type="slidenum">
              <a:rPr lang="en-US" altLang="zh-CN"/>
              <a:t>36</a:t>
            </a:fld>
            <a:endParaRPr lang="en-US" altLang="zh-CN"/>
          </a:p>
        </p:txBody>
      </p:sp>
      <p:sp>
        <p:nvSpPr>
          <p:cNvPr id="156" name="AutoShape 450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4068638" y="6526038"/>
            <a:ext cx="287338" cy="287338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6117" name="Text Box 5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79705" y="332656"/>
            <a:ext cx="3789045" cy="1316579"/>
          </a:xfrm>
          <a:prstGeom prst="rect">
            <a:avLst/>
          </a:prstGeom>
          <a:noFill/>
          <a:ln w="38100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*</a:t>
            </a:r>
            <a:r>
              <a:rPr lang="zh-CN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中断控制器的组成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：</a:t>
            </a:r>
            <a:endParaRPr lang="zh-CN" altLang="en-US" sz="2200" b="1" dirty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lang="zh-CN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本质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功能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&amp;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组成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Text Box 206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619671" y="773980"/>
            <a:ext cx="7416821" cy="295388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并行判优部件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面向中断源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)</a:t>
            </a:r>
            <a:r>
              <a:rPr lang="zh-CN" altLang="en-US" sz="2200" b="1" dirty="0">
                <a:latin typeface="+mn-ea"/>
                <a:ea typeface="+mn-ea"/>
                <a:sym typeface="+mn-ea"/>
              </a:rPr>
              <a:t>＋中断源</a:t>
            </a:r>
            <a:r>
              <a:rPr lang="en-US" altLang="zh-CN" sz="1800" b="1" dirty="0">
                <a:latin typeface="+mn-ea"/>
                <a:ea typeface="+mn-ea"/>
                <a:sym typeface="+mn-ea"/>
              </a:rPr>
              <a:t>(</a:t>
            </a:r>
            <a:r>
              <a:rPr lang="zh-CN" altLang="en-US" sz="1800" b="1" dirty="0">
                <a:latin typeface="+mn-ea"/>
                <a:ea typeface="+mn-ea"/>
                <a:sym typeface="+mn-ea"/>
              </a:rPr>
              <a:t>面向</a:t>
            </a:r>
            <a:r>
              <a:rPr lang="en-US" altLang="zh-CN" sz="1800" b="1" dirty="0">
                <a:latin typeface="+mn-ea"/>
                <a:ea typeface="+mn-ea"/>
                <a:sym typeface="+mn-ea"/>
              </a:rPr>
              <a:t>CPU)</a:t>
            </a:r>
            <a:endParaRPr lang="zh-CN" altLang="en-US" sz="1800" b="1" dirty="0">
              <a:latin typeface="+mn-ea"/>
              <a:ea typeface="+mn-ea"/>
              <a:sym typeface="+mn-ea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latin typeface="宋体" panose="02010600030101010101" pitchFamily="2" charset="-122"/>
              </a:rPr>
              <a:t>     ①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检测并记录</a:t>
            </a:r>
            <a:r>
              <a:rPr lang="zh-CN" altLang="en-US" sz="2200" b="1" dirty="0">
                <a:latin typeface="宋体" panose="02010600030101010101" pitchFamily="2" charset="-122"/>
              </a:rPr>
              <a:t>中断请求、向</a:t>
            </a:r>
            <a:r>
              <a:rPr lang="en-US" altLang="zh-CN" sz="2200" b="1" dirty="0">
                <a:latin typeface="宋体" panose="02010600030101010101" pitchFamily="2" charset="-122"/>
              </a:rPr>
              <a:t>CPU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提出</a:t>
            </a:r>
            <a:r>
              <a:rPr lang="zh-CN" altLang="en-US" sz="2200" b="1" dirty="0">
                <a:latin typeface="宋体" panose="02010600030101010101" pitchFamily="2" charset="-122"/>
              </a:rPr>
              <a:t>中断请求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latin typeface="宋体" panose="02010600030101010101" pitchFamily="2" charset="-122"/>
              </a:rPr>
              <a:t>     ②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处理</a:t>
            </a:r>
            <a:r>
              <a:rPr lang="zh-CN" altLang="en-US" sz="2200" b="1" dirty="0">
                <a:latin typeface="宋体" panose="02010600030101010101" pitchFamily="2" charset="-122"/>
              </a:rPr>
              <a:t>中断响应操作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solidFill>
                  <a:srgbClr val="0070C0"/>
                </a:solidFill>
                <a:latin typeface="宋体" panose="02010600030101010101" pitchFamily="2" charset="-122"/>
              </a:rPr>
              <a:t>提供</a:t>
            </a:r>
            <a:r>
              <a:rPr lang="zh-CN" altLang="en-US" sz="1800" b="1" dirty="0">
                <a:latin typeface="宋体" panose="02010600030101010101" pitchFamily="2" charset="-122"/>
              </a:rPr>
              <a:t>中断类型号、</a:t>
            </a:r>
            <a:r>
              <a:rPr lang="zh-CN" altLang="en-US" sz="1800" b="1" dirty="0">
                <a:solidFill>
                  <a:srgbClr val="0070C0"/>
                </a:solidFill>
                <a:latin typeface="宋体" panose="02010600030101010101" pitchFamily="2" charset="-122"/>
              </a:rPr>
              <a:t>复位</a:t>
            </a:r>
            <a:r>
              <a:rPr lang="zh-CN" altLang="en-US" sz="1800" b="1" dirty="0">
                <a:latin typeface="宋体" panose="02010600030101010101" pitchFamily="2" charset="-122"/>
              </a:rPr>
              <a:t>所选请求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 b="1" dirty="0">
                <a:latin typeface="宋体" panose="02010600030101010101" pitchFamily="2" charset="-122"/>
              </a:rPr>
              <a:t>                                        </a:t>
            </a:r>
            <a:r>
              <a:rPr lang="zh-CN" altLang="en-US" sz="1600" dirty="0">
                <a:latin typeface="宋体" panose="02010600030101010101" pitchFamily="2" charset="-122"/>
              </a:rPr>
              <a:t>└</a:t>
            </a:r>
            <a:r>
              <a:rPr lang="zh-CN" altLang="en-US" sz="1600" b="1" dirty="0">
                <a:latin typeface="宋体" panose="02010600030101010101" pitchFamily="2" charset="-122"/>
              </a:rPr>
              <a:t>←＝起始中断类型号</a:t>
            </a:r>
            <a:r>
              <a:rPr lang="en-US" altLang="zh-CN" sz="1600" b="1" dirty="0">
                <a:latin typeface="宋体" panose="02010600030101010101" pitchFamily="2" charset="-122"/>
              </a:rPr>
              <a:t>+</a:t>
            </a:r>
            <a:r>
              <a:rPr lang="en-US" altLang="zh-CN" sz="1600" b="1" dirty="0" err="1">
                <a:latin typeface="宋体" panose="02010600030101010101" pitchFamily="2" charset="-122"/>
              </a:rPr>
              <a:t>IRi</a:t>
            </a:r>
            <a:endParaRPr lang="en-US" altLang="zh-CN" sz="16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latin typeface="宋体" panose="02010600030101010101" pitchFamily="2" charset="-122"/>
              </a:rPr>
              <a:t>     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③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处理</a:t>
            </a:r>
            <a:r>
              <a:rPr lang="en-US" altLang="zh-CN" sz="2200" b="1" dirty="0">
                <a:latin typeface="宋体" panose="02010600030101010101" pitchFamily="2" charset="-122"/>
              </a:rPr>
              <a:t>I/O</a:t>
            </a:r>
            <a:r>
              <a:rPr lang="zh-CN" altLang="en-US" sz="2200" b="1" dirty="0">
                <a:latin typeface="宋体" panose="02010600030101010101" pitchFamily="2" charset="-122"/>
              </a:rPr>
              <a:t>操作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如设置工作方式、起始中断类型号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 b="1" dirty="0">
                <a:latin typeface="宋体" panose="02010600030101010101" pitchFamily="2" charset="-122"/>
              </a:rPr>
              <a:t>                                   </a:t>
            </a:r>
            <a:r>
              <a:rPr lang="zh-CN" altLang="en-US" sz="1600" dirty="0">
                <a:latin typeface="宋体" panose="02010600030101010101" pitchFamily="2" charset="-122"/>
              </a:rPr>
              <a:t>└</a:t>
            </a:r>
            <a:r>
              <a:rPr lang="zh-CN" altLang="en-US" sz="1600" b="1" dirty="0">
                <a:latin typeface="宋体" panose="02010600030101010101" pitchFamily="2" charset="-122"/>
              </a:rPr>
              <a:t>←优先级管理策略等</a:t>
            </a:r>
            <a:endParaRPr lang="en-US" altLang="zh-CN" sz="16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     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④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管理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中断优先级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含响应优先级、处理优先级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)   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←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下页</a:t>
            </a:r>
            <a:endParaRPr lang="en-US" altLang="zh-CN" sz="1600" b="1" dirty="0">
              <a:latin typeface="宋体" panose="02010600030101010101" pitchFamily="2" charset="-122"/>
              <a:sym typeface="+mn-ea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dirty="0">
                <a:latin typeface="宋体" panose="02010600030101010101" pitchFamily="2" charset="-122"/>
              </a:rPr>
              <a:t>                    </a:t>
            </a:r>
            <a:r>
              <a:rPr lang="zh-CN" altLang="en-US" sz="1600" b="1" dirty="0">
                <a:latin typeface="宋体" panose="02010600030101010101" pitchFamily="2" charset="-122"/>
              </a:rPr>
              <a:t>未响应请求间→</a:t>
            </a:r>
            <a:r>
              <a:rPr lang="zh-CN" altLang="en-US" sz="1600" dirty="0">
                <a:latin typeface="宋体" panose="02010600030101010101" pitchFamily="2" charset="-122"/>
              </a:rPr>
              <a:t>┘</a:t>
            </a:r>
            <a:r>
              <a:rPr lang="zh-CN" altLang="en-US" sz="1600" b="1" dirty="0">
                <a:latin typeface="宋体" panose="02010600030101010101" pitchFamily="2" charset="-122"/>
              </a:rPr>
              <a:t>           </a:t>
            </a:r>
            <a:r>
              <a:rPr lang="zh-CN" altLang="en-US" sz="1600" dirty="0">
                <a:latin typeface="宋体" panose="02010600030101010101" pitchFamily="2" charset="-122"/>
              </a:rPr>
              <a:t>└</a:t>
            </a:r>
            <a:r>
              <a:rPr lang="zh-CN" altLang="en-US" sz="1600" b="1" dirty="0">
                <a:latin typeface="宋体" panose="02010600030101010101" pitchFamily="2" charset="-122"/>
              </a:rPr>
              <a:t>←正服务</a:t>
            </a:r>
            <a:r>
              <a:rPr lang="en-US" altLang="zh-CN" sz="1600" b="1" dirty="0">
                <a:latin typeface="宋体" panose="02010600030101010101" pitchFamily="2" charset="-122"/>
              </a:rPr>
              <a:t>-</a:t>
            </a:r>
            <a:r>
              <a:rPr lang="zh-CN" altLang="en-US" sz="1600" b="1" dirty="0">
                <a:latin typeface="宋体" panose="02010600030101010101" pitchFamily="2" charset="-122"/>
              </a:rPr>
              <a:t>未响应请求间</a:t>
            </a:r>
            <a:endParaRPr lang="en-US" altLang="zh-CN" sz="1600" b="1" dirty="0">
              <a:latin typeface="宋体" panose="02010600030101010101" pitchFamily="2" charset="-122"/>
            </a:endParaRPr>
          </a:p>
        </p:txBody>
      </p:sp>
      <p:grpSp>
        <p:nvGrpSpPr>
          <p:cNvPr id="49" name="组合 48"/>
          <p:cNvGrpSpPr/>
          <p:nvPr/>
        </p:nvGrpSpPr>
        <p:grpSpPr>
          <a:xfrm>
            <a:off x="1043608" y="3717032"/>
            <a:ext cx="7739999" cy="1800000"/>
            <a:chOff x="1062025" y="3897024"/>
            <a:chExt cx="7739999" cy="1800000"/>
          </a:xfrm>
        </p:grpSpPr>
        <p:sp>
          <p:nvSpPr>
            <p:cNvPr id="5" name="Rectangle 351"/>
            <p:cNvSpPr>
              <a:spLocks noChangeArrowheads="1"/>
            </p:cNvSpPr>
            <p:nvPr>
              <p:custDataLst>
                <p:tags r:id="rId38"/>
              </p:custDataLst>
            </p:nvPr>
          </p:nvSpPr>
          <p:spPr bwMode="auto">
            <a:xfrm>
              <a:off x="1638025" y="4257024"/>
              <a:ext cx="1728000" cy="900000"/>
            </a:xfrm>
            <a:prstGeom prst="rect">
              <a:avLst/>
            </a:prstGeom>
            <a:solidFill>
              <a:srgbClr val="CCFFFF"/>
            </a:solidFill>
            <a:ln w="19050">
              <a:noFill/>
              <a:prstDash val="solid"/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" name="Rectangle 351"/>
            <p:cNvSpPr>
              <a:spLocks noChangeArrowheads="1"/>
            </p:cNvSpPr>
            <p:nvPr>
              <p:custDataLst>
                <p:tags r:id="rId39"/>
              </p:custDataLst>
            </p:nvPr>
          </p:nvSpPr>
          <p:spPr bwMode="auto">
            <a:xfrm>
              <a:off x="3366025" y="4257024"/>
              <a:ext cx="3456000" cy="1440000"/>
            </a:xfrm>
            <a:prstGeom prst="rect">
              <a:avLst/>
            </a:prstGeom>
            <a:solidFill>
              <a:srgbClr val="CCFFFF"/>
            </a:solidFill>
            <a:ln w="19050">
              <a:noFill/>
              <a:prstDash val="solid"/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" name="Rectangle 351"/>
            <p:cNvSpPr>
              <a:spLocks noChangeArrowheads="1"/>
            </p:cNvSpPr>
            <p:nvPr>
              <p:custDataLst>
                <p:tags r:id="rId40"/>
              </p:custDataLst>
            </p:nvPr>
          </p:nvSpPr>
          <p:spPr bwMode="auto">
            <a:xfrm>
              <a:off x="6822025" y="4257024"/>
              <a:ext cx="1404000" cy="1440000"/>
            </a:xfrm>
            <a:prstGeom prst="rect">
              <a:avLst/>
            </a:prstGeom>
            <a:solidFill>
              <a:srgbClr val="99CCFF"/>
            </a:solidFill>
            <a:ln w="12700">
              <a:noFill/>
              <a:prstDash val="sysDash"/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" name="Rectangle 351"/>
            <p:cNvSpPr>
              <a:spLocks noChangeArrowheads="1"/>
            </p:cNvSpPr>
            <p:nvPr>
              <p:custDataLst>
                <p:tags r:id="rId41"/>
              </p:custDataLst>
            </p:nvPr>
          </p:nvSpPr>
          <p:spPr bwMode="auto">
            <a:xfrm>
              <a:off x="1638025" y="5157024"/>
              <a:ext cx="1728000" cy="540000"/>
            </a:xfrm>
            <a:prstGeom prst="rect">
              <a:avLst/>
            </a:prstGeom>
            <a:solidFill>
              <a:srgbClr val="CCCCFF"/>
            </a:solidFill>
            <a:ln w="12700">
              <a:noFill/>
              <a:prstDash val="sysDash"/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" name="Text Box 99"/>
            <p:cNvSpPr txBox="1">
              <a:spLocks noChangeArrowheads="1"/>
            </p:cNvSpPr>
            <p:nvPr>
              <p:custDataLst>
                <p:tags r:id="rId42"/>
              </p:custDataLst>
            </p:nvPr>
          </p:nvSpPr>
          <p:spPr bwMode="auto">
            <a:xfrm>
              <a:off x="4482515" y="3897024"/>
              <a:ext cx="3240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/>
              <a:r>
                <a:rPr lang="zh-CN" altLang="en-US" sz="1600" b="1" dirty="0">
                  <a:latin typeface="宋体" panose="02010600030101010101" pitchFamily="2" charset="-122"/>
                </a:rPr>
                <a:t>中断响应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INTA       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中断请求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INTR</a:t>
              </a:r>
            </a:p>
          </p:txBody>
        </p:sp>
        <p:sp>
          <p:nvSpPr>
            <p:cNvPr id="9" name="Text Box 109"/>
            <p:cNvSpPr txBox="1">
              <a:spLocks noChangeArrowheads="1"/>
            </p:cNvSpPr>
            <p:nvPr>
              <p:custDataLst>
                <p:tags r:id="rId43"/>
              </p:custDataLst>
            </p:nvPr>
          </p:nvSpPr>
          <p:spPr bwMode="auto">
            <a:xfrm>
              <a:off x="8406024" y="4977024"/>
              <a:ext cx="396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/>
              <a:r>
                <a:rPr lang="en-US" altLang="zh-CN" sz="1600" b="1" dirty="0">
                  <a:latin typeface="宋体" panose="02010600030101010101" pitchFamily="2" charset="-122"/>
                </a:rPr>
                <a:t>IR0</a:t>
              </a:r>
            </a:p>
          </p:txBody>
        </p:sp>
        <p:sp>
          <p:nvSpPr>
            <p:cNvPr id="51" name="Text Box 110"/>
            <p:cNvSpPr txBox="1">
              <a:spLocks noChangeArrowheads="1"/>
            </p:cNvSpPr>
            <p:nvPr>
              <p:custDataLst>
                <p:tags r:id="rId44"/>
              </p:custDataLst>
            </p:nvPr>
          </p:nvSpPr>
          <p:spPr bwMode="auto">
            <a:xfrm>
              <a:off x="8406024" y="5265024"/>
              <a:ext cx="396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/>
              <a:r>
                <a:rPr lang="en-US" altLang="zh-CN" sz="1600" b="1" dirty="0">
                  <a:latin typeface="宋体" panose="02010600030101010101" pitchFamily="2" charset="-122"/>
                </a:rPr>
                <a:t>IR7</a:t>
              </a:r>
            </a:p>
          </p:txBody>
        </p:sp>
        <p:cxnSp>
          <p:nvCxnSpPr>
            <p:cNvPr id="52" name="直接连接符 51"/>
            <p:cNvCxnSpPr/>
            <p:nvPr>
              <p:custDataLst>
                <p:tags r:id="rId45"/>
              </p:custDataLst>
            </p:nvPr>
          </p:nvCxnSpPr>
          <p:spPr bwMode="auto">
            <a:xfrm>
              <a:off x="5346515" y="3911424"/>
              <a:ext cx="378000" cy="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" name="直接箭头连接符 9"/>
            <p:cNvCxnSpPr/>
            <p:nvPr>
              <p:custDataLst>
                <p:tags r:id="rId46"/>
              </p:custDataLst>
            </p:nvPr>
          </p:nvCxnSpPr>
          <p:spPr bwMode="auto">
            <a:xfrm flipV="1">
              <a:off x="7074025" y="4113024"/>
              <a:ext cx="0" cy="396000"/>
            </a:xfrm>
            <a:prstGeom prst="straightConnector1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1" name="直接箭头连接符 10"/>
            <p:cNvCxnSpPr/>
            <p:nvPr>
              <p:custDataLst>
                <p:tags r:id="rId47"/>
              </p:custDataLst>
            </p:nvPr>
          </p:nvCxnSpPr>
          <p:spPr bwMode="auto">
            <a:xfrm>
              <a:off x="1530025" y="5265024"/>
              <a:ext cx="288000" cy="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3" name="直接箭头连接符 52"/>
            <p:cNvCxnSpPr/>
            <p:nvPr>
              <p:custDataLst>
                <p:tags r:id="rId48"/>
              </p:custDataLst>
            </p:nvPr>
          </p:nvCxnSpPr>
          <p:spPr bwMode="auto">
            <a:xfrm>
              <a:off x="1530025" y="5409024"/>
              <a:ext cx="288000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2" name="直接箭头连接符 11"/>
            <p:cNvCxnSpPr/>
            <p:nvPr>
              <p:custDataLst>
                <p:tags r:id="rId49"/>
              </p:custDataLst>
            </p:nvPr>
          </p:nvCxnSpPr>
          <p:spPr bwMode="auto">
            <a:xfrm>
              <a:off x="1530025" y="5589024"/>
              <a:ext cx="288000" cy="0"/>
            </a:xfrm>
            <a:prstGeom prst="straightConnector1">
              <a:avLst/>
            </a:prstGeom>
            <a:noFill/>
            <a:ln w="15875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3" name="直接箭头连接符 12"/>
            <p:cNvCxnSpPr/>
            <p:nvPr>
              <p:custDataLst>
                <p:tags r:id="rId50"/>
              </p:custDataLst>
            </p:nvPr>
          </p:nvCxnSpPr>
          <p:spPr bwMode="auto">
            <a:xfrm>
              <a:off x="4950515" y="4113024"/>
              <a:ext cx="0" cy="14400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54" name="直接箭头连接符 53"/>
            <p:cNvCxnSpPr/>
            <p:nvPr>
              <p:custDataLst>
                <p:tags r:id="rId51"/>
              </p:custDataLst>
            </p:nvPr>
          </p:nvCxnSpPr>
          <p:spPr bwMode="auto">
            <a:xfrm flipH="1">
              <a:off x="8226025" y="5085024"/>
              <a:ext cx="180000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4" name="直接箭头连接符 13"/>
            <p:cNvCxnSpPr/>
            <p:nvPr>
              <p:custDataLst>
                <p:tags r:id="rId52"/>
              </p:custDataLst>
            </p:nvPr>
          </p:nvCxnSpPr>
          <p:spPr bwMode="auto">
            <a:xfrm flipH="1">
              <a:off x="8226025" y="5371309"/>
              <a:ext cx="180000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5" name="Text Box 177"/>
            <p:cNvSpPr txBox="1">
              <a:spLocks noChangeArrowheads="1"/>
            </p:cNvSpPr>
            <p:nvPr>
              <p:custDataLst>
                <p:tags r:id="rId53"/>
              </p:custDataLst>
            </p:nvPr>
          </p:nvSpPr>
          <p:spPr bwMode="auto">
            <a:xfrm>
              <a:off x="1062025" y="5121024"/>
              <a:ext cx="468000" cy="180000"/>
            </a:xfrm>
            <a:prstGeom prst="rect">
              <a:avLst/>
            </a:prstGeom>
            <a:noFill/>
            <a:ln w="3810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eaLnBrk="0" hangingPunct="0">
                <a:lnSpc>
                  <a:spcPct val="90000"/>
                </a:lnSpc>
              </a:pPr>
              <a:r>
                <a:rPr lang="en-US" altLang="zh-CN" sz="1600" b="1" dirty="0" err="1">
                  <a:latin typeface="宋体" panose="02010600030101010101" pitchFamily="2" charset="-122"/>
                </a:rPr>
                <a:t>DBus</a:t>
              </a:r>
            </a:p>
          </p:txBody>
        </p:sp>
        <p:sp>
          <p:nvSpPr>
            <p:cNvPr id="16" name="Text Box 177"/>
            <p:cNvSpPr txBox="1">
              <a:spLocks noChangeArrowheads="1"/>
            </p:cNvSpPr>
            <p:nvPr>
              <p:custDataLst>
                <p:tags r:id="rId54"/>
              </p:custDataLst>
            </p:nvPr>
          </p:nvSpPr>
          <p:spPr bwMode="auto">
            <a:xfrm>
              <a:off x="1062025" y="5301024"/>
              <a:ext cx="468000" cy="180000"/>
            </a:xfrm>
            <a:prstGeom prst="rect">
              <a:avLst/>
            </a:prstGeom>
            <a:noFill/>
            <a:ln w="3810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eaLnBrk="0" hangingPunct="0">
                <a:lnSpc>
                  <a:spcPct val="90000"/>
                </a:lnSpc>
              </a:pPr>
              <a:r>
                <a:rPr lang="en-US" altLang="zh-CN" sz="1600" b="1" dirty="0" err="1">
                  <a:latin typeface="宋体" panose="02010600030101010101" pitchFamily="2" charset="-122"/>
                </a:rPr>
                <a:t>CBus</a:t>
              </a:r>
            </a:p>
          </p:txBody>
        </p:sp>
        <p:sp>
          <p:nvSpPr>
            <p:cNvPr id="17" name="Text Box 177"/>
            <p:cNvSpPr txBox="1">
              <a:spLocks noChangeArrowheads="1"/>
            </p:cNvSpPr>
            <p:nvPr>
              <p:custDataLst>
                <p:tags r:id="rId55"/>
              </p:custDataLst>
            </p:nvPr>
          </p:nvSpPr>
          <p:spPr bwMode="auto">
            <a:xfrm>
              <a:off x="1062025" y="5517024"/>
              <a:ext cx="468000" cy="180000"/>
            </a:xfrm>
            <a:prstGeom prst="rect">
              <a:avLst/>
            </a:prstGeom>
            <a:noFill/>
            <a:ln w="3810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eaLnBrk="0" hangingPunct="0">
                <a:lnSpc>
                  <a:spcPct val="90000"/>
                </a:lnSpc>
              </a:pPr>
              <a:r>
                <a:rPr lang="en-US" altLang="zh-CN" sz="1600" b="1" dirty="0" err="1">
                  <a:latin typeface="宋体" panose="02010600030101010101" pitchFamily="2" charset="-122"/>
                </a:rPr>
                <a:t>ABus</a:t>
              </a:r>
            </a:p>
          </p:txBody>
        </p:sp>
        <p:sp>
          <p:nvSpPr>
            <p:cNvPr id="18" name="Rectangle 351"/>
            <p:cNvSpPr>
              <a:spLocks noChangeArrowheads="1"/>
            </p:cNvSpPr>
            <p:nvPr>
              <p:custDataLst>
                <p:tags r:id="rId56"/>
              </p:custDataLst>
            </p:nvPr>
          </p:nvSpPr>
          <p:spPr bwMode="auto">
            <a:xfrm>
              <a:off x="1638025" y="4257024"/>
              <a:ext cx="6588000" cy="1440000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6" name="Text Box 95"/>
            <p:cNvSpPr txBox="1">
              <a:spLocks noChangeArrowheads="1"/>
            </p:cNvSpPr>
            <p:nvPr>
              <p:custDataLst>
                <p:tags r:id="rId57"/>
              </p:custDataLst>
            </p:nvPr>
          </p:nvSpPr>
          <p:spPr bwMode="auto">
            <a:xfrm>
              <a:off x="4050417" y="4546816"/>
              <a:ext cx="1223963" cy="288925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/>
              <a:r>
                <a:rPr lang="zh-CN" altLang="en-US" sz="1800" b="1" dirty="0">
                  <a:latin typeface="宋体" panose="02010600030101010101" pitchFamily="2" charset="-122"/>
                </a:rPr>
                <a:t>中断控制器</a:t>
              </a:r>
            </a:p>
          </p:txBody>
        </p:sp>
      </p:grpSp>
      <p:grpSp>
        <p:nvGrpSpPr>
          <p:cNvPr id="70" name="组合 69"/>
          <p:cNvGrpSpPr/>
          <p:nvPr/>
        </p:nvGrpSpPr>
        <p:grpSpPr>
          <a:xfrm>
            <a:off x="1619883" y="4868982"/>
            <a:ext cx="6336030" cy="647700"/>
            <a:chOff x="2665" y="7429"/>
            <a:chExt cx="9978" cy="1020"/>
          </a:xfrm>
        </p:grpSpPr>
        <p:sp>
          <p:nvSpPr>
            <p:cNvPr id="29" name="Text Box 183"/>
            <p:cNvSpPr txBox="1">
              <a:spLocks noChangeArrowheads="1"/>
            </p:cNvSpPr>
            <p:nvPr>
              <p:custDataLst>
                <p:tags r:id="rId30"/>
              </p:custDataLst>
            </p:nvPr>
          </p:nvSpPr>
          <p:spPr bwMode="auto">
            <a:xfrm>
              <a:off x="2948" y="7673"/>
              <a:ext cx="737" cy="709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8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接口逻辑</a:t>
              </a:r>
            </a:p>
          </p:txBody>
        </p:sp>
        <p:sp>
          <p:nvSpPr>
            <p:cNvPr id="30" name="Text Box 183"/>
            <p:cNvSpPr txBox="1">
              <a:spLocks noChangeArrowheads="1"/>
            </p:cNvSpPr>
            <p:nvPr>
              <p:custDataLst>
                <p:tags r:id="rId31"/>
              </p:custDataLst>
            </p:nvPr>
          </p:nvSpPr>
          <p:spPr bwMode="auto">
            <a:xfrm>
              <a:off x="3912" y="7713"/>
              <a:ext cx="1361" cy="397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</a:rPr>
                <a:t>其他端口</a:t>
              </a:r>
            </a:p>
          </p:txBody>
        </p:sp>
        <p:cxnSp>
          <p:nvCxnSpPr>
            <p:cNvPr id="31" name="直接箭头连接符 30"/>
            <p:cNvCxnSpPr/>
            <p:nvPr>
              <p:custDataLst>
                <p:tags r:id="rId32"/>
              </p:custDataLst>
            </p:nvPr>
          </p:nvCxnSpPr>
          <p:spPr bwMode="auto">
            <a:xfrm flipV="1">
              <a:off x="4592" y="7429"/>
              <a:ext cx="0" cy="283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32" name="直接箭头连接符 31"/>
            <p:cNvCxnSpPr/>
            <p:nvPr>
              <p:custDataLst>
                <p:tags r:id="rId33"/>
              </p:custDataLst>
            </p:nvPr>
          </p:nvCxnSpPr>
          <p:spPr bwMode="auto">
            <a:xfrm>
              <a:off x="3685" y="7883"/>
              <a:ext cx="227" cy="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" name="直接箭头连接符 32"/>
            <p:cNvCxnSpPr/>
            <p:nvPr>
              <p:custDataLst>
                <p:tags r:id="rId34"/>
              </p:custDataLst>
            </p:nvPr>
          </p:nvCxnSpPr>
          <p:spPr bwMode="auto">
            <a:xfrm flipH="1">
              <a:off x="3685" y="8333"/>
              <a:ext cx="8957" cy="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34" name="直接箭头连接符 33"/>
            <p:cNvCxnSpPr/>
            <p:nvPr>
              <p:custDataLst>
                <p:tags r:id="rId35"/>
              </p:custDataLst>
            </p:nvPr>
          </p:nvCxnSpPr>
          <p:spPr bwMode="auto">
            <a:xfrm>
              <a:off x="12643" y="8050"/>
              <a:ext cx="0" cy="283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5" name="直接连接符 34"/>
            <p:cNvCxnSpPr/>
            <p:nvPr>
              <p:custDataLst>
                <p:tags r:id="rId36"/>
              </p:custDataLst>
            </p:nvPr>
          </p:nvCxnSpPr>
          <p:spPr bwMode="auto">
            <a:xfrm>
              <a:off x="2665" y="7599"/>
              <a:ext cx="2721" cy="0"/>
            </a:xfrm>
            <a:prstGeom prst="line">
              <a:avLst/>
            </a:prstGeom>
            <a:noFill/>
            <a:ln w="12700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none" w="med" len="med"/>
            </a:ln>
          </p:spPr>
        </p:cxnSp>
        <p:cxnSp>
          <p:nvCxnSpPr>
            <p:cNvPr id="36" name="直接连接符 35"/>
            <p:cNvCxnSpPr/>
            <p:nvPr>
              <p:custDataLst>
                <p:tags r:id="rId37"/>
              </p:custDataLst>
            </p:nvPr>
          </p:nvCxnSpPr>
          <p:spPr bwMode="auto">
            <a:xfrm>
              <a:off x="5386" y="7599"/>
              <a:ext cx="0" cy="850"/>
            </a:xfrm>
            <a:prstGeom prst="line">
              <a:avLst/>
            </a:prstGeom>
            <a:noFill/>
            <a:ln w="12700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35" name="组合 134"/>
          <p:cNvGrpSpPr/>
          <p:nvPr/>
        </p:nvGrpSpPr>
        <p:grpSpPr>
          <a:xfrm>
            <a:off x="1727833" y="4076982"/>
            <a:ext cx="6336030" cy="1188085"/>
            <a:chOff x="3061" y="6860"/>
            <a:chExt cx="9978" cy="1871"/>
          </a:xfrm>
        </p:grpSpPr>
        <p:sp>
          <p:nvSpPr>
            <p:cNvPr id="44" name="Text Box 100"/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9694" y="8051"/>
              <a:ext cx="1134" cy="680"/>
            </a:xfrm>
            <a:prstGeom prst="rect">
              <a:avLst/>
            </a:prstGeom>
            <a:solidFill>
              <a:srgbClr val="FFFF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排队器</a:t>
              </a:r>
              <a:endParaRPr lang="en-US" altLang="zh-CN" sz="1600" b="1" dirty="0"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lang="en-US" altLang="zh-CN" sz="1400" b="1" dirty="0">
                  <a:latin typeface="宋体" panose="02010600030101010101" pitchFamily="2" charset="-122"/>
                </a:rPr>
                <a:t>(</a:t>
              </a:r>
              <a:r>
                <a:rPr lang="zh-CN" altLang="en-US" sz="1400" b="1" dirty="0">
                  <a:latin typeface="宋体" panose="02010600030101010101" pitchFamily="2" charset="-122"/>
                </a:rPr>
                <a:t>编码器</a:t>
              </a:r>
              <a:r>
                <a:rPr lang="en-US" altLang="zh-CN" sz="1400" b="1" dirty="0">
                  <a:latin typeface="宋体" panose="02010600030101010101" pitchFamily="2" charset="-122"/>
                </a:rPr>
                <a:t>)</a:t>
              </a:r>
            </a:p>
          </p:txBody>
        </p:sp>
        <p:sp>
          <p:nvSpPr>
            <p:cNvPr id="45" name="Text Box 116"/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12642" y="6945"/>
              <a:ext cx="397" cy="709"/>
            </a:xfrm>
            <a:prstGeom prst="rect">
              <a:avLst/>
            </a:prstGeom>
            <a:solidFill>
              <a:srgbClr val="FFFF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vert="eaVert" lIns="18000" tIns="0" rIns="18000" bIns="0" anchor="ctr" anchorCtr="1"/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复位</a:t>
              </a:r>
            </a:p>
          </p:txBody>
        </p:sp>
        <p:sp>
          <p:nvSpPr>
            <p:cNvPr id="62" name="Text Box 183"/>
            <p:cNvSpPr txBox="1"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3798" y="7427"/>
              <a:ext cx="1701" cy="680"/>
            </a:xfrm>
            <a:prstGeom prst="rect">
              <a:avLst/>
            </a:prstGeom>
            <a:solidFill>
              <a:srgbClr val="FFFF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0" anchor="ctr"/>
            <a:lstStyle/>
            <a:p>
              <a:pPr algn="ctr">
                <a:lnSpc>
                  <a:spcPct val="8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中断类型号</a:t>
              </a:r>
              <a:endParaRPr lang="en-US" altLang="zh-CN" sz="1600" b="1" dirty="0">
                <a:latin typeface="宋体" panose="02010600030101010101" pitchFamily="2" charset="-122"/>
              </a:endParaRPr>
            </a:p>
            <a:p>
              <a:pPr algn="ctr">
                <a:lnSpc>
                  <a:spcPct val="8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形成逻辑</a:t>
              </a:r>
            </a:p>
          </p:txBody>
        </p:sp>
        <p:cxnSp>
          <p:nvCxnSpPr>
            <p:cNvPr id="63" name="直接箭头连接符 62"/>
            <p:cNvCxnSpPr/>
            <p:nvPr>
              <p:custDataLst>
                <p:tags r:id="rId19"/>
              </p:custDataLst>
            </p:nvPr>
          </p:nvCxnSpPr>
          <p:spPr bwMode="auto">
            <a:xfrm flipH="1">
              <a:off x="9297" y="8391"/>
              <a:ext cx="397" cy="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64" name="直接箭头连接符 63"/>
            <p:cNvCxnSpPr/>
            <p:nvPr>
              <p:custDataLst>
                <p:tags r:id="rId20"/>
              </p:custDataLst>
            </p:nvPr>
          </p:nvCxnSpPr>
          <p:spPr bwMode="auto">
            <a:xfrm flipV="1">
              <a:off x="9524" y="7200"/>
              <a:ext cx="1" cy="1191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oval" w="sm" len="sm"/>
            </a:ln>
          </p:spPr>
        </p:cxnSp>
        <p:sp>
          <p:nvSpPr>
            <p:cNvPr id="65" name="Text Box 107"/>
            <p:cNvSpPr txBox="1">
              <a:spLocks noChangeArrowheads="1"/>
            </p:cNvSpPr>
            <p:nvPr>
              <p:custDataLst>
                <p:tags r:id="rId21"/>
              </p:custDataLst>
            </p:nvPr>
          </p:nvSpPr>
          <p:spPr bwMode="auto">
            <a:xfrm>
              <a:off x="9410" y="8447"/>
              <a:ext cx="227" cy="283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 lIns="18000" tIns="10800" rIns="18000" bIns="10800" anchor="ctr" anchorCtr="0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A</a:t>
              </a:r>
            </a:p>
          </p:txBody>
        </p:sp>
        <p:cxnSp>
          <p:nvCxnSpPr>
            <p:cNvPr id="46" name="直接箭头连接符 45"/>
            <p:cNvCxnSpPr/>
            <p:nvPr>
              <p:custDataLst>
                <p:tags r:id="rId22"/>
              </p:custDataLst>
            </p:nvPr>
          </p:nvCxnSpPr>
          <p:spPr bwMode="auto">
            <a:xfrm>
              <a:off x="4818" y="7200"/>
              <a:ext cx="7824" cy="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9" name="直接箭头连接符 18"/>
            <p:cNvCxnSpPr/>
            <p:nvPr>
              <p:custDataLst>
                <p:tags r:id="rId23"/>
              </p:custDataLst>
            </p:nvPr>
          </p:nvCxnSpPr>
          <p:spPr bwMode="auto">
            <a:xfrm>
              <a:off x="3401" y="7030"/>
              <a:ext cx="9241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48" name="直接箭头连接符 47"/>
            <p:cNvCxnSpPr/>
            <p:nvPr>
              <p:custDataLst>
                <p:tags r:id="rId24"/>
              </p:custDataLst>
            </p:nvPr>
          </p:nvCxnSpPr>
          <p:spPr bwMode="auto">
            <a:xfrm>
              <a:off x="4818" y="7200"/>
              <a:ext cx="0" cy="227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55" name="直接箭头连接符 54"/>
            <p:cNvCxnSpPr/>
            <p:nvPr>
              <p:custDataLst>
                <p:tags r:id="rId25"/>
              </p:custDataLst>
            </p:nvPr>
          </p:nvCxnSpPr>
          <p:spPr bwMode="auto">
            <a:xfrm flipH="1" flipV="1">
              <a:off x="3061" y="7767"/>
              <a:ext cx="737" cy="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6" name="直接箭头连接符 65"/>
            <p:cNvCxnSpPr/>
            <p:nvPr>
              <p:custDataLst>
                <p:tags r:id="rId26"/>
              </p:custDataLst>
            </p:nvPr>
          </p:nvCxnSpPr>
          <p:spPr bwMode="auto">
            <a:xfrm>
              <a:off x="3401" y="7030"/>
              <a:ext cx="0" cy="652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67" name="直接箭头连接符 66"/>
            <p:cNvCxnSpPr/>
            <p:nvPr>
              <p:custDataLst>
                <p:tags r:id="rId27"/>
              </p:custDataLst>
            </p:nvPr>
          </p:nvCxnSpPr>
          <p:spPr bwMode="auto">
            <a:xfrm>
              <a:off x="8107" y="6860"/>
              <a:ext cx="0" cy="17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sm" len="sm"/>
              <a:tailEnd type="oval" w="sm" len="sm"/>
            </a:ln>
          </p:spPr>
        </p:cxnSp>
        <p:sp>
          <p:nvSpPr>
            <p:cNvPr id="68" name="等腰三角形 67"/>
            <p:cNvSpPr/>
            <p:nvPr>
              <p:custDataLst>
                <p:tags r:id="rId28"/>
              </p:custDataLst>
            </p:nvPr>
          </p:nvSpPr>
          <p:spPr bwMode="auto">
            <a:xfrm rot="16200000">
              <a:off x="3231" y="7653"/>
              <a:ext cx="340" cy="227"/>
            </a:xfrm>
            <a:prstGeom prst="triangle">
              <a:avLst/>
            </a:prstGeom>
            <a:solidFill>
              <a:schemeClr val="bg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134" name="直接箭头连接符 133"/>
            <p:cNvCxnSpPr/>
            <p:nvPr>
              <p:custDataLst>
                <p:tags r:id="rId29"/>
              </p:custDataLst>
            </p:nvPr>
          </p:nvCxnSpPr>
          <p:spPr bwMode="auto">
            <a:xfrm>
              <a:off x="3061" y="7767"/>
              <a:ext cx="0" cy="68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sp>
        <p:nvSpPr>
          <p:cNvPr id="115" name="线形标注 2 114"/>
          <p:cNvSpPr/>
          <p:nvPr>
            <p:custDataLst>
              <p:tags r:id="rId3"/>
            </p:custDataLst>
          </p:nvPr>
        </p:nvSpPr>
        <p:spPr bwMode="auto">
          <a:xfrm>
            <a:off x="6695608" y="5598272"/>
            <a:ext cx="1512000" cy="252000"/>
          </a:xfrm>
          <a:prstGeom prst="borderCallout2">
            <a:avLst>
              <a:gd name="adj1" fmla="val 48330"/>
              <a:gd name="adj2" fmla="val -65"/>
              <a:gd name="adj3" fmla="val 46361"/>
              <a:gd name="adj4" fmla="val -15046"/>
              <a:gd name="adj5" fmla="val -123475"/>
              <a:gd name="adj6" fmla="val -25789"/>
            </a:avLst>
          </a:prstGeom>
          <a:noFill/>
          <a:ln w="12700" cap="flat" cmpd="sng" algn="ctr">
            <a:solidFill>
              <a:srgbClr val="0070C0"/>
            </a:solidFill>
            <a:prstDash val="sysDash"/>
            <a:round/>
            <a:headEnd type="none" w="med" len="med"/>
            <a:tailEnd type="arrow" w="sm" len="sm"/>
          </a:ln>
          <a:effectLst/>
        </p:spPr>
        <p:txBody>
          <a:bodyPr vert="horz" wrap="square" lIns="36000" tIns="18000" rIns="36000" bIns="0" numCol="1" rtlCol="0" anchor="ctr" anchorCtr="0" compatLnSpc="1"/>
          <a:lstStyle/>
          <a:p>
            <a:pPr>
              <a:lnSpc>
                <a:spcPct val="90000"/>
              </a:lnSpc>
            </a:pPr>
            <a:r>
              <a:rPr lang="zh-CN" altLang="en-US" sz="1600" b="1" dirty="0">
                <a:latin typeface="+mn-ea"/>
                <a:ea typeface="+mn-ea"/>
              </a:rPr>
              <a:t>并行判优的实现</a:t>
            </a:r>
          </a:p>
        </p:txBody>
      </p:sp>
      <p:grpSp>
        <p:nvGrpSpPr>
          <p:cNvPr id="145" name="组合 144"/>
          <p:cNvGrpSpPr/>
          <p:nvPr/>
        </p:nvGrpSpPr>
        <p:grpSpPr>
          <a:xfrm>
            <a:off x="6659878" y="4068310"/>
            <a:ext cx="1547495" cy="1440180"/>
            <a:chOff x="10602" y="6211"/>
            <a:chExt cx="2437" cy="2268"/>
          </a:xfrm>
        </p:grpSpPr>
        <p:sp>
          <p:nvSpPr>
            <p:cNvPr id="72" name="Text Box 101"/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12302" y="7018"/>
              <a:ext cx="737" cy="1077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中断</a:t>
              </a:r>
            </a:p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请求</a:t>
              </a:r>
            </a:p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IRR</a:t>
              </a:r>
            </a:p>
          </p:txBody>
        </p:sp>
        <p:sp>
          <p:nvSpPr>
            <p:cNvPr id="73" name="Text Box 106"/>
            <p:cNvSpPr txBox="1"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10942" y="7146"/>
              <a:ext cx="567" cy="283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200" b="1" dirty="0">
                  <a:latin typeface="宋体" panose="02010600030101010101" pitchFamily="2" charset="-122"/>
                </a:rPr>
                <a:t>≥1</a:t>
              </a:r>
            </a:p>
          </p:txBody>
        </p:sp>
        <p:cxnSp>
          <p:nvCxnSpPr>
            <p:cNvPr id="74" name="直接箭头连接符 73"/>
            <p:cNvCxnSpPr/>
            <p:nvPr>
              <p:custDataLst>
                <p:tags r:id="rId7"/>
              </p:custDataLst>
            </p:nvPr>
          </p:nvCxnSpPr>
          <p:spPr bwMode="auto">
            <a:xfrm flipH="1">
              <a:off x="10602" y="7588"/>
              <a:ext cx="1701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05" name="直接箭头连接符 104"/>
            <p:cNvCxnSpPr/>
            <p:nvPr>
              <p:custDataLst>
                <p:tags r:id="rId8"/>
              </p:custDataLst>
            </p:nvPr>
          </p:nvCxnSpPr>
          <p:spPr bwMode="auto">
            <a:xfrm flipH="1" flipV="1">
              <a:off x="10602" y="7982"/>
              <a:ext cx="1701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37" name="直接箭头连接符 136"/>
            <p:cNvCxnSpPr/>
            <p:nvPr>
              <p:custDataLst>
                <p:tags r:id="rId9"/>
              </p:custDataLst>
            </p:nvPr>
          </p:nvCxnSpPr>
          <p:spPr bwMode="auto">
            <a:xfrm flipV="1">
              <a:off x="11112" y="7418"/>
              <a:ext cx="1" cy="17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 w="med" len="med"/>
            </a:ln>
          </p:spPr>
        </p:cxnSp>
        <p:cxnSp>
          <p:nvCxnSpPr>
            <p:cNvPr id="138" name="直接箭头连接符 137"/>
            <p:cNvCxnSpPr/>
            <p:nvPr>
              <p:custDataLst>
                <p:tags r:id="rId10"/>
              </p:custDataLst>
            </p:nvPr>
          </p:nvCxnSpPr>
          <p:spPr bwMode="auto">
            <a:xfrm flipV="1">
              <a:off x="11395" y="7418"/>
              <a:ext cx="0" cy="567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 w="med" len="med"/>
            </a:ln>
          </p:spPr>
        </p:cxnSp>
        <p:sp>
          <p:nvSpPr>
            <p:cNvPr id="139" name="Text Box 107"/>
            <p:cNvSpPr txBox="1"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11906" y="7588"/>
              <a:ext cx="340" cy="39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vert="vert" wrap="none" lIns="18000" tIns="10800" rIns="18000" bIns="10800" anchor="ctr" anchorCtr="0"/>
            <a:lstStyle/>
            <a:p>
              <a:r>
                <a:rPr lang="en-US" altLang="zh-CN" sz="1600" b="1" dirty="0">
                  <a:latin typeface="+mn-ea"/>
                  <a:ea typeface="+mn-ea"/>
                </a:rPr>
                <a:t>…</a:t>
              </a:r>
            </a:p>
          </p:txBody>
        </p:sp>
        <p:cxnSp>
          <p:nvCxnSpPr>
            <p:cNvPr id="141" name="直接箭头连接符 140"/>
            <p:cNvCxnSpPr/>
            <p:nvPr>
              <p:custDataLst>
                <p:tags r:id="rId12"/>
              </p:custDataLst>
            </p:nvPr>
          </p:nvCxnSpPr>
          <p:spPr bwMode="auto">
            <a:xfrm flipV="1">
              <a:off x="11282" y="6908"/>
              <a:ext cx="0" cy="227"/>
            </a:xfrm>
            <a:prstGeom prst="straightConnector1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42" name="Text Box 107"/>
            <p:cNvSpPr txBox="1"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10998" y="7588"/>
              <a:ext cx="340" cy="39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vert="vert" wrap="none" lIns="18000" tIns="10800" rIns="18000" bIns="10800" anchor="ctr" anchorCtr="0"/>
            <a:lstStyle/>
            <a:p>
              <a:r>
                <a:rPr lang="en-US" altLang="zh-CN" sz="1600" b="1" dirty="0">
                  <a:latin typeface="+mn-ea"/>
                  <a:ea typeface="+mn-ea"/>
                </a:rPr>
                <a:t>…</a:t>
              </a:r>
            </a:p>
          </p:txBody>
        </p:sp>
        <p:cxnSp>
          <p:nvCxnSpPr>
            <p:cNvPr id="143" name="直接连接符 142"/>
            <p:cNvCxnSpPr/>
            <p:nvPr>
              <p:custDataLst>
                <p:tags r:id="rId14"/>
              </p:custDataLst>
            </p:nvPr>
          </p:nvCxnSpPr>
          <p:spPr bwMode="auto">
            <a:xfrm>
              <a:off x="10828" y="6211"/>
              <a:ext cx="0" cy="2268"/>
            </a:xfrm>
            <a:prstGeom prst="line">
              <a:avLst/>
            </a:prstGeom>
            <a:noFill/>
            <a:ln w="12700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none" w="med" len="med"/>
            </a:ln>
          </p:spPr>
        </p:cxnSp>
        <p:cxnSp>
          <p:nvCxnSpPr>
            <p:cNvPr id="144" name="直接箭头连接符 143"/>
            <p:cNvCxnSpPr/>
            <p:nvPr>
              <p:custDataLst>
                <p:tags r:id="rId15"/>
              </p:custDataLst>
            </p:nvPr>
          </p:nvCxnSpPr>
          <p:spPr bwMode="auto">
            <a:xfrm flipH="1" flipV="1">
              <a:off x="11225" y="6624"/>
              <a:ext cx="57" cy="283"/>
            </a:xfrm>
            <a:prstGeom prst="straightConnector1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cxnSp>
        <p:nvCxnSpPr>
          <p:cNvPr id="69" name="直接箭头连接符 68">
            <a:extLst>
              <a:ext uri="{FF2B5EF4-FFF2-40B4-BE49-F238E27FC236}">
                <a16:creationId xmlns:a16="http://schemas.microsoft.com/office/drawing/2014/main" id="{B69B5086-1F3F-41BE-B3E5-6CF38EAC0AFB}"/>
              </a:ext>
            </a:extLst>
          </p:cNvPr>
          <p:cNvCxnSpPr>
            <a:cxnSpLocks/>
          </p:cNvCxnSpPr>
          <p:nvPr>
            <p:custDataLst>
              <p:tags r:id="rId4"/>
            </p:custDataLst>
          </p:nvPr>
        </p:nvCxnSpPr>
        <p:spPr bwMode="auto">
          <a:xfrm>
            <a:off x="5436096" y="3356992"/>
            <a:ext cx="792088" cy="1440040"/>
          </a:xfrm>
          <a:prstGeom prst="straightConnector1">
            <a:avLst/>
          </a:prstGeom>
          <a:noFill/>
          <a:ln w="12700" cap="flat" cmpd="sng" algn="ctr">
            <a:solidFill>
              <a:srgbClr val="0070C0"/>
            </a:solidFill>
            <a:prstDash val="sysDash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8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0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5" grpId="0" bldLvl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C519EF4-0893-4DAF-9B8C-C7A568CAB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BFB63-B979-4FAE-8763-D7093A979077}" type="slidenum">
              <a:rPr lang="en-US" altLang="zh-CN" smtClean="0"/>
              <a:t>37</a:t>
            </a:fld>
            <a:endParaRPr lang="en-US" altLang="zh-CN"/>
          </a:p>
        </p:txBody>
      </p:sp>
      <p:sp>
        <p:nvSpPr>
          <p:cNvPr id="3" name="Text Box 5">
            <a:extLst>
              <a:ext uri="{FF2B5EF4-FFF2-40B4-BE49-F238E27FC236}">
                <a16:creationId xmlns:a16="http://schemas.microsoft.com/office/drawing/2014/main" id="{66632796-A4FF-4201-A146-6516496D1CEB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79706" y="332656"/>
            <a:ext cx="6768558" cy="3710568"/>
          </a:xfrm>
          <a:prstGeom prst="rect">
            <a:avLst/>
          </a:prstGeom>
          <a:noFill/>
          <a:ln w="38100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*</a:t>
            </a:r>
            <a:r>
              <a:rPr lang="zh-CN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中断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优先级的管理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：</a:t>
            </a:r>
            <a:endParaRPr lang="zh-CN" altLang="en-US" sz="2200" b="1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应用需求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—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0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lang="zh-CN" altLang="en-US" sz="2200" b="1" u="sng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中断响应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优先级管理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— 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</a:rPr>
              <a:t>未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响应的请求间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)</a:t>
            </a: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lang="zh-CN" altLang="en-US" sz="2200" b="1" u="sng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中断处理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优先级管理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— 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</a:rPr>
              <a:t>正处理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</a:rPr>
              <a:t>-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</a:rPr>
              <a:t>未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响应的请求间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)</a:t>
            </a:r>
            <a:endParaRPr lang="en-US" altLang="zh-CN" sz="18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  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中断屏蔽：</a:t>
            </a:r>
            <a:endParaRPr lang="en-US" altLang="zh-CN" sz="2200" b="1" dirty="0">
              <a:solidFill>
                <a:srgbClr val="990099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800" b="1" dirty="0">
              <a:solidFill>
                <a:srgbClr val="990099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  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硬件判优：</a:t>
            </a:r>
            <a:endParaRPr lang="en-US" altLang="zh-CN" sz="2200" b="1" dirty="0">
              <a:solidFill>
                <a:srgbClr val="990099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Text Box 5">
            <a:extLst>
              <a:ext uri="{FF2B5EF4-FFF2-40B4-BE49-F238E27FC236}">
                <a16:creationId xmlns:a16="http://schemas.microsoft.com/office/drawing/2014/main" id="{FF50673B-2CC3-4670-9841-6DEB0E8A14AE}"/>
              </a:ext>
            </a:extLst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187623" y="1988840"/>
            <a:ext cx="7920880" cy="2337313"/>
          </a:xfrm>
          <a:prstGeom prst="rect">
            <a:avLst/>
          </a:prstGeom>
          <a:noFill/>
          <a:ln w="38100">
            <a:noFill/>
            <a:miter lim="800000"/>
          </a:ln>
          <a:effectLst/>
        </p:spPr>
        <p:txBody>
          <a:bodyPr wrap="square" lIns="90000" tIns="10800" rIns="90000" bIns="4680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lang="zh-CN" altLang="en-US" sz="2200" b="1" u="sng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约定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</a:rPr>
              <a:t>优先级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</a:rPr>
              <a:t>如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</a:rPr>
              <a:t>IR0→IR7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</a:rPr>
              <a:t>递减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</a:rPr>
              <a:t>，用</a:t>
            </a:r>
            <a:r>
              <a:rPr lang="zh-CN" altLang="en-US" sz="2200" b="1" u="sng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判优电路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</a:rPr>
              <a:t>排队器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</a:rPr>
              <a:t>实现</a:t>
            </a:r>
            <a:endParaRPr lang="en-US" altLang="zh-CN" sz="1800" b="1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</a:rPr>
              <a:t>                                          ←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</a:rPr>
              <a:t>用于多重中断</a:t>
            </a:r>
            <a:endParaRPr lang="en-US" altLang="zh-CN" sz="1800" b="1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</a:rPr>
              <a:t>         用</a:t>
            </a:r>
            <a:r>
              <a:rPr lang="zh-CN" altLang="en-US" sz="2200" b="1" u="sng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屏蔽字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</a:rPr>
              <a:t>管理</a:t>
            </a:r>
            <a:r>
              <a:rPr lang="zh-CN" altLang="en-US" sz="2200" b="1" u="sng" dirty="0">
                <a:latin typeface="宋体" panose="02010600030101010101" pitchFamily="2" charset="-122"/>
                <a:cs typeface="宋体" panose="02010600030101010101" pitchFamily="2" charset="-122"/>
              </a:rPr>
              <a:t>未响应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</a:rPr>
              <a:t>请求，允许者用</a:t>
            </a:r>
            <a:r>
              <a:rPr lang="zh-CN" altLang="en-US" sz="2200" b="1" u="sng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响应优先级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</a:rPr>
              <a:t>判优</a:t>
            </a:r>
            <a:endParaRPr lang="en-US" altLang="zh-CN" sz="2200" b="1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</a:rPr>
              <a:t>               </a:t>
            </a:r>
            <a:r>
              <a:rPr lang="en-US" altLang="zh-CN" sz="1800" dirty="0">
                <a:latin typeface="宋体" panose="02010600030101010101" pitchFamily="2" charset="-122"/>
                <a:cs typeface="宋体" panose="02010600030101010101" pitchFamily="2" charset="-122"/>
              </a:rPr>
              <a:t>└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</a:rPr>
              <a:t>←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</a:rPr>
              <a:t>占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</a:rPr>
              <a:t>位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</a:rPr>
              <a:t>/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</a:rPr>
              <a:t>请求、放在</a:t>
            </a:r>
            <a:r>
              <a:rPr lang="zh-CN" altLang="en-US" sz="1800" b="1" u="sng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屏蔽</a:t>
            </a:r>
            <a:r>
              <a:rPr lang="en-US" altLang="zh-CN" sz="1800" b="1" u="sng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REG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</a:rPr>
              <a:t>中，软件</a:t>
            </a:r>
            <a:r>
              <a:rPr lang="zh-CN" altLang="en-US" sz="1800" b="1" dirty="0">
                <a:highlight>
                  <a:srgbClr val="FFCCFF"/>
                </a:highlight>
                <a:latin typeface="宋体" panose="02010600030101010101" pitchFamily="2" charset="-122"/>
                <a:cs typeface="宋体" panose="02010600030101010101" pitchFamily="2" charset="-122"/>
              </a:rPr>
              <a:t>可修改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</a:rPr>
              <a:t>灵活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en-US" altLang="zh-CN" sz="2200" b="1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</a:rPr>
              <a:t>         用</a:t>
            </a:r>
            <a:r>
              <a:rPr lang="zh-CN" altLang="en-US" sz="2200" b="1" u="sng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服务</a:t>
            </a:r>
            <a:r>
              <a:rPr lang="en-US" altLang="zh-CN" sz="2200" b="1" u="sng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REG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</a:rPr>
              <a:t>管理</a:t>
            </a:r>
            <a:r>
              <a:rPr lang="zh-CN" altLang="en-US" sz="2200" b="1" u="sng" dirty="0">
                <a:latin typeface="宋体" panose="02010600030101010101" pitchFamily="2" charset="-122"/>
                <a:cs typeface="宋体" panose="02010600030101010101" pitchFamily="2" charset="-122"/>
              </a:rPr>
              <a:t>正服务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</a:rPr>
              <a:t>请求，两者用</a:t>
            </a:r>
            <a:r>
              <a:rPr lang="zh-CN" altLang="en-US" sz="2200" b="1" u="sng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响应优先级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</a:rPr>
              <a:t>判优</a:t>
            </a:r>
            <a:endParaRPr lang="en-US" altLang="zh-CN" sz="2200" b="1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</a:rPr>
              <a:t>               </a:t>
            </a:r>
            <a:r>
              <a:rPr lang="en-US" altLang="zh-CN" sz="1800" dirty="0">
                <a:latin typeface="宋体" panose="02010600030101010101" pitchFamily="2" charset="-122"/>
                <a:cs typeface="宋体" panose="02010600030101010101" pitchFamily="2" charset="-122"/>
              </a:rPr>
              <a:t>└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</a:rPr>
              <a:t>←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</a:rPr>
              <a:t>占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</a:rPr>
              <a:t>位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</a:rPr>
              <a:t>/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</a:rPr>
              <a:t>请求，</a:t>
            </a:r>
            <a:r>
              <a:rPr lang="zh-CN" altLang="en-US" sz="1800" b="1" u="sng" dirty="0">
                <a:latin typeface="宋体" panose="02010600030101010101" pitchFamily="2" charset="-122"/>
                <a:cs typeface="宋体" panose="02010600030101010101" pitchFamily="2" charset="-122"/>
              </a:rPr>
              <a:t>软件</a:t>
            </a:r>
            <a:r>
              <a:rPr lang="zh-CN" altLang="en-US" sz="1800" b="1" dirty="0">
                <a:highlight>
                  <a:srgbClr val="FFCCFF"/>
                </a:highlight>
                <a:latin typeface="宋体" panose="02010600030101010101" pitchFamily="2" charset="-122"/>
                <a:cs typeface="宋体" panose="02010600030101010101" pitchFamily="2" charset="-122"/>
              </a:rPr>
              <a:t>不参与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</a:rPr>
              <a:t>简单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en-US" altLang="zh-CN" sz="1800" b="1" dirty="0">
              <a:latin typeface="宋体" panose="02010600030101010101" pitchFamily="2" charset="-122"/>
              <a:sym typeface="+mn-ea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FFAECCC9-D2C0-4F24-90A1-A4A7206A521D}"/>
              </a:ext>
            </a:extLst>
          </p:cNvPr>
          <p:cNvGrpSpPr/>
          <p:nvPr/>
        </p:nvGrpSpPr>
        <p:grpSpPr>
          <a:xfrm>
            <a:off x="3275856" y="476672"/>
            <a:ext cx="5688000" cy="1116000"/>
            <a:chOff x="2736000" y="3384000"/>
            <a:chExt cx="5688000" cy="1116000"/>
          </a:xfrm>
        </p:grpSpPr>
        <p:sp>
          <p:nvSpPr>
            <p:cNvPr id="6" name="Text Box 177">
              <a:extLst>
                <a:ext uri="{FF2B5EF4-FFF2-40B4-BE49-F238E27FC236}">
                  <a16:creationId xmlns:a16="http://schemas.microsoft.com/office/drawing/2014/main" id="{86E2BFD8-BF70-432E-95B1-D12E85B0AAAF}"/>
                </a:ext>
              </a:extLst>
            </p:cNvPr>
            <p:cNvSpPr txBox="1">
              <a:spLocks noChangeArrowheads="1"/>
            </p:cNvSpPr>
            <p:nvPr>
              <p:custDataLst>
                <p:tags r:id="rId73"/>
              </p:custDataLst>
            </p:nvPr>
          </p:nvSpPr>
          <p:spPr bwMode="auto">
            <a:xfrm>
              <a:off x="2736000" y="3528000"/>
              <a:ext cx="900000" cy="900000"/>
            </a:xfrm>
            <a:prstGeom prst="rect">
              <a:avLst/>
            </a:prstGeom>
            <a:noFill/>
            <a:ln w="38100">
              <a:noFill/>
              <a:miter lim="800000"/>
            </a:ln>
            <a:effectLst/>
          </p:spPr>
          <p:txBody>
            <a:bodyPr lIns="18000" tIns="10800" rIns="18000" bIns="10800" anchor="t" anchorCtr="0"/>
            <a:lstStyle/>
            <a:p>
              <a:pPr algn="l" eaLnBrk="0" hangingPunct="0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处理程序</a:t>
              </a:r>
              <a:endParaRPr lang="en-US" altLang="zh-CN" sz="1600" b="1" dirty="0">
                <a:latin typeface="宋体" panose="02010600030101010101" pitchFamily="2" charset="-122"/>
              </a:endParaRPr>
            </a:p>
            <a:p>
              <a:pPr algn="l" eaLnBrk="0" hangingPunct="0">
                <a:lnSpc>
                  <a:spcPct val="90000"/>
                </a:lnSpc>
                <a:spcBef>
                  <a:spcPts val="900"/>
                </a:spcBef>
              </a:pPr>
              <a:r>
                <a:rPr lang="zh-CN" altLang="en-US" sz="1600" b="1" dirty="0">
                  <a:latin typeface="宋体" panose="02010600030101010101" pitchFamily="2" charset="-122"/>
                </a:rPr>
                <a:t>主 程 序</a:t>
              </a:r>
              <a:endParaRPr lang="en-US" altLang="zh-CN" sz="1600" b="1" dirty="0">
                <a:latin typeface="宋体" panose="02010600030101010101" pitchFamily="2" charset="-122"/>
              </a:endParaRPr>
            </a:p>
            <a:p>
              <a:pPr algn="l" eaLnBrk="0" hangingPunct="0">
                <a:lnSpc>
                  <a:spcPct val="90000"/>
                </a:lnSpc>
                <a:spcBef>
                  <a:spcPts val="300"/>
                </a:spcBef>
              </a:pPr>
              <a:r>
                <a:rPr lang="zh-CN" altLang="en-US" sz="1600" b="1" dirty="0">
                  <a:latin typeface="宋体" panose="02010600030101010101" pitchFamily="2" charset="-122"/>
                </a:rPr>
                <a:t>中断请求</a:t>
              </a:r>
              <a:endParaRPr lang="en-US" altLang="zh-CN" sz="1600" b="1" dirty="0" err="1">
                <a:latin typeface="宋体" panose="02010600030101010101" pitchFamily="2" charset="-122"/>
              </a:endParaRPr>
            </a:p>
          </p:txBody>
        </p:sp>
        <p:sp>
          <p:nvSpPr>
            <p:cNvPr id="7" name="Text Box 177">
              <a:extLst>
                <a:ext uri="{FF2B5EF4-FFF2-40B4-BE49-F238E27FC236}">
                  <a16:creationId xmlns:a16="http://schemas.microsoft.com/office/drawing/2014/main" id="{C3788B66-1029-495C-A19A-5CCE7977929A}"/>
                </a:ext>
              </a:extLst>
            </p:cNvPr>
            <p:cNvSpPr txBox="1">
              <a:spLocks noChangeArrowheads="1"/>
            </p:cNvSpPr>
            <p:nvPr>
              <p:custDataLst>
                <p:tags r:id="rId74"/>
              </p:custDataLst>
            </p:nvPr>
          </p:nvSpPr>
          <p:spPr bwMode="auto">
            <a:xfrm>
              <a:off x="3672008" y="3384000"/>
              <a:ext cx="216000" cy="504000"/>
            </a:xfrm>
            <a:prstGeom prst="rect">
              <a:avLst/>
            </a:prstGeom>
            <a:noFill/>
            <a:ln w="38100">
              <a:noFill/>
              <a:miter lim="800000"/>
            </a:ln>
            <a:effectLst/>
          </p:spPr>
          <p:txBody>
            <a:bodyPr lIns="18000" tIns="10800" rIns="18000" bIns="10800" anchor="t" anchorCtr="0"/>
            <a:lstStyle/>
            <a:p>
              <a:pPr algn="l" eaLnBrk="0" hangingPunct="0">
                <a:lnSpc>
                  <a:spcPct val="80000"/>
                </a:lnSpc>
              </a:pPr>
              <a:r>
                <a:rPr lang="zh-CN" altLang="en-US" sz="1400" b="1" dirty="0">
                  <a:latin typeface="宋体" panose="02010600030101010101" pitchFamily="2" charset="-122"/>
                </a:rPr>
                <a:t>①</a:t>
              </a:r>
              <a:endParaRPr lang="en-US" altLang="zh-CN" sz="1400" b="1" dirty="0">
                <a:latin typeface="宋体" panose="02010600030101010101" pitchFamily="2" charset="-122"/>
              </a:endParaRPr>
            </a:p>
            <a:p>
              <a:pPr algn="l" eaLnBrk="0" hangingPunct="0">
                <a:lnSpc>
                  <a:spcPct val="80000"/>
                </a:lnSpc>
              </a:pPr>
              <a:r>
                <a:rPr lang="zh-CN" altLang="en-US" sz="1400" b="1" dirty="0">
                  <a:latin typeface="宋体" panose="02010600030101010101" pitchFamily="2" charset="-122"/>
                </a:rPr>
                <a:t>②</a:t>
              </a:r>
              <a:endParaRPr lang="en-US" altLang="zh-CN" sz="1400" b="1" dirty="0">
                <a:latin typeface="宋体" panose="02010600030101010101" pitchFamily="2" charset="-122"/>
              </a:endParaRPr>
            </a:p>
            <a:p>
              <a:pPr algn="l" eaLnBrk="0" hangingPunct="0">
                <a:lnSpc>
                  <a:spcPct val="80000"/>
                </a:lnSpc>
              </a:pPr>
              <a:r>
                <a:rPr lang="zh-CN" altLang="en-US" sz="1400" b="1" dirty="0">
                  <a:latin typeface="宋体" panose="02010600030101010101" pitchFamily="2" charset="-122"/>
                </a:rPr>
                <a:t>③</a:t>
              </a:r>
              <a:endParaRPr lang="en-US" altLang="zh-CN" sz="1400" b="1" dirty="0">
                <a:latin typeface="宋体" panose="02010600030101010101" pitchFamily="2" charset="-122"/>
              </a:endParaRPr>
            </a:p>
          </p:txBody>
        </p:sp>
        <p:sp>
          <p:nvSpPr>
            <p:cNvPr id="8" name="左大括号 7">
              <a:extLst>
                <a:ext uri="{FF2B5EF4-FFF2-40B4-BE49-F238E27FC236}">
                  <a16:creationId xmlns:a16="http://schemas.microsoft.com/office/drawing/2014/main" id="{0103F584-D427-42C8-96F8-3AB777D950F4}"/>
                </a:ext>
              </a:extLst>
            </p:cNvPr>
            <p:cNvSpPr/>
            <p:nvPr/>
          </p:nvSpPr>
          <p:spPr bwMode="auto">
            <a:xfrm>
              <a:off x="3600000" y="3456000"/>
              <a:ext cx="72008" cy="396000"/>
            </a:xfrm>
            <a:prstGeom prst="leftBrace">
              <a:avLst>
                <a:gd name="adj1" fmla="val 33450"/>
                <a:gd name="adj2" fmla="val 50000"/>
              </a:avLst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9" name="直接箭头连接符 8">
              <a:extLst>
                <a:ext uri="{FF2B5EF4-FFF2-40B4-BE49-F238E27FC236}">
                  <a16:creationId xmlns:a16="http://schemas.microsoft.com/office/drawing/2014/main" id="{071FA470-DD83-40B6-BC69-2144E53A4B62}"/>
                </a:ext>
              </a:extLst>
            </p:cNvPr>
            <p:cNvCxnSpPr/>
            <p:nvPr>
              <p:custDataLst>
                <p:tags r:id="rId75"/>
              </p:custDataLst>
            </p:nvPr>
          </p:nvCxnSpPr>
          <p:spPr bwMode="auto">
            <a:xfrm>
              <a:off x="3996000" y="3492000"/>
              <a:ext cx="1728000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none"/>
            </a:ln>
            <a:effectLst/>
          </p:spPr>
        </p:cxnSp>
        <p:cxnSp>
          <p:nvCxnSpPr>
            <p:cNvPr id="10" name="直接箭头连接符 9">
              <a:extLst>
                <a:ext uri="{FF2B5EF4-FFF2-40B4-BE49-F238E27FC236}">
                  <a16:creationId xmlns:a16="http://schemas.microsoft.com/office/drawing/2014/main" id="{5C82199E-F35D-4A5F-B3D7-3E8B2BC7BFFF}"/>
                </a:ext>
              </a:extLst>
            </p:cNvPr>
            <p:cNvCxnSpPr/>
            <p:nvPr>
              <p:custDataLst>
                <p:tags r:id="rId76"/>
              </p:custDataLst>
            </p:nvPr>
          </p:nvCxnSpPr>
          <p:spPr bwMode="auto">
            <a:xfrm>
              <a:off x="3996000" y="3636000"/>
              <a:ext cx="1728000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none"/>
            </a:ln>
            <a:effectLst/>
          </p:spPr>
        </p:cxnSp>
        <p:cxnSp>
          <p:nvCxnSpPr>
            <p:cNvPr id="11" name="直接箭头连接符 10">
              <a:extLst>
                <a:ext uri="{FF2B5EF4-FFF2-40B4-BE49-F238E27FC236}">
                  <a16:creationId xmlns:a16="http://schemas.microsoft.com/office/drawing/2014/main" id="{B300F3B9-6954-4A52-80F6-0EDAA45B7784}"/>
                </a:ext>
              </a:extLst>
            </p:cNvPr>
            <p:cNvCxnSpPr/>
            <p:nvPr>
              <p:custDataLst>
                <p:tags r:id="rId77"/>
              </p:custDataLst>
            </p:nvPr>
          </p:nvCxnSpPr>
          <p:spPr bwMode="auto">
            <a:xfrm>
              <a:off x="3996000" y="3816000"/>
              <a:ext cx="1728000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none"/>
            </a:ln>
            <a:effectLst/>
          </p:spPr>
        </p:cxnSp>
        <p:cxnSp>
          <p:nvCxnSpPr>
            <p:cNvPr id="12" name="直接箭头连接符 11">
              <a:extLst>
                <a:ext uri="{FF2B5EF4-FFF2-40B4-BE49-F238E27FC236}">
                  <a16:creationId xmlns:a16="http://schemas.microsoft.com/office/drawing/2014/main" id="{14EBFFCC-2FE0-4835-8086-593796B2B3EB}"/>
                </a:ext>
              </a:extLst>
            </p:cNvPr>
            <p:cNvCxnSpPr>
              <a:cxnSpLocks/>
            </p:cNvCxnSpPr>
            <p:nvPr>
              <p:custDataLst>
                <p:tags r:id="rId78"/>
              </p:custDataLst>
            </p:nvPr>
          </p:nvCxnSpPr>
          <p:spPr bwMode="auto">
            <a:xfrm flipV="1">
              <a:off x="4032000" y="3528000"/>
              <a:ext cx="72000" cy="4320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990099"/>
              </a:solidFill>
              <a:prstDash val="sysDash"/>
              <a:round/>
              <a:headEnd type="none" w="med" len="med"/>
              <a:tailEnd type="triangle" w="sm" len="sm"/>
            </a:ln>
            <a:effectLst/>
          </p:spPr>
        </p:cxnSp>
        <p:sp>
          <p:nvSpPr>
            <p:cNvPr id="13" name="Text Box 213">
              <a:extLst>
                <a:ext uri="{FF2B5EF4-FFF2-40B4-BE49-F238E27FC236}">
                  <a16:creationId xmlns:a16="http://schemas.microsoft.com/office/drawing/2014/main" id="{77ADA390-B49D-4E06-893C-A59DDF6D7F27}"/>
                </a:ext>
              </a:extLst>
            </p:cNvPr>
            <p:cNvSpPr txBox="1">
              <a:spLocks noChangeArrowheads="1"/>
            </p:cNvSpPr>
            <p:nvPr>
              <p:custDataLst>
                <p:tags r:id="rId79"/>
              </p:custDataLst>
            </p:nvPr>
          </p:nvSpPr>
          <p:spPr bwMode="auto">
            <a:xfrm>
              <a:off x="4104000" y="3456000"/>
              <a:ext cx="288000" cy="7200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14" name="直接箭头连接符 13">
              <a:extLst>
                <a:ext uri="{FF2B5EF4-FFF2-40B4-BE49-F238E27FC236}">
                  <a16:creationId xmlns:a16="http://schemas.microsoft.com/office/drawing/2014/main" id="{F7C39F87-2DC3-4CC1-835F-7FD45E4AF5EE}"/>
                </a:ext>
              </a:extLst>
            </p:cNvPr>
            <p:cNvCxnSpPr>
              <a:cxnSpLocks/>
            </p:cNvCxnSpPr>
            <p:nvPr>
              <p:custDataLst>
                <p:tags r:id="rId80"/>
              </p:custDataLst>
            </p:nvPr>
          </p:nvCxnSpPr>
          <p:spPr bwMode="auto">
            <a:xfrm>
              <a:off x="4356000" y="3528000"/>
              <a:ext cx="36000" cy="43200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C00000"/>
              </a:solidFill>
              <a:prstDash val="sysDash"/>
              <a:round/>
              <a:headEnd type="none" w="med" len="med"/>
              <a:tailEnd type="triangle" w="sm" len="sm"/>
            </a:ln>
            <a:effectLst/>
          </p:spPr>
        </p:cxnSp>
        <p:cxnSp>
          <p:nvCxnSpPr>
            <p:cNvPr id="15" name="直接箭头连接符 14">
              <a:extLst>
                <a:ext uri="{FF2B5EF4-FFF2-40B4-BE49-F238E27FC236}">
                  <a16:creationId xmlns:a16="http://schemas.microsoft.com/office/drawing/2014/main" id="{98594B82-9C92-4D81-909A-C79736899D42}"/>
                </a:ext>
              </a:extLst>
            </p:cNvPr>
            <p:cNvCxnSpPr>
              <a:cxnSpLocks/>
            </p:cNvCxnSpPr>
            <p:nvPr>
              <p:custDataLst>
                <p:tags r:id="rId81"/>
              </p:custDataLst>
            </p:nvPr>
          </p:nvCxnSpPr>
          <p:spPr bwMode="auto">
            <a:xfrm>
              <a:off x="4320000" y="3456000"/>
              <a:ext cx="0" cy="720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6" name="直接箭头连接符 15">
              <a:extLst>
                <a:ext uri="{FF2B5EF4-FFF2-40B4-BE49-F238E27FC236}">
                  <a16:creationId xmlns:a16="http://schemas.microsoft.com/office/drawing/2014/main" id="{697EBA08-40CC-478D-9E9E-78151DCF4BB5}"/>
                </a:ext>
              </a:extLst>
            </p:cNvPr>
            <p:cNvCxnSpPr/>
            <p:nvPr>
              <p:custDataLst>
                <p:tags r:id="rId82"/>
              </p:custDataLst>
            </p:nvPr>
          </p:nvCxnSpPr>
          <p:spPr bwMode="auto">
            <a:xfrm>
              <a:off x="3996000" y="3997550"/>
              <a:ext cx="1728000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none"/>
            </a:ln>
            <a:effectLst/>
          </p:spPr>
        </p:cxnSp>
        <p:sp>
          <p:nvSpPr>
            <p:cNvPr id="17" name="Text Box 177">
              <a:extLst>
                <a:ext uri="{FF2B5EF4-FFF2-40B4-BE49-F238E27FC236}">
                  <a16:creationId xmlns:a16="http://schemas.microsoft.com/office/drawing/2014/main" id="{C962D6C5-D898-4C30-993E-DE5C92AC4DD7}"/>
                </a:ext>
              </a:extLst>
            </p:cNvPr>
            <p:cNvSpPr txBox="1">
              <a:spLocks noChangeArrowheads="1"/>
            </p:cNvSpPr>
            <p:nvPr>
              <p:custDataLst>
                <p:tags r:id="rId83"/>
              </p:custDataLst>
            </p:nvPr>
          </p:nvSpPr>
          <p:spPr bwMode="auto">
            <a:xfrm>
              <a:off x="3888001" y="4176000"/>
              <a:ext cx="1116048" cy="324000"/>
            </a:xfrm>
            <a:prstGeom prst="rect">
              <a:avLst/>
            </a:prstGeom>
            <a:noFill/>
            <a:ln w="38100">
              <a:noFill/>
              <a:miter lim="800000"/>
            </a:ln>
            <a:effectLst/>
          </p:spPr>
          <p:txBody>
            <a:bodyPr lIns="18000" tIns="0" rIns="18000" bIns="0" anchor="t" anchorCtr="0"/>
            <a:lstStyle/>
            <a:p>
              <a:pPr algn="l" eaLnBrk="0" hangingPunct="0">
                <a:lnSpc>
                  <a:spcPct val="80000"/>
                </a:lnSpc>
              </a:pPr>
              <a:r>
                <a:rPr lang="zh-CN" altLang="en-US" sz="1400" b="1" dirty="0">
                  <a:latin typeface="宋体" panose="02010600030101010101" pitchFamily="2" charset="-122"/>
                </a:rPr>
                <a:t>①       ②</a:t>
              </a:r>
              <a:endParaRPr lang="en-US" altLang="zh-CN" sz="1400" b="1" dirty="0">
                <a:latin typeface="宋体" panose="02010600030101010101" pitchFamily="2" charset="-122"/>
              </a:endParaRPr>
            </a:p>
            <a:p>
              <a:pPr algn="l" eaLnBrk="0" hangingPunct="0">
                <a:lnSpc>
                  <a:spcPct val="80000"/>
                </a:lnSpc>
              </a:pPr>
              <a:r>
                <a:rPr lang="zh-CN" altLang="en-US" sz="1400" b="1" dirty="0">
                  <a:latin typeface="宋体" panose="02010600030101010101" pitchFamily="2" charset="-122"/>
                </a:rPr>
                <a:t>③</a:t>
              </a:r>
              <a:endParaRPr lang="en-US" altLang="zh-CN" sz="1400" b="1" dirty="0">
                <a:latin typeface="宋体" panose="02010600030101010101" pitchFamily="2" charset="-122"/>
              </a:endParaRPr>
            </a:p>
          </p:txBody>
        </p:sp>
        <p:sp>
          <p:nvSpPr>
            <p:cNvPr id="18" name="Text Box 213">
              <a:extLst>
                <a:ext uri="{FF2B5EF4-FFF2-40B4-BE49-F238E27FC236}">
                  <a16:creationId xmlns:a16="http://schemas.microsoft.com/office/drawing/2014/main" id="{A10ECE55-43D0-45F8-B46A-F1FE88150728}"/>
                </a:ext>
              </a:extLst>
            </p:cNvPr>
            <p:cNvSpPr txBox="1">
              <a:spLocks noChangeArrowheads="1"/>
            </p:cNvSpPr>
            <p:nvPr>
              <p:custDataLst>
                <p:tags r:id="rId84"/>
              </p:custDataLst>
            </p:nvPr>
          </p:nvSpPr>
          <p:spPr bwMode="auto">
            <a:xfrm>
              <a:off x="3816000" y="3961550"/>
              <a:ext cx="216000" cy="72000"/>
            </a:xfrm>
            <a:prstGeom prst="rect">
              <a:avLst/>
            </a:prstGeom>
            <a:solidFill>
              <a:srgbClr val="CC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9" name="Text Box 213">
              <a:extLst>
                <a:ext uri="{FF2B5EF4-FFF2-40B4-BE49-F238E27FC236}">
                  <a16:creationId xmlns:a16="http://schemas.microsoft.com/office/drawing/2014/main" id="{76AAFF6B-62E0-42BC-AAC0-5B4AE53CCA9F}"/>
                </a:ext>
              </a:extLst>
            </p:cNvPr>
            <p:cNvSpPr txBox="1">
              <a:spLocks noChangeArrowheads="1"/>
            </p:cNvSpPr>
            <p:nvPr>
              <p:custDataLst>
                <p:tags r:id="rId85"/>
              </p:custDataLst>
            </p:nvPr>
          </p:nvSpPr>
          <p:spPr bwMode="auto">
            <a:xfrm>
              <a:off x="4392000" y="3961550"/>
              <a:ext cx="72000" cy="72000"/>
            </a:xfrm>
            <a:prstGeom prst="rect">
              <a:avLst/>
            </a:prstGeom>
            <a:solidFill>
              <a:srgbClr val="CC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20" name="直接箭头连接符 19">
              <a:extLst>
                <a:ext uri="{FF2B5EF4-FFF2-40B4-BE49-F238E27FC236}">
                  <a16:creationId xmlns:a16="http://schemas.microsoft.com/office/drawing/2014/main" id="{6C47B1EB-F0A6-45AA-96BB-E3B6A100047B}"/>
                </a:ext>
              </a:extLst>
            </p:cNvPr>
            <p:cNvCxnSpPr>
              <a:cxnSpLocks/>
            </p:cNvCxnSpPr>
            <p:nvPr>
              <p:custDataLst>
                <p:tags r:id="rId86"/>
              </p:custDataLst>
            </p:nvPr>
          </p:nvCxnSpPr>
          <p:spPr bwMode="auto">
            <a:xfrm flipV="1">
              <a:off x="3991567" y="4032000"/>
              <a:ext cx="0" cy="12600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sm" len="sm"/>
            </a:ln>
            <a:effectLst/>
          </p:spPr>
        </p:cxnSp>
        <p:cxnSp>
          <p:nvCxnSpPr>
            <p:cNvPr id="21" name="直接箭头连接符 20">
              <a:extLst>
                <a:ext uri="{FF2B5EF4-FFF2-40B4-BE49-F238E27FC236}">
                  <a16:creationId xmlns:a16="http://schemas.microsoft.com/office/drawing/2014/main" id="{544173BD-CC8E-473F-8DFF-2F1F7BEA41C2}"/>
                </a:ext>
              </a:extLst>
            </p:cNvPr>
            <p:cNvCxnSpPr>
              <a:cxnSpLocks/>
            </p:cNvCxnSpPr>
            <p:nvPr>
              <p:custDataLst>
                <p:tags r:id="rId87"/>
              </p:custDataLst>
            </p:nvPr>
          </p:nvCxnSpPr>
          <p:spPr bwMode="auto">
            <a:xfrm>
              <a:off x="5220000" y="3672000"/>
              <a:ext cx="36000" cy="10800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C00000"/>
              </a:solidFill>
              <a:prstDash val="sysDash"/>
              <a:round/>
              <a:headEnd type="none" w="med" len="med"/>
              <a:tailEnd type="triangle" w="sm" len="sm"/>
            </a:ln>
            <a:effectLst/>
          </p:spPr>
        </p:cxnSp>
        <p:sp>
          <p:nvSpPr>
            <p:cNvPr id="22" name="Text Box 213">
              <a:extLst>
                <a:ext uri="{FF2B5EF4-FFF2-40B4-BE49-F238E27FC236}">
                  <a16:creationId xmlns:a16="http://schemas.microsoft.com/office/drawing/2014/main" id="{479BC1A6-65C3-49EC-8047-079901CA14DC}"/>
                </a:ext>
              </a:extLst>
            </p:cNvPr>
            <p:cNvSpPr txBox="1">
              <a:spLocks noChangeArrowheads="1"/>
            </p:cNvSpPr>
            <p:nvPr>
              <p:custDataLst>
                <p:tags r:id="rId88"/>
              </p:custDataLst>
            </p:nvPr>
          </p:nvSpPr>
          <p:spPr bwMode="auto">
            <a:xfrm>
              <a:off x="4896000" y="3608400"/>
              <a:ext cx="360000" cy="72000"/>
            </a:xfrm>
            <a:prstGeom prst="rect">
              <a:avLst/>
            </a:prstGeom>
            <a:solidFill>
              <a:srgbClr val="FFFF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23" name="直接箭头连接符 22">
              <a:extLst>
                <a:ext uri="{FF2B5EF4-FFF2-40B4-BE49-F238E27FC236}">
                  <a16:creationId xmlns:a16="http://schemas.microsoft.com/office/drawing/2014/main" id="{C9D10537-191D-404F-B6C5-50F0D1022726}"/>
                </a:ext>
              </a:extLst>
            </p:cNvPr>
            <p:cNvCxnSpPr>
              <a:cxnSpLocks/>
            </p:cNvCxnSpPr>
            <p:nvPr>
              <p:custDataLst>
                <p:tags r:id="rId89"/>
              </p:custDataLst>
            </p:nvPr>
          </p:nvCxnSpPr>
          <p:spPr bwMode="auto">
            <a:xfrm flipV="1">
              <a:off x="4824000" y="3672001"/>
              <a:ext cx="72000" cy="1080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990099"/>
              </a:solidFill>
              <a:prstDash val="sysDash"/>
              <a:round/>
              <a:headEnd type="none" w="med" len="med"/>
              <a:tailEnd type="triangle" w="sm" len="sm"/>
            </a:ln>
            <a:effectLst/>
          </p:spPr>
        </p:cxnSp>
        <p:cxnSp>
          <p:nvCxnSpPr>
            <p:cNvPr id="24" name="直接箭头连接符 23">
              <a:extLst>
                <a:ext uri="{FF2B5EF4-FFF2-40B4-BE49-F238E27FC236}">
                  <a16:creationId xmlns:a16="http://schemas.microsoft.com/office/drawing/2014/main" id="{9CF2F76D-42CD-42D8-A8B9-9884F4F2B7A7}"/>
                </a:ext>
              </a:extLst>
            </p:cNvPr>
            <p:cNvCxnSpPr>
              <a:cxnSpLocks/>
            </p:cNvCxnSpPr>
            <p:nvPr>
              <p:custDataLst>
                <p:tags r:id="rId90"/>
              </p:custDataLst>
            </p:nvPr>
          </p:nvCxnSpPr>
          <p:spPr bwMode="auto">
            <a:xfrm>
              <a:off x="5184000" y="3608400"/>
              <a:ext cx="0" cy="720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5" name="直接箭头连接符 24">
              <a:extLst>
                <a:ext uri="{FF2B5EF4-FFF2-40B4-BE49-F238E27FC236}">
                  <a16:creationId xmlns:a16="http://schemas.microsoft.com/office/drawing/2014/main" id="{D8ADA6E7-BC84-40CA-9C1B-8DD8B1F625F9}"/>
                </a:ext>
              </a:extLst>
            </p:cNvPr>
            <p:cNvCxnSpPr>
              <a:cxnSpLocks/>
            </p:cNvCxnSpPr>
            <p:nvPr>
              <p:custDataLst>
                <p:tags r:id="rId91"/>
              </p:custDataLst>
            </p:nvPr>
          </p:nvCxnSpPr>
          <p:spPr bwMode="auto">
            <a:xfrm flipV="1">
              <a:off x="4464000" y="3853550"/>
              <a:ext cx="72000" cy="1080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990099"/>
              </a:solidFill>
              <a:prstDash val="sysDash"/>
              <a:round/>
              <a:headEnd type="none" w="med" len="med"/>
              <a:tailEnd type="triangle" w="sm" len="sm"/>
            </a:ln>
            <a:effectLst/>
          </p:spPr>
        </p:cxnSp>
        <p:sp>
          <p:nvSpPr>
            <p:cNvPr id="26" name="Text Box 213">
              <a:extLst>
                <a:ext uri="{FF2B5EF4-FFF2-40B4-BE49-F238E27FC236}">
                  <a16:creationId xmlns:a16="http://schemas.microsoft.com/office/drawing/2014/main" id="{1FF61557-4CEE-4B0E-BDFB-8701956DC602}"/>
                </a:ext>
              </a:extLst>
            </p:cNvPr>
            <p:cNvSpPr txBox="1">
              <a:spLocks noChangeArrowheads="1"/>
            </p:cNvSpPr>
            <p:nvPr>
              <p:custDataLst>
                <p:tags r:id="rId92"/>
              </p:custDataLst>
            </p:nvPr>
          </p:nvSpPr>
          <p:spPr bwMode="auto">
            <a:xfrm>
              <a:off x="4536000" y="3781550"/>
              <a:ext cx="288000" cy="72000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27" name="Text Box 213">
              <a:extLst>
                <a:ext uri="{FF2B5EF4-FFF2-40B4-BE49-F238E27FC236}">
                  <a16:creationId xmlns:a16="http://schemas.microsoft.com/office/drawing/2014/main" id="{014A24A8-3C27-41D8-8231-2F223CAEE212}"/>
                </a:ext>
              </a:extLst>
            </p:cNvPr>
            <p:cNvSpPr txBox="1">
              <a:spLocks noChangeArrowheads="1"/>
            </p:cNvSpPr>
            <p:nvPr>
              <p:custDataLst>
                <p:tags r:id="rId93"/>
              </p:custDataLst>
            </p:nvPr>
          </p:nvSpPr>
          <p:spPr bwMode="auto">
            <a:xfrm>
              <a:off x="5256000" y="3780000"/>
              <a:ext cx="252000" cy="72000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28" name="直接箭头连接符 27">
              <a:extLst>
                <a:ext uri="{FF2B5EF4-FFF2-40B4-BE49-F238E27FC236}">
                  <a16:creationId xmlns:a16="http://schemas.microsoft.com/office/drawing/2014/main" id="{595ED3B3-EF33-4B95-9713-8269EBA499CD}"/>
                </a:ext>
              </a:extLst>
            </p:cNvPr>
            <p:cNvCxnSpPr>
              <a:cxnSpLocks/>
            </p:cNvCxnSpPr>
            <p:nvPr>
              <p:custDataLst>
                <p:tags r:id="rId94"/>
              </p:custDataLst>
            </p:nvPr>
          </p:nvCxnSpPr>
          <p:spPr bwMode="auto">
            <a:xfrm>
              <a:off x="5436000" y="3781550"/>
              <a:ext cx="0" cy="720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29" name="Text Box 213">
              <a:extLst>
                <a:ext uri="{FF2B5EF4-FFF2-40B4-BE49-F238E27FC236}">
                  <a16:creationId xmlns:a16="http://schemas.microsoft.com/office/drawing/2014/main" id="{BA25AD58-7680-451F-B69D-E5DF485718C2}"/>
                </a:ext>
              </a:extLst>
            </p:cNvPr>
            <p:cNvSpPr txBox="1">
              <a:spLocks noChangeArrowheads="1"/>
            </p:cNvSpPr>
            <p:nvPr>
              <p:custDataLst>
                <p:tags r:id="rId95"/>
              </p:custDataLst>
            </p:nvPr>
          </p:nvSpPr>
          <p:spPr bwMode="auto">
            <a:xfrm>
              <a:off x="5508000" y="3961550"/>
              <a:ext cx="180000" cy="72000"/>
            </a:xfrm>
            <a:prstGeom prst="rect">
              <a:avLst/>
            </a:prstGeom>
            <a:solidFill>
              <a:srgbClr val="CC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30" name="直接箭头连接符 29">
              <a:extLst>
                <a:ext uri="{FF2B5EF4-FFF2-40B4-BE49-F238E27FC236}">
                  <a16:creationId xmlns:a16="http://schemas.microsoft.com/office/drawing/2014/main" id="{1C2F312E-B34F-4915-862A-76C02B803B39}"/>
                </a:ext>
              </a:extLst>
            </p:cNvPr>
            <p:cNvCxnSpPr>
              <a:cxnSpLocks/>
            </p:cNvCxnSpPr>
            <p:nvPr>
              <p:custDataLst>
                <p:tags r:id="rId96"/>
              </p:custDataLst>
            </p:nvPr>
          </p:nvCxnSpPr>
          <p:spPr bwMode="auto">
            <a:xfrm>
              <a:off x="5472000" y="3853550"/>
              <a:ext cx="36000" cy="10800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C00000"/>
              </a:solidFill>
              <a:prstDash val="sysDash"/>
              <a:round/>
              <a:headEnd type="none" w="med" len="med"/>
              <a:tailEnd type="triangle" w="sm" len="sm"/>
            </a:ln>
            <a:effectLst/>
          </p:spPr>
        </p:cxnSp>
        <p:cxnSp>
          <p:nvCxnSpPr>
            <p:cNvPr id="31" name="直接箭头连接符 30">
              <a:extLst>
                <a:ext uri="{FF2B5EF4-FFF2-40B4-BE49-F238E27FC236}">
                  <a16:creationId xmlns:a16="http://schemas.microsoft.com/office/drawing/2014/main" id="{F4FCF70D-B426-4757-ACD6-131A653FFBEE}"/>
                </a:ext>
              </a:extLst>
            </p:cNvPr>
            <p:cNvCxnSpPr>
              <a:cxnSpLocks/>
            </p:cNvCxnSpPr>
            <p:nvPr>
              <p:custDataLst>
                <p:tags r:id="rId97"/>
              </p:custDataLst>
            </p:nvPr>
          </p:nvCxnSpPr>
          <p:spPr bwMode="auto">
            <a:xfrm flipV="1">
              <a:off x="4788000" y="4032000"/>
              <a:ext cx="0" cy="12600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sm" len="sm"/>
            </a:ln>
            <a:effectLst/>
          </p:spPr>
        </p:cxnSp>
        <p:sp>
          <p:nvSpPr>
            <p:cNvPr id="32" name="Text Box 177">
              <a:extLst>
                <a:ext uri="{FF2B5EF4-FFF2-40B4-BE49-F238E27FC236}">
                  <a16:creationId xmlns:a16="http://schemas.microsoft.com/office/drawing/2014/main" id="{BD4B3925-0649-44DD-B994-87652BB0F931}"/>
                </a:ext>
              </a:extLst>
            </p:cNvPr>
            <p:cNvSpPr txBox="1">
              <a:spLocks noChangeArrowheads="1"/>
            </p:cNvSpPr>
            <p:nvPr>
              <p:custDataLst>
                <p:tags r:id="rId98"/>
              </p:custDataLst>
            </p:nvPr>
          </p:nvSpPr>
          <p:spPr bwMode="auto">
            <a:xfrm>
              <a:off x="5832000" y="3420000"/>
              <a:ext cx="2592000" cy="1080000"/>
            </a:xfrm>
            <a:prstGeom prst="rect">
              <a:avLst/>
            </a:prstGeom>
            <a:noFill/>
            <a:ln w="38100">
              <a:noFill/>
              <a:miter lim="800000"/>
            </a:ln>
            <a:effectLst/>
          </p:spPr>
          <p:txBody>
            <a:bodyPr lIns="18000" tIns="0" rIns="18000" bIns="0" anchor="t" anchorCtr="0"/>
            <a:lstStyle/>
            <a:p>
              <a:pPr algn="l" eaLnBrk="0" hangingPunct="0">
                <a:lnSpc>
                  <a:spcPct val="90000"/>
                </a:lnSpc>
              </a:pPr>
              <a:r>
                <a:rPr lang="zh-CN" altLang="en-US" sz="1600" b="1" u="sng" dirty="0">
                  <a:solidFill>
                    <a:srgbClr val="0070C0"/>
                  </a:solidFill>
                  <a:latin typeface="宋体" panose="02010600030101010101" pitchFamily="2" charset="-122"/>
                </a:rPr>
                <a:t>响应优先级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例：①→③递减</a:t>
              </a:r>
              <a:endParaRPr lang="en-US" altLang="zh-CN" sz="1600" b="1" dirty="0">
                <a:latin typeface="宋体" panose="02010600030101010101" pitchFamily="2" charset="-122"/>
              </a:endParaRPr>
            </a:p>
            <a:p>
              <a:pPr algn="l" eaLnBrk="0" hangingPunct="0">
                <a:lnSpc>
                  <a:spcPct val="90000"/>
                </a:lnSpc>
              </a:pPr>
              <a:r>
                <a:rPr lang="zh-CN" altLang="en-US" sz="1600" b="1" u="sng" dirty="0">
                  <a:solidFill>
                    <a:srgbClr val="0070C0"/>
                  </a:solidFill>
                  <a:latin typeface="宋体" panose="02010600030101010101" pitchFamily="2" charset="-122"/>
                </a:rPr>
                <a:t>处理优先级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例：</a:t>
              </a:r>
              <a:endParaRPr lang="en-US" altLang="zh-CN" sz="1600" b="1" dirty="0">
                <a:latin typeface="宋体" panose="02010600030101010101" pitchFamily="2" charset="-122"/>
              </a:endParaRPr>
            </a:p>
            <a:p>
              <a:pPr algn="l" eaLnBrk="0" hangingPunct="0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  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①时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—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禁止②③   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000</a:t>
              </a:r>
            </a:p>
            <a:p>
              <a:pPr algn="l" eaLnBrk="0" hangingPunct="0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  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②时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—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允许①     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001</a:t>
              </a:r>
            </a:p>
            <a:p>
              <a:pPr algn="l" eaLnBrk="0" hangingPunct="0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  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③时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—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允许①②   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011</a:t>
              </a:r>
            </a:p>
          </p:txBody>
        </p:sp>
      </p:grp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D2C13235-334C-4572-BC10-3C8BEA95ED11}"/>
              </a:ext>
            </a:extLst>
          </p:cNvPr>
          <p:cNvGrpSpPr/>
          <p:nvPr/>
        </p:nvGrpSpPr>
        <p:grpSpPr>
          <a:xfrm>
            <a:off x="1044000" y="4437112"/>
            <a:ext cx="7739133" cy="1800348"/>
            <a:chOff x="1116866" y="3501008"/>
            <a:chExt cx="7739133" cy="1800348"/>
          </a:xfrm>
        </p:grpSpPr>
        <p:grpSp>
          <p:nvGrpSpPr>
            <p:cNvPr id="55" name="组合 54">
              <a:extLst>
                <a:ext uri="{FF2B5EF4-FFF2-40B4-BE49-F238E27FC236}">
                  <a16:creationId xmlns:a16="http://schemas.microsoft.com/office/drawing/2014/main" id="{2BCC2046-999C-4AC3-9FF0-AD3978F89183}"/>
                </a:ext>
              </a:extLst>
            </p:cNvPr>
            <p:cNvGrpSpPr/>
            <p:nvPr/>
          </p:nvGrpSpPr>
          <p:grpSpPr>
            <a:xfrm>
              <a:off x="1116866" y="3501008"/>
              <a:ext cx="7739133" cy="1800000"/>
              <a:chOff x="1062891" y="3897024"/>
              <a:chExt cx="7739133" cy="1800000"/>
            </a:xfrm>
          </p:grpSpPr>
          <p:sp>
            <p:nvSpPr>
              <p:cNvPr id="92" name="Rectangle 351">
                <a:extLst>
                  <a:ext uri="{FF2B5EF4-FFF2-40B4-BE49-F238E27FC236}">
                    <a16:creationId xmlns:a16="http://schemas.microsoft.com/office/drawing/2014/main" id="{9B004408-E315-4A34-9D9F-0FD37B9B5FDE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53"/>
                </p:custDataLst>
              </p:nvPr>
            </p:nvSpPr>
            <p:spPr bwMode="auto">
              <a:xfrm>
                <a:off x="1638891" y="4257024"/>
                <a:ext cx="1728000" cy="900000"/>
              </a:xfrm>
              <a:prstGeom prst="rect">
                <a:avLst/>
              </a:prstGeom>
              <a:solidFill>
                <a:srgbClr val="CCFFFF"/>
              </a:solidFill>
              <a:ln w="19050">
                <a:noFill/>
                <a:prstDash val="solid"/>
                <a:miter lim="800000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3" name="Rectangle 351">
                <a:extLst>
                  <a:ext uri="{FF2B5EF4-FFF2-40B4-BE49-F238E27FC236}">
                    <a16:creationId xmlns:a16="http://schemas.microsoft.com/office/drawing/2014/main" id="{8C06899D-8544-4077-A0EE-A4F98B7D14DD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54"/>
                </p:custDataLst>
              </p:nvPr>
            </p:nvSpPr>
            <p:spPr bwMode="auto">
              <a:xfrm>
                <a:off x="3366891" y="4257024"/>
                <a:ext cx="3456000" cy="1440000"/>
              </a:xfrm>
              <a:prstGeom prst="rect">
                <a:avLst/>
              </a:prstGeom>
              <a:solidFill>
                <a:srgbClr val="CCFFFF"/>
              </a:solidFill>
              <a:ln w="19050">
                <a:noFill/>
                <a:prstDash val="solid"/>
                <a:miter lim="800000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4" name="Rectangle 351">
                <a:extLst>
                  <a:ext uri="{FF2B5EF4-FFF2-40B4-BE49-F238E27FC236}">
                    <a16:creationId xmlns:a16="http://schemas.microsoft.com/office/drawing/2014/main" id="{9FE6DF53-B952-434F-9CE9-F59A85D9E77F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55"/>
                </p:custDataLst>
              </p:nvPr>
            </p:nvSpPr>
            <p:spPr bwMode="auto">
              <a:xfrm>
                <a:off x="6822025" y="4257024"/>
                <a:ext cx="1404000" cy="1440000"/>
              </a:xfrm>
              <a:prstGeom prst="rect">
                <a:avLst/>
              </a:prstGeom>
              <a:solidFill>
                <a:srgbClr val="99CCFF"/>
              </a:solidFill>
              <a:ln w="12700">
                <a:noFill/>
                <a:prstDash val="sysDash"/>
                <a:miter lim="800000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5" name="Rectangle 351">
                <a:extLst>
                  <a:ext uri="{FF2B5EF4-FFF2-40B4-BE49-F238E27FC236}">
                    <a16:creationId xmlns:a16="http://schemas.microsoft.com/office/drawing/2014/main" id="{C5AD049E-5C91-473C-9DAE-43995460E8C1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56"/>
                </p:custDataLst>
              </p:nvPr>
            </p:nvSpPr>
            <p:spPr bwMode="auto">
              <a:xfrm>
                <a:off x="1638891" y="5157024"/>
                <a:ext cx="1728000" cy="540000"/>
              </a:xfrm>
              <a:prstGeom prst="rect">
                <a:avLst/>
              </a:prstGeom>
              <a:solidFill>
                <a:srgbClr val="CCCCFF"/>
              </a:solidFill>
              <a:ln w="12700">
                <a:noFill/>
                <a:prstDash val="sysDash"/>
                <a:miter lim="800000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6" name="Text Box 99">
                <a:extLst>
                  <a:ext uri="{FF2B5EF4-FFF2-40B4-BE49-F238E27FC236}">
                    <a16:creationId xmlns:a16="http://schemas.microsoft.com/office/drawing/2014/main" id="{44BDB05D-4EA7-4BEE-9B75-8E03ECE3B098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57"/>
                </p:custDataLst>
              </p:nvPr>
            </p:nvSpPr>
            <p:spPr bwMode="auto">
              <a:xfrm>
                <a:off x="4482515" y="3897024"/>
                <a:ext cx="3240000" cy="216000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lIns="18000" tIns="10800" rIns="18000" bIns="10800" anchor="ctr"/>
              <a:lstStyle/>
              <a:p>
                <a:pPr algn="l"/>
                <a:r>
                  <a:rPr lang="zh-CN" altLang="en-US" sz="1600" b="1" dirty="0">
                    <a:latin typeface="宋体" panose="02010600030101010101" pitchFamily="2" charset="-122"/>
                  </a:rPr>
                  <a:t>中断响应</a:t>
                </a:r>
                <a:r>
                  <a:rPr lang="en-US" altLang="zh-CN" sz="1600" b="1" dirty="0">
                    <a:latin typeface="宋体" panose="02010600030101010101" pitchFamily="2" charset="-122"/>
                  </a:rPr>
                  <a:t>INTA       </a:t>
                </a:r>
                <a:r>
                  <a:rPr lang="zh-CN" altLang="en-US" sz="1600" b="1" dirty="0">
                    <a:latin typeface="宋体" panose="02010600030101010101" pitchFamily="2" charset="-122"/>
                  </a:rPr>
                  <a:t>中断请求</a:t>
                </a:r>
                <a:r>
                  <a:rPr lang="en-US" altLang="zh-CN" sz="1600" b="1" dirty="0">
                    <a:latin typeface="宋体" panose="02010600030101010101" pitchFamily="2" charset="-122"/>
                  </a:rPr>
                  <a:t>INTR</a:t>
                </a:r>
              </a:p>
            </p:txBody>
          </p:sp>
          <p:sp>
            <p:nvSpPr>
              <p:cNvPr id="97" name="Text Box 109">
                <a:extLst>
                  <a:ext uri="{FF2B5EF4-FFF2-40B4-BE49-F238E27FC236}">
                    <a16:creationId xmlns:a16="http://schemas.microsoft.com/office/drawing/2014/main" id="{5823CB2F-032D-4F42-9CAF-F1CDB30C3F01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58"/>
                </p:custDataLst>
              </p:nvPr>
            </p:nvSpPr>
            <p:spPr bwMode="auto">
              <a:xfrm>
                <a:off x="8406024" y="4977024"/>
                <a:ext cx="396000" cy="216000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lIns="18000" tIns="10800" rIns="18000" bIns="10800" anchor="ctr"/>
              <a:lstStyle/>
              <a:p>
                <a:pPr algn="l"/>
                <a:r>
                  <a:rPr lang="en-US" altLang="zh-CN" sz="1600" b="1" dirty="0">
                    <a:latin typeface="宋体" panose="02010600030101010101" pitchFamily="2" charset="-122"/>
                  </a:rPr>
                  <a:t>IR0</a:t>
                </a:r>
              </a:p>
            </p:txBody>
          </p:sp>
          <p:sp>
            <p:nvSpPr>
              <p:cNvPr id="98" name="Text Box 110">
                <a:extLst>
                  <a:ext uri="{FF2B5EF4-FFF2-40B4-BE49-F238E27FC236}">
                    <a16:creationId xmlns:a16="http://schemas.microsoft.com/office/drawing/2014/main" id="{9BA2D2BB-7232-4910-B1F0-FAC9C7700AE1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59"/>
                </p:custDataLst>
              </p:nvPr>
            </p:nvSpPr>
            <p:spPr bwMode="auto">
              <a:xfrm>
                <a:off x="8406024" y="5265024"/>
                <a:ext cx="396000" cy="216000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lIns="18000" tIns="10800" rIns="18000" bIns="10800" anchor="ctr"/>
              <a:lstStyle/>
              <a:p>
                <a:pPr algn="l"/>
                <a:r>
                  <a:rPr lang="en-US" altLang="zh-CN" sz="1600" b="1" dirty="0">
                    <a:latin typeface="宋体" panose="02010600030101010101" pitchFamily="2" charset="-122"/>
                  </a:rPr>
                  <a:t>IR7</a:t>
                </a:r>
              </a:p>
            </p:txBody>
          </p:sp>
          <p:cxnSp>
            <p:nvCxnSpPr>
              <p:cNvPr id="99" name="直接连接符 98">
                <a:extLst>
                  <a:ext uri="{FF2B5EF4-FFF2-40B4-BE49-F238E27FC236}">
                    <a16:creationId xmlns:a16="http://schemas.microsoft.com/office/drawing/2014/main" id="{637C3F89-ED13-4D3D-A58B-B50722DB43A9}"/>
                  </a:ext>
                </a:extLst>
              </p:cNvPr>
              <p:cNvCxnSpPr/>
              <p:nvPr>
                <p:custDataLst>
                  <p:tags r:id="rId60"/>
                </p:custDataLst>
              </p:nvPr>
            </p:nvCxnSpPr>
            <p:spPr bwMode="auto">
              <a:xfrm>
                <a:off x="5346515" y="3911424"/>
                <a:ext cx="378000" cy="0"/>
              </a:xfrm>
              <a:prstGeom prst="line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0" name="直接箭头连接符 99">
                <a:extLst>
                  <a:ext uri="{FF2B5EF4-FFF2-40B4-BE49-F238E27FC236}">
                    <a16:creationId xmlns:a16="http://schemas.microsoft.com/office/drawing/2014/main" id="{8DD6318E-7CBF-4999-AFC2-ECE6CBC7527F}"/>
                  </a:ext>
                </a:extLst>
              </p:cNvPr>
              <p:cNvCxnSpPr/>
              <p:nvPr>
                <p:custDataLst>
                  <p:tags r:id="rId61"/>
                </p:custDataLst>
              </p:nvPr>
            </p:nvCxnSpPr>
            <p:spPr bwMode="auto">
              <a:xfrm flipV="1">
                <a:off x="7038891" y="4113024"/>
                <a:ext cx="0" cy="396000"/>
              </a:xfrm>
              <a:prstGeom prst="straightConnector1">
                <a:avLst/>
              </a:prstGeom>
              <a:noFill/>
              <a:ln w="12700" cap="flat" cmpd="sng" algn="ctr">
                <a:solidFill>
                  <a:srgbClr val="CC33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101" name="直接箭头连接符 100">
                <a:extLst>
                  <a:ext uri="{FF2B5EF4-FFF2-40B4-BE49-F238E27FC236}">
                    <a16:creationId xmlns:a16="http://schemas.microsoft.com/office/drawing/2014/main" id="{5BE133FB-4A56-435E-A63D-CCFC35F9F743}"/>
                  </a:ext>
                </a:extLst>
              </p:cNvPr>
              <p:cNvCxnSpPr/>
              <p:nvPr>
                <p:custDataLst>
                  <p:tags r:id="rId62"/>
                </p:custDataLst>
              </p:nvPr>
            </p:nvCxnSpPr>
            <p:spPr bwMode="auto">
              <a:xfrm>
                <a:off x="1530891" y="5265024"/>
                <a:ext cx="288000" cy="0"/>
              </a:xfrm>
              <a:prstGeom prst="straightConnector1">
                <a:avLst/>
              </a:prstGeom>
              <a:noFill/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2" name="直接箭头连接符 101">
                <a:extLst>
                  <a:ext uri="{FF2B5EF4-FFF2-40B4-BE49-F238E27FC236}">
                    <a16:creationId xmlns:a16="http://schemas.microsoft.com/office/drawing/2014/main" id="{1F5F7667-C0D4-460B-B0A0-9C2A130373BC}"/>
                  </a:ext>
                </a:extLst>
              </p:cNvPr>
              <p:cNvCxnSpPr/>
              <p:nvPr>
                <p:custDataLst>
                  <p:tags r:id="rId63"/>
                </p:custDataLst>
              </p:nvPr>
            </p:nvCxnSpPr>
            <p:spPr bwMode="auto">
              <a:xfrm>
                <a:off x="1530891" y="5409024"/>
                <a:ext cx="288000" cy="0"/>
              </a:xfrm>
              <a:prstGeom prst="straightConnector1">
                <a:avLst/>
              </a:prstGeom>
              <a:noFill/>
              <a:ln w="12700" cap="flat" cmpd="sng" algn="ctr">
                <a:solidFill>
                  <a:srgbClr val="FF3399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103" name="直接箭头连接符 102">
                <a:extLst>
                  <a:ext uri="{FF2B5EF4-FFF2-40B4-BE49-F238E27FC236}">
                    <a16:creationId xmlns:a16="http://schemas.microsoft.com/office/drawing/2014/main" id="{90F23A00-2A28-4AE0-8CB9-B3D3156719ED}"/>
                  </a:ext>
                </a:extLst>
              </p:cNvPr>
              <p:cNvCxnSpPr/>
              <p:nvPr>
                <p:custDataLst>
                  <p:tags r:id="rId64"/>
                </p:custDataLst>
              </p:nvPr>
            </p:nvCxnSpPr>
            <p:spPr bwMode="auto">
              <a:xfrm>
                <a:off x="1530891" y="5589024"/>
                <a:ext cx="288000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rgbClr val="CC33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104" name="直接箭头连接符 103">
                <a:extLst>
                  <a:ext uri="{FF2B5EF4-FFF2-40B4-BE49-F238E27FC236}">
                    <a16:creationId xmlns:a16="http://schemas.microsoft.com/office/drawing/2014/main" id="{E13B7FC4-EE43-4A07-8060-ECF56DD9F824}"/>
                  </a:ext>
                </a:extLst>
              </p:cNvPr>
              <p:cNvCxnSpPr/>
              <p:nvPr>
                <p:custDataLst>
                  <p:tags r:id="rId65"/>
                </p:custDataLst>
              </p:nvPr>
            </p:nvCxnSpPr>
            <p:spPr bwMode="auto">
              <a:xfrm>
                <a:off x="4950515" y="4113024"/>
                <a:ext cx="0" cy="144000"/>
              </a:xfrm>
              <a:prstGeom prst="straightConnector1">
                <a:avLst/>
              </a:prstGeom>
              <a:noFill/>
              <a:ln w="12700" cap="flat" cmpd="sng" algn="ctr">
                <a:solidFill>
                  <a:srgbClr val="FF3399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105" name="直接箭头连接符 104">
                <a:extLst>
                  <a:ext uri="{FF2B5EF4-FFF2-40B4-BE49-F238E27FC236}">
                    <a16:creationId xmlns:a16="http://schemas.microsoft.com/office/drawing/2014/main" id="{FFA12289-B96D-4212-ADF2-FF7876D33920}"/>
                  </a:ext>
                </a:extLst>
              </p:cNvPr>
              <p:cNvCxnSpPr/>
              <p:nvPr>
                <p:custDataLst>
                  <p:tags r:id="rId66"/>
                </p:custDataLst>
              </p:nvPr>
            </p:nvCxnSpPr>
            <p:spPr bwMode="auto">
              <a:xfrm flipH="1">
                <a:off x="8226025" y="5085024"/>
                <a:ext cx="180000" cy="0"/>
              </a:xfrm>
              <a:prstGeom prst="straightConnector1">
                <a:avLst/>
              </a:prstGeom>
              <a:noFill/>
              <a:ln w="12700" cap="flat" cmpd="sng" algn="ctr">
                <a:solidFill>
                  <a:srgbClr val="CC33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106" name="直接箭头连接符 105">
                <a:extLst>
                  <a:ext uri="{FF2B5EF4-FFF2-40B4-BE49-F238E27FC236}">
                    <a16:creationId xmlns:a16="http://schemas.microsoft.com/office/drawing/2014/main" id="{1F63B0BF-195C-4BEB-AAD4-C825E53F6C32}"/>
                  </a:ext>
                </a:extLst>
              </p:cNvPr>
              <p:cNvCxnSpPr/>
              <p:nvPr>
                <p:custDataLst>
                  <p:tags r:id="rId67"/>
                </p:custDataLst>
              </p:nvPr>
            </p:nvCxnSpPr>
            <p:spPr bwMode="auto">
              <a:xfrm flipH="1">
                <a:off x="8226025" y="5371309"/>
                <a:ext cx="180000" cy="0"/>
              </a:xfrm>
              <a:prstGeom prst="straightConnector1">
                <a:avLst/>
              </a:prstGeom>
              <a:noFill/>
              <a:ln w="12700" cap="flat" cmpd="sng" algn="ctr">
                <a:solidFill>
                  <a:srgbClr val="CC33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sp>
            <p:nvSpPr>
              <p:cNvPr id="107" name="Text Box 177">
                <a:extLst>
                  <a:ext uri="{FF2B5EF4-FFF2-40B4-BE49-F238E27FC236}">
                    <a16:creationId xmlns:a16="http://schemas.microsoft.com/office/drawing/2014/main" id="{65FE01EA-6FAC-4E3F-9604-0CC5FFC13129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68"/>
                </p:custDataLst>
              </p:nvPr>
            </p:nvSpPr>
            <p:spPr bwMode="auto">
              <a:xfrm>
                <a:off x="1062891" y="5121024"/>
                <a:ext cx="468000" cy="180000"/>
              </a:xfrm>
              <a:prstGeom prst="rect">
                <a:avLst/>
              </a:prstGeom>
              <a:noFill/>
              <a:ln w="38100">
                <a:noFill/>
                <a:miter lim="800000"/>
              </a:ln>
              <a:effectLst/>
            </p:spPr>
            <p:txBody>
              <a:bodyPr lIns="18000" tIns="10800" rIns="18000" bIns="10800" anchor="ctr"/>
              <a:lstStyle/>
              <a:p>
                <a:pPr eaLnBrk="0" hangingPunct="0">
                  <a:lnSpc>
                    <a:spcPct val="90000"/>
                  </a:lnSpc>
                </a:pPr>
                <a:r>
                  <a:rPr lang="en-US" altLang="zh-CN" sz="1600" b="1" dirty="0" err="1">
                    <a:latin typeface="宋体" panose="02010600030101010101" pitchFamily="2" charset="-122"/>
                  </a:rPr>
                  <a:t>DBus</a:t>
                </a:r>
              </a:p>
            </p:txBody>
          </p:sp>
          <p:sp>
            <p:nvSpPr>
              <p:cNvPr id="108" name="Text Box 177">
                <a:extLst>
                  <a:ext uri="{FF2B5EF4-FFF2-40B4-BE49-F238E27FC236}">
                    <a16:creationId xmlns:a16="http://schemas.microsoft.com/office/drawing/2014/main" id="{89ACD913-4B8F-4244-A40A-3680AFA504CC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69"/>
                </p:custDataLst>
              </p:nvPr>
            </p:nvSpPr>
            <p:spPr bwMode="auto">
              <a:xfrm>
                <a:off x="1062891" y="5301024"/>
                <a:ext cx="468000" cy="180000"/>
              </a:xfrm>
              <a:prstGeom prst="rect">
                <a:avLst/>
              </a:prstGeom>
              <a:noFill/>
              <a:ln w="38100">
                <a:noFill/>
                <a:miter lim="800000"/>
              </a:ln>
              <a:effectLst/>
            </p:spPr>
            <p:txBody>
              <a:bodyPr lIns="18000" tIns="10800" rIns="18000" bIns="10800" anchor="ctr"/>
              <a:lstStyle/>
              <a:p>
                <a:pPr eaLnBrk="0" hangingPunct="0">
                  <a:lnSpc>
                    <a:spcPct val="90000"/>
                  </a:lnSpc>
                </a:pPr>
                <a:r>
                  <a:rPr lang="en-US" altLang="zh-CN" sz="1600" b="1" dirty="0" err="1">
                    <a:latin typeface="宋体" panose="02010600030101010101" pitchFamily="2" charset="-122"/>
                  </a:rPr>
                  <a:t>CBus</a:t>
                </a:r>
              </a:p>
            </p:txBody>
          </p:sp>
          <p:sp>
            <p:nvSpPr>
              <p:cNvPr id="109" name="Text Box 177">
                <a:extLst>
                  <a:ext uri="{FF2B5EF4-FFF2-40B4-BE49-F238E27FC236}">
                    <a16:creationId xmlns:a16="http://schemas.microsoft.com/office/drawing/2014/main" id="{47FCEF2B-64AE-4277-B157-B36E18A033E6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70"/>
                </p:custDataLst>
              </p:nvPr>
            </p:nvSpPr>
            <p:spPr bwMode="auto">
              <a:xfrm>
                <a:off x="1062891" y="5517024"/>
                <a:ext cx="468000" cy="180000"/>
              </a:xfrm>
              <a:prstGeom prst="rect">
                <a:avLst/>
              </a:prstGeom>
              <a:noFill/>
              <a:ln w="38100">
                <a:noFill/>
                <a:miter lim="800000"/>
              </a:ln>
              <a:effectLst/>
            </p:spPr>
            <p:txBody>
              <a:bodyPr lIns="18000" tIns="10800" rIns="18000" bIns="10800" anchor="ctr"/>
              <a:lstStyle/>
              <a:p>
                <a:pPr eaLnBrk="0" hangingPunct="0">
                  <a:lnSpc>
                    <a:spcPct val="90000"/>
                  </a:lnSpc>
                </a:pPr>
                <a:r>
                  <a:rPr lang="en-US" altLang="zh-CN" sz="1600" b="1" dirty="0" err="1">
                    <a:latin typeface="宋体" panose="02010600030101010101" pitchFamily="2" charset="-122"/>
                  </a:rPr>
                  <a:t>ABus</a:t>
                </a:r>
              </a:p>
            </p:txBody>
          </p:sp>
          <p:sp>
            <p:nvSpPr>
              <p:cNvPr id="110" name="Rectangle 351">
                <a:extLst>
                  <a:ext uri="{FF2B5EF4-FFF2-40B4-BE49-F238E27FC236}">
                    <a16:creationId xmlns:a16="http://schemas.microsoft.com/office/drawing/2014/main" id="{BCC4CBDB-926B-4CE6-BC66-5F642DF487F5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71"/>
                </p:custDataLst>
              </p:nvPr>
            </p:nvSpPr>
            <p:spPr bwMode="auto">
              <a:xfrm>
                <a:off x="1638891" y="4257024"/>
                <a:ext cx="6588000" cy="1440000"/>
              </a:xfrm>
              <a:prstGeom prst="rect">
                <a:avLst/>
              </a:prstGeom>
              <a:noFill/>
              <a:ln w="15875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1" name="Text Box 95">
                <a:extLst>
                  <a:ext uri="{FF2B5EF4-FFF2-40B4-BE49-F238E27FC236}">
                    <a16:creationId xmlns:a16="http://schemas.microsoft.com/office/drawing/2014/main" id="{EEB4DB71-9283-4BB9-BB8B-5F2899B61F3C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72"/>
                </p:custDataLst>
              </p:nvPr>
            </p:nvSpPr>
            <p:spPr bwMode="auto">
              <a:xfrm>
                <a:off x="4050891" y="4545024"/>
                <a:ext cx="1223963" cy="288925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lIns="18000" tIns="10800" rIns="18000" bIns="10800" anchor="ctr"/>
              <a:lstStyle/>
              <a:p>
                <a:pPr algn="l"/>
                <a:r>
                  <a:rPr lang="zh-CN" altLang="en-US" sz="1800" b="1" dirty="0">
                    <a:latin typeface="宋体" panose="02010600030101010101" pitchFamily="2" charset="-122"/>
                  </a:rPr>
                  <a:t>中断控制器</a:t>
                </a:r>
              </a:p>
            </p:txBody>
          </p:sp>
        </p:grpSp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id="{3803756D-6C8C-416F-944C-C0C4645C3FF1}"/>
                </a:ext>
              </a:extLst>
            </p:cNvPr>
            <p:cNvGrpSpPr/>
            <p:nvPr/>
          </p:nvGrpSpPr>
          <p:grpSpPr>
            <a:xfrm>
              <a:off x="1692910" y="4652958"/>
              <a:ext cx="6335395" cy="647700"/>
              <a:chOff x="2666" y="7429"/>
              <a:chExt cx="9977" cy="1020"/>
            </a:xfrm>
          </p:grpSpPr>
          <p:sp>
            <p:nvSpPr>
              <p:cNvPr id="84" name="Text Box 183">
                <a:extLst>
                  <a:ext uri="{FF2B5EF4-FFF2-40B4-BE49-F238E27FC236}">
                    <a16:creationId xmlns:a16="http://schemas.microsoft.com/office/drawing/2014/main" id="{D7756D31-228E-4919-A470-E8CA2E474FFF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45"/>
                </p:custDataLst>
              </p:nvPr>
            </p:nvSpPr>
            <p:spPr bwMode="auto">
              <a:xfrm>
                <a:off x="2949" y="7673"/>
                <a:ext cx="737" cy="709"/>
              </a:xfrm>
              <a:prstGeom prst="rect">
                <a:avLst/>
              </a:prstGeom>
              <a:solidFill>
                <a:schemeClr val="bg1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10800" anchor="ctr"/>
              <a:lstStyle/>
              <a:p>
                <a:pPr algn="ctr">
                  <a:lnSpc>
                    <a:spcPct val="80000"/>
                  </a:lnSpc>
                </a:pPr>
                <a:r>
                  <a:rPr lang="zh-CN" altLang="en-US" sz="1600" b="1" dirty="0">
                    <a:latin typeface="宋体" panose="02010600030101010101" pitchFamily="2" charset="-122"/>
                  </a:rPr>
                  <a:t>接口逻辑</a:t>
                </a:r>
              </a:p>
            </p:txBody>
          </p:sp>
          <p:sp>
            <p:nvSpPr>
              <p:cNvPr id="85" name="Text Box 183">
                <a:extLst>
                  <a:ext uri="{FF2B5EF4-FFF2-40B4-BE49-F238E27FC236}">
                    <a16:creationId xmlns:a16="http://schemas.microsoft.com/office/drawing/2014/main" id="{BE2DB366-2563-4BDC-AD61-E573650F7791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46"/>
                </p:custDataLst>
              </p:nvPr>
            </p:nvSpPr>
            <p:spPr bwMode="auto">
              <a:xfrm>
                <a:off x="3913" y="7713"/>
                <a:ext cx="1361" cy="340"/>
              </a:xfrm>
              <a:prstGeom prst="rect">
                <a:avLst/>
              </a:prstGeom>
              <a:solidFill>
                <a:srgbClr val="FFCC99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7780" rIns="18000" bIns="0" anchor="ctr"/>
              <a:lstStyle/>
              <a:p>
                <a:pPr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en-US" sz="1600" b="1" dirty="0">
                    <a:latin typeface="宋体" panose="02010600030101010101" pitchFamily="2" charset="-122"/>
                  </a:rPr>
                  <a:t>其他端口</a:t>
                </a:r>
              </a:p>
            </p:txBody>
          </p:sp>
          <p:cxnSp>
            <p:nvCxnSpPr>
              <p:cNvPr id="86" name="直接箭头连接符 85">
                <a:extLst>
                  <a:ext uri="{FF2B5EF4-FFF2-40B4-BE49-F238E27FC236}">
                    <a16:creationId xmlns:a16="http://schemas.microsoft.com/office/drawing/2014/main" id="{04EE72E8-4633-48CA-AAA3-2284DFD853AA}"/>
                  </a:ext>
                </a:extLst>
              </p:cNvPr>
              <p:cNvCxnSpPr/>
              <p:nvPr>
                <p:custDataLst>
                  <p:tags r:id="rId47"/>
                </p:custDataLst>
              </p:nvPr>
            </p:nvCxnSpPr>
            <p:spPr bwMode="auto">
              <a:xfrm flipV="1">
                <a:off x="4593" y="7429"/>
                <a:ext cx="0" cy="283"/>
              </a:xfrm>
              <a:prstGeom prst="straightConnector1">
                <a:avLst/>
              </a:prstGeom>
              <a:noFill/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87" name="直接箭头连接符 86">
                <a:extLst>
                  <a:ext uri="{FF2B5EF4-FFF2-40B4-BE49-F238E27FC236}">
                    <a16:creationId xmlns:a16="http://schemas.microsoft.com/office/drawing/2014/main" id="{E387A831-E035-4E0E-8D95-0B474B5EFFEF}"/>
                  </a:ext>
                </a:extLst>
              </p:cNvPr>
              <p:cNvCxnSpPr/>
              <p:nvPr>
                <p:custDataLst>
                  <p:tags r:id="rId48"/>
                </p:custDataLst>
              </p:nvPr>
            </p:nvCxnSpPr>
            <p:spPr bwMode="auto">
              <a:xfrm>
                <a:off x="3686" y="7883"/>
                <a:ext cx="227" cy="0"/>
              </a:xfrm>
              <a:prstGeom prst="straightConnector1">
                <a:avLst/>
              </a:prstGeom>
              <a:noFill/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8" name="直接箭头连接符 87">
                <a:extLst>
                  <a:ext uri="{FF2B5EF4-FFF2-40B4-BE49-F238E27FC236}">
                    <a16:creationId xmlns:a16="http://schemas.microsoft.com/office/drawing/2014/main" id="{97E28580-D134-4F63-BCFB-62A4B967A63B}"/>
                  </a:ext>
                </a:extLst>
              </p:cNvPr>
              <p:cNvCxnSpPr/>
              <p:nvPr>
                <p:custDataLst>
                  <p:tags r:id="rId49"/>
                </p:custDataLst>
              </p:nvPr>
            </p:nvCxnSpPr>
            <p:spPr bwMode="auto">
              <a:xfrm flipH="1">
                <a:off x="3686" y="8336"/>
                <a:ext cx="8957" cy="0"/>
              </a:xfrm>
              <a:prstGeom prst="straightConnector1">
                <a:avLst/>
              </a:prstGeom>
              <a:noFill/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89" name="直接箭头连接符 88">
                <a:extLst>
                  <a:ext uri="{FF2B5EF4-FFF2-40B4-BE49-F238E27FC236}">
                    <a16:creationId xmlns:a16="http://schemas.microsoft.com/office/drawing/2014/main" id="{ABC5FEAF-C099-4449-8C59-8EE04E593624}"/>
                  </a:ext>
                </a:extLst>
              </p:cNvPr>
              <p:cNvCxnSpPr/>
              <p:nvPr>
                <p:custDataLst>
                  <p:tags r:id="rId50"/>
                </p:custDataLst>
              </p:nvPr>
            </p:nvCxnSpPr>
            <p:spPr bwMode="auto">
              <a:xfrm>
                <a:off x="12643" y="8053"/>
                <a:ext cx="0" cy="283"/>
              </a:xfrm>
              <a:prstGeom prst="straightConnector1">
                <a:avLst/>
              </a:prstGeom>
              <a:noFill/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0" name="直接连接符 89">
                <a:extLst>
                  <a:ext uri="{FF2B5EF4-FFF2-40B4-BE49-F238E27FC236}">
                    <a16:creationId xmlns:a16="http://schemas.microsoft.com/office/drawing/2014/main" id="{ADD5F008-02AE-4383-9729-7131BA6174AC}"/>
                  </a:ext>
                </a:extLst>
              </p:cNvPr>
              <p:cNvCxnSpPr/>
              <p:nvPr>
                <p:custDataLst>
                  <p:tags r:id="rId51"/>
                </p:custDataLst>
              </p:nvPr>
            </p:nvCxnSpPr>
            <p:spPr bwMode="auto">
              <a:xfrm>
                <a:off x="2666" y="7599"/>
                <a:ext cx="2721" cy="0"/>
              </a:xfrm>
              <a:prstGeom prst="line">
                <a:avLst/>
              </a:prstGeom>
              <a:noFill/>
              <a:ln w="12700" cap="flat" cmpd="sng" algn="ctr">
                <a:solidFill>
                  <a:srgbClr val="0070C0"/>
                </a:solidFill>
                <a:prstDash val="sysDash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1" name="直接连接符 90">
                <a:extLst>
                  <a:ext uri="{FF2B5EF4-FFF2-40B4-BE49-F238E27FC236}">
                    <a16:creationId xmlns:a16="http://schemas.microsoft.com/office/drawing/2014/main" id="{6F124698-070F-4853-91E7-B111A1707D4D}"/>
                  </a:ext>
                </a:extLst>
              </p:cNvPr>
              <p:cNvCxnSpPr/>
              <p:nvPr>
                <p:custDataLst>
                  <p:tags r:id="rId52"/>
                </p:custDataLst>
              </p:nvPr>
            </p:nvCxnSpPr>
            <p:spPr bwMode="auto">
              <a:xfrm>
                <a:off x="5387" y="7599"/>
                <a:ext cx="0" cy="850"/>
              </a:xfrm>
              <a:prstGeom prst="line">
                <a:avLst/>
              </a:prstGeom>
              <a:noFill/>
              <a:ln w="12700" cap="flat" cmpd="sng" algn="ctr">
                <a:solidFill>
                  <a:srgbClr val="0070C0"/>
                </a:solidFill>
                <a:prstDash val="sysDash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57" name="组合 56">
              <a:extLst>
                <a:ext uri="{FF2B5EF4-FFF2-40B4-BE49-F238E27FC236}">
                  <a16:creationId xmlns:a16="http://schemas.microsoft.com/office/drawing/2014/main" id="{0D6513C3-116E-4FF6-AA83-4C1DC2627F45}"/>
                </a:ext>
              </a:extLst>
            </p:cNvPr>
            <p:cNvGrpSpPr/>
            <p:nvPr/>
          </p:nvGrpSpPr>
          <p:grpSpPr>
            <a:xfrm>
              <a:off x="1800860" y="3860958"/>
              <a:ext cx="6335395" cy="1188085"/>
              <a:chOff x="3062" y="6860"/>
              <a:chExt cx="9977" cy="1871"/>
            </a:xfrm>
          </p:grpSpPr>
          <p:sp>
            <p:nvSpPr>
              <p:cNvPr id="70" name="Text Box 100">
                <a:extLst>
                  <a:ext uri="{FF2B5EF4-FFF2-40B4-BE49-F238E27FC236}">
                    <a16:creationId xmlns:a16="http://schemas.microsoft.com/office/drawing/2014/main" id="{460D7DD4-1EC4-46A4-A2CE-99EA34CF2F84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31"/>
                </p:custDataLst>
              </p:nvPr>
            </p:nvSpPr>
            <p:spPr bwMode="auto">
              <a:xfrm>
                <a:off x="9695" y="8051"/>
                <a:ext cx="1134" cy="680"/>
              </a:xfrm>
              <a:prstGeom prst="rect">
                <a:avLst/>
              </a:prstGeom>
              <a:solidFill>
                <a:srgbClr val="FFFF99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1080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zh-CN" altLang="en-US" sz="1600" b="1" dirty="0">
                    <a:latin typeface="宋体" panose="02010600030101010101" pitchFamily="2" charset="-122"/>
                  </a:rPr>
                  <a:t>排队器</a:t>
                </a:r>
                <a:endParaRPr lang="en-US" altLang="zh-CN" sz="1600" b="1" dirty="0">
                  <a:latin typeface="宋体" panose="02010600030101010101" pitchFamily="2" charset="-122"/>
                </a:endParaRPr>
              </a:p>
              <a:p>
                <a:pPr algn="ctr">
                  <a:lnSpc>
                    <a:spcPct val="90000"/>
                  </a:lnSpc>
                </a:pPr>
                <a:r>
                  <a:rPr lang="en-US" altLang="zh-CN" sz="1400" b="1" dirty="0">
                    <a:latin typeface="宋体" panose="02010600030101010101" pitchFamily="2" charset="-122"/>
                  </a:rPr>
                  <a:t>(</a:t>
                </a:r>
                <a:r>
                  <a:rPr lang="zh-CN" altLang="en-US" sz="1400" b="1" dirty="0">
                    <a:latin typeface="宋体" panose="02010600030101010101" pitchFamily="2" charset="-122"/>
                  </a:rPr>
                  <a:t>编码器</a:t>
                </a:r>
                <a:r>
                  <a:rPr lang="en-US" altLang="zh-CN" sz="1400" b="1" dirty="0">
                    <a:latin typeface="宋体" panose="02010600030101010101" pitchFamily="2" charset="-122"/>
                  </a:rPr>
                  <a:t>)</a:t>
                </a:r>
              </a:p>
            </p:txBody>
          </p:sp>
          <p:sp>
            <p:nvSpPr>
              <p:cNvPr id="71" name="Text Box 116">
                <a:extLst>
                  <a:ext uri="{FF2B5EF4-FFF2-40B4-BE49-F238E27FC236}">
                    <a16:creationId xmlns:a16="http://schemas.microsoft.com/office/drawing/2014/main" id="{22226B8F-B8D5-42AD-9986-0F20B195EDC3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32"/>
                </p:custDataLst>
              </p:nvPr>
            </p:nvSpPr>
            <p:spPr bwMode="auto">
              <a:xfrm>
                <a:off x="12642" y="6945"/>
                <a:ext cx="397" cy="709"/>
              </a:xfrm>
              <a:prstGeom prst="rect">
                <a:avLst/>
              </a:prstGeom>
              <a:solidFill>
                <a:srgbClr val="FFFF99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vert="eaVert" lIns="18000" tIns="0" rIns="18000" bIns="0" anchor="ctr" anchorCtr="1"/>
              <a:lstStyle/>
              <a:p>
                <a:pPr>
                  <a:lnSpc>
                    <a:spcPct val="90000"/>
                  </a:lnSpc>
                </a:pPr>
                <a:r>
                  <a:rPr lang="zh-CN" altLang="en-US" sz="1600" b="1" dirty="0">
                    <a:latin typeface="宋体" panose="02010600030101010101" pitchFamily="2" charset="-122"/>
                  </a:rPr>
                  <a:t>复位</a:t>
                </a:r>
              </a:p>
            </p:txBody>
          </p:sp>
          <p:sp>
            <p:nvSpPr>
              <p:cNvPr id="72" name="Text Box 183">
                <a:extLst>
                  <a:ext uri="{FF2B5EF4-FFF2-40B4-BE49-F238E27FC236}">
                    <a16:creationId xmlns:a16="http://schemas.microsoft.com/office/drawing/2014/main" id="{C55FAE16-2A6A-441C-A927-8F658A6CEAFC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33"/>
                </p:custDataLst>
              </p:nvPr>
            </p:nvSpPr>
            <p:spPr bwMode="auto">
              <a:xfrm>
                <a:off x="3799" y="7427"/>
                <a:ext cx="1701" cy="680"/>
              </a:xfrm>
              <a:prstGeom prst="rect">
                <a:avLst/>
              </a:prstGeom>
              <a:solidFill>
                <a:srgbClr val="FFFF99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0" anchor="ctr"/>
              <a:lstStyle/>
              <a:p>
                <a:pPr algn="ctr">
                  <a:lnSpc>
                    <a:spcPct val="80000"/>
                  </a:lnSpc>
                </a:pPr>
                <a:r>
                  <a:rPr lang="zh-CN" altLang="en-US" sz="1600" b="1" dirty="0">
                    <a:latin typeface="宋体" panose="02010600030101010101" pitchFamily="2" charset="-122"/>
                  </a:rPr>
                  <a:t>中断类型号</a:t>
                </a:r>
                <a:endParaRPr lang="en-US" altLang="zh-CN" sz="1600" b="1" dirty="0">
                  <a:latin typeface="宋体" panose="02010600030101010101" pitchFamily="2" charset="-122"/>
                </a:endParaRPr>
              </a:p>
              <a:p>
                <a:pPr algn="ctr">
                  <a:lnSpc>
                    <a:spcPct val="80000"/>
                  </a:lnSpc>
                </a:pPr>
                <a:r>
                  <a:rPr lang="zh-CN" altLang="en-US" sz="1600" b="1" dirty="0">
                    <a:latin typeface="宋体" panose="02010600030101010101" pitchFamily="2" charset="-122"/>
                  </a:rPr>
                  <a:t>形成逻辑</a:t>
                </a:r>
              </a:p>
            </p:txBody>
          </p:sp>
          <p:cxnSp>
            <p:nvCxnSpPr>
              <p:cNvPr id="73" name="直接箭头连接符 72">
                <a:extLst>
                  <a:ext uri="{FF2B5EF4-FFF2-40B4-BE49-F238E27FC236}">
                    <a16:creationId xmlns:a16="http://schemas.microsoft.com/office/drawing/2014/main" id="{EBCBD2EA-D0E9-4180-9044-1243A32F7EFA}"/>
                  </a:ext>
                </a:extLst>
              </p:cNvPr>
              <p:cNvCxnSpPr/>
              <p:nvPr>
                <p:custDataLst>
                  <p:tags r:id="rId34"/>
                </p:custDataLst>
              </p:nvPr>
            </p:nvCxnSpPr>
            <p:spPr bwMode="auto">
              <a:xfrm flipH="1">
                <a:off x="9298" y="8391"/>
                <a:ext cx="397" cy="0"/>
              </a:xfrm>
              <a:prstGeom prst="straightConnector1">
                <a:avLst/>
              </a:prstGeom>
              <a:noFill/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74" name="直接箭头连接符 73">
                <a:extLst>
                  <a:ext uri="{FF2B5EF4-FFF2-40B4-BE49-F238E27FC236}">
                    <a16:creationId xmlns:a16="http://schemas.microsoft.com/office/drawing/2014/main" id="{45E3C2BE-36D2-4F2A-A975-F8F9010AAD20}"/>
                  </a:ext>
                </a:extLst>
              </p:cNvPr>
              <p:cNvCxnSpPr/>
              <p:nvPr>
                <p:custDataLst>
                  <p:tags r:id="rId35"/>
                </p:custDataLst>
              </p:nvPr>
            </p:nvCxnSpPr>
            <p:spPr bwMode="auto">
              <a:xfrm flipV="1">
                <a:off x="9525" y="7200"/>
                <a:ext cx="1" cy="1191"/>
              </a:xfrm>
              <a:prstGeom prst="straightConnector1">
                <a:avLst/>
              </a:prstGeom>
              <a:noFill/>
              <a:ln w="19050" cap="flat" cmpd="sng" algn="ctr">
                <a:solidFill>
                  <a:schemeClr val="tx1"/>
                </a:solidFill>
                <a:prstDash val="solid"/>
                <a:round/>
                <a:headEnd type="oval" w="sm" len="sm"/>
                <a:tailEnd type="oval" w="sm" len="sm"/>
              </a:ln>
            </p:spPr>
          </p:cxnSp>
          <p:sp>
            <p:nvSpPr>
              <p:cNvPr id="75" name="Text Box 107">
                <a:extLst>
                  <a:ext uri="{FF2B5EF4-FFF2-40B4-BE49-F238E27FC236}">
                    <a16:creationId xmlns:a16="http://schemas.microsoft.com/office/drawing/2014/main" id="{7F5B07A3-5601-40CE-A6C9-9697EF066191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36"/>
                </p:custDataLst>
              </p:nvPr>
            </p:nvSpPr>
            <p:spPr bwMode="auto">
              <a:xfrm>
                <a:off x="9412" y="8447"/>
                <a:ext cx="227" cy="28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none" lIns="18000" tIns="10800" rIns="18000" bIns="10800" anchor="ctr" anchorCtr="0"/>
              <a:lstStyle/>
              <a:p>
                <a:pPr>
                  <a:lnSpc>
                    <a:spcPct val="90000"/>
                  </a:lnSpc>
                </a:pPr>
                <a:r>
                  <a:rPr lang="en-US" altLang="zh-CN" sz="1600" b="1" dirty="0">
                    <a:latin typeface="宋体" panose="02010600030101010101" pitchFamily="2" charset="-122"/>
                  </a:rPr>
                  <a:t>A</a:t>
                </a:r>
              </a:p>
            </p:txBody>
          </p:sp>
          <p:cxnSp>
            <p:nvCxnSpPr>
              <p:cNvPr id="76" name="直接箭头连接符 75">
                <a:extLst>
                  <a:ext uri="{FF2B5EF4-FFF2-40B4-BE49-F238E27FC236}">
                    <a16:creationId xmlns:a16="http://schemas.microsoft.com/office/drawing/2014/main" id="{460D9B23-98DE-4180-9E67-2AE3B599B131}"/>
                  </a:ext>
                </a:extLst>
              </p:cNvPr>
              <p:cNvCxnSpPr/>
              <p:nvPr>
                <p:custDataLst>
                  <p:tags r:id="rId37"/>
                </p:custDataLst>
              </p:nvPr>
            </p:nvCxnSpPr>
            <p:spPr bwMode="auto">
              <a:xfrm>
                <a:off x="4819" y="7200"/>
                <a:ext cx="7824" cy="0"/>
              </a:xfrm>
              <a:prstGeom prst="straightConnector1">
                <a:avLst/>
              </a:prstGeom>
              <a:noFill/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77" name="直接箭头连接符 76">
                <a:extLst>
                  <a:ext uri="{FF2B5EF4-FFF2-40B4-BE49-F238E27FC236}">
                    <a16:creationId xmlns:a16="http://schemas.microsoft.com/office/drawing/2014/main" id="{1BC97533-2EFC-4079-ADD8-E8BC5AEB4070}"/>
                  </a:ext>
                </a:extLst>
              </p:cNvPr>
              <p:cNvCxnSpPr/>
              <p:nvPr>
                <p:custDataLst>
                  <p:tags r:id="rId38"/>
                </p:custDataLst>
              </p:nvPr>
            </p:nvCxnSpPr>
            <p:spPr bwMode="auto">
              <a:xfrm>
                <a:off x="3402" y="7030"/>
                <a:ext cx="9241" cy="0"/>
              </a:xfrm>
              <a:prstGeom prst="straightConnector1">
                <a:avLst/>
              </a:prstGeom>
              <a:noFill/>
              <a:ln w="12700" cap="flat" cmpd="sng" algn="ctr">
                <a:solidFill>
                  <a:srgbClr val="FF3399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78" name="直接箭头连接符 77">
                <a:extLst>
                  <a:ext uri="{FF2B5EF4-FFF2-40B4-BE49-F238E27FC236}">
                    <a16:creationId xmlns:a16="http://schemas.microsoft.com/office/drawing/2014/main" id="{45C4EBE8-548D-46C8-A909-D5498939F375}"/>
                  </a:ext>
                </a:extLst>
              </p:cNvPr>
              <p:cNvCxnSpPr/>
              <p:nvPr>
                <p:custDataLst>
                  <p:tags r:id="rId39"/>
                </p:custDataLst>
              </p:nvPr>
            </p:nvCxnSpPr>
            <p:spPr bwMode="auto">
              <a:xfrm>
                <a:off x="4819" y="7200"/>
                <a:ext cx="0" cy="227"/>
              </a:xfrm>
              <a:prstGeom prst="straightConnector1">
                <a:avLst/>
              </a:prstGeom>
              <a:noFill/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79" name="直接箭头连接符 78">
                <a:extLst>
                  <a:ext uri="{FF2B5EF4-FFF2-40B4-BE49-F238E27FC236}">
                    <a16:creationId xmlns:a16="http://schemas.microsoft.com/office/drawing/2014/main" id="{080D4BC3-B657-4E1C-A856-4EAADDE25CB8}"/>
                  </a:ext>
                </a:extLst>
              </p:cNvPr>
              <p:cNvCxnSpPr/>
              <p:nvPr>
                <p:custDataLst>
                  <p:tags r:id="rId40"/>
                </p:custDataLst>
              </p:nvPr>
            </p:nvCxnSpPr>
            <p:spPr bwMode="auto">
              <a:xfrm flipH="1" flipV="1">
                <a:off x="3062" y="7767"/>
                <a:ext cx="737" cy="0"/>
              </a:xfrm>
              <a:prstGeom prst="straightConnector1">
                <a:avLst/>
              </a:prstGeom>
              <a:noFill/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0" name="直接箭头连接符 79">
                <a:extLst>
                  <a:ext uri="{FF2B5EF4-FFF2-40B4-BE49-F238E27FC236}">
                    <a16:creationId xmlns:a16="http://schemas.microsoft.com/office/drawing/2014/main" id="{949DC2DE-AF05-4BD0-9471-D2A603AB8AE8}"/>
                  </a:ext>
                </a:extLst>
              </p:cNvPr>
              <p:cNvCxnSpPr/>
              <p:nvPr>
                <p:custDataLst>
                  <p:tags r:id="rId41"/>
                </p:custDataLst>
              </p:nvPr>
            </p:nvCxnSpPr>
            <p:spPr bwMode="auto">
              <a:xfrm>
                <a:off x="3402" y="7030"/>
                <a:ext cx="0" cy="652"/>
              </a:xfrm>
              <a:prstGeom prst="straightConnector1">
                <a:avLst/>
              </a:prstGeom>
              <a:noFill/>
              <a:ln w="12700" cap="flat" cmpd="sng" algn="ctr">
                <a:solidFill>
                  <a:srgbClr val="FF3399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81" name="直接箭头连接符 80">
                <a:extLst>
                  <a:ext uri="{FF2B5EF4-FFF2-40B4-BE49-F238E27FC236}">
                    <a16:creationId xmlns:a16="http://schemas.microsoft.com/office/drawing/2014/main" id="{B83FE4D8-2DD3-4477-AADB-0A7DB42AFE0A}"/>
                  </a:ext>
                </a:extLst>
              </p:cNvPr>
              <p:cNvCxnSpPr/>
              <p:nvPr>
                <p:custDataLst>
                  <p:tags r:id="rId42"/>
                </p:custDataLst>
              </p:nvPr>
            </p:nvCxnSpPr>
            <p:spPr bwMode="auto">
              <a:xfrm>
                <a:off x="8107" y="6860"/>
                <a:ext cx="0" cy="170"/>
              </a:xfrm>
              <a:prstGeom prst="straightConnector1">
                <a:avLst/>
              </a:prstGeom>
              <a:noFill/>
              <a:ln w="12700" cap="flat" cmpd="sng" algn="ctr">
                <a:solidFill>
                  <a:srgbClr val="FF3399"/>
                </a:solidFill>
                <a:prstDash val="solid"/>
                <a:round/>
                <a:headEnd type="none" w="sm" len="sm"/>
                <a:tailEnd type="oval" w="sm" len="sm"/>
              </a:ln>
            </p:spPr>
          </p:cxnSp>
          <p:sp>
            <p:nvSpPr>
              <p:cNvPr id="82" name="等腰三角形 81">
                <a:extLst>
                  <a:ext uri="{FF2B5EF4-FFF2-40B4-BE49-F238E27FC236}">
                    <a16:creationId xmlns:a16="http://schemas.microsoft.com/office/drawing/2014/main" id="{0532BC2B-9ADD-4BE1-A0DC-1A823B8372F9}"/>
                  </a:ext>
                </a:extLst>
              </p:cNvPr>
              <p:cNvSpPr/>
              <p:nvPr>
                <p:custDataLst>
                  <p:tags r:id="rId43"/>
                </p:custDataLst>
              </p:nvPr>
            </p:nvSpPr>
            <p:spPr bwMode="auto">
              <a:xfrm rot="16200000">
                <a:off x="3232" y="7654"/>
                <a:ext cx="340" cy="227"/>
              </a:xfrm>
              <a:prstGeom prst="triangle">
                <a:avLst/>
              </a:prstGeom>
              <a:solidFill>
                <a:schemeClr val="bg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rtlCol="0" anchor="t" anchorCtr="0" compatLnSpc="1"/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83" name="直接箭头连接符 82">
                <a:extLst>
                  <a:ext uri="{FF2B5EF4-FFF2-40B4-BE49-F238E27FC236}">
                    <a16:creationId xmlns:a16="http://schemas.microsoft.com/office/drawing/2014/main" id="{FFD01C41-0C55-4C75-9CAE-5FA4601C6B17}"/>
                  </a:ext>
                </a:extLst>
              </p:cNvPr>
              <p:cNvCxnSpPr/>
              <p:nvPr>
                <p:custDataLst>
                  <p:tags r:id="rId44"/>
                </p:custDataLst>
              </p:nvPr>
            </p:nvCxnSpPr>
            <p:spPr bwMode="auto">
              <a:xfrm>
                <a:off x="3062" y="7767"/>
                <a:ext cx="0" cy="680"/>
              </a:xfrm>
              <a:prstGeom prst="straightConnector1">
                <a:avLst/>
              </a:prstGeom>
              <a:noFill/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  <p:grpSp>
          <p:nvGrpSpPr>
            <p:cNvPr id="58" name="组合 57">
              <a:extLst>
                <a:ext uri="{FF2B5EF4-FFF2-40B4-BE49-F238E27FC236}">
                  <a16:creationId xmlns:a16="http://schemas.microsoft.com/office/drawing/2014/main" id="{B9851E98-D071-4DC5-A22A-788EFBD2494E}"/>
                </a:ext>
              </a:extLst>
            </p:cNvPr>
            <p:cNvGrpSpPr/>
            <p:nvPr/>
          </p:nvGrpSpPr>
          <p:grpSpPr>
            <a:xfrm>
              <a:off x="6732270" y="3861176"/>
              <a:ext cx="1547495" cy="1440180"/>
              <a:chOff x="10602" y="6225"/>
              <a:chExt cx="2437" cy="2268"/>
            </a:xfrm>
          </p:grpSpPr>
          <p:sp>
            <p:nvSpPr>
              <p:cNvPr id="59" name="Text Box 101">
                <a:extLst>
                  <a:ext uri="{FF2B5EF4-FFF2-40B4-BE49-F238E27FC236}">
                    <a16:creationId xmlns:a16="http://schemas.microsoft.com/office/drawing/2014/main" id="{AF0AF370-202B-451F-B42D-130BC3F40E64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20"/>
                </p:custDataLst>
              </p:nvPr>
            </p:nvSpPr>
            <p:spPr bwMode="auto">
              <a:xfrm>
                <a:off x="12302" y="7018"/>
                <a:ext cx="737" cy="1077"/>
              </a:xfrm>
              <a:prstGeom prst="rect">
                <a:avLst/>
              </a:prstGeom>
              <a:solidFill>
                <a:srgbClr val="FFCC99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0" tIns="10800" rIns="0" bIns="1080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zh-CN" altLang="en-US" sz="1600" b="1" dirty="0">
                    <a:latin typeface="宋体" panose="02010600030101010101" pitchFamily="2" charset="-122"/>
                  </a:rPr>
                  <a:t>中断</a:t>
                </a:r>
              </a:p>
              <a:p>
                <a:pPr algn="ctr">
                  <a:lnSpc>
                    <a:spcPct val="90000"/>
                  </a:lnSpc>
                </a:pPr>
                <a:r>
                  <a:rPr lang="zh-CN" altLang="en-US" sz="1600" b="1" dirty="0">
                    <a:latin typeface="宋体" panose="02010600030101010101" pitchFamily="2" charset="-122"/>
                  </a:rPr>
                  <a:t>请求</a:t>
                </a:r>
              </a:p>
              <a:p>
                <a:pPr algn="ctr">
                  <a:lnSpc>
                    <a:spcPct val="90000"/>
                  </a:lnSpc>
                </a:pPr>
                <a:r>
                  <a:rPr lang="en-US" altLang="zh-CN" sz="1600" b="1" dirty="0">
                    <a:latin typeface="宋体" panose="02010600030101010101" pitchFamily="2" charset="-122"/>
                  </a:rPr>
                  <a:t>IRR</a:t>
                </a:r>
              </a:p>
            </p:txBody>
          </p:sp>
          <p:sp>
            <p:nvSpPr>
              <p:cNvPr id="60" name="Text Box 106">
                <a:extLst>
                  <a:ext uri="{FF2B5EF4-FFF2-40B4-BE49-F238E27FC236}">
                    <a16:creationId xmlns:a16="http://schemas.microsoft.com/office/drawing/2014/main" id="{B047C611-04BD-42D1-8F75-8CFF5983E297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21"/>
                </p:custDataLst>
              </p:nvPr>
            </p:nvSpPr>
            <p:spPr bwMode="auto">
              <a:xfrm>
                <a:off x="10942" y="7132"/>
                <a:ext cx="510" cy="283"/>
              </a:xfrm>
              <a:prstGeom prst="rect">
                <a:avLst/>
              </a:prstGeom>
              <a:solidFill>
                <a:schemeClr val="bg1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1080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200" b="1" dirty="0">
                    <a:latin typeface="宋体" panose="02010600030101010101" pitchFamily="2" charset="-122"/>
                  </a:rPr>
                  <a:t>≥1</a:t>
                </a:r>
              </a:p>
            </p:txBody>
          </p:sp>
          <p:cxnSp>
            <p:nvCxnSpPr>
              <p:cNvPr id="61" name="直接箭头连接符 60">
                <a:extLst>
                  <a:ext uri="{FF2B5EF4-FFF2-40B4-BE49-F238E27FC236}">
                    <a16:creationId xmlns:a16="http://schemas.microsoft.com/office/drawing/2014/main" id="{0AF0CB80-9280-46DB-9CC6-5D3DB0E106B1}"/>
                  </a:ext>
                </a:extLst>
              </p:cNvPr>
              <p:cNvCxnSpPr/>
              <p:nvPr>
                <p:custDataLst>
                  <p:tags r:id="rId22"/>
                </p:custDataLst>
              </p:nvPr>
            </p:nvCxnSpPr>
            <p:spPr bwMode="auto">
              <a:xfrm flipH="1">
                <a:off x="10603" y="7585"/>
                <a:ext cx="1701" cy="0"/>
              </a:xfrm>
              <a:prstGeom prst="straightConnector1">
                <a:avLst/>
              </a:prstGeom>
              <a:noFill/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62" name="直接箭头连接符 61">
                <a:extLst>
                  <a:ext uri="{FF2B5EF4-FFF2-40B4-BE49-F238E27FC236}">
                    <a16:creationId xmlns:a16="http://schemas.microsoft.com/office/drawing/2014/main" id="{D65A7EFD-E9B0-44C4-9302-795C9C0793BD}"/>
                  </a:ext>
                </a:extLst>
              </p:cNvPr>
              <p:cNvCxnSpPr/>
              <p:nvPr>
                <p:custDataLst>
                  <p:tags r:id="rId23"/>
                </p:custDataLst>
              </p:nvPr>
            </p:nvCxnSpPr>
            <p:spPr bwMode="auto">
              <a:xfrm flipH="1" flipV="1">
                <a:off x="10602" y="7982"/>
                <a:ext cx="1701" cy="0"/>
              </a:xfrm>
              <a:prstGeom prst="straightConnector1">
                <a:avLst/>
              </a:prstGeom>
              <a:noFill/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63" name="直接箭头连接符 62">
                <a:extLst>
                  <a:ext uri="{FF2B5EF4-FFF2-40B4-BE49-F238E27FC236}">
                    <a16:creationId xmlns:a16="http://schemas.microsoft.com/office/drawing/2014/main" id="{4112C661-AC1E-4D06-A8F5-F0C5648EDCDD}"/>
                  </a:ext>
                </a:extLst>
              </p:cNvPr>
              <p:cNvCxnSpPr/>
              <p:nvPr>
                <p:custDataLst>
                  <p:tags r:id="rId24"/>
                </p:custDataLst>
              </p:nvPr>
            </p:nvCxnSpPr>
            <p:spPr bwMode="auto">
              <a:xfrm flipV="1">
                <a:off x="11056" y="7415"/>
                <a:ext cx="1" cy="170"/>
              </a:xfrm>
              <a:prstGeom prst="straightConnector1">
                <a:avLst/>
              </a:prstGeom>
              <a:noFill/>
              <a:ln w="12700" cap="flat" cmpd="sng" algn="ctr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</p:cxnSp>
          <p:cxnSp>
            <p:nvCxnSpPr>
              <p:cNvPr id="64" name="直接箭头连接符 63">
                <a:extLst>
                  <a:ext uri="{FF2B5EF4-FFF2-40B4-BE49-F238E27FC236}">
                    <a16:creationId xmlns:a16="http://schemas.microsoft.com/office/drawing/2014/main" id="{F2E4030A-F49A-48E4-8C9B-9E7048BEFF72}"/>
                  </a:ext>
                </a:extLst>
              </p:cNvPr>
              <p:cNvCxnSpPr/>
              <p:nvPr>
                <p:custDataLst>
                  <p:tags r:id="rId25"/>
                </p:custDataLst>
              </p:nvPr>
            </p:nvCxnSpPr>
            <p:spPr bwMode="auto">
              <a:xfrm flipV="1">
                <a:off x="11340" y="7415"/>
                <a:ext cx="0" cy="567"/>
              </a:xfrm>
              <a:prstGeom prst="straightConnector1">
                <a:avLst/>
              </a:prstGeom>
              <a:noFill/>
              <a:ln w="12700" cap="flat" cmpd="sng" algn="ctr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</p:cxnSp>
          <p:sp>
            <p:nvSpPr>
              <p:cNvPr id="65" name="Text Box 107">
                <a:extLst>
                  <a:ext uri="{FF2B5EF4-FFF2-40B4-BE49-F238E27FC236}">
                    <a16:creationId xmlns:a16="http://schemas.microsoft.com/office/drawing/2014/main" id="{D4E013F2-0DF7-41A4-A5C2-CEA2D66CC507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26"/>
                </p:custDataLst>
              </p:nvPr>
            </p:nvSpPr>
            <p:spPr bwMode="auto">
              <a:xfrm>
                <a:off x="11964" y="7585"/>
                <a:ext cx="340" cy="397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vert="vert" wrap="none" lIns="18000" tIns="10800" rIns="18000" bIns="10800" anchor="ctr" anchorCtr="0"/>
              <a:lstStyle/>
              <a:p>
                <a:r>
                  <a:rPr lang="en-US" altLang="zh-CN" sz="1600" b="1" dirty="0">
                    <a:latin typeface="+mn-ea"/>
                    <a:ea typeface="+mn-ea"/>
                  </a:rPr>
                  <a:t>…</a:t>
                </a:r>
              </a:p>
            </p:txBody>
          </p:sp>
          <p:cxnSp>
            <p:nvCxnSpPr>
              <p:cNvPr id="66" name="直接箭头连接符 65">
                <a:extLst>
                  <a:ext uri="{FF2B5EF4-FFF2-40B4-BE49-F238E27FC236}">
                    <a16:creationId xmlns:a16="http://schemas.microsoft.com/office/drawing/2014/main" id="{646CC037-09D7-4555-B522-667DCA43654D}"/>
                  </a:ext>
                </a:extLst>
              </p:cNvPr>
              <p:cNvCxnSpPr/>
              <p:nvPr>
                <p:custDataLst>
                  <p:tags r:id="rId27"/>
                </p:custDataLst>
              </p:nvPr>
            </p:nvCxnSpPr>
            <p:spPr bwMode="auto">
              <a:xfrm flipV="1">
                <a:off x="11227" y="6905"/>
                <a:ext cx="0" cy="227"/>
              </a:xfrm>
              <a:prstGeom prst="straightConnector1">
                <a:avLst/>
              </a:prstGeom>
              <a:noFill/>
              <a:ln w="12700" cap="flat" cmpd="sng" algn="ctr">
                <a:solidFill>
                  <a:srgbClr val="CC33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67" name="Text Box 107">
                <a:extLst>
                  <a:ext uri="{FF2B5EF4-FFF2-40B4-BE49-F238E27FC236}">
                    <a16:creationId xmlns:a16="http://schemas.microsoft.com/office/drawing/2014/main" id="{961FB00F-B0C9-4CE3-8624-70C30C112175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28"/>
                </p:custDataLst>
              </p:nvPr>
            </p:nvSpPr>
            <p:spPr bwMode="auto">
              <a:xfrm>
                <a:off x="10998" y="7585"/>
                <a:ext cx="340" cy="397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vert="vert" wrap="none" lIns="18000" tIns="10800" rIns="18000" bIns="10800" anchor="ctr" anchorCtr="0"/>
              <a:lstStyle/>
              <a:p>
                <a:r>
                  <a:rPr lang="en-US" altLang="zh-CN" sz="1600" b="1" dirty="0">
                    <a:latin typeface="+mn-ea"/>
                    <a:ea typeface="+mn-ea"/>
                  </a:rPr>
                  <a:t>…</a:t>
                </a:r>
              </a:p>
            </p:txBody>
          </p:sp>
          <p:cxnSp>
            <p:nvCxnSpPr>
              <p:cNvPr id="68" name="直接连接符 67">
                <a:extLst>
                  <a:ext uri="{FF2B5EF4-FFF2-40B4-BE49-F238E27FC236}">
                    <a16:creationId xmlns:a16="http://schemas.microsoft.com/office/drawing/2014/main" id="{3E30FFA7-39D9-446C-9249-BB1D93AECDB9}"/>
                  </a:ext>
                </a:extLst>
              </p:cNvPr>
              <p:cNvCxnSpPr/>
              <p:nvPr>
                <p:custDataLst>
                  <p:tags r:id="rId29"/>
                </p:custDataLst>
              </p:nvPr>
            </p:nvCxnSpPr>
            <p:spPr bwMode="auto">
              <a:xfrm>
                <a:off x="10828" y="6225"/>
                <a:ext cx="0" cy="2268"/>
              </a:xfrm>
              <a:prstGeom prst="line">
                <a:avLst/>
              </a:prstGeom>
              <a:noFill/>
              <a:ln w="12700" cap="flat" cmpd="sng" algn="ctr">
                <a:solidFill>
                  <a:srgbClr val="0070C0"/>
                </a:solidFill>
                <a:prstDash val="sysDash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9" name="直接箭头连接符 68">
                <a:extLst>
                  <a:ext uri="{FF2B5EF4-FFF2-40B4-BE49-F238E27FC236}">
                    <a16:creationId xmlns:a16="http://schemas.microsoft.com/office/drawing/2014/main" id="{6637B9C1-9091-43C2-A401-D77F0B00B971}"/>
                  </a:ext>
                </a:extLst>
              </p:cNvPr>
              <p:cNvCxnSpPr/>
              <p:nvPr>
                <p:custDataLst>
                  <p:tags r:id="rId30"/>
                </p:custDataLst>
              </p:nvPr>
            </p:nvCxnSpPr>
            <p:spPr bwMode="auto">
              <a:xfrm flipH="1" flipV="1">
                <a:off x="11170" y="6622"/>
                <a:ext cx="57" cy="283"/>
              </a:xfrm>
              <a:prstGeom prst="straightConnector1">
                <a:avLst/>
              </a:prstGeom>
              <a:noFill/>
              <a:ln w="12700" cap="flat" cmpd="sng" algn="ctr">
                <a:solidFill>
                  <a:srgbClr val="CC33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112" name="组合 111">
            <a:extLst>
              <a:ext uri="{FF2B5EF4-FFF2-40B4-BE49-F238E27FC236}">
                <a16:creationId xmlns:a16="http://schemas.microsoft.com/office/drawing/2014/main" id="{70635271-C4CA-482A-9A59-FFAAF033787F}"/>
              </a:ext>
            </a:extLst>
          </p:cNvPr>
          <p:cNvGrpSpPr/>
          <p:nvPr/>
        </p:nvGrpSpPr>
        <p:grpSpPr>
          <a:xfrm>
            <a:off x="2267855" y="5085012"/>
            <a:ext cx="5256530" cy="1026160"/>
            <a:chOff x="3347" y="7994"/>
            <a:chExt cx="8278" cy="1616"/>
          </a:xfrm>
        </p:grpSpPr>
        <p:sp>
          <p:nvSpPr>
            <p:cNvPr id="113" name="Text Box 101">
              <a:extLst>
                <a:ext uri="{FF2B5EF4-FFF2-40B4-BE49-F238E27FC236}">
                  <a16:creationId xmlns:a16="http://schemas.microsoft.com/office/drawing/2014/main" id="{F4953C31-8DE2-448C-A2C5-EEF6A8C9E344}"/>
                </a:ext>
              </a:extLst>
            </p:cNvPr>
            <p:cNvSpPr txBox="1"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11228" y="7994"/>
              <a:ext cx="397" cy="1616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vert="eaVert" lIns="0" tIns="0" rIns="0" bIns="0" anchor="ctr"/>
            <a:lstStyle/>
            <a:p>
              <a:pPr algn="l">
                <a:lnSpc>
                  <a:spcPct val="90000"/>
                </a:lnSpc>
              </a:pPr>
              <a:r>
                <a:rPr lang="zh-CN" altLang="en-US" sz="1600" b="1" spc="-200" dirty="0">
                  <a:solidFill>
                    <a:schemeClr val="tx1"/>
                  </a:solidFill>
                  <a:uFillTx/>
                  <a:latin typeface="宋体" panose="02010600030101010101" pitchFamily="2" charset="-122"/>
                </a:rPr>
                <a:t>中断屏蔽</a:t>
              </a:r>
              <a:r>
                <a:rPr lang="en-US" altLang="zh-CN" sz="1600" b="1" spc="-100" dirty="0">
                  <a:solidFill>
                    <a:schemeClr val="tx1"/>
                  </a:solidFill>
                  <a:uFillTx/>
                  <a:latin typeface="宋体" panose="02010600030101010101" pitchFamily="2" charset="-122"/>
                </a:rPr>
                <a:t>IMR</a:t>
              </a:r>
            </a:p>
          </p:txBody>
        </p:sp>
        <p:cxnSp>
          <p:nvCxnSpPr>
            <p:cNvPr id="114" name="直接箭头连接符 113">
              <a:extLst>
                <a:ext uri="{FF2B5EF4-FFF2-40B4-BE49-F238E27FC236}">
                  <a16:creationId xmlns:a16="http://schemas.microsoft.com/office/drawing/2014/main" id="{4BF69E63-17BA-46D1-9EF7-BDFD1D9329B1}"/>
                </a:ext>
              </a:extLst>
            </p:cNvPr>
            <p:cNvCxnSpPr>
              <a:cxnSpLocks/>
            </p:cNvCxnSpPr>
            <p:nvPr>
              <p:custDataLst>
                <p:tags r:id="rId19"/>
              </p:custDataLst>
            </p:nvPr>
          </p:nvCxnSpPr>
          <p:spPr bwMode="auto">
            <a:xfrm>
              <a:off x="3347" y="9525"/>
              <a:ext cx="7880" cy="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grpSp>
        <p:nvGrpSpPr>
          <p:cNvPr id="130" name="组合 129">
            <a:extLst>
              <a:ext uri="{FF2B5EF4-FFF2-40B4-BE49-F238E27FC236}">
                <a16:creationId xmlns:a16="http://schemas.microsoft.com/office/drawing/2014/main" id="{F0DCE8B8-454C-4B67-8388-CE85320C4BE8}"/>
              </a:ext>
            </a:extLst>
          </p:cNvPr>
          <p:cNvGrpSpPr/>
          <p:nvPr/>
        </p:nvGrpSpPr>
        <p:grpSpPr>
          <a:xfrm>
            <a:off x="108000" y="3033096"/>
            <a:ext cx="971616" cy="756000"/>
            <a:chOff x="-288048" y="1412776"/>
            <a:chExt cx="971616" cy="756000"/>
          </a:xfrm>
        </p:grpSpPr>
        <p:sp>
          <p:nvSpPr>
            <p:cNvPr id="131" name="左大括号 130">
              <a:extLst>
                <a:ext uri="{FF2B5EF4-FFF2-40B4-BE49-F238E27FC236}">
                  <a16:creationId xmlns:a16="http://schemas.microsoft.com/office/drawing/2014/main" id="{E2A44CE0-D424-4F66-AFC9-8EB0769801E9}"/>
                </a:ext>
              </a:extLst>
            </p:cNvPr>
            <p:cNvSpPr/>
            <p:nvPr/>
          </p:nvSpPr>
          <p:spPr bwMode="auto">
            <a:xfrm>
              <a:off x="575568" y="1412776"/>
              <a:ext cx="108000" cy="756000"/>
            </a:xfrm>
            <a:prstGeom prst="leftBrace">
              <a:avLst>
                <a:gd name="adj1" fmla="val 30113"/>
                <a:gd name="adj2" fmla="val 50000"/>
              </a:avLst>
            </a:prstGeom>
            <a:noFill/>
            <a:ln w="12700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2" name="Text Box 75">
              <a:extLst>
                <a:ext uri="{FF2B5EF4-FFF2-40B4-BE49-F238E27FC236}">
                  <a16:creationId xmlns:a16="http://schemas.microsoft.com/office/drawing/2014/main" id="{CC860946-EC37-44DE-9819-D83AB77A04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288048" y="1439680"/>
              <a:ext cx="864000" cy="72000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vert="horz"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>
                  <a:solidFill>
                    <a:srgbClr val="0070C0"/>
                  </a:solidFill>
                  <a:latin typeface="宋体" panose="02010600030101010101" pitchFamily="2" charset="-122"/>
                </a:rPr>
                <a:t>有</a:t>
              </a:r>
              <a:r>
                <a:rPr lang="en-US" altLang="zh-CN" sz="1600" b="1" dirty="0">
                  <a:solidFill>
                    <a:srgbClr val="0070C0"/>
                  </a:solidFill>
                  <a:latin typeface="宋体" panose="02010600030101010101" pitchFamily="2" charset="-122"/>
                </a:rPr>
                <a:t>2</a:t>
              </a:r>
              <a:r>
                <a:rPr lang="zh-CN" altLang="en-US" sz="1600" b="1" dirty="0">
                  <a:solidFill>
                    <a:srgbClr val="0070C0"/>
                  </a:solidFill>
                  <a:latin typeface="宋体" panose="02010600030101010101" pitchFamily="2" charset="-122"/>
                </a:rPr>
                <a:t>种</a:t>
              </a:r>
              <a:endParaRPr lang="en-US" altLang="zh-CN" sz="1600" b="1" dirty="0">
                <a:solidFill>
                  <a:srgbClr val="0070C0"/>
                </a:solidFill>
                <a:latin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</a:pPr>
              <a:r>
                <a:rPr lang="zh-CN" altLang="en-US" sz="1600" b="1" dirty="0">
                  <a:solidFill>
                    <a:srgbClr val="0070C0"/>
                  </a:solidFill>
                  <a:latin typeface="宋体" panose="02010600030101010101" pitchFamily="2" charset="-122"/>
                </a:rPr>
                <a:t>方法</a:t>
              </a:r>
              <a:endParaRPr lang="en-US" altLang="zh-CN" sz="1600" b="1" dirty="0">
                <a:solidFill>
                  <a:srgbClr val="0070C0"/>
                </a:solidFill>
                <a:latin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  <a:spcBef>
                  <a:spcPts val="300"/>
                </a:spcBef>
              </a:pPr>
              <a:r>
                <a:rPr lang="en-US" altLang="zh-CN" sz="1600" b="1" dirty="0">
                  <a:solidFill>
                    <a:srgbClr val="0070C0"/>
                  </a:solidFill>
                  <a:latin typeface="宋体" panose="02010600030101010101" pitchFamily="2" charset="-122"/>
                </a:rPr>
                <a:t>(</a:t>
              </a:r>
              <a:r>
                <a:rPr lang="zh-CN" altLang="en-US" sz="1600" b="1" dirty="0">
                  <a:solidFill>
                    <a:srgbClr val="0070C0"/>
                  </a:solidFill>
                  <a:latin typeface="宋体" panose="02010600030101010101" pitchFamily="2" charset="-122"/>
                </a:rPr>
                <a:t>常</a:t>
              </a:r>
              <a:r>
                <a:rPr lang="zh-CN" altLang="en-US" sz="1600" b="1" dirty="0">
                  <a:solidFill>
                    <a:srgbClr val="FF3399"/>
                  </a:solidFill>
                  <a:latin typeface="宋体" panose="02010600030101010101" pitchFamily="2" charset="-122"/>
                </a:rPr>
                <a:t>混用</a:t>
              </a:r>
              <a:r>
                <a:rPr lang="en-US" altLang="zh-CN" sz="1600" b="1" dirty="0">
                  <a:solidFill>
                    <a:srgbClr val="0070C0"/>
                  </a:solidFill>
                  <a:latin typeface="宋体" panose="02010600030101010101" pitchFamily="2" charset="-122"/>
                </a:rPr>
                <a:t>)</a:t>
              </a:r>
            </a:p>
          </p:txBody>
        </p:sp>
      </p:grpSp>
      <p:grpSp>
        <p:nvGrpSpPr>
          <p:cNvPr id="138" name="组合 137">
            <a:extLst>
              <a:ext uri="{FF2B5EF4-FFF2-40B4-BE49-F238E27FC236}">
                <a16:creationId xmlns:a16="http://schemas.microsoft.com/office/drawing/2014/main" id="{A8A4F275-638B-4BBA-BEB0-409B42526228}"/>
              </a:ext>
            </a:extLst>
          </p:cNvPr>
          <p:cNvGrpSpPr/>
          <p:nvPr/>
        </p:nvGrpSpPr>
        <p:grpSpPr>
          <a:xfrm>
            <a:off x="3420000" y="4905112"/>
            <a:ext cx="3708400" cy="1080770"/>
            <a:chOff x="3420000" y="5040000"/>
            <a:chExt cx="3708400" cy="1080770"/>
          </a:xfrm>
        </p:grpSpPr>
        <p:cxnSp>
          <p:nvCxnSpPr>
            <p:cNvPr id="134" name="直接箭头连接符 133">
              <a:extLst>
                <a:ext uri="{FF2B5EF4-FFF2-40B4-BE49-F238E27FC236}">
                  <a16:creationId xmlns:a16="http://schemas.microsoft.com/office/drawing/2014/main" id="{74785FC5-1E3B-44E5-8162-6F9C1C905C8D}"/>
                </a:ext>
              </a:extLst>
            </p:cNvPr>
            <p:cNvCxnSpPr/>
            <p:nvPr>
              <p:custDataLst>
                <p:tags r:id="rId4"/>
              </p:custDataLst>
            </p:nvPr>
          </p:nvCxnSpPr>
          <p:spPr bwMode="auto">
            <a:xfrm>
              <a:off x="4788000" y="5904000"/>
              <a:ext cx="216000" cy="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19" name="Text Box 185">
              <a:extLst>
                <a:ext uri="{FF2B5EF4-FFF2-40B4-BE49-F238E27FC236}">
                  <a16:creationId xmlns:a16="http://schemas.microsoft.com/office/drawing/2014/main" id="{98B378AB-5E7E-430F-84E4-FF90DE054F3B}"/>
                </a:ext>
              </a:extLst>
            </p:cNvPr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5003690" y="5688970"/>
              <a:ext cx="683895" cy="431800"/>
            </a:xfrm>
            <a:prstGeom prst="rect">
              <a:avLst/>
            </a:prstGeom>
            <a:solidFill>
              <a:srgbClr val="FFFF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10800" rIns="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比较器</a:t>
              </a:r>
              <a:endParaRPr lang="en-US" altLang="zh-CN" sz="1600" b="1" dirty="0"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lang="en-US" altLang="zh-CN" sz="1400" b="1" dirty="0">
                  <a:latin typeface="宋体" panose="02010600030101010101" pitchFamily="2" charset="-122"/>
                </a:rPr>
                <a:t>(A</a:t>
              </a:r>
              <a:r>
                <a:rPr lang="zh-CN" altLang="en-US" sz="1400" b="1" dirty="0">
                  <a:latin typeface="宋体" panose="02010600030101010101" pitchFamily="2" charset="-122"/>
                </a:rPr>
                <a:t>＞</a:t>
              </a:r>
              <a:r>
                <a:rPr lang="en-US" altLang="zh-CN" sz="1400" b="1" dirty="0">
                  <a:latin typeface="宋体" panose="02010600030101010101" pitchFamily="2" charset="-122"/>
                </a:rPr>
                <a:t>B)</a:t>
              </a:r>
            </a:p>
          </p:txBody>
        </p:sp>
        <p:sp>
          <p:nvSpPr>
            <p:cNvPr id="120" name="Text Box 195">
              <a:extLst>
                <a:ext uri="{FF2B5EF4-FFF2-40B4-BE49-F238E27FC236}">
                  <a16:creationId xmlns:a16="http://schemas.microsoft.com/office/drawing/2014/main" id="{CE6162C6-2602-4F04-ACB7-D6A864FD6C2C}"/>
                </a:ext>
              </a:extLst>
            </p:cNvPr>
            <p:cNvSpPr txBox="1"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3420000" y="5436240"/>
              <a:ext cx="467995" cy="683895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vert="horz" lIns="0" tIns="10800" rIns="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中断服务</a:t>
              </a:r>
            </a:p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ISR</a:t>
              </a:r>
            </a:p>
          </p:txBody>
        </p:sp>
        <p:cxnSp>
          <p:nvCxnSpPr>
            <p:cNvPr id="121" name="直接箭头连接符 120">
              <a:extLst>
                <a:ext uri="{FF2B5EF4-FFF2-40B4-BE49-F238E27FC236}">
                  <a16:creationId xmlns:a16="http://schemas.microsoft.com/office/drawing/2014/main" id="{4A74A736-FA21-49F2-8BD7-32F1048378A9}"/>
                </a:ext>
              </a:extLst>
            </p:cNvPr>
            <p:cNvCxnSpPr/>
            <p:nvPr>
              <p:custDataLst>
                <p:tags r:id="rId7"/>
              </p:custDataLst>
            </p:nvPr>
          </p:nvCxnSpPr>
          <p:spPr bwMode="auto">
            <a:xfrm flipV="1">
              <a:off x="6911865" y="5363850"/>
              <a:ext cx="0" cy="71755"/>
            </a:xfrm>
            <a:prstGeom prst="straightConnector1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2" name="直接箭头连接符 121">
              <a:extLst>
                <a:ext uri="{FF2B5EF4-FFF2-40B4-BE49-F238E27FC236}">
                  <a16:creationId xmlns:a16="http://schemas.microsoft.com/office/drawing/2014/main" id="{CFF79C81-21CC-4909-A371-6A3C80F2B36A}"/>
                </a:ext>
              </a:extLst>
            </p:cNvPr>
            <p:cNvCxnSpPr/>
            <p:nvPr>
              <p:custDataLst>
                <p:tags r:id="rId8"/>
              </p:custDataLst>
            </p:nvPr>
          </p:nvCxnSpPr>
          <p:spPr bwMode="auto">
            <a:xfrm>
              <a:off x="3887995" y="5796285"/>
              <a:ext cx="179705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23" name="Text Box 107">
              <a:extLst>
                <a:ext uri="{FF2B5EF4-FFF2-40B4-BE49-F238E27FC236}">
                  <a16:creationId xmlns:a16="http://schemas.microsoft.com/office/drawing/2014/main" id="{458BFDC3-327F-42A8-A1C2-DE59E24C2442}"/>
                </a:ext>
              </a:extLst>
            </p:cNvPr>
            <p:cNvSpPr txBox="1"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4823985" y="5940430"/>
              <a:ext cx="144145" cy="179705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 lIns="18000" tIns="10800" rIns="18000" bIns="10800" anchor="ctr" anchorCtr="0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B</a:t>
              </a:r>
            </a:p>
          </p:txBody>
        </p:sp>
        <p:cxnSp>
          <p:nvCxnSpPr>
            <p:cNvPr id="124" name="直接箭头连接符 123">
              <a:extLst>
                <a:ext uri="{FF2B5EF4-FFF2-40B4-BE49-F238E27FC236}">
                  <a16:creationId xmlns:a16="http://schemas.microsoft.com/office/drawing/2014/main" id="{CFE0FC5E-3AFF-446C-8E51-3DEEA6AB8DBA}"/>
                </a:ext>
              </a:extLst>
            </p:cNvPr>
            <p:cNvCxnSpPr/>
            <p:nvPr>
              <p:custDataLst>
                <p:tags r:id="rId10"/>
              </p:custDataLst>
            </p:nvPr>
          </p:nvCxnSpPr>
          <p:spPr bwMode="auto">
            <a:xfrm>
              <a:off x="3708290" y="5147950"/>
              <a:ext cx="0" cy="28829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triangle" w="med" len="med"/>
            </a:ln>
          </p:spPr>
        </p:cxnSp>
        <p:cxnSp>
          <p:nvCxnSpPr>
            <p:cNvPr id="125" name="直接箭头连接符 124">
              <a:extLst>
                <a:ext uri="{FF2B5EF4-FFF2-40B4-BE49-F238E27FC236}">
                  <a16:creationId xmlns:a16="http://schemas.microsoft.com/office/drawing/2014/main" id="{67B1AD7E-4368-4030-A293-2688234BF496}"/>
                </a:ext>
              </a:extLst>
            </p:cNvPr>
            <p:cNvCxnSpPr/>
            <p:nvPr>
              <p:custDataLst>
                <p:tags r:id="rId11"/>
              </p:custDataLst>
            </p:nvPr>
          </p:nvCxnSpPr>
          <p:spPr bwMode="auto">
            <a:xfrm>
              <a:off x="3564145" y="5040000"/>
              <a:ext cx="635" cy="39624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oval" w="sm" len="sm"/>
              <a:tailEnd type="triangle" w="med" len="med"/>
            </a:ln>
          </p:spPr>
        </p:cxnSp>
        <p:cxnSp>
          <p:nvCxnSpPr>
            <p:cNvPr id="126" name="直接箭头连接符 125">
              <a:extLst>
                <a:ext uri="{FF2B5EF4-FFF2-40B4-BE49-F238E27FC236}">
                  <a16:creationId xmlns:a16="http://schemas.microsoft.com/office/drawing/2014/main" id="{4D597166-A2B2-4608-8231-BA4863C1CC67}"/>
                </a:ext>
              </a:extLst>
            </p:cNvPr>
            <p:cNvCxnSpPr/>
            <p:nvPr>
              <p:custDataLst>
                <p:tags r:id="rId12"/>
              </p:custDataLst>
            </p:nvPr>
          </p:nvCxnSpPr>
          <p:spPr bwMode="auto">
            <a:xfrm>
              <a:off x="5363735" y="5436240"/>
              <a:ext cx="1548130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27" name="Text Box 106">
              <a:extLst>
                <a:ext uri="{FF2B5EF4-FFF2-40B4-BE49-F238E27FC236}">
                  <a16:creationId xmlns:a16="http://schemas.microsoft.com/office/drawing/2014/main" id="{5ECA7DC2-3369-4A7C-92CA-310E30831D7B}"/>
                </a:ext>
              </a:extLst>
            </p:cNvPr>
            <p:cNvSpPr txBox="1"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6840110" y="5184145"/>
              <a:ext cx="288290" cy="179705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&amp;</a:t>
              </a:r>
              <a:endParaRPr lang="en-US" altLang="zh-CN" sz="20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128" name="直接箭头连接符 127">
              <a:extLst>
                <a:ext uri="{FF2B5EF4-FFF2-40B4-BE49-F238E27FC236}">
                  <a16:creationId xmlns:a16="http://schemas.microsoft.com/office/drawing/2014/main" id="{CAA90533-660D-4A23-B56A-93DF131843EC}"/>
                </a:ext>
              </a:extLst>
            </p:cNvPr>
            <p:cNvCxnSpPr/>
            <p:nvPr>
              <p:custDataLst>
                <p:tags r:id="rId14"/>
              </p:custDataLst>
            </p:nvPr>
          </p:nvCxnSpPr>
          <p:spPr bwMode="auto">
            <a:xfrm flipV="1">
              <a:off x="5363735" y="5436240"/>
              <a:ext cx="0" cy="252095"/>
            </a:xfrm>
            <a:prstGeom prst="straightConnector1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33" name="Text Box 100">
              <a:extLst>
                <a:ext uri="{FF2B5EF4-FFF2-40B4-BE49-F238E27FC236}">
                  <a16:creationId xmlns:a16="http://schemas.microsoft.com/office/drawing/2014/main" id="{4B858191-B88C-4198-8801-72608A38ECE6}"/>
                </a:ext>
              </a:extLst>
            </p:cNvPr>
            <p:cNvSpPr txBox="1"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4068000" y="5688000"/>
              <a:ext cx="720090" cy="431800"/>
            </a:xfrm>
            <a:prstGeom prst="rect">
              <a:avLst/>
            </a:prstGeom>
            <a:solidFill>
              <a:srgbClr val="FFFF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排队器</a:t>
              </a:r>
              <a:endParaRPr lang="en-US" altLang="zh-CN" sz="1600" b="1" dirty="0"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lang="en-US" altLang="zh-CN" sz="1400" b="1" dirty="0">
                  <a:latin typeface="宋体" panose="02010600030101010101" pitchFamily="2" charset="-122"/>
                </a:rPr>
                <a:t>(</a:t>
              </a:r>
              <a:r>
                <a:rPr lang="zh-CN" altLang="en-US" sz="1400" b="1" dirty="0">
                  <a:latin typeface="宋体" panose="02010600030101010101" pitchFamily="2" charset="-122"/>
                </a:rPr>
                <a:t>编码器</a:t>
              </a:r>
              <a:r>
                <a:rPr lang="en-US" altLang="zh-CN" sz="1400" b="1" dirty="0">
                  <a:latin typeface="宋体" panose="02010600030101010101" pitchFamily="2" charset="-122"/>
                </a:rPr>
                <a:t>)</a:t>
              </a:r>
            </a:p>
          </p:txBody>
        </p:sp>
        <p:cxnSp>
          <p:nvCxnSpPr>
            <p:cNvPr id="135" name="直接箭头连接符 134">
              <a:extLst>
                <a:ext uri="{FF2B5EF4-FFF2-40B4-BE49-F238E27FC236}">
                  <a16:creationId xmlns:a16="http://schemas.microsoft.com/office/drawing/2014/main" id="{870D01A2-897F-401E-B7F9-F34EFA5EA92D}"/>
                </a:ext>
              </a:extLst>
            </p:cNvPr>
            <p:cNvCxnSpPr/>
            <p:nvPr>
              <p:custDataLst>
                <p:tags r:id="rId16"/>
              </p:custDataLst>
            </p:nvPr>
          </p:nvCxnSpPr>
          <p:spPr bwMode="auto">
            <a:xfrm>
              <a:off x="3888000" y="6048000"/>
              <a:ext cx="179705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36" name="Text Box 107">
              <a:extLst>
                <a:ext uri="{FF2B5EF4-FFF2-40B4-BE49-F238E27FC236}">
                  <a16:creationId xmlns:a16="http://schemas.microsoft.com/office/drawing/2014/main" id="{DFDCB1F9-97D5-4B24-B8A0-92E389FE1290}"/>
                </a:ext>
              </a:extLst>
            </p:cNvPr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3888000" y="5796000"/>
              <a:ext cx="180000" cy="252095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vert="vert" wrap="none" lIns="18000" tIns="10800" rIns="18000" bIns="10800" anchor="ctr" anchorCtr="0"/>
            <a:lstStyle/>
            <a:p>
              <a:r>
                <a:rPr lang="en-US" altLang="zh-CN" sz="1600" b="1" dirty="0">
                  <a:latin typeface="+mn-ea"/>
                  <a:ea typeface="+mn-ea"/>
                </a:rPr>
                <a:t>…</a:t>
              </a:r>
            </a:p>
          </p:txBody>
        </p:sp>
      </p:grpSp>
      <p:cxnSp>
        <p:nvCxnSpPr>
          <p:cNvPr id="139" name="直接箭头连接符 138">
            <a:extLst>
              <a:ext uri="{FF2B5EF4-FFF2-40B4-BE49-F238E27FC236}">
                <a16:creationId xmlns:a16="http://schemas.microsoft.com/office/drawing/2014/main" id="{74CC555A-61EA-4EF8-ADFE-8F86A2061CBF}"/>
              </a:ext>
            </a:extLst>
          </p:cNvPr>
          <p:cNvCxnSpPr>
            <a:cxnSpLocks/>
          </p:cNvCxnSpPr>
          <p:nvPr>
            <p:custDataLst>
              <p:tags r:id="rId3"/>
            </p:custDataLst>
          </p:nvPr>
        </p:nvCxnSpPr>
        <p:spPr bwMode="auto">
          <a:xfrm flipV="1">
            <a:off x="3689856" y="1538669"/>
            <a:ext cx="4607278" cy="137733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C00000"/>
            </a:solidFill>
            <a:prstDash val="sysDash"/>
            <a:round/>
            <a:headEnd type="none" w="med" len="med"/>
            <a:tailEnd type="triangle" w="med" len="med"/>
          </a:ln>
          <a:effectLst/>
        </p:spPr>
      </p:cxnSp>
      <p:sp>
        <p:nvSpPr>
          <p:cNvPr id="115" name="AutoShape 62">
            <a:hlinkClick r:id="rId101" action="ppaction://hlinksldjump"/>
            <a:extLst>
              <a:ext uri="{FF2B5EF4-FFF2-40B4-BE49-F238E27FC236}">
                <a16:creationId xmlns:a16="http://schemas.microsoft.com/office/drawing/2014/main" id="{7B22D896-9753-43F3-A021-D5162CDA50DD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4068000" y="6524103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eaVert" wrap="none" lIns="0" tIns="0" rIns="0" bIns="0" anchor="ctr"/>
          <a:lstStyle/>
          <a:p>
            <a:pPr algn="ctr"/>
            <a:r>
              <a:rPr lang="en-US" altLang="zh-CN" sz="1600" dirty="0">
                <a:solidFill>
                  <a:schemeClr val="bg2"/>
                </a:solidFill>
                <a:latin typeface="+mn-ea"/>
                <a:ea typeface="+mn-ea"/>
              </a:rPr>
              <a:t>32</a:t>
            </a:r>
            <a:endParaRPr lang="zh-CN" altLang="en-US" sz="1600" dirty="0">
              <a:solidFill>
                <a:schemeClr val="bg2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7742217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4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6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Text Box 4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79705" y="332656"/>
            <a:ext cx="5256530" cy="584910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(2)</a:t>
            </a:r>
            <a:r>
              <a:rPr lang="zh-CN" altLang="en-US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中断系统的结构  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</a:rPr>
              <a:t>(</a:t>
            </a:r>
            <a:r>
              <a:rPr lang="zh-CN" sz="1800" b="1" dirty="0">
                <a:solidFill>
                  <a:schemeClr val="tx1"/>
                </a:solidFill>
                <a:latin typeface="宋体" panose="02010600030101010101" pitchFamily="2" charset="-122"/>
              </a:rPr>
              <a:t>以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</a:rPr>
              <a:t>向量中断为例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</a:rPr>
              <a:t>)</a:t>
            </a:r>
            <a:endParaRPr lang="en-US" altLang="zh-CN" b="1" dirty="0">
              <a:latin typeface="宋体" panose="02010600030101010101" pitchFamily="2" charset="-122"/>
            </a:endParaRPr>
          </a:p>
          <a:p>
            <a:pPr marL="990600" indent="-990600" algn="l">
              <a:lnSpc>
                <a:spcPct val="125000"/>
              </a:lnSpc>
              <a:spcBef>
                <a:spcPts val="0"/>
              </a:spcBef>
            </a:pP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基本组成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：</a:t>
            </a: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990600" indent="-990600" algn="l">
              <a:lnSpc>
                <a:spcPct val="114000"/>
              </a:lnSpc>
              <a:spcBef>
                <a:spcPts val="0"/>
              </a:spcBef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事件组织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：</a:t>
            </a: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990600" indent="-990600" algn="l">
              <a:lnSpc>
                <a:spcPct val="125000"/>
              </a:lnSpc>
            </a:pP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990600" indent="-990600" algn="l">
              <a:lnSpc>
                <a:spcPct val="125000"/>
              </a:lnSpc>
            </a:pP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990600" indent="-990600" algn="l">
              <a:lnSpc>
                <a:spcPct val="125000"/>
              </a:lnSpc>
            </a:pP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990600" indent="-990600" algn="l">
              <a:lnSpc>
                <a:spcPct val="125000"/>
              </a:lnSpc>
            </a:pP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990600" indent="-990600" algn="l">
              <a:lnSpc>
                <a:spcPct val="125000"/>
              </a:lnSpc>
            </a:pP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990600" indent="-990600" algn="l">
              <a:lnSpc>
                <a:spcPct val="125000"/>
              </a:lnSpc>
            </a:pP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990600" indent="-990600" algn="l">
              <a:lnSpc>
                <a:spcPct val="125000"/>
              </a:lnSpc>
            </a:pPr>
            <a:endParaRPr lang="en-US" altLang="zh-CN" sz="1800" b="1" dirty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990600" indent="-9906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事件的检测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：</a:t>
            </a: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990600" indent="-9906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800" b="1" dirty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990600" indent="-9906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事件的响应：</a:t>
            </a: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990600" indent="-990600" algn="l"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处理的返回：</a:t>
            </a:r>
          </a:p>
        </p:txBody>
      </p:sp>
      <p:grpSp>
        <p:nvGrpSpPr>
          <p:cNvPr id="109" name="组合 108">
            <a:extLst>
              <a:ext uri="{FF2B5EF4-FFF2-40B4-BE49-F238E27FC236}">
                <a16:creationId xmlns:a16="http://schemas.microsoft.com/office/drawing/2014/main" id="{91DE820D-6313-4AB5-ADCF-C840A9497F55}"/>
              </a:ext>
            </a:extLst>
          </p:cNvPr>
          <p:cNvGrpSpPr/>
          <p:nvPr/>
        </p:nvGrpSpPr>
        <p:grpSpPr>
          <a:xfrm>
            <a:off x="396000" y="1628800"/>
            <a:ext cx="8568476" cy="2700000"/>
            <a:chOff x="288000" y="1692000"/>
            <a:chExt cx="8568476" cy="2700000"/>
          </a:xfrm>
        </p:grpSpPr>
        <p:sp>
          <p:nvSpPr>
            <p:cNvPr id="111" name="Text Box 211">
              <a:extLst>
                <a:ext uri="{FF2B5EF4-FFF2-40B4-BE49-F238E27FC236}">
                  <a16:creationId xmlns:a16="http://schemas.microsoft.com/office/drawing/2014/main" id="{9EBE2F34-BFEF-433D-91EB-96E68D690608}"/>
                </a:ext>
              </a:extLst>
            </p:cNvPr>
            <p:cNvSpPr txBox="1">
              <a:spLocks noChangeArrowheads="1"/>
            </p:cNvSpPr>
            <p:nvPr>
              <p:custDataLst>
                <p:tags r:id="rId24"/>
              </p:custDataLst>
            </p:nvPr>
          </p:nvSpPr>
          <p:spPr bwMode="auto">
            <a:xfrm>
              <a:off x="2699792" y="1692000"/>
              <a:ext cx="5364000" cy="241200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vert="horz" lIns="18000" tIns="10800" rIns="18000" bIns="10800" anchor="ctr"/>
            <a:lstStyle/>
            <a:p>
              <a:pPr algn="ctr"/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12" name="Text Box 211">
              <a:extLst>
                <a:ext uri="{FF2B5EF4-FFF2-40B4-BE49-F238E27FC236}">
                  <a16:creationId xmlns:a16="http://schemas.microsoft.com/office/drawing/2014/main" id="{0104E8EF-BE8A-4011-9434-A85D55AC62FB}"/>
                </a:ext>
              </a:extLst>
            </p:cNvPr>
            <p:cNvSpPr txBox="1">
              <a:spLocks noChangeArrowheads="1"/>
            </p:cNvSpPr>
            <p:nvPr>
              <p:custDataLst>
                <p:tags r:id="rId25"/>
              </p:custDataLst>
            </p:nvPr>
          </p:nvSpPr>
          <p:spPr bwMode="auto">
            <a:xfrm>
              <a:off x="3888000" y="2556096"/>
              <a:ext cx="3672000" cy="1476000"/>
            </a:xfrm>
            <a:prstGeom prst="rect">
              <a:avLst/>
            </a:prstGeom>
            <a:solidFill>
              <a:srgbClr val="CC99FF">
                <a:alpha val="60000"/>
              </a:srgbClr>
            </a:solidFill>
            <a:ln w="15875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vert="horz" lIns="18000" tIns="10800" rIns="18000" bIns="10800" anchor="ctr"/>
            <a:lstStyle/>
            <a:p>
              <a:pPr algn="ctr"/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13" name="Text Box 111">
              <a:extLst>
                <a:ext uri="{FF2B5EF4-FFF2-40B4-BE49-F238E27FC236}">
                  <a16:creationId xmlns:a16="http://schemas.microsoft.com/office/drawing/2014/main" id="{243DE3AC-90C5-42DA-984E-2523ADD15020}"/>
                </a:ext>
              </a:extLst>
            </p:cNvPr>
            <p:cNvSpPr txBox="1">
              <a:spLocks noChangeArrowheads="1"/>
            </p:cNvSpPr>
            <p:nvPr>
              <p:custDataLst>
                <p:tags r:id="rId26"/>
              </p:custDataLst>
            </p:nvPr>
          </p:nvSpPr>
          <p:spPr bwMode="auto">
            <a:xfrm>
              <a:off x="3312000" y="2592000"/>
              <a:ext cx="576000" cy="180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Event</a:t>
              </a:r>
            </a:p>
          </p:txBody>
        </p:sp>
        <p:sp>
          <p:nvSpPr>
            <p:cNvPr id="114" name="Text Box 211">
              <a:extLst>
                <a:ext uri="{FF2B5EF4-FFF2-40B4-BE49-F238E27FC236}">
                  <a16:creationId xmlns:a16="http://schemas.microsoft.com/office/drawing/2014/main" id="{87F380FD-37C7-4218-AD5F-9BC485E1DD23}"/>
                </a:ext>
              </a:extLst>
            </p:cNvPr>
            <p:cNvSpPr txBox="1">
              <a:spLocks noChangeArrowheads="1"/>
            </p:cNvSpPr>
            <p:nvPr>
              <p:custDataLst>
                <p:tags r:id="rId27"/>
              </p:custDataLst>
            </p:nvPr>
          </p:nvSpPr>
          <p:spPr bwMode="auto">
            <a:xfrm>
              <a:off x="5184000" y="2808000"/>
              <a:ext cx="288000" cy="100800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vert="eaVert"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判优逻辑</a:t>
              </a:r>
            </a:p>
          </p:txBody>
        </p:sp>
        <p:sp>
          <p:nvSpPr>
            <p:cNvPr id="115" name="Text Box 213">
              <a:extLst>
                <a:ext uri="{FF2B5EF4-FFF2-40B4-BE49-F238E27FC236}">
                  <a16:creationId xmlns:a16="http://schemas.microsoft.com/office/drawing/2014/main" id="{9E14B415-9A59-4B48-9C16-BB948A1EE4E3}"/>
                </a:ext>
              </a:extLst>
            </p:cNvPr>
            <p:cNvSpPr txBox="1">
              <a:spLocks noChangeArrowheads="1"/>
            </p:cNvSpPr>
            <p:nvPr>
              <p:custDataLst>
                <p:tags r:id="rId28"/>
              </p:custDataLst>
            </p:nvPr>
          </p:nvSpPr>
          <p:spPr bwMode="auto">
            <a:xfrm>
              <a:off x="3960000" y="2664000"/>
              <a:ext cx="1081087" cy="28800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检测逻辑</a:t>
              </a:r>
            </a:p>
          </p:txBody>
        </p:sp>
        <p:sp>
          <p:nvSpPr>
            <p:cNvPr id="116" name="Text Box 217">
              <a:extLst>
                <a:ext uri="{FF2B5EF4-FFF2-40B4-BE49-F238E27FC236}">
                  <a16:creationId xmlns:a16="http://schemas.microsoft.com/office/drawing/2014/main" id="{E924EE44-2F0C-4DC8-AFFB-37DC095F5C20}"/>
                </a:ext>
              </a:extLst>
            </p:cNvPr>
            <p:cNvSpPr txBox="1">
              <a:spLocks noChangeArrowheads="1"/>
            </p:cNvSpPr>
            <p:nvPr>
              <p:custDataLst>
                <p:tags r:id="rId29"/>
              </p:custDataLst>
            </p:nvPr>
          </p:nvSpPr>
          <p:spPr bwMode="auto">
            <a:xfrm rot="16200000">
              <a:off x="3348000" y="1853856"/>
              <a:ext cx="216023" cy="18034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rgbClr val="CC3300"/>
                  </a:solidFill>
                  <a:latin typeface="+mn-ea"/>
                  <a:ea typeface="+mn-ea"/>
                </a:rPr>
                <a:t>…</a:t>
              </a:r>
            </a:p>
          </p:txBody>
        </p:sp>
        <p:sp>
          <p:nvSpPr>
            <p:cNvPr id="117" name="Text Box 218">
              <a:extLst>
                <a:ext uri="{FF2B5EF4-FFF2-40B4-BE49-F238E27FC236}">
                  <a16:creationId xmlns:a16="http://schemas.microsoft.com/office/drawing/2014/main" id="{2AD9E7AD-C3DD-42F4-8218-B19E26AB7A12}"/>
                </a:ext>
              </a:extLst>
            </p:cNvPr>
            <p:cNvSpPr txBox="1">
              <a:spLocks noChangeArrowheads="1"/>
            </p:cNvSpPr>
            <p:nvPr>
              <p:custDataLst>
                <p:tags r:id="rId30"/>
              </p:custDataLst>
            </p:nvPr>
          </p:nvSpPr>
          <p:spPr bwMode="auto">
            <a:xfrm>
              <a:off x="6516000" y="3420000"/>
              <a:ext cx="935388" cy="241904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中断机构</a:t>
              </a:r>
            </a:p>
          </p:txBody>
        </p:sp>
        <p:sp>
          <p:nvSpPr>
            <p:cNvPr id="118" name="Text Box 213">
              <a:extLst>
                <a:ext uri="{FF2B5EF4-FFF2-40B4-BE49-F238E27FC236}">
                  <a16:creationId xmlns:a16="http://schemas.microsoft.com/office/drawing/2014/main" id="{31B7A9D8-B1D7-4052-84AA-CEBC3CFAC1FB}"/>
                </a:ext>
              </a:extLst>
            </p:cNvPr>
            <p:cNvSpPr txBox="1">
              <a:spLocks noChangeArrowheads="1"/>
            </p:cNvSpPr>
            <p:nvPr>
              <p:custDataLst>
                <p:tags r:id="rId31"/>
              </p:custDataLst>
            </p:nvPr>
          </p:nvSpPr>
          <p:spPr bwMode="auto">
            <a:xfrm>
              <a:off x="6552000" y="2808000"/>
              <a:ext cx="936104" cy="5760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后援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REG</a:t>
              </a:r>
            </a:p>
            <a:p>
              <a:pPr algn="ctr"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(</a:t>
              </a:r>
              <a:r>
                <a:rPr lang="zh-CN" altLang="en-US" sz="1800" b="1" dirty="0">
                  <a:latin typeface="宋体" panose="02010600030101010101" pitchFamily="2" charset="-122"/>
                </a:rPr>
                <a:t>栈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)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19" name="Text Box 213">
              <a:extLst>
                <a:ext uri="{FF2B5EF4-FFF2-40B4-BE49-F238E27FC236}">
                  <a16:creationId xmlns:a16="http://schemas.microsoft.com/office/drawing/2014/main" id="{0260C6A5-84B4-4211-9A8E-5FFAA9E8C623}"/>
                </a:ext>
              </a:extLst>
            </p:cNvPr>
            <p:cNvSpPr txBox="1">
              <a:spLocks noChangeArrowheads="1"/>
            </p:cNvSpPr>
            <p:nvPr>
              <p:custDataLst>
                <p:tags r:id="rId32"/>
              </p:custDataLst>
            </p:nvPr>
          </p:nvSpPr>
          <p:spPr bwMode="auto">
            <a:xfrm>
              <a:off x="5616000" y="2844000"/>
              <a:ext cx="792224" cy="5760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异常类型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REG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20" name="Text Box 112">
              <a:extLst>
                <a:ext uri="{FF2B5EF4-FFF2-40B4-BE49-F238E27FC236}">
                  <a16:creationId xmlns:a16="http://schemas.microsoft.com/office/drawing/2014/main" id="{2D406761-BDFE-4F4F-AD1C-C316927CBC52}"/>
                </a:ext>
              </a:extLst>
            </p:cNvPr>
            <p:cNvSpPr txBox="1">
              <a:spLocks noChangeArrowheads="1"/>
            </p:cNvSpPr>
            <p:nvPr>
              <p:custDataLst>
                <p:tags r:id="rId33"/>
              </p:custDataLst>
            </p:nvPr>
          </p:nvSpPr>
          <p:spPr bwMode="auto">
            <a:xfrm>
              <a:off x="2915816" y="2162187"/>
              <a:ext cx="360040" cy="858953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CU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121" name="直接箭头连接符 120">
              <a:extLst>
                <a:ext uri="{FF2B5EF4-FFF2-40B4-BE49-F238E27FC236}">
                  <a16:creationId xmlns:a16="http://schemas.microsoft.com/office/drawing/2014/main" id="{94B50CDC-44FE-4E2A-89AF-8F8B7AAAF8A5}"/>
                </a:ext>
              </a:extLst>
            </p:cNvPr>
            <p:cNvCxnSpPr>
              <a:cxnSpLocks/>
            </p:cNvCxnSpPr>
            <p:nvPr>
              <p:custDataLst>
                <p:tags r:id="rId34"/>
              </p:custDataLst>
            </p:nvPr>
          </p:nvCxnSpPr>
          <p:spPr bwMode="auto">
            <a:xfrm flipH="1">
              <a:off x="3275856" y="2808000"/>
              <a:ext cx="68400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22" name="直接箭头连接符 121">
              <a:extLst>
                <a:ext uri="{FF2B5EF4-FFF2-40B4-BE49-F238E27FC236}">
                  <a16:creationId xmlns:a16="http://schemas.microsoft.com/office/drawing/2014/main" id="{AC3AFDEC-6087-4C48-A726-5AA19396D4F4}"/>
                </a:ext>
              </a:extLst>
            </p:cNvPr>
            <p:cNvCxnSpPr/>
            <p:nvPr>
              <p:custDataLst>
                <p:tags r:id="rId35"/>
              </p:custDataLst>
            </p:nvPr>
          </p:nvCxnSpPr>
          <p:spPr bwMode="auto">
            <a:xfrm>
              <a:off x="3275856" y="2412079"/>
              <a:ext cx="36004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sp>
          <p:nvSpPr>
            <p:cNvPr id="123" name="Text Box 260">
              <a:extLst>
                <a:ext uri="{FF2B5EF4-FFF2-40B4-BE49-F238E27FC236}">
                  <a16:creationId xmlns:a16="http://schemas.microsoft.com/office/drawing/2014/main" id="{6CF348CE-58D5-449B-B11D-A9019E035D93}"/>
                </a:ext>
              </a:extLst>
            </p:cNvPr>
            <p:cNvSpPr txBox="1">
              <a:spLocks noChangeArrowheads="1"/>
            </p:cNvSpPr>
            <p:nvPr>
              <p:custDataLst>
                <p:tags r:id="rId36"/>
              </p:custDataLst>
            </p:nvPr>
          </p:nvSpPr>
          <p:spPr bwMode="auto">
            <a:xfrm>
              <a:off x="2915816" y="1764008"/>
              <a:ext cx="360039" cy="36004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10800" rIns="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400" b="1" dirty="0">
                  <a:latin typeface="宋体" panose="02010600030101010101" pitchFamily="2" charset="-122"/>
                </a:rPr>
                <a:t>≥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1</a:t>
              </a:r>
            </a:p>
          </p:txBody>
        </p:sp>
        <p:cxnSp>
          <p:nvCxnSpPr>
            <p:cNvPr id="124" name="直接箭头连接符 123">
              <a:extLst>
                <a:ext uri="{FF2B5EF4-FFF2-40B4-BE49-F238E27FC236}">
                  <a16:creationId xmlns:a16="http://schemas.microsoft.com/office/drawing/2014/main" id="{F2BF549D-FF27-4A2C-AE41-D8AE668C2C22}"/>
                </a:ext>
              </a:extLst>
            </p:cNvPr>
            <p:cNvCxnSpPr/>
            <p:nvPr>
              <p:custDataLst>
                <p:tags r:id="rId37"/>
              </p:custDataLst>
            </p:nvPr>
          </p:nvCxnSpPr>
          <p:spPr bwMode="auto">
            <a:xfrm flipH="1">
              <a:off x="3276000" y="1836015"/>
              <a:ext cx="36000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25" name="直接箭头连接符 124">
              <a:extLst>
                <a:ext uri="{FF2B5EF4-FFF2-40B4-BE49-F238E27FC236}">
                  <a16:creationId xmlns:a16="http://schemas.microsoft.com/office/drawing/2014/main" id="{791B7F35-3252-4710-8947-A94CE25C4F12}"/>
                </a:ext>
              </a:extLst>
            </p:cNvPr>
            <p:cNvCxnSpPr/>
            <p:nvPr>
              <p:custDataLst>
                <p:tags r:id="rId38"/>
              </p:custDataLst>
            </p:nvPr>
          </p:nvCxnSpPr>
          <p:spPr bwMode="auto">
            <a:xfrm flipH="1">
              <a:off x="3265752" y="2052039"/>
              <a:ext cx="359334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26" name="直接箭头连接符 125">
              <a:extLst>
                <a:ext uri="{FF2B5EF4-FFF2-40B4-BE49-F238E27FC236}">
                  <a16:creationId xmlns:a16="http://schemas.microsoft.com/office/drawing/2014/main" id="{0F06E84B-5793-43BE-87E4-3351AEDE641B}"/>
                </a:ext>
              </a:extLst>
            </p:cNvPr>
            <p:cNvCxnSpPr/>
            <p:nvPr>
              <p:custDataLst>
                <p:tags r:id="rId39"/>
              </p:custDataLst>
            </p:nvPr>
          </p:nvCxnSpPr>
          <p:spPr bwMode="auto">
            <a:xfrm>
              <a:off x="2195736" y="3276000"/>
              <a:ext cx="1872208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27" name="直接箭头连接符 126">
              <a:extLst>
                <a:ext uri="{FF2B5EF4-FFF2-40B4-BE49-F238E27FC236}">
                  <a16:creationId xmlns:a16="http://schemas.microsoft.com/office/drawing/2014/main" id="{E6D093F9-4562-48B7-B1FA-EC1AF923BB1D}"/>
                </a:ext>
              </a:extLst>
            </p:cNvPr>
            <p:cNvCxnSpPr/>
            <p:nvPr>
              <p:custDataLst>
                <p:tags r:id="rId40"/>
              </p:custDataLst>
            </p:nvPr>
          </p:nvCxnSpPr>
          <p:spPr bwMode="auto">
            <a:xfrm>
              <a:off x="2088000" y="3852000"/>
              <a:ext cx="198000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28" name="直接箭头连接符 127">
              <a:extLst>
                <a:ext uri="{FF2B5EF4-FFF2-40B4-BE49-F238E27FC236}">
                  <a16:creationId xmlns:a16="http://schemas.microsoft.com/office/drawing/2014/main" id="{F2A7B3DC-D99C-4924-BCC3-3BBEE2F42888}"/>
                </a:ext>
              </a:extLst>
            </p:cNvPr>
            <p:cNvCxnSpPr/>
            <p:nvPr>
              <p:custDataLst>
                <p:tags r:id="rId41"/>
              </p:custDataLst>
            </p:nvPr>
          </p:nvCxnSpPr>
          <p:spPr bwMode="auto">
            <a:xfrm flipV="1">
              <a:off x="4176000" y="2952000"/>
              <a:ext cx="0" cy="1800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triangle"/>
            </a:ln>
            <a:effectLst/>
          </p:spPr>
        </p:cxnSp>
        <p:cxnSp>
          <p:nvCxnSpPr>
            <p:cNvPr id="129" name="直接箭头连接符 128">
              <a:extLst>
                <a:ext uri="{FF2B5EF4-FFF2-40B4-BE49-F238E27FC236}">
                  <a16:creationId xmlns:a16="http://schemas.microsoft.com/office/drawing/2014/main" id="{26527975-A386-4328-8C15-63C1E0E61FF8}"/>
                </a:ext>
              </a:extLst>
            </p:cNvPr>
            <p:cNvCxnSpPr/>
            <p:nvPr>
              <p:custDataLst>
                <p:tags r:id="rId42"/>
              </p:custDataLst>
            </p:nvPr>
          </p:nvCxnSpPr>
          <p:spPr bwMode="auto">
            <a:xfrm flipV="1">
              <a:off x="4500000" y="2951999"/>
              <a:ext cx="0" cy="3960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triangle"/>
            </a:ln>
            <a:effectLst/>
          </p:spPr>
        </p:cxnSp>
        <p:cxnSp>
          <p:nvCxnSpPr>
            <p:cNvPr id="130" name="直接箭头连接符 129">
              <a:extLst>
                <a:ext uri="{FF2B5EF4-FFF2-40B4-BE49-F238E27FC236}">
                  <a16:creationId xmlns:a16="http://schemas.microsoft.com/office/drawing/2014/main" id="{36CA30DB-AF8A-4EC8-A347-A11222A41DCC}"/>
                </a:ext>
              </a:extLst>
            </p:cNvPr>
            <p:cNvCxnSpPr/>
            <p:nvPr>
              <p:custDataLst>
                <p:tags r:id="rId43"/>
              </p:custDataLst>
            </p:nvPr>
          </p:nvCxnSpPr>
          <p:spPr bwMode="auto">
            <a:xfrm flipV="1">
              <a:off x="4824000" y="2951999"/>
              <a:ext cx="0" cy="7560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triangle"/>
            </a:ln>
            <a:effectLst/>
          </p:spPr>
        </p:cxnSp>
        <p:cxnSp>
          <p:nvCxnSpPr>
            <p:cNvPr id="131" name="直接箭头连接符 130">
              <a:extLst>
                <a:ext uri="{FF2B5EF4-FFF2-40B4-BE49-F238E27FC236}">
                  <a16:creationId xmlns:a16="http://schemas.microsoft.com/office/drawing/2014/main" id="{A60CEF7C-FAF3-464C-ADBF-4D6D4B2B16DD}"/>
                </a:ext>
              </a:extLst>
            </p:cNvPr>
            <p:cNvCxnSpPr/>
            <p:nvPr>
              <p:custDataLst>
                <p:tags r:id="rId44"/>
              </p:custDataLst>
            </p:nvPr>
          </p:nvCxnSpPr>
          <p:spPr bwMode="auto">
            <a:xfrm>
              <a:off x="3275856" y="2196055"/>
              <a:ext cx="36004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sp>
          <p:nvSpPr>
            <p:cNvPr id="132" name="Text Box 211">
              <a:extLst>
                <a:ext uri="{FF2B5EF4-FFF2-40B4-BE49-F238E27FC236}">
                  <a16:creationId xmlns:a16="http://schemas.microsoft.com/office/drawing/2014/main" id="{97D3ED99-AF15-4E7D-9191-C3B20FC58B82}"/>
                </a:ext>
              </a:extLst>
            </p:cNvPr>
            <p:cNvSpPr txBox="1">
              <a:spLocks noChangeArrowheads="1"/>
            </p:cNvSpPr>
            <p:nvPr>
              <p:custDataLst>
                <p:tags r:id="rId45"/>
              </p:custDataLst>
            </p:nvPr>
          </p:nvSpPr>
          <p:spPr bwMode="auto">
            <a:xfrm>
              <a:off x="3635896" y="1764007"/>
              <a:ext cx="4356000" cy="720079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vert="horz" lIns="18000" tIns="10800" rIns="18000" bIns="10800" anchor="ctr"/>
            <a:lstStyle/>
            <a:p>
              <a:pPr algn="l"/>
              <a:r>
                <a:rPr lang="en-US" altLang="zh-CN" sz="1800" b="1" dirty="0">
                  <a:latin typeface="宋体" panose="02010600030101010101" pitchFamily="2" charset="-122"/>
                </a:rPr>
                <a:t>      </a:t>
              </a:r>
              <a:r>
                <a:rPr lang="zh-CN" altLang="en-US" sz="1800" b="1" dirty="0">
                  <a:latin typeface="宋体" panose="02010600030101010101" pitchFamily="2" charset="-122"/>
                </a:rPr>
                <a:t>数据通路</a:t>
              </a:r>
            </a:p>
          </p:txBody>
        </p:sp>
        <p:cxnSp>
          <p:nvCxnSpPr>
            <p:cNvPr id="133" name="直接箭头连接符 117">
              <a:extLst>
                <a:ext uri="{FF2B5EF4-FFF2-40B4-BE49-F238E27FC236}">
                  <a16:creationId xmlns:a16="http://schemas.microsoft.com/office/drawing/2014/main" id="{46456DCA-F1C0-40B6-9574-F59A8BD48B75}"/>
                </a:ext>
              </a:extLst>
            </p:cNvPr>
            <p:cNvCxnSpPr/>
            <p:nvPr>
              <p:custDataLst>
                <p:tags r:id="rId46"/>
              </p:custDataLst>
            </p:nvPr>
          </p:nvCxnSpPr>
          <p:spPr bwMode="auto">
            <a:xfrm flipH="1">
              <a:off x="2088000" y="3960000"/>
              <a:ext cx="320400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34" name="直接箭头连接符 124">
              <a:extLst>
                <a:ext uri="{FF2B5EF4-FFF2-40B4-BE49-F238E27FC236}">
                  <a16:creationId xmlns:a16="http://schemas.microsoft.com/office/drawing/2014/main" id="{10FD8183-4ABA-46DF-8EBF-03FBF625B0F8}"/>
                </a:ext>
              </a:extLst>
            </p:cNvPr>
            <p:cNvCxnSpPr/>
            <p:nvPr>
              <p:custDataLst>
                <p:tags r:id="rId47"/>
              </p:custDataLst>
            </p:nvPr>
          </p:nvCxnSpPr>
          <p:spPr bwMode="auto">
            <a:xfrm flipH="1" flipV="1">
              <a:off x="5400000" y="3960000"/>
              <a:ext cx="2304000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135" name="Text Box 217">
              <a:extLst>
                <a:ext uri="{FF2B5EF4-FFF2-40B4-BE49-F238E27FC236}">
                  <a16:creationId xmlns:a16="http://schemas.microsoft.com/office/drawing/2014/main" id="{D25F5FD2-D474-42EC-8D61-BE0E63696F9E}"/>
                </a:ext>
              </a:extLst>
            </p:cNvPr>
            <p:cNvSpPr txBox="1">
              <a:spLocks noChangeArrowheads="1"/>
            </p:cNvSpPr>
            <p:nvPr>
              <p:custDataLst>
                <p:tags r:id="rId48"/>
              </p:custDataLst>
            </p:nvPr>
          </p:nvSpPr>
          <p:spPr bwMode="auto">
            <a:xfrm rot="16200000">
              <a:off x="3348000" y="2213896"/>
              <a:ext cx="216023" cy="18034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rgbClr val="FF3399"/>
                  </a:solidFill>
                  <a:latin typeface="+mn-ea"/>
                  <a:ea typeface="+mn-ea"/>
                </a:rPr>
                <a:t>…</a:t>
              </a:r>
            </a:p>
          </p:txBody>
        </p:sp>
        <p:sp>
          <p:nvSpPr>
            <p:cNvPr id="136" name="Text Box 213">
              <a:extLst>
                <a:ext uri="{FF2B5EF4-FFF2-40B4-BE49-F238E27FC236}">
                  <a16:creationId xmlns:a16="http://schemas.microsoft.com/office/drawing/2014/main" id="{25AB65B0-7704-4C82-90EC-8968C404611C}"/>
                </a:ext>
              </a:extLst>
            </p:cNvPr>
            <p:cNvSpPr txBox="1">
              <a:spLocks noChangeArrowheads="1"/>
            </p:cNvSpPr>
            <p:nvPr>
              <p:custDataLst>
                <p:tags r:id="rId49"/>
              </p:custDataLst>
            </p:nvPr>
          </p:nvSpPr>
          <p:spPr bwMode="auto">
            <a:xfrm>
              <a:off x="6588000" y="1944000"/>
              <a:ext cx="936104" cy="28803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PC</a:t>
              </a:r>
              <a:r>
                <a:rPr lang="zh-CN" altLang="en-US" sz="1800" b="1" dirty="0">
                  <a:latin typeface="宋体" panose="02010600030101010101" pitchFamily="2" charset="-122"/>
                </a:rPr>
                <a:t>及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PSR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139" name="直接箭头连接符 138">
              <a:extLst>
                <a:ext uri="{FF2B5EF4-FFF2-40B4-BE49-F238E27FC236}">
                  <a16:creationId xmlns:a16="http://schemas.microsoft.com/office/drawing/2014/main" id="{9D746728-BA0B-4B80-8C5F-2AF3C2739DC7}"/>
                </a:ext>
              </a:extLst>
            </p:cNvPr>
            <p:cNvCxnSpPr/>
            <p:nvPr>
              <p:custDataLst>
                <p:tags r:id="rId50"/>
              </p:custDataLst>
            </p:nvPr>
          </p:nvCxnSpPr>
          <p:spPr bwMode="auto">
            <a:xfrm flipV="1">
              <a:off x="7128000" y="2232000"/>
              <a:ext cx="0" cy="57600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40" name="直接箭头连接符 139">
              <a:extLst>
                <a:ext uri="{FF2B5EF4-FFF2-40B4-BE49-F238E27FC236}">
                  <a16:creationId xmlns:a16="http://schemas.microsoft.com/office/drawing/2014/main" id="{FCE12CBF-869D-468C-8014-09488FC20645}"/>
                </a:ext>
              </a:extLst>
            </p:cNvPr>
            <p:cNvCxnSpPr/>
            <p:nvPr>
              <p:custDataLst>
                <p:tags r:id="rId51"/>
              </p:custDataLst>
            </p:nvPr>
          </p:nvCxnSpPr>
          <p:spPr bwMode="auto">
            <a:xfrm>
              <a:off x="6984000" y="2232000"/>
              <a:ext cx="0" cy="576064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46" name="直接箭头连接符 145">
              <a:extLst>
                <a:ext uri="{FF2B5EF4-FFF2-40B4-BE49-F238E27FC236}">
                  <a16:creationId xmlns:a16="http://schemas.microsoft.com/office/drawing/2014/main" id="{107DB4AB-D336-451D-8EC7-35AD17A71095}"/>
                </a:ext>
              </a:extLst>
            </p:cNvPr>
            <p:cNvCxnSpPr/>
            <p:nvPr>
              <p:custDataLst>
                <p:tags r:id="rId52"/>
              </p:custDataLst>
            </p:nvPr>
          </p:nvCxnSpPr>
          <p:spPr bwMode="auto">
            <a:xfrm flipV="1">
              <a:off x="6768000" y="2358000"/>
              <a:ext cx="21600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57" name="直接箭头连接符 156">
              <a:extLst>
                <a:ext uri="{FF2B5EF4-FFF2-40B4-BE49-F238E27FC236}">
                  <a16:creationId xmlns:a16="http://schemas.microsoft.com/office/drawing/2014/main" id="{63D9A003-6F3A-4049-BA78-D248B72346C5}"/>
                </a:ext>
              </a:extLst>
            </p:cNvPr>
            <p:cNvCxnSpPr>
              <a:cxnSpLocks/>
            </p:cNvCxnSpPr>
            <p:nvPr>
              <p:custDataLst>
                <p:tags r:id="rId53"/>
              </p:custDataLst>
            </p:nvPr>
          </p:nvCxnSpPr>
          <p:spPr bwMode="auto">
            <a:xfrm flipH="1">
              <a:off x="7524104" y="2132854"/>
              <a:ext cx="360000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58" name="直接连接符 142">
              <a:extLst>
                <a:ext uri="{FF2B5EF4-FFF2-40B4-BE49-F238E27FC236}">
                  <a16:creationId xmlns:a16="http://schemas.microsoft.com/office/drawing/2014/main" id="{8CE52FFF-3B70-4308-B539-27670165F8E8}"/>
                </a:ext>
              </a:extLst>
            </p:cNvPr>
            <p:cNvCxnSpPr/>
            <p:nvPr>
              <p:custDataLst>
                <p:tags r:id="rId54"/>
              </p:custDataLst>
            </p:nvPr>
          </p:nvCxnSpPr>
          <p:spPr bwMode="auto">
            <a:xfrm>
              <a:off x="7884000" y="2052000"/>
              <a:ext cx="0" cy="144000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59" name="Text Box 213">
              <a:extLst>
                <a:ext uri="{FF2B5EF4-FFF2-40B4-BE49-F238E27FC236}">
                  <a16:creationId xmlns:a16="http://schemas.microsoft.com/office/drawing/2014/main" id="{DDFAB8B0-8955-4407-9D39-471E4007AD67}"/>
                </a:ext>
              </a:extLst>
            </p:cNvPr>
            <p:cNvSpPr txBox="1">
              <a:spLocks noChangeArrowheads="1"/>
            </p:cNvSpPr>
            <p:nvPr>
              <p:custDataLst>
                <p:tags r:id="rId55"/>
              </p:custDataLst>
            </p:nvPr>
          </p:nvSpPr>
          <p:spPr bwMode="auto">
            <a:xfrm>
              <a:off x="8244000" y="2736000"/>
              <a:ext cx="540059" cy="1368000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lIns="18000" tIns="10800" rIns="18000" bIns="10800" anchor="t" anchorCtr="0"/>
            <a:lstStyle/>
            <a:p>
              <a:pPr algn="ctr">
                <a:spcBef>
                  <a:spcPts val="0"/>
                </a:spcBef>
              </a:pPr>
              <a:endParaRPr lang="en-US" altLang="zh-CN" sz="1800" b="1" dirty="0">
                <a:latin typeface="宋体" panose="02010600030101010101" pitchFamily="2" charset="-122"/>
              </a:endParaRPr>
            </a:p>
            <a:p>
              <a:pPr algn="ctr">
                <a:spcBef>
                  <a:spcPts val="0"/>
                </a:spcBef>
              </a:pPr>
              <a:endParaRPr lang="en-US" altLang="zh-CN" sz="1800" b="1" dirty="0">
                <a:latin typeface="宋体" panose="02010600030101010101" pitchFamily="2" charset="-122"/>
              </a:endParaRPr>
            </a:p>
            <a:p>
              <a:pPr algn="ctr">
                <a:spcBef>
                  <a:spcPts val="600"/>
                </a:spcBef>
              </a:pPr>
              <a:r>
                <a:rPr lang="en-US" altLang="zh-CN" sz="1800" b="1" dirty="0">
                  <a:latin typeface="宋体" panose="02010600030101010101" pitchFamily="2" charset="-122"/>
                </a:rPr>
                <a:t>…</a:t>
              </a:r>
              <a:endParaRPr lang="en-US" altLang="zh-CN" sz="1800" b="1" dirty="0">
                <a:solidFill>
                  <a:srgbClr val="C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60" name="Text Box 213">
              <a:extLst>
                <a:ext uri="{FF2B5EF4-FFF2-40B4-BE49-F238E27FC236}">
                  <a16:creationId xmlns:a16="http://schemas.microsoft.com/office/drawing/2014/main" id="{6CEFCFF5-D470-425B-B201-552D6C18BD12}"/>
                </a:ext>
              </a:extLst>
            </p:cNvPr>
            <p:cNvSpPr txBox="1">
              <a:spLocks noChangeArrowheads="1"/>
            </p:cNvSpPr>
            <p:nvPr>
              <p:custDataLst>
                <p:tags r:id="rId56"/>
              </p:custDataLst>
            </p:nvPr>
          </p:nvSpPr>
          <p:spPr bwMode="auto">
            <a:xfrm>
              <a:off x="864000" y="3060000"/>
              <a:ext cx="288032" cy="1044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vert="vert"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I/O</a:t>
              </a:r>
              <a:r>
                <a:rPr lang="zh-CN" altLang="en-US" sz="1800" b="1" dirty="0">
                  <a:latin typeface="宋体" panose="02010600030101010101" pitchFamily="2" charset="-122"/>
                </a:rPr>
                <a:t>接口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n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161" name="直接箭头连接符 160">
              <a:extLst>
                <a:ext uri="{FF2B5EF4-FFF2-40B4-BE49-F238E27FC236}">
                  <a16:creationId xmlns:a16="http://schemas.microsoft.com/office/drawing/2014/main" id="{ECDD40C0-8D15-4A0E-B7AF-412B687ADEAD}"/>
                </a:ext>
              </a:extLst>
            </p:cNvPr>
            <p:cNvCxnSpPr/>
            <p:nvPr>
              <p:custDataLst>
                <p:tags r:id="rId57"/>
              </p:custDataLst>
            </p:nvPr>
          </p:nvCxnSpPr>
          <p:spPr bwMode="auto">
            <a:xfrm flipV="1">
              <a:off x="5472000" y="3708000"/>
              <a:ext cx="359494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62" name="直接箭头连接符 161">
              <a:extLst>
                <a:ext uri="{FF2B5EF4-FFF2-40B4-BE49-F238E27FC236}">
                  <a16:creationId xmlns:a16="http://schemas.microsoft.com/office/drawing/2014/main" id="{6929A848-8143-4719-AE17-7B62D215EE78}"/>
                </a:ext>
              </a:extLst>
            </p:cNvPr>
            <p:cNvCxnSpPr/>
            <p:nvPr>
              <p:custDataLst>
                <p:tags r:id="rId58"/>
              </p:custDataLst>
            </p:nvPr>
          </p:nvCxnSpPr>
          <p:spPr bwMode="auto">
            <a:xfrm flipV="1">
              <a:off x="6228000" y="2376000"/>
              <a:ext cx="0" cy="46800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63" name="直接箭头连接符 162">
              <a:extLst>
                <a:ext uri="{FF2B5EF4-FFF2-40B4-BE49-F238E27FC236}">
                  <a16:creationId xmlns:a16="http://schemas.microsoft.com/office/drawing/2014/main" id="{B4DB44D8-593C-44D1-A1B9-97BF685D9A6A}"/>
                </a:ext>
              </a:extLst>
            </p:cNvPr>
            <p:cNvCxnSpPr/>
            <p:nvPr>
              <p:custDataLst>
                <p:tags r:id="rId59"/>
              </p:custDataLst>
            </p:nvPr>
          </p:nvCxnSpPr>
          <p:spPr bwMode="auto">
            <a:xfrm>
              <a:off x="6120000" y="2376000"/>
              <a:ext cx="0" cy="46800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64" name="Text Box 111">
              <a:extLst>
                <a:ext uri="{FF2B5EF4-FFF2-40B4-BE49-F238E27FC236}">
                  <a16:creationId xmlns:a16="http://schemas.microsoft.com/office/drawing/2014/main" id="{F99F82B3-46C9-41E0-9FF0-88C14FF08648}"/>
                </a:ext>
              </a:extLst>
            </p:cNvPr>
            <p:cNvSpPr txBox="1">
              <a:spLocks noChangeArrowheads="1"/>
            </p:cNvSpPr>
            <p:nvPr>
              <p:custDataLst>
                <p:tags r:id="rId60"/>
              </p:custDataLst>
            </p:nvPr>
          </p:nvSpPr>
          <p:spPr bwMode="auto">
            <a:xfrm>
              <a:off x="2267744" y="3060000"/>
              <a:ext cx="360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NMI</a:t>
              </a:r>
            </a:p>
          </p:txBody>
        </p:sp>
        <p:sp>
          <p:nvSpPr>
            <p:cNvPr id="165" name="Text Box 111">
              <a:extLst>
                <a:ext uri="{FF2B5EF4-FFF2-40B4-BE49-F238E27FC236}">
                  <a16:creationId xmlns:a16="http://schemas.microsoft.com/office/drawing/2014/main" id="{995E288D-5CFD-48C3-A3E4-EF64CE2CFDC2}"/>
                </a:ext>
              </a:extLst>
            </p:cNvPr>
            <p:cNvSpPr txBox="1">
              <a:spLocks noChangeArrowheads="1"/>
            </p:cNvSpPr>
            <p:nvPr>
              <p:custDataLst>
                <p:tags r:id="rId61"/>
              </p:custDataLst>
            </p:nvPr>
          </p:nvSpPr>
          <p:spPr bwMode="auto">
            <a:xfrm>
              <a:off x="2195736" y="3634400"/>
              <a:ext cx="457947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INTR</a:t>
              </a:r>
            </a:p>
          </p:txBody>
        </p:sp>
        <p:sp>
          <p:nvSpPr>
            <p:cNvPr id="183" name="Text Box 111">
              <a:extLst>
                <a:ext uri="{FF2B5EF4-FFF2-40B4-BE49-F238E27FC236}">
                  <a16:creationId xmlns:a16="http://schemas.microsoft.com/office/drawing/2014/main" id="{4D499168-1C7C-4CBC-9F4B-7AAED28A4D07}"/>
                </a:ext>
              </a:extLst>
            </p:cNvPr>
            <p:cNvSpPr txBox="1">
              <a:spLocks noChangeArrowheads="1"/>
            </p:cNvSpPr>
            <p:nvPr>
              <p:custDataLst>
                <p:tags r:id="rId62"/>
              </p:custDataLst>
            </p:nvPr>
          </p:nvSpPr>
          <p:spPr bwMode="auto">
            <a:xfrm>
              <a:off x="2195736" y="3996000"/>
              <a:ext cx="504056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INTA</a:t>
              </a:r>
            </a:p>
          </p:txBody>
        </p:sp>
        <p:cxnSp>
          <p:nvCxnSpPr>
            <p:cNvPr id="184" name="直接箭头连接符 183">
              <a:extLst>
                <a:ext uri="{FF2B5EF4-FFF2-40B4-BE49-F238E27FC236}">
                  <a16:creationId xmlns:a16="http://schemas.microsoft.com/office/drawing/2014/main" id="{13276E4E-62A9-4113-B0B7-441763DD723B}"/>
                </a:ext>
              </a:extLst>
            </p:cNvPr>
            <p:cNvCxnSpPr/>
            <p:nvPr>
              <p:custDataLst>
                <p:tags r:id="rId63"/>
              </p:custDataLst>
            </p:nvPr>
          </p:nvCxnSpPr>
          <p:spPr bwMode="auto">
            <a:xfrm>
              <a:off x="2262664" y="3996000"/>
              <a:ext cx="400254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85" name="直接箭头连接符 124">
              <a:extLst>
                <a:ext uri="{FF2B5EF4-FFF2-40B4-BE49-F238E27FC236}">
                  <a16:creationId xmlns:a16="http://schemas.microsoft.com/office/drawing/2014/main" id="{3984EC4B-0EB7-4B68-86B6-E6B1ADD08405}"/>
                </a:ext>
              </a:extLst>
            </p:cNvPr>
            <p:cNvCxnSpPr/>
            <p:nvPr>
              <p:custDataLst>
                <p:tags r:id="rId64"/>
              </p:custDataLst>
            </p:nvPr>
          </p:nvCxnSpPr>
          <p:spPr bwMode="auto">
            <a:xfrm flipV="1">
              <a:off x="5760000" y="2664000"/>
              <a:ext cx="5" cy="18000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186" name="Text Box 111">
              <a:extLst>
                <a:ext uri="{FF2B5EF4-FFF2-40B4-BE49-F238E27FC236}">
                  <a16:creationId xmlns:a16="http://schemas.microsoft.com/office/drawing/2014/main" id="{6895D0EF-4873-436F-84D6-9DC9DE07BA63}"/>
                </a:ext>
              </a:extLst>
            </p:cNvPr>
            <p:cNvSpPr txBox="1">
              <a:spLocks noChangeArrowheads="1"/>
            </p:cNvSpPr>
            <p:nvPr>
              <p:custDataLst>
                <p:tags r:id="rId65"/>
              </p:custDataLst>
            </p:nvPr>
          </p:nvSpPr>
          <p:spPr bwMode="auto">
            <a:xfrm>
              <a:off x="3391426" y="2916000"/>
              <a:ext cx="468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异常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87" name="Text Box 106">
              <a:extLst>
                <a:ext uri="{FF2B5EF4-FFF2-40B4-BE49-F238E27FC236}">
                  <a16:creationId xmlns:a16="http://schemas.microsoft.com/office/drawing/2014/main" id="{C3467C73-5CCE-4C8E-9470-4994B70EE618}"/>
                </a:ext>
              </a:extLst>
            </p:cNvPr>
            <p:cNvSpPr txBox="1">
              <a:spLocks noChangeArrowheads="1"/>
            </p:cNvSpPr>
            <p:nvPr>
              <p:custDataLst>
                <p:tags r:id="rId66"/>
              </p:custDataLst>
            </p:nvPr>
          </p:nvSpPr>
          <p:spPr bwMode="auto">
            <a:xfrm>
              <a:off x="4067944" y="3204000"/>
              <a:ext cx="217285" cy="25200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&amp;</a:t>
              </a:r>
              <a:endParaRPr lang="en-US" altLang="zh-CN" sz="2000" b="1" dirty="0">
                <a:latin typeface="宋体" panose="02010600030101010101" pitchFamily="2" charset="-122"/>
              </a:endParaRPr>
            </a:p>
          </p:txBody>
        </p:sp>
        <p:sp>
          <p:nvSpPr>
            <p:cNvPr id="188" name="Text Box 106">
              <a:extLst>
                <a:ext uri="{FF2B5EF4-FFF2-40B4-BE49-F238E27FC236}">
                  <a16:creationId xmlns:a16="http://schemas.microsoft.com/office/drawing/2014/main" id="{4371A397-AE3A-41C3-BB46-F139C6FB1E2B}"/>
                </a:ext>
              </a:extLst>
            </p:cNvPr>
            <p:cNvSpPr txBox="1">
              <a:spLocks noChangeArrowheads="1"/>
            </p:cNvSpPr>
            <p:nvPr>
              <p:custDataLst>
                <p:tags r:id="rId67"/>
              </p:custDataLst>
            </p:nvPr>
          </p:nvSpPr>
          <p:spPr bwMode="auto">
            <a:xfrm>
              <a:off x="4067944" y="3528000"/>
              <a:ext cx="217285" cy="36000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&amp;</a:t>
              </a:r>
              <a:endParaRPr lang="en-US" altLang="zh-CN" sz="2000" b="1" dirty="0">
                <a:latin typeface="宋体" panose="02010600030101010101" pitchFamily="2" charset="-122"/>
              </a:endParaRPr>
            </a:p>
          </p:txBody>
        </p:sp>
        <p:sp>
          <p:nvSpPr>
            <p:cNvPr id="189" name="Text Box 213">
              <a:extLst>
                <a:ext uri="{FF2B5EF4-FFF2-40B4-BE49-F238E27FC236}">
                  <a16:creationId xmlns:a16="http://schemas.microsoft.com/office/drawing/2014/main" id="{9168CC65-0207-48F6-B9FB-227843AAB9FC}"/>
                </a:ext>
              </a:extLst>
            </p:cNvPr>
            <p:cNvSpPr txBox="1">
              <a:spLocks noChangeArrowheads="1"/>
            </p:cNvSpPr>
            <p:nvPr>
              <p:custDataLst>
                <p:tags r:id="rId68"/>
              </p:custDataLst>
            </p:nvPr>
          </p:nvSpPr>
          <p:spPr bwMode="auto">
            <a:xfrm>
              <a:off x="7704000" y="3492000"/>
              <a:ext cx="288000" cy="540000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vert="vert"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BIU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190" name="直接箭头连接符 189">
              <a:extLst>
                <a:ext uri="{FF2B5EF4-FFF2-40B4-BE49-F238E27FC236}">
                  <a16:creationId xmlns:a16="http://schemas.microsoft.com/office/drawing/2014/main" id="{69E7902F-BAC2-4AC7-B242-F793932650C3}"/>
                </a:ext>
              </a:extLst>
            </p:cNvPr>
            <p:cNvCxnSpPr/>
            <p:nvPr>
              <p:custDataLst>
                <p:tags r:id="rId69"/>
              </p:custDataLst>
            </p:nvPr>
          </p:nvCxnSpPr>
          <p:spPr bwMode="auto">
            <a:xfrm>
              <a:off x="4285229" y="3708000"/>
              <a:ext cx="900000" cy="579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92" name="直接箭头连接符 191">
              <a:extLst>
                <a:ext uri="{FF2B5EF4-FFF2-40B4-BE49-F238E27FC236}">
                  <a16:creationId xmlns:a16="http://schemas.microsoft.com/office/drawing/2014/main" id="{E19D5943-5E1E-44F1-AF7E-47C71FEC8D20}"/>
                </a:ext>
              </a:extLst>
            </p:cNvPr>
            <p:cNvCxnSpPr/>
            <p:nvPr>
              <p:custDataLst>
                <p:tags r:id="rId70"/>
              </p:custDataLst>
            </p:nvPr>
          </p:nvCxnSpPr>
          <p:spPr bwMode="auto">
            <a:xfrm>
              <a:off x="4283968" y="3348000"/>
              <a:ext cx="900000" cy="579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93" name="直接连接符 192">
              <a:extLst>
                <a:ext uri="{FF2B5EF4-FFF2-40B4-BE49-F238E27FC236}">
                  <a16:creationId xmlns:a16="http://schemas.microsoft.com/office/drawing/2014/main" id="{AC6D1DD9-461A-41F9-8C5A-D6E1445E3C7A}"/>
                </a:ext>
              </a:extLst>
            </p:cNvPr>
            <p:cNvCxnSpPr/>
            <p:nvPr>
              <p:custDataLst>
                <p:tags r:id="rId71"/>
              </p:custDataLst>
            </p:nvPr>
          </p:nvCxnSpPr>
          <p:spPr bwMode="auto">
            <a:xfrm>
              <a:off x="288000" y="4392000"/>
              <a:ext cx="8496000" cy="0"/>
            </a:xfrm>
            <a:prstGeom prst="line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4" name="直接箭头连接符 193">
              <a:extLst>
                <a:ext uri="{FF2B5EF4-FFF2-40B4-BE49-F238E27FC236}">
                  <a16:creationId xmlns:a16="http://schemas.microsoft.com/office/drawing/2014/main" id="{6F8DFCA3-9BE8-40D1-B261-384EC610ADCD}"/>
                </a:ext>
              </a:extLst>
            </p:cNvPr>
            <p:cNvCxnSpPr/>
            <p:nvPr>
              <p:custDataLst>
                <p:tags r:id="rId72"/>
              </p:custDataLst>
            </p:nvPr>
          </p:nvCxnSpPr>
          <p:spPr bwMode="auto">
            <a:xfrm>
              <a:off x="3600000" y="3708223"/>
              <a:ext cx="473826" cy="1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95" name="直接箭头连接符 72">
              <a:extLst>
                <a:ext uri="{FF2B5EF4-FFF2-40B4-BE49-F238E27FC236}">
                  <a16:creationId xmlns:a16="http://schemas.microsoft.com/office/drawing/2014/main" id="{0405537F-D7E9-4075-8262-B5A6A4AFDE1A}"/>
                </a:ext>
              </a:extLst>
            </p:cNvPr>
            <p:cNvCxnSpPr/>
            <p:nvPr>
              <p:custDataLst>
                <p:tags r:id="rId73"/>
              </p:custDataLst>
            </p:nvPr>
          </p:nvCxnSpPr>
          <p:spPr bwMode="auto">
            <a:xfrm>
              <a:off x="3708000" y="3384000"/>
              <a:ext cx="0" cy="2160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sp>
          <p:nvSpPr>
            <p:cNvPr id="196" name="Text Box 111">
              <a:extLst>
                <a:ext uri="{FF2B5EF4-FFF2-40B4-BE49-F238E27FC236}">
                  <a16:creationId xmlns:a16="http://schemas.microsoft.com/office/drawing/2014/main" id="{BBD598CF-E815-4199-ACDA-EC0202FA69EF}"/>
                </a:ext>
              </a:extLst>
            </p:cNvPr>
            <p:cNvSpPr txBox="1">
              <a:spLocks noChangeArrowheads="1"/>
            </p:cNvSpPr>
            <p:nvPr>
              <p:custDataLst>
                <p:tags r:id="rId74"/>
              </p:custDataLst>
            </p:nvPr>
          </p:nvSpPr>
          <p:spPr bwMode="auto">
            <a:xfrm>
              <a:off x="8316417" y="2467994"/>
              <a:ext cx="540059" cy="288032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主存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97" name="Text Box 213">
              <a:extLst>
                <a:ext uri="{FF2B5EF4-FFF2-40B4-BE49-F238E27FC236}">
                  <a16:creationId xmlns:a16="http://schemas.microsoft.com/office/drawing/2014/main" id="{DCA66ECF-5E4F-48DE-9AD7-D07953961390}"/>
                </a:ext>
              </a:extLst>
            </p:cNvPr>
            <p:cNvSpPr txBox="1">
              <a:spLocks noChangeArrowheads="1"/>
            </p:cNvSpPr>
            <p:nvPr>
              <p:custDataLst>
                <p:tags r:id="rId75"/>
              </p:custDataLst>
            </p:nvPr>
          </p:nvSpPr>
          <p:spPr bwMode="auto">
            <a:xfrm>
              <a:off x="1296000" y="3564000"/>
              <a:ext cx="792088" cy="540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中断</a:t>
              </a:r>
              <a:endParaRPr lang="en-US" altLang="zh-CN" sz="1800" b="1" dirty="0"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控制器</a:t>
              </a:r>
            </a:p>
          </p:txBody>
        </p:sp>
        <p:sp>
          <p:nvSpPr>
            <p:cNvPr id="199" name="Text Box 213">
              <a:extLst>
                <a:ext uri="{FF2B5EF4-FFF2-40B4-BE49-F238E27FC236}">
                  <a16:creationId xmlns:a16="http://schemas.microsoft.com/office/drawing/2014/main" id="{05D1C0BE-C644-40CB-8826-1A81FBF86AD6}"/>
                </a:ext>
              </a:extLst>
            </p:cNvPr>
            <p:cNvSpPr txBox="1">
              <a:spLocks noChangeArrowheads="1"/>
            </p:cNvSpPr>
            <p:nvPr>
              <p:custDataLst>
                <p:tags r:id="rId76"/>
              </p:custDataLst>
            </p:nvPr>
          </p:nvSpPr>
          <p:spPr bwMode="auto">
            <a:xfrm>
              <a:off x="288000" y="3060000"/>
              <a:ext cx="288032" cy="1044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vert="vert"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I/O</a:t>
              </a:r>
              <a:r>
                <a:rPr lang="zh-CN" altLang="en-US" sz="1800" b="1" dirty="0">
                  <a:latin typeface="宋体" panose="02010600030101010101" pitchFamily="2" charset="-122"/>
                </a:rPr>
                <a:t>接口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1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202" name="Text Box 217">
              <a:extLst>
                <a:ext uri="{FF2B5EF4-FFF2-40B4-BE49-F238E27FC236}">
                  <a16:creationId xmlns:a16="http://schemas.microsoft.com/office/drawing/2014/main" id="{B285B895-BE16-4664-9631-C5ABBDAB6298}"/>
                </a:ext>
              </a:extLst>
            </p:cNvPr>
            <p:cNvSpPr txBox="1">
              <a:spLocks noChangeArrowheads="1"/>
            </p:cNvSpPr>
            <p:nvPr>
              <p:custDataLst>
                <p:tags r:id="rId77"/>
              </p:custDataLst>
            </p:nvPr>
          </p:nvSpPr>
          <p:spPr bwMode="auto">
            <a:xfrm>
              <a:off x="612000" y="3528000"/>
              <a:ext cx="216023" cy="18034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+mn-ea"/>
                  <a:ea typeface="+mn-ea"/>
                </a:rPr>
                <a:t>…</a:t>
              </a:r>
            </a:p>
          </p:txBody>
        </p:sp>
        <p:cxnSp>
          <p:nvCxnSpPr>
            <p:cNvPr id="203" name="直接连接符 202">
              <a:extLst>
                <a:ext uri="{FF2B5EF4-FFF2-40B4-BE49-F238E27FC236}">
                  <a16:creationId xmlns:a16="http://schemas.microsoft.com/office/drawing/2014/main" id="{D47AE631-E617-4D92-821A-4BF4D99E8E0A}"/>
                </a:ext>
              </a:extLst>
            </p:cNvPr>
            <p:cNvCxnSpPr/>
            <p:nvPr>
              <p:custDataLst>
                <p:tags r:id="rId78"/>
              </p:custDataLst>
            </p:nvPr>
          </p:nvCxnSpPr>
          <p:spPr bwMode="auto">
            <a:xfrm flipV="1">
              <a:off x="432000" y="4104000"/>
              <a:ext cx="1" cy="288000"/>
            </a:xfrm>
            <a:prstGeom prst="line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4" name="直接连接符 203">
              <a:extLst>
                <a:ext uri="{FF2B5EF4-FFF2-40B4-BE49-F238E27FC236}">
                  <a16:creationId xmlns:a16="http://schemas.microsoft.com/office/drawing/2014/main" id="{B9597EDF-3FB3-4388-BAC9-9F8DA7092813}"/>
                </a:ext>
              </a:extLst>
            </p:cNvPr>
            <p:cNvCxnSpPr/>
            <p:nvPr>
              <p:custDataLst>
                <p:tags r:id="rId79"/>
              </p:custDataLst>
            </p:nvPr>
          </p:nvCxnSpPr>
          <p:spPr bwMode="auto">
            <a:xfrm flipV="1">
              <a:off x="1008000" y="4104000"/>
              <a:ext cx="1" cy="288000"/>
            </a:xfrm>
            <a:prstGeom prst="line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6" name="直接连接符 205">
              <a:extLst>
                <a:ext uri="{FF2B5EF4-FFF2-40B4-BE49-F238E27FC236}">
                  <a16:creationId xmlns:a16="http://schemas.microsoft.com/office/drawing/2014/main" id="{F91C977D-5C4E-4BCA-8822-72D43C6F521F}"/>
                </a:ext>
              </a:extLst>
            </p:cNvPr>
            <p:cNvCxnSpPr/>
            <p:nvPr>
              <p:custDataLst>
                <p:tags r:id="rId80"/>
              </p:custDataLst>
            </p:nvPr>
          </p:nvCxnSpPr>
          <p:spPr bwMode="auto">
            <a:xfrm flipV="1">
              <a:off x="1691680" y="4104000"/>
              <a:ext cx="0" cy="288000"/>
            </a:xfrm>
            <a:prstGeom prst="line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7" name="直接连接符 206">
              <a:extLst>
                <a:ext uri="{FF2B5EF4-FFF2-40B4-BE49-F238E27FC236}">
                  <a16:creationId xmlns:a16="http://schemas.microsoft.com/office/drawing/2014/main" id="{D82F8A19-C9A2-4B7C-AB81-BAEB0FB08B31}"/>
                </a:ext>
              </a:extLst>
            </p:cNvPr>
            <p:cNvCxnSpPr>
              <a:cxnSpLocks/>
            </p:cNvCxnSpPr>
            <p:nvPr>
              <p:custDataLst>
                <p:tags r:id="rId81"/>
              </p:custDataLst>
            </p:nvPr>
          </p:nvCxnSpPr>
          <p:spPr bwMode="auto">
            <a:xfrm flipV="1">
              <a:off x="7884000" y="4032000"/>
              <a:ext cx="0" cy="360000"/>
            </a:xfrm>
            <a:prstGeom prst="line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4" name="直接连接符 253">
              <a:extLst>
                <a:ext uri="{FF2B5EF4-FFF2-40B4-BE49-F238E27FC236}">
                  <a16:creationId xmlns:a16="http://schemas.microsoft.com/office/drawing/2014/main" id="{33C755D8-C920-4C99-829B-437466788994}"/>
                </a:ext>
              </a:extLst>
            </p:cNvPr>
            <p:cNvCxnSpPr>
              <a:cxnSpLocks/>
            </p:cNvCxnSpPr>
            <p:nvPr>
              <p:custDataLst>
                <p:tags r:id="rId82"/>
              </p:custDataLst>
            </p:nvPr>
          </p:nvCxnSpPr>
          <p:spPr bwMode="auto">
            <a:xfrm flipV="1">
              <a:off x="8532440" y="4104000"/>
              <a:ext cx="0" cy="288000"/>
            </a:xfrm>
            <a:prstGeom prst="line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5" name="直接箭头连接符 254">
              <a:extLst>
                <a:ext uri="{FF2B5EF4-FFF2-40B4-BE49-F238E27FC236}">
                  <a16:creationId xmlns:a16="http://schemas.microsoft.com/office/drawing/2014/main" id="{902FEC49-CAC2-445B-8EE2-DE23F84DFFA4}"/>
                </a:ext>
              </a:extLst>
            </p:cNvPr>
            <p:cNvCxnSpPr/>
            <p:nvPr>
              <p:custDataLst>
                <p:tags r:id="rId83"/>
              </p:custDataLst>
            </p:nvPr>
          </p:nvCxnSpPr>
          <p:spPr bwMode="auto">
            <a:xfrm>
              <a:off x="2339752" y="2304000"/>
              <a:ext cx="0" cy="1800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56" name="直接箭头连接符 255">
              <a:extLst>
                <a:ext uri="{FF2B5EF4-FFF2-40B4-BE49-F238E27FC236}">
                  <a16:creationId xmlns:a16="http://schemas.microsoft.com/office/drawing/2014/main" id="{56F71D3B-AEAD-4318-9B6C-BAA0151CD88A}"/>
                </a:ext>
              </a:extLst>
            </p:cNvPr>
            <p:cNvCxnSpPr/>
            <p:nvPr>
              <p:custDataLst>
                <p:tags r:id="rId84"/>
              </p:custDataLst>
            </p:nvPr>
          </p:nvCxnSpPr>
          <p:spPr bwMode="auto">
            <a:xfrm>
              <a:off x="2051720" y="2304000"/>
              <a:ext cx="0" cy="1800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258" name="Text Box 217">
              <a:extLst>
                <a:ext uri="{FF2B5EF4-FFF2-40B4-BE49-F238E27FC236}">
                  <a16:creationId xmlns:a16="http://schemas.microsoft.com/office/drawing/2014/main" id="{77570C10-C1AE-4B95-B6D0-139B55A2FC96}"/>
                </a:ext>
              </a:extLst>
            </p:cNvPr>
            <p:cNvSpPr txBox="1">
              <a:spLocks noChangeArrowheads="1"/>
            </p:cNvSpPr>
            <p:nvPr>
              <p:custDataLst>
                <p:tags r:id="rId85"/>
              </p:custDataLst>
            </p:nvPr>
          </p:nvSpPr>
          <p:spPr bwMode="auto">
            <a:xfrm>
              <a:off x="2088000" y="2268000"/>
              <a:ext cx="216023" cy="18034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rgbClr val="CC3300"/>
                  </a:solidFill>
                  <a:latin typeface="+mn-ea"/>
                  <a:ea typeface="+mn-ea"/>
                </a:rPr>
                <a:t>…</a:t>
              </a:r>
            </a:p>
          </p:txBody>
        </p:sp>
        <p:sp>
          <p:nvSpPr>
            <p:cNvPr id="259" name="Text Box 111">
              <a:extLst>
                <a:ext uri="{FF2B5EF4-FFF2-40B4-BE49-F238E27FC236}">
                  <a16:creationId xmlns:a16="http://schemas.microsoft.com/office/drawing/2014/main" id="{34933F8B-9C37-4294-BE45-50EDD2C77F69}"/>
                </a:ext>
              </a:extLst>
            </p:cNvPr>
            <p:cNvSpPr txBox="1">
              <a:spLocks noChangeArrowheads="1"/>
            </p:cNvSpPr>
            <p:nvPr>
              <p:custDataLst>
                <p:tags r:id="rId86"/>
              </p:custDataLst>
            </p:nvPr>
          </p:nvSpPr>
          <p:spPr bwMode="auto">
            <a:xfrm>
              <a:off x="2880000" y="3600000"/>
              <a:ext cx="720000" cy="180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标志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IF</a:t>
              </a:r>
            </a:p>
          </p:txBody>
        </p:sp>
        <p:sp>
          <p:nvSpPr>
            <p:cNvPr id="260" name="Text Box 111">
              <a:extLst>
                <a:ext uri="{FF2B5EF4-FFF2-40B4-BE49-F238E27FC236}">
                  <a16:creationId xmlns:a16="http://schemas.microsoft.com/office/drawing/2014/main" id="{01054239-1C8B-4082-A501-F945C47CEFEF}"/>
                </a:ext>
              </a:extLst>
            </p:cNvPr>
            <p:cNvSpPr txBox="1">
              <a:spLocks noChangeArrowheads="1"/>
            </p:cNvSpPr>
            <p:nvPr>
              <p:custDataLst>
                <p:tags r:id="rId87"/>
              </p:custDataLst>
            </p:nvPr>
          </p:nvSpPr>
          <p:spPr bwMode="auto">
            <a:xfrm>
              <a:off x="2736000" y="3312000"/>
              <a:ext cx="432048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End</a:t>
              </a:r>
            </a:p>
          </p:txBody>
        </p:sp>
        <p:sp>
          <p:nvSpPr>
            <p:cNvPr id="264" name="Text Box 111">
              <a:extLst>
                <a:ext uri="{FF2B5EF4-FFF2-40B4-BE49-F238E27FC236}">
                  <a16:creationId xmlns:a16="http://schemas.microsoft.com/office/drawing/2014/main" id="{0B0710EC-5FC7-42DE-A245-A0DB23E12328}"/>
                </a:ext>
              </a:extLst>
            </p:cNvPr>
            <p:cNvSpPr txBox="1">
              <a:spLocks noChangeArrowheads="1"/>
            </p:cNvSpPr>
            <p:nvPr>
              <p:custDataLst>
                <p:tags r:id="rId88"/>
              </p:custDataLst>
            </p:nvPr>
          </p:nvSpPr>
          <p:spPr bwMode="auto">
            <a:xfrm>
              <a:off x="6372000" y="2268064"/>
              <a:ext cx="395498" cy="180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EPC</a:t>
              </a:r>
            </a:p>
          </p:txBody>
        </p:sp>
        <p:sp>
          <p:nvSpPr>
            <p:cNvPr id="265" name="Text Box 106">
              <a:extLst>
                <a:ext uri="{FF2B5EF4-FFF2-40B4-BE49-F238E27FC236}">
                  <a16:creationId xmlns:a16="http://schemas.microsoft.com/office/drawing/2014/main" id="{B0864F38-42AA-4003-AB69-60D9001F9A3E}"/>
                </a:ext>
              </a:extLst>
            </p:cNvPr>
            <p:cNvSpPr txBox="1">
              <a:spLocks noChangeArrowheads="1"/>
            </p:cNvSpPr>
            <p:nvPr>
              <p:custDataLst>
                <p:tags r:id="rId89"/>
              </p:custDataLst>
            </p:nvPr>
          </p:nvSpPr>
          <p:spPr bwMode="auto">
            <a:xfrm>
              <a:off x="5832000" y="3600000"/>
              <a:ext cx="217285" cy="2160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endParaRPr lang="en-US" altLang="zh-CN" sz="20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266" name="直接箭头连接符 265">
              <a:extLst>
                <a:ext uri="{FF2B5EF4-FFF2-40B4-BE49-F238E27FC236}">
                  <a16:creationId xmlns:a16="http://schemas.microsoft.com/office/drawing/2014/main" id="{FCE91E2B-8A05-49E9-800C-0620EE71C461}"/>
                </a:ext>
              </a:extLst>
            </p:cNvPr>
            <p:cNvCxnSpPr/>
            <p:nvPr>
              <p:custDataLst>
                <p:tags r:id="rId90"/>
              </p:custDataLst>
            </p:nvPr>
          </p:nvCxnSpPr>
          <p:spPr bwMode="auto">
            <a:xfrm>
              <a:off x="6048000" y="3708000"/>
              <a:ext cx="1656000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267" name="Text Box 111">
              <a:extLst>
                <a:ext uri="{FF2B5EF4-FFF2-40B4-BE49-F238E27FC236}">
                  <a16:creationId xmlns:a16="http://schemas.microsoft.com/office/drawing/2014/main" id="{CA4DFCBD-4565-4FF4-A309-9CFA57169F3B}"/>
                </a:ext>
              </a:extLst>
            </p:cNvPr>
            <p:cNvSpPr txBox="1">
              <a:spLocks noChangeArrowheads="1"/>
            </p:cNvSpPr>
            <p:nvPr>
              <p:custDataLst>
                <p:tags r:id="rId91"/>
              </p:custDataLst>
            </p:nvPr>
          </p:nvSpPr>
          <p:spPr bwMode="auto">
            <a:xfrm>
              <a:off x="5025451" y="4140000"/>
              <a:ext cx="900000" cy="252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系统总线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268" name="直接箭头连接符 267">
              <a:extLst>
                <a:ext uri="{FF2B5EF4-FFF2-40B4-BE49-F238E27FC236}">
                  <a16:creationId xmlns:a16="http://schemas.microsoft.com/office/drawing/2014/main" id="{E98819E7-1BCA-4343-823D-15CDD23F5C02}"/>
                </a:ext>
              </a:extLst>
            </p:cNvPr>
            <p:cNvCxnSpPr/>
            <p:nvPr>
              <p:custDataLst>
                <p:tags r:id="rId92"/>
              </p:custDataLst>
            </p:nvPr>
          </p:nvCxnSpPr>
          <p:spPr bwMode="auto">
            <a:xfrm>
              <a:off x="4176000" y="3132000"/>
              <a:ext cx="1008112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69" name="直接箭头连接符 268">
              <a:extLst>
                <a:ext uri="{FF2B5EF4-FFF2-40B4-BE49-F238E27FC236}">
                  <a16:creationId xmlns:a16="http://schemas.microsoft.com/office/drawing/2014/main" id="{E85F5497-984E-4506-BC8B-0278C2B19F52}"/>
                </a:ext>
              </a:extLst>
            </p:cNvPr>
            <p:cNvCxnSpPr/>
            <p:nvPr>
              <p:custDataLst>
                <p:tags r:id="rId93"/>
              </p:custDataLst>
            </p:nvPr>
          </p:nvCxnSpPr>
          <p:spPr bwMode="auto">
            <a:xfrm>
              <a:off x="2808000" y="3132000"/>
              <a:ext cx="136800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70" name="直接箭头连接符 269">
              <a:extLst>
                <a:ext uri="{FF2B5EF4-FFF2-40B4-BE49-F238E27FC236}">
                  <a16:creationId xmlns:a16="http://schemas.microsoft.com/office/drawing/2014/main" id="{2DF24848-B843-4F1C-B145-D06FA91A1183}"/>
                </a:ext>
              </a:extLst>
            </p:cNvPr>
            <p:cNvCxnSpPr/>
            <p:nvPr>
              <p:custDataLst>
                <p:tags r:id="rId94"/>
              </p:custDataLst>
            </p:nvPr>
          </p:nvCxnSpPr>
          <p:spPr bwMode="auto">
            <a:xfrm flipH="1">
              <a:off x="2808000" y="1944000"/>
              <a:ext cx="10800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71" name="直接箭头连接符 270">
              <a:extLst>
                <a:ext uri="{FF2B5EF4-FFF2-40B4-BE49-F238E27FC236}">
                  <a16:creationId xmlns:a16="http://schemas.microsoft.com/office/drawing/2014/main" id="{44693CDF-E474-439F-91A0-8CD3F515C433}"/>
                </a:ext>
              </a:extLst>
            </p:cNvPr>
            <p:cNvCxnSpPr>
              <a:cxnSpLocks/>
            </p:cNvCxnSpPr>
            <p:nvPr>
              <p:custDataLst>
                <p:tags r:id="rId95"/>
              </p:custDataLst>
            </p:nvPr>
          </p:nvCxnSpPr>
          <p:spPr bwMode="auto">
            <a:xfrm>
              <a:off x="2808000" y="1944000"/>
              <a:ext cx="0" cy="11880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72" name="直接箭头连接符 271">
              <a:extLst>
                <a:ext uri="{FF2B5EF4-FFF2-40B4-BE49-F238E27FC236}">
                  <a16:creationId xmlns:a16="http://schemas.microsoft.com/office/drawing/2014/main" id="{1EF6B496-4FF5-4D15-A989-CC28CBB85BEF}"/>
                </a:ext>
              </a:extLst>
            </p:cNvPr>
            <p:cNvCxnSpPr>
              <a:cxnSpLocks/>
            </p:cNvCxnSpPr>
            <p:nvPr>
              <p:custDataLst>
                <p:tags r:id="rId96"/>
              </p:custDataLst>
            </p:nvPr>
          </p:nvCxnSpPr>
          <p:spPr bwMode="auto">
            <a:xfrm>
              <a:off x="3168000" y="3021140"/>
              <a:ext cx="0" cy="3600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73" name="直接箭头连接符 272">
              <a:extLst>
                <a:ext uri="{FF2B5EF4-FFF2-40B4-BE49-F238E27FC236}">
                  <a16:creationId xmlns:a16="http://schemas.microsoft.com/office/drawing/2014/main" id="{12797604-2B44-4212-A0EB-41529B256769}"/>
                </a:ext>
              </a:extLst>
            </p:cNvPr>
            <p:cNvCxnSpPr/>
            <p:nvPr>
              <p:custDataLst>
                <p:tags r:id="rId97"/>
              </p:custDataLst>
            </p:nvPr>
          </p:nvCxnSpPr>
          <p:spPr bwMode="auto">
            <a:xfrm>
              <a:off x="3168000" y="3384000"/>
              <a:ext cx="90000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74" name="直接箭头连接符 273">
              <a:extLst>
                <a:ext uri="{FF2B5EF4-FFF2-40B4-BE49-F238E27FC236}">
                  <a16:creationId xmlns:a16="http://schemas.microsoft.com/office/drawing/2014/main" id="{4961A54C-96D2-4B60-B13D-58E1DB7DBB9A}"/>
                </a:ext>
              </a:extLst>
            </p:cNvPr>
            <p:cNvCxnSpPr/>
            <p:nvPr>
              <p:custDataLst>
                <p:tags r:id="rId98"/>
              </p:custDataLst>
            </p:nvPr>
          </p:nvCxnSpPr>
          <p:spPr bwMode="auto">
            <a:xfrm>
              <a:off x="5328000" y="2664000"/>
              <a:ext cx="0" cy="14400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75" name="直接箭头连接符 274">
              <a:extLst>
                <a:ext uri="{FF2B5EF4-FFF2-40B4-BE49-F238E27FC236}">
                  <a16:creationId xmlns:a16="http://schemas.microsoft.com/office/drawing/2014/main" id="{12C7CF9F-74EB-4DD4-BF35-8C50DA950CB1}"/>
                </a:ext>
              </a:extLst>
            </p:cNvPr>
            <p:cNvCxnSpPr/>
            <p:nvPr>
              <p:custDataLst>
                <p:tags r:id="rId99"/>
              </p:custDataLst>
            </p:nvPr>
          </p:nvCxnSpPr>
          <p:spPr bwMode="auto">
            <a:xfrm flipH="1">
              <a:off x="5328000" y="2664000"/>
              <a:ext cx="432000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76" name="直接箭头连接符 275">
              <a:extLst>
                <a:ext uri="{FF2B5EF4-FFF2-40B4-BE49-F238E27FC236}">
                  <a16:creationId xmlns:a16="http://schemas.microsoft.com/office/drawing/2014/main" id="{957686FB-B6C4-45A5-81FC-676E659783D3}"/>
                </a:ext>
              </a:extLst>
            </p:cNvPr>
            <p:cNvCxnSpPr/>
            <p:nvPr>
              <p:custDataLst>
                <p:tags r:id="rId100"/>
              </p:custDataLst>
            </p:nvPr>
          </p:nvCxnSpPr>
          <p:spPr bwMode="auto">
            <a:xfrm>
              <a:off x="3708000" y="3600000"/>
              <a:ext cx="36000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77" name="直接箭头连接符 276">
              <a:extLst>
                <a:ext uri="{FF2B5EF4-FFF2-40B4-BE49-F238E27FC236}">
                  <a16:creationId xmlns:a16="http://schemas.microsoft.com/office/drawing/2014/main" id="{4777AC8F-7738-4FE2-AAB1-C8EE5D953446}"/>
                </a:ext>
              </a:extLst>
            </p:cNvPr>
            <p:cNvCxnSpPr/>
            <p:nvPr>
              <p:custDataLst>
                <p:tags r:id="rId101"/>
              </p:custDataLst>
            </p:nvPr>
          </p:nvCxnSpPr>
          <p:spPr bwMode="auto">
            <a:xfrm>
              <a:off x="5292000" y="3816000"/>
              <a:ext cx="0" cy="14400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78" name="直接箭头连接符 277">
              <a:extLst>
                <a:ext uri="{FF2B5EF4-FFF2-40B4-BE49-F238E27FC236}">
                  <a16:creationId xmlns:a16="http://schemas.microsoft.com/office/drawing/2014/main" id="{B78B27A9-ED44-42B9-AA1F-4376416B6885}"/>
                </a:ext>
              </a:extLst>
            </p:cNvPr>
            <p:cNvCxnSpPr>
              <a:cxnSpLocks/>
            </p:cNvCxnSpPr>
            <p:nvPr>
              <p:custDataLst>
                <p:tags r:id="rId102"/>
              </p:custDataLst>
            </p:nvPr>
          </p:nvCxnSpPr>
          <p:spPr bwMode="auto">
            <a:xfrm flipV="1">
              <a:off x="5400000" y="3816000"/>
              <a:ext cx="0" cy="14400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279" name="Text Box 213">
              <a:extLst>
                <a:ext uri="{FF2B5EF4-FFF2-40B4-BE49-F238E27FC236}">
                  <a16:creationId xmlns:a16="http://schemas.microsoft.com/office/drawing/2014/main" id="{17F319ED-98A8-444D-B18E-73FCADFD2E14}"/>
                </a:ext>
              </a:extLst>
            </p:cNvPr>
            <p:cNvSpPr txBox="1">
              <a:spLocks noChangeArrowheads="1"/>
            </p:cNvSpPr>
            <p:nvPr>
              <p:custDataLst>
                <p:tags r:id="rId103"/>
              </p:custDataLst>
            </p:nvPr>
          </p:nvSpPr>
          <p:spPr bwMode="auto">
            <a:xfrm>
              <a:off x="8243999" y="2952000"/>
              <a:ext cx="540059" cy="360000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/>
              <a:r>
                <a:rPr lang="en-US" altLang="zh-CN" sz="1800" b="1" dirty="0" err="1">
                  <a:solidFill>
                    <a:srgbClr val="C00000"/>
                  </a:solidFill>
                  <a:latin typeface="宋体" panose="02010600030101010101" pitchFamily="2" charset="-122"/>
                </a:rPr>
                <a:t>IPrg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280" name="Text Box 213">
              <a:extLst>
                <a:ext uri="{FF2B5EF4-FFF2-40B4-BE49-F238E27FC236}">
                  <a16:creationId xmlns:a16="http://schemas.microsoft.com/office/drawing/2014/main" id="{CAC8E9FA-FF8F-4313-9CE6-43CC31BFD27D}"/>
                </a:ext>
              </a:extLst>
            </p:cNvPr>
            <p:cNvSpPr txBox="1">
              <a:spLocks noChangeArrowheads="1"/>
            </p:cNvSpPr>
            <p:nvPr>
              <p:custDataLst>
                <p:tags r:id="rId104"/>
              </p:custDataLst>
            </p:nvPr>
          </p:nvSpPr>
          <p:spPr bwMode="auto">
            <a:xfrm>
              <a:off x="8243940" y="3816000"/>
              <a:ext cx="540059" cy="288000"/>
            </a:xfrm>
            <a:prstGeom prst="rect">
              <a:avLst/>
            </a:prstGeom>
            <a:solidFill>
              <a:srgbClr val="FFFF99"/>
            </a:solidFill>
            <a:ln w="15875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/>
              <a:r>
                <a:rPr lang="en-US" altLang="zh-CN" sz="1800" b="1" dirty="0">
                  <a:solidFill>
                    <a:srgbClr val="C00000"/>
                  </a:solidFill>
                  <a:latin typeface="宋体" panose="02010600030101010101" pitchFamily="2" charset="-122"/>
                </a:rPr>
                <a:t>IVT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281" name="直接箭头连接符 280">
              <a:extLst>
                <a:ext uri="{FF2B5EF4-FFF2-40B4-BE49-F238E27FC236}">
                  <a16:creationId xmlns:a16="http://schemas.microsoft.com/office/drawing/2014/main" id="{9475C26F-8F1B-430E-9F26-CFBEBBE2B310}"/>
                </a:ext>
              </a:extLst>
            </p:cNvPr>
            <p:cNvCxnSpPr>
              <a:cxnSpLocks/>
            </p:cNvCxnSpPr>
            <p:nvPr>
              <p:custDataLst>
                <p:tags r:id="rId105"/>
              </p:custDataLst>
            </p:nvPr>
          </p:nvCxnSpPr>
          <p:spPr bwMode="auto">
            <a:xfrm flipH="1">
              <a:off x="2196000" y="2700000"/>
              <a:ext cx="0" cy="5760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282" name="Text Box 260">
              <a:extLst>
                <a:ext uri="{FF2B5EF4-FFF2-40B4-BE49-F238E27FC236}">
                  <a16:creationId xmlns:a16="http://schemas.microsoft.com/office/drawing/2014/main" id="{A8B91E78-4B82-4F76-950B-ACE7216BBAD3}"/>
                </a:ext>
              </a:extLst>
            </p:cNvPr>
            <p:cNvSpPr txBox="1">
              <a:spLocks noChangeArrowheads="1"/>
            </p:cNvSpPr>
            <p:nvPr>
              <p:custDataLst>
                <p:tags r:id="rId106"/>
              </p:custDataLst>
            </p:nvPr>
          </p:nvSpPr>
          <p:spPr bwMode="auto">
            <a:xfrm>
              <a:off x="1980000" y="2484000"/>
              <a:ext cx="432000" cy="21600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10800" rIns="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400" b="1" dirty="0">
                  <a:latin typeface="宋体" panose="02010600030101010101" pitchFamily="2" charset="-122"/>
                </a:rPr>
                <a:t>≥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1</a:t>
              </a:r>
            </a:p>
          </p:txBody>
        </p:sp>
        <p:cxnSp>
          <p:nvCxnSpPr>
            <p:cNvPr id="283" name="直接箭头连接符 282">
              <a:extLst>
                <a:ext uri="{FF2B5EF4-FFF2-40B4-BE49-F238E27FC236}">
                  <a16:creationId xmlns:a16="http://schemas.microsoft.com/office/drawing/2014/main" id="{D7395A1E-91B1-4404-9B48-DD8A94830AC9}"/>
                </a:ext>
              </a:extLst>
            </p:cNvPr>
            <p:cNvCxnSpPr/>
            <p:nvPr>
              <p:custDataLst>
                <p:tags r:id="rId107"/>
              </p:custDataLst>
            </p:nvPr>
          </p:nvCxnSpPr>
          <p:spPr bwMode="auto">
            <a:xfrm>
              <a:off x="1800000" y="2808000"/>
              <a:ext cx="0" cy="7560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84" name="直接箭头连接符 283">
              <a:extLst>
                <a:ext uri="{FF2B5EF4-FFF2-40B4-BE49-F238E27FC236}">
                  <a16:creationId xmlns:a16="http://schemas.microsoft.com/office/drawing/2014/main" id="{E1136ADF-B035-4593-842C-695C933A14A7}"/>
                </a:ext>
              </a:extLst>
            </p:cNvPr>
            <p:cNvCxnSpPr/>
            <p:nvPr>
              <p:custDataLst>
                <p:tags r:id="rId108"/>
              </p:custDataLst>
            </p:nvPr>
          </p:nvCxnSpPr>
          <p:spPr bwMode="auto">
            <a:xfrm>
              <a:off x="1440000" y="2916000"/>
              <a:ext cx="0" cy="6480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285" name="Text Box 217">
              <a:extLst>
                <a:ext uri="{FF2B5EF4-FFF2-40B4-BE49-F238E27FC236}">
                  <a16:creationId xmlns:a16="http://schemas.microsoft.com/office/drawing/2014/main" id="{FFBA1B7C-631C-4315-99CF-6340EC991DFA}"/>
                </a:ext>
              </a:extLst>
            </p:cNvPr>
            <p:cNvSpPr txBox="1">
              <a:spLocks noChangeArrowheads="1"/>
            </p:cNvSpPr>
            <p:nvPr>
              <p:custDataLst>
                <p:tags r:id="rId109"/>
              </p:custDataLst>
            </p:nvPr>
          </p:nvSpPr>
          <p:spPr bwMode="auto">
            <a:xfrm>
              <a:off x="1512000" y="3320665"/>
              <a:ext cx="216023" cy="18034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rgbClr val="CC3300"/>
                  </a:solidFill>
                  <a:latin typeface="+mn-ea"/>
                  <a:ea typeface="+mn-ea"/>
                </a:rPr>
                <a:t>…</a:t>
              </a:r>
            </a:p>
          </p:txBody>
        </p:sp>
        <p:cxnSp>
          <p:nvCxnSpPr>
            <p:cNvPr id="286" name="直接箭头连接符 285">
              <a:extLst>
                <a:ext uri="{FF2B5EF4-FFF2-40B4-BE49-F238E27FC236}">
                  <a16:creationId xmlns:a16="http://schemas.microsoft.com/office/drawing/2014/main" id="{4E720715-BF2A-4C31-8066-61BBBC60CDF0}"/>
                </a:ext>
              </a:extLst>
            </p:cNvPr>
            <p:cNvCxnSpPr>
              <a:cxnSpLocks/>
            </p:cNvCxnSpPr>
            <p:nvPr>
              <p:custDataLst>
                <p:tags r:id="rId110"/>
              </p:custDataLst>
            </p:nvPr>
          </p:nvCxnSpPr>
          <p:spPr bwMode="auto">
            <a:xfrm flipV="1">
              <a:off x="1008000" y="2916000"/>
              <a:ext cx="0" cy="1440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87" name="直接箭头连接符 286">
              <a:extLst>
                <a:ext uri="{FF2B5EF4-FFF2-40B4-BE49-F238E27FC236}">
                  <a16:creationId xmlns:a16="http://schemas.microsoft.com/office/drawing/2014/main" id="{9607B20D-1D1F-4D7D-BBCD-C1395EB4FF0A}"/>
                </a:ext>
              </a:extLst>
            </p:cNvPr>
            <p:cNvCxnSpPr>
              <a:cxnSpLocks/>
            </p:cNvCxnSpPr>
            <p:nvPr>
              <p:custDataLst>
                <p:tags r:id="rId111"/>
              </p:custDataLst>
            </p:nvPr>
          </p:nvCxnSpPr>
          <p:spPr bwMode="auto">
            <a:xfrm>
              <a:off x="1008000" y="2916000"/>
              <a:ext cx="43200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88" name="直接箭头连接符 287">
              <a:extLst>
                <a:ext uri="{FF2B5EF4-FFF2-40B4-BE49-F238E27FC236}">
                  <a16:creationId xmlns:a16="http://schemas.microsoft.com/office/drawing/2014/main" id="{11CDFE0A-6549-4036-A0B3-11C9434AD7BD}"/>
                </a:ext>
              </a:extLst>
            </p:cNvPr>
            <p:cNvCxnSpPr>
              <a:cxnSpLocks/>
            </p:cNvCxnSpPr>
            <p:nvPr>
              <p:custDataLst>
                <p:tags r:id="rId112"/>
              </p:custDataLst>
            </p:nvPr>
          </p:nvCxnSpPr>
          <p:spPr bwMode="auto">
            <a:xfrm flipV="1">
              <a:off x="432000" y="2808000"/>
              <a:ext cx="0" cy="2520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89" name="直接箭头连接符 288">
              <a:extLst>
                <a:ext uri="{FF2B5EF4-FFF2-40B4-BE49-F238E27FC236}">
                  <a16:creationId xmlns:a16="http://schemas.microsoft.com/office/drawing/2014/main" id="{788EFF40-CB3E-4CD2-8F83-EAA9EFDA3BEA}"/>
                </a:ext>
              </a:extLst>
            </p:cNvPr>
            <p:cNvCxnSpPr>
              <a:cxnSpLocks/>
            </p:cNvCxnSpPr>
            <p:nvPr>
              <p:custDataLst>
                <p:tags r:id="rId113"/>
              </p:custDataLst>
            </p:nvPr>
          </p:nvCxnSpPr>
          <p:spPr bwMode="auto">
            <a:xfrm>
              <a:off x="432000" y="2808000"/>
              <a:ext cx="136800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BFB63-B979-4FAE-8763-D7093A979077}" type="slidenum">
              <a:rPr lang="en-US" altLang="zh-CN" smtClean="0"/>
              <a:t>38</a:t>
            </a:fld>
            <a:endParaRPr lang="en-US" altLang="zh-CN"/>
          </a:p>
        </p:txBody>
      </p:sp>
      <p:sp>
        <p:nvSpPr>
          <p:cNvPr id="101" name="AutoShape 62">
            <a:hlinkClick r:id="rId116" action="ppaction://hlinksldjump"/>
          </p:cNvPr>
          <p:cNvSpPr>
            <a:spLocks noChangeArrowheads="1"/>
          </p:cNvSpPr>
          <p:nvPr/>
        </p:nvSpPr>
        <p:spPr bwMode="auto">
          <a:xfrm rot="16200000">
            <a:off x="2988172" y="6524103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eaVert" wrap="none" lIns="0" tIns="0" rIns="0" bIns="0" anchor="ctr"/>
          <a:lstStyle/>
          <a:p>
            <a:pPr algn="ctr"/>
            <a:r>
              <a:rPr lang="en-US" altLang="zh-CN" sz="1600" dirty="0">
                <a:solidFill>
                  <a:schemeClr val="bg2"/>
                </a:solidFill>
                <a:latin typeface="+mn-ea"/>
                <a:ea typeface="+mn-ea"/>
              </a:rPr>
              <a:t>35</a:t>
            </a:r>
            <a:endParaRPr lang="zh-CN" altLang="en-US" sz="1600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grpSp>
        <p:nvGrpSpPr>
          <p:cNvPr id="237" name="组合 236"/>
          <p:cNvGrpSpPr/>
          <p:nvPr/>
        </p:nvGrpSpPr>
        <p:grpSpPr>
          <a:xfrm>
            <a:off x="1440000" y="1844216"/>
            <a:ext cx="7524024" cy="2448608"/>
            <a:chOff x="1440000" y="3284984"/>
            <a:chExt cx="7524024" cy="2448608"/>
          </a:xfrm>
        </p:grpSpPr>
        <p:sp>
          <p:nvSpPr>
            <p:cNvPr id="238" name="Text Box 111"/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5724844" y="3393568"/>
              <a:ext cx="575791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IF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←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0</a:t>
              </a:r>
            </a:p>
          </p:txBody>
        </p:sp>
        <p:sp>
          <p:nvSpPr>
            <p:cNvPr id="239" name="Text Box 111"/>
            <p:cNvSpPr txBox="1"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5976000" y="3969568"/>
              <a:ext cx="216024" cy="180000"/>
            </a:xfrm>
            <a:prstGeom prst="rect">
              <a:avLst/>
            </a:prstGeom>
            <a:solidFill>
              <a:srgbClr val="FFCCFF">
                <a:alpha val="90000"/>
              </a:srgbClr>
            </a:solidFill>
            <a:ln w="19050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①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240" name="Text Box 111"/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6840000" y="3969568"/>
              <a:ext cx="216024" cy="180000"/>
            </a:xfrm>
            <a:prstGeom prst="rect">
              <a:avLst/>
            </a:prstGeom>
            <a:solidFill>
              <a:srgbClr val="FFCCFF">
                <a:alpha val="90000"/>
              </a:srgbClr>
            </a:solidFill>
            <a:ln w="19050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①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241" name="Text Box 111"/>
            <p:cNvSpPr txBox="1"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6372200" y="3284984"/>
              <a:ext cx="216024" cy="180000"/>
            </a:xfrm>
            <a:prstGeom prst="rect">
              <a:avLst/>
            </a:prstGeom>
            <a:solidFill>
              <a:srgbClr val="FFCCFF">
                <a:alpha val="90000"/>
              </a:srgbClr>
            </a:solidFill>
            <a:ln w="19050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②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242" name="Text Box 111"/>
            <p:cNvSpPr txBox="1"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4608000" y="5121568"/>
              <a:ext cx="216024" cy="180000"/>
            </a:xfrm>
            <a:prstGeom prst="rect">
              <a:avLst/>
            </a:prstGeom>
            <a:solidFill>
              <a:srgbClr val="FFCCFF">
                <a:alpha val="90000"/>
              </a:srgbClr>
            </a:solidFill>
            <a:ln w="19050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③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243" name="Text Box 111"/>
            <p:cNvSpPr txBox="1"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1440000" y="5517568"/>
              <a:ext cx="216024" cy="180000"/>
            </a:xfrm>
            <a:prstGeom prst="rect">
              <a:avLst/>
            </a:prstGeom>
            <a:solidFill>
              <a:srgbClr val="FFCCFF">
                <a:alpha val="90000"/>
              </a:srgbClr>
            </a:solidFill>
            <a:ln w="19050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④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244" name="Text Box 111"/>
            <p:cNvSpPr txBox="1"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6228184" y="4869568"/>
              <a:ext cx="216024" cy="180000"/>
            </a:xfrm>
            <a:prstGeom prst="rect">
              <a:avLst/>
            </a:prstGeom>
            <a:solidFill>
              <a:srgbClr val="FFCCFF">
                <a:alpha val="90000"/>
              </a:srgbClr>
            </a:solidFill>
            <a:ln w="19050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⑤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245" name="Text Box 111"/>
            <p:cNvSpPr txBox="1"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7704000" y="3285568"/>
              <a:ext cx="216024" cy="180000"/>
            </a:xfrm>
            <a:prstGeom prst="rect">
              <a:avLst/>
            </a:prstGeom>
            <a:solidFill>
              <a:srgbClr val="FFCCFF">
                <a:alpha val="90000"/>
              </a:srgbClr>
            </a:solidFill>
            <a:ln w="19050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⑦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246" name="直接箭头连接符 245"/>
            <p:cNvCxnSpPr/>
            <p:nvPr>
              <p:custDataLst>
                <p:tags r:id="rId16"/>
              </p:custDataLst>
            </p:nvPr>
          </p:nvCxnSpPr>
          <p:spPr bwMode="auto">
            <a:xfrm>
              <a:off x="6300000" y="3501006"/>
              <a:ext cx="360313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247" name="直接箭头连接符 246"/>
            <p:cNvCxnSpPr/>
            <p:nvPr>
              <p:custDataLst>
                <p:tags r:id="rId17"/>
              </p:custDataLst>
            </p:nvPr>
          </p:nvCxnSpPr>
          <p:spPr bwMode="auto">
            <a:xfrm flipH="1">
              <a:off x="1728000" y="5517568"/>
              <a:ext cx="1549" cy="216024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248" name="直接箭头连接符 247"/>
            <p:cNvCxnSpPr/>
            <p:nvPr>
              <p:custDataLst>
                <p:tags r:id="rId18"/>
              </p:custDataLst>
            </p:nvPr>
          </p:nvCxnSpPr>
          <p:spPr bwMode="auto">
            <a:xfrm flipH="1">
              <a:off x="8712000" y="5517568"/>
              <a:ext cx="1549" cy="216024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sp>
          <p:nvSpPr>
            <p:cNvPr id="249" name="Text Box 111"/>
            <p:cNvSpPr txBox="1"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6444000" y="5121568"/>
              <a:ext cx="216024" cy="180000"/>
            </a:xfrm>
            <a:prstGeom prst="rect">
              <a:avLst/>
            </a:prstGeom>
            <a:solidFill>
              <a:srgbClr val="FFCCFF">
                <a:alpha val="90000"/>
              </a:srgbClr>
            </a:solidFill>
            <a:ln w="19050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④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250" name="直接箭头连接符 249"/>
            <p:cNvCxnSpPr/>
            <p:nvPr>
              <p:custDataLst>
                <p:tags r:id="rId20"/>
              </p:custDataLst>
            </p:nvPr>
          </p:nvCxnSpPr>
          <p:spPr bwMode="auto">
            <a:xfrm flipH="1" flipV="1">
              <a:off x="8568000" y="5517568"/>
              <a:ext cx="1548" cy="206452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sp>
          <p:nvSpPr>
            <p:cNvPr id="251" name="Text Box 111"/>
            <p:cNvSpPr txBox="1">
              <a:spLocks noChangeArrowheads="1"/>
            </p:cNvSpPr>
            <p:nvPr>
              <p:custDataLst>
                <p:tags r:id="rId21"/>
              </p:custDataLst>
            </p:nvPr>
          </p:nvSpPr>
          <p:spPr bwMode="auto">
            <a:xfrm>
              <a:off x="8280000" y="5517568"/>
              <a:ext cx="216024" cy="180000"/>
            </a:xfrm>
            <a:prstGeom prst="rect">
              <a:avLst/>
            </a:prstGeom>
            <a:solidFill>
              <a:srgbClr val="FFCCFF">
                <a:alpha val="90000"/>
              </a:srgbClr>
            </a:solidFill>
            <a:ln w="19050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⑤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252" name="Text Box 111"/>
            <p:cNvSpPr txBox="1">
              <a:spLocks noChangeArrowheads="1"/>
            </p:cNvSpPr>
            <p:nvPr>
              <p:custDataLst>
                <p:tags r:id="rId22"/>
              </p:custDataLst>
            </p:nvPr>
          </p:nvSpPr>
          <p:spPr bwMode="auto">
            <a:xfrm>
              <a:off x="8748000" y="5517568"/>
              <a:ext cx="216024" cy="180000"/>
            </a:xfrm>
            <a:prstGeom prst="rect">
              <a:avLst/>
            </a:prstGeom>
            <a:solidFill>
              <a:srgbClr val="FFCCFF">
                <a:alpha val="90000"/>
              </a:srgbClr>
            </a:solidFill>
            <a:ln w="19050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⑥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253" name="Text Box 111"/>
            <p:cNvSpPr txBox="1">
              <a:spLocks noChangeArrowheads="1"/>
            </p:cNvSpPr>
            <p:nvPr>
              <p:custDataLst>
                <p:tags r:id="rId23"/>
              </p:custDataLst>
            </p:nvPr>
          </p:nvSpPr>
          <p:spPr bwMode="auto">
            <a:xfrm>
              <a:off x="5364000" y="3825568"/>
              <a:ext cx="504000" cy="180000"/>
            </a:xfrm>
            <a:prstGeom prst="rect">
              <a:avLst/>
            </a:prstGeom>
            <a:solidFill>
              <a:srgbClr val="FFCCFF">
                <a:alpha val="90000"/>
              </a:srgbClr>
            </a:solidFill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⑶⑷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</p:grpSp>
      <p:sp>
        <p:nvSpPr>
          <p:cNvPr id="257" name="Text Box 4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2159764" y="4365104"/>
            <a:ext cx="6984236" cy="191180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lIns="90000" tIns="82800" rIns="90000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sz="2200" b="1" u="sng" dirty="0">
                <a:latin typeface="宋体" panose="02010600030101010101" pitchFamily="2" charset="-122"/>
              </a:rPr>
              <a:t>检测时机</a:t>
            </a:r>
            <a:r>
              <a:rPr lang="zh-CN" altLang="en-US" sz="2200" b="1" dirty="0">
                <a:latin typeface="宋体" panose="02010600030101010101" pitchFamily="2" charset="-122"/>
              </a:rPr>
              <a:t>不同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随时</a:t>
            </a:r>
            <a:r>
              <a:rPr lang="en-US" altLang="zh-CN" sz="1800" b="1" dirty="0">
                <a:latin typeface="宋体" panose="02010600030101010101" pitchFamily="2" charset="-122"/>
              </a:rPr>
              <a:t>/</a:t>
            </a:r>
            <a:r>
              <a:rPr lang="zh-CN" altLang="en-US" sz="1800" b="1" dirty="0">
                <a:latin typeface="宋体" panose="02010600030101010101" pitchFamily="2" charset="-122"/>
              </a:rPr>
              <a:t>指令周期结束时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r>
              <a:rPr lang="zh-CN" altLang="en-US" sz="2200" b="1" dirty="0">
                <a:latin typeface="宋体" panose="02010600030101010101" pitchFamily="2" charset="-122"/>
              </a:rPr>
              <a:t>，</a:t>
            </a:r>
            <a:r>
              <a:rPr lang="zh-CN" altLang="en-US" sz="2200" b="1" u="sng" dirty="0">
                <a:latin typeface="宋体" panose="02010600030101010101" pitchFamily="2" charset="-122"/>
              </a:rPr>
              <a:t>产生</a:t>
            </a:r>
            <a:r>
              <a:rPr lang="zh-CN" altLang="en-US" sz="2200" b="1" dirty="0">
                <a:latin typeface="宋体" panose="02010600030101010101" pitchFamily="2" charset="-122"/>
              </a:rPr>
              <a:t>不同</a:t>
            </a:r>
            <a:r>
              <a:rPr lang="en-US" altLang="zh-CN" sz="2200" b="1" dirty="0">
                <a:latin typeface="宋体" panose="02010600030101010101" pitchFamily="2" charset="-122"/>
              </a:rPr>
              <a:t>Event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800" b="1" dirty="0">
                <a:latin typeface="宋体" panose="02010600030101010101" pitchFamily="2" charset="-122"/>
              </a:rPr>
              <a:t>   </a:t>
            </a:r>
            <a:r>
              <a:rPr lang="en-US" altLang="zh-CN" sz="1800" dirty="0">
                <a:latin typeface="宋体" panose="02010600030101010101" pitchFamily="2" charset="-122"/>
                <a:sym typeface="+mn-ea"/>
              </a:rPr>
              <a:t>                           </a:t>
            </a:r>
            <a:r>
              <a:rPr lang="en-US" altLang="zh-CN" sz="1800" b="1" dirty="0">
                <a:latin typeface="宋体" panose="02010600030101010101" pitchFamily="2" charset="-122"/>
              </a:rPr>
              <a:t>          </a:t>
            </a:r>
            <a:r>
              <a:rPr lang="en-US" altLang="zh-CN" sz="18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└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←响应操作不同</a:t>
            </a:r>
            <a:endParaRPr lang="zh-CN" altLang="en-US" sz="18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</a:pPr>
            <a:r>
              <a:rPr lang="zh-CN" altLang="en-US" sz="2200" b="1" dirty="0">
                <a:latin typeface="宋体" panose="02010600030101010101" pitchFamily="2" charset="-122"/>
              </a:rPr>
              <a:t>保存</a:t>
            </a:r>
            <a:r>
              <a:rPr lang="en-US" altLang="zh-CN" sz="2200" b="1" dirty="0">
                <a:latin typeface="宋体" panose="02010600030101010101" pitchFamily="2" charset="-122"/>
              </a:rPr>
              <a:t>+</a:t>
            </a:r>
            <a:r>
              <a:rPr lang="zh-CN" altLang="en-US" sz="2200" b="1" dirty="0">
                <a:latin typeface="宋体" panose="02010600030101010101" pitchFamily="2" charset="-122"/>
              </a:rPr>
              <a:t>关中断</a:t>
            </a:r>
            <a:r>
              <a:rPr lang="en-US" altLang="zh-CN" sz="2200" b="1" dirty="0">
                <a:latin typeface="宋体" panose="02010600030101010101" pitchFamily="2" charset="-122"/>
              </a:rPr>
              <a:t>+</a:t>
            </a:r>
            <a:r>
              <a:rPr lang="zh-CN" altLang="en-US" sz="2200" b="1" dirty="0">
                <a:latin typeface="宋体" panose="02010600030101010101" pitchFamily="2" charset="-122"/>
              </a:rPr>
              <a:t>转入处理程序  </a:t>
            </a:r>
            <a:r>
              <a:rPr lang="en-US" altLang="zh-CN" sz="1800" b="1" dirty="0">
                <a:latin typeface="宋体" panose="02010600030101010101" pitchFamily="2" charset="-122"/>
              </a:rPr>
              <a:t>←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CU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基于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Event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产生</a:t>
            </a:r>
            <a:r>
              <a:rPr lang="en-US" altLang="zh-CN" sz="1800" dirty="0" err="1">
                <a:sym typeface="+mn-ea"/>
              </a:rPr>
              <a:t>μ</a:t>
            </a:r>
            <a:r>
              <a:rPr lang="en-US" altLang="zh-CN" sz="1800" b="1" dirty="0" err="1">
                <a:latin typeface="宋体" panose="02010600030101010101" pitchFamily="2" charset="-122"/>
                <a:sym typeface="+mn-ea"/>
              </a:rPr>
              <a:t>OPCmd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序列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恢复所保存</a:t>
            </a:r>
            <a:r>
              <a:rPr lang="zh-CN" altLang="en-US" sz="2200" b="1" u="sng" dirty="0">
                <a:latin typeface="宋体" panose="02010600030101010101" pitchFamily="2" charset="-122"/>
                <a:sym typeface="+mn-ea"/>
              </a:rPr>
              <a:t>断点及</a:t>
            </a:r>
            <a:r>
              <a:rPr lang="en-US" altLang="zh-CN" sz="2200" b="1" u="sng" dirty="0">
                <a:latin typeface="宋体" panose="02010600030101010101" pitchFamily="2" charset="-122"/>
                <a:sym typeface="+mn-ea"/>
              </a:rPr>
              <a:t>PSW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到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PC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及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PSR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中</a:t>
            </a:r>
            <a:endParaRPr lang="en-US" altLang="zh-CN" sz="2200" b="1" dirty="0">
              <a:latin typeface="宋体" panose="02010600030101010101" pitchFamily="2" charset="-122"/>
              <a:sym typeface="+mn-ea"/>
            </a:endParaRP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                </a:t>
            </a:r>
            <a:r>
              <a:rPr lang="en-US" altLang="zh-CN" sz="16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└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←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当前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/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下条指令地址</a:t>
            </a:r>
            <a:endParaRPr lang="en-US" altLang="zh-CN" sz="1600" b="1" dirty="0">
              <a:latin typeface="宋体" panose="02010600030101010101" pitchFamily="2" charset="-122"/>
              <a:sym typeface="+mn-ea"/>
            </a:endParaRPr>
          </a:p>
        </p:txBody>
      </p:sp>
      <p:sp>
        <p:nvSpPr>
          <p:cNvPr id="261" name="Text Box 4"/>
          <p:cNvSpPr txBox="1">
            <a:spLocks noChangeArrowheads="1"/>
          </p:cNvSpPr>
          <p:nvPr/>
        </p:nvSpPr>
        <p:spPr bwMode="auto">
          <a:xfrm>
            <a:off x="1895926" y="764704"/>
            <a:ext cx="7035984" cy="86347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tIns="28800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硬件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中断机构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+I/O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接口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)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、软件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(IVT+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各处理程序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)</a:t>
            </a:r>
            <a:endParaRPr lang="zh-CN" altLang="en-US" sz="1800" b="1" dirty="0">
              <a:latin typeface="宋体" panose="02010600030101010101" pitchFamily="2" charset="-122"/>
              <a:sym typeface="+mn-ea"/>
            </a:endParaRPr>
          </a:p>
          <a:p>
            <a:pPr algn="l">
              <a:lnSpc>
                <a:spcPct val="114000"/>
              </a:lnSpc>
            </a:pP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异常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&amp;INTR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有多个，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NMI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仅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1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个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概率低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/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可软件查询实现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)</a:t>
            </a:r>
            <a:endParaRPr lang="zh-CN" altLang="en-US" sz="2200" b="1" dirty="0">
              <a:latin typeface="宋体" panose="02010600030101010101" pitchFamily="2" charset="-122"/>
              <a:sym typeface="+mn-ea"/>
            </a:endParaRPr>
          </a:p>
        </p:txBody>
      </p:sp>
      <p:sp>
        <p:nvSpPr>
          <p:cNvPr id="262" name="线形标注 2 261"/>
          <p:cNvSpPr/>
          <p:nvPr>
            <p:custDataLst>
              <p:tags r:id="rId3"/>
            </p:custDataLst>
          </p:nvPr>
        </p:nvSpPr>
        <p:spPr bwMode="auto">
          <a:xfrm>
            <a:off x="323696" y="2105712"/>
            <a:ext cx="1512000" cy="468000"/>
          </a:xfrm>
          <a:prstGeom prst="borderCallout2">
            <a:avLst>
              <a:gd name="adj1" fmla="val 52299"/>
              <a:gd name="adj2" fmla="val 100026"/>
              <a:gd name="adj3" fmla="val 52284"/>
              <a:gd name="adj4" fmla="val 110420"/>
              <a:gd name="adj5" fmla="val 295548"/>
              <a:gd name="adj6" fmla="val 114926"/>
            </a:avLst>
          </a:prstGeom>
          <a:noFill/>
          <a:ln w="12700" cap="flat" cmpd="sng" algn="ctr">
            <a:solidFill>
              <a:srgbClr val="0070C0"/>
            </a:solidFill>
            <a:prstDash val="sysDash"/>
            <a:round/>
            <a:headEnd type="none" w="med" len="med"/>
            <a:tailEnd type="arrow" w="sm" len="sm"/>
          </a:ln>
          <a:effectLst/>
        </p:spPr>
        <p:txBody>
          <a:bodyPr vert="horz" wrap="square" lIns="36000" tIns="18000" rIns="36000" bIns="0" numCol="1" rtlCol="0" anchor="ctr" anchorCtr="0" compatLnSpc="1"/>
          <a:lstStyle/>
          <a:p>
            <a:pPr algn="ctr">
              <a:lnSpc>
                <a:spcPct val="90000"/>
              </a:lnSpc>
            </a:pPr>
            <a:r>
              <a:rPr lang="zh-CN" altLang="en-US" sz="1600" b="1" dirty="0">
                <a:latin typeface="+mn-ea"/>
                <a:ea typeface="+mn-ea"/>
              </a:rPr>
              <a:t>共用请求式连接</a:t>
            </a:r>
          </a:p>
          <a:p>
            <a:pPr algn="ctr">
              <a:lnSpc>
                <a:spcPct val="90000"/>
              </a:lnSpc>
            </a:pPr>
            <a:r>
              <a:rPr lang="en-US" altLang="zh-CN" sz="1600" b="1" dirty="0">
                <a:latin typeface="+mn-ea"/>
                <a:ea typeface="+mn-ea"/>
              </a:rPr>
              <a:t>+</a:t>
            </a:r>
            <a:r>
              <a:rPr lang="zh-CN" altLang="en-US" sz="1600" b="1" dirty="0">
                <a:latin typeface="+mn-ea"/>
                <a:ea typeface="+mn-ea"/>
              </a:rPr>
              <a:t>并行判优</a:t>
            </a:r>
          </a:p>
        </p:txBody>
      </p:sp>
      <p:cxnSp>
        <p:nvCxnSpPr>
          <p:cNvPr id="263" name="直接箭头连接符 262"/>
          <p:cNvCxnSpPr/>
          <p:nvPr>
            <p:custDataLst>
              <p:tags r:id="rId4"/>
            </p:custDataLst>
          </p:nvPr>
        </p:nvCxnSpPr>
        <p:spPr bwMode="auto">
          <a:xfrm flipH="1" flipV="1">
            <a:off x="4284000" y="3754800"/>
            <a:ext cx="396000" cy="1116000"/>
          </a:xfrm>
          <a:prstGeom prst="straightConnector1">
            <a:avLst/>
          </a:prstGeom>
          <a:noFill/>
          <a:ln w="12700" cap="flat" cmpd="sng" algn="ctr">
            <a:solidFill>
              <a:srgbClr val="0070C0"/>
            </a:solidFill>
            <a:prstDash val="sysDash"/>
            <a:round/>
            <a:headEnd type="none" w="med" len="med"/>
            <a:tailEnd type="arrow" w="sm" len="sm"/>
          </a:ln>
        </p:spPr>
      </p:cxnSp>
      <p:sp>
        <p:nvSpPr>
          <p:cNvPr id="110" name="Text Box 362"/>
          <p:cNvSpPr txBox="1">
            <a:spLocks noChangeArrowheads="1"/>
          </p:cNvSpPr>
          <p:nvPr/>
        </p:nvSpPr>
        <p:spPr bwMode="auto">
          <a:xfrm>
            <a:off x="359544" y="6094800"/>
            <a:ext cx="3366247" cy="349702"/>
          </a:xfrm>
          <a:prstGeom prst="rect">
            <a:avLst/>
          </a:prstGeom>
          <a:solidFill>
            <a:srgbClr val="99CCFF"/>
          </a:solidFill>
          <a:ln w="9525">
            <a:noFill/>
            <a:miter lim="800000"/>
          </a:ln>
          <a:effectLst/>
        </p:spPr>
        <p:txBody>
          <a:bodyPr wrap="square" lIns="36000" tIns="36000" rIns="36000" bIns="36000" anchor="ctr" anchorCtr="0">
            <a:spAutoFit/>
          </a:bodyPr>
          <a:lstStyle/>
          <a:p>
            <a:pPr algn="l">
              <a:lnSpc>
                <a:spcPct val="90000"/>
              </a:lnSpc>
            </a:pPr>
            <a:r>
              <a:rPr lang="zh-CN" altLang="en-US" sz="2000" b="1" dirty="0">
                <a:solidFill>
                  <a:srgbClr val="CC3300"/>
                </a:solidFill>
                <a:latin typeface="宋体" panose="02010600030101010101" pitchFamily="2" charset="-122"/>
              </a:rPr>
              <a:t>作业</a:t>
            </a:r>
            <a:r>
              <a:rPr lang="en-US" altLang="zh-CN" sz="2000" b="1" dirty="0">
                <a:solidFill>
                  <a:srgbClr val="CC3300"/>
                </a:solidFill>
                <a:latin typeface="宋体" panose="02010600030101010101" pitchFamily="2" charset="-122"/>
              </a:rPr>
              <a:t>7-2</a:t>
            </a:r>
            <a:r>
              <a:rPr lang="zh-CN" altLang="en-US" sz="2000" b="1" dirty="0">
                <a:solidFill>
                  <a:srgbClr val="CC3300"/>
                </a:solidFill>
                <a:latin typeface="宋体" panose="02010600030101010101" pitchFamily="2" charset="-122"/>
              </a:rPr>
              <a:t>：</a:t>
            </a:r>
            <a:r>
              <a:rPr lang="en-US" altLang="zh-CN" sz="2000" b="1" dirty="0">
                <a:latin typeface="宋体" panose="02010600030101010101" pitchFamily="2" charset="-122"/>
              </a:rPr>
              <a:t>P294—15</a:t>
            </a:r>
            <a:r>
              <a:rPr lang="zh-CN" altLang="en-US" sz="2000" b="1" dirty="0">
                <a:latin typeface="宋体" panose="02010600030101010101" pitchFamily="2" charset="-122"/>
              </a:rPr>
              <a:t>、</a:t>
            </a:r>
            <a:r>
              <a:rPr lang="en-US" altLang="zh-CN" sz="2000" b="1" dirty="0">
                <a:latin typeface="宋体" panose="02010600030101010101" pitchFamily="2" charset="-122"/>
              </a:rPr>
              <a:t>16</a:t>
            </a:r>
            <a:r>
              <a:rPr lang="zh-CN" altLang="en-US" sz="2000" b="1" dirty="0">
                <a:latin typeface="宋体" panose="02010600030101010101" pitchFamily="2" charset="-122"/>
              </a:rPr>
              <a:t>、</a:t>
            </a:r>
            <a:r>
              <a:rPr lang="en-US" altLang="zh-CN" sz="2000" b="1" dirty="0">
                <a:latin typeface="宋体" panose="02010600030101010101" pitchFamily="2" charset="-122"/>
              </a:rPr>
              <a:t>17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833D520E-0DDA-4E8D-A57C-DF6922685D0A}"/>
              </a:ext>
            </a:extLst>
          </p:cNvPr>
          <p:cNvGrpSpPr/>
          <p:nvPr/>
        </p:nvGrpSpPr>
        <p:grpSpPr>
          <a:xfrm>
            <a:off x="1080000" y="4726800"/>
            <a:ext cx="4716136" cy="468000"/>
            <a:chOff x="1080000" y="4726800"/>
            <a:chExt cx="4716136" cy="468000"/>
          </a:xfrm>
        </p:grpSpPr>
        <p:cxnSp>
          <p:nvCxnSpPr>
            <p:cNvPr id="290" name="直接箭头连接符 289">
              <a:extLst>
                <a:ext uri="{FF2B5EF4-FFF2-40B4-BE49-F238E27FC236}">
                  <a16:creationId xmlns:a16="http://schemas.microsoft.com/office/drawing/2014/main" id="{BC4FCEB6-957A-4611-99BD-8FBF4A5D01B8}"/>
                </a:ext>
              </a:extLst>
            </p:cNvPr>
            <p:cNvCxnSpPr>
              <a:cxnSpLocks/>
            </p:cNvCxnSpPr>
            <p:nvPr>
              <p:custDataLst>
                <p:tags r:id="rId5"/>
              </p:custDataLst>
            </p:nvPr>
          </p:nvCxnSpPr>
          <p:spPr bwMode="auto">
            <a:xfrm flipH="1">
              <a:off x="1611250" y="4834800"/>
              <a:ext cx="0" cy="360000"/>
            </a:xfrm>
            <a:prstGeom prst="straightConnector1">
              <a:avLst/>
            </a:prstGeom>
            <a:noFill/>
            <a:ln w="12700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arrow" w="sm" len="sm"/>
            </a:ln>
          </p:spPr>
        </p:cxnSp>
        <p:sp>
          <p:nvSpPr>
            <p:cNvPr id="291" name="Text Box 111">
              <a:extLst>
                <a:ext uri="{FF2B5EF4-FFF2-40B4-BE49-F238E27FC236}">
                  <a16:creationId xmlns:a16="http://schemas.microsoft.com/office/drawing/2014/main" id="{8D8FADFF-6067-4368-B31A-D6E61397A874}"/>
                </a:ext>
              </a:extLst>
            </p:cNvPr>
            <p:cNvSpPr txBox="1"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1080000" y="4904457"/>
              <a:ext cx="504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solidFill>
                    <a:srgbClr val="0070C0"/>
                  </a:solidFill>
                  <a:latin typeface="宋体" panose="02010600030101010101" pitchFamily="2" charset="-122"/>
                </a:rPr>
                <a:t>立即</a:t>
              </a:r>
              <a:endParaRPr lang="en-US" altLang="zh-CN" sz="1600" b="1" dirty="0">
                <a:solidFill>
                  <a:srgbClr val="0070C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92" name="Text Box 4">
              <a:extLst>
                <a:ext uri="{FF2B5EF4-FFF2-40B4-BE49-F238E27FC236}">
                  <a16:creationId xmlns:a16="http://schemas.microsoft.com/office/drawing/2014/main" id="{3F20A1B0-7496-4F8F-A869-E53772AA54D8}"/>
                </a:ext>
              </a:extLst>
            </p:cNvPr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2375788" y="4726800"/>
              <a:ext cx="3420348" cy="428383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square" lIns="90000" tIns="82800" rIns="90000">
              <a:spAutoFit/>
            </a:bodyPr>
            <a:lstStyle/>
            <a:p>
              <a:pPr algn="l">
                <a:lnSpc>
                  <a:spcPct val="125000"/>
                </a:lnSpc>
              </a:pPr>
              <a:r>
                <a:rPr lang="en-US" altLang="zh-CN" sz="1800" dirty="0"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rPr>
                <a:t>└</a:t>
              </a:r>
              <a:r>
                <a:rPr lang="zh-CN" altLang="en-US" sz="1800" b="1" dirty="0"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rPr>
                <a:t>←用</a:t>
              </a:r>
              <a:r>
                <a:rPr lang="zh-CN" altLang="en-US" sz="1800" b="1" u="sng" dirty="0">
                  <a:solidFill>
                    <a:srgbClr val="0070C0"/>
                  </a:solidFill>
                  <a:latin typeface="宋体" panose="02010600030101010101" pitchFamily="2" charset="-122"/>
                </a:rPr>
                <a:t>随时检测</a:t>
              </a:r>
              <a:r>
                <a:rPr lang="en-US" altLang="zh-CN" sz="1800" b="1" u="sng" dirty="0">
                  <a:solidFill>
                    <a:srgbClr val="0070C0"/>
                  </a:solidFill>
                  <a:latin typeface="宋体" panose="02010600030101010101" pitchFamily="2" charset="-122"/>
                </a:rPr>
                <a:t>+</a:t>
              </a:r>
              <a:r>
                <a:rPr lang="zh-CN" altLang="en-US" sz="1800" b="1" u="sng" dirty="0">
                  <a:solidFill>
                    <a:srgbClr val="0070C0"/>
                  </a:solidFill>
                  <a:latin typeface="宋体" panose="02010600030101010101" pitchFamily="2" charset="-122"/>
                </a:rPr>
                <a:t>约束条件</a:t>
              </a:r>
              <a:r>
                <a:rPr lang="zh-CN" altLang="en-US" sz="1800" b="1" dirty="0">
                  <a:latin typeface="宋体" panose="02010600030101010101" pitchFamily="2" charset="-122"/>
                </a:rPr>
                <a:t>实现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4" dur="500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2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2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500"/>
                                        <p:tgtEl>
                                          <p:spTgt spid="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25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4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25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25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2" grpId="0" bldLvl="0" animBg="1"/>
      <p:bldP spid="110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BFB63-B979-4FAE-8763-D7093A979077}" type="slidenum">
              <a:rPr lang="en-US" altLang="zh-CN" smtClean="0"/>
              <a:t>39</a:t>
            </a:fld>
            <a:endParaRPr lang="en-US" altLang="zh-CN" dirty="0"/>
          </a:p>
        </p:txBody>
      </p:sp>
      <p:sp>
        <p:nvSpPr>
          <p:cNvPr id="3" name="Text Box 396"/>
          <p:cNvSpPr txBox="1">
            <a:spLocks noChangeArrowheads="1"/>
          </p:cNvSpPr>
          <p:nvPr/>
        </p:nvSpPr>
        <p:spPr bwMode="auto">
          <a:xfrm>
            <a:off x="827088" y="260648"/>
            <a:ext cx="7467600" cy="5232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2800" b="1" dirty="0">
                <a:latin typeface="宋体" panose="02010600030101010101" pitchFamily="2" charset="-122"/>
              </a:rPr>
              <a:t>§7.6 DMA</a:t>
            </a:r>
            <a:r>
              <a:rPr lang="zh-CN" altLang="en-US" sz="2800" b="1" dirty="0">
                <a:latin typeface="宋体" panose="02010600030101010101" pitchFamily="2" charset="-122"/>
              </a:rPr>
              <a:t>方式</a:t>
            </a:r>
          </a:p>
        </p:txBody>
      </p:sp>
      <p:sp>
        <p:nvSpPr>
          <p:cNvPr id="5" name="Text Box 397"/>
          <p:cNvSpPr txBox="1">
            <a:spLocks noChangeArrowheads="1"/>
          </p:cNvSpPr>
          <p:nvPr/>
        </p:nvSpPr>
        <p:spPr bwMode="auto">
          <a:xfrm>
            <a:off x="179705" y="1196752"/>
            <a:ext cx="8783955" cy="278569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*I/O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功能分析：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主存</a:t>
            </a:r>
            <a:r>
              <a:rPr lang="en-US" altLang="zh-CN" sz="2200" b="1" dirty="0">
                <a:latin typeface="宋体" panose="02010600030101010101" pitchFamily="2" charset="-122"/>
              </a:rPr>
              <a:t>-</a:t>
            </a:r>
            <a:r>
              <a:rPr lang="zh-CN" altLang="en-US" sz="2200" b="1" dirty="0">
                <a:latin typeface="宋体" panose="02010600030101010101" pitchFamily="2" charset="-122"/>
              </a:rPr>
              <a:t>外设间、传送</a:t>
            </a:r>
            <a:r>
              <a:rPr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1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批</a:t>
            </a:r>
            <a:r>
              <a:rPr lang="zh-CN" altLang="en-US" sz="2200" b="1" dirty="0">
                <a:latin typeface="宋体" panose="02010600030101010101" pitchFamily="2" charset="-122"/>
              </a:rPr>
              <a:t>数据</a:t>
            </a:r>
            <a:r>
              <a:rPr lang="en-US" altLang="zh-CN" sz="2200" b="1" dirty="0">
                <a:latin typeface="宋体" panose="02010600030101010101" pitchFamily="2" charset="-122"/>
              </a:rPr>
              <a:t>/</a:t>
            </a:r>
            <a:r>
              <a:rPr lang="zh-CN" altLang="en-US" sz="2200" b="1" dirty="0">
                <a:latin typeface="宋体" panose="02010600030101010101" pitchFamily="2" charset="-122"/>
              </a:rPr>
              <a:t>次</a:t>
            </a:r>
            <a:r>
              <a:rPr lang="en-US" altLang="zh-CN" sz="2200" b="1" dirty="0">
                <a:latin typeface="宋体" panose="02010600030101010101" pitchFamily="2" charset="-122"/>
              </a:rPr>
              <a:t>   </a:t>
            </a:r>
            <a:r>
              <a:rPr lang="en-US" altLang="zh-CN" sz="1800" b="1" dirty="0">
                <a:latin typeface="宋体" panose="02010600030101010101" pitchFamily="2" charset="-122"/>
              </a:rPr>
              <a:t>←</a:t>
            </a:r>
            <a:r>
              <a:rPr lang="zh-CN" altLang="en-US" sz="1800" b="1" dirty="0">
                <a:latin typeface="宋体" panose="02010600030101010101" pitchFamily="2" charset="-122"/>
              </a:rPr>
              <a:t>适于块设备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dirty="0">
                <a:latin typeface="宋体" panose="02010600030101010101" pitchFamily="2" charset="-122"/>
              </a:rPr>
              <a:t>                       </a:t>
            </a:r>
            <a:r>
              <a:rPr lang="en-US" altLang="zh-CN" sz="1600" dirty="0">
                <a:latin typeface="宋体" panose="02010600030101010101" pitchFamily="2" charset="-122"/>
              </a:rPr>
              <a:t>└</a:t>
            </a:r>
            <a:r>
              <a:rPr lang="en-US" altLang="zh-CN" sz="1600" b="1" dirty="0">
                <a:latin typeface="宋体" panose="02010600030101010101" pitchFamily="2" charset="-122"/>
              </a:rPr>
              <a:t>←CPU</a:t>
            </a:r>
            <a:r>
              <a:rPr lang="zh-CN" altLang="en-US" sz="1600" b="1" dirty="0">
                <a:latin typeface="宋体" panose="02010600030101010101" pitchFamily="2" charset="-122"/>
              </a:rPr>
              <a:t>放不了</a:t>
            </a:r>
            <a:r>
              <a:rPr lang="en-US" altLang="zh-CN" sz="1600" b="1" dirty="0">
                <a:latin typeface="宋体" panose="02010600030101010101" pitchFamily="2" charset="-122"/>
              </a:rPr>
              <a:t>[</a:t>
            </a:r>
            <a:r>
              <a:rPr lang="zh-CN" altLang="en-US" sz="1600" b="1" dirty="0">
                <a:latin typeface="宋体" panose="02010600030101010101" pitchFamily="2" charset="-122"/>
              </a:rPr>
              <a:t>直接传好</a:t>
            </a:r>
            <a:r>
              <a:rPr lang="en-US" altLang="zh-CN" sz="1600" b="1" dirty="0">
                <a:latin typeface="宋体" panose="02010600030101010101" pitchFamily="2" charset="-122"/>
              </a:rPr>
              <a:t>]</a:t>
            </a:r>
            <a:r>
              <a:rPr lang="zh-CN" altLang="en-US" sz="1600" b="1" dirty="0">
                <a:latin typeface="宋体" panose="02010600030101010101" pitchFamily="2" charset="-122"/>
              </a:rPr>
              <a:t>←</a:t>
            </a:r>
            <a:r>
              <a:rPr lang="zh-CN" altLang="en-US" sz="1600" dirty="0">
                <a:latin typeface="宋体" panose="02010600030101010101" pitchFamily="2" charset="-122"/>
              </a:rPr>
              <a:t>┘</a:t>
            </a:r>
            <a:endParaRPr lang="zh-CN" altLang="en-US" sz="16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</a:pPr>
            <a:endParaRPr lang="en-US" altLang="zh-CN" sz="22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800"/>
              </a:spcBef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特点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</a:p>
          <a:p>
            <a:pPr algn="l">
              <a:lnSpc>
                <a:spcPct val="90000"/>
              </a:lnSpc>
            </a:pPr>
            <a:endParaRPr lang="en-US" altLang="zh-CN" sz="16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300"/>
              </a:spcBef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要求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</a:p>
        </p:txBody>
      </p:sp>
      <p:grpSp>
        <p:nvGrpSpPr>
          <p:cNvPr id="50" name="组合 49"/>
          <p:cNvGrpSpPr/>
          <p:nvPr/>
        </p:nvGrpSpPr>
        <p:grpSpPr>
          <a:xfrm>
            <a:off x="1187624" y="1946325"/>
            <a:ext cx="6876376" cy="792088"/>
            <a:chOff x="1547664" y="5663530"/>
            <a:chExt cx="6876376" cy="792088"/>
          </a:xfrm>
        </p:grpSpPr>
        <p:sp>
          <p:nvSpPr>
            <p:cNvPr id="13" name="Text Box 72"/>
            <p:cNvSpPr txBox="1">
              <a:spLocks noChangeArrowheads="1"/>
            </p:cNvSpPr>
            <p:nvPr/>
          </p:nvSpPr>
          <p:spPr bwMode="auto">
            <a:xfrm>
              <a:off x="1548160" y="5807546"/>
              <a:ext cx="1799704" cy="64807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4" name="Text Box 72"/>
            <p:cNvSpPr txBox="1">
              <a:spLocks noChangeArrowheads="1"/>
            </p:cNvSpPr>
            <p:nvPr/>
          </p:nvSpPr>
          <p:spPr bwMode="auto">
            <a:xfrm>
              <a:off x="1619672" y="5878661"/>
              <a:ext cx="720079" cy="252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CPU</a:t>
              </a:r>
            </a:p>
          </p:txBody>
        </p:sp>
        <p:sp>
          <p:nvSpPr>
            <p:cNvPr id="15" name="Text Box 74"/>
            <p:cNvSpPr txBox="1">
              <a:spLocks noChangeArrowheads="1"/>
            </p:cNvSpPr>
            <p:nvPr/>
          </p:nvSpPr>
          <p:spPr bwMode="auto">
            <a:xfrm>
              <a:off x="2555776" y="5878661"/>
              <a:ext cx="720080" cy="25200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9050">
              <a:solidFill>
                <a:schemeClr val="accent2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主存</a:t>
              </a:r>
            </a:p>
          </p:txBody>
        </p:sp>
        <p:sp>
          <p:nvSpPr>
            <p:cNvPr id="16" name="Text Box 75"/>
            <p:cNvSpPr txBox="1">
              <a:spLocks noChangeArrowheads="1"/>
            </p:cNvSpPr>
            <p:nvPr/>
          </p:nvSpPr>
          <p:spPr bwMode="auto">
            <a:xfrm>
              <a:off x="3995936" y="5805197"/>
              <a:ext cx="1008000" cy="252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查询接口</a:t>
              </a:r>
            </a:p>
          </p:txBody>
        </p:sp>
        <p:sp>
          <p:nvSpPr>
            <p:cNvPr id="17" name="Text Box 79"/>
            <p:cNvSpPr txBox="1">
              <a:spLocks noChangeArrowheads="1"/>
            </p:cNvSpPr>
            <p:nvPr/>
          </p:nvSpPr>
          <p:spPr bwMode="auto">
            <a:xfrm>
              <a:off x="5184040" y="5805197"/>
              <a:ext cx="288925" cy="252000"/>
            </a:xfrm>
            <a:prstGeom prst="rect">
              <a:avLst/>
            </a:prstGeom>
            <a:noFill/>
            <a:ln w="222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latin typeface="+mn-ea"/>
                  <a:ea typeface="+mn-ea"/>
                </a:rPr>
                <a:t>…</a:t>
              </a:r>
            </a:p>
          </p:txBody>
        </p:sp>
        <p:sp>
          <p:nvSpPr>
            <p:cNvPr id="18" name="Text Box 80"/>
            <p:cNvSpPr txBox="1">
              <a:spLocks noChangeArrowheads="1"/>
            </p:cNvSpPr>
            <p:nvPr/>
          </p:nvSpPr>
          <p:spPr bwMode="auto">
            <a:xfrm>
              <a:off x="3419872" y="5698405"/>
              <a:ext cx="504056" cy="251917"/>
            </a:xfrm>
            <a:prstGeom prst="rect">
              <a:avLst/>
            </a:prstGeom>
            <a:noFill/>
            <a:ln w="222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zh-CN" altLang="en-US" sz="1600" b="1" dirty="0"/>
                <a:t>总线</a:t>
              </a:r>
            </a:p>
          </p:txBody>
        </p:sp>
        <p:sp>
          <p:nvSpPr>
            <p:cNvPr id="19" name="Text Box 81"/>
            <p:cNvSpPr txBox="1">
              <a:spLocks noChangeArrowheads="1"/>
            </p:cNvSpPr>
            <p:nvPr/>
          </p:nvSpPr>
          <p:spPr bwMode="auto">
            <a:xfrm>
              <a:off x="3816040" y="6201197"/>
              <a:ext cx="1368000" cy="252000"/>
            </a:xfrm>
            <a:prstGeom prst="rect">
              <a:avLst/>
            </a:prstGeom>
            <a:solidFill>
              <a:schemeClr val="accent2">
                <a:lumMod val="20000"/>
                <a:lumOff val="80000"/>
                <a:alpha val="80000"/>
              </a:scheme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外设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(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字符型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)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20" name="直接连接符 19"/>
            <p:cNvCxnSpPr>
              <a:cxnSpLocks/>
            </p:cNvCxnSpPr>
            <p:nvPr/>
          </p:nvCxnSpPr>
          <p:spPr bwMode="auto">
            <a:xfrm>
              <a:off x="1979712" y="5671641"/>
              <a:ext cx="0" cy="207020"/>
            </a:xfrm>
            <a:prstGeom prst="line">
              <a:avLst/>
            </a:prstGeom>
            <a:noFill/>
            <a:ln w="28575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" name="直接连接符 20"/>
            <p:cNvCxnSpPr>
              <a:cxnSpLocks/>
            </p:cNvCxnSpPr>
            <p:nvPr/>
          </p:nvCxnSpPr>
          <p:spPr bwMode="auto">
            <a:xfrm flipV="1">
              <a:off x="2915816" y="5673329"/>
              <a:ext cx="0" cy="205332"/>
            </a:xfrm>
            <a:prstGeom prst="line">
              <a:avLst/>
            </a:prstGeom>
            <a:noFill/>
            <a:ln w="28575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" name="直接连接符 21"/>
            <p:cNvCxnSpPr/>
            <p:nvPr/>
          </p:nvCxnSpPr>
          <p:spPr bwMode="auto">
            <a:xfrm>
              <a:off x="1547664" y="5663530"/>
              <a:ext cx="6876000" cy="0"/>
            </a:xfrm>
            <a:prstGeom prst="line">
              <a:avLst/>
            </a:prstGeom>
            <a:noFill/>
            <a:ln w="28575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" name="直接连接符 22"/>
            <p:cNvCxnSpPr>
              <a:cxnSpLocks/>
            </p:cNvCxnSpPr>
            <p:nvPr/>
          </p:nvCxnSpPr>
          <p:spPr bwMode="auto">
            <a:xfrm>
              <a:off x="4500040" y="5663530"/>
              <a:ext cx="0" cy="146298"/>
            </a:xfrm>
            <a:prstGeom prst="line">
              <a:avLst/>
            </a:prstGeom>
            <a:noFill/>
            <a:ln w="28575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" name="直接连接符 23"/>
            <p:cNvCxnSpPr>
              <a:cxnSpLocks/>
            </p:cNvCxnSpPr>
            <p:nvPr/>
          </p:nvCxnSpPr>
          <p:spPr bwMode="auto">
            <a:xfrm>
              <a:off x="4500040" y="6057197"/>
              <a:ext cx="0" cy="144000"/>
            </a:xfrm>
            <a:prstGeom prst="line">
              <a:avLst/>
            </a:prstGeom>
            <a:noFill/>
            <a:ln w="222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5" name="Text Box 80"/>
            <p:cNvSpPr txBox="1">
              <a:spLocks noChangeArrowheads="1"/>
            </p:cNvSpPr>
            <p:nvPr/>
          </p:nvSpPr>
          <p:spPr bwMode="auto">
            <a:xfrm>
              <a:off x="2123728" y="6203701"/>
              <a:ext cx="576262" cy="251917"/>
            </a:xfrm>
            <a:prstGeom prst="rect">
              <a:avLst/>
            </a:prstGeom>
            <a:noFill/>
            <a:ln w="222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/>
                <a:t>主机</a:t>
              </a:r>
            </a:p>
          </p:txBody>
        </p:sp>
        <p:sp>
          <p:nvSpPr>
            <p:cNvPr id="26" name="Text Box 75"/>
            <p:cNvSpPr txBox="1">
              <a:spLocks noChangeArrowheads="1"/>
            </p:cNvSpPr>
            <p:nvPr/>
          </p:nvSpPr>
          <p:spPr bwMode="auto">
            <a:xfrm>
              <a:off x="5652120" y="5805197"/>
              <a:ext cx="1008000" cy="252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中断接口</a:t>
              </a:r>
            </a:p>
          </p:txBody>
        </p:sp>
        <p:cxnSp>
          <p:nvCxnSpPr>
            <p:cNvPr id="27" name="直接连接符 26"/>
            <p:cNvCxnSpPr>
              <a:cxnSpLocks/>
            </p:cNvCxnSpPr>
            <p:nvPr/>
          </p:nvCxnSpPr>
          <p:spPr bwMode="auto">
            <a:xfrm>
              <a:off x="6156040" y="5671641"/>
              <a:ext cx="0" cy="136773"/>
            </a:xfrm>
            <a:prstGeom prst="line">
              <a:avLst/>
            </a:prstGeom>
            <a:noFill/>
            <a:ln w="28575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8" name="Text Box 75"/>
            <p:cNvSpPr txBox="1">
              <a:spLocks noChangeArrowheads="1"/>
            </p:cNvSpPr>
            <p:nvPr/>
          </p:nvSpPr>
          <p:spPr bwMode="auto">
            <a:xfrm>
              <a:off x="7308304" y="5805197"/>
              <a:ext cx="1008000" cy="252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9050">
              <a:solidFill>
                <a:srgbClr val="990099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DMA</a:t>
              </a:r>
              <a:r>
                <a:rPr lang="zh-CN" altLang="en-US" sz="1800" b="1" dirty="0">
                  <a:latin typeface="宋体" panose="02010600030101010101" pitchFamily="2" charset="-122"/>
                </a:rPr>
                <a:t>接口</a:t>
              </a:r>
            </a:p>
          </p:txBody>
        </p:sp>
        <p:cxnSp>
          <p:nvCxnSpPr>
            <p:cNvPr id="29" name="直接连接符 28"/>
            <p:cNvCxnSpPr>
              <a:cxnSpLocks/>
            </p:cNvCxnSpPr>
            <p:nvPr/>
          </p:nvCxnSpPr>
          <p:spPr bwMode="auto">
            <a:xfrm>
              <a:off x="7812040" y="5663530"/>
              <a:ext cx="0" cy="144884"/>
            </a:xfrm>
            <a:prstGeom prst="line">
              <a:avLst/>
            </a:prstGeom>
            <a:noFill/>
            <a:ln w="28575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9" name="Text Box 81"/>
            <p:cNvSpPr txBox="1">
              <a:spLocks noChangeArrowheads="1"/>
            </p:cNvSpPr>
            <p:nvPr/>
          </p:nvSpPr>
          <p:spPr bwMode="auto">
            <a:xfrm>
              <a:off x="5472040" y="6201197"/>
              <a:ext cx="1368000" cy="252000"/>
            </a:xfrm>
            <a:prstGeom prst="rect">
              <a:avLst/>
            </a:prstGeom>
            <a:solidFill>
              <a:schemeClr val="accent2">
                <a:lumMod val="20000"/>
                <a:lumOff val="80000"/>
                <a:alpha val="80000"/>
              </a:scheme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外设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(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字符型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)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40" name="直接连接符 39"/>
            <p:cNvCxnSpPr>
              <a:cxnSpLocks/>
            </p:cNvCxnSpPr>
            <p:nvPr/>
          </p:nvCxnSpPr>
          <p:spPr bwMode="auto">
            <a:xfrm>
              <a:off x="6156040" y="6057197"/>
              <a:ext cx="0" cy="144000"/>
            </a:xfrm>
            <a:prstGeom prst="line">
              <a:avLst/>
            </a:prstGeom>
            <a:noFill/>
            <a:ln w="222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44" name="Text Box 81"/>
            <p:cNvSpPr txBox="1">
              <a:spLocks noChangeArrowheads="1"/>
            </p:cNvSpPr>
            <p:nvPr/>
          </p:nvSpPr>
          <p:spPr bwMode="auto">
            <a:xfrm>
              <a:off x="7200040" y="6201197"/>
              <a:ext cx="1224000" cy="252000"/>
            </a:xfrm>
            <a:prstGeom prst="rect">
              <a:avLst/>
            </a:prstGeom>
            <a:solidFill>
              <a:schemeClr val="accent2">
                <a:lumMod val="20000"/>
                <a:lumOff val="80000"/>
                <a:alpha val="80000"/>
              </a:scheme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外设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(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块型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)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45" name="直接连接符 44"/>
            <p:cNvCxnSpPr>
              <a:cxnSpLocks/>
            </p:cNvCxnSpPr>
            <p:nvPr/>
          </p:nvCxnSpPr>
          <p:spPr bwMode="auto">
            <a:xfrm>
              <a:off x="7812040" y="6057197"/>
              <a:ext cx="0" cy="144000"/>
            </a:xfrm>
            <a:prstGeom prst="line">
              <a:avLst/>
            </a:prstGeom>
            <a:noFill/>
            <a:ln w="222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46" name="Text Box 79"/>
            <p:cNvSpPr txBox="1">
              <a:spLocks noChangeArrowheads="1"/>
            </p:cNvSpPr>
            <p:nvPr/>
          </p:nvSpPr>
          <p:spPr bwMode="auto">
            <a:xfrm>
              <a:off x="6840040" y="5805197"/>
              <a:ext cx="288925" cy="252000"/>
            </a:xfrm>
            <a:prstGeom prst="rect">
              <a:avLst/>
            </a:prstGeom>
            <a:noFill/>
            <a:ln w="222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latin typeface="+mn-ea"/>
                  <a:ea typeface="+mn-ea"/>
                </a:rPr>
                <a:t>…</a:t>
              </a:r>
            </a:p>
          </p:txBody>
        </p:sp>
      </p:grpSp>
      <p:sp>
        <p:nvSpPr>
          <p:cNvPr id="51" name="Text Box 397"/>
          <p:cNvSpPr txBox="1">
            <a:spLocks noChangeArrowheads="1"/>
          </p:cNvSpPr>
          <p:nvPr/>
        </p:nvSpPr>
        <p:spPr bwMode="auto">
          <a:xfrm>
            <a:off x="1475656" y="2852936"/>
            <a:ext cx="7488003" cy="223631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sz="2200" b="1" dirty="0">
                <a:latin typeface="宋体" panose="02010600030101010101" pitchFamily="2" charset="-122"/>
              </a:rPr>
              <a:t> 传送</a:t>
            </a:r>
            <a:r>
              <a:rPr lang="zh-CN" altLang="en-US" sz="2200" b="1" u="sng" dirty="0">
                <a:latin typeface="宋体" panose="02010600030101010101" pitchFamily="2" charset="-122"/>
              </a:rPr>
              <a:t>不占</a:t>
            </a:r>
            <a:r>
              <a:rPr lang="en-US" altLang="zh-CN" sz="2200" b="1" u="sng" dirty="0">
                <a:latin typeface="宋体" panose="02010600030101010101" pitchFamily="2" charset="-122"/>
              </a:rPr>
              <a:t>CPU</a:t>
            </a:r>
            <a:r>
              <a:rPr lang="zh-CN" altLang="en-US" sz="2200" b="1" u="sng" dirty="0">
                <a:latin typeface="宋体" panose="02010600030101010101" pitchFamily="2" charset="-122"/>
              </a:rPr>
              <a:t>时间</a:t>
            </a:r>
            <a:r>
              <a:rPr lang="zh-CN" altLang="en-US" sz="2200" b="1" dirty="0">
                <a:latin typeface="宋体" panose="02010600030101010101" pitchFamily="2" charset="-122"/>
              </a:rPr>
              <a:t>、</a:t>
            </a:r>
            <a:r>
              <a:rPr lang="en-US" altLang="zh-CN" sz="2200" b="1" u="sng" dirty="0">
                <a:latin typeface="宋体" panose="02010600030101010101" pitchFamily="2" charset="-122"/>
              </a:rPr>
              <a:t>1</a:t>
            </a:r>
            <a:r>
              <a:rPr lang="zh-CN" altLang="en-US" sz="2200" b="1" u="sng" dirty="0">
                <a:latin typeface="宋体" panose="02010600030101010101" pitchFamily="2" charset="-122"/>
              </a:rPr>
              <a:t>个数据</a:t>
            </a:r>
            <a:r>
              <a:rPr lang="en-US" altLang="zh-CN" sz="2200" b="1" u="sng" dirty="0">
                <a:latin typeface="宋体" panose="02010600030101010101" pitchFamily="2" charset="-122"/>
              </a:rPr>
              <a:t>/</a:t>
            </a:r>
            <a:r>
              <a:rPr lang="zh-CN" altLang="en-US" sz="2200" b="1" u="sng" dirty="0">
                <a:latin typeface="宋体" panose="02010600030101010101" pitchFamily="2" charset="-122"/>
              </a:rPr>
              <a:t>总线周期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 algn="l">
              <a:lnSpc>
                <a:spcPct val="90000"/>
              </a:lnSpc>
            </a:pP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rPr>
              <a:t>        (DMA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</a:rPr>
              <a:t>接口实现</a:t>
            </a:r>
            <a:r>
              <a:rPr lang="en-US" altLang="zh-CN" sz="1600" b="1" dirty="0">
                <a:latin typeface="宋体" panose="02010600030101010101" pitchFamily="2" charset="-122"/>
              </a:rPr>
              <a:t>)  </a:t>
            </a:r>
            <a:r>
              <a:rPr lang="zh-CN" altLang="en-US" sz="1600" b="1" dirty="0">
                <a:latin typeface="宋体" panose="02010600030101010101" pitchFamily="2" charset="-122"/>
              </a:rPr>
              <a:t>   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</a:rPr>
              <a:t>中断需多个指令周期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  <a:endParaRPr lang="zh-CN" altLang="en-US" sz="16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2200" b="1" dirty="0">
                <a:latin typeface="宋体" panose="02010600030101010101" pitchFamily="2" charset="-122"/>
              </a:rPr>
              <a:t> ①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DMA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接口</a:t>
            </a:r>
            <a:r>
              <a:rPr lang="zh-CN" altLang="en-US" sz="2200" b="1" dirty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可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为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总线主设备</a:t>
            </a:r>
            <a:endParaRPr lang="zh-CN" altLang="en-US" sz="2200" b="1" u="sng" dirty="0">
              <a:solidFill>
                <a:srgbClr val="0070C0"/>
              </a:solidFill>
              <a:latin typeface="宋体" panose="02010600030101010101" pitchFamily="2" charset="-122"/>
              <a:sym typeface="+mn-ea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 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②</a:t>
            </a:r>
            <a:r>
              <a:rPr lang="en-US" altLang="zh-CN" sz="2200" b="1" dirty="0">
                <a:latin typeface="宋体" panose="02010600030101010101" pitchFamily="2" charset="-122"/>
              </a:rPr>
              <a:t>CPU</a:t>
            </a:r>
            <a:r>
              <a:rPr lang="zh-CN" altLang="en-US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只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负责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传送准备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及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结束处理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工作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800" dirty="0">
                <a:latin typeface="宋体" panose="02010600030101010101" pitchFamily="2" charset="-122"/>
                <a:sym typeface="+mn-ea"/>
              </a:rPr>
              <a:t>                  </a:t>
            </a:r>
            <a:r>
              <a:rPr lang="zh-CN" altLang="en-US" sz="1800" dirty="0">
                <a:latin typeface="宋体" panose="02010600030101010101" pitchFamily="2" charset="-122"/>
                <a:sym typeface="+mn-ea"/>
              </a:rPr>
              <a:t>└←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设置传送字数</a:t>
            </a:r>
            <a:r>
              <a:rPr lang="en-US" sz="1800" b="1" dirty="0">
                <a:latin typeface="宋体" panose="02010600030101010101" pitchFamily="2" charset="-122"/>
                <a:sym typeface="+mn-ea"/>
              </a:rPr>
              <a:t>&amp;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主存首址、启动设备等</a:t>
            </a:r>
            <a:endParaRPr lang="en-US" altLang="zh-CN" sz="18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latin typeface="宋体" panose="02010600030101010101" pitchFamily="2" charset="-122"/>
              </a:rPr>
              <a:t> ③CPU</a:t>
            </a:r>
            <a:r>
              <a:rPr lang="zh-CN" altLang="en-US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需</a:t>
            </a:r>
            <a:r>
              <a:rPr lang="zh-CN" altLang="en-US" sz="2200" b="1" dirty="0">
                <a:latin typeface="宋体" panose="02010600030101010101" pitchFamily="2" charset="-122"/>
              </a:rPr>
              <a:t>在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数据传送期间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让出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总线使用权   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←如磁盘定时传送</a:t>
            </a:r>
            <a:endParaRPr lang="en-US" altLang="zh-CN" sz="2200" b="1" dirty="0">
              <a:latin typeface="宋体" panose="02010600030101010101" pitchFamily="2" charset="-122"/>
            </a:endParaRPr>
          </a:p>
        </p:txBody>
      </p:sp>
      <p:sp>
        <p:nvSpPr>
          <p:cNvPr id="119" name="AutoShape 186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4067945" y="6523557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" name="Text Box 526"/>
          <p:cNvSpPr txBox="1">
            <a:spLocks noChangeArrowheads="1"/>
          </p:cNvSpPr>
          <p:nvPr/>
        </p:nvSpPr>
        <p:spPr bwMode="auto">
          <a:xfrm>
            <a:off x="179512" y="764704"/>
            <a:ext cx="8784976" cy="40011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/>
            <a:r>
              <a:rPr lang="en-US" altLang="zh-CN" sz="2000" b="1" kern="0" dirty="0">
                <a:solidFill>
                  <a:srgbClr val="FF3399"/>
                </a:solidFill>
                <a:latin typeface="+mn-ea"/>
                <a:ea typeface="+mn-ea"/>
              </a:rPr>
              <a:t>  ※</a:t>
            </a:r>
            <a:r>
              <a:rPr lang="zh-CN" altLang="en-US" sz="2000" b="1" kern="0" dirty="0">
                <a:solidFill>
                  <a:srgbClr val="FF3399"/>
                </a:solidFill>
                <a:latin typeface="+mn-ea"/>
                <a:ea typeface="+mn-ea"/>
              </a:rPr>
              <a:t>主要内容：</a:t>
            </a:r>
            <a:r>
              <a:rPr lang="en-US" altLang="zh-CN" sz="2000" b="1" kern="0" dirty="0">
                <a:latin typeface="+mn-ea"/>
                <a:ea typeface="+mn-ea"/>
              </a:rPr>
              <a:t>DMA</a:t>
            </a:r>
            <a:r>
              <a:rPr lang="zh-CN" altLang="en-US" sz="2000" b="1" kern="0" dirty="0">
                <a:latin typeface="+mn-ea"/>
              </a:rPr>
              <a:t>传送方式，</a:t>
            </a:r>
            <a:r>
              <a:rPr lang="en-US" altLang="zh-CN" sz="2000" b="1" kern="0" dirty="0">
                <a:latin typeface="+mn-ea"/>
              </a:rPr>
              <a:t>DMA</a:t>
            </a:r>
            <a:r>
              <a:rPr lang="zh-CN" altLang="en-US" sz="2000" b="1" kern="0" dirty="0">
                <a:latin typeface="+mn-ea"/>
              </a:rPr>
              <a:t>接口结构，</a:t>
            </a:r>
            <a:r>
              <a:rPr lang="en-US" altLang="zh-CN" sz="2000" b="1" kern="0" dirty="0">
                <a:latin typeface="+mn-ea"/>
              </a:rPr>
              <a:t>DMA</a:t>
            </a:r>
            <a:r>
              <a:rPr lang="zh-CN" altLang="en-US" sz="2000" b="1" kern="0" dirty="0">
                <a:latin typeface="+mn-ea"/>
              </a:rPr>
              <a:t>传送过程</a:t>
            </a:r>
            <a:endParaRPr lang="en-US" altLang="zh-CN" sz="1600" b="1" kern="0" dirty="0">
              <a:latin typeface="+mn-ea"/>
              <a:ea typeface="+mn-ea"/>
            </a:endParaRPr>
          </a:p>
        </p:txBody>
      </p:sp>
      <p:sp>
        <p:nvSpPr>
          <p:cNvPr id="233" name="Text Box 200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079998" y="5157192"/>
            <a:ext cx="7560839" cy="28829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36195" tIns="17780" rIns="36195" bIns="0" anchor="ctr" anchorCtr="0">
            <a:noAutofit/>
          </a:bodyPr>
          <a:lstStyle/>
          <a:p>
            <a:pPr marL="805180" indent="-80518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800" b="1" dirty="0">
                <a:solidFill>
                  <a:srgbClr val="990099"/>
                </a:solidFill>
                <a:latin typeface="+mn-ea"/>
                <a:ea typeface="+mn-ea"/>
              </a:rPr>
              <a:t>思考：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CPU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与</a:t>
            </a:r>
            <a:r>
              <a:rPr lang="en-US" altLang="zh-CN" sz="1800" b="1" dirty="0">
                <a:latin typeface="宋体" panose="02010600030101010101" pitchFamily="2" charset="-122"/>
              </a:rPr>
              <a:t>DMA</a:t>
            </a:r>
            <a:r>
              <a:rPr lang="zh-CN" altLang="en-US" sz="1800" b="1" dirty="0">
                <a:latin typeface="宋体" panose="02010600030101010101" pitchFamily="2" charset="-122"/>
              </a:rPr>
              <a:t>接口均访问主存，希望并行工作，应</a:t>
            </a:r>
            <a:r>
              <a:rPr lang="zh-CN" sz="1800" b="1" dirty="0">
                <a:latin typeface="宋体" panose="02010600030101010101" pitchFamily="2" charset="-122"/>
                <a:sym typeface="+mn-ea"/>
              </a:rPr>
              <a:t>如何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解决</a:t>
            </a:r>
            <a:r>
              <a:rPr lang="zh-CN" sz="1800" b="1" dirty="0">
                <a:latin typeface="宋体" panose="02010600030101010101" pitchFamily="2" charset="-122"/>
                <a:sym typeface="+mn-ea"/>
              </a:rPr>
              <a:t>访存冲突</a:t>
            </a:r>
            <a:r>
              <a:rPr lang="zh-CN" altLang="en-US" sz="1800" b="1" dirty="0">
                <a:latin typeface="宋体" panose="02010600030101010101" pitchFamily="2" charset="-122"/>
              </a:rPr>
              <a:t>？</a:t>
            </a:r>
          </a:p>
        </p:txBody>
      </p:sp>
      <p:sp>
        <p:nvSpPr>
          <p:cNvPr id="131" name="Text Box 200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222374" y="5482792"/>
            <a:ext cx="7741285" cy="684000"/>
          </a:xfrm>
          <a:prstGeom prst="rect">
            <a:avLst/>
          </a:prstGeom>
          <a:noFill/>
          <a:ln w="12700">
            <a:noFill/>
            <a:prstDash val="sysDash"/>
            <a:miter lim="800000"/>
          </a:ln>
          <a:effectLst/>
        </p:spPr>
        <p:txBody>
          <a:bodyPr wrap="square" lIns="36195" tIns="17780" rIns="36195" bIns="0" anchor="ctr" anchorCtr="0">
            <a:noAutofit/>
          </a:bodyPr>
          <a:lstStyle/>
          <a:p>
            <a:pPr marL="805180" indent="-80518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800" b="1" dirty="0">
                <a:latin typeface="宋体" panose="02010600030101010101" pitchFamily="2" charset="-122"/>
              </a:rPr>
              <a:t>⑴存储系统</a:t>
            </a:r>
            <a:r>
              <a:rPr lang="zh-CN" altLang="en-US" sz="1800" b="1" u="sng" dirty="0">
                <a:solidFill>
                  <a:srgbClr val="FF3399"/>
                </a:solidFill>
                <a:latin typeface="宋体" panose="02010600030101010101" pitchFamily="2" charset="-122"/>
              </a:rPr>
              <a:t>设置</a:t>
            </a:r>
            <a:r>
              <a:rPr lang="en-US" altLang="zh-CN" sz="1800" b="1" u="sng" dirty="0">
                <a:solidFill>
                  <a:srgbClr val="FF3399"/>
                </a:solidFill>
                <a:latin typeface="宋体" panose="02010600030101010101" pitchFamily="2" charset="-122"/>
              </a:rPr>
              <a:t>Cache</a:t>
            </a:r>
            <a:r>
              <a:rPr lang="zh-CN" altLang="en-US" sz="1800" b="1" dirty="0">
                <a:latin typeface="宋体" panose="02010600030101010101" pitchFamily="2" charset="-122"/>
              </a:rPr>
              <a:t>，</a:t>
            </a:r>
            <a:r>
              <a:rPr lang="en-US" altLang="zh-CN" sz="1800" b="1" u="sng" dirty="0">
                <a:latin typeface="宋体" panose="02010600030101010101" pitchFamily="2" charset="-122"/>
              </a:rPr>
              <a:t>CPU</a:t>
            </a:r>
            <a:r>
              <a:rPr lang="zh-CN" altLang="en-US" sz="1800" b="1" u="sng" dirty="0">
                <a:latin typeface="宋体" panose="02010600030101010101" pitchFamily="2" charset="-122"/>
              </a:rPr>
              <a:t>访问</a:t>
            </a:r>
            <a:r>
              <a:rPr lang="en-US" altLang="zh-CN" sz="1800" b="1" u="sng" dirty="0">
                <a:latin typeface="宋体" panose="02010600030101010101" pitchFamily="2" charset="-122"/>
              </a:rPr>
              <a:t>Cache</a:t>
            </a:r>
            <a:r>
              <a:rPr lang="zh-CN" altLang="en-US" sz="1800" b="1" dirty="0">
                <a:solidFill>
                  <a:srgbClr val="FF3399"/>
                </a:solidFill>
                <a:latin typeface="宋体" panose="02010600030101010101" pitchFamily="2" charset="-122"/>
              </a:rPr>
              <a:t>＋</a:t>
            </a:r>
            <a:r>
              <a:rPr lang="en-US" altLang="zh-CN" sz="1800" b="1" u="sng" dirty="0">
                <a:latin typeface="宋体" panose="02010600030101010101" pitchFamily="2" charset="-122"/>
              </a:rPr>
              <a:t>DAM</a:t>
            </a:r>
            <a:r>
              <a:rPr lang="zh-CN" altLang="en-US" sz="1800" b="1" u="sng" dirty="0">
                <a:latin typeface="宋体" panose="02010600030101010101" pitchFamily="2" charset="-122"/>
              </a:rPr>
              <a:t>接口访问主存</a:t>
            </a:r>
            <a:r>
              <a:rPr lang="zh-CN" altLang="en-US" sz="1800" b="1" dirty="0">
                <a:latin typeface="宋体" panose="02010600030101010101" pitchFamily="2" charset="-122"/>
              </a:rPr>
              <a:t>   </a:t>
            </a:r>
            <a:r>
              <a:rPr lang="en-US" altLang="zh-CN" sz="1600" b="1" dirty="0">
                <a:latin typeface="宋体" panose="02010600030101010101" pitchFamily="2" charset="-122"/>
              </a:rPr>
              <a:t>←</a:t>
            </a:r>
            <a:r>
              <a:rPr lang="zh-CN" altLang="en-US" sz="1600" b="1" dirty="0">
                <a:highlight>
                  <a:srgbClr val="FFFF00"/>
                </a:highlight>
                <a:latin typeface="宋体" panose="02010600030101010101" pitchFamily="2" charset="-122"/>
                <a:sym typeface="+mn-ea"/>
              </a:rPr>
              <a:t>以</a:t>
            </a:r>
            <a:r>
              <a:rPr lang="en-US" altLang="zh-CN" sz="1600" b="1" dirty="0">
                <a:highlight>
                  <a:srgbClr val="FFFF00"/>
                </a:highlight>
                <a:latin typeface="宋体" panose="02010600030101010101" pitchFamily="2" charset="-122"/>
                <a:sym typeface="+mn-ea"/>
              </a:rPr>
              <a:t>MEM</a:t>
            </a:r>
            <a:r>
              <a:rPr lang="zh-CN" altLang="en-US" sz="1600" b="1" dirty="0">
                <a:highlight>
                  <a:srgbClr val="FFFF00"/>
                </a:highlight>
                <a:latin typeface="宋体" panose="02010600030101010101" pitchFamily="2" charset="-122"/>
                <a:sym typeface="+mn-ea"/>
              </a:rPr>
              <a:t>为中心</a:t>
            </a:r>
            <a:endParaRPr lang="en-US" altLang="zh-CN" sz="1800" b="1" dirty="0">
              <a:highlight>
                <a:srgbClr val="FFFF00"/>
              </a:highlight>
              <a:latin typeface="宋体" panose="02010600030101010101" pitchFamily="2" charset="-122"/>
            </a:endParaRPr>
          </a:p>
          <a:p>
            <a:pPr marL="805180" indent="-80518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⑵有冲突时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(Cache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缺失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)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，</a:t>
            </a:r>
            <a:r>
              <a:rPr lang="zh-CN" altLang="en-US" sz="1800" b="1" dirty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优先</a:t>
            </a:r>
            <a:r>
              <a:rPr lang="en-US" altLang="zh-CN" sz="1800" b="1" dirty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I/O</a:t>
            </a:r>
            <a:r>
              <a:rPr lang="zh-CN" altLang="en-US" sz="1800" b="1" dirty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访问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(CPU</a:t>
            </a:r>
            <a:r>
              <a:rPr lang="zh-CN" altLang="en-US" sz="1600" b="1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可等待</a:t>
            </a:r>
            <a:r>
              <a:rPr lang="zh-CN" altLang="en-US" sz="1600" b="1" dirty="0">
                <a:latin typeface="宋体" panose="02010600030101010101" pitchFamily="2" charset="-122"/>
              </a:rPr>
              <a:t>＋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块设备</a:t>
            </a:r>
            <a:r>
              <a:rPr lang="zh-CN" altLang="en-US" sz="1600" b="1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不能停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[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定时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传送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]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)</a:t>
            </a:r>
            <a:endParaRPr lang="en-US" altLang="zh-CN" sz="1800" b="1" dirty="0">
              <a:solidFill>
                <a:schemeClr val="tx1"/>
              </a:solidFill>
              <a:latin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/>
      <p:bldP spid="233" grpId="0" bldLvl="0" animBg="1"/>
      <p:bldP spid="131" grpId="0" bldLvl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BFB63-B979-4FAE-8763-D7093A979077}" type="slidenum">
              <a:rPr lang="en-US" altLang="zh-CN" smtClean="0"/>
              <a:t>40</a:t>
            </a:fld>
            <a:endParaRPr lang="en-US" altLang="zh-CN"/>
          </a:p>
        </p:txBody>
      </p:sp>
      <p:sp>
        <p:nvSpPr>
          <p:cNvPr id="80" name="Text Box 93"/>
          <p:cNvSpPr txBox="1">
            <a:spLocks noChangeArrowheads="1"/>
          </p:cNvSpPr>
          <p:nvPr/>
        </p:nvSpPr>
        <p:spPr bwMode="auto">
          <a:xfrm>
            <a:off x="179705" y="332656"/>
            <a:ext cx="2621280" cy="486473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*I/O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控制流程：</a:t>
            </a:r>
          </a:p>
          <a:p>
            <a:pPr algn="l">
              <a:lnSpc>
                <a:spcPct val="125000"/>
              </a:lnSpc>
            </a:pPr>
            <a:endParaRPr lang="zh-CN" altLang="en-US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zh-CN" altLang="en-US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zh-CN" altLang="en-US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300"/>
              </a:spcBef>
            </a:pP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300"/>
              </a:spcBef>
            </a:pP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300"/>
              </a:spcBef>
            </a:pP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300"/>
              </a:spcBef>
            </a:pP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1200"/>
              </a:spcBef>
            </a:pP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*I/O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软件组成：</a:t>
            </a:r>
          </a:p>
          <a:p>
            <a:pPr algn="l">
              <a:lnSpc>
                <a:spcPct val="105000"/>
              </a:lnSpc>
            </a:pPr>
            <a:endParaRPr lang="en-US" altLang="zh-CN" sz="1800" b="1" spc="-100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spc="-100" dirty="0">
                <a:solidFill>
                  <a:srgbClr val="C00000"/>
                </a:solidFill>
                <a:latin typeface="宋体" panose="02010600030101010101" pitchFamily="2" charset="-122"/>
              </a:rPr>
              <a:t> *I/O</a:t>
            </a:r>
            <a:r>
              <a:rPr lang="zh-CN" altLang="en-US" sz="2200" b="1" spc="-100" dirty="0">
                <a:solidFill>
                  <a:srgbClr val="C00000"/>
                </a:solidFill>
                <a:latin typeface="宋体" panose="02010600030101010101" pitchFamily="2" charset="-122"/>
              </a:rPr>
              <a:t>开销：</a:t>
            </a:r>
          </a:p>
        </p:txBody>
      </p:sp>
      <p:sp>
        <p:nvSpPr>
          <p:cNvPr id="130" name="AutoShape 450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3996630" y="6526038"/>
            <a:ext cx="287338" cy="287338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" name="Text Box 6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723076" y="762000"/>
            <a:ext cx="8313420" cy="444153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    </a:t>
            </a:r>
            <a:r>
              <a:rPr lang="en-US" altLang="zh-CN" sz="2200" b="1" dirty="0">
                <a:highlight>
                  <a:srgbClr val="FFFF00"/>
                </a:highlight>
                <a:latin typeface="宋体" panose="02010600030101010101" pitchFamily="2" charset="-122"/>
                <a:sym typeface="+mn-ea"/>
              </a:rPr>
              <a:t>CPU</a:t>
            </a:r>
            <a:r>
              <a:rPr lang="zh-CN" altLang="en-US" sz="2200" b="1" u="sng" dirty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发送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需求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字数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/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首址等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)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、</a:t>
            </a:r>
            <a:r>
              <a:rPr lang="zh-CN" altLang="en-US" sz="2200" b="1" u="sng" dirty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启动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设备后，</a:t>
            </a:r>
            <a:r>
              <a:rPr lang="zh-CN" altLang="en-US" sz="2200" b="1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继续</a:t>
            </a:r>
            <a:r>
              <a:rPr lang="zh-CN" altLang="en-US" sz="2200" b="1" u="sng" dirty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执行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现行程序；</a:t>
            </a:r>
            <a:endParaRPr lang="zh-CN" altLang="en-US" sz="22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>
                <a:highlight>
                  <a:srgbClr val="FFCC99"/>
                </a:highlight>
                <a:latin typeface="宋体" panose="02010600030101010101" pitchFamily="2" charset="-122"/>
                <a:sym typeface="+mn-ea"/>
              </a:rPr>
              <a:t>DMA</a:t>
            </a:r>
            <a:r>
              <a:rPr lang="zh-CN" altLang="en-US" sz="2200" b="1" dirty="0">
                <a:highlight>
                  <a:srgbClr val="FFCC99"/>
                </a:highlight>
                <a:latin typeface="宋体" panose="02010600030101010101" pitchFamily="2" charset="-122"/>
                <a:sym typeface="+mn-ea"/>
              </a:rPr>
              <a:t>接口</a:t>
            </a:r>
            <a:r>
              <a:rPr lang="zh-CN" altLang="en-US" sz="2200" b="1" u="sng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实现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数据传送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(1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批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[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管控设备状态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])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，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结束时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向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CPU</a:t>
            </a:r>
            <a:r>
              <a:rPr lang="zh-CN" altLang="en-US" sz="2200" b="1" u="sng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提出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请求；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    </a:t>
            </a:r>
            <a:r>
              <a:rPr lang="en-US" altLang="zh-CN" sz="2200" b="1" dirty="0">
                <a:highlight>
                  <a:srgbClr val="FFFF00"/>
                </a:highlight>
                <a:latin typeface="宋体" panose="02010600030101010101" pitchFamily="2" charset="-122"/>
                <a:sym typeface="+mn-ea"/>
              </a:rPr>
              <a:t>CPU</a:t>
            </a:r>
            <a:r>
              <a:rPr lang="zh-CN" altLang="en-US" sz="2200" b="1" u="sng" dirty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响应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请求，</a:t>
            </a:r>
            <a:r>
              <a:rPr lang="zh-CN" altLang="en-US" sz="2200" b="1" u="sng" dirty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处理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结束事宜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校验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/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再次启动等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)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、</a:t>
            </a:r>
            <a:r>
              <a:rPr lang="zh-CN" altLang="en-US" sz="2200" b="1" u="sng" dirty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返回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现行程序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300"/>
              </a:spcBef>
            </a:pPr>
            <a:endParaRPr lang="en-US" altLang="zh-CN" sz="2200" b="1" dirty="0">
              <a:latin typeface="+mn-ea"/>
              <a:ea typeface="+mn-ea"/>
              <a:sym typeface="+mn-ea"/>
            </a:endParaRPr>
          </a:p>
          <a:p>
            <a:pPr algn="l">
              <a:lnSpc>
                <a:spcPct val="125000"/>
              </a:lnSpc>
              <a:spcBef>
                <a:spcPts val="300"/>
              </a:spcBef>
            </a:pPr>
            <a:endParaRPr lang="en-US" altLang="zh-CN" sz="2200" b="1" dirty="0">
              <a:latin typeface="+mn-ea"/>
              <a:ea typeface="+mn-ea"/>
              <a:sym typeface="+mn-ea"/>
            </a:endParaRPr>
          </a:p>
          <a:p>
            <a:pPr algn="l">
              <a:lnSpc>
                <a:spcPct val="125000"/>
              </a:lnSpc>
              <a:spcBef>
                <a:spcPts val="300"/>
              </a:spcBef>
            </a:pPr>
            <a:endParaRPr lang="en-US" altLang="zh-CN" sz="2200" b="1" dirty="0">
              <a:latin typeface="+mn-ea"/>
              <a:ea typeface="+mn-ea"/>
              <a:sym typeface="+mn-ea"/>
            </a:endParaRPr>
          </a:p>
          <a:p>
            <a:pPr algn="l">
              <a:lnSpc>
                <a:spcPct val="125000"/>
              </a:lnSpc>
              <a:spcBef>
                <a:spcPts val="300"/>
              </a:spcBef>
            </a:pPr>
            <a:endParaRPr lang="en-US" altLang="zh-CN" sz="2200" b="1" dirty="0">
              <a:latin typeface="+mn-ea"/>
              <a:ea typeface="+mn-ea"/>
              <a:sym typeface="+mn-ea"/>
            </a:endParaRPr>
          </a:p>
          <a:p>
            <a:pPr algn="l">
              <a:lnSpc>
                <a:spcPct val="125000"/>
              </a:lnSpc>
              <a:spcBef>
                <a:spcPts val="900"/>
              </a:spcBef>
            </a:pPr>
            <a:r>
              <a:rPr lang="zh-CN" altLang="en-US" sz="2200" b="1" dirty="0">
                <a:latin typeface="宋体" panose="02010600030101010101" pitchFamily="2" charset="-122"/>
              </a:rPr>
              <a:t>           主程序、中断服务程序   </a:t>
            </a:r>
            <a:r>
              <a:rPr lang="zh-CN" altLang="en-US" sz="1800" b="1" dirty="0">
                <a:latin typeface="宋体" panose="02010600030101010101" pitchFamily="2" charset="-122"/>
              </a:rPr>
              <a:t>  </a:t>
            </a:r>
            <a:r>
              <a:rPr lang="en-US" altLang="zh-CN" sz="1800" b="1" dirty="0">
                <a:latin typeface="宋体" panose="02010600030101010101" pitchFamily="2" charset="-122"/>
              </a:rPr>
              <a:t>←</a:t>
            </a:r>
            <a:r>
              <a:rPr lang="zh-CN" altLang="en-US" sz="1800" b="1" dirty="0">
                <a:latin typeface="宋体" panose="02010600030101010101" pitchFamily="2" charset="-122"/>
              </a:rPr>
              <a:t>程序结构类似中断方式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 algn="l">
              <a:lnSpc>
                <a:spcPct val="105000"/>
              </a:lnSpc>
            </a:pPr>
            <a:r>
              <a:rPr lang="en-US" altLang="zh-CN" sz="1800" b="1" spc="-100" dirty="0">
                <a:latin typeface="宋体" panose="02010600030101010101" pitchFamily="2" charset="-122"/>
                <a:sym typeface="+mn-ea"/>
              </a:rPr>
              <a:t>              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传送准备</a:t>
            </a:r>
            <a:r>
              <a:rPr lang="en-US" altLang="zh-CN" sz="1800" b="1" dirty="0">
                <a:latin typeface="宋体" panose="02010600030101010101" pitchFamily="2" charset="-122"/>
              </a:rPr>
              <a:t>)   (</a:t>
            </a:r>
            <a:r>
              <a:rPr lang="zh-CN" altLang="en-US" sz="1800" b="1" dirty="0">
                <a:latin typeface="宋体" panose="02010600030101010101" pitchFamily="2" charset="-122"/>
              </a:rPr>
              <a:t>结束处理</a:t>
            </a:r>
            <a:r>
              <a:rPr lang="en-US" altLang="zh-CN" sz="1800" b="1" dirty="0">
                <a:latin typeface="宋体" panose="02010600030101010101" pitchFamily="2" charset="-122"/>
              </a:rPr>
              <a:t>)        ←</a:t>
            </a:r>
            <a:r>
              <a:rPr lang="en-US" altLang="zh-CN" sz="1800" b="1" spc="-100" dirty="0">
                <a:latin typeface="宋体" panose="02010600030101010101" pitchFamily="2" charset="-122"/>
                <a:sym typeface="+mn-ea"/>
              </a:rPr>
              <a:t>DMA</a:t>
            </a:r>
            <a:r>
              <a:rPr lang="zh-CN" altLang="en-US" sz="1800" b="1" spc="-100" dirty="0">
                <a:latin typeface="宋体" panose="02010600030101010101" pitchFamily="2" charset="-122"/>
                <a:sym typeface="+mn-ea"/>
              </a:rPr>
              <a:t>接口负责数据传送</a:t>
            </a:r>
            <a:endParaRPr lang="zh-CN" altLang="en-US" sz="2200" b="1" dirty="0">
              <a:latin typeface="宋体" panose="02010600030101010101" pitchFamily="2" charset="-122"/>
              <a:sym typeface="+mn-ea"/>
            </a:endParaRPr>
          </a:p>
          <a:p>
            <a:pPr algn="l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       (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传送准备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+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响应中断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+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执行中断程序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+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访存冲突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)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的时间</a:t>
            </a:r>
            <a:endParaRPr lang="zh-CN" altLang="en-US" sz="2200" b="1" spc="-100" dirty="0">
              <a:latin typeface="宋体" panose="02010600030101010101" pitchFamily="2" charset="-122"/>
              <a:sym typeface="+mn-ea"/>
            </a:endParaRPr>
          </a:p>
        </p:txBody>
      </p:sp>
      <p:grpSp>
        <p:nvGrpSpPr>
          <p:cNvPr id="79" name="组合 78"/>
          <p:cNvGrpSpPr/>
          <p:nvPr/>
        </p:nvGrpSpPr>
        <p:grpSpPr>
          <a:xfrm>
            <a:off x="1692000" y="2132856"/>
            <a:ext cx="5471795" cy="1763395"/>
            <a:chOff x="2948" y="5726"/>
            <a:chExt cx="8617" cy="2777"/>
          </a:xfrm>
        </p:grpSpPr>
        <p:sp>
          <p:nvSpPr>
            <p:cNvPr id="64" name="Text Box 12"/>
            <p:cNvSpPr txBox="1"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3629" y="6010"/>
              <a:ext cx="1361" cy="794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marL="0" indent="0" algn="r" eaLnBrk="1" latinLnBrk="0" hangingPunct="1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当前程序</a:t>
              </a:r>
            </a:p>
            <a:p>
              <a:pPr marL="0" indent="0" algn="r" eaLnBrk="1" latinLnBrk="0" hangingPunct="1">
                <a:lnSpc>
                  <a:spcPct val="90000"/>
                </a:lnSpc>
                <a:spcBef>
                  <a:spcPts val="600"/>
                </a:spcBef>
              </a:pPr>
              <a:r>
                <a:rPr lang="zh-CN" altLang="en-US" sz="1600" b="1" dirty="0">
                  <a:latin typeface="宋体" panose="02010600030101010101" pitchFamily="2" charset="-122"/>
                </a:rPr>
                <a:t>中断程序</a:t>
              </a:r>
            </a:p>
          </p:txBody>
        </p:sp>
        <p:sp>
          <p:nvSpPr>
            <p:cNvPr id="65" name="Text Box 19"/>
            <p:cNvSpPr txBox="1"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2948" y="6293"/>
              <a:ext cx="567" cy="34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r>
                <a:rPr lang="en-US" altLang="zh-CN" sz="1600" b="1" dirty="0">
                  <a:latin typeface="宋体" panose="02010600030101010101" pitchFamily="2" charset="-122"/>
                </a:rPr>
                <a:t>CPU</a:t>
              </a:r>
            </a:p>
          </p:txBody>
        </p:sp>
        <p:sp>
          <p:nvSpPr>
            <p:cNvPr id="66" name="Rectangle 64"/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4989" y="6067"/>
              <a:ext cx="2268" cy="227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7" name="Rectangle 66"/>
            <p:cNvSpPr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5556" y="6067"/>
              <a:ext cx="113" cy="22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" name="Text Box 85"/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2948" y="7654"/>
              <a:ext cx="2154" cy="34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l"/>
              <a:r>
                <a:rPr lang="en-US" altLang="zh-CN" sz="1600" b="1" dirty="0">
                  <a:latin typeface="宋体" panose="02010600030101010101" pitchFamily="2" charset="-122"/>
                  <a:sym typeface="+mn-ea"/>
                </a:rPr>
                <a:t>DMA</a:t>
              </a:r>
              <a:r>
                <a:rPr lang="zh-CN" altLang="en-US" sz="1600" b="1" dirty="0">
                  <a:latin typeface="宋体" panose="02010600030101010101" pitchFamily="2" charset="-122"/>
                  <a:sym typeface="+mn-ea"/>
                </a:rPr>
                <a:t>接口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(</a:t>
              </a:r>
              <a:r>
                <a:rPr lang="zh-CN" altLang="en-US" sz="1600" b="1" dirty="0">
                  <a:latin typeface="宋体" panose="02010600030101010101" pitchFamily="2" charset="-122"/>
                  <a:sym typeface="+mn-ea"/>
                </a:rPr>
                <a:t>外设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)</a:t>
              </a:r>
            </a:p>
          </p:txBody>
        </p:sp>
        <p:sp>
          <p:nvSpPr>
            <p:cNvPr id="5" name="Text Box 91"/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4876" y="6860"/>
              <a:ext cx="737" cy="68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vert="horz" lIns="18000" tIns="17780" rIns="18000" bIns="0"/>
            <a:lstStyle/>
            <a:p>
              <a:pPr marL="0" indent="0" algn="ctr" eaLnBrk="1" latinLnBrk="0" hangingPunct="1">
                <a:lnSpc>
                  <a:spcPct val="90000"/>
                </a:lnSpc>
              </a:pPr>
              <a:r>
                <a:rPr lang="zh-CN" sz="1600" b="1" dirty="0">
                  <a:latin typeface="宋体" panose="02010600030101010101" pitchFamily="2" charset="-122"/>
                </a:rPr>
                <a:t>发送需求</a:t>
              </a:r>
            </a:p>
          </p:txBody>
        </p:sp>
        <p:sp>
          <p:nvSpPr>
            <p:cNvPr id="71" name="Text Box 96"/>
            <p:cNvSpPr txBox="1"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9184" y="6350"/>
              <a:ext cx="397" cy="1361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vert="eaVert" lIns="18000" tIns="17780" rIns="36195" bIns="0"/>
            <a:lstStyle/>
            <a:p>
              <a:pPr marL="0" indent="0" algn="l" eaLnBrk="1" latinLnBrk="0" hangingPunct="1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中断请求</a:t>
              </a:r>
            </a:p>
          </p:txBody>
        </p:sp>
        <p:sp>
          <p:nvSpPr>
            <p:cNvPr id="70" name="左大括号 69"/>
            <p:cNvSpPr/>
            <p:nvPr>
              <p:custDataLst>
                <p:tags r:id="rId10"/>
              </p:custDataLst>
            </p:nvPr>
          </p:nvSpPr>
          <p:spPr bwMode="auto">
            <a:xfrm>
              <a:off x="3515" y="6179"/>
              <a:ext cx="113" cy="510"/>
            </a:xfrm>
            <a:prstGeom prst="leftBrace">
              <a:avLst>
                <a:gd name="adj1" fmla="val 23172"/>
                <a:gd name="adj2" fmla="val 50000"/>
              </a:avLst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" name="Text Box 91"/>
            <p:cNvSpPr txBox="1"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8107" y="6860"/>
              <a:ext cx="737" cy="68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vert="horz" lIns="18000" tIns="17780" rIns="18000" bIns="0"/>
            <a:lstStyle/>
            <a:p>
              <a:pPr marL="0" indent="0" algn="ctr" eaLnBrk="1" latinLnBrk="0" hangingPunct="1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启动</a:t>
              </a:r>
              <a:endParaRPr lang="en-US" altLang="zh-CN" sz="1600" b="1" dirty="0">
                <a:latin typeface="宋体" panose="02010600030101010101" pitchFamily="2" charset="-122"/>
              </a:endParaRPr>
            </a:p>
            <a:p>
              <a:pPr marL="0" indent="0" algn="ctr" eaLnBrk="1" latinLnBrk="0" hangingPunct="1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设备</a:t>
              </a:r>
            </a:p>
          </p:txBody>
        </p:sp>
        <p:cxnSp>
          <p:nvCxnSpPr>
            <p:cNvPr id="72" name="直接连接符 71"/>
            <p:cNvCxnSpPr/>
            <p:nvPr>
              <p:custDataLst>
                <p:tags r:id="rId12"/>
              </p:custDataLst>
            </p:nvPr>
          </p:nvCxnSpPr>
          <p:spPr bwMode="auto">
            <a:xfrm>
              <a:off x="5613" y="6293"/>
              <a:ext cx="0" cy="1417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74" name="直接连接符 73"/>
            <p:cNvCxnSpPr/>
            <p:nvPr>
              <p:custDataLst>
                <p:tags r:id="rId13"/>
              </p:custDataLst>
            </p:nvPr>
          </p:nvCxnSpPr>
          <p:spPr bwMode="auto">
            <a:xfrm>
              <a:off x="8107" y="6748"/>
              <a:ext cx="0" cy="964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75" name="直接连接符 74"/>
            <p:cNvCxnSpPr/>
            <p:nvPr>
              <p:custDataLst>
                <p:tags r:id="rId14"/>
              </p:custDataLst>
            </p:nvPr>
          </p:nvCxnSpPr>
          <p:spPr bwMode="auto">
            <a:xfrm flipV="1">
              <a:off x="7200" y="6293"/>
              <a:ext cx="0" cy="1417"/>
            </a:xfrm>
            <a:prstGeom prst="line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76" name="直接连接符 75"/>
            <p:cNvCxnSpPr/>
            <p:nvPr>
              <p:custDataLst>
                <p:tags r:id="rId15"/>
              </p:custDataLst>
            </p:nvPr>
          </p:nvCxnSpPr>
          <p:spPr bwMode="auto">
            <a:xfrm flipV="1">
              <a:off x="9581" y="6293"/>
              <a:ext cx="0" cy="1417"/>
            </a:xfrm>
            <a:prstGeom prst="line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78" name="Rectangle 67"/>
            <p:cNvSpPr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8788" y="6067"/>
              <a:ext cx="850" cy="225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" name="Text Box 88"/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7257" y="6860"/>
              <a:ext cx="737" cy="68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vert="horz" lIns="18000" tIns="17780" rIns="18000" bIns="0"/>
            <a:lstStyle/>
            <a:p>
              <a:pPr marL="0" indent="0" algn="ctr" eaLnBrk="1" latinLnBrk="0" hangingPunct="1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发送</a:t>
              </a:r>
              <a:endParaRPr lang="en-US" altLang="zh-CN" sz="1600" b="1" dirty="0">
                <a:latin typeface="宋体" panose="02010600030101010101" pitchFamily="2" charset="-122"/>
              </a:endParaRPr>
            </a:p>
            <a:p>
              <a:pPr marL="0" indent="0" algn="ctr" eaLnBrk="1" latinLnBrk="0" hangingPunct="1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需求</a:t>
              </a:r>
            </a:p>
          </p:txBody>
        </p:sp>
        <p:sp>
          <p:nvSpPr>
            <p:cNvPr id="81" name="Text Box 100"/>
            <p:cNvSpPr txBox="1"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7314" y="5726"/>
              <a:ext cx="340" cy="68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vert="eaVert" lIns="18000" tIns="10800" rIns="18000" bIns="10800" anchor="ctr" anchorCtr="0"/>
            <a:lstStyle/>
            <a:p>
              <a:pPr algn="l"/>
              <a:r>
                <a:rPr lang="zh-CN" altLang="en-US" sz="1600" b="1">
                  <a:latin typeface="宋体" panose="02010600030101010101" pitchFamily="2" charset="-122"/>
                </a:rPr>
                <a:t>响应</a:t>
              </a:r>
            </a:p>
          </p:txBody>
        </p:sp>
        <p:sp>
          <p:nvSpPr>
            <p:cNvPr id="8" name="Text Box 101"/>
            <p:cNvSpPr txBox="1"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8334" y="5727"/>
              <a:ext cx="340" cy="68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vert="eaVert" lIns="18000" tIns="10800" rIns="18000" bIns="10800" anchor="ctr" anchorCtr="0"/>
            <a:lstStyle/>
            <a:p>
              <a:pPr algn="l"/>
              <a:r>
                <a:rPr lang="zh-CN" altLang="en-US" sz="1600" b="1" dirty="0">
                  <a:latin typeface="宋体" panose="02010600030101010101" pitchFamily="2" charset="-122"/>
                </a:rPr>
                <a:t>返回</a:t>
              </a:r>
            </a:p>
          </p:txBody>
        </p:sp>
        <p:cxnSp>
          <p:nvCxnSpPr>
            <p:cNvPr id="9" name="直接连接符 8"/>
            <p:cNvCxnSpPr/>
            <p:nvPr>
              <p:custDataLst>
                <p:tags r:id="rId20"/>
              </p:custDataLst>
            </p:nvPr>
          </p:nvCxnSpPr>
          <p:spPr bwMode="auto">
            <a:xfrm>
              <a:off x="7995" y="6746"/>
              <a:ext cx="0" cy="964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0" name="Rectangle 65"/>
            <p:cNvSpPr>
              <a:spLocks noChangeArrowheads="1"/>
            </p:cNvSpPr>
            <p:nvPr>
              <p:custDataLst>
                <p:tags r:id="rId21"/>
              </p:custDataLst>
            </p:nvPr>
          </p:nvSpPr>
          <p:spPr bwMode="auto">
            <a:xfrm>
              <a:off x="7597" y="6520"/>
              <a:ext cx="907" cy="225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" name="Rectangle 69"/>
            <p:cNvSpPr>
              <a:spLocks noChangeArrowheads="1"/>
            </p:cNvSpPr>
            <p:nvPr>
              <p:custDataLst>
                <p:tags r:id="rId22"/>
              </p:custDataLst>
            </p:nvPr>
          </p:nvSpPr>
          <p:spPr bwMode="auto">
            <a:xfrm>
              <a:off x="7937" y="6520"/>
              <a:ext cx="113" cy="22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" name="Rectangle 69"/>
            <p:cNvSpPr>
              <a:spLocks noChangeArrowheads="1"/>
            </p:cNvSpPr>
            <p:nvPr>
              <p:custDataLst>
                <p:tags r:id="rId23"/>
              </p:custDataLst>
            </p:nvPr>
          </p:nvSpPr>
          <p:spPr bwMode="auto">
            <a:xfrm>
              <a:off x="8050" y="6520"/>
              <a:ext cx="113" cy="22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cxnSp>
          <p:nvCxnSpPr>
            <p:cNvPr id="13" name="直接连接符 12"/>
            <p:cNvCxnSpPr/>
            <p:nvPr>
              <p:custDataLst>
                <p:tags r:id="rId24"/>
              </p:custDataLst>
            </p:nvPr>
          </p:nvCxnSpPr>
          <p:spPr bwMode="auto">
            <a:xfrm>
              <a:off x="7597" y="6631"/>
              <a:ext cx="907" cy="0"/>
            </a:xfrm>
            <a:prstGeom prst="line">
              <a:avLst/>
            </a:prstGeom>
            <a:noFill/>
            <a:ln w="1905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4" name="直接连接符 13"/>
            <p:cNvCxnSpPr>
              <a:endCxn id="78" idx="1"/>
            </p:cNvCxnSpPr>
            <p:nvPr>
              <p:custDataLst>
                <p:tags r:id="rId25"/>
              </p:custDataLst>
            </p:nvPr>
          </p:nvCxnSpPr>
          <p:spPr bwMode="auto">
            <a:xfrm flipV="1">
              <a:off x="8505" y="6180"/>
              <a:ext cx="283" cy="454"/>
            </a:xfrm>
            <a:prstGeom prst="line">
              <a:avLst/>
            </a:prstGeom>
            <a:noFill/>
            <a:ln w="1905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5" name="直接连接符 14"/>
            <p:cNvCxnSpPr/>
            <p:nvPr>
              <p:custDataLst>
                <p:tags r:id="rId26"/>
              </p:custDataLst>
            </p:nvPr>
          </p:nvCxnSpPr>
          <p:spPr bwMode="auto">
            <a:xfrm>
              <a:off x="7257" y="6195"/>
              <a:ext cx="340" cy="454"/>
            </a:xfrm>
            <a:prstGeom prst="line">
              <a:avLst/>
            </a:prstGeom>
            <a:noFill/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6" name="直接连接符 15"/>
            <p:cNvCxnSpPr/>
            <p:nvPr>
              <p:custDataLst>
                <p:tags r:id="rId27"/>
              </p:custDataLst>
            </p:nvPr>
          </p:nvCxnSpPr>
          <p:spPr bwMode="auto">
            <a:xfrm>
              <a:off x="8788" y="6180"/>
              <a:ext cx="850" cy="0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7" name="Text Box 96"/>
            <p:cNvSpPr txBox="1">
              <a:spLocks noChangeArrowheads="1"/>
            </p:cNvSpPr>
            <p:nvPr>
              <p:custDataLst>
                <p:tags r:id="rId28"/>
              </p:custDataLst>
            </p:nvPr>
          </p:nvSpPr>
          <p:spPr bwMode="auto">
            <a:xfrm>
              <a:off x="6804" y="6350"/>
              <a:ext cx="397" cy="1361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vert="eaVert" lIns="18000" tIns="17780" rIns="36195" bIns="0"/>
            <a:lstStyle/>
            <a:p>
              <a:pPr marL="0" indent="0" algn="l" eaLnBrk="1" latinLnBrk="0" hangingPunct="1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中断请求</a:t>
              </a:r>
            </a:p>
          </p:txBody>
        </p:sp>
        <p:sp>
          <p:nvSpPr>
            <p:cNvPr id="18" name="Rectangle 67"/>
            <p:cNvSpPr>
              <a:spLocks noChangeArrowheads="1"/>
            </p:cNvSpPr>
            <p:nvPr>
              <p:custDataLst>
                <p:tags r:id="rId29"/>
              </p:custDataLst>
            </p:nvPr>
          </p:nvSpPr>
          <p:spPr bwMode="auto">
            <a:xfrm>
              <a:off x="10999" y="6067"/>
              <a:ext cx="567" cy="225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" name="Text Box 100"/>
            <p:cNvSpPr txBox="1">
              <a:spLocks noChangeArrowheads="1"/>
            </p:cNvSpPr>
            <p:nvPr>
              <p:custDataLst>
                <p:tags r:id="rId30"/>
              </p:custDataLst>
            </p:nvPr>
          </p:nvSpPr>
          <p:spPr bwMode="auto">
            <a:xfrm>
              <a:off x="9695" y="5726"/>
              <a:ext cx="340" cy="68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vert="eaVert" lIns="18000" tIns="10800" rIns="18000" bIns="10800" anchor="ctr" anchorCtr="0"/>
            <a:lstStyle/>
            <a:p>
              <a:pPr algn="l"/>
              <a:r>
                <a:rPr lang="zh-CN" altLang="en-US" sz="1600" b="1">
                  <a:latin typeface="宋体" panose="02010600030101010101" pitchFamily="2" charset="-122"/>
                </a:rPr>
                <a:t>响应</a:t>
              </a:r>
            </a:p>
          </p:txBody>
        </p:sp>
        <p:sp>
          <p:nvSpPr>
            <p:cNvPr id="20" name="Text Box 101"/>
            <p:cNvSpPr txBox="1">
              <a:spLocks noChangeArrowheads="1"/>
            </p:cNvSpPr>
            <p:nvPr>
              <p:custDataLst>
                <p:tags r:id="rId31"/>
              </p:custDataLst>
            </p:nvPr>
          </p:nvSpPr>
          <p:spPr bwMode="auto">
            <a:xfrm>
              <a:off x="10545" y="5727"/>
              <a:ext cx="340" cy="68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vert="eaVert" lIns="18000" tIns="10800" rIns="18000" bIns="10800" anchor="ctr" anchorCtr="0"/>
            <a:lstStyle/>
            <a:p>
              <a:pPr algn="l"/>
              <a:r>
                <a:rPr lang="zh-CN" altLang="en-US" sz="1600" b="1" dirty="0">
                  <a:latin typeface="宋体" panose="02010600030101010101" pitchFamily="2" charset="-122"/>
                </a:rPr>
                <a:t>返回</a:t>
              </a:r>
            </a:p>
          </p:txBody>
        </p:sp>
        <p:sp>
          <p:nvSpPr>
            <p:cNvPr id="21" name="Rectangle 65"/>
            <p:cNvSpPr>
              <a:spLocks noChangeArrowheads="1"/>
            </p:cNvSpPr>
            <p:nvPr>
              <p:custDataLst>
                <p:tags r:id="rId32"/>
              </p:custDataLst>
            </p:nvPr>
          </p:nvSpPr>
          <p:spPr bwMode="auto">
            <a:xfrm>
              <a:off x="9978" y="6520"/>
              <a:ext cx="680" cy="225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cxnSp>
          <p:nvCxnSpPr>
            <p:cNvPr id="22" name="直接连接符 21"/>
            <p:cNvCxnSpPr/>
            <p:nvPr>
              <p:custDataLst>
                <p:tags r:id="rId33"/>
              </p:custDataLst>
            </p:nvPr>
          </p:nvCxnSpPr>
          <p:spPr bwMode="auto">
            <a:xfrm>
              <a:off x="9978" y="6631"/>
              <a:ext cx="680" cy="0"/>
            </a:xfrm>
            <a:prstGeom prst="line">
              <a:avLst/>
            </a:prstGeom>
            <a:noFill/>
            <a:ln w="1905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3" name="直接连接符 22"/>
            <p:cNvCxnSpPr/>
            <p:nvPr>
              <p:custDataLst>
                <p:tags r:id="rId34"/>
              </p:custDataLst>
            </p:nvPr>
          </p:nvCxnSpPr>
          <p:spPr bwMode="auto">
            <a:xfrm flipV="1">
              <a:off x="10659" y="6180"/>
              <a:ext cx="340" cy="454"/>
            </a:xfrm>
            <a:prstGeom prst="line">
              <a:avLst/>
            </a:prstGeom>
            <a:noFill/>
            <a:ln w="1905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4" name="直接连接符 23"/>
            <p:cNvCxnSpPr/>
            <p:nvPr>
              <p:custDataLst>
                <p:tags r:id="rId35"/>
              </p:custDataLst>
            </p:nvPr>
          </p:nvCxnSpPr>
          <p:spPr bwMode="auto">
            <a:xfrm>
              <a:off x="9638" y="6195"/>
              <a:ext cx="340" cy="454"/>
            </a:xfrm>
            <a:prstGeom prst="line">
              <a:avLst/>
            </a:prstGeom>
            <a:noFill/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5" name="直接连接符 24"/>
            <p:cNvCxnSpPr/>
            <p:nvPr>
              <p:custDataLst>
                <p:tags r:id="rId36"/>
              </p:custDataLst>
            </p:nvPr>
          </p:nvCxnSpPr>
          <p:spPr bwMode="auto">
            <a:xfrm>
              <a:off x="10999" y="6180"/>
              <a:ext cx="567" cy="0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26" name="Rectangle 66"/>
            <p:cNvSpPr>
              <a:spLocks noChangeArrowheads="1"/>
            </p:cNvSpPr>
            <p:nvPr>
              <p:custDataLst>
                <p:tags r:id="rId37"/>
              </p:custDataLst>
            </p:nvPr>
          </p:nvSpPr>
          <p:spPr bwMode="auto">
            <a:xfrm>
              <a:off x="5669" y="6066"/>
              <a:ext cx="113" cy="22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cxnSp>
          <p:nvCxnSpPr>
            <p:cNvPr id="27" name="直接连接符 26"/>
            <p:cNvCxnSpPr/>
            <p:nvPr>
              <p:custDataLst>
                <p:tags r:id="rId38"/>
              </p:custDataLst>
            </p:nvPr>
          </p:nvCxnSpPr>
          <p:spPr bwMode="auto">
            <a:xfrm>
              <a:off x="5726" y="6293"/>
              <a:ext cx="0" cy="1417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8" name="直接连接符 27"/>
            <p:cNvCxnSpPr/>
            <p:nvPr>
              <p:custDataLst>
                <p:tags r:id="rId39"/>
              </p:custDataLst>
            </p:nvPr>
          </p:nvCxnSpPr>
          <p:spPr bwMode="auto">
            <a:xfrm>
              <a:off x="4989" y="6180"/>
              <a:ext cx="2268" cy="0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29" name="Text Box 91"/>
            <p:cNvSpPr txBox="1">
              <a:spLocks noChangeArrowheads="1"/>
            </p:cNvSpPr>
            <p:nvPr>
              <p:custDataLst>
                <p:tags r:id="rId40"/>
              </p:custDataLst>
            </p:nvPr>
          </p:nvSpPr>
          <p:spPr bwMode="auto">
            <a:xfrm>
              <a:off x="5726" y="6860"/>
              <a:ext cx="737" cy="68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vert="horz" lIns="18000" tIns="17780" rIns="18000" bIns="0"/>
            <a:lstStyle/>
            <a:p>
              <a:pPr marL="0" indent="0" algn="ctr" eaLnBrk="1" latinLnBrk="0" hangingPunct="1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启动</a:t>
              </a:r>
              <a:endParaRPr lang="en-US" altLang="zh-CN" sz="1600" b="1" dirty="0">
                <a:latin typeface="宋体" panose="02010600030101010101" pitchFamily="2" charset="-122"/>
              </a:endParaRPr>
            </a:p>
            <a:p>
              <a:pPr marL="0" indent="0" algn="ctr" eaLnBrk="1" latinLnBrk="0" hangingPunct="1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设备</a:t>
              </a:r>
            </a:p>
          </p:txBody>
        </p:sp>
        <p:sp>
          <p:nvSpPr>
            <p:cNvPr id="30" name="Text Box 85"/>
            <p:cNvSpPr txBox="1">
              <a:spLocks noChangeArrowheads="1"/>
            </p:cNvSpPr>
            <p:nvPr>
              <p:custDataLst>
                <p:tags r:id="rId41"/>
              </p:custDataLst>
            </p:nvPr>
          </p:nvSpPr>
          <p:spPr bwMode="auto">
            <a:xfrm>
              <a:off x="2948" y="8107"/>
              <a:ext cx="737" cy="34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l"/>
              <a:r>
                <a:rPr lang="zh-CN" sz="1600" b="1" dirty="0">
                  <a:latin typeface="宋体" panose="02010600030101010101" pitchFamily="2" charset="-122"/>
                  <a:sym typeface="+mn-ea"/>
                </a:rPr>
                <a:t>主存</a:t>
              </a:r>
              <a:endParaRPr 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31" name="Rectangle 64"/>
            <p:cNvSpPr>
              <a:spLocks noChangeArrowheads="1"/>
            </p:cNvSpPr>
            <p:nvPr>
              <p:custDataLst>
                <p:tags r:id="rId42"/>
              </p:custDataLst>
            </p:nvPr>
          </p:nvSpPr>
          <p:spPr bwMode="auto">
            <a:xfrm>
              <a:off x="4989" y="8277"/>
              <a:ext cx="5669" cy="227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" name="Rectangle 86"/>
            <p:cNvSpPr>
              <a:spLocks noChangeArrowheads="1"/>
            </p:cNvSpPr>
            <p:nvPr>
              <p:custDataLst>
                <p:tags r:id="rId43"/>
              </p:custDataLst>
            </p:nvPr>
          </p:nvSpPr>
          <p:spPr bwMode="auto">
            <a:xfrm>
              <a:off x="5783" y="7712"/>
              <a:ext cx="1361" cy="170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cxnSp>
          <p:nvCxnSpPr>
            <p:cNvPr id="33" name="直接连接符 32"/>
            <p:cNvCxnSpPr/>
            <p:nvPr>
              <p:custDataLst>
                <p:tags r:id="rId44"/>
              </p:custDataLst>
            </p:nvPr>
          </p:nvCxnSpPr>
          <p:spPr bwMode="auto">
            <a:xfrm>
              <a:off x="5783" y="7795"/>
              <a:ext cx="1361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sm" len="sm"/>
            </a:ln>
          </p:spPr>
        </p:cxnSp>
        <p:sp>
          <p:nvSpPr>
            <p:cNvPr id="34" name="Rectangle 69"/>
            <p:cNvSpPr>
              <a:spLocks noChangeArrowheads="1"/>
            </p:cNvSpPr>
            <p:nvPr>
              <p:custDataLst>
                <p:tags r:id="rId45"/>
              </p:custDataLst>
            </p:nvPr>
          </p:nvSpPr>
          <p:spPr bwMode="auto">
            <a:xfrm>
              <a:off x="5556" y="7711"/>
              <a:ext cx="113" cy="283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" name="Rectangle 69"/>
            <p:cNvSpPr>
              <a:spLocks noChangeArrowheads="1"/>
            </p:cNvSpPr>
            <p:nvPr>
              <p:custDataLst>
                <p:tags r:id="rId46"/>
              </p:custDataLst>
            </p:nvPr>
          </p:nvSpPr>
          <p:spPr bwMode="auto">
            <a:xfrm>
              <a:off x="7144" y="7711"/>
              <a:ext cx="113" cy="283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" name="Rectangle 69"/>
            <p:cNvSpPr>
              <a:spLocks noChangeArrowheads="1"/>
            </p:cNvSpPr>
            <p:nvPr>
              <p:custDataLst>
                <p:tags r:id="rId47"/>
              </p:custDataLst>
            </p:nvPr>
          </p:nvSpPr>
          <p:spPr bwMode="auto">
            <a:xfrm>
              <a:off x="5669" y="7710"/>
              <a:ext cx="113" cy="283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cxnSp>
          <p:nvCxnSpPr>
            <p:cNvPr id="37" name="直接连接符 36"/>
            <p:cNvCxnSpPr/>
            <p:nvPr>
              <p:custDataLst>
                <p:tags r:id="rId48"/>
              </p:custDataLst>
            </p:nvPr>
          </p:nvCxnSpPr>
          <p:spPr bwMode="auto">
            <a:xfrm>
              <a:off x="6066" y="7994"/>
              <a:ext cx="0" cy="283"/>
            </a:xfrm>
            <a:prstGeom prst="line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38" name="Rectangle 69"/>
            <p:cNvSpPr>
              <a:spLocks noChangeArrowheads="1"/>
            </p:cNvSpPr>
            <p:nvPr>
              <p:custDataLst>
                <p:tags r:id="rId49"/>
              </p:custDataLst>
            </p:nvPr>
          </p:nvSpPr>
          <p:spPr bwMode="auto">
            <a:xfrm>
              <a:off x="5783" y="7880"/>
              <a:ext cx="1361" cy="113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cxnSp>
          <p:nvCxnSpPr>
            <p:cNvPr id="39" name="直接连接符 38"/>
            <p:cNvCxnSpPr/>
            <p:nvPr>
              <p:custDataLst>
                <p:tags r:id="rId50"/>
              </p:custDataLst>
            </p:nvPr>
          </p:nvCxnSpPr>
          <p:spPr bwMode="auto">
            <a:xfrm>
              <a:off x="6293" y="7994"/>
              <a:ext cx="0" cy="283"/>
            </a:xfrm>
            <a:prstGeom prst="line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40" name="直接连接符 39"/>
            <p:cNvCxnSpPr/>
            <p:nvPr>
              <p:custDataLst>
                <p:tags r:id="rId51"/>
              </p:custDataLst>
            </p:nvPr>
          </p:nvCxnSpPr>
          <p:spPr bwMode="auto">
            <a:xfrm>
              <a:off x="7087" y="7994"/>
              <a:ext cx="0" cy="283"/>
            </a:xfrm>
            <a:prstGeom prst="line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41" name="Text Box 85"/>
            <p:cNvSpPr txBox="1">
              <a:spLocks noChangeArrowheads="1"/>
            </p:cNvSpPr>
            <p:nvPr>
              <p:custDataLst>
                <p:tags r:id="rId52"/>
              </p:custDataLst>
            </p:nvPr>
          </p:nvSpPr>
          <p:spPr bwMode="auto">
            <a:xfrm>
              <a:off x="6520" y="7994"/>
              <a:ext cx="397" cy="283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7780" rIns="18000" bIns="0" anchor="ctr" anchorCtr="0"/>
            <a:lstStyle/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…</a:t>
              </a:r>
            </a:p>
          </p:txBody>
        </p:sp>
        <p:sp>
          <p:nvSpPr>
            <p:cNvPr id="42" name="Rectangle 86"/>
            <p:cNvSpPr>
              <a:spLocks noChangeArrowheads="1"/>
            </p:cNvSpPr>
            <p:nvPr>
              <p:custDataLst>
                <p:tags r:id="rId53"/>
              </p:custDataLst>
            </p:nvPr>
          </p:nvSpPr>
          <p:spPr bwMode="auto">
            <a:xfrm>
              <a:off x="8164" y="7712"/>
              <a:ext cx="1361" cy="170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cxnSp>
          <p:nvCxnSpPr>
            <p:cNvPr id="43" name="直接连接符 42"/>
            <p:cNvCxnSpPr/>
            <p:nvPr>
              <p:custDataLst>
                <p:tags r:id="rId54"/>
              </p:custDataLst>
            </p:nvPr>
          </p:nvCxnSpPr>
          <p:spPr bwMode="auto">
            <a:xfrm>
              <a:off x="8164" y="7795"/>
              <a:ext cx="1361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sm" len="sm"/>
            </a:ln>
          </p:spPr>
        </p:cxnSp>
        <p:sp>
          <p:nvSpPr>
            <p:cNvPr id="44" name="Rectangle 69"/>
            <p:cNvSpPr>
              <a:spLocks noChangeArrowheads="1"/>
            </p:cNvSpPr>
            <p:nvPr>
              <p:custDataLst>
                <p:tags r:id="rId55"/>
              </p:custDataLst>
            </p:nvPr>
          </p:nvSpPr>
          <p:spPr bwMode="auto">
            <a:xfrm>
              <a:off x="7937" y="7711"/>
              <a:ext cx="113" cy="283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" name="Rectangle 69"/>
            <p:cNvSpPr>
              <a:spLocks noChangeArrowheads="1"/>
            </p:cNvSpPr>
            <p:nvPr>
              <p:custDataLst>
                <p:tags r:id="rId56"/>
              </p:custDataLst>
            </p:nvPr>
          </p:nvSpPr>
          <p:spPr bwMode="auto">
            <a:xfrm>
              <a:off x="9525" y="7711"/>
              <a:ext cx="113" cy="283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" name="Rectangle 69"/>
            <p:cNvSpPr>
              <a:spLocks noChangeArrowheads="1"/>
            </p:cNvSpPr>
            <p:nvPr>
              <p:custDataLst>
                <p:tags r:id="rId57"/>
              </p:custDataLst>
            </p:nvPr>
          </p:nvSpPr>
          <p:spPr bwMode="auto">
            <a:xfrm>
              <a:off x="8050" y="7710"/>
              <a:ext cx="113" cy="283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cxnSp>
          <p:nvCxnSpPr>
            <p:cNvPr id="47" name="直接连接符 46"/>
            <p:cNvCxnSpPr/>
            <p:nvPr>
              <p:custDataLst>
                <p:tags r:id="rId58"/>
              </p:custDataLst>
            </p:nvPr>
          </p:nvCxnSpPr>
          <p:spPr bwMode="auto">
            <a:xfrm>
              <a:off x="8447" y="7994"/>
              <a:ext cx="0" cy="283"/>
            </a:xfrm>
            <a:prstGeom prst="line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48" name="Rectangle 69"/>
            <p:cNvSpPr>
              <a:spLocks noChangeArrowheads="1"/>
            </p:cNvSpPr>
            <p:nvPr>
              <p:custDataLst>
                <p:tags r:id="rId59"/>
              </p:custDataLst>
            </p:nvPr>
          </p:nvSpPr>
          <p:spPr bwMode="auto">
            <a:xfrm>
              <a:off x="8164" y="7880"/>
              <a:ext cx="1361" cy="113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cxnSp>
          <p:nvCxnSpPr>
            <p:cNvPr id="49" name="直接连接符 48"/>
            <p:cNvCxnSpPr/>
            <p:nvPr>
              <p:custDataLst>
                <p:tags r:id="rId60"/>
              </p:custDataLst>
            </p:nvPr>
          </p:nvCxnSpPr>
          <p:spPr bwMode="auto">
            <a:xfrm>
              <a:off x="8674" y="7994"/>
              <a:ext cx="0" cy="283"/>
            </a:xfrm>
            <a:prstGeom prst="line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50" name="直接连接符 49"/>
            <p:cNvCxnSpPr/>
            <p:nvPr>
              <p:custDataLst>
                <p:tags r:id="rId61"/>
              </p:custDataLst>
            </p:nvPr>
          </p:nvCxnSpPr>
          <p:spPr bwMode="auto">
            <a:xfrm>
              <a:off x="9468" y="7994"/>
              <a:ext cx="0" cy="283"/>
            </a:xfrm>
            <a:prstGeom prst="line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51" name="Text Box 85"/>
            <p:cNvSpPr txBox="1">
              <a:spLocks noChangeArrowheads="1"/>
            </p:cNvSpPr>
            <p:nvPr>
              <p:custDataLst>
                <p:tags r:id="rId62"/>
              </p:custDataLst>
            </p:nvPr>
          </p:nvSpPr>
          <p:spPr bwMode="auto">
            <a:xfrm>
              <a:off x="8901" y="7994"/>
              <a:ext cx="397" cy="283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7780" rIns="18000" bIns="0" anchor="ctr" anchorCtr="0"/>
            <a:lstStyle/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…</a:t>
              </a:r>
            </a:p>
          </p:txBody>
        </p:sp>
      </p:grpSp>
      <p:sp>
        <p:nvSpPr>
          <p:cNvPr id="233" name="Text Box 200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584280" y="5301208"/>
            <a:ext cx="4392000" cy="28829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36195" tIns="17780" rIns="36195" bIns="0" anchor="ctr" anchorCtr="0">
            <a:noAutofit/>
          </a:bodyPr>
          <a:lstStyle/>
          <a:p>
            <a:pPr marL="805180" indent="-80518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800" b="1" dirty="0">
                <a:solidFill>
                  <a:srgbClr val="990099"/>
                </a:solidFill>
                <a:latin typeface="+mn-ea"/>
                <a:ea typeface="+mn-ea"/>
              </a:rPr>
              <a:t>引子：</a:t>
            </a:r>
            <a:r>
              <a:rPr lang="zh-CN" sz="1800" b="1" dirty="0">
                <a:latin typeface="宋体" panose="02010600030101010101" pitchFamily="2" charset="-122"/>
                <a:sym typeface="+mn-ea"/>
              </a:rPr>
              <a:t>如何减少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CPU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访存冲突的等待时间</a:t>
            </a:r>
            <a:r>
              <a:rPr lang="zh-CN" altLang="en-US" sz="1800" b="1" dirty="0">
                <a:latin typeface="宋体" panose="02010600030101010101" pitchFamily="2" charset="-122"/>
              </a:rPr>
              <a:t>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" dur="10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3" grpId="0" bldLvl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Text Box 93"/>
          <p:cNvSpPr txBox="1">
            <a:spLocks noChangeArrowheads="1"/>
          </p:cNvSpPr>
          <p:nvPr/>
        </p:nvSpPr>
        <p:spPr bwMode="auto">
          <a:xfrm>
            <a:off x="179705" y="764704"/>
            <a:ext cx="3057480" cy="581024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lang="en-US" altLang="zh-CN" sz="2000" b="1" dirty="0">
                <a:solidFill>
                  <a:srgbClr val="C00000"/>
                </a:solidFill>
                <a:latin typeface="+mn-ea"/>
                <a:ea typeface="+mn-ea"/>
              </a:rPr>
              <a:t> *CPU</a:t>
            </a:r>
            <a:r>
              <a:rPr lang="zh-CN" altLang="en-US" sz="2000" b="1" dirty="0">
                <a:solidFill>
                  <a:srgbClr val="C00000"/>
                </a:solidFill>
                <a:latin typeface="+mn-ea"/>
                <a:ea typeface="+mn-ea"/>
              </a:rPr>
              <a:t>停止访问法：</a:t>
            </a:r>
          </a:p>
          <a:p>
            <a:pPr algn="l">
              <a:lnSpc>
                <a:spcPct val="125000"/>
              </a:lnSpc>
              <a:spcBef>
                <a:spcPts val="0"/>
              </a:spcBef>
            </a:pPr>
            <a:endParaRPr lang="en-US" altLang="zh-CN" sz="2000" b="1" dirty="0">
              <a:solidFill>
                <a:srgbClr val="C00000"/>
              </a:solidFill>
              <a:latin typeface="+mn-ea"/>
              <a:ea typeface="+mn-ea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</a:pPr>
            <a:endParaRPr lang="zh-CN" altLang="en-US" sz="2000" b="1" dirty="0">
              <a:solidFill>
                <a:srgbClr val="C00000"/>
              </a:solidFill>
              <a:latin typeface="+mn-ea"/>
              <a:ea typeface="+mn-ea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</a:pPr>
            <a:endParaRPr lang="zh-CN" altLang="en-US" sz="2000" b="1" dirty="0">
              <a:solidFill>
                <a:srgbClr val="C00000"/>
              </a:solidFill>
              <a:latin typeface="+mn-ea"/>
              <a:ea typeface="+mn-ea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</a:pPr>
            <a:endParaRPr lang="zh-CN" altLang="en-US" sz="1400" b="1" dirty="0">
              <a:solidFill>
                <a:srgbClr val="C00000"/>
              </a:solidFill>
              <a:latin typeface="+mn-ea"/>
              <a:ea typeface="+mn-ea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lang="zh-CN" altLang="en-US" sz="2000" b="1" dirty="0">
                <a:solidFill>
                  <a:srgbClr val="C00000"/>
                </a:solidFill>
                <a:latin typeface="+mn-ea"/>
                <a:ea typeface="+mn-ea"/>
              </a:rPr>
              <a:t> </a:t>
            </a:r>
            <a:r>
              <a:rPr lang="en-US" altLang="zh-CN" sz="2000" b="1" dirty="0">
                <a:solidFill>
                  <a:srgbClr val="C00000"/>
                </a:solidFill>
                <a:latin typeface="+mn-ea"/>
                <a:ea typeface="+mn-ea"/>
              </a:rPr>
              <a:t>*</a:t>
            </a:r>
            <a:r>
              <a:rPr lang="zh-CN" altLang="en-US" sz="2000" b="1" dirty="0">
                <a:solidFill>
                  <a:srgbClr val="C00000"/>
                </a:solidFill>
                <a:latin typeface="+mn-ea"/>
                <a:ea typeface="+mn-ea"/>
                <a:sym typeface="+mn-ea"/>
              </a:rPr>
              <a:t>周期挪用</a:t>
            </a:r>
            <a:r>
              <a:rPr lang="en-US" altLang="zh-CN" sz="2000" b="1" dirty="0">
                <a:solidFill>
                  <a:srgbClr val="C00000"/>
                </a:solidFill>
                <a:latin typeface="+mn-ea"/>
                <a:ea typeface="+mn-ea"/>
                <a:sym typeface="+mn-ea"/>
              </a:rPr>
              <a:t>(</a:t>
            </a:r>
            <a:r>
              <a:rPr lang="zh-CN" altLang="en-US" sz="2000" b="1" dirty="0">
                <a:solidFill>
                  <a:srgbClr val="C00000"/>
                </a:solidFill>
                <a:latin typeface="+mn-ea"/>
                <a:ea typeface="+mn-ea"/>
                <a:sym typeface="+mn-ea"/>
              </a:rPr>
              <a:t>窃取</a:t>
            </a:r>
            <a:r>
              <a:rPr lang="en-US" altLang="zh-CN" sz="2000" b="1" dirty="0">
                <a:solidFill>
                  <a:srgbClr val="C00000"/>
                </a:solidFill>
                <a:latin typeface="+mn-ea"/>
                <a:ea typeface="+mn-ea"/>
                <a:sym typeface="+mn-ea"/>
              </a:rPr>
              <a:t>)</a:t>
            </a:r>
            <a:r>
              <a:rPr lang="zh-CN" altLang="en-US" sz="2000" b="1" dirty="0">
                <a:solidFill>
                  <a:srgbClr val="C00000"/>
                </a:solidFill>
                <a:latin typeface="+mn-ea"/>
                <a:ea typeface="+mn-ea"/>
                <a:sym typeface="+mn-ea"/>
              </a:rPr>
              <a:t>法</a:t>
            </a:r>
            <a:r>
              <a:rPr lang="zh-CN" altLang="en-US" sz="2000" b="1" dirty="0">
                <a:solidFill>
                  <a:srgbClr val="C00000"/>
                </a:solidFill>
                <a:latin typeface="+mn-ea"/>
                <a:ea typeface="+mn-ea"/>
              </a:rPr>
              <a:t>：</a:t>
            </a:r>
          </a:p>
          <a:p>
            <a:pPr algn="l">
              <a:lnSpc>
                <a:spcPct val="125000"/>
              </a:lnSpc>
              <a:spcBef>
                <a:spcPts val="0"/>
              </a:spcBef>
            </a:pPr>
            <a:endParaRPr lang="en-US" altLang="zh-CN" sz="2000" b="1" spc="-100" dirty="0">
              <a:solidFill>
                <a:srgbClr val="C00000"/>
              </a:solidFill>
              <a:latin typeface="+mn-ea"/>
              <a:ea typeface="+mn-ea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</a:pPr>
            <a:endParaRPr lang="en-US" altLang="zh-CN" sz="2000" b="1" spc="-100" dirty="0">
              <a:solidFill>
                <a:srgbClr val="C00000"/>
              </a:solidFill>
              <a:latin typeface="+mn-ea"/>
              <a:ea typeface="+mn-ea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</a:pPr>
            <a:endParaRPr lang="en-US" altLang="zh-CN" sz="2000" b="1" spc="-100" dirty="0">
              <a:solidFill>
                <a:srgbClr val="C00000"/>
              </a:solidFill>
              <a:latin typeface="+mn-ea"/>
              <a:ea typeface="+mn-ea"/>
            </a:endParaRPr>
          </a:p>
          <a:p>
            <a:pPr algn="l">
              <a:lnSpc>
                <a:spcPct val="125000"/>
              </a:lnSpc>
              <a:spcBef>
                <a:spcPts val="2100"/>
              </a:spcBef>
            </a:pPr>
            <a:r>
              <a:rPr lang="en-US" altLang="zh-CN" sz="2000" b="1" spc="-100" dirty="0">
                <a:solidFill>
                  <a:srgbClr val="C00000"/>
                </a:solidFill>
                <a:latin typeface="+mn-ea"/>
                <a:ea typeface="+mn-ea"/>
              </a:rPr>
              <a:t> *</a:t>
            </a:r>
            <a:r>
              <a:rPr lang="zh-CN" altLang="en-US" sz="2000" b="1" dirty="0">
                <a:solidFill>
                  <a:srgbClr val="C00000"/>
                </a:solidFill>
                <a:latin typeface="+mn-ea"/>
                <a:ea typeface="+mn-ea"/>
                <a:sym typeface="+mn-ea"/>
              </a:rPr>
              <a:t>分时交替访问法</a:t>
            </a:r>
            <a:r>
              <a:rPr lang="zh-CN" altLang="en-US" sz="2000" b="1" spc="-100" dirty="0">
                <a:solidFill>
                  <a:srgbClr val="C00000"/>
                </a:solidFill>
                <a:latin typeface="+mn-ea"/>
                <a:ea typeface="+mn-ea"/>
              </a:rPr>
              <a:t>：</a:t>
            </a:r>
            <a:endParaRPr lang="en-US" altLang="zh-CN" sz="2000" b="1" spc="-100" dirty="0">
              <a:solidFill>
                <a:srgbClr val="C00000"/>
              </a:solidFill>
              <a:latin typeface="+mn-ea"/>
              <a:ea typeface="+mn-ea"/>
            </a:endParaRPr>
          </a:p>
          <a:p>
            <a:pPr algn="l">
              <a:lnSpc>
                <a:spcPct val="125000"/>
              </a:lnSpc>
              <a:spcBef>
                <a:spcPts val="1500"/>
              </a:spcBef>
            </a:pPr>
            <a:endParaRPr lang="en-US" altLang="zh-CN" sz="2000" b="1" spc="-100" dirty="0">
              <a:solidFill>
                <a:srgbClr val="C00000"/>
              </a:solidFill>
              <a:latin typeface="+mn-ea"/>
              <a:ea typeface="+mn-ea"/>
            </a:endParaRPr>
          </a:p>
          <a:p>
            <a:pPr algn="l">
              <a:lnSpc>
                <a:spcPct val="125000"/>
              </a:lnSpc>
              <a:spcBef>
                <a:spcPts val="1500"/>
              </a:spcBef>
            </a:pPr>
            <a:endParaRPr lang="en-US" altLang="zh-CN" sz="2000" b="1" spc="-100" dirty="0">
              <a:solidFill>
                <a:srgbClr val="C00000"/>
              </a:solidFill>
              <a:latin typeface="+mn-ea"/>
              <a:ea typeface="+mn-ea"/>
            </a:endParaRPr>
          </a:p>
          <a:p>
            <a:pPr algn="l">
              <a:lnSpc>
                <a:spcPct val="125000"/>
              </a:lnSpc>
              <a:spcBef>
                <a:spcPts val="900"/>
              </a:spcBef>
            </a:pPr>
            <a:r>
              <a:rPr lang="en-US" altLang="zh-CN" sz="2000" b="1" spc="-100" dirty="0">
                <a:solidFill>
                  <a:srgbClr val="C00000"/>
                </a:solidFill>
                <a:latin typeface="+mn-ea"/>
                <a:ea typeface="+mn-ea"/>
              </a:rPr>
              <a:t> *</a:t>
            </a:r>
            <a:r>
              <a:rPr lang="zh-CN" altLang="en-US" sz="2000" b="1" spc="-100" dirty="0">
                <a:solidFill>
                  <a:srgbClr val="C00000"/>
                </a:solidFill>
                <a:latin typeface="+mn-ea"/>
                <a:ea typeface="+mn-ea"/>
              </a:rPr>
              <a:t>常见选择：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BFB63-B979-4FAE-8763-D7093A979077}" type="slidenum">
              <a:rPr lang="en-US" altLang="zh-CN" smtClean="0"/>
              <a:t>41</a:t>
            </a:fld>
            <a:endParaRPr lang="en-US" altLang="zh-CN"/>
          </a:p>
        </p:txBody>
      </p:sp>
      <p:sp>
        <p:nvSpPr>
          <p:cNvPr id="4" name="Text Box 338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516000" y="1196752"/>
            <a:ext cx="2455494" cy="132343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特点</a:t>
            </a: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  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传输效率</a:t>
            </a:r>
            <a:r>
              <a:rPr lang="zh-CN" altLang="en-US" sz="2000" b="1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高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，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  CPU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工作效率</a:t>
            </a:r>
            <a:r>
              <a:rPr lang="zh-CN" altLang="en-US" sz="2000" b="1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低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，</a:t>
            </a:r>
            <a:endParaRPr lang="en-US" altLang="zh-CN" sz="2000" b="1" dirty="0">
              <a:latin typeface="宋体" panose="02010600030101010101" pitchFamily="2" charset="-122"/>
              <a:sym typeface="+mn-ea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  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适于</a:t>
            </a:r>
            <a:r>
              <a:rPr lang="zh-CN" altLang="en-US" sz="2000" b="1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快速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块设备</a:t>
            </a:r>
            <a:endParaRPr lang="en-US" altLang="zh-CN" b="1" dirty="0">
              <a:latin typeface="宋体" panose="02010600030101010101" pitchFamily="2" charset="-122"/>
              <a:sym typeface="+mn-ea"/>
            </a:endParaRPr>
          </a:p>
        </p:txBody>
      </p:sp>
      <p:sp>
        <p:nvSpPr>
          <p:cNvPr id="5" name="Text Box 338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516488" y="2996952"/>
            <a:ext cx="2448000" cy="132343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20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特点</a:t>
            </a: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  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传输效率</a:t>
            </a:r>
            <a:r>
              <a:rPr lang="zh-CN" altLang="en-US" sz="2000" b="1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较高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，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  CPU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工作效率</a:t>
            </a:r>
            <a:r>
              <a:rPr lang="zh-CN" altLang="en-US" sz="2000" b="1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高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，</a:t>
            </a:r>
            <a:endParaRPr lang="en-US" altLang="zh-CN" sz="2000" b="1" dirty="0">
              <a:latin typeface="宋体" panose="02010600030101010101" pitchFamily="2" charset="-122"/>
              <a:sym typeface="+mn-ea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  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适于</a:t>
            </a:r>
            <a:r>
              <a:rPr lang="zh-CN" altLang="en-US" sz="2000" b="1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慢速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块设备</a:t>
            </a:r>
            <a:endParaRPr lang="zh-CN" sz="2000" b="1" dirty="0">
              <a:latin typeface="宋体" panose="02010600030101010101" pitchFamily="2" charset="-122"/>
              <a:sym typeface="+mn-ea"/>
            </a:endParaRPr>
          </a:p>
        </p:txBody>
      </p:sp>
      <p:sp>
        <p:nvSpPr>
          <p:cNvPr id="229" name="Text Box 171"/>
          <p:cNvSpPr txBox="1">
            <a:spLocks noChangeArrowheads="1"/>
          </p:cNvSpPr>
          <p:nvPr/>
        </p:nvSpPr>
        <p:spPr bwMode="auto">
          <a:xfrm>
            <a:off x="179388" y="332656"/>
            <a:ext cx="8785225" cy="4199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tIns="10795" bIns="10795" anchor="ctr" anchorCtr="0">
            <a:spAutoFit/>
          </a:bodyPr>
          <a:lstStyle>
            <a:defPPr>
              <a:defRPr lang="zh-CN"/>
            </a:defPPr>
            <a:lvl1pPr algn="l">
              <a:defRPr b="1">
                <a:solidFill>
                  <a:srgbClr val="FF3300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1pPr>
          </a:lstStyle>
          <a:p>
            <a:pPr>
              <a:lnSpc>
                <a:spcPct val="125000"/>
              </a:lnSpc>
            </a:pPr>
            <a:r>
              <a:rPr lang="en-US" altLang="zh-CN" dirty="0">
                <a:solidFill>
                  <a:srgbClr val="FF3399"/>
                </a:solidFill>
                <a:latin typeface="+mn-ea"/>
                <a:ea typeface="+mn-ea"/>
              </a:rPr>
              <a:t>1</a:t>
            </a:r>
            <a:r>
              <a:rPr lang="zh-CN" altLang="en-US" dirty="0">
                <a:solidFill>
                  <a:srgbClr val="FF3399"/>
                </a:solidFill>
                <a:latin typeface="+mn-ea"/>
                <a:ea typeface="+mn-ea"/>
              </a:rPr>
              <a:t>、</a:t>
            </a:r>
            <a:r>
              <a:rPr lang="en-US" altLang="zh-CN" dirty="0">
                <a:solidFill>
                  <a:srgbClr val="FF3399"/>
                </a:solidFill>
                <a:latin typeface="+mn-ea"/>
                <a:ea typeface="+mn-ea"/>
              </a:rPr>
              <a:t>DMA</a:t>
            </a:r>
            <a:r>
              <a:rPr lang="zh-CN" altLang="en-US" dirty="0">
                <a:solidFill>
                  <a:srgbClr val="FF3399"/>
                </a:solidFill>
                <a:latin typeface="+mn-ea"/>
                <a:ea typeface="+mn-ea"/>
              </a:rPr>
              <a:t>的传送方式   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</a:rPr>
              <a:t>--</a:t>
            </a:r>
            <a:r>
              <a:rPr lang="en-US" altLang="zh-CN" sz="1800" b="1" dirty="0">
                <a:solidFill>
                  <a:schemeClr val="tx1"/>
                </a:solidFill>
                <a:latin typeface="+mn-ea"/>
                <a:ea typeface="+mn-ea"/>
              </a:rPr>
              <a:t>DMA</a:t>
            </a:r>
            <a:r>
              <a:rPr lang="zh-CN" altLang="en-US" sz="1800" b="1" dirty="0">
                <a:solidFill>
                  <a:schemeClr val="tx1"/>
                </a:solidFill>
                <a:latin typeface="+mn-ea"/>
                <a:ea typeface="+mn-ea"/>
              </a:rPr>
              <a:t>接口</a:t>
            </a:r>
            <a:r>
              <a:rPr lang="zh-CN" altLang="en-US" sz="1800" b="1" u="sng" dirty="0">
                <a:solidFill>
                  <a:schemeClr val="tx1"/>
                </a:solidFill>
                <a:latin typeface="+mn-ea"/>
                <a:ea typeface="+mn-ea"/>
              </a:rPr>
              <a:t>获得总线使用权</a:t>
            </a:r>
            <a:r>
              <a:rPr lang="zh-CN" altLang="en-US" sz="1800" b="1" dirty="0">
                <a:solidFill>
                  <a:schemeClr val="tx1"/>
                </a:solidFill>
                <a:latin typeface="+mn-ea"/>
                <a:ea typeface="+mn-ea"/>
              </a:rPr>
              <a:t>的方法 </a:t>
            </a:r>
            <a:endParaRPr lang="en-US" altLang="zh-CN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231" name="Text Box 89"/>
          <p:cNvSpPr txBox="1">
            <a:spLocks noChangeArrowheads="1"/>
          </p:cNvSpPr>
          <p:nvPr/>
        </p:nvSpPr>
        <p:spPr bwMode="auto">
          <a:xfrm>
            <a:off x="2339752" y="764704"/>
            <a:ext cx="6300457" cy="42415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sz="2000" b="1" u="sng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首个数据</a:t>
            </a:r>
            <a:r>
              <a:rPr lang="zh-CN" altLang="en-US" sz="2000" b="1" u="sng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就绪时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申请，</a:t>
            </a:r>
            <a:r>
              <a:rPr lang="zh-CN" altLang="en-US" sz="2000" b="1" u="sng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所有数据</a:t>
            </a:r>
            <a:r>
              <a:rPr lang="zh-CN" altLang="en-US" sz="2000" b="1" u="sng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传送后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放弃</a:t>
            </a: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撤销</a:t>
            </a: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)</a:t>
            </a:r>
            <a:endParaRPr lang="zh-CN" altLang="zh-CN" sz="2000" b="1" dirty="0">
              <a:latin typeface="宋体" panose="02010600030101010101" pitchFamily="2" charset="-122"/>
              <a:sym typeface="+mn-ea"/>
            </a:endParaRPr>
          </a:p>
        </p:txBody>
      </p:sp>
      <p:sp>
        <p:nvSpPr>
          <p:cNvPr id="232" name="Text Box 89"/>
          <p:cNvSpPr txBox="1">
            <a:spLocks noChangeArrowheads="1"/>
          </p:cNvSpPr>
          <p:nvPr/>
        </p:nvSpPr>
        <p:spPr bwMode="auto">
          <a:xfrm>
            <a:off x="2771800" y="2564904"/>
            <a:ext cx="6012232" cy="42415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sz="2000" b="1" u="sng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每个数据</a:t>
            </a:r>
            <a:r>
              <a:rPr lang="zh-CN" altLang="en-US" sz="2000" b="1" u="sng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就绪时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申请，</a:t>
            </a:r>
            <a:r>
              <a:rPr lang="zh-CN" altLang="en-US" sz="2000" b="1" u="sng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每个数据</a:t>
            </a:r>
            <a:r>
              <a:rPr lang="zh-CN" altLang="en-US" sz="2000" b="1" u="sng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传送后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放弃</a:t>
            </a:r>
            <a:endParaRPr lang="zh-CN" altLang="zh-CN" sz="2000" b="1" dirty="0">
              <a:latin typeface="宋体" panose="02010600030101010101" pitchFamily="2" charset="-122"/>
              <a:sym typeface="+mn-ea"/>
            </a:endParaRPr>
          </a:p>
        </p:txBody>
      </p:sp>
      <p:sp>
        <p:nvSpPr>
          <p:cNvPr id="233" name="Text Box 89"/>
          <p:cNvSpPr txBox="1">
            <a:spLocks noChangeArrowheads="1"/>
          </p:cNvSpPr>
          <p:nvPr/>
        </p:nvSpPr>
        <p:spPr bwMode="auto">
          <a:xfrm>
            <a:off x="2483768" y="4365104"/>
            <a:ext cx="6012232" cy="40011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1" u="sng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按时间片</a:t>
            </a:r>
            <a:r>
              <a:rPr lang="zh-CN" altLang="en-US" sz="2000" b="1" u="sng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轮流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分配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无需申请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-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分配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)</a:t>
            </a:r>
            <a:endParaRPr lang="en-US" altLang="zh-CN" sz="2000" b="1" dirty="0">
              <a:latin typeface="宋体" panose="02010600030101010101" pitchFamily="2" charset="-122"/>
              <a:sym typeface="+mn-ea"/>
            </a:endParaRPr>
          </a:p>
        </p:txBody>
      </p:sp>
      <p:sp>
        <p:nvSpPr>
          <p:cNvPr id="234" name="Text Box 338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6516000" y="4653136"/>
            <a:ext cx="2448000" cy="132343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20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特点</a:t>
            </a: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  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传输效率</a:t>
            </a:r>
            <a:r>
              <a:rPr lang="zh-CN" altLang="en-US" sz="2000" b="1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低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，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  CPU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工作效率</a:t>
            </a:r>
            <a:r>
              <a:rPr lang="zh-CN" altLang="en-US" sz="2000" b="1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较高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，</a:t>
            </a:r>
            <a:endParaRPr lang="en-US" altLang="zh-CN" sz="2000" b="1" dirty="0">
              <a:latin typeface="宋体" panose="02010600030101010101" pitchFamily="2" charset="-122"/>
              <a:sym typeface="+mn-ea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  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适于</a:t>
            </a: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T</a:t>
            </a:r>
            <a:r>
              <a:rPr lang="zh-CN" altLang="en-US" sz="2000" b="1" baseline="-18000" dirty="0">
                <a:latin typeface="宋体" panose="02010600030101010101" pitchFamily="2" charset="-122"/>
                <a:sym typeface="+mn-ea"/>
              </a:rPr>
              <a:t>访存间隔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＞</a:t>
            </a: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2T</a:t>
            </a:r>
            <a:r>
              <a:rPr lang="en-US" altLang="zh-CN" sz="2000" b="1" baseline="-18000" dirty="0">
                <a:latin typeface="宋体" panose="02010600030101010101" pitchFamily="2" charset="-122"/>
                <a:sym typeface="+mn-ea"/>
              </a:rPr>
              <a:t>M</a:t>
            </a:r>
            <a:endParaRPr lang="zh-CN" sz="2000" b="1" dirty="0">
              <a:latin typeface="宋体" panose="02010600030101010101" pitchFamily="2" charset="-122"/>
              <a:sym typeface="+mn-ea"/>
            </a:endParaRPr>
          </a:p>
        </p:txBody>
      </p:sp>
      <p:sp>
        <p:nvSpPr>
          <p:cNvPr id="236" name="Text Box 89"/>
          <p:cNvSpPr txBox="1">
            <a:spLocks noChangeArrowheads="1"/>
          </p:cNvSpPr>
          <p:nvPr/>
        </p:nvSpPr>
        <p:spPr bwMode="auto">
          <a:xfrm>
            <a:off x="1691680" y="6021288"/>
            <a:ext cx="7056782" cy="40011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/>
            <a:r>
              <a:rPr lang="en-US" altLang="zh-CN" sz="2000" b="1" dirty="0">
                <a:latin typeface="宋体" panose="02010600030101010101" pitchFamily="2" charset="-122"/>
              </a:rPr>
              <a:t>DMA</a:t>
            </a:r>
            <a:r>
              <a:rPr lang="zh-CN" altLang="en-US" sz="2000" b="1" dirty="0">
                <a:latin typeface="宋体" panose="02010600030101010101" pitchFamily="2" charset="-122"/>
              </a:rPr>
              <a:t>接口</a:t>
            </a:r>
            <a:r>
              <a:rPr lang="zh-CN" altLang="en-US" sz="20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支持</a:t>
            </a:r>
            <a:r>
              <a:rPr lang="zh-CN" altLang="en-US" sz="2000" b="1" dirty="0">
                <a:solidFill>
                  <a:srgbClr val="0070C0"/>
                </a:solidFill>
                <a:latin typeface="宋体" panose="02010600030101010101" pitchFamily="2" charset="-122"/>
              </a:rPr>
              <a:t>多种</a:t>
            </a:r>
            <a:r>
              <a:rPr lang="zh-CN" altLang="en-US" sz="2000" b="1" dirty="0">
                <a:latin typeface="宋体" panose="02010600030101010101" pitchFamily="2" charset="-122"/>
              </a:rPr>
              <a:t>传送方式，软件在传送准备时</a:t>
            </a:r>
            <a:r>
              <a:rPr lang="zh-CN" altLang="en-US" sz="20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指定</a:t>
            </a:r>
            <a:r>
              <a:rPr lang="zh-CN" altLang="en-US" sz="2000" b="1" dirty="0">
                <a:solidFill>
                  <a:srgbClr val="0070C0"/>
                </a:solidFill>
                <a:latin typeface="宋体" panose="02010600030101010101" pitchFamily="2" charset="-122"/>
              </a:rPr>
              <a:t>某种</a:t>
            </a:r>
            <a:r>
              <a:rPr lang="zh-CN" altLang="en-US" sz="2000" b="1" dirty="0">
                <a:latin typeface="宋体" panose="02010600030101010101" pitchFamily="2" charset="-122"/>
              </a:rPr>
              <a:t>方式</a:t>
            </a:r>
          </a:p>
        </p:txBody>
      </p:sp>
      <p:sp>
        <p:nvSpPr>
          <p:cNvPr id="237" name="AutoShape 437">
            <a:hlinkClick r:id="rId201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4068638" y="6524450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81" name="组合 280">
            <a:extLst>
              <a:ext uri="{FF2B5EF4-FFF2-40B4-BE49-F238E27FC236}">
                <a16:creationId xmlns:a16="http://schemas.microsoft.com/office/drawing/2014/main" id="{A77E43BB-BD7A-42E5-8E56-8B2042942121}"/>
              </a:ext>
            </a:extLst>
          </p:cNvPr>
          <p:cNvGrpSpPr/>
          <p:nvPr/>
        </p:nvGrpSpPr>
        <p:grpSpPr>
          <a:xfrm>
            <a:off x="324000" y="4834800"/>
            <a:ext cx="5869560" cy="1080535"/>
            <a:chOff x="324000" y="4860000"/>
            <a:chExt cx="5869560" cy="1080535"/>
          </a:xfrm>
        </p:grpSpPr>
        <p:cxnSp>
          <p:nvCxnSpPr>
            <p:cNvPr id="282" name="直接连接符 281">
              <a:extLst>
                <a:ext uri="{FF2B5EF4-FFF2-40B4-BE49-F238E27FC236}">
                  <a16:creationId xmlns:a16="http://schemas.microsoft.com/office/drawing/2014/main" id="{4F578B42-0495-4DC7-8B4B-28B9EBBB33E6}"/>
                </a:ext>
              </a:extLst>
            </p:cNvPr>
            <p:cNvCxnSpPr/>
            <p:nvPr>
              <p:custDataLst>
                <p:tags r:id="rId126"/>
              </p:custDataLst>
            </p:nvPr>
          </p:nvCxnSpPr>
          <p:spPr bwMode="auto">
            <a:xfrm flipH="1">
              <a:off x="5185560" y="4860000"/>
              <a:ext cx="0" cy="864000"/>
            </a:xfrm>
            <a:prstGeom prst="line">
              <a:avLst/>
            </a:prstGeom>
            <a:noFill/>
            <a:ln w="9525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none" w="sm" len="sm"/>
            </a:ln>
          </p:spPr>
        </p:cxnSp>
        <p:cxnSp>
          <p:nvCxnSpPr>
            <p:cNvPr id="283" name="直接连接符 282">
              <a:extLst>
                <a:ext uri="{FF2B5EF4-FFF2-40B4-BE49-F238E27FC236}">
                  <a16:creationId xmlns:a16="http://schemas.microsoft.com/office/drawing/2014/main" id="{D0DB0AC7-03D5-4E7F-BFC2-3C9B5A0331D5}"/>
                </a:ext>
              </a:extLst>
            </p:cNvPr>
            <p:cNvCxnSpPr/>
            <p:nvPr>
              <p:custDataLst>
                <p:tags r:id="rId127"/>
              </p:custDataLst>
            </p:nvPr>
          </p:nvCxnSpPr>
          <p:spPr bwMode="auto">
            <a:xfrm flipH="1">
              <a:off x="4176545" y="4860000"/>
              <a:ext cx="0" cy="864000"/>
            </a:xfrm>
            <a:prstGeom prst="line">
              <a:avLst/>
            </a:prstGeom>
            <a:noFill/>
            <a:ln w="9525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none" w="sm" len="sm"/>
            </a:ln>
          </p:spPr>
        </p:cxnSp>
        <p:cxnSp>
          <p:nvCxnSpPr>
            <p:cNvPr id="284" name="直接连接符 283">
              <a:extLst>
                <a:ext uri="{FF2B5EF4-FFF2-40B4-BE49-F238E27FC236}">
                  <a16:creationId xmlns:a16="http://schemas.microsoft.com/office/drawing/2014/main" id="{01924169-5046-492E-8B19-EA9F70619996}"/>
                </a:ext>
              </a:extLst>
            </p:cNvPr>
            <p:cNvCxnSpPr/>
            <p:nvPr>
              <p:custDataLst>
                <p:tags r:id="rId128"/>
              </p:custDataLst>
            </p:nvPr>
          </p:nvCxnSpPr>
          <p:spPr bwMode="auto">
            <a:xfrm flipH="1">
              <a:off x="6192035" y="4860000"/>
              <a:ext cx="0" cy="864000"/>
            </a:xfrm>
            <a:prstGeom prst="line">
              <a:avLst/>
            </a:prstGeom>
            <a:noFill/>
            <a:ln w="9525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none" w="sm" len="sm"/>
            </a:ln>
          </p:spPr>
        </p:cxnSp>
        <p:cxnSp>
          <p:nvCxnSpPr>
            <p:cNvPr id="285" name="直接连接符 284">
              <a:extLst>
                <a:ext uri="{FF2B5EF4-FFF2-40B4-BE49-F238E27FC236}">
                  <a16:creationId xmlns:a16="http://schemas.microsoft.com/office/drawing/2014/main" id="{2C0492B8-8AFC-4D8E-BEFF-5A89E413DDF7}"/>
                </a:ext>
              </a:extLst>
            </p:cNvPr>
            <p:cNvCxnSpPr/>
            <p:nvPr>
              <p:custDataLst>
                <p:tags r:id="rId129"/>
              </p:custDataLst>
            </p:nvPr>
          </p:nvCxnSpPr>
          <p:spPr bwMode="auto">
            <a:xfrm flipH="1">
              <a:off x="3167530" y="4860000"/>
              <a:ext cx="0" cy="864000"/>
            </a:xfrm>
            <a:prstGeom prst="line">
              <a:avLst/>
            </a:prstGeom>
            <a:noFill/>
            <a:ln w="9525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none" w="sm" len="sm"/>
            </a:ln>
          </p:spPr>
        </p:cxnSp>
        <p:sp>
          <p:nvSpPr>
            <p:cNvPr id="286" name="Text Box 251">
              <a:extLst>
                <a:ext uri="{FF2B5EF4-FFF2-40B4-BE49-F238E27FC236}">
                  <a16:creationId xmlns:a16="http://schemas.microsoft.com/office/drawing/2014/main" id="{5D31807C-E018-493E-97F6-77BBBB085077}"/>
                </a:ext>
              </a:extLst>
            </p:cNvPr>
            <p:cNvSpPr txBox="1">
              <a:spLocks noChangeArrowheads="1"/>
            </p:cNvSpPr>
            <p:nvPr>
              <p:custDataLst>
                <p:tags r:id="rId130"/>
              </p:custDataLst>
            </p:nvPr>
          </p:nvSpPr>
          <p:spPr bwMode="auto">
            <a:xfrm>
              <a:off x="719605" y="4860000"/>
              <a:ext cx="1296035" cy="21590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CPU 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工作状态</a:t>
              </a:r>
              <a:endParaRPr lang="en-US" altLang="zh-CN" sz="1600" b="1" dirty="0">
                <a:solidFill>
                  <a:schemeClr val="accent2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87" name="Text Box 252">
              <a:extLst>
                <a:ext uri="{FF2B5EF4-FFF2-40B4-BE49-F238E27FC236}">
                  <a16:creationId xmlns:a16="http://schemas.microsoft.com/office/drawing/2014/main" id="{96BDFC48-999B-4AA8-AAA3-2F67FA3355AD}"/>
                </a:ext>
              </a:extLst>
            </p:cNvPr>
            <p:cNvSpPr txBox="1">
              <a:spLocks noChangeArrowheads="1"/>
            </p:cNvSpPr>
            <p:nvPr>
              <p:custDataLst>
                <p:tags r:id="rId131"/>
              </p:custDataLst>
            </p:nvPr>
          </p:nvSpPr>
          <p:spPr bwMode="auto">
            <a:xfrm>
              <a:off x="324000" y="5112000"/>
              <a:ext cx="1692275" cy="21590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8000" rIns="18000" bIns="10800" anchor="ctr" anchorCtr="0"/>
            <a:lstStyle/>
            <a:p>
              <a:pPr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DMA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接口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 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工作状态</a:t>
              </a:r>
            </a:p>
          </p:txBody>
        </p:sp>
        <p:cxnSp>
          <p:nvCxnSpPr>
            <p:cNvPr id="288" name="直接连接符 287">
              <a:extLst>
                <a:ext uri="{FF2B5EF4-FFF2-40B4-BE49-F238E27FC236}">
                  <a16:creationId xmlns:a16="http://schemas.microsoft.com/office/drawing/2014/main" id="{A356DFC7-4B13-431F-AB86-64E3E6799265}"/>
                </a:ext>
              </a:extLst>
            </p:cNvPr>
            <p:cNvCxnSpPr/>
            <p:nvPr>
              <p:custDataLst>
                <p:tags r:id="rId132"/>
              </p:custDataLst>
            </p:nvPr>
          </p:nvCxnSpPr>
          <p:spPr bwMode="auto">
            <a:xfrm>
              <a:off x="2051835" y="5507447"/>
              <a:ext cx="107950" cy="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sm" len="sm"/>
            </a:ln>
          </p:spPr>
        </p:cxnSp>
        <p:cxnSp>
          <p:nvCxnSpPr>
            <p:cNvPr id="289" name="直接连接符 288">
              <a:extLst>
                <a:ext uri="{FF2B5EF4-FFF2-40B4-BE49-F238E27FC236}">
                  <a16:creationId xmlns:a16="http://schemas.microsoft.com/office/drawing/2014/main" id="{ED51F530-CF55-49CA-8D88-030A66E2521E}"/>
                </a:ext>
              </a:extLst>
            </p:cNvPr>
            <p:cNvCxnSpPr/>
            <p:nvPr>
              <p:custDataLst>
                <p:tags r:id="rId133"/>
              </p:custDataLst>
            </p:nvPr>
          </p:nvCxnSpPr>
          <p:spPr bwMode="auto">
            <a:xfrm flipH="1">
              <a:off x="2159150" y="4860000"/>
              <a:ext cx="0" cy="864000"/>
            </a:xfrm>
            <a:prstGeom prst="line">
              <a:avLst/>
            </a:prstGeom>
            <a:noFill/>
            <a:ln w="9525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none" w="sm" len="sm"/>
            </a:ln>
          </p:spPr>
        </p:cxnSp>
        <p:cxnSp>
          <p:nvCxnSpPr>
            <p:cNvPr id="290" name="直接连接符 289">
              <a:extLst>
                <a:ext uri="{FF2B5EF4-FFF2-40B4-BE49-F238E27FC236}">
                  <a16:creationId xmlns:a16="http://schemas.microsoft.com/office/drawing/2014/main" id="{3712C2BC-B4EB-4AB0-95DF-86BB88D55039}"/>
                </a:ext>
              </a:extLst>
            </p:cNvPr>
            <p:cNvCxnSpPr/>
            <p:nvPr>
              <p:custDataLst>
                <p:tags r:id="rId134"/>
              </p:custDataLst>
            </p:nvPr>
          </p:nvCxnSpPr>
          <p:spPr bwMode="auto">
            <a:xfrm flipV="1">
              <a:off x="2159785" y="5363937"/>
              <a:ext cx="0" cy="144145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sm" len="sm"/>
            </a:ln>
          </p:spPr>
        </p:cxnSp>
        <p:cxnSp>
          <p:nvCxnSpPr>
            <p:cNvPr id="291" name="直接连接符 290">
              <a:extLst>
                <a:ext uri="{FF2B5EF4-FFF2-40B4-BE49-F238E27FC236}">
                  <a16:creationId xmlns:a16="http://schemas.microsoft.com/office/drawing/2014/main" id="{5F6DE9A8-B2D3-4DE4-AC3C-23A94F36D3C0}"/>
                </a:ext>
              </a:extLst>
            </p:cNvPr>
            <p:cNvCxnSpPr/>
            <p:nvPr>
              <p:custDataLst>
                <p:tags r:id="rId135"/>
              </p:custDataLst>
            </p:nvPr>
          </p:nvCxnSpPr>
          <p:spPr bwMode="auto">
            <a:xfrm>
              <a:off x="2159785" y="5363302"/>
              <a:ext cx="504190" cy="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sm" len="sm"/>
            </a:ln>
          </p:spPr>
        </p:cxnSp>
        <p:cxnSp>
          <p:nvCxnSpPr>
            <p:cNvPr id="292" name="直接连接符 291">
              <a:extLst>
                <a:ext uri="{FF2B5EF4-FFF2-40B4-BE49-F238E27FC236}">
                  <a16:creationId xmlns:a16="http://schemas.microsoft.com/office/drawing/2014/main" id="{1311B98D-42FB-4235-AA10-8D22A0689816}"/>
                </a:ext>
              </a:extLst>
            </p:cNvPr>
            <p:cNvCxnSpPr/>
            <p:nvPr>
              <p:custDataLst>
                <p:tags r:id="rId136"/>
              </p:custDataLst>
            </p:nvPr>
          </p:nvCxnSpPr>
          <p:spPr bwMode="auto">
            <a:xfrm flipH="1">
              <a:off x="2663975" y="4860000"/>
              <a:ext cx="0" cy="864000"/>
            </a:xfrm>
            <a:prstGeom prst="line">
              <a:avLst/>
            </a:prstGeom>
            <a:noFill/>
            <a:ln w="9525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none" w="sm" len="sm"/>
            </a:ln>
          </p:spPr>
        </p:cxnSp>
        <p:sp>
          <p:nvSpPr>
            <p:cNvPr id="293" name="AutoShape 257">
              <a:extLst>
                <a:ext uri="{FF2B5EF4-FFF2-40B4-BE49-F238E27FC236}">
                  <a16:creationId xmlns:a16="http://schemas.microsoft.com/office/drawing/2014/main" id="{644532A6-B9EB-4FE1-8BF4-547DDF542341}"/>
                </a:ext>
              </a:extLst>
            </p:cNvPr>
            <p:cNvSpPr>
              <a:spLocks noChangeArrowheads="1"/>
            </p:cNvSpPr>
            <p:nvPr>
              <p:custDataLst>
                <p:tags r:id="rId137"/>
              </p:custDataLst>
            </p:nvPr>
          </p:nvSpPr>
          <p:spPr bwMode="auto">
            <a:xfrm>
              <a:off x="2663975" y="5112000"/>
              <a:ext cx="504190" cy="215900"/>
            </a:xfrm>
            <a:prstGeom prst="hexagon">
              <a:avLst>
                <a:gd name="adj" fmla="val 42541"/>
                <a:gd name="vf" fmla="val 115470"/>
              </a:avLst>
            </a:prstGeom>
            <a:solidFill>
              <a:srgbClr val="99CCFF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lIns="0" tIns="17780" rIns="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/>
                <a:t>传送</a:t>
              </a:r>
            </a:p>
          </p:txBody>
        </p:sp>
        <p:cxnSp>
          <p:nvCxnSpPr>
            <p:cNvPr id="294" name="直接连接符 293">
              <a:extLst>
                <a:ext uri="{FF2B5EF4-FFF2-40B4-BE49-F238E27FC236}">
                  <a16:creationId xmlns:a16="http://schemas.microsoft.com/office/drawing/2014/main" id="{DA751F27-3659-42C2-A21C-B66B2E1C3C5F}"/>
                </a:ext>
              </a:extLst>
            </p:cNvPr>
            <p:cNvCxnSpPr/>
            <p:nvPr>
              <p:custDataLst>
                <p:tags r:id="rId138"/>
              </p:custDataLst>
            </p:nvPr>
          </p:nvCxnSpPr>
          <p:spPr bwMode="auto">
            <a:xfrm>
              <a:off x="2051835" y="5219950"/>
              <a:ext cx="61214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sm" len="sm"/>
            </a:ln>
          </p:spPr>
        </p:cxnSp>
        <p:cxnSp>
          <p:nvCxnSpPr>
            <p:cNvPr id="295" name="直接连接符 294">
              <a:extLst>
                <a:ext uri="{FF2B5EF4-FFF2-40B4-BE49-F238E27FC236}">
                  <a16:creationId xmlns:a16="http://schemas.microsoft.com/office/drawing/2014/main" id="{3B89E3FD-4600-46DD-A26B-4A3FB37ACE02}"/>
                </a:ext>
              </a:extLst>
            </p:cNvPr>
            <p:cNvCxnSpPr/>
            <p:nvPr>
              <p:custDataLst>
                <p:tags r:id="rId139"/>
              </p:custDataLst>
            </p:nvPr>
          </p:nvCxnSpPr>
          <p:spPr bwMode="auto">
            <a:xfrm>
              <a:off x="3168165" y="5219950"/>
              <a:ext cx="1511935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sm" len="sm"/>
            </a:ln>
          </p:spPr>
        </p:cxnSp>
        <p:sp>
          <p:nvSpPr>
            <p:cNvPr id="296" name="AutoShape 257">
              <a:extLst>
                <a:ext uri="{FF2B5EF4-FFF2-40B4-BE49-F238E27FC236}">
                  <a16:creationId xmlns:a16="http://schemas.microsoft.com/office/drawing/2014/main" id="{D601E418-B828-4A44-B063-AAF8593C0A0A}"/>
                </a:ext>
              </a:extLst>
            </p:cNvPr>
            <p:cNvSpPr>
              <a:spLocks noChangeArrowheads="1"/>
            </p:cNvSpPr>
            <p:nvPr>
              <p:custDataLst>
                <p:tags r:id="rId140"/>
              </p:custDataLst>
            </p:nvPr>
          </p:nvSpPr>
          <p:spPr bwMode="auto">
            <a:xfrm>
              <a:off x="4678830" y="5112000"/>
              <a:ext cx="504190" cy="215900"/>
            </a:xfrm>
            <a:prstGeom prst="hexagon">
              <a:avLst>
                <a:gd name="adj" fmla="val 42541"/>
                <a:gd name="vf" fmla="val 115470"/>
              </a:avLst>
            </a:prstGeom>
            <a:solidFill>
              <a:srgbClr val="99CCFF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lIns="0" tIns="17780" rIns="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/>
                <a:t>传送</a:t>
              </a:r>
            </a:p>
          </p:txBody>
        </p:sp>
        <p:cxnSp>
          <p:nvCxnSpPr>
            <p:cNvPr id="297" name="直接连接符 296">
              <a:extLst>
                <a:ext uri="{FF2B5EF4-FFF2-40B4-BE49-F238E27FC236}">
                  <a16:creationId xmlns:a16="http://schemas.microsoft.com/office/drawing/2014/main" id="{AF0163C5-C5EE-4463-AE28-3AA86387759F}"/>
                </a:ext>
              </a:extLst>
            </p:cNvPr>
            <p:cNvCxnSpPr/>
            <p:nvPr>
              <p:custDataLst>
                <p:tags r:id="rId141"/>
              </p:custDataLst>
            </p:nvPr>
          </p:nvCxnSpPr>
          <p:spPr bwMode="auto">
            <a:xfrm>
              <a:off x="5185560" y="5219950"/>
              <a:ext cx="100800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sm" len="sm"/>
            </a:ln>
          </p:spPr>
        </p:cxnSp>
        <p:cxnSp>
          <p:nvCxnSpPr>
            <p:cNvPr id="298" name="直接连接符 297">
              <a:extLst>
                <a:ext uri="{FF2B5EF4-FFF2-40B4-BE49-F238E27FC236}">
                  <a16:creationId xmlns:a16="http://schemas.microsoft.com/office/drawing/2014/main" id="{64218E9F-A64B-4EC1-8605-8F22A02E8004}"/>
                </a:ext>
              </a:extLst>
            </p:cNvPr>
            <p:cNvCxnSpPr/>
            <p:nvPr>
              <p:custDataLst>
                <p:tags r:id="rId142"/>
              </p:custDataLst>
            </p:nvPr>
          </p:nvCxnSpPr>
          <p:spPr bwMode="auto">
            <a:xfrm flipH="1">
              <a:off x="5687845" y="4860000"/>
              <a:ext cx="0" cy="864000"/>
            </a:xfrm>
            <a:prstGeom prst="line">
              <a:avLst/>
            </a:prstGeom>
            <a:noFill/>
            <a:ln w="9525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none" w="sm" len="sm"/>
            </a:ln>
          </p:spPr>
        </p:cxnSp>
        <p:cxnSp>
          <p:nvCxnSpPr>
            <p:cNvPr id="299" name="直接连接符 298">
              <a:extLst>
                <a:ext uri="{FF2B5EF4-FFF2-40B4-BE49-F238E27FC236}">
                  <a16:creationId xmlns:a16="http://schemas.microsoft.com/office/drawing/2014/main" id="{EFBFA376-31C6-43BB-BE01-37DBFE571C1D}"/>
                </a:ext>
              </a:extLst>
            </p:cNvPr>
            <p:cNvCxnSpPr/>
            <p:nvPr>
              <p:custDataLst>
                <p:tags r:id="rId143"/>
              </p:custDataLst>
            </p:nvPr>
          </p:nvCxnSpPr>
          <p:spPr bwMode="auto">
            <a:xfrm flipH="1" flipV="1">
              <a:off x="2663975" y="5363302"/>
              <a:ext cx="0" cy="144145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sm" len="sm"/>
            </a:ln>
          </p:spPr>
        </p:cxnSp>
        <p:cxnSp>
          <p:nvCxnSpPr>
            <p:cNvPr id="300" name="直接连接符 299">
              <a:extLst>
                <a:ext uri="{FF2B5EF4-FFF2-40B4-BE49-F238E27FC236}">
                  <a16:creationId xmlns:a16="http://schemas.microsoft.com/office/drawing/2014/main" id="{AD38FAAF-E7E3-4637-A508-A0C54F4F077E}"/>
                </a:ext>
              </a:extLst>
            </p:cNvPr>
            <p:cNvCxnSpPr/>
            <p:nvPr>
              <p:custDataLst>
                <p:tags r:id="rId144"/>
              </p:custDataLst>
            </p:nvPr>
          </p:nvCxnSpPr>
          <p:spPr bwMode="auto">
            <a:xfrm>
              <a:off x="2664610" y="5507447"/>
              <a:ext cx="504190" cy="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sm" len="sm"/>
            </a:ln>
          </p:spPr>
        </p:cxnSp>
        <p:cxnSp>
          <p:nvCxnSpPr>
            <p:cNvPr id="301" name="直接连接符 300">
              <a:extLst>
                <a:ext uri="{FF2B5EF4-FFF2-40B4-BE49-F238E27FC236}">
                  <a16:creationId xmlns:a16="http://schemas.microsoft.com/office/drawing/2014/main" id="{55C111E8-D47A-4D46-A107-0E8D4DD487DD}"/>
                </a:ext>
              </a:extLst>
            </p:cNvPr>
            <p:cNvCxnSpPr/>
            <p:nvPr>
              <p:custDataLst>
                <p:tags r:id="rId145"/>
              </p:custDataLst>
            </p:nvPr>
          </p:nvCxnSpPr>
          <p:spPr bwMode="auto">
            <a:xfrm flipH="1">
              <a:off x="4681370" y="4860000"/>
              <a:ext cx="0" cy="864000"/>
            </a:xfrm>
            <a:prstGeom prst="line">
              <a:avLst/>
            </a:prstGeom>
            <a:noFill/>
            <a:ln w="9525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none" w="sm" len="sm"/>
            </a:ln>
          </p:spPr>
        </p:cxnSp>
        <p:cxnSp>
          <p:nvCxnSpPr>
            <p:cNvPr id="302" name="直接连接符 301">
              <a:extLst>
                <a:ext uri="{FF2B5EF4-FFF2-40B4-BE49-F238E27FC236}">
                  <a16:creationId xmlns:a16="http://schemas.microsoft.com/office/drawing/2014/main" id="{C4AC3E1B-D78E-4FC2-8273-4B68298AE948}"/>
                </a:ext>
              </a:extLst>
            </p:cNvPr>
            <p:cNvCxnSpPr/>
            <p:nvPr>
              <p:custDataLst>
                <p:tags r:id="rId146"/>
              </p:custDataLst>
            </p:nvPr>
          </p:nvCxnSpPr>
          <p:spPr bwMode="auto">
            <a:xfrm flipV="1">
              <a:off x="3168800" y="5363937"/>
              <a:ext cx="0" cy="144145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sm" len="sm"/>
            </a:ln>
          </p:spPr>
        </p:cxnSp>
        <p:cxnSp>
          <p:nvCxnSpPr>
            <p:cNvPr id="303" name="直接连接符 302">
              <a:extLst>
                <a:ext uri="{FF2B5EF4-FFF2-40B4-BE49-F238E27FC236}">
                  <a16:creationId xmlns:a16="http://schemas.microsoft.com/office/drawing/2014/main" id="{102A4F63-B524-4D19-87EB-1C226F705EE2}"/>
                </a:ext>
              </a:extLst>
            </p:cNvPr>
            <p:cNvCxnSpPr/>
            <p:nvPr>
              <p:custDataLst>
                <p:tags r:id="rId147"/>
              </p:custDataLst>
            </p:nvPr>
          </p:nvCxnSpPr>
          <p:spPr bwMode="auto">
            <a:xfrm>
              <a:off x="3168165" y="5363302"/>
              <a:ext cx="504190" cy="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sm" len="sm"/>
            </a:ln>
          </p:spPr>
        </p:cxnSp>
        <p:cxnSp>
          <p:nvCxnSpPr>
            <p:cNvPr id="304" name="直接连接符 303">
              <a:extLst>
                <a:ext uri="{FF2B5EF4-FFF2-40B4-BE49-F238E27FC236}">
                  <a16:creationId xmlns:a16="http://schemas.microsoft.com/office/drawing/2014/main" id="{0C26059D-3C36-4E17-8366-33F2DDFC50A1}"/>
                </a:ext>
              </a:extLst>
            </p:cNvPr>
            <p:cNvCxnSpPr/>
            <p:nvPr>
              <p:custDataLst>
                <p:tags r:id="rId148"/>
              </p:custDataLst>
            </p:nvPr>
          </p:nvCxnSpPr>
          <p:spPr bwMode="auto">
            <a:xfrm flipH="1">
              <a:off x="3673625" y="4860000"/>
              <a:ext cx="0" cy="864000"/>
            </a:xfrm>
            <a:prstGeom prst="line">
              <a:avLst/>
            </a:prstGeom>
            <a:noFill/>
            <a:ln w="9525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none" w="sm" len="sm"/>
            </a:ln>
          </p:spPr>
        </p:cxnSp>
        <p:cxnSp>
          <p:nvCxnSpPr>
            <p:cNvPr id="305" name="直接连接符 304">
              <a:extLst>
                <a:ext uri="{FF2B5EF4-FFF2-40B4-BE49-F238E27FC236}">
                  <a16:creationId xmlns:a16="http://schemas.microsoft.com/office/drawing/2014/main" id="{4A5D409E-8175-45B5-B931-17C465120498}"/>
                </a:ext>
              </a:extLst>
            </p:cNvPr>
            <p:cNvCxnSpPr/>
            <p:nvPr>
              <p:custDataLst>
                <p:tags r:id="rId149"/>
              </p:custDataLst>
            </p:nvPr>
          </p:nvCxnSpPr>
          <p:spPr bwMode="auto">
            <a:xfrm flipH="1">
              <a:off x="4032400" y="5076282"/>
              <a:ext cx="0" cy="756285"/>
            </a:xfrm>
            <a:prstGeom prst="line">
              <a:avLst/>
            </a:prstGeom>
            <a:noFill/>
            <a:ln w="9525" cap="flat" cmpd="sng" algn="ctr">
              <a:solidFill>
                <a:srgbClr val="990099"/>
              </a:solidFill>
              <a:prstDash val="sysDash"/>
              <a:round/>
              <a:headEnd type="none" w="med" len="med"/>
              <a:tailEnd type="none" w="sm" len="sm"/>
            </a:ln>
          </p:spPr>
        </p:cxnSp>
        <p:cxnSp>
          <p:nvCxnSpPr>
            <p:cNvPr id="306" name="直接连接符 305">
              <a:extLst>
                <a:ext uri="{FF2B5EF4-FFF2-40B4-BE49-F238E27FC236}">
                  <a16:creationId xmlns:a16="http://schemas.microsoft.com/office/drawing/2014/main" id="{923617CB-2D1F-4966-9114-518D063D2B8D}"/>
                </a:ext>
              </a:extLst>
            </p:cNvPr>
            <p:cNvCxnSpPr/>
            <p:nvPr>
              <p:custDataLst>
                <p:tags r:id="rId150"/>
              </p:custDataLst>
            </p:nvPr>
          </p:nvCxnSpPr>
          <p:spPr bwMode="auto">
            <a:xfrm flipV="1">
              <a:off x="4177180" y="5365207"/>
              <a:ext cx="0" cy="144145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sm" len="sm"/>
            </a:ln>
          </p:spPr>
        </p:cxnSp>
        <p:cxnSp>
          <p:nvCxnSpPr>
            <p:cNvPr id="307" name="直接连接符 306">
              <a:extLst>
                <a:ext uri="{FF2B5EF4-FFF2-40B4-BE49-F238E27FC236}">
                  <a16:creationId xmlns:a16="http://schemas.microsoft.com/office/drawing/2014/main" id="{D8B652B0-0316-4C4C-870D-DE6F4155B26F}"/>
                </a:ext>
              </a:extLst>
            </p:cNvPr>
            <p:cNvCxnSpPr/>
            <p:nvPr>
              <p:custDataLst>
                <p:tags r:id="rId151"/>
              </p:custDataLst>
            </p:nvPr>
          </p:nvCxnSpPr>
          <p:spPr bwMode="auto">
            <a:xfrm>
              <a:off x="4177180" y="5363937"/>
              <a:ext cx="504190" cy="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sm" len="sm"/>
            </a:ln>
          </p:spPr>
        </p:cxnSp>
        <p:cxnSp>
          <p:nvCxnSpPr>
            <p:cNvPr id="308" name="直接连接符 307">
              <a:extLst>
                <a:ext uri="{FF2B5EF4-FFF2-40B4-BE49-F238E27FC236}">
                  <a16:creationId xmlns:a16="http://schemas.microsoft.com/office/drawing/2014/main" id="{968C373E-6236-4CAD-82A2-EE904A36F2E3}"/>
                </a:ext>
              </a:extLst>
            </p:cNvPr>
            <p:cNvCxnSpPr/>
            <p:nvPr>
              <p:custDataLst>
                <p:tags r:id="rId152"/>
              </p:custDataLst>
            </p:nvPr>
          </p:nvCxnSpPr>
          <p:spPr bwMode="auto">
            <a:xfrm flipH="1" flipV="1">
              <a:off x="4681370" y="5363937"/>
              <a:ext cx="0" cy="144145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sm" len="sm"/>
            </a:ln>
          </p:spPr>
        </p:cxnSp>
        <p:cxnSp>
          <p:nvCxnSpPr>
            <p:cNvPr id="309" name="直接连接符 308">
              <a:extLst>
                <a:ext uri="{FF2B5EF4-FFF2-40B4-BE49-F238E27FC236}">
                  <a16:creationId xmlns:a16="http://schemas.microsoft.com/office/drawing/2014/main" id="{9B749ADD-1E50-4D89-AD17-B5E8CF5FB734}"/>
                </a:ext>
              </a:extLst>
            </p:cNvPr>
            <p:cNvCxnSpPr/>
            <p:nvPr>
              <p:custDataLst>
                <p:tags r:id="rId153"/>
              </p:custDataLst>
            </p:nvPr>
          </p:nvCxnSpPr>
          <p:spPr bwMode="auto">
            <a:xfrm>
              <a:off x="4681370" y="5508082"/>
              <a:ext cx="504190" cy="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sm" len="sm"/>
            </a:ln>
          </p:spPr>
        </p:cxnSp>
        <p:cxnSp>
          <p:nvCxnSpPr>
            <p:cNvPr id="310" name="直接连接符 309">
              <a:extLst>
                <a:ext uri="{FF2B5EF4-FFF2-40B4-BE49-F238E27FC236}">
                  <a16:creationId xmlns:a16="http://schemas.microsoft.com/office/drawing/2014/main" id="{07BA7D40-6BD1-4235-8906-EDE10DE9D419}"/>
                </a:ext>
              </a:extLst>
            </p:cNvPr>
            <p:cNvCxnSpPr/>
            <p:nvPr>
              <p:custDataLst>
                <p:tags r:id="rId154"/>
              </p:custDataLst>
            </p:nvPr>
          </p:nvCxnSpPr>
          <p:spPr bwMode="auto">
            <a:xfrm flipV="1">
              <a:off x="5687845" y="5365207"/>
              <a:ext cx="0" cy="144145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sm" len="sm"/>
            </a:ln>
          </p:spPr>
        </p:cxnSp>
        <p:cxnSp>
          <p:nvCxnSpPr>
            <p:cNvPr id="311" name="直接连接符 310">
              <a:extLst>
                <a:ext uri="{FF2B5EF4-FFF2-40B4-BE49-F238E27FC236}">
                  <a16:creationId xmlns:a16="http://schemas.microsoft.com/office/drawing/2014/main" id="{44B0E009-DE73-476E-973C-C3421733AB41}"/>
                </a:ext>
              </a:extLst>
            </p:cNvPr>
            <p:cNvCxnSpPr/>
            <p:nvPr>
              <p:custDataLst>
                <p:tags r:id="rId155"/>
              </p:custDataLst>
            </p:nvPr>
          </p:nvCxnSpPr>
          <p:spPr bwMode="auto">
            <a:xfrm flipV="1">
              <a:off x="5185560" y="5364572"/>
              <a:ext cx="0" cy="144145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sm" len="sm"/>
            </a:ln>
          </p:spPr>
        </p:cxnSp>
        <p:cxnSp>
          <p:nvCxnSpPr>
            <p:cNvPr id="312" name="直接连接符 311">
              <a:extLst>
                <a:ext uri="{FF2B5EF4-FFF2-40B4-BE49-F238E27FC236}">
                  <a16:creationId xmlns:a16="http://schemas.microsoft.com/office/drawing/2014/main" id="{D9D7AC3F-DC0F-4BEB-BFA0-CD78FD65F69D}"/>
                </a:ext>
              </a:extLst>
            </p:cNvPr>
            <p:cNvCxnSpPr/>
            <p:nvPr>
              <p:custDataLst>
                <p:tags r:id="rId156"/>
              </p:custDataLst>
            </p:nvPr>
          </p:nvCxnSpPr>
          <p:spPr bwMode="auto">
            <a:xfrm>
              <a:off x="5185560" y="5363937"/>
              <a:ext cx="504190" cy="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sm" len="sm"/>
            </a:ln>
          </p:spPr>
        </p:cxnSp>
        <p:cxnSp>
          <p:nvCxnSpPr>
            <p:cNvPr id="313" name="直接连接符 312">
              <a:extLst>
                <a:ext uri="{FF2B5EF4-FFF2-40B4-BE49-F238E27FC236}">
                  <a16:creationId xmlns:a16="http://schemas.microsoft.com/office/drawing/2014/main" id="{ECC1C06B-2017-444D-A96F-39314D35C177}"/>
                </a:ext>
              </a:extLst>
            </p:cNvPr>
            <p:cNvCxnSpPr/>
            <p:nvPr>
              <p:custDataLst>
                <p:tags r:id="rId157"/>
              </p:custDataLst>
            </p:nvPr>
          </p:nvCxnSpPr>
          <p:spPr bwMode="auto">
            <a:xfrm>
              <a:off x="5687845" y="5508082"/>
              <a:ext cx="504190" cy="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sm" len="sm"/>
            </a:ln>
          </p:spPr>
        </p:cxnSp>
        <p:cxnSp>
          <p:nvCxnSpPr>
            <p:cNvPr id="314" name="直接连接符 313">
              <a:extLst>
                <a:ext uri="{FF2B5EF4-FFF2-40B4-BE49-F238E27FC236}">
                  <a16:creationId xmlns:a16="http://schemas.microsoft.com/office/drawing/2014/main" id="{D1E4EC42-13B2-4F62-A1F1-E16B1B3F339C}"/>
                </a:ext>
              </a:extLst>
            </p:cNvPr>
            <p:cNvCxnSpPr/>
            <p:nvPr>
              <p:custDataLst>
                <p:tags r:id="rId158"/>
              </p:custDataLst>
            </p:nvPr>
          </p:nvCxnSpPr>
          <p:spPr bwMode="auto">
            <a:xfrm>
              <a:off x="2051835" y="5544000"/>
              <a:ext cx="107950" cy="0"/>
            </a:xfrm>
            <a:prstGeom prst="line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sm" len="sm"/>
            </a:ln>
          </p:spPr>
        </p:cxnSp>
        <p:cxnSp>
          <p:nvCxnSpPr>
            <p:cNvPr id="315" name="直接连接符 314">
              <a:extLst>
                <a:ext uri="{FF2B5EF4-FFF2-40B4-BE49-F238E27FC236}">
                  <a16:creationId xmlns:a16="http://schemas.microsoft.com/office/drawing/2014/main" id="{E97CE26D-ABD0-4B82-B878-A31D348DEA22}"/>
                </a:ext>
              </a:extLst>
            </p:cNvPr>
            <p:cNvCxnSpPr/>
            <p:nvPr>
              <p:custDataLst>
                <p:tags r:id="rId159"/>
              </p:custDataLst>
            </p:nvPr>
          </p:nvCxnSpPr>
          <p:spPr bwMode="auto">
            <a:xfrm>
              <a:off x="2663975" y="5544000"/>
              <a:ext cx="504190" cy="0"/>
            </a:xfrm>
            <a:prstGeom prst="line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sm" len="sm"/>
            </a:ln>
          </p:spPr>
        </p:cxnSp>
        <p:cxnSp>
          <p:nvCxnSpPr>
            <p:cNvPr id="316" name="直接连接符 315">
              <a:extLst>
                <a:ext uri="{FF2B5EF4-FFF2-40B4-BE49-F238E27FC236}">
                  <a16:creationId xmlns:a16="http://schemas.microsoft.com/office/drawing/2014/main" id="{C04775E2-D189-4FC9-B0CC-DA92A6007FA7}"/>
                </a:ext>
              </a:extLst>
            </p:cNvPr>
            <p:cNvCxnSpPr/>
            <p:nvPr>
              <p:custDataLst>
                <p:tags r:id="rId160"/>
              </p:custDataLst>
            </p:nvPr>
          </p:nvCxnSpPr>
          <p:spPr bwMode="auto">
            <a:xfrm flipH="1" flipV="1">
              <a:off x="3168165" y="5544000"/>
              <a:ext cx="0" cy="144145"/>
            </a:xfrm>
            <a:prstGeom prst="line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sm" len="sm"/>
            </a:ln>
          </p:spPr>
        </p:cxnSp>
        <p:cxnSp>
          <p:nvCxnSpPr>
            <p:cNvPr id="317" name="直接连接符 316">
              <a:extLst>
                <a:ext uri="{FF2B5EF4-FFF2-40B4-BE49-F238E27FC236}">
                  <a16:creationId xmlns:a16="http://schemas.microsoft.com/office/drawing/2014/main" id="{CE0E082C-1C1B-41B7-B0F5-0371EE837D87}"/>
                </a:ext>
              </a:extLst>
            </p:cNvPr>
            <p:cNvCxnSpPr/>
            <p:nvPr>
              <p:custDataLst>
                <p:tags r:id="rId161"/>
              </p:custDataLst>
            </p:nvPr>
          </p:nvCxnSpPr>
          <p:spPr bwMode="auto">
            <a:xfrm>
              <a:off x="2159785" y="5687510"/>
              <a:ext cx="504190" cy="0"/>
            </a:xfrm>
            <a:prstGeom prst="line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sm" len="sm"/>
            </a:ln>
          </p:spPr>
        </p:cxnSp>
        <p:cxnSp>
          <p:nvCxnSpPr>
            <p:cNvPr id="318" name="直接连接符 317">
              <a:extLst>
                <a:ext uri="{FF2B5EF4-FFF2-40B4-BE49-F238E27FC236}">
                  <a16:creationId xmlns:a16="http://schemas.microsoft.com/office/drawing/2014/main" id="{C6CBAE7D-D05D-43D9-810B-70AD92E7535F}"/>
                </a:ext>
              </a:extLst>
            </p:cNvPr>
            <p:cNvCxnSpPr/>
            <p:nvPr>
              <p:custDataLst>
                <p:tags r:id="rId162"/>
              </p:custDataLst>
            </p:nvPr>
          </p:nvCxnSpPr>
          <p:spPr bwMode="auto">
            <a:xfrm flipV="1">
              <a:off x="2663975" y="5544000"/>
              <a:ext cx="0" cy="144145"/>
            </a:xfrm>
            <a:prstGeom prst="line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sm" len="sm"/>
            </a:ln>
          </p:spPr>
        </p:cxnSp>
        <p:cxnSp>
          <p:nvCxnSpPr>
            <p:cNvPr id="319" name="直接连接符 318">
              <a:extLst>
                <a:ext uri="{FF2B5EF4-FFF2-40B4-BE49-F238E27FC236}">
                  <a16:creationId xmlns:a16="http://schemas.microsoft.com/office/drawing/2014/main" id="{BF627F48-64B1-44A1-9759-CCDBE9E5766D}"/>
                </a:ext>
              </a:extLst>
            </p:cNvPr>
            <p:cNvCxnSpPr/>
            <p:nvPr>
              <p:custDataLst>
                <p:tags r:id="rId163"/>
              </p:custDataLst>
            </p:nvPr>
          </p:nvCxnSpPr>
          <p:spPr bwMode="auto">
            <a:xfrm flipV="1">
              <a:off x="2159785" y="5544000"/>
              <a:ext cx="0" cy="144145"/>
            </a:xfrm>
            <a:prstGeom prst="line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sm" len="sm"/>
            </a:ln>
          </p:spPr>
        </p:cxnSp>
        <p:cxnSp>
          <p:nvCxnSpPr>
            <p:cNvPr id="320" name="直接连接符 319">
              <a:extLst>
                <a:ext uri="{FF2B5EF4-FFF2-40B4-BE49-F238E27FC236}">
                  <a16:creationId xmlns:a16="http://schemas.microsoft.com/office/drawing/2014/main" id="{EBF56A0A-EF1F-4524-B803-90768C96A8F5}"/>
                </a:ext>
              </a:extLst>
            </p:cNvPr>
            <p:cNvCxnSpPr/>
            <p:nvPr>
              <p:custDataLst>
                <p:tags r:id="rId164"/>
              </p:custDataLst>
            </p:nvPr>
          </p:nvCxnSpPr>
          <p:spPr bwMode="auto">
            <a:xfrm>
              <a:off x="3168165" y="5687510"/>
              <a:ext cx="504190" cy="0"/>
            </a:xfrm>
            <a:prstGeom prst="line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sm" len="sm"/>
            </a:ln>
          </p:spPr>
        </p:cxnSp>
        <p:cxnSp>
          <p:nvCxnSpPr>
            <p:cNvPr id="321" name="直接连接符 320">
              <a:extLst>
                <a:ext uri="{FF2B5EF4-FFF2-40B4-BE49-F238E27FC236}">
                  <a16:creationId xmlns:a16="http://schemas.microsoft.com/office/drawing/2014/main" id="{470234FA-2EA6-4273-8467-82C02EF7D7C0}"/>
                </a:ext>
              </a:extLst>
            </p:cNvPr>
            <p:cNvCxnSpPr/>
            <p:nvPr>
              <p:custDataLst>
                <p:tags r:id="rId165"/>
              </p:custDataLst>
            </p:nvPr>
          </p:nvCxnSpPr>
          <p:spPr bwMode="auto">
            <a:xfrm>
              <a:off x="4681370" y="5544635"/>
              <a:ext cx="504190" cy="0"/>
            </a:xfrm>
            <a:prstGeom prst="line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sm" len="sm"/>
            </a:ln>
          </p:spPr>
        </p:cxnSp>
        <p:cxnSp>
          <p:nvCxnSpPr>
            <p:cNvPr id="322" name="直接连接符 321">
              <a:extLst>
                <a:ext uri="{FF2B5EF4-FFF2-40B4-BE49-F238E27FC236}">
                  <a16:creationId xmlns:a16="http://schemas.microsoft.com/office/drawing/2014/main" id="{F3E3E75E-571A-4B8E-A0E5-1717EF99CC32}"/>
                </a:ext>
              </a:extLst>
            </p:cNvPr>
            <p:cNvCxnSpPr/>
            <p:nvPr>
              <p:custDataLst>
                <p:tags r:id="rId166"/>
              </p:custDataLst>
            </p:nvPr>
          </p:nvCxnSpPr>
          <p:spPr bwMode="auto">
            <a:xfrm flipH="1" flipV="1">
              <a:off x="5687845" y="5544635"/>
              <a:ext cx="0" cy="144145"/>
            </a:xfrm>
            <a:prstGeom prst="line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sm" len="sm"/>
            </a:ln>
          </p:spPr>
        </p:cxnSp>
        <p:cxnSp>
          <p:nvCxnSpPr>
            <p:cNvPr id="323" name="直接连接符 322">
              <a:extLst>
                <a:ext uri="{FF2B5EF4-FFF2-40B4-BE49-F238E27FC236}">
                  <a16:creationId xmlns:a16="http://schemas.microsoft.com/office/drawing/2014/main" id="{DB51E637-D8F7-43C3-B240-2FD9D0A731F2}"/>
                </a:ext>
              </a:extLst>
            </p:cNvPr>
            <p:cNvCxnSpPr/>
            <p:nvPr>
              <p:custDataLst>
                <p:tags r:id="rId167"/>
              </p:custDataLst>
            </p:nvPr>
          </p:nvCxnSpPr>
          <p:spPr bwMode="auto">
            <a:xfrm>
              <a:off x="4177180" y="5688780"/>
              <a:ext cx="504190" cy="0"/>
            </a:xfrm>
            <a:prstGeom prst="line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sm" len="sm"/>
            </a:ln>
          </p:spPr>
        </p:cxnSp>
        <p:cxnSp>
          <p:nvCxnSpPr>
            <p:cNvPr id="324" name="直接连接符 323">
              <a:extLst>
                <a:ext uri="{FF2B5EF4-FFF2-40B4-BE49-F238E27FC236}">
                  <a16:creationId xmlns:a16="http://schemas.microsoft.com/office/drawing/2014/main" id="{E3B97583-7607-427B-B8FE-EBFB3AF67F4E}"/>
                </a:ext>
              </a:extLst>
            </p:cNvPr>
            <p:cNvCxnSpPr/>
            <p:nvPr>
              <p:custDataLst>
                <p:tags r:id="rId168"/>
              </p:custDataLst>
            </p:nvPr>
          </p:nvCxnSpPr>
          <p:spPr bwMode="auto">
            <a:xfrm flipV="1">
              <a:off x="4681370" y="5544635"/>
              <a:ext cx="0" cy="144145"/>
            </a:xfrm>
            <a:prstGeom prst="line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sm" len="sm"/>
            </a:ln>
          </p:spPr>
        </p:cxnSp>
        <p:cxnSp>
          <p:nvCxnSpPr>
            <p:cNvPr id="325" name="直接连接符 324">
              <a:extLst>
                <a:ext uri="{FF2B5EF4-FFF2-40B4-BE49-F238E27FC236}">
                  <a16:creationId xmlns:a16="http://schemas.microsoft.com/office/drawing/2014/main" id="{2B4D6FD8-E0AE-4E6D-9FEC-33699777761B}"/>
                </a:ext>
              </a:extLst>
            </p:cNvPr>
            <p:cNvCxnSpPr/>
            <p:nvPr>
              <p:custDataLst>
                <p:tags r:id="rId169"/>
              </p:custDataLst>
            </p:nvPr>
          </p:nvCxnSpPr>
          <p:spPr bwMode="auto">
            <a:xfrm flipV="1">
              <a:off x="4177180" y="5544635"/>
              <a:ext cx="0" cy="144145"/>
            </a:xfrm>
            <a:prstGeom prst="line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sm" len="sm"/>
            </a:ln>
          </p:spPr>
        </p:cxnSp>
        <p:cxnSp>
          <p:nvCxnSpPr>
            <p:cNvPr id="326" name="直接连接符 325">
              <a:extLst>
                <a:ext uri="{FF2B5EF4-FFF2-40B4-BE49-F238E27FC236}">
                  <a16:creationId xmlns:a16="http://schemas.microsoft.com/office/drawing/2014/main" id="{47C2534A-50DD-4358-A4E3-1FEFDE31EC16}"/>
                </a:ext>
              </a:extLst>
            </p:cNvPr>
            <p:cNvCxnSpPr/>
            <p:nvPr>
              <p:custDataLst>
                <p:tags r:id="rId170"/>
              </p:custDataLst>
            </p:nvPr>
          </p:nvCxnSpPr>
          <p:spPr bwMode="auto">
            <a:xfrm>
              <a:off x="5687845" y="5544635"/>
              <a:ext cx="504190" cy="0"/>
            </a:xfrm>
            <a:prstGeom prst="line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sm" len="sm"/>
            </a:ln>
          </p:spPr>
        </p:cxnSp>
        <p:cxnSp>
          <p:nvCxnSpPr>
            <p:cNvPr id="327" name="直接连接符 326">
              <a:extLst>
                <a:ext uri="{FF2B5EF4-FFF2-40B4-BE49-F238E27FC236}">
                  <a16:creationId xmlns:a16="http://schemas.microsoft.com/office/drawing/2014/main" id="{8AABAC7E-4BD6-46FD-AF68-0CA92138487F}"/>
                </a:ext>
              </a:extLst>
            </p:cNvPr>
            <p:cNvCxnSpPr/>
            <p:nvPr>
              <p:custDataLst>
                <p:tags r:id="rId171"/>
              </p:custDataLst>
            </p:nvPr>
          </p:nvCxnSpPr>
          <p:spPr bwMode="auto">
            <a:xfrm>
              <a:off x="5185560" y="5688145"/>
              <a:ext cx="504190" cy="0"/>
            </a:xfrm>
            <a:prstGeom prst="line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sm" len="sm"/>
            </a:ln>
          </p:spPr>
        </p:cxnSp>
        <p:cxnSp>
          <p:nvCxnSpPr>
            <p:cNvPr id="328" name="直接连接符 327">
              <a:extLst>
                <a:ext uri="{FF2B5EF4-FFF2-40B4-BE49-F238E27FC236}">
                  <a16:creationId xmlns:a16="http://schemas.microsoft.com/office/drawing/2014/main" id="{328C3990-ECCF-48F3-AE0E-28F573903784}"/>
                </a:ext>
              </a:extLst>
            </p:cNvPr>
            <p:cNvCxnSpPr/>
            <p:nvPr>
              <p:custDataLst>
                <p:tags r:id="rId172"/>
              </p:custDataLst>
            </p:nvPr>
          </p:nvCxnSpPr>
          <p:spPr bwMode="auto">
            <a:xfrm flipV="1">
              <a:off x="5185560" y="5544635"/>
              <a:ext cx="0" cy="144145"/>
            </a:xfrm>
            <a:prstGeom prst="line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sm" len="sm"/>
            </a:ln>
          </p:spPr>
        </p:cxnSp>
        <p:cxnSp>
          <p:nvCxnSpPr>
            <p:cNvPr id="329" name="直接连接符 328">
              <a:extLst>
                <a:ext uri="{FF2B5EF4-FFF2-40B4-BE49-F238E27FC236}">
                  <a16:creationId xmlns:a16="http://schemas.microsoft.com/office/drawing/2014/main" id="{C45874FB-0EAD-4CEF-968B-C4B1BB084615}"/>
                </a:ext>
              </a:extLst>
            </p:cNvPr>
            <p:cNvCxnSpPr/>
            <p:nvPr>
              <p:custDataLst>
                <p:tags r:id="rId173"/>
              </p:custDataLst>
            </p:nvPr>
          </p:nvCxnSpPr>
          <p:spPr bwMode="auto">
            <a:xfrm>
              <a:off x="3672355" y="5544000"/>
              <a:ext cx="504190" cy="0"/>
            </a:xfrm>
            <a:prstGeom prst="line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sm" len="sm"/>
            </a:ln>
          </p:spPr>
        </p:cxnSp>
        <p:cxnSp>
          <p:nvCxnSpPr>
            <p:cNvPr id="330" name="直接连接符 329">
              <a:extLst>
                <a:ext uri="{FF2B5EF4-FFF2-40B4-BE49-F238E27FC236}">
                  <a16:creationId xmlns:a16="http://schemas.microsoft.com/office/drawing/2014/main" id="{EC4B8E9B-2929-4027-948A-D7FC99F81114}"/>
                </a:ext>
              </a:extLst>
            </p:cNvPr>
            <p:cNvCxnSpPr/>
            <p:nvPr>
              <p:custDataLst>
                <p:tags r:id="rId174"/>
              </p:custDataLst>
            </p:nvPr>
          </p:nvCxnSpPr>
          <p:spPr bwMode="auto">
            <a:xfrm flipV="1">
              <a:off x="3672355" y="5544000"/>
              <a:ext cx="0" cy="144145"/>
            </a:xfrm>
            <a:prstGeom prst="line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sm" len="sm"/>
            </a:ln>
          </p:spPr>
        </p:cxnSp>
        <p:cxnSp>
          <p:nvCxnSpPr>
            <p:cNvPr id="331" name="直接连接符 330">
              <a:extLst>
                <a:ext uri="{FF2B5EF4-FFF2-40B4-BE49-F238E27FC236}">
                  <a16:creationId xmlns:a16="http://schemas.microsoft.com/office/drawing/2014/main" id="{E63898A4-2D26-4112-83D3-B963976D0836}"/>
                </a:ext>
              </a:extLst>
            </p:cNvPr>
            <p:cNvCxnSpPr/>
            <p:nvPr>
              <p:custDataLst>
                <p:tags r:id="rId175"/>
              </p:custDataLst>
            </p:nvPr>
          </p:nvCxnSpPr>
          <p:spPr bwMode="auto">
            <a:xfrm flipH="1" flipV="1">
              <a:off x="3672355" y="5363937"/>
              <a:ext cx="0" cy="144145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sm" len="sm"/>
            </a:ln>
          </p:spPr>
        </p:cxnSp>
        <p:cxnSp>
          <p:nvCxnSpPr>
            <p:cNvPr id="332" name="直接连接符 331">
              <a:extLst>
                <a:ext uri="{FF2B5EF4-FFF2-40B4-BE49-F238E27FC236}">
                  <a16:creationId xmlns:a16="http://schemas.microsoft.com/office/drawing/2014/main" id="{B92B4F68-01EF-463D-A5F0-7366261C3023}"/>
                </a:ext>
              </a:extLst>
            </p:cNvPr>
            <p:cNvCxnSpPr/>
            <p:nvPr>
              <p:custDataLst>
                <p:tags r:id="rId176"/>
              </p:custDataLst>
            </p:nvPr>
          </p:nvCxnSpPr>
          <p:spPr bwMode="auto">
            <a:xfrm>
              <a:off x="3672355" y="5508082"/>
              <a:ext cx="504190" cy="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sm" len="sm"/>
            </a:ln>
          </p:spPr>
        </p:cxnSp>
        <p:sp>
          <p:nvSpPr>
            <p:cNvPr id="333" name="AutoShape 187">
              <a:extLst>
                <a:ext uri="{FF2B5EF4-FFF2-40B4-BE49-F238E27FC236}">
                  <a16:creationId xmlns:a16="http://schemas.microsoft.com/office/drawing/2014/main" id="{4E593126-5C91-46B7-AED4-84015C7CE7EF}"/>
                </a:ext>
              </a:extLst>
            </p:cNvPr>
            <p:cNvSpPr>
              <a:spLocks noChangeArrowheads="1"/>
            </p:cNvSpPr>
            <p:nvPr>
              <p:custDataLst>
                <p:tags r:id="rId177"/>
              </p:custDataLst>
            </p:nvPr>
          </p:nvSpPr>
          <p:spPr bwMode="auto">
            <a:xfrm>
              <a:off x="2159785" y="4860635"/>
              <a:ext cx="504190" cy="215900"/>
            </a:xfrm>
            <a:prstGeom prst="hexagon">
              <a:avLst>
                <a:gd name="adj" fmla="val 42541"/>
                <a:gd name="vf" fmla="val 115470"/>
              </a:avLst>
            </a:prstGeom>
            <a:solidFill>
              <a:srgbClr val="FFCCFF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lIns="0" tIns="17780" rIns="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/>
                <a:t>访存</a:t>
              </a:r>
            </a:p>
          </p:txBody>
        </p:sp>
        <p:cxnSp>
          <p:nvCxnSpPr>
            <p:cNvPr id="334" name="直接连接符 333">
              <a:extLst>
                <a:ext uri="{FF2B5EF4-FFF2-40B4-BE49-F238E27FC236}">
                  <a16:creationId xmlns:a16="http://schemas.microsoft.com/office/drawing/2014/main" id="{303D2A72-9049-4394-BE29-D903C5BC3502}"/>
                </a:ext>
              </a:extLst>
            </p:cNvPr>
            <p:cNvCxnSpPr/>
            <p:nvPr>
              <p:custDataLst>
                <p:tags r:id="rId178"/>
              </p:custDataLst>
            </p:nvPr>
          </p:nvCxnSpPr>
          <p:spPr bwMode="auto">
            <a:xfrm>
              <a:off x="2051835" y="4968585"/>
              <a:ext cx="10795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sm" len="sm"/>
            </a:ln>
          </p:spPr>
        </p:cxnSp>
        <p:cxnSp>
          <p:nvCxnSpPr>
            <p:cNvPr id="335" name="直接连接符 334">
              <a:extLst>
                <a:ext uri="{FF2B5EF4-FFF2-40B4-BE49-F238E27FC236}">
                  <a16:creationId xmlns:a16="http://schemas.microsoft.com/office/drawing/2014/main" id="{36C2FB8D-50DB-43C4-B450-4ECED0561A46}"/>
                </a:ext>
              </a:extLst>
            </p:cNvPr>
            <p:cNvCxnSpPr/>
            <p:nvPr>
              <p:custDataLst>
                <p:tags r:id="rId179"/>
              </p:custDataLst>
            </p:nvPr>
          </p:nvCxnSpPr>
          <p:spPr bwMode="auto">
            <a:xfrm>
              <a:off x="2663975" y="4968585"/>
              <a:ext cx="50419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sm" len="sm"/>
            </a:ln>
          </p:spPr>
        </p:cxnSp>
        <p:cxnSp>
          <p:nvCxnSpPr>
            <p:cNvPr id="336" name="直接连接符 335">
              <a:extLst>
                <a:ext uri="{FF2B5EF4-FFF2-40B4-BE49-F238E27FC236}">
                  <a16:creationId xmlns:a16="http://schemas.microsoft.com/office/drawing/2014/main" id="{6345239B-46B4-42D5-8093-82644FA1E47B}"/>
                </a:ext>
              </a:extLst>
            </p:cNvPr>
            <p:cNvCxnSpPr/>
            <p:nvPr>
              <p:custDataLst>
                <p:tags r:id="rId180"/>
              </p:custDataLst>
            </p:nvPr>
          </p:nvCxnSpPr>
          <p:spPr bwMode="auto">
            <a:xfrm>
              <a:off x="5687845" y="4968585"/>
              <a:ext cx="50419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sm" len="sm"/>
            </a:ln>
          </p:spPr>
        </p:cxnSp>
        <p:sp>
          <p:nvSpPr>
            <p:cNvPr id="337" name="AutoShape 187">
              <a:extLst>
                <a:ext uri="{FF2B5EF4-FFF2-40B4-BE49-F238E27FC236}">
                  <a16:creationId xmlns:a16="http://schemas.microsoft.com/office/drawing/2014/main" id="{B2CC23DF-7A62-4070-85C9-E23AF24D5AC6}"/>
                </a:ext>
              </a:extLst>
            </p:cNvPr>
            <p:cNvSpPr>
              <a:spLocks noChangeArrowheads="1"/>
            </p:cNvSpPr>
            <p:nvPr>
              <p:custDataLst>
                <p:tags r:id="rId181"/>
              </p:custDataLst>
            </p:nvPr>
          </p:nvSpPr>
          <p:spPr bwMode="auto">
            <a:xfrm>
              <a:off x="3168165" y="4860000"/>
              <a:ext cx="504190" cy="215900"/>
            </a:xfrm>
            <a:prstGeom prst="hexagon">
              <a:avLst>
                <a:gd name="adj" fmla="val 42541"/>
                <a:gd name="vf" fmla="val 115470"/>
              </a:avLst>
            </a:prstGeom>
            <a:solidFill>
              <a:srgbClr val="FFCCFF">
                <a:alpha val="80000"/>
              </a:srgbClr>
            </a:solidFill>
            <a:ln w="12700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wrap="none" lIns="0" tIns="17780" rIns="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/>
                <a:t>访存</a:t>
              </a:r>
            </a:p>
          </p:txBody>
        </p:sp>
        <p:cxnSp>
          <p:nvCxnSpPr>
            <p:cNvPr id="338" name="直接连接符 337">
              <a:extLst>
                <a:ext uri="{FF2B5EF4-FFF2-40B4-BE49-F238E27FC236}">
                  <a16:creationId xmlns:a16="http://schemas.microsoft.com/office/drawing/2014/main" id="{00A72FBE-2FC4-4971-89EB-EE7271CBC746}"/>
                </a:ext>
              </a:extLst>
            </p:cNvPr>
            <p:cNvCxnSpPr/>
            <p:nvPr>
              <p:custDataLst>
                <p:tags r:id="rId182"/>
              </p:custDataLst>
            </p:nvPr>
          </p:nvCxnSpPr>
          <p:spPr bwMode="auto">
            <a:xfrm>
              <a:off x="3672355" y="4968585"/>
              <a:ext cx="50419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sm" len="sm"/>
            </a:ln>
          </p:spPr>
        </p:cxnSp>
        <p:sp>
          <p:nvSpPr>
            <p:cNvPr id="339" name="AutoShape 187">
              <a:extLst>
                <a:ext uri="{FF2B5EF4-FFF2-40B4-BE49-F238E27FC236}">
                  <a16:creationId xmlns:a16="http://schemas.microsoft.com/office/drawing/2014/main" id="{DCCE45D8-F74E-4123-844B-2B2E353AD5AE}"/>
                </a:ext>
              </a:extLst>
            </p:cNvPr>
            <p:cNvSpPr>
              <a:spLocks noChangeArrowheads="1"/>
            </p:cNvSpPr>
            <p:nvPr>
              <p:custDataLst>
                <p:tags r:id="rId183"/>
              </p:custDataLst>
            </p:nvPr>
          </p:nvSpPr>
          <p:spPr bwMode="auto">
            <a:xfrm>
              <a:off x="4176545" y="4860000"/>
              <a:ext cx="504190" cy="215900"/>
            </a:xfrm>
            <a:prstGeom prst="hexagon">
              <a:avLst>
                <a:gd name="adj" fmla="val 42541"/>
                <a:gd name="vf" fmla="val 115470"/>
              </a:avLst>
            </a:prstGeom>
            <a:solidFill>
              <a:srgbClr val="FFCCFF">
                <a:alpha val="80000"/>
              </a:srgbClr>
            </a:solidFill>
            <a:ln w="12700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wrap="none" lIns="0" tIns="17780" rIns="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/>
                <a:t>访存</a:t>
              </a:r>
            </a:p>
          </p:txBody>
        </p:sp>
        <p:cxnSp>
          <p:nvCxnSpPr>
            <p:cNvPr id="340" name="直接连接符 339">
              <a:extLst>
                <a:ext uri="{FF2B5EF4-FFF2-40B4-BE49-F238E27FC236}">
                  <a16:creationId xmlns:a16="http://schemas.microsoft.com/office/drawing/2014/main" id="{977296A4-6570-4FE9-BDA6-72F0BFDC96F8}"/>
                </a:ext>
              </a:extLst>
            </p:cNvPr>
            <p:cNvCxnSpPr/>
            <p:nvPr>
              <p:custDataLst>
                <p:tags r:id="rId184"/>
              </p:custDataLst>
            </p:nvPr>
          </p:nvCxnSpPr>
          <p:spPr bwMode="auto">
            <a:xfrm>
              <a:off x="4681370" y="4968585"/>
              <a:ext cx="50419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sm" len="sm"/>
            </a:ln>
          </p:spPr>
        </p:cxnSp>
        <p:sp>
          <p:nvSpPr>
            <p:cNvPr id="341" name="AutoShape 187">
              <a:extLst>
                <a:ext uri="{FF2B5EF4-FFF2-40B4-BE49-F238E27FC236}">
                  <a16:creationId xmlns:a16="http://schemas.microsoft.com/office/drawing/2014/main" id="{6BD48091-DB8D-412C-8497-75D2A52A8F7D}"/>
                </a:ext>
              </a:extLst>
            </p:cNvPr>
            <p:cNvSpPr>
              <a:spLocks noChangeArrowheads="1"/>
            </p:cNvSpPr>
            <p:nvPr>
              <p:custDataLst>
                <p:tags r:id="rId185"/>
              </p:custDataLst>
            </p:nvPr>
          </p:nvSpPr>
          <p:spPr bwMode="auto">
            <a:xfrm>
              <a:off x="5185560" y="4860000"/>
              <a:ext cx="504190" cy="215900"/>
            </a:xfrm>
            <a:prstGeom prst="hexagon">
              <a:avLst>
                <a:gd name="adj" fmla="val 42541"/>
                <a:gd name="vf" fmla="val 115470"/>
              </a:avLst>
            </a:prstGeom>
            <a:solidFill>
              <a:srgbClr val="FFCCFF">
                <a:alpha val="80000"/>
              </a:srgbClr>
            </a:solidFill>
            <a:ln w="12700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wrap="none" lIns="0" tIns="17780" rIns="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/>
                <a:t>访存</a:t>
              </a:r>
            </a:p>
          </p:txBody>
        </p:sp>
        <p:sp>
          <p:nvSpPr>
            <p:cNvPr id="342" name="Text Box 57">
              <a:extLst>
                <a:ext uri="{FF2B5EF4-FFF2-40B4-BE49-F238E27FC236}">
                  <a16:creationId xmlns:a16="http://schemas.microsoft.com/office/drawing/2014/main" id="{2FBDE92D-10FC-45B2-8E43-9A492E9409FD}"/>
                </a:ext>
              </a:extLst>
            </p:cNvPr>
            <p:cNvSpPr txBox="1">
              <a:spLocks noChangeArrowheads="1"/>
            </p:cNvSpPr>
            <p:nvPr>
              <p:custDataLst>
                <p:tags r:id="rId186"/>
              </p:custDataLst>
            </p:nvPr>
          </p:nvSpPr>
          <p:spPr bwMode="auto">
            <a:xfrm>
              <a:off x="827555" y="5436327"/>
              <a:ext cx="864235" cy="21590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7780" rIns="18000" bIns="0" anchor="ctr" anchorCtr="0"/>
            <a:lstStyle/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solidFill>
                    <a:srgbClr val="C00000"/>
                  </a:solidFill>
                  <a:latin typeface="宋体" panose="02010600030101010101" pitchFamily="2" charset="-122"/>
                </a:rPr>
                <a:t>分时信号</a:t>
              </a:r>
            </a:p>
          </p:txBody>
        </p:sp>
        <p:sp>
          <p:nvSpPr>
            <p:cNvPr id="343" name="Text Box 59">
              <a:extLst>
                <a:ext uri="{FF2B5EF4-FFF2-40B4-BE49-F238E27FC236}">
                  <a16:creationId xmlns:a16="http://schemas.microsoft.com/office/drawing/2014/main" id="{7D3CB5A7-F97F-4753-9061-57A5A1D94118}"/>
                </a:ext>
              </a:extLst>
            </p:cNvPr>
            <p:cNvSpPr txBox="1">
              <a:spLocks noChangeArrowheads="1"/>
            </p:cNvSpPr>
            <p:nvPr>
              <p:custDataLst>
                <p:tags r:id="rId187"/>
              </p:custDataLst>
            </p:nvPr>
          </p:nvSpPr>
          <p:spPr bwMode="auto">
            <a:xfrm>
              <a:off x="1764180" y="5328377"/>
              <a:ext cx="252095" cy="39624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C1</a:t>
              </a:r>
            </a:p>
            <a:p>
              <a:pPr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C2</a:t>
              </a:r>
            </a:p>
          </p:txBody>
        </p:sp>
        <p:sp>
          <p:nvSpPr>
            <p:cNvPr id="344" name="AutoShape 254">
              <a:extLst>
                <a:ext uri="{FF2B5EF4-FFF2-40B4-BE49-F238E27FC236}">
                  <a16:creationId xmlns:a16="http://schemas.microsoft.com/office/drawing/2014/main" id="{25CF88D6-CC97-49A3-9D12-EB16BD0B432D}"/>
                </a:ext>
              </a:extLst>
            </p:cNvPr>
            <p:cNvSpPr/>
            <p:nvPr>
              <p:custDataLst>
                <p:tags r:id="rId188"/>
              </p:custDataLst>
            </p:nvPr>
          </p:nvSpPr>
          <p:spPr bwMode="auto">
            <a:xfrm>
              <a:off x="1691790" y="5400132"/>
              <a:ext cx="73025" cy="252095"/>
            </a:xfrm>
            <a:prstGeom prst="leftBrace">
              <a:avLst>
                <a:gd name="adj1" fmla="val 39746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cxnSp>
          <p:nvCxnSpPr>
            <p:cNvPr id="345" name="直接连接符 344">
              <a:extLst>
                <a:ext uri="{FF2B5EF4-FFF2-40B4-BE49-F238E27FC236}">
                  <a16:creationId xmlns:a16="http://schemas.microsoft.com/office/drawing/2014/main" id="{A8BCF31E-8E12-4F89-8B87-CEC352960A48}"/>
                </a:ext>
              </a:extLst>
            </p:cNvPr>
            <p:cNvCxnSpPr/>
            <p:nvPr>
              <p:custDataLst>
                <p:tags r:id="rId189"/>
              </p:custDataLst>
            </p:nvPr>
          </p:nvCxnSpPr>
          <p:spPr bwMode="auto">
            <a:xfrm flipH="1">
              <a:off x="6049160" y="5076282"/>
              <a:ext cx="0" cy="648000"/>
            </a:xfrm>
            <a:prstGeom prst="line">
              <a:avLst/>
            </a:prstGeom>
            <a:noFill/>
            <a:ln w="9525" cap="flat" cmpd="sng" algn="ctr">
              <a:solidFill>
                <a:srgbClr val="990099"/>
              </a:solidFill>
              <a:prstDash val="sysDash"/>
              <a:round/>
              <a:headEnd type="none" w="med" len="med"/>
              <a:tailEnd type="none" w="sm" len="sm"/>
            </a:ln>
          </p:spPr>
        </p:cxnSp>
        <p:sp>
          <p:nvSpPr>
            <p:cNvPr id="346" name="Text Box 208">
              <a:extLst>
                <a:ext uri="{FF2B5EF4-FFF2-40B4-BE49-F238E27FC236}">
                  <a16:creationId xmlns:a16="http://schemas.microsoft.com/office/drawing/2014/main" id="{E7276376-A88A-442A-984B-999DF89DC784}"/>
                </a:ext>
              </a:extLst>
            </p:cNvPr>
            <p:cNvSpPr txBox="1">
              <a:spLocks noChangeArrowheads="1"/>
            </p:cNvSpPr>
            <p:nvPr>
              <p:custDataLst>
                <p:tags r:id="rId190"/>
              </p:custDataLst>
            </p:nvPr>
          </p:nvSpPr>
          <p:spPr bwMode="auto">
            <a:xfrm>
              <a:off x="971700" y="5724635"/>
              <a:ext cx="1080135" cy="21590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zh-CN" altLang="en-US" sz="1600" b="1" dirty="0">
                  <a:latin typeface="宋体" panose="02010600030101010101" pitchFamily="2" charset="-122"/>
                </a:rPr>
                <a:t>总线使用权</a:t>
              </a:r>
            </a:p>
          </p:txBody>
        </p:sp>
        <p:cxnSp>
          <p:nvCxnSpPr>
            <p:cNvPr id="347" name="直接连接符 346">
              <a:extLst>
                <a:ext uri="{FF2B5EF4-FFF2-40B4-BE49-F238E27FC236}">
                  <a16:creationId xmlns:a16="http://schemas.microsoft.com/office/drawing/2014/main" id="{977BE038-8C34-4A22-B004-DC0F54D5222A}"/>
                </a:ext>
              </a:extLst>
            </p:cNvPr>
            <p:cNvCxnSpPr/>
            <p:nvPr>
              <p:custDataLst>
                <p:tags r:id="rId191"/>
              </p:custDataLst>
            </p:nvPr>
          </p:nvCxnSpPr>
          <p:spPr bwMode="auto">
            <a:xfrm>
              <a:off x="2051835" y="5832585"/>
              <a:ext cx="10795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sm" len="sm"/>
            </a:ln>
          </p:spPr>
        </p:cxnSp>
        <p:sp>
          <p:nvSpPr>
            <p:cNvPr id="348" name="Rectangle 225">
              <a:extLst>
                <a:ext uri="{FF2B5EF4-FFF2-40B4-BE49-F238E27FC236}">
                  <a16:creationId xmlns:a16="http://schemas.microsoft.com/office/drawing/2014/main" id="{AC7E9288-C1CC-444A-97BD-7462B1FA358C}"/>
                </a:ext>
              </a:extLst>
            </p:cNvPr>
            <p:cNvSpPr>
              <a:spLocks noChangeArrowheads="1"/>
            </p:cNvSpPr>
            <p:nvPr>
              <p:custDataLst>
                <p:tags r:id="rId192"/>
              </p:custDataLst>
            </p:nvPr>
          </p:nvSpPr>
          <p:spPr bwMode="auto">
            <a:xfrm>
              <a:off x="2159785" y="5724635"/>
              <a:ext cx="504190" cy="2159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lIns="0" tIns="17780" rIns="0" bIns="0" anchor="ctr"/>
            <a:lstStyle/>
            <a:p>
              <a:pPr marL="0" indent="0" algn="ctr" eaLnBrk="1" latinLnBrk="0" hangingPunct="1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CPU</a:t>
              </a:r>
            </a:p>
          </p:txBody>
        </p:sp>
        <p:sp>
          <p:nvSpPr>
            <p:cNvPr id="349" name="Rectangle 225">
              <a:extLst>
                <a:ext uri="{FF2B5EF4-FFF2-40B4-BE49-F238E27FC236}">
                  <a16:creationId xmlns:a16="http://schemas.microsoft.com/office/drawing/2014/main" id="{B6E2F6F7-8FEC-4907-8598-72C30BB9E587}"/>
                </a:ext>
              </a:extLst>
            </p:cNvPr>
            <p:cNvSpPr>
              <a:spLocks noChangeArrowheads="1"/>
            </p:cNvSpPr>
            <p:nvPr>
              <p:custDataLst>
                <p:tags r:id="rId193"/>
              </p:custDataLst>
            </p:nvPr>
          </p:nvSpPr>
          <p:spPr bwMode="auto">
            <a:xfrm>
              <a:off x="2663975" y="5724635"/>
              <a:ext cx="504190" cy="21590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lIns="0" tIns="17780" rIns="0" bIns="0" anchor="ctr"/>
            <a:lstStyle/>
            <a:p>
              <a:pPr marL="0" indent="0" algn="ctr" eaLnBrk="1" latinLnBrk="0" hangingPunct="1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DMA</a:t>
              </a:r>
            </a:p>
          </p:txBody>
        </p:sp>
        <p:sp>
          <p:nvSpPr>
            <p:cNvPr id="350" name="Rectangle 225">
              <a:extLst>
                <a:ext uri="{FF2B5EF4-FFF2-40B4-BE49-F238E27FC236}">
                  <a16:creationId xmlns:a16="http://schemas.microsoft.com/office/drawing/2014/main" id="{EE21D220-7E89-47D3-B346-9AA172B8B660}"/>
                </a:ext>
              </a:extLst>
            </p:cNvPr>
            <p:cNvSpPr>
              <a:spLocks noChangeArrowheads="1"/>
            </p:cNvSpPr>
            <p:nvPr>
              <p:custDataLst>
                <p:tags r:id="rId194"/>
              </p:custDataLst>
            </p:nvPr>
          </p:nvSpPr>
          <p:spPr bwMode="auto">
            <a:xfrm>
              <a:off x="3168165" y="5724635"/>
              <a:ext cx="504190" cy="215265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lIns="0" tIns="17780" rIns="0" bIns="0" anchor="ctr"/>
            <a:lstStyle/>
            <a:p>
              <a:pPr marL="0" indent="0" algn="ctr" eaLnBrk="1" latinLnBrk="0" hangingPunct="1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CPU</a:t>
              </a:r>
            </a:p>
          </p:txBody>
        </p:sp>
        <p:sp>
          <p:nvSpPr>
            <p:cNvPr id="351" name="Rectangle 225">
              <a:extLst>
                <a:ext uri="{FF2B5EF4-FFF2-40B4-BE49-F238E27FC236}">
                  <a16:creationId xmlns:a16="http://schemas.microsoft.com/office/drawing/2014/main" id="{9300B1D8-E35A-40BD-9DBB-B32EDD3AF3ED}"/>
                </a:ext>
              </a:extLst>
            </p:cNvPr>
            <p:cNvSpPr>
              <a:spLocks noChangeArrowheads="1"/>
            </p:cNvSpPr>
            <p:nvPr>
              <p:custDataLst>
                <p:tags r:id="rId195"/>
              </p:custDataLst>
            </p:nvPr>
          </p:nvSpPr>
          <p:spPr bwMode="auto">
            <a:xfrm>
              <a:off x="3672355" y="5724635"/>
              <a:ext cx="504190" cy="21590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lIns="0" tIns="17780" rIns="0" bIns="0" anchor="ctr"/>
            <a:lstStyle/>
            <a:p>
              <a:pPr marL="0" indent="0" algn="ctr" eaLnBrk="1" latinLnBrk="0" hangingPunct="1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DMA</a:t>
              </a:r>
            </a:p>
          </p:txBody>
        </p:sp>
        <p:sp>
          <p:nvSpPr>
            <p:cNvPr id="352" name="Rectangle 225">
              <a:extLst>
                <a:ext uri="{FF2B5EF4-FFF2-40B4-BE49-F238E27FC236}">
                  <a16:creationId xmlns:a16="http://schemas.microsoft.com/office/drawing/2014/main" id="{25CEC909-7B29-4BFD-A9D5-6BCB076B1B6D}"/>
                </a:ext>
              </a:extLst>
            </p:cNvPr>
            <p:cNvSpPr>
              <a:spLocks noChangeArrowheads="1"/>
            </p:cNvSpPr>
            <p:nvPr>
              <p:custDataLst>
                <p:tags r:id="rId196"/>
              </p:custDataLst>
            </p:nvPr>
          </p:nvSpPr>
          <p:spPr bwMode="auto">
            <a:xfrm>
              <a:off x="4176545" y="5724000"/>
              <a:ext cx="504190" cy="2159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lIns="0" tIns="17780" rIns="0" bIns="0" anchor="ctr"/>
            <a:lstStyle/>
            <a:p>
              <a:pPr marL="0" indent="0" algn="ctr" eaLnBrk="1" latinLnBrk="0" hangingPunct="1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CPU</a:t>
              </a:r>
            </a:p>
          </p:txBody>
        </p:sp>
        <p:sp>
          <p:nvSpPr>
            <p:cNvPr id="353" name="Rectangle 225">
              <a:extLst>
                <a:ext uri="{FF2B5EF4-FFF2-40B4-BE49-F238E27FC236}">
                  <a16:creationId xmlns:a16="http://schemas.microsoft.com/office/drawing/2014/main" id="{81AAB3BC-F6F7-444B-BB7D-5F353872EF64}"/>
                </a:ext>
              </a:extLst>
            </p:cNvPr>
            <p:cNvSpPr>
              <a:spLocks noChangeArrowheads="1"/>
            </p:cNvSpPr>
            <p:nvPr>
              <p:custDataLst>
                <p:tags r:id="rId197"/>
              </p:custDataLst>
            </p:nvPr>
          </p:nvSpPr>
          <p:spPr bwMode="auto">
            <a:xfrm>
              <a:off x="4680735" y="5724000"/>
              <a:ext cx="504190" cy="21590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lIns="0" tIns="17780" rIns="0" bIns="0" anchor="ctr"/>
            <a:lstStyle/>
            <a:p>
              <a:pPr marL="0" indent="0" algn="ctr" eaLnBrk="1" latinLnBrk="0" hangingPunct="1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DMA</a:t>
              </a:r>
            </a:p>
          </p:txBody>
        </p:sp>
        <p:sp>
          <p:nvSpPr>
            <p:cNvPr id="354" name="Rectangle 225">
              <a:extLst>
                <a:ext uri="{FF2B5EF4-FFF2-40B4-BE49-F238E27FC236}">
                  <a16:creationId xmlns:a16="http://schemas.microsoft.com/office/drawing/2014/main" id="{CE5FE08D-15F8-4F10-8CB9-5A5219595DC2}"/>
                </a:ext>
              </a:extLst>
            </p:cNvPr>
            <p:cNvSpPr>
              <a:spLocks noChangeArrowheads="1"/>
            </p:cNvSpPr>
            <p:nvPr>
              <p:custDataLst>
                <p:tags r:id="rId198"/>
              </p:custDataLst>
            </p:nvPr>
          </p:nvSpPr>
          <p:spPr bwMode="auto">
            <a:xfrm>
              <a:off x="5184925" y="5724000"/>
              <a:ext cx="504190" cy="2159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lIns="0" tIns="17780" rIns="0" bIns="0" anchor="ctr"/>
            <a:lstStyle/>
            <a:p>
              <a:pPr marL="0" indent="0" algn="ctr" eaLnBrk="1" latinLnBrk="0" hangingPunct="1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CPU</a:t>
              </a:r>
            </a:p>
          </p:txBody>
        </p:sp>
        <p:sp>
          <p:nvSpPr>
            <p:cNvPr id="355" name="Rectangle 225">
              <a:extLst>
                <a:ext uri="{FF2B5EF4-FFF2-40B4-BE49-F238E27FC236}">
                  <a16:creationId xmlns:a16="http://schemas.microsoft.com/office/drawing/2014/main" id="{1770CC04-5440-4D2C-AAC9-36FE1604439E}"/>
                </a:ext>
              </a:extLst>
            </p:cNvPr>
            <p:cNvSpPr>
              <a:spLocks noChangeArrowheads="1"/>
            </p:cNvSpPr>
            <p:nvPr>
              <p:custDataLst>
                <p:tags r:id="rId199"/>
              </p:custDataLst>
            </p:nvPr>
          </p:nvSpPr>
          <p:spPr bwMode="auto">
            <a:xfrm>
              <a:off x="5689115" y="5724000"/>
              <a:ext cx="504190" cy="21590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lIns="0" tIns="17780" rIns="0" bIns="0" anchor="ctr"/>
            <a:lstStyle/>
            <a:p>
              <a:pPr marL="0" indent="0" algn="ctr" eaLnBrk="1" latinLnBrk="0" hangingPunct="1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DMA</a:t>
              </a:r>
            </a:p>
          </p:txBody>
        </p:sp>
      </p:grpSp>
      <p:grpSp>
        <p:nvGrpSpPr>
          <p:cNvPr id="356" name="组合 355">
            <a:extLst>
              <a:ext uri="{FF2B5EF4-FFF2-40B4-BE49-F238E27FC236}">
                <a16:creationId xmlns:a16="http://schemas.microsoft.com/office/drawing/2014/main" id="{143CA292-B5F9-4B8B-B8B6-F02C86DF7F4B}"/>
              </a:ext>
            </a:extLst>
          </p:cNvPr>
          <p:cNvGrpSpPr/>
          <p:nvPr/>
        </p:nvGrpSpPr>
        <p:grpSpPr>
          <a:xfrm>
            <a:off x="360000" y="3034800"/>
            <a:ext cx="6013450" cy="1188535"/>
            <a:chOff x="360000" y="3096000"/>
            <a:chExt cx="6013450" cy="1188535"/>
          </a:xfrm>
        </p:grpSpPr>
        <p:sp>
          <p:nvSpPr>
            <p:cNvPr id="357" name="AutoShape 204">
              <a:extLst>
                <a:ext uri="{FF2B5EF4-FFF2-40B4-BE49-F238E27FC236}">
                  <a16:creationId xmlns:a16="http://schemas.microsoft.com/office/drawing/2014/main" id="{ABC8FE85-51E9-44FA-AEB7-6CEF5941C45F}"/>
                </a:ext>
              </a:extLst>
            </p:cNvPr>
            <p:cNvSpPr/>
            <p:nvPr>
              <p:custDataLst>
                <p:tags r:id="rId52"/>
              </p:custDataLst>
            </p:nvPr>
          </p:nvSpPr>
          <p:spPr bwMode="auto">
            <a:xfrm>
              <a:off x="1114380" y="3168000"/>
              <a:ext cx="73025" cy="323850"/>
            </a:xfrm>
            <a:prstGeom prst="leftBrace">
              <a:avLst>
                <a:gd name="adj1" fmla="val 41225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8" name="Text Box 250">
              <a:extLst>
                <a:ext uri="{FF2B5EF4-FFF2-40B4-BE49-F238E27FC236}">
                  <a16:creationId xmlns:a16="http://schemas.microsoft.com/office/drawing/2014/main" id="{9A32C8AB-386D-4D0A-AAD9-F5A150D87C74}"/>
                </a:ext>
              </a:extLst>
            </p:cNvPr>
            <p:cNvSpPr txBox="1">
              <a:spLocks noChangeArrowheads="1"/>
            </p:cNvSpPr>
            <p:nvPr>
              <p:custDataLst>
                <p:tags r:id="rId53"/>
              </p:custDataLst>
            </p:nvPr>
          </p:nvSpPr>
          <p:spPr bwMode="auto">
            <a:xfrm>
              <a:off x="755605" y="3204000"/>
              <a:ext cx="360045" cy="21590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algn="l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CPU</a:t>
              </a:r>
            </a:p>
          </p:txBody>
        </p:sp>
        <p:sp>
          <p:nvSpPr>
            <p:cNvPr id="359" name="Text Box 251">
              <a:extLst>
                <a:ext uri="{FF2B5EF4-FFF2-40B4-BE49-F238E27FC236}">
                  <a16:creationId xmlns:a16="http://schemas.microsoft.com/office/drawing/2014/main" id="{F2B5E02E-4C1A-4E55-8766-5B698D840C57}"/>
                </a:ext>
              </a:extLst>
            </p:cNvPr>
            <p:cNvSpPr txBox="1">
              <a:spLocks noChangeArrowheads="1"/>
            </p:cNvSpPr>
            <p:nvPr>
              <p:custDataLst>
                <p:tags r:id="rId54"/>
              </p:custDataLst>
            </p:nvPr>
          </p:nvSpPr>
          <p:spPr bwMode="auto">
            <a:xfrm>
              <a:off x="1187405" y="3096000"/>
              <a:ext cx="864235" cy="43200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0" rIns="18000" bIns="10800"/>
            <a:lstStyle/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</a:rPr>
                <a:t>工作状态</a:t>
              </a:r>
            </a:p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应答</a:t>
              </a:r>
              <a:r>
                <a:rPr lang="en-US" altLang="zh-CN" sz="1600" b="1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HLDA</a:t>
              </a:r>
            </a:p>
          </p:txBody>
        </p:sp>
        <p:sp>
          <p:nvSpPr>
            <p:cNvPr id="360" name="Text Box 252">
              <a:extLst>
                <a:ext uri="{FF2B5EF4-FFF2-40B4-BE49-F238E27FC236}">
                  <a16:creationId xmlns:a16="http://schemas.microsoft.com/office/drawing/2014/main" id="{DE28D7FF-98F6-48F0-AA1C-78CE48F43EFE}"/>
                </a:ext>
              </a:extLst>
            </p:cNvPr>
            <p:cNvSpPr txBox="1">
              <a:spLocks noChangeArrowheads="1"/>
            </p:cNvSpPr>
            <p:nvPr>
              <p:custDataLst>
                <p:tags r:id="rId55"/>
              </p:custDataLst>
            </p:nvPr>
          </p:nvSpPr>
          <p:spPr bwMode="auto">
            <a:xfrm>
              <a:off x="1187405" y="3492000"/>
              <a:ext cx="864235" cy="54000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8000" rIns="18000" bIns="10800"/>
            <a:lstStyle/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solidFill>
                    <a:srgbClr val="CC3300"/>
                  </a:solidFill>
                  <a:latin typeface="宋体" panose="02010600030101010101" pitchFamily="2" charset="-122"/>
                </a:rPr>
                <a:t>请求</a:t>
              </a:r>
              <a:r>
                <a:rPr lang="en-US" altLang="zh-CN" sz="1600" b="1" dirty="0">
                  <a:solidFill>
                    <a:srgbClr val="CC3300"/>
                  </a:solidFill>
                  <a:latin typeface="宋体" panose="02010600030101010101" pitchFamily="2" charset="-122"/>
                </a:rPr>
                <a:t>HRQ</a:t>
              </a:r>
            </a:p>
            <a:p>
              <a:pPr algn="l">
                <a:lnSpc>
                  <a:spcPct val="90000"/>
                </a:lnSpc>
                <a:spcBef>
                  <a:spcPts val="500"/>
                </a:spcBef>
                <a:spcAft>
                  <a:spcPts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</a:rPr>
                <a:t>工作状态</a:t>
              </a:r>
            </a:p>
          </p:txBody>
        </p:sp>
        <p:sp>
          <p:nvSpPr>
            <p:cNvPr id="361" name="Text Box 253">
              <a:extLst>
                <a:ext uri="{FF2B5EF4-FFF2-40B4-BE49-F238E27FC236}">
                  <a16:creationId xmlns:a16="http://schemas.microsoft.com/office/drawing/2014/main" id="{8F621812-7FC7-4EDD-B88D-E761B6B13EF0}"/>
                </a:ext>
              </a:extLst>
            </p:cNvPr>
            <p:cNvSpPr txBox="1">
              <a:spLocks noChangeArrowheads="1"/>
            </p:cNvSpPr>
            <p:nvPr>
              <p:custDataLst>
                <p:tags r:id="rId56"/>
              </p:custDataLst>
            </p:nvPr>
          </p:nvSpPr>
          <p:spPr bwMode="auto">
            <a:xfrm>
              <a:off x="360000" y="3636335"/>
              <a:ext cx="756285" cy="21590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algn="l">
                <a:lnSpc>
                  <a:spcPct val="90000"/>
                </a:lnSpc>
              </a:pPr>
              <a:r>
                <a:rPr lang="en-US" altLang="zh-CN" sz="1600" b="1">
                  <a:latin typeface="宋体" panose="02010600030101010101" pitchFamily="2" charset="-122"/>
                </a:rPr>
                <a:t>DMA</a:t>
              </a:r>
              <a:r>
                <a:rPr lang="zh-CN" altLang="en-US" sz="1600" b="1">
                  <a:latin typeface="宋体" panose="02010600030101010101" pitchFamily="2" charset="-122"/>
                </a:rPr>
                <a:t>接口</a:t>
              </a:r>
            </a:p>
          </p:txBody>
        </p:sp>
        <p:sp>
          <p:nvSpPr>
            <p:cNvPr id="362" name="AutoShape 254">
              <a:extLst>
                <a:ext uri="{FF2B5EF4-FFF2-40B4-BE49-F238E27FC236}">
                  <a16:creationId xmlns:a16="http://schemas.microsoft.com/office/drawing/2014/main" id="{0448B0B0-8819-4685-984B-3807B45E88D1}"/>
                </a:ext>
              </a:extLst>
            </p:cNvPr>
            <p:cNvSpPr/>
            <p:nvPr>
              <p:custDataLst>
                <p:tags r:id="rId57"/>
              </p:custDataLst>
            </p:nvPr>
          </p:nvSpPr>
          <p:spPr bwMode="auto">
            <a:xfrm>
              <a:off x="1115650" y="3600140"/>
              <a:ext cx="73025" cy="323850"/>
            </a:xfrm>
            <a:prstGeom prst="leftBrace">
              <a:avLst>
                <a:gd name="adj1" fmla="val 39746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3" name="AutoShape 257">
              <a:extLst>
                <a:ext uri="{FF2B5EF4-FFF2-40B4-BE49-F238E27FC236}">
                  <a16:creationId xmlns:a16="http://schemas.microsoft.com/office/drawing/2014/main" id="{4AF53C41-7289-4597-B05B-830DBED1E165}"/>
                </a:ext>
              </a:extLst>
            </p:cNvPr>
            <p:cNvSpPr>
              <a:spLocks noChangeArrowheads="1"/>
            </p:cNvSpPr>
            <p:nvPr>
              <p:custDataLst>
                <p:tags r:id="rId58"/>
              </p:custDataLst>
            </p:nvPr>
          </p:nvSpPr>
          <p:spPr bwMode="auto">
            <a:xfrm>
              <a:off x="2663780" y="3816040"/>
              <a:ext cx="504190" cy="215900"/>
            </a:xfrm>
            <a:prstGeom prst="hexagon">
              <a:avLst>
                <a:gd name="adj" fmla="val 42541"/>
                <a:gd name="vf" fmla="val 115470"/>
              </a:avLst>
            </a:prstGeom>
            <a:solidFill>
              <a:srgbClr val="99CCFF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lIns="0" tIns="17780" rIns="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/>
                <a:t>传送</a:t>
              </a:r>
            </a:p>
          </p:txBody>
        </p:sp>
        <p:sp>
          <p:nvSpPr>
            <p:cNvPr id="364" name="Text Box 279">
              <a:extLst>
                <a:ext uri="{FF2B5EF4-FFF2-40B4-BE49-F238E27FC236}">
                  <a16:creationId xmlns:a16="http://schemas.microsoft.com/office/drawing/2014/main" id="{6FAC10E0-29C0-4FF5-A546-A3DF9D70690C}"/>
                </a:ext>
              </a:extLst>
            </p:cNvPr>
            <p:cNvSpPr txBox="1">
              <a:spLocks noChangeArrowheads="1"/>
            </p:cNvSpPr>
            <p:nvPr>
              <p:custDataLst>
                <p:tags r:id="rId59"/>
              </p:custDataLst>
            </p:nvPr>
          </p:nvSpPr>
          <p:spPr bwMode="auto">
            <a:xfrm>
              <a:off x="3167970" y="3708090"/>
              <a:ext cx="864235" cy="21590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</a:rPr>
                <a:t>等待就绪</a:t>
              </a:r>
            </a:p>
          </p:txBody>
        </p:sp>
        <p:cxnSp>
          <p:nvCxnSpPr>
            <p:cNvPr id="365" name="直接连接符 364">
              <a:extLst>
                <a:ext uri="{FF2B5EF4-FFF2-40B4-BE49-F238E27FC236}">
                  <a16:creationId xmlns:a16="http://schemas.microsoft.com/office/drawing/2014/main" id="{770A358C-5800-49F5-B0D7-62F09EFD5E9E}"/>
                </a:ext>
              </a:extLst>
            </p:cNvPr>
            <p:cNvCxnSpPr/>
            <p:nvPr>
              <p:custDataLst>
                <p:tags r:id="rId60"/>
              </p:custDataLst>
            </p:nvPr>
          </p:nvCxnSpPr>
          <p:spPr bwMode="auto">
            <a:xfrm flipH="1">
              <a:off x="2160225" y="3096000"/>
              <a:ext cx="0" cy="1188000"/>
            </a:xfrm>
            <a:prstGeom prst="line">
              <a:avLst/>
            </a:prstGeom>
            <a:noFill/>
            <a:ln w="9525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none" w="sm" len="sm"/>
            </a:ln>
          </p:spPr>
        </p:cxnSp>
        <p:cxnSp>
          <p:nvCxnSpPr>
            <p:cNvPr id="366" name="直接连接符 365">
              <a:extLst>
                <a:ext uri="{FF2B5EF4-FFF2-40B4-BE49-F238E27FC236}">
                  <a16:creationId xmlns:a16="http://schemas.microsoft.com/office/drawing/2014/main" id="{B9CCEF42-D11C-4605-ABCA-DE4D5F22FB62}"/>
                </a:ext>
              </a:extLst>
            </p:cNvPr>
            <p:cNvCxnSpPr/>
            <p:nvPr>
              <p:custDataLst>
                <p:tags r:id="rId61"/>
              </p:custDataLst>
            </p:nvPr>
          </p:nvCxnSpPr>
          <p:spPr bwMode="auto">
            <a:xfrm>
              <a:off x="2051640" y="3672000"/>
              <a:ext cx="252095" cy="0"/>
            </a:xfrm>
            <a:prstGeom prst="line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sm" len="sm"/>
            </a:ln>
          </p:spPr>
        </p:cxnSp>
        <p:cxnSp>
          <p:nvCxnSpPr>
            <p:cNvPr id="367" name="直接连接符 366">
              <a:extLst>
                <a:ext uri="{FF2B5EF4-FFF2-40B4-BE49-F238E27FC236}">
                  <a16:creationId xmlns:a16="http://schemas.microsoft.com/office/drawing/2014/main" id="{BC15CE24-64E9-47C5-BC6F-2D63397A0417}"/>
                </a:ext>
              </a:extLst>
            </p:cNvPr>
            <p:cNvCxnSpPr/>
            <p:nvPr>
              <p:custDataLst>
                <p:tags r:id="rId62"/>
              </p:custDataLst>
            </p:nvPr>
          </p:nvCxnSpPr>
          <p:spPr bwMode="auto">
            <a:xfrm flipV="1">
              <a:off x="2303735" y="3528385"/>
              <a:ext cx="71755" cy="144145"/>
            </a:xfrm>
            <a:prstGeom prst="line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sm" len="sm"/>
            </a:ln>
          </p:spPr>
        </p:cxnSp>
        <p:cxnSp>
          <p:nvCxnSpPr>
            <p:cNvPr id="368" name="直接连接符 367">
              <a:extLst>
                <a:ext uri="{FF2B5EF4-FFF2-40B4-BE49-F238E27FC236}">
                  <a16:creationId xmlns:a16="http://schemas.microsoft.com/office/drawing/2014/main" id="{5EEEE036-C895-43FE-AE20-156B39015E0F}"/>
                </a:ext>
              </a:extLst>
            </p:cNvPr>
            <p:cNvCxnSpPr/>
            <p:nvPr>
              <p:custDataLst>
                <p:tags r:id="rId63"/>
              </p:custDataLst>
            </p:nvPr>
          </p:nvCxnSpPr>
          <p:spPr bwMode="auto">
            <a:xfrm>
              <a:off x="2376125" y="3528385"/>
              <a:ext cx="720090" cy="0"/>
            </a:xfrm>
            <a:prstGeom prst="line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sm" len="sm"/>
            </a:ln>
          </p:spPr>
        </p:cxnSp>
        <p:cxnSp>
          <p:nvCxnSpPr>
            <p:cNvPr id="369" name="直接连接符 368">
              <a:extLst>
                <a:ext uri="{FF2B5EF4-FFF2-40B4-BE49-F238E27FC236}">
                  <a16:creationId xmlns:a16="http://schemas.microsoft.com/office/drawing/2014/main" id="{8F9143EB-D139-48D2-A7AF-9702CD910441}"/>
                </a:ext>
              </a:extLst>
            </p:cNvPr>
            <p:cNvCxnSpPr/>
            <p:nvPr>
              <p:custDataLst>
                <p:tags r:id="rId64"/>
              </p:custDataLst>
            </p:nvPr>
          </p:nvCxnSpPr>
          <p:spPr bwMode="auto">
            <a:xfrm flipH="1">
              <a:off x="2663780" y="3096000"/>
              <a:ext cx="0" cy="1188000"/>
            </a:xfrm>
            <a:prstGeom prst="line">
              <a:avLst/>
            </a:prstGeom>
            <a:noFill/>
            <a:ln w="9525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none" w="sm" len="sm"/>
            </a:ln>
          </p:spPr>
        </p:cxnSp>
        <p:cxnSp>
          <p:nvCxnSpPr>
            <p:cNvPr id="370" name="直接连接符 369">
              <a:extLst>
                <a:ext uri="{FF2B5EF4-FFF2-40B4-BE49-F238E27FC236}">
                  <a16:creationId xmlns:a16="http://schemas.microsoft.com/office/drawing/2014/main" id="{079AA1F8-7CA4-4A9B-B65A-C74F61CF414E}"/>
                </a:ext>
              </a:extLst>
            </p:cNvPr>
            <p:cNvCxnSpPr/>
            <p:nvPr>
              <p:custDataLst>
                <p:tags r:id="rId65"/>
              </p:custDataLst>
            </p:nvPr>
          </p:nvCxnSpPr>
          <p:spPr bwMode="auto">
            <a:xfrm>
              <a:off x="2051640" y="3923990"/>
              <a:ext cx="61214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sm" len="sm"/>
            </a:ln>
          </p:spPr>
        </p:cxnSp>
        <p:cxnSp>
          <p:nvCxnSpPr>
            <p:cNvPr id="371" name="直接连接符 370">
              <a:extLst>
                <a:ext uri="{FF2B5EF4-FFF2-40B4-BE49-F238E27FC236}">
                  <a16:creationId xmlns:a16="http://schemas.microsoft.com/office/drawing/2014/main" id="{7B0322E7-ED50-458B-9F4B-F28DF93268FD}"/>
                </a:ext>
              </a:extLst>
            </p:cNvPr>
            <p:cNvCxnSpPr/>
            <p:nvPr>
              <p:custDataLst>
                <p:tags r:id="rId66"/>
              </p:custDataLst>
            </p:nvPr>
          </p:nvCxnSpPr>
          <p:spPr bwMode="auto">
            <a:xfrm>
              <a:off x="3167970" y="3923990"/>
              <a:ext cx="864235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sm" len="sm"/>
            </a:ln>
          </p:spPr>
        </p:cxnSp>
        <p:sp>
          <p:nvSpPr>
            <p:cNvPr id="372" name="AutoShape 257">
              <a:extLst>
                <a:ext uri="{FF2B5EF4-FFF2-40B4-BE49-F238E27FC236}">
                  <a16:creationId xmlns:a16="http://schemas.microsoft.com/office/drawing/2014/main" id="{BA69D9D9-8FEF-4189-A3BE-00D5197AD772}"/>
                </a:ext>
              </a:extLst>
            </p:cNvPr>
            <p:cNvSpPr>
              <a:spLocks noChangeArrowheads="1"/>
            </p:cNvSpPr>
            <p:nvPr>
              <p:custDataLst>
                <p:tags r:id="rId67"/>
              </p:custDataLst>
            </p:nvPr>
          </p:nvSpPr>
          <p:spPr bwMode="auto">
            <a:xfrm>
              <a:off x="4032205" y="3816040"/>
              <a:ext cx="504190" cy="215900"/>
            </a:xfrm>
            <a:prstGeom prst="hexagon">
              <a:avLst>
                <a:gd name="adj" fmla="val 42541"/>
                <a:gd name="vf" fmla="val 115470"/>
              </a:avLst>
            </a:prstGeom>
            <a:solidFill>
              <a:srgbClr val="99CCFF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lIns="0" tIns="17780" rIns="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/>
                <a:t>传送</a:t>
              </a:r>
            </a:p>
          </p:txBody>
        </p:sp>
        <p:sp>
          <p:nvSpPr>
            <p:cNvPr id="373" name="Text Box 279">
              <a:extLst>
                <a:ext uri="{FF2B5EF4-FFF2-40B4-BE49-F238E27FC236}">
                  <a16:creationId xmlns:a16="http://schemas.microsoft.com/office/drawing/2014/main" id="{73FDE0E0-F82B-4DBB-95F7-5D2C4C1274CA}"/>
                </a:ext>
              </a:extLst>
            </p:cNvPr>
            <p:cNvSpPr txBox="1">
              <a:spLocks noChangeArrowheads="1"/>
            </p:cNvSpPr>
            <p:nvPr>
              <p:custDataLst>
                <p:tags r:id="rId68"/>
              </p:custDataLst>
            </p:nvPr>
          </p:nvSpPr>
          <p:spPr bwMode="auto">
            <a:xfrm>
              <a:off x="4535760" y="3708090"/>
              <a:ext cx="864235" cy="21590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</a:rPr>
                <a:t>等待就绪</a:t>
              </a:r>
            </a:p>
          </p:txBody>
        </p:sp>
        <p:cxnSp>
          <p:nvCxnSpPr>
            <p:cNvPr id="374" name="直接连接符 373">
              <a:extLst>
                <a:ext uri="{FF2B5EF4-FFF2-40B4-BE49-F238E27FC236}">
                  <a16:creationId xmlns:a16="http://schemas.microsoft.com/office/drawing/2014/main" id="{62A80BF6-FE55-4992-B81A-DB374BA80A85}"/>
                </a:ext>
              </a:extLst>
            </p:cNvPr>
            <p:cNvCxnSpPr/>
            <p:nvPr>
              <p:custDataLst>
                <p:tags r:id="rId69"/>
              </p:custDataLst>
            </p:nvPr>
          </p:nvCxnSpPr>
          <p:spPr bwMode="auto">
            <a:xfrm>
              <a:off x="4535760" y="3923990"/>
              <a:ext cx="864235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sm" len="sm"/>
            </a:ln>
          </p:spPr>
        </p:cxnSp>
        <p:sp>
          <p:nvSpPr>
            <p:cNvPr id="375" name="AutoShape 257">
              <a:extLst>
                <a:ext uri="{FF2B5EF4-FFF2-40B4-BE49-F238E27FC236}">
                  <a16:creationId xmlns:a16="http://schemas.microsoft.com/office/drawing/2014/main" id="{B2D4FF5C-E5B3-448C-A5AB-903000ED5245}"/>
                </a:ext>
              </a:extLst>
            </p:cNvPr>
            <p:cNvSpPr>
              <a:spLocks noChangeArrowheads="1"/>
            </p:cNvSpPr>
            <p:nvPr>
              <p:custDataLst>
                <p:tags r:id="rId70"/>
              </p:custDataLst>
            </p:nvPr>
          </p:nvSpPr>
          <p:spPr bwMode="auto">
            <a:xfrm>
              <a:off x="5399995" y="3816040"/>
              <a:ext cx="504190" cy="215900"/>
            </a:xfrm>
            <a:prstGeom prst="hexagon">
              <a:avLst>
                <a:gd name="adj" fmla="val 42541"/>
                <a:gd name="vf" fmla="val 115470"/>
              </a:avLst>
            </a:prstGeom>
            <a:solidFill>
              <a:srgbClr val="99CCFF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lIns="0" tIns="17780" rIns="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/>
                <a:t>传送</a:t>
              </a:r>
            </a:p>
          </p:txBody>
        </p:sp>
        <p:cxnSp>
          <p:nvCxnSpPr>
            <p:cNvPr id="376" name="直接连接符 375">
              <a:extLst>
                <a:ext uri="{FF2B5EF4-FFF2-40B4-BE49-F238E27FC236}">
                  <a16:creationId xmlns:a16="http://schemas.microsoft.com/office/drawing/2014/main" id="{B175AA23-7AD2-4E54-A713-419C23F8A975}"/>
                </a:ext>
              </a:extLst>
            </p:cNvPr>
            <p:cNvCxnSpPr/>
            <p:nvPr>
              <p:custDataLst>
                <p:tags r:id="rId71"/>
              </p:custDataLst>
            </p:nvPr>
          </p:nvCxnSpPr>
          <p:spPr bwMode="auto">
            <a:xfrm flipH="1">
              <a:off x="5904185" y="3096000"/>
              <a:ext cx="0" cy="1188000"/>
            </a:xfrm>
            <a:prstGeom prst="line">
              <a:avLst/>
            </a:prstGeom>
            <a:noFill/>
            <a:ln w="9525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none" w="sm" len="sm"/>
            </a:ln>
          </p:spPr>
        </p:cxnSp>
        <p:cxnSp>
          <p:nvCxnSpPr>
            <p:cNvPr id="377" name="直接连接符 376">
              <a:extLst>
                <a:ext uri="{FF2B5EF4-FFF2-40B4-BE49-F238E27FC236}">
                  <a16:creationId xmlns:a16="http://schemas.microsoft.com/office/drawing/2014/main" id="{3A2D79C1-0D37-41A3-9DBB-22D4512BCB6E}"/>
                </a:ext>
              </a:extLst>
            </p:cNvPr>
            <p:cNvCxnSpPr/>
            <p:nvPr>
              <p:custDataLst>
                <p:tags r:id="rId72"/>
              </p:custDataLst>
            </p:nvPr>
          </p:nvCxnSpPr>
          <p:spPr bwMode="auto">
            <a:xfrm>
              <a:off x="5904185" y="3923990"/>
              <a:ext cx="467995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sm" len="sm"/>
            </a:ln>
          </p:spPr>
        </p:cxnSp>
        <p:cxnSp>
          <p:nvCxnSpPr>
            <p:cNvPr id="378" name="直接连接符 377">
              <a:extLst>
                <a:ext uri="{FF2B5EF4-FFF2-40B4-BE49-F238E27FC236}">
                  <a16:creationId xmlns:a16="http://schemas.microsoft.com/office/drawing/2014/main" id="{F6DDA052-1A0D-4C78-ABDF-9581D574CC2A}"/>
                </a:ext>
              </a:extLst>
            </p:cNvPr>
            <p:cNvCxnSpPr/>
            <p:nvPr>
              <p:custDataLst>
                <p:tags r:id="rId73"/>
              </p:custDataLst>
            </p:nvPr>
          </p:nvCxnSpPr>
          <p:spPr bwMode="auto">
            <a:xfrm flipH="1" flipV="1">
              <a:off x="5831795" y="3528385"/>
              <a:ext cx="71755" cy="144145"/>
            </a:xfrm>
            <a:prstGeom prst="line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sm" len="sm"/>
            </a:ln>
          </p:spPr>
        </p:cxnSp>
        <p:cxnSp>
          <p:nvCxnSpPr>
            <p:cNvPr id="379" name="直接连接符 378">
              <a:extLst>
                <a:ext uri="{FF2B5EF4-FFF2-40B4-BE49-F238E27FC236}">
                  <a16:creationId xmlns:a16="http://schemas.microsoft.com/office/drawing/2014/main" id="{7342F1B0-895B-487E-BC80-DC1D04FE5C26}"/>
                </a:ext>
              </a:extLst>
            </p:cNvPr>
            <p:cNvCxnSpPr/>
            <p:nvPr>
              <p:custDataLst>
                <p:tags r:id="rId74"/>
              </p:custDataLst>
            </p:nvPr>
          </p:nvCxnSpPr>
          <p:spPr bwMode="auto">
            <a:xfrm>
              <a:off x="5904185" y="3672000"/>
              <a:ext cx="467995" cy="0"/>
            </a:xfrm>
            <a:prstGeom prst="line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sm" len="sm"/>
            </a:ln>
          </p:spPr>
        </p:cxnSp>
        <p:cxnSp>
          <p:nvCxnSpPr>
            <p:cNvPr id="380" name="直接连接符 379">
              <a:extLst>
                <a:ext uri="{FF2B5EF4-FFF2-40B4-BE49-F238E27FC236}">
                  <a16:creationId xmlns:a16="http://schemas.microsoft.com/office/drawing/2014/main" id="{F2BE2DA6-9866-4983-A686-2B6C9A32B102}"/>
                </a:ext>
              </a:extLst>
            </p:cNvPr>
            <p:cNvCxnSpPr/>
            <p:nvPr>
              <p:custDataLst>
                <p:tags r:id="rId75"/>
              </p:custDataLst>
            </p:nvPr>
          </p:nvCxnSpPr>
          <p:spPr bwMode="auto">
            <a:xfrm flipH="1" flipV="1">
              <a:off x="3096215" y="3528385"/>
              <a:ext cx="71755" cy="144145"/>
            </a:xfrm>
            <a:prstGeom prst="line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sm" len="sm"/>
            </a:ln>
          </p:spPr>
        </p:cxnSp>
        <p:cxnSp>
          <p:nvCxnSpPr>
            <p:cNvPr id="381" name="直接连接符 380">
              <a:extLst>
                <a:ext uri="{FF2B5EF4-FFF2-40B4-BE49-F238E27FC236}">
                  <a16:creationId xmlns:a16="http://schemas.microsoft.com/office/drawing/2014/main" id="{159F063F-8272-4AC5-9A28-D023D7EB3CFC}"/>
                </a:ext>
              </a:extLst>
            </p:cNvPr>
            <p:cNvCxnSpPr/>
            <p:nvPr>
              <p:custDataLst>
                <p:tags r:id="rId76"/>
              </p:custDataLst>
            </p:nvPr>
          </p:nvCxnSpPr>
          <p:spPr bwMode="auto">
            <a:xfrm>
              <a:off x="3167970" y="3672000"/>
              <a:ext cx="791845" cy="0"/>
            </a:xfrm>
            <a:prstGeom prst="line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sm" len="sm"/>
            </a:ln>
          </p:spPr>
        </p:cxnSp>
        <p:cxnSp>
          <p:nvCxnSpPr>
            <p:cNvPr id="382" name="直接连接符 381">
              <a:extLst>
                <a:ext uri="{FF2B5EF4-FFF2-40B4-BE49-F238E27FC236}">
                  <a16:creationId xmlns:a16="http://schemas.microsoft.com/office/drawing/2014/main" id="{AEF65A2A-0B4A-4075-99DD-98CAE4FADD4F}"/>
                </a:ext>
              </a:extLst>
            </p:cNvPr>
            <p:cNvCxnSpPr/>
            <p:nvPr>
              <p:custDataLst>
                <p:tags r:id="rId77"/>
              </p:custDataLst>
            </p:nvPr>
          </p:nvCxnSpPr>
          <p:spPr bwMode="auto">
            <a:xfrm flipH="1">
              <a:off x="5399995" y="3240095"/>
              <a:ext cx="0" cy="1044000"/>
            </a:xfrm>
            <a:prstGeom prst="line">
              <a:avLst/>
            </a:prstGeom>
            <a:noFill/>
            <a:ln w="9525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none" w="sm" len="sm"/>
            </a:ln>
          </p:spPr>
        </p:cxnSp>
        <p:cxnSp>
          <p:nvCxnSpPr>
            <p:cNvPr id="383" name="直接连接符 382">
              <a:extLst>
                <a:ext uri="{FF2B5EF4-FFF2-40B4-BE49-F238E27FC236}">
                  <a16:creationId xmlns:a16="http://schemas.microsoft.com/office/drawing/2014/main" id="{DF456AF2-5848-4315-8252-B5BE8AFF1A96}"/>
                </a:ext>
              </a:extLst>
            </p:cNvPr>
            <p:cNvCxnSpPr/>
            <p:nvPr>
              <p:custDataLst>
                <p:tags r:id="rId78"/>
              </p:custDataLst>
            </p:nvPr>
          </p:nvCxnSpPr>
          <p:spPr bwMode="auto">
            <a:xfrm flipV="1">
              <a:off x="3959815" y="3528385"/>
              <a:ext cx="71755" cy="144145"/>
            </a:xfrm>
            <a:prstGeom prst="line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sm" len="sm"/>
            </a:ln>
          </p:spPr>
        </p:cxnSp>
        <p:cxnSp>
          <p:nvCxnSpPr>
            <p:cNvPr id="384" name="直接连接符 383">
              <a:extLst>
                <a:ext uri="{FF2B5EF4-FFF2-40B4-BE49-F238E27FC236}">
                  <a16:creationId xmlns:a16="http://schemas.microsoft.com/office/drawing/2014/main" id="{7C14DB70-681C-49BA-9083-33BA7799EBEB}"/>
                </a:ext>
              </a:extLst>
            </p:cNvPr>
            <p:cNvCxnSpPr/>
            <p:nvPr>
              <p:custDataLst>
                <p:tags r:id="rId79"/>
              </p:custDataLst>
            </p:nvPr>
          </p:nvCxnSpPr>
          <p:spPr bwMode="auto">
            <a:xfrm>
              <a:off x="4032205" y="3528385"/>
              <a:ext cx="431800" cy="0"/>
            </a:xfrm>
            <a:prstGeom prst="line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sm" len="sm"/>
            </a:ln>
          </p:spPr>
        </p:cxnSp>
        <p:cxnSp>
          <p:nvCxnSpPr>
            <p:cNvPr id="385" name="直接连接符 384">
              <a:extLst>
                <a:ext uri="{FF2B5EF4-FFF2-40B4-BE49-F238E27FC236}">
                  <a16:creationId xmlns:a16="http://schemas.microsoft.com/office/drawing/2014/main" id="{09C4C4E1-4B2F-4059-B806-F8F33535B384}"/>
                </a:ext>
              </a:extLst>
            </p:cNvPr>
            <p:cNvCxnSpPr/>
            <p:nvPr>
              <p:custDataLst>
                <p:tags r:id="rId80"/>
              </p:custDataLst>
            </p:nvPr>
          </p:nvCxnSpPr>
          <p:spPr bwMode="auto">
            <a:xfrm flipH="1" flipV="1">
              <a:off x="4464005" y="3528385"/>
              <a:ext cx="71755" cy="144145"/>
            </a:xfrm>
            <a:prstGeom prst="line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sm" len="sm"/>
            </a:ln>
          </p:spPr>
        </p:cxnSp>
        <p:cxnSp>
          <p:nvCxnSpPr>
            <p:cNvPr id="386" name="直接连接符 385">
              <a:extLst>
                <a:ext uri="{FF2B5EF4-FFF2-40B4-BE49-F238E27FC236}">
                  <a16:creationId xmlns:a16="http://schemas.microsoft.com/office/drawing/2014/main" id="{3A7FD091-C2D2-4B72-B58A-3C3A52D17D06}"/>
                </a:ext>
              </a:extLst>
            </p:cNvPr>
            <p:cNvCxnSpPr/>
            <p:nvPr>
              <p:custDataLst>
                <p:tags r:id="rId81"/>
              </p:custDataLst>
            </p:nvPr>
          </p:nvCxnSpPr>
          <p:spPr bwMode="auto">
            <a:xfrm>
              <a:off x="4535760" y="3672000"/>
              <a:ext cx="791845" cy="0"/>
            </a:xfrm>
            <a:prstGeom prst="line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sm" len="sm"/>
            </a:ln>
          </p:spPr>
        </p:cxnSp>
        <p:cxnSp>
          <p:nvCxnSpPr>
            <p:cNvPr id="387" name="直接连接符 386">
              <a:extLst>
                <a:ext uri="{FF2B5EF4-FFF2-40B4-BE49-F238E27FC236}">
                  <a16:creationId xmlns:a16="http://schemas.microsoft.com/office/drawing/2014/main" id="{3FA3FD53-F900-4EB0-83E8-BC6B13FFEBC5}"/>
                </a:ext>
              </a:extLst>
            </p:cNvPr>
            <p:cNvCxnSpPr/>
            <p:nvPr>
              <p:custDataLst>
                <p:tags r:id="rId82"/>
              </p:custDataLst>
            </p:nvPr>
          </p:nvCxnSpPr>
          <p:spPr bwMode="auto">
            <a:xfrm flipV="1">
              <a:off x="5328240" y="3528385"/>
              <a:ext cx="71755" cy="144145"/>
            </a:xfrm>
            <a:prstGeom prst="line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sm" len="sm"/>
            </a:ln>
          </p:spPr>
        </p:cxnSp>
        <p:cxnSp>
          <p:nvCxnSpPr>
            <p:cNvPr id="388" name="直接连接符 387">
              <a:extLst>
                <a:ext uri="{FF2B5EF4-FFF2-40B4-BE49-F238E27FC236}">
                  <a16:creationId xmlns:a16="http://schemas.microsoft.com/office/drawing/2014/main" id="{2E0F6D58-6AE7-438A-A628-0600F2D024D5}"/>
                </a:ext>
              </a:extLst>
            </p:cNvPr>
            <p:cNvCxnSpPr/>
            <p:nvPr>
              <p:custDataLst>
                <p:tags r:id="rId83"/>
              </p:custDataLst>
            </p:nvPr>
          </p:nvCxnSpPr>
          <p:spPr bwMode="auto">
            <a:xfrm>
              <a:off x="5399995" y="3528385"/>
              <a:ext cx="431800" cy="0"/>
            </a:xfrm>
            <a:prstGeom prst="line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sm" len="sm"/>
            </a:ln>
          </p:spPr>
        </p:cxnSp>
        <p:cxnSp>
          <p:nvCxnSpPr>
            <p:cNvPr id="389" name="直接连接符 388">
              <a:extLst>
                <a:ext uri="{FF2B5EF4-FFF2-40B4-BE49-F238E27FC236}">
                  <a16:creationId xmlns:a16="http://schemas.microsoft.com/office/drawing/2014/main" id="{58D66DBA-B623-4462-BEE2-4C93E96FE554}"/>
                </a:ext>
              </a:extLst>
            </p:cNvPr>
            <p:cNvCxnSpPr/>
            <p:nvPr>
              <p:custDataLst>
                <p:tags r:id="rId84"/>
              </p:custDataLst>
            </p:nvPr>
          </p:nvCxnSpPr>
          <p:spPr bwMode="auto">
            <a:xfrm>
              <a:off x="2051640" y="3492000"/>
              <a:ext cx="539750" cy="0"/>
            </a:xfrm>
            <a:prstGeom prst="line">
              <a:avLst/>
            </a:prstGeom>
            <a:noFill/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sm" len="sm"/>
            </a:ln>
          </p:spPr>
        </p:cxnSp>
        <p:cxnSp>
          <p:nvCxnSpPr>
            <p:cNvPr id="390" name="直接连接符 389">
              <a:extLst>
                <a:ext uri="{FF2B5EF4-FFF2-40B4-BE49-F238E27FC236}">
                  <a16:creationId xmlns:a16="http://schemas.microsoft.com/office/drawing/2014/main" id="{66DB162A-5C13-4C6B-AAB9-F5C06D97ED4D}"/>
                </a:ext>
              </a:extLst>
            </p:cNvPr>
            <p:cNvCxnSpPr/>
            <p:nvPr>
              <p:custDataLst>
                <p:tags r:id="rId85"/>
              </p:custDataLst>
            </p:nvPr>
          </p:nvCxnSpPr>
          <p:spPr bwMode="auto">
            <a:xfrm flipV="1">
              <a:off x="2592025" y="3348000"/>
              <a:ext cx="71755" cy="144145"/>
            </a:xfrm>
            <a:prstGeom prst="line">
              <a:avLst/>
            </a:prstGeom>
            <a:noFill/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sm" len="sm"/>
            </a:ln>
          </p:spPr>
        </p:cxnSp>
        <p:cxnSp>
          <p:nvCxnSpPr>
            <p:cNvPr id="391" name="直接连接符 390">
              <a:extLst>
                <a:ext uri="{FF2B5EF4-FFF2-40B4-BE49-F238E27FC236}">
                  <a16:creationId xmlns:a16="http://schemas.microsoft.com/office/drawing/2014/main" id="{21429970-524E-44BC-943A-B45017CF2B5B}"/>
                </a:ext>
              </a:extLst>
            </p:cNvPr>
            <p:cNvCxnSpPr/>
            <p:nvPr>
              <p:custDataLst>
                <p:tags r:id="rId86"/>
              </p:custDataLst>
            </p:nvPr>
          </p:nvCxnSpPr>
          <p:spPr bwMode="auto">
            <a:xfrm>
              <a:off x="2663780" y="3348000"/>
              <a:ext cx="504190" cy="0"/>
            </a:xfrm>
            <a:prstGeom prst="line">
              <a:avLst/>
            </a:prstGeom>
            <a:noFill/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sm" len="sm"/>
            </a:ln>
          </p:spPr>
        </p:cxnSp>
        <p:cxnSp>
          <p:nvCxnSpPr>
            <p:cNvPr id="392" name="直接连接符 391">
              <a:extLst>
                <a:ext uri="{FF2B5EF4-FFF2-40B4-BE49-F238E27FC236}">
                  <a16:creationId xmlns:a16="http://schemas.microsoft.com/office/drawing/2014/main" id="{F1B4709F-FB53-42CB-B99F-B7CCFE8477A0}"/>
                </a:ext>
              </a:extLst>
            </p:cNvPr>
            <p:cNvCxnSpPr/>
            <p:nvPr>
              <p:custDataLst>
                <p:tags r:id="rId87"/>
              </p:custDataLst>
            </p:nvPr>
          </p:nvCxnSpPr>
          <p:spPr bwMode="auto">
            <a:xfrm flipH="1" flipV="1">
              <a:off x="5904185" y="3348000"/>
              <a:ext cx="71755" cy="144145"/>
            </a:xfrm>
            <a:prstGeom prst="line">
              <a:avLst/>
            </a:prstGeom>
            <a:noFill/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sm" len="sm"/>
            </a:ln>
          </p:spPr>
        </p:cxnSp>
        <p:cxnSp>
          <p:nvCxnSpPr>
            <p:cNvPr id="393" name="直接连接符 392">
              <a:extLst>
                <a:ext uri="{FF2B5EF4-FFF2-40B4-BE49-F238E27FC236}">
                  <a16:creationId xmlns:a16="http://schemas.microsoft.com/office/drawing/2014/main" id="{5BE3982E-1ADA-4CCB-BB85-AF3383D9B958}"/>
                </a:ext>
              </a:extLst>
            </p:cNvPr>
            <p:cNvCxnSpPr/>
            <p:nvPr>
              <p:custDataLst>
                <p:tags r:id="rId88"/>
              </p:custDataLst>
            </p:nvPr>
          </p:nvCxnSpPr>
          <p:spPr bwMode="auto">
            <a:xfrm>
              <a:off x="5975940" y="3492000"/>
              <a:ext cx="396240" cy="0"/>
            </a:xfrm>
            <a:prstGeom prst="line">
              <a:avLst/>
            </a:prstGeom>
            <a:noFill/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sm" len="sm"/>
            </a:ln>
          </p:spPr>
        </p:cxnSp>
        <p:cxnSp>
          <p:nvCxnSpPr>
            <p:cNvPr id="394" name="直接连接符 393">
              <a:extLst>
                <a:ext uri="{FF2B5EF4-FFF2-40B4-BE49-F238E27FC236}">
                  <a16:creationId xmlns:a16="http://schemas.microsoft.com/office/drawing/2014/main" id="{B066A279-F5B2-4E6C-9802-92A6D2C517CF}"/>
                </a:ext>
              </a:extLst>
            </p:cNvPr>
            <p:cNvCxnSpPr/>
            <p:nvPr>
              <p:custDataLst>
                <p:tags r:id="rId89"/>
              </p:custDataLst>
            </p:nvPr>
          </p:nvCxnSpPr>
          <p:spPr bwMode="auto">
            <a:xfrm flipH="1" flipV="1">
              <a:off x="3167970" y="3348000"/>
              <a:ext cx="71755" cy="144145"/>
            </a:xfrm>
            <a:prstGeom prst="line">
              <a:avLst/>
            </a:prstGeom>
            <a:noFill/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sm" len="sm"/>
            </a:ln>
          </p:spPr>
        </p:cxnSp>
        <p:cxnSp>
          <p:nvCxnSpPr>
            <p:cNvPr id="395" name="直接连接符 394">
              <a:extLst>
                <a:ext uri="{FF2B5EF4-FFF2-40B4-BE49-F238E27FC236}">
                  <a16:creationId xmlns:a16="http://schemas.microsoft.com/office/drawing/2014/main" id="{BD612281-01BA-4207-9ACD-D2F76B8653FE}"/>
                </a:ext>
              </a:extLst>
            </p:cNvPr>
            <p:cNvCxnSpPr/>
            <p:nvPr>
              <p:custDataLst>
                <p:tags r:id="rId90"/>
              </p:custDataLst>
            </p:nvPr>
          </p:nvCxnSpPr>
          <p:spPr bwMode="auto">
            <a:xfrm>
              <a:off x="3239725" y="3492000"/>
              <a:ext cx="791845" cy="0"/>
            </a:xfrm>
            <a:prstGeom prst="line">
              <a:avLst/>
            </a:prstGeom>
            <a:noFill/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sm" len="sm"/>
            </a:ln>
          </p:spPr>
        </p:cxnSp>
        <p:cxnSp>
          <p:nvCxnSpPr>
            <p:cNvPr id="396" name="直接连接符 395">
              <a:extLst>
                <a:ext uri="{FF2B5EF4-FFF2-40B4-BE49-F238E27FC236}">
                  <a16:creationId xmlns:a16="http://schemas.microsoft.com/office/drawing/2014/main" id="{08EF8D8B-BCCE-460E-9CA2-CC7D34336A32}"/>
                </a:ext>
              </a:extLst>
            </p:cNvPr>
            <p:cNvCxnSpPr/>
            <p:nvPr>
              <p:custDataLst>
                <p:tags r:id="rId91"/>
              </p:custDataLst>
            </p:nvPr>
          </p:nvCxnSpPr>
          <p:spPr bwMode="auto">
            <a:xfrm flipV="1">
              <a:off x="4032205" y="3348000"/>
              <a:ext cx="71755" cy="144145"/>
            </a:xfrm>
            <a:prstGeom prst="line">
              <a:avLst/>
            </a:prstGeom>
            <a:noFill/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sm" len="sm"/>
            </a:ln>
          </p:spPr>
        </p:cxnSp>
        <p:cxnSp>
          <p:nvCxnSpPr>
            <p:cNvPr id="397" name="直接连接符 396">
              <a:extLst>
                <a:ext uri="{FF2B5EF4-FFF2-40B4-BE49-F238E27FC236}">
                  <a16:creationId xmlns:a16="http://schemas.microsoft.com/office/drawing/2014/main" id="{3F41296F-126B-4425-8443-D92F508CB101}"/>
                </a:ext>
              </a:extLst>
            </p:cNvPr>
            <p:cNvCxnSpPr/>
            <p:nvPr>
              <p:custDataLst>
                <p:tags r:id="rId92"/>
              </p:custDataLst>
            </p:nvPr>
          </p:nvCxnSpPr>
          <p:spPr bwMode="auto">
            <a:xfrm>
              <a:off x="4103960" y="3348000"/>
              <a:ext cx="431800" cy="0"/>
            </a:xfrm>
            <a:prstGeom prst="line">
              <a:avLst/>
            </a:prstGeom>
            <a:noFill/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sm" len="sm"/>
            </a:ln>
          </p:spPr>
        </p:cxnSp>
        <p:cxnSp>
          <p:nvCxnSpPr>
            <p:cNvPr id="398" name="直接连接符 397">
              <a:extLst>
                <a:ext uri="{FF2B5EF4-FFF2-40B4-BE49-F238E27FC236}">
                  <a16:creationId xmlns:a16="http://schemas.microsoft.com/office/drawing/2014/main" id="{CA8C40B1-E2CB-4A57-BFF9-A887C684809B}"/>
                </a:ext>
              </a:extLst>
            </p:cNvPr>
            <p:cNvCxnSpPr/>
            <p:nvPr>
              <p:custDataLst>
                <p:tags r:id="rId93"/>
              </p:custDataLst>
            </p:nvPr>
          </p:nvCxnSpPr>
          <p:spPr bwMode="auto">
            <a:xfrm flipH="1" flipV="1">
              <a:off x="4535760" y="3348000"/>
              <a:ext cx="71755" cy="144145"/>
            </a:xfrm>
            <a:prstGeom prst="line">
              <a:avLst/>
            </a:prstGeom>
            <a:noFill/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sm" len="sm"/>
            </a:ln>
          </p:spPr>
        </p:cxnSp>
        <p:cxnSp>
          <p:nvCxnSpPr>
            <p:cNvPr id="399" name="直接连接符 398">
              <a:extLst>
                <a:ext uri="{FF2B5EF4-FFF2-40B4-BE49-F238E27FC236}">
                  <a16:creationId xmlns:a16="http://schemas.microsoft.com/office/drawing/2014/main" id="{C8D51BA3-018B-4D57-8A7C-46F3C6364DEF}"/>
                </a:ext>
              </a:extLst>
            </p:cNvPr>
            <p:cNvCxnSpPr/>
            <p:nvPr>
              <p:custDataLst>
                <p:tags r:id="rId94"/>
              </p:custDataLst>
            </p:nvPr>
          </p:nvCxnSpPr>
          <p:spPr bwMode="auto">
            <a:xfrm>
              <a:off x="4608150" y="3492000"/>
              <a:ext cx="791845" cy="0"/>
            </a:xfrm>
            <a:prstGeom prst="line">
              <a:avLst/>
            </a:prstGeom>
            <a:noFill/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sm" len="sm"/>
            </a:ln>
          </p:spPr>
        </p:cxnSp>
        <p:cxnSp>
          <p:nvCxnSpPr>
            <p:cNvPr id="400" name="直接连接符 399">
              <a:extLst>
                <a:ext uri="{FF2B5EF4-FFF2-40B4-BE49-F238E27FC236}">
                  <a16:creationId xmlns:a16="http://schemas.microsoft.com/office/drawing/2014/main" id="{EF68C610-909D-4622-A7F3-9CA43960E0B3}"/>
                </a:ext>
              </a:extLst>
            </p:cNvPr>
            <p:cNvCxnSpPr/>
            <p:nvPr>
              <p:custDataLst>
                <p:tags r:id="rId95"/>
              </p:custDataLst>
            </p:nvPr>
          </p:nvCxnSpPr>
          <p:spPr bwMode="auto">
            <a:xfrm flipV="1">
              <a:off x="5399995" y="3348000"/>
              <a:ext cx="71755" cy="144145"/>
            </a:xfrm>
            <a:prstGeom prst="line">
              <a:avLst/>
            </a:prstGeom>
            <a:noFill/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sm" len="sm"/>
            </a:ln>
          </p:spPr>
        </p:cxnSp>
        <p:cxnSp>
          <p:nvCxnSpPr>
            <p:cNvPr id="401" name="直接连接符 400">
              <a:extLst>
                <a:ext uri="{FF2B5EF4-FFF2-40B4-BE49-F238E27FC236}">
                  <a16:creationId xmlns:a16="http://schemas.microsoft.com/office/drawing/2014/main" id="{4A9285B8-9396-40BD-ABB2-7E7A97F68C8D}"/>
                </a:ext>
              </a:extLst>
            </p:cNvPr>
            <p:cNvCxnSpPr/>
            <p:nvPr>
              <p:custDataLst>
                <p:tags r:id="rId96"/>
              </p:custDataLst>
            </p:nvPr>
          </p:nvCxnSpPr>
          <p:spPr bwMode="auto">
            <a:xfrm>
              <a:off x="5471750" y="3348000"/>
              <a:ext cx="431800" cy="0"/>
            </a:xfrm>
            <a:prstGeom prst="line">
              <a:avLst/>
            </a:prstGeom>
            <a:noFill/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sm" len="sm"/>
            </a:ln>
          </p:spPr>
        </p:cxnSp>
        <p:sp>
          <p:nvSpPr>
            <p:cNvPr id="402" name="AutoShape 187">
              <a:extLst>
                <a:ext uri="{FF2B5EF4-FFF2-40B4-BE49-F238E27FC236}">
                  <a16:creationId xmlns:a16="http://schemas.microsoft.com/office/drawing/2014/main" id="{4B65E438-AFD7-4851-AE12-9CA2B8608E54}"/>
                </a:ext>
              </a:extLst>
            </p:cNvPr>
            <p:cNvSpPr>
              <a:spLocks noChangeArrowheads="1"/>
            </p:cNvSpPr>
            <p:nvPr>
              <p:custDataLst>
                <p:tags r:id="rId97"/>
              </p:custDataLst>
            </p:nvPr>
          </p:nvSpPr>
          <p:spPr bwMode="auto">
            <a:xfrm>
              <a:off x="2160225" y="3096635"/>
              <a:ext cx="504190" cy="215900"/>
            </a:xfrm>
            <a:prstGeom prst="hexagon">
              <a:avLst>
                <a:gd name="adj" fmla="val 42541"/>
                <a:gd name="vf" fmla="val 115470"/>
              </a:avLst>
            </a:prstGeom>
            <a:solidFill>
              <a:srgbClr val="FFCCFF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lIns="0" tIns="17780" rIns="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/>
                <a:t>访存</a:t>
              </a:r>
            </a:p>
          </p:txBody>
        </p:sp>
        <p:cxnSp>
          <p:nvCxnSpPr>
            <p:cNvPr id="403" name="直接连接符 402">
              <a:extLst>
                <a:ext uri="{FF2B5EF4-FFF2-40B4-BE49-F238E27FC236}">
                  <a16:creationId xmlns:a16="http://schemas.microsoft.com/office/drawing/2014/main" id="{09F166C3-D339-492D-80BC-21D1047B4F42}"/>
                </a:ext>
              </a:extLst>
            </p:cNvPr>
            <p:cNvCxnSpPr/>
            <p:nvPr>
              <p:custDataLst>
                <p:tags r:id="rId98"/>
              </p:custDataLst>
            </p:nvPr>
          </p:nvCxnSpPr>
          <p:spPr bwMode="auto">
            <a:xfrm>
              <a:off x="2051640" y="3204585"/>
              <a:ext cx="10795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sm" len="sm"/>
            </a:ln>
          </p:spPr>
        </p:cxnSp>
        <p:cxnSp>
          <p:nvCxnSpPr>
            <p:cNvPr id="404" name="直接连接符 403">
              <a:extLst>
                <a:ext uri="{FF2B5EF4-FFF2-40B4-BE49-F238E27FC236}">
                  <a16:creationId xmlns:a16="http://schemas.microsoft.com/office/drawing/2014/main" id="{1976900D-A148-4115-A64B-A3EBD0E9354B}"/>
                </a:ext>
              </a:extLst>
            </p:cNvPr>
            <p:cNvCxnSpPr/>
            <p:nvPr>
              <p:custDataLst>
                <p:tags r:id="rId99"/>
              </p:custDataLst>
            </p:nvPr>
          </p:nvCxnSpPr>
          <p:spPr bwMode="auto">
            <a:xfrm>
              <a:off x="2663780" y="3204585"/>
              <a:ext cx="575945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sm" len="sm"/>
            </a:ln>
          </p:spPr>
        </p:cxnSp>
        <p:sp>
          <p:nvSpPr>
            <p:cNvPr id="405" name="Rectangle 291">
              <a:extLst>
                <a:ext uri="{FF2B5EF4-FFF2-40B4-BE49-F238E27FC236}">
                  <a16:creationId xmlns:a16="http://schemas.microsoft.com/office/drawing/2014/main" id="{870D6C45-3FA0-41FC-B180-30FE0E0C3F0C}"/>
                </a:ext>
              </a:extLst>
            </p:cNvPr>
            <p:cNvSpPr>
              <a:spLocks noChangeArrowheads="1"/>
            </p:cNvSpPr>
            <p:nvPr>
              <p:custDataLst>
                <p:tags r:id="rId100"/>
              </p:custDataLst>
            </p:nvPr>
          </p:nvSpPr>
          <p:spPr bwMode="auto">
            <a:xfrm>
              <a:off x="5975940" y="3096635"/>
              <a:ext cx="396240" cy="2159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9525">
              <a:noFill/>
              <a:miter lim="800000"/>
            </a:ln>
            <a:effectLst/>
          </p:spPr>
          <p:txBody>
            <a:bodyPr wrap="none" lIns="0" tIns="17780" rIns="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/>
                <a:t>访存</a:t>
              </a:r>
            </a:p>
          </p:txBody>
        </p:sp>
        <p:sp>
          <p:nvSpPr>
            <p:cNvPr id="406" name="AutoShape 292">
              <a:extLst>
                <a:ext uri="{FF2B5EF4-FFF2-40B4-BE49-F238E27FC236}">
                  <a16:creationId xmlns:a16="http://schemas.microsoft.com/office/drawing/2014/main" id="{2FBAFBBF-E3EB-4056-81FE-16C096728EE6}"/>
                </a:ext>
              </a:extLst>
            </p:cNvPr>
            <p:cNvSpPr>
              <a:spLocks noChangeArrowheads="1"/>
            </p:cNvSpPr>
            <p:nvPr>
              <p:custDataLst>
                <p:tags r:id="rId101"/>
              </p:custDataLst>
            </p:nvPr>
          </p:nvSpPr>
          <p:spPr bwMode="auto">
            <a:xfrm rot="16200000">
              <a:off x="5831795" y="3168390"/>
              <a:ext cx="215900" cy="71755"/>
            </a:xfrm>
            <a:prstGeom prst="triangle">
              <a:avLst>
                <a:gd name="adj" fmla="val 50000"/>
              </a:avLst>
            </a:prstGeom>
            <a:solidFill>
              <a:srgbClr val="FFCCFF">
                <a:alpha val="80000"/>
              </a:srgbClr>
            </a:soli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cxnSp>
          <p:nvCxnSpPr>
            <p:cNvPr id="407" name="直接连接符 406">
              <a:extLst>
                <a:ext uri="{FF2B5EF4-FFF2-40B4-BE49-F238E27FC236}">
                  <a16:creationId xmlns:a16="http://schemas.microsoft.com/office/drawing/2014/main" id="{0CD104AD-4614-4B21-A739-C0B187D3FDD6}"/>
                </a:ext>
              </a:extLst>
            </p:cNvPr>
            <p:cNvCxnSpPr/>
            <p:nvPr>
              <p:custDataLst>
                <p:tags r:id="rId102"/>
              </p:custDataLst>
            </p:nvPr>
          </p:nvCxnSpPr>
          <p:spPr bwMode="auto">
            <a:xfrm>
              <a:off x="5977210" y="3096635"/>
              <a:ext cx="39624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sm" len="sm"/>
            </a:ln>
          </p:spPr>
        </p:cxnSp>
        <p:cxnSp>
          <p:nvCxnSpPr>
            <p:cNvPr id="408" name="直接连接符 407">
              <a:extLst>
                <a:ext uri="{FF2B5EF4-FFF2-40B4-BE49-F238E27FC236}">
                  <a16:creationId xmlns:a16="http://schemas.microsoft.com/office/drawing/2014/main" id="{66F2E60A-DC8F-4652-A560-7467F331FCA0}"/>
                </a:ext>
              </a:extLst>
            </p:cNvPr>
            <p:cNvCxnSpPr/>
            <p:nvPr>
              <p:custDataLst>
                <p:tags r:id="rId103"/>
              </p:custDataLst>
            </p:nvPr>
          </p:nvCxnSpPr>
          <p:spPr bwMode="auto">
            <a:xfrm>
              <a:off x="5975940" y="3312535"/>
              <a:ext cx="39624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sm" len="sm"/>
            </a:ln>
          </p:spPr>
        </p:cxnSp>
        <p:cxnSp>
          <p:nvCxnSpPr>
            <p:cNvPr id="409" name="直接连接符 408">
              <a:extLst>
                <a:ext uri="{FF2B5EF4-FFF2-40B4-BE49-F238E27FC236}">
                  <a16:creationId xmlns:a16="http://schemas.microsoft.com/office/drawing/2014/main" id="{792B0A84-F93F-4E59-89EA-EA6AA0046D3A}"/>
                </a:ext>
              </a:extLst>
            </p:cNvPr>
            <p:cNvCxnSpPr/>
            <p:nvPr>
              <p:custDataLst>
                <p:tags r:id="rId104"/>
              </p:custDataLst>
            </p:nvPr>
          </p:nvCxnSpPr>
          <p:spPr bwMode="auto">
            <a:xfrm flipH="1" flipV="1">
              <a:off x="5904185" y="3204585"/>
              <a:ext cx="71755" cy="10795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sm" len="sm"/>
            </a:ln>
          </p:spPr>
        </p:cxnSp>
        <p:cxnSp>
          <p:nvCxnSpPr>
            <p:cNvPr id="410" name="直接连接符 409">
              <a:extLst>
                <a:ext uri="{FF2B5EF4-FFF2-40B4-BE49-F238E27FC236}">
                  <a16:creationId xmlns:a16="http://schemas.microsoft.com/office/drawing/2014/main" id="{A0CB3CDC-8850-40E8-8BA7-14108803D51C}"/>
                </a:ext>
              </a:extLst>
            </p:cNvPr>
            <p:cNvCxnSpPr/>
            <p:nvPr>
              <p:custDataLst>
                <p:tags r:id="rId105"/>
              </p:custDataLst>
            </p:nvPr>
          </p:nvCxnSpPr>
          <p:spPr bwMode="auto">
            <a:xfrm flipV="1">
              <a:off x="5905455" y="3096635"/>
              <a:ext cx="71755" cy="10795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sm" len="sm"/>
            </a:ln>
          </p:spPr>
        </p:cxnSp>
        <p:sp>
          <p:nvSpPr>
            <p:cNvPr id="411" name="AutoShape 187">
              <a:extLst>
                <a:ext uri="{FF2B5EF4-FFF2-40B4-BE49-F238E27FC236}">
                  <a16:creationId xmlns:a16="http://schemas.microsoft.com/office/drawing/2014/main" id="{3459286C-B655-403C-AADD-D1E63FD35F9E}"/>
                </a:ext>
              </a:extLst>
            </p:cNvPr>
            <p:cNvSpPr>
              <a:spLocks noChangeArrowheads="1"/>
            </p:cNvSpPr>
            <p:nvPr>
              <p:custDataLst>
                <p:tags r:id="rId106"/>
              </p:custDataLst>
            </p:nvPr>
          </p:nvSpPr>
          <p:spPr bwMode="auto">
            <a:xfrm>
              <a:off x="3239725" y="3096000"/>
              <a:ext cx="504190" cy="215900"/>
            </a:xfrm>
            <a:prstGeom prst="hexagon">
              <a:avLst>
                <a:gd name="adj" fmla="val 42541"/>
                <a:gd name="vf" fmla="val 115470"/>
              </a:avLst>
            </a:prstGeom>
            <a:solidFill>
              <a:srgbClr val="FFCCFF">
                <a:alpha val="80000"/>
              </a:srgbClr>
            </a:solidFill>
            <a:ln w="12700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wrap="none" lIns="0" tIns="17780" rIns="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/>
                <a:t>访存</a:t>
              </a:r>
            </a:p>
          </p:txBody>
        </p:sp>
        <p:cxnSp>
          <p:nvCxnSpPr>
            <p:cNvPr id="412" name="直接连接符 411">
              <a:extLst>
                <a:ext uri="{FF2B5EF4-FFF2-40B4-BE49-F238E27FC236}">
                  <a16:creationId xmlns:a16="http://schemas.microsoft.com/office/drawing/2014/main" id="{5DC85E85-C254-4942-96A7-40F641C7C352}"/>
                </a:ext>
              </a:extLst>
            </p:cNvPr>
            <p:cNvCxnSpPr/>
            <p:nvPr>
              <p:custDataLst>
                <p:tags r:id="rId107"/>
              </p:custDataLst>
            </p:nvPr>
          </p:nvCxnSpPr>
          <p:spPr bwMode="auto">
            <a:xfrm>
              <a:off x="3743915" y="3204585"/>
              <a:ext cx="791845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sm" len="sm"/>
            </a:ln>
          </p:spPr>
        </p:cxnSp>
        <p:sp>
          <p:nvSpPr>
            <p:cNvPr id="413" name="AutoShape 187">
              <a:extLst>
                <a:ext uri="{FF2B5EF4-FFF2-40B4-BE49-F238E27FC236}">
                  <a16:creationId xmlns:a16="http://schemas.microsoft.com/office/drawing/2014/main" id="{63F1EDA8-3309-4D7C-A09A-53AE3B437CE7}"/>
                </a:ext>
              </a:extLst>
            </p:cNvPr>
            <p:cNvSpPr>
              <a:spLocks noChangeArrowheads="1"/>
            </p:cNvSpPr>
            <p:nvPr>
              <p:custDataLst>
                <p:tags r:id="rId108"/>
              </p:custDataLst>
            </p:nvPr>
          </p:nvSpPr>
          <p:spPr bwMode="auto">
            <a:xfrm>
              <a:off x="4535760" y="3096000"/>
              <a:ext cx="504190" cy="215900"/>
            </a:xfrm>
            <a:prstGeom prst="hexagon">
              <a:avLst>
                <a:gd name="adj" fmla="val 42541"/>
                <a:gd name="vf" fmla="val 115470"/>
              </a:avLst>
            </a:prstGeom>
            <a:solidFill>
              <a:srgbClr val="FFCCFF">
                <a:alpha val="80000"/>
              </a:srgbClr>
            </a:solidFill>
            <a:ln w="12700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wrap="none" lIns="0" tIns="17780" rIns="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/>
                <a:t>访存</a:t>
              </a:r>
            </a:p>
          </p:txBody>
        </p:sp>
        <p:cxnSp>
          <p:nvCxnSpPr>
            <p:cNvPr id="414" name="直接连接符 413">
              <a:extLst>
                <a:ext uri="{FF2B5EF4-FFF2-40B4-BE49-F238E27FC236}">
                  <a16:creationId xmlns:a16="http://schemas.microsoft.com/office/drawing/2014/main" id="{B526F5F7-93C2-4280-B6D1-502915AE999D}"/>
                </a:ext>
              </a:extLst>
            </p:cNvPr>
            <p:cNvCxnSpPr/>
            <p:nvPr>
              <p:custDataLst>
                <p:tags r:id="rId109"/>
              </p:custDataLst>
            </p:nvPr>
          </p:nvCxnSpPr>
          <p:spPr bwMode="auto">
            <a:xfrm>
              <a:off x="5039950" y="3204585"/>
              <a:ext cx="864235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sm" len="sm"/>
            </a:ln>
          </p:spPr>
        </p:cxnSp>
        <p:sp>
          <p:nvSpPr>
            <p:cNvPr id="415" name="Text Box 208">
              <a:extLst>
                <a:ext uri="{FF2B5EF4-FFF2-40B4-BE49-F238E27FC236}">
                  <a16:creationId xmlns:a16="http://schemas.microsoft.com/office/drawing/2014/main" id="{26EA02BD-97B3-4BD5-B9B1-A29857D8F0A6}"/>
                </a:ext>
              </a:extLst>
            </p:cNvPr>
            <p:cNvSpPr txBox="1">
              <a:spLocks noChangeArrowheads="1"/>
            </p:cNvSpPr>
            <p:nvPr>
              <p:custDataLst>
                <p:tags r:id="rId110"/>
              </p:custDataLst>
            </p:nvPr>
          </p:nvSpPr>
          <p:spPr bwMode="auto">
            <a:xfrm>
              <a:off x="972140" y="4068000"/>
              <a:ext cx="1080135" cy="21590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zh-CN" altLang="en-US" sz="1600" b="1" dirty="0">
                  <a:latin typeface="宋体" panose="02010600030101010101" pitchFamily="2" charset="-122"/>
                </a:rPr>
                <a:t>总线使用权</a:t>
              </a:r>
            </a:p>
          </p:txBody>
        </p:sp>
        <p:sp>
          <p:nvSpPr>
            <p:cNvPr id="416" name="AutoShape 269">
              <a:extLst>
                <a:ext uri="{FF2B5EF4-FFF2-40B4-BE49-F238E27FC236}">
                  <a16:creationId xmlns:a16="http://schemas.microsoft.com/office/drawing/2014/main" id="{1F25CE3A-20D7-4CC6-935C-21C01C6C9B54}"/>
                </a:ext>
              </a:extLst>
            </p:cNvPr>
            <p:cNvSpPr>
              <a:spLocks noChangeArrowheads="1"/>
            </p:cNvSpPr>
            <p:nvPr>
              <p:custDataLst>
                <p:tags r:id="rId111"/>
              </p:custDataLst>
            </p:nvPr>
          </p:nvSpPr>
          <p:spPr bwMode="auto">
            <a:xfrm>
              <a:off x="2160225" y="4068000"/>
              <a:ext cx="504190" cy="215900"/>
            </a:xfrm>
            <a:prstGeom prst="hexagon">
              <a:avLst>
                <a:gd name="adj" fmla="val 42541"/>
                <a:gd name="vf" fmla="val 115470"/>
              </a:avLst>
            </a:prstGeom>
            <a:solidFill>
              <a:srgbClr val="FFCCFF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lIns="0" tIns="17780" rIns="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+mn-ea"/>
                  <a:ea typeface="+mn-ea"/>
                </a:rPr>
                <a:t>CPU</a:t>
              </a:r>
            </a:p>
          </p:txBody>
        </p:sp>
        <p:sp>
          <p:nvSpPr>
            <p:cNvPr id="417" name="AutoShape 298">
              <a:extLst>
                <a:ext uri="{FF2B5EF4-FFF2-40B4-BE49-F238E27FC236}">
                  <a16:creationId xmlns:a16="http://schemas.microsoft.com/office/drawing/2014/main" id="{79726F6F-F1EF-4E82-AF78-47A00C800C8B}"/>
                </a:ext>
              </a:extLst>
            </p:cNvPr>
            <p:cNvSpPr>
              <a:spLocks noChangeArrowheads="1"/>
            </p:cNvSpPr>
            <p:nvPr>
              <p:custDataLst>
                <p:tags r:id="rId112"/>
              </p:custDataLst>
            </p:nvPr>
          </p:nvSpPr>
          <p:spPr bwMode="auto">
            <a:xfrm>
              <a:off x="2663780" y="4068000"/>
              <a:ext cx="504190" cy="215900"/>
            </a:xfrm>
            <a:prstGeom prst="hexagon">
              <a:avLst>
                <a:gd name="adj" fmla="val 43079"/>
                <a:gd name="vf" fmla="val 115470"/>
              </a:avLst>
            </a:prstGeom>
            <a:solidFill>
              <a:srgbClr val="99CCFF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lIns="0" tIns="17780" rIns="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+mn-ea"/>
                  <a:ea typeface="+mn-ea"/>
                </a:rPr>
                <a:t>DMA</a:t>
              </a:r>
              <a:endParaRPr lang="zh-CN" altLang="en-US" sz="1600" b="1" dirty="0">
                <a:latin typeface="+mn-ea"/>
                <a:ea typeface="+mn-ea"/>
              </a:endParaRPr>
            </a:p>
          </p:txBody>
        </p:sp>
        <p:cxnSp>
          <p:nvCxnSpPr>
            <p:cNvPr id="418" name="直接连接符 417">
              <a:extLst>
                <a:ext uri="{FF2B5EF4-FFF2-40B4-BE49-F238E27FC236}">
                  <a16:creationId xmlns:a16="http://schemas.microsoft.com/office/drawing/2014/main" id="{38412FEB-F597-4CFA-9F91-41834153ADE3}"/>
                </a:ext>
              </a:extLst>
            </p:cNvPr>
            <p:cNvCxnSpPr/>
            <p:nvPr>
              <p:custDataLst>
                <p:tags r:id="rId113"/>
              </p:custDataLst>
            </p:nvPr>
          </p:nvCxnSpPr>
          <p:spPr bwMode="auto">
            <a:xfrm>
              <a:off x="2051005" y="4175950"/>
              <a:ext cx="10795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sm" len="sm"/>
            </a:ln>
          </p:spPr>
        </p:cxnSp>
        <p:sp>
          <p:nvSpPr>
            <p:cNvPr id="419" name="Rectangle 291">
              <a:extLst>
                <a:ext uri="{FF2B5EF4-FFF2-40B4-BE49-F238E27FC236}">
                  <a16:creationId xmlns:a16="http://schemas.microsoft.com/office/drawing/2014/main" id="{865AE218-1385-4AC7-954C-298CEAE67C99}"/>
                </a:ext>
              </a:extLst>
            </p:cNvPr>
            <p:cNvSpPr>
              <a:spLocks noChangeArrowheads="1"/>
            </p:cNvSpPr>
            <p:nvPr>
              <p:custDataLst>
                <p:tags r:id="rId114"/>
              </p:custDataLst>
            </p:nvPr>
          </p:nvSpPr>
          <p:spPr bwMode="auto">
            <a:xfrm>
              <a:off x="5975940" y="4068635"/>
              <a:ext cx="396240" cy="2159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9525">
              <a:noFill/>
              <a:miter lim="800000"/>
            </a:ln>
            <a:effectLst/>
          </p:spPr>
          <p:txBody>
            <a:bodyPr wrap="none" lIns="0" tIns="17780" rIns="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CPU</a:t>
              </a:r>
            </a:p>
          </p:txBody>
        </p:sp>
        <p:sp>
          <p:nvSpPr>
            <p:cNvPr id="420" name="AutoShape 292">
              <a:extLst>
                <a:ext uri="{FF2B5EF4-FFF2-40B4-BE49-F238E27FC236}">
                  <a16:creationId xmlns:a16="http://schemas.microsoft.com/office/drawing/2014/main" id="{CC2AC178-ECFE-4844-AF71-9F0E91978DE2}"/>
                </a:ext>
              </a:extLst>
            </p:cNvPr>
            <p:cNvSpPr>
              <a:spLocks noChangeArrowheads="1"/>
            </p:cNvSpPr>
            <p:nvPr>
              <p:custDataLst>
                <p:tags r:id="rId115"/>
              </p:custDataLst>
            </p:nvPr>
          </p:nvSpPr>
          <p:spPr bwMode="auto">
            <a:xfrm rot="16200000">
              <a:off x="5831795" y="4140390"/>
              <a:ext cx="215900" cy="71755"/>
            </a:xfrm>
            <a:prstGeom prst="triangle">
              <a:avLst>
                <a:gd name="adj" fmla="val 50000"/>
              </a:avLst>
            </a:prstGeom>
            <a:solidFill>
              <a:srgbClr val="FFCCFF">
                <a:alpha val="80000"/>
              </a:srgbClr>
            </a:soli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cxnSp>
          <p:nvCxnSpPr>
            <p:cNvPr id="421" name="直接连接符 420">
              <a:extLst>
                <a:ext uri="{FF2B5EF4-FFF2-40B4-BE49-F238E27FC236}">
                  <a16:creationId xmlns:a16="http://schemas.microsoft.com/office/drawing/2014/main" id="{20DE05D6-FB9C-4D19-8CB1-F3DD07A49F19}"/>
                </a:ext>
              </a:extLst>
            </p:cNvPr>
            <p:cNvCxnSpPr/>
            <p:nvPr>
              <p:custDataLst>
                <p:tags r:id="rId116"/>
              </p:custDataLst>
            </p:nvPr>
          </p:nvCxnSpPr>
          <p:spPr bwMode="auto">
            <a:xfrm>
              <a:off x="5977210" y="4068635"/>
              <a:ext cx="39624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sm" len="sm"/>
            </a:ln>
          </p:spPr>
        </p:cxnSp>
        <p:cxnSp>
          <p:nvCxnSpPr>
            <p:cNvPr id="422" name="直接连接符 421">
              <a:extLst>
                <a:ext uri="{FF2B5EF4-FFF2-40B4-BE49-F238E27FC236}">
                  <a16:creationId xmlns:a16="http://schemas.microsoft.com/office/drawing/2014/main" id="{0093BD9D-47CD-45EB-B482-13546113E9B2}"/>
                </a:ext>
              </a:extLst>
            </p:cNvPr>
            <p:cNvCxnSpPr/>
            <p:nvPr>
              <p:custDataLst>
                <p:tags r:id="rId117"/>
              </p:custDataLst>
            </p:nvPr>
          </p:nvCxnSpPr>
          <p:spPr bwMode="auto">
            <a:xfrm>
              <a:off x="5975940" y="4284535"/>
              <a:ext cx="39624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sm" len="sm"/>
            </a:ln>
          </p:spPr>
        </p:cxnSp>
        <p:cxnSp>
          <p:nvCxnSpPr>
            <p:cNvPr id="423" name="直接连接符 422">
              <a:extLst>
                <a:ext uri="{FF2B5EF4-FFF2-40B4-BE49-F238E27FC236}">
                  <a16:creationId xmlns:a16="http://schemas.microsoft.com/office/drawing/2014/main" id="{434940ED-057A-4DB7-9FCD-2E852F8FC797}"/>
                </a:ext>
              </a:extLst>
            </p:cNvPr>
            <p:cNvCxnSpPr/>
            <p:nvPr>
              <p:custDataLst>
                <p:tags r:id="rId118"/>
              </p:custDataLst>
            </p:nvPr>
          </p:nvCxnSpPr>
          <p:spPr bwMode="auto">
            <a:xfrm flipH="1" flipV="1">
              <a:off x="5904185" y="4176585"/>
              <a:ext cx="71755" cy="10795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sm" len="sm"/>
            </a:ln>
          </p:spPr>
        </p:cxnSp>
        <p:cxnSp>
          <p:nvCxnSpPr>
            <p:cNvPr id="424" name="直接连接符 423">
              <a:extLst>
                <a:ext uri="{FF2B5EF4-FFF2-40B4-BE49-F238E27FC236}">
                  <a16:creationId xmlns:a16="http://schemas.microsoft.com/office/drawing/2014/main" id="{FE9F7CED-A479-4C49-B4F7-F7E0ADEE78AC}"/>
                </a:ext>
              </a:extLst>
            </p:cNvPr>
            <p:cNvCxnSpPr/>
            <p:nvPr>
              <p:custDataLst>
                <p:tags r:id="rId119"/>
              </p:custDataLst>
            </p:nvPr>
          </p:nvCxnSpPr>
          <p:spPr bwMode="auto">
            <a:xfrm flipV="1">
              <a:off x="5905455" y="4068635"/>
              <a:ext cx="71755" cy="10795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sm" len="sm"/>
            </a:ln>
          </p:spPr>
        </p:cxnSp>
        <p:sp>
          <p:nvSpPr>
            <p:cNvPr id="425" name="AutoShape 187">
              <a:extLst>
                <a:ext uri="{FF2B5EF4-FFF2-40B4-BE49-F238E27FC236}">
                  <a16:creationId xmlns:a16="http://schemas.microsoft.com/office/drawing/2014/main" id="{8AAE1DAF-C23D-4F8C-8E79-49C666C8357B}"/>
                </a:ext>
              </a:extLst>
            </p:cNvPr>
            <p:cNvSpPr>
              <a:spLocks noChangeArrowheads="1"/>
            </p:cNvSpPr>
            <p:nvPr>
              <p:custDataLst>
                <p:tags r:id="rId120"/>
              </p:custDataLst>
            </p:nvPr>
          </p:nvSpPr>
          <p:spPr bwMode="auto">
            <a:xfrm>
              <a:off x="3167970" y="4068000"/>
              <a:ext cx="864235" cy="215900"/>
            </a:xfrm>
            <a:prstGeom prst="hexagon">
              <a:avLst>
                <a:gd name="adj" fmla="val 42541"/>
                <a:gd name="vf" fmla="val 115470"/>
              </a:avLst>
            </a:prstGeom>
            <a:solidFill>
              <a:srgbClr val="FFCCFF">
                <a:alpha val="80000"/>
              </a:srgbClr>
            </a:solidFill>
            <a:ln w="12700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wrap="none" lIns="18000" tIns="17780" rIns="1800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CPU</a:t>
              </a:r>
            </a:p>
          </p:txBody>
        </p:sp>
        <p:sp>
          <p:nvSpPr>
            <p:cNvPr id="426" name="AutoShape 298">
              <a:extLst>
                <a:ext uri="{FF2B5EF4-FFF2-40B4-BE49-F238E27FC236}">
                  <a16:creationId xmlns:a16="http://schemas.microsoft.com/office/drawing/2014/main" id="{0B2C4DDE-E80F-4C63-AB85-2040F8E9C588}"/>
                </a:ext>
              </a:extLst>
            </p:cNvPr>
            <p:cNvSpPr>
              <a:spLocks noChangeArrowheads="1"/>
            </p:cNvSpPr>
            <p:nvPr>
              <p:custDataLst>
                <p:tags r:id="rId121"/>
              </p:custDataLst>
            </p:nvPr>
          </p:nvSpPr>
          <p:spPr bwMode="auto">
            <a:xfrm>
              <a:off x="4032205" y="4068000"/>
              <a:ext cx="504190" cy="215900"/>
            </a:xfrm>
            <a:prstGeom prst="hexagon">
              <a:avLst>
                <a:gd name="adj" fmla="val 43079"/>
                <a:gd name="vf" fmla="val 115470"/>
              </a:avLst>
            </a:prstGeom>
            <a:solidFill>
              <a:srgbClr val="99CCFF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lIns="0" tIns="17780" rIns="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+mn-ea"/>
                  <a:ea typeface="+mn-ea"/>
                </a:rPr>
                <a:t>DMA</a:t>
              </a:r>
              <a:endParaRPr lang="zh-CN" altLang="en-US" sz="1600" b="1" dirty="0">
                <a:latin typeface="+mn-ea"/>
                <a:ea typeface="+mn-ea"/>
              </a:endParaRPr>
            </a:p>
          </p:txBody>
        </p:sp>
        <p:sp>
          <p:nvSpPr>
            <p:cNvPr id="427" name="AutoShape 187">
              <a:extLst>
                <a:ext uri="{FF2B5EF4-FFF2-40B4-BE49-F238E27FC236}">
                  <a16:creationId xmlns:a16="http://schemas.microsoft.com/office/drawing/2014/main" id="{1F297F82-B18F-48D8-A87E-1A5615DD2E40}"/>
                </a:ext>
              </a:extLst>
            </p:cNvPr>
            <p:cNvSpPr>
              <a:spLocks noChangeArrowheads="1"/>
            </p:cNvSpPr>
            <p:nvPr>
              <p:custDataLst>
                <p:tags r:id="rId122"/>
              </p:custDataLst>
            </p:nvPr>
          </p:nvSpPr>
          <p:spPr bwMode="auto">
            <a:xfrm>
              <a:off x="4535760" y="4068000"/>
              <a:ext cx="864235" cy="215900"/>
            </a:xfrm>
            <a:prstGeom prst="hexagon">
              <a:avLst>
                <a:gd name="adj" fmla="val 42541"/>
                <a:gd name="vf" fmla="val 115470"/>
              </a:avLst>
            </a:prstGeom>
            <a:solidFill>
              <a:srgbClr val="FFCCFF">
                <a:alpha val="80000"/>
              </a:srgbClr>
            </a:solidFill>
            <a:ln w="12700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wrap="none" lIns="18000" tIns="17780" rIns="1800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CPU</a:t>
              </a:r>
            </a:p>
          </p:txBody>
        </p:sp>
        <p:sp>
          <p:nvSpPr>
            <p:cNvPr id="428" name="AutoShape 298">
              <a:extLst>
                <a:ext uri="{FF2B5EF4-FFF2-40B4-BE49-F238E27FC236}">
                  <a16:creationId xmlns:a16="http://schemas.microsoft.com/office/drawing/2014/main" id="{E049DA24-250B-41B9-87B6-F101BC615AC6}"/>
                </a:ext>
              </a:extLst>
            </p:cNvPr>
            <p:cNvSpPr>
              <a:spLocks noChangeArrowheads="1"/>
            </p:cNvSpPr>
            <p:nvPr>
              <p:custDataLst>
                <p:tags r:id="rId123"/>
              </p:custDataLst>
            </p:nvPr>
          </p:nvSpPr>
          <p:spPr bwMode="auto">
            <a:xfrm>
              <a:off x="5399995" y="4068000"/>
              <a:ext cx="504190" cy="215900"/>
            </a:xfrm>
            <a:prstGeom prst="hexagon">
              <a:avLst>
                <a:gd name="adj" fmla="val 43079"/>
                <a:gd name="vf" fmla="val 115470"/>
              </a:avLst>
            </a:prstGeom>
            <a:solidFill>
              <a:srgbClr val="99CCFF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lIns="0" tIns="17780" rIns="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+mn-ea"/>
                  <a:ea typeface="+mn-ea"/>
                </a:rPr>
                <a:t>DMA</a:t>
              </a:r>
              <a:endParaRPr lang="zh-CN" altLang="en-US" sz="1600" b="1" dirty="0">
                <a:latin typeface="+mn-ea"/>
                <a:ea typeface="+mn-ea"/>
              </a:endParaRPr>
            </a:p>
          </p:txBody>
        </p:sp>
        <p:cxnSp>
          <p:nvCxnSpPr>
            <p:cNvPr id="429" name="直接连接符 428">
              <a:extLst>
                <a:ext uri="{FF2B5EF4-FFF2-40B4-BE49-F238E27FC236}">
                  <a16:creationId xmlns:a16="http://schemas.microsoft.com/office/drawing/2014/main" id="{DE157BA6-532B-49D0-84E8-70F9ECA61065}"/>
                </a:ext>
              </a:extLst>
            </p:cNvPr>
            <p:cNvCxnSpPr/>
            <p:nvPr>
              <p:custDataLst>
                <p:tags r:id="rId124"/>
              </p:custDataLst>
            </p:nvPr>
          </p:nvCxnSpPr>
          <p:spPr bwMode="auto">
            <a:xfrm flipH="1">
              <a:off x="4032205" y="3240095"/>
              <a:ext cx="0" cy="1044000"/>
            </a:xfrm>
            <a:prstGeom prst="line">
              <a:avLst/>
            </a:prstGeom>
            <a:noFill/>
            <a:ln w="9525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none" w="sm" len="sm"/>
            </a:ln>
          </p:spPr>
        </p:cxnSp>
        <p:cxnSp>
          <p:nvCxnSpPr>
            <p:cNvPr id="430" name="直接连接符 429">
              <a:extLst>
                <a:ext uri="{FF2B5EF4-FFF2-40B4-BE49-F238E27FC236}">
                  <a16:creationId xmlns:a16="http://schemas.microsoft.com/office/drawing/2014/main" id="{ED59376E-C48C-4B25-BAD9-560DC7DBE22D}"/>
                </a:ext>
              </a:extLst>
            </p:cNvPr>
            <p:cNvCxnSpPr/>
            <p:nvPr>
              <p:custDataLst>
                <p:tags r:id="rId125"/>
              </p:custDataLst>
            </p:nvPr>
          </p:nvCxnSpPr>
          <p:spPr bwMode="auto">
            <a:xfrm flipH="1">
              <a:off x="4535760" y="3240095"/>
              <a:ext cx="0" cy="1044000"/>
            </a:xfrm>
            <a:prstGeom prst="line">
              <a:avLst/>
            </a:prstGeom>
            <a:noFill/>
            <a:ln w="9525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none" w="sm" len="sm"/>
            </a:ln>
          </p:spPr>
        </p:cxnSp>
      </p:grpSp>
      <p:grpSp>
        <p:nvGrpSpPr>
          <p:cNvPr id="431" name="组合 430">
            <a:extLst>
              <a:ext uri="{FF2B5EF4-FFF2-40B4-BE49-F238E27FC236}">
                <a16:creationId xmlns:a16="http://schemas.microsoft.com/office/drawing/2014/main" id="{773EF41D-B0E1-4177-83A9-EF383E54C239}"/>
              </a:ext>
            </a:extLst>
          </p:cNvPr>
          <p:cNvGrpSpPr/>
          <p:nvPr/>
        </p:nvGrpSpPr>
        <p:grpSpPr>
          <a:xfrm>
            <a:off x="360000" y="1234800"/>
            <a:ext cx="6013450" cy="1188535"/>
            <a:chOff x="360000" y="1224000"/>
            <a:chExt cx="6013450" cy="1188535"/>
          </a:xfrm>
        </p:grpSpPr>
        <p:sp>
          <p:nvSpPr>
            <p:cNvPr id="432" name="AutoShape 204">
              <a:extLst>
                <a:ext uri="{FF2B5EF4-FFF2-40B4-BE49-F238E27FC236}">
                  <a16:creationId xmlns:a16="http://schemas.microsoft.com/office/drawing/2014/main" id="{FBCB628F-5AE0-4722-B673-23A734950C52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 bwMode="auto">
            <a:xfrm>
              <a:off x="1114380" y="1368000"/>
              <a:ext cx="73025" cy="323850"/>
            </a:xfrm>
            <a:prstGeom prst="leftBrace">
              <a:avLst>
                <a:gd name="adj1" fmla="val 41225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3" name="Text Box 250">
              <a:extLst>
                <a:ext uri="{FF2B5EF4-FFF2-40B4-BE49-F238E27FC236}">
                  <a16:creationId xmlns:a16="http://schemas.microsoft.com/office/drawing/2014/main" id="{223A4FAF-B489-4AC3-B821-A127E64869BB}"/>
                </a:ext>
              </a:extLst>
            </p:cNvPr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755605" y="1404000"/>
              <a:ext cx="360045" cy="21590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algn="l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CPU</a:t>
              </a:r>
            </a:p>
          </p:txBody>
        </p:sp>
        <p:sp>
          <p:nvSpPr>
            <p:cNvPr id="434" name="Text Box 251">
              <a:extLst>
                <a:ext uri="{FF2B5EF4-FFF2-40B4-BE49-F238E27FC236}">
                  <a16:creationId xmlns:a16="http://schemas.microsoft.com/office/drawing/2014/main" id="{D82DDD7A-E3D0-452B-9ED3-EE63DA898CC1}"/>
                </a:ext>
              </a:extLst>
            </p:cNvPr>
            <p:cNvSpPr txBox="1"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1187405" y="1295942"/>
              <a:ext cx="864235" cy="43180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</a:rPr>
                <a:t>工作状态</a:t>
              </a:r>
            </a:p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应答</a:t>
              </a:r>
              <a:r>
                <a:rPr lang="en-US" altLang="zh-CN" sz="1600" b="1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HLDA</a:t>
              </a:r>
            </a:p>
          </p:txBody>
        </p:sp>
        <p:sp>
          <p:nvSpPr>
            <p:cNvPr id="435" name="Text Box 252">
              <a:extLst>
                <a:ext uri="{FF2B5EF4-FFF2-40B4-BE49-F238E27FC236}">
                  <a16:creationId xmlns:a16="http://schemas.microsoft.com/office/drawing/2014/main" id="{8CA2E5CC-6980-4382-8913-B6C84F904FAA}"/>
                </a:ext>
              </a:extLst>
            </p:cNvPr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1187405" y="1728000"/>
              <a:ext cx="864235" cy="43200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0" rIns="18000" bIns="10800"/>
            <a:lstStyle/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solidFill>
                    <a:srgbClr val="CC3300"/>
                  </a:solidFill>
                  <a:latin typeface="宋体" panose="02010600030101010101" pitchFamily="2" charset="-122"/>
                </a:rPr>
                <a:t>请求</a:t>
              </a:r>
              <a:r>
                <a:rPr lang="en-US" altLang="zh-CN" sz="1600" b="1" dirty="0">
                  <a:solidFill>
                    <a:srgbClr val="CC3300"/>
                  </a:solidFill>
                  <a:latin typeface="宋体" panose="02010600030101010101" pitchFamily="2" charset="-122"/>
                </a:rPr>
                <a:t>HRQ</a:t>
              </a:r>
            </a:p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</a:rPr>
                <a:t>工作状态</a:t>
              </a:r>
            </a:p>
          </p:txBody>
        </p:sp>
        <p:sp>
          <p:nvSpPr>
            <p:cNvPr id="436" name="Text Box 253">
              <a:extLst>
                <a:ext uri="{FF2B5EF4-FFF2-40B4-BE49-F238E27FC236}">
                  <a16:creationId xmlns:a16="http://schemas.microsoft.com/office/drawing/2014/main" id="{785EFFD2-A02A-4945-A161-1F615AC3A4C9}"/>
                </a:ext>
              </a:extLst>
            </p:cNvPr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360000" y="1836000"/>
              <a:ext cx="756285" cy="21590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algn="l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DMA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接口</a:t>
              </a:r>
            </a:p>
          </p:txBody>
        </p:sp>
        <p:sp>
          <p:nvSpPr>
            <p:cNvPr id="437" name="AutoShape 254">
              <a:extLst>
                <a:ext uri="{FF2B5EF4-FFF2-40B4-BE49-F238E27FC236}">
                  <a16:creationId xmlns:a16="http://schemas.microsoft.com/office/drawing/2014/main" id="{546BC692-32D6-44B2-86F0-6C0A040AFE2F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 bwMode="auto">
            <a:xfrm>
              <a:off x="1115650" y="1800000"/>
              <a:ext cx="73025" cy="323850"/>
            </a:xfrm>
            <a:prstGeom prst="leftBrace">
              <a:avLst>
                <a:gd name="adj1" fmla="val 39746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cxnSp>
          <p:nvCxnSpPr>
            <p:cNvPr id="438" name="直接连接符 437">
              <a:extLst>
                <a:ext uri="{FF2B5EF4-FFF2-40B4-BE49-F238E27FC236}">
                  <a16:creationId xmlns:a16="http://schemas.microsoft.com/office/drawing/2014/main" id="{097B7C4D-17D1-4C8F-905C-6D6A5733C695}"/>
                </a:ext>
              </a:extLst>
            </p:cNvPr>
            <p:cNvCxnSpPr/>
            <p:nvPr>
              <p:custDataLst>
                <p:tags r:id="rId10"/>
              </p:custDataLst>
            </p:nvPr>
          </p:nvCxnSpPr>
          <p:spPr bwMode="auto">
            <a:xfrm flipH="1">
              <a:off x="2160225" y="1296000"/>
              <a:ext cx="0" cy="1116000"/>
            </a:xfrm>
            <a:prstGeom prst="line">
              <a:avLst/>
            </a:prstGeom>
            <a:noFill/>
            <a:ln w="9525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none" w="sm" len="sm"/>
            </a:ln>
          </p:spPr>
        </p:cxnSp>
        <p:cxnSp>
          <p:nvCxnSpPr>
            <p:cNvPr id="439" name="直接连接符 438">
              <a:extLst>
                <a:ext uri="{FF2B5EF4-FFF2-40B4-BE49-F238E27FC236}">
                  <a16:creationId xmlns:a16="http://schemas.microsoft.com/office/drawing/2014/main" id="{42485056-E009-4906-90C4-000DF0DE1107}"/>
                </a:ext>
              </a:extLst>
            </p:cNvPr>
            <p:cNvCxnSpPr/>
            <p:nvPr>
              <p:custDataLst>
                <p:tags r:id="rId11"/>
              </p:custDataLst>
            </p:nvPr>
          </p:nvCxnSpPr>
          <p:spPr bwMode="auto">
            <a:xfrm>
              <a:off x="2051640" y="1908082"/>
              <a:ext cx="252095" cy="0"/>
            </a:xfrm>
            <a:prstGeom prst="line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sm" len="sm"/>
            </a:ln>
          </p:spPr>
        </p:cxnSp>
        <p:cxnSp>
          <p:nvCxnSpPr>
            <p:cNvPr id="440" name="直接连接符 439">
              <a:extLst>
                <a:ext uri="{FF2B5EF4-FFF2-40B4-BE49-F238E27FC236}">
                  <a16:creationId xmlns:a16="http://schemas.microsoft.com/office/drawing/2014/main" id="{622798DB-8443-4972-92A0-D9073433BD05}"/>
                </a:ext>
              </a:extLst>
            </p:cNvPr>
            <p:cNvCxnSpPr/>
            <p:nvPr>
              <p:custDataLst>
                <p:tags r:id="rId12"/>
              </p:custDataLst>
            </p:nvPr>
          </p:nvCxnSpPr>
          <p:spPr bwMode="auto">
            <a:xfrm flipV="1">
              <a:off x="2303735" y="1763937"/>
              <a:ext cx="71755" cy="144145"/>
            </a:xfrm>
            <a:prstGeom prst="line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sm" len="sm"/>
            </a:ln>
          </p:spPr>
        </p:cxnSp>
        <p:cxnSp>
          <p:nvCxnSpPr>
            <p:cNvPr id="441" name="直接连接符 440">
              <a:extLst>
                <a:ext uri="{FF2B5EF4-FFF2-40B4-BE49-F238E27FC236}">
                  <a16:creationId xmlns:a16="http://schemas.microsoft.com/office/drawing/2014/main" id="{29F17A5F-5B43-4531-B1BB-CD9C673E717B}"/>
                </a:ext>
              </a:extLst>
            </p:cNvPr>
            <p:cNvCxnSpPr/>
            <p:nvPr>
              <p:custDataLst>
                <p:tags r:id="rId13"/>
              </p:custDataLst>
            </p:nvPr>
          </p:nvCxnSpPr>
          <p:spPr bwMode="auto">
            <a:xfrm>
              <a:off x="2376125" y="1763937"/>
              <a:ext cx="3456305" cy="0"/>
            </a:xfrm>
            <a:prstGeom prst="line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sm" len="sm"/>
            </a:ln>
          </p:spPr>
        </p:cxnSp>
        <p:cxnSp>
          <p:nvCxnSpPr>
            <p:cNvPr id="442" name="直接连接符 441">
              <a:extLst>
                <a:ext uri="{FF2B5EF4-FFF2-40B4-BE49-F238E27FC236}">
                  <a16:creationId xmlns:a16="http://schemas.microsoft.com/office/drawing/2014/main" id="{8BF8DF51-7A50-4404-8C92-85CB96439313}"/>
                </a:ext>
              </a:extLst>
            </p:cNvPr>
            <p:cNvCxnSpPr/>
            <p:nvPr>
              <p:custDataLst>
                <p:tags r:id="rId14"/>
              </p:custDataLst>
            </p:nvPr>
          </p:nvCxnSpPr>
          <p:spPr bwMode="auto">
            <a:xfrm flipH="1">
              <a:off x="2663780" y="1296000"/>
              <a:ext cx="0" cy="1116000"/>
            </a:xfrm>
            <a:prstGeom prst="line">
              <a:avLst/>
            </a:prstGeom>
            <a:noFill/>
            <a:ln w="9525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none" w="sm" len="sm"/>
            </a:ln>
          </p:spPr>
        </p:cxnSp>
        <p:cxnSp>
          <p:nvCxnSpPr>
            <p:cNvPr id="443" name="直接连接符 442">
              <a:extLst>
                <a:ext uri="{FF2B5EF4-FFF2-40B4-BE49-F238E27FC236}">
                  <a16:creationId xmlns:a16="http://schemas.microsoft.com/office/drawing/2014/main" id="{EE878E07-0C5D-4E9C-82A4-F24869395A44}"/>
                </a:ext>
              </a:extLst>
            </p:cNvPr>
            <p:cNvCxnSpPr/>
            <p:nvPr>
              <p:custDataLst>
                <p:tags r:id="rId15"/>
              </p:custDataLst>
            </p:nvPr>
          </p:nvCxnSpPr>
          <p:spPr bwMode="auto">
            <a:xfrm flipH="1">
              <a:off x="5904185" y="1296000"/>
              <a:ext cx="0" cy="1116000"/>
            </a:xfrm>
            <a:prstGeom prst="line">
              <a:avLst/>
            </a:prstGeom>
            <a:noFill/>
            <a:ln w="9525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none" w="sm" len="sm"/>
            </a:ln>
          </p:spPr>
        </p:cxnSp>
        <p:sp>
          <p:nvSpPr>
            <p:cNvPr id="444" name="AutoShape 187">
              <a:extLst>
                <a:ext uri="{FF2B5EF4-FFF2-40B4-BE49-F238E27FC236}">
                  <a16:creationId xmlns:a16="http://schemas.microsoft.com/office/drawing/2014/main" id="{5189925A-12F1-4344-85B9-EFCC7BC46547}"/>
                </a:ext>
              </a:extLst>
            </p:cNvPr>
            <p:cNvSpPr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2160225" y="1332585"/>
              <a:ext cx="504190" cy="215900"/>
            </a:xfrm>
            <a:prstGeom prst="hexagon">
              <a:avLst>
                <a:gd name="adj" fmla="val 42541"/>
                <a:gd name="vf" fmla="val 115470"/>
              </a:avLst>
            </a:prstGeom>
            <a:solidFill>
              <a:srgbClr val="FFCCFF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lIns="0" tIns="17780" rIns="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/>
                <a:t>访存</a:t>
              </a:r>
            </a:p>
          </p:txBody>
        </p:sp>
        <p:sp>
          <p:nvSpPr>
            <p:cNvPr id="445" name="Text Box 277">
              <a:extLst>
                <a:ext uri="{FF2B5EF4-FFF2-40B4-BE49-F238E27FC236}">
                  <a16:creationId xmlns:a16="http://schemas.microsoft.com/office/drawing/2014/main" id="{EFC13734-87AA-42DD-AF1B-33CB076FF0F3}"/>
                </a:ext>
              </a:extLst>
            </p:cNvPr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3131775" y="1224000"/>
              <a:ext cx="2447925" cy="21590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</a:rPr>
                <a:t>不能访存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(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无总线使用权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)</a:t>
              </a:r>
            </a:p>
          </p:txBody>
        </p:sp>
        <p:cxnSp>
          <p:nvCxnSpPr>
            <p:cNvPr id="446" name="直接连接符 445">
              <a:extLst>
                <a:ext uri="{FF2B5EF4-FFF2-40B4-BE49-F238E27FC236}">
                  <a16:creationId xmlns:a16="http://schemas.microsoft.com/office/drawing/2014/main" id="{1A8B0E74-53B3-4688-850F-AC73242B1C56}"/>
                </a:ext>
              </a:extLst>
            </p:cNvPr>
            <p:cNvCxnSpPr/>
            <p:nvPr>
              <p:custDataLst>
                <p:tags r:id="rId18"/>
              </p:custDataLst>
            </p:nvPr>
          </p:nvCxnSpPr>
          <p:spPr bwMode="auto">
            <a:xfrm>
              <a:off x="2051640" y="1440535"/>
              <a:ext cx="10795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sm" len="sm"/>
            </a:ln>
          </p:spPr>
        </p:cxnSp>
        <p:cxnSp>
          <p:nvCxnSpPr>
            <p:cNvPr id="447" name="直接连接符 446">
              <a:extLst>
                <a:ext uri="{FF2B5EF4-FFF2-40B4-BE49-F238E27FC236}">
                  <a16:creationId xmlns:a16="http://schemas.microsoft.com/office/drawing/2014/main" id="{44D51E21-0FA7-4F98-A690-D6E82B4C932A}"/>
                </a:ext>
              </a:extLst>
            </p:cNvPr>
            <p:cNvCxnSpPr/>
            <p:nvPr>
              <p:custDataLst>
                <p:tags r:id="rId19"/>
              </p:custDataLst>
            </p:nvPr>
          </p:nvCxnSpPr>
          <p:spPr bwMode="auto">
            <a:xfrm>
              <a:off x="2051640" y="1728190"/>
              <a:ext cx="539750" cy="0"/>
            </a:xfrm>
            <a:prstGeom prst="line">
              <a:avLst/>
            </a:prstGeom>
            <a:noFill/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sm" len="sm"/>
            </a:ln>
          </p:spPr>
        </p:cxnSp>
        <p:cxnSp>
          <p:nvCxnSpPr>
            <p:cNvPr id="448" name="直接连接符 447">
              <a:extLst>
                <a:ext uri="{FF2B5EF4-FFF2-40B4-BE49-F238E27FC236}">
                  <a16:creationId xmlns:a16="http://schemas.microsoft.com/office/drawing/2014/main" id="{4E8ABD41-A27B-41CA-86A1-CD94A92CA260}"/>
                </a:ext>
              </a:extLst>
            </p:cNvPr>
            <p:cNvCxnSpPr/>
            <p:nvPr>
              <p:custDataLst>
                <p:tags r:id="rId20"/>
              </p:custDataLst>
            </p:nvPr>
          </p:nvCxnSpPr>
          <p:spPr bwMode="auto">
            <a:xfrm>
              <a:off x="2663780" y="1440535"/>
              <a:ext cx="323977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sm" len="sm"/>
            </a:ln>
          </p:spPr>
        </p:cxnSp>
        <p:cxnSp>
          <p:nvCxnSpPr>
            <p:cNvPr id="449" name="直接连接符 448">
              <a:extLst>
                <a:ext uri="{FF2B5EF4-FFF2-40B4-BE49-F238E27FC236}">
                  <a16:creationId xmlns:a16="http://schemas.microsoft.com/office/drawing/2014/main" id="{5B033D27-EEFA-4EC6-A331-D43A08FB32EF}"/>
                </a:ext>
              </a:extLst>
            </p:cNvPr>
            <p:cNvCxnSpPr/>
            <p:nvPr>
              <p:custDataLst>
                <p:tags r:id="rId21"/>
              </p:custDataLst>
            </p:nvPr>
          </p:nvCxnSpPr>
          <p:spPr bwMode="auto">
            <a:xfrm flipV="1">
              <a:off x="2592025" y="1584045"/>
              <a:ext cx="71755" cy="144145"/>
            </a:xfrm>
            <a:prstGeom prst="line">
              <a:avLst/>
            </a:prstGeom>
            <a:noFill/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sm" len="sm"/>
            </a:ln>
          </p:spPr>
        </p:cxnSp>
        <p:cxnSp>
          <p:nvCxnSpPr>
            <p:cNvPr id="450" name="直接连接符 449">
              <a:extLst>
                <a:ext uri="{FF2B5EF4-FFF2-40B4-BE49-F238E27FC236}">
                  <a16:creationId xmlns:a16="http://schemas.microsoft.com/office/drawing/2014/main" id="{38B32833-CA1D-4009-BC56-99EA0D9935AA}"/>
                </a:ext>
              </a:extLst>
            </p:cNvPr>
            <p:cNvCxnSpPr/>
            <p:nvPr>
              <p:custDataLst>
                <p:tags r:id="rId22"/>
              </p:custDataLst>
            </p:nvPr>
          </p:nvCxnSpPr>
          <p:spPr bwMode="auto">
            <a:xfrm>
              <a:off x="2663780" y="1584045"/>
              <a:ext cx="3239770" cy="0"/>
            </a:xfrm>
            <a:prstGeom prst="line">
              <a:avLst/>
            </a:prstGeom>
            <a:noFill/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sm" len="sm"/>
            </a:ln>
          </p:spPr>
        </p:cxnSp>
        <p:cxnSp>
          <p:nvCxnSpPr>
            <p:cNvPr id="451" name="直接连接符 450">
              <a:extLst>
                <a:ext uri="{FF2B5EF4-FFF2-40B4-BE49-F238E27FC236}">
                  <a16:creationId xmlns:a16="http://schemas.microsoft.com/office/drawing/2014/main" id="{B7B5B6E1-68A1-448E-B4CB-31E96592A23D}"/>
                </a:ext>
              </a:extLst>
            </p:cNvPr>
            <p:cNvCxnSpPr/>
            <p:nvPr>
              <p:custDataLst>
                <p:tags r:id="rId23"/>
              </p:custDataLst>
            </p:nvPr>
          </p:nvCxnSpPr>
          <p:spPr bwMode="auto">
            <a:xfrm flipH="1" flipV="1">
              <a:off x="5904185" y="1584045"/>
              <a:ext cx="71755" cy="144145"/>
            </a:xfrm>
            <a:prstGeom prst="line">
              <a:avLst/>
            </a:prstGeom>
            <a:noFill/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sm" len="sm"/>
            </a:ln>
          </p:spPr>
        </p:cxnSp>
        <p:cxnSp>
          <p:nvCxnSpPr>
            <p:cNvPr id="452" name="直接连接符 451">
              <a:extLst>
                <a:ext uri="{FF2B5EF4-FFF2-40B4-BE49-F238E27FC236}">
                  <a16:creationId xmlns:a16="http://schemas.microsoft.com/office/drawing/2014/main" id="{42531DB0-7013-481F-8BBE-281D286A8DBB}"/>
                </a:ext>
              </a:extLst>
            </p:cNvPr>
            <p:cNvCxnSpPr/>
            <p:nvPr>
              <p:custDataLst>
                <p:tags r:id="rId24"/>
              </p:custDataLst>
            </p:nvPr>
          </p:nvCxnSpPr>
          <p:spPr bwMode="auto">
            <a:xfrm>
              <a:off x="5975940" y="1728190"/>
              <a:ext cx="396240" cy="0"/>
            </a:xfrm>
            <a:prstGeom prst="line">
              <a:avLst/>
            </a:prstGeom>
            <a:noFill/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sm" len="sm"/>
            </a:ln>
          </p:spPr>
        </p:cxnSp>
        <p:sp>
          <p:nvSpPr>
            <p:cNvPr id="453" name="Rectangle 291">
              <a:extLst>
                <a:ext uri="{FF2B5EF4-FFF2-40B4-BE49-F238E27FC236}">
                  <a16:creationId xmlns:a16="http://schemas.microsoft.com/office/drawing/2014/main" id="{0FE97EE1-C4BD-493D-AE2D-9D3F3FB10FCE}"/>
                </a:ext>
              </a:extLst>
            </p:cNvPr>
            <p:cNvSpPr>
              <a:spLocks noChangeArrowheads="1"/>
            </p:cNvSpPr>
            <p:nvPr>
              <p:custDataLst>
                <p:tags r:id="rId25"/>
              </p:custDataLst>
            </p:nvPr>
          </p:nvSpPr>
          <p:spPr bwMode="auto">
            <a:xfrm>
              <a:off x="5975940" y="1332585"/>
              <a:ext cx="396240" cy="2159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9525">
              <a:noFill/>
              <a:miter lim="800000"/>
            </a:ln>
            <a:effectLst/>
          </p:spPr>
          <p:txBody>
            <a:bodyPr wrap="none" lIns="0" tIns="17780" rIns="0" bIns="0" anchor="ctr"/>
            <a:lstStyle/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/>
                <a:t>访存</a:t>
              </a:r>
            </a:p>
          </p:txBody>
        </p:sp>
        <p:sp>
          <p:nvSpPr>
            <p:cNvPr id="454" name="AutoShape 292">
              <a:extLst>
                <a:ext uri="{FF2B5EF4-FFF2-40B4-BE49-F238E27FC236}">
                  <a16:creationId xmlns:a16="http://schemas.microsoft.com/office/drawing/2014/main" id="{71DF9B73-0DF9-40D2-82F0-19E81C4BB711}"/>
                </a:ext>
              </a:extLst>
            </p:cNvPr>
            <p:cNvSpPr>
              <a:spLocks noChangeArrowheads="1"/>
            </p:cNvSpPr>
            <p:nvPr>
              <p:custDataLst>
                <p:tags r:id="rId26"/>
              </p:custDataLst>
            </p:nvPr>
          </p:nvSpPr>
          <p:spPr bwMode="auto">
            <a:xfrm rot="16200000">
              <a:off x="5831795" y="1404340"/>
              <a:ext cx="215900" cy="71755"/>
            </a:xfrm>
            <a:prstGeom prst="triangle">
              <a:avLst>
                <a:gd name="adj" fmla="val 50000"/>
              </a:avLst>
            </a:prstGeom>
            <a:solidFill>
              <a:srgbClr val="FFCCFF">
                <a:alpha val="80000"/>
              </a:srgbClr>
            </a:soli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cxnSp>
          <p:nvCxnSpPr>
            <p:cNvPr id="455" name="直接连接符 454">
              <a:extLst>
                <a:ext uri="{FF2B5EF4-FFF2-40B4-BE49-F238E27FC236}">
                  <a16:creationId xmlns:a16="http://schemas.microsoft.com/office/drawing/2014/main" id="{D8354BDB-4D1F-42E4-9F7A-8DA96CFC0596}"/>
                </a:ext>
              </a:extLst>
            </p:cNvPr>
            <p:cNvCxnSpPr/>
            <p:nvPr>
              <p:custDataLst>
                <p:tags r:id="rId27"/>
              </p:custDataLst>
            </p:nvPr>
          </p:nvCxnSpPr>
          <p:spPr bwMode="auto">
            <a:xfrm>
              <a:off x="5977210" y="1332585"/>
              <a:ext cx="39624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sm" len="sm"/>
            </a:ln>
          </p:spPr>
        </p:cxnSp>
        <p:cxnSp>
          <p:nvCxnSpPr>
            <p:cNvPr id="456" name="直接连接符 455">
              <a:extLst>
                <a:ext uri="{FF2B5EF4-FFF2-40B4-BE49-F238E27FC236}">
                  <a16:creationId xmlns:a16="http://schemas.microsoft.com/office/drawing/2014/main" id="{69068FCC-1196-42F8-AEC9-3C73E548C94D}"/>
                </a:ext>
              </a:extLst>
            </p:cNvPr>
            <p:cNvCxnSpPr/>
            <p:nvPr>
              <p:custDataLst>
                <p:tags r:id="rId28"/>
              </p:custDataLst>
            </p:nvPr>
          </p:nvCxnSpPr>
          <p:spPr bwMode="auto">
            <a:xfrm>
              <a:off x="5975940" y="1548485"/>
              <a:ext cx="39624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sm" len="sm"/>
            </a:ln>
          </p:spPr>
        </p:cxnSp>
        <p:cxnSp>
          <p:nvCxnSpPr>
            <p:cNvPr id="457" name="直接连接符 456">
              <a:extLst>
                <a:ext uri="{FF2B5EF4-FFF2-40B4-BE49-F238E27FC236}">
                  <a16:creationId xmlns:a16="http://schemas.microsoft.com/office/drawing/2014/main" id="{1199CD08-651E-49E7-BB98-1B70483BC85D}"/>
                </a:ext>
              </a:extLst>
            </p:cNvPr>
            <p:cNvCxnSpPr/>
            <p:nvPr>
              <p:custDataLst>
                <p:tags r:id="rId29"/>
              </p:custDataLst>
            </p:nvPr>
          </p:nvCxnSpPr>
          <p:spPr bwMode="auto">
            <a:xfrm flipH="1" flipV="1">
              <a:off x="5904185" y="1440535"/>
              <a:ext cx="71755" cy="10795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sm" len="sm"/>
            </a:ln>
          </p:spPr>
        </p:cxnSp>
        <p:cxnSp>
          <p:nvCxnSpPr>
            <p:cNvPr id="458" name="直接连接符 457">
              <a:extLst>
                <a:ext uri="{FF2B5EF4-FFF2-40B4-BE49-F238E27FC236}">
                  <a16:creationId xmlns:a16="http://schemas.microsoft.com/office/drawing/2014/main" id="{89B9619B-AA2E-4913-9BA7-E2B6D260A5BA}"/>
                </a:ext>
              </a:extLst>
            </p:cNvPr>
            <p:cNvCxnSpPr/>
            <p:nvPr>
              <p:custDataLst>
                <p:tags r:id="rId30"/>
              </p:custDataLst>
            </p:nvPr>
          </p:nvCxnSpPr>
          <p:spPr bwMode="auto">
            <a:xfrm flipV="1">
              <a:off x="5905455" y="1332585"/>
              <a:ext cx="71755" cy="10795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sm" len="sm"/>
            </a:ln>
          </p:spPr>
        </p:cxnSp>
        <p:sp>
          <p:nvSpPr>
            <p:cNvPr id="459" name="AutoShape 257">
              <a:extLst>
                <a:ext uri="{FF2B5EF4-FFF2-40B4-BE49-F238E27FC236}">
                  <a16:creationId xmlns:a16="http://schemas.microsoft.com/office/drawing/2014/main" id="{7C969263-98E0-4B02-9548-409203DFF338}"/>
                </a:ext>
              </a:extLst>
            </p:cNvPr>
            <p:cNvSpPr>
              <a:spLocks noChangeArrowheads="1"/>
            </p:cNvSpPr>
            <p:nvPr>
              <p:custDataLst>
                <p:tags r:id="rId31"/>
              </p:custDataLst>
            </p:nvPr>
          </p:nvSpPr>
          <p:spPr bwMode="auto">
            <a:xfrm>
              <a:off x="2663780" y="1943950"/>
              <a:ext cx="504190" cy="215900"/>
            </a:xfrm>
            <a:prstGeom prst="hexagon">
              <a:avLst>
                <a:gd name="adj" fmla="val 42541"/>
                <a:gd name="vf" fmla="val 115470"/>
              </a:avLst>
            </a:prstGeom>
            <a:solidFill>
              <a:srgbClr val="99CCFF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lIns="0" tIns="17780" rIns="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/>
                <a:t>传送</a:t>
              </a:r>
            </a:p>
          </p:txBody>
        </p:sp>
        <p:sp>
          <p:nvSpPr>
            <p:cNvPr id="460" name="Text Box 279">
              <a:extLst>
                <a:ext uri="{FF2B5EF4-FFF2-40B4-BE49-F238E27FC236}">
                  <a16:creationId xmlns:a16="http://schemas.microsoft.com/office/drawing/2014/main" id="{B29BD25F-4451-4637-9E21-790B9DF2B422}"/>
                </a:ext>
              </a:extLst>
            </p:cNvPr>
            <p:cNvSpPr txBox="1">
              <a:spLocks noChangeArrowheads="1"/>
            </p:cNvSpPr>
            <p:nvPr>
              <p:custDataLst>
                <p:tags r:id="rId32"/>
              </p:custDataLst>
            </p:nvPr>
          </p:nvSpPr>
          <p:spPr bwMode="auto">
            <a:xfrm>
              <a:off x="3167970" y="1836000"/>
              <a:ext cx="864235" cy="21590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</a:rPr>
                <a:t>等待就绪</a:t>
              </a:r>
            </a:p>
          </p:txBody>
        </p:sp>
        <p:cxnSp>
          <p:nvCxnSpPr>
            <p:cNvPr id="461" name="直接连接符 460">
              <a:extLst>
                <a:ext uri="{FF2B5EF4-FFF2-40B4-BE49-F238E27FC236}">
                  <a16:creationId xmlns:a16="http://schemas.microsoft.com/office/drawing/2014/main" id="{DA716EB8-140E-44A9-8EE3-E07E41EC7E04}"/>
                </a:ext>
              </a:extLst>
            </p:cNvPr>
            <p:cNvCxnSpPr/>
            <p:nvPr>
              <p:custDataLst>
                <p:tags r:id="rId33"/>
              </p:custDataLst>
            </p:nvPr>
          </p:nvCxnSpPr>
          <p:spPr bwMode="auto">
            <a:xfrm>
              <a:off x="2051640" y="2051900"/>
              <a:ext cx="61214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sm" len="sm"/>
            </a:ln>
          </p:spPr>
        </p:cxnSp>
        <p:cxnSp>
          <p:nvCxnSpPr>
            <p:cNvPr id="462" name="直接连接符 461">
              <a:extLst>
                <a:ext uri="{FF2B5EF4-FFF2-40B4-BE49-F238E27FC236}">
                  <a16:creationId xmlns:a16="http://schemas.microsoft.com/office/drawing/2014/main" id="{F48B495E-2EBF-4C3E-8AE5-8041E4D534D0}"/>
                </a:ext>
              </a:extLst>
            </p:cNvPr>
            <p:cNvCxnSpPr/>
            <p:nvPr>
              <p:custDataLst>
                <p:tags r:id="rId34"/>
              </p:custDataLst>
            </p:nvPr>
          </p:nvCxnSpPr>
          <p:spPr bwMode="auto">
            <a:xfrm>
              <a:off x="3167970" y="2051900"/>
              <a:ext cx="864235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sm" len="sm"/>
            </a:ln>
          </p:spPr>
        </p:cxnSp>
        <p:sp>
          <p:nvSpPr>
            <p:cNvPr id="463" name="AutoShape 257">
              <a:extLst>
                <a:ext uri="{FF2B5EF4-FFF2-40B4-BE49-F238E27FC236}">
                  <a16:creationId xmlns:a16="http://schemas.microsoft.com/office/drawing/2014/main" id="{97A2C8D2-41E7-487A-A6FB-87CE8E7805E4}"/>
                </a:ext>
              </a:extLst>
            </p:cNvPr>
            <p:cNvSpPr>
              <a:spLocks noChangeArrowheads="1"/>
            </p:cNvSpPr>
            <p:nvPr>
              <p:custDataLst>
                <p:tags r:id="rId35"/>
              </p:custDataLst>
            </p:nvPr>
          </p:nvSpPr>
          <p:spPr bwMode="auto">
            <a:xfrm>
              <a:off x="4032205" y="1943950"/>
              <a:ext cx="504190" cy="215900"/>
            </a:xfrm>
            <a:prstGeom prst="hexagon">
              <a:avLst>
                <a:gd name="adj" fmla="val 42541"/>
                <a:gd name="vf" fmla="val 115470"/>
              </a:avLst>
            </a:prstGeom>
            <a:solidFill>
              <a:srgbClr val="99CCFF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lIns="0" tIns="17780" rIns="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/>
                <a:t>传送</a:t>
              </a:r>
            </a:p>
          </p:txBody>
        </p:sp>
        <p:sp>
          <p:nvSpPr>
            <p:cNvPr id="464" name="Text Box 279">
              <a:extLst>
                <a:ext uri="{FF2B5EF4-FFF2-40B4-BE49-F238E27FC236}">
                  <a16:creationId xmlns:a16="http://schemas.microsoft.com/office/drawing/2014/main" id="{E5696716-EA7C-41A0-9DF5-D5A8D29B06B1}"/>
                </a:ext>
              </a:extLst>
            </p:cNvPr>
            <p:cNvSpPr txBox="1">
              <a:spLocks noChangeArrowheads="1"/>
            </p:cNvSpPr>
            <p:nvPr>
              <p:custDataLst>
                <p:tags r:id="rId36"/>
              </p:custDataLst>
            </p:nvPr>
          </p:nvSpPr>
          <p:spPr bwMode="auto">
            <a:xfrm>
              <a:off x="4535760" y="1836000"/>
              <a:ext cx="864235" cy="21590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</a:rPr>
                <a:t>等待就绪</a:t>
              </a:r>
            </a:p>
          </p:txBody>
        </p:sp>
        <p:cxnSp>
          <p:nvCxnSpPr>
            <p:cNvPr id="465" name="直接连接符 464">
              <a:extLst>
                <a:ext uri="{FF2B5EF4-FFF2-40B4-BE49-F238E27FC236}">
                  <a16:creationId xmlns:a16="http://schemas.microsoft.com/office/drawing/2014/main" id="{C2C4A671-955A-4D23-9BB3-58F6590EB8FF}"/>
                </a:ext>
              </a:extLst>
            </p:cNvPr>
            <p:cNvCxnSpPr/>
            <p:nvPr>
              <p:custDataLst>
                <p:tags r:id="rId37"/>
              </p:custDataLst>
            </p:nvPr>
          </p:nvCxnSpPr>
          <p:spPr bwMode="auto">
            <a:xfrm>
              <a:off x="4535760" y="2051900"/>
              <a:ext cx="864235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sm" len="sm"/>
            </a:ln>
          </p:spPr>
        </p:cxnSp>
        <p:sp>
          <p:nvSpPr>
            <p:cNvPr id="466" name="AutoShape 257">
              <a:extLst>
                <a:ext uri="{FF2B5EF4-FFF2-40B4-BE49-F238E27FC236}">
                  <a16:creationId xmlns:a16="http://schemas.microsoft.com/office/drawing/2014/main" id="{99F6F45A-10CC-47C2-82F0-9605AAC7FE43}"/>
                </a:ext>
              </a:extLst>
            </p:cNvPr>
            <p:cNvSpPr>
              <a:spLocks noChangeArrowheads="1"/>
            </p:cNvSpPr>
            <p:nvPr>
              <p:custDataLst>
                <p:tags r:id="rId38"/>
              </p:custDataLst>
            </p:nvPr>
          </p:nvSpPr>
          <p:spPr bwMode="auto">
            <a:xfrm>
              <a:off x="5399995" y="1943950"/>
              <a:ext cx="504190" cy="215900"/>
            </a:xfrm>
            <a:prstGeom prst="hexagon">
              <a:avLst>
                <a:gd name="adj" fmla="val 42541"/>
                <a:gd name="vf" fmla="val 115470"/>
              </a:avLst>
            </a:prstGeom>
            <a:solidFill>
              <a:srgbClr val="99CCFF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lIns="0" tIns="17780" rIns="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/>
                <a:t>传送</a:t>
              </a:r>
            </a:p>
          </p:txBody>
        </p:sp>
        <p:cxnSp>
          <p:nvCxnSpPr>
            <p:cNvPr id="467" name="直接连接符 466">
              <a:extLst>
                <a:ext uri="{FF2B5EF4-FFF2-40B4-BE49-F238E27FC236}">
                  <a16:creationId xmlns:a16="http://schemas.microsoft.com/office/drawing/2014/main" id="{1292C577-F09A-45D4-87A6-F176B9E2ADFE}"/>
                </a:ext>
              </a:extLst>
            </p:cNvPr>
            <p:cNvCxnSpPr/>
            <p:nvPr>
              <p:custDataLst>
                <p:tags r:id="rId39"/>
              </p:custDataLst>
            </p:nvPr>
          </p:nvCxnSpPr>
          <p:spPr bwMode="auto">
            <a:xfrm>
              <a:off x="5904185" y="2051900"/>
              <a:ext cx="467995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sm" len="sm"/>
            </a:ln>
          </p:spPr>
        </p:cxnSp>
        <p:sp>
          <p:nvSpPr>
            <p:cNvPr id="468" name="Text Box 208">
              <a:extLst>
                <a:ext uri="{FF2B5EF4-FFF2-40B4-BE49-F238E27FC236}">
                  <a16:creationId xmlns:a16="http://schemas.microsoft.com/office/drawing/2014/main" id="{BC81AF1F-64CA-4735-84CB-7C04C2AB7FB1}"/>
                </a:ext>
              </a:extLst>
            </p:cNvPr>
            <p:cNvSpPr txBox="1">
              <a:spLocks noChangeArrowheads="1"/>
            </p:cNvSpPr>
            <p:nvPr>
              <p:custDataLst>
                <p:tags r:id="rId40"/>
              </p:custDataLst>
            </p:nvPr>
          </p:nvSpPr>
          <p:spPr bwMode="auto">
            <a:xfrm>
              <a:off x="972140" y="2196000"/>
              <a:ext cx="1080135" cy="21590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zh-CN" altLang="en-US" sz="1600" b="1" dirty="0">
                  <a:latin typeface="宋体" panose="02010600030101010101" pitchFamily="2" charset="-122"/>
                </a:rPr>
                <a:t>总线使用权</a:t>
              </a:r>
            </a:p>
          </p:txBody>
        </p:sp>
        <p:sp>
          <p:nvSpPr>
            <p:cNvPr id="469" name="AutoShape 269">
              <a:extLst>
                <a:ext uri="{FF2B5EF4-FFF2-40B4-BE49-F238E27FC236}">
                  <a16:creationId xmlns:a16="http://schemas.microsoft.com/office/drawing/2014/main" id="{9091D6BB-DEE6-4ACF-B195-47FE49FDE844}"/>
                </a:ext>
              </a:extLst>
            </p:cNvPr>
            <p:cNvSpPr>
              <a:spLocks noChangeArrowheads="1"/>
            </p:cNvSpPr>
            <p:nvPr>
              <p:custDataLst>
                <p:tags r:id="rId41"/>
              </p:custDataLst>
            </p:nvPr>
          </p:nvSpPr>
          <p:spPr bwMode="auto">
            <a:xfrm>
              <a:off x="2160225" y="2196000"/>
              <a:ext cx="504190" cy="215900"/>
            </a:xfrm>
            <a:prstGeom prst="hexagon">
              <a:avLst>
                <a:gd name="adj" fmla="val 42541"/>
                <a:gd name="vf" fmla="val 115470"/>
              </a:avLst>
            </a:prstGeom>
            <a:solidFill>
              <a:srgbClr val="FFCCFF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lIns="0" tIns="17780" rIns="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+mn-ea"/>
                  <a:ea typeface="+mn-ea"/>
                </a:rPr>
                <a:t>CPU</a:t>
              </a:r>
            </a:p>
          </p:txBody>
        </p:sp>
        <p:sp>
          <p:nvSpPr>
            <p:cNvPr id="470" name="AutoShape 298">
              <a:extLst>
                <a:ext uri="{FF2B5EF4-FFF2-40B4-BE49-F238E27FC236}">
                  <a16:creationId xmlns:a16="http://schemas.microsoft.com/office/drawing/2014/main" id="{BD6EB70A-BE6B-4A0A-987A-64BFCE61463B}"/>
                </a:ext>
              </a:extLst>
            </p:cNvPr>
            <p:cNvSpPr>
              <a:spLocks noChangeArrowheads="1"/>
            </p:cNvSpPr>
            <p:nvPr>
              <p:custDataLst>
                <p:tags r:id="rId42"/>
              </p:custDataLst>
            </p:nvPr>
          </p:nvSpPr>
          <p:spPr bwMode="auto">
            <a:xfrm>
              <a:off x="2663780" y="2196000"/>
              <a:ext cx="3239770" cy="215900"/>
            </a:xfrm>
            <a:prstGeom prst="hexagon">
              <a:avLst>
                <a:gd name="adj" fmla="val 43079"/>
                <a:gd name="vf" fmla="val 115470"/>
              </a:avLst>
            </a:prstGeom>
            <a:solidFill>
              <a:srgbClr val="99CCFF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lIns="0" tIns="17780" rIns="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+mn-ea"/>
                  <a:ea typeface="+mn-ea"/>
                </a:rPr>
                <a:t>DMA</a:t>
              </a:r>
              <a:r>
                <a:rPr lang="zh-CN" altLang="en-US" sz="1600" b="1" dirty="0">
                  <a:latin typeface="+mn-ea"/>
                  <a:ea typeface="+mn-ea"/>
                </a:rPr>
                <a:t>接口</a:t>
              </a:r>
            </a:p>
          </p:txBody>
        </p:sp>
        <p:cxnSp>
          <p:nvCxnSpPr>
            <p:cNvPr id="471" name="直接连接符 470">
              <a:extLst>
                <a:ext uri="{FF2B5EF4-FFF2-40B4-BE49-F238E27FC236}">
                  <a16:creationId xmlns:a16="http://schemas.microsoft.com/office/drawing/2014/main" id="{319F3E1C-A995-4982-9696-D5814FD342FB}"/>
                </a:ext>
              </a:extLst>
            </p:cNvPr>
            <p:cNvCxnSpPr/>
            <p:nvPr>
              <p:custDataLst>
                <p:tags r:id="rId43"/>
              </p:custDataLst>
            </p:nvPr>
          </p:nvCxnSpPr>
          <p:spPr bwMode="auto">
            <a:xfrm>
              <a:off x="2051005" y="2303950"/>
              <a:ext cx="10795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sm" len="sm"/>
            </a:ln>
          </p:spPr>
        </p:cxnSp>
        <p:sp>
          <p:nvSpPr>
            <p:cNvPr id="472" name="Rectangle 291">
              <a:extLst>
                <a:ext uri="{FF2B5EF4-FFF2-40B4-BE49-F238E27FC236}">
                  <a16:creationId xmlns:a16="http://schemas.microsoft.com/office/drawing/2014/main" id="{97700139-F4FD-4340-A4DB-BAA9A30D6AFE}"/>
                </a:ext>
              </a:extLst>
            </p:cNvPr>
            <p:cNvSpPr>
              <a:spLocks noChangeArrowheads="1"/>
            </p:cNvSpPr>
            <p:nvPr>
              <p:custDataLst>
                <p:tags r:id="rId44"/>
              </p:custDataLst>
            </p:nvPr>
          </p:nvSpPr>
          <p:spPr bwMode="auto">
            <a:xfrm>
              <a:off x="5975940" y="2196635"/>
              <a:ext cx="396240" cy="2159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9525">
              <a:noFill/>
              <a:miter lim="800000"/>
            </a:ln>
            <a:effectLst/>
          </p:spPr>
          <p:txBody>
            <a:bodyPr wrap="none" lIns="0" tIns="17780" rIns="0" bIns="0" anchor="ctr"/>
            <a:lstStyle/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CPU</a:t>
              </a:r>
            </a:p>
          </p:txBody>
        </p:sp>
        <p:sp>
          <p:nvSpPr>
            <p:cNvPr id="473" name="AutoShape 292">
              <a:extLst>
                <a:ext uri="{FF2B5EF4-FFF2-40B4-BE49-F238E27FC236}">
                  <a16:creationId xmlns:a16="http://schemas.microsoft.com/office/drawing/2014/main" id="{5725FD41-FD2A-4DD6-AF11-98BCE3CD09F9}"/>
                </a:ext>
              </a:extLst>
            </p:cNvPr>
            <p:cNvSpPr>
              <a:spLocks noChangeArrowheads="1"/>
            </p:cNvSpPr>
            <p:nvPr>
              <p:custDataLst>
                <p:tags r:id="rId45"/>
              </p:custDataLst>
            </p:nvPr>
          </p:nvSpPr>
          <p:spPr bwMode="auto">
            <a:xfrm rot="16200000">
              <a:off x="5831795" y="2268390"/>
              <a:ext cx="215900" cy="71755"/>
            </a:xfrm>
            <a:prstGeom prst="triangle">
              <a:avLst>
                <a:gd name="adj" fmla="val 50000"/>
              </a:avLst>
            </a:prstGeom>
            <a:solidFill>
              <a:srgbClr val="FFCCFF">
                <a:alpha val="80000"/>
              </a:srgbClr>
            </a:soli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cxnSp>
          <p:nvCxnSpPr>
            <p:cNvPr id="474" name="直接连接符 473">
              <a:extLst>
                <a:ext uri="{FF2B5EF4-FFF2-40B4-BE49-F238E27FC236}">
                  <a16:creationId xmlns:a16="http://schemas.microsoft.com/office/drawing/2014/main" id="{17EA5610-D916-4460-BC89-C41AA0F06492}"/>
                </a:ext>
              </a:extLst>
            </p:cNvPr>
            <p:cNvCxnSpPr/>
            <p:nvPr>
              <p:custDataLst>
                <p:tags r:id="rId46"/>
              </p:custDataLst>
            </p:nvPr>
          </p:nvCxnSpPr>
          <p:spPr bwMode="auto">
            <a:xfrm>
              <a:off x="5977210" y="2196635"/>
              <a:ext cx="39624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sm" len="sm"/>
            </a:ln>
          </p:spPr>
        </p:cxnSp>
        <p:cxnSp>
          <p:nvCxnSpPr>
            <p:cNvPr id="475" name="直接连接符 474">
              <a:extLst>
                <a:ext uri="{FF2B5EF4-FFF2-40B4-BE49-F238E27FC236}">
                  <a16:creationId xmlns:a16="http://schemas.microsoft.com/office/drawing/2014/main" id="{0A7886C1-97AC-40D5-8632-6B5CB7F97D1C}"/>
                </a:ext>
              </a:extLst>
            </p:cNvPr>
            <p:cNvCxnSpPr/>
            <p:nvPr>
              <p:custDataLst>
                <p:tags r:id="rId47"/>
              </p:custDataLst>
            </p:nvPr>
          </p:nvCxnSpPr>
          <p:spPr bwMode="auto">
            <a:xfrm>
              <a:off x="5975940" y="2412535"/>
              <a:ext cx="39624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sm" len="sm"/>
            </a:ln>
          </p:spPr>
        </p:cxnSp>
        <p:cxnSp>
          <p:nvCxnSpPr>
            <p:cNvPr id="476" name="直接连接符 475">
              <a:extLst>
                <a:ext uri="{FF2B5EF4-FFF2-40B4-BE49-F238E27FC236}">
                  <a16:creationId xmlns:a16="http://schemas.microsoft.com/office/drawing/2014/main" id="{692E4B07-B520-4EB2-8396-D140B2132F7B}"/>
                </a:ext>
              </a:extLst>
            </p:cNvPr>
            <p:cNvCxnSpPr/>
            <p:nvPr>
              <p:custDataLst>
                <p:tags r:id="rId48"/>
              </p:custDataLst>
            </p:nvPr>
          </p:nvCxnSpPr>
          <p:spPr bwMode="auto">
            <a:xfrm flipH="1" flipV="1">
              <a:off x="5904185" y="2304585"/>
              <a:ext cx="71755" cy="10795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sm" len="sm"/>
            </a:ln>
          </p:spPr>
        </p:cxnSp>
        <p:cxnSp>
          <p:nvCxnSpPr>
            <p:cNvPr id="477" name="直接连接符 476">
              <a:extLst>
                <a:ext uri="{FF2B5EF4-FFF2-40B4-BE49-F238E27FC236}">
                  <a16:creationId xmlns:a16="http://schemas.microsoft.com/office/drawing/2014/main" id="{A959ADC9-E00D-43EF-A19A-A2465F8A5106}"/>
                </a:ext>
              </a:extLst>
            </p:cNvPr>
            <p:cNvCxnSpPr/>
            <p:nvPr>
              <p:custDataLst>
                <p:tags r:id="rId49"/>
              </p:custDataLst>
            </p:nvPr>
          </p:nvCxnSpPr>
          <p:spPr bwMode="auto">
            <a:xfrm flipV="1">
              <a:off x="5905455" y="2196635"/>
              <a:ext cx="71755" cy="10795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sm" len="sm"/>
            </a:ln>
          </p:spPr>
        </p:cxnSp>
        <p:cxnSp>
          <p:nvCxnSpPr>
            <p:cNvPr id="478" name="直接连接符 477">
              <a:extLst>
                <a:ext uri="{FF2B5EF4-FFF2-40B4-BE49-F238E27FC236}">
                  <a16:creationId xmlns:a16="http://schemas.microsoft.com/office/drawing/2014/main" id="{BCCFD47F-FA02-41B2-A7DE-25C0EA1012D9}"/>
                </a:ext>
              </a:extLst>
            </p:cNvPr>
            <p:cNvCxnSpPr/>
            <p:nvPr>
              <p:custDataLst>
                <p:tags r:id="rId50"/>
              </p:custDataLst>
            </p:nvPr>
          </p:nvCxnSpPr>
          <p:spPr bwMode="auto">
            <a:xfrm flipH="1" flipV="1">
              <a:off x="5831795" y="1763937"/>
              <a:ext cx="71755" cy="144145"/>
            </a:xfrm>
            <a:prstGeom prst="line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sm" len="sm"/>
            </a:ln>
          </p:spPr>
        </p:cxnSp>
        <p:cxnSp>
          <p:nvCxnSpPr>
            <p:cNvPr id="479" name="直接连接符 478">
              <a:extLst>
                <a:ext uri="{FF2B5EF4-FFF2-40B4-BE49-F238E27FC236}">
                  <a16:creationId xmlns:a16="http://schemas.microsoft.com/office/drawing/2014/main" id="{C06DD7EA-B4BA-43F1-AAC4-578E400A609F}"/>
                </a:ext>
              </a:extLst>
            </p:cNvPr>
            <p:cNvCxnSpPr/>
            <p:nvPr>
              <p:custDataLst>
                <p:tags r:id="rId51"/>
              </p:custDataLst>
            </p:nvPr>
          </p:nvCxnSpPr>
          <p:spPr bwMode="auto">
            <a:xfrm>
              <a:off x="5904185" y="1908082"/>
              <a:ext cx="467995" cy="0"/>
            </a:xfrm>
            <a:prstGeom prst="line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sm" len="sm"/>
            </a:ln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9" dur="500"/>
                                        <p:tgtEl>
                                          <p:spTgt spid="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231" grpId="0"/>
      <p:bldP spid="232" grpId="0"/>
      <p:bldP spid="233" grpId="0"/>
      <p:bldP spid="234" grpId="0"/>
      <p:bldP spid="236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Text Box 242"/>
          <p:cNvSpPr txBox="1">
            <a:spLocks noChangeArrowheads="1"/>
          </p:cNvSpPr>
          <p:nvPr/>
        </p:nvSpPr>
        <p:spPr bwMode="auto">
          <a:xfrm>
            <a:off x="179704" y="764704"/>
            <a:ext cx="4499479" cy="265027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*DMA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接口功能：</a:t>
            </a: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sz="2200" b="1" spc="-100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sz="2200" b="1" spc="-100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600"/>
              </a:spcBef>
            </a:pPr>
            <a:r>
              <a:rPr lang="en-US" altLang="zh-CN" sz="2200" b="1" spc="-100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200" b="1" spc="-100" dirty="0">
                <a:solidFill>
                  <a:srgbClr val="C00000"/>
                </a:solidFill>
                <a:latin typeface="宋体" panose="02010600030101010101" pitchFamily="2" charset="-122"/>
              </a:rPr>
              <a:t>*</a:t>
            </a:r>
            <a:r>
              <a:rPr lang="en-US" altLang="zh-CN" sz="2200" b="1" spc="-100" dirty="0">
                <a:solidFill>
                  <a:srgbClr val="C00000"/>
                </a:solidFill>
                <a:latin typeface="宋体" panose="02010600030101010101" pitchFamily="2" charset="-122"/>
              </a:rPr>
              <a:t>DMA</a:t>
            </a:r>
            <a:r>
              <a:rPr lang="zh-CN" altLang="en-US" sz="2200" b="1" spc="-100" dirty="0">
                <a:solidFill>
                  <a:srgbClr val="C00000"/>
                </a:solidFill>
                <a:latin typeface="宋体" panose="02010600030101010101" pitchFamily="2" charset="-122"/>
              </a:rPr>
              <a:t>接口结构：</a:t>
            </a:r>
          </a:p>
          <a:p>
            <a:pPr algn="l">
              <a:lnSpc>
                <a:spcPct val="125000"/>
              </a:lnSpc>
            </a:pP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中断式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I/O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接口的请求逻辑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DMA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传送的控制逻辑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zh-CN" altLang="en-US" sz="2200" b="1" spc="-100" dirty="0">
              <a:latin typeface="宋体" panose="02010600030101010101" pitchFamily="2" charset="-122"/>
            </a:endParaRPr>
          </a:p>
        </p:txBody>
      </p:sp>
      <p:sp>
        <p:nvSpPr>
          <p:cNvPr id="9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29B4D-A33F-4B37-AE79-0E5C52B1CB1A}" type="slidenum">
              <a:rPr lang="en-US" altLang="zh-CN"/>
              <a:t>42</a:t>
            </a:fld>
            <a:endParaRPr lang="en-US" altLang="zh-CN" dirty="0"/>
          </a:p>
        </p:txBody>
      </p:sp>
      <p:sp>
        <p:nvSpPr>
          <p:cNvPr id="13497" name="Text Box 185"/>
          <p:cNvSpPr txBox="1">
            <a:spLocks noChangeArrowheads="1"/>
          </p:cNvSpPr>
          <p:nvPr/>
        </p:nvSpPr>
        <p:spPr bwMode="auto">
          <a:xfrm>
            <a:off x="179388" y="332656"/>
            <a:ext cx="8819356" cy="4199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tIns="10795" bIns="10795" anchor="ctr" anchorCtr="0">
            <a:spAutoFit/>
          </a:bodyPr>
          <a:lstStyle>
            <a:defPPr>
              <a:defRPr lang="zh-CN"/>
            </a:defPPr>
            <a:lvl1pPr algn="l">
              <a:defRPr b="1">
                <a:solidFill>
                  <a:srgbClr val="FF3300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1pPr>
          </a:lstStyle>
          <a:p>
            <a:pPr>
              <a:lnSpc>
                <a:spcPct val="125000"/>
              </a:lnSpc>
            </a:pPr>
            <a:r>
              <a:rPr lang="en-US" altLang="zh-CN" dirty="0">
                <a:solidFill>
                  <a:srgbClr val="FF3399"/>
                </a:solidFill>
                <a:latin typeface="+mn-ea"/>
                <a:ea typeface="+mn-ea"/>
              </a:rPr>
              <a:t>2</a:t>
            </a:r>
            <a:r>
              <a:rPr lang="zh-CN" altLang="en-US" dirty="0">
                <a:solidFill>
                  <a:srgbClr val="FF3399"/>
                </a:solidFill>
                <a:latin typeface="+mn-ea"/>
                <a:ea typeface="+mn-ea"/>
              </a:rPr>
              <a:t>、</a:t>
            </a:r>
            <a:r>
              <a:rPr lang="en-US" altLang="zh-CN" dirty="0">
                <a:solidFill>
                  <a:srgbClr val="FF3399"/>
                </a:solidFill>
                <a:latin typeface="+mn-ea"/>
                <a:ea typeface="+mn-ea"/>
              </a:rPr>
              <a:t>DMA</a:t>
            </a:r>
            <a:r>
              <a:rPr lang="zh-CN" altLang="en-US" dirty="0">
                <a:solidFill>
                  <a:srgbClr val="FF3399"/>
                </a:solidFill>
                <a:latin typeface="+mn-ea"/>
                <a:ea typeface="+mn-ea"/>
              </a:rPr>
              <a:t>接口的基本结构</a:t>
            </a:r>
          </a:p>
        </p:txBody>
      </p:sp>
      <p:sp>
        <p:nvSpPr>
          <p:cNvPr id="13554" name="Text Box 242"/>
          <p:cNvSpPr txBox="1">
            <a:spLocks noChangeArrowheads="1"/>
          </p:cNvSpPr>
          <p:nvPr/>
        </p:nvSpPr>
        <p:spPr bwMode="auto">
          <a:xfrm>
            <a:off x="2283400" y="764704"/>
            <a:ext cx="6609080" cy="265027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sz="2200" b="1" dirty="0">
                <a:latin typeface="宋体" panose="02010600030101010101" pitchFamily="2" charset="-122"/>
              </a:rPr>
              <a:t>①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中断式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I/O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接口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                 ←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传送结束时需要</a:t>
            </a:r>
            <a:endParaRPr lang="en-US" altLang="zh-CN" sz="1800" b="1" dirty="0">
              <a:latin typeface="宋体" panose="02010600030101010101" pitchFamily="2" charset="-122"/>
              <a:sym typeface="+mn-ea"/>
            </a:endParaRPr>
          </a:p>
          <a:p>
            <a:pPr algn="l">
              <a:lnSpc>
                <a:spcPct val="125000"/>
              </a:lnSpc>
            </a:pPr>
            <a:r>
              <a:rPr lang="zh-CN" altLang="en-US" sz="2200" b="1" dirty="0">
                <a:latin typeface="宋体" panose="02010600030101010101" pitchFamily="2" charset="-122"/>
              </a:rPr>
              <a:t>②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DMA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传送控制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总线请求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/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撤销、总线传输控制、批量管理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)</a:t>
            </a:r>
          </a:p>
          <a:p>
            <a:pPr algn="l">
              <a:lnSpc>
                <a:spcPct val="125000"/>
              </a:lnSpc>
            </a:pPr>
            <a:endParaRPr lang="en-US" altLang="zh-CN" sz="22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600"/>
              </a:spcBef>
            </a:pPr>
            <a:r>
              <a:rPr lang="zh-CN" altLang="en-US" sz="2200" b="1" dirty="0">
                <a:latin typeface="宋体" panose="02010600030101010101" pitchFamily="2" charset="-122"/>
              </a:rPr>
              <a:t>              传送结束时产生请求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spc="-70" dirty="0">
                <a:latin typeface="宋体" panose="02010600030101010101" pitchFamily="2" charset="-122"/>
              </a:rPr>
              <a:t>         MAC</a:t>
            </a:r>
            <a:r>
              <a:rPr lang="zh-CN" altLang="en-US" sz="2200" b="1" spc="-70" dirty="0">
                <a:latin typeface="宋体" panose="02010600030101010101" pitchFamily="2" charset="-122"/>
              </a:rPr>
              <a:t>及</a:t>
            </a:r>
            <a:r>
              <a:rPr lang="en-US" altLang="zh-CN" sz="2200" b="1" spc="-70" dirty="0">
                <a:latin typeface="宋体" panose="02010600030101010101" pitchFamily="2" charset="-122"/>
              </a:rPr>
              <a:t>WC</a:t>
            </a:r>
            <a:r>
              <a:rPr lang="zh-CN" altLang="en-US" sz="2200" b="1" spc="-70" dirty="0">
                <a:latin typeface="宋体" panose="02010600030101010101" pitchFamily="2" charset="-122"/>
              </a:rPr>
              <a:t>，总线控制，</a:t>
            </a:r>
            <a:r>
              <a:rPr lang="en-US" altLang="zh-CN" sz="2200" b="1" spc="-70" dirty="0">
                <a:latin typeface="宋体" panose="02010600030101010101" pitchFamily="2" charset="-122"/>
              </a:rPr>
              <a:t>DMA</a:t>
            </a:r>
            <a:r>
              <a:rPr lang="zh-CN" altLang="en-US" sz="2200" b="1" spc="-70" dirty="0">
                <a:latin typeface="宋体" panose="02010600030101010101" pitchFamily="2" charset="-122"/>
              </a:rPr>
              <a:t>控制</a:t>
            </a:r>
            <a:r>
              <a:rPr lang="en-US" altLang="zh-CN" sz="1600" b="1" spc="-70" dirty="0">
                <a:latin typeface="宋体" panose="02010600030101010101" pitchFamily="2" charset="-122"/>
              </a:rPr>
              <a:t>(</a:t>
            </a:r>
            <a:r>
              <a:rPr lang="zh-CN" altLang="en-US" sz="1600" b="1" spc="-70" dirty="0">
                <a:latin typeface="宋体" panose="02010600030101010101" pitchFamily="2" charset="-122"/>
              </a:rPr>
              <a:t>含请求</a:t>
            </a:r>
            <a:r>
              <a:rPr lang="en-US" altLang="zh-CN" sz="1600" b="1" spc="-70" dirty="0">
                <a:latin typeface="宋体" panose="02010600030101010101" pitchFamily="2" charset="-122"/>
              </a:rPr>
              <a:t>/</a:t>
            </a:r>
            <a:r>
              <a:rPr lang="zh-CN" altLang="en-US" sz="1600" b="1" spc="-70" dirty="0">
                <a:latin typeface="宋体" panose="02010600030101010101" pitchFamily="2" charset="-122"/>
              </a:rPr>
              <a:t>应答</a:t>
            </a:r>
            <a:r>
              <a:rPr lang="en-US" altLang="zh-CN" sz="1600" b="1" spc="-70" dirty="0">
                <a:latin typeface="宋体" panose="02010600030101010101" pitchFamily="2" charset="-122"/>
              </a:rPr>
              <a:t>)</a:t>
            </a:r>
            <a:endParaRPr lang="zh-CN" altLang="en-US" sz="2000" b="1" spc="-70" dirty="0">
              <a:latin typeface="宋体" panose="02010600030101010101" pitchFamily="2" charset="-122"/>
            </a:endParaRPr>
          </a:p>
        </p:txBody>
      </p:sp>
      <p:sp>
        <p:nvSpPr>
          <p:cNvPr id="13748" name="AutoShape 436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2988519" y="6524451"/>
            <a:ext cx="287337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48" name="Text Box 200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152000" y="1700550"/>
            <a:ext cx="7308000" cy="28829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36195" tIns="10800" rIns="36195" bIns="10800" anchor="ctr" anchorCtr="0">
            <a:noAutofit/>
          </a:bodyPr>
          <a:lstStyle/>
          <a:p>
            <a:pPr marL="805180" indent="-80518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800" b="1" dirty="0">
                <a:solidFill>
                  <a:srgbClr val="990099"/>
                </a:solidFill>
                <a:latin typeface="+mn-ea"/>
                <a:ea typeface="+mn-ea"/>
              </a:rPr>
              <a:t>思考：</a:t>
            </a:r>
            <a:r>
              <a:rPr lang="zh-CN" sz="1800" b="1" dirty="0">
                <a:latin typeface="宋体" panose="02010600030101010101" pitchFamily="2" charset="-122"/>
              </a:rPr>
              <a:t>总线传送</a:t>
            </a:r>
            <a:r>
              <a:rPr lang="en-US" altLang="zh-CN" sz="1800" b="1" dirty="0">
                <a:latin typeface="宋体" panose="02010600030101010101" pitchFamily="2" charset="-122"/>
              </a:rPr>
              <a:t>1</a:t>
            </a:r>
            <a:r>
              <a:rPr lang="zh-CN" altLang="en-US" sz="1800" b="1" dirty="0">
                <a:latin typeface="宋体" panose="02010600030101010101" pitchFamily="2" charset="-122"/>
              </a:rPr>
              <a:t>个数据</a:t>
            </a:r>
            <a:r>
              <a:rPr lang="en-US" altLang="zh-CN" sz="1800" b="1" dirty="0">
                <a:latin typeface="宋体" panose="02010600030101010101" pitchFamily="2" charset="-122"/>
              </a:rPr>
              <a:t>/</a:t>
            </a:r>
            <a:r>
              <a:rPr lang="zh-CN" altLang="en-US" sz="1800" b="1" dirty="0">
                <a:latin typeface="宋体" panose="02010600030101010101" pitchFamily="2" charset="-122"/>
              </a:rPr>
              <a:t>次，</a:t>
            </a:r>
            <a:r>
              <a:rPr lang="zh-CN" altLang="zh-CN" sz="1800" b="1" dirty="0">
                <a:latin typeface="宋体" panose="02010600030101010101" pitchFamily="2" charset="-122"/>
                <a:sym typeface="+mn-ea"/>
              </a:rPr>
              <a:t>如何实现</a:t>
            </a:r>
            <a:r>
              <a:rPr lang="zh-CN" sz="1800" b="1" dirty="0">
                <a:latin typeface="宋体" panose="02010600030101010101" pitchFamily="2" charset="-122"/>
                <a:sym typeface="+mn-ea"/>
              </a:rPr>
              <a:t>批量传送</a:t>
            </a:r>
            <a:r>
              <a:rPr lang="zh-CN" altLang="en-US" sz="1800" b="1" dirty="0">
                <a:latin typeface="宋体" panose="02010600030101010101" pitchFamily="2" charset="-122"/>
              </a:rPr>
              <a:t>？接口如何提供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支持</a:t>
            </a:r>
            <a:r>
              <a:rPr lang="zh-CN" altLang="en-US" sz="1800" b="1" dirty="0">
                <a:latin typeface="宋体" panose="02010600030101010101" pitchFamily="2" charset="-122"/>
              </a:rPr>
              <a:t>？</a:t>
            </a:r>
          </a:p>
        </p:txBody>
      </p:sp>
      <p:sp>
        <p:nvSpPr>
          <p:cNvPr id="549" name="Text Box 95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4427984" y="2060848"/>
            <a:ext cx="1546225" cy="269875"/>
          </a:xfrm>
          <a:prstGeom prst="rect">
            <a:avLst/>
          </a:prstGeom>
          <a:noFill/>
          <a:ln w="12700">
            <a:noFill/>
            <a:prstDash val="sysDash"/>
            <a:miter lim="800000"/>
          </a:ln>
          <a:effectLst/>
        </p:spPr>
        <p:txBody>
          <a:bodyPr lIns="18000" tIns="10800" rIns="18000" bIns="10800" anchor="ctr"/>
          <a:lstStyle/>
          <a:p>
            <a:pPr algn="l">
              <a:lnSpc>
                <a:spcPct val="90000"/>
              </a:lnSpc>
            </a:pPr>
            <a:r>
              <a:rPr lang="zh-CN" altLang="en-US" sz="1600" b="1" dirty="0">
                <a:solidFill>
                  <a:srgbClr val="0070C0"/>
                </a:solidFill>
                <a:latin typeface="宋体" panose="02010600030101010101" pitchFamily="2" charset="-122"/>
              </a:rPr>
              <a:t>循环方式</a:t>
            </a:r>
            <a:r>
              <a:rPr lang="zh-CN" altLang="en-US" sz="1600" b="1" dirty="0">
                <a:latin typeface="宋体" panose="02010600030101010101" pitchFamily="2" charset="-122"/>
              </a:rPr>
              <a:t>传送，</a:t>
            </a:r>
            <a:endParaRPr lang="zh-CN" altLang="en-US" sz="1600" b="1" dirty="0">
              <a:solidFill>
                <a:srgbClr val="0070C0"/>
              </a:solidFill>
              <a:latin typeface="宋体" panose="02010600030101010101" pitchFamily="2" charset="-122"/>
            </a:endParaRPr>
          </a:p>
        </p:txBody>
      </p:sp>
      <p:grpSp>
        <p:nvGrpSpPr>
          <p:cNvPr id="670" name="组合 669"/>
          <p:cNvGrpSpPr/>
          <p:nvPr/>
        </p:nvGrpSpPr>
        <p:grpSpPr>
          <a:xfrm>
            <a:off x="3779436" y="3429000"/>
            <a:ext cx="1403985" cy="612140"/>
            <a:chOff x="6576" y="4309"/>
            <a:chExt cx="2211" cy="964"/>
          </a:xfrm>
        </p:grpSpPr>
        <p:sp>
          <p:nvSpPr>
            <p:cNvPr id="669" name="Rectangle 333"/>
            <p:cNvSpPr>
              <a:spLocks noChangeArrowheads="1"/>
            </p:cNvSpPr>
            <p:nvPr>
              <p:custDataLst>
                <p:tags r:id="rId78"/>
              </p:custDataLst>
            </p:nvPr>
          </p:nvSpPr>
          <p:spPr bwMode="auto">
            <a:xfrm>
              <a:off x="6576" y="4309"/>
              <a:ext cx="2211" cy="964"/>
            </a:xfrm>
            <a:prstGeom prst="rect">
              <a:avLst/>
            </a:prstGeom>
            <a:solidFill>
              <a:srgbClr val="CCCCFF"/>
            </a:solidFill>
            <a:ln w="9525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cxnSp>
          <p:nvCxnSpPr>
            <p:cNvPr id="663" name="直接连接符 662"/>
            <p:cNvCxnSpPr/>
            <p:nvPr>
              <p:custDataLst>
                <p:tags r:id="rId79"/>
              </p:custDataLst>
            </p:nvPr>
          </p:nvCxnSpPr>
          <p:spPr bwMode="auto">
            <a:xfrm flipH="1" flipV="1">
              <a:off x="6690" y="4422"/>
              <a:ext cx="0" cy="454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664" name="直接连接符 663"/>
            <p:cNvCxnSpPr/>
            <p:nvPr>
              <p:custDataLst>
                <p:tags r:id="rId80"/>
              </p:custDataLst>
            </p:nvPr>
          </p:nvCxnSpPr>
          <p:spPr bwMode="auto">
            <a:xfrm flipH="1" flipV="1">
              <a:off x="6803" y="4422"/>
              <a:ext cx="0" cy="454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665" name="Text Box 398"/>
            <p:cNvSpPr txBox="1">
              <a:spLocks noChangeArrowheads="1"/>
            </p:cNvSpPr>
            <p:nvPr>
              <p:custDataLst>
                <p:tags r:id="rId81"/>
              </p:custDataLst>
            </p:nvPr>
          </p:nvSpPr>
          <p:spPr bwMode="auto">
            <a:xfrm>
              <a:off x="6860" y="4488"/>
              <a:ext cx="1531" cy="34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7780" rIns="18000" bIns="0" anchor="ctr"/>
            <a:lstStyle/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MEMR/MEMW</a:t>
              </a:r>
            </a:p>
          </p:txBody>
        </p:sp>
        <p:cxnSp>
          <p:nvCxnSpPr>
            <p:cNvPr id="666" name="直接连接符 665"/>
            <p:cNvCxnSpPr/>
            <p:nvPr>
              <p:custDataLst>
                <p:tags r:id="rId82"/>
              </p:custDataLst>
            </p:nvPr>
          </p:nvCxnSpPr>
          <p:spPr bwMode="auto">
            <a:xfrm>
              <a:off x="6917" y="4535"/>
              <a:ext cx="595" cy="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67" name="直接连接符 666"/>
            <p:cNvCxnSpPr/>
            <p:nvPr>
              <p:custDataLst>
                <p:tags r:id="rId83"/>
              </p:custDataLst>
            </p:nvPr>
          </p:nvCxnSpPr>
          <p:spPr bwMode="auto">
            <a:xfrm>
              <a:off x="7710" y="4535"/>
              <a:ext cx="652" cy="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68" name="直接连接符 667"/>
            <p:cNvCxnSpPr/>
            <p:nvPr>
              <p:custDataLst>
                <p:tags r:id="rId84"/>
              </p:custDataLst>
            </p:nvPr>
          </p:nvCxnSpPr>
          <p:spPr bwMode="auto">
            <a:xfrm flipV="1">
              <a:off x="8674" y="4422"/>
              <a:ext cx="0" cy="454"/>
            </a:xfrm>
            <a:prstGeom prst="line">
              <a:avLst/>
            </a:prstGeom>
            <a:noFill/>
            <a:ln w="15875" cap="flat" cmpd="sng" algn="ctr">
              <a:solidFill>
                <a:srgbClr val="C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</p:grpSp>
      <p:grpSp>
        <p:nvGrpSpPr>
          <p:cNvPr id="656" name="组合 655"/>
          <p:cNvGrpSpPr/>
          <p:nvPr/>
        </p:nvGrpSpPr>
        <p:grpSpPr>
          <a:xfrm>
            <a:off x="3815631" y="4040805"/>
            <a:ext cx="3023870" cy="1260475"/>
            <a:chOff x="6633" y="5215"/>
            <a:chExt cx="4762" cy="1985"/>
          </a:xfrm>
        </p:grpSpPr>
        <p:sp>
          <p:nvSpPr>
            <p:cNvPr id="635" name="Rectangle 322"/>
            <p:cNvSpPr>
              <a:spLocks noChangeArrowheads="1"/>
            </p:cNvSpPr>
            <p:nvPr>
              <p:custDataLst>
                <p:tags r:id="rId68"/>
              </p:custDataLst>
            </p:nvPr>
          </p:nvSpPr>
          <p:spPr bwMode="auto">
            <a:xfrm>
              <a:off x="6633" y="5499"/>
              <a:ext cx="3118" cy="1134"/>
            </a:xfrm>
            <a:prstGeom prst="rect">
              <a:avLst/>
            </a:prstGeom>
            <a:solidFill>
              <a:srgbClr val="CCCCFF"/>
            </a:solidFill>
            <a:ln w="9525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38" name="Text Box 336"/>
            <p:cNvSpPr txBox="1">
              <a:spLocks noChangeArrowheads="1"/>
            </p:cNvSpPr>
            <p:nvPr>
              <p:custDataLst>
                <p:tags r:id="rId69"/>
              </p:custDataLst>
            </p:nvPr>
          </p:nvSpPr>
          <p:spPr bwMode="auto">
            <a:xfrm>
              <a:off x="6746" y="5613"/>
              <a:ext cx="2893" cy="398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marL="0" indent="0" algn="ctr" eaLnBrk="1" latinLnBrk="0" hangingPunct="1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主存地址计数器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MAC</a:t>
              </a:r>
            </a:p>
          </p:txBody>
        </p:sp>
        <p:sp>
          <p:nvSpPr>
            <p:cNvPr id="639" name="Text Box 417"/>
            <p:cNvSpPr txBox="1">
              <a:spLocks noChangeArrowheads="1"/>
            </p:cNvSpPr>
            <p:nvPr>
              <p:custDataLst>
                <p:tags r:id="rId70"/>
              </p:custDataLst>
            </p:nvPr>
          </p:nvSpPr>
          <p:spPr bwMode="auto">
            <a:xfrm>
              <a:off x="6746" y="6123"/>
              <a:ext cx="2893" cy="398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marL="0" indent="0" algn="ctr" eaLnBrk="1" latinLnBrk="0" hangingPunct="1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传送字数计数器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WC</a:t>
              </a:r>
            </a:p>
          </p:txBody>
        </p:sp>
        <p:cxnSp>
          <p:nvCxnSpPr>
            <p:cNvPr id="641" name="直接连接符 640"/>
            <p:cNvCxnSpPr/>
            <p:nvPr>
              <p:custDataLst>
                <p:tags r:id="rId71"/>
              </p:custDataLst>
            </p:nvPr>
          </p:nvCxnSpPr>
          <p:spPr bwMode="auto">
            <a:xfrm flipV="1">
              <a:off x="8674" y="5215"/>
              <a:ext cx="0" cy="397"/>
            </a:xfrm>
            <a:prstGeom prst="line">
              <a:avLst/>
            </a:prstGeom>
            <a:noFill/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642" name="直接连接符 641"/>
            <p:cNvCxnSpPr/>
            <p:nvPr>
              <p:custDataLst>
                <p:tags r:id="rId72"/>
              </p:custDataLst>
            </p:nvPr>
          </p:nvCxnSpPr>
          <p:spPr bwMode="auto">
            <a:xfrm flipV="1">
              <a:off x="9638" y="5839"/>
              <a:ext cx="397" cy="0"/>
            </a:xfrm>
            <a:prstGeom prst="line">
              <a:avLst/>
            </a:prstGeom>
            <a:noFill/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43" name="直接连接符 642"/>
            <p:cNvCxnSpPr/>
            <p:nvPr>
              <p:custDataLst>
                <p:tags r:id="rId73"/>
              </p:custDataLst>
            </p:nvPr>
          </p:nvCxnSpPr>
          <p:spPr bwMode="auto">
            <a:xfrm flipV="1">
              <a:off x="9638" y="6293"/>
              <a:ext cx="397" cy="0"/>
            </a:xfrm>
            <a:prstGeom prst="line">
              <a:avLst/>
            </a:prstGeom>
            <a:noFill/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650" name="Text Box 416"/>
            <p:cNvSpPr txBox="1">
              <a:spLocks noChangeArrowheads="1"/>
            </p:cNvSpPr>
            <p:nvPr>
              <p:custDataLst>
                <p:tags r:id="rId74"/>
              </p:custDataLst>
            </p:nvPr>
          </p:nvSpPr>
          <p:spPr bwMode="auto">
            <a:xfrm>
              <a:off x="8787" y="6689"/>
              <a:ext cx="1361" cy="283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dirty="0">
                  <a:latin typeface="宋体" panose="02010600030101010101" pitchFamily="2" charset="-122"/>
                </a:rPr>
                <a:t>EOP</a:t>
              </a:r>
              <a:r>
                <a:rPr lang="en-US" altLang="zh-CN" sz="1400" b="1" dirty="0">
                  <a:latin typeface="宋体" panose="02010600030101010101" pitchFamily="2" charset="-122"/>
                  <a:sym typeface="+mn-ea"/>
                </a:rPr>
                <a:t>(</a:t>
              </a:r>
              <a:r>
                <a:rPr lang="zh-CN" altLang="en-US" sz="1400" b="1" dirty="0">
                  <a:latin typeface="宋体" panose="02010600030101010101" pitchFamily="2" charset="-122"/>
                  <a:sym typeface="+mn-ea"/>
                </a:rPr>
                <a:t>结束</a:t>
              </a:r>
              <a:r>
                <a:rPr lang="en-US" altLang="zh-CN" sz="1400" b="1" dirty="0">
                  <a:latin typeface="宋体" panose="02010600030101010101" pitchFamily="2" charset="-122"/>
                  <a:sym typeface="+mn-ea"/>
                </a:rPr>
                <a:t>)</a:t>
              </a:r>
            </a:p>
          </p:txBody>
        </p:sp>
        <p:cxnSp>
          <p:nvCxnSpPr>
            <p:cNvPr id="651" name="直接连接符 650"/>
            <p:cNvCxnSpPr/>
            <p:nvPr>
              <p:custDataLst>
                <p:tags r:id="rId75"/>
              </p:custDataLst>
            </p:nvPr>
          </p:nvCxnSpPr>
          <p:spPr bwMode="auto">
            <a:xfrm>
              <a:off x="8787" y="6520"/>
              <a:ext cx="0" cy="454"/>
            </a:xfrm>
            <a:prstGeom prst="line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54" name="直接连接符 653"/>
            <p:cNvCxnSpPr/>
            <p:nvPr>
              <p:custDataLst>
                <p:tags r:id="rId76"/>
              </p:custDataLst>
            </p:nvPr>
          </p:nvCxnSpPr>
          <p:spPr bwMode="auto">
            <a:xfrm>
              <a:off x="11395" y="6973"/>
              <a:ext cx="0" cy="227"/>
            </a:xfrm>
            <a:prstGeom prst="line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655" name="直接连接符 654"/>
            <p:cNvCxnSpPr/>
            <p:nvPr>
              <p:custDataLst>
                <p:tags r:id="rId77"/>
              </p:custDataLst>
            </p:nvPr>
          </p:nvCxnSpPr>
          <p:spPr bwMode="auto">
            <a:xfrm flipV="1">
              <a:off x="8787" y="6973"/>
              <a:ext cx="2608" cy="0"/>
            </a:xfrm>
            <a:prstGeom prst="line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697" name="组合 696"/>
          <p:cNvGrpSpPr/>
          <p:nvPr/>
        </p:nvGrpSpPr>
        <p:grpSpPr>
          <a:xfrm>
            <a:off x="2735496" y="5049000"/>
            <a:ext cx="3780155" cy="791210"/>
            <a:chOff x="4932" y="6917"/>
            <a:chExt cx="5953" cy="1246"/>
          </a:xfrm>
        </p:grpSpPr>
        <p:sp>
          <p:nvSpPr>
            <p:cNvPr id="672" name="Rectangle 322"/>
            <p:cNvSpPr>
              <a:spLocks noChangeArrowheads="1"/>
            </p:cNvSpPr>
            <p:nvPr>
              <p:custDataLst>
                <p:tags r:id="rId52"/>
              </p:custDataLst>
            </p:nvPr>
          </p:nvSpPr>
          <p:spPr bwMode="auto">
            <a:xfrm>
              <a:off x="5783" y="7370"/>
              <a:ext cx="5102" cy="680"/>
            </a:xfrm>
            <a:prstGeom prst="rect">
              <a:avLst/>
            </a:prstGeom>
            <a:solidFill>
              <a:srgbClr val="CCCCFF">
                <a:alpha val="80000"/>
              </a:srgbClr>
            </a:solidFill>
            <a:ln w="9525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73" name="Text Box 420"/>
            <p:cNvSpPr txBox="1">
              <a:spLocks noChangeArrowheads="1"/>
            </p:cNvSpPr>
            <p:nvPr>
              <p:custDataLst>
                <p:tags r:id="rId53"/>
              </p:custDataLst>
            </p:nvPr>
          </p:nvSpPr>
          <p:spPr bwMode="auto">
            <a:xfrm>
              <a:off x="8843" y="7540"/>
              <a:ext cx="1928" cy="397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DMA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请求逻辑</a:t>
              </a:r>
            </a:p>
          </p:txBody>
        </p:sp>
        <p:sp>
          <p:nvSpPr>
            <p:cNvPr id="676" name="Text Box 423"/>
            <p:cNvSpPr txBox="1">
              <a:spLocks noChangeArrowheads="1"/>
            </p:cNvSpPr>
            <p:nvPr>
              <p:custDataLst>
                <p:tags r:id="rId54"/>
              </p:custDataLst>
            </p:nvPr>
          </p:nvSpPr>
          <p:spPr bwMode="auto">
            <a:xfrm>
              <a:off x="7994" y="7370"/>
              <a:ext cx="737" cy="283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DREQ</a:t>
              </a:r>
            </a:p>
          </p:txBody>
        </p:sp>
        <p:sp>
          <p:nvSpPr>
            <p:cNvPr id="677" name="Text Box 424"/>
            <p:cNvSpPr txBox="1">
              <a:spLocks noChangeArrowheads="1"/>
            </p:cNvSpPr>
            <p:nvPr>
              <p:custDataLst>
                <p:tags r:id="rId55"/>
              </p:custDataLst>
            </p:nvPr>
          </p:nvSpPr>
          <p:spPr bwMode="auto">
            <a:xfrm>
              <a:off x="7994" y="7767"/>
              <a:ext cx="737" cy="283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DACK</a:t>
              </a:r>
            </a:p>
          </p:txBody>
        </p:sp>
        <p:sp>
          <p:nvSpPr>
            <p:cNvPr id="680" name="Text Box 427"/>
            <p:cNvSpPr txBox="1">
              <a:spLocks noChangeArrowheads="1"/>
            </p:cNvSpPr>
            <p:nvPr>
              <p:custDataLst>
                <p:tags r:id="rId56"/>
              </p:custDataLst>
            </p:nvPr>
          </p:nvSpPr>
          <p:spPr bwMode="auto">
            <a:xfrm>
              <a:off x="4989" y="7426"/>
              <a:ext cx="737" cy="283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HRQ</a:t>
              </a:r>
            </a:p>
          </p:txBody>
        </p:sp>
        <p:sp>
          <p:nvSpPr>
            <p:cNvPr id="681" name="Text Box 428"/>
            <p:cNvSpPr txBox="1">
              <a:spLocks noChangeArrowheads="1"/>
            </p:cNvSpPr>
            <p:nvPr>
              <p:custDataLst>
                <p:tags r:id="rId57"/>
              </p:custDataLst>
            </p:nvPr>
          </p:nvSpPr>
          <p:spPr bwMode="auto">
            <a:xfrm>
              <a:off x="4989" y="7880"/>
              <a:ext cx="737" cy="283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HLDA</a:t>
              </a:r>
            </a:p>
          </p:txBody>
        </p:sp>
        <p:sp>
          <p:nvSpPr>
            <p:cNvPr id="682" name="Text Box 430"/>
            <p:cNvSpPr txBox="1">
              <a:spLocks noChangeArrowheads="1"/>
            </p:cNvSpPr>
            <p:nvPr>
              <p:custDataLst>
                <p:tags r:id="rId58"/>
              </p:custDataLst>
            </p:nvPr>
          </p:nvSpPr>
          <p:spPr bwMode="auto">
            <a:xfrm>
              <a:off x="5953" y="7540"/>
              <a:ext cx="1928" cy="397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DMA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控制逻辑</a:t>
              </a:r>
            </a:p>
          </p:txBody>
        </p:sp>
        <p:cxnSp>
          <p:nvCxnSpPr>
            <p:cNvPr id="690" name="直接连接符 689"/>
            <p:cNvCxnSpPr/>
            <p:nvPr>
              <p:custDataLst>
                <p:tags r:id="rId59"/>
              </p:custDataLst>
            </p:nvPr>
          </p:nvCxnSpPr>
          <p:spPr bwMode="auto">
            <a:xfrm flipH="1">
              <a:off x="7880" y="7653"/>
              <a:ext cx="964" cy="0"/>
            </a:xfrm>
            <a:prstGeom prst="line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691" name="直接连接符 690"/>
            <p:cNvCxnSpPr/>
            <p:nvPr>
              <p:custDataLst>
                <p:tags r:id="rId60"/>
              </p:custDataLst>
            </p:nvPr>
          </p:nvCxnSpPr>
          <p:spPr bwMode="auto">
            <a:xfrm>
              <a:off x="7880" y="7767"/>
              <a:ext cx="964" cy="0"/>
            </a:xfrm>
            <a:prstGeom prst="line">
              <a:avLst/>
            </a:prstGeom>
            <a:noFill/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692" name="直接连接符 691"/>
            <p:cNvCxnSpPr/>
            <p:nvPr>
              <p:custDataLst>
                <p:tags r:id="rId61"/>
              </p:custDataLst>
            </p:nvPr>
          </p:nvCxnSpPr>
          <p:spPr bwMode="auto">
            <a:xfrm flipH="1">
              <a:off x="4932" y="7710"/>
              <a:ext cx="1020" cy="0"/>
            </a:xfrm>
            <a:prstGeom prst="line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693" name="直接连接符 692"/>
            <p:cNvCxnSpPr/>
            <p:nvPr>
              <p:custDataLst>
                <p:tags r:id="rId62"/>
              </p:custDataLst>
            </p:nvPr>
          </p:nvCxnSpPr>
          <p:spPr bwMode="auto">
            <a:xfrm>
              <a:off x="4932" y="7823"/>
              <a:ext cx="1020" cy="0"/>
            </a:xfrm>
            <a:prstGeom prst="line">
              <a:avLst/>
            </a:prstGeom>
            <a:noFill/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694" name="Text Box 427"/>
            <p:cNvSpPr txBox="1">
              <a:spLocks noChangeArrowheads="1"/>
            </p:cNvSpPr>
            <p:nvPr>
              <p:custDataLst>
                <p:tags r:id="rId63"/>
              </p:custDataLst>
            </p:nvPr>
          </p:nvSpPr>
          <p:spPr bwMode="auto">
            <a:xfrm>
              <a:off x="5783" y="7087"/>
              <a:ext cx="1247" cy="283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400" b="1" dirty="0">
                  <a:latin typeface="宋体" panose="02010600030101010101" pitchFamily="2" charset="-122"/>
                </a:rPr>
                <a:t>总线控制</a:t>
              </a:r>
            </a:p>
          </p:txBody>
        </p:sp>
        <p:sp>
          <p:nvSpPr>
            <p:cNvPr id="695" name="Text Box 427"/>
            <p:cNvSpPr txBox="1">
              <a:spLocks noChangeArrowheads="1"/>
            </p:cNvSpPr>
            <p:nvPr>
              <p:custDataLst>
                <p:tags r:id="rId64"/>
              </p:custDataLst>
            </p:nvPr>
          </p:nvSpPr>
          <p:spPr bwMode="auto">
            <a:xfrm>
              <a:off x="7200" y="7087"/>
              <a:ext cx="1474" cy="283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400" b="1" dirty="0">
                  <a:latin typeface="宋体" panose="02010600030101010101" pitchFamily="2" charset="-122"/>
                </a:rPr>
                <a:t>计数器控制</a:t>
              </a:r>
            </a:p>
          </p:txBody>
        </p:sp>
        <p:cxnSp>
          <p:nvCxnSpPr>
            <p:cNvPr id="689" name="直接连接符 688"/>
            <p:cNvCxnSpPr/>
            <p:nvPr>
              <p:custDataLst>
                <p:tags r:id="rId65"/>
              </p:custDataLst>
            </p:nvPr>
          </p:nvCxnSpPr>
          <p:spPr bwMode="auto">
            <a:xfrm>
              <a:off x="10602" y="6917"/>
              <a:ext cx="0" cy="624"/>
            </a:xfrm>
            <a:prstGeom prst="line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687" name="直接连接符 686"/>
            <p:cNvCxnSpPr/>
            <p:nvPr>
              <p:custDataLst>
                <p:tags r:id="rId66"/>
              </p:custDataLst>
            </p:nvPr>
          </p:nvCxnSpPr>
          <p:spPr bwMode="auto">
            <a:xfrm flipH="1" flipV="1">
              <a:off x="7030" y="6973"/>
              <a:ext cx="0" cy="567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688" name="直接连接符 687"/>
            <p:cNvCxnSpPr/>
            <p:nvPr>
              <p:custDataLst>
                <p:tags r:id="rId67"/>
              </p:custDataLst>
            </p:nvPr>
          </p:nvCxnSpPr>
          <p:spPr bwMode="auto">
            <a:xfrm flipH="1" flipV="1">
              <a:off x="7200" y="6973"/>
              <a:ext cx="0" cy="567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grpSp>
        <p:nvGrpSpPr>
          <p:cNvPr id="702" name="组合 701"/>
          <p:cNvGrpSpPr/>
          <p:nvPr/>
        </p:nvGrpSpPr>
        <p:grpSpPr>
          <a:xfrm>
            <a:off x="1475656" y="3501065"/>
            <a:ext cx="6443980" cy="2412365"/>
            <a:chOff x="2948" y="4819"/>
            <a:chExt cx="10148" cy="3799"/>
          </a:xfrm>
        </p:grpSpPr>
        <p:sp>
          <p:nvSpPr>
            <p:cNvPr id="551" name="Rectangle 356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5726" y="5273"/>
              <a:ext cx="6633" cy="3231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52" name="Text Box 357"/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10261" y="6350"/>
              <a:ext cx="1928" cy="397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>
                  <a:latin typeface="宋体" panose="02010600030101010101" pitchFamily="2" charset="-122"/>
                </a:rPr>
                <a:t>控制</a:t>
              </a:r>
              <a:r>
                <a:rPr lang="en-US" altLang="zh-CN" sz="1600" b="1">
                  <a:latin typeface="宋体" panose="02010600030101010101" pitchFamily="2" charset="-122"/>
                </a:rPr>
                <a:t>REG</a:t>
              </a:r>
            </a:p>
          </p:txBody>
        </p:sp>
        <p:sp>
          <p:nvSpPr>
            <p:cNvPr id="553" name="Text Box 358"/>
            <p:cNvSpPr txBox="1"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10261" y="5272"/>
              <a:ext cx="1928" cy="397"/>
            </a:xfrm>
            <a:prstGeom prst="rect">
              <a:avLst/>
            </a:prstGeom>
            <a:solidFill>
              <a:srgbClr val="FFFF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 err="1">
                  <a:latin typeface="宋体" panose="02010600030101010101" pitchFamily="2" charset="-122"/>
                </a:rPr>
                <a:t>DBus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缓冲器</a:t>
              </a:r>
            </a:p>
          </p:txBody>
        </p:sp>
        <p:sp>
          <p:nvSpPr>
            <p:cNvPr id="556" name="Text Box 361"/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10261" y="5839"/>
              <a:ext cx="1928" cy="397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</a:rPr>
                <a:t>数据缓冲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REG</a:t>
              </a:r>
            </a:p>
          </p:txBody>
        </p:sp>
        <p:sp>
          <p:nvSpPr>
            <p:cNvPr id="557" name="Text Box 362"/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10261" y="6860"/>
              <a:ext cx="1928" cy="397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</a:rPr>
                <a:t>状态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REG</a:t>
              </a:r>
            </a:p>
          </p:txBody>
        </p:sp>
        <p:sp>
          <p:nvSpPr>
            <p:cNvPr id="558" name="Text Box 363"/>
            <p:cNvSpPr txBox="1"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11112" y="7654"/>
              <a:ext cx="1077" cy="737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</a:rPr>
                <a:t>中断请求逻辑</a:t>
              </a:r>
            </a:p>
          </p:txBody>
        </p:sp>
        <p:sp>
          <p:nvSpPr>
            <p:cNvPr id="562" name="Text Box 367"/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12643" y="5896"/>
              <a:ext cx="453" cy="1361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vert="eaVert"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外  设</a:t>
              </a:r>
            </a:p>
          </p:txBody>
        </p:sp>
        <p:sp>
          <p:nvSpPr>
            <p:cNvPr id="564" name="Text Box 369"/>
            <p:cNvSpPr txBox="1"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7767" y="5272"/>
              <a:ext cx="1701" cy="397"/>
            </a:xfrm>
            <a:prstGeom prst="rect">
              <a:avLst/>
            </a:prstGeom>
            <a:solidFill>
              <a:srgbClr val="FFFF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 err="1">
                  <a:latin typeface="宋体" panose="02010600030101010101" pitchFamily="2" charset="-122"/>
                </a:rPr>
                <a:t>ABus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锁存器</a:t>
              </a:r>
            </a:p>
          </p:txBody>
        </p:sp>
        <p:sp>
          <p:nvSpPr>
            <p:cNvPr id="570" name="Text Box 375"/>
            <p:cNvSpPr txBox="1"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5840" y="5272"/>
              <a:ext cx="1474" cy="397"/>
            </a:xfrm>
            <a:prstGeom prst="rect">
              <a:avLst/>
            </a:prstGeom>
            <a:solidFill>
              <a:srgbClr val="FFFF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 err="1">
                  <a:latin typeface="宋体" panose="02010600030101010101" pitchFamily="2" charset="-122"/>
                </a:rPr>
                <a:t>CBus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逻辑</a:t>
              </a:r>
            </a:p>
          </p:txBody>
        </p:sp>
        <p:sp>
          <p:nvSpPr>
            <p:cNvPr id="580" name="Text Box 385"/>
            <p:cNvSpPr txBox="1"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3118" y="7994"/>
              <a:ext cx="737" cy="283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INTR</a:t>
              </a:r>
            </a:p>
          </p:txBody>
        </p:sp>
        <p:sp>
          <p:nvSpPr>
            <p:cNvPr id="588" name="Text Box 393"/>
            <p:cNvSpPr txBox="1"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2948" y="5272"/>
              <a:ext cx="680" cy="2041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800" b="1">
                  <a:latin typeface="宋体" panose="02010600030101010101" pitchFamily="2" charset="-122"/>
                </a:rPr>
                <a:t>主</a:t>
              </a:r>
            </a:p>
            <a:p>
              <a:pPr algn="ctr"/>
              <a:endParaRPr lang="zh-CN" altLang="en-US" sz="1800" b="1">
                <a:latin typeface="宋体" panose="02010600030101010101" pitchFamily="2" charset="-122"/>
              </a:endParaRPr>
            </a:p>
            <a:p>
              <a:pPr algn="ctr"/>
              <a:r>
                <a:rPr lang="zh-CN" altLang="en-US" sz="1800" b="1">
                  <a:latin typeface="宋体" panose="02010600030101010101" pitchFamily="2" charset="-122"/>
                </a:rPr>
                <a:t>存</a:t>
              </a:r>
            </a:p>
          </p:txBody>
        </p:sp>
        <p:sp>
          <p:nvSpPr>
            <p:cNvPr id="593" name="Text Box 398"/>
            <p:cNvSpPr txBox="1"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5046" y="4884"/>
              <a:ext cx="1247" cy="34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7780" rIns="18000" bIns="0" anchor="ctr"/>
            <a:lstStyle/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IOR/IOW</a:t>
              </a:r>
            </a:p>
          </p:txBody>
        </p:sp>
        <p:sp>
          <p:nvSpPr>
            <p:cNvPr id="594" name="Text Box 399"/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3969" y="5273"/>
              <a:ext cx="964" cy="3231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en-US" altLang="zh-CN" sz="1800" b="1">
                  <a:latin typeface="宋体" panose="02010600030101010101" pitchFamily="2" charset="-122"/>
                </a:rPr>
                <a:t>CPU</a:t>
              </a:r>
            </a:p>
          </p:txBody>
        </p:sp>
        <p:cxnSp>
          <p:nvCxnSpPr>
            <p:cNvPr id="596" name="直接连接符 595"/>
            <p:cNvCxnSpPr/>
            <p:nvPr>
              <p:custDataLst>
                <p:tags r:id="rId17"/>
              </p:custDataLst>
            </p:nvPr>
          </p:nvCxnSpPr>
          <p:spPr bwMode="auto">
            <a:xfrm>
              <a:off x="6350" y="4819"/>
              <a:ext cx="0" cy="454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597" name="直接连接符 596"/>
            <p:cNvCxnSpPr/>
            <p:nvPr>
              <p:custDataLst>
                <p:tags r:id="rId18"/>
              </p:custDataLst>
            </p:nvPr>
          </p:nvCxnSpPr>
          <p:spPr bwMode="auto">
            <a:xfrm>
              <a:off x="2948" y="4819"/>
              <a:ext cx="9468" cy="0"/>
            </a:xfrm>
            <a:prstGeom prst="line">
              <a:avLst/>
            </a:prstGeom>
            <a:noFill/>
            <a:ln w="25400" cap="flat" cmpd="dbl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98" name="直接连接符 597"/>
            <p:cNvCxnSpPr/>
            <p:nvPr>
              <p:custDataLst>
                <p:tags r:id="rId19"/>
              </p:custDataLst>
            </p:nvPr>
          </p:nvCxnSpPr>
          <p:spPr bwMode="auto">
            <a:xfrm>
              <a:off x="6463" y="4819"/>
              <a:ext cx="0" cy="454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599" name="直接连接符 598"/>
            <p:cNvCxnSpPr/>
            <p:nvPr>
              <p:custDataLst>
                <p:tags r:id="rId20"/>
              </p:custDataLst>
            </p:nvPr>
          </p:nvCxnSpPr>
          <p:spPr bwMode="auto">
            <a:xfrm>
              <a:off x="5159" y="4932"/>
              <a:ext cx="454" cy="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00" name="直接连接符 599"/>
            <p:cNvCxnSpPr/>
            <p:nvPr>
              <p:custDataLst>
                <p:tags r:id="rId21"/>
              </p:custDataLst>
            </p:nvPr>
          </p:nvCxnSpPr>
          <p:spPr bwMode="auto">
            <a:xfrm>
              <a:off x="5783" y="4932"/>
              <a:ext cx="454" cy="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01" name="直接连接符 600"/>
            <p:cNvCxnSpPr/>
            <p:nvPr>
              <p:custDataLst>
                <p:tags r:id="rId22"/>
              </p:custDataLst>
            </p:nvPr>
          </p:nvCxnSpPr>
          <p:spPr bwMode="auto">
            <a:xfrm flipV="1">
              <a:off x="10035" y="5499"/>
              <a:ext cx="227" cy="0"/>
            </a:xfrm>
            <a:prstGeom prst="line">
              <a:avLst/>
            </a:prstGeom>
            <a:noFill/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02" name="直接连接符 601"/>
            <p:cNvCxnSpPr/>
            <p:nvPr>
              <p:custDataLst>
                <p:tags r:id="rId23"/>
              </p:custDataLst>
            </p:nvPr>
          </p:nvCxnSpPr>
          <p:spPr bwMode="auto">
            <a:xfrm>
              <a:off x="8674" y="4819"/>
              <a:ext cx="0" cy="454"/>
            </a:xfrm>
            <a:prstGeom prst="line">
              <a:avLst/>
            </a:prstGeom>
            <a:noFill/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603" name="直接连接符 602"/>
            <p:cNvCxnSpPr/>
            <p:nvPr>
              <p:custDataLst>
                <p:tags r:id="rId24"/>
              </p:custDataLst>
            </p:nvPr>
          </p:nvCxnSpPr>
          <p:spPr bwMode="auto">
            <a:xfrm>
              <a:off x="11169" y="4819"/>
              <a:ext cx="0" cy="454"/>
            </a:xfrm>
            <a:prstGeom prst="line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604" name="直接连接符 603"/>
            <p:cNvCxnSpPr>
              <a:endCxn id="557" idx="1"/>
            </p:cNvCxnSpPr>
            <p:nvPr>
              <p:custDataLst>
                <p:tags r:id="rId25"/>
              </p:custDataLst>
            </p:nvPr>
          </p:nvCxnSpPr>
          <p:spPr bwMode="auto">
            <a:xfrm>
              <a:off x="10035" y="5499"/>
              <a:ext cx="0" cy="1531"/>
            </a:xfrm>
            <a:prstGeom prst="line">
              <a:avLst/>
            </a:prstGeom>
            <a:noFill/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05" name="直接连接符 604"/>
            <p:cNvCxnSpPr/>
            <p:nvPr>
              <p:custDataLst>
                <p:tags r:id="rId26"/>
              </p:custDataLst>
            </p:nvPr>
          </p:nvCxnSpPr>
          <p:spPr bwMode="auto">
            <a:xfrm flipV="1">
              <a:off x="10035" y="6066"/>
              <a:ext cx="227" cy="0"/>
            </a:xfrm>
            <a:prstGeom prst="line">
              <a:avLst/>
            </a:prstGeom>
            <a:noFill/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06" name="直接连接符 605"/>
            <p:cNvCxnSpPr/>
            <p:nvPr>
              <p:custDataLst>
                <p:tags r:id="rId27"/>
              </p:custDataLst>
            </p:nvPr>
          </p:nvCxnSpPr>
          <p:spPr bwMode="auto">
            <a:xfrm flipV="1">
              <a:off x="10035" y="6576"/>
              <a:ext cx="227" cy="0"/>
            </a:xfrm>
            <a:prstGeom prst="line">
              <a:avLst/>
            </a:prstGeom>
            <a:noFill/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07" name="直接连接符 606"/>
            <p:cNvCxnSpPr/>
            <p:nvPr>
              <p:custDataLst>
                <p:tags r:id="rId28"/>
              </p:custDataLst>
            </p:nvPr>
          </p:nvCxnSpPr>
          <p:spPr bwMode="auto">
            <a:xfrm flipV="1">
              <a:off x="10035" y="7030"/>
              <a:ext cx="227" cy="0"/>
            </a:xfrm>
            <a:prstGeom prst="line">
              <a:avLst/>
            </a:prstGeom>
            <a:noFill/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08" name="直接连接符 607"/>
            <p:cNvCxnSpPr/>
            <p:nvPr>
              <p:custDataLst>
                <p:tags r:id="rId29"/>
              </p:custDataLst>
            </p:nvPr>
          </p:nvCxnSpPr>
          <p:spPr bwMode="auto">
            <a:xfrm>
              <a:off x="11849" y="7257"/>
              <a:ext cx="0" cy="397"/>
            </a:xfrm>
            <a:prstGeom prst="line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609" name="直接连接符 608"/>
            <p:cNvCxnSpPr/>
            <p:nvPr>
              <p:custDataLst>
                <p:tags r:id="rId30"/>
              </p:custDataLst>
            </p:nvPr>
          </p:nvCxnSpPr>
          <p:spPr bwMode="auto">
            <a:xfrm flipV="1">
              <a:off x="12189" y="6066"/>
              <a:ext cx="454" cy="0"/>
            </a:xfrm>
            <a:prstGeom prst="line">
              <a:avLst/>
            </a:prstGeom>
            <a:noFill/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10" name="直接连接符 609"/>
            <p:cNvCxnSpPr/>
            <p:nvPr>
              <p:custDataLst>
                <p:tags r:id="rId31"/>
              </p:custDataLst>
            </p:nvPr>
          </p:nvCxnSpPr>
          <p:spPr bwMode="auto">
            <a:xfrm>
              <a:off x="12189" y="6576"/>
              <a:ext cx="454" cy="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611" name="直接连接符 610"/>
            <p:cNvCxnSpPr/>
            <p:nvPr>
              <p:custDataLst>
                <p:tags r:id="rId32"/>
              </p:custDataLst>
            </p:nvPr>
          </p:nvCxnSpPr>
          <p:spPr bwMode="auto">
            <a:xfrm flipH="1">
              <a:off x="12190" y="7059"/>
              <a:ext cx="454" cy="0"/>
            </a:xfrm>
            <a:prstGeom prst="line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614" name="直接连接符 613"/>
            <p:cNvCxnSpPr/>
            <p:nvPr>
              <p:custDataLst>
                <p:tags r:id="rId33"/>
              </p:custDataLst>
            </p:nvPr>
          </p:nvCxnSpPr>
          <p:spPr bwMode="auto">
            <a:xfrm>
              <a:off x="11679" y="8391"/>
              <a:ext cx="0" cy="227"/>
            </a:xfrm>
            <a:prstGeom prst="line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15" name="直接连接符 614"/>
            <p:cNvCxnSpPr/>
            <p:nvPr>
              <p:custDataLst>
                <p:tags r:id="rId34"/>
              </p:custDataLst>
            </p:nvPr>
          </p:nvCxnSpPr>
          <p:spPr bwMode="auto">
            <a:xfrm flipH="1" flipV="1">
              <a:off x="3118" y="8617"/>
              <a:ext cx="8561" cy="0"/>
            </a:xfrm>
            <a:prstGeom prst="line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16" name="直接连接符 615"/>
            <p:cNvCxnSpPr/>
            <p:nvPr>
              <p:custDataLst>
                <p:tags r:id="rId35"/>
              </p:custDataLst>
            </p:nvPr>
          </p:nvCxnSpPr>
          <p:spPr bwMode="auto">
            <a:xfrm flipH="1" flipV="1">
              <a:off x="4082" y="4819"/>
              <a:ext cx="0" cy="454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618" name="直接连接符 617"/>
            <p:cNvCxnSpPr/>
            <p:nvPr>
              <p:custDataLst>
                <p:tags r:id="rId36"/>
              </p:custDataLst>
            </p:nvPr>
          </p:nvCxnSpPr>
          <p:spPr bwMode="auto">
            <a:xfrm flipH="1" flipV="1">
              <a:off x="4195" y="4819"/>
              <a:ext cx="0" cy="454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619" name="直接连接符 618"/>
            <p:cNvCxnSpPr/>
            <p:nvPr>
              <p:custDataLst>
                <p:tags r:id="rId37"/>
              </p:custDataLst>
            </p:nvPr>
          </p:nvCxnSpPr>
          <p:spPr bwMode="auto">
            <a:xfrm flipH="1" flipV="1">
              <a:off x="4309" y="4819"/>
              <a:ext cx="0" cy="454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620" name="直接连接符 619"/>
            <p:cNvCxnSpPr/>
            <p:nvPr>
              <p:custDataLst>
                <p:tags r:id="rId38"/>
              </p:custDataLst>
            </p:nvPr>
          </p:nvCxnSpPr>
          <p:spPr bwMode="auto">
            <a:xfrm flipH="1" flipV="1">
              <a:off x="4422" y="4819"/>
              <a:ext cx="0" cy="454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622" name="直接连接符 621"/>
            <p:cNvCxnSpPr/>
            <p:nvPr>
              <p:custDataLst>
                <p:tags r:id="rId39"/>
              </p:custDataLst>
            </p:nvPr>
          </p:nvCxnSpPr>
          <p:spPr bwMode="auto">
            <a:xfrm flipH="1" flipV="1">
              <a:off x="4622" y="4819"/>
              <a:ext cx="0" cy="454"/>
            </a:xfrm>
            <a:prstGeom prst="line">
              <a:avLst/>
            </a:prstGeom>
            <a:noFill/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623" name="直接连接符 622"/>
            <p:cNvCxnSpPr/>
            <p:nvPr>
              <p:custDataLst>
                <p:tags r:id="rId40"/>
              </p:custDataLst>
            </p:nvPr>
          </p:nvCxnSpPr>
          <p:spPr bwMode="auto">
            <a:xfrm>
              <a:off x="4818" y="4819"/>
              <a:ext cx="0" cy="454"/>
            </a:xfrm>
            <a:prstGeom prst="line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624" name="直接连接符 623"/>
            <p:cNvCxnSpPr/>
            <p:nvPr>
              <p:custDataLst>
                <p:tags r:id="rId41"/>
              </p:custDataLst>
            </p:nvPr>
          </p:nvCxnSpPr>
          <p:spPr bwMode="auto">
            <a:xfrm>
              <a:off x="3061" y="4819"/>
              <a:ext cx="0" cy="454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625" name="直接连接符 624"/>
            <p:cNvCxnSpPr/>
            <p:nvPr>
              <p:custDataLst>
                <p:tags r:id="rId42"/>
              </p:custDataLst>
            </p:nvPr>
          </p:nvCxnSpPr>
          <p:spPr bwMode="auto">
            <a:xfrm>
              <a:off x="3175" y="4819"/>
              <a:ext cx="0" cy="454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626" name="直接连接符 625"/>
            <p:cNvCxnSpPr/>
            <p:nvPr>
              <p:custDataLst>
                <p:tags r:id="rId43"/>
              </p:custDataLst>
            </p:nvPr>
          </p:nvCxnSpPr>
          <p:spPr bwMode="auto">
            <a:xfrm>
              <a:off x="3345" y="4819"/>
              <a:ext cx="0" cy="454"/>
            </a:xfrm>
            <a:prstGeom prst="line">
              <a:avLst/>
            </a:prstGeom>
            <a:noFill/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627" name="直接连接符 626"/>
            <p:cNvCxnSpPr/>
            <p:nvPr>
              <p:custDataLst>
                <p:tags r:id="rId44"/>
              </p:custDataLst>
            </p:nvPr>
          </p:nvCxnSpPr>
          <p:spPr bwMode="auto">
            <a:xfrm>
              <a:off x="3515" y="4819"/>
              <a:ext cx="0" cy="454"/>
            </a:xfrm>
            <a:prstGeom prst="line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628" name="直接连接符 627"/>
            <p:cNvCxnSpPr/>
            <p:nvPr>
              <p:custDataLst>
                <p:tags r:id="rId45"/>
              </p:custDataLst>
            </p:nvPr>
          </p:nvCxnSpPr>
          <p:spPr bwMode="auto">
            <a:xfrm>
              <a:off x="3118" y="8277"/>
              <a:ext cx="850" cy="0"/>
            </a:xfrm>
            <a:prstGeom prst="line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629" name="直接连接符 628"/>
            <p:cNvCxnSpPr/>
            <p:nvPr>
              <p:custDataLst>
                <p:tags r:id="rId46"/>
              </p:custDataLst>
            </p:nvPr>
          </p:nvCxnSpPr>
          <p:spPr bwMode="auto">
            <a:xfrm flipH="1" flipV="1">
              <a:off x="3119" y="7937"/>
              <a:ext cx="850" cy="0"/>
            </a:xfrm>
            <a:prstGeom prst="line">
              <a:avLst/>
            </a:prstGeom>
            <a:noFill/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630" name="Text Box 385"/>
            <p:cNvSpPr txBox="1">
              <a:spLocks noChangeArrowheads="1"/>
            </p:cNvSpPr>
            <p:nvPr>
              <p:custDataLst>
                <p:tags r:id="rId47"/>
              </p:custDataLst>
            </p:nvPr>
          </p:nvSpPr>
          <p:spPr bwMode="auto">
            <a:xfrm>
              <a:off x="3175" y="7654"/>
              <a:ext cx="737" cy="283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INTA</a:t>
              </a:r>
            </a:p>
          </p:txBody>
        </p:sp>
        <p:cxnSp>
          <p:nvCxnSpPr>
            <p:cNvPr id="631" name="直接连接符 630"/>
            <p:cNvCxnSpPr/>
            <p:nvPr>
              <p:custDataLst>
                <p:tags r:id="rId48"/>
              </p:custDataLst>
            </p:nvPr>
          </p:nvCxnSpPr>
          <p:spPr bwMode="auto">
            <a:xfrm>
              <a:off x="3268" y="7618"/>
              <a:ext cx="567" cy="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32" name="直接连接符 631"/>
            <p:cNvCxnSpPr/>
            <p:nvPr>
              <p:custDataLst>
                <p:tags r:id="rId49"/>
              </p:custDataLst>
            </p:nvPr>
          </p:nvCxnSpPr>
          <p:spPr bwMode="auto">
            <a:xfrm>
              <a:off x="3117" y="8277"/>
              <a:ext cx="0" cy="340"/>
            </a:xfrm>
            <a:prstGeom prst="line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00" name="直接连接符 699"/>
            <p:cNvCxnSpPr/>
            <p:nvPr>
              <p:custDataLst>
                <p:tags r:id="rId50"/>
              </p:custDataLst>
            </p:nvPr>
          </p:nvCxnSpPr>
          <p:spPr bwMode="auto">
            <a:xfrm>
              <a:off x="9071" y="5669"/>
              <a:ext cx="0" cy="170"/>
            </a:xfrm>
            <a:prstGeom prst="line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01" name="直接连接符 700"/>
            <p:cNvCxnSpPr/>
            <p:nvPr>
              <p:custDataLst>
                <p:tags r:id="rId51"/>
              </p:custDataLst>
            </p:nvPr>
          </p:nvCxnSpPr>
          <p:spPr bwMode="auto">
            <a:xfrm flipV="1">
              <a:off x="9071" y="5839"/>
              <a:ext cx="794" cy="0"/>
            </a:xfrm>
            <a:prstGeom prst="line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sp>
        <p:nvSpPr>
          <p:cNvPr id="2" name="Text Box 95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5867984" y="2060848"/>
            <a:ext cx="3060000" cy="269875"/>
          </a:xfrm>
          <a:prstGeom prst="rect">
            <a:avLst/>
          </a:prstGeom>
          <a:noFill/>
          <a:ln w="12700">
            <a:noFill/>
            <a:prstDash val="sysDash"/>
            <a:miter lim="800000"/>
          </a:ln>
          <a:effectLst/>
        </p:spPr>
        <p:txBody>
          <a:bodyPr lIns="18000" tIns="10800" rIns="18000" bIns="10800" anchor="ctr"/>
          <a:lstStyle/>
          <a:p>
            <a:pPr algn="l">
              <a:lnSpc>
                <a:spcPct val="90000"/>
              </a:lnSpc>
            </a:pPr>
            <a:r>
              <a:rPr lang="zh-CN" altLang="en-US" sz="1600" b="1" dirty="0">
                <a:latin typeface="宋体" panose="02010600030101010101" pitchFamily="2" charset="-122"/>
              </a:rPr>
              <a:t>设置</a:t>
            </a:r>
            <a:r>
              <a:rPr lang="en-US" altLang="zh-CN" sz="1600" b="1" dirty="0">
                <a:solidFill>
                  <a:srgbClr val="0070C0"/>
                </a:solidFill>
                <a:latin typeface="宋体" panose="02010600030101010101" pitchFamily="2" charset="-122"/>
              </a:rPr>
              <a:t>2</a:t>
            </a:r>
            <a:r>
              <a:rPr lang="zh-CN" altLang="en-US" sz="1600" b="1" dirty="0">
                <a:solidFill>
                  <a:srgbClr val="0070C0"/>
                </a:solidFill>
                <a:latin typeface="宋体" panose="02010600030101010101" pitchFamily="2" charset="-122"/>
              </a:rPr>
              <a:t>个计数器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</a:rPr>
              <a:t>，传送基于计数器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5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35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9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9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35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1" dur="500"/>
                                        <p:tgtEl>
                                          <p:spTgt spid="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5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1355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0" dur="500"/>
                                        <p:tgtEl>
                                          <p:spTgt spid="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5" dur="500"/>
                                        <p:tgtEl>
                                          <p:spTgt spid="6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0" dur="500"/>
                                        <p:tgtEl>
                                          <p:spTgt spid="6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8" grpId="0" bldLvl="0" animBg="1"/>
      <p:bldP spid="549" grpId="0" bldLvl="0" animBg="1"/>
      <p:bldP spid="2" grpId="0" bldLvl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63E7C-2AF6-410F-8937-821A511B1688}" type="slidenum">
              <a:rPr lang="en-US" altLang="zh-CN"/>
              <a:t>43</a:t>
            </a:fld>
            <a:endParaRPr lang="en-US" altLang="zh-CN"/>
          </a:p>
        </p:txBody>
      </p:sp>
      <p:sp>
        <p:nvSpPr>
          <p:cNvPr id="388485" name="Text Box 389"/>
          <p:cNvSpPr txBox="1">
            <a:spLocks noChangeArrowheads="1"/>
          </p:cNvSpPr>
          <p:nvPr/>
        </p:nvSpPr>
        <p:spPr bwMode="auto">
          <a:xfrm>
            <a:off x="179388" y="332656"/>
            <a:ext cx="8785225" cy="4199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tIns="10795" bIns="10795" anchor="ctr" anchorCtr="0">
            <a:spAutoFit/>
          </a:bodyPr>
          <a:lstStyle>
            <a:defPPr>
              <a:defRPr lang="zh-CN"/>
            </a:defPPr>
            <a:lvl1pPr algn="l">
              <a:defRPr b="1">
                <a:solidFill>
                  <a:srgbClr val="FF3300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1pPr>
          </a:lstStyle>
          <a:p>
            <a:pPr>
              <a:lnSpc>
                <a:spcPct val="125000"/>
              </a:lnSpc>
            </a:pPr>
            <a:r>
              <a:rPr lang="en-US" altLang="zh-CN" dirty="0">
                <a:solidFill>
                  <a:srgbClr val="FF3399"/>
                </a:solidFill>
                <a:latin typeface="+mn-ea"/>
                <a:ea typeface="+mn-ea"/>
              </a:rPr>
              <a:t>3</a:t>
            </a:r>
            <a:r>
              <a:rPr lang="zh-CN" altLang="en-US" dirty="0">
                <a:solidFill>
                  <a:srgbClr val="FF3399"/>
                </a:solidFill>
                <a:latin typeface="+mn-ea"/>
                <a:ea typeface="+mn-ea"/>
              </a:rPr>
              <a:t>、</a:t>
            </a:r>
            <a:r>
              <a:rPr lang="en-US" altLang="zh-CN" dirty="0">
                <a:solidFill>
                  <a:srgbClr val="FF3399"/>
                </a:solidFill>
                <a:latin typeface="+mn-ea"/>
                <a:ea typeface="+mn-ea"/>
              </a:rPr>
              <a:t>DMA</a:t>
            </a:r>
            <a:r>
              <a:rPr lang="zh-CN" altLang="en-US" dirty="0">
                <a:solidFill>
                  <a:srgbClr val="FF3399"/>
                </a:solidFill>
                <a:latin typeface="+mn-ea"/>
                <a:ea typeface="+mn-ea"/>
              </a:rPr>
              <a:t>的传送过程</a:t>
            </a:r>
          </a:p>
        </p:txBody>
      </p:sp>
      <p:sp>
        <p:nvSpPr>
          <p:cNvPr id="388486" name="Text Box 390"/>
          <p:cNvSpPr txBox="1">
            <a:spLocks noChangeArrowheads="1"/>
          </p:cNvSpPr>
          <p:nvPr/>
        </p:nvSpPr>
        <p:spPr bwMode="auto">
          <a:xfrm>
            <a:off x="179388" y="3068960"/>
            <a:ext cx="8785225" cy="74962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l">
              <a:lnSpc>
                <a:spcPct val="114000"/>
              </a:lnSpc>
            </a:pP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例：</a:t>
            </a:r>
            <a:r>
              <a:rPr lang="zh-CN" altLang="en-US" sz="2000" b="1" dirty="0">
                <a:latin typeface="宋体" panose="02010600030101010101" pitchFamily="2" charset="-122"/>
              </a:rPr>
              <a:t>传送需求如图所示，假设磁盘适配器的控制口为</a:t>
            </a:r>
            <a:r>
              <a:rPr lang="en-US" altLang="zh-CN" sz="2000" b="1" dirty="0" err="1">
                <a:latin typeface="宋体" panose="02010600030101010101" pitchFamily="2" charset="-122"/>
              </a:rPr>
              <a:t>RegC</a:t>
            </a:r>
            <a:r>
              <a:rPr lang="zh-CN" altLang="en-US" sz="2000" b="1" dirty="0">
                <a:latin typeface="宋体" panose="02010600030101010101" pitchFamily="2" charset="-122"/>
              </a:rPr>
              <a:t>，暂存磁道号、扇区号的端口为</a:t>
            </a:r>
            <a:r>
              <a:rPr lang="en-US" altLang="zh-CN" sz="2000" b="1" dirty="0" err="1">
                <a:latin typeface="宋体" panose="02010600030101010101" pitchFamily="2" charset="-122"/>
              </a:rPr>
              <a:t>RegT</a:t>
            </a:r>
            <a:r>
              <a:rPr lang="zh-CN" altLang="en-US" sz="2000" b="1" dirty="0">
                <a:latin typeface="宋体" panose="02010600030101010101" pitchFamily="2" charset="-122"/>
              </a:rPr>
              <a:t>、</a:t>
            </a:r>
            <a:r>
              <a:rPr lang="en-US" altLang="zh-CN" sz="2000" b="1" dirty="0" err="1">
                <a:latin typeface="宋体" panose="02010600030101010101" pitchFamily="2" charset="-122"/>
              </a:rPr>
              <a:t>RegF</a:t>
            </a:r>
            <a:endParaRPr lang="en-US" altLang="zh-CN" sz="2000" b="1" dirty="0">
              <a:latin typeface="宋体" panose="02010600030101010101" pitchFamily="2" charset="-122"/>
            </a:endParaRPr>
          </a:p>
        </p:txBody>
      </p:sp>
      <p:sp>
        <p:nvSpPr>
          <p:cNvPr id="388487" name="Text Box 391"/>
          <p:cNvSpPr txBox="1">
            <a:spLocks noChangeArrowheads="1"/>
          </p:cNvSpPr>
          <p:nvPr/>
        </p:nvSpPr>
        <p:spPr bwMode="auto">
          <a:xfrm>
            <a:off x="179387" y="764704"/>
            <a:ext cx="7992763" cy="229120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(1)</a:t>
            </a:r>
            <a:r>
              <a:rPr lang="zh-CN" altLang="en-US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预处理</a:t>
            </a:r>
            <a:r>
              <a:rPr lang="en-US" altLang="zh-CN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(DMA</a:t>
            </a:r>
            <a:r>
              <a:rPr lang="zh-CN" altLang="en-US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初始化</a:t>
            </a:r>
            <a:r>
              <a:rPr lang="en-US" altLang="zh-CN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)</a:t>
            </a:r>
            <a:endParaRPr lang="en-US" altLang="zh-CN" sz="2200" b="1" dirty="0">
              <a:solidFill>
                <a:srgbClr val="CC33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任务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r>
              <a:rPr lang="en-US" altLang="zh-CN" sz="2200" b="1" dirty="0">
                <a:latin typeface="宋体" panose="02010600030101010101" pitchFamily="2" charset="-122"/>
              </a:rPr>
              <a:t>CPU</a:t>
            </a:r>
            <a:r>
              <a:rPr lang="zh-CN" altLang="en-US" sz="2200" b="1" dirty="0">
                <a:latin typeface="宋体" panose="02010600030101010101" pitchFamily="2" charset="-122"/>
              </a:rPr>
              <a:t>使用</a:t>
            </a:r>
            <a:r>
              <a:rPr lang="en-US" altLang="zh-CN" sz="2200" b="1" dirty="0">
                <a:latin typeface="宋体" panose="02010600030101010101" pitchFamily="2" charset="-122"/>
              </a:rPr>
              <a:t>I/O</a:t>
            </a:r>
            <a:r>
              <a:rPr lang="zh-CN" altLang="en-US" sz="2200" b="1" dirty="0">
                <a:latin typeface="宋体" panose="02010600030101010101" pitchFamily="2" charset="-122"/>
              </a:rPr>
              <a:t>指令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设置</a:t>
            </a:r>
            <a:r>
              <a:rPr lang="zh-CN" altLang="en-US" sz="2200" b="1" dirty="0">
                <a:latin typeface="宋体" panose="02010600030101010101" pitchFamily="2" charset="-122"/>
              </a:rPr>
              <a:t>传送参数、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启动</a:t>
            </a:r>
            <a:r>
              <a:rPr lang="zh-CN" altLang="en-US" sz="2200" b="1" dirty="0">
                <a:latin typeface="宋体" panose="02010600030101010101" pitchFamily="2" charset="-122"/>
              </a:rPr>
              <a:t>外设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300"/>
              </a:spcBef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设置传送参数：                        </a:t>
            </a:r>
            <a:r>
              <a:rPr lang="zh-CN" altLang="en-US" sz="1800" b="1" dirty="0">
                <a:latin typeface="宋体" panose="02010600030101010101" pitchFamily="2" charset="-122"/>
              </a:rPr>
              <a:t>←与外设特性</a:t>
            </a:r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</a:rPr>
              <a:t>无关</a:t>
            </a:r>
            <a:endParaRPr lang="en-US" altLang="zh-CN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300"/>
              </a:spcBef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*启动外设：                            </a:t>
            </a:r>
            <a:r>
              <a:rPr lang="zh-CN" altLang="en-US" sz="1800" b="1" dirty="0">
                <a:latin typeface="宋体" panose="02010600030101010101" pitchFamily="2" charset="-122"/>
              </a:rPr>
              <a:t>←与外设特性</a:t>
            </a:r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</a:rPr>
              <a:t>有关</a:t>
            </a:r>
            <a:endParaRPr lang="zh-CN" altLang="en-US" b="1" dirty="0">
              <a:latin typeface="宋体" panose="02010600030101010101" pitchFamily="2" charset="-122"/>
            </a:endParaRPr>
          </a:p>
        </p:txBody>
      </p:sp>
      <p:sp>
        <p:nvSpPr>
          <p:cNvPr id="388488" name="Text Box 392"/>
          <p:cNvSpPr txBox="1">
            <a:spLocks noChangeArrowheads="1"/>
          </p:cNvSpPr>
          <p:nvPr/>
        </p:nvSpPr>
        <p:spPr bwMode="auto">
          <a:xfrm>
            <a:off x="827584" y="2060848"/>
            <a:ext cx="7417073" cy="91903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sz="2200" b="1" dirty="0">
                <a:latin typeface="宋体" panose="02010600030101010101" pitchFamily="2" charset="-122"/>
              </a:rPr>
              <a:t>发送缓冲区首址、传送字数、传送方向及传送方式等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300"/>
              </a:spcBef>
            </a:pPr>
            <a:r>
              <a:rPr lang="zh-CN" altLang="en-US" sz="2200" b="1" dirty="0">
                <a:latin typeface="宋体" panose="02010600030101010101" pitchFamily="2" charset="-122"/>
              </a:rPr>
              <a:t>        发送操作命令及参数</a:t>
            </a:r>
            <a:endParaRPr lang="zh-CN" altLang="en-US" sz="2200" b="1" dirty="0">
              <a:solidFill>
                <a:srgbClr val="990099"/>
              </a:solidFill>
              <a:latin typeface="宋体" panose="02010600030101010101" pitchFamily="2" charset="-122"/>
            </a:endParaRPr>
          </a:p>
        </p:txBody>
      </p:sp>
      <p:sp>
        <p:nvSpPr>
          <p:cNvPr id="388552" name="Text Box 456"/>
          <p:cNvSpPr txBox="1">
            <a:spLocks noChangeArrowheads="1"/>
          </p:cNvSpPr>
          <p:nvPr/>
        </p:nvSpPr>
        <p:spPr bwMode="auto">
          <a:xfrm>
            <a:off x="1691359" y="5157192"/>
            <a:ext cx="3312864" cy="10795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18000" tIns="10800" rIns="18000" bIns="10800"/>
          <a:lstStyle/>
          <a:p>
            <a:pPr algn="l">
              <a:lnSpc>
                <a:spcPct val="115000"/>
              </a:lnSpc>
            </a:pPr>
            <a:r>
              <a:rPr lang="en-US" altLang="zh-CN" sz="1800" b="1" dirty="0">
                <a:latin typeface="宋体" panose="02010600030101010101" pitchFamily="2" charset="-122"/>
              </a:rPr>
              <a:t>①</a:t>
            </a:r>
            <a:r>
              <a:rPr lang="en-US" altLang="zh-CN" sz="1800" b="1" dirty="0" err="1">
                <a:latin typeface="宋体" panose="02010600030101010101" pitchFamily="2" charset="-122"/>
              </a:rPr>
              <a:t>MAC←b</a:t>
            </a:r>
            <a:endParaRPr lang="en-US" altLang="zh-CN" sz="1800" b="1" dirty="0">
              <a:latin typeface="宋体" panose="02010600030101010101" pitchFamily="2" charset="-122"/>
            </a:endParaRPr>
          </a:p>
          <a:p>
            <a:pPr algn="l">
              <a:lnSpc>
                <a:spcPct val="115000"/>
              </a:lnSpc>
            </a:pPr>
            <a:r>
              <a:rPr lang="en-US" altLang="zh-CN" sz="1800" b="1" dirty="0">
                <a:latin typeface="宋体" panose="02010600030101010101" pitchFamily="2" charset="-122"/>
              </a:rPr>
              <a:t>②WC←512</a:t>
            </a:r>
          </a:p>
          <a:p>
            <a:pPr algn="l">
              <a:lnSpc>
                <a:spcPct val="115000"/>
              </a:lnSpc>
            </a:pPr>
            <a:r>
              <a:rPr lang="en-US" altLang="zh-CN" sz="1800" b="1" dirty="0">
                <a:latin typeface="宋体" panose="02010600030101010101" pitchFamily="2" charset="-122"/>
              </a:rPr>
              <a:t>③</a:t>
            </a:r>
            <a:r>
              <a:rPr lang="en-US" altLang="zh-CN" sz="1800" b="1" dirty="0" err="1">
                <a:latin typeface="宋体" panose="02010600030101010101" pitchFamily="2" charset="-122"/>
              </a:rPr>
              <a:t>RegC</a:t>
            </a:r>
            <a:r>
              <a:rPr lang="en-US" altLang="zh-CN" sz="1800" b="1" dirty="0">
                <a:latin typeface="宋体" panose="02010600030101010101" pitchFamily="2" charset="-122"/>
              </a:rPr>
              <a:t>←</a:t>
            </a:r>
            <a:r>
              <a:rPr lang="zh-CN" altLang="en-US" sz="1800" b="1" dirty="0">
                <a:latin typeface="宋体" panose="02010600030101010101" pitchFamily="2" charset="-122"/>
              </a:rPr>
              <a:t>写主存、周期</a:t>
            </a:r>
            <a:r>
              <a:rPr lang="zh-CN" altLang="en-US" sz="1800" b="1" dirty="0"/>
              <a:t>挪用</a:t>
            </a:r>
          </a:p>
        </p:txBody>
      </p:sp>
      <p:sp>
        <p:nvSpPr>
          <p:cNvPr id="388553" name="Text Box 457"/>
          <p:cNvSpPr txBox="1">
            <a:spLocks noChangeArrowheads="1"/>
          </p:cNvSpPr>
          <p:nvPr/>
        </p:nvSpPr>
        <p:spPr bwMode="auto">
          <a:xfrm>
            <a:off x="5292901" y="5157192"/>
            <a:ext cx="3095698" cy="10795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18000" tIns="10800" rIns="18000" bIns="10800"/>
          <a:lstStyle/>
          <a:p>
            <a:pPr algn="l">
              <a:lnSpc>
                <a:spcPct val="115000"/>
              </a:lnSpc>
            </a:pPr>
            <a:r>
              <a:rPr lang="en-US" altLang="zh-CN" sz="1800" b="1" dirty="0">
                <a:latin typeface="宋体" panose="02010600030101010101" pitchFamily="2" charset="-122"/>
              </a:rPr>
              <a:t>④</a:t>
            </a:r>
            <a:r>
              <a:rPr lang="en-US" altLang="zh-CN" sz="1800" b="1" dirty="0" err="1">
                <a:latin typeface="宋体" panose="02010600030101010101" pitchFamily="2" charset="-122"/>
              </a:rPr>
              <a:t>RegT←x</a:t>
            </a:r>
            <a:endParaRPr lang="en-US" altLang="zh-CN" sz="1800" b="1" dirty="0">
              <a:latin typeface="宋体" panose="02010600030101010101" pitchFamily="2" charset="-122"/>
            </a:endParaRPr>
          </a:p>
          <a:p>
            <a:pPr algn="l">
              <a:lnSpc>
                <a:spcPct val="115000"/>
              </a:lnSpc>
            </a:pPr>
            <a:r>
              <a:rPr lang="en-US" altLang="zh-CN" sz="1800" b="1" dirty="0">
                <a:latin typeface="宋体" panose="02010600030101010101" pitchFamily="2" charset="-122"/>
              </a:rPr>
              <a:t>⑤</a:t>
            </a:r>
            <a:r>
              <a:rPr lang="en-US" altLang="zh-CN" sz="1800" b="1" dirty="0" err="1">
                <a:latin typeface="宋体" panose="02010600030101010101" pitchFamily="2" charset="-122"/>
              </a:rPr>
              <a:t>RegF←y</a:t>
            </a:r>
            <a:endParaRPr lang="en-US" altLang="zh-CN" sz="1800" b="1" dirty="0">
              <a:latin typeface="宋体" panose="02010600030101010101" pitchFamily="2" charset="-122"/>
            </a:endParaRPr>
          </a:p>
          <a:p>
            <a:pPr algn="l">
              <a:lnSpc>
                <a:spcPct val="115000"/>
              </a:lnSpc>
            </a:pPr>
            <a:r>
              <a:rPr lang="en-US" altLang="zh-CN" sz="1800" b="1" dirty="0">
                <a:latin typeface="宋体" panose="02010600030101010101" pitchFamily="2" charset="-122"/>
              </a:rPr>
              <a:t>⑥</a:t>
            </a:r>
            <a:r>
              <a:rPr lang="en-US" altLang="zh-CN" sz="1800" b="1" dirty="0" err="1">
                <a:latin typeface="宋体" panose="02010600030101010101" pitchFamily="2" charset="-122"/>
              </a:rPr>
              <a:t>RegC←DMA</a:t>
            </a:r>
            <a:r>
              <a:rPr lang="zh-CN" altLang="en-US" sz="1800" b="1" dirty="0">
                <a:latin typeface="宋体" panose="02010600030101010101" pitchFamily="2" charset="-122"/>
              </a:rPr>
              <a:t>方式、读磁盘</a:t>
            </a:r>
            <a:endParaRPr lang="zh-CN" altLang="en-US" sz="1800" b="1" dirty="0"/>
          </a:p>
        </p:txBody>
      </p:sp>
      <p:grpSp>
        <p:nvGrpSpPr>
          <p:cNvPr id="388554" name="Group 458"/>
          <p:cNvGrpSpPr/>
          <p:nvPr/>
        </p:nvGrpSpPr>
        <p:grpSpPr bwMode="auto">
          <a:xfrm>
            <a:off x="6155930" y="4221904"/>
            <a:ext cx="1800225" cy="863600"/>
            <a:chOff x="3560" y="2069"/>
            <a:chExt cx="1134" cy="544"/>
          </a:xfrm>
        </p:grpSpPr>
        <p:sp>
          <p:nvSpPr>
            <p:cNvPr id="388555" name="Text Box 459"/>
            <p:cNvSpPr txBox="1">
              <a:spLocks noChangeArrowheads="1"/>
            </p:cNvSpPr>
            <p:nvPr/>
          </p:nvSpPr>
          <p:spPr bwMode="auto">
            <a:xfrm>
              <a:off x="3560" y="2069"/>
              <a:ext cx="408" cy="272"/>
            </a:xfrm>
            <a:prstGeom prst="rect">
              <a:avLst/>
            </a:prstGeom>
            <a:noFill/>
            <a:ln w="19050">
              <a:noFill/>
              <a:prstDash val="sysDot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solidFill>
                    <a:srgbClr val="990099"/>
                  </a:solidFill>
                  <a:latin typeface="宋体" panose="02010600030101010101" pitchFamily="2" charset="-122"/>
                </a:rPr>
                <a:t>x</a:t>
              </a:r>
              <a:r>
                <a:rPr lang="zh-CN" altLang="en-US" sz="1600" b="1" dirty="0">
                  <a:solidFill>
                    <a:srgbClr val="990099"/>
                  </a:solidFill>
                  <a:latin typeface="宋体" panose="02010600030101010101" pitchFamily="2" charset="-122"/>
                </a:rPr>
                <a:t>磁道</a:t>
              </a:r>
            </a:p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solidFill>
                    <a:srgbClr val="990099"/>
                  </a:solidFill>
                  <a:latin typeface="宋体" panose="02010600030101010101" pitchFamily="2" charset="-122"/>
                </a:rPr>
                <a:t>y</a:t>
              </a:r>
              <a:r>
                <a:rPr lang="zh-CN" altLang="en-US" sz="1600" b="1" dirty="0">
                  <a:solidFill>
                    <a:srgbClr val="990099"/>
                  </a:solidFill>
                  <a:latin typeface="宋体" panose="02010600030101010101" pitchFamily="2" charset="-122"/>
                </a:rPr>
                <a:t>扇区</a:t>
              </a:r>
            </a:p>
          </p:txBody>
        </p:sp>
        <p:sp>
          <p:nvSpPr>
            <p:cNvPr id="388556" name="AutoShape 460"/>
            <p:cNvSpPr>
              <a:spLocks noChangeArrowheads="1"/>
            </p:cNvSpPr>
            <p:nvPr/>
          </p:nvSpPr>
          <p:spPr bwMode="auto">
            <a:xfrm>
              <a:off x="3560" y="2341"/>
              <a:ext cx="1134" cy="91"/>
            </a:xfrm>
            <a:prstGeom prst="rightArrow">
              <a:avLst>
                <a:gd name="adj1" fmla="val 42861"/>
                <a:gd name="adj2" fmla="val 101772"/>
              </a:avLst>
            </a:prstGeom>
            <a:noFill/>
            <a:ln w="19050">
              <a:solidFill>
                <a:schemeClr val="tx1"/>
              </a:solidFill>
              <a:prstDash val="sysDot"/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8557" name="Text Box 461"/>
            <p:cNvSpPr txBox="1">
              <a:spLocks noChangeArrowheads="1"/>
            </p:cNvSpPr>
            <p:nvPr/>
          </p:nvSpPr>
          <p:spPr bwMode="auto">
            <a:xfrm>
              <a:off x="4104" y="2069"/>
              <a:ext cx="590" cy="272"/>
            </a:xfrm>
            <a:prstGeom prst="rect">
              <a:avLst/>
            </a:prstGeom>
            <a:noFill/>
            <a:ln w="19050">
              <a:noFill/>
              <a:prstDash val="sysDot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>
                  <a:solidFill>
                    <a:srgbClr val="990099"/>
                  </a:solidFill>
                  <a:latin typeface="宋体" panose="02010600030101010101" pitchFamily="2" charset="-122"/>
                </a:rPr>
                <a:t>缓冲区首址为</a:t>
              </a:r>
              <a:r>
                <a:rPr lang="en-US" altLang="zh-CN" sz="1600" b="1" dirty="0">
                  <a:solidFill>
                    <a:srgbClr val="990099"/>
                  </a:solidFill>
                  <a:latin typeface="宋体" panose="02010600030101010101" pitchFamily="2" charset="-122"/>
                </a:rPr>
                <a:t>b</a:t>
              </a:r>
            </a:p>
          </p:txBody>
        </p:sp>
        <p:sp>
          <p:nvSpPr>
            <p:cNvPr id="388558" name="Text Box 462"/>
            <p:cNvSpPr txBox="1">
              <a:spLocks noChangeArrowheads="1"/>
            </p:cNvSpPr>
            <p:nvPr/>
          </p:nvSpPr>
          <p:spPr bwMode="auto">
            <a:xfrm>
              <a:off x="3742" y="2432"/>
              <a:ext cx="726" cy="181"/>
            </a:xfrm>
            <a:prstGeom prst="rect">
              <a:avLst/>
            </a:prstGeom>
            <a:noFill/>
            <a:ln w="19050">
              <a:noFill/>
              <a:prstDash val="sysDot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solidFill>
                    <a:srgbClr val="990099"/>
                  </a:solidFill>
                  <a:latin typeface="宋体" panose="02010600030101010101" pitchFamily="2" charset="-122"/>
                </a:rPr>
                <a:t>512B</a:t>
              </a:r>
              <a:r>
                <a:rPr lang="zh-CN" altLang="en-US" sz="1600" b="1" dirty="0">
                  <a:solidFill>
                    <a:srgbClr val="990099"/>
                  </a:solidFill>
                  <a:latin typeface="宋体" panose="02010600030101010101" pitchFamily="2" charset="-122"/>
                </a:rPr>
                <a:t>大小</a:t>
              </a: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1115616" y="3861048"/>
            <a:ext cx="7633023" cy="1226047"/>
            <a:chOff x="755650" y="3789040"/>
            <a:chExt cx="7633023" cy="1226047"/>
          </a:xfrm>
        </p:grpSpPr>
        <p:sp>
          <p:nvSpPr>
            <p:cNvPr id="388531" name="Text Box 435"/>
            <p:cNvSpPr txBox="1">
              <a:spLocks noChangeArrowheads="1"/>
            </p:cNvSpPr>
            <p:nvPr/>
          </p:nvSpPr>
          <p:spPr bwMode="auto">
            <a:xfrm>
              <a:off x="4789488" y="4149899"/>
              <a:ext cx="935038" cy="863600"/>
            </a:xfrm>
            <a:prstGeom prst="rect">
              <a:avLst/>
            </a:prstGeom>
            <a:solidFill>
              <a:schemeClr val="accent2">
                <a:lumMod val="20000"/>
                <a:lumOff val="80000"/>
                <a:alpha val="80000"/>
              </a:scheme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磁盘</a:t>
              </a:r>
            </a:p>
          </p:txBody>
        </p:sp>
        <p:sp>
          <p:nvSpPr>
            <p:cNvPr id="388532" name="Text Box 436"/>
            <p:cNvSpPr txBox="1">
              <a:spLocks noChangeArrowheads="1"/>
            </p:cNvSpPr>
            <p:nvPr/>
          </p:nvSpPr>
          <p:spPr bwMode="auto">
            <a:xfrm>
              <a:off x="755650" y="4149899"/>
              <a:ext cx="865188" cy="865188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CPU</a:t>
              </a:r>
            </a:p>
          </p:txBody>
        </p:sp>
        <p:sp>
          <p:nvSpPr>
            <p:cNvPr id="388533" name="Line 437"/>
            <p:cNvSpPr>
              <a:spLocks noChangeShapeType="1"/>
            </p:cNvSpPr>
            <p:nvPr/>
          </p:nvSpPr>
          <p:spPr bwMode="auto">
            <a:xfrm>
              <a:off x="755650" y="3789536"/>
              <a:ext cx="7633023" cy="0"/>
            </a:xfrm>
            <a:prstGeom prst="line">
              <a:avLst/>
            </a:prstGeom>
            <a:noFill/>
            <a:ln w="38100" cmpd="dbl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8534" name="Text Box 438"/>
            <p:cNvSpPr txBox="1">
              <a:spLocks noChangeArrowheads="1"/>
            </p:cNvSpPr>
            <p:nvPr/>
          </p:nvSpPr>
          <p:spPr bwMode="auto">
            <a:xfrm>
              <a:off x="7668344" y="4149899"/>
              <a:ext cx="720329" cy="86360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800" b="1">
                  <a:latin typeface="宋体" panose="02010600030101010101" pitchFamily="2" charset="-122"/>
                </a:rPr>
                <a:t>主存</a:t>
              </a:r>
            </a:p>
          </p:txBody>
        </p:sp>
        <p:sp>
          <p:nvSpPr>
            <p:cNvPr id="388536" name="Line 440"/>
            <p:cNvSpPr>
              <a:spLocks noChangeShapeType="1"/>
            </p:cNvSpPr>
            <p:nvPr/>
          </p:nvSpPr>
          <p:spPr bwMode="auto">
            <a:xfrm>
              <a:off x="8028384" y="3789536"/>
              <a:ext cx="0" cy="360363"/>
            </a:xfrm>
            <a:prstGeom prst="line">
              <a:avLst/>
            </a:prstGeom>
            <a:noFill/>
            <a:ln w="38100" cmpd="dbl">
              <a:solidFill>
                <a:schemeClr val="tx1"/>
              </a:solidFill>
              <a:round/>
              <a:headEnd type="none" w="sm" len="med"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8538" name="Rectangle 442"/>
            <p:cNvSpPr>
              <a:spLocks noChangeArrowheads="1"/>
            </p:cNvSpPr>
            <p:nvPr/>
          </p:nvSpPr>
          <p:spPr bwMode="auto">
            <a:xfrm>
              <a:off x="1908175" y="4149899"/>
              <a:ext cx="2447925" cy="865188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8539" name="Text Box 443"/>
            <p:cNvSpPr txBox="1">
              <a:spLocks noChangeArrowheads="1"/>
            </p:cNvSpPr>
            <p:nvPr/>
          </p:nvSpPr>
          <p:spPr bwMode="auto">
            <a:xfrm>
              <a:off x="2052638" y="4294361"/>
              <a:ext cx="935038" cy="43180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DMA</a:t>
              </a:r>
              <a:r>
                <a:rPr lang="zh-CN" altLang="en-US" sz="1800" b="1" dirty="0">
                  <a:latin typeface="宋体" panose="02010600030101010101" pitchFamily="2" charset="-122"/>
                </a:rPr>
                <a:t>逻辑</a:t>
              </a:r>
            </a:p>
          </p:txBody>
        </p:sp>
        <p:sp>
          <p:nvSpPr>
            <p:cNvPr id="388540" name="Text Box 444"/>
            <p:cNvSpPr txBox="1">
              <a:spLocks noChangeArrowheads="1"/>
            </p:cNvSpPr>
            <p:nvPr/>
          </p:nvSpPr>
          <p:spPr bwMode="auto">
            <a:xfrm>
              <a:off x="3132138" y="4294361"/>
              <a:ext cx="1008063" cy="431800"/>
            </a:xfrm>
            <a:prstGeom prst="rect">
              <a:avLst/>
            </a:prstGeom>
            <a:solidFill>
              <a:srgbClr val="FFFF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>
                  <a:latin typeface="宋体" panose="02010600030101010101" pitchFamily="2" charset="-122"/>
                </a:rPr>
                <a:t>I/O</a:t>
              </a:r>
              <a:r>
                <a:rPr lang="zh-CN" altLang="en-US" sz="1800" b="1">
                  <a:latin typeface="宋体" panose="02010600030101010101" pitchFamily="2" charset="-122"/>
                </a:rPr>
                <a:t>逻辑</a:t>
              </a:r>
            </a:p>
          </p:txBody>
        </p:sp>
        <p:sp>
          <p:nvSpPr>
            <p:cNvPr id="388541" name="Text Box 445"/>
            <p:cNvSpPr txBox="1">
              <a:spLocks noChangeArrowheads="1"/>
            </p:cNvSpPr>
            <p:nvPr/>
          </p:nvSpPr>
          <p:spPr bwMode="auto">
            <a:xfrm>
              <a:off x="1979613" y="4726161"/>
              <a:ext cx="2305050" cy="288925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磁盘适配器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(DMA</a:t>
              </a:r>
              <a:r>
                <a:rPr lang="zh-CN" altLang="en-US" sz="1800" b="1" dirty="0">
                  <a:latin typeface="宋体" panose="02010600030101010101" pitchFamily="2" charset="-122"/>
                </a:rPr>
                <a:t>接口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)</a:t>
              </a:r>
            </a:p>
          </p:txBody>
        </p:sp>
        <p:sp>
          <p:nvSpPr>
            <p:cNvPr id="388542" name="AutoShape 446"/>
            <p:cNvSpPr>
              <a:spLocks noChangeArrowheads="1"/>
            </p:cNvSpPr>
            <p:nvPr/>
          </p:nvSpPr>
          <p:spPr bwMode="auto">
            <a:xfrm>
              <a:off x="4140200" y="4581699"/>
              <a:ext cx="647700" cy="71438"/>
            </a:xfrm>
            <a:prstGeom prst="leftRightArrow">
              <a:avLst>
                <a:gd name="adj1" fmla="val 50000"/>
                <a:gd name="adj2" fmla="val 89670"/>
              </a:avLst>
            </a:prstGeom>
            <a:noFill/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8550" name="Line 454"/>
            <p:cNvSpPr>
              <a:spLocks noChangeShapeType="1"/>
            </p:cNvSpPr>
            <p:nvPr/>
          </p:nvSpPr>
          <p:spPr bwMode="auto">
            <a:xfrm>
              <a:off x="4140200" y="4365799"/>
              <a:ext cx="647700" cy="0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8551" name="Line 455"/>
            <p:cNvSpPr>
              <a:spLocks noChangeShapeType="1"/>
            </p:cNvSpPr>
            <p:nvPr/>
          </p:nvSpPr>
          <p:spPr bwMode="auto">
            <a:xfrm>
              <a:off x="4140200" y="4510261"/>
              <a:ext cx="647700" cy="0"/>
            </a:xfrm>
            <a:prstGeom prst="line">
              <a:avLst/>
            </a:prstGeom>
            <a:noFill/>
            <a:ln w="19050">
              <a:solidFill>
                <a:srgbClr val="990099"/>
              </a:solidFill>
              <a:round/>
              <a:headEnd type="triangle"/>
              <a:tailEnd type="non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8535" name="Line 439"/>
            <p:cNvSpPr>
              <a:spLocks noChangeShapeType="1"/>
            </p:cNvSpPr>
            <p:nvPr/>
          </p:nvSpPr>
          <p:spPr bwMode="auto">
            <a:xfrm flipV="1">
              <a:off x="1116013" y="3789040"/>
              <a:ext cx="1587" cy="360363"/>
            </a:xfrm>
            <a:prstGeom prst="line">
              <a:avLst/>
            </a:prstGeom>
            <a:noFill/>
            <a:ln w="38100" cmpd="dbl">
              <a:solidFill>
                <a:srgbClr val="CC3300"/>
              </a:solidFill>
              <a:round/>
              <a:headEnd type="none" w="sm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8545" name="Line 449"/>
            <p:cNvSpPr>
              <a:spLocks noChangeShapeType="1"/>
            </p:cNvSpPr>
            <p:nvPr/>
          </p:nvSpPr>
          <p:spPr bwMode="auto">
            <a:xfrm flipV="1">
              <a:off x="900113" y="3789040"/>
              <a:ext cx="0" cy="360363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8546" name="Line 450"/>
            <p:cNvSpPr>
              <a:spLocks noChangeShapeType="1"/>
            </p:cNvSpPr>
            <p:nvPr/>
          </p:nvSpPr>
          <p:spPr bwMode="auto">
            <a:xfrm flipV="1">
              <a:off x="1331913" y="3789040"/>
              <a:ext cx="1587" cy="360363"/>
            </a:xfrm>
            <a:prstGeom prst="line">
              <a:avLst/>
            </a:prstGeom>
            <a:noFill/>
            <a:ln w="38100" cmpd="dbl">
              <a:solidFill>
                <a:schemeClr val="accent2"/>
              </a:solidFill>
              <a:round/>
              <a:headEnd type="none" w="sm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8548" name="Line 452"/>
            <p:cNvSpPr>
              <a:spLocks noChangeShapeType="1"/>
            </p:cNvSpPr>
            <p:nvPr/>
          </p:nvSpPr>
          <p:spPr bwMode="auto">
            <a:xfrm>
              <a:off x="2915816" y="3789040"/>
              <a:ext cx="0" cy="360363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8561" name="Line 465"/>
            <p:cNvSpPr>
              <a:spLocks noChangeShapeType="1"/>
            </p:cNvSpPr>
            <p:nvPr/>
          </p:nvSpPr>
          <p:spPr bwMode="auto">
            <a:xfrm>
              <a:off x="3203848" y="3789040"/>
              <a:ext cx="0" cy="362447"/>
            </a:xfrm>
            <a:prstGeom prst="line">
              <a:avLst/>
            </a:prstGeom>
            <a:noFill/>
            <a:ln w="38100" cmpd="dbl">
              <a:solidFill>
                <a:schemeClr val="accent2"/>
              </a:solidFill>
              <a:round/>
              <a:headEnd type="none" w="sm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8562" name="Line 466"/>
            <p:cNvSpPr>
              <a:spLocks noChangeShapeType="1"/>
            </p:cNvSpPr>
            <p:nvPr/>
          </p:nvSpPr>
          <p:spPr bwMode="auto">
            <a:xfrm>
              <a:off x="3059832" y="3789040"/>
              <a:ext cx="0" cy="360363"/>
            </a:xfrm>
            <a:prstGeom prst="line">
              <a:avLst/>
            </a:prstGeom>
            <a:noFill/>
            <a:ln w="38100" cmpd="dbl">
              <a:solidFill>
                <a:srgbClr val="CC3300"/>
              </a:solidFill>
              <a:round/>
              <a:headEnd type="none" w="sm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88568" name="AutoShape 472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2988518" y="6524451"/>
            <a:ext cx="287338" cy="287337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8569" name="AutoShape 473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6228878" y="6524450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8570" name="AutoShape 474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4067945" y="6524450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5" name="组合 4"/>
          <p:cNvGrpSpPr/>
          <p:nvPr/>
        </p:nvGrpSpPr>
        <p:grpSpPr>
          <a:xfrm>
            <a:off x="2411612" y="3934073"/>
            <a:ext cx="1152451" cy="432296"/>
            <a:chOff x="2051646" y="3862065"/>
            <a:chExt cx="1152451" cy="432296"/>
          </a:xfrm>
        </p:grpSpPr>
        <p:sp>
          <p:nvSpPr>
            <p:cNvPr id="388564" name="Text Box 468"/>
            <p:cNvSpPr txBox="1">
              <a:spLocks noChangeArrowheads="1"/>
            </p:cNvSpPr>
            <p:nvPr/>
          </p:nvSpPr>
          <p:spPr bwMode="auto">
            <a:xfrm>
              <a:off x="2051646" y="3862065"/>
              <a:ext cx="792162" cy="21590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①②③</a:t>
              </a:r>
            </a:p>
          </p:txBody>
        </p:sp>
        <p:cxnSp>
          <p:nvCxnSpPr>
            <p:cNvPr id="4" name="直接箭头连接符 3"/>
            <p:cNvCxnSpPr/>
            <p:nvPr/>
          </p:nvCxnSpPr>
          <p:spPr bwMode="auto">
            <a:xfrm flipH="1">
              <a:off x="2916064" y="4151487"/>
              <a:ext cx="288033" cy="142874"/>
            </a:xfrm>
            <a:prstGeom prst="straightConnector1">
              <a:avLst/>
            </a:prstGeom>
            <a:noFill/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arrow" w="sm" len="sm"/>
            </a:ln>
          </p:spPr>
        </p:cxnSp>
      </p:grpSp>
      <p:grpSp>
        <p:nvGrpSpPr>
          <p:cNvPr id="8" name="组合 7"/>
          <p:cNvGrpSpPr/>
          <p:nvPr/>
        </p:nvGrpSpPr>
        <p:grpSpPr>
          <a:xfrm>
            <a:off x="3564063" y="3933056"/>
            <a:ext cx="935930" cy="430906"/>
            <a:chOff x="3204097" y="3861048"/>
            <a:chExt cx="935930" cy="430906"/>
          </a:xfrm>
        </p:grpSpPr>
        <p:sp>
          <p:nvSpPr>
            <p:cNvPr id="388566" name="Text Box 470"/>
            <p:cNvSpPr txBox="1">
              <a:spLocks noChangeArrowheads="1"/>
            </p:cNvSpPr>
            <p:nvPr/>
          </p:nvSpPr>
          <p:spPr bwMode="auto">
            <a:xfrm>
              <a:off x="3347864" y="3861048"/>
              <a:ext cx="792163" cy="21590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④⑤⑥</a:t>
              </a:r>
            </a:p>
          </p:txBody>
        </p:sp>
        <p:cxnSp>
          <p:nvCxnSpPr>
            <p:cNvPr id="48" name="直接箭头连接符 47"/>
            <p:cNvCxnSpPr/>
            <p:nvPr/>
          </p:nvCxnSpPr>
          <p:spPr bwMode="auto">
            <a:xfrm>
              <a:off x="3204097" y="4151487"/>
              <a:ext cx="216023" cy="140467"/>
            </a:xfrm>
            <a:prstGeom prst="straightConnector1">
              <a:avLst/>
            </a:prstGeom>
            <a:noFill/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arrow" w="sm" len="sm"/>
            </a:ln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88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4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884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4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884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88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5" presetClass="entr" presetSubtype="1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388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9" dur="500"/>
                                        <p:tgtEl>
                                          <p:spTgt spid="3885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8" dur="500"/>
                                        <p:tgtEl>
                                          <p:spTgt spid="3885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8486" grpId="0"/>
      <p:bldP spid="388487" grpId="0"/>
      <p:bldP spid="388552" grpId="0"/>
      <p:bldP spid="388553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4139952" y="1772816"/>
            <a:ext cx="431800" cy="360363"/>
            <a:chOff x="8108131" y="2069232"/>
            <a:chExt cx="431800" cy="360363"/>
          </a:xfrm>
        </p:grpSpPr>
        <p:sp>
          <p:nvSpPr>
            <p:cNvPr id="70" name="Line 47"/>
            <p:cNvSpPr>
              <a:spLocks noChangeShapeType="1"/>
            </p:cNvSpPr>
            <p:nvPr/>
          </p:nvSpPr>
          <p:spPr bwMode="auto">
            <a:xfrm>
              <a:off x="8539931" y="2069232"/>
              <a:ext cx="0" cy="360363"/>
            </a:xfrm>
            <a:prstGeom prst="line">
              <a:avLst/>
            </a:prstGeom>
            <a:noFill/>
            <a:ln w="38100" cmpd="dbl">
              <a:solidFill>
                <a:schemeClr val="accent2"/>
              </a:solidFill>
              <a:round/>
              <a:headEnd type="triangle" w="med" len="sm"/>
              <a:tailEnd type="triangle" w="med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" name="Line 62"/>
            <p:cNvSpPr>
              <a:spLocks noChangeShapeType="1"/>
            </p:cNvSpPr>
            <p:nvPr/>
          </p:nvSpPr>
          <p:spPr bwMode="auto">
            <a:xfrm>
              <a:off x="8324031" y="2069232"/>
              <a:ext cx="0" cy="360363"/>
            </a:xfrm>
            <a:prstGeom prst="line">
              <a:avLst/>
            </a:prstGeom>
            <a:noFill/>
            <a:ln w="38100" cmpd="dbl">
              <a:solidFill>
                <a:srgbClr val="CC3300"/>
              </a:solidFill>
              <a:round/>
              <a:headEnd type="none" w="sm" len="med"/>
              <a:tailEnd type="triangle" w="med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" name="Line 63"/>
            <p:cNvSpPr>
              <a:spLocks noChangeShapeType="1"/>
            </p:cNvSpPr>
            <p:nvPr/>
          </p:nvSpPr>
          <p:spPr bwMode="auto">
            <a:xfrm>
              <a:off x="8108131" y="2069232"/>
              <a:ext cx="0" cy="360363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71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76CBD-9B29-4471-8B21-D4E2941ED726}" type="slidenum">
              <a:rPr lang="en-US" altLang="zh-CN"/>
              <a:t>44</a:t>
            </a:fld>
            <a:endParaRPr lang="en-US" altLang="zh-CN" dirty="0"/>
          </a:p>
        </p:txBody>
      </p:sp>
      <p:sp>
        <p:nvSpPr>
          <p:cNvPr id="390172" name="Text Box 28"/>
          <p:cNvSpPr txBox="1">
            <a:spLocks noChangeArrowheads="1"/>
          </p:cNvSpPr>
          <p:nvPr/>
        </p:nvSpPr>
        <p:spPr bwMode="auto">
          <a:xfrm>
            <a:off x="179388" y="332656"/>
            <a:ext cx="8785225" cy="434304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(2)</a:t>
            </a:r>
            <a:r>
              <a:rPr lang="zh-CN" altLang="en-US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数据传送</a:t>
            </a:r>
            <a:r>
              <a:rPr lang="en-US" altLang="zh-CN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(DMA</a:t>
            </a:r>
            <a:r>
              <a:rPr lang="zh-CN" altLang="en-US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传送</a:t>
            </a:r>
            <a:r>
              <a:rPr lang="en-US" altLang="zh-CN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)</a:t>
            </a:r>
            <a:r>
              <a:rPr lang="zh-CN" altLang="en-US" sz="2200" b="1" dirty="0">
                <a:solidFill>
                  <a:srgbClr val="CC3300"/>
                </a:solidFill>
                <a:latin typeface="宋体" panose="02010600030101010101" pitchFamily="2" charset="-122"/>
              </a:rPr>
              <a:t> </a:t>
            </a:r>
          </a:p>
          <a:p>
            <a:pPr algn="l">
              <a:lnSpc>
                <a:spcPct val="125000"/>
              </a:lnSpc>
            </a:pP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任务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r>
              <a:rPr lang="en-US" altLang="zh-CN" sz="2200" b="1" dirty="0">
                <a:latin typeface="宋体" panose="02010600030101010101" pitchFamily="2" charset="-122"/>
              </a:rPr>
              <a:t>DMA</a:t>
            </a:r>
            <a:r>
              <a:rPr lang="zh-CN" altLang="en-US" sz="2200" b="1" dirty="0">
                <a:latin typeface="宋体" panose="02010600030101010101" pitchFamily="2" charset="-122"/>
              </a:rPr>
              <a:t>接口</a:t>
            </a:r>
            <a:r>
              <a:rPr lang="zh-CN" altLang="en-US" sz="2200" b="1" dirty="0">
                <a:solidFill>
                  <a:srgbClr val="0070C0"/>
                </a:solidFill>
                <a:latin typeface="宋体" panose="02010600030101010101" pitchFamily="2" charset="-122"/>
              </a:rPr>
              <a:t>循环地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传送</a:t>
            </a:r>
            <a:r>
              <a:rPr lang="zh-CN" altLang="en-US" sz="2200" b="1" dirty="0">
                <a:latin typeface="宋体" panose="02010600030101010101" pitchFamily="2" charset="-122"/>
              </a:rPr>
              <a:t>数据</a:t>
            </a:r>
            <a:r>
              <a:rPr lang="en-US" altLang="zh-CN" sz="1800" b="1" dirty="0">
                <a:latin typeface="宋体" panose="02010600030101010101" pitchFamily="2" charset="-122"/>
              </a:rPr>
              <a:t>(1</a:t>
            </a:r>
            <a:r>
              <a:rPr lang="zh-CN" altLang="en-US" sz="1800" b="1" dirty="0">
                <a:latin typeface="宋体" panose="02010600030101010101" pitchFamily="2" charset="-122"/>
              </a:rPr>
              <a:t>个字</a:t>
            </a:r>
            <a:r>
              <a:rPr lang="en-US" altLang="zh-CN" sz="1800" b="1" dirty="0">
                <a:latin typeface="宋体" panose="02010600030101010101" pitchFamily="2" charset="-122"/>
              </a:rPr>
              <a:t>/</a:t>
            </a:r>
            <a:r>
              <a:rPr lang="zh-CN" altLang="en-US" sz="1800" b="1" dirty="0">
                <a:latin typeface="宋体" panose="02010600030101010101" pitchFamily="2" charset="-122"/>
              </a:rPr>
              <a:t>次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r>
              <a:rPr lang="zh-CN" altLang="en-US" sz="2200" b="1" dirty="0">
                <a:latin typeface="宋体" panose="02010600030101010101" pitchFamily="2" charset="-122"/>
              </a:rPr>
              <a:t>，结束时提出中断请求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100"/>
              </a:spcBef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*申请总线使用权：</a:t>
            </a: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2100"/>
              </a:spcBef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*传送数据：</a:t>
            </a: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1700"/>
              </a:spcBef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*实现循环：</a:t>
            </a:r>
          </a:p>
        </p:txBody>
      </p:sp>
      <p:grpSp>
        <p:nvGrpSpPr>
          <p:cNvPr id="390258" name="Group 114"/>
          <p:cNvGrpSpPr/>
          <p:nvPr/>
        </p:nvGrpSpPr>
        <p:grpSpPr bwMode="auto">
          <a:xfrm>
            <a:off x="2196281" y="1988716"/>
            <a:ext cx="1728787" cy="288925"/>
            <a:chOff x="1111" y="1570"/>
            <a:chExt cx="1089" cy="182"/>
          </a:xfrm>
        </p:grpSpPr>
        <p:sp>
          <p:nvSpPr>
            <p:cNvPr id="390181" name="Text Box 37"/>
            <p:cNvSpPr txBox="1">
              <a:spLocks noChangeArrowheads="1"/>
            </p:cNvSpPr>
            <p:nvPr/>
          </p:nvSpPr>
          <p:spPr bwMode="auto">
            <a:xfrm>
              <a:off x="1247" y="1570"/>
              <a:ext cx="590" cy="181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②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HRQ↑</a:t>
              </a:r>
            </a:p>
          </p:txBody>
        </p:sp>
        <p:sp>
          <p:nvSpPr>
            <p:cNvPr id="390182" name="Line 38"/>
            <p:cNvSpPr>
              <a:spLocks noChangeShapeType="1"/>
            </p:cNvSpPr>
            <p:nvPr/>
          </p:nvSpPr>
          <p:spPr bwMode="auto">
            <a:xfrm flipH="1">
              <a:off x="1111" y="1752"/>
              <a:ext cx="1089" cy="0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90257" name="Group 113"/>
          <p:cNvGrpSpPr/>
          <p:nvPr/>
        </p:nvGrpSpPr>
        <p:grpSpPr bwMode="auto">
          <a:xfrm>
            <a:off x="2196281" y="2420516"/>
            <a:ext cx="1728787" cy="287338"/>
            <a:chOff x="1111" y="1842"/>
            <a:chExt cx="1089" cy="181"/>
          </a:xfrm>
        </p:grpSpPr>
        <p:sp>
          <p:nvSpPr>
            <p:cNvPr id="390183" name="Line 39"/>
            <p:cNvSpPr>
              <a:spLocks noChangeShapeType="1"/>
            </p:cNvSpPr>
            <p:nvPr/>
          </p:nvSpPr>
          <p:spPr bwMode="auto">
            <a:xfrm flipV="1">
              <a:off x="1111" y="1842"/>
              <a:ext cx="1089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0184" name="Text Box 40"/>
            <p:cNvSpPr txBox="1">
              <a:spLocks noChangeArrowheads="1"/>
            </p:cNvSpPr>
            <p:nvPr/>
          </p:nvSpPr>
          <p:spPr bwMode="auto">
            <a:xfrm>
              <a:off x="1247" y="1842"/>
              <a:ext cx="636" cy="181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③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HLDA↑</a:t>
              </a:r>
            </a:p>
          </p:txBody>
        </p:sp>
      </p:grpSp>
      <p:sp>
        <p:nvSpPr>
          <p:cNvPr id="390199" name="Text Box 55"/>
          <p:cNvSpPr txBox="1">
            <a:spLocks noChangeArrowheads="1"/>
          </p:cNvSpPr>
          <p:nvPr/>
        </p:nvSpPr>
        <p:spPr bwMode="auto">
          <a:xfrm>
            <a:off x="2699791" y="1196752"/>
            <a:ext cx="6336703" cy="45736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sz="2200" b="1" spc="-100" dirty="0">
                <a:latin typeface="宋体" panose="02010600030101010101" pitchFamily="2" charset="-122"/>
              </a:rPr>
              <a:t>外设</a:t>
            </a:r>
            <a:r>
              <a:rPr lang="zh-CN" altLang="en-US" sz="2200" b="1" u="sng" spc="-100" dirty="0">
                <a:latin typeface="宋体" panose="02010600030101010101" pitchFamily="2" charset="-122"/>
              </a:rPr>
              <a:t>就绪时</a:t>
            </a:r>
            <a:r>
              <a:rPr lang="zh-CN" altLang="en-US" sz="2200" b="1" spc="-100" dirty="0">
                <a:latin typeface="宋体" panose="02010600030101010101" pitchFamily="2" charset="-122"/>
              </a:rPr>
              <a:t>申请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时机</a:t>
            </a:r>
            <a:r>
              <a:rPr lang="zh-CN" altLang="en-US" sz="1800" b="1" spc="-100" dirty="0">
                <a:latin typeface="宋体" panose="02010600030101010101" pitchFamily="2" charset="-122"/>
              </a:rPr>
              <a:t>～传送方式</a:t>
            </a:r>
            <a:r>
              <a:rPr lang="en-US" altLang="zh-CN" sz="1800" b="1" spc="-100" dirty="0">
                <a:latin typeface="宋体" panose="02010600030101010101" pitchFamily="2" charset="-122"/>
              </a:rPr>
              <a:t>[</a:t>
            </a:r>
            <a:r>
              <a:rPr lang="zh-CN" altLang="en-US" sz="1800" b="1" spc="-100" dirty="0">
                <a:latin typeface="宋体" panose="02010600030101010101" pitchFamily="2" charset="-122"/>
              </a:rPr>
              <a:t>如</a:t>
            </a:r>
            <a:r>
              <a:rPr lang="zh-CN" altLang="en-US" sz="1800" b="1" dirty="0">
                <a:latin typeface="宋体" panose="02010600030101010101" pitchFamily="2" charset="-122"/>
              </a:rPr>
              <a:t>周期挪用</a:t>
            </a:r>
            <a:r>
              <a:rPr lang="en-US" altLang="zh-CN" sz="1800" b="1" spc="-100" dirty="0">
                <a:latin typeface="宋体" panose="02010600030101010101" pitchFamily="2" charset="-122"/>
              </a:rPr>
              <a:t>])</a:t>
            </a:r>
            <a:endParaRPr lang="en-US" altLang="zh-CN" sz="2000" b="1" dirty="0">
              <a:latin typeface="宋体" panose="02010600030101010101" pitchFamily="2" charset="-122"/>
            </a:endParaRPr>
          </a:p>
        </p:txBody>
      </p:sp>
      <p:grpSp>
        <p:nvGrpSpPr>
          <p:cNvPr id="390211" name="Group 67"/>
          <p:cNvGrpSpPr/>
          <p:nvPr/>
        </p:nvGrpSpPr>
        <p:grpSpPr bwMode="auto">
          <a:xfrm>
            <a:off x="4139381" y="1772816"/>
            <a:ext cx="431800" cy="360363"/>
            <a:chOff x="2064" y="2160"/>
            <a:chExt cx="272" cy="227"/>
          </a:xfrm>
        </p:grpSpPr>
        <p:sp>
          <p:nvSpPr>
            <p:cNvPr id="390190" name="Line 46"/>
            <p:cNvSpPr>
              <a:spLocks noChangeShapeType="1"/>
            </p:cNvSpPr>
            <p:nvPr/>
          </p:nvSpPr>
          <p:spPr bwMode="auto">
            <a:xfrm flipV="1">
              <a:off x="2200" y="2160"/>
              <a:ext cx="0" cy="227"/>
            </a:xfrm>
            <a:prstGeom prst="line">
              <a:avLst/>
            </a:prstGeom>
            <a:noFill/>
            <a:ln w="38100" cmpd="dbl">
              <a:solidFill>
                <a:srgbClr val="CC3300"/>
              </a:solidFill>
              <a:prstDash val="sysDot"/>
              <a:round/>
              <a:headEnd type="none" w="sm" len="med"/>
              <a:tailEnd type="triangle" w="med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0204" name="Line 60"/>
            <p:cNvSpPr>
              <a:spLocks noChangeShapeType="1"/>
            </p:cNvSpPr>
            <p:nvPr/>
          </p:nvSpPr>
          <p:spPr bwMode="auto">
            <a:xfrm flipV="1">
              <a:off x="2064" y="2160"/>
              <a:ext cx="0" cy="227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prstDash val="sysDot"/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0205" name="Line 61"/>
            <p:cNvSpPr>
              <a:spLocks noChangeShapeType="1"/>
            </p:cNvSpPr>
            <p:nvPr/>
          </p:nvSpPr>
          <p:spPr bwMode="auto">
            <a:xfrm>
              <a:off x="2336" y="2160"/>
              <a:ext cx="0" cy="227"/>
            </a:xfrm>
            <a:prstGeom prst="line">
              <a:avLst/>
            </a:prstGeom>
            <a:noFill/>
            <a:ln w="38100" cmpd="dbl">
              <a:solidFill>
                <a:schemeClr val="accent2"/>
              </a:solidFill>
              <a:prstDash val="sysDot"/>
              <a:round/>
              <a:headEnd type="triangle" w="med" len="sm"/>
              <a:tailEnd type="triangle" w="med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90255" name="Group 111"/>
          <p:cNvGrpSpPr/>
          <p:nvPr/>
        </p:nvGrpSpPr>
        <p:grpSpPr bwMode="auto">
          <a:xfrm>
            <a:off x="4931543" y="2420517"/>
            <a:ext cx="1439863" cy="287338"/>
            <a:chOff x="2834" y="1842"/>
            <a:chExt cx="907" cy="181"/>
          </a:xfrm>
        </p:grpSpPr>
        <p:sp>
          <p:nvSpPr>
            <p:cNvPr id="390200" name="Line 56"/>
            <p:cNvSpPr>
              <a:spLocks noChangeShapeType="1"/>
            </p:cNvSpPr>
            <p:nvPr/>
          </p:nvSpPr>
          <p:spPr bwMode="auto">
            <a:xfrm flipH="1">
              <a:off x="2834" y="1842"/>
              <a:ext cx="907" cy="0"/>
            </a:xfrm>
            <a:prstGeom prst="line">
              <a:avLst/>
            </a:prstGeom>
            <a:noFill/>
            <a:ln w="19050">
              <a:solidFill>
                <a:srgbClr val="9900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0203" name="Text Box 59"/>
            <p:cNvSpPr txBox="1">
              <a:spLocks noChangeArrowheads="1"/>
            </p:cNvSpPr>
            <p:nvPr/>
          </p:nvSpPr>
          <p:spPr bwMode="auto">
            <a:xfrm>
              <a:off x="2970" y="1842"/>
              <a:ext cx="635" cy="181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①就绪↑</a:t>
              </a:r>
            </a:p>
          </p:txBody>
        </p:sp>
      </p:grpSp>
      <p:grpSp>
        <p:nvGrpSpPr>
          <p:cNvPr id="390256" name="Group 112"/>
          <p:cNvGrpSpPr/>
          <p:nvPr/>
        </p:nvGrpSpPr>
        <p:grpSpPr bwMode="auto">
          <a:xfrm>
            <a:off x="1259656" y="1772816"/>
            <a:ext cx="7416800" cy="863600"/>
            <a:chOff x="521" y="1434"/>
            <a:chExt cx="4672" cy="544"/>
          </a:xfrm>
        </p:grpSpPr>
        <p:sp>
          <p:nvSpPr>
            <p:cNvPr id="390177" name="Text Box 33"/>
            <p:cNvSpPr txBox="1">
              <a:spLocks noChangeArrowheads="1"/>
            </p:cNvSpPr>
            <p:nvPr/>
          </p:nvSpPr>
          <p:spPr bwMode="auto">
            <a:xfrm>
              <a:off x="2199" y="1661"/>
              <a:ext cx="635" cy="317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DMA</a:t>
              </a:r>
              <a:r>
                <a:rPr lang="zh-CN" altLang="en-US" sz="1800" b="1" dirty="0">
                  <a:latin typeface="宋体" panose="02010600030101010101" pitchFamily="2" charset="-122"/>
                </a:rPr>
                <a:t>接口</a:t>
              </a:r>
            </a:p>
          </p:txBody>
        </p:sp>
        <p:sp>
          <p:nvSpPr>
            <p:cNvPr id="390178" name="Text Box 34"/>
            <p:cNvSpPr txBox="1">
              <a:spLocks noChangeArrowheads="1"/>
            </p:cNvSpPr>
            <p:nvPr/>
          </p:nvSpPr>
          <p:spPr bwMode="auto">
            <a:xfrm>
              <a:off x="3741" y="1661"/>
              <a:ext cx="589" cy="317"/>
            </a:xfrm>
            <a:prstGeom prst="rect">
              <a:avLst/>
            </a:prstGeom>
            <a:solidFill>
              <a:schemeClr val="accent2">
                <a:lumMod val="20000"/>
                <a:lumOff val="80000"/>
                <a:alpha val="80000"/>
              </a:scheme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I/O</a:t>
              </a:r>
              <a:r>
                <a:rPr lang="zh-CN" altLang="en-US" sz="1800" b="1" dirty="0">
                  <a:latin typeface="宋体" panose="02010600030101010101" pitchFamily="2" charset="-122"/>
                </a:rPr>
                <a:t>设备</a:t>
              </a:r>
            </a:p>
          </p:txBody>
        </p:sp>
        <p:sp>
          <p:nvSpPr>
            <p:cNvPr id="390179" name="Text Box 35"/>
            <p:cNvSpPr txBox="1">
              <a:spLocks noChangeArrowheads="1"/>
            </p:cNvSpPr>
            <p:nvPr/>
          </p:nvSpPr>
          <p:spPr bwMode="auto">
            <a:xfrm>
              <a:off x="521" y="1661"/>
              <a:ext cx="591" cy="317"/>
            </a:xfrm>
            <a:prstGeom prst="rect">
              <a:avLst/>
            </a:prstGeom>
            <a:solidFill>
              <a:srgbClr val="FF99CC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CPU</a:t>
              </a:r>
            </a:p>
          </p:txBody>
        </p:sp>
        <p:sp>
          <p:nvSpPr>
            <p:cNvPr id="390186" name="Line 42"/>
            <p:cNvSpPr>
              <a:spLocks noChangeShapeType="1"/>
            </p:cNvSpPr>
            <p:nvPr/>
          </p:nvSpPr>
          <p:spPr bwMode="auto">
            <a:xfrm>
              <a:off x="521" y="1434"/>
              <a:ext cx="4672" cy="0"/>
            </a:xfrm>
            <a:prstGeom prst="line">
              <a:avLst/>
            </a:prstGeom>
            <a:noFill/>
            <a:ln w="38100" cmpd="dbl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0187" name="Text Box 43"/>
            <p:cNvSpPr txBox="1">
              <a:spLocks noChangeArrowheads="1"/>
            </p:cNvSpPr>
            <p:nvPr/>
          </p:nvSpPr>
          <p:spPr bwMode="auto">
            <a:xfrm>
              <a:off x="4558" y="1661"/>
              <a:ext cx="635" cy="317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主存</a:t>
              </a:r>
            </a:p>
          </p:txBody>
        </p:sp>
        <p:sp>
          <p:nvSpPr>
            <p:cNvPr id="390191" name="Line 47"/>
            <p:cNvSpPr>
              <a:spLocks noChangeShapeType="1"/>
            </p:cNvSpPr>
            <p:nvPr/>
          </p:nvSpPr>
          <p:spPr bwMode="auto">
            <a:xfrm>
              <a:off x="5011" y="1434"/>
              <a:ext cx="0" cy="227"/>
            </a:xfrm>
            <a:prstGeom prst="line">
              <a:avLst/>
            </a:prstGeom>
            <a:noFill/>
            <a:ln w="38100" cmpd="dbl">
              <a:solidFill>
                <a:schemeClr val="accent2"/>
              </a:solidFill>
              <a:round/>
              <a:headEnd type="triangle" w="med" len="sm"/>
              <a:tailEnd type="triangle" w="med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0206" name="Line 62"/>
            <p:cNvSpPr>
              <a:spLocks noChangeShapeType="1"/>
            </p:cNvSpPr>
            <p:nvPr/>
          </p:nvSpPr>
          <p:spPr bwMode="auto">
            <a:xfrm>
              <a:off x="4875" y="1434"/>
              <a:ext cx="0" cy="227"/>
            </a:xfrm>
            <a:prstGeom prst="line">
              <a:avLst/>
            </a:prstGeom>
            <a:noFill/>
            <a:ln w="38100" cmpd="dbl">
              <a:solidFill>
                <a:srgbClr val="CC3300"/>
              </a:solidFill>
              <a:round/>
              <a:headEnd type="none" w="sm" len="med"/>
              <a:tailEnd type="triangle" w="med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0207" name="Line 63"/>
            <p:cNvSpPr>
              <a:spLocks noChangeShapeType="1"/>
            </p:cNvSpPr>
            <p:nvPr/>
          </p:nvSpPr>
          <p:spPr bwMode="auto">
            <a:xfrm>
              <a:off x="4739" y="1434"/>
              <a:ext cx="0" cy="227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90216" name="Group 72"/>
          <p:cNvGrpSpPr/>
          <p:nvPr/>
        </p:nvGrpSpPr>
        <p:grpSpPr bwMode="auto">
          <a:xfrm>
            <a:off x="1548581" y="1772816"/>
            <a:ext cx="431800" cy="360363"/>
            <a:chOff x="748" y="1480"/>
            <a:chExt cx="272" cy="227"/>
          </a:xfrm>
        </p:grpSpPr>
        <p:sp>
          <p:nvSpPr>
            <p:cNvPr id="390208" name="Line 64"/>
            <p:cNvSpPr>
              <a:spLocks noChangeShapeType="1"/>
            </p:cNvSpPr>
            <p:nvPr/>
          </p:nvSpPr>
          <p:spPr bwMode="auto">
            <a:xfrm flipV="1">
              <a:off x="884" y="1480"/>
              <a:ext cx="0" cy="227"/>
            </a:xfrm>
            <a:prstGeom prst="line">
              <a:avLst/>
            </a:prstGeom>
            <a:noFill/>
            <a:ln w="38100" cmpd="dbl">
              <a:solidFill>
                <a:srgbClr val="CC3300"/>
              </a:solidFill>
              <a:round/>
              <a:headEnd type="none" w="sm" len="med"/>
              <a:tailEnd type="triangle" w="med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0209" name="Line 65"/>
            <p:cNvSpPr>
              <a:spLocks noChangeShapeType="1"/>
            </p:cNvSpPr>
            <p:nvPr/>
          </p:nvSpPr>
          <p:spPr bwMode="auto">
            <a:xfrm flipV="1">
              <a:off x="748" y="1480"/>
              <a:ext cx="0" cy="227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0210" name="Line 66"/>
            <p:cNvSpPr>
              <a:spLocks noChangeShapeType="1"/>
            </p:cNvSpPr>
            <p:nvPr/>
          </p:nvSpPr>
          <p:spPr bwMode="auto">
            <a:xfrm>
              <a:off x="1020" y="1480"/>
              <a:ext cx="0" cy="227"/>
            </a:xfrm>
            <a:prstGeom prst="line">
              <a:avLst/>
            </a:prstGeom>
            <a:noFill/>
            <a:ln w="38100" cmpd="dbl">
              <a:solidFill>
                <a:schemeClr val="accent2"/>
              </a:solidFill>
              <a:round/>
              <a:headEnd type="triangle" w="med" len="sm"/>
              <a:tailEnd type="triangle" w="med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90218" name="Text Box 74"/>
          <p:cNvSpPr txBox="1">
            <a:spLocks noChangeArrowheads="1"/>
          </p:cNvSpPr>
          <p:nvPr/>
        </p:nvSpPr>
        <p:spPr bwMode="auto">
          <a:xfrm>
            <a:off x="1907703" y="2708920"/>
            <a:ext cx="7056905" cy="45736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sz="2200" b="1" dirty="0">
                <a:latin typeface="宋体" panose="02010600030101010101" pitchFamily="2" charset="-122"/>
              </a:rPr>
              <a:t>产生总线操作，撤销申请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时机</a:t>
            </a:r>
            <a:r>
              <a:rPr lang="zh-CN" altLang="en-US" sz="1800" b="1" spc="-100" dirty="0">
                <a:latin typeface="宋体" panose="02010600030101010101" pitchFamily="2" charset="-122"/>
              </a:rPr>
              <a:t>～传送方式</a:t>
            </a:r>
            <a:r>
              <a:rPr lang="en-US" altLang="zh-CN" sz="1800" b="1" spc="-100" dirty="0">
                <a:latin typeface="宋体" panose="02010600030101010101" pitchFamily="2" charset="-122"/>
              </a:rPr>
              <a:t>[</a:t>
            </a:r>
            <a:r>
              <a:rPr lang="zh-CN" altLang="en-US" sz="1800" b="1" spc="-100" dirty="0">
                <a:latin typeface="宋体" panose="02010600030101010101" pitchFamily="2" charset="-122"/>
              </a:rPr>
              <a:t>如</a:t>
            </a:r>
            <a:r>
              <a:rPr lang="zh-CN" altLang="en-US" sz="1800" b="1" dirty="0">
                <a:latin typeface="宋体" panose="02010600030101010101" pitchFamily="2" charset="-122"/>
              </a:rPr>
              <a:t>周期挪用</a:t>
            </a:r>
            <a:r>
              <a:rPr lang="en-US" altLang="zh-CN" sz="1800" b="1" spc="-100" dirty="0">
                <a:latin typeface="宋体" panose="02010600030101010101" pitchFamily="2" charset="-122"/>
              </a:rPr>
              <a:t>])</a:t>
            </a:r>
            <a:endParaRPr lang="en-US" altLang="zh-CN" sz="1800" b="1" dirty="0">
              <a:latin typeface="宋体" panose="02010600030101010101" pitchFamily="2" charset="-122"/>
            </a:endParaRPr>
          </a:p>
        </p:txBody>
      </p:sp>
      <p:grpSp>
        <p:nvGrpSpPr>
          <p:cNvPr id="390252" name="Group 108"/>
          <p:cNvGrpSpPr/>
          <p:nvPr/>
        </p:nvGrpSpPr>
        <p:grpSpPr bwMode="auto">
          <a:xfrm>
            <a:off x="3347219" y="3212977"/>
            <a:ext cx="5040312" cy="360363"/>
            <a:chOff x="1837" y="2478"/>
            <a:chExt cx="3175" cy="227"/>
          </a:xfrm>
        </p:grpSpPr>
        <p:sp>
          <p:nvSpPr>
            <p:cNvPr id="390233" name="Line 89"/>
            <p:cNvSpPr>
              <a:spLocks noChangeShapeType="1"/>
            </p:cNvSpPr>
            <p:nvPr/>
          </p:nvSpPr>
          <p:spPr bwMode="auto">
            <a:xfrm flipV="1">
              <a:off x="2472" y="2478"/>
              <a:ext cx="0" cy="227"/>
            </a:xfrm>
            <a:prstGeom prst="line">
              <a:avLst/>
            </a:prstGeom>
            <a:noFill/>
            <a:ln w="38100" cmpd="dbl">
              <a:solidFill>
                <a:srgbClr val="CC3300"/>
              </a:solidFill>
              <a:round/>
              <a:headEnd type="none" w="sm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0234" name="Line 90"/>
            <p:cNvSpPr>
              <a:spLocks noChangeShapeType="1"/>
            </p:cNvSpPr>
            <p:nvPr/>
          </p:nvSpPr>
          <p:spPr bwMode="auto">
            <a:xfrm flipV="1">
              <a:off x="2336" y="2478"/>
              <a:ext cx="0" cy="227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0235" name="Line 91"/>
            <p:cNvSpPr>
              <a:spLocks noChangeShapeType="1"/>
            </p:cNvSpPr>
            <p:nvPr/>
          </p:nvSpPr>
          <p:spPr bwMode="auto">
            <a:xfrm flipV="1">
              <a:off x="2608" y="2478"/>
              <a:ext cx="0" cy="226"/>
            </a:xfrm>
            <a:prstGeom prst="line">
              <a:avLst/>
            </a:prstGeom>
            <a:noFill/>
            <a:ln w="38100" cmpd="dbl">
              <a:solidFill>
                <a:schemeClr val="accent2"/>
              </a:solidFill>
              <a:round/>
              <a:headEnd type="none" w="sm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0236" name="Text Box 92"/>
            <p:cNvSpPr txBox="1">
              <a:spLocks noChangeArrowheads="1"/>
            </p:cNvSpPr>
            <p:nvPr/>
          </p:nvSpPr>
          <p:spPr bwMode="auto">
            <a:xfrm>
              <a:off x="1837" y="2523"/>
              <a:ext cx="499" cy="181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④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MEMW</a:t>
              </a:r>
            </a:p>
          </p:txBody>
        </p:sp>
        <p:sp>
          <p:nvSpPr>
            <p:cNvPr id="390225" name="Line 81"/>
            <p:cNvSpPr>
              <a:spLocks noChangeShapeType="1"/>
            </p:cNvSpPr>
            <p:nvPr/>
          </p:nvSpPr>
          <p:spPr bwMode="auto">
            <a:xfrm>
              <a:off x="5012" y="2478"/>
              <a:ext cx="0" cy="227"/>
            </a:xfrm>
            <a:prstGeom prst="line">
              <a:avLst/>
            </a:prstGeom>
            <a:noFill/>
            <a:ln w="38100" cmpd="dbl">
              <a:solidFill>
                <a:schemeClr val="accent2"/>
              </a:solidFill>
              <a:round/>
              <a:headEnd type="none" w="sm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0230" name="Line 86"/>
            <p:cNvSpPr>
              <a:spLocks noChangeShapeType="1"/>
            </p:cNvSpPr>
            <p:nvPr/>
          </p:nvSpPr>
          <p:spPr bwMode="auto">
            <a:xfrm>
              <a:off x="4876" y="2478"/>
              <a:ext cx="0" cy="227"/>
            </a:xfrm>
            <a:prstGeom prst="line">
              <a:avLst/>
            </a:prstGeom>
            <a:noFill/>
            <a:ln w="38100" cmpd="dbl">
              <a:solidFill>
                <a:srgbClr val="CC3300"/>
              </a:solidFill>
              <a:round/>
              <a:headEnd type="none" w="sm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0231" name="Line 87"/>
            <p:cNvSpPr>
              <a:spLocks noChangeShapeType="1"/>
            </p:cNvSpPr>
            <p:nvPr/>
          </p:nvSpPr>
          <p:spPr bwMode="auto">
            <a:xfrm>
              <a:off x="4740" y="2478"/>
              <a:ext cx="0" cy="227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90251" name="Group 107"/>
          <p:cNvGrpSpPr/>
          <p:nvPr/>
        </p:nvGrpSpPr>
        <p:grpSpPr bwMode="auto">
          <a:xfrm>
            <a:off x="1258069" y="3212977"/>
            <a:ext cx="7418387" cy="863600"/>
            <a:chOff x="521" y="2478"/>
            <a:chExt cx="4673" cy="544"/>
          </a:xfrm>
        </p:grpSpPr>
        <p:sp>
          <p:nvSpPr>
            <p:cNvPr id="390220" name="Text Box 76"/>
            <p:cNvSpPr txBox="1">
              <a:spLocks noChangeArrowheads="1"/>
            </p:cNvSpPr>
            <p:nvPr/>
          </p:nvSpPr>
          <p:spPr bwMode="auto">
            <a:xfrm>
              <a:off x="2200" y="2705"/>
              <a:ext cx="635" cy="317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DMA</a:t>
              </a:r>
              <a:r>
                <a:rPr lang="zh-CN" altLang="en-US" sz="1800" b="1" dirty="0">
                  <a:latin typeface="宋体" panose="02010600030101010101" pitchFamily="2" charset="-122"/>
                </a:rPr>
                <a:t>接口</a:t>
              </a:r>
            </a:p>
          </p:txBody>
        </p:sp>
        <p:sp>
          <p:nvSpPr>
            <p:cNvPr id="390221" name="Text Box 77"/>
            <p:cNvSpPr txBox="1">
              <a:spLocks noChangeArrowheads="1"/>
            </p:cNvSpPr>
            <p:nvPr/>
          </p:nvSpPr>
          <p:spPr bwMode="auto">
            <a:xfrm>
              <a:off x="3742" y="2705"/>
              <a:ext cx="589" cy="317"/>
            </a:xfrm>
            <a:prstGeom prst="rect">
              <a:avLst/>
            </a:prstGeom>
            <a:solidFill>
              <a:schemeClr val="accent2">
                <a:lumMod val="20000"/>
                <a:lumOff val="80000"/>
                <a:alpha val="80000"/>
              </a:scheme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I/O</a:t>
              </a:r>
              <a:r>
                <a:rPr lang="zh-CN" altLang="en-US" sz="1800" b="1" dirty="0">
                  <a:latin typeface="宋体" panose="02010600030101010101" pitchFamily="2" charset="-122"/>
                </a:rPr>
                <a:t>设备</a:t>
              </a:r>
            </a:p>
          </p:txBody>
        </p:sp>
        <p:sp>
          <p:nvSpPr>
            <p:cNvPr id="390222" name="Text Box 78"/>
            <p:cNvSpPr txBox="1">
              <a:spLocks noChangeArrowheads="1"/>
            </p:cNvSpPr>
            <p:nvPr/>
          </p:nvSpPr>
          <p:spPr bwMode="auto">
            <a:xfrm>
              <a:off x="521" y="2705"/>
              <a:ext cx="591" cy="317"/>
            </a:xfrm>
            <a:prstGeom prst="rect">
              <a:avLst/>
            </a:prstGeom>
            <a:solidFill>
              <a:srgbClr val="FF99CC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CPU</a:t>
              </a:r>
            </a:p>
          </p:txBody>
        </p:sp>
        <p:sp>
          <p:nvSpPr>
            <p:cNvPr id="390223" name="Line 79"/>
            <p:cNvSpPr>
              <a:spLocks noChangeShapeType="1"/>
            </p:cNvSpPr>
            <p:nvPr/>
          </p:nvSpPr>
          <p:spPr bwMode="auto">
            <a:xfrm>
              <a:off x="521" y="2478"/>
              <a:ext cx="4672" cy="0"/>
            </a:xfrm>
            <a:prstGeom prst="line">
              <a:avLst/>
            </a:prstGeom>
            <a:noFill/>
            <a:ln w="38100" cmpd="dbl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0224" name="Text Box 80"/>
            <p:cNvSpPr txBox="1">
              <a:spLocks noChangeArrowheads="1"/>
            </p:cNvSpPr>
            <p:nvPr/>
          </p:nvSpPr>
          <p:spPr bwMode="auto">
            <a:xfrm>
              <a:off x="4559" y="2705"/>
              <a:ext cx="635" cy="317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主存</a:t>
              </a:r>
            </a:p>
          </p:txBody>
        </p:sp>
        <p:sp>
          <p:nvSpPr>
            <p:cNvPr id="390239" name="Line 95"/>
            <p:cNvSpPr>
              <a:spLocks noChangeShapeType="1"/>
            </p:cNvSpPr>
            <p:nvPr/>
          </p:nvSpPr>
          <p:spPr bwMode="auto">
            <a:xfrm flipH="1">
              <a:off x="1111" y="2795"/>
              <a:ext cx="1088" cy="0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0241" name="Line 97"/>
            <p:cNvSpPr>
              <a:spLocks noChangeShapeType="1"/>
            </p:cNvSpPr>
            <p:nvPr/>
          </p:nvSpPr>
          <p:spPr bwMode="auto">
            <a:xfrm flipV="1">
              <a:off x="1111" y="2885"/>
              <a:ext cx="1088" cy="1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90247" name="Group 103"/>
          <p:cNvGrpSpPr/>
          <p:nvPr/>
        </p:nvGrpSpPr>
        <p:grpSpPr bwMode="auto">
          <a:xfrm>
            <a:off x="2551881" y="3428877"/>
            <a:ext cx="938213" cy="719138"/>
            <a:chOff x="1336" y="2614"/>
            <a:chExt cx="591" cy="453"/>
          </a:xfrm>
        </p:grpSpPr>
        <p:sp>
          <p:nvSpPr>
            <p:cNvPr id="390238" name="Text Box 94"/>
            <p:cNvSpPr txBox="1">
              <a:spLocks noChangeArrowheads="1"/>
            </p:cNvSpPr>
            <p:nvPr/>
          </p:nvSpPr>
          <p:spPr bwMode="auto">
            <a:xfrm>
              <a:off x="1337" y="2614"/>
              <a:ext cx="590" cy="181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HRQ</a:t>
              </a:r>
              <a:r>
                <a:rPr lang="zh-CN" altLang="en-US" sz="1800" b="1" dirty="0">
                  <a:latin typeface="宋体" panose="02010600030101010101" pitchFamily="2" charset="-122"/>
                </a:rPr>
                <a:t>＝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1</a:t>
              </a:r>
            </a:p>
          </p:txBody>
        </p:sp>
        <p:sp>
          <p:nvSpPr>
            <p:cNvPr id="390242" name="Text Box 98"/>
            <p:cNvSpPr txBox="1">
              <a:spLocks noChangeArrowheads="1"/>
            </p:cNvSpPr>
            <p:nvPr/>
          </p:nvSpPr>
          <p:spPr bwMode="auto">
            <a:xfrm>
              <a:off x="1336" y="2886"/>
              <a:ext cx="591" cy="181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800" b="1">
                  <a:latin typeface="宋体" panose="02010600030101010101" pitchFamily="2" charset="-122"/>
                </a:rPr>
                <a:t>HLDA</a:t>
              </a:r>
              <a:r>
                <a:rPr lang="zh-CN" altLang="en-US" sz="1800" b="1">
                  <a:latin typeface="宋体" panose="02010600030101010101" pitchFamily="2" charset="-122"/>
                </a:rPr>
                <a:t>＝</a:t>
              </a:r>
              <a:r>
                <a:rPr lang="en-US" altLang="zh-CN" sz="1800" b="1">
                  <a:latin typeface="宋体" panose="02010600030101010101" pitchFamily="2" charset="-122"/>
                </a:rPr>
                <a:t>1</a:t>
              </a:r>
            </a:p>
          </p:txBody>
        </p:sp>
      </p:grpSp>
      <p:grpSp>
        <p:nvGrpSpPr>
          <p:cNvPr id="390253" name="Group 109"/>
          <p:cNvGrpSpPr/>
          <p:nvPr/>
        </p:nvGrpSpPr>
        <p:grpSpPr bwMode="auto">
          <a:xfrm>
            <a:off x="2338784" y="3428877"/>
            <a:ext cx="1081088" cy="717550"/>
            <a:chOff x="1202" y="3250"/>
            <a:chExt cx="681" cy="452"/>
          </a:xfrm>
        </p:grpSpPr>
        <p:sp>
          <p:nvSpPr>
            <p:cNvPr id="390243" name="Text Box 99"/>
            <p:cNvSpPr txBox="1">
              <a:spLocks noChangeArrowheads="1"/>
            </p:cNvSpPr>
            <p:nvPr/>
          </p:nvSpPr>
          <p:spPr bwMode="auto">
            <a:xfrm>
              <a:off x="1202" y="3250"/>
              <a:ext cx="680" cy="181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⑤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HRQ↓</a:t>
              </a:r>
            </a:p>
          </p:txBody>
        </p:sp>
        <p:sp>
          <p:nvSpPr>
            <p:cNvPr id="390244" name="Text Box 100"/>
            <p:cNvSpPr txBox="1">
              <a:spLocks noChangeArrowheads="1"/>
            </p:cNvSpPr>
            <p:nvPr/>
          </p:nvSpPr>
          <p:spPr bwMode="auto">
            <a:xfrm>
              <a:off x="1202" y="3521"/>
              <a:ext cx="681" cy="181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⑤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HLDA↓</a:t>
              </a:r>
            </a:p>
          </p:txBody>
        </p:sp>
      </p:grpSp>
      <p:sp>
        <p:nvSpPr>
          <p:cNvPr id="390259" name="Oval 115"/>
          <p:cNvSpPr>
            <a:spLocks noChangeArrowheads="1"/>
          </p:cNvSpPr>
          <p:nvPr/>
        </p:nvSpPr>
        <p:spPr bwMode="auto">
          <a:xfrm>
            <a:off x="1259656" y="1772816"/>
            <a:ext cx="1008062" cy="360363"/>
          </a:xfrm>
          <a:prstGeom prst="ellipse">
            <a:avLst/>
          </a:prstGeom>
          <a:noFill/>
          <a:ln w="15875">
            <a:solidFill>
              <a:schemeClr val="tx1"/>
            </a:solidFill>
            <a:prstDash val="sysDot"/>
            <a:rou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0260" name="Text Box 116"/>
          <p:cNvSpPr txBox="1">
            <a:spLocks noChangeArrowheads="1"/>
          </p:cNvSpPr>
          <p:nvPr/>
        </p:nvSpPr>
        <p:spPr bwMode="auto">
          <a:xfrm>
            <a:off x="1907704" y="4220023"/>
            <a:ext cx="6984776" cy="116807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lIns="90000" tIns="46800" rIns="90000" bIns="46800">
            <a:spAutoFit/>
          </a:bodyPr>
          <a:lstStyle/>
          <a:p>
            <a:pPr algn="l">
              <a:lnSpc>
                <a:spcPct val="105000"/>
              </a:lnSpc>
            </a:pPr>
            <a:r>
              <a:rPr lang="zh-CN" altLang="en-US" sz="2200" b="1" dirty="0">
                <a:latin typeface="宋体" panose="02010600030101010101" pitchFamily="2" charset="-122"/>
              </a:rPr>
              <a:t>⑥</a:t>
            </a:r>
            <a:r>
              <a:rPr lang="en-US" altLang="zh-CN" sz="2200" b="1" dirty="0">
                <a:latin typeface="宋体" panose="02010600030101010101" pitchFamily="2" charset="-122"/>
              </a:rPr>
              <a:t>MAC←(MAC)</a:t>
            </a:r>
            <a:r>
              <a:rPr lang="zh-CN" altLang="en-US" sz="2200" b="1" dirty="0">
                <a:latin typeface="宋体" panose="02010600030101010101" pitchFamily="2" charset="-122"/>
              </a:rPr>
              <a:t>＋</a:t>
            </a:r>
            <a:r>
              <a:rPr lang="en-US" altLang="zh-CN" sz="2200" b="1" dirty="0">
                <a:latin typeface="宋体" panose="02010600030101010101" pitchFamily="2" charset="-122"/>
              </a:rPr>
              <a:t>1</a:t>
            </a:r>
            <a:r>
              <a:rPr lang="zh-CN" altLang="en-US" sz="2200" b="1" dirty="0">
                <a:latin typeface="宋体" panose="02010600030101010101" pitchFamily="2" charset="-122"/>
              </a:rPr>
              <a:t>、</a:t>
            </a:r>
            <a:r>
              <a:rPr lang="en-US" altLang="zh-CN" sz="2200" b="1" dirty="0">
                <a:latin typeface="宋体" panose="02010600030101010101" pitchFamily="2" charset="-122"/>
              </a:rPr>
              <a:t>WC←(WC)</a:t>
            </a:r>
            <a:r>
              <a:rPr lang="zh-CN" altLang="en-US" sz="2200" b="1" dirty="0">
                <a:latin typeface="宋体" panose="02010600030101010101" pitchFamily="2" charset="-122"/>
              </a:rPr>
              <a:t>－</a:t>
            </a:r>
            <a:r>
              <a:rPr lang="en-US" altLang="zh-CN" sz="2200" b="1" dirty="0">
                <a:latin typeface="宋体" panose="02010600030101010101" pitchFamily="2" charset="-122"/>
              </a:rPr>
              <a:t>1</a:t>
            </a:r>
            <a:endParaRPr lang="zh-CN" altLang="en-US" sz="2200" b="1" dirty="0">
              <a:latin typeface="宋体" panose="02010600030101010101" pitchFamily="2" charset="-122"/>
            </a:endParaRPr>
          </a:p>
          <a:p>
            <a:pPr algn="l">
              <a:lnSpc>
                <a:spcPct val="115000"/>
              </a:lnSpc>
            </a:pPr>
            <a:r>
              <a:rPr lang="zh-CN" altLang="en-US" sz="2200" b="1" dirty="0">
                <a:latin typeface="宋体" panose="02010600030101010101" pitchFamily="2" charset="-122"/>
              </a:rPr>
              <a:t>⑦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若</a:t>
            </a:r>
            <a:r>
              <a:rPr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WC≠0</a:t>
            </a:r>
            <a:r>
              <a:rPr lang="zh-CN" altLang="en-US" sz="2200" b="1" dirty="0">
                <a:latin typeface="宋体" panose="02010600030101010101" pitchFamily="2" charset="-122"/>
              </a:rPr>
              <a:t>，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等待</a:t>
            </a:r>
            <a:r>
              <a:rPr lang="zh-CN" altLang="en-US" sz="2200" b="1" dirty="0">
                <a:latin typeface="宋体" panose="02010600030101010101" pitchFamily="2" charset="-122"/>
              </a:rPr>
              <a:t>外设就绪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转入①、开始下个字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r>
              <a:rPr lang="zh-CN" altLang="en-US" sz="2200" b="1" dirty="0">
                <a:latin typeface="宋体" panose="02010600030101010101" pitchFamily="2" charset="-122"/>
              </a:rPr>
              <a:t>；</a:t>
            </a:r>
          </a:p>
          <a:p>
            <a:pPr algn="l">
              <a:lnSpc>
                <a:spcPct val="115000"/>
              </a:lnSpc>
            </a:pP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若</a:t>
            </a:r>
            <a:r>
              <a:rPr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WC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＝</a:t>
            </a:r>
            <a:r>
              <a:rPr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0</a:t>
            </a:r>
            <a:r>
              <a:rPr lang="zh-CN" altLang="en-US" sz="2200" b="1" dirty="0">
                <a:latin typeface="宋体" panose="02010600030101010101" pitchFamily="2" charset="-122"/>
              </a:rPr>
              <a:t>，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产生</a:t>
            </a:r>
            <a:r>
              <a:rPr lang="zh-CN" altLang="en-US" sz="2200" b="1" dirty="0">
                <a:latin typeface="宋体" panose="02010600030101010101" pitchFamily="2" charset="-122"/>
              </a:rPr>
              <a:t>中断请求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已传送完毕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endParaRPr lang="zh-CN" altLang="en-US" sz="1800" b="1" dirty="0">
              <a:latin typeface="宋体" panose="02010600030101010101" pitchFamily="2" charset="-122"/>
            </a:endParaRPr>
          </a:p>
        </p:txBody>
      </p:sp>
      <p:sp>
        <p:nvSpPr>
          <p:cNvPr id="390264" name="AutoShape 120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6228878" y="6502097"/>
            <a:ext cx="287338" cy="287338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0266" name="AutoShape 122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5148758" y="6524450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2" name="AutoShape 161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2988519" y="6524450"/>
            <a:ext cx="287337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" name="Oval 115"/>
          <p:cNvSpPr>
            <a:spLocks noChangeArrowheads="1"/>
          </p:cNvSpPr>
          <p:nvPr/>
        </p:nvSpPr>
        <p:spPr bwMode="auto">
          <a:xfrm>
            <a:off x="4068813" y="3212654"/>
            <a:ext cx="647203" cy="360363"/>
          </a:xfrm>
          <a:prstGeom prst="ellipse">
            <a:avLst/>
          </a:prstGeom>
          <a:noFill/>
          <a:ln w="15875">
            <a:solidFill>
              <a:schemeClr val="tx1"/>
            </a:solidFill>
            <a:prstDash val="sysDot"/>
            <a:rou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3" name="组合 2"/>
          <p:cNvGrpSpPr/>
          <p:nvPr/>
        </p:nvGrpSpPr>
        <p:grpSpPr>
          <a:xfrm>
            <a:off x="4932000" y="3429695"/>
            <a:ext cx="1440000" cy="287338"/>
            <a:chOff x="4932000" y="3645718"/>
            <a:chExt cx="1440000" cy="287338"/>
          </a:xfrm>
        </p:grpSpPr>
        <p:sp>
          <p:nvSpPr>
            <p:cNvPr id="76" name="Line 57"/>
            <p:cNvSpPr>
              <a:spLocks noChangeShapeType="1"/>
            </p:cNvSpPr>
            <p:nvPr/>
          </p:nvSpPr>
          <p:spPr bwMode="auto">
            <a:xfrm flipH="1">
              <a:off x="4932000" y="3906174"/>
              <a:ext cx="1440000" cy="0"/>
            </a:xfrm>
            <a:prstGeom prst="line">
              <a:avLst/>
            </a:prstGeom>
            <a:noFill/>
            <a:ln w="19050">
              <a:solidFill>
                <a:srgbClr val="990099"/>
              </a:solidFill>
              <a:prstDash val="sysDash"/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" name="Text Box 58"/>
            <p:cNvSpPr txBox="1">
              <a:spLocks noChangeArrowheads="1"/>
            </p:cNvSpPr>
            <p:nvPr/>
          </p:nvSpPr>
          <p:spPr bwMode="auto">
            <a:xfrm>
              <a:off x="5076000" y="3645718"/>
              <a:ext cx="1224000" cy="287338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⑦等待就绪</a:t>
              </a: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4931544" y="1990304"/>
            <a:ext cx="1439863" cy="287338"/>
            <a:chOff x="4931544" y="2134320"/>
            <a:chExt cx="1439863" cy="287338"/>
          </a:xfrm>
        </p:grpSpPr>
        <p:sp>
          <p:nvSpPr>
            <p:cNvPr id="78" name="Line 57"/>
            <p:cNvSpPr>
              <a:spLocks noChangeShapeType="1"/>
            </p:cNvSpPr>
            <p:nvPr/>
          </p:nvSpPr>
          <p:spPr bwMode="auto">
            <a:xfrm flipV="1">
              <a:off x="4931544" y="2421657"/>
              <a:ext cx="1439863" cy="0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" name="Text Box 58"/>
            <p:cNvSpPr txBox="1">
              <a:spLocks noChangeArrowheads="1"/>
            </p:cNvSpPr>
            <p:nvPr/>
          </p:nvSpPr>
          <p:spPr bwMode="auto">
            <a:xfrm>
              <a:off x="5147444" y="2134320"/>
              <a:ext cx="1008063" cy="287338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启动↑</a:t>
              </a:r>
            </a:p>
          </p:txBody>
        </p:sp>
      </p:grpSp>
      <p:sp>
        <p:nvSpPr>
          <p:cNvPr id="81" name="AutoShape 62">
            <a:hlinkClick r:id="rId4" action="ppaction://hlinksldjump"/>
          </p:cNvPr>
          <p:cNvSpPr>
            <a:spLocks noChangeArrowheads="1"/>
          </p:cNvSpPr>
          <p:nvPr/>
        </p:nvSpPr>
        <p:spPr bwMode="auto">
          <a:xfrm rot="16200000">
            <a:off x="4068291" y="6524103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eaVert" wrap="none" lIns="0" tIns="0" rIns="0" bIns="0" anchor="ctr"/>
          <a:lstStyle/>
          <a:p>
            <a:pPr algn="ctr"/>
            <a:r>
              <a:rPr lang="en-US" altLang="zh-CN" sz="1600" dirty="0">
                <a:solidFill>
                  <a:schemeClr val="bg2"/>
                </a:solidFill>
                <a:latin typeface="+mn-ea"/>
                <a:ea typeface="+mn-ea"/>
              </a:rPr>
              <a:t>41</a:t>
            </a:r>
            <a:endParaRPr lang="zh-CN" altLang="en-US" sz="1600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80" name="Text Box 42"/>
          <p:cNvSpPr txBox="1">
            <a:spLocks noChangeArrowheads="1"/>
          </p:cNvSpPr>
          <p:nvPr/>
        </p:nvSpPr>
        <p:spPr bwMode="auto">
          <a:xfrm>
            <a:off x="179388" y="5373216"/>
            <a:ext cx="8785225" cy="8805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(3)</a:t>
            </a:r>
            <a:r>
              <a:rPr lang="zh-CN" altLang="en-US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后处理</a:t>
            </a:r>
            <a:endParaRPr lang="zh-CN" altLang="en-US" sz="2200" b="1" dirty="0">
              <a:solidFill>
                <a:srgbClr val="CC33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任务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r>
              <a:rPr lang="en-US" altLang="zh-CN" sz="2200" b="1" spc="-100" dirty="0">
                <a:latin typeface="宋体" panose="02010600030101010101" pitchFamily="2" charset="-122"/>
              </a:rPr>
              <a:t>CPU</a:t>
            </a:r>
            <a:r>
              <a:rPr lang="zh-CN" altLang="en-US" sz="2200" b="1" u="sng" spc="-100" dirty="0">
                <a:solidFill>
                  <a:srgbClr val="990099"/>
                </a:solidFill>
                <a:latin typeface="宋体" panose="02010600030101010101" pitchFamily="2" charset="-122"/>
              </a:rPr>
              <a:t>响应</a:t>
            </a:r>
            <a:r>
              <a:rPr lang="zh-CN" altLang="en-US" sz="2200" b="1" spc="-100" dirty="0">
                <a:latin typeface="宋体" panose="02010600030101010101" pitchFamily="2" charset="-122"/>
              </a:rPr>
              <a:t>中断请求，</a:t>
            </a:r>
            <a:r>
              <a:rPr lang="zh-CN" altLang="en-US" sz="2200" b="1" u="sng" spc="-100" dirty="0">
                <a:solidFill>
                  <a:srgbClr val="990099"/>
                </a:solidFill>
                <a:latin typeface="宋体" panose="02010600030101010101" pitchFamily="2" charset="-122"/>
              </a:rPr>
              <a:t>完成</a:t>
            </a:r>
            <a:r>
              <a:rPr lang="zh-CN" altLang="en-US" sz="2200" b="1" spc="-100" dirty="0">
                <a:latin typeface="宋体" panose="02010600030101010101" pitchFamily="2" charset="-122"/>
              </a:rPr>
              <a:t>结束处理工作</a:t>
            </a:r>
            <a:r>
              <a:rPr lang="en-US" altLang="zh-CN" sz="1800" b="1" spc="-100" dirty="0">
                <a:latin typeface="宋体" panose="02010600030101010101" pitchFamily="2" charset="-122"/>
              </a:rPr>
              <a:t>(</a:t>
            </a:r>
            <a:r>
              <a:rPr lang="zh-CN" altLang="en-US" sz="1800" b="1" spc="-100" dirty="0">
                <a:latin typeface="宋体" panose="02010600030101010101" pitchFamily="2" charset="-122"/>
              </a:rPr>
              <a:t>如数据校验、开始下次</a:t>
            </a:r>
            <a:r>
              <a:rPr lang="en-US" altLang="zh-CN" sz="1800" b="1" spc="-100" dirty="0">
                <a:latin typeface="宋体" panose="02010600030101010101" pitchFamily="2" charset="-122"/>
              </a:rPr>
              <a:t>)</a:t>
            </a:r>
            <a:endParaRPr lang="zh-CN" altLang="en-US" sz="2000" b="1" spc="-100" dirty="0">
              <a:latin typeface="宋体" panose="02010600030101010101" pitchFamily="2" charset="-122"/>
            </a:endParaRPr>
          </a:p>
        </p:txBody>
      </p:sp>
      <p:sp>
        <p:nvSpPr>
          <p:cNvPr id="82" name="线形标注 2 138"/>
          <p:cNvSpPr/>
          <p:nvPr/>
        </p:nvSpPr>
        <p:spPr bwMode="auto">
          <a:xfrm>
            <a:off x="4265559" y="5372183"/>
            <a:ext cx="4320000" cy="288000"/>
          </a:xfrm>
          <a:prstGeom prst="borderCallout2">
            <a:avLst>
              <a:gd name="adj1" fmla="val 52616"/>
              <a:gd name="adj2" fmla="val -506"/>
              <a:gd name="adj3" fmla="val 51263"/>
              <a:gd name="adj4" fmla="val -6011"/>
              <a:gd name="adj5" fmla="val -160139"/>
              <a:gd name="adj6" fmla="val -9904"/>
            </a:avLst>
          </a:prstGeom>
          <a:noFill/>
          <a:ln w="12700" cap="flat" cmpd="sng" algn="ctr">
            <a:solidFill>
              <a:srgbClr val="FF3399"/>
            </a:solidFill>
            <a:prstDash val="sysDash"/>
            <a:round/>
            <a:headEnd type="none" w="med" len="med"/>
            <a:tailEnd type="arrow" w="sm" len="sm"/>
          </a:ln>
          <a:effectLst/>
        </p:spPr>
        <p:txBody>
          <a:bodyPr vert="horz" wrap="square" lIns="36000" tIns="10800" rIns="36000" bIns="10800" numCol="1" rtlCol="0" anchor="ctr" anchorCtr="0" compatLnSpc="1"/>
          <a:lstStyle/>
          <a:p>
            <a:pPr algn="l">
              <a:lnSpc>
                <a:spcPct val="90000"/>
              </a:lnSpc>
            </a:pPr>
            <a:r>
              <a:rPr lang="zh-CN" altLang="en-US" sz="1600" b="1" dirty="0">
                <a:solidFill>
                  <a:srgbClr val="FF3399"/>
                </a:solidFill>
                <a:latin typeface="宋体" panose="02010600030101010101" pitchFamily="2" charset="-122"/>
              </a:rPr>
              <a:t>教材上</a:t>
            </a:r>
            <a:r>
              <a:rPr lang="zh-CN" altLang="en-US" sz="1600" b="1" dirty="0">
                <a:latin typeface="宋体" panose="02010600030101010101" pitchFamily="2" charset="-122"/>
              </a:rPr>
              <a:t>讲重新启动外设</a:t>
            </a:r>
            <a:r>
              <a:rPr lang="zh-CN" altLang="en-US" sz="1600" b="1" dirty="0">
                <a:solidFill>
                  <a:srgbClr val="FF3399"/>
                </a:solidFill>
                <a:latin typeface="宋体" panose="02010600030101010101" pitchFamily="2" charset="-122"/>
              </a:rPr>
              <a:t>有误！</a:t>
            </a:r>
            <a:r>
              <a:rPr lang="zh-CN" altLang="en-US" sz="1600" b="1" dirty="0">
                <a:latin typeface="宋体" panose="02010600030101010101" pitchFamily="2" charset="-122"/>
              </a:rPr>
              <a:t>块设备仅启动</a:t>
            </a:r>
            <a:r>
              <a:rPr lang="en-US" altLang="zh-CN" sz="1600" b="1" dirty="0">
                <a:latin typeface="宋体" panose="02010600030101010101" pitchFamily="2" charset="-122"/>
              </a:rPr>
              <a:t>1</a:t>
            </a:r>
            <a:r>
              <a:rPr lang="zh-CN" altLang="en-US" sz="1600" b="1" dirty="0">
                <a:latin typeface="宋体" panose="02010600030101010101" pitchFamily="2" charset="-122"/>
              </a:rPr>
              <a:t>次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90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390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390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390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5" presetClass="entr" presetSubtype="1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9" dur="500"/>
                                        <p:tgtEl>
                                          <p:spTgt spid="390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4" dur="750"/>
                                        <p:tgtEl>
                                          <p:spTgt spid="390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9" dur="500"/>
                                        <p:tgtEl>
                                          <p:spTgt spid="3902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0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750"/>
                            </p:stCondLst>
                            <p:childTnLst>
                              <p:par>
                                <p:cTn id="45" presetID="63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-2.22222E-6 L 0.28368 -2.22222E-6 " pathEditMode="relative" rAng="0" ptsTypes="AA">
                                      <p:cBhvr>
                                        <p:cTn id="46" dur="1500" fill="hold"/>
                                        <p:tgtEl>
                                          <p:spTgt spid="39025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184" y="0"/>
                                    </p:animMotion>
                                  </p:childTnLst>
                                </p:cTn>
                              </p:par>
                              <p:par>
                                <p:cTn id="47" presetID="5" presetClass="entr" presetSubtype="1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9" dur="500"/>
                                        <p:tgtEl>
                                          <p:spTgt spid="390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2250"/>
                            </p:stCondLst>
                            <p:childTnLst>
                              <p:par>
                                <p:cTn id="51" presetID="5" presetClass="entr" presetSubtype="1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3" dur="500"/>
                                        <p:tgtEl>
                                          <p:spTgt spid="390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6" presetClass="entr" presetSubtype="21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6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390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5" dur="500"/>
                                        <p:tgtEl>
                                          <p:spTgt spid="3902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0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5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71" dur="750"/>
                                        <p:tgtEl>
                                          <p:spTgt spid="390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75" dur="500"/>
                                        <p:tgtEl>
                                          <p:spTgt spid="3902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0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78" dur="500"/>
                                        <p:tgtEl>
                                          <p:spTgt spid="3902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0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00"/>
                            </p:stCondLst>
                            <p:childTnLst>
                              <p:par>
                                <p:cTn id="81" presetID="5" presetClass="entr" presetSubtype="1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3" dur="750"/>
                                        <p:tgtEl>
                                          <p:spTgt spid="390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750"/>
                            </p:stCondLst>
                            <p:childTnLst>
                              <p:par>
                                <p:cTn id="85" presetID="63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94444E-6 4.07407E-6 L -0.29132 0.00115 " pathEditMode="relative" rAng="0" ptsTypes="AA">
                                      <p:cBhvr>
                                        <p:cTn id="86" dur="1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566" y="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2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1" dur="500"/>
                                        <p:tgtEl>
                                          <p:spTgt spid="3902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2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6" dur="500"/>
                                        <p:tgtEl>
                                          <p:spTgt spid="3902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2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9" dur="500"/>
                                        <p:tgtEl>
                                          <p:spTgt spid="3902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500"/>
                            </p:stCondLst>
                            <p:childTnLst>
                              <p:par>
                                <p:cTn id="101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3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1000"/>
                            </p:stCondLst>
                            <p:childTnLst>
                              <p:par>
                                <p:cTn id="105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2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0199" grpId="0"/>
      <p:bldP spid="390218" grpId="0"/>
      <p:bldP spid="390259" grpId="0" animBg="1"/>
      <p:bldP spid="390259" grpId="1" animBg="1"/>
      <p:bldP spid="390259" grpId="2" animBg="1"/>
      <p:bldP spid="75" grpId="0" animBg="1"/>
      <p:bldP spid="75" grpId="2" animBg="1"/>
      <p:bldP spid="80" grpId="0"/>
      <p:bldP spid="82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96109-367B-41F5-B3B0-C0A98F48424B}" type="slidenum">
              <a:rPr lang="en-US" altLang="zh-CN"/>
              <a:t>45</a:t>
            </a:fld>
            <a:endParaRPr lang="en-US" altLang="zh-CN"/>
          </a:p>
        </p:txBody>
      </p:sp>
      <p:sp>
        <p:nvSpPr>
          <p:cNvPr id="389277" name="Text Box 157"/>
          <p:cNvSpPr txBox="1">
            <a:spLocks noChangeArrowheads="1"/>
          </p:cNvSpPr>
          <p:nvPr/>
        </p:nvSpPr>
        <p:spPr bwMode="auto">
          <a:xfrm>
            <a:off x="179388" y="352549"/>
            <a:ext cx="8785225" cy="215309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l">
              <a:lnSpc>
                <a:spcPct val="114000"/>
              </a:lnSpc>
            </a:pP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例</a:t>
            </a: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—</a:t>
            </a:r>
            <a:r>
              <a:rPr lang="zh-CN" altLang="en-US" sz="2000" b="1" dirty="0">
                <a:latin typeface="宋体" panose="02010600030101010101" pitchFamily="2" charset="-122"/>
              </a:rPr>
              <a:t>某</a:t>
            </a:r>
            <a:r>
              <a:rPr lang="en-US" altLang="zh-CN" sz="2000" b="1" dirty="0">
                <a:latin typeface="宋体" panose="02010600030101010101" pitchFamily="2" charset="-122"/>
              </a:rPr>
              <a:t>CPU</a:t>
            </a:r>
            <a:r>
              <a:rPr lang="zh-CN" altLang="en-US" sz="2000" b="1" dirty="0">
                <a:latin typeface="宋体" panose="02010600030101010101" pitchFamily="2" charset="-122"/>
              </a:rPr>
              <a:t>主频＝</a:t>
            </a:r>
            <a:r>
              <a:rPr lang="en-US" altLang="zh-CN" sz="2000" b="1" dirty="0">
                <a:latin typeface="宋体" panose="02010600030101010101" pitchFamily="2" charset="-122"/>
              </a:rPr>
              <a:t>500MHz</a:t>
            </a:r>
            <a:r>
              <a:rPr lang="zh-CN" altLang="en-US" sz="2000" b="1" dirty="0">
                <a:latin typeface="宋体" panose="02010600030101010101" pitchFamily="2" charset="-122"/>
              </a:rPr>
              <a:t>、</a:t>
            </a:r>
            <a:r>
              <a:rPr lang="en-US" altLang="zh-CN" sz="2000" b="1" dirty="0">
                <a:latin typeface="宋体" panose="02010600030101010101" pitchFamily="2" charset="-122"/>
              </a:rPr>
              <a:t>CPI</a:t>
            </a:r>
            <a:r>
              <a:rPr lang="zh-CN" altLang="en-US" sz="2000" b="1" dirty="0">
                <a:latin typeface="宋体" panose="02010600030101010101" pitchFamily="2" charset="-122"/>
              </a:rPr>
              <a:t>＝</a:t>
            </a:r>
            <a:r>
              <a:rPr lang="en-US" altLang="zh-CN" sz="2000" b="1" dirty="0">
                <a:latin typeface="宋体" panose="02010600030101010101" pitchFamily="2" charset="-122"/>
              </a:rPr>
              <a:t>5</a:t>
            </a:r>
            <a:r>
              <a:rPr lang="zh-CN" altLang="en-US" sz="2000" b="1" dirty="0">
                <a:latin typeface="宋体" panose="02010600030101010101" pitchFamily="2" charset="-122"/>
              </a:rPr>
              <a:t>，中断响应开销相当于</a:t>
            </a:r>
            <a:r>
              <a:rPr lang="en-US" altLang="zh-CN" sz="2000" b="1" dirty="0">
                <a:latin typeface="宋体" panose="02010600030101010101" pitchFamily="2" charset="-122"/>
              </a:rPr>
              <a:t>2</a:t>
            </a:r>
            <a:r>
              <a:rPr lang="zh-CN" altLang="en-US" sz="2000" b="1" dirty="0">
                <a:latin typeface="宋体" panose="02010600030101010101" pitchFamily="2" charset="-122"/>
              </a:rPr>
              <a:t>条指令执行时间。若外设的数据传输率＝</a:t>
            </a:r>
            <a:r>
              <a:rPr lang="en-US" altLang="zh-CN" sz="2000" b="1" dirty="0">
                <a:latin typeface="宋体" panose="02010600030101010101" pitchFamily="2" charset="-122"/>
              </a:rPr>
              <a:t>0.5MB/s</a:t>
            </a:r>
            <a:r>
              <a:rPr lang="zh-CN" altLang="en-US" sz="2000" b="1" dirty="0">
                <a:latin typeface="宋体" panose="02010600030101010101" pitchFamily="2" charset="-122"/>
              </a:rPr>
              <a:t>，其</a:t>
            </a:r>
            <a:r>
              <a:rPr lang="en-US" altLang="zh-CN" sz="2000" b="1" dirty="0">
                <a:latin typeface="宋体" panose="02010600030101010101" pitchFamily="2" charset="-122"/>
              </a:rPr>
              <a:t>I/O</a:t>
            </a:r>
            <a:r>
              <a:rPr lang="zh-CN" altLang="en-US" sz="2000" b="1" dirty="0">
                <a:latin typeface="宋体" panose="02010600030101010101" pitchFamily="2" charset="-122"/>
              </a:rPr>
              <a:t>接口所连总线宽度＝</a:t>
            </a:r>
            <a:r>
              <a:rPr lang="en-US" altLang="zh-CN" sz="2000" b="1" dirty="0">
                <a:latin typeface="宋体" panose="02010600030101010101" pitchFamily="2" charset="-122"/>
              </a:rPr>
              <a:t>32bit</a:t>
            </a:r>
            <a:r>
              <a:rPr lang="zh-CN" altLang="en-US" sz="2000" b="1" dirty="0">
                <a:latin typeface="宋体" panose="02010600030101010101" pitchFamily="2" charset="-122"/>
              </a:rPr>
              <a:t>、数据缓冲器大小＝</a:t>
            </a:r>
            <a:r>
              <a:rPr lang="en-US" altLang="zh-CN" sz="2000" b="1" dirty="0">
                <a:latin typeface="宋体" panose="02010600030101010101" pitchFamily="2" charset="-122"/>
              </a:rPr>
              <a:t>4B</a:t>
            </a:r>
            <a:r>
              <a:rPr lang="zh-CN" altLang="en-US" sz="2000" b="1" dirty="0">
                <a:latin typeface="宋体" panose="02010600030101010101" pitchFamily="2" charset="-122"/>
              </a:rPr>
              <a:t>，中断处理程序有</a:t>
            </a:r>
            <a:r>
              <a:rPr lang="en-US" altLang="zh-CN" sz="2000" b="1" dirty="0">
                <a:latin typeface="宋体" panose="02010600030101010101" pitchFamily="2" charset="-122"/>
              </a:rPr>
              <a:t>18</a:t>
            </a:r>
            <a:r>
              <a:rPr lang="zh-CN" altLang="en-US" sz="2000" b="1" dirty="0">
                <a:latin typeface="宋体" panose="02010600030101010101" pitchFamily="2" charset="-122"/>
              </a:rPr>
              <a:t>条指令。</a:t>
            </a:r>
          </a:p>
          <a:p>
            <a:pPr algn="l">
              <a:lnSpc>
                <a:spcPct val="114000"/>
              </a:lnSpc>
            </a:pPr>
            <a:r>
              <a:rPr lang="zh-CN" altLang="en-US" sz="2000" b="1" dirty="0">
                <a:latin typeface="宋体" panose="02010600030101010101" pitchFamily="2" charset="-122"/>
              </a:rPr>
              <a:t>    </a:t>
            </a:r>
            <a:r>
              <a:rPr lang="en-US" altLang="zh-CN" sz="2000" b="1" dirty="0">
                <a:latin typeface="宋体" panose="02010600030101010101" pitchFamily="2" charset="-122"/>
              </a:rPr>
              <a:t>(1)</a:t>
            </a:r>
            <a:r>
              <a:rPr lang="zh-CN" altLang="en-US" sz="2000" b="1" dirty="0">
                <a:latin typeface="宋体" panose="02010600030101010101" pitchFamily="2" charset="-122"/>
              </a:rPr>
              <a:t>中断方式下，该外设</a:t>
            </a:r>
            <a:r>
              <a:rPr lang="en-US" altLang="zh-CN" sz="2000" b="1" dirty="0">
                <a:latin typeface="宋体" panose="02010600030101010101" pitchFamily="2" charset="-122"/>
              </a:rPr>
              <a:t>I/O</a:t>
            </a:r>
            <a:r>
              <a:rPr lang="zh-CN" altLang="en-US" sz="2000" b="1" dirty="0">
                <a:latin typeface="宋体" panose="02010600030101010101" pitchFamily="2" charset="-122"/>
              </a:rPr>
              <a:t>所占</a:t>
            </a:r>
            <a:r>
              <a:rPr lang="en-US" altLang="zh-CN" sz="2000" b="1" dirty="0">
                <a:latin typeface="宋体" panose="02010600030101010101" pitchFamily="2" charset="-122"/>
              </a:rPr>
              <a:t>CPU</a:t>
            </a:r>
            <a:r>
              <a:rPr lang="zh-CN" altLang="en-US" sz="2000" b="1" dirty="0">
                <a:latin typeface="宋体" panose="02010600030101010101" pitchFamily="2" charset="-122"/>
              </a:rPr>
              <a:t>时间的</a:t>
            </a:r>
            <a:r>
              <a:rPr lang="en-US" altLang="zh-CN" sz="2000" b="1" dirty="0">
                <a:latin typeface="宋体" panose="02010600030101010101" pitchFamily="2" charset="-122"/>
              </a:rPr>
              <a:t>%</a:t>
            </a:r>
            <a:r>
              <a:rPr lang="zh-CN" altLang="en-US" sz="2000" b="1" dirty="0">
                <a:latin typeface="宋体" panose="02010600030101010101" pitchFamily="2" charset="-122"/>
              </a:rPr>
              <a:t>？</a:t>
            </a:r>
          </a:p>
          <a:p>
            <a:pPr algn="l">
              <a:lnSpc>
                <a:spcPct val="114000"/>
              </a:lnSpc>
            </a:pPr>
            <a:r>
              <a:rPr lang="zh-CN" altLang="en-US" sz="2000" b="1" dirty="0">
                <a:latin typeface="宋体" panose="02010600030101010101" pitchFamily="2" charset="-122"/>
              </a:rPr>
              <a:t>    </a:t>
            </a:r>
            <a:r>
              <a:rPr lang="en-US" altLang="zh-CN" sz="2000" b="1" dirty="0">
                <a:latin typeface="宋体" panose="02010600030101010101" pitchFamily="2" charset="-122"/>
              </a:rPr>
              <a:t>(2)</a:t>
            </a:r>
            <a:r>
              <a:rPr lang="zh-CN" altLang="en-US" sz="2000" b="1" dirty="0">
                <a:latin typeface="宋体" panose="02010600030101010101" pitchFamily="2" charset="-122"/>
              </a:rPr>
              <a:t>若外设数据传输率提高到</a:t>
            </a:r>
            <a:r>
              <a:rPr lang="en-US" altLang="zh-CN" sz="2000" b="1" dirty="0">
                <a:latin typeface="宋体" panose="02010600030101010101" pitchFamily="2" charset="-122"/>
              </a:rPr>
              <a:t>5MB/s</a:t>
            </a:r>
            <a:r>
              <a:rPr lang="zh-CN" altLang="en-US" sz="2000" b="1" dirty="0">
                <a:latin typeface="宋体" panose="02010600030101010101" pitchFamily="2" charset="-122"/>
              </a:rPr>
              <a:t>，改用</a:t>
            </a:r>
            <a:r>
              <a:rPr lang="en-US" altLang="zh-CN" sz="2000" b="1" dirty="0">
                <a:latin typeface="宋体" panose="02010600030101010101" pitchFamily="2" charset="-122"/>
              </a:rPr>
              <a:t>DMA</a:t>
            </a:r>
            <a:r>
              <a:rPr lang="zh-CN" altLang="en-US" sz="2000" b="1" dirty="0">
                <a:latin typeface="宋体" panose="02010600030101010101" pitchFamily="2" charset="-122"/>
              </a:rPr>
              <a:t>方式，</a:t>
            </a:r>
            <a:r>
              <a:rPr lang="en-US" altLang="zh-CN" sz="2000" b="1" dirty="0">
                <a:latin typeface="宋体" panose="02010600030101010101" pitchFamily="2" charset="-122"/>
              </a:rPr>
              <a:t>DMA</a:t>
            </a:r>
            <a:r>
              <a:rPr lang="zh-CN" altLang="en-US" sz="2000" b="1" dirty="0">
                <a:latin typeface="宋体" panose="02010600030101010101" pitchFamily="2" charset="-122"/>
              </a:rPr>
              <a:t>传送预处理及后处理共需</a:t>
            </a:r>
            <a:r>
              <a:rPr lang="en-US" altLang="zh-CN" sz="2000" b="1" dirty="0">
                <a:latin typeface="宋体" panose="02010600030101010101" pitchFamily="2" charset="-122"/>
              </a:rPr>
              <a:t>500T</a:t>
            </a:r>
            <a:r>
              <a:rPr lang="en-US" altLang="zh-CN" sz="2000" b="1" baseline="-14000" dirty="0">
                <a:latin typeface="宋体" panose="02010600030101010101" pitchFamily="2" charset="-122"/>
              </a:rPr>
              <a:t>C</a:t>
            </a:r>
            <a:r>
              <a:rPr lang="zh-CN" altLang="en-US" sz="2000" b="1" dirty="0">
                <a:latin typeface="宋体" panose="02010600030101010101" pitchFamily="2" charset="-122"/>
              </a:rPr>
              <a:t>、块大小＝</a:t>
            </a:r>
            <a:r>
              <a:rPr lang="en-US" altLang="zh-CN" sz="2000" b="1" dirty="0">
                <a:latin typeface="宋体" panose="02010600030101010101" pitchFamily="2" charset="-122"/>
              </a:rPr>
              <a:t>5000B</a:t>
            </a:r>
            <a:r>
              <a:rPr lang="zh-CN" altLang="en-US" sz="2000" b="1" dirty="0">
                <a:latin typeface="宋体" panose="02010600030101010101" pitchFamily="2" charset="-122"/>
              </a:rPr>
              <a:t>，该外设</a:t>
            </a:r>
            <a:r>
              <a:rPr lang="en-US" altLang="zh-CN" sz="2000" b="1" dirty="0">
                <a:latin typeface="宋体" panose="02010600030101010101" pitchFamily="2" charset="-122"/>
              </a:rPr>
              <a:t>I/O</a:t>
            </a:r>
            <a:r>
              <a:rPr lang="zh-CN" altLang="en-US" sz="2000" b="1" dirty="0">
                <a:latin typeface="宋体" panose="02010600030101010101" pitchFamily="2" charset="-122"/>
              </a:rPr>
              <a:t>所占</a:t>
            </a:r>
            <a:r>
              <a:rPr lang="en-US" altLang="zh-CN" sz="2000" b="1" dirty="0">
                <a:latin typeface="宋体" panose="02010600030101010101" pitchFamily="2" charset="-122"/>
              </a:rPr>
              <a:t>CPU</a:t>
            </a:r>
            <a:r>
              <a:rPr lang="zh-CN" altLang="en-US" sz="2000" b="1" dirty="0">
                <a:latin typeface="宋体" panose="02010600030101010101" pitchFamily="2" charset="-122"/>
              </a:rPr>
              <a:t>时间的</a:t>
            </a:r>
            <a:r>
              <a:rPr lang="en-US" altLang="zh-CN" sz="2000" b="1" dirty="0">
                <a:latin typeface="宋体" panose="02010600030101010101" pitchFamily="2" charset="-122"/>
              </a:rPr>
              <a:t>%</a:t>
            </a:r>
            <a:r>
              <a:rPr lang="zh-CN" altLang="en-US" sz="2000" b="1" dirty="0">
                <a:latin typeface="宋体" panose="02010600030101010101" pitchFamily="2" charset="-122"/>
              </a:rPr>
              <a:t>？</a:t>
            </a:r>
          </a:p>
        </p:txBody>
      </p:sp>
      <p:sp>
        <p:nvSpPr>
          <p:cNvPr id="6" name="AutoShape 120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2988518" y="6526038"/>
            <a:ext cx="287338" cy="287338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" name="Text Box 6"/>
          <p:cNvSpPr txBox="1">
            <a:spLocks noChangeArrowheads="1"/>
          </p:cNvSpPr>
          <p:nvPr/>
        </p:nvSpPr>
        <p:spPr bwMode="auto">
          <a:xfrm>
            <a:off x="179388" y="2453531"/>
            <a:ext cx="7776388" cy="80887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解</a:t>
            </a: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—(1) </a:t>
            </a:r>
            <a:r>
              <a:rPr lang="en-US" altLang="zh-CN" sz="2000" b="1" dirty="0">
                <a:latin typeface="宋体" panose="02010600030101010101" pitchFamily="2" charset="-122"/>
              </a:rPr>
              <a:t>T</a:t>
            </a:r>
            <a:r>
              <a:rPr lang="en-US" altLang="zh-CN" sz="2000" b="1" baseline="-18000" dirty="0">
                <a:latin typeface="宋体" panose="02010600030101010101" pitchFamily="2" charset="-122"/>
              </a:rPr>
              <a:t>I/O</a:t>
            </a:r>
            <a:r>
              <a:rPr lang="zh-CN" altLang="en-US" sz="2000" b="1" dirty="0">
                <a:latin typeface="宋体" panose="02010600030101010101" pitchFamily="2" charset="-122"/>
              </a:rPr>
              <a:t>＝</a:t>
            </a:r>
            <a:endParaRPr lang="en-US" altLang="zh-CN" sz="20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000" b="1" dirty="0">
                <a:latin typeface="宋体" panose="02010600030101010101" pitchFamily="2" charset="-122"/>
              </a:rPr>
              <a:t>            T</a:t>
            </a:r>
            <a:r>
              <a:rPr lang="en-US" altLang="zh-CN" sz="2000" b="1" baseline="-18000" dirty="0">
                <a:latin typeface="宋体" panose="02010600030101010101" pitchFamily="2" charset="-122"/>
              </a:rPr>
              <a:t>INT</a:t>
            </a:r>
            <a:r>
              <a:rPr lang="zh-CN" altLang="en-US" sz="2000" b="1" dirty="0">
                <a:latin typeface="宋体" panose="02010600030101010101" pitchFamily="2" charset="-122"/>
              </a:rPr>
              <a:t>＝                           </a:t>
            </a:r>
            <a:r>
              <a:rPr lang="en-US" altLang="zh-CN" sz="2000" b="1" dirty="0">
                <a:latin typeface="宋体" panose="02010600030101010101" pitchFamily="2" charset="-122"/>
              </a:rPr>
              <a:t>CPU</a:t>
            </a:r>
            <a:r>
              <a:rPr lang="zh-CN" altLang="en-US" sz="2000" b="1" dirty="0">
                <a:latin typeface="宋体" panose="02010600030101010101" pitchFamily="2" charset="-122"/>
              </a:rPr>
              <a:t>的时间</a:t>
            </a:r>
            <a:r>
              <a:rPr lang="en-US" altLang="zh-CN" sz="2000" b="1" dirty="0">
                <a:latin typeface="宋体" panose="02010600030101010101" pitchFamily="2" charset="-122"/>
              </a:rPr>
              <a:t>%</a:t>
            </a:r>
            <a:r>
              <a:rPr lang="zh-CN" altLang="en-US" sz="2000" b="1" dirty="0">
                <a:latin typeface="宋体" panose="02010600030101010101" pitchFamily="2" charset="-122"/>
              </a:rPr>
              <a:t>＝</a:t>
            </a:r>
            <a:endParaRPr lang="en-US" altLang="zh-CN" sz="2000" b="1" dirty="0">
              <a:latin typeface="宋体" panose="02010600030101010101" pitchFamily="2" charset="-122"/>
            </a:endParaRPr>
          </a:p>
        </p:txBody>
      </p:sp>
      <p:sp>
        <p:nvSpPr>
          <p:cNvPr id="8" name="Text Box 7"/>
          <p:cNvSpPr txBox="1">
            <a:spLocks noChangeArrowheads="1"/>
          </p:cNvSpPr>
          <p:nvPr/>
        </p:nvSpPr>
        <p:spPr bwMode="auto">
          <a:xfrm>
            <a:off x="2339753" y="2847107"/>
            <a:ext cx="6696744" cy="43787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000" b="1" dirty="0">
                <a:latin typeface="宋体" panose="02010600030101010101" pitchFamily="2" charset="-122"/>
              </a:rPr>
              <a:t>(2</a:t>
            </a:r>
            <a:r>
              <a:rPr lang="en-US" altLang="zh-CN" sz="2000" b="1" dirty="0">
                <a:latin typeface="+mn-lt"/>
              </a:rPr>
              <a:t>+</a:t>
            </a:r>
            <a:r>
              <a:rPr lang="en-US" altLang="zh-CN" sz="2000" b="1" dirty="0">
                <a:latin typeface="宋体" panose="02010600030101010101" pitchFamily="2" charset="-122"/>
              </a:rPr>
              <a:t>18)</a:t>
            </a:r>
            <a:r>
              <a:rPr lang="en-US" altLang="zh-CN" sz="2000" b="1" dirty="0">
                <a:latin typeface="+mn-ea"/>
                <a:ea typeface="+mn-ea"/>
              </a:rPr>
              <a:t>*</a:t>
            </a:r>
            <a:r>
              <a:rPr lang="en-US" altLang="zh-CN" sz="2000" b="1" dirty="0">
                <a:latin typeface="宋体" panose="02010600030101010101" pitchFamily="2" charset="-122"/>
              </a:rPr>
              <a:t>5/(500*10</a:t>
            </a:r>
            <a:r>
              <a:rPr lang="en-US" altLang="zh-CN" sz="2000" b="1" baseline="30000" dirty="0">
                <a:latin typeface="宋体" panose="02010600030101010101" pitchFamily="2" charset="-122"/>
              </a:rPr>
              <a:t>6</a:t>
            </a:r>
            <a:r>
              <a:rPr lang="en-US" altLang="zh-CN" sz="2000" b="1" dirty="0">
                <a:latin typeface="宋体" panose="02010600030101010101" pitchFamily="2" charset="-122"/>
              </a:rPr>
              <a:t>)</a:t>
            </a:r>
            <a:r>
              <a:rPr lang="zh-CN" altLang="en-US" sz="2000" b="1" dirty="0">
                <a:latin typeface="宋体" panose="02010600030101010101" pitchFamily="2" charset="-122"/>
              </a:rPr>
              <a:t>＝</a:t>
            </a:r>
            <a:r>
              <a:rPr lang="en-US" altLang="zh-CN" sz="2000" b="1" dirty="0">
                <a:latin typeface="宋体" panose="02010600030101010101" pitchFamily="2" charset="-122"/>
              </a:rPr>
              <a:t>0.2</a:t>
            </a:r>
            <a:r>
              <a:rPr lang="en-US" altLang="zh-CN" sz="2000" dirty="0">
                <a:latin typeface="+mn-lt"/>
              </a:rPr>
              <a:t>μ</a:t>
            </a:r>
            <a:r>
              <a:rPr lang="en-US" altLang="zh-CN" sz="2000" b="1" dirty="0">
                <a:latin typeface="宋体" panose="02010600030101010101" pitchFamily="2" charset="-122"/>
              </a:rPr>
              <a:t>s</a:t>
            </a:r>
            <a:r>
              <a:rPr lang="zh-CN" altLang="en-US" sz="2000" b="1" dirty="0">
                <a:latin typeface="宋体" panose="02010600030101010101" pitchFamily="2" charset="-122"/>
              </a:rPr>
              <a:t>，</a:t>
            </a:r>
            <a:r>
              <a:rPr lang="en-US" altLang="zh-CN" sz="2000" b="1" dirty="0">
                <a:latin typeface="宋体" panose="02010600030101010101" pitchFamily="2" charset="-122"/>
              </a:rPr>
              <a:t>            0.2/8</a:t>
            </a:r>
            <a:r>
              <a:rPr lang="zh-CN" altLang="en-US" sz="2000" b="1" dirty="0">
                <a:latin typeface="宋体" panose="02010600030101010101" pitchFamily="2" charset="-122"/>
              </a:rPr>
              <a:t>＝</a:t>
            </a:r>
            <a:r>
              <a:rPr lang="en-US" altLang="zh-CN" sz="2000" b="1" dirty="0">
                <a:latin typeface="宋体" panose="02010600030101010101" pitchFamily="2" charset="-122"/>
              </a:rPr>
              <a:t>2.5%</a:t>
            </a:r>
          </a:p>
        </p:txBody>
      </p:sp>
      <p:sp>
        <p:nvSpPr>
          <p:cNvPr id="33" name="Text Box 20"/>
          <p:cNvSpPr txBox="1">
            <a:spLocks noChangeArrowheads="1"/>
          </p:cNvSpPr>
          <p:nvPr/>
        </p:nvSpPr>
        <p:spPr bwMode="auto">
          <a:xfrm>
            <a:off x="6154416" y="3980211"/>
            <a:ext cx="358775" cy="287337"/>
          </a:xfrm>
          <a:prstGeom prst="rect">
            <a:avLst/>
          </a:prstGeom>
          <a:noFill/>
          <a:ln w="15875">
            <a:noFill/>
            <a:miter lim="800000"/>
          </a:ln>
          <a:effectLst/>
        </p:spPr>
        <p:txBody>
          <a:bodyPr lIns="18000" tIns="10800" rIns="18000" bIns="10800" anchor="ctr"/>
          <a:lstStyle/>
          <a:p>
            <a:pPr>
              <a:lnSpc>
                <a:spcPct val="105000"/>
              </a:lnSpc>
            </a:pPr>
            <a:endParaRPr lang="en-US" altLang="zh-CN" sz="1800" b="1" dirty="0">
              <a:latin typeface="宋体" panose="02010600030101010101" pitchFamily="2" charset="-122"/>
            </a:endParaRPr>
          </a:p>
        </p:txBody>
      </p:sp>
      <p:grpSp>
        <p:nvGrpSpPr>
          <p:cNvPr id="34" name="组合 33"/>
          <p:cNvGrpSpPr/>
          <p:nvPr/>
        </p:nvGrpSpPr>
        <p:grpSpPr>
          <a:xfrm>
            <a:off x="107504" y="3394800"/>
            <a:ext cx="4175275" cy="1188000"/>
            <a:chOff x="396925" y="3006680"/>
            <a:chExt cx="4175275" cy="1188000"/>
          </a:xfrm>
        </p:grpSpPr>
        <p:sp>
          <p:nvSpPr>
            <p:cNvPr id="35" name="Text Box 9"/>
            <p:cNvSpPr txBox="1">
              <a:spLocks noChangeArrowheads="1"/>
            </p:cNvSpPr>
            <p:nvPr/>
          </p:nvSpPr>
          <p:spPr bwMode="auto">
            <a:xfrm>
              <a:off x="2053109" y="3006680"/>
              <a:ext cx="1942828" cy="252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1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次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I/O</a:t>
              </a:r>
            </a:p>
          </p:txBody>
        </p:sp>
        <p:sp>
          <p:nvSpPr>
            <p:cNvPr id="36" name="Text Box 10"/>
            <p:cNvSpPr txBox="1">
              <a:spLocks noChangeArrowheads="1"/>
            </p:cNvSpPr>
            <p:nvPr/>
          </p:nvSpPr>
          <p:spPr bwMode="auto">
            <a:xfrm>
              <a:off x="1837421" y="3438680"/>
              <a:ext cx="1080000" cy="25200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中断程序</a:t>
              </a:r>
            </a:p>
          </p:txBody>
        </p:sp>
        <p:sp>
          <p:nvSpPr>
            <p:cNvPr id="37" name="Text Box 11"/>
            <p:cNvSpPr txBox="1">
              <a:spLocks noChangeArrowheads="1"/>
            </p:cNvSpPr>
            <p:nvPr/>
          </p:nvSpPr>
          <p:spPr bwMode="auto">
            <a:xfrm>
              <a:off x="2917421" y="3438680"/>
              <a:ext cx="1080120" cy="252000"/>
            </a:xfrm>
            <a:prstGeom prst="rect">
              <a:avLst/>
            </a:prstGeom>
            <a:solidFill>
              <a:srgbClr val="FF99CC">
                <a:alpha val="7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其它程序</a:t>
              </a:r>
            </a:p>
          </p:txBody>
        </p:sp>
        <p:sp>
          <p:nvSpPr>
            <p:cNvPr id="38" name="Text Box 12"/>
            <p:cNvSpPr txBox="1">
              <a:spLocks noChangeArrowheads="1"/>
            </p:cNvSpPr>
            <p:nvPr/>
          </p:nvSpPr>
          <p:spPr bwMode="auto">
            <a:xfrm>
              <a:off x="396925" y="3006680"/>
              <a:ext cx="574675" cy="25200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105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外设</a:t>
              </a:r>
            </a:p>
          </p:txBody>
        </p:sp>
        <p:sp>
          <p:nvSpPr>
            <p:cNvPr id="39" name="Text Box 13"/>
            <p:cNvSpPr txBox="1">
              <a:spLocks noChangeArrowheads="1"/>
            </p:cNvSpPr>
            <p:nvPr/>
          </p:nvSpPr>
          <p:spPr bwMode="auto">
            <a:xfrm>
              <a:off x="396925" y="3438680"/>
              <a:ext cx="574675" cy="25200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105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CPU</a:t>
              </a:r>
            </a:p>
          </p:txBody>
        </p:sp>
        <p:sp>
          <p:nvSpPr>
            <p:cNvPr id="40" name="Line 14"/>
            <p:cNvSpPr>
              <a:spLocks noChangeShapeType="1"/>
            </p:cNvSpPr>
            <p:nvPr/>
          </p:nvSpPr>
          <p:spPr bwMode="auto">
            <a:xfrm flipV="1">
              <a:off x="2053109" y="3258680"/>
              <a:ext cx="0" cy="180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" name="Line 15"/>
            <p:cNvSpPr>
              <a:spLocks noChangeShapeType="1"/>
            </p:cNvSpPr>
            <p:nvPr/>
          </p:nvSpPr>
          <p:spPr bwMode="auto">
            <a:xfrm>
              <a:off x="1256978" y="3258680"/>
              <a:ext cx="0" cy="18000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" name="Text Box 17"/>
            <p:cNvSpPr txBox="1">
              <a:spLocks noChangeArrowheads="1"/>
            </p:cNvSpPr>
            <p:nvPr/>
          </p:nvSpPr>
          <p:spPr bwMode="auto">
            <a:xfrm>
              <a:off x="1261421" y="3438680"/>
              <a:ext cx="576000" cy="25200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响应</a:t>
              </a:r>
            </a:p>
          </p:txBody>
        </p:sp>
        <p:sp>
          <p:nvSpPr>
            <p:cNvPr id="43" name="Line 18"/>
            <p:cNvSpPr>
              <a:spLocks noChangeShapeType="1"/>
            </p:cNvSpPr>
            <p:nvPr/>
          </p:nvSpPr>
          <p:spPr bwMode="auto">
            <a:xfrm>
              <a:off x="3995936" y="3258680"/>
              <a:ext cx="0" cy="18000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" name="Line 19"/>
            <p:cNvSpPr>
              <a:spLocks noChangeShapeType="1"/>
            </p:cNvSpPr>
            <p:nvPr/>
          </p:nvSpPr>
          <p:spPr bwMode="auto">
            <a:xfrm>
              <a:off x="969642" y="3761754"/>
              <a:ext cx="3602558" cy="79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" name="Line 21"/>
            <p:cNvSpPr>
              <a:spLocks noChangeShapeType="1"/>
            </p:cNvSpPr>
            <p:nvPr/>
          </p:nvSpPr>
          <p:spPr bwMode="auto">
            <a:xfrm>
              <a:off x="1255391" y="3761755"/>
              <a:ext cx="0" cy="432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" name="Line 22"/>
            <p:cNvSpPr>
              <a:spLocks noChangeShapeType="1"/>
            </p:cNvSpPr>
            <p:nvPr/>
          </p:nvSpPr>
          <p:spPr bwMode="auto">
            <a:xfrm>
              <a:off x="2915816" y="3761755"/>
              <a:ext cx="0" cy="216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" name="Line 23"/>
            <p:cNvSpPr>
              <a:spLocks noChangeShapeType="1"/>
            </p:cNvSpPr>
            <p:nvPr/>
          </p:nvSpPr>
          <p:spPr bwMode="auto">
            <a:xfrm flipH="1">
              <a:off x="3995936" y="3761755"/>
              <a:ext cx="1588" cy="432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" name="Text Box 24"/>
            <p:cNvSpPr txBox="1">
              <a:spLocks noChangeArrowheads="1"/>
            </p:cNvSpPr>
            <p:nvPr/>
          </p:nvSpPr>
          <p:spPr bwMode="auto">
            <a:xfrm>
              <a:off x="1837421" y="3761755"/>
              <a:ext cx="504000" cy="21600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T</a:t>
              </a:r>
              <a:r>
                <a:rPr lang="en-US" altLang="zh-CN" sz="1800" b="1" baseline="-18000" dirty="0">
                  <a:latin typeface="宋体" panose="02010600030101010101" pitchFamily="2" charset="-122"/>
                </a:rPr>
                <a:t>INT</a:t>
              </a:r>
            </a:p>
          </p:txBody>
        </p:sp>
        <p:sp>
          <p:nvSpPr>
            <p:cNvPr id="49" name="Text Box 25"/>
            <p:cNvSpPr txBox="1">
              <a:spLocks noChangeArrowheads="1"/>
            </p:cNvSpPr>
            <p:nvPr/>
          </p:nvSpPr>
          <p:spPr bwMode="auto">
            <a:xfrm>
              <a:off x="2413421" y="3978680"/>
              <a:ext cx="468000" cy="21600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T</a:t>
              </a:r>
              <a:r>
                <a:rPr lang="en-US" altLang="zh-CN" sz="1800" b="1" baseline="-18000" dirty="0">
                  <a:latin typeface="宋体" panose="02010600030101010101" pitchFamily="2" charset="-122"/>
                </a:rPr>
                <a:t>I/O</a:t>
              </a:r>
            </a:p>
          </p:txBody>
        </p:sp>
        <p:sp>
          <p:nvSpPr>
            <p:cNvPr id="50" name="Line 26"/>
            <p:cNvSpPr>
              <a:spLocks noChangeShapeType="1"/>
            </p:cNvSpPr>
            <p:nvPr/>
          </p:nvSpPr>
          <p:spPr bwMode="auto">
            <a:xfrm>
              <a:off x="2339753" y="3906217"/>
              <a:ext cx="57606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" name="Line 27"/>
            <p:cNvSpPr>
              <a:spLocks noChangeShapeType="1"/>
            </p:cNvSpPr>
            <p:nvPr/>
          </p:nvSpPr>
          <p:spPr bwMode="auto">
            <a:xfrm flipH="1">
              <a:off x="1256978" y="3906217"/>
              <a:ext cx="576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" name="Line 28"/>
            <p:cNvSpPr>
              <a:spLocks noChangeShapeType="1"/>
            </p:cNvSpPr>
            <p:nvPr/>
          </p:nvSpPr>
          <p:spPr bwMode="auto">
            <a:xfrm>
              <a:off x="2881421" y="4122680"/>
              <a:ext cx="1116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" name="Line 29"/>
            <p:cNvSpPr>
              <a:spLocks noChangeShapeType="1"/>
            </p:cNvSpPr>
            <p:nvPr/>
          </p:nvSpPr>
          <p:spPr bwMode="auto">
            <a:xfrm flipH="1">
              <a:off x="1255391" y="4122680"/>
              <a:ext cx="1152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" name="Text Box 33"/>
            <p:cNvSpPr txBox="1">
              <a:spLocks noChangeArrowheads="1"/>
            </p:cNvSpPr>
            <p:nvPr/>
          </p:nvSpPr>
          <p:spPr bwMode="auto">
            <a:xfrm>
              <a:off x="3997421" y="3438680"/>
              <a:ext cx="504000" cy="25200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prstDash val="sysDot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响应</a:t>
              </a:r>
            </a:p>
          </p:txBody>
        </p:sp>
        <p:sp>
          <p:nvSpPr>
            <p:cNvPr id="55" name="Rectangle 34"/>
            <p:cNvSpPr>
              <a:spLocks noChangeArrowheads="1"/>
            </p:cNvSpPr>
            <p:nvPr/>
          </p:nvSpPr>
          <p:spPr bwMode="auto">
            <a:xfrm>
              <a:off x="969641" y="3006680"/>
              <a:ext cx="288925" cy="252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prstDash val="sysDot"/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56" name="组合 55"/>
          <p:cNvGrpSpPr/>
          <p:nvPr/>
        </p:nvGrpSpPr>
        <p:grpSpPr>
          <a:xfrm>
            <a:off x="4355976" y="3394800"/>
            <a:ext cx="4680520" cy="1188000"/>
            <a:chOff x="2123728" y="4689654"/>
            <a:chExt cx="4680520" cy="1188000"/>
          </a:xfrm>
        </p:grpSpPr>
        <p:sp>
          <p:nvSpPr>
            <p:cNvPr id="57" name="Text Box 38"/>
            <p:cNvSpPr txBox="1">
              <a:spLocks noChangeArrowheads="1"/>
            </p:cNvSpPr>
            <p:nvPr/>
          </p:nvSpPr>
          <p:spPr bwMode="auto">
            <a:xfrm>
              <a:off x="3851921" y="4689654"/>
              <a:ext cx="1080120" cy="252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DMA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传送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58" name="Text Box 39"/>
            <p:cNvSpPr txBox="1">
              <a:spLocks noChangeArrowheads="1"/>
            </p:cNvSpPr>
            <p:nvPr/>
          </p:nvSpPr>
          <p:spPr bwMode="auto">
            <a:xfrm>
              <a:off x="3851921" y="5121654"/>
              <a:ext cx="1080119" cy="252000"/>
            </a:xfrm>
            <a:prstGeom prst="rect">
              <a:avLst/>
            </a:prstGeom>
            <a:solidFill>
              <a:srgbClr val="FF99CC">
                <a:alpha val="7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其它程序</a:t>
              </a:r>
            </a:p>
          </p:txBody>
        </p:sp>
        <p:sp>
          <p:nvSpPr>
            <p:cNvPr id="59" name="Text Box 40"/>
            <p:cNvSpPr txBox="1">
              <a:spLocks noChangeArrowheads="1"/>
            </p:cNvSpPr>
            <p:nvPr/>
          </p:nvSpPr>
          <p:spPr bwMode="auto">
            <a:xfrm>
              <a:off x="2123728" y="4689654"/>
              <a:ext cx="936104" cy="25200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DMA</a:t>
              </a:r>
              <a:r>
                <a:rPr lang="zh-CN" altLang="en-US" sz="1800" b="1" dirty="0">
                  <a:latin typeface="宋体" panose="02010600030101010101" pitchFamily="2" charset="-122"/>
                </a:rPr>
                <a:t>接口</a:t>
              </a:r>
            </a:p>
          </p:txBody>
        </p:sp>
        <p:sp>
          <p:nvSpPr>
            <p:cNvPr id="60" name="Text Box 41"/>
            <p:cNvSpPr txBox="1">
              <a:spLocks noChangeArrowheads="1"/>
            </p:cNvSpPr>
            <p:nvPr/>
          </p:nvSpPr>
          <p:spPr bwMode="auto">
            <a:xfrm>
              <a:off x="2195736" y="5121654"/>
              <a:ext cx="793527" cy="25200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CPU</a:t>
              </a:r>
            </a:p>
          </p:txBody>
        </p:sp>
        <p:sp>
          <p:nvSpPr>
            <p:cNvPr id="61" name="Line 42"/>
            <p:cNvSpPr>
              <a:spLocks noChangeShapeType="1"/>
            </p:cNvSpPr>
            <p:nvPr/>
          </p:nvSpPr>
          <p:spPr bwMode="auto">
            <a:xfrm flipV="1">
              <a:off x="3060700" y="4941654"/>
              <a:ext cx="0" cy="180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" name="Line 43"/>
            <p:cNvSpPr>
              <a:spLocks noChangeShapeType="1"/>
            </p:cNvSpPr>
            <p:nvPr/>
          </p:nvSpPr>
          <p:spPr bwMode="auto">
            <a:xfrm>
              <a:off x="4932040" y="4941654"/>
              <a:ext cx="0" cy="18000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" name="Text Box 44"/>
            <p:cNvSpPr txBox="1">
              <a:spLocks noChangeArrowheads="1"/>
            </p:cNvSpPr>
            <p:nvPr/>
          </p:nvSpPr>
          <p:spPr bwMode="auto">
            <a:xfrm>
              <a:off x="3060700" y="5121654"/>
              <a:ext cx="791419" cy="25200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预处理</a:t>
              </a:r>
            </a:p>
          </p:txBody>
        </p:sp>
        <p:sp>
          <p:nvSpPr>
            <p:cNvPr id="64" name="Line 45"/>
            <p:cNvSpPr>
              <a:spLocks noChangeShapeType="1"/>
            </p:cNvSpPr>
            <p:nvPr/>
          </p:nvSpPr>
          <p:spPr bwMode="auto">
            <a:xfrm>
              <a:off x="2989263" y="5445026"/>
              <a:ext cx="3670969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" name="Line 47"/>
            <p:cNvSpPr>
              <a:spLocks noChangeShapeType="1"/>
            </p:cNvSpPr>
            <p:nvPr/>
          </p:nvSpPr>
          <p:spPr bwMode="auto">
            <a:xfrm flipH="1">
              <a:off x="3850531" y="5445027"/>
              <a:ext cx="1389" cy="432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" name="Line 48"/>
            <p:cNvSpPr>
              <a:spLocks noChangeShapeType="1"/>
            </p:cNvSpPr>
            <p:nvPr/>
          </p:nvSpPr>
          <p:spPr bwMode="auto">
            <a:xfrm>
              <a:off x="4932040" y="5445026"/>
              <a:ext cx="0" cy="216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" name="Line 49"/>
            <p:cNvSpPr>
              <a:spLocks noChangeShapeType="1"/>
            </p:cNvSpPr>
            <p:nvPr/>
          </p:nvSpPr>
          <p:spPr bwMode="auto">
            <a:xfrm flipH="1">
              <a:off x="6513190" y="5445027"/>
              <a:ext cx="2704" cy="432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" name="Text Box 50"/>
            <p:cNvSpPr txBox="1">
              <a:spLocks noChangeArrowheads="1"/>
            </p:cNvSpPr>
            <p:nvPr/>
          </p:nvSpPr>
          <p:spPr bwMode="auto">
            <a:xfrm>
              <a:off x="4895752" y="5661654"/>
              <a:ext cx="540000" cy="21600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T</a:t>
              </a:r>
              <a:r>
                <a:rPr lang="en-US" altLang="zh-CN" sz="1800" b="1" baseline="-18000" dirty="0">
                  <a:latin typeface="宋体" panose="02010600030101010101" pitchFamily="2" charset="-122"/>
                </a:rPr>
                <a:t>I/O</a:t>
              </a:r>
            </a:p>
          </p:txBody>
        </p:sp>
        <p:sp>
          <p:nvSpPr>
            <p:cNvPr id="69" name="Text Box 51"/>
            <p:cNvSpPr txBox="1">
              <a:spLocks noChangeArrowheads="1"/>
            </p:cNvSpPr>
            <p:nvPr/>
          </p:nvSpPr>
          <p:spPr bwMode="auto">
            <a:xfrm>
              <a:off x="5507752" y="5445026"/>
              <a:ext cx="432000" cy="21600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T</a:t>
              </a:r>
              <a:r>
                <a:rPr lang="en-US" altLang="zh-CN" sz="1800" b="1" baseline="-18000" dirty="0">
                  <a:latin typeface="宋体" panose="02010600030101010101" pitchFamily="2" charset="-122"/>
                </a:rPr>
                <a:t>DMA</a:t>
              </a:r>
            </a:p>
          </p:txBody>
        </p:sp>
        <p:sp>
          <p:nvSpPr>
            <p:cNvPr id="70" name="Line 52"/>
            <p:cNvSpPr>
              <a:spLocks noChangeShapeType="1"/>
            </p:cNvSpPr>
            <p:nvPr/>
          </p:nvSpPr>
          <p:spPr bwMode="auto">
            <a:xfrm>
              <a:off x="5435752" y="5769654"/>
              <a:ext cx="1080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" name="Line 53"/>
            <p:cNvSpPr>
              <a:spLocks noChangeShapeType="1"/>
            </p:cNvSpPr>
            <p:nvPr/>
          </p:nvSpPr>
          <p:spPr bwMode="auto">
            <a:xfrm flipH="1">
              <a:off x="3852118" y="5769654"/>
              <a:ext cx="1080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" name="Line 54"/>
            <p:cNvSpPr>
              <a:spLocks noChangeShapeType="1"/>
            </p:cNvSpPr>
            <p:nvPr/>
          </p:nvSpPr>
          <p:spPr bwMode="auto">
            <a:xfrm>
              <a:off x="5939752" y="5553654"/>
              <a:ext cx="576000" cy="79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" name="Line 55"/>
            <p:cNvSpPr>
              <a:spLocks noChangeShapeType="1"/>
            </p:cNvSpPr>
            <p:nvPr/>
          </p:nvSpPr>
          <p:spPr bwMode="auto">
            <a:xfrm flipH="1" flipV="1">
              <a:off x="4932040" y="5553654"/>
              <a:ext cx="576000" cy="79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" name="Text Box 57"/>
            <p:cNvSpPr txBox="1">
              <a:spLocks noChangeArrowheads="1"/>
            </p:cNvSpPr>
            <p:nvPr/>
          </p:nvSpPr>
          <p:spPr bwMode="auto">
            <a:xfrm>
              <a:off x="3060700" y="4689654"/>
              <a:ext cx="791419" cy="252000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收需求</a:t>
              </a:r>
            </a:p>
          </p:txBody>
        </p:sp>
        <p:sp>
          <p:nvSpPr>
            <p:cNvPr id="75" name="Line 58"/>
            <p:cNvSpPr>
              <a:spLocks noChangeShapeType="1"/>
            </p:cNvSpPr>
            <p:nvPr/>
          </p:nvSpPr>
          <p:spPr bwMode="auto">
            <a:xfrm flipV="1">
              <a:off x="6516216" y="4941654"/>
              <a:ext cx="0" cy="180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" name="Text Box 59"/>
            <p:cNvSpPr txBox="1">
              <a:spLocks noChangeArrowheads="1"/>
            </p:cNvSpPr>
            <p:nvPr/>
          </p:nvSpPr>
          <p:spPr bwMode="auto">
            <a:xfrm>
              <a:off x="4932040" y="5121654"/>
              <a:ext cx="792088" cy="25200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>
                  <a:latin typeface="宋体" panose="02010600030101010101" pitchFamily="2" charset="-122"/>
                </a:rPr>
                <a:t>后处理</a:t>
              </a:r>
            </a:p>
          </p:txBody>
        </p:sp>
        <p:sp>
          <p:nvSpPr>
            <p:cNvPr id="77" name="Text Box 61"/>
            <p:cNvSpPr txBox="1">
              <a:spLocks noChangeArrowheads="1"/>
            </p:cNvSpPr>
            <p:nvPr/>
          </p:nvSpPr>
          <p:spPr bwMode="auto">
            <a:xfrm>
              <a:off x="6516216" y="4689654"/>
              <a:ext cx="288032" cy="252000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prstDash val="sysDot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收</a:t>
              </a:r>
            </a:p>
          </p:txBody>
        </p:sp>
        <p:sp>
          <p:nvSpPr>
            <p:cNvPr id="78" name="Text Box 62"/>
            <p:cNvSpPr txBox="1">
              <a:spLocks noChangeArrowheads="1"/>
            </p:cNvSpPr>
            <p:nvPr/>
          </p:nvSpPr>
          <p:spPr bwMode="auto">
            <a:xfrm>
              <a:off x="5723532" y="5121654"/>
              <a:ext cx="792684" cy="25200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prstDash val="sysDot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>
                  <a:latin typeface="宋体" panose="02010600030101010101" pitchFamily="2" charset="-122"/>
                </a:rPr>
                <a:t>预处理</a:t>
              </a:r>
            </a:p>
          </p:txBody>
        </p:sp>
      </p:grpSp>
      <p:sp>
        <p:nvSpPr>
          <p:cNvPr id="79" name="Text Box 63"/>
          <p:cNvSpPr txBox="1">
            <a:spLocks noChangeArrowheads="1"/>
          </p:cNvSpPr>
          <p:nvPr/>
        </p:nvSpPr>
        <p:spPr bwMode="auto">
          <a:xfrm>
            <a:off x="179389" y="4653136"/>
            <a:ext cx="6552852" cy="75501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lang="en-US" altLang="zh-CN" sz="2000" b="1" dirty="0">
                <a:latin typeface="宋体" panose="02010600030101010101" pitchFamily="2" charset="-122"/>
              </a:rPr>
              <a:t>    </a:t>
            </a: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(2) </a:t>
            </a:r>
            <a:r>
              <a:rPr lang="en-US" altLang="zh-CN" sz="2000" b="1" dirty="0">
                <a:latin typeface="宋体" panose="02010600030101010101" pitchFamily="2" charset="-122"/>
              </a:rPr>
              <a:t>T</a:t>
            </a:r>
            <a:r>
              <a:rPr lang="en-US" altLang="zh-CN" sz="2000" b="1" baseline="-18000" dirty="0">
                <a:latin typeface="宋体" panose="02010600030101010101" pitchFamily="2" charset="-122"/>
              </a:rPr>
              <a:t>I/O</a:t>
            </a:r>
            <a:r>
              <a:rPr lang="zh-CN" altLang="en-US" sz="2000" b="1" dirty="0">
                <a:latin typeface="宋体" panose="02010600030101010101" pitchFamily="2" charset="-122"/>
              </a:rPr>
              <a:t>＝</a:t>
            </a:r>
            <a:endParaRPr lang="en-US" altLang="zh-CN" sz="2000" b="1" dirty="0">
              <a:latin typeface="宋体" panose="02010600030101010101" pitchFamily="2" charset="-122"/>
            </a:endParaRPr>
          </a:p>
          <a:p>
            <a:pPr algn="l">
              <a:lnSpc>
                <a:spcPct val="115000"/>
              </a:lnSpc>
            </a:pPr>
            <a:r>
              <a:rPr lang="en-US" altLang="zh-CN" sz="2000" b="1" dirty="0">
                <a:latin typeface="宋体" panose="02010600030101010101" pitchFamily="2" charset="-122"/>
              </a:rPr>
              <a:t>        T</a:t>
            </a:r>
            <a:r>
              <a:rPr lang="en-US" altLang="zh-CN" sz="2000" b="1" baseline="-18000" dirty="0">
                <a:latin typeface="宋体" panose="02010600030101010101" pitchFamily="2" charset="-122"/>
              </a:rPr>
              <a:t>DMA</a:t>
            </a:r>
            <a:r>
              <a:rPr lang="zh-CN" altLang="en-US" sz="2000" b="1" dirty="0">
                <a:latin typeface="宋体" panose="02010600030101010101" pitchFamily="2" charset="-122"/>
              </a:rPr>
              <a:t>＝                     </a:t>
            </a:r>
            <a:r>
              <a:rPr lang="en-US" altLang="zh-CN" sz="2000" b="1" dirty="0">
                <a:latin typeface="宋体" panose="02010600030101010101" pitchFamily="2" charset="-122"/>
              </a:rPr>
              <a:t>CPU</a:t>
            </a:r>
            <a:r>
              <a:rPr lang="zh-CN" altLang="en-US" sz="2000" b="1" dirty="0">
                <a:latin typeface="宋体" panose="02010600030101010101" pitchFamily="2" charset="-122"/>
              </a:rPr>
              <a:t>的时间</a:t>
            </a:r>
            <a:r>
              <a:rPr lang="en-US" altLang="zh-CN" sz="2000" b="1" dirty="0">
                <a:latin typeface="宋体" panose="02010600030101010101" pitchFamily="2" charset="-122"/>
              </a:rPr>
              <a:t>%</a:t>
            </a:r>
            <a:r>
              <a:rPr lang="zh-CN" altLang="en-US" sz="2000" b="1" dirty="0">
                <a:latin typeface="宋体" panose="02010600030101010101" pitchFamily="2" charset="-122"/>
              </a:rPr>
              <a:t>＝</a:t>
            </a:r>
          </a:p>
        </p:txBody>
      </p:sp>
      <p:sp>
        <p:nvSpPr>
          <p:cNvPr id="81" name="Text Box 63"/>
          <p:cNvSpPr txBox="1">
            <a:spLocks noChangeArrowheads="1"/>
          </p:cNvSpPr>
          <p:nvPr/>
        </p:nvSpPr>
        <p:spPr bwMode="auto">
          <a:xfrm>
            <a:off x="1907704" y="5013176"/>
            <a:ext cx="7051499" cy="41479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lang="en-US" altLang="zh-CN" sz="2000" b="1" dirty="0">
                <a:latin typeface="宋体" panose="02010600030101010101" pitchFamily="2" charset="-122"/>
              </a:rPr>
              <a:t>500/(500×10</a:t>
            </a:r>
            <a:r>
              <a:rPr lang="en-US" altLang="zh-CN" sz="2000" b="1" baseline="30000" dirty="0">
                <a:latin typeface="宋体" panose="02010600030101010101" pitchFamily="2" charset="-122"/>
              </a:rPr>
              <a:t>6</a:t>
            </a:r>
            <a:r>
              <a:rPr lang="en-US" altLang="zh-CN" sz="2000" b="1" dirty="0">
                <a:latin typeface="宋体" panose="02010600030101010101" pitchFamily="2" charset="-122"/>
              </a:rPr>
              <a:t>)</a:t>
            </a:r>
            <a:r>
              <a:rPr lang="zh-CN" altLang="en-US" sz="2000" b="1" dirty="0">
                <a:latin typeface="宋体" panose="02010600030101010101" pitchFamily="2" charset="-122"/>
              </a:rPr>
              <a:t>＝</a:t>
            </a:r>
            <a:r>
              <a:rPr lang="en-US" altLang="zh-CN" sz="2000" b="1" dirty="0">
                <a:latin typeface="宋体" panose="02010600030101010101" pitchFamily="2" charset="-122"/>
              </a:rPr>
              <a:t>1</a:t>
            </a:r>
            <a:r>
              <a:rPr lang="en-US" altLang="zh-CN" sz="2000" dirty="0"/>
              <a:t>μ</a:t>
            </a:r>
            <a:r>
              <a:rPr lang="en-US" altLang="zh-CN" sz="2000" b="1" dirty="0">
                <a:latin typeface="宋体" panose="02010600030101010101" pitchFamily="2" charset="-122"/>
              </a:rPr>
              <a:t>s</a:t>
            </a:r>
            <a:r>
              <a:rPr lang="zh-CN" altLang="en-US" sz="2000" b="1" dirty="0">
                <a:latin typeface="宋体" panose="02010600030101010101" pitchFamily="2" charset="-122"/>
              </a:rPr>
              <a:t>，    </a:t>
            </a:r>
            <a:r>
              <a:rPr lang="en-US" altLang="zh-CN" sz="2000" b="1" dirty="0">
                <a:latin typeface="宋体" panose="02010600030101010101" pitchFamily="2" charset="-122"/>
              </a:rPr>
              <a:t>        1</a:t>
            </a:r>
            <a:r>
              <a:rPr lang="en-US" altLang="zh-CN" sz="2000" dirty="0"/>
              <a:t>μs</a:t>
            </a:r>
            <a:r>
              <a:rPr lang="en-US" altLang="zh-CN" sz="2000" b="1" dirty="0">
                <a:latin typeface="宋体" panose="02010600030101010101" pitchFamily="2" charset="-122"/>
              </a:rPr>
              <a:t>/1ms=0.1%</a:t>
            </a:r>
            <a:endParaRPr lang="zh-CN" altLang="en-US" sz="2000" b="1" dirty="0">
              <a:latin typeface="宋体" panose="02010600030101010101" pitchFamily="2" charset="-122"/>
            </a:endParaRPr>
          </a:p>
        </p:txBody>
      </p:sp>
      <p:sp>
        <p:nvSpPr>
          <p:cNvPr id="82" name="Text Box 6"/>
          <p:cNvSpPr txBox="1">
            <a:spLocks noChangeArrowheads="1"/>
          </p:cNvSpPr>
          <p:nvPr/>
        </p:nvSpPr>
        <p:spPr bwMode="auto">
          <a:xfrm>
            <a:off x="2411760" y="2453531"/>
            <a:ext cx="2952675" cy="43787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000" b="1" dirty="0">
                <a:latin typeface="宋体" panose="02010600030101010101" pitchFamily="2" charset="-122"/>
              </a:rPr>
              <a:t>1/(0.5MB/4B)</a:t>
            </a:r>
            <a:r>
              <a:rPr lang="zh-CN" altLang="en-US" sz="2000" b="1" dirty="0">
                <a:latin typeface="宋体" panose="02010600030101010101" pitchFamily="2" charset="-122"/>
              </a:rPr>
              <a:t>＝</a:t>
            </a:r>
            <a:r>
              <a:rPr lang="en-US" altLang="zh-CN" sz="2000" b="1" dirty="0">
                <a:latin typeface="宋体" panose="02010600030101010101" pitchFamily="2" charset="-122"/>
              </a:rPr>
              <a:t>8</a:t>
            </a:r>
            <a:r>
              <a:rPr lang="en-US" altLang="zh-CN" sz="2000" dirty="0"/>
              <a:t>μ</a:t>
            </a:r>
            <a:r>
              <a:rPr lang="en-US" altLang="zh-CN" sz="2000" b="1" dirty="0">
                <a:latin typeface="宋体" panose="02010600030101010101" pitchFamily="2" charset="-122"/>
              </a:rPr>
              <a:t>s</a:t>
            </a:r>
            <a:r>
              <a:rPr lang="zh-CN" altLang="en-US" sz="2000" b="1" dirty="0">
                <a:latin typeface="宋体" panose="02010600030101010101" pitchFamily="2" charset="-122"/>
              </a:rPr>
              <a:t>，</a:t>
            </a:r>
            <a:endParaRPr lang="en-US" altLang="zh-CN" sz="2000" b="1" dirty="0">
              <a:latin typeface="宋体" panose="02010600030101010101" pitchFamily="2" charset="-122"/>
            </a:endParaRPr>
          </a:p>
        </p:txBody>
      </p:sp>
      <p:sp>
        <p:nvSpPr>
          <p:cNvPr id="83" name="Text Box 63"/>
          <p:cNvSpPr txBox="1">
            <a:spLocks noChangeArrowheads="1"/>
          </p:cNvSpPr>
          <p:nvPr/>
        </p:nvSpPr>
        <p:spPr bwMode="auto">
          <a:xfrm>
            <a:off x="1907704" y="4660048"/>
            <a:ext cx="3088084" cy="40107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lang="en-US" altLang="zh-CN" sz="2000" b="1" dirty="0">
                <a:latin typeface="宋体" panose="02010600030101010101" pitchFamily="2" charset="-122"/>
              </a:rPr>
              <a:t>1/(5MB/5000B)</a:t>
            </a:r>
            <a:r>
              <a:rPr lang="zh-CN" altLang="en-US" sz="2000" b="1" dirty="0">
                <a:latin typeface="宋体" panose="02010600030101010101" pitchFamily="2" charset="-122"/>
              </a:rPr>
              <a:t>＝</a:t>
            </a:r>
            <a:r>
              <a:rPr lang="en-US" altLang="zh-CN" sz="2000" b="1" dirty="0">
                <a:latin typeface="宋体" panose="02010600030101010101" pitchFamily="2" charset="-122"/>
              </a:rPr>
              <a:t>1ms</a:t>
            </a:r>
            <a:r>
              <a:rPr lang="zh-CN" altLang="en-US" sz="2000" b="1" dirty="0">
                <a:latin typeface="宋体" panose="02010600030101010101" pitchFamily="2" charset="-122"/>
              </a:rPr>
              <a:t>，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79" grpId="0"/>
      <p:bldP spid="81" grpId="0"/>
      <p:bldP spid="82" grpId="0"/>
      <p:bldP spid="83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E2640-5917-426C-BF82-0A115917F80D}" type="slidenum">
              <a:rPr lang="en-US" altLang="zh-CN"/>
              <a:t>46</a:t>
            </a:fld>
            <a:endParaRPr lang="en-US" altLang="zh-CN"/>
          </a:p>
        </p:txBody>
      </p:sp>
      <p:sp>
        <p:nvSpPr>
          <p:cNvPr id="394244" name="Text Box 4"/>
          <p:cNvSpPr txBox="1">
            <a:spLocks noChangeArrowheads="1"/>
          </p:cNvSpPr>
          <p:nvPr/>
        </p:nvSpPr>
        <p:spPr bwMode="auto">
          <a:xfrm>
            <a:off x="179388" y="332656"/>
            <a:ext cx="8785225" cy="172694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*DMA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方式与中断方式的比较：</a:t>
            </a: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lvl="0" algn="l">
              <a:lnSpc>
                <a:spcPct val="125000"/>
              </a:lnSpc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相同点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r>
              <a:rPr lang="en-US" altLang="zh-CN" sz="2200" b="1" dirty="0">
                <a:latin typeface="宋体" panose="02010600030101010101" pitchFamily="2" charset="-122"/>
              </a:rPr>
              <a:t>①</a:t>
            </a:r>
            <a:r>
              <a:rPr lang="zh-CN" altLang="en-US" sz="2200" b="1" dirty="0">
                <a:latin typeface="宋体" panose="02010600030101010101" pitchFamily="2" charset="-122"/>
              </a:rPr>
              <a:t>与</a:t>
            </a:r>
            <a:r>
              <a:rPr lang="en-US" altLang="zh-CN" sz="2200" b="1" dirty="0">
                <a:latin typeface="宋体" panose="02010600030101010101" pitchFamily="2" charset="-122"/>
              </a:rPr>
              <a:t>CPU</a:t>
            </a:r>
            <a:r>
              <a:rPr lang="zh-CN" altLang="en-US" sz="2200" b="1" dirty="0">
                <a:latin typeface="宋体" panose="02010600030101010101" pitchFamily="2" charset="-122"/>
              </a:rPr>
              <a:t>的联络，都采用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请求</a:t>
            </a:r>
            <a:r>
              <a:rPr lang="en-US" altLang="zh-CN" sz="22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-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响应</a:t>
            </a:r>
            <a:r>
              <a:rPr lang="zh-CN" altLang="en-US" sz="2200" b="1" dirty="0">
                <a:latin typeface="宋体" panose="02010600030101010101" pitchFamily="2" charset="-122"/>
              </a:rPr>
              <a:t>方式</a:t>
            </a:r>
          </a:p>
          <a:p>
            <a:pPr lvl="0" algn="l">
              <a:lnSpc>
                <a:spcPct val="125000"/>
              </a:lnSpc>
            </a:pPr>
            <a:r>
              <a:rPr lang="zh-CN" altLang="en-US" sz="2200" b="1" dirty="0">
                <a:latin typeface="宋体" panose="02010600030101010101" pitchFamily="2" charset="-122"/>
              </a:rPr>
              <a:t>            ②</a:t>
            </a:r>
            <a:r>
              <a:rPr lang="en-US" altLang="zh-CN" sz="2200" b="1" dirty="0">
                <a:latin typeface="宋体" panose="02010600030101010101" pitchFamily="2" charset="-122"/>
              </a:rPr>
              <a:t>I/O</a:t>
            </a:r>
            <a:r>
              <a:rPr lang="zh-CN" altLang="en-US" sz="2200" b="1" dirty="0">
                <a:latin typeface="宋体" panose="02010600030101010101" pitchFamily="2" charset="-122"/>
              </a:rPr>
              <a:t>的过程，都由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软硬件共同</a:t>
            </a:r>
            <a:r>
              <a:rPr lang="zh-CN" altLang="en-US" sz="2200" b="1" dirty="0">
                <a:latin typeface="宋体" panose="02010600030101010101" pitchFamily="2" charset="-122"/>
              </a:rPr>
              <a:t>完成</a:t>
            </a:r>
          </a:p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不同点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</a:p>
        </p:txBody>
      </p:sp>
      <p:graphicFrame>
        <p:nvGraphicFramePr>
          <p:cNvPr id="38" name="表格 37"/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54539559"/>
              </p:ext>
            </p:extLst>
          </p:nvPr>
        </p:nvGraphicFramePr>
        <p:xfrm>
          <a:off x="2051720" y="1700808"/>
          <a:ext cx="6048375" cy="233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7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01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7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437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2100">
                <a:tc gridSpan="2">
                  <a:txBody>
                    <a:bodyPr/>
                    <a:lstStyle/>
                    <a:p>
                      <a:pPr algn="ctr"/>
                      <a:endParaRPr lang="zh-CN" altLang="en-US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195" marR="36195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36195" marR="36195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中断方式</a:t>
                      </a:r>
                    </a:p>
                  </a:txBody>
                  <a:tcPr marL="36195" marR="36195" marT="1778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DMA</a:t>
                      </a:r>
                      <a:r>
                        <a:rPr lang="zh-CN" altLang="en-US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方式</a:t>
                      </a:r>
                    </a:p>
                  </a:txBody>
                  <a:tcPr marL="36195" marR="36195" marT="1778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10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kumimoji="1" 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适用设备</a:t>
                      </a:r>
                    </a:p>
                  </a:txBody>
                  <a:tcPr marL="36195" marR="36195" marT="1778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36195" marR="36195" marT="1778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99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r>
                        <a:rPr lang="zh-CN" altLang="en-US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个字</a:t>
                      </a:r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/</a:t>
                      </a:r>
                      <a:r>
                        <a:rPr lang="zh-CN" altLang="en-US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启动</a:t>
                      </a:r>
                      <a:endParaRPr lang="zh-CN" altLang="en-US" b="1" baseline="30000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6195" marR="36195" marT="1778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多个字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/</a:t>
                      </a: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启动</a:t>
                      </a:r>
                      <a:endParaRPr lang="zh-CN" altLang="en-US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195" marR="36195" marT="1778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100"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数据传送</a:t>
                      </a:r>
                    </a:p>
                  </a:txBody>
                  <a:tcPr marL="36195" marR="36195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传送实现</a:t>
                      </a:r>
                    </a:p>
                  </a:txBody>
                  <a:tcPr marL="36195" marR="36195" marT="1778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软件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(CPU</a:t>
                      </a:r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)</a:t>
                      </a:r>
                      <a:endParaRPr lang="zh-CN" altLang="en-US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6195" marR="36195" marT="1778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zh-CN" altLang="en-US" sz="18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硬件</a:t>
                      </a:r>
                      <a:r>
                        <a:rPr kumimoji="1" lang="en-US" altLang="zh-CN" sz="18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(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DMA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接口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)</a:t>
                      </a:r>
                    </a:p>
                  </a:txBody>
                  <a:tcPr marL="36195" marR="36195" marT="1778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10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36195" marR="36195" marT="1778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kumimoji="1" lang="zh-CN" altLang="en-US" sz="18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对</a:t>
                      </a:r>
                      <a:r>
                        <a:rPr kumimoji="1" lang="en-US" altLang="zh-CN" sz="18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CPU</a:t>
                      </a:r>
                      <a:r>
                        <a:rPr kumimoji="1" lang="zh-CN" altLang="en-US" sz="18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的影响</a:t>
                      </a:r>
                      <a:endParaRPr kumimoji="1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  <a:sym typeface="+mn-ea"/>
                      </a:endParaRPr>
                    </a:p>
                  </a:txBody>
                  <a:tcPr marL="36195" marR="36195" marT="1778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暂停执行程序</a:t>
                      </a:r>
                    </a:p>
                  </a:txBody>
                  <a:tcPr marL="36195" marR="36195" marT="1778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暂停使用总线</a:t>
                      </a:r>
                    </a:p>
                  </a:txBody>
                  <a:tcPr marL="36195" marR="36195" marT="1778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100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请求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响应</a:t>
                      </a:r>
                    </a:p>
                  </a:txBody>
                  <a:tcPr marL="36195" marR="36195" marT="1778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请求优先级</a:t>
                      </a:r>
                      <a:endParaRPr kumimoji="1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  <a:sym typeface="+mn-ea"/>
                      </a:endParaRPr>
                    </a:p>
                  </a:txBody>
                  <a:tcPr marL="36195" marR="36195" marT="1778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kumimoji="1" lang="en-US" altLang="zh-CN" sz="18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DMA</a:t>
                      </a:r>
                      <a:r>
                        <a:rPr kumimoji="1" lang="zh-CN" altLang="en-US" sz="18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＞中断</a:t>
                      </a:r>
                      <a:endParaRPr kumimoji="1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  <a:sym typeface="+mn-ea"/>
                      </a:endParaRPr>
                    </a:p>
                  </a:txBody>
                  <a:tcPr marL="36195" marR="36195" marT="1778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36195" marR="36195" marT="1778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10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36195" marR="36195" marT="1778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FF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zh-CN" altLang="en-US" sz="18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响应时机</a:t>
                      </a:r>
                      <a:endParaRPr kumimoji="1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  <a:sym typeface="+mn-ea"/>
                      </a:endParaRPr>
                    </a:p>
                  </a:txBody>
                  <a:tcPr marL="36195" marR="36195" marT="1778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指令周期结束时</a:t>
                      </a:r>
                    </a:p>
                  </a:txBody>
                  <a:tcPr marL="36195" marR="36195" marT="1778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总线周期结束时</a:t>
                      </a:r>
                    </a:p>
                  </a:txBody>
                  <a:tcPr marL="36195" marR="36195" marT="1778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100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b="1" baseline="0" dirty="0">
                          <a:latin typeface="宋体" panose="02010600030101010101" pitchFamily="2" charset="-122"/>
                        </a:rPr>
                        <a:t>I/O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b="1" baseline="0" dirty="0">
                          <a:latin typeface="宋体" panose="02010600030101010101" pitchFamily="2" charset="-122"/>
                        </a:rPr>
                        <a:t>性能</a:t>
                      </a:r>
                      <a:endParaRPr kumimoji="1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6195" marR="36195" marT="1778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FF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传送速度</a:t>
                      </a:r>
                      <a:endParaRPr kumimoji="1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  <a:sym typeface="+mn-ea"/>
                      </a:endParaRPr>
                    </a:p>
                  </a:txBody>
                  <a:tcPr marL="36195" marR="36195" marT="1778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FF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＞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个指令周期</a:t>
                      </a:r>
                    </a:p>
                  </a:txBody>
                  <a:tcPr marL="36195" marR="36195" marT="1778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＝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个总线周期</a:t>
                      </a:r>
                    </a:p>
                  </a:txBody>
                  <a:tcPr marL="36195" marR="36195" marT="1778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210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36195" marR="36195" marT="1778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99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错误处理能力</a:t>
                      </a:r>
                      <a:endParaRPr kumimoji="1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  <a:sym typeface="+mn-ea"/>
                      </a:endParaRPr>
                    </a:p>
                  </a:txBody>
                  <a:tcPr marL="36195" marR="36195" marT="1778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FF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有</a:t>
                      </a:r>
                    </a:p>
                  </a:txBody>
                  <a:tcPr marL="36195" marR="36195" marT="1778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无</a:t>
                      </a:r>
                    </a:p>
                  </a:txBody>
                  <a:tcPr marL="36195" marR="36195" marT="1778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Box 362"/>
          <p:cNvSpPr txBox="1">
            <a:spLocks noChangeArrowheads="1"/>
          </p:cNvSpPr>
          <p:nvPr/>
        </p:nvSpPr>
        <p:spPr bwMode="auto">
          <a:xfrm>
            <a:off x="683568" y="6021288"/>
            <a:ext cx="3171554" cy="400110"/>
          </a:xfrm>
          <a:prstGeom prst="rect">
            <a:avLst/>
          </a:prstGeom>
          <a:solidFill>
            <a:srgbClr val="99CCFF"/>
          </a:solidFill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/>
            <a:r>
              <a:rPr lang="zh-CN" altLang="en-US" sz="2000" b="1" dirty="0">
                <a:solidFill>
                  <a:srgbClr val="CC3300"/>
                </a:solidFill>
                <a:latin typeface="宋体" panose="02010600030101010101" pitchFamily="2" charset="-122"/>
              </a:rPr>
              <a:t>作业</a:t>
            </a:r>
            <a:r>
              <a:rPr lang="en-US" altLang="zh-CN" sz="2000" b="1" dirty="0">
                <a:solidFill>
                  <a:srgbClr val="CC3300"/>
                </a:solidFill>
                <a:latin typeface="宋体" panose="02010600030101010101" pitchFamily="2" charset="-122"/>
              </a:rPr>
              <a:t>7-3</a:t>
            </a:r>
            <a:r>
              <a:rPr lang="zh-CN" altLang="en-US" sz="2000" b="1" dirty="0">
                <a:solidFill>
                  <a:srgbClr val="CC3300"/>
                </a:solidFill>
                <a:latin typeface="宋体" panose="02010600030101010101" pitchFamily="2" charset="-122"/>
              </a:rPr>
              <a:t>：</a:t>
            </a:r>
            <a:r>
              <a:rPr lang="en-US" altLang="zh-CN" sz="2000" b="1" dirty="0">
                <a:latin typeface="宋体" panose="02010600030101010101" pitchFamily="2" charset="-122"/>
              </a:rPr>
              <a:t>P294—</a:t>
            </a:r>
            <a:r>
              <a:rPr lang="en-US" altLang="zh-CN" sz="2000" b="1" dirty="0">
                <a:solidFill>
                  <a:srgbClr val="CC33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000" b="1" dirty="0">
                <a:latin typeface="宋体" panose="02010600030101010101" pitchFamily="2" charset="-122"/>
              </a:rPr>
              <a:t>25</a:t>
            </a:r>
            <a:r>
              <a:rPr lang="zh-CN" altLang="en-US" sz="2000" b="1" dirty="0">
                <a:latin typeface="宋体" panose="02010600030101010101" pitchFamily="2" charset="-122"/>
              </a:rPr>
              <a:t>、</a:t>
            </a:r>
            <a:r>
              <a:rPr lang="en-US" altLang="zh-CN" sz="2000" b="1" dirty="0">
                <a:latin typeface="宋体" panose="02010600030101010101" pitchFamily="2" charset="-122"/>
              </a:rPr>
              <a:t>29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E8ECE-44AF-40F0-B69C-812902B36399}" type="slidenum">
              <a:rPr lang="en-US" altLang="zh-CN"/>
              <a:t>47</a:t>
            </a:fld>
            <a:endParaRPr lang="en-US" altLang="zh-CN"/>
          </a:p>
        </p:txBody>
      </p:sp>
      <p:sp>
        <p:nvSpPr>
          <p:cNvPr id="391172" name="Text Box 4"/>
          <p:cNvSpPr txBox="1">
            <a:spLocks noChangeArrowheads="1"/>
          </p:cNvSpPr>
          <p:nvPr/>
        </p:nvSpPr>
        <p:spPr bwMode="auto">
          <a:xfrm>
            <a:off x="179388" y="332656"/>
            <a:ext cx="8785225" cy="3905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tIns="10795" bIns="10795" anchor="ctr" anchorCtr="0">
            <a:spAutoFit/>
          </a:bodyPr>
          <a:lstStyle>
            <a:defPPr>
              <a:defRPr lang="zh-CN"/>
            </a:defPPr>
            <a:lvl1pPr algn="l">
              <a:defRPr b="1">
                <a:solidFill>
                  <a:srgbClr val="FF3300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1pPr>
          </a:lstStyle>
          <a:p>
            <a:r>
              <a:rPr lang="en-US" altLang="zh-CN" dirty="0">
                <a:solidFill>
                  <a:srgbClr val="FF3399"/>
                </a:solidFill>
                <a:latin typeface="+mn-ea"/>
                <a:ea typeface="+mn-ea"/>
              </a:rPr>
              <a:t>4</a:t>
            </a:r>
            <a:r>
              <a:rPr lang="zh-CN" altLang="en-US" dirty="0">
                <a:solidFill>
                  <a:srgbClr val="FF3399"/>
                </a:solidFill>
                <a:latin typeface="+mn-ea"/>
                <a:ea typeface="+mn-ea"/>
              </a:rPr>
              <a:t>、</a:t>
            </a:r>
            <a:r>
              <a:rPr lang="en-US" altLang="zh-CN" dirty="0">
                <a:solidFill>
                  <a:srgbClr val="FF3399"/>
                </a:solidFill>
                <a:latin typeface="+mn-ea"/>
                <a:ea typeface="+mn-ea"/>
              </a:rPr>
              <a:t>DMA</a:t>
            </a:r>
            <a:r>
              <a:rPr lang="zh-CN" altLang="en-US" dirty="0">
                <a:solidFill>
                  <a:srgbClr val="FF3399"/>
                </a:solidFill>
                <a:latin typeface="+mn-ea"/>
                <a:ea typeface="+mn-ea"/>
              </a:rPr>
              <a:t>接口的组织       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</a:rPr>
              <a:t>(</a:t>
            </a:r>
            <a:r>
              <a:rPr lang="zh-CN" altLang="en-US" sz="1800" dirty="0">
                <a:solidFill>
                  <a:schemeClr val="tx1"/>
                </a:solidFill>
                <a:latin typeface="+mn-ea"/>
                <a:ea typeface="+mn-ea"/>
              </a:rPr>
              <a:t>不考，拓展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</a:rPr>
              <a:t>)</a:t>
            </a:r>
            <a:endParaRPr lang="zh-CN" altLang="en-US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391173" name="Text Box 5"/>
          <p:cNvSpPr txBox="1">
            <a:spLocks noChangeArrowheads="1"/>
          </p:cNvSpPr>
          <p:nvPr/>
        </p:nvSpPr>
        <p:spPr bwMode="auto">
          <a:xfrm>
            <a:off x="179388" y="764704"/>
            <a:ext cx="8785225" cy="8805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(1)</a:t>
            </a:r>
            <a:r>
              <a:rPr lang="zh-CN" altLang="en-US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通用型</a:t>
            </a:r>
            <a:r>
              <a:rPr lang="en-US" altLang="zh-CN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DMA</a:t>
            </a:r>
            <a:r>
              <a:rPr lang="zh-CN" altLang="en-US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接口的组织</a:t>
            </a:r>
            <a:endParaRPr lang="zh-CN" altLang="en-US" sz="2200" b="1" dirty="0">
              <a:solidFill>
                <a:srgbClr val="CC33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*基本组成：</a:t>
            </a:r>
            <a:r>
              <a:rPr lang="zh-CN" altLang="en-US" sz="2200" b="1" dirty="0">
                <a:latin typeface="宋体" panose="02010600030101010101" pitchFamily="2" charset="-122"/>
              </a:rPr>
              <a:t>仅具有</a:t>
            </a:r>
            <a:r>
              <a:rPr lang="en-US" altLang="zh-CN" sz="2200" b="1" u="sng" dirty="0">
                <a:latin typeface="宋体" panose="02010600030101010101" pitchFamily="2" charset="-122"/>
              </a:rPr>
              <a:t>DMA</a:t>
            </a:r>
            <a:r>
              <a:rPr lang="zh-CN" altLang="en-US" sz="2200" b="1" u="sng" dirty="0">
                <a:latin typeface="宋体" panose="02010600030101010101" pitchFamily="2" charset="-122"/>
              </a:rPr>
              <a:t>传送控制</a:t>
            </a:r>
            <a:r>
              <a:rPr lang="zh-CN" altLang="en-US" sz="2200" b="1" dirty="0">
                <a:latin typeface="宋体" panose="02010600030101010101" pitchFamily="2" charset="-122"/>
              </a:rPr>
              <a:t>功能</a:t>
            </a:r>
            <a:r>
              <a:rPr lang="en-US" altLang="zh-CN" sz="2200" b="1" dirty="0">
                <a:latin typeface="宋体" panose="02010600030101010101" pitchFamily="2" charset="-122"/>
              </a:rPr>
              <a:t>               </a:t>
            </a:r>
            <a:r>
              <a:rPr lang="zh-CN" altLang="en-US" sz="1800" b="1" dirty="0">
                <a:latin typeface="宋体" panose="02010600030101010101" pitchFamily="2" charset="-122"/>
              </a:rPr>
              <a:t>←提高通用性</a:t>
            </a:r>
          </a:p>
        </p:txBody>
      </p:sp>
      <p:sp>
        <p:nvSpPr>
          <p:cNvPr id="391308" name="Text Box 140"/>
          <p:cNvSpPr txBox="1">
            <a:spLocks noChangeArrowheads="1"/>
          </p:cNvSpPr>
          <p:nvPr/>
        </p:nvSpPr>
        <p:spPr bwMode="auto">
          <a:xfrm>
            <a:off x="179388" y="3861048"/>
            <a:ext cx="8785225" cy="172694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*DMA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传送过程的变化：</a:t>
            </a:r>
          </a:p>
          <a:p>
            <a:pPr algn="l">
              <a:lnSpc>
                <a:spcPct val="125000"/>
              </a:lnSpc>
            </a:pP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预 处 理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r>
              <a:rPr lang="en-US" altLang="zh-CN" sz="2200" b="1" dirty="0">
                <a:latin typeface="宋体" panose="02010600030101010101" pitchFamily="2" charset="-122"/>
              </a:rPr>
              <a:t>CPU</a:t>
            </a:r>
            <a:r>
              <a:rPr lang="zh-CN" altLang="en-US" sz="2200" b="1" dirty="0">
                <a:latin typeface="宋体" panose="02010600030101010101" pitchFamily="2" charset="-122"/>
              </a:rPr>
              <a:t>分别对</a:t>
            </a:r>
            <a:r>
              <a:rPr lang="en-US" altLang="zh-CN" sz="2200" b="1" u="sng" dirty="0">
                <a:latin typeface="宋体" panose="02010600030101010101" pitchFamily="2" charset="-122"/>
              </a:rPr>
              <a:t>DMA</a:t>
            </a:r>
            <a:r>
              <a:rPr lang="zh-CN" altLang="en-US" sz="2200" b="1" u="sng" dirty="0">
                <a:latin typeface="宋体" panose="02010600030101010101" pitchFamily="2" charset="-122"/>
              </a:rPr>
              <a:t>接口</a:t>
            </a:r>
            <a:r>
              <a:rPr lang="zh-CN" altLang="en-US" sz="2200" b="1" dirty="0">
                <a:latin typeface="宋体" panose="02010600030101010101" pitchFamily="2" charset="-122"/>
              </a:rPr>
              <a:t>、</a:t>
            </a:r>
            <a:r>
              <a:rPr lang="en-US" altLang="zh-CN" sz="22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I/O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接口</a:t>
            </a:r>
            <a:r>
              <a:rPr lang="zh-CN" altLang="en-US" sz="2200" b="1" dirty="0">
                <a:latin typeface="宋体" panose="02010600030101010101" pitchFamily="2" charset="-122"/>
              </a:rPr>
              <a:t>进行操作</a:t>
            </a:r>
          </a:p>
          <a:p>
            <a:pPr algn="l">
              <a:lnSpc>
                <a:spcPct val="125000"/>
              </a:lnSpc>
            </a:pP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数据传送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r>
              <a:rPr lang="en-US" altLang="zh-CN" sz="2200" b="1" dirty="0">
                <a:latin typeface="宋体" panose="02010600030101010101" pitchFamily="2" charset="-122"/>
              </a:rPr>
              <a:t>DMA</a:t>
            </a:r>
            <a:r>
              <a:rPr lang="zh-CN" altLang="en-US" sz="2200" b="1" dirty="0">
                <a:latin typeface="宋体" panose="02010600030101010101" pitchFamily="2" charset="-122"/>
              </a:rPr>
              <a:t>接口发出</a:t>
            </a:r>
            <a:r>
              <a:rPr lang="en-US" altLang="zh-CN" sz="2200" b="1" dirty="0">
                <a:latin typeface="宋体" panose="02010600030101010101" pitchFamily="2" charset="-122"/>
              </a:rPr>
              <a:t>MEM</a:t>
            </a:r>
            <a:r>
              <a:rPr lang="zh-CN" altLang="en-US" sz="2200" b="1" dirty="0">
                <a:latin typeface="宋体" panose="02010600030101010101" pitchFamily="2" charset="-122"/>
              </a:rPr>
              <a:t>地址及命令、</a:t>
            </a:r>
            <a:r>
              <a:rPr lang="en-US" altLang="zh-CN" sz="22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IO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命令</a:t>
            </a:r>
            <a:r>
              <a:rPr lang="zh-CN" altLang="en-US" sz="2200" b="1" dirty="0">
                <a:latin typeface="宋体" panose="02010600030101010101" pitchFamily="2" charset="-122"/>
              </a:rPr>
              <a:t>及</a:t>
            </a:r>
            <a:r>
              <a:rPr lang="en-US" altLang="zh-CN" sz="22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DACK</a:t>
            </a:r>
            <a:r>
              <a:rPr lang="zh-CN" altLang="en-US" sz="2200" b="1" dirty="0">
                <a:latin typeface="宋体" panose="02010600030101010101" pitchFamily="2" charset="-122"/>
              </a:rPr>
              <a:t>，</a:t>
            </a:r>
          </a:p>
          <a:p>
            <a:pPr algn="l">
              <a:lnSpc>
                <a:spcPct val="125000"/>
              </a:lnSpc>
            </a:pP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          </a:t>
            </a:r>
            <a:r>
              <a:rPr lang="zh-CN" altLang="en-US" sz="2200" b="1" dirty="0">
                <a:latin typeface="宋体" panose="02010600030101010101" pitchFamily="2" charset="-122"/>
              </a:rPr>
              <a:t>结束时</a:t>
            </a:r>
            <a:r>
              <a:rPr lang="en-US" altLang="zh-CN" sz="22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I/O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接口</a:t>
            </a:r>
            <a:r>
              <a:rPr lang="zh-CN" altLang="en-US" sz="2200" b="1" dirty="0">
                <a:latin typeface="宋体" panose="02010600030101010101" pitchFamily="2" charset="-122"/>
              </a:rPr>
              <a:t>提出中断请求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971600" y="1700808"/>
            <a:ext cx="7920880" cy="2096789"/>
            <a:chOff x="971600" y="1916832"/>
            <a:chExt cx="7920880" cy="2096789"/>
          </a:xfrm>
        </p:grpSpPr>
        <p:sp>
          <p:nvSpPr>
            <p:cNvPr id="76" name="Text Box 88"/>
            <p:cNvSpPr txBox="1">
              <a:spLocks noChangeArrowheads="1"/>
            </p:cNvSpPr>
            <p:nvPr/>
          </p:nvSpPr>
          <p:spPr bwMode="auto">
            <a:xfrm>
              <a:off x="3779516" y="1990055"/>
              <a:ext cx="1437779" cy="250825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8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MEMW#/MEMR#</a:t>
              </a:r>
            </a:p>
          </p:txBody>
        </p:sp>
        <p:sp>
          <p:nvSpPr>
            <p:cNvPr id="77" name="Rectangle 89"/>
            <p:cNvSpPr>
              <a:spLocks noChangeArrowheads="1"/>
            </p:cNvSpPr>
            <p:nvPr/>
          </p:nvSpPr>
          <p:spPr bwMode="auto">
            <a:xfrm>
              <a:off x="2915966" y="2278856"/>
              <a:ext cx="4320008" cy="1655762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8" name="Line 90"/>
            <p:cNvSpPr>
              <a:spLocks noChangeShapeType="1"/>
            </p:cNvSpPr>
            <p:nvPr/>
          </p:nvSpPr>
          <p:spPr bwMode="auto">
            <a:xfrm flipH="1">
              <a:off x="1043584" y="4006279"/>
              <a:ext cx="7128990" cy="7342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  <a:tailEnd type="non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" name="Line 92"/>
            <p:cNvSpPr>
              <a:spLocks noChangeShapeType="1"/>
            </p:cNvSpPr>
            <p:nvPr/>
          </p:nvSpPr>
          <p:spPr bwMode="auto">
            <a:xfrm flipV="1">
              <a:off x="971600" y="1916832"/>
              <a:ext cx="7920880" cy="1215"/>
            </a:xfrm>
            <a:prstGeom prst="line">
              <a:avLst/>
            </a:prstGeom>
            <a:noFill/>
            <a:ln w="38100" cmpd="dbl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" name="Line 93"/>
            <p:cNvSpPr>
              <a:spLocks noChangeShapeType="1"/>
            </p:cNvSpPr>
            <p:nvPr/>
          </p:nvSpPr>
          <p:spPr bwMode="auto">
            <a:xfrm flipV="1">
              <a:off x="1692672" y="1918043"/>
              <a:ext cx="0" cy="360812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" name="Line 94"/>
            <p:cNvSpPr>
              <a:spLocks noChangeShapeType="1"/>
            </p:cNvSpPr>
            <p:nvPr/>
          </p:nvSpPr>
          <p:spPr bwMode="auto">
            <a:xfrm flipH="1" flipV="1">
              <a:off x="1764110" y="1918046"/>
              <a:ext cx="0" cy="360809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" name="Line 95"/>
            <p:cNvSpPr>
              <a:spLocks noChangeShapeType="1"/>
            </p:cNvSpPr>
            <p:nvPr/>
          </p:nvSpPr>
          <p:spPr bwMode="auto">
            <a:xfrm flipV="1">
              <a:off x="1835547" y="1918044"/>
              <a:ext cx="0" cy="360811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" name="Line 96"/>
            <p:cNvSpPr>
              <a:spLocks noChangeShapeType="1"/>
            </p:cNvSpPr>
            <p:nvPr/>
          </p:nvSpPr>
          <p:spPr bwMode="auto">
            <a:xfrm flipH="1" flipV="1">
              <a:off x="1908572" y="1918046"/>
              <a:ext cx="0" cy="360809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" name="Line 97"/>
            <p:cNvSpPr>
              <a:spLocks noChangeShapeType="1"/>
            </p:cNvSpPr>
            <p:nvPr/>
          </p:nvSpPr>
          <p:spPr bwMode="auto">
            <a:xfrm flipV="1">
              <a:off x="2053035" y="1918045"/>
              <a:ext cx="3124" cy="360810"/>
            </a:xfrm>
            <a:prstGeom prst="line">
              <a:avLst/>
            </a:prstGeom>
            <a:noFill/>
            <a:ln w="28575" cmpd="dbl">
              <a:solidFill>
                <a:srgbClr val="CC3300"/>
              </a:solidFill>
              <a:round/>
              <a:tailEnd type="triangle" w="med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" name="Line 98"/>
            <p:cNvSpPr>
              <a:spLocks noChangeShapeType="1"/>
            </p:cNvSpPr>
            <p:nvPr/>
          </p:nvSpPr>
          <p:spPr bwMode="auto">
            <a:xfrm flipH="1">
              <a:off x="2197496" y="1918046"/>
              <a:ext cx="3125" cy="360810"/>
            </a:xfrm>
            <a:prstGeom prst="line">
              <a:avLst/>
            </a:prstGeom>
            <a:noFill/>
            <a:ln w="28575" cmpd="dbl">
              <a:solidFill>
                <a:schemeClr val="accent2"/>
              </a:solidFill>
              <a:round/>
              <a:headEnd type="triangle" w="med" len="sm"/>
              <a:tailEnd type="triangle" w="med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" name="Text Box 99"/>
            <p:cNvSpPr txBox="1">
              <a:spLocks noChangeArrowheads="1"/>
            </p:cNvSpPr>
            <p:nvPr/>
          </p:nvSpPr>
          <p:spPr bwMode="auto">
            <a:xfrm>
              <a:off x="973733" y="2278856"/>
              <a:ext cx="504627" cy="934639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zh-CN" altLang="en-US" sz="1800" b="1" dirty="0">
                  <a:latin typeface="宋体" panose="02010600030101010101" pitchFamily="2" charset="-122"/>
                </a:rPr>
                <a:t>主</a:t>
              </a:r>
            </a:p>
            <a:p>
              <a:endParaRPr lang="zh-CN" altLang="en-US" sz="1800" b="1" dirty="0">
                <a:latin typeface="宋体" panose="02010600030101010101" pitchFamily="2" charset="-122"/>
              </a:endParaRPr>
            </a:p>
            <a:p>
              <a:r>
                <a:rPr lang="zh-CN" altLang="en-US" sz="1800" b="1" dirty="0">
                  <a:latin typeface="宋体" panose="02010600030101010101" pitchFamily="2" charset="-122"/>
                </a:rPr>
                <a:t>存</a:t>
              </a:r>
            </a:p>
          </p:txBody>
        </p:sp>
        <p:sp>
          <p:nvSpPr>
            <p:cNvPr id="87" name="Line 100"/>
            <p:cNvSpPr>
              <a:spLocks noChangeShapeType="1"/>
            </p:cNvSpPr>
            <p:nvPr/>
          </p:nvSpPr>
          <p:spPr bwMode="auto">
            <a:xfrm>
              <a:off x="1261864" y="1918046"/>
              <a:ext cx="273" cy="360809"/>
            </a:xfrm>
            <a:prstGeom prst="line">
              <a:avLst/>
            </a:prstGeom>
            <a:noFill/>
            <a:ln w="28575" cmpd="dbl">
              <a:solidFill>
                <a:srgbClr val="CC3300"/>
              </a:solidFill>
              <a:round/>
              <a:tailEnd type="triangle" w="med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" name="Line 101"/>
            <p:cNvSpPr>
              <a:spLocks noChangeShapeType="1"/>
            </p:cNvSpPr>
            <p:nvPr/>
          </p:nvSpPr>
          <p:spPr bwMode="auto">
            <a:xfrm>
              <a:off x="1406525" y="1918043"/>
              <a:ext cx="0" cy="360813"/>
            </a:xfrm>
            <a:prstGeom prst="line">
              <a:avLst/>
            </a:prstGeom>
            <a:noFill/>
            <a:ln w="28575" cmpd="dbl">
              <a:solidFill>
                <a:schemeClr val="accent2"/>
              </a:solidFill>
              <a:round/>
              <a:headEnd type="triangle" w="med" len="sm"/>
              <a:tailEnd type="triangle" w="med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9" name="Line 102"/>
            <p:cNvSpPr>
              <a:spLocks noChangeShapeType="1"/>
            </p:cNvSpPr>
            <p:nvPr/>
          </p:nvSpPr>
          <p:spPr bwMode="auto">
            <a:xfrm>
              <a:off x="1118121" y="1918047"/>
              <a:ext cx="0" cy="360809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0" name="Line 103"/>
            <p:cNvSpPr>
              <a:spLocks noChangeShapeType="1"/>
            </p:cNvSpPr>
            <p:nvPr/>
          </p:nvSpPr>
          <p:spPr bwMode="auto">
            <a:xfrm>
              <a:off x="1045369" y="1918047"/>
              <a:ext cx="744" cy="360809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" name="Text Box 104"/>
            <p:cNvSpPr txBox="1">
              <a:spLocks noChangeArrowheads="1"/>
            </p:cNvSpPr>
            <p:nvPr/>
          </p:nvSpPr>
          <p:spPr bwMode="auto">
            <a:xfrm>
              <a:off x="1621235" y="2277268"/>
              <a:ext cx="646113" cy="1656308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en-US" altLang="zh-CN" sz="1800" b="1" dirty="0">
                  <a:latin typeface="宋体" panose="02010600030101010101" pitchFamily="2" charset="-122"/>
                </a:rPr>
                <a:t>CPU</a:t>
              </a:r>
            </a:p>
          </p:txBody>
        </p:sp>
        <p:sp>
          <p:nvSpPr>
            <p:cNvPr id="92" name="Text Box 105"/>
            <p:cNvSpPr txBox="1">
              <a:spLocks noChangeArrowheads="1"/>
            </p:cNvSpPr>
            <p:nvPr/>
          </p:nvSpPr>
          <p:spPr bwMode="auto">
            <a:xfrm>
              <a:off x="7740875" y="2205831"/>
              <a:ext cx="1151605" cy="6477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en-US" altLang="zh-CN" sz="1800" b="1" dirty="0">
                  <a:latin typeface="宋体" panose="02010600030101010101" pitchFamily="2" charset="-122"/>
                </a:rPr>
                <a:t>I/O</a:t>
              </a:r>
              <a:r>
                <a:rPr lang="zh-CN" altLang="en-US" sz="1800" b="1" dirty="0">
                  <a:latin typeface="宋体" panose="02010600030101010101" pitchFamily="2" charset="-122"/>
                </a:rPr>
                <a:t>接口</a:t>
              </a:r>
            </a:p>
          </p:txBody>
        </p:sp>
        <p:sp>
          <p:nvSpPr>
            <p:cNvPr id="93" name="Text Box 106"/>
            <p:cNvSpPr txBox="1">
              <a:spLocks noChangeArrowheads="1"/>
            </p:cNvSpPr>
            <p:nvPr/>
          </p:nvSpPr>
          <p:spPr bwMode="auto">
            <a:xfrm>
              <a:off x="2268017" y="3358902"/>
              <a:ext cx="647700" cy="287337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HRQ</a:t>
              </a:r>
            </a:p>
          </p:txBody>
        </p:sp>
        <p:sp>
          <p:nvSpPr>
            <p:cNvPr id="94" name="Text Box 107"/>
            <p:cNvSpPr txBox="1">
              <a:spLocks noChangeArrowheads="1"/>
            </p:cNvSpPr>
            <p:nvPr/>
          </p:nvSpPr>
          <p:spPr bwMode="auto">
            <a:xfrm>
              <a:off x="2268266" y="3718942"/>
              <a:ext cx="647451" cy="287337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HLDA</a:t>
              </a:r>
            </a:p>
          </p:txBody>
        </p:sp>
        <p:sp>
          <p:nvSpPr>
            <p:cNvPr id="95" name="Line 108"/>
            <p:cNvSpPr>
              <a:spLocks noChangeShapeType="1"/>
            </p:cNvSpPr>
            <p:nvPr/>
          </p:nvSpPr>
          <p:spPr bwMode="auto">
            <a:xfrm flipH="1">
              <a:off x="2267347" y="3646239"/>
              <a:ext cx="792087" cy="0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96" name="Line 109"/>
            <p:cNvSpPr>
              <a:spLocks noChangeShapeType="1"/>
            </p:cNvSpPr>
            <p:nvPr/>
          </p:nvSpPr>
          <p:spPr bwMode="auto">
            <a:xfrm>
              <a:off x="2268266" y="3718247"/>
              <a:ext cx="791168" cy="471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7" name="Text Box 110"/>
            <p:cNvSpPr txBox="1">
              <a:spLocks noChangeArrowheads="1"/>
            </p:cNvSpPr>
            <p:nvPr/>
          </p:nvSpPr>
          <p:spPr bwMode="auto">
            <a:xfrm>
              <a:off x="4716016" y="2924944"/>
              <a:ext cx="1043495" cy="574673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主存地址计数器</a:t>
              </a:r>
            </a:p>
          </p:txBody>
        </p:sp>
        <p:sp>
          <p:nvSpPr>
            <p:cNvPr id="98" name="Line 111"/>
            <p:cNvSpPr>
              <a:spLocks noChangeShapeType="1"/>
            </p:cNvSpPr>
            <p:nvPr/>
          </p:nvSpPr>
          <p:spPr bwMode="auto">
            <a:xfrm flipV="1">
              <a:off x="3706763" y="1916832"/>
              <a:ext cx="0" cy="505271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9" name="Line 112"/>
            <p:cNvSpPr>
              <a:spLocks noChangeShapeType="1"/>
            </p:cNvSpPr>
            <p:nvPr/>
          </p:nvSpPr>
          <p:spPr bwMode="auto">
            <a:xfrm flipV="1">
              <a:off x="3777928" y="1916832"/>
              <a:ext cx="1588" cy="505271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" name="Line 113"/>
            <p:cNvSpPr>
              <a:spLocks noChangeShapeType="1"/>
            </p:cNvSpPr>
            <p:nvPr/>
          </p:nvSpPr>
          <p:spPr bwMode="auto">
            <a:xfrm flipH="1">
              <a:off x="5362898" y="1918046"/>
              <a:ext cx="794" cy="506859"/>
            </a:xfrm>
            <a:prstGeom prst="line">
              <a:avLst/>
            </a:prstGeom>
            <a:noFill/>
            <a:ln w="28575" cmpd="dbl">
              <a:solidFill>
                <a:srgbClr val="CC3300"/>
              </a:solidFill>
              <a:round/>
              <a:headEnd type="triangle" w="med" len="sm"/>
              <a:tailEnd type="triangle" w="med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1" name="Text Box 114"/>
            <p:cNvSpPr txBox="1">
              <a:spLocks noChangeArrowheads="1"/>
            </p:cNvSpPr>
            <p:nvPr/>
          </p:nvSpPr>
          <p:spPr bwMode="auto">
            <a:xfrm>
              <a:off x="5795740" y="2422104"/>
              <a:ext cx="1296988" cy="359990"/>
            </a:xfrm>
            <a:prstGeom prst="rect">
              <a:avLst/>
            </a:prstGeom>
            <a:solidFill>
              <a:srgbClr val="FFFF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en-US" altLang="zh-CN" sz="1800" b="1" dirty="0" err="1">
                  <a:latin typeface="宋体" panose="02010600030101010101" pitchFamily="2" charset="-122"/>
                </a:rPr>
                <a:t>DBus</a:t>
              </a:r>
              <a:r>
                <a:rPr lang="zh-CN" altLang="en-US" sz="1800" b="1" dirty="0">
                  <a:latin typeface="宋体" panose="02010600030101010101" pitchFamily="2" charset="-122"/>
                </a:rPr>
                <a:t>缓冲器</a:t>
              </a:r>
            </a:p>
          </p:txBody>
        </p:sp>
        <p:sp>
          <p:nvSpPr>
            <p:cNvPr id="102" name="Text Box 115"/>
            <p:cNvSpPr txBox="1">
              <a:spLocks noChangeArrowheads="1"/>
            </p:cNvSpPr>
            <p:nvPr/>
          </p:nvSpPr>
          <p:spPr bwMode="auto">
            <a:xfrm>
              <a:off x="4355580" y="2422104"/>
              <a:ext cx="1296988" cy="359990"/>
            </a:xfrm>
            <a:prstGeom prst="rect">
              <a:avLst/>
            </a:prstGeom>
            <a:solidFill>
              <a:srgbClr val="FFFF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en-US" altLang="zh-CN" sz="1800" b="1" dirty="0" err="1">
                  <a:latin typeface="宋体" panose="02010600030101010101" pitchFamily="2" charset="-122"/>
                </a:rPr>
                <a:t>ABus</a:t>
              </a:r>
              <a:r>
                <a:rPr lang="zh-CN" altLang="en-US" sz="1800" b="1" dirty="0">
                  <a:latin typeface="宋体" panose="02010600030101010101" pitchFamily="2" charset="-122"/>
                </a:rPr>
                <a:t>锁存器</a:t>
              </a:r>
            </a:p>
          </p:txBody>
        </p:sp>
        <p:sp>
          <p:nvSpPr>
            <p:cNvPr id="103" name="Text Box 116"/>
            <p:cNvSpPr txBox="1">
              <a:spLocks noChangeArrowheads="1"/>
            </p:cNvSpPr>
            <p:nvPr/>
          </p:nvSpPr>
          <p:spPr bwMode="auto">
            <a:xfrm>
              <a:off x="3060429" y="2422104"/>
              <a:ext cx="1150938" cy="360040"/>
            </a:xfrm>
            <a:prstGeom prst="rect">
              <a:avLst/>
            </a:prstGeom>
            <a:solidFill>
              <a:srgbClr val="FFFF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en-US" altLang="zh-CN" sz="1800" b="1" dirty="0" err="1">
                  <a:latin typeface="宋体" panose="02010600030101010101" pitchFamily="2" charset="-122"/>
                </a:rPr>
                <a:t>CBus</a:t>
              </a:r>
              <a:r>
                <a:rPr lang="zh-CN" altLang="en-US" sz="1800" b="1" dirty="0">
                  <a:latin typeface="宋体" panose="02010600030101010101" pitchFamily="2" charset="-122"/>
                </a:rPr>
                <a:t>逻辑</a:t>
              </a:r>
            </a:p>
          </p:txBody>
        </p:sp>
        <p:sp>
          <p:nvSpPr>
            <p:cNvPr id="104" name="Line 117"/>
            <p:cNvSpPr>
              <a:spLocks noChangeShapeType="1"/>
            </p:cNvSpPr>
            <p:nvPr/>
          </p:nvSpPr>
          <p:spPr bwMode="auto">
            <a:xfrm flipH="1">
              <a:off x="6298929" y="1918046"/>
              <a:ext cx="742" cy="505272"/>
            </a:xfrm>
            <a:prstGeom prst="line">
              <a:avLst/>
            </a:prstGeom>
            <a:noFill/>
            <a:ln w="28575" cmpd="dbl">
              <a:solidFill>
                <a:schemeClr val="accent2"/>
              </a:solidFill>
              <a:round/>
              <a:headEnd type="triangle" w="med" len="sm"/>
              <a:tailEnd type="triangle" w="med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" name="Line 118"/>
            <p:cNvSpPr>
              <a:spLocks noChangeShapeType="1"/>
            </p:cNvSpPr>
            <p:nvPr/>
          </p:nvSpPr>
          <p:spPr bwMode="auto">
            <a:xfrm>
              <a:off x="3491484" y="1918047"/>
              <a:ext cx="0" cy="505271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6" name="Line 119"/>
            <p:cNvSpPr>
              <a:spLocks noChangeShapeType="1"/>
            </p:cNvSpPr>
            <p:nvPr/>
          </p:nvSpPr>
          <p:spPr bwMode="auto">
            <a:xfrm>
              <a:off x="3564459" y="1918047"/>
              <a:ext cx="0" cy="505271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7" name="Text Box 120"/>
            <p:cNvSpPr txBox="1">
              <a:spLocks noChangeArrowheads="1"/>
            </p:cNvSpPr>
            <p:nvPr/>
          </p:nvSpPr>
          <p:spPr bwMode="auto">
            <a:xfrm>
              <a:off x="2267348" y="1990055"/>
              <a:ext cx="1154113" cy="252412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8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IOW#/IOR#</a:t>
              </a:r>
            </a:p>
          </p:txBody>
        </p:sp>
        <p:sp>
          <p:nvSpPr>
            <p:cNvPr id="108" name="Line 121"/>
            <p:cNvSpPr>
              <a:spLocks noChangeShapeType="1"/>
            </p:cNvSpPr>
            <p:nvPr/>
          </p:nvSpPr>
          <p:spPr bwMode="auto">
            <a:xfrm flipH="1" flipV="1">
              <a:off x="7092727" y="3212976"/>
              <a:ext cx="717646" cy="0"/>
            </a:xfrm>
            <a:prstGeom prst="line">
              <a:avLst/>
            </a:prstGeom>
            <a:noFill/>
            <a:ln w="19050">
              <a:solidFill>
                <a:srgbClr val="990099"/>
              </a:solidFill>
              <a:round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" name="Text Box 122"/>
            <p:cNvSpPr txBox="1">
              <a:spLocks noChangeArrowheads="1"/>
            </p:cNvSpPr>
            <p:nvPr/>
          </p:nvSpPr>
          <p:spPr bwMode="auto">
            <a:xfrm>
              <a:off x="7235527" y="2924944"/>
              <a:ext cx="504825" cy="288925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en-US" altLang="zh-CN" sz="1800" b="1" dirty="0">
                  <a:solidFill>
                    <a:srgbClr val="990099"/>
                  </a:solidFill>
                  <a:latin typeface="宋体" panose="02010600030101010101" pitchFamily="2" charset="-122"/>
                </a:rPr>
                <a:t>EOP</a:t>
              </a:r>
            </a:p>
          </p:txBody>
        </p:sp>
        <p:sp>
          <p:nvSpPr>
            <p:cNvPr id="110" name="Text Box 123"/>
            <p:cNvSpPr txBox="1">
              <a:spLocks noChangeArrowheads="1"/>
            </p:cNvSpPr>
            <p:nvPr/>
          </p:nvSpPr>
          <p:spPr bwMode="auto">
            <a:xfrm>
              <a:off x="6047120" y="2924944"/>
              <a:ext cx="1045608" cy="574674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传送字数计数器</a:t>
              </a:r>
            </a:p>
          </p:txBody>
        </p:sp>
        <p:sp>
          <p:nvSpPr>
            <p:cNvPr id="111" name="Line 125"/>
            <p:cNvSpPr>
              <a:spLocks noChangeShapeType="1"/>
            </p:cNvSpPr>
            <p:nvPr/>
          </p:nvSpPr>
          <p:spPr bwMode="auto">
            <a:xfrm flipH="1">
              <a:off x="4139552" y="3647032"/>
              <a:ext cx="3815139" cy="794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" name="Line 126"/>
            <p:cNvSpPr>
              <a:spLocks noChangeShapeType="1"/>
            </p:cNvSpPr>
            <p:nvPr/>
          </p:nvSpPr>
          <p:spPr bwMode="auto">
            <a:xfrm flipV="1">
              <a:off x="4139556" y="3718247"/>
              <a:ext cx="3887240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" name="Text Box 127"/>
            <p:cNvSpPr txBox="1">
              <a:spLocks noChangeArrowheads="1"/>
            </p:cNvSpPr>
            <p:nvPr/>
          </p:nvSpPr>
          <p:spPr bwMode="auto">
            <a:xfrm>
              <a:off x="7236296" y="3434369"/>
              <a:ext cx="576263" cy="211175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DREQ</a:t>
              </a:r>
            </a:p>
          </p:txBody>
        </p:sp>
        <p:sp>
          <p:nvSpPr>
            <p:cNvPr id="114" name="Text Box 128"/>
            <p:cNvSpPr txBox="1">
              <a:spLocks noChangeArrowheads="1"/>
            </p:cNvSpPr>
            <p:nvPr/>
          </p:nvSpPr>
          <p:spPr bwMode="auto">
            <a:xfrm>
              <a:off x="7236296" y="3718247"/>
              <a:ext cx="576263" cy="216371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DACK</a:t>
              </a:r>
            </a:p>
          </p:txBody>
        </p:sp>
        <p:sp>
          <p:nvSpPr>
            <p:cNvPr id="115" name="Text Box 130"/>
            <p:cNvSpPr txBox="1">
              <a:spLocks noChangeArrowheads="1"/>
            </p:cNvSpPr>
            <p:nvPr/>
          </p:nvSpPr>
          <p:spPr bwMode="auto">
            <a:xfrm>
              <a:off x="3059436" y="3358356"/>
              <a:ext cx="1080120" cy="504825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DMA</a:t>
              </a:r>
            </a:p>
            <a:p>
              <a:pPr>
                <a:lnSpc>
                  <a:spcPct val="90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控制逻辑</a:t>
              </a:r>
            </a:p>
          </p:txBody>
        </p:sp>
        <p:sp>
          <p:nvSpPr>
            <p:cNvPr id="116" name="Line 131"/>
            <p:cNvSpPr>
              <a:spLocks noChangeShapeType="1"/>
            </p:cNvSpPr>
            <p:nvPr/>
          </p:nvSpPr>
          <p:spPr bwMode="auto">
            <a:xfrm>
              <a:off x="7956376" y="2853531"/>
              <a:ext cx="0" cy="792708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7" name="Line 132"/>
            <p:cNvSpPr>
              <a:spLocks noChangeShapeType="1"/>
            </p:cNvSpPr>
            <p:nvPr/>
          </p:nvSpPr>
          <p:spPr bwMode="auto">
            <a:xfrm flipV="1">
              <a:off x="8026796" y="2855116"/>
              <a:ext cx="1588" cy="863825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8" name="Line 133"/>
            <p:cNvSpPr>
              <a:spLocks noChangeShapeType="1"/>
            </p:cNvSpPr>
            <p:nvPr/>
          </p:nvSpPr>
          <p:spPr bwMode="auto">
            <a:xfrm flipV="1">
              <a:off x="7810373" y="2855118"/>
              <a:ext cx="2980" cy="357162"/>
            </a:xfrm>
            <a:prstGeom prst="line">
              <a:avLst/>
            </a:prstGeom>
            <a:noFill/>
            <a:ln w="19050">
              <a:solidFill>
                <a:srgbClr val="9900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9" name="Line 134"/>
            <p:cNvSpPr>
              <a:spLocks noChangeShapeType="1"/>
            </p:cNvSpPr>
            <p:nvPr/>
          </p:nvSpPr>
          <p:spPr bwMode="auto">
            <a:xfrm>
              <a:off x="8172400" y="2855118"/>
              <a:ext cx="0" cy="1158503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0" name="Text Box 135"/>
            <p:cNvSpPr txBox="1">
              <a:spLocks noChangeArrowheads="1"/>
            </p:cNvSpPr>
            <p:nvPr/>
          </p:nvSpPr>
          <p:spPr bwMode="auto">
            <a:xfrm>
              <a:off x="8316416" y="3285331"/>
              <a:ext cx="576064" cy="649287"/>
            </a:xfrm>
            <a:prstGeom prst="rect">
              <a:avLst/>
            </a:prstGeom>
            <a:solidFill>
              <a:schemeClr val="accent2">
                <a:lumMod val="20000"/>
                <a:lumOff val="80000"/>
                <a:alpha val="80000"/>
              </a:scheme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zh-CN" altLang="en-US" sz="1800" b="1" dirty="0">
                  <a:latin typeface="宋体" panose="02010600030101010101" pitchFamily="2" charset="-122"/>
                </a:rPr>
                <a:t>外部</a:t>
              </a:r>
              <a:endParaRPr lang="en-US" altLang="zh-CN" sz="1800" b="1" dirty="0">
                <a:latin typeface="宋体" panose="02010600030101010101" pitchFamily="2" charset="-122"/>
              </a:endParaRPr>
            </a:p>
            <a:p>
              <a:r>
                <a:rPr lang="zh-CN" altLang="en-US" sz="1800" b="1" dirty="0">
                  <a:latin typeface="宋体" panose="02010600030101010101" pitchFamily="2" charset="-122"/>
                </a:rPr>
                <a:t>设备</a:t>
              </a:r>
            </a:p>
          </p:txBody>
        </p:sp>
        <p:sp>
          <p:nvSpPr>
            <p:cNvPr id="121" name="Line 136"/>
            <p:cNvSpPr>
              <a:spLocks noChangeShapeType="1"/>
            </p:cNvSpPr>
            <p:nvPr/>
          </p:nvSpPr>
          <p:spPr bwMode="auto">
            <a:xfrm>
              <a:off x="8460878" y="2855118"/>
              <a:ext cx="0" cy="431800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2" name="Line 137"/>
            <p:cNvSpPr>
              <a:spLocks noChangeShapeType="1"/>
            </p:cNvSpPr>
            <p:nvPr/>
          </p:nvSpPr>
          <p:spPr bwMode="auto">
            <a:xfrm flipV="1">
              <a:off x="8605341" y="2855118"/>
              <a:ext cx="0" cy="431800"/>
            </a:xfrm>
            <a:prstGeom prst="line">
              <a:avLst/>
            </a:prstGeom>
            <a:noFill/>
            <a:ln w="19050">
              <a:solidFill>
                <a:srgbClr val="9900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" name="Line 138"/>
            <p:cNvSpPr>
              <a:spLocks noChangeShapeType="1"/>
            </p:cNvSpPr>
            <p:nvPr/>
          </p:nvSpPr>
          <p:spPr bwMode="auto">
            <a:xfrm flipV="1">
              <a:off x="8749803" y="2855118"/>
              <a:ext cx="0" cy="43180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" name="Line 142"/>
            <p:cNvSpPr>
              <a:spLocks noChangeShapeType="1"/>
            </p:cNvSpPr>
            <p:nvPr/>
          </p:nvSpPr>
          <p:spPr bwMode="auto">
            <a:xfrm flipH="1">
              <a:off x="8316155" y="1918047"/>
              <a:ext cx="261" cy="289371"/>
            </a:xfrm>
            <a:prstGeom prst="line">
              <a:avLst/>
            </a:prstGeom>
            <a:noFill/>
            <a:ln w="28575" cmpd="dbl">
              <a:solidFill>
                <a:srgbClr val="CC3300"/>
              </a:solidFill>
              <a:round/>
              <a:tailEnd type="triangle" w="med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5" name="Line 143"/>
            <p:cNvSpPr>
              <a:spLocks noChangeShapeType="1"/>
            </p:cNvSpPr>
            <p:nvPr/>
          </p:nvSpPr>
          <p:spPr bwMode="auto">
            <a:xfrm>
              <a:off x="8530852" y="1916832"/>
              <a:ext cx="1588" cy="290586"/>
            </a:xfrm>
            <a:prstGeom prst="line">
              <a:avLst/>
            </a:prstGeom>
            <a:noFill/>
            <a:ln w="28575" cmpd="dbl">
              <a:solidFill>
                <a:schemeClr val="accent2"/>
              </a:solidFill>
              <a:round/>
              <a:headEnd type="triangle" w="med" len="sm"/>
              <a:tailEnd type="triangle" w="med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6" name="Line 144"/>
            <p:cNvSpPr>
              <a:spLocks noChangeShapeType="1"/>
            </p:cNvSpPr>
            <p:nvPr/>
          </p:nvSpPr>
          <p:spPr bwMode="auto">
            <a:xfrm flipH="1">
              <a:off x="8101409" y="1916832"/>
              <a:ext cx="2061" cy="290586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7" name="Line 145"/>
            <p:cNvSpPr>
              <a:spLocks noChangeShapeType="1"/>
            </p:cNvSpPr>
            <p:nvPr/>
          </p:nvSpPr>
          <p:spPr bwMode="auto">
            <a:xfrm flipH="1">
              <a:off x="8028384" y="1918047"/>
              <a:ext cx="1487" cy="289371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8" name="Text Box 110"/>
            <p:cNvSpPr txBox="1">
              <a:spLocks noChangeArrowheads="1"/>
            </p:cNvSpPr>
            <p:nvPr/>
          </p:nvSpPr>
          <p:spPr bwMode="auto">
            <a:xfrm>
              <a:off x="3275459" y="2926159"/>
              <a:ext cx="1080121" cy="287337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控制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REG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30" name="Line 108"/>
            <p:cNvSpPr>
              <a:spLocks noChangeShapeType="1"/>
            </p:cNvSpPr>
            <p:nvPr/>
          </p:nvSpPr>
          <p:spPr bwMode="auto">
            <a:xfrm>
              <a:off x="3635500" y="3213495"/>
              <a:ext cx="0" cy="145653"/>
            </a:xfrm>
            <a:prstGeom prst="line">
              <a:avLst/>
            </a:prstGeom>
            <a:noFill/>
            <a:ln w="25400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131" name="Line 108"/>
            <p:cNvSpPr>
              <a:spLocks noChangeShapeType="1"/>
            </p:cNvSpPr>
            <p:nvPr/>
          </p:nvSpPr>
          <p:spPr bwMode="auto">
            <a:xfrm flipV="1">
              <a:off x="3635500" y="2782144"/>
              <a:ext cx="0" cy="144412"/>
            </a:xfrm>
            <a:prstGeom prst="line">
              <a:avLst/>
            </a:prstGeom>
            <a:noFill/>
            <a:ln w="25400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132" name="Line 108"/>
            <p:cNvSpPr>
              <a:spLocks noChangeShapeType="1"/>
            </p:cNvSpPr>
            <p:nvPr/>
          </p:nvSpPr>
          <p:spPr bwMode="auto">
            <a:xfrm>
              <a:off x="4572000" y="2782143"/>
              <a:ext cx="0" cy="217438"/>
            </a:xfrm>
            <a:prstGeom prst="line">
              <a:avLst/>
            </a:prstGeom>
            <a:noFill/>
            <a:ln w="25400">
              <a:solidFill>
                <a:srgbClr val="C00000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133" name="Line 108"/>
            <p:cNvSpPr>
              <a:spLocks noChangeShapeType="1"/>
            </p:cNvSpPr>
            <p:nvPr/>
          </p:nvSpPr>
          <p:spPr bwMode="auto">
            <a:xfrm flipV="1">
              <a:off x="5363692" y="2782143"/>
              <a:ext cx="0" cy="144015"/>
            </a:xfrm>
            <a:prstGeom prst="line">
              <a:avLst/>
            </a:prstGeom>
            <a:noFill/>
            <a:ln w="28575" cmpd="dbl">
              <a:solidFill>
                <a:srgbClr val="C00000"/>
              </a:solidFill>
              <a:round/>
              <a:tailEnd type="triangle" w="med" len="sm"/>
            </a:ln>
            <a:effectLst/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134" name="Line 383"/>
            <p:cNvSpPr>
              <a:spLocks noChangeShapeType="1"/>
            </p:cNvSpPr>
            <p:nvPr/>
          </p:nvSpPr>
          <p:spPr bwMode="auto">
            <a:xfrm flipH="1">
              <a:off x="1045369" y="3516387"/>
              <a:ext cx="372" cy="497234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5" name="Line 384"/>
            <p:cNvSpPr>
              <a:spLocks noChangeShapeType="1"/>
            </p:cNvSpPr>
            <p:nvPr/>
          </p:nvSpPr>
          <p:spPr bwMode="auto">
            <a:xfrm flipV="1">
              <a:off x="1045741" y="3516387"/>
              <a:ext cx="576263" cy="0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6" name="Text Box 385"/>
            <p:cNvSpPr txBox="1">
              <a:spLocks noChangeArrowheads="1"/>
            </p:cNvSpPr>
            <p:nvPr/>
          </p:nvSpPr>
          <p:spPr bwMode="auto">
            <a:xfrm>
              <a:off x="1047328" y="3286199"/>
              <a:ext cx="503238" cy="217488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INTR</a:t>
              </a:r>
            </a:p>
          </p:txBody>
        </p:sp>
        <p:sp>
          <p:nvSpPr>
            <p:cNvPr id="137" name="Line 370"/>
            <p:cNvSpPr>
              <a:spLocks noChangeShapeType="1"/>
            </p:cNvSpPr>
            <p:nvPr/>
          </p:nvSpPr>
          <p:spPr bwMode="auto">
            <a:xfrm>
              <a:off x="5940152" y="2782118"/>
              <a:ext cx="0" cy="431378"/>
            </a:xfrm>
            <a:prstGeom prst="line">
              <a:avLst/>
            </a:prstGeom>
            <a:noFill/>
            <a:ln w="28575" cmpd="dbl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39" name="线形标注 2 138"/>
          <p:cNvSpPr/>
          <p:nvPr/>
        </p:nvSpPr>
        <p:spPr bwMode="auto">
          <a:xfrm>
            <a:off x="7416496" y="5155948"/>
            <a:ext cx="1620000" cy="288000"/>
          </a:xfrm>
          <a:prstGeom prst="borderCallout2">
            <a:avLst>
              <a:gd name="adj1" fmla="val 52616"/>
              <a:gd name="adj2" fmla="val 781"/>
              <a:gd name="adj3" fmla="val 51263"/>
              <a:gd name="adj4" fmla="val -10944"/>
              <a:gd name="adj5" fmla="val -13791"/>
              <a:gd name="adj6" fmla="val -16527"/>
            </a:avLst>
          </a:prstGeom>
          <a:noFill/>
          <a:ln w="12700" cap="flat" cmpd="sng" algn="ctr">
            <a:solidFill>
              <a:srgbClr val="0070C0"/>
            </a:solidFill>
            <a:prstDash val="sysDash"/>
            <a:round/>
            <a:headEnd type="none" w="med" len="med"/>
            <a:tailEnd type="arrow" w="sm" len="sm"/>
          </a:ln>
          <a:effectLst/>
        </p:spPr>
        <p:txBody>
          <a:bodyPr vert="horz" wrap="square" lIns="36000" tIns="10800" rIns="36000" bIns="10800" numCol="1" rtlCol="0" anchor="ctr" anchorCtr="0" compatLnSpc="1"/>
          <a:lstStyle/>
          <a:p>
            <a:pPr algn="l">
              <a:lnSpc>
                <a:spcPct val="90000"/>
              </a:lnSpc>
            </a:pPr>
            <a:r>
              <a:rPr lang="zh-CN" altLang="en-US" sz="1600" b="1" dirty="0">
                <a:latin typeface="宋体" panose="02010600030101010101" pitchFamily="2" charset="-122"/>
              </a:rPr>
              <a:t>代替</a:t>
            </a:r>
            <a:r>
              <a:rPr lang="en-US" altLang="zh-CN" sz="1600" b="1" dirty="0">
                <a:latin typeface="宋体" panose="02010600030101010101" pitchFamily="2" charset="-122"/>
              </a:rPr>
              <a:t>I/O</a:t>
            </a:r>
            <a:r>
              <a:rPr lang="zh-CN" altLang="en-US" sz="1600" b="1" dirty="0">
                <a:latin typeface="宋体" panose="02010600030101010101" pitchFamily="2" charset="-122"/>
              </a:rPr>
              <a:t>端口地址</a:t>
            </a:r>
          </a:p>
        </p:txBody>
      </p:sp>
      <p:sp>
        <p:nvSpPr>
          <p:cNvPr id="141" name="AutoShape 62">
            <a:hlinkClick r:id="rId3" action="ppaction://hlinksldjump"/>
          </p:cNvPr>
          <p:cNvSpPr>
            <a:spLocks noChangeArrowheads="1"/>
          </p:cNvSpPr>
          <p:nvPr/>
        </p:nvSpPr>
        <p:spPr bwMode="auto">
          <a:xfrm rot="16200000">
            <a:off x="4068291" y="6525691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eaVert" wrap="none" lIns="0" tIns="0" rIns="0" bIns="0" anchor="ctr"/>
          <a:lstStyle/>
          <a:p>
            <a:pPr algn="ctr"/>
            <a:r>
              <a:rPr lang="en-US" altLang="zh-CN" sz="1600" dirty="0">
                <a:solidFill>
                  <a:schemeClr val="bg2"/>
                </a:solidFill>
                <a:latin typeface="+mn-ea"/>
                <a:ea typeface="+mn-ea"/>
              </a:rPr>
              <a:t>43</a:t>
            </a:r>
            <a:endParaRPr lang="zh-CN" altLang="en-US" sz="1600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142" name="AutoShape 62">
            <a:hlinkClick r:id="rId4" action="ppaction://hlinksldjump"/>
          </p:cNvPr>
          <p:cNvSpPr>
            <a:spLocks noChangeArrowheads="1"/>
          </p:cNvSpPr>
          <p:nvPr/>
        </p:nvSpPr>
        <p:spPr bwMode="auto">
          <a:xfrm rot="16200000">
            <a:off x="5148412" y="6525691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eaVert" wrap="none" lIns="0" tIns="0" rIns="0" bIns="0" anchor="ctr"/>
          <a:lstStyle/>
          <a:p>
            <a:pPr algn="ctr"/>
            <a:r>
              <a:rPr lang="en-US" altLang="zh-CN" sz="1600" dirty="0">
                <a:solidFill>
                  <a:schemeClr val="bg2"/>
                </a:solidFill>
                <a:latin typeface="+mn-ea"/>
                <a:ea typeface="+mn-ea"/>
              </a:rPr>
              <a:t>44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91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91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1173" grpId="0"/>
      <p:bldP spid="391308" grpId="0"/>
      <p:bldP spid="139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B2BEC-31CD-4C9D-92D4-62FC8D1A3937}" type="slidenum">
              <a:rPr lang="en-US" altLang="zh-CN"/>
              <a:t>48</a:t>
            </a:fld>
            <a:endParaRPr lang="en-US" altLang="zh-CN"/>
          </a:p>
        </p:txBody>
      </p:sp>
      <p:sp>
        <p:nvSpPr>
          <p:cNvPr id="392321" name="Text Box 129"/>
          <p:cNvSpPr txBox="1">
            <a:spLocks noChangeArrowheads="1"/>
          </p:cNvSpPr>
          <p:nvPr/>
        </p:nvSpPr>
        <p:spPr bwMode="auto">
          <a:xfrm>
            <a:off x="179389" y="332656"/>
            <a:ext cx="7701756" cy="505362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(2)DMA</a:t>
            </a:r>
            <a:r>
              <a:rPr lang="zh-CN" altLang="en-US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请求判优的组织</a:t>
            </a:r>
            <a:endParaRPr lang="zh-CN" altLang="en-US" sz="2200" b="1" dirty="0">
              <a:solidFill>
                <a:srgbClr val="CC33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任务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r>
              <a:rPr lang="zh-CN" altLang="en-US" sz="2200" b="1" dirty="0">
                <a:latin typeface="宋体" panose="02010600030101010101" pitchFamily="2" charset="-122"/>
              </a:rPr>
              <a:t>处理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多个</a:t>
            </a:r>
            <a:r>
              <a:rPr lang="en-US" altLang="zh-CN" sz="2200" b="1" dirty="0">
                <a:latin typeface="宋体" panose="02010600030101010101" pitchFamily="2" charset="-122"/>
              </a:rPr>
              <a:t>DMA</a:t>
            </a:r>
            <a:r>
              <a:rPr lang="zh-CN" altLang="en-US" sz="2200" b="1" dirty="0">
                <a:latin typeface="宋体" panose="02010600030101010101" pitchFamily="2" charset="-122"/>
              </a:rPr>
              <a:t>接口与</a:t>
            </a:r>
            <a:r>
              <a:rPr lang="en-US" altLang="zh-CN" sz="2200" b="1" dirty="0">
                <a:latin typeface="宋体" panose="02010600030101010101" pitchFamily="2" charset="-122"/>
              </a:rPr>
              <a:t>CPU</a:t>
            </a:r>
            <a:r>
              <a:rPr lang="zh-CN" altLang="en-US" sz="2200" b="1" dirty="0">
                <a:latin typeface="宋体" panose="02010600030101010101" pitchFamily="2" charset="-122"/>
              </a:rPr>
              <a:t>的连接及响应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*DMA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请求的连接方式：  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类似中断请求的连接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sz="2200" b="1" dirty="0">
                <a:latin typeface="宋体" panose="02010600030101010101" pitchFamily="2" charset="-122"/>
              </a:rPr>
              <a:t>    有共用请求式、独立请求式</a:t>
            </a:r>
            <a:r>
              <a:rPr lang="en-US" altLang="zh-CN" sz="2200" b="1" dirty="0">
                <a:latin typeface="宋体" panose="02010600030101010101" pitchFamily="2" charset="-122"/>
              </a:rPr>
              <a:t>2</a:t>
            </a:r>
            <a:r>
              <a:rPr lang="zh-CN" altLang="en-US" sz="2200" b="1" dirty="0">
                <a:latin typeface="宋体" panose="02010600030101010101" pitchFamily="2" charset="-122"/>
              </a:rPr>
              <a:t>种</a:t>
            </a:r>
          </a:p>
          <a:p>
            <a:pPr algn="l">
              <a:lnSpc>
                <a:spcPct val="125000"/>
              </a:lnSpc>
            </a:pP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1600"/>
              </a:spcBef>
            </a:pP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600"/>
              </a:spcBef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*DMA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请求的判优方式：  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类似中断请求的判优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lang="zh-CN" altLang="en-US" sz="2200" b="1" dirty="0">
                <a:latin typeface="宋体" panose="02010600030101010101" pitchFamily="2" charset="-122"/>
              </a:rPr>
              <a:t>    有串行判优、并行判优</a:t>
            </a:r>
            <a:r>
              <a:rPr lang="en-US" altLang="zh-CN" sz="2200" b="1" dirty="0">
                <a:latin typeface="宋体" panose="02010600030101010101" pitchFamily="2" charset="-122"/>
              </a:rPr>
              <a:t>2</a:t>
            </a:r>
            <a:r>
              <a:rPr lang="zh-CN" altLang="en-US" sz="2200" b="1" dirty="0">
                <a:latin typeface="宋体" panose="02010600030101010101" pitchFamily="2" charset="-122"/>
              </a:rPr>
              <a:t>种，</a:t>
            </a:r>
            <a:r>
              <a:rPr lang="en-US" altLang="zh-CN" sz="2200" b="1" dirty="0">
                <a:latin typeface="宋体" panose="02010600030101010101" pitchFamily="2" charset="-122"/>
              </a:rPr>
              <a:t>DMA</a:t>
            </a:r>
            <a:r>
              <a:rPr lang="zh-CN" altLang="en-US" sz="2200" b="1" dirty="0">
                <a:latin typeface="宋体" panose="02010600030101010101" pitchFamily="2" charset="-122"/>
              </a:rPr>
              <a:t>接口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无需给出</a:t>
            </a:r>
            <a:r>
              <a:rPr lang="zh-CN" altLang="en-US" sz="2200" b="1" dirty="0">
                <a:latin typeface="宋体" panose="02010600030101010101" pitchFamily="2" charset="-122"/>
              </a:rPr>
              <a:t>类型号</a:t>
            </a: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300"/>
              </a:spcBef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※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应用选择：          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类似中断请求</a:t>
            </a:r>
            <a:r>
              <a:rPr lang="en-US" altLang="zh-CN" sz="1800" b="1" dirty="0">
                <a:latin typeface="宋体" panose="02010600030101010101" pitchFamily="2" charset="-122"/>
              </a:rPr>
              <a:t>&amp;</a:t>
            </a:r>
            <a:r>
              <a:rPr lang="zh-CN" altLang="en-US" sz="1800" b="1" dirty="0">
                <a:latin typeface="宋体" panose="02010600030101010101" pitchFamily="2" charset="-122"/>
              </a:rPr>
              <a:t>判优的选择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endParaRPr lang="zh-CN" altLang="en-US" sz="18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sz="2200" b="1" dirty="0">
                <a:latin typeface="宋体" panose="02010600030101010101" pitchFamily="2" charset="-122"/>
              </a:rPr>
              <a:t>     共用请求式连接、并行判优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solidFill>
                  <a:srgbClr val="FF3399"/>
                </a:solidFill>
                <a:latin typeface="宋体" panose="02010600030101010101" pitchFamily="2" charset="-122"/>
              </a:rPr>
              <a:t>需增设</a:t>
            </a:r>
            <a:r>
              <a:rPr lang="en-US" altLang="zh-CN" sz="1800" b="1" dirty="0">
                <a:latin typeface="宋体" panose="02010600030101010101" pitchFamily="2" charset="-122"/>
              </a:rPr>
              <a:t>DMA</a:t>
            </a:r>
            <a:r>
              <a:rPr lang="zh-CN" altLang="en-US" sz="1800" b="1" dirty="0">
                <a:latin typeface="宋体" panose="02010600030101010101" pitchFamily="2" charset="-122"/>
              </a:rPr>
              <a:t>控制器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endParaRPr lang="zh-CN" altLang="en-US" sz="2200" b="1" dirty="0">
              <a:latin typeface="宋体" panose="02010600030101010101" pitchFamily="2" charset="-122"/>
            </a:endParaRPr>
          </a:p>
        </p:txBody>
      </p:sp>
      <p:sp>
        <p:nvSpPr>
          <p:cNvPr id="392468" name="AutoShape 276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4068639" y="6524450"/>
            <a:ext cx="287337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" name="组合 1"/>
          <p:cNvGrpSpPr/>
          <p:nvPr/>
        </p:nvGrpSpPr>
        <p:grpSpPr>
          <a:xfrm>
            <a:off x="611188" y="2131914"/>
            <a:ext cx="8281987" cy="1513110"/>
            <a:chOff x="611188" y="1872309"/>
            <a:chExt cx="8281987" cy="1513110"/>
          </a:xfrm>
        </p:grpSpPr>
        <p:sp>
          <p:nvSpPr>
            <p:cNvPr id="392328" name="Text Box 136"/>
            <p:cNvSpPr txBox="1">
              <a:spLocks noChangeArrowheads="1"/>
            </p:cNvSpPr>
            <p:nvPr/>
          </p:nvSpPr>
          <p:spPr bwMode="auto">
            <a:xfrm>
              <a:off x="2266950" y="2232671"/>
              <a:ext cx="719137" cy="6477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DMA</a:t>
              </a:r>
            </a:p>
            <a:p>
              <a:pPr>
                <a:lnSpc>
                  <a:spcPct val="90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接口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1</a:t>
              </a:r>
            </a:p>
          </p:txBody>
        </p:sp>
        <p:sp>
          <p:nvSpPr>
            <p:cNvPr id="392332" name="Line 140"/>
            <p:cNvSpPr>
              <a:spLocks noChangeShapeType="1"/>
            </p:cNvSpPr>
            <p:nvPr/>
          </p:nvSpPr>
          <p:spPr bwMode="auto">
            <a:xfrm>
              <a:off x="1550988" y="2521596"/>
              <a:ext cx="715962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2333" name="Text Box 141"/>
            <p:cNvSpPr txBox="1">
              <a:spLocks noChangeArrowheads="1"/>
            </p:cNvSpPr>
            <p:nvPr/>
          </p:nvSpPr>
          <p:spPr bwMode="auto">
            <a:xfrm>
              <a:off x="1619250" y="2232671"/>
              <a:ext cx="576262" cy="287337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HLDA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392334" name="Line 142"/>
            <p:cNvSpPr>
              <a:spLocks noChangeShapeType="1"/>
            </p:cNvSpPr>
            <p:nvPr/>
          </p:nvSpPr>
          <p:spPr bwMode="auto">
            <a:xfrm>
              <a:off x="611188" y="1873896"/>
              <a:ext cx="3960812" cy="0"/>
            </a:xfrm>
            <a:prstGeom prst="line">
              <a:avLst/>
            </a:prstGeom>
            <a:noFill/>
            <a:ln w="38100" cmpd="dbl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2336" name="Line 144"/>
            <p:cNvSpPr>
              <a:spLocks noChangeShapeType="1"/>
            </p:cNvSpPr>
            <p:nvPr/>
          </p:nvSpPr>
          <p:spPr bwMode="auto">
            <a:xfrm>
              <a:off x="1116013" y="1872309"/>
              <a:ext cx="0" cy="360362"/>
            </a:xfrm>
            <a:prstGeom prst="line">
              <a:avLst/>
            </a:prstGeom>
            <a:noFill/>
            <a:ln w="38100" cmpd="dbl">
              <a:solidFill>
                <a:schemeClr val="tx1"/>
              </a:solidFill>
              <a:round/>
              <a:headEnd type="triangle" w="med" len="sm"/>
              <a:tailEnd type="triangle" w="med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2338" name="Line 146"/>
            <p:cNvSpPr>
              <a:spLocks noChangeShapeType="1"/>
            </p:cNvSpPr>
            <p:nvPr/>
          </p:nvSpPr>
          <p:spPr bwMode="auto">
            <a:xfrm>
              <a:off x="2625725" y="1872309"/>
              <a:ext cx="0" cy="360362"/>
            </a:xfrm>
            <a:prstGeom prst="line">
              <a:avLst/>
            </a:prstGeom>
            <a:noFill/>
            <a:ln w="38100" cmpd="dbl">
              <a:solidFill>
                <a:schemeClr val="tx1"/>
              </a:solidFill>
              <a:round/>
              <a:headEnd type="triangle" w="med" len="sm"/>
              <a:tailEnd type="triangle" w="med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2347" name="Line 155"/>
            <p:cNvSpPr>
              <a:spLocks noChangeShapeType="1"/>
            </p:cNvSpPr>
            <p:nvPr/>
          </p:nvSpPr>
          <p:spPr bwMode="auto">
            <a:xfrm flipV="1">
              <a:off x="1187450" y="2808934"/>
              <a:ext cx="0" cy="288925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2348" name="Line 156"/>
            <p:cNvSpPr>
              <a:spLocks noChangeShapeType="1"/>
            </p:cNvSpPr>
            <p:nvPr/>
          </p:nvSpPr>
          <p:spPr bwMode="auto">
            <a:xfrm flipV="1">
              <a:off x="1189038" y="3097859"/>
              <a:ext cx="3022600" cy="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2375" name="Text Box 183"/>
            <p:cNvSpPr txBox="1">
              <a:spLocks noChangeArrowheads="1"/>
            </p:cNvSpPr>
            <p:nvPr/>
          </p:nvSpPr>
          <p:spPr bwMode="auto">
            <a:xfrm>
              <a:off x="3851275" y="2232671"/>
              <a:ext cx="719137" cy="6477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>
                  <a:latin typeface="宋体" panose="02010600030101010101" pitchFamily="2" charset="-122"/>
                </a:rPr>
                <a:t>DMA</a:t>
              </a:r>
            </a:p>
            <a:p>
              <a:pPr>
                <a:lnSpc>
                  <a:spcPct val="90000"/>
                </a:lnSpc>
              </a:pPr>
              <a:r>
                <a:rPr lang="zh-CN" altLang="en-US" sz="1800" b="1">
                  <a:latin typeface="宋体" panose="02010600030101010101" pitchFamily="2" charset="-122"/>
                </a:rPr>
                <a:t>接口</a:t>
              </a:r>
              <a:r>
                <a:rPr lang="en-US" altLang="zh-CN" sz="1800" b="1">
                  <a:latin typeface="宋体" panose="02010600030101010101" pitchFamily="2" charset="-122"/>
                </a:rPr>
                <a:t>n</a:t>
              </a:r>
            </a:p>
          </p:txBody>
        </p:sp>
        <p:sp>
          <p:nvSpPr>
            <p:cNvPr id="392376" name="Line 184"/>
            <p:cNvSpPr>
              <a:spLocks noChangeShapeType="1"/>
            </p:cNvSpPr>
            <p:nvPr/>
          </p:nvSpPr>
          <p:spPr bwMode="auto">
            <a:xfrm>
              <a:off x="4210050" y="1872309"/>
              <a:ext cx="0" cy="360362"/>
            </a:xfrm>
            <a:prstGeom prst="line">
              <a:avLst/>
            </a:prstGeom>
            <a:noFill/>
            <a:ln w="38100" cmpd="dbl">
              <a:solidFill>
                <a:schemeClr val="tx1"/>
              </a:solidFill>
              <a:round/>
              <a:headEnd type="triangle" w="med" len="sm"/>
              <a:tailEnd type="triangle" w="med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2377" name="Text Box 185"/>
            <p:cNvSpPr txBox="1">
              <a:spLocks noChangeArrowheads="1"/>
            </p:cNvSpPr>
            <p:nvPr/>
          </p:nvSpPr>
          <p:spPr bwMode="auto">
            <a:xfrm>
              <a:off x="5221015" y="2232671"/>
              <a:ext cx="719137" cy="576262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DMA</a:t>
              </a:r>
            </a:p>
            <a:p>
              <a:pPr>
                <a:lnSpc>
                  <a:spcPct val="90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接口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1</a:t>
              </a:r>
            </a:p>
          </p:txBody>
        </p:sp>
        <p:sp>
          <p:nvSpPr>
            <p:cNvPr id="392378" name="Text Box 186"/>
            <p:cNvSpPr txBox="1">
              <a:spLocks noChangeArrowheads="1"/>
            </p:cNvSpPr>
            <p:nvPr/>
          </p:nvSpPr>
          <p:spPr bwMode="auto">
            <a:xfrm>
              <a:off x="6516688" y="2232671"/>
              <a:ext cx="939800" cy="576262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>
                  <a:latin typeface="宋体" panose="02010600030101010101" pitchFamily="2" charset="-122"/>
                </a:rPr>
                <a:t>CPU</a:t>
              </a:r>
            </a:p>
          </p:txBody>
        </p:sp>
        <p:sp>
          <p:nvSpPr>
            <p:cNvPr id="392379" name="Line 187"/>
            <p:cNvSpPr>
              <a:spLocks noChangeShapeType="1"/>
            </p:cNvSpPr>
            <p:nvPr/>
          </p:nvSpPr>
          <p:spPr bwMode="auto">
            <a:xfrm flipV="1">
              <a:off x="8388424" y="2808933"/>
              <a:ext cx="0" cy="332035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2380" name="Text Box 188"/>
            <p:cNvSpPr txBox="1">
              <a:spLocks noChangeArrowheads="1"/>
            </p:cNvSpPr>
            <p:nvPr/>
          </p:nvSpPr>
          <p:spPr bwMode="auto">
            <a:xfrm>
              <a:off x="5940153" y="2807346"/>
              <a:ext cx="576064" cy="261936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HRQ1</a:t>
              </a:r>
            </a:p>
          </p:txBody>
        </p:sp>
        <p:sp>
          <p:nvSpPr>
            <p:cNvPr id="392381" name="Line 189"/>
            <p:cNvSpPr>
              <a:spLocks noChangeShapeType="1"/>
            </p:cNvSpPr>
            <p:nvPr/>
          </p:nvSpPr>
          <p:spPr bwMode="auto">
            <a:xfrm flipV="1">
              <a:off x="5076825" y="1873896"/>
              <a:ext cx="3816350" cy="0"/>
            </a:xfrm>
            <a:prstGeom prst="line">
              <a:avLst/>
            </a:prstGeom>
            <a:noFill/>
            <a:ln w="38100" cmpd="dbl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2382" name="Line 190"/>
            <p:cNvSpPr>
              <a:spLocks noChangeShapeType="1"/>
            </p:cNvSpPr>
            <p:nvPr/>
          </p:nvSpPr>
          <p:spPr bwMode="auto">
            <a:xfrm>
              <a:off x="7019925" y="1872309"/>
              <a:ext cx="0" cy="360362"/>
            </a:xfrm>
            <a:prstGeom prst="line">
              <a:avLst/>
            </a:prstGeom>
            <a:noFill/>
            <a:ln w="38100" cmpd="dbl">
              <a:solidFill>
                <a:schemeClr val="tx1"/>
              </a:solidFill>
              <a:round/>
              <a:headEnd type="triangle" w="sm" len="med"/>
              <a:tailEnd type="triangl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2383" name="Line 191"/>
            <p:cNvSpPr>
              <a:spLocks noChangeShapeType="1"/>
            </p:cNvSpPr>
            <p:nvPr/>
          </p:nvSpPr>
          <p:spPr bwMode="auto">
            <a:xfrm>
              <a:off x="5506021" y="1872309"/>
              <a:ext cx="0" cy="360362"/>
            </a:xfrm>
            <a:prstGeom prst="line">
              <a:avLst/>
            </a:prstGeom>
            <a:noFill/>
            <a:ln w="38100" cmpd="dbl">
              <a:solidFill>
                <a:schemeClr val="tx1"/>
              </a:solidFill>
              <a:round/>
              <a:headEnd type="triangle" w="sm" len="med"/>
              <a:tailEnd type="triangl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2384" name="Line 192"/>
            <p:cNvSpPr>
              <a:spLocks noChangeShapeType="1"/>
            </p:cNvSpPr>
            <p:nvPr/>
          </p:nvSpPr>
          <p:spPr bwMode="auto">
            <a:xfrm flipH="1" flipV="1">
              <a:off x="7307262" y="2807346"/>
              <a:ext cx="1587" cy="25400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2385" name="Line 193"/>
            <p:cNvSpPr>
              <a:spLocks noChangeShapeType="1"/>
            </p:cNvSpPr>
            <p:nvPr/>
          </p:nvSpPr>
          <p:spPr bwMode="auto">
            <a:xfrm flipV="1">
              <a:off x="7307263" y="3065152"/>
              <a:ext cx="1009153" cy="3807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2386" name="Text Box 194"/>
            <p:cNvSpPr txBox="1">
              <a:spLocks noChangeArrowheads="1"/>
            </p:cNvSpPr>
            <p:nvPr/>
          </p:nvSpPr>
          <p:spPr bwMode="auto">
            <a:xfrm>
              <a:off x="8028384" y="2232671"/>
              <a:ext cx="719137" cy="576262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>
                  <a:latin typeface="宋体" panose="02010600030101010101" pitchFamily="2" charset="-122"/>
                </a:rPr>
                <a:t>DMA</a:t>
              </a:r>
            </a:p>
            <a:p>
              <a:pPr>
                <a:lnSpc>
                  <a:spcPct val="90000"/>
                </a:lnSpc>
              </a:pPr>
              <a:r>
                <a:rPr lang="zh-CN" altLang="en-US" sz="1800" b="1">
                  <a:latin typeface="宋体" panose="02010600030101010101" pitchFamily="2" charset="-122"/>
                </a:rPr>
                <a:t>接口</a:t>
              </a:r>
              <a:r>
                <a:rPr lang="en-US" altLang="zh-CN" sz="1800" b="1">
                  <a:latin typeface="宋体" panose="02010600030101010101" pitchFamily="2" charset="-122"/>
                </a:rPr>
                <a:t>n</a:t>
              </a:r>
            </a:p>
          </p:txBody>
        </p:sp>
        <p:sp>
          <p:nvSpPr>
            <p:cNvPr id="392387" name="Line 195"/>
            <p:cNvSpPr>
              <a:spLocks noChangeShapeType="1"/>
            </p:cNvSpPr>
            <p:nvPr/>
          </p:nvSpPr>
          <p:spPr bwMode="auto">
            <a:xfrm>
              <a:off x="8387159" y="1872309"/>
              <a:ext cx="0" cy="360362"/>
            </a:xfrm>
            <a:prstGeom prst="line">
              <a:avLst/>
            </a:prstGeom>
            <a:noFill/>
            <a:ln w="38100" cmpd="dbl">
              <a:solidFill>
                <a:schemeClr val="tx1"/>
              </a:solidFill>
              <a:round/>
              <a:headEnd type="triangle" w="sm" len="med"/>
              <a:tailEnd type="triangl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2388" name="Line 196"/>
            <p:cNvSpPr>
              <a:spLocks noChangeShapeType="1"/>
            </p:cNvSpPr>
            <p:nvPr/>
          </p:nvSpPr>
          <p:spPr bwMode="auto">
            <a:xfrm>
              <a:off x="8316416" y="2808934"/>
              <a:ext cx="0" cy="260348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2389" name="Line 197"/>
            <p:cNvSpPr>
              <a:spLocks noChangeShapeType="1"/>
            </p:cNvSpPr>
            <p:nvPr/>
          </p:nvSpPr>
          <p:spPr bwMode="auto">
            <a:xfrm>
              <a:off x="7237164" y="3140967"/>
              <a:ext cx="1151260" cy="2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2390" name="Line 198"/>
            <p:cNvSpPr>
              <a:spLocks noChangeShapeType="1"/>
            </p:cNvSpPr>
            <p:nvPr/>
          </p:nvSpPr>
          <p:spPr bwMode="auto">
            <a:xfrm>
              <a:off x="7236196" y="2808935"/>
              <a:ext cx="0" cy="332034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2391" name="Line 199"/>
            <p:cNvSpPr>
              <a:spLocks noChangeShapeType="1"/>
            </p:cNvSpPr>
            <p:nvPr/>
          </p:nvSpPr>
          <p:spPr bwMode="auto">
            <a:xfrm flipV="1">
              <a:off x="6659562" y="2808934"/>
              <a:ext cx="1" cy="260026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2392" name="Line 200"/>
            <p:cNvSpPr>
              <a:spLocks noChangeShapeType="1"/>
            </p:cNvSpPr>
            <p:nvPr/>
          </p:nvSpPr>
          <p:spPr bwMode="auto">
            <a:xfrm>
              <a:off x="6732240" y="2808935"/>
              <a:ext cx="0" cy="332034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2397" name="Line 205"/>
            <p:cNvSpPr>
              <a:spLocks noChangeShapeType="1"/>
            </p:cNvSpPr>
            <p:nvPr/>
          </p:nvSpPr>
          <p:spPr bwMode="auto">
            <a:xfrm flipH="1" flipV="1">
              <a:off x="5580112" y="2808934"/>
              <a:ext cx="0" cy="332035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2398" name="Line 206"/>
            <p:cNvSpPr>
              <a:spLocks noChangeShapeType="1"/>
            </p:cNvSpPr>
            <p:nvPr/>
          </p:nvSpPr>
          <p:spPr bwMode="auto">
            <a:xfrm>
              <a:off x="5652120" y="2808934"/>
              <a:ext cx="0" cy="252412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2399" name="Line 207"/>
            <p:cNvSpPr>
              <a:spLocks noChangeShapeType="1"/>
            </p:cNvSpPr>
            <p:nvPr/>
          </p:nvSpPr>
          <p:spPr bwMode="auto">
            <a:xfrm flipV="1">
              <a:off x="5652120" y="3068960"/>
              <a:ext cx="1007442" cy="322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2400" name="Line 208"/>
            <p:cNvSpPr>
              <a:spLocks noChangeShapeType="1"/>
            </p:cNvSpPr>
            <p:nvPr/>
          </p:nvSpPr>
          <p:spPr bwMode="auto">
            <a:xfrm flipV="1">
              <a:off x="5580112" y="3140968"/>
              <a:ext cx="1152128" cy="1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2401" name="Text Box 209"/>
            <p:cNvSpPr txBox="1">
              <a:spLocks noChangeArrowheads="1"/>
            </p:cNvSpPr>
            <p:nvPr/>
          </p:nvSpPr>
          <p:spPr bwMode="auto">
            <a:xfrm>
              <a:off x="5940152" y="3140968"/>
              <a:ext cx="648072" cy="244451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HLDA1</a:t>
              </a:r>
            </a:p>
          </p:txBody>
        </p:sp>
        <p:sp>
          <p:nvSpPr>
            <p:cNvPr id="392405" name="Text Box 213"/>
            <p:cNvSpPr txBox="1">
              <a:spLocks noChangeArrowheads="1"/>
            </p:cNvSpPr>
            <p:nvPr/>
          </p:nvSpPr>
          <p:spPr bwMode="auto">
            <a:xfrm>
              <a:off x="6012433" y="2348558"/>
              <a:ext cx="431775" cy="360362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latin typeface="+mn-ea"/>
                  <a:ea typeface="+mn-ea"/>
                </a:rPr>
                <a:t>…</a:t>
              </a:r>
            </a:p>
          </p:txBody>
        </p:sp>
        <p:sp>
          <p:nvSpPr>
            <p:cNvPr id="392406" name="Text Box 214"/>
            <p:cNvSpPr txBox="1">
              <a:spLocks noChangeArrowheads="1"/>
            </p:cNvSpPr>
            <p:nvPr/>
          </p:nvSpPr>
          <p:spPr bwMode="auto">
            <a:xfrm>
              <a:off x="7524328" y="2348558"/>
              <a:ext cx="431229" cy="360362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latin typeface="+mn-ea"/>
                  <a:ea typeface="+mn-ea"/>
                </a:rPr>
                <a:t>…</a:t>
              </a:r>
            </a:p>
          </p:txBody>
        </p:sp>
        <p:sp>
          <p:nvSpPr>
            <p:cNvPr id="392407" name="Text Box 215"/>
            <p:cNvSpPr txBox="1">
              <a:spLocks noChangeArrowheads="1"/>
            </p:cNvSpPr>
            <p:nvPr/>
          </p:nvSpPr>
          <p:spPr bwMode="auto">
            <a:xfrm>
              <a:off x="611188" y="2232671"/>
              <a:ext cx="939800" cy="576262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CPU</a:t>
              </a:r>
            </a:p>
          </p:txBody>
        </p:sp>
        <p:sp>
          <p:nvSpPr>
            <p:cNvPr id="392408" name="Text Box 216"/>
            <p:cNvSpPr txBox="1">
              <a:spLocks noChangeArrowheads="1"/>
            </p:cNvSpPr>
            <p:nvPr/>
          </p:nvSpPr>
          <p:spPr bwMode="auto">
            <a:xfrm>
              <a:off x="3203575" y="2348559"/>
              <a:ext cx="431800" cy="360362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latin typeface="+mn-ea"/>
                  <a:ea typeface="+mn-ea"/>
                </a:rPr>
                <a:t>…</a:t>
              </a:r>
            </a:p>
          </p:txBody>
        </p:sp>
        <p:sp>
          <p:nvSpPr>
            <p:cNvPr id="392409" name="Text Box 217"/>
            <p:cNvSpPr txBox="1">
              <a:spLocks noChangeArrowheads="1"/>
            </p:cNvSpPr>
            <p:nvPr/>
          </p:nvSpPr>
          <p:spPr bwMode="auto">
            <a:xfrm>
              <a:off x="6804025" y="2737496"/>
              <a:ext cx="360362" cy="360362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2000" b="1">
                  <a:latin typeface="Times New Roman" panose="02020603050405020304"/>
                </a:rPr>
                <a:t>…</a:t>
              </a:r>
              <a:endParaRPr lang="en-US" altLang="zh-CN" sz="2000" b="1">
                <a:latin typeface="宋体" panose="02010600030101010101" pitchFamily="2" charset="-122"/>
              </a:endParaRPr>
            </a:p>
          </p:txBody>
        </p:sp>
        <p:sp>
          <p:nvSpPr>
            <p:cNvPr id="392410" name="Line 218"/>
            <p:cNvSpPr>
              <a:spLocks noChangeShapeType="1"/>
            </p:cNvSpPr>
            <p:nvPr/>
          </p:nvSpPr>
          <p:spPr bwMode="auto">
            <a:xfrm>
              <a:off x="4211638" y="2881959"/>
              <a:ext cx="0" cy="215900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2411" name="Line 219"/>
            <p:cNvSpPr>
              <a:spLocks noChangeShapeType="1"/>
            </p:cNvSpPr>
            <p:nvPr/>
          </p:nvSpPr>
          <p:spPr bwMode="auto">
            <a:xfrm>
              <a:off x="2625725" y="2881959"/>
              <a:ext cx="1587" cy="215900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  <a:tailEnd type="oval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2412" name="Line 220"/>
            <p:cNvSpPr>
              <a:spLocks noChangeShapeType="1"/>
            </p:cNvSpPr>
            <p:nvPr/>
          </p:nvSpPr>
          <p:spPr bwMode="auto">
            <a:xfrm flipV="1">
              <a:off x="2987675" y="2521596"/>
              <a:ext cx="215900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2413" name="Line 221"/>
            <p:cNvSpPr>
              <a:spLocks noChangeShapeType="1"/>
            </p:cNvSpPr>
            <p:nvPr/>
          </p:nvSpPr>
          <p:spPr bwMode="auto">
            <a:xfrm flipV="1">
              <a:off x="3635375" y="2521596"/>
              <a:ext cx="215900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" name="Text Box 141"/>
            <p:cNvSpPr txBox="1">
              <a:spLocks noChangeArrowheads="1"/>
            </p:cNvSpPr>
            <p:nvPr/>
          </p:nvSpPr>
          <p:spPr bwMode="auto">
            <a:xfrm>
              <a:off x="1619672" y="2853631"/>
              <a:ext cx="432048" cy="244227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HRQ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54" name="Text Box 188"/>
            <p:cNvSpPr txBox="1">
              <a:spLocks noChangeArrowheads="1"/>
            </p:cNvSpPr>
            <p:nvPr/>
          </p:nvSpPr>
          <p:spPr bwMode="auto">
            <a:xfrm>
              <a:off x="7456488" y="2807024"/>
              <a:ext cx="571871" cy="261936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HRQ1</a:t>
              </a:r>
            </a:p>
          </p:txBody>
        </p:sp>
        <p:sp>
          <p:nvSpPr>
            <p:cNvPr id="55" name="Text Box 209"/>
            <p:cNvSpPr txBox="1">
              <a:spLocks noChangeArrowheads="1"/>
            </p:cNvSpPr>
            <p:nvPr/>
          </p:nvSpPr>
          <p:spPr bwMode="auto">
            <a:xfrm>
              <a:off x="7456489" y="3140968"/>
              <a:ext cx="643904" cy="244451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HLDA1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3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923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32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9232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32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39232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ext Box 140"/>
          <p:cNvSpPr txBox="1">
            <a:spLocks noChangeArrowheads="1"/>
          </p:cNvSpPr>
          <p:nvPr/>
        </p:nvSpPr>
        <p:spPr bwMode="auto">
          <a:xfrm>
            <a:off x="179512" y="1196752"/>
            <a:ext cx="4608512" cy="172694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增强型</a:t>
            </a: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DMA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接口的类型：</a:t>
            </a: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选择型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zh-CN" altLang="en-US" sz="22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多路型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</a:p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增强型</a:t>
            </a: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DMA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接口的结构：</a:t>
            </a:r>
            <a:endParaRPr lang="zh-CN" altLang="en-US" sz="2200" b="1" dirty="0">
              <a:latin typeface="宋体" panose="02010600030101010101" pitchFamily="2" charset="-122"/>
            </a:endParaRPr>
          </a:p>
        </p:txBody>
      </p:sp>
      <p:sp>
        <p:nvSpPr>
          <p:cNvPr id="396292" name="Text Box 4"/>
          <p:cNvSpPr txBox="1">
            <a:spLocks noChangeArrowheads="1"/>
          </p:cNvSpPr>
          <p:nvPr/>
        </p:nvSpPr>
        <p:spPr bwMode="auto">
          <a:xfrm>
            <a:off x="179388" y="332656"/>
            <a:ext cx="8785225" cy="8805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(3)</a:t>
            </a:r>
            <a:r>
              <a:rPr lang="zh-CN" altLang="en-US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增强型</a:t>
            </a:r>
            <a:r>
              <a:rPr lang="en-US" altLang="zh-CN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DMA</a:t>
            </a:r>
            <a:r>
              <a:rPr lang="zh-CN" altLang="en-US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接口</a:t>
            </a:r>
            <a:endParaRPr lang="zh-CN" altLang="en-US" sz="2200" b="1" dirty="0">
              <a:solidFill>
                <a:srgbClr val="CC33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sz="2200" b="1" dirty="0">
                <a:latin typeface="宋体" panose="02010600030101010101" pitchFamily="2" charset="-122"/>
              </a:rPr>
              <a:t>    可实现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多个外设</a:t>
            </a:r>
            <a:r>
              <a:rPr lang="zh-CN" altLang="en-US" sz="2200" b="1" dirty="0">
                <a:latin typeface="宋体" panose="02010600030101010101" pitchFamily="2" charset="-122"/>
              </a:rPr>
              <a:t>的</a:t>
            </a:r>
            <a:r>
              <a:rPr lang="en-US" altLang="zh-CN" sz="2200" b="1" dirty="0">
                <a:latin typeface="宋体" panose="02010600030101010101" pitchFamily="2" charset="-122"/>
              </a:rPr>
              <a:t>DMA</a:t>
            </a:r>
            <a:r>
              <a:rPr lang="zh-CN" altLang="en-US" sz="2200" b="1" dirty="0">
                <a:latin typeface="宋体" panose="02010600030101010101" pitchFamily="2" charset="-122"/>
              </a:rPr>
              <a:t>传送控制                </a:t>
            </a:r>
            <a:r>
              <a:rPr lang="zh-CN" altLang="en-US" sz="1800" b="1" dirty="0">
                <a:latin typeface="宋体" panose="02010600030101010101" pitchFamily="2" charset="-122"/>
              </a:rPr>
              <a:t>←即</a:t>
            </a:r>
            <a:r>
              <a:rPr lang="en-US" altLang="zh-CN" sz="1800" b="1" dirty="0">
                <a:latin typeface="宋体" panose="02010600030101010101" pitchFamily="2" charset="-122"/>
              </a:rPr>
              <a:t>DMA</a:t>
            </a:r>
            <a:r>
              <a:rPr lang="zh-CN" altLang="en-US" sz="1800" b="1" dirty="0">
                <a:latin typeface="宋体" panose="02010600030101010101" pitchFamily="2" charset="-122"/>
              </a:rPr>
              <a:t>控制器</a:t>
            </a:r>
            <a:endParaRPr lang="zh-CN" altLang="en-US" b="1" dirty="0">
              <a:latin typeface="宋体" panose="02010600030101010101" pitchFamily="2" charset="-122"/>
            </a:endParaRPr>
          </a:p>
        </p:txBody>
      </p:sp>
      <p:sp>
        <p:nvSpPr>
          <p:cNvPr id="396349" name="Text Box 61"/>
          <p:cNvSpPr txBox="1">
            <a:spLocks noChangeArrowheads="1"/>
          </p:cNvSpPr>
          <p:nvPr/>
        </p:nvSpPr>
        <p:spPr bwMode="auto">
          <a:xfrm>
            <a:off x="1907704" y="1628800"/>
            <a:ext cx="5904656" cy="130375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sz="2200" b="1" dirty="0">
                <a:latin typeface="宋体" panose="02010600030101010101" pitchFamily="2" charset="-122"/>
              </a:rPr>
              <a:t>某时间段内仅为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一个</a:t>
            </a:r>
            <a:r>
              <a:rPr lang="zh-CN" altLang="en-US" sz="2200" b="1" dirty="0">
                <a:latin typeface="宋体" panose="02010600030101010101" pitchFamily="2" charset="-122"/>
              </a:rPr>
              <a:t>外设服务，用于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快速</a:t>
            </a:r>
            <a:r>
              <a:rPr lang="zh-CN" altLang="en-US" sz="2200" b="1" dirty="0">
                <a:latin typeface="宋体" panose="02010600030101010101" pitchFamily="2" charset="-122"/>
              </a:rPr>
              <a:t>外设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sz="2200" b="1" dirty="0">
                <a:latin typeface="宋体" panose="02010600030101010101" pitchFamily="2" charset="-122"/>
              </a:rPr>
              <a:t>某时间段内可为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多个</a:t>
            </a:r>
            <a:r>
              <a:rPr lang="zh-CN" altLang="en-US" sz="2200" b="1" dirty="0">
                <a:latin typeface="宋体" panose="02010600030101010101" pitchFamily="2" charset="-122"/>
              </a:rPr>
              <a:t>外设服务，用于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中速</a:t>
            </a:r>
            <a:r>
              <a:rPr lang="zh-CN" altLang="en-US" sz="2200" b="1" dirty="0">
                <a:latin typeface="宋体" panose="02010600030101010101" pitchFamily="2" charset="-122"/>
              </a:rPr>
              <a:t>外设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sz="2200" b="1" dirty="0">
                <a:latin typeface="宋体" panose="02010600030101010101" pitchFamily="2" charset="-122"/>
              </a:rPr>
              <a:t>           增设寄存器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组</a:t>
            </a:r>
            <a:r>
              <a:rPr lang="zh-CN" altLang="en-US" sz="2200" b="1" dirty="0">
                <a:latin typeface="宋体" panose="02010600030101010101" pitchFamily="2" charset="-122"/>
              </a:rPr>
              <a:t>、判优逻辑等</a:t>
            </a:r>
            <a:endParaRPr lang="en-US" altLang="zh-CN" sz="2200" b="1" dirty="0">
              <a:latin typeface="宋体" panose="02010600030101010101" pitchFamily="2" charset="-122"/>
            </a:endParaRPr>
          </a:p>
        </p:txBody>
      </p:sp>
      <p:sp>
        <p:nvSpPr>
          <p:cNvPr id="396532" name="AutoShape 244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4068638" y="6526038"/>
            <a:ext cx="287338" cy="287337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" name="组合 1"/>
          <p:cNvGrpSpPr/>
          <p:nvPr/>
        </p:nvGrpSpPr>
        <p:grpSpPr>
          <a:xfrm>
            <a:off x="755576" y="2996936"/>
            <a:ext cx="8136904" cy="2304272"/>
            <a:chOff x="683568" y="3132000"/>
            <a:chExt cx="8136904" cy="2304272"/>
          </a:xfrm>
        </p:grpSpPr>
        <p:sp>
          <p:nvSpPr>
            <p:cNvPr id="396472" name="Rectangle 184"/>
            <p:cNvSpPr>
              <a:spLocks noChangeArrowheads="1"/>
            </p:cNvSpPr>
            <p:nvPr/>
          </p:nvSpPr>
          <p:spPr bwMode="auto">
            <a:xfrm>
              <a:off x="2053036" y="3348362"/>
              <a:ext cx="4392000" cy="2052000"/>
            </a:xfrm>
            <a:prstGeom prst="rect">
              <a:avLst/>
            </a:prstGeom>
            <a:solidFill>
              <a:srgbClr val="CCFFFF">
                <a:alpha val="7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6473" name="Line 185"/>
            <p:cNvSpPr>
              <a:spLocks noChangeShapeType="1"/>
            </p:cNvSpPr>
            <p:nvPr/>
          </p:nvSpPr>
          <p:spPr bwMode="auto">
            <a:xfrm>
              <a:off x="683568" y="3132000"/>
              <a:ext cx="8136904" cy="0"/>
            </a:xfrm>
            <a:prstGeom prst="line">
              <a:avLst/>
            </a:prstGeom>
            <a:noFill/>
            <a:ln w="38100" cmpd="dbl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6474" name="Text Box 186"/>
            <p:cNvSpPr txBox="1">
              <a:spLocks noChangeArrowheads="1"/>
            </p:cNvSpPr>
            <p:nvPr/>
          </p:nvSpPr>
          <p:spPr bwMode="auto">
            <a:xfrm>
              <a:off x="1405610" y="3492056"/>
              <a:ext cx="471044" cy="287337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HRQ</a:t>
              </a:r>
            </a:p>
          </p:txBody>
        </p:sp>
        <p:sp>
          <p:nvSpPr>
            <p:cNvPr id="396475" name="Text Box 187"/>
            <p:cNvSpPr txBox="1">
              <a:spLocks noChangeArrowheads="1"/>
            </p:cNvSpPr>
            <p:nvPr/>
          </p:nvSpPr>
          <p:spPr bwMode="auto">
            <a:xfrm>
              <a:off x="1405609" y="3851401"/>
              <a:ext cx="576263" cy="287337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HLDA</a:t>
              </a:r>
            </a:p>
          </p:txBody>
        </p:sp>
        <p:sp>
          <p:nvSpPr>
            <p:cNvPr id="396476" name="Line 188"/>
            <p:cNvSpPr>
              <a:spLocks noChangeShapeType="1"/>
            </p:cNvSpPr>
            <p:nvPr/>
          </p:nvSpPr>
          <p:spPr bwMode="auto">
            <a:xfrm flipH="1" flipV="1">
              <a:off x="1332584" y="3777806"/>
              <a:ext cx="865188" cy="1587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6477" name="Line 189"/>
            <p:cNvSpPr>
              <a:spLocks noChangeShapeType="1"/>
            </p:cNvSpPr>
            <p:nvPr/>
          </p:nvSpPr>
          <p:spPr bwMode="auto">
            <a:xfrm>
              <a:off x="1332584" y="3853956"/>
              <a:ext cx="863600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6478" name="Line 190"/>
            <p:cNvSpPr>
              <a:spLocks noChangeShapeType="1"/>
            </p:cNvSpPr>
            <p:nvPr/>
          </p:nvSpPr>
          <p:spPr bwMode="auto">
            <a:xfrm flipV="1">
              <a:off x="3637212" y="3132000"/>
              <a:ext cx="0" cy="216000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6479" name="Line 191"/>
            <p:cNvSpPr>
              <a:spLocks noChangeShapeType="1"/>
            </p:cNvSpPr>
            <p:nvPr/>
          </p:nvSpPr>
          <p:spPr bwMode="auto">
            <a:xfrm flipV="1">
              <a:off x="3781675" y="3132000"/>
              <a:ext cx="0" cy="216000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6480" name="Line 192"/>
            <p:cNvSpPr>
              <a:spLocks noChangeShapeType="1"/>
            </p:cNvSpPr>
            <p:nvPr/>
          </p:nvSpPr>
          <p:spPr bwMode="auto">
            <a:xfrm flipH="1">
              <a:off x="4429300" y="3132000"/>
              <a:ext cx="0" cy="216000"/>
            </a:xfrm>
            <a:prstGeom prst="line">
              <a:avLst/>
            </a:prstGeom>
            <a:noFill/>
            <a:ln w="28575" cmpd="dbl">
              <a:solidFill>
                <a:srgbClr val="CC3300"/>
              </a:solidFill>
              <a:round/>
              <a:headEnd type="triangle" w="med" len="sm"/>
              <a:tailEnd type="triangle" w="med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6481" name="Line 193"/>
            <p:cNvSpPr>
              <a:spLocks noChangeShapeType="1"/>
            </p:cNvSpPr>
            <p:nvPr/>
          </p:nvSpPr>
          <p:spPr bwMode="auto">
            <a:xfrm>
              <a:off x="4789340" y="3132000"/>
              <a:ext cx="0" cy="216000"/>
            </a:xfrm>
            <a:prstGeom prst="line">
              <a:avLst/>
            </a:prstGeom>
            <a:noFill/>
            <a:ln w="28575" cmpd="dbl">
              <a:solidFill>
                <a:schemeClr val="accent2"/>
              </a:solidFill>
              <a:round/>
              <a:headEnd type="triangle" w="med" len="sm"/>
              <a:tailEnd type="triangle" w="med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6482" name="Line 194"/>
            <p:cNvSpPr>
              <a:spLocks noChangeShapeType="1"/>
            </p:cNvSpPr>
            <p:nvPr/>
          </p:nvSpPr>
          <p:spPr bwMode="auto">
            <a:xfrm>
              <a:off x="3995987" y="3132000"/>
              <a:ext cx="0" cy="216000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6483" name="Line 195"/>
            <p:cNvSpPr>
              <a:spLocks noChangeShapeType="1"/>
            </p:cNvSpPr>
            <p:nvPr/>
          </p:nvSpPr>
          <p:spPr bwMode="auto">
            <a:xfrm>
              <a:off x="4140450" y="3132000"/>
              <a:ext cx="0" cy="216000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6486" name="Text Box 198"/>
            <p:cNvSpPr txBox="1">
              <a:spLocks noChangeArrowheads="1"/>
            </p:cNvSpPr>
            <p:nvPr/>
          </p:nvSpPr>
          <p:spPr bwMode="auto">
            <a:xfrm>
              <a:off x="2701108" y="4284000"/>
              <a:ext cx="1008063" cy="504000"/>
            </a:xfrm>
            <a:prstGeom prst="rect">
              <a:avLst/>
            </a:prstGeom>
            <a:solidFill>
              <a:srgbClr val="FFFF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主存地址</a:t>
              </a:r>
            </a:p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REGs</a:t>
              </a:r>
            </a:p>
          </p:txBody>
        </p:sp>
        <p:sp>
          <p:nvSpPr>
            <p:cNvPr id="396488" name="Text Box 200"/>
            <p:cNvSpPr txBox="1">
              <a:spLocks noChangeArrowheads="1"/>
            </p:cNvSpPr>
            <p:nvPr/>
          </p:nvSpPr>
          <p:spPr bwMode="auto">
            <a:xfrm>
              <a:off x="6518947" y="3924104"/>
              <a:ext cx="647700" cy="288925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DREQ0</a:t>
              </a:r>
            </a:p>
          </p:txBody>
        </p:sp>
        <p:sp>
          <p:nvSpPr>
            <p:cNvPr id="396489" name="Text Box 201"/>
            <p:cNvSpPr txBox="1">
              <a:spLocks noChangeArrowheads="1"/>
            </p:cNvSpPr>
            <p:nvPr/>
          </p:nvSpPr>
          <p:spPr bwMode="auto">
            <a:xfrm>
              <a:off x="6516216" y="4284839"/>
              <a:ext cx="649288" cy="287337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DACK0</a:t>
              </a:r>
            </a:p>
          </p:txBody>
        </p:sp>
        <p:sp>
          <p:nvSpPr>
            <p:cNvPr id="396490" name="Text Box 202"/>
            <p:cNvSpPr txBox="1">
              <a:spLocks noChangeArrowheads="1"/>
            </p:cNvSpPr>
            <p:nvPr/>
          </p:nvSpPr>
          <p:spPr bwMode="auto">
            <a:xfrm>
              <a:off x="5149380" y="4284000"/>
              <a:ext cx="604615" cy="504000"/>
            </a:xfrm>
            <a:prstGeom prst="rect">
              <a:avLst/>
            </a:prstGeom>
            <a:solidFill>
              <a:srgbClr val="FFFF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状态</a:t>
              </a:r>
            </a:p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REGs</a:t>
              </a:r>
            </a:p>
          </p:txBody>
        </p:sp>
        <p:sp>
          <p:nvSpPr>
            <p:cNvPr id="396491" name="Text Box 203"/>
            <p:cNvSpPr txBox="1">
              <a:spLocks noChangeArrowheads="1"/>
            </p:cNvSpPr>
            <p:nvPr/>
          </p:nvSpPr>
          <p:spPr bwMode="auto">
            <a:xfrm>
              <a:off x="2197772" y="3492825"/>
              <a:ext cx="359320" cy="1439068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vert="eaVert"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DMA</a:t>
              </a:r>
              <a:r>
                <a:rPr lang="zh-CN" altLang="en-US" sz="1800" b="1" dirty="0">
                  <a:latin typeface="宋体" panose="02010600030101010101" pitchFamily="2" charset="-122"/>
                </a:rPr>
                <a:t>控制逻辑</a:t>
              </a:r>
            </a:p>
          </p:txBody>
        </p:sp>
        <p:sp>
          <p:nvSpPr>
            <p:cNvPr id="396492" name="Text Box 204"/>
            <p:cNvSpPr txBox="1">
              <a:spLocks noChangeArrowheads="1"/>
            </p:cNvSpPr>
            <p:nvPr/>
          </p:nvSpPr>
          <p:spPr bwMode="auto">
            <a:xfrm>
              <a:off x="6948341" y="3348040"/>
              <a:ext cx="720003" cy="575295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I/O</a:t>
              </a:r>
            </a:p>
            <a:p>
              <a:pPr>
                <a:lnSpc>
                  <a:spcPct val="90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接口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0</a:t>
              </a:r>
            </a:p>
          </p:txBody>
        </p:sp>
        <p:sp>
          <p:nvSpPr>
            <p:cNvPr id="396495" name="Text Box 207"/>
            <p:cNvSpPr txBox="1">
              <a:spLocks noChangeArrowheads="1"/>
            </p:cNvSpPr>
            <p:nvPr/>
          </p:nvSpPr>
          <p:spPr bwMode="auto">
            <a:xfrm>
              <a:off x="7668592" y="3492056"/>
              <a:ext cx="431800" cy="358775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vert="horz"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latin typeface="+mn-ea"/>
                  <a:ea typeface="+mn-ea"/>
                </a:rPr>
                <a:t>…</a:t>
              </a:r>
            </a:p>
          </p:txBody>
        </p:sp>
        <p:sp>
          <p:nvSpPr>
            <p:cNvPr id="396496" name="Text Box 208"/>
            <p:cNvSpPr txBox="1">
              <a:spLocks noChangeArrowheads="1"/>
            </p:cNvSpPr>
            <p:nvPr/>
          </p:nvSpPr>
          <p:spPr bwMode="auto">
            <a:xfrm>
              <a:off x="2701108" y="4968000"/>
              <a:ext cx="1008063" cy="25200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en-US" altLang="zh-CN" sz="1800" b="1" dirty="0">
                  <a:latin typeface="宋体" panose="02010600030101010101" pitchFamily="2" charset="-122"/>
                </a:rPr>
                <a:t>MAC</a:t>
              </a:r>
            </a:p>
          </p:txBody>
        </p:sp>
        <p:sp>
          <p:nvSpPr>
            <p:cNvPr id="396497" name="Text Box 209"/>
            <p:cNvSpPr txBox="1">
              <a:spLocks noChangeArrowheads="1"/>
            </p:cNvSpPr>
            <p:nvPr/>
          </p:nvSpPr>
          <p:spPr bwMode="auto">
            <a:xfrm>
              <a:off x="3925244" y="4968000"/>
              <a:ext cx="1008063" cy="25200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en-US" altLang="zh-CN" sz="1800" b="1">
                  <a:latin typeface="宋体" panose="02010600030101010101" pitchFamily="2" charset="-122"/>
                </a:rPr>
                <a:t>WC</a:t>
              </a:r>
            </a:p>
          </p:txBody>
        </p:sp>
        <p:sp>
          <p:nvSpPr>
            <p:cNvPr id="396498" name="Text Box 210"/>
            <p:cNvSpPr txBox="1">
              <a:spLocks noChangeArrowheads="1"/>
            </p:cNvSpPr>
            <p:nvPr/>
          </p:nvSpPr>
          <p:spPr bwMode="auto">
            <a:xfrm>
              <a:off x="3925244" y="4284000"/>
              <a:ext cx="1008063" cy="504000"/>
            </a:xfrm>
            <a:prstGeom prst="rect">
              <a:avLst/>
            </a:prstGeom>
            <a:solidFill>
              <a:srgbClr val="FFFF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传送字数</a:t>
              </a:r>
            </a:p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REGs</a:t>
              </a:r>
            </a:p>
          </p:txBody>
        </p:sp>
        <p:sp>
          <p:nvSpPr>
            <p:cNvPr id="396500" name="Line 212"/>
            <p:cNvSpPr>
              <a:spLocks noChangeShapeType="1"/>
            </p:cNvSpPr>
            <p:nvPr/>
          </p:nvSpPr>
          <p:spPr bwMode="auto">
            <a:xfrm flipV="1">
              <a:off x="4645696" y="3564262"/>
              <a:ext cx="1296491" cy="14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6501" name="Line 213"/>
            <p:cNvSpPr>
              <a:spLocks noChangeShapeType="1"/>
            </p:cNvSpPr>
            <p:nvPr/>
          </p:nvSpPr>
          <p:spPr bwMode="auto">
            <a:xfrm flipH="1">
              <a:off x="2557092" y="3547965"/>
              <a:ext cx="93652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6509" name="Line 221"/>
            <p:cNvSpPr>
              <a:spLocks noChangeShapeType="1"/>
            </p:cNvSpPr>
            <p:nvPr/>
          </p:nvSpPr>
          <p:spPr bwMode="auto">
            <a:xfrm flipH="1">
              <a:off x="7308304" y="3132000"/>
              <a:ext cx="0" cy="216000"/>
            </a:xfrm>
            <a:prstGeom prst="line">
              <a:avLst/>
            </a:prstGeom>
            <a:noFill/>
            <a:ln w="28575" cmpd="dbl">
              <a:solidFill>
                <a:srgbClr val="CC3300"/>
              </a:solidFill>
              <a:prstDash val="solid"/>
              <a:round/>
              <a:headEnd type="none" w="med" len="sm"/>
              <a:tailEnd type="triangle" w="med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6510" name="Line 222"/>
            <p:cNvSpPr>
              <a:spLocks noChangeShapeType="1"/>
            </p:cNvSpPr>
            <p:nvPr/>
          </p:nvSpPr>
          <p:spPr bwMode="auto">
            <a:xfrm>
              <a:off x="7524328" y="3132000"/>
              <a:ext cx="0" cy="216000"/>
            </a:xfrm>
            <a:prstGeom prst="line">
              <a:avLst/>
            </a:prstGeom>
            <a:noFill/>
            <a:ln w="28575" cmpd="dbl">
              <a:solidFill>
                <a:schemeClr val="accent2"/>
              </a:solidFill>
              <a:prstDash val="solid"/>
              <a:round/>
              <a:headEnd type="triangle" w="med" len="sm"/>
              <a:tailEnd type="triangle" w="med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6511" name="Line 223"/>
            <p:cNvSpPr>
              <a:spLocks noChangeShapeType="1"/>
            </p:cNvSpPr>
            <p:nvPr/>
          </p:nvSpPr>
          <p:spPr bwMode="auto">
            <a:xfrm flipH="1">
              <a:off x="7164288" y="3132000"/>
              <a:ext cx="0" cy="216000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prstDash val="solid"/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6512" name="Line 224"/>
            <p:cNvSpPr>
              <a:spLocks noChangeShapeType="1"/>
            </p:cNvSpPr>
            <p:nvPr/>
          </p:nvSpPr>
          <p:spPr bwMode="auto">
            <a:xfrm>
              <a:off x="7092280" y="3132000"/>
              <a:ext cx="0" cy="216000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prstDash val="solid"/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6518" name="Line 230"/>
            <p:cNvSpPr>
              <a:spLocks noChangeShapeType="1"/>
            </p:cNvSpPr>
            <p:nvPr/>
          </p:nvSpPr>
          <p:spPr bwMode="auto">
            <a:xfrm flipH="1" flipV="1">
              <a:off x="756322" y="3132000"/>
              <a:ext cx="0" cy="216000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6519" name="Line 231"/>
            <p:cNvSpPr>
              <a:spLocks noChangeShapeType="1"/>
            </p:cNvSpPr>
            <p:nvPr/>
          </p:nvSpPr>
          <p:spPr bwMode="auto">
            <a:xfrm flipH="1" flipV="1">
              <a:off x="827759" y="3132000"/>
              <a:ext cx="0" cy="216000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6520" name="Line 232"/>
            <p:cNvSpPr>
              <a:spLocks noChangeShapeType="1"/>
            </p:cNvSpPr>
            <p:nvPr/>
          </p:nvSpPr>
          <p:spPr bwMode="auto">
            <a:xfrm flipH="1" flipV="1">
              <a:off x="899197" y="3132000"/>
              <a:ext cx="0" cy="216000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6521" name="Line 233"/>
            <p:cNvSpPr>
              <a:spLocks noChangeShapeType="1"/>
            </p:cNvSpPr>
            <p:nvPr/>
          </p:nvSpPr>
          <p:spPr bwMode="auto">
            <a:xfrm flipH="1" flipV="1">
              <a:off x="972222" y="3132000"/>
              <a:ext cx="0" cy="216000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6522" name="Line 234"/>
            <p:cNvSpPr>
              <a:spLocks noChangeShapeType="1"/>
            </p:cNvSpPr>
            <p:nvPr/>
          </p:nvSpPr>
          <p:spPr bwMode="auto">
            <a:xfrm flipH="1" flipV="1">
              <a:off x="1116684" y="3132000"/>
              <a:ext cx="0" cy="216000"/>
            </a:xfrm>
            <a:prstGeom prst="line">
              <a:avLst/>
            </a:prstGeom>
            <a:noFill/>
            <a:ln w="28575" cmpd="dbl">
              <a:solidFill>
                <a:srgbClr val="CC3300"/>
              </a:solidFill>
              <a:round/>
              <a:headEnd w="med" len="sm"/>
              <a:tailEnd type="triangle" w="med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6523" name="Line 235"/>
            <p:cNvSpPr>
              <a:spLocks noChangeShapeType="1"/>
            </p:cNvSpPr>
            <p:nvPr/>
          </p:nvSpPr>
          <p:spPr bwMode="auto">
            <a:xfrm>
              <a:off x="1261147" y="3132000"/>
              <a:ext cx="0" cy="216000"/>
            </a:xfrm>
            <a:prstGeom prst="line">
              <a:avLst/>
            </a:prstGeom>
            <a:noFill/>
            <a:ln w="28575" cmpd="dbl">
              <a:solidFill>
                <a:schemeClr val="accent2"/>
              </a:solidFill>
              <a:round/>
              <a:headEnd type="triangle" w="med" len="sm"/>
              <a:tailEnd type="triangle" w="med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6524" name="Text Box 236"/>
            <p:cNvSpPr txBox="1">
              <a:spLocks noChangeArrowheads="1"/>
            </p:cNvSpPr>
            <p:nvPr/>
          </p:nvSpPr>
          <p:spPr bwMode="auto">
            <a:xfrm>
              <a:off x="684884" y="3348362"/>
              <a:ext cx="648072" cy="2052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en-US" altLang="zh-CN" sz="1800" b="1">
                  <a:latin typeface="宋体" panose="02010600030101010101" pitchFamily="2" charset="-122"/>
                </a:rPr>
                <a:t>CPU</a:t>
              </a:r>
            </a:p>
          </p:txBody>
        </p:sp>
        <p:sp>
          <p:nvSpPr>
            <p:cNvPr id="111" name="Text Box 209"/>
            <p:cNvSpPr txBox="1">
              <a:spLocks noChangeArrowheads="1"/>
            </p:cNvSpPr>
            <p:nvPr/>
          </p:nvSpPr>
          <p:spPr bwMode="auto">
            <a:xfrm>
              <a:off x="4358035" y="3888000"/>
              <a:ext cx="1295401" cy="25200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zh-CN" altLang="en-US" sz="1800" b="1" dirty="0">
                  <a:latin typeface="宋体" panose="02010600030101010101" pitchFamily="2" charset="-122"/>
                </a:rPr>
                <a:t>设备号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REG</a:t>
              </a:r>
            </a:p>
          </p:txBody>
        </p:sp>
        <p:sp>
          <p:nvSpPr>
            <p:cNvPr id="114" name="Text Box 209"/>
            <p:cNvSpPr txBox="1">
              <a:spLocks noChangeArrowheads="1"/>
            </p:cNvSpPr>
            <p:nvPr/>
          </p:nvSpPr>
          <p:spPr bwMode="auto">
            <a:xfrm>
              <a:off x="3493617" y="3420743"/>
              <a:ext cx="1151385" cy="25200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zh-CN" altLang="en-US" sz="1800" b="1" dirty="0">
                  <a:latin typeface="宋体" panose="02010600030101010101" pitchFamily="2" charset="-122"/>
                </a:rPr>
                <a:t>控制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REG</a:t>
              </a:r>
            </a:p>
          </p:txBody>
        </p:sp>
        <p:sp>
          <p:nvSpPr>
            <p:cNvPr id="115" name="Line 188"/>
            <p:cNvSpPr>
              <a:spLocks noChangeShapeType="1"/>
            </p:cNvSpPr>
            <p:nvPr/>
          </p:nvSpPr>
          <p:spPr bwMode="auto">
            <a:xfrm flipH="1" flipV="1">
              <a:off x="2557092" y="3744000"/>
              <a:ext cx="3385096" cy="1662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" name="Line 189"/>
            <p:cNvSpPr>
              <a:spLocks noChangeShapeType="1"/>
            </p:cNvSpPr>
            <p:nvPr/>
          </p:nvSpPr>
          <p:spPr bwMode="auto">
            <a:xfrm flipV="1">
              <a:off x="2557092" y="3816000"/>
              <a:ext cx="3385096" cy="1587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7" name="Text Box 203"/>
            <p:cNvSpPr txBox="1">
              <a:spLocks noChangeArrowheads="1"/>
            </p:cNvSpPr>
            <p:nvPr/>
          </p:nvSpPr>
          <p:spPr bwMode="auto">
            <a:xfrm>
              <a:off x="5942188" y="3492056"/>
              <a:ext cx="359320" cy="180020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vert="eaVert"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DMA</a:t>
              </a:r>
              <a:r>
                <a:rPr lang="zh-CN" altLang="en-US" sz="1800" b="1" dirty="0">
                  <a:latin typeface="宋体" panose="02010600030101010101" pitchFamily="2" charset="-122"/>
                </a:rPr>
                <a:t>请求判优逻辑</a:t>
              </a:r>
            </a:p>
          </p:txBody>
        </p:sp>
        <p:sp>
          <p:nvSpPr>
            <p:cNvPr id="118" name="Line 212"/>
            <p:cNvSpPr>
              <a:spLocks noChangeShapeType="1"/>
            </p:cNvSpPr>
            <p:nvPr/>
          </p:nvSpPr>
          <p:spPr bwMode="auto">
            <a:xfrm flipH="1">
              <a:off x="4501308" y="4140000"/>
              <a:ext cx="0" cy="145207"/>
            </a:xfrm>
            <a:prstGeom prst="line">
              <a:avLst/>
            </a:prstGeom>
            <a:noFill/>
            <a:ln w="19050">
              <a:solidFill>
                <a:srgbClr val="C00000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10" name="直接箭头连接符 9"/>
            <p:cNvCxnSpPr>
              <a:stCxn id="111" idx="1"/>
              <a:endCxn id="396486" idx="0"/>
            </p:cNvCxnSpPr>
            <p:nvPr/>
          </p:nvCxnSpPr>
          <p:spPr bwMode="auto">
            <a:xfrm rot="10800000" flipV="1">
              <a:off x="3205141" y="4014000"/>
              <a:ext cx="1152895" cy="270000"/>
            </a:xfrm>
            <a:prstGeom prst="bentConnector2">
              <a:avLst/>
            </a:prstGeom>
            <a:noFill/>
            <a:ln w="1905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</p:spPr>
        </p:cxnSp>
        <p:sp>
          <p:nvSpPr>
            <p:cNvPr id="127" name="Line 212"/>
            <p:cNvSpPr>
              <a:spLocks noChangeShapeType="1"/>
            </p:cNvSpPr>
            <p:nvPr/>
          </p:nvSpPr>
          <p:spPr bwMode="auto">
            <a:xfrm flipH="1">
              <a:off x="5437412" y="4140000"/>
              <a:ext cx="0" cy="145207"/>
            </a:xfrm>
            <a:prstGeom prst="line">
              <a:avLst/>
            </a:prstGeom>
            <a:noFill/>
            <a:ln w="19050">
              <a:solidFill>
                <a:srgbClr val="C00000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9" name="Line 212"/>
            <p:cNvSpPr>
              <a:spLocks noChangeShapeType="1"/>
            </p:cNvSpPr>
            <p:nvPr/>
          </p:nvSpPr>
          <p:spPr bwMode="auto">
            <a:xfrm flipH="1">
              <a:off x="4429300" y="4788000"/>
              <a:ext cx="0" cy="180000"/>
            </a:xfrm>
            <a:prstGeom prst="line">
              <a:avLst/>
            </a:prstGeom>
            <a:noFill/>
            <a:ln w="28575" cmpd="dbl">
              <a:solidFill>
                <a:schemeClr val="accent2"/>
              </a:solidFill>
              <a:round/>
              <a:headEnd type="triangle" w="med" len="sm"/>
              <a:tailEnd type="triangle" w="med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0" name="Line 212"/>
            <p:cNvSpPr>
              <a:spLocks noChangeShapeType="1"/>
            </p:cNvSpPr>
            <p:nvPr/>
          </p:nvSpPr>
          <p:spPr bwMode="auto">
            <a:xfrm flipH="1">
              <a:off x="3205164" y="4788000"/>
              <a:ext cx="0" cy="180000"/>
            </a:xfrm>
            <a:prstGeom prst="line">
              <a:avLst/>
            </a:prstGeom>
            <a:noFill/>
            <a:ln w="28575" cmpd="dbl">
              <a:solidFill>
                <a:schemeClr val="accent2"/>
              </a:solidFill>
              <a:round/>
              <a:headEnd type="triangle" w="med" len="sm"/>
              <a:tailEnd type="triangle" w="med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131" name="直接箭头连接符 9"/>
            <p:cNvCxnSpPr>
              <a:stCxn id="396497" idx="2"/>
            </p:cNvCxnSpPr>
            <p:nvPr/>
          </p:nvCxnSpPr>
          <p:spPr bwMode="auto">
            <a:xfrm rot="5400000">
              <a:off x="2827444" y="3725512"/>
              <a:ext cx="107345" cy="3096320"/>
            </a:xfrm>
            <a:prstGeom prst="bentConnector2">
              <a:avLst/>
            </a:prstGeom>
            <a:noFill/>
            <a:ln w="1905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</p:spPr>
        </p:cxnSp>
        <p:cxnSp>
          <p:nvCxnSpPr>
            <p:cNvPr id="136" name="直接箭头连接符 9"/>
            <p:cNvCxnSpPr>
              <a:stCxn id="396497" idx="3"/>
              <a:endCxn id="396490" idx="2"/>
            </p:cNvCxnSpPr>
            <p:nvPr/>
          </p:nvCxnSpPr>
          <p:spPr bwMode="auto">
            <a:xfrm flipV="1">
              <a:off x="4933307" y="4788000"/>
              <a:ext cx="518381" cy="306000"/>
            </a:xfrm>
            <a:prstGeom prst="bentConnector2">
              <a:avLst/>
            </a:prstGeom>
            <a:noFill/>
            <a:ln w="1905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/>
            </a:ln>
          </p:spPr>
        </p:cxnSp>
        <p:cxnSp>
          <p:nvCxnSpPr>
            <p:cNvPr id="140" name="直接箭头连接符 9"/>
            <p:cNvCxnSpPr>
              <a:endCxn id="396490" idx="3"/>
            </p:cNvCxnSpPr>
            <p:nvPr/>
          </p:nvCxnSpPr>
          <p:spPr bwMode="auto">
            <a:xfrm flipH="1" flipV="1">
              <a:off x="5753995" y="4536000"/>
              <a:ext cx="180000" cy="0"/>
            </a:xfrm>
            <a:prstGeom prst="straightConnector1">
              <a:avLst/>
            </a:prstGeom>
            <a:noFill/>
            <a:ln w="1905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/>
            </a:ln>
          </p:spPr>
        </p:cxnSp>
        <p:cxnSp>
          <p:nvCxnSpPr>
            <p:cNvPr id="143" name="直接箭头连接符 9"/>
            <p:cNvCxnSpPr/>
            <p:nvPr/>
          </p:nvCxnSpPr>
          <p:spPr bwMode="auto">
            <a:xfrm rot="10800000" flipV="1">
              <a:off x="6304785" y="3923334"/>
              <a:ext cx="930109" cy="288454"/>
            </a:xfrm>
            <a:prstGeom prst="bentConnector3">
              <a:avLst>
                <a:gd name="adj1" fmla="val -66"/>
              </a:avLst>
            </a:prstGeom>
            <a:noFill/>
            <a:ln w="1905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</p:spPr>
        </p:cxnSp>
        <p:cxnSp>
          <p:nvCxnSpPr>
            <p:cNvPr id="150" name="直接箭头连接符 9"/>
            <p:cNvCxnSpPr/>
            <p:nvPr/>
          </p:nvCxnSpPr>
          <p:spPr bwMode="auto">
            <a:xfrm flipV="1">
              <a:off x="6304784" y="3923335"/>
              <a:ext cx="1075528" cy="360808"/>
            </a:xfrm>
            <a:prstGeom prst="bentConnector3">
              <a:avLst>
                <a:gd name="adj1" fmla="val 99594"/>
              </a:avLst>
            </a:prstGeom>
            <a:noFill/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</p:spPr>
        </p:cxnSp>
        <p:sp>
          <p:nvSpPr>
            <p:cNvPr id="157" name="Text Box 204"/>
            <p:cNvSpPr txBox="1">
              <a:spLocks noChangeArrowheads="1"/>
            </p:cNvSpPr>
            <p:nvPr/>
          </p:nvSpPr>
          <p:spPr bwMode="auto">
            <a:xfrm>
              <a:off x="8100469" y="3348040"/>
              <a:ext cx="720003" cy="575295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I/O</a:t>
              </a:r>
            </a:p>
            <a:p>
              <a:pPr>
                <a:lnSpc>
                  <a:spcPct val="90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接口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3</a:t>
              </a:r>
            </a:p>
          </p:txBody>
        </p:sp>
        <p:sp>
          <p:nvSpPr>
            <p:cNvPr id="158" name="Line 221"/>
            <p:cNvSpPr>
              <a:spLocks noChangeShapeType="1"/>
            </p:cNvSpPr>
            <p:nvPr/>
          </p:nvSpPr>
          <p:spPr bwMode="auto">
            <a:xfrm flipH="1">
              <a:off x="8460432" y="3132000"/>
              <a:ext cx="0" cy="216000"/>
            </a:xfrm>
            <a:prstGeom prst="line">
              <a:avLst/>
            </a:prstGeom>
            <a:noFill/>
            <a:ln w="28575" cmpd="dbl">
              <a:solidFill>
                <a:srgbClr val="CC3300"/>
              </a:solidFill>
              <a:prstDash val="solid"/>
              <a:round/>
              <a:headEnd type="none" w="med" len="sm"/>
              <a:tailEnd type="triangle" w="med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9" name="Line 222"/>
            <p:cNvSpPr>
              <a:spLocks noChangeShapeType="1"/>
            </p:cNvSpPr>
            <p:nvPr/>
          </p:nvSpPr>
          <p:spPr bwMode="auto">
            <a:xfrm>
              <a:off x="8676456" y="3132000"/>
              <a:ext cx="0" cy="216000"/>
            </a:xfrm>
            <a:prstGeom prst="line">
              <a:avLst/>
            </a:prstGeom>
            <a:noFill/>
            <a:ln w="28575" cmpd="dbl">
              <a:solidFill>
                <a:schemeClr val="accent2"/>
              </a:solidFill>
              <a:prstDash val="solid"/>
              <a:round/>
              <a:headEnd type="triangle" w="med" len="sm"/>
              <a:tailEnd type="triangle" w="med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0" name="Line 223"/>
            <p:cNvSpPr>
              <a:spLocks noChangeShapeType="1"/>
            </p:cNvSpPr>
            <p:nvPr/>
          </p:nvSpPr>
          <p:spPr bwMode="auto">
            <a:xfrm flipH="1">
              <a:off x="8316416" y="3132000"/>
              <a:ext cx="0" cy="216000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prstDash val="solid"/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1" name="Line 224"/>
            <p:cNvSpPr>
              <a:spLocks noChangeShapeType="1"/>
            </p:cNvSpPr>
            <p:nvPr/>
          </p:nvSpPr>
          <p:spPr bwMode="auto">
            <a:xfrm>
              <a:off x="8244408" y="3132000"/>
              <a:ext cx="0" cy="216000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prstDash val="solid"/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2" name="Text Box 200"/>
            <p:cNvSpPr txBox="1">
              <a:spLocks noChangeArrowheads="1"/>
            </p:cNvSpPr>
            <p:nvPr/>
          </p:nvSpPr>
          <p:spPr bwMode="auto">
            <a:xfrm>
              <a:off x="6516216" y="4788002"/>
              <a:ext cx="647700" cy="288925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DREQ3</a:t>
              </a:r>
            </a:p>
          </p:txBody>
        </p:sp>
        <p:sp>
          <p:nvSpPr>
            <p:cNvPr id="163" name="Text Box 201"/>
            <p:cNvSpPr txBox="1">
              <a:spLocks noChangeArrowheads="1"/>
            </p:cNvSpPr>
            <p:nvPr/>
          </p:nvSpPr>
          <p:spPr bwMode="auto">
            <a:xfrm>
              <a:off x="6518947" y="5148935"/>
              <a:ext cx="649288" cy="287337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DACK3</a:t>
              </a:r>
            </a:p>
          </p:txBody>
        </p:sp>
        <p:cxnSp>
          <p:nvCxnSpPr>
            <p:cNvPr id="164" name="直接箭头连接符 9"/>
            <p:cNvCxnSpPr/>
            <p:nvPr/>
          </p:nvCxnSpPr>
          <p:spPr bwMode="auto">
            <a:xfrm rot="10800000" flipV="1">
              <a:off x="6301509" y="3924102"/>
              <a:ext cx="2084077" cy="1152129"/>
            </a:xfrm>
            <a:prstGeom prst="bentConnector3">
              <a:avLst>
                <a:gd name="adj1" fmla="val 31"/>
              </a:avLst>
            </a:prstGeom>
            <a:noFill/>
            <a:ln w="1905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</p:spPr>
        </p:cxnSp>
        <p:cxnSp>
          <p:nvCxnSpPr>
            <p:cNvPr id="165" name="直接箭头连接符 9"/>
            <p:cNvCxnSpPr/>
            <p:nvPr/>
          </p:nvCxnSpPr>
          <p:spPr bwMode="auto">
            <a:xfrm flipV="1">
              <a:off x="6301508" y="3924105"/>
              <a:ext cx="2229492" cy="1224135"/>
            </a:xfrm>
            <a:prstGeom prst="bentConnector3">
              <a:avLst>
                <a:gd name="adj1" fmla="val 100128"/>
              </a:avLst>
            </a:prstGeom>
            <a:noFill/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</p:spPr>
        </p:cxnSp>
        <p:sp>
          <p:nvSpPr>
            <p:cNvPr id="178" name="Text Box 207"/>
            <p:cNvSpPr txBox="1">
              <a:spLocks noChangeArrowheads="1"/>
            </p:cNvSpPr>
            <p:nvPr/>
          </p:nvSpPr>
          <p:spPr bwMode="auto">
            <a:xfrm>
              <a:off x="6732240" y="4501433"/>
              <a:ext cx="253604" cy="358775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vert="vert"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latin typeface="+mn-ea"/>
                  <a:ea typeface="+mn-ea"/>
                </a:rPr>
                <a:t>…</a:t>
              </a:r>
            </a:p>
          </p:txBody>
        </p:sp>
        <p:cxnSp>
          <p:nvCxnSpPr>
            <p:cNvPr id="190" name="直接箭头连接符 9"/>
            <p:cNvCxnSpPr/>
            <p:nvPr/>
          </p:nvCxnSpPr>
          <p:spPr bwMode="auto">
            <a:xfrm flipH="1">
              <a:off x="5651400" y="4032000"/>
              <a:ext cx="288752" cy="0"/>
            </a:xfrm>
            <a:prstGeom prst="straightConnector1">
              <a:avLst/>
            </a:prstGeom>
            <a:noFill/>
            <a:ln w="1905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/>
            </a:ln>
          </p:spPr>
        </p:cxnSp>
      </p:grpSp>
      <p:sp>
        <p:nvSpPr>
          <p:cNvPr id="69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100392" y="6453336"/>
            <a:ext cx="1043608" cy="360040"/>
          </a:xfrm>
        </p:spPr>
        <p:txBody>
          <a:bodyPr/>
          <a:lstStyle/>
          <a:p>
            <a:fld id="{834B2BEC-31CD-4C9D-92D4-62FC8D1A3937}" type="slidenum">
              <a:rPr lang="en-US" altLang="zh-CN"/>
              <a:t>49</a:t>
            </a:fld>
            <a:endParaRPr lang="en-US" altLang="zh-CN"/>
          </a:p>
        </p:txBody>
      </p:sp>
      <p:sp>
        <p:nvSpPr>
          <p:cNvPr id="72" name="AutoShape 62">
            <a:hlinkClick r:id="rId4" action="ppaction://hlinksldjump"/>
          </p:cNvPr>
          <p:cNvSpPr>
            <a:spLocks noChangeArrowheads="1"/>
          </p:cNvSpPr>
          <p:nvPr/>
        </p:nvSpPr>
        <p:spPr bwMode="auto">
          <a:xfrm rot="16200000">
            <a:off x="7452669" y="6237657"/>
            <a:ext cx="287337" cy="864098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zh-CN" altLang="en-US" sz="1600" u="none" dirty="0">
                <a:solidFill>
                  <a:schemeClr val="bg2"/>
                </a:solidFill>
                <a:latin typeface="+mn-ea"/>
                <a:ea typeface="+mn-ea"/>
              </a:rPr>
              <a:t>回目录</a:t>
            </a:r>
          </a:p>
        </p:txBody>
      </p:sp>
      <p:sp>
        <p:nvSpPr>
          <p:cNvPr id="73" name="Text Box 200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259979" y="5409288"/>
            <a:ext cx="5904309" cy="612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36195" tIns="17780" rIns="36195" bIns="0" anchor="t" anchorCtr="0">
            <a:noAutofit/>
          </a:bodyPr>
          <a:lstStyle/>
          <a:p>
            <a:pPr marL="805180" indent="-805180" algn="l">
              <a:spcBef>
                <a:spcPts val="0"/>
              </a:spcBef>
              <a:spcAft>
                <a:spcPts val="0"/>
              </a:spcAft>
            </a:pPr>
            <a:r>
              <a:rPr lang="zh-CN" altLang="en-US" sz="1800" b="1" dirty="0">
                <a:solidFill>
                  <a:srgbClr val="FF3399"/>
                </a:solidFill>
                <a:latin typeface="+mn-ea"/>
                <a:ea typeface="+mn-ea"/>
              </a:rPr>
              <a:t>注意：</a:t>
            </a:r>
            <a:r>
              <a:rPr lang="en-US" altLang="zh-CN" sz="1800" b="1" u="sng" dirty="0">
                <a:latin typeface="宋体" panose="02010600030101010101" pitchFamily="2" charset="-122"/>
                <a:sym typeface="+mn-ea"/>
              </a:rPr>
              <a:t>DMA</a:t>
            </a:r>
            <a:r>
              <a:rPr lang="zh-CN" altLang="en-US" sz="1800" b="1" u="sng" dirty="0">
                <a:latin typeface="宋体" panose="02010600030101010101" pitchFamily="2" charset="-122"/>
                <a:sym typeface="+mn-ea"/>
              </a:rPr>
              <a:t>接口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是</a:t>
            </a:r>
            <a:r>
              <a:rPr lang="en-US" altLang="zh-CN" sz="18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I/O</a:t>
            </a:r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接口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，</a:t>
            </a:r>
            <a:r>
              <a:rPr lang="en-US" altLang="zh-CN" sz="1800" b="1" u="sng" dirty="0">
                <a:latin typeface="宋体" panose="02010600030101010101" pitchFamily="2" charset="-122"/>
                <a:sym typeface="+mn-ea"/>
              </a:rPr>
              <a:t>DMA</a:t>
            </a:r>
            <a:r>
              <a:rPr lang="zh-CN" altLang="en-US" sz="1800" b="1" u="sng" dirty="0">
                <a:latin typeface="宋体" panose="02010600030101010101" pitchFamily="2" charset="-122"/>
                <a:sym typeface="+mn-ea"/>
              </a:rPr>
              <a:t>控制器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是</a:t>
            </a:r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传送控制部件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！</a:t>
            </a:r>
            <a:endParaRPr lang="en-US" altLang="zh-CN" sz="1800" b="1" dirty="0">
              <a:latin typeface="宋体" panose="02010600030101010101" pitchFamily="2" charset="-122"/>
              <a:sym typeface="+mn-ea"/>
            </a:endParaRPr>
          </a:p>
          <a:p>
            <a:pPr marL="805180" indent="-805180" algn="l">
              <a:spcBef>
                <a:spcPts val="0"/>
              </a:spcBef>
              <a:spcAft>
                <a:spcPts val="0"/>
              </a:spcAft>
            </a:pP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      不少教材将</a:t>
            </a:r>
            <a:r>
              <a:rPr lang="en-US" altLang="zh-CN" sz="1800" b="1" dirty="0">
                <a:latin typeface="+mn-ea"/>
              </a:rPr>
              <a:t>DMA</a:t>
            </a:r>
            <a:r>
              <a:rPr lang="zh-CN" altLang="en-US" sz="1800" b="1" dirty="0">
                <a:latin typeface="+mn-ea"/>
              </a:rPr>
              <a:t>接口</a:t>
            </a:r>
            <a:r>
              <a:rPr lang="zh-CN" altLang="en-US" sz="1800" b="1" dirty="0">
                <a:solidFill>
                  <a:srgbClr val="FF3399"/>
                </a:solidFill>
                <a:latin typeface="+mn-ea"/>
              </a:rPr>
              <a:t>称为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DAM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控制器，应注意区分！</a:t>
            </a:r>
            <a:endParaRPr lang="en-US" altLang="zh-CN" sz="1800" b="1" dirty="0">
              <a:latin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3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963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3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963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3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963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1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" grpId="0" bldLvl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Y2ZiYjY4MjU5YzBkYmJmZjUyNGJiOWY1ZTc3NzM1MGY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TABLE_ENDDRAG_ORIGIN_RECT" val="582*135"/>
  <p:tag name="TABLE_ENDDRAG_RECT" val="87*265*582*135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TABLE_ENDDRAG_ORIGIN_RECT" val="476*107"/>
  <p:tag name="TABLE_ENDDRAG_RECT" val="133*184*476*107"/>
</p:tagLst>
</file>

<file path=ppt/tags/tag9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默认设计模板">
  <a:themeElements>
    <a:clrScheme name="默认设计模板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90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90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8437</TotalTime>
  <Words>10671</Words>
  <Application>Microsoft Office PowerPoint</Application>
  <PresentationFormat>全屏显示(4:3)</PresentationFormat>
  <Paragraphs>2034</Paragraphs>
  <Slides>49</Slides>
  <Notes>32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49</vt:i4>
      </vt:variant>
    </vt:vector>
  </HeadingPairs>
  <TitlesOfParts>
    <vt:vector size="54" baseType="lpstr">
      <vt:lpstr>MS Gothic</vt:lpstr>
      <vt:lpstr>黑体</vt:lpstr>
      <vt:lpstr>宋体</vt:lpstr>
      <vt:lpstr>Times New Roman</vt:lpstr>
      <vt:lpstr>默认设计模板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RGL</dc:creator>
  <cp:lastModifiedBy>guolin</cp:lastModifiedBy>
  <cp:revision>1865</cp:revision>
  <dcterms:created xsi:type="dcterms:W3CDTF">2002-02-16T03:40:00Z</dcterms:created>
  <dcterms:modified xsi:type="dcterms:W3CDTF">2026-01-04T01:04:39Z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2052-11.1.0.10314</vt:lpwstr>
  </property>
  <property fmtid="{D5CDD505-2E9C-101B-9397-08002B2CF9AE}" pid="3" name="ICV">
    <vt:lpwstr>36AF14D78F9B4FBF830FD198E642C5A6_12</vt:lpwstr>
  </property>
</Properties>
</file>